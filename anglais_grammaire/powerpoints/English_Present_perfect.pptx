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21dd644-15f7-efbe-9894-2bbd995ac76f}">
          <p14:sldIdLst>
            <p14:sldId id="256"/>
          </p14:sldIdLst>
        </p14:section>
        <p14:section name="Discover" id="{13dc768d-f779-1ab4-be83-d913630d4326}">
          <p14:sldIdLst>
            <p14:sldId id="257"/>
            <p14:sldId id="258"/>
            <p14:sldId id="259"/>
            <p14:sldId id="260"/>
            <p14:sldId id="261"/>
            <p14:sldId id="262"/>
            <p14:sldId id="263"/>
          </p14:sldIdLst>
        </p14:section>
        <p14:section name="Three uses" id="{a9c2fd7d-603e-7a94-0916-0b1a25f82330}">
          <p14:sldIdLst>
            <p14:sldId id="264"/>
            <p14:sldId id="265"/>
            <p14:sldId id="266"/>
            <p14:sldId id="267"/>
            <p14:sldId id="268"/>
          </p14:sldIdLst>
        </p14:section>
        <p14:section name="Past simple or present perfect?" id="{9d1885d4-3635-d949-d0b1-bdb0a3fa8ebf}">
          <p14:sldIdLst>
            <p14:sldId id="269"/>
            <p14:sldId id="270"/>
            <p14:sldId id="271"/>
            <p14:sldId id="272"/>
            <p14:sldId id="273"/>
          </p14:sldIdLst>
        </p14:section>
        <p14:section name="YOUR TURN! — Exercises" id="{4362d0e1-c14a-e7e2-f95c-37d4d857cdc5}">
          <p14:sldIdLst>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Lst>
        </p14:section>
        <p14:section name="Closing" id="{3ca2e7bb-c702-0afe-3ead-65e1ba98007d}">
          <p14:sldIdLst>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 le passé qui a un lien avec maintenant.
Mimez la scène : vous fouillez vos poches. « I've lost my keys! » Demandez : « Quand ai-je perdu mes clés ? » (on ne sait pas, et ce n'est pas important). « Quel est le problème maintenant ? » (je ne peux pas rentrer). Voilà le present perfect : un passé sans date, qui compte maintenant.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les 3 objectifs.
Lisez les objectifs ; vérifiez build, use, choose. La bande résume toute la séquence : revenez-y à la fin de chaque séance.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Découvrir la forme en contexte : on voit le résultat, on devine l'action.
Faites observer la bande : has rained, have lost = deux mots. Puis par deux : A montre une image, B fait la phrase. Formes attendues : It has rained · I've lost my keys · We've won the match · Someone has drunk my coffee · He has hurt his hand · The bus has left. Ne corrigez pas encore les participes irréguliers (drunk, won, hurt) : notez-les, ils reviennent diapos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le sens du present perfect grâce au schéma du pont.
Insistez sur le mot present dans « present perfect » : l'auxiliaire have est au présent, on parle de maintenant. Les trois usages sont développés diapos 9 à 12 ; ici, il suffit de reconnaître le pont.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Construire la forme affirmative et choisir entre have et has.
Le français hésite entre avoir et être ; l'anglais n'a qu'un auxiliaire : have / has. Faites transformer à l'oral : I → she, we → he… Pour 's, astuce : si un participe suit, c'est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le participe passé : la règle (réguliers) et les familles d'irréguliers.
Rappelez les règles d'orthographe du -ed (deck Past simple, diapo 6) : elles valent aussi pour le participe. La famille A-B-B est la plus rassurante : participe = past simple. Les familles A-B-A et A-B-C demandent de la mémoire : faites réciter en rythme (go – went –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Mémoriser les 20 participes irréguliers les plus fréquents.
Jeu flash : vous dites la base, la classe répond le participe ; puis un·e apprenant·e prend votre place. got : en anglais américain, gotten. go → gone / been : la différence arrive diapo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la négation, la question fermée et la question ouverte, sans do / did.
Comparez avec le past simple (Did she finish…?) : ici, l'auxiliaire est déjà là, on n'a pas besoin de did. Erreur fréquente : ✗ Did you have finished? ✗ Do you have seen…? Faites répondre avec la réponse courte (✓ Yes, I have. ✗ Yes, I did.). L'ordre QUASI du past simple reste valable : seule la 4e case change (participe au lieu de la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Parler de ses expériences de vie (sans date) avec ever et never.
L'expérience compte, pas le moment. Faites un tour de classe : Have you ever…? (been to London, eaten snails, met a famous person). Dès qu'on demande quand, on passe au past simple : c'est l'objet de la diapo 16. ever ne s'emploie pas dans une phrase affirmative simple (✗ I have ever been…).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Distinguer les deux participes de go.
Test rapide : « Tom est-il là ? » Avec gone : non. Avec been : oui (ou il peut l'être). Pour l'expérience (diapo 9), on emploie donc been : Have you ever been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Exprimer un résultat présent et placer just, already, yet.
yet ne s'emploie qu'en question et en négation ; already surtout en affirmation (ou en question, pour exprimer la surprise). En anglais américain, on entend aussi I just finished (past simple) : acceptez-le, mais demandez la forme britannique à l'écrit.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Parler d'une situation qui a commencé dans le passé et continue ; distinguer for et since.
Le français met le présent (« j'habite ») ; l'anglais met le present perfect, car la situation a commencé dans le passé. Deux erreurs à la fois dans ✗ I live here since 5 years : le temps et la préposition. Faites poser How long have you…? (worked here, studied English, known your best friend). Attention : since 2021 = for five years n'est vrai qu'en 2026 ; adaptez l'année chaque rentrée.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les marqueurs de temps au bon temps verbal.
Le cadenas aide : si la période est fermée, on prend le past simple. this morning dépend de l'heure : la diapo 14 le montre.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Comparer les deux temps sur des paires de phrases.
Paire 2 : le même for 3 years, deux sens. Demandez : « Où vit-elle maintenant ? » Paire 4 : faites deviner l'heure qu'il est. C'est le cœur de la comparaison : le choix dépend de ce que l'on veut dire, pas seulement d'un mot-clé.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Disposer d'une méthode simple pour choisir le temps.
Ordre important : on cherche d'abord un temps fini. Si on en trouve un, c'est réglé : past simple, même s'il y a un lien avec maintenant (✗ I've lost my keys yesterday). Si la réponse à ② est non (ni temps fini, ni lien avec maintenant), c'est aussi le past simple : le moment est clair par le contexte (Who painted this picture? — Picasso est mort). Gardez cet arbre affiché pendant les exercices 5 à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l'enchaînement naturel des deux temps dans une conversation.
Le present perfect ouvre le sujet (la nouvelle) ; dès qu'on précise quand, on bascule au past simple. Faites jouer le dialogue par deux en remplaçant Italy par un autre pays. Les journaux télévisés suivent exactement ce schéma : titre au present perfect, récit au past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Neutraliser le calque du passé composé (et du présent avec « depuis »).
Masquez la colonne anglaise et faites traduire ligne par ligne, en justifiant avec l'arbre de la diapo 15. Ligne 3 : le français a un présent, l'anglais un present perfect. Ligne 6 : ago = « il y a », toujours avec le past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Synthétiser la forme, les usages et les marqueurs des deux temps.
Invitez les apprenant·es à photographier la diapo. Faites retrouver un exemple personnel pour chaque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la séquence d'exercices.
Ex. 1 à 5 en séance 1, ex. 6 à 10 en séance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le participe passé (réguliers et irréguliers).
Pour chaque verbe, faites dire les trois formes (go – went – gone). N° 1 : been est aussi accepté (go → gone / been, diapo 7). Prolongement : une phrase avec I've never… pour trois verbes.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Former le participe passé (réguliers et irréguliers).
Pour chaque verbe, faites dire les trois formes (go – went – gone). N° 1 : been est aussi accepté (go → gone / been, diapo 7). Prolongement : une phrase avec I've never… pour trois verbes.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Placer just, ever, yet, already, never dans la phrase.
N° 5 : never remplace la négation (✗ He hasn't never eaten). N° 4 : We have seen this film already. est aussi correct (fréquent à l'oral britannique). Faites lire les phrases à voix haute pour sentir le rythme.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Placer just, ever, yet, already, never dans la phrase.
N° 5 : never remplace la négation (✗ He hasn't never eaten). N° 4 : We have seen this film already. est aussi correct (fréquent à l'oral britannique). Faites lire les phrases à voix haute pour sentir le rythme.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Distinguer la durée (for) et le point de départ (since).
Test : peut-on mettre « pendant » devant ? → for. Peut-on mettre « à partir de » ? → since. Faites ensuite une phrase complète : I've known her for 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Distinguer la durée (for) et le point de départ (since).
Test : peut-on mettre « pendant » devant ? → for. Peut-on mettre « à partir de » ? → since. Faites ensuite une phrase complète : I've known her for 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entre been et gone.
Faites justifier : « Est-ce que la personne est revenue ? » N° 5 : la personne est devant nous, elle est revenue → been.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entre been et gone.
Faites justifier : « Est-ce que la personne est revenue ? » N° 5 : la personne est devant nous, elle est revenue → been.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Associer les marqueurs au temps ouvert (present perfect) ou fermé (past simple).
Pour chaque marqueur, demandez une phrase. this week : present perfect si la semaine n'est pas finie (I've worked a lot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Associer les marqueurs au temps ouvert (present perfect) ou fermé (past simple).
Pour chaque marqueur, demandez une phrase. this week : present perfect si la semaine n'est pas finie (I've worked a lot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et conjuguer le bon temps à partir d'un indice.
Faites d'abord souligner l'indice, puis appliquer l'arbre de la diapo 15. Les phrases vont par paires (1-2, 3-4, 5-6) : faites comparer les sens. N° 3 : has been working (present perfect continu) est aussi correct. Formes contractées acceptées partout (I've lost, haven't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et conjuguer le bon temps à partir d'un indice.
Faites d'abord souligner l'indice, puis appliquer l'arbre de la diapo 15. Les phrases vont par paires (1-2, 3-4, 5-6) : faites comparer les sens. N° 3 : has been working (present perfect continu) est aussi correct. Formes contractées acceptées partout (I've lost, haven't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Enchaîner les deux temps dans un dialogue (nouvelle → détails).
Faites repérer la bascule : bulle 1 (expérience, PP) → bulle 2 (in 2022, PS). Puis faites jouer le dialogue par deux avec une autre ville.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Enchaîner les deux temps dans un dialogue (nouvelle → détails).
Faites repérer la bascule : bulle 1 (expérience, PP) → bulle 2 (in 2022, PS). Puis faites jouer le dialogue par deux avec une autre ville.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Repérer et corriger les erreurs de temps dans un e-mail authentique.
Par deux, 5 minutes. Faites justifier chaque correction avec l'arbre (diapo 15) ou la place des adverbes (diapo 11). Erreur 1 = le calque du « depuis » (diapo 12). Erreur 3 : Last month I was in Dublin est aussi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Repérer et corriger les erreurs de temps dans un e-mail authentique.
Par deux, 5 minutes. Faites justifier chaque correction avec l'arbre (diapo 15) ou la place des adverbes (diapo 11). Erreur 1 = le calque du « depuis » (diapo 12). Erreur 3 : Last month I was in Dublin est aussi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Poser des questions d'expérience, puis demander des détails au past simple, en se déplaçant dans la classe.
Imprimez la grille (une par personne). Tout le monde se lève. Vérifiez la question de détail au past simple avant d'accepter un nom : c'est elle qui fait travailler la comparaison. Participes à vérifier : flown, broken, won, met,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Mise en situation : un entretien d'embauche qui mobilise les deux temps.
Formes attendues : I've worked as a team leader since 2020 · I worked as a sales assistant from 2015 to 2019 · I studied business in Leeds (I got my degree in 2014) · I went to the USA in 2018 · I've organised 3 conferences so far · I've never worked abroad. degree = diplôme universitaire (faux ami : ✗ diploma au sens courant du français). Au 2e tour, B présente son vrai parcours.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gone · written · seen
2. since 2020 · for two weeks
3. I lost my phone yesterday. (yesterday = temps fini → past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English · A2–B1 · The present perfect</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English · A2–B1 · The present perfect</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English · A2–B1 · Grammar in pictures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slideLayout" Target="../slideLayouts/slideLayout3.xml"/><Relationship Id="rId1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2.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2.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2.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2.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2.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slideLayout" Target="../slideLayouts/slideLayout2.xml"/><Relationship Id="rId11"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2.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image" Target="../media/image-38-10.png"/><Relationship Id="rId11" Type="http://schemas.openxmlformats.org/officeDocument/2006/relationships/slideLayout" Target="../slideLayouts/slideLayout2.xml"/><Relationship Id="rId1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3724"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ENGLISH · A2–B1</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The present perfect</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Le passé qui touche le présent… et la comparaison avec le past simple</a:t>
            </a:r>
            <a:endParaRPr lang="en-US" sz="2000" dirty="0"/>
          </a:p>
          <a:p>
            <a:pPr algn="l" indent="0" marL="0">
              <a:buNone/>
            </a:pPr>
            <a:r>
              <a:rPr lang="en-US" sz="2000" b="1" dirty="0">
                <a:solidFill>
                  <a:srgbClr val="FFFFFF"/>
                </a:solidFill>
              </a:rPr>
              <a:t>have / has + past participle</a:t>
            </a:r>
            <a:endParaRPr lang="en-US" sz="2000" dirty="0"/>
          </a:p>
        </p:txBody>
      </p:sp>
      <p:sp>
        <p:nvSpPr>
          <p:cNvPr id="5" name="Shape 3"/>
          <p:cNvSpPr/>
          <p:nvPr/>
        </p:nvSpPr>
        <p:spPr>
          <a:xfrm>
            <a:off x="5989320" y="1097280"/>
            <a:ext cx="5943600" cy="3840480"/>
          </a:xfrm>
          <a:prstGeom prst="roundRect">
            <a:avLst>
              <a:gd name="adj" fmla="val 3810"/>
            </a:avLst>
          </a:prstGeom>
          <a:solidFill>
            <a:srgbClr val="FFFFFF"/>
          </a:solidFill>
          <a:ln w="12700">
            <a:solidFill>
              <a:srgbClr val="FFFFFF">
                <a:alpha val="0"/>
              </a:srgbClr>
            </a:solidFill>
            <a:prstDash val="solid"/>
          </a:ln>
        </p:spPr>
      </p:sp>
      <p:sp>
        <p:nvSpPr>
          <p:cNvPr id="6" name="Shape 4"/>
          <p:cNvSpPr/>
          <p:nvPr/>
        </p:nvSpPr>
        <p:spPr>
          <a:xfrm>
            <a:off x="6217920" y="2743200"/>
            <a:ext cx="5532120" cy="914"/>
          </a:xfrm>
          <a:prstGeom prst="line">
            <a:avLst/>
          </a:prstGeom>
          <a:noFill/>
          <a:ln w="31750">
            <a:solidFill>
              <a:srgbClr val="17375E"/>
            </a:solidFill>
            <a:prstDash val="solid"/>
            <a:tailEnd type="triangle"/>
          </a:ln>
        </p:spPr>
      </p:sp>
      <p:sp>
        <p:nvSpPr>
          <p:cNvPr id="7" name="Shape 5"/>
          <p:cNvSpPr/>
          <p:nvPr/>
        </p:nvSpPr>
        <p:spPr>
          <a:xfrm>
            <a:off x="10835640" y="2432304"/>
            <a:ext cx="91440" cy="621792"/>
          </a:xfrm>
          <a:prstGeom prst="rect">
            <a:avLst/>
          </a:prstGeom>
          <a:solidFill>
            <a:schemeClr val="accent6"/>
          </a:solidFill>
          <a:ln w="12700">
            <a:solidFill>
              <a:srgbClr val="FFFFFF">
                <a:alpha val="0"/>
              </a:srgbClr>
            </a:solidFill>
            <a:prstDash val="solid"/>
          </a:ln>
        </p:spPr>
      </p:sp>
      <p:sp>
        <p:nvSpPr>
          <p:cNvPr id="8" name="Text 6"/>
          <p:cNvSpPr txBox="1"/>
          <p:nvPr/>
        </p:nvSpPr>
        <p:spPr>
          <a:xfrm>
            <a:off x="10424160" y="3017520"/>
            <a:ext cx="914400" cy="320040"/>
          </a:xfrm>
          <a:prstGeom prst="rect">
            <a:avLst/>
          </a:prstGeom>
          <a:noFill/>
          <a:ln/>
        </p:spPr>
        <p:txBody>
          <a:bodyPr wrap="square" lIns="0" tIns="0" rIns="0" bIns="0" rtlCol="0" anchor="t"/>
          <a:lstStyle/>
          <a:p>
            <a:pPr algn="ctr" indent="0" marL="0">
              <a:buNone/>
            </a:pPr>
            <a:r>
              <a:rPr lang="en-US" sz="1300" b="1" dirty="0">
                <a:solidFill>
                  <a:schemeClr val="accent6"/>
                </a:solidFill>
              </a:rPr>
              <a:t>NOW</a:t>
            </a:r>
            <a:endParaRPr lang="en-US" sz="1300" dirty="0"/>
          </a:p>
        </p:txBody>
      </p:sp>
      <p:sp>
        <p:nvSpPr>
          <p:cNvPr id="9" name="Shape 7"/>
          <p:cNvSpPr/>
          <p:nvPr/>
        </p:nvSpPr>
        <p:spPr>
          <a:xfrm>
            <a:off x="7205472" y="2633472"/>
            <a:ext cx="219456" cy="219456"/>
          </a:xfrm>
          <a:prstGeom prst="ellipse">
            <a:avLst/>
          </a:prstGeom>
          <a:solidFill>
            <a:schemeClr val="accent2"/>
          </a:solidFill>
          <a:ln w="12700">
            <a:solidFill>
              <a:srgbClr val="FFFFFF"/>
            </a:solidFill>
            <a:prstDash val="solid"/>
          </a:ln>
        </p:spPr>
      </p:sp>
      <p:sp>
        <p:nvSpPr>
          <p:cNvPr id="10" name="Shape 8"/>
          <p:cNvSpPr/>
          <p:nvPr/>
        </p:nvSpPr>
        <p:spPr>
          <a:xfrm>
            <a:off x="7315200" y="1783080"/>
            <a:ext cx="3547872" cy="1828800"/>
          </a:xfrm>
          <a:prstGeom prst="arc">
            <a:avLst>
              <a:gd name="adj1" fmla="val 10800000"/>
              <a:gd name="adj2" fmla="val 21600000"/>
            </a:avLst>
          </a:prstGeom>
          <a:solidFill>
            <a:srgbClr val="FFFFFF">
              <a:alpha val="0"/>
            </a:srgbClr>
          </a:solidFill>
          <a:ln w="38100">
            <a:solidFill>
              <a:srgbClr val="2A6FB0"/>
            </a:solidFill>
            <a:prstDash val="solid"/>
            <a:tailEnd type="triangle"/>
          </a:ln>
        </p:spPr>
      </p:sp>
      <p:sp>
        <p:nvSpPr>
          <p:cNvPr id="11" name="Text 9"/>
          <p:cNvSpPr txBox="1"/>
          <p:nvPr/>
        </p:nvSpPr>
        <p:spPr>
          <a:xfrm>
            <a:off x="7863840" y="1417320"/>
            <a:ext cx="2560320" cy="365760"/>
          </a:xfrm>
          <a:prstGeom prst="rect">
            <a:avLst/>
          </a:prstGeom>
          <a:noFill/>
          <a:ln/>
        </p:spPr>
        <p:txBody>
          <a:bodyPr wrap="square" lIns="0" tIns="0" rIns="0" bIns="0" rtlCol="0" anchor="t"/>
          <a:lstStyle/>
          <a:p>
            <a:pPr algn="ctr" indent="0" marL="0">
              <a:buNone/>
            </a:pPr>
            <a:r>
              <a:rPr lang="en-US" sz="1400" b="1" i="1" dirty="0">
                <a:solidFill>
                  <a:schemeClr val="accent2"/>
                </a:solidFill>
              </a:rPr>
              <a:t>link with NOW</a:t>
            </a:r>
            <a:endParaRPr lang="en-US" sz="1400" dirty="0"/>
          </a:p>
        </p:txBody>
      </p:sp>
      <p:pic>
        <p:nvPicPr>
          <p:cNvPr id="12" name="Image 0" descr="key">    </p:cNvPr>
          <p:cNvPicPr>
            <a:picLocks noChangeAspect="1"/>
          </p:cNvPicPr>
          <p:nvPr/>
        </p:nvPicPr>
        <p:blipFill>
          <a:blip r:embed="rId1"/>
          <a:stretch>
            <a:fillRect/>
          </a:stretch>
        </p:blipFill>
        <p:spPr>
          <a:xfrm>
            <a:off x="6400800" y="1371600"/>
            <a:ext cx="685800" cy="685800"/>
          </a:xfrm>
          <a:prstGeom prst="rect">
            <a:avLst/>
          </a:prstGeom>
        </p:spPr>
      </p:pic>
      <p:sp>
        <p:nvSpPr>
          <p:cNvPr id="13" name="Shape 10"/>
          <p:cNvSpPr/>
          <p:nvPr/>
        </p:nvSpPr>
        <p:spPr>
          <a:xfrm>
            <a:off x="6309360" y="3611880"/>
            <a:ext cx="420990" cy="530352"/>
          </a:xfrm>
          <a:prstGeom prst="roundRect">
            <a:avLst>
              <a:gd name="adj" fmla="val 21720"/>
            </a:avLst>
          </a:prstGeom>
          <a:solidFill>
            <a:srgbClr val="FFFFFF"/>
          </a:solidFill>
          <a:ln w="15875">
            <a:solidFill>
              <a:srgbClr val="D5DCE6"/>
            </a:solidFill>
            <a:prstDash val="solid"/>
          </a:ln>
        </p:spPr>
      </p:sp>
      <p:sp>
        <p:nvSpPr>
          <p:cNvPr id="14" name="Text 11"/>
          <p:cNvSpPr txBox="1"/>
          <p:nvPr/>
        </p:nvSpPr>
        <p:spPr>
          <a:xfrm>
            <a:off x="6309360" y="3611880"/>
            <a:ext cx="420990" cy="530352"/>
          </a:xfrm>
          <a:prstGeom prst="rect">
            <a:avLst/>
          </a:prstGeom>
          <a:noFill/>
          <a:ln/>
        </p:spPr>
        <p:txBody>
          <a:bodyPr wrap="square" lIns="0" tIns="0" rIns="0" bIns="0" rtlCol="0" anchor="ctr"/>
          <a:lstStyle/>
          <a:p>
            <a:pPr algn="ctr" indent="0" marL="0">
              <a:buNone/>
            </a:pPr>
            <a:r>
              <a:rPr lang="en-US" sz="1800" i="1" dirty="0">
                <a:solidFill>
                  <a:schemeClr val="tx1"/>
                </a:solidFill>
              </a:rPr>
              <a:t>I</a:t>
            </a:r>
            <a:endParaRPr lang="en-US" sz="1800" dirty="0"/>
          </a:p>
        </p:txBody>
      </p:sp>
      <p:sp>
        <p:nvSpPr>
          <p:cNvPr id="15" name="Text 12"/>
          <p:cNvSpPr txBox="1"/>
          <p:nvPr/>
        </p:nvSpPr>
        <p:spPr>
          <a:xfrm>
            <a:off x="5989320" y="4178808"/>
            <a:ext cx="1061070" cy="274320"/>
          </a:xfrm>
          <a:prstGeom prst="rect">
            <a:avLst/>
          </a:prstGeom>
          <a:noFill/>
          <a:ln/>
        </p:spPr>
        <p:txBody>
          <a:bodyPr wrap="square" lIns="0" tIns="0" rIns="0" bIns="0" rtlCol="0" anchor="t"/>
          <a:lstStyle/>
          <a:p>
            <a:pPr algn="ctr" indent="0" marL="0">
              <a:buNone/>
            </a:pPr>
            <a:r>
              <a:rPr lang="en-US" sz="900" b="1" dirty="0">
                <a:solidFill>
                  <a:schemeClr val="accent5"/>
                </a:solidFill>
              </a:rPr>
              <a:t>SUBJECT</a:t>
            </a:r>
            <a:endParaRPr lang="en-US" sz="900" dirty="0"/>
          </a:p>
        </p:txBody>
      </p:sp>
      <p:sp>
        <p:nvSpPr>
          <p:cNvPr id="16" name="Shape 13"/>
          <p:cNvSpPr/>
          <p:nvPr/>
        </p:nvSpPr>
        <p:spPr>
          <a:xfrm>
            <a:off x="6803502" y="3611880"/>
            <a:ext cx="976023" cy="530352"/>
          </a:xfrm>
          <a:prstGeom prst="roundRect">
            <a:avLst>
              <a:gd name="adj" fmla="val 17241"/>
            </a:avLst>
          </a:prstGeom>
          <a:solidFill>
            <a:schemeClr val="tx2"/>
          </a:solidFill>
          <a:ln w="12700">
            <a:solidFill>
              <a:srgbClr val="FFFFFF">
                <a:alpha val="0"/>
              </a:srgbClr>
            </a:solidFill>
            <a:prstDash val="solid"/>
          </a:ln>
        </p:spPr>
      </p:sp>
      <p:sp>
        <p:nvSpPr>
          <p:cNvPr id="17" name="Text 14"/>
          <p:cNvSpPr txBox="1"/>
          <p:nvPr/>
        </p:nvSpPr>
        <p:spPr>
          <a:xfrm>
            <a:off x="6803502" y="3611880"/>
            <a:ext cx="976023" cy="530352"/>
          </a:xfrm>
          <a:prstGeom prst="rect">
            <a:avLst/>
          </a:prstGeom>
          <a:noFill/>
          <a:ln/>
        </p:spPr>
        <p:txBody>
          <a:bodyPr wrap="square" lIns="0" tIns="0" rIns="0" bIns="0" rtlCol="0" anchor="ctr"/>
          <a:lstStyle/>
          <a:p>
            <a:pPr algn="ctr" indent="0" marL="0">
              <a:buNone/>
            </a:pPr>
            <a:r>
              <a:rPr lang="en-US" sz="1800" b="1" i="1" dirty="0">
                <a:solidFill>
                  <a:schemeClr val="bg1"/>
                </a:solidFill>
              </a:rPr>
              <a:t>have</a:t>
            </a:r>
            <a:endParaRPr lang="en-US" sz="1800" dirty="0"/>
          </a:p>
        </p:txBody>
      </p:sp>
      <p:sp>
        <p:nvSpPr>
          <p:cNvPr id="18" name="Text 15"/>
          <p:cNvSpPr txBox="1"/>
          <p:nvPr/>
        </p:nvSpPr>
        <p:spPr>
          <a:xfrm>
            <a:off x="6483462" y="4178808"/>
            <a:ext cx="1616103" cy="274320"/>
          </a:xfrm>
          <a:prstGeom prst="rect">
            <a:avLst/>
          </a:prstGeom>
          <a:noFill/>
          <a:ln/>
        </p:spPr>
        <p:txBody>
          <a:bodyPr wrap="square" lIns="0" tIns="0" rIns="0" bIns="0" rtlCol="0" anchor="t"/>
          <a:lstStyle/>
          <a:p>
            <a:pPr algn="ctr" indent="0" marL="0">
              <a:buNone/>
            </a:pPr>
            <a:r>
              <a:rPr lang="en-US" sz="900" b="1" dirty="0">
                <a:solidFill>
                  <a:schemeClr val="tx2"/>
                </a:solidFill>
              </a:rPr>
              <a:t>HAVE</a:t>
            </a:r>
            <a:endParaRPr lang="en-US" sz="900" dirty="0"/>
          </a:p>
        </p:txBody>
      </p:sp>
      <p:sp>
        <p:nvSpPr>
          <p:cNvPr id="19" name="Shape 16"/>
          <p:cNvSpPr/>
          <p:nvPr/>
        </p:nvSpPr>
        <p:spPr>
          <a:xfrm>
            <a:off x="7852677" y="3611880"/>
            <a:ext cx="976023" cy="530352"/>
          </a:xfrm>
          <a:prstGeom prst="roundRect">
            <a:avLst>
              <a:gd name="adj" fmla="val 17241"/>
            </a:avLst>
          </a:prstGeom>
          <a:solidFill>
            <a:schemeClr val="accent2"/>
          </a:solidFill>
          <a:ln w="12700">
            <a:solidFill>
              <a:srgbClr val="FFFFFF">
                <a:alpha val="0"/>
              </a:srgbClr>
            </a:solidFill>
            <a:prstDash val="solid"/>
          </a:ln>
        </p:spPr>
      </p:sp>
      <p:sp>
        <p:nvSpPr>
          <p:cNvPr id="20" name="Text 17"/>
          <p:cNvSpPr txBox="1"/>
          <p:nvPr/>
        </p:nvSpPr>
        <p:spPr>
          <a:xfrm>
            <a:off x="7852677" y="3611880"/>
            <a:ext cx="976023" cy="530352"/>
          </a:xfrm>
          <a:prstGeom prst="rect">
            <a:avLst/>
          </a:prstGeom>
          <a:noFill/>
          <a:ln/>
        </p:spPr>
        <p:txBody>
          <a:bodyPr wrap="square" lIns="0" tIns="0" rIns="0" bIns="0" rtlCol="0" anchor="ctr"/>
          <a:lstStyle/>
          <a:p>
            <a:pPr algn="ctr" indent="0" marL="0">
              <a:buNone/>
            </a:pPr>
            <a:r>
              <a:rPr lang="en-US" sz="1800" b="1" i="1" dirty="0">
                <a:solidFill>
                  <a:schemeClr val="bg1"/>
                </a:solidFill>
              </a:rPr>
              <a:t>lost</a:t>
            </a:r>
            <a:endParaRPr lang="en-US" sz="1800" dirty="0"/>
          </a:p>
        </p:txBody>
      </p:sp>
      <p:sp>
        <p:nvSpPr>
          <p:cNvPr id="21" name="Text 18"/>
          <p:cNvSpPr txBox="1"/>
          <p:nvPr/>
        </p:nvSpPr>
        <p:spPr>
          <a:xfrm>
            <a:off x="7532637" y="4178808"/>
            <a:ext cx="1616103" cy="274320"/>
          </a:xfrm>
          <a:prstGeom prst="rect">
            <a:avLst/>
          </a:prstGeom>
          <a:noFill/>
          <a:ln/>
        </p:spPr>
        <p:txBody>
          <a:bodyPr wrap="square" lIns="0" tIns="0" rIns="0" bIns="0" rtlCol="0" anchor="t"/>
          <a:lstStyle/>
          <a:p>
            <a:pPr algn="ctr" indent="0" marL="0">
              <a:buNone/>
            </a:pPr>
            <a:r>
              <a:rPr lang="en-US" sz="900" b="1" dirty="0">
                <a:solidFill>
                  <a:schemeClr val="accent2"/>
                </a:solidFill>
              </a:rPr>
              <a:t>PARTICIPLE</a:t>
            </a:r>
            <a:endParaRPr lang="en-US" sz="900" dirty="0"/>
          </a:p>
        </p:txBody>
      </p:sp>
      <p:sp>
        <p:nvSpPr>
          <p:cNvPr id="22" name="Shape 19"/>
          <p:cNvSpPr/>
          <p:nvPr/>
        </p:nvSpPr>
        <p:spPr>
          <a:xfrm>
            <a:off x="8901852" y="3611880"/>
            <a:ext cx="1319662" cy="530352"/>
          </a:xfrm>
          <a:prstGeom prst="roundRect">
            <a:avLst>
              <a:gd name="adj" fmla="val 17241"/>
            </a:avLst>
          </a:prstGeom>
          <a:solidFill>
            <a:srgbClr val="FFFFFF"/>
          </a:solidFill>
          <a:ln w="15875">
            <a:solidFill>
              <a:srgbClr val="D5DCE6"/>
            </a:solidFill>
            <a:prstDash val="solid"/>
          </a:ln>
        </p:spPr>
      </p:sp>
      <p:sp>
        <p:nvSpPr>
          <p:cNvPr id="23" name="Text 20"/>
          <p:cNvSpPr txBox="1"/>
          <p:nvPr/>
        </p:nvSpPr>
        <p:spPr>
          <a:xfrm>
            <a:off x="8901852" y="3611880"/>
            <a:ext cx="1319662" cy="530352"/>
          </a:xfrm>
          <a:prstGeom prst="rect">
            <a:avLst/>
          </a:prstGeom>
          <a:noFill/>
          <a:ln/>
        </p:spPr>
        <p:txBody>
          <a:bodyPr wrap="square" lIns="0" tIns="0" rIns="0" bIns="0" rtlCol="0" anchor="ctr"/>
          <a:lstStyle/>
          <a:p>
            <a:pPr algn="ctr" indent="0" marL="0">
              <a:buNone/>
            </a:pPr>
            <a:r>
              <a:rPr lang="en-US" sz="1800" i="1" dirty="0">
                <a:solidFill>
                  <a:schemeClr val="tx1"/>
                </a:solidFill>
              </a:rPr>
              <a:t>my keys!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Today’s mission</a:t>
            </a:r>
            <a:endParaRPr lang="en-US" sz="3000" dirty="0"/>
          </a:p>
        </p:txBody>
      </p:sp>
      <p:sp>
        <p:nvSpPr>
          <p:cNvPr id="3" name="tag"/>
          <p:cNvSpPr/>
          <p:nvPr/>
        </p:nvSpPr>
        <p:spPr>
          <a:xfrm>
            <a:off x="548640" y="237744"/>
            <a:ext cx="11210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MISSION</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chemeClr val="accent2"/>
          </a:solidFill>
          <a:ln w="12700">
            <a:solidFill>
              <a:srgbClr val="FFFFFF">
                <a:alpha val="0"/>
              </a:srgbClr>
            </a:solidFill>
            <a:prstDash val="solid"/>
          </a:ln>
        </p:spPr>
      </p:sp>
      <p:pic>
        <p:nvPicPr>
          <p:cNvPr id="7" name="Image 0" descr="PuzzlePiece">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2"/>
                </a:solidFill>
                <a:latin typeface="+mj-lt" pitchFamily="34" charset="0"/>
                <a:ea typeface="+mj-lt" pitchFamily="34" charset="-122"/>
                <a:cs typeface="+mj-lt" pitchFamily="34" charset="-120"/>
              </a:rPr>
              <a:t>Build</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I build the present perfect: have / has + past participle.</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chemeClr val="accent1"/>
          </a:solidFill>
          <a:ln w="12700">
            <a:solidFill>
              <a:srgbClr val="FFFFFF">
                <a:alpha val="0"/>
              </a:srgbClr>
            </a:solidFill>
            <a:prstDash val="solid"/>
          </a:ln>
        </p:spPr>
      </p:sp>
      <p:pic>
        <p:nvPicPr>
          <p:cNvPr id="12" name="Image 1" descr="Link">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1"/>
                </a:solidFill>
                <a:latin typeface="+mj-lt" pitchFamily="34" charset="0"/>
                <a:ea typeface="+mj-lt" pitchFamily="34" charset="-122"/>
                <a:cs typeface="+mj-lt" pitchFamily="34" charset="-120"/>
              </a:rPr>
              <a:t>Use</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I talk about experiences, results and situations that are still true.</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chemeClr val="accent4"/>
          </a:solidFill>
          <a:ln w="12700">
            <a:solidFill>
              <a:srgbClr val="FFFFFF">
                <a:alpha val="0"/>
              </a:srgbClr>
            </a:solidFill>
            <a:prstDash val="solid"/>
          </a:ln>
        </p:spPr>
      </p:sp>
      <p:pic>
        <p:nvPicPr>
          <p:cNvPr id="17" name="Image 2" descr="BalanceScale">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chemeClr val="accent4"/>
                </a:solidFill>
                <a:latin typeface="+mj-lt" pitchFamily="34" charset="0"/>
                <a:ea typeface="+mj-lt" pitchFamily="34" charset="-122"/>
                <a:cs typeface="+mj-lt" pitchFamily="34" charset="-120"/>
              </a:rPr>
              <a:t>Choose</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I choose: present perfect or past simple?</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A link with NOW, no finished time → present perfect. A finished time → past simple.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Look! What has happened?</a:t>
            </a:r>
            <a:endParaRPr lang="en-US" sz="3000" dirty="0"/>
          </a:p>
        </p:txBody>
      </p:sp>
      <p:sp>
        <p:nvSpPr>
          <p:cNvPr id="3" name="tag"/>
          <p:cNvSpPr/>
          <p:nvPr/>
        </p:nvSpPr>
        <p:spPr>
          <a:xfrm>
            <a:off x="548640" y="237744"/>
            <a:ext cx="1121054"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WARM-UP</a:t>
            </a:r>
            <a:endParaRPr lang="en-US" sz="1200" dirty="0"/>
          </a:p>
        </p:txBody>
      </p:sp>
      <p:sp>
        <p:nvSpPr>
          <p:cNvPr id="5" name="Shape 2"/>
          <p:cNvSpPr/>
          <p:nvPr/>
        </p:nvSpPr>
        <p:spPr>
          <a:xfrm>
            <a:off x="548640" y="1463040"/>
            <a:ext cx="3575304"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6" name="Image 0" descr="droplet">    </p:cNvPr>
          <p:cNvPicPr>
            <a:picLocks noChangeAspect="1"/>
          </p:cNvPicPr>
          <p:nvPr/>
        </p:nvPicPr>
        <p:blipFill>
          <a:blip r:embed="rId1"/>
          <a:stretch>
            <a:fillRect/>
          </a:stretch>
        </p:blipFill>
        <p:spPr>
          <a:xfrm>
            <a:off x="777240" y="1783080"/>
            <a:ext cx="1051560" cy="1051560"/>
          </a:xfrm>
          <a:prstGeom prst="rect">
            <a:avLst/>
          </a:prstGeom>
        </p:spPr>
      </p:pic>
      <p:sp>
        <p:nvSpPr>
          <p:cNvPr id="7" name="Text 3"/>
          <p:cNvSpPr txBox="1"/>
          <p:nvPr/>
        </p:nvSpPr>
        <p:spPr>
          <a:xfrm>
            <a:off x="1965960" y="1600200"/>
            <a:ext cx="2020824" cy="1417320"/>
          </a:xfrm>
          <a:prstGeom prst="rect">
            <a:avLst/>
          </a:prstGeom>
          <a:noFill/>
          <a:ln/>
        </p:spPr>
        <p:txBody>
          <a:bodyPr wrap="square" lIns="0" tIns="0" rIns="0" bIns="0" rtlCol="0" anchor="ctr"/>
          <a:lstStyle/>
          <a:p>
            <a:pPr algn="l" indent="0" marL="0">
              <a:buNone/>
            </a:pPr>
            <a:r>
              <a:rPr lang="en-US" sz="1800" b="1" i="1" dirty="0">
                <a:solidFill>
                  <a:schemeClr val="tx2"/>
                </a:solidFill>
              </a:rPr>
              <a:t>it / rain</a:t>
            </a:r>
            <a:endParaRPr lang="en-US" sz="1800" dirty="0"/>
          </a:p>
        </p:txBody>
      </p:sp>
      <p:sp>
        <p:nvSpPr>
          <p:cNvPr id="8" name="Shape 4"/>
          <p:cNvSpPr/>
          <p:nvPr/>
        </p:nvSpPr>
        <p:spPr>
          <a:xfrm>
            <a:off x="4306824" y="1463040"/>
            <a:ext cx="3575304"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9" name="Image 1" descr="key">    </p:cNvPr>
          <p:cNvPicPr>
            <a:picLocks noChangeAspect="1"/>
          </p:cNvPicPr>
          <p:nvPr/>
        </p:nvPicPr>
        <p:blipFill>
          <a:blip r:embed="rId2"/>
          <a:stretch>
            <a:fillRect/>
          </a:stretch>
        </p:blipFill>
        <p:spPr>
          <a:xfrm>
            <a:off x="4535424" y="1783080"/>
            <a:ext cx="1051560" cy="1051560"/>
          </a:xfrm>
          <a:prstGeom prst="rect">
            <a:avLst/>
          </a:prstGeom>
        </p:spPr>
      </p:pic>
      <p:sp>
        <p:nvSpPr>
          <p:cNvPr id="10" name="Text 5"/>
          <p:cNvSpPr txBox="1"/>
          <p:nvPr/>
        </p:nvSpPr>
        <p:spPr>
          <a:xfrm>
            <a:off x="5724144" y="1600200"/>
            <a:ext cx="2020824" cy="1417320"/>
          </a:xfrm>
          <a:prstGeom prst="rect">
            <a:avLst/>
          </a:prstGeom>
          <a:noFill/>
          <a:ln/>
        </p:spPr>
        <p:txBody>
          <a:bodyPr wrap="square" lIns="0" tIns="0" rIns="0" bIns="0" rtlCol="0" anchor="ctr"/>
          <a:lstStyle/>
          <a:p>
            <a:pPr algn="l" indent="0" marL="0">
              <a:buNone/>
            </a:pPr>
            <a:r>
              <a:rPr lang="en-US" sz="1800" b="1" i="1" dirty="0">
                <a:solidFill>
                  <a:schemeClr val="tx2"/>
                </a:solidFill>
              </a:rPr>
              <a:t>I / lose / my keys</a:t>
            </a:r>
            <a:endParaRPr lang="en-US" sz="1800" dirty="0"/>
          </a:p>
        </p:txBody>
      </p:sp>
      <p:sp>
        <p:nvSpPr>
          <p:cNvPr id="11" name="Shape 6"/>
          <p:cNvSpPr/>
          <p:nvPr/>
        </p:nvSpPr>
        <p:spPr>
          <a:xfrm>
            <a:off x="8065008" y="1463040"/>
            <a:ext cx="3575304"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2" name="Image 2" descr="trophy">    </p:cNvPr>
          <p:cNvPicPr>
            <a:picLocks noChangeAspect="1"/>
          </p:cNvPicPr>
          <p:nvPr/>
        </p:nvPicPr>
        <p:blipFill>
          <a:blip r:embed="rId3"/>
          <a:stretch>
            <a:fillRect/>
          </a:stretch>
        </p:blipFill>
        <p:spPr>
          <a:xfrm>
            <a:off x="8293608" y="1783080"/>
            <a:ext cx="1051560" cy="1051560"/>
          </a:xfrm>
          <a:prstGeom prst="rect">
            <a:avLst/>
          </a:prstGeom>
        </p:spPr>
      </p:pic>
      <p:sp>
        <p:nvSpPr>
          <p:cNvPr id="13" name="Text 7"/>
          <p:cNvSpPr txBox="1"/>
          <p:nvPr/>
        </p:nvSpPr>
        <p:spPr>
          <a:xfrm>
            <a:off x="9482328" y="1600200"/>
            <a:ext cx="2020824" cy="1417320"/>
          </a:xfrm>
          <a:prstGeom prst="rect">
            <a:avLst/>
          </a:prstGeom>
          <a:noFill/>
          <a:ln/>
        </p:spPr>
        <p:txBody>
          <a:bodyPr wrap="square" lIns="0" tIns="0" rIns="0" bIns="0" rtlCol="0" anchor="ctr"/>
          <a:lstStyle/>
          <a:p>
            <a:pPr algn="l" indent="0" marL="0">
              <a:buNone/>
            </a:pPr>
            <a:r>
              <a:rPr lang="en-US" sz="1800" b="1" i="1" dirty="0">
                <a:solidFill>
                  <a:schemeClr val="tx2"/>
                </a:solidFill>
              </a:rPr>
              <a:t>we / win / the match</a:t>
            </a:r>
            <a:endParaRPr lang="en-US" sz="1800" dirty="0"/>
          </a:p>
        </p:txBody>
      </p:sp>
      <p:sp>
        <p:nvSpPr>
          <p:cNvPr id="14" name="Shape 8"/>
          <p:cNvSpPr/>
          <p:nvPr/>
        </p:nvSpPr>
        <p:spPr>
          <a:xfrm>
            <a:off x="548640" y="3337560"/>
            <a:ext cx="3575304"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5" name="Image 3" descr="hot beverage">    </p:cNvPr>
          <p:cNvPicPr>
            <a:picLocks noChangeAspect="1"/>
          </p:cNvPicPr>
          <p:nvPr/>
        </p:nvPicPr>
        <p:blipFill>
          <a:blip r:embed="rId4"/>
          <a:stretch>
            <a:fillRect/>
          </a:stretch>
        </p:blipFill>
        <p:spPr>
          <a:xfrm>
            <a:off x="777240" y="3657600"/>
            <a:ext cx="1051560" cy="1051560"/>
          </a:xfrm>
          <a:prstGeom prst="rect">
            <a:avLst/>
          </a:prstGeom>
        </p:spPr>
      </p:pic>
      <p:sp>
        <p:nvSpPr>
          <p:cNvPr id="16" name="Text 9"/>
          <p:cNvSpPr txBox="1"/>
          <p:nvPr/>
        </p:nvSpPr>
        <p:spPr>
          <a:xfrm>
            <a:off x="1965960" y="3474720"/>
            <a:ext cx="2020824" cy="1417320"/>
          </a:xfrm>
          <a:prstGeom prst="rect">
            <a:avLst/>
          </a:prstGeom>
          <a:noFill/>
          <a:ln/>
        </p:spPr>
        <p:txBody>
          <a:bodyPr wrap="square" lIns="0" tIns="0" rIns="0" bIns="0" rtlCol="0" anchor="ctr"/>
          <a:lstStyle/>
          <a:p>
            <a:pPr algn="l" indent="0" marL="0">
              <a:buNone/>
            </a:pPr>
            <a:r>
              <a:rPr lang="en-US" sz="1800" b="1" i="1" dirty="0">
                <a:solidFill>
                  <a:schemeClr val="tx2"/>
                </a:solidFill>
              </a:rPr>
              <a:t>someone / drink / my coffee</a:t>
            </a:r>
            <a:endParaRPr lang="en-US" sz="1800" dirty="0"/>
          </a:p>
        </p:txBody>
      </p:sp>
      <p:sp>
        <p:nvSpPr>
          <p:cNvPr id="17" name="Shape 10"/>
          <p:cNvSpPr/>
          <p:nvPr/>
        </p:nvSpPr>
        <p:spPr>
          <a:xfrm>
            <a:off x="4306824" y="3337560"/>
            <a:ext cx="3575304"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18" name="Image 4" descr="adhesive bandage">    </p:cNvPr>
          <p:cNvPicPr>
            <a:picLocks noChangeAspect="1"/>
          </p:cNvPicPr>
          <p:nvPr/>
        </p:nvPicPr>
        <p:blipFill>
          <a:blip r:embed="rId5"/>
          <a:stretch>
            <a:fillRect/>
          </a:stretch>
        </p:blipFill>
        <p:spPr>
          <a:xfrm>
            <a:off x="4535424" y="3657600"/>
            <a:ext cx="1051560" cy="1051560"/>
          </a:xfrm>
          <a:prstGeom prst="rect">
            <a:avLst/>
          </a:prstGeom>
        </p:spPr>
      </p:pic>
      <p:sp>
        <p:nvSpPr>
          <p:cNvPr id="19" name="Text 11"/>
          <p:cNvSpPr txBox="1"/>
          <p:nvPr/>
        </p:nvSpPr>
        <p:spPr>
          <a:xfrm>
            <a:off x="5724144" y="3474720"/>
            <a:ext cx="2020824" cy="1417320"/>
          </a:xfrm>
          <a:prstGeom prst="rect">
            <a:avLst/>
          </a:prstGeom>
          <a:noFill/>
          <a:ln/>
        </p:spPr>
        <p:txBody>
          <a:bodyPr wrap="square" lIns="0" tIns="0" rIns="0" bIns="0" rtlCol="0" anchor="ctr"/>
          <a:lstStyle/>
          <a:p>
            <a:pPr algn="l" indent="0" marL="0">
              <a:buNone/>
            </a:pPr>
            <a:r>
              <a:rPr lang="en-US" sz="1800" b="1" i="1" dirty="0">
                <a:solidFill>
                  <a:schemeClr val="tx2"/>
                </a:solidFill>
              </a:rPr>
              <a:t>he / hurt / his hand</a:t>
            </a:r>
            <a:endParaRPr lang="en-US" sz="1800" dirty="0"/>
          </a:p>
        </p:txBody>
      </p:sp>
      <p:sp>
        <p:nvSpPr>
          <p:cNvPr id="20" name="Shape 12"/>
          <p:cNvSpPr/>
          <p:nvPr/>
        </p:nvSpPr>
        <p:spPr>
          <a:xfrm>
            <a:off x="8065008" y="3337560"/>
            <a:ext cx="3575304" cy="1691640"/>
          </a:xfrm>
          <a:prstGeom prst="roundRect">
            <a:avLst>
              <a:gd name="adj" fmla="val 6486"/>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pic>
        <p:nvPicPr>
          <p:cNvPr id="21" name="Image 5" descr="bus">    </p:cNvPr>
          <p:cNvPicPr>
            <a:picLocks noChangeAspect="1"/>
          </p:cNvPicPr>
          <p:nvPr/>
        </p:nvPicPr>
        <p:blipFill>
          <a:blip r:embed="rId6"/>
          <a:stretch>
            <a:fillRect/>
          </a:stretch>
        </p:blipFill>
        <p:spPr>
          <a:xfrm>
            <a:off x="8293608" y="3657600"/>
            <a:ext cx="1051560" cy="1051560"/>
          </a:xfrm>
          <a:prstGeom prst="rect">
            <a:avLst/>
          </a:prstGeom>
        </p:spPr>
      </p:pic>
      <p:sp>
        <p:nvSpPr>
          <p:cNvPr id="22" name="Text 13"/>
          <p:cNvSpPr txBox="1"/>
          <p:nvPr/>
        </p:nvSpPr>
        <p:spPr>
          <a:xfrm>
            <a:off x="9482328" y="3474720"/>
            <a:ext cx="2020824" cy="1417320"/>
          </a:xfrm>
          <a:prstGeom prst="rect">
            <a:avLst/>
          </a:prstGeom>
          <a:noFill/>
          <a:ln/>
        </p:spPr>
        <p:txBody>
          <a:bodyPr wrap="square" lIns="0" tIns="0" rIns="0" bIns="0" rtlCol="0" anchor="ctr"/>
          <a:lstStyle/>
          <a:p>
            <a:pPr algn="l" indent="0" marL="0">
              <a:buNone/>
            </a:pPr>
            <a:r>
              <a:rPr lang="en-US" sz="1800" b="1" i="1" dirty="0">
                <a:solidFill>
                  <a:schemeClr val="tx2"/>
                </a:solidFill>
              </a:rPr>
              <a:t>the bus / leave</a:t>
            </a:r>
            <a:endParaRPr lang="en-US" sz="1800" dirty="0"/>
          </a:p>
        </p:txBody>
      </p:sp>
      <p:sp>
        <p:nvSpPr>
          <p:cNvPr id="23" name="Shape 14"/>
          <p:cNvSpPr/>
          <p:nvPr/>
        </p:nvSpPr>
        <p:spPr>
          <a:xfrm>
            <a:off x="548640" y="5303520"/>
            <a:ext cx="11091672" cy="868680"/>
          </a:xfrm>
          <a:prstGeom prst="roundRect">
            <a:avLst>
              <a:gd name="adj" fmla="val 12632"/>
            </a:avLst>
          </a:prstGeom>
          <a:solidFill>
            <a:srgbClr val="EAF2FB"/>
          </a:solidFill>
          <a:ln w="19050">
            <a:solidFill>
              <a:srgbClr val="2A6FB0"/>
            </a:solidFill>
            <a:prstDash val="solid"/>
          </a:ln>
        </p:spPr>
      </p:sp>
      <p:sp>
        <p:nvSpPr>
          <p:cNvPr id="24" name="Text 15"/>
          <p:cNvSpPr txBox="1"/>
          <p:nvPr/>
        </p:nvSpPr>
        <p:spPr>
          <a:xfrm>
            <a:off x="822960" y="5303520"/>
            <a:ext cx="10607040" cy="868680"/>
          </a:xfrm>
          <a:prstGeom prst="rect">
            <a:avLst/>
          </a:prstGeom>
          <a:noFill/>
          <a:ln/>
        </p:spPr>
        <p:txBody>
          <a:bodyPr wrap="square" lIns="0" tIns="0" rIns="0" bIns="0" rtlCol="0" anchor="ctr"/>
          <a:lstStyle/>
          <a:p>
            <a:pPr algn="l" indent="0" marL="0">
              <a:buNone/>
            </a:pPr>
            <a:r>
              <a:rPr lang="en-US" sz="2000" i="1" dirty="0">
                <a:solidFill>
                  <a:schemeClr val="tx1"/>
                </a:solidFill>
              </a:rPr>
              <a:t>Look! It </a:t>
            </a:r>
            <a:r>
              <a:rPr lang="en-US" sz="2000" b="1" i="1" dirty="0">
                <a:solidFill>
                  <a:srgbClr val="2A6FB0"/>
                </a:solidFill>
              </a:rPr>
              <a:t>has rained</a:t>
            </a:r>
            <a:r>
              <a:rPr lang="en-US" sz="2000" i="1" dirty="0">
                <a:solidFill>
                  <a:schemeClr val="tx1"/>
                </a:solidFill>
              </a:rPr>
              <a:t>. The street is wet. — Oh no! I </a:t>
            </a:r>
            <a:r>
              <a:rPr lang="en-US" sz="2000" b="1" i="1" dirty="0">
                <a:solidFill>
                  <a:srgbClr val="2A6FB0"/>
                </a:solidFill>
              </a:rPr>
              <a:t>have lost</a:t>
            </a:r>
            <a:r>
              <a:rPr lang="en-US" sz="2000" i="1" dirty="0">
                <a:solidFill>
                  <a:schemeClr val="tx1"/>
                </a:solidFill>
              </a:rPr>
              <a:t> my keys!</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The bridge: a past action linked to NOW</a:t>
            </a:r>
            <a:endParaRPr lang="en-US" sz="3000" dirty="0"/>
          </a:p>
        </p:txBody>
      </p:sp>
      <p:sp>
        <p:nvSpPr>
          <p:cNvPr id="3" name="tag"/>
          <p:cNvSpPr/>
          <p:nvPr/>
        </p:nvSpPr>
        <p:spPr>
          <a:xfrm>
            <a:off x="548640" y="237744"/>
            <a:ext cx="11210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GRAMMAR</a:t>
            </a:r>
            <a:endParaRPr lang="en-US" sz="1200" dirty="0"/>
          </a:p>
        </p:txBody>
      </p:sp>
      <p:sp>
        <p:nvSpPr>
          <p:cNvPr id="5" name="Shape 2"/>
          <p:cNvSpPr/>
          <p:nvPr/>
        </p:nvSpPr>
        <p:spPr>
          <a:xfrm>
            <a:off x="731520" y="2514600"/>
            <a:ext cx="9144000" cy="182880"/>
          </a:xfrm>
          <a:prstGeom prst="rect">
            <a:avLst/>
          </a:prstGeom>
          <a:solidFill>
            <a:srgbClr val="D5DCE6"/>
          </a:solidFill>
          <a:ln w="12700">
            <a:solidFill>
              <a:srgbClr val="FFFFFF">
                <a:alpha val="0"/>
              </a:srgbClr>
            </a:solidFill>
            <a:prstDash val="solid"/>
          </a:ln>
        </p:spPr>
      </p:sp>
      <p:sp>
        <p:nvSpPr>
          <p:cNvPr id="6" name="Shape 3"/>
          <p:cNvSpPr/>
          <p:nvPr/>
        </p:nvSpPr>
        <p:spPr>
          <a:xfrm>
            <a:off x="640080" y="2606040"/>
            <a:ext cx="11018520" cy="914"/>
          </a:xfrm>
          <a:prstGeom prst="line">
            <a:avLst/>
          </a:prstGeom>
          <a:noFill/>
          <a:ln w="31750">
            <a:solidFill>
              <a:srgbClr val="17375E"/>
            </a:solidFill>
            <a:prstDash val="solid"/>
            <a:tailEnd type="triangle"/>
          </a:ln>
        </p:spPr>
      </p:sp>
      <p:sp>
        <p:nvSpPr>
          <p:cNvPr id="7" name="Shape 4"/>
          <p:cNvSpPr/>
          <p:nvPr/>
        </p:nvSpPr>
        <p:spPr>
          <a:xfrm>
            <a:off x="10012680" y="2295144"/>
            <a:ext cx="91440" cy="621792"/>
          </a:xfrm>
          <a:prstGeom prst="rect">
            <a:avLst/>
          </a:prstGeom>
          <a:solidFill>
            <a:schemeClr val="accent6"/>
          </a:solidFill>
          <a:ln w="12700">
            <a:solidFill>
              <a:srgbClr val="FFFFFF">
                <a:alpha val="0"/>
              </a:srgbClr>
            </a:solidFill>
            <a:prstDash val="solid"/>
          </a:ln>
        </p:spPr>
      </p:sp>
      <p:sp>
        <p:nvSpPr>
          <p:cNvPr id="8" name="Text 5"/>
          <p:cNvSpPr txBox="1"/>
          <p:nvPr/>
        </p:nvSpPr>
        <p:spPr>
          <a:xfrm>
            <a:off x="9509760" y="1911096"/>
            <a:ext cx="1097280" cy="347472"/>
          </a:xfrm>
          <a:prstGeom prst="rect">
            <a:avLst/>
          </a:prstGeom>
          <a:noFill/>
          <a:ln/>
        </p:spPr>
        <p:txBody>
          <a:bodyPr wrap="square" lIns="0" tIns="0" rIns="0" bIns="0" rtlCol="0" anchor="ctr"/>
          <a:lstStyle/>
          <a:p>
            <a:pPr algn="ctr" indent="0" marL="0">
              <a:buNone/>
            </a:pPr>
            <a:r>
              <a:rPr lang="en-US" sz="1500" b="1" dirty="0">
                <a:solidFill>
                  <a:schemeClr val="accent6"/>
                </a:solidFill>
              </a:rPr>
              <a:t>NOW</a:t>
            </a:r>
            <a:endParaRPr lang="en-US" sz="1500" dirty="0"/>
          </a:p>
        </p:txBody>
      </p:sp>
      <p:sp>
        <p:nvSpPr>
          <p:cNvPr id="9" name="Shape 6"/>
          <p:cNvSpPr/>
          <p:nvPr/>
        </p:nvSpPr>
        <p:spPr>
          <a:xfrm>
            <a:off x="2633472" y="2496312"/>
            <a:ext cx="219456" cy="219456"/>
          </a:xfrm>
          <a:prstGeom prst="ellipse">
            <a:avLst/>
          </a:prstGeom>
          <a:solidFill>
            <a:schemeClr val="accent2"/>
          </a:solidFill>
          <a:ln w="12700">
            <a:solidFill>
              <a:srgbClr val="FFFFFF"/>
            </a:solidFill>
            <a:prstDash val="solid"/>
          </a:ln>
        </p:spPr>
      </p:sp>
      <p:sp>
        <p:nvSpPr>
          <p:cNvPr id="10" name="Shape 7"/>
          <p:cNvSpPr/>
          <p:nvPr/>
        </p:nvSpPr>
        <p:spPr>
          <a:xfrm>
            <a:off x="2743200" y="1737360"/>
            <a:ext cx="7296912" cy="1645920"/>
          </a:xfrm>
          <a:prstGeom prst="arc">
            <a:avLst>
              <a:gd name="adj1" fmla="val 10800000"/>
              <a:gd name="adj2" fmla="val 21600000"/>
            </a:avLst>
          </a:prstGeom>
          <a:solidFill>
            <a:srgbClr val="FFFFFF">
              <a:alpha val="0"/>
            </a:srgbClr>
          </a:solidFill>
          <a:ln w="38100">
            <a:solidFill>
              <a:srgbClr val="2A6FB0"/>
            </a:solidFill>
            <a:prstDash val="solid"/>
            <a:tailEnd type="triangle"/>
          </a:ln>
        </p:spPr>
      </p:sp>
      <p:sp>
        <p:nvSpPr>
          <p:cNvPr id="11" name="Text 8"/>
          <p:cNvSpPr txBox="1"/>
          <p:nvPr/>
        </p:nvSpPr>
        <p:spPr>
          <a:xfrm>
            <a:off x="1828800" y="2788920"/>
            <a:ext cx="1828800" cy="365760"/>
          </a:xfrm>
          <a:prstGeom prst="rect">
            <a:avLst/>
          </a:prstGeom>
          <a:noFill/>
          <a:ln/>
        </p:spPr>
        <p:txBody>
          <a:bodyPr wrap="square" lIns="0" tIns="0" rIns="0" bIns="0" rtlCol="0" anchor="t"/>
          <a:lstStyle/>
          <a:p>
            <a:pPr algn="ctr" indent="0" marL="0">
              <a:buNone/>
            </a:pPr>
            <a:r>
              <a:rPr lang="en-US" sz="1400" b="1" dirty="0">
                <a:solidFill>
                  <a:schemeClr val="accent2"/>
                </a:solidFill>
              </a:rPr>
              <a:t>past action</a:t>
            </a:r>
            <a:endParaRPr lang="en-US" sz="1400" dirty="0"/>
          </a:p>
        </p:txBody>
      </p:sp>
      <p:sp>
        <p:nvSpPr>
          <p:cNvPr id="12" name="Text 9"/>
          <p:cNvSpPr txBox="1"/>
          <p:nvPr/>
        </p:nvSpPr>
        <p:spPr>
          <a:xfrm>
            <a:off x="4389120" y="1353312"/>
            <a:ext cx="4114800" cy="365760"/>
          </a:xfrm>
          <a:prstGeom prst="rect">
            <a:avLst/>
          </a:prstGeom>
          <a:noFill/>
          <a:ln/>
        </p:spPr>
        <p:txBody>
          <a:bodyPr wrap="square" lIns="0" tIns="0" rIns="0" bIns="0" rtlCol="0" anchor="t"/>
          <a:lstStyle/>
          <a:p>
            <a:pPr algn="ctr" indent="0" marL="0">
              <a:buNone/>
            </a:pPr>
            <a:r>
              <a:rPr lang="en-US" sz="1600" b="1" i="1" dirty="0">
                <a:solidFill>
                  <a:schemeClr val="accent2"/>
                </a:solidFill>
              </a:rPr>
              <a:t>+ link with NOW</a:t>
            </a:r>
            <a:r>
              <a:rPr lang="en-US" sz="1600" i="1" dirty="0">
                <a:solidFill>
                  <a:schemeClr val="accent2"/>
                </a:solidFill>
              </a:rPr>
              <a:t>: no finished time!</a:t>
            </a:r>
            <a:endParaRPr lang="en-US" sz="1600" dirty="0"/>
          </a:p>
        </p:txBody>
      </p:sp>
      <p:sp>
        <p:nvSpPr>
          <p:cNvPr id="13" name="Shape 10"/>
          <p:cNvSpPr/>
          <p:nvPr/>
        </p:nvSpPr>
        <p:spPr>
          <a:xfrm>
            <a:off x="548640" y="3246120"/>
            <a:ext cx="3575304" cy="2286000"/>
          </a:xfrm>
          <a:prstGeom prst="roundRect">
            <a:avLst>
              <a:gd name="adj" fmla="val 4800"/>
            </a:avLst>
          </a:prstGeom>
          <a:solidFill>
            <a:srgbClr val="FFFFFF"/>
          </a:solidFill>
          <a:ln w="22225">
            <a:solidFill>
              <a:srgbClr val="2A6FB0"/>
            </a:solidFill>
            <a:prstDash val="solid"/>
          </a:ln>
          <a:effectLst>
            <a:outerShdw sx="100000" sy="100000" kx="0" ky="0" algn="bl" rotWithShape="0" blurRad="101600" dist="25400" dir="3600000">
              <a:srgbClr val="000000">
                <a:alpha val="16000"/>
              </a:srgbClr>
            </a:outerShdw>
          </a:effectLst>
        </p:spPr>
      </p:sp>
      <p:pic>
        <p:nvPicPr>
          <p:cNvPr id="14" name="Image 0" descr="globe showing europe africa">    </p:cNvPr>
          <p:cNvPicPr>
            <a:picLocks noChangeAspect="1"/>
          </p:cNvPicPr>
          <p:nvPr/>
        </p:nvPicPr>
        <p:blipFill>
          <a:blip r:embed="rId1"/>
          <a:stretch>
            <a:fillRect/>
          </a:stretch>
        </p:blipFill>
        <p:spPr>
          <a:xfrm>
            <a:off x="685800" y="3337560"/>
            <a:ext cx="548640" cy="548640"/>
          </a:xfrm>
          <a:prstGeom prst="rect">
            <a:avLst/>
          </a:prstGeom>
        </p:spPr>
      </p:pic>
      <p:sp>
        <p:nvSpPr>
          <p:cNvPr id="15" name="Text 11"/>
          <p:cNvSpPr txBox="1"/>
          <p:nvPr/>
        </p:nvSpPr>
        <p:spPr>
          <a:xfrm>
            <a:off x="1325880" y="3337560"/>
            <a:ext cx="2706624" cy="548640"/>
          </a:xfrm>
          <a:prstGeom prst="rect">
            <a:avLst/>
          </a:prstGeom>
          <a:noFill/>
          <a:ln/>
        </p:spPr>
        <p:txBody>
          <a:bodyPr wrap="square" lIns="0" tIns="0" rIns="0" bIns="0" rtlCol="0" anchor="ctr"/>
          <a:lstStyle/>
          <a:p>
            <a:pPr algn="l" indent="0" marL="0">
              <a:buNone/>
            </a:pPr>
            <a:r>
              <a:rPr lang="en-US" sz="1500" b="1" dirty="0">
                <a:solidFill>
                  <a:schemeClr val="accent2"/>
                </a:solidFill>
              </a:rPr>
              <a:t>1. EXPERIENCE</a:t>
            </a:r>
            <a:endParaRPr lang="en-US" sz="1500" dirty="0"/>
          </a:p>
        </p:txBody>
      </p:sp>
      <p:sp>
        <p:nvSpPr>
          <p:cNvPr id="16" name="Shape 12"/>
          <p:cNvSpPr/>
          <p:nvPr/>
        </p:nvSpPr>
        <p:spPr>
          <a:xfrm>
            <a:off x="822960" y="4270248"/>
            <a:ext cx="3026664" cy="914"/>
          </a:xfrm>
          <a:prstGeom prst="line">
            <a:avLst/>
          </a:prstGeom>
          <a:noFill/>
          <a:ln w="19050">
            <a:solidFill>
              <a:srgbClr val="8A96A8"/>
            </a:solidFill>
            <a:prstDash val="solid"/>
            <a:tailEnd type="triangle"/>
          </a:ln>
        </p:spPr>
      </p:sp>
      <p:sp>
        <p:nvSpPr>
          <p:cNvPr id="17" name="Shape 13"/>
          <p:cNvSpPr/>
          <p:nvPr/>
        </p:nvSpPr>
        <p:spPr>
          <a:xfrm>
            <a:off x="3277392" y="4087368"/>
            <a:ext cx="54864" cy="365760"/>
          </a:xfrm>
          <a:prstGeom prst="rect">
            <a:avLst/>
          </a:prstGeom>
          <a:solidFill>
            <a:schemeClr val="accent6"/>
          </a:solidFill>
          <a:ln w="12700">
            <a:solidFill>
              <a:srgbClr val="FFFFFF">
                <a:alpha val="0"/>
              </a:srgbClr>
            </a:solidFill>
            <a:prstDash val="solid"/>
          </a:ln>
        </p:spPr>
      </p:sp>
      <p:sp>
        <p:nvSpPr>
          <p:cNvPr id="18" name="Shape 14"/>
          <p:cNvSpPr/>
          <p:nvPr/>
        </p:nvSpPr>
        <p:spPr>
          <a:xfrm>
            <a:off x="1194664" y="4187952"/>
            <a:ext cx="164592" cy="164592"/>
          </a:xfrm>
          <a:prstGeom prst="ellipse">
            <a:avLst/>
          </a:prstGeom>
          <a:solidFill>
            <a:schemeClr val="accent2"/>
          </a:solidFill>
          <a:ln w="12700">
            <a:solidFill>
              <a:srgbClr val="FFFFFF">
                <a:alpha val="0"/>
              </a:srgbClr>
            </a:solidFill>
            <a:prstDash val="solid"/>
          </a:ln>
        </p:spPr>
      </p:sp>
      <p:sp>
        <p:nvSpPr>
          <p:cNvPr id="19" name="Shape 15"/>
          <p:cNvSpPr/>
          <p:nvPr/>
        </p:nvSpPr>
        <p:spPr>
          <a:xfrm>
            <a:off x="1951330" y="4187952"/>
            <a:ext cx="164592" cy="164592"/>
          </a:xfrm>
          <a:prstGeom prst="ellipse">
            <a:avLst/>
          </a:prstGeom>
          <a:solidFill>
            <a:schemeClr val="accent2"/>
          </a:solidFill>
          <a:ln w="12700">
            <a:solidFill>
              <a:srgbClr val="FFFFFF">
                <a:alpha val="0"/>
              </a:srgbClr>
            </a:solidFill>
            <a:prstDash val="solid"/>
          </a:ln>
        </p:spPr>
      </p:sp>
      <p:sp>
        <p:nvSpPr>
          <p:cNvPr id="20" name="Shape 16"/>
          <p:cNvSpPr/>
          <p:nvPr/>
        </p:nvSpPr>
        <p:spPr>
          <a:xfrm>
            <a:off x="2617196" y="4187952"/>
            <a:ext cx="164592" cy="164592"/>
          </a:xfrm>
          <a:prstGeom prst="ellipse">
            <a:avLst/>
          </a:prstGeom>
          <a:solidFill>
            <a:schemeClr val="accent2"/>
          </a:solidFill>
          <a:ln w="12700">
            <a:solidFill>
              <a:srgbClr val="FFFFFF">
                <a:alpha val="0"/>
              </a:srgbClr>
            </a:solidFill>
            <a:prstDash val="solid"/>
          </a:ln>
        </p:spPr>
      </p:sp>
      <p:sp>
        <p:nvSpPr>
          <p:cNvPr id="21" name="Shape 17"/>
          <p:cNvSpPr/>
          <p:nvPr/>
        </p:nvSpPr>
        <p:spPr>
          <a:xfrm>
            <a:off x="868680" y="3977640"/>
            <a:ext cx="2408712" cy="585216"/>
          </a:xfrm>
          <a:prstGeom prst="roundRect">
            <a:avLst>
              <a:gd name="adj" fmla="val 9375"/>
            </a:avLst>
          </a:prstGeom>
          <a:solidFill>
            <a:srgbClr val="FFFFFF">
              <a:alpha val="0"/>
            </a:srgbClr>
          </a:solidFill>
          <a:ln w="12700">
            <a:solidFill>
              <a:srgbClr val="2A6FB0"/>
            </a:solidFill>
            <a:prstDash val="dash"/>
          </a:ln>
        </p:spPr>
      </p:sp>
      <p:sp>
        <p:nvSpPr>
          <p:cNvPr id="22" name="Shape 18"/>
          <p:cNvSpPr/>
          <p:nvPr/>
        </p:nvSpPr>
        <p:spPr>
          <a:xfrm>
            <a:off x="731520" y="4572000"/>
            <a:ext cx="1647032" cy="329184"/>
          </a:xfrm>
          <a:prstGeom prst="roundRect">
            <a:avLst>
              <a:gd name="adj" fmla="val 33333"/>
            </a:avLst>
          </a:prstGeom>
          <a:solidFill>
            <a:srgbClr val="FDF1E6"/>
          </a:solidFill>
          <a:ln w="19050">
            <a:solidFill>
              <a:srgbClr val="D9700F"/>
            </a:solidFill>
            <a:prstDash val="solid"/>
          </a:ln>
        </p:spPr>
      </p:sp>
      <p:sp>
        <p:nvSpPr>
          <p:cNvPr id="23" name="Text 19"/>
          <p:cNvSpPr txBox="1"/>
          <p:nvPr/>
        </p:nvSpPr>
        <p:spPr>
          <a:xfrm>
            <a:off x="731520" y="4572000"/>
            <a:ext cx="1647032" cy="329184"/>
          </a:xfrm>
          <a:prstGeom prst="rect">
            <a:avLst/>
          </a:prstGeom>
          <a:noFill/>
          <a:ln/>
        </p:spPr>
        <p:txBody>
          <a:bodyPr wrap="square" lIns="0" tIns="0" rIns="0" bIns="0" rtlCol="0" anchor="ctr"/>
          <a:lstStyle/>
          <a:p>
            <a:pPr algn="ctr" indent="0" marL="0">
              <a:buNone/>
            </a:pPr>
            <a:r>
              <a:rPr lang="en-US" sz="1300" b="1" i="1" dirty="0">
                <a:solidFill>
                  <a:schemeClr val="accent1"/>
                </a:solidFill>
              </a:rPr>
              <a:t>ever · never</a:t>
            </a:r>
            <a:endParaRPr lang="en-US" sz="1300" dirty="0"/>
          </a:p>
        </p:txBody>
      </p:sp>
      <p:sp>
        <p:nvSpPr>
          <p:cNvPr id="24" name="Text 20"/>
          <p:cNvSpPr txBox="1"/>
          <p:nvPr/>
        </p:nvSpPr>
        <p:spPr>
          <a:xfrm>
            <a:off x="731520" y="4937760"/>
            <a:ext cx="3209544" cy="502920"/>
          </a:xfrm>
          <a:prstGeom prst="rect">
            <a:avLst/>
          </a:prstGeom>
          <a:noFill/>
          <a:ln/>
        </p:spPr>
        <p:txBody>
          <a:bodyPr wrap="square" lIns="0" tIns="0" rIns="0" bIns="0" rtlCol="0" anchor="ctr"/>
          <a:lstStyle/>
          <a:p>
            <a:pPr algn="l" indent="0" marL="0">
              <a:buNone/>
            </a:pPr>
            <a:r>
              <a:rPr lang="en-US" sz="1500" i="1" dirty="0">
                <a:solidFill>
                  <a:schemeClr val="tx1"/>
                </a:solidFill>
              </a:rPr>
              <a:t>Have you ever </a:t>
            </a:r>
            <a:r>
              <a:rPr lang="en-US" sz="1500" b="1" i="1" dirty="0">
                <a:solidFill>
                  <a:srgbClr val="2A6FB0"/>
                </a:solidFill>
              </a:rPr>
              <a:t>been</a:t>
            </a:r>
            <a:r>
              <a:rPr lang="en-US" sz="1500" i="1" dirty="0">
                <a:solidFill>
                  <a:schemeClr val="tx1"/>
                </a:solidFill>
              </a:rPr>
              <a:t> to Japan?</a:t>
            </a:r>
            <a:endParaRPr lang="en-US" sz="1800" dirty="0"/>
          </a:p>
        </p:txBody>
      </p:sp>
      <p:sp>
        <p:nvSpPr>
          <p:cNvPr id="25" name="Shape 21"/>
          <p:cNvSpPr/>
          <p:nvPr/>
        </p:nvSpPr>
        <p:spPr>
          <a:xfrm>
            <a:off x="4306824" y="3246120"/>
            <a:ext cx="3575304" cy="2286000"/>
          </a:xfrm>
          <a:prstGeom prst="roundRect">
            <a:avLst>
              <a:gd name="adj" fmla="val 4800"/>
            </a:avLst>
          </a:prstGeom>
          <a:solidFill>
            <a:srgbClr val="FFFFFF"/>
          </a:solidFill>
          <a:ln w="22225">
            <a:solidFill>
              <a:srgbClr val="2A6FB0"/>
            </a:solidFill>
            <a:prstDash val="solid"/>
          </a:ln>
          <a:effectLst>
            <a:outerShdw sx="100000" sy="100000" kx="0" ky="0" algn="bl" rotWithShape="0" blurRad="101600" dist="25400" dir="3600000">
              <a:srgbClr val="000000">
                <a:alpha val="16000"/>
              </a:srgbClr>
            </a:outerShdw>
          </a:effectLst>
        </p:spPr>
      </p:sp>
      <p:pic>
        <p:nvPicPr>
          <p:cNvPr id="26" name="Image 1" descr="key">    </p:cNvPr>
          <p:cNvPicPr>
            <a:picLocks noChangeAspect="1"/>
          </p:cNvPicPr>
          <p:nvPr/>
        </p:nvPicPr>
        <p:blipFill>
          <a:blip r:embed="rId2"/>
          <a:stretch>
            <a:fillRect/>
          </a:stretch>
        </p:blipFill>
        <p:spPr>
          <a:xfrm>
            <a:off x="4443984" y="3337560"/>
            <a:ext cx="548640" cy="548640"/>
          </a:xfrm>
          <a:prstGeom prst="rect">
            <a:avLst/>
          </a:prstGeom>
        </p:spPr>
      </p:pic>
      <p:sp>
        <p:nvSpPr>
          <p:cNvPr id="27" name="Text 22"/>
          <p:cNvSpPr txBox="1"/>
          <p:nvPr/>
        </p:nvSpPr>
        <p:spPr>
          <a:xfrm>
            <a:off x="5084064" y="3337560"/>
            <a:ext cx="2706624" cy="548640"/>
          </a:xfrm>
          <a:prstGeom prst="rect">
            <a:avLst/>
          </a:prstGeom>
          <a:noFill/>
          <a:ln/>
        </p:spPr>
        <p:txBody>
          <a:bodyPr wrap="square" lIns="0" tIns="0" rIns="0" bIns="0" rtlCol="0" anchor="ctr"/>
          <a:lstStyle/>
          <a:p>
            <a:pPr algn="l" indent="0" marL="0">
              <a:buNone/>
            </a:pPr>
            <a:r>
              <a:rPr lang="en-US" sz="1500" b="1" dirty="0">
                <a:solidFill>
                  <a:schemeClr val="accent2"/>
                </a:solidFill>
              </a:rPr>
              <a:t>2. RESULT NOW</a:t>
            </a:r>
            <a:endParaRPr lang="en-US" sz="1500" dirty="0"/>
          </a:p>
        </p:txBody>
      </p:sp>
      <p:sp>
        <p:nvSpPr>
          <p:cNvPr id="28" name="Shape 23"/>
          <p:cNvSpPr/>
          <p:nvPr/>
        </p:nvSpPr>
        <p:spPr>
          <a:xfrm>
            <a:off x="4581144" y="4270248"/>
            <a:ext cx="3026664" cy="914"/>
          </a:xfrm>
          <a:prstGeom prst="line">
            <a:avLst/>
          </a:prstGeom>
          <a:noFill/>
          <a:ln w="19050">
            <a:solidFill>
              <a:srgbClr val="8A96A8"/>
            </a:solidFill>
            <a:prstDash val="solid"/>
            <a:tailEnd type="triangle"/>
          </a:ln>
        </p:spPr>
      </p:sp>
      <p:sp>
        <p:nvSpPr>
          <p:cNvPr id="29" name="Shape 24"/>
          <p:cNvSpPr/>
          <p:nvPr/>
        </p:nvSpPr>
        <p:spPr>
          <a:xfrm>
            <a:off x="7035576" y="4087368"/>
            <a:ext cx="54864" cy="365760"/>
          </a:xfrm>
          <a:prstGeom prst="rect">
            <a:avLst/>
          </a:prstGeom>
          <a:solidFill>
            <a:schemeClr val="accent6"/>
          </a:solidFill>
          <a:ln w="12700">
            <a:solidFill>
              <a:srgbClr val="FFFFFF">
                <a:alpha val="0"/>
              </a:srgbClr>
            </a:solidFill>
            <a:prstDash val="solid"/>
          </a:ln>
        </p:spPr>
      </p:sp>
      <p:sp>
        <p:nvSpPr>
          <p:cNvPr id="30" name="Shape 25"/>
          <p:cNvSpPr/>
          <p:nvPr/>
        </p:nvSpPr>
        <p:spPr>
          <a:xfrm>
            <a:off x="6660672" y="4187952"/>
            <a:ext cx="164592" cy="164592"/>
          </a:xfrm>
          <a:prstGeom prst="ellipse">
            <a:avLst/>
          </a:prstGeom>
          <a:solidFill>
            <a:schemeClr val="accent2"/>
          </a:solidFill>
          <a:ln w="12700">
            <a:solidFill>
              <a:srgbClr val="FFFFFF">
                <a:alpha val="0"/>
              </a:srgbClr>
            </a:solidFill>
            <a:prstDash val="solid"/>
          </a:ln>
        </p:spPr>
      </p:sp>
      <p:sp>
        <p:nvSpPr>
          <p:cNvPr id="31" name="Shape 26"/>
          <p:cNvSpPr/>
          <p:nvPr/>
        </p:nvSpPr>
        <p:spPr>
          <a:xfrm>
            <a:off x="6742968" y="3904488"/>
            <a:ext cx="292608" cy="640080"/>
          </a:xfrm>
          <a:prstGeom prst="arc">
            <a:avLst>
              <a:gd name="adj1" fmla="val 10800000"/>
              <a:gd name="adj2" fmla="val 21600000"/>
            </a:avLst>
          </a:prstGeom>
          <a:solidFill>
            <a:srgbClr val="FFFFFF">
              <a:alpha val="0"/>
            </a:srgbClr>
          </a:solidFill>
          <a:ln w="25400">
            <a:solidFill>
              <a:srgbClr val="2A6FB0"/>
            </a:solidFill>
            <a:prstDash val="solid"/>
            <a:tailEnd type="triangle"/>
          </a:ln>
        </p:spPr>
      </p:sp>
      <p:sp>
        <p:nvSpPr>
          <p:cNvPr id="32" name="Shape 27"/>
          <p:cNvSpPr/>
          <p:nvPr/>
        </p:nvSpPr>
        <p:spPr>
          <a:xfrm>
            <a:off x="4489704" y="4572000"/>
            <a:ext cx="2477805" cy="329184"/>
          </a:xfrm>
          <a:prstGeom prst="roundRect">
            <a:avLst>
              <a:gd name="adj" fmla="val 33333"/>
            </a:avLst>
          </a:prstGeom>
          <a:solidFill>
            <a:srgbClr val="FDF1E6"/>
          </a:solidFill>
          <a:ln w="19050">
            <a:solidFill>
              <a:srgbClr val="D9700F"/>
            </a:solidFill>
            <a:prstDash val="solid"/>
          </a:ln>
        </p:spPr>
      </p:sp>
      <p:sp>
        <p:nvSpPr>
          <p:cNvPr id="33" name="Text 28"/>
          <p:cNvSpPr txBox="1"/>
          <p:nvPr/>
        </p:nvSpPr>
        <p:spPr>
          <a:xfrm>
            <a:off x="4489704" y="4572000"/>
            <a:ext cx="2477805" cy="329184"/>
          </a:xfrm>
          <a:prstGeom prst="rect">
            <a:avLst/>
          </a:prstGeom>
          <a:noFill/>
          <a:ln/>
        </p:spPr>
        <p:txBody>
          <a:bodyPr wrap="square" lIns="0" tIns="0" rIns="0" bIns="0" rtlCol="0" anchor="ctr"/>
          <a:lstStyle/>
          <a:p>
            <a:pPr algn="ctr" indent="0" marL="0">
              <a:buNone/>
            </a:pPr>
            <a:r>
              <a:rPr lang="en-US" sz="1300" b="1" i="1" dirty="0">
                <a:solidFill>
                  <a:schemeClr val="accent1"/>
                </a:solidFill>
              </a:rPr>
              <a:t>just · already · yet</a:t>
            </a:r>
            <a:endParaRPr lang="en-US" sz="1300" dirty="0"/>
          </a:p>
        </p:txBody>
      </p:sp>
      <p:sp>
        <p:nvSpPr>
          <p:cNvPr id="34" name="Text 29"/>
          <p:cNvSpPr txBox="1"/>
          <p:nvPr/>
        </p:nvSpPr>
        <p:spPr>
          <a:xfrm>
            <a:off x="4489704" y="4937760"/>
            <a:ext cx="3209544" cy="502920"/>
          </a:xfrm>
          <a:prstGeom prst="rect">
            <a:avLst/>
          </a:prstGeom>
          <a:noFill/>
          <a:ln/>
        </p:spPr>
        <p:txBody>
          <a:bodyPr wrap="square" lIns="0" tIns="0" rIns="0" bIns="0" rtlCol="0" anchor="ctr"/>
          <a:lstStyle/>
          <a:p>
            <a:pPr algn="l" indent="0" marL="0">
              <a:buNone/>
            </a:pPr>
            <a:r>
              <a:rPr lang="en-US" sz="1500" i="1" dirty="0">
                <a:solidFill>
                  <a:schemeClr val="tx1"/>
                </a:solidFill>
              </a:rPr>
              <a:t>I </a:t>
            </a:r>
            <a:r>
              <a:rPr lang="en-US" sz="1500" b="1" i="1" dirty="0">
                <a:solidFill>
                  <a:srgbClr val="2A6FB0"/>
                </a:solidFill>
              </a:rPr>
              <a:t>have lost</a:t>
            </a:r>
            <a:r>
              <a:rPr lang="en-US" sz="1500" i="1" dirty="0">
                <a:solidFill>
                  <a:schemeClr val="tx1"/>
                </a:solidFill>
              </a:rPr>
              <a:t> my keys!</a:t>
            </a:r>
            <a:endParaRPr lang="en-US" sz="1800" dirty="0"/>
          </a:p>
        </p:txBody>
      </p:sp>
      <p:sp>
        <p:nvSpPr>
          <p:cNvPr id="35" name="Shape 30"/>
          <p:cNvSpPr/>
          <p:nvPr/>
        </p:nvSpPr>
        <p:spPr>
          <a:xfrm>
            <a:off x="8065008" y="3246120"/>
            <a:ext cx="3575304" cy="2286000"/>
          </a:xfrm>
          <a:prstGeom prst="roundRect">
            <a:avLst>
              <a:gd name="adj" fmla="val 4800"/>
            </a:avLst>
          </a:prstGeom>
          <a:solidFill>
            <a:srgbClr val="FFFFFF"/>
          </a:solidFill>
          <a:ln w="22225">
            <a:solidFill>
              <a:srgbClr val="2A6FB0"/>
            </a:solidFill>
            <a:prstDash val="solid"/>
          </a:ln>
          <a:effectLst>
            <a:outerShdw sx="100000" sy="100000" kx="0" ky="0" algn="bl" rotWithShape="0" blurRad="101600" dist="25400" dir="3600000">
              <a:srgbClr val="000000">
                <a:alpha val="16000"/>
              </a:srgbClr>
            </a:outerShdw>
          </a:effectLst>
        </p:spPr>
      </p:sp>
      <p:pic>
        <p:nvPicPr>
          <p:cNvPr id="36" name="Image 2" descr="hourglass not done">    </p:cNvPr>
          <p:cNvPicPr>
            <a:picLocks noChangeAspect="1"/>
          </p:cNvPicPr>
          <p:nvPr/>
        </p:nvPicPr>
        <p:blipFill>
          <a:blip r:embed="rId3"/>
          <a:stretch>
            <a:fillRect/>
          </a:stretch>
        </p:blipFill>
        <p:spPr>
          <a:xfrm>
            <a:off x="8202168" y="3337560"/>
            <a:ext cx="548640" cy="548640"/>
          </a:xfrm>
          <a:prstGeom prst="rect">
            <a:avLst/>
          </a:prstGeom>
        </p:spPr>
      </p:pic>
      <p:sp>
        <p:nvSpPr>
          <p:cNvPr id="37" name="Text 31"/>
          <p:cNvSpPr txBox="1"/>
          <p:nvPr/>
        </p:nvSpPr>
        <p:spPr>
          <a:xfrm>
            <a:off x="8842248" y="3337560"/>
            <a:ext cx="2706624" cy="548640"/>
          </a:xfrm>
          <a:prstGeom prst="rect">
            <a:avLst/>
          </a:prstGeom>
          <a:noFill/>
          <a:ln/>
        </p:spPr>
        <p:txBody>
          <a:bodyPr wrap="square" lIns="0" tIns="0" rIns="0" bIns="0" rtlCol="0" anchor="ctr"/>
          <a:lstStyle/>
          <a:p>
            <a:pPr algn="l" indent="0" marL="0">
              <a:buNone/>
            </a:pPr>
            <a:r>
              <a:rPr lang="en-US" sz="1500" b="1" dirty="0">
                <a:solidFill>
                  <a:schemeClr val="accent2"/>
                </a:solidFill>
              </a:rPr>
              <a:t>3. STILL TRUE</a:t>
            </a:r>
            <a:endParaRPr lang="en-US" sz="1500" dirty="0"/>
          </a:p>
        </p:txBody>
      </p:sp>
      <p:sp>
        <p:nvSpPr>
          <p:cNvPr id="38" name="Shape 32"/>
          <p:cNvSpPr/>
          <p:nvPr/>
        </p:nvSpPr>
        <p:spPr>
          <a:xfrm>
            <a:off x="8339328" y="4270248"/>
            <a:ext cx="3026664" cy="914"/>
          </a:xfrm>
          <a:prstGeom prst="line">
            <a:avLst/>
          </a:prstGeom>
          <a:noFill/>
          <a:ln w="19050">
            <a:solidFill>
              <a:srgbClr val="8A96A8"/>
            </a:solidFill>
            <a:prstDash val="solid"/>
            <a:tailEnd type="triangle"/>
          </a:ln>
        </p:spPr>
      </p:sp>
      <p:sp>
        <p:nvSpPr>
          <p:cNvPr id="39" name="Shape 33"/>
          <p:cNvSpPr/>
          <p:nvPr/>
        </p:nvSpPr>
        <p:spPr>
          <a:xfrm>
            <a:off x="10793760" y="4087368"/>
            <a:ext cx="54864" cy="365760"/>
          </a:xfrm>
          <a:prstGeom prst="rect">
            <a:avLst/>
          </a:prstGeom>
          <a:solidFill>
            <a:schemeClr val="accent6"/>
          </a:solidFill>
          <a:ln w="12700">
            <a:solidFill>
              <a:srgbClr val="FFFFFF">
                <a:alpha val="0"/>
              </a:srgbClr>
            </a:solidFill>
            <a:prstDash val="solid"/>
          </a:ln>
        </p:spPr>
      </p:sp>
      <p:sp>
        <p:nvSpPr>
          <p:cNvPr id="40" name="Shape 34"/>
          <p:cNvSpPr/>
          <p:nvPr/>
        </p:nvSpPr>
        <p:spPr>
          <a:xfrm>
            <a:off x="8944661" y="4197096"/>
            <a:ext cx="1876532" cy="146304"/>
          </a:xfrm>
          <a:prstGeom prst="roundRect">
            <a:avLst>
              <a:gd name="adj" fmla="val 25000"/>
            </a:avLst>
          </a:prstGeom>
          <a:solidFill>
            <a:schemeClr val="accent2"/>
          </a:solidFill>
          <a:ln w="12700">
            <a:solidFill>
              <a:srgbClr val="FFFFFF">
                <a:alpha val="0"/>
              </a:srgbClr>
            </a:solidFill>
            <a:prstDash val="solid"/>
          </a:ln>
        </p:spPr>
      </p:sp>
      <p:sp>
        <p:nvSpPr>
          <p:cNvPr id="41" name="Shape 35"/>
          <p:cNvSpPr/>
          <p:nvPr/>
        </p:nvSpPr>
        <p:spPr>
          <a:xfrm>
            <a:off x="8247888" y="4572000"/>
            <a:ext cx="1543185" cy="329184"/>
          </a:xfrm>
          <a:prstGeom prst="roundRect">
            <a:avLst>
              <a:gd name="adj" fmla="val 33333"/>
            </a:avLst>
          </a:prstGeom>
          <a:solidFill>
            <a:srgbClr val="FDF1E6"/>
          </a:solidFill>
          <a:ln w="19050">
            <a:solidFill>
              <a:srgbClr val="D9700F"/>
            </a:solidFill>
            <a:prstDash val="solid"/>
          </a:ln>
        </p:spPr>
      </p:sp>
      <p:sp>
        <p:nvSpPr>
          <p:cNvPr id="42" name="Text 36"/>
          <p:cNvSpPr txBox="1"/>
          <p:nvPr/>
        </p:nvSpPr>
        <p:spPr>
          <a:xfrm>
            <a:off x="8247888" y="4572000"/>
            <a:ext cx="1543185" cy="329184"/>
          </a:xfrm>
          <a:prstGeom prst="rect">
            <a:avLst/>
          </a:prstGeom>
          <a:noFill/>
          <a:ln/>
        </p:spPr>
        <p:txBody>
          <a:bodyPr wrap="square" lIns="0" tIns="0" rIns="0" bIns="0" rtlCol="0" anchor="ctr"/>
          <a:lstStyle/>
          <a:p>
            <a:pPr algn="ctr" indent="0" marL="0">
              <a:buNone/>
            </a:pPr>
            <a:r>
              <a:rPr lang="en-US" sz="1300" b="1" i="1" dirty="0">
                <a:solidFill>
                  <a:schemeClr val="accent1"/>
                </a:solidFill>
              </a:rPr>
              <a:t>for · since</a:t>
            </a:r>
            <a:endParaRPr lang="en-US" sz="1300" dirty="0"/>
          </a:p>
        </p:txBody>
      </p:sp>
      <p:sp>
        <p:nvSpPr>
          <p:cNvPr id="43" name="Text 37"/>
          <p:cNvSpPr txBox="1"/>
          <p:nvPr/>
        </p:nvSpPr>
        <p:spPr>
          <a:xfrm>
            <a:off x="8247888" y="4937760"/>
            <a:ext cx="3209544" cy="502920"/>
          </a:xfrm>
          <a:prstGeom prst="rect">
            <a:avLst/>
          </a:prstGeom>
          <a:noFill/>
          <a:ln/>
        </p:spPr>
        <p:txBody>
          <a:bodyPr wrap="square" lIns="0" tIns="0" rIns="0" bIns="0" rtlCol="0" anchor="ctr"/>
          <a:lstStyle/>
          <a:p>
            <a:pPr algn="l" indent="0" marL="0">
              <a:buNone/>
            </a:pPr>
            <a:r>
              <a:rPr lang="en-US" sz="1500" i="1" dirty="0">
                <a:solidFill>
                  <a:schemeClr val="tx1"/>
                </a:solidFill>
              </a:rPr>
              <a:t>I </a:t>
            </a:r>
            <a:r>
              <a:rPr lang="en-US" sz="1500" b="1" i="1" dirty="0">
                <a:solidFill>
                  <a:srgbClr val="2A6FB0"/>
                </a:solidFill>
              </a:rPr>
              <a:t>have lived</a:t>
            </a:r>
            <a:r>
              <a:rPr lang="en-US" sz="1500" i="1" dirty="0">
                <a:solidFill>
                  <a:schemeClr val="tx1"/>
                </a:solidFill>
              </a:rPr>
              <a:t> here for 5 years.</a:t>
            </a:r>
            <a:endParaRPr lang="en-US" sz="1800" dirty="0"/>
          </a:p>
        </p:txBody>
      </p:sp>
      <p:sp>
        <p:nvSpPr>
          <p:cNvPr id="44" name="Shape 38"/>
          <p:cNvSpPr/>
          <p:nvPr/>
        </p:nvSpPr>
        <p:spPr>
          <a:xfrm>
            <a:off x="548640" y="5669280"/>
            <a:ext cx="11091672" cy="548640"/>
          </a:xfrm>
          <a:prstGeom prst="roundRect">
            <a:avLst>
              <a:gd name="adj" fmla="val 13333"/>
            </a:avLst>
          </a:prstGeom>
          <a:solidFill>
            <a:schemeClr val="tx2"/>
          </a:solidFill>
          <a:ln w="12700">
            <a:solidFill>
              <a:srgbClr val="FFFFFF">
                <a:alpha val="0"/>
              </a:srgbClr>
            </a:solidFill>
            <a:prstDash val="solid"/>
          </a:ln>
        </p:spPr>
      </p:sp>
      <p:sp>
        <p:nvSpPr>
          <p:cNvPr id="45" name="Text 39"/>
          <p:cNvSpPr txBox="1"/>
          <p:nvPr/>
        </p:nvSpPr>
        <p:spPr>
          <a:xfrm>
            <a:off x="822960" y="5669280"/>
            <a:ext cx="10607040" cy="548640"/>
          </a:xfrm>
          <a:prstGeom prst="rect">
            <a:avLst/>
          </a:prstGeom>
          <a:noFill/>
          <a:ln/>
        </p:spPr>
        <p:txBody>
          <a:bodyPr wrap="square" lIns="0" tIns="0" rIns="0" bIns="0" rtlCol="0" anchor="ctr"/>
          <a:lstStyle/>
          <a:p>
            <a:pPr algn="l" indent="0" marL="0">
              <a:buNone/>
            </a:pPr>
            <a:r>
              <a:rPr lang="en-US" sz="1600" dirty="0">
                <a:solidFill>
                  <a:schemeClr val="bg1"/>
                </a:solidFill>
              </a:rPr>
              <a:t>Present perfect = </a:t>
            </a:r>
            <a:r>
              <a:rPr lang="en-US" sz="1600" b="1" dirty="0">
                <a:solidFill>
                  <a:schemeClr val="bg1"/>
                </a:solidFill>
              </a:rPr>
              <a:t>pas de temps fini</a:t>
            </a:r>
            <a:r>
              <a:rPr lang="en-US" sz="1600" dirty="0">
                <a:solidFill>
                  <a:schemeClr val="bg1"/>
                </a:solidFill>
              </a:rPr>
              <a:t> (</a:t>
            </a:r>
            <a:r>
              <a:rPr lang="en-US" sz="1600" i="1" dirty="0">
                <a:solidFill>
                  <a:schemeClr val="bg1"/>
                </a:solidFill>
              </a:rPr>
              <a:t>yesterday, in 2019…</a:t>
            </a:r>
            <a:r>
              <a:rPr lang="en-US" sz="1600" dirty="0">
                <a:solidFill>
                  <a:schemeClr val="bg1"/>
                </a:solidFill>
              </a:rPr>
              <a:t>) + un </a:t>
            </a:r>
            <a:r>
              <a:rPr lang="en-US" sz="1600" b="1" dirty="0">
                <a:solidFill>
                  <a:schemeClr val="bg1"/>
                </a:solidFill>
              </a:rPr>
              <a:t>lien avec maintenant</a:t>
            </a:r>
            <a:r>
              <a:rPr lang="en-US" sz="16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The sentence in boxes: have / has + participle</a:t>
            </a:r>
            <a:endParaRPr lang="en-US" sz="3000" dirty="0"/>
          </a:p>
        </p:txBody>
      </p:sp>
      <p:sp>
        <p:nvSpPr>
          <p:cNvPr id="3" name="tag"/>
          <p:cNvSpPr/>
          <p:nvPr/>
        </p:nvSpPr>
        <p:spPr>
          <a:xfrm>
            <a:off x="548640" y="237744"/>
            <a:ext cx="11210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GRAMMAR</a:t>
            </a:r>
            <a:endParaRPr lang="en-US" sz="1200" dirty="0"/>
          </a:p>
        </p:txBody>
      </p:sp>
      <p:sp>
        <p:nvSpPr>
          <p:cNvPr id="5" name="Shape 2"/>
          <p:cNvSpPr/>
          <p:nvPr/>
        </p:nvSpPr>
        <p:spPr>
          <a:xfrm>
            <a:off x="731520" y="1600200"/>
            <a:ext cx="848929" cy="749808"/>
          </a:xfrm>
          <a:prstGeom prst="roundRect">
            <a:avLst>
              <a:gd name="adj" fmla="val 12195"/>
            </a:avLst>
          </a:prstGeom>
          <a:solidFill>
            <a:srgbClr val="FFFFFF"/>
          </a:solidFill>
          <a:ln w="15875">
            <a:solidFill>
              <a:srgbClr val="D5DCE6"/>
            </a:solidFill>
            <a:prstDash val="solid"/>
          </a:ln>
        </p:spPr>
      </p:sp>
      <p:sp>
        <p:nvSpPr>
          <p:cNvPr id="6" name="Text 3"/>
          <p:cNvSpPr txBox="1"/>
          <p:nvPr/>
        </p:nvSpPr>
        <p:spPr>
          <a:xfrm>
            <a:off x="731520" y="1600200"/>
            <a:ext cx="848929" cy="749808"/>
          </a:xfrm>
          <a:prstGeom prst="rect">
            <a:avLst/>
          </a:prstGeom>
          <a:noFill/>
          <a:ln/>
        </p:spPr>
        <p:txBody>
          <a:bodyPr wrap="square" lIns="0" tIns="0" rIns="0" bIns="0" rtlCol="0" anchor="ctr"/>
          <a:lstStyle/>
          <a:p>
            <a:pPr algn="ctr" indent="0" marL="0">
              <a:buNone/>
            </a:pPr>
            <a:r>
              <a:rPr lang="en-US" sz="2600" i="1" dirty="0">
                <a:solidFill>
                  <a:schemeClr val="tx1"/>
                </a:solidFill>
              </a:rPr>
              <a:t>She</a:t>
            </a:r>
            <a:endParaRPr lang="en-US" sz="2600" dirty="0"/>
          </a:p>
        </p:txBody>
      </p:sp>
      <p:sp>
        <p:nvSpPr>
          <p:cNvPr id="7" name="Text 4"/>
          <p:cNvSpPr txBox="1"/>
          <p:nvPr/>
        </p:nvSpPr>
        <p:spPr>
          <a:xfrm>
            <a:off x="411480" y="2386584"/>
            <a:ext cx="1489009" cy="274320"/>
          </a:xfrm>
          <a:prstGeom prst="rect">
            <a:avLst/>
          </a:prstGeom>
          <a:noFill/>
          <a:ln/>
        </p:spPr>
        <p:txBody>
          <a:bodyPr wrap="square" lIns="0" tIns="0" rIns="0" bIns="0" rtlCol="0" anchor="t"/>
          <a:lstStyle/>
          <a:p>
            <a:pPr algn="ctr" indent="0" marL="0">
              <a:buNone/>
            </a:pPr>
            <a:r>
              <a:rPr lang="en-US" sz="1100" b="1" dirty="0">
                <a:solidFill>
                  <a:schemeClr val="accent5"/>
                </a:solidFill>
              </a:rPr>
              <a:t>SUBJECT</a:t>
            </a:r>
            <a:endParaRPr lang="en-US" sz="1100" dirty="0"/>
          </a:p>
        </p:txBody>
      </p:sp>
      <p:sp>
        <p:nvSpPr>
          <p:cNvPr id="8" name="Shape 5"/>
          <p:cNvSpPr/>
          <p:nvPr/>
        </p:nvSpPr>
        <p:spPr>
          <a:xfrm>
            <a:off x="1653601" y="1600200"/>
            <a:ext cx="1023952" cy="749808"/>
          </a:xfrm>
          <a:prstGeom prst="roundRect">
            <a:avLst>
              <a:gd name="adj" fmla="val 12195"/>
            </a:avLst>
          </a:prstGeom>
          <a:solidFill>
            <a:schemeClr val="tx2"/>
          </a:solidFill>
          <a:ln w="12700">
            <a:solidFill>
              <a:srgbClr val="FFFFFF">
                <a:alpha val="0"/>
              </a:srgbClr>
            </a:solidFill>
            <a:prstDash val="solid"/>
          </a:ln>
        </p:spPr>
      </p:sp>
      <p:sp>
        <p:nvSpPr>
          <p:cNvPr id="9" name="Text 6"/>
          <p:cNvSpPr txBox="1"/>
          <p:nvPr/>
        </p:nvSpPr>
        <p:spPr>
          <a:xfrm>
            <a:off x="1653601" y="1600200"/>
            <a:ext cx="1023952" cy="749808"/>
          </a:xfrm>
          <a:prstGeom prst="rect">
            <a:avLst/>
          </a:prstGeom>
          <a:noFill/>
          <a:ln/>
        </p:spPr>
        <p:txBody>
          <a:bodyPr wrap="square" lIns="0" tIns="0" rIns="0" bIns="0" rtlCol="0" anchor="ctr"/>
          <a:lstStyle/>
          <a:p>
            <a:pPr algn="ctr" indent="0" marL="0">
              <a:buNone/>
            </a:pPr>
            <a:r>
              <a:rPr lang="en-US" sz="2600" b="1" i="1" dirty="0">
                <a:solidFill>
                  <a:schemeClr val="bg1"/>
                </a:solidFill>
              </a:rPr>
              <a:t>has</a:t>
            </a:r>
            <a:endParaRPr lang="en-US" sz="2600" dirty="0"/>
          </a:p>
        </p:txBody>
      </p:sp>
      <p:sp>
        <p:nvSpPr>
          <p:cNvPr id="10" name="Text 7"/>
          <p:cNvSpPr txBox="1"/>
          <p:nvPr/>
        </p:nvSpPr>
        <p:spPr>
          <a:xfrm>
            <a:off x="1333561" y="2386584"/>
            <a:ext cx="1664032" cy="274320"/>
          </a:xfrm>
          <a:prstGeom prst="rect">
            <a:avLst/>
          </a:prstGeom>
          <a:noFill/>
          <a:ln/>
        </p:spPr>
        <p:txBody>
          <a:bodyPr wrap="square" lIns="0" tIns="0" rIns="0" bIns="0" rtlCol="0" anchor="t"/>
          <a:lstStyle/>
          <a:p>
            <a:pPr algn="ctr" indent="0" marL="0">
              <a:buNone/>
            </a:pPr>
            <a:r>
              <a:rPr lang="en-US" sz="1100" b="1" dirty="0">
                <a:solidFill>
                  <a:schemeClr val="tx2"/>
                </a:solidFill>
              </a:rPr>
              <a:t>HAVE / HAS</a:t>
            </a:r>
            <a:endParaRPr lang="en-US" sz="1100" dirty="0"/>
          </a:p>
        </p:txBody>
      </p:sp>
      <p:sp>
        <p:nvSpPr>
          <p:cNvPr id="11" name="Shape 8"/>
          <p:cNvSpPr/>
          <p:nvPr/>
        </p:nvSpPr>
        <p:spPr>
          <a:xfrm>
            <a:off x="2750705" y="1600200"/>
            <a:ext cx="1439339" cy="749808"/>
          </a:xfrm>
          <a:prstGeom prst="roundRect">
            <a:avLst>
              <a:gd name="adj" fmla="val 12195"/>
            </a:avLst>
          </a:prstGeom>
          <a:solidFill>
            <a:schemeClr val="accent2"/>
          </a:solidFill>
          <a:ln w="12700">
            <a:solidFill>
              <a:srgbClr val="FFFFFF">
                <a:alpha val="0"/>
              </a:srgbClr>
            </a:solidFill>
            <a:prstDash val="solid"/>
          </a:ln>
        </p:spPr>
      </p:sp>
      <p:sp>
        <p:nvSpPr>
          <p:cNvPr id="12" name="Text 9"/>
          <p:cNvSpPr txBox="1"/>
          <p:nvPr/>
        </p:nvSpPr>
        <p:spPr>
          <a:xfrm>
            <a:off x="2750705" y="1600200"/>
            <a:ext cx="1439339" cy="749808"/>
          </a:xfrm>
          <a:prstGeom prst="rect">
            <a:avLst/>
          </a:prstGeom>
          <a:noFill/>
          <a:ln/>
        </p:spPr>
        <p:txBody>
          <a:bodyPr wrap="square" lIns="0" tIns="0" rIns="0" bIns="0" rtlCol="0" anchor="ctr"/>
          <a:lstStyle/>
          <a:p>
            <a:pPr algn="ctr" indent="0" marL="0">
              <a:buNone/>
            </a:pPr>
            <a:r>
              <a:rPr lang="en-US" sz="2600" b="1" i="1" dirty="0">
                <a:solidFill>
                  <a:schemeClr val="bg1"/>
                </a:solidFill>
              </a:rPr>
              <a:t>visit</a:t>
            </a:r>
            <a:endParaRPr lang="en-US" sz="2600" dirty="0"/>
          </a:p>
        </p:txBody>
      </p:sp>
      <p:sp>
        <p:nvSpPr>
          <p:cNvPr id="13" name="Text 10"/>
          <p:cNvSpPr txBox="1"/>
          <p:nvPr/>
        </p:nvSpPr>
        <p:spPr>
          <a:xfrm>
            <a:off x="2430665" y="2386584"/>
            <a:ext cx="2079419" cy="274320"/>
          </a:xfrm>
          <a:prstGeom prst="rect">
            <a:avLst/>
          </a:prstGeom>
          <a:noFill/>
          <a:ln/>
        </p:spPr>
        <p:txBody>
          <a:bodyPr wrap="square" lIns="0" tIns="0" rIns="0" bIns="0" rtlCol="0" anchor="t"/>
          <a:lstStyle/>
          <a:p>
            <a:pPr algn="ctr" indent="0" marL="0">
              <a:buNone/>
            </a:pPr>
            <a:r>
              <a:rPr lang="en-US" sz="1100" b="1" dirty="0">
                <a:solidFill>
                  <a:schemeClr val="accent2"/>
                </a:solidFill>
              </a:rPr>
              <a:t>PAST PARTICIPLE</a:t>
            </a:r>
            <a:endParaRPr lang="en-US" sz="1100" dirty="0"/>
          </a:p>
        </p:txBody>
      </p:sp>
      <p:sp>
        <p:nvSpPr>
          <p:cNvPr id="14" name="Shape 11"/>
          <p:cNvSpPr/>
          <p:nvPr/>
        </p:nvSpPr>
        <p:spPr>
          <a:xfrm>
            <a:off x="4208332" y="1600200"/>
            <a:ext cx="706531" cy="749808"/>
          </a:xfrm>
          <a:prstGeom prst="roundRect">
            <a:avLst>
              <a:gd name="adj" fmla="val 12942"/>
            </a:avLst>
          </a:prstGeom>
          <a:solidFill>
            <a:schemeClr val="accent1"/>
          </a:solidFill>
          <a:ln w="12700">
            <a:solidFill>
              <a:srgbClr val="FFFFFF">
                <a:alpha val="0"/>
              </a:srgbClr>
            </a:solidFill>
            <a:prstDash val="solid"/>
          </a:ln>
        </p:spPr>
      </p:sp>
      <p:sp>
        <p:nvSpPr>
          <p:cNvPr id="15" name="Text 12"/>
          <p:cNvSpPr txBox="1"/>
          <p:nvPr/>
        </p:nvSpPr>
        <p:spPr>
          <a:xfrm>
            <a:off x="4208332" y="1600200"/>
            <a:ext cx="706531" cy="749808"/>
          </a:xfrm>
          <a:prstGeom prst="rect">
            <a:avLst/>
          </a:prstGeom>
          <a:noFill/>
          <a:ln/>
        </p:spPr>
        <p:txBody>
          <a:bodyPr wrap="square" lIns="0" tIns="0" rIns="0" bIns="0" rtlCol="0" anchor="ctr"/>
          <a:lstStyle/>
          <a:p>
            <a:pPr algn="ctr" indent="0" marL="0">
              <a:buNone/>
            </a:pPr>
            <a:r>
              <a:rPr lang="en-US" sz="2600" b="1" i="1" dirty="0">
                <a:solidFill>
                  <a:schemeClr val="bg1"/>
                </a:solidFill>
              </a:rPr>
              <a:t>ed</a:t>
            </a:r>
            <a:endParaRPr lang="en-US" sz="2600" dirty="0"/>
          </a:p>
        </p:txBody>
      </p:sp>
      <p:sp>
        <p:nvSpPr>
          <p:cNvPr id="16" name="Shape 13"/>
          <p:cNvSpPr/>
          <p:nvPr/>
        </p:nvSpPr>
        <p:spPr>
          <a:xfrm>
            <a:off x="4988015" y="1600200"/>
            <a:ext cx="1405250" cy="749808"/>
          </a:xfrm>
          <a:prstGeom prst="roundRect">
            <a:avLst>
              <a:gd name="adj" fmla="val 12195"/>
            </a:avLst>
          </a:prstGeom>
          <a:solidFill>
            <a:srgbClr val="FFFFFF"/>
          </a:solidFill>
          <a:ln w="15875">
            <a:solidFill>
              <a:srgbClr val="D5DCE6"/>
            </a:solidFill>
            <a:prstDash val="solid"/>
          </a:ln>
        </p:spPr>
      </p:sp>
      <p:sp>
        <p:nvSpPr>
          <p:cNvPr id="17" name="Text 14"/>
          <p:cNvSpPr txBox="1"/>
          <p:nvPr/>
        </p:nvSpPr>
        <p:spPr>
          <a:xfrm>
            <a:off x="4988015" y="1600200"/>
            <a:ext cx="1405250" cy="749808"/>
          </a:xfrm>
          <a:prstGeom prst="rect">
            <a:avLst/>
          </a:prstGeom>
          <a:noFill/>
          <a:ln/>
        </p:spPr>
        <p:txBody>
          <a:bodyPr wrap="square" lIns="0" tIns="0" rIns="0" bIns="0" rtlCol="0" anchor="ctr"/>
          <a:lstStyle/>
          <a:p>
            <a:pPr algn="ctr" indent="0" marL="0">
              <a:buNone/>
            </a:pPr>
            <a:r>
              <a:rPr lang="en-US" sz="2600" i="1" dirty="0">
                <a:solidFill>
                  <a:schemeClr val="tx1"/>
                </a:solidFill>
              </a:rPr>
              <a:t>London</a:t>
            </a:r>
            <a:endParaRPr lang="en-US" sz="2600" dirty="0"/>
          </a:p>
        </p:txBody>
      </p:sp>
      <p:sp>
        <p:nvSpPr>
          <p:cNvPr id="18" name="Text 15"/>
          <p:cNvSpPr txBox="1"/>
          <p:nvPr/>
        </p:nvSpPr>
        <p:spPr>
          <a:xfrm>
            <a:off x="4667975" y="2386584"/>
            <a:ext cx="2045330" cy="274320"/>
          </a:xfrm>
          <a:prstGeom prst="rect">
            <a:avLst/>
          </a:prstGeom>
          <a:noFill/>
          <a:ln/>
        </p:spPr>
        <p:txBody>
          <a:bodyPr wrap="square" lIns="0" tIns="0" rIns="0" bIns="0" rtlCol="0" anchor="t"/>
          <a:lstStyle/>
          <a:p>
            <a:pPr algn="ctr" indent="0" marL="0">
              <a:buNone/>
            </a:pPr>
            <a:r>
              <a:rPr lang="en-US" sz="1100" b="1" dirty="0">
                <a:solidFill>
                  <a:schemeClr val="accent5"/>
                </a:solidFill>
              </a:rPr>
              <a:t>OBJECT</a:t>
            </a:r>
            <a:endParaRPr lang="en-US" sz="1100" dirty="0"/>
          </a:p>
        </p:txBody>
      </p:sp>
      <p:sp>
        <p:nvSpPr>
          <p:cNvPr id="19" name="Shape 16"/>
          <p:cNvSpPr/>
          <p:nvPr/>
        </p:nvSpPr>
        <p:spPr>
          <a:xfrm>
            <a:off x="6466417" y="1600200"/>
            <a:ext cx="2893191" cy="749808"/>
          </a:xfrm>
          <a:prstGeom prst="roundRect">
            <a:avLst>
              <a:gd name="adj" fmla="val 12195"/>
            </a:avLst>
          </a:prstGeom>
          <a:solidFill>
            <a:srgbClr val="FDF1E6"/>
          </a:solidFill>
          <a:ln w="19050">
            <a:solidFill>
              <a:srgbClr val="D9700F"/>
            </a:solidFill>
            <a:prstDash val="solid"/>
          </a:ln>
        </p:spPr>
      </p:sp>
      <p:sp>
        <p:nvSpPr>
          <p:cNvPr id="20" name="Text 17"/>
          <p:cNvSpPr txBox="1"/>
          <p:nvPr/>
        </p:nvSpPr>
        <p:spPr>
          <a:xfrm>
            <a:off x="6466417" y="1600200"/>
            <a:ext cx="2893191" cy="749808"/>
          </a:xfrm>
          <a:prstGeom prst="rect">
            <a:avLst/>
          </a:prstGeom>
          <a:noFill/>
          <a:ln/>
        </p:spPr>
        <p:txBody>
          <a:bodyPr wrap="square" lIns="0" tIns="0" rIns="0" bIns="0" rtlCol="0" anchor="ctr"/>
          <a:lstStyle/>
          <a:p>
            <a:pPr algn="ctr" indent="0" marL="0">
              <a:buNone/>
            </a:pPr>
            <a:r>
              <a:rPr lang="en-US" sz="2600" b="1" i="1" dirty="0">
                <a:solidFill>
                  <a:schemeClr val="accent1"/>
                </a:solidFill>
              </a:rPr>
              <a:t>three times.</a:t>
            </a:r>
            <a:endParaRPr lang="en-US" sz="2600" dirty="0"/>
          </a:p>
        </p:txBody>
      </p:sp>
      <p:sp>
        <p:nvSpPr>
          <p:cNvPr id="21" name="Text 18"/>
          <p:cNvSpPr txBox="1"/>
          <p:nvPr/>
        </p:nvSpPr>
        <p:spPr>
          <a:xfrm>
            <a:off x="6146377" y="2386584"/>
            <a:ext cx="3533271" cy="274320"/>
          </a:xfrm>
          <a:prstGeom prst="rect">
            <a:avLst/>
          </a:prstGeom>
          <a:noFill/>
          <a:ln/>
        </p:spPr>
        <p:txBody>
          <a:bodyPr wrap="square" lIns="0" tIns="0" rIns="0" bIns="0" rtlCol="0" anchor="t"/>
          <a:lstStyle/>
          <a:p>
            <a:pPr algn="ctr" indent="0" marL="0">
              <a:buNone/>
            </a:pPr>
            <a:r>
              <a:rPr lang="en-US" sz="1100" b="1" dirty="0">
                <a:solidFill>
                  <a:schemeClr val="accent1"/>
                </a:solidFill>
              </a:rPr>
              <a:t>HOW OFTEN</a:t>
            </a:r>
            <a:endParaRPr lang="en-US" sz="1100" dirty="0"/>
          </a:p>
        </p:txBody>
      </p:sp>
      <p:sp>
        <p:nvSpPr>
          <p:cNvPr id="22" name="Shape 19"/>
          <p:cNvSpPr/>
          <p:nvPr/>
        </p:nvSpPr>
        <p:spPr>
          <a:xfrm>
            <a:off x="548640" y="2926080"/>
            <a:ext cx="2697480" cy="2560320"/>
          </a:xfrm>
          <a:prstGeom prst="roundRect">
            <a:avLst>
              <a:gd name="adj" fmla="val 4286"/>
            </a:avLst>
          </a:prstGeom>
          <a:solidFill>
            <a:srgbClr val="FFFFFF"/>
          </a:solidFill>
          <a:ln w="22225">
            <a:solidFill>
              <a:srgbClr val="17375E"/>
            </a:solidFill>
            <a:prstDash val="solid"/>
          </a:ln>
          <a:effectLst>
            <a:outerShdw sx="100000" sy="100000" kx="0" ky="0" algn="bl" rotWithShape="0" blurRad="101600" dist="25400" dir="3600000">
              <a:srgbClr val="000000">
                <a:alpha val="16000"/>
              </a:srgbClr>
            </a:outerShdw>
          </a:effectLst>
        </p:spPr>
      </p:sp>
      <p:sp>
        <p:nvSpPr>
          <p:cNvPr id="23" name="Shape 20"/>
          <p:cNvSpPr/>
          <p:nvPr/>
        </p:nvSpPr>
        <p:spPr>
          <a:xfrm>
            <a:off x="548640" y="2926080"/>
            <a:ext cx="2697480" cy="548640"/>
          </a:xfrm>
          <a:prstGeom prst="roundRect">
            <a:avLst>
              <a:gd name="adj" fmla="val 20000"/>
            </a:avLst>
          </a:prstGeom>
          <a:solidFill>
            <a:schemeClr val="tx2"/>
          </a:solidFill>
          <a:ln w="12700">
            <a:solidFill>
              <a:srgbClr val="FFFFFF">
                <a:alpha val="0"/>
              </a:srgbClr>
            </a:solidFill>
            <a:prstDash val="solid"/>
          </a:ln>
        </p:spPr>
      </p:sp>
      <p:sp>
        <p:nvSpPr>
          <p:cNvPr id="24" name="Text 21"/>
          <p:cNvSpPr txBox="1"/>
          <p:nvPr/>
        </p:nvSpPr>
        <p:spPr>
          <a:xfrm>
            <a:off x="548640" y="2926080"/>
            <a:ext cx="2697480" cy="548640"/>
          </a:xfrm>
          <a:prstGeom prst="rect">
            <a:avLst/>
          </a:prstGeom>
          <a:noFill/>
          <a:ln/>
        </p:spPr>
        <p:txBody>
          <a:bodyPr wrap="square" lIns="0" tIns="0" rIns="0" bIns="0" rtlCol="0" anchor="ctr"/>
          <a:lstStyle/>
          <a:p>
            <a:pPr algn="ctr" indent="0" marL="0">
              <a:buNone/>
            </a:pPr>
            <a:r>
              <a:rPr lang="en-US" sz="1800" b="1" dirty="0">
                <a:solidFill>
                  <a:schemeClr val="bg1"/>
                </a:solidFill>
              </a:rPr>
              <a:t>have · ’ve</a:t>
            </a:r>
            <a:endParaRPr lang="en-US" sz="1800" dirty="0"/>
          </a:p>
        </p:txBody>
      </p:sp>
      <p:sp>
        <p:nvSpPr>
          <p:cNvPr id="25" name="Text 22"/>
          <p:cNvSpPr txBox="1"/>
          <p:nvPr/>
        </p:nvSpPr>
        <p:spPr>
          <a:xfrm>
            <a:off x="640080" y="3520440"/>
            <a:ext cx="2514600" cy="457200"/>
          </a:xfrm>
          <a:prstGeom prst="rect">
            <a:avLst/>
          </a:prstGeom>
          <a:noFill/>
          <a:ln/>
        </p:spPr>
        <p:txBody>
          <a:bodyPr wrap="square" lIns="0" tIns="0" rIns="0" bIns="0" rtlCol="0" anchor="ctr"/>
          <a:lstStyle/>
          <a:p>
            <a:pPr algn="ctr" indent="0" marL="0">
              <a:buNone/>
            </a:pPr>
            <a:r>
              <a:rPr lang="en-US" sz="1500" b="1" i="1" dirty="0">
                <a:solidFill>
                  <a:schemeClr val="tx2"/>
                </a:solidFill>
              </a:rPr>
              <a:t>I · you · we · they</a:t>
            </a:r>
            <a:endParaRPr lang="en-US" sz="1500" dirty="0"/>
          </a:p>
        </p:txBody>
      </p:sp>
      <p:sp>
        <p:nvSpPr>
          <p:cNvPr id="26" name="Text 23"/>
          <p:cNvSpPr txBox="1"/>
          <p:nvPr/>
        </p:nvSpPr>
        <p:spPr>
          <a:xfrm>
            <a:off x="640080" y="4069080"/>
            <a:ext cx="2514600" cy="457200"/>
          </a:xfrm>
          <a:prstGeom prst="rect">
            <a:avLst/>
          </a:prstGeom>
          <a:noFill/>
          <a:ln/>
        </p:spPr>
        <p:txBody>
          <a:bodyPr wrap="square" lIns="0" tIns="0" rIns="0" bIns="0" rtlCol="0" anchor="ctr"/>
          <a:lstStyle/>
          <a:p>
            <a:pPr algn="ctr" indent="0" marL="0">
              <a:buNone/>
            </a:pPr>
            <a:r>
              <a:rPr lang="en-US" sz="1700" i="1" dirty="0">
                <a:solidFill>
                  <a:schemeClr val="tx1"/>
                </a:solidFill>
              </a:rPr>
              <a:t>I’ve finished.</a:t>
            </a:r>
            <a:endParaRPr lang="en-US" sz="1700" dirty="0"/>
          </a:p>
        </p:txBody>
      </p:sp>
      <p:sp>
        <p:nvSpPr>
          <p:cNvPr id="27" name="Text 24"/>
          <p:cNvSpPr txBox="1"/>
          <p:nvPr/>
        </p:nvSpPr>
        <p:spPr>
          <a:xfrm>
            <a:off x="640080" y="4617720"/>
            <a:ext cx="2514600" cy="457200"/>
          </a:xfrm>
          <a:prstGeom prst="rect">
            <a:avLst/>
          </a:prstGeom>
          <a:noFill/>
          <a:ln/>
        </p:spPr>
        <p:txBody>
          <a:bodyPr wrap="square" lIns="0" tIns="0" rIns="0" bIns="0" rtlCol="0" anchor="ctr"/>
          <a:lstStyle/>
          <a:p>
            <a:pPr algn="ctr" indent="0" marL="0">
              <a:buNone/>
            </a:pPr>
            <a:r>
              <a:rPr lang="en-US" sz="1700" i="1" dirty="0">
                <a:solidFill>
                  <a:schemeClr val="tx1"/>
                </a:solidFill>
              </a:rPr>
              <a:t>They have left.</a:t>
            </a:r>
            <a:endParaRPr lang="en-US" sz="1700" dirty="0"/>
          </a:p>
        </p:txBody>
      </p:sp>
      <p:sp>
        <p:nvSpPr>
          <p:cNvPr id="28" name="Shape 25"/>
          <p:cNvSpPr/>
          <p:nvPr/>
        </p:nvSpPr>
        <p:spPr>
          <a:xfrm>
            <a:off x="3383280" y="2926080"/>
            <a:ext cx="2697480" cy="2560320"/>
          </a:xfrm>
          <a:prstGeom prst="roundRect">
            <a:avLst>
              <a:gd name="adj" fmla="val 4286"/>
            </a:avLst>
          </a:prstGeom>
          <a:solidFill>
            <a:srgbClr val="FFFFFF"/>
          </a:solidFill>
          <a:ln w="22225">
            <a:solidFill>
              <a:srgbClr val="17375E"/>
            </a:solidFill>
            <a:prstDash val="solid"/>
          </a:ln>
          <a:effectLst>
            <a:outerShdw sx="100000" sy="100000" kx="0" ky="0" algn="bl" rotWithShape="0" blurRad="101600" dist="25400" dir="3600000">
              <a:srgbClr val="000000">
                <a:alpha val="16000"/>
              </a:srgbClr>
            </a:outerShdw>
          </a:effectLst>
        </p:spPr>
      </p:sp>
      <p:sp>
        <p:nvSpPr>
          <p:cNvPr id="29" name="Shape 26"/>
          <p:cNvSpPr/>
          <p:nvPr/>
        </p:nvSpPr>
        <p:spPr>
          <a:xfrm>
            <a:off x="3383280" y="2926080"/>
            <a:ext cx="2697480" cy="548640"/>
          </a:xfrm>
          <a:prstGeom prst="roundRect">
            <a:avLst>
              <a:gd name="adj" fmla="val 20000"/>
            </a:avLst>
          </a:prstGeom>
          <a:solidFill>
            <a:schemeClr val="tx2"/>
          </a:solidFill>
          <a:ln w="12700">
            <a:solidFill>
              <a:srgbClr val="FFFFFF">
                <a:alpha val="0"/>
              </a:srgbClr>
            </a:solidFill>
            <a:prstDash val="solid"/>
          </a:ln>
        </p:spPr>
      </p:sp>
      <p:sp>
        <p:nvSpPr>
          <p:cNvPr id="30" name="Text 27"/>
          <p:cNvSpPr txBox="1"/>
          <p:nvPr/>
        </p:nvSpPr>
        <p:spPr>
          <a:xfrm>
            <a:off x="3383280" y="2926080"/>
            <a:ext cx="2697480" cy="548640"/>
          </a:xfrm>
          <a:prstGeom prst="rect">
            <a:avLst/>
          </a:prstGeom>
          <a:noFill/>
          <a:ln/>
        </p:spPr>
        <p:txBody>
          <a:bodyPr wrap="square" lIns="0" tIns="0" rIns="0" bIns="0" rtlCol="0" anchor="ctr"/>
          <a:lstStyle/>
          <a:p>
            <a:pPr algn="ctr" indent="0" marL="0">
              <a:buNone/>
            </a:pPr>
            <a:r>
              <a:rPr lang="en-US" sz="1800" b="1" dirty="0">
                <a:solidFill>
                  <a:schemeClr val="bg1"/>
                </a:solidFill>
              </a:rPr>
              <a:t>has · ’s</a:t>
            </a:r>
            <a:endParaRPr lang="en-US" sz="1800" dirty="0"/>
          </a:p>
        </p:txBody>
      </p:sp>
      <p:sp>
        <p:nvSpPr>
          <p:cNvPr id="31" name="Text 28"/>
          <p:cNvSpPr txBox="1"/>
          <p:nvPr/>
        </p:nvSpPr>
        <p:spPr>
          <a:xfrm>
            <a:off x="3474720" y="3520440"/>
            <a:ext cx="2514600" cy="457200"/>
          </a:xfrm>
          <a:prstGeom prst="rect">
            <a:avLst/>
          </a:prstGeom>
          <a:noFill/>
          <a:ln/>
        </p:spPr>
        <p:txBody>
          <a:bodyPr wrap="square" lIns="0" tIns="0" rIns="0" bIns="0" rtlCol="0" anchor="ctr"/>
          <a:lstStyle/>
          <a:p>
            <a:pPr algn="ctr" indent="0" marL="0">
              <a:buNone/>
            </a:pPr>
            <a:r>
              <a:rPr lang="en-US" sz="1500" b="1" i="1" dirty="0">
                <a:solidFill>
                  <a:schemeClr val="tx2"/>
                </a:solidFill>
              </a:rPr>
              <a:t>he · she · it</a:t>
            </a:r>
            <a:endParaRPr lang="en-US" sz="1500" dirty="0"/>
          </a:p>
        </p:txBody>
      </p:sp>
      <p:sp>
        <p:nvSpPr>
          <p:cNvPr id="32" name="Text 29"/>
          <p:cNvSpPr txBox="1"/>
          <p:nvPr/>
        </p:nvSpPr>
        <p:spPr>
          <a:xfrm>
            <a:off x="3474720" y="4069080"/>
            <a:ext cx="2514600" cy="457200"/>
          </a:xfrm>
          <a:prstGeom prst="rect">
            <a:avLst/>
          </a:prstGeom>
          <a:noFill/>
          <a:ln/>
        </p:spPr>
        <p:txBody>
          <a:bodyPr wrap="square" lIns="0" tIns="0" rIns="0" bIns="0" rtlCol="0" anchor="ctr"/>
          <a:lstStyle/>
          <a:p>
            <a:pPr algn="ctr" indent="0" marL="0">
              <a:buNone/>
            </a:pPr>
            <a:r>
              <a:rPr lang="en-US" sz="1700" i="1" dirty="0">
                <a:solidFill>
                  <a:schemeClr val="tx1"/>
                </a:solidFill>
              </a:rPr>
              <a:t>She’s finished.</a:t>
            </a:r>
            <a:endParaRPr lang="en-US" sz="1700" dirty="0"/>
          </a:p>
        </p:txBody>
      </p:sp>
      <p:sp>
        <p:nvSpPr>
          <p:cNvPr id="33" name="Text 30"/>
          <p:cNvSpPr txBox="1"/>
          <p:nvPr/>
        </p:nvSpPr>
        <p:spPr>
          <a:xfrm>
            <a:off x="3474720" y="4617720"/>
            <a:ext cx="2514600" cy="457200"/>
          </a:xfrm>
          <a:prstGeom prst="rect">
            <a:avLst/>
          </a:prstGeom>
          <a:noFill/>
          <a:ln/>
        </p:spPr>
        <p:txBody>
          <a:bodyPr wrap="square" lIns="0" tIns="0" rIns="0" bIns="0" rtlCol="0" anchor="ctr"/>
          <a:lstStyle/>
          <a:p>
            <a:pPr algn="ctr" indent="0" marL="0">
              <a:buNone/>
            </a:pPr>
            <a:r>
              <a:rPr lang="en-US" sz="1700" i="1" dirty="0">
                <a:solidFill>
                  <a:schemeClr val="tx1"/>
                </a:solidFill>
              </a:rPr>
              <a:t>It has started.</a:t>
            </a:r>
            <a:endParaRPr lang="en-US" sz="1700" dirty="0"/>
          </a:p>
        </p:txBody>
      </p:sp>
      <p:sp>
        <p:nvSpPr>
          <p:cNvPr id="34" name="Shape 31"/>
          <p:cNvSpPr/>
          <p:nvPr/>
        </p:nvSpPr>
        <p:spPr>
          <a:xfrm>
            <a:off x="6263640" y="2926080"/>
            <a:ext cx="5376672" cy="2560320"/>
          </a:xfrm>
          <a:prstGeom prst="roundRect">
            <a:avLst>
              <a:gd name="adj" fmla="val 4286"/>
            </a:avLst>
          </a:prstGeom>
          <a:solidFill>
            <a:srgbClr val="FBEDEB"/>
          </a:solidFill>
          <a:ln w="19050">
            <a:solidFill>
              <a:srgbClr val="B83227"/>
            </a:solidFill>
            <a:prstDash val="solid"/>
          </a:ln>
        </p:spPr>
      </p:sp>
      <p:sp>
        <p:nvSpPr>
          <p:cNvPr id="35" name="Shape 32"/>
          <p:cNvSpPr/>
          <p:nvPr/>
        </p:nvSpPr>
        <p:spPr>
          <a:xfrm>
            <a:off x="6446520" y="3072384"/>
            <a:ext cx="128016" cy="253472"/>
          </a:xfrm>
          <a:prstGeom prst="rect">
            <a:avLst/>
          </a:prstGeom>
          <a:solidFill>
            <a:srgbClr val="1F4FA3"/>
          </a:solidFill>
          <a:ln w="12700">
            <a:solidFill>
              <a:srgbClr val="FFFFFF">
                <a:alpha val="0"/>
              </a:srgbClr>
            </a:solidFill>
            <a:prstDash val="solid"/>
          </a:ln>
        </p:spPr>
      </p:sp>
      <p:sp>
        <p:nvSpPr>
          <p:cNvPr id="36" name="Shape 33"/>
          <p:cNvSpPr/>
          <p:nvPr/>
        </p:nvSpPr>
        <p:spPr>
          <a:xfrm>
            <a:off x="6574536" y="3072384"/>
            <a:ext cx="128016" cy="253472"/>
          </a:xfrm>
          <a:prstGeom prst="rect">
            <a:avLst/>
          </a:prstGeom>
          <a:solidFill>
            <a:srgbClr val="FFFFFF"/>
          </a:solidFill>
          <a:ln w="12700">
            <a:solidFill>
              <a:srgbClr val="FFFFFF">
                <a:alpha val="0"/>
              </a:srgbClr>
            </a:solidFill>
            <a:prstDash val="solid"/>
          </a:ln>
        </p:spPr>
      </p:sp>
      <p:sp>
        <p:nvSpPr>
          <p:cNvPr id="37" name="Shape 34"/>
          <p:cNvSpPr/>
          <p:nvPr/>
        </p:nvSpPr>
        <p:spPr>
          <a:xfrm>
            <a:off x="6702552" y="3072384"/>
            <a:ext cx="128016" cy="253472"/>
          </a:xfrm>
          <a:prstGeom prst="rect">
            <a:avLst/>
          </a:prstGeom>
          <a:solidFill>
            <a:srgbClr val="E2232A"/>
          </a:solidFill>
          <a:ln w="12700">
            <a:solidFill>
              <a:srgbClr val="FFFFFF">
                <a:alpha val="0"/>
              </a:srgbClr>
            </a:solidFill>
            <a:prstDash val="solid"/>
          </a:ln>
        </p:spPr>
      </p:sp>
      <p:sp>
        <p:nvSpPr>
          <p:cNvPr id="38" name="Shape 35"/>
          <p:cNvSpPr/>
          <p:nvPr/>
        </p:nvSpPr>
        <p:spPr>
          <a:xfrm>
            <a:off x="6446520" y="3072384"/>
            <a:ext cx="384048" cy="253472"/>
          </a:xfrm>
          <a:prstGeom prst="rect">
            <a:avLst/>
          </a:prstGeom>
          <a:noFill/>
          <a:ln w="9525">
            <a:solidFill>
              <a:srgbClr val="B8C2CF"/>
            </a:solidFill>
            <a:prstDash val="solid"/>
          </a:ln>
        </p:spPr>
      </p:sp>
      <p:sp>
        <p:nvSpPr>
          <p:cNvPr id="39" name="Text 36"/>
          <p:cNvSpPr txBox="1"/>
          <p:nvPr/>
        </p:nvSpPr>
        <p:spPr>
          <a:xfrm>
            <a:off x="6867144" y="2999232"/>
            <a:ext cx="274320" cy="384048"/>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40" name="Shape 37"/>
          <p:cNvSpPr/>
          <p:nvPr/>
        </p:nvSpPr>
        <p:spPr>
          <a:xfrm>
            <a:off x="7159752" y="3072384"/>
            <a:ext cx="384048" cy="253472"/>
          </a:xfrm>
          <a:prstGeom prst="rect">
            <a:avLst/>
          </a:prstGeom>
          <a:solidFill>
            <a:srgbClr val="1F3B87"/>
          </a:solidFill>
          <a:ln w="12700">
            <a:solidFill>
              <a:srgbClr val="FFFFFF">
                <a:alpha val="0"/>
              </a:srgbClr>
            </a:solidFill>
            <a:prstDash val="solid"/>
          </a:ln>
        </p:spPr>
      </p:sp>
      <p:sp>
        <p:nvSpPr>
          <p:cNvPr id="41" name="Shape 38"/>
          <p:cNvSpPr/>
          <p:nvPr/>
        </p:nvSpPr>
        <p:spPr>
          <a:xfrm>
            <a:off x="7159752" y="3072384"/>
            <a:ext cx="384048" cy="253472"/>
          </a:xfrm>
          <a:custGeom>
            <a:avLst/>
            <a:gdLst/>
            <a:ahLst/>
            <a:cxnLst/>
            <a:rect l="l" t="t" r="r" b="b"/>
            <a:pathLst>
              <a:path w="384048" h="253472">
                <a:moveTo>
                  <a:pt x="0" y="0"/>
                </a:moveTo>
                <a:lnTo>
                  <a:pt x="42583" y="0"/>
                </a:lnTo>
                <a:lnTo>
                  <a:pt x="384048" y="223055"/>
                </a:lnTo>
                <a:lnTo>
                  <a:pt x="384048" y="253472"/>
                </a:lnTo>
                <a:lnTo>
                  <a:pt x="341465" y="253472"/>
                </a:lnTo>
                <a:lnTo>
                  <a:pt x="0" y="30417"/>
                </a:lnTo>
                <a:close/>
              </a:path>
            </a:pathLst>
          </a:custGeom>
          <a:solidFill>
            <a:srgbClr val="FFFFFF"/>
          </a:solidFill>
          <a:ln w="12700">
            <a:solidFill>
              <a:srgbClr val="FFFFFF">
                <a:alpha val="0"/>
              </a:srgbClr>
            </a:solidFill>
            <a:prstDash val="solid"/>
          </a:ln>
        </p:spPr>
      </p:sp>
      <p:sp>
        <p:nvSpPr>
          <p:cNvPr id="42" name="Shape 39"/>
          <p:cNvSpPr/>
          <p:nvPr/>
        </p:nvSpPr>
        <p:spPr>
          <a:xfrm>
            <a:off x="7159752" y="3072384"/>
            <a:ext cx="384048" cy="253472"/>
          </a:xfrm>
          <a:custGeom>
            <a:avLst/>
            <a:gdLst/>
            <a:ahLst/>
            <a:cxnLst/>
            <a:rect l="l" t="t" r="r" b="b"/>
            <a:pathLst>
              <a:path w="384048" h="253472">
                <a:moveTo>
                  <a:pt x="384048" y="0"/>
                </a:moveTo>
                <a:lnTo>
                  <a:pt x="384048" y="30417"/>
                </a:lnTo>
                <a:lnTo>
                  <a:pt x="42583" y="253472"/>
                </a:lnTo>
                <a:lnTo>
                  <a:pt x="0" y="253472"/>
                </a:lnTo>
                <a:lnTo>
                  <a:pt x="0" y="223055"/>
                </a:lnTo>
                <a:lnTo>
                  <a:pt x="341465" y="0"/>
                </a:lnTo>
                <a:close/>
              </a:path>
            </a:pathLst>
          </a:custGeom>
          <a:solidFill>
            <a:srgbClr val="FFFFFF"/>
          </a:solidFill>
          <a:ln w="12700">
            <a:solidFill>
              <a:srgbClr val="FFFFFF">
                <a:alpha val="0"/>
              </a:srgbClr>
            </a:solidFill>
            <a:prstDash val="solid"/>
          </a:ln>
        </p:spPr>
      </p:sp>
      <p:sp>
        <p:nvSpPr>
          <p:cNvPr id="43" name="Shape 40"/>
          <p:cNvSpPr/>
          <p:nvPr/>
        </p:nvSpPr>
        <p:spPr>
          <a:xfrm>
            <a:off x="7309193" y="3072384"/>
            <a:ext cx="85166" cy="253472"/>
          </a:xfrm>
          <a:prstGeom prst="rect">
            <a:avLst/>
          </a:prstGeom>
          <a:solidFill>
            <a:srgbClr val="FFFFFF"/>
          </a:solidFill>
          <a:ln w="12700">
            <a:solidFill>
              <a:srgbClr val="FFFFFF">
                <a:alpha val="0"/>
              </a:srgbClr>
            </a:solidFill>
            <a:prstDash val="solid"/>
          </a:ln>
        </p:spPr>
      </p:sp>
      <p:sp>
        <p:nvSpPr>
          <p:cNvPr id="44" name="Shape 41"/>
          <p:cNvSpPr/>
          <p:nvPr/>
        </p:nvSpPr>
        <p:spPr>
          <a:xfrm>
            <a:off x="7159752" y="3156537"/>
            <a:ext cx="384048" cy="85166"/>
          </a:xfrm>
          <a:prstGeom prst="rect">
            <a:avLst/>
          </a:prstGeom>
          <a:solidFill>
            <a:srgbClr val="FFFFFF"/>
          </a:solidFill>
          <a:ln w="12700">
            <a:solidFill>
              <a:srgbClr val="FFFFFF">
                <a:alpha val="0"/>
              </a:srgbClr>
            </a:solidFill>
            <a:prstDash val="solid"/>
          </a:ln>
        </p:spPr>
      </p:sp>
      <p:sp>
        <p:nvSpPr>
          <p:cNvPr id="45" name="Shape 42"/>
          <p:cNvSpPr/>
          <p:nvPr/>
        </p:nvSpPr>
        <p:spPr>
          <a:xfrm>
            <a:off x="7327443" y="3072384"/>
            <a:ext cx="48667" cy="253472"/>
          </a:xfrm>
          <a:prstGeom prst="rect">
            <a:avLst/>
          </a:prstGeom>
          <a:solidFill>
            <a:srgbClr val="C8102E"/>
          </a:solidFill>
          <a:ln w="12700">
            <a:solidFill>
              <a:srgbClr val="FFFFFF">
                <a:alpha val="0"/>
              </a:srgbClr>
            </a:solidFill>
            <a:prstDash val="solid"/>
          </a:ln>
        </p:spPr>
      </p:sp>
      <p:sp>
        <p:nvSpPr>
          <p:cNvPr id="46" name="Shape 43"/>
          <p:cNvSpPr/>
          <p:nvPr/>
        </p:nvSpPr>
        <p:spPr>
          <a:xfrm>
            <a:off x="7159752" y="3174787"/>
            <a:ext cx="384048" cy="48667"/>
          </a:xfrm>
          <a:prstGeom prst="rect">
            <a:avLst/>
          </a:prstGeom>
          <a:solidFill>
            <a:srgbClr val="C8102E"/>
          </a:solidFill>
          <a:ln w="12700">
            <a:solidFill>
              <a:srgbClr val="FFFFFF">
                <a:alpha val="0"/>
              </a:srgbClr>
            </a:solidFill>
            <a:prstDash val="solid"/>
          </a:ln>
        </p:spPr>
      </p:sp>
      <p:sp>
        <p:nvSpPr>
          <p:cNvPr id="47" name="Shape 44"/>
          <p:cNvSpPr/>
          <p:nvPr/>
        </p:nvSpPr>
        <p:spPr>
          <a:xfrm>
            <a:off x="7159752" y="3072384"/>
            <a:ext cx="384048" cy="253472"/>
          </a:xfrm>
          <a:prstGeom prst="rect">
            <a:avLst/>
          </a:prstGeom>
          <a:noFill/>
          <a:ln w="9525">
            <a:solidFill>
              <a:srgbClr val="B8C2CF"/>
            </a:solidFill>
            <a:prstDash val="solid"/>
          </a:ln>
        </p:spPr>
      </p:sp>
      <p:sp>
        <p:nvSpPr>
          <p:cNvPr id="48" name="Text 45"/>
          <p:cNvSpPr txBox="1"/>
          <p:nvPr/>
        </p:nvSpPr>
        <p:spPr>
          <a:xfrm>
            <a:off x="7680960" y="2999232"/>
            <a:ext cx="3822192" cy="384048"/>
          </a:xfrm>
          <a:prstGeom prst="rect">
            <a:avLst/>
          </a:prstGeom>
          <a:noFill/>
          <a:ln/>
        </p:spPr>
        <p:txBody>
          <a:bodyPr wrap="square" lIns="0" tIns="0" rIns="0" bIns="0" rtlCol="0" anchor="ctr"/>
          <a:lstStyle/>
          <a:p>
            <a:pPr algn="l" indent="0" marL="0">
              <a:buNone/>
            </a:pPr>
            <a:r>
              <a:rPr lang="en-US" sz="1500" b="1" dirty="0">
                <a:solidFill>
                  <a:schemeClr val="accent6"/>
                </a:solidFill>
              </a:rPr>
              <a:t>Piège pour francophones</a:t>
            </a:r>
            <a:endParaRPr lang="en-US" sz="1500" dirty="0"/>
          </a:p>
        </p:txBody>
      </p:sp>
      <p:sp>
        <p:nvSpPr>
          <p:cNvPr id="49" name="Text 46"/>
          <p:cNvSpPr txBox="1"/>
          <p:nvPr/>
        </p:nvSpPr>
        <p:spPr>
          <a:xfrm>
            <a:off x="6446520" y="3429000"/>
            <a:ext cx="5010912" cy="1993392"/>
          </a:xfrm>
          <a:prstGeom prst="rect">
            <a:avLst/>
          </a:prstGeom>
          <a:noFill/>
          <a:ln/>
        </p:spPr>
        <p:txBody>
          <a:bodyPr wrap="square" lIns="0" tIns="0" rIns="0" bIns="0" rtlCol="0" anchor="t"/>
          <a:lstStyle/>
          <a:p>
            <a:pPr algn="l" indent="0" marL="0">
              <a:spcAft>
                <a:spcPts val="800"/>
              </a:spcAft>
              <a:buNone/>
            </a:pPr>
            <a:r>
              <a:rPr lang="en-US" sz="1600" dirty="0">
                <a:solidFill>
                  <a:schemeClr val="tx1"/>
                </a:solidFill>
              </a:rPr>
              <a:t>« elle </a:t>
            </a:r>
            <a:r>
              <a:rPr lang="en-US" sz="1600" b="1" dirty="0">
                <a:solidFill>
                  <a:schemeClr val="tx1"/>
                </a:solidFill>
              </a:rPr>
              <a:t>est</a:t>
            </a:r>
            <a:r>
              <a:rPr lang="en-US" sz="1600" dirty="0">
                <a:solidFill>
                  <a:schemeClr val="tx1"/>
                </a:solidFill>
              </a:rPr>
              <a:t> partie » → </a:t>
            </a:r>
            <a:r>
              <a:rPr lang="en-US" sz="1600" i="1" dirty="0">
                <a:solidFill>
                  <a:schemeClr val="tx1"/>
                </a:solidFill>
              </a:rPr>
              <a:t>She </a:t>
            </a:r>
            <a:r>
              <a:rPr lang="en-US" sz="1600" b="1" i="1" dirty="0">
                <a:solidFill>
                  <a:schemeClr val="tx1"/>
                </a:solidFill>
              </a:rPr>
              <a:t>has</a:t>
            </a:r>
            <a:r>
              <a:rPr lang="en-US" sz="1600" i="1" dirty="0">
                <a:solidFill>
                  <a:schemeClr val="tx1"/>
                </a:solidFill>
              </a:rPr>
              <a:t> left.</a:t>
            </a:r>
            <a:r>
              <a:rPr lang="en-US" sz="1600" dirty="0">
                <a:solidFill>
                  <a:schemeClr val="tx1"/>
                </a:solidFill>
              </a:rPr>
              <a:t> : en anglais, </a:t>
            </a:r>
            <a:r>
              <a:rPr lang="en-US" sz="1600" b="1" dirty="0">
                <a:solidFill>
                  <a:schemeClr val="tx1"/>
                </a:solidFill>
              </a:rPr>
              <a:t>toujours</a:t>
            </a:r>
            <a:r>
              <a:rPr lang="en-US" sz="1600" dirty="0">
                <a:solidFill>
                  <a:schemeClr val="tx1"/>
                </a:solidFill>
              </a:rPr>
              <a:t> </a:t>
            </a:r>
            <a:r>
              <a:rPr lang="en-US" sz="1600" i="1" dirty="0">
                <a:solidFill>
                  <a:schemeClr val="tx1"/>
                </a:solidFill>
              </a:rPr>
              <a:t>have</a:t>
            </a:r>
            <a:r>
              <a:rPr lang="en-US" sz="1600" dirty="0">
                <a:solidFill>
                  <a:schemeClr val="tx1"/>
                </a:solidFill>
              </a:rPr>
              <a:t> ! (✗ </a:t>
            </a:r>
            <a:r>
              <a:rPr lang="en-US" sz="1600" i="1" dirty="0">
                <a:solidFill>
                  <a:schemeClr val="tx1"/>
                </a:solidFill>
              </a:rPr>
              <a:t>She is left.</a:t>
            </a:r>
            <a:r>
              <a:rPr lang="en-US" sz="1600" dirty="0">
                <a:solidFill>
                  <a:schemeClr val="tx1"/>
                </a:solidFill>
              </a:rPr>
              <a:t>)</a:t>
            </a:r>
            <a:endParaRPr lang="en-US" sz="1600" dirty="0"/>
          </a:p>
          <a:p>
            <a:pPr algn="l" indent="0" marL="0">
              <a:spcAft>
                <a:spcPts val="800"/>
              </a:spcAft>
              <a:buNone/>
            </a:pPr>
            <a:r>
              <a:rPr lang="en-US" sz="1600" dirty="0">
                <a:solidFill>
                  <a:schemeClr val="tx1"/>
                </a:solidFill>
              </a:rPr>
              <a:t>« j’ai visité » → </a:t>
            </a:r>
            <a:r>
              <a:rPr lang="en-US" sz="1600" i="1" dirty="0">
                <a:solidFill>
                  <a:schemeClr val="tx1"/>
                </a:solidFill>
              </a:rPr>
              <a:t>I’ve visited</a:t>
            </a:r>
            <a:r>
              <a:rPr lang="en-US" sz="1600" dirty="0">
                <a:solidFill>
                  <a:schemeClr val="tx1"/>
                </a:solidFill>
              </a:rPr>
              <a:t> </a:t>
            </a:r>
            <a:r>
              <a:rPr lang="en-US" sz="1600" b="1" dirty="0">
                <a:solidFill>
                  <a:schemeClr val="tx1"/>
                </a:solidFill>
              </a:rPr>
              <a:t>seulement</a:t>
            </a:r>
            <a:r>
              <a:rPr lang="en-US" sz="1600" dirty="0">
                <a:solidFill>
                  <a:schemeClr val="tx1"/>
                </a:solidFill>
              </a:rPr>
              <a:t> s’il n’y a pas de </a:t>
            </a:r>
            <a:r>
              <a:rPr lang="en-US" sz="1600" b="1" dirty="0">
                <a:solidFill>
                  <a:schemeClr val="tx1"/>
                </a:solidFill>
              </a:rPr>
              <a:t>temps fini</a:t>
            </a:r>
            <a:r>
              <a:rPr lang="en-US" sz="1600" dirty="0">
                <a:solidFill>
                  <a:schemeClr val="tx1"/>
                </a:solidFill>
              </a:rPr>
              <a:t> (</a:t>
            </a:r>
            <a:r>
              <a:rPr lang="en-US" sz="1600" i="1" dirty="0">
                <a:solidFill>
                  <a:schemeClr val="tx1"/>
                </a:solidFill>
              </a:rPr>
              <a:t>yesterday, in 2019…</a:t>
            </a:r>
            <a:r>
              <a:rPr lang="en-US" sz="1600" dirty="0">
                <a:solidFill>
                  <a:schemeClr val="tx1"/>
                </a:solidFill>
              </a:rPr>
              <a:t>).</a:t>
            </a:r>
            <a:endParaRPr lang="en-US" sz="1600" dirty="0"/>
          </a:p>
        </p:txBody>
      </p:sp>
      <p:sp>
        <p:nvSpPr>
          <p:cNvPr id="50" name="Shape 47"/>
          <p:cNvSpPr/>
          <p:nvPr/>
        </p:nvSpPr>
        <p:spPr>
          <a:xfrm>
            <a:off x="548640" y="5715000"/>
            <a:ext cx="11091672" cy="502920"/>
          </a:xfrm>
          <a:prstGeom prst="roundRect">
            <a:avLst>
              <a:gd name="adj" fmla="val 14545"/>
            </a:avLst>
          </a:prstGeom>
          <a:solidFill>
            <a:schemeClr val="tx2"/>
          </a:solidFill>
          <a:ln w="12700">
            <a:solidFill>
              <a:srgbClr val="FFFFFF">
                <a:alpha val="0"/>
              </a:srgbClr>
            </a:solidFill>
            <a:prstDash val="solid"/>
          </a:ln>
        </p:spPr>
      </p:sp>
      <p:sp>
        <p:nvSpPr>
          <p:cNvPr id="51" name="Text 48"/>
          <p:cNvSpPr txBox="1"/>
          <p:nvPr/>
        </p:nvSpPr>
        <p:spPr>
          <a:xfrm>
            <a:off x="822960" y="5715000"/>
            <a:ext cx="10607040" cy="502920"/>
          </a:xfrm>
          <a:prstGeom prst="rect">
            <a:avLst/>
          </a:prstGeom>
          <a:noFill/>
          <a:ln/>
        </p:spPr>
        <p:txBody>
          <a:bodyPr wrap="square" lIns="0" tIns="0" rIns="0" bIns="0" rtlCol="0" anchor="ctr"/>
          <a:lstStyle/>
          <a:p>
            <a:pPr algn="l" indent="0" marL="0">
              <a:buNone/>
            </a:pPr>
            <a:r>
              <a:rPr lang="en-US" sz="1600" i="1" dirty="0">
                <a:solidFill>
                  <a:schemeClr val="bg1"/>
                </a:solidFill>
              </a:rPr>
              <a:t>’s</a:t>
            </a:r>
            <a:r>
              <a:rPr lang="en-US" sz="1600" dirty="0">
                <a:solidFill>
                  <a:schemeClr val="bg1"/>
                </a:solidFill>
              </a:rPr>
              <a:t> = </a:t>
            </a:r>
            <a:r>
              <a:rPr lang="en-US" sz="1600" i="1" dirty="0">
                <a:solidFill>
                  <a:schemeClr val="bg1"/>
                </a:solidFill>
              </a:rPr>
              <a:t>has</a:t>
            </a:r>
            <a:r>
              <a:rPr lang="en-US" sz="1600" dirty="0">
                <a:solidFill>
                  <a:schemeClr val="bg1"/>
                </a:solidFill>
              </a:rPr>
              <a:t> ou </a:t>
            </a:r>
            <a:r>
              <a:rPr lang="en-US" sz="1600" i="1" dirty="0">
                <a:solidFill>
                  <a:schemeClr val="bg1"/>
                </a:solidFill>
              </a:rPr>
              <a:t>is</a:t>
            </a:r>
            <a:r>
              <a:rPr lang="en-US" sz="1600" dirty="0">
                <a:solidFill>
                  <a:schemeClr val="bg1"/>
                </a:solidFill>
              </a:rPr>
              <a:t> : </a:t>
            </a:r>
            <a:r>
              <a:rPr lang="en-US" sz="1600" i="1" dirty="0">
                <a:solidFill>
                  <a:schemeClr val="bg1"/>
                </a:solidFill>
              </a:rPr>
              <a:t>She’s finished</a:t>
            </a:r>
            <a:r>
              <a:rPr lang="en-US" sz="1600" dirty="0">
                <a:solidFill>
                  <a:schemeClr val="bg1"/>
                </a:solidFill>
              </a:rPr>
              <a:t> (has) · </a:t>
            </a:r>
            <a:r>
              <a:rPr lang="en-US" sz="1600" i="1" dirty="0">
                <a:solidFill>
                  <a:schemeClr val="bg1"/>
                </a:solidFill>
              </a:rPr>
              <a:t>She’s happy</a:t>
            </a:r>
            <a:r>
              <a:rPr lang="en-US" sz="1600" dirty="0">
                <a:solidFill>
                  <a:schemeClr val="bg1"/>
                </a:solidFill>
              </a:rPr>
              <a:t> (is).</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The past participle: the 3rd form</a:t>
            </a:r>
            <a:endParaRPr lang="en-US" sz="3000" dirty="0"/>
          </a:p>
        </p:txBody>
      </p:sp>
      <p:sp>
        <p:nvSpPr>
          <p:cNvPr id="3" name="tag"/>
          <p:cNvSpPr/>
          <p:nvPr/>
        </p:nvSpPr>
        <p:spPr>
          <a:xfrm>
            <a:off x="548640" y="237744"/>
            <a:ext cx="11210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GRAMMAR</a:t>
            </a:r>
            <a:endParaRPr lang="en-US" sz="1200" dirty="0"/>
          </a:p>
        </p:txBody>
      </p:sp>
      <p:sp>
        <p:nvSpPr>
          <p:cNvPr id="5" name="Shape 2"/>
          <p:cNvSpPr/>
          <p:nvPr/>
        </p:nvSpPr>
        <p:spPr>
          <a:xfrm>
            <a:off x="548640" y="1463040"/>
            <a:ext cx="11091672" cy="1143000"/>
          </a:xfrm>
          <a:prstGeom prst="roundRect">
            <a:avLst>
              <a:gd name="adj" fmla="val 9600"/>
            </a:avLst>
          </a:prstGeom>
          <a:solidFill>
            <a:srgbClr val="E8F4EC"/>
          </a:solidFill>
          <a:ln w="19050">
            <a:solidFill>
              <a:srgbClr val="2E7D4F"/>
            </a:solidFill>
            <a:prstDash val="solid"/>
          </a:ln>
        </p:spPr>
      </p:sp>
      <p:sp>
        <p:nvSpPr>
          <p:cNvPr id="6" name="Text 3"/>
          <p:cNvSpPr txBox="1"/>
          <p:nvPr/>
        </p:nvSpPr>
        <p:spPr>
          <a:xfrm>
            <a:off x="777240" y="1508760"/>
            <a:ext cx="2743200" cy="411480"/>
          </a:xfrm>
          <a:prstGeom prst="rect">
            <a:avLst/>
          </a:prstGeom>
          <a:noFill/>
          <a:ln/>
        </p:spPr>
        <p:txBody>
          <a:bodyPr wrap="square" lIns="0" tIns="0" rIns="0" bIns="0" rtlCol="0" anchor="ctr"/>
          <a:lstStyle/>
          <a:p>
            <a:pPr algn="l" indent="0" marL="0">
              <a:buNone/>
            </a:pPr>
            <a:r>
              <a:rPr lang="en-US" sz="1600" b="1" dirty="0">
                <a:solidFill>
                  <a:schemeClr val="accent3"/>
                </a:solidFill>
              </a:rPr>
              <a:t>Regular verbs</a:t>
            </a:r>
            <a:endParaRPr lang="en-US" sz="1600" dirty="0"/>
          </a:p>
        </p:txBody>
      </p:sp>
      <p:sp>
        <p:nvSpPr>
          <p:cNvPr id="7" name="Text 4"/>
          <p:cNvSpPr txBox="1"/>
          <p:nvPr/>
        </p:nvSpPr>
        <p:spPr>
          <a:xfrm>
            <a:off x="777240" y="1920240"/>
            <a:ext cx="2926080" cy="548640"/>
          </a:xfrm>
          <a:prstGeom prst="rect">
            <a:avLst/>
          </a:prstGeom>
          <a:noFill/>
          <a:ln/>
        </p:spPr>
        <p:txBody>
          <a:bodyPr wrap="square" lIns="0" tIns="0" rIns="0" bIns="0" rtlCol="0" anchor="ctr"/>
          <a:lstStyle/>
          <a:p>
            <a:pPr algn="l" indent="0" marL="0">
              <a:buNone/>
            </a:pPr>
            <a:r>
              <a:rPr lang="en-US" sz="1400" i="1" dirty="0">
                <a:solidFill>
                  <a:schemeClr val="tx2"/>
                </a:solidFill>
              </a:rPr>
              <a:t>past simple = past participle</a:t>
            </a:r>
            <a:endParaRPr lang="en-US" sz="1400" dirty="0"/>
          </a:p>
        </p:txBody>
      </p:sp>
      <p:sp>
        <p:nvSpPr>
          <p:cNvPr id="8" name="Text 5"/>
          <p:cNvSpPr txBox="1"/>
          <p:nvPr/>
        </p:nvSpPr>
        <p:spPr>
          <a:xfrm>
            <a:off x="3931920" y="1600200"/>
            <a:ext cx="822960" cy="411480"/>
          </a:xfrm>
          <a:prstGeom prst="rect">
            <a:avLst/>
          </a:prstGeom>
          <a:noFill/>
          <a:ln/>
        </p:spPr>
        <p:txBody>
          <a:bodyPr wrap="square" lIns="0" tIns="0" rIns="0" bIns="0" rtlCol="0" anchor="ctr"/>
          <a:lstStyle/>
          <a:p>
            <a:pPr algn="l" indent="0" marL="0">
              <a:buNone/>
            </a:pPr>
            <a:r>
              <a:rPr lang="en-US" sz="1500" i="1" dirty="0">
                <a:solidFill>
                  <a:schemeClr val="tx2"/>
                </a:solidFill>
              </a:rPr>
              <a:t>work</a:t>
            </a:r>
            <a:endParaRPr lang="en-US" sz="1500" dirty="0"/>
          </a:p>
        </p:txBody>
      </p:sp>
      <p:sp>
        <p:nvSpPr>
          <p:cNvPr id="9" name="Shape 6"/>
          <p:cNvSpPr/>
          <p:nvPr/>
        </p:nvSpPr>
        <p:spPr>
          <a:xfrm>
            <a:off x="3931920" y="2011680"/>
            <a:ext cx="1143000" cy="384048"/>
          </a:xfrm>
          <a:prstGeom prst="roundRect">
            <a:avLst>
              <a:gd name="adj" fmla="val 28571"/>
            </a:avLst>
          </a:prstGeom>
          <a:solidFill>
            <a:schemeClr val="accent4"/>
          </a:solidFill>
          <a:ln w="12700">
            <a:solidFill>
              <a:srgbClr val="FFFFFF">
                <a:alpha val="0"/>
              </a:srgbClr>
            </a:solidFill>
            <a:prstDash val="solid"/>
          </a:ln>
        </p:spPr>
      </p:sp>
      <p:sp>
        <p:nvSpPr>
          <p:cNvPr id="10" name="Text 7"/>
          <p:cNvSpPr txBox="1"/>
          <p:nvPr/>
        </p:nvSpPr>
        <p:spPr>
          <a:xfrm>
            <a:off x="3931920" y="2011680"/>
            <a:ext cx="1143000" cy="384048"/>
          </a:xfrm>
          <a:prstGeom prst="rect">
            <a:avLst/>
          </a:prstGeom>
          <a:noFill/>
          <a:ln/>
        </p:spPr>
        <p:txBody>
          <a:bodyPr wrap="square" lIns="0" tIns="0" rIns="0" bIns="0" rtlCol="0" anchor="ctr"/>
          <a:lstStyle/>
          <a:p>
            <a:pPr algn="ctr" indent="0" marL="0">
              <a:buNone/>
            </a:pPr>
            <a:r>
              <a:rPr lang="en-US" sz="1400" b="1" i="1" dirty="0">
                <a:solidFill>
                  <a:schemeClr val="bg1"/>
                </a:solidFill>
              </a:rPr>
              <a:t>worked</a:t>
            </a:r>
            <a:endParaRPr lang="en-US" sz="1400" dirty="0"/>
          </a:p>
        </p:txBody>
      </p:sp>
      <p:sp>
        <p:nvSpPr>
          <p:cNvPr id="11" name="Text 8"/>
          <p:cNvSpPr txBox="1"/>
          <p:nvPr/>
        </p:nvSpPr>
        <p:spPr>
          <a:xfrm>
            <a:off x="5074920" y="2011680"/>
            <a:ext cx="274320" cy="384048"/>
          </a:xfrm>
          <a:prstGeom prst="rect">
            <a:avLst/>
          </a:prstGeom>
          <a:noFill/>
          <a:ln/>
        </p:spPr>
        <p:txBody>
          <a:bodyPr wrap="square" lIns="0" tIns="0" rIns="0" bIns="0" rtlCol="0" anchor="ctr"/>
          <a:lstStyle/>
          <a:p>
            <a:pPr algn="ctr" indent="0" marL="0">
              <a:buNone/>
            </a:pPr>
            <a:r>
              <a:rPr lang="en-US" sz="1800" b="1" dirty="0">
                <a:solidFill>
                  <a:schemeClr val="accent3"/>
                </a:solidFill>
              </a:rPr>
              <a:t>=</a:t>
            </a:r>
            <a:endParaRPr lang="en-US" sz="1800" dirty="0"/>
          </a:p>
        </p:txBody>
      </p:sp>
      <p:sp>
        <p:nvSpPr>
          <p:cNvPr id="12" name="Shape 9"/>
          <p:cNvSpPr/>
          <p:nvPr/>
        </p:nvSpPr>
        <p:spPr>
          <a:xfrm>
            <a:off x="5349240" y="2011680"/>
            <a:ext cx="1143000" cy="384048"/>
          </a:xfrm>
          <a:prstGeom prst="roundRect">
            <a:avLst>
              <a:gd name="adj" fmla="val 28571"/>
            </a:avLst>
          </a:prstGeom>
          <a:solidFill>
            <a:schemeClr val="accent2"/>
          </a:solidFill>
          <a:ln w="12700">
            <a:solidFill>
              <a:srgbClr val="FFFFFF">
                <a:alpha val="0"/>
              </a:srgbClr>
            </a:solidFill>
            <a:prstDash val="solid"/>
          </a:ln>
        </p:spPr>
      </p:sp>
      <p:sp>
        <p:nvSpPr>
          <p:cNvPr id="13" name="Text 10"/>
          <p:cNvSpPr txBox="1"/>
          <p:nvPr/>
        </p:nvSpPr>
        <p:spPr>
          <a:xfrm>
            <a:off x="5349240" y="2011680"/>
            <a:ext cx="1143000" cy="384048"/>
          </a:xfrm>
          <a:prstGeom prst="rect">
            <a:avLst/>
          </a:prstGeom>
          <a:noFill/>
          <a:ln/>
        </p:spPr>
        <p:txBody>
          <a:bodyPr wrap="square" lIns="0" tIns="0" rIns="0" bIns="0" rtlCol="0" anchor="ctr"/>
          <a:lstStyle/>
          <a:p>
            <a:pPr algn="ctr" indent="0" marL="0">
              <a:buNone/>
            </a:pPr>
            <a:r>
              <a:rPr lang="en-US" sz="1400" b="1" i="1" dirty="0">
                <a:solidFill>
                  <a:schemeClr val="bg1"/>
                </a:solidFill>
              </a:rPr>
              <a:t>worked</a:t>
            </a:r>
            <a:endParaRPr lang="en-US" sz="1400" dirty="0"/>
          </a:p>
        </p:txBody>
      </p:sp>
      <p:sp>
        <p:nvSpPr>
          <p:cNvPr id="14" name="Text 11"/>
          <p:cNvSpPr txBox="1"/>
          <p:nvPr/>
        </p:nvSpPr>
        <p:spPr>
          <a:xfrm>
            <a:off x="6537960" y="1600200"/>
            <a:ext cx="822960" cy="411480"/>
          </a:xfrm>
          <a:prstGeom prst="rect">
            <a:avLst/>
          </a:prstGeom>
          <a:noFill/>
          <a:ln/>
        </p:spPr>
        <p:txBody>
          <a:bodyPr wrap="square" lIns="0" tIns="0" rIns="0" bIns="0" rtlCol="0" anchor="ctr"/>
          <a:lstStyle/>
          <a:p>
            <a:pPr algn="l" indent="0" marL="0">
              <a:buNone/>
            </a:pPr>
            <a:r>
              <a:rPr lang="en-US" sz="1500" i="1" dirty="0">
                <a:solidFill>
                  <a:schemeClr val="tx2"/>
                </a:solidFill>
              </a:rPr>
              <a:t>study</a:t>
            </a:r>
            <a:endParaRPr lang="en-US" sz="1500" dirty="0"/>
          </a:p>
        </p:txBody>
      </p:sp>
      <p:sp>
        <p:nvSpPr>
          <p:cNvPr id="15" name="Shape 12"/>
          <p:cNvSpPr/>
          <p:nvPr/>
        </p:nvSpPr>
        <p:spPr>
          <a:xfrm>
            <a:off x="6537960" y="2011680"/>
            <a:ext cx="1143000" cy="384048"/>
          </a:xfrm>
          <a:prstGeom prst="roundRect">
            <a:avLst>
              <a:gd name="adj" fmla="val 28571"/>
            </a:avLst>
          </a:prstGeom>
          <a:solidFill>
            <a:schemeClr val="accent4"/>
          </a:solidFill>
          <a:ln w="12700">
            <a:solidFill>
              <a:srgbClr val="FFFFFF">
                <a:alpha val="0"/>
              </a:srgbClr>
            </a:solidFill>
            <a:prstDash val="solid"/>
          </a:ln>
        </p:spPr>
      </p:sp>
      <p:sp>
        <p:nvSpPr>
          <p:cNvPr id="16" name="Text 13"/>
          <p:cNvSpPr txBox="1"/>
          <p:nvPr/>
        </p:nvSpPr>
        <p:spPr>
          <a:xfrm>
            <a:off x="6537960" y="2011680"/>
            <a:ext cx="1143000" cy="384048"/>
          </a:xfrm>
          <a:prstGeom prst="rect">
            <a:avLst/>
          </a:prstGeom>
          <a:noFill/>
          <a:ln/>
        </p:spPr>
        <p:txBody>
          <a:bodyPr wrap="square" lIns="0" tIns="0" rIns="0" bIns="0" rtlCol="0" anchor="ctr"/>
          <a:lstStyle/>
          <a:p>
            <a:pPr algn="ctr" indent="0" marL="0">
              <a:buNone/>
            </a:pPr>
            <a:r>
              <a:rPr lang="en-US" sz="1400" b="1" i="1" dirty="0">
                <a:solidFill>
                  <a:schemeClr val="bg1"/>
                </a:solidFill>
              </a:rPr>
              <a:t>studied</a:t>
            </a:r>
            <a:endParaRPr lang="en-US" sz="1400" dirty="0"/>
          </a:p>
        </p:txBody>
      </p:sp>
      <p:sp>
        <p:nvSpPr>
          <p:cNvPr id="17" name="Text 14"/>
          <p:cNvSpPr txBox="1"/>
          <p:nvPr/>
        </p:nvSpPr>
        <p:spPr>
          <a:xfrm>
            <a:off x="7680960" y="2011680"/>
            <a:ext cx="274320" cy="384048"/>
          </a:xfrm>
          <a:prstGeom prst="rect">
            <a:avLst/>
          </a:prstGeom>
          <a:noFill/>
          <a:ln/>
        </p:spPr>
        <p:txBody>
          <a:bodyPr wrap="square" lIns="0" tIns="0" rIns="0" bIns="0" rtlCol="0" anchor="ctr"/>
          <a:lstStyle/>
          <a:p>
            <a:pPr algn="ctr" indent="0" marL="0">
              <a:buNone/>
            </a:pPr>
            <a:r>
              <a:rPr lang="en-US" sz="1800" b="1" dirty="0">
                <a:solidFill>
                  <a:schemeClr val="accent3"/>
                </a:solidFill>
              </a:rPr>
              <a:t>=</a:t>
            </a:r>
            <a:endParaRPr lang="en-US" sz="1800" dirty="0"/>
          </a:p>
        </p:txBody>
      </p:sp>
      <p:sp>
        <p:nvSpPr>
          <p:cNvPr id="18" name="Shape 15"/>
          <p:cNvSpPr/>
          <p:nvPr/>
        </p:nvSpPr>
        <p:spPr>
          <a:xfrm>
            <a:off x="7955280" y="2011680"/>
            <a:ext cx="1143000" cy="384048"/>
          </a:xfrm>
          <a:prstGeom prst="roundRect">
            <a:avLst>
              <a:gd name="adj" fmla="val 28571"/>
            </a:avLst>
          </a:prstGeom>
          <a:solidFill>
            <a:schemeClr val="accent2"/>
          </a:solidFill>
          <a:ln w="12700">
            <a:solidFill>
              <a:srgbClr val="FFFFFF">
                <a:alpha val="0"/>
              </a:srgbClr>
            </a:solidFill>
            <a:prstDash val="solid"/>
          </a:ln>
        </p:spPr>
      </p:sp>
      <p:sp>
        <p:nvSpPr>
          <p:cNvPr id="19" name="Text 16"/>
          <p:cNvSpPr txBox="1"/>
          <p:nvPr/>
        </p:nvSpPr>
        <p:spPr>
          <a:xfrm>
            <a:off x="7955280" y="2011680"/>
            <a:ext cx="1143000" cy="384048"/>
          </a:xfrm>
          <a:prstGeom prst="rect">
            <a:avLst/>
          </a:prstGeom>
          <a:noFill/>
          <a:ln/>
        </p:spPr>
        <p:txBody>
          <a:bodyPr wrap="square" lIns="0" tIns="0" rIns="0" bIns="0" rtlCol="0" anchor="ctr"/>
          <a:lstStyle/>
          <a:p>
            <a:pPr algn="ctr" indent="0" marL="0">
              <a:buNone/>
            </a:pPr>
            <a:r>
              <a:rPr lang="en-US" sz="1400" b="1" i="1" dirty="0">
                <a:solidFill>
                  <a:schemeClr val="bg1"/>
                </a:solidFill>
              </a:rPr>
              <a:t>studied</a:t>
            </a:r>
            <a:endParaRPr lang="en-US" sz="1400" dirty="0"/>
          </a:p>
        </p:txBody>
      </p:sp>
      <p:sp>
        <p:nvSpPr>
          <p:cNvPr id="20" name="Text 17"/>
          <p:cNvSpPr txBox="1"/>
          <p:nvPr/>
        </p:nvSpPr>
        <p:spPr>
          <a:xfrm>
            <a:off x="9144000" y="1600200"/>
            <a:ext cx="822960" cy="411480"/>
          </a:xfrm>
          <a:prstGeom prst="rect">
            <a:avLst/>
          </a:prstGeom>
          <a:noFill/>
          <a:ln/>
        </p:spPr>
        <p:txBody>
          <a:bodyPr wrap="square" lIns="0" tIns="0" rIns="0" bIns="0" rtlCol="0" anchor="ctr"/>
          <a:lstStyle/>
          <a:p>
            <a:pPr algn="l" indent="0" marL="0">
              <a:buNone/>
            </a:pPr>
            <a:r>
              <a:rPr lang="en-US" sz="1500" i="1" dirty="0">
                <a:solidFill>
                  <a:schemeClr val="tx2"/>
                </a:solidFill>
              </a:rPr>
              <a:t>stop</a:t>
            </a:r>
            <a:endParaRPr lang="en-US" sz="1500" dirty="0"/>
          </a:p>
        </p:txBody>
      </p:sp>
      <p:sp>
        <p:nvSpPr>
          <p:cNvPr id="21" name="Shape 18"/>
          <p:cNvSpPr/>
          <p:nvPr/>
        </p:nvSpPr>
        <p:spPr>
          <a:xfrm>
            <a:off x="9144000" y="2011680"/>
            <a:ext cx="1143000" cy="384048"/>
          </a:xfrm>
          <a:prstGeom prst="roundRect">
            <a:avLst>
              <a:gd name="adj" fmla="val 28571"/>
            </a:avLst>
          </a:prstGeom>
          <a:solidFill>
            <a:schemeClr val="accent4"/>
          </a:solidFill>
          <a:ln w="12700">
            <a:solidFill>
              <a:srgbClr val="FFFFFF">
                <a:alpha val="0"/>
              </a:srgbClr>
            </a:solidFill>
            <a:prstDash val="solid"/>
          </a:ln>
        </p:spPr>
      </p:sp>
      <p:sp>
        <p:nvSpPr>
          <p:cNvPr id="22" name="Text 19"/>
          <p:cNvSpPr txBox="1"/>
          <p:nvPr/>
        </p:nvSpPr>
        <p:spPr>
          <a:xfrm>
            <a:off x="9144000" y="2011680"/>
            <a:ext cx="1143000" cy="384048"/>
          </a:xfrm>
          <a:prstGeom prst="rect">
            <a:avLst/>
          </a:prstGeom>
          <a:noFill/>
          <a:ln/>
        </p:spPr>
        <p:txBody>
          <a:bodyPr wrap="square" lIns="0" tIns="0" rIns="0" bIns="0" rtlCol="0" anchor="ctr"/>
          <a:lstStyle/>
          <a:p>
            <a:pPr algn="ctr" indent="0" marL="0">
              <a:buNone/>
            </a:pPr>
            <a:r>
              <a:rPr lang="en-US" sz="1400" b="1" i="1" dirty="0">
                <a:solidFill>
                  <a:schemeClr val="bg1"/>
                </a:solidFill>
              </a:rPr>
              <a:t>stopped</a:t>
            </a:r>
            <a:endParaRPr lang="en-US" sz="1400" dirty="0"/>
          </a:p>
        </p:txBody>
      </p:sp>
      <p:sp>
        <p:nvSpPr>
          <p:cNvPr id="23" name="Text 20"/>
          <p:cNvSpPr txBox="1"/>
          <p:nvPr/>
        </p:nvSpPr>
        <p:spPr>
          <a:xfrm>
            <a:off x="10287000" y="2011680"/>
            <a:ext cx="274320" cy="384048"/>
          </a:xfrm>
          <a:prstGeom prst="rect">
            <a:avLst/>
          </a:prstGeom>
          <a:noFill/>
          <a:ln/>
        </p:spPr>
        <p:txBody>
          <a:bodyPr wrap="square" lIns="0" tIns="0" rIns="0" bIns="0" rtlCol="0" anchor="ctr"/>
          <a:lstStyle/>
          <a:p>
            <a:pPr algn="ctr" indent="0" marL="0">
              <a:buNone/>
            </a:pPr>
            <a:r>
              <a:rPr lang="en-US" sz="1800" b="1" dirty="0">
                <a:solidFill>
                  <a:schemeClr val="accent3"/>
                </a:solidFill>
              </a:rPr>
              <a:t>=</a:t>
            </a:r>
            <a:endParaRPr lang="en-US" sz="1800" dirty="0"/>
          </a:p>
        </p:txBody>
      </p:sp>
      <p:sp>
        <p:nvSpPr>
          <p:cNvPr id="24" name="Shape 21"/>
          <p:cNvSpPr/>
          <p:nvPr/>
        </p:nvSpPr>
        <p:spPr>
          <a:xfrm>
            <a:off x="10561320" y="2011680"/>
            <a:ext cx="1143000" cy="384048"/>
          </a:xfrm>
          <a:prstGeom prst="roundRect">
            <a:avLst>
              <a:gd name="adj" fmla="val 28571"/>
            </a:avLst>
          </a:prstGeom>
          <a:solidFill>
            <a:schemeClr val="accent2"/>
          </a:solidFill>
          <a:ln w="12700">
            <a:solidFill>
              <a:srgbClr val="FFFFFF">
                <a:alpha val="0"/>
              </a:srgbClr>
            </a:solidFill>
            <a:prstDash val="solid"/>
          </a:ln>
        </p:spPr>
      </p:sp>
      <p:sp>
        <p:nvSpPr>
          <p:cNvPr id="25" name="Text 22"/>
          <p:cNvSpPr txBox="1"/>
          <p:nvPr/>
        </p:nvSpPr>
        <p:spPr>
          <a:xfrm>
            <a:off x="10561320" y="2011680"/>
            <a:ext cx="1143000" cy="384048"/>
          </a:xfrm>
          <a:prstGeom prst="rect">
            <a:avLst/>
          </a:prstGeom>
          <a:noFill/>
          <a:ln/>
        </p:spPr>
        <p:txBody>
          <a:bodyPr wrap="square" lIns="0" tIns="0" rIns="0" bIns="0" rtlCol="0" anchor="ctr"/>
          <a:lstStyle/>
          <a:p>
            <a:pPr algn="ctr" indent="0" marL="0">
              <a:buNone/>
            </a:pPr>
            <a:r>
              <a:rPr lang="en-US" sz="1400" b="1" i="1" dirty="0">
                <a:solidFill>
                  <a:schemeClr val="bg1"/>
                </a:solidFill>
              </a:rPr>
              <a:t>stopped</a:t>
            </a:r>
            <a:endParaRPr lang="en-US" sz="1400" dirty="0"/>
          </a:p>
        </p:txBody>
      </p:sp>
      <p:sp>
        <p:nvSpPr>
          <p:cNvPr id="26" name="Shape 23"/>
          <p:cNvSpPr/>
          <p:nvPr/>
        </p:nvSpPr>
        <p:spPr>
          <a:xfrm>
            <a:off x="548640" y="2788920"/>
            <a:ext cx="2670048" cy="2743200"/>
          </a:xfrm>
          <a:prstGeom prst="roundRect">
            <a:avLst>
              <a:gd name="adj" fmla="val 4110"/>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27" name="Shape 24"/>
          <p:cNvSpPr/>
          <p:nvPr/>
        </p:nvSpPr>
        <p:spPr>
          <a:xfrm>
            <a:off x="548640" y="2788920"/>
            <a:ext cx="2670048" cy="502920"/>
          </a:xfrm>
          <a:prstGeom prst="roundRect">
            <a:avLst>
              <a:gd name="adj" fmla="val 21818"/>
            </a:avLst>
          </a:prstGeom>
          <a:solidFill>
            <a:schemeClr val="accent3"/>
          </a:solidFill>
          <a:ln w="12700">
            <a:solidFill>
              <a:srgbClr val="FFFFFF">
                <a:alpha val="0"/>
              </a:srgbClr>
            </a:solidFill>
            <a:prstDash val="solid"/>
          </a:ln>
        </p:spPr>
      </p:sp>
      <p:sp>
        <p:nvSpPr>
          <p:cNvPr id="28" name="Text 25"/>
          <p:cNvSpPr txBox="1"/>
          <p:nvPr/>
        </p:nvSpPr>
        <p:spPr>
          <a:xfrm>
            <a:off x="548640" y="2788920"/>
            <a:ext cx="2670048" cy="502920"/>
          </a:xfrm>
          <a:prstGeom prst="rect">
            <a:avLst/>
          </a:prstGeom>
          <a:noFill/>
          <a:ln/>
        </p:spPr>
        <p:txBody>
          <a:bodyPr wrap="square" lIns="0" tIns="0" rIns="0" bIns="0" rtlCol="0" anchor="ctr"/>
          <a:lstStyle/>
          <a:p>
            <a:pPr algn="ctr" indent="0" marL="0">
              <a:buNone/>
            </a:pPr>
            <a:r>
              <a:rPr lang="en-US" sz="1600" b="1" dirty="0">
                <a:solidFill>
                  <a:schemeClr val="bg1"/>
                </a:solidFill>
              </a:rPr>
              <a:t>A – A – A</a:t>
            </a:r>
            <a:endParaRPr lang="en-US" sz="1600" dirty="0"/>
          </a:p>
        </p:txBody>
      </p:sp>
      <p:sp>
        <p:nvSpPr>
          <p:cNvPr id="29" name="Text 26"/>
          <p:cNvSpPr txBox="1"/>
          <p:nvPr/>
        </p:nvSpPr>
        <p:spPr>
          <a:xfrm>
            <a:off x="640080" y="3429000"/>
            <a:ext cx="2487168" cy="365760"/>
          </a:xfrm>
          <a:prstGeom prst="rect">
            <a:avLst/>
          </a:prstGeom>
          <a:noFill/>
          <a:ln/>
        </p:spPr>
        <p:txBody>
          <a:bodyPr wrap="square" lIns="0" tIns="0" rIns="0" bIns="0" rtlCol="0" anchor="ctr"/>
          <a:lstStyle/>
          <a:p>
            <a:pPr algn="ctr" indent="0" marL="0">
              <a:buNone/>
            </a:pPr>
            <a:r>
              <a:rPr lang="en-US" sz="1400" i="1" dirty="0">
                <a:solidFill>
                  <a:schemeClr val="accent5"/>
                </a:solidFill>
              </a:rPr>
              <a:t>cut</a:t>
            </a:r>
            <a:r>
              <a:rPr lang="en-US" sz="1400" dirty="0">
                <a:solidFill>
                  <a:schemeClr val="accent5"/>
                </a:solidFill>
              </a:rPr>
              <a:t> → </a:t>
            </a:r>
            <a:r>
              <a:rPr lang="en-US" sz="1400" i="1" dirty="0">
                <a:solidFill>
                  <a:schemeClr val="accent5"/>
                </a:solidFill>
              </a:rPr>
              <a:t>cut</a:t>
            </a:r>
            <a:r>
              <a:rPr lang="en-US" sz="1400" dirty="0">
                <a:solidFill>
                  <a:schemeClr val="accent5"/>
                </a:solidFill>
              </a:rPr>
              <a:t> →</a:t>
            </a:r>
            <a:endParaRPr lang="en-US" sz="1400" dirty="0"/>
          </a:p>
        </p:txBody>
      </p:sp>
      <p:sp>
        <p:nvSpPr>
          <p:cNvPr id="30" name="Shape 27"/>
          <p:cNvSpPr/>
          <p:nvPr/>
        </p:nvSpPr>
        <p:spPr>
          <a:xfrm>
            <a:off x="1467546" y="3813048"/>
            <a:ext cx="832236" cy="457200"/>
          </a:xfrm>
          <a:prstGeom prst="roundRect">
            <a:avLst>
              <a:gd name="adj" fmla="val 24000"/>
            </a:avLst>
          </a:prstGeom>
          <a:solidFill>
            <a:schemeClr val="accent2"/>
          </a:solidFill>
          <a:ln w="12700">
            <a:solidFill>
              <a:srgbClr val="FFFFFF">
                <a:alpha val="0"/>
              </a:srgbClr>
            </a:solidFill>
            <a:prstDash val="solid"/>
          </a:ln>
        </p:spPr>
      </p:sp>
      <p:sp>
        <p:nvSpPr>
          <p:cNvPr id="31" name="Text 28"/>
          <p:cNvSpPr txBox="1"/>
          <p:nvPr/>
        </p:nvSpPr>
        <p:spPr>
          <a:xfrm>
            <a:off x="1467546" y="3813048"/>
            <a:ext cx="832236" cy="457200"/>
          </a:xfrm>
          <a:prstGeom prst="rect">
            <a:avLst/>
          </a:prstGeom>
          <a:noFill/>
          <a:ln/>
        </p:spPr>
        <p:txBody>
          <a:bodyPr wrap="square" lIns="0" tIns="0" rIns="0" bIns="0" rtlCol="0" anchor="ctr"/>
          <a:lstStyle/>
          <a:p>
            <a:pPr algn="ctr" indent="0" marL="0">
              <a:buNone/>
            </a:pPr>
            <a:r>
              <a:rPr lang="en-US" sz="1800" b="1" i="1" dirty="0">
                <a:solidFill>
                  <a:schemeClr val="bg1"/>
                </a:solidFill>
              </a:rPr>
              <a:t>cut</a:t>
            </a:r>
            <a:endParaRPr lang="en-US" sz="1800" dirty="0"/>
          </a:p>
        </p:txBody>
      </p:sp>
      <p:sp>
        <p:nvSpPr>
          <p:cNvPr id="32" name="Text 29"/>
          <p:cNvSpPr txBox="1"/>
          <p:nvPr/>
        </p:nvSpPr>
        <p:spPr>
          <a:xfrm>
            <a:off x="640080" y="4453128"/>
            <a:ext cx="2487168" cy="365760"/>
          </a:xfrm>
          <a:prstGeom prst="rect">
            <a:avLst/>
          </a:prstGeom>
          <a:noFill/>
          <a:ln/>
        </p:spPr>
        <p:txBody>
          <a:bodyPr wrap="square" lIns="0" tIns="0" rIns="0" bIns="0" rtlCol="0" anchor="ctr"/>
          <a:lstStyle/>
          <a:p>
            <a:pPr algn="ctr" indent="0" marL="0">
              <a:buNone/>
            </a:pPr>
            <a:r>
              <a:rPr lang="en-US" sz="1400" i="1" dirty="0">
                <a:solidFill>
                  <a:schemeClr val="accent5"/>
                </a:solidFill>
              </a:rPr>
              <a:t>put</a:t>
            </a:r>
            <a:r>
              <a:rPr lang="en-US" sz="1400" dirty="0">
                <a:solidFill>
                  <a:schemeClr val="accent5"/>
                </a:solidFill>
              </a:rPr>
              <a:t> → </a:t>
            </a:r>
            <a:r>
              <a:rPr lang="en-US" sz="1400" i="1" dirty="0">
                <a:solidFill>
                  <a:schemeClr val="accent5"/>
                </a:solidFill>
              </a:rPr>
              <a:t>put</a:t>
            </a:r>
            <a:r>
              <a:rPr lang="en-US" sz="1400" dirty="0">
                <a:solidFill>
                  <a:schemeClr val="accent5"/>
                </a:solidFill>
              </a:rPr>
              <a:t> →</a:t>
            </a:r>
            <a:endParaRPr lang="en-US" sz="1400" dirty="0"/>
          </a:p>
        </p:txBody>
      </p:sp>
      <p:sp>
        <p:nvSpPr>
          <p:cNvPr id="33" name="Shape 30"/>
          <p:cNvSpPr/>
          <p:nvPr/>
        </p:nvSpPr>
        <p:spPr>
          <a:xfrm>
            <a:off x="1467546" y="4837176"/>
            <a:ext cx="832236" cy="457200"/>
          </a:xfrm>
          <a:prstGeom prst="roundRect">
            <a:avLst>
              <a:gd name="adj" fmla="val 24000"/>
            </a:avLst>
          </a:prstGeom>
          <a:solidFill>
            <a:schemeClr val="accent2"/>
          </a:solidFill>
          <a:ln w="12700">
            <a:solidFill>
              <a:srgbClr val="FFFFFF">
                <a:alpha val="0"/>
              </a:srgbClr>
            </a:solidFill>
            <a:prstDash val="solid"/>
          </a:ln>
        </p:spPr>
      </p:sp>
      <p:sp>
        <p:nvSpPr>
          <p:cNvPr id="34" name="Text 31"/>
          <p:cNvSpPr txBox="1"/>
          <p:nvPr/>
        </p:nvSpPr>
        <p:spPr>
          <a:xfrm>
            <a:off x="1467546" y="4837176"/>
            <a:ext cx="832236" cy="457200"/>
          </a:xfrm>
          <a:prstGeom prst="rect">
            <a:avLst/>
          </a:prstGeom>
          <a:noFill/>
          <a:ln/>
        </p:spPr>
        <p:txBody>
          <a:bodyPr wrap="square" lIns="0" tIns="0" rIns="0" bIns="0" rtlCol="0" anchor="ctr"/>
          <a:lstStyle/>
          <a:p>
            <a:pPr algn="ctr" indent="0" marL="0">
              <a:buNone/>
            </a:pPr>
            <a:r>
              <a:rPr lang="en-US" sz="1800" b="1" i="1" dirty="0">
                <a:solidFill>
                  <a:schemeClr val="bg1"/>
                </a:solidFill>
              </a:rPr>
              <a:t>put</a:t>
            </a:r>
            <a:endParaRPr lang="en-US" sz="1800" dirty="0"/>
          </a:p>
        </p:txBody>
      </p:sp>
      <p:sp>
        <p:nvSpPr>
          <p:cNvPr id="35" name="Shape 32"/>
          <p:cNvSpPr/>
          <p:nvPr/>
        </p:nvSpPr>
        <p:spPr>
          <a:xfrm>
            <a:off x="3355848" y="2788920"/>
            <a:ext cx="2670048" cy="2743200"/>
          </a:xfrm>
          <a:prstGeom prst="roundRect">
            <a:avLst>
              <a:gd name="adj" fmla="val 4110"/>
            </a:avLst>
          </a:prstGeom>
          <a:solidFill>
            <a:srgbClr val="FFFFFF"/>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36" name="Shape 33"/>
          <p:cNvSpPr/>
          <p:nvPr/>
        </p:nvSpPr>
        <p:spPr>
          <a:xfrm>
            <a:off x="3355848" y="2788920"/>
            <a:ext cx="2670048" cy="502920"/>
          </a:xfrm>
          <a:prstGeom prst="roundRect">
            <a:avLst>
              <a:gd name="adj" fmla="val 21818"/>
            </a:avLst>
          </a:prstGeom>
          <a:solidFill>
            <a:schemeClr val="accent1"/>
          </a:solidFill>
          <a:ln w="12700">
            <a:solidFill>
              <a:srgbClr val="FFFFFF">
                <a:alpha val="0"/>
              </a:srgbClr>
            </a:solidFill>
            <a:prstDash val="solid"/>
          </a:ln>
        </p:spPr>
      </p:sp>
      <p:sp>
        <p:nvSpPr>
          <p:cNvPr id="37" name="Text 34"/>
          <p:cNvSpPr txBox="1"/>
          <p:nvPr/>
        </p:nvSpPr>
        <p:spPr>
          <a:xfrm>
            <a:off x="3355848" y="2788920"/>
            <a:ext cx="2670048" cy="502920"/>
          </a:xfrm>
          <a:prstGeom prst="rect">
            <a:avLst/>
          </a:prstGeom>
          <a:noFill/>
          <a:ln/>
        </p:spPr>
        <p:txBody>
          <a:bodyPr wrap="square" lIns="0" tIns="0" rIns="0" bIns="0" rtlCol="0" anchor="ctr"/>
          <a:lstStyle/>
          <a:p>
            <a:pPr algn="ctr" indent="0" marL="0">
              <a:buNone/>
            </a:pPr>
            <a:r>
              <a:rPr lang="en-US" sz="1600" b="1" dirty="0">
                <a:solidFill>
                  <a:schemeClr val="bg1"/>
                </a:solidFill>
              </a:rPr>
              <a:t>A – B – B</a:t>
            </a:r>
            <a:endParaRPr lang="en-US" sz="1600" dirty="0"/>
          </a:p>
        </p:txBody>
      </p:sp>
      <p:sp>
        <p:nvSpPr>
          <p:cNvPr id="38" name="Text 35"/>
          <p:cNvSpPr txBox="1"/>
          <p:nvPr/>
        </p:nvSpPr>
        <p:spPr>
          <a:xfrm>
            <a:off x="3447288" y="3429000"/>
            <a:ext cx="2487168" cy="365760"/>
          </a:xfrm>
          <a:prstGeom prst="rect">
            <a:avLst/>
          </a:prstGeom>
          <a:noFill/>
          <a:ln/>
        </p:spPr>
        <p:txBody>
          <a:bodyPr wrap="square" lIns="0" tIns="0" rIns="0" bIns="0" rtlCol="0" anchor="ctr"/>
          <a:lstStyle/>
          <a:p>
            <a:pPr algn="ctr" indent="0" marL="0">
              <a:buNone/>
            </a:pPr>
            <a:r>
              <a:rPr lang="en-US" sz="1400" i="1" dirty="0">
                <a:solidFill>
                  <a:schemeClr val="accent5"/>
                </a:solidFill>
              </a:rPr>
              <a:t>buy</a:t>
            </a:r>
            <a:r>
              <a:rPr lang="en-US" sz="1400" dirty="0">
                <a:solidFill>
                  <a:schemeClr val="accent5"/>
                </a:solidFill>
              </a:rPr>
              <a:t> → </a:t>
            </a:r>
            <a:r>
              <a:rPr lang="en-US" sz="1400" i="1" dirty="0">
                <a:solidFill>
                  <a:schemeClr val="accent5"/>
                </a:solidFill>
              </a:rPr>
              <a:t>bought</a:t>
            </a:r>
            <a:r>
              <a:rPr lang="en-US" sz="1400" dirty="0">
                <a:solidFill>
                  <a:schemeClr val="accent5"/>
                </a:solidFill>
              </a:rPr>
              <a:t> →</a:t>
            </a:r>
            <a:endParaRPr lang="en-US" sz="1400" dirty="0"/>
          </a:p>
        </p:txBody>
      </p:sp>
      <p:sp>
        <p:nvSpPr>
          <p:cNvPr id="39" name="Shape 36"/>
          <p:cNvSpPr/>
          <p:nvPr/>
        </p:nvSpPr>
        <p:spPr>
          <a:xfrm>
            <a:off x="4059073" y="3813048"/>
            <a:ext cx="1263598" cy="457200"/>
          </a:xfrm>
          <a:prstGeom prst="roundRect">
            <a:avLst>
              <a:gd name="adj" fmla="val 24000"/>
            </a:avLst>
          </a:prstGeom>
          <a:solidFill>
            <a:schemeClr val="accent2"/>
          </a:solidFill>
          <a:ln w="12700">
            <a:solidFill>
              <a:srgbClr val="FFFFFF">
                <a:alpha val="0"/>
              </a:srgbClr>
            </a:solidFill>
            <a:prstDash val="solid"/>
          </a:ln>
        </p:spPr>
      </p:sp>
      <p:sp>
        <p:nvSpPr>
          <p:cNvPr id="40" name="Text 37"/>
          <p:cNvSpPr txBox="1"/>
          <p:nvPr/>
        </p:nvSpPr>
        <p:spPr>
          <a:xfrm>
            <a:off x="4059073" y="3813048"/>
            <a:ext cx="1263598" cy="457200"/>
          </a:xfrm>
          <a:prstGeom prst="rect">
            <a:avLst/>
          </a:prstGeom>
          <a:noFill/>
          <a:ln/>
        </p:spPr>
        <p:txBody>
          <a:bodyPr wrap="square" lIns="0" tIns="0" rIns="0" bIns="0" rtlCol="0" anchor="ctr"/>
          <a:lstStyle/>
          <a:p>
            <a:pPr algn="ctr" indent="0" marL="0">
              <a:buNone/>
            </a:pPr>
            <a:r>
              <a:rPr lang="en-US" sz="1800" b="1" i="1" dirty="0">
                <a:solidFill>
                  <a:schemeClr val="bg1"/>
                </a:solidFill>
              </a:rPr>
              <a:t>bought</a:t>
            </a:r>
            <a:endParaRPr lang="en-US" sz="1800" dirty="0"/>
          </a:p>
        </p:txBody>
      </p:sp>
      <p:sp>
        <p:nvSpPr>
          <p:cNvPr id="41" name="Text 38"/>
          <p:cNvSpPr txBox="1"/>
          <p:nvPr/>
        </p:nvSpPr>
        <p:spPr>
          <a:xfrm>
            <a:off x="3447288" y="4453128"/>
            <a:ext cx="2487168" cy="365760"/>
          </a:xfrm>
          <a:prstGeom prst="rect">
            <a:avLst/>
          </a:prstGeom>
          <a:noFill/>
          <a:ln/>
        </p:spPr>
        <p:txBody>
          <a:bodyPr wrap="square" lIns="0" tIns="0" rIns="0" bIns="0" rtlCol="0" anchor="ctr"/>
          <a:lstStyle/>
          <a:p>
            <a:pPr algn="ctr" indent="0" marL="0">
              <a:buNone/>
            </a:pPr>
            <a:r>
              <a:rPr lang="en-US" sz="1400" i="1" dirty="0">
                <a:solidFill>
                  <a:schemeClr val="accent5"/>
                </a:solidFill>
              </a:rPr>
              <a:t>make</a:t>
            </a:r>
            <a:r>
              <a:rPr lang="en-US" sz="1400" dirty="0">
                <a:solidFill>
                  <a:schemeClr val="accent5"/>
                </a:solidFill>
              </a:rPr>
              <a:t> → </a:t>
            </a:r>
            <a:r>
              <a:rPr lang="en-US" sz="1400" i="1" dirty="0">
                <a:solidFill>
                  <a:schemeClr val="accent5"/>
                </a:solidFill>
              </a:rPr>
              <a:t>made</a:t>
            </a:r>
            <a:r>
              <a:rPr lang="en-US" sz="1400" dirty="0">
                <a:solidFill>
                  <a:schemeClr val="accent5"/>
                </a:solidFill>
              </a:rPr>
              <a:t> →</a:t>
            </a:r>
            <a:endParaRPr lang="en-US" sz="1400" dirty="0"/>
          </a:p>
        </p:txBody>
      </p:sp>
      <p:sp>
        <p:nvSpPr>
          <p:cNvPr id="42" name="Shape 39"/>
          <p:cNvSpPr/>
          <p:nvPr/>
        </p:nvSpPr>
        <p:spPr>
          <a:xfrm>
            <a:off x="4202860" y="4837176"/>
            <a:ext cx="976023" cy="457200"/>
          </a:xfrm>
          <a:prstGeom prst="roundRect">
            <a:avLst>
              <a:gd name="adj" fmla="val 24000"/>
            </a:avLst>
          </a:prstGeom>
          <a:solidFill>
            <a:schemeClr val="accent2"/>
          </a:solidFill>
          <a:ln w="12700">
            <a:solidFill>
              <a:srgbClr val="FFFFFF">
                <a:alpha val="0"/>
              </a:srgbClr>
            </a:solidFill>
            <a:prstDash val="solid"/>
          </a:ln>
        </p:spPr>
      </p:sp>
      <p:sp>
        <p:nvSpPr>
          <p:cNvPr id="43" name="Text 40"/>
          <p:cNvSpPr txBox="1"/>
          <p:nvPr/>
        </p:nvSpPr>
        <p:spPr>
          <a:xfrm>
            <a:off x="4202860" y="4837176"/>
            <a:ext cx="976023" cy="457200"/>
          </a:xfrm>
          <a:prstGeom prst="rect">
            <a:avLst/>
          </a:prstGeom>
          <a:noFill/>
          <a:ln/>
        </p:spPr>
        <p:txBody>
          <a:bodyPr wrap="square" lIns="0" tIns="0" rIns="0" bIns="0" rtlCol="0" anchor="ctr"/>
          <a:lstStyle/>
          <a:p>
            <a:pPr algn="ctr" indent="0" marL="0">
              <a:buNone/>
            </a:pPr>
            <a:r>
              <a:rPr lang="en-US" sz="1800" b="1" i="1" dirty="0">
                <a:solidFill>
                  <a:schemeClr val="bg1"/>
                </a:solidFill>
              </a:rPr>
              <a:t>made</a:t>
            </a:r>
            <a:endParaRPr lang="en-US" sz="1800" dirty="0"/>
          </a:p>
        </p:txBody>
      </p:sp>
      <p:sp>
        <p:nvSpPr>
          <p:cNvPr id="44" name="Shape 41"/>
          <p:cNvSpPr/>
          <p:nvPr/>
        </p:nvSpPr>
        <p:spPr>
          <a:xfrm>
            <a:off x="6163056" y="2788920"/>
            <a:ext cx="2670048" cy="2743200"/>
          </a:xfrm>
          <a:prstGeom prst="roundRect">
            <a:avLst>
              <a:gd name="adj" fmla="val 4110"/>
            </a:avLst>
          </a:prstGeom>
          <a:solidFill>
            <a:srgbClr val="FFFFFF"/>
          </a:solidFill>
          <a:ln w="25400">
            <a:solidFill>
              <a:srgbClr val="6E4A9E"/>
            </a:solidFill>
            <a:prstDash val="solid"/>
          </a:ln>
          <a:effectLst>
            <a:outerShdw sx="100000" sy="100000" kx="0" ky="0" algn="bl" rotWithShape="0" blurRad="101600" dist="25400" dir="3600000">
              <a:srgbClr val="000000">
                <a:alpha val="16000"/>
              </a:srgbClr>
            </a:outerShdw>
          </a:effectLst>
        </p:spPr>
      </p:sp>
      <p:sp>
        <p:nvSpPr>
          <p:cNvPr id="45" name="Shape 42"/>
          <p:cNvSpPr/>
          <p:nvPr/>
        </p:nvSpPr>
        <p:spPr>
          <a:xfrm>
            <a:off x="6163056" y="2788920"/>
            <a:ext cx="2670048" cy="502920"/>
          </a:xfrm>
          <a:prstGeom prst="roundRect">
            <a:avLst>
              <a:gd name="adj" fmla="val 21818"/>
            </a:avLst>
          </a:prstGeom>
          <a:solidFill>
            <a:srgbClr val="6E4A9E"/>
          </a:solidFill>
          <a:ln w="12700">
            <a:solidFill>
              <a:srgbClr val="FFFFFF">
                <a:alpha val="0"/>
              </a:srgbClr>
            </a:solidFill>
            <a:prstDash val="solid"/>
          </a:ln>
        </p:spPr>
      </p:sp>
      <p:sp>
        <p:nvSpPr>
          <p:cNvPr id="46" name="Text 43"/>
          <p:cNvSpPr txBox="1"/>
          <p:nvPr/>
        </p:nvSpPr>
        <p:spPr>
          <a:xfrm>
            <a:off x="6163056" y="2788920"/>
            <a:ext cx="2670048" cy="502920"/>
          </a:xfrm>
          <a:prstGeom prst="rect">
            <a:avLst/>
          </a:prstGeom>
          <a:noFill/>
          <a:ln/>
        </p:spPr>
        <p:txBody>
          <a:bodyPr wrap="square" lIns="0" tIns="0" rIns="0" bIns="0" rtlCol="0" anchor="ctr"/>
          <a:lstStyle/>
          <a:p>
            <a:pPr algn="ctr" indent="0" marL="0">
              <a:buNone/>
            </a:pPr>
            <a:r>
              <a:rPr lang="en-US" sz="1600" b="1" dirty="0">
                <a:solidFill>
                  <a:schemeClr val="bg1"/>
                </a:solidFill>
              </a:rPr>
              <a:t>A – B – A</a:t>
            </a:r>
            <a:endParaRPr lang="en-US" sz="1600" dirty="0"/>
          </a:p>
        </p:txBody>
      </p:sp>
      <p:sp>
        <p:nvSpPr>
          <p:cNvPr id="47" name="Text 44"/>
          <p:cNvSpPr txBox="1"/>
          <p:nvPr/>
        </p:nvSpPr>
        <p:spPr>
          <a:xfrm>
            <a:off x="6254496" y="3429000"/>
            <a:ext cx="2487168" cy="365760"/>
          </a:xfrm>
          <a:prstGeom prst="rect">
            <a:avLst/>
          </a:prstGeom>
          <a:noFill/>
          <a:ln/>
        </p:spPr>
        <p:txBody>
          <a:bodyPr wrap="square" lIns="0" tIns="0" rIns="0" bIns="0" rtlCol="0" anchor="ctr"/>
          <a:lstStyle/>
          <a:p>
            <a:pPr algn="ctr" indent="0" marL="0">
              <a:buNone/>
            </a:pPr>
            <a:r>
              <a:rPr lang="en-US" sz="1400" i="1" dirty="0">
                <a:solidFill>
                  <a:schemeClr val="accent5"/>
                </a:solidFill>
              </a:rPr>
              <a:t>come</a:t>
            </a:r>
            <a:r>
              <a:rPr lang="en-US" sz="1400" dirty="0">
                <a:solidFill>
                  <a:schemeClr val="accent5"/>
                </a:solidFill>
              </a:rPr>
              <a:t> → </a:t>
            </a:r>
            <a:r>
              <a:rPr lang="en-US" sz="1400" i="1" dirty="0">
                <a:solidFill>
                  <a:schemeClr val="accent5"/>
                </a:solidFill>
              </a:rPr>
              <a:t>came</a:t>
            </a:r>
            <a:r>
              <a:rPr lang="en-US" sz="1400" dirty="0">
                <a:solidFill>
                  <a:schemeClr val="accent5"/>
                </a:solidFill>
              </a:rPr>
              <a:t> →</a:t>
            </a:r>
            <a:endParaRPr lang="en-US" sz="1400" dirty="0"/>
          </a:p>
        </p:txBody>
      </p:sp>
      <p:sp>
        <p:nvSpPr>
          <p:cNvPr id="48" name="Shape 45"/>
          <p:cNvSpPr/>
          <p:nvPr/>
        </p:nvSpPr>
        <p:spPr>
          <a:xfrm>
            <a:off x="7010068" y="3813048"/>
            <a:ext cx="976023" cy="457200"/>
          </a:xfrm>
          <a:prstGeom prst="roundRect">
            <a:avLst>
              <a:gd name="adj" fmla="val 24000"/>
            </a:avLst>
          </a:prstGeom>
          <a:solidFill>
            <a:schemeClr val="accent2"/>
          </a:solidFill>
          <a:ln w="12700">
            <a:solidFill>
              <a:srgbClr val="FFFFFF">
                <a:alpha val="0"/>
              </a:srgbClr>
            </a:solidFill>
            <a:prstDash val="solid"/>
          </a:ln>
        </p:spPr>
      </p:sp>
      <p:sp>
        <p:nvSpPr>
          <p:cNvPr id="49" name="Text 46"/>
          <p:cNvSpPr txBox="1"/>
          <p:nvPr/>
        </p:nvSpPr>
        <p:spPr>
          <a:xfrm>
            <a:off x="7010068" y="3813048"/>
            <a:ext cx="976023" cy="457200"/>
          </a:xfrm>
          <a:prstGeom prst="rect">
            <a:avLst/>
          </a:prstGeom>
          <a:noFill/>
          <a:ln/>
        </p:spPr>
        <p:txBody>
          <a:bodyPr wrap="square" lIns="0" tIns="0" rIns="0" bIns="0" rtlCol="0" anchor="ctr"/>
          <a:lstStyle/>
          <a:p>
            <a:pPr algn="ctr" indent="0" marL="0">
              <a:buNone/>
            </a:pPr>
            <a:r>
              <a:rPr lang="en-US" sz="1800" b="1" i="1" dirty="0">
                <a:solidFill>
                  <a:schemeClr val="bg1"/>
                </a:solidFill>
              </a:rPr>
              <a:t>come</a:t>
            </a:r>
            <a:endParaRPr lang="en-US" sz="1800" dirty="0"/>
          </a:p>
        </p:txBody>
      </p:sp>
      <p:sp>
        <p:nvSpPr>
          <p:cNvPr id="50" name="Text 47"/>
          <p:cNvSpPr txBox="1"/>
          <p:nvPr/>
        </p:nvSpPr>
        <p:spPr>
          <a:xfrm>
            <a:off x="6254496" y="4453128"/>
            <a:ext cx="2487168" cy="365760"/>
          </a:xfrm>
          <a:prstGeom prst="rect">
            <a:avLst/>
          </a:prstGeom>
          <a:noFill/>
          <a:ln/>
        </p:spPr>
        <p:txBody>
          <a:bodyPr wrap="square" lIns="0" tIns="0" rIns="0" bIns="0" rtlCol="0" anchor="ctr"/>
          <a:lstStyle/>
          <a:p>
            <a:pPr algn="ctr" indent="0" marL="0">
              <a:buNone/>
            </a:pPr>
            <a:r>
              <a:rPr lang="en-US" sz="1400" i="1" dirty="0">
                <a:solidFill>
                  <a:schemeClr val="accent5"/>
                </a:solidFill>
              </a:rPr>
              <a:t>run</a:t>
            </a:r>
            <a:r>
              <a:rPr lang="en-US" sz="1400" dirty="0">
                <a:solidFill>
                  <a:schemeClr val="accent5"/>
                </a:solidFill>
              </a:rPr>
              <a:t> → </a:t>
            </a:r>
            <a:r>
              <a:rPr lang="en-US" sz="1400" i="1" dirty="0">
                <a:solidFill>
                  <a:schemeClr val="accent5"/>
                </a:solidFill>
              </a:rPr>
              <a:t>ran</a:t>
            </a:r>
            <a:r>
              <a:rPr lang="en-US" sz="1400" dirty="0">
                <a:solidFill>
                  <a:schemeClr val="accent5"/>
                </a:solidFill>
              </a:rPr>
              <a:t> →</a:t>
            </a:r>
            <a:endParaRPr lang="en-US" sz="1400" dirty="0"/>
          </a:p>
        </p:txBody>
      </p:sp>
      <p:sp>
        <p:nvSpPr>
          <p:cNvPr id="51" name="Shape 48"/>
          <p:cNvSpPr/>
          <p:nvPr/>
        </p:nvSpPr>
        <p:spPr>
          <a:xfrm>
            <a:off x="7081962" y="4837176"/>
            <a:ext cx="832236" cy="457200"/>
          </a:xfrm>
          <a:prstGeom prst="roundRect">
            <a:avLst>
              <a:gd name="adj" fmla="val 24000"/>
            </a:avLst>
          </a:prstGeom>
          <a:solidFill>
            <a:schemeClr val="accent2"/>
          </a:solidFill>
          <a:ln w="12700">
            <a:solidFill>
              <a:srgbClr val="FFFFFF">
                <a:alpha val="0"/>
              </a:srgbClr>
            </a:solidFill>
            <a:prstDash val="solid"/>
          </a:ln>
        </p:spPr>
      </p:sp>
      <p:sp>
        <p:nvSpPr>
          <p:cNvPr id="52" name="Text 49"/>
          <p:cNvSpPr txBox="1"/>
          <p:nvPr/>
        </p:nvSpPr>
        <p:spPr>
          <a:xfrm>
            <a:off x="7081962" y="4837176"/>
            <a:ext cx="832236" cy="457200"/>
          </a:xfrm>
          <a:prstGeom prst="rect">
            <a:avLst/>
          </a:prstGeom>
          <a:noFill/>
          <a:ln/>
        </p:spPr>
        <p:txBody>
          <a:bodyPr wrap="square" lIns="0" tIns="0" rIns="0" bIns="0" rtlCol="0" anchor="ctr"/>
          <a:lstStyle/>
          <a:p>
            <a:pPr algn="ctr" indent="0" marL="0">
              <a:buNone/>
            </a:pPr>
            <a:r>
              <a:rPr lang="en-US" sz="1800" b="1" i="1" dirty="0">
                <a:solidFill>
                  <a:schemeClr val="bg1"/>
                </a:solidFill>
              </a:rPr>
              <a:t>run</a:t>
            </a:r>
            <a:endParaRPr lang="en-US" sz="1800" dirty="0"/>
          </a:p>
        </p:txBody>
      </p:sp>
      <p:sp>
        <p:nvSpPr>
          <p:cNvPr id="53" name="Shape 50"/>
          <p:cNvSpPr/>
          <p:nvPr/>
        </p:nvSpPr>
        <p:spPr>
          <a:xfrm>
            <a:off x="8970264" y="2788920"/>
            <a:ext cx="2670048" cy="2743200"/>
          </a:xfrm>
          <a:prstGeom prst="roundRect">
            <a:avLst>
              <a:gd name="adj" fmla="val 4110"/>
            </a:avLst>
          </a:prstGeom>
          <a:solidFill>
            <a:srgbClr val="FFFFFF"/>
          </a:solidFill>
          <a:ln w="25400">
            <a:solidFill>
              <a:srgbClr val="B83227"/>
            </a:solidFill>
            <a:prstDash val="solid"/>
          </a:ln>
          <a:effectLst>
            <a:outerShdw sx="100000" sy="100000" kx="0" ky="0" algn="bl" rotWithShape="0" blurRad="101600" dist="25400" dir="3600000">
              <a:srgbClr val="000000">
                <a:alpha val="16000"/>
              </a:srgbClr>
            </a:outerShdw>
          </a:effectLst>
        </p:spPr>
      </p:sp>
      <p:sp>
        <p:nvSpPr>
          <p:cNvPr id="54" name="Shape 51"/>
          <p:cNvSpPr/>
          <p:nvPr/>
        </p:nvSpPr>
        <p:spPr>
          <a:xfrm>
            <a:off x="8970264" y="2788920"/>
            <a:ext cx="2670048" cy="502920"/>
          </a:xfrm>
          <a:prstGeom prst="roundRect">
            <a:avLst>
              <a:gd name="adj" fmla="val 21818"/>
            </a:avLst>
          </a:prstGeom>
          <a:solidFill>
            <a:schemeClr val="accent6"/>
          </a:solidFill>
          <a:ln w="12700">
            <a:solidFill>
              <a:srgbClr val="FFFFFF">
                <a:alpha val="0"/>
              </a:srgbClr>
            </a:solidFill>
            <a:prstDash val="solid"/>
          </a:ln>
        </p:spPr>
      </p:sp>
      <p:sp>
        <p:nvSpPr>
          <p:cNvPr id="55" name="Text 52"/>
          <p:cNvSpPr txBox="1"/>
          <p:nvPr/>
        </p:nvSpPr>
        <p:spPr>
          <a:xfrm>
            <a:off x="8970264" y="2788920"/>
            <a:ext cx="2670048" cy="502920"/>
          </a:xfrm>
          <a:prstGeom prst="rect">
            <a:avLst/>
          </a:prstGeom>
          <a:noFill/>
          <a:ln/>
        </p:spPr>
        <p:txBody>
          <a:bodyPr wrap="square" lIns="0" tIns="0" rIns="0" bIns="0" rtlCol="0" anchor="ctr"/>
          <a:lstStyle/>
          <a:p>
            <a:pPr algn="ctr" indent="0" marL="0">
              <a:buNone/>
            </a:pPr>
            <a:r>
              <a:rPr lang="en-US" sz="1600" b="1" dirty="0">
                <a:solidFill>
                  <a:schemeClr val="bg1"/>
                </a:solidFill>
              </a:rPr>
              <a:t>A – B – C</a:t>
            </a:r>
            <a:endParaRPr lang="en-US" sz="1600" dirty="0"/>
          </a:p>
        </p:txBody>
      </p:sp>
      <p:sp>
        <p:nvSpPr>
          <p:cNvPr id="56" name="Text 53"/>
          <p:cNvSpPr txBox="1"/>
          <p:nvPr/>
        </p:nvSpPr>
        <p:spPr>
          <a:xfrm>
            <a:off x="9061704" y="3429000"/>
            <a:ext cx="2487168" cy="365760"/>
          </a:xfrm>
          <a:prstGeom prst="rect">
            <a:avLst/>
          </a:prstGeom>
          <a:noFill/>
          <a:ln/>
        </p:spPr>
        <p:txBody>
          <a:bodyPr wrap="square" lIns="0" tIns="0" rIns="0" bIns="0" rtlCol="0" anchor="ctr"/>
          <a:lstStyle/>
          <a:p>
            <a:pPr algn="ctr" indent="0" marL="0">
              <a:buNone/>
            </a:pPr>
            <a:r>
              <a:rPr lang="en-US" sz="1400" i="1" dirty="0">
                <a:solidFill>
                  <a:schemeClr val="accent5"/>
                </a:solidFill>
              </a:rPr>
              <a:t>go</a:t>
            </a:r>
            <a:r>
              <a:rPr lang="en-US" sz="1400" dirty="0">
                <a:solidFill>
                  <a:schemeClr val="accent5"/>
                </a:solidFill>
              </a:rPr>
              <a:t> → </a:t>
            </a:r>
            <a:r>
              <a:rPr lang="en-US" sz="1400" i="1" dirty="0">
                <a:solidFill>
                  <a:schemeClr val="accent5"/>
                </a:solidFill>
              </a:rPr>
              <a:t>went</a:t>
            </a:r>
            <a:r>
              <a:rPr lang="en-US" sz="1400" dirty="0">
                <a:solidFill>
                  <a:schemeClr val="accent5"/>
                </a:solidFill>
              </a:rPr>
              <a:t> →</a:t>
            </a:r>
            <a:endParaRPr lang="en-US" sz="1400" dirty="0"/>
          </a:p>
        </p:txBody>
      </p:sp>
      <p:sp>
        <p:nvSpPr>
          <p:cNvPr id="57" name="Shape 54"/>
          <p:cNvSpPr/>
          <p:nvPr/>
        </p:nvSpPr>
        <p:spPr>
          <a:xfrm>
            <a:off x="9817276" y="3813048"/>
            <a:ext cx="976023" cy="457200"/>
          </a:xfrm>
          <a:prstGeom prst="roundRect">
            <a:avLst>
              <a:gd name="adj" fmla="val 24000"/>
            </a:avLst>
          </a:prstGeom>
          <a:solidFill>
            <a:schemeClr val="accent2"/>
          </a:solidFill>
          <a:ln w="12700">
            <a:solidFill>
              <a:srgbClr val="FFFFFF">
                <a:alpha val="0"/>
              </a:srgbClr>
            </a:solidFill>
            <a:prstDash val="solid"/>
          </a:ln>
        </p:spPr>
      </p:sp>
      <p:sp>
        <p:nvSpPr>
          <p:cNvPr id="58" name="Text 55"/>
          <p:cNvSpPr txBox="1"/>
          <p:nvPr/>
        </p:nvSpPr>
        <p:spPr>
          <a:xfrm>
            <a:off x="9817276" y="3813048"/>
            <a:ext cx="976023" cy="457200"/>
          </a:xfrm>
          <a:prstGeom prst="rect">
            <a:avLst/>
          </a:prstGeom>
          <a:noFill/>
          <a:ln/>
        </p:spPr>
        <p:txBody>
          <a:bodyPr wrap="square" lIns="0" tIns="0" rIns="0" bIns="0" rtlCol="0" anchor="ctr"/>
          <a:lstStyle/>
          <a:p>
            <a:pPr algn="ctr" indent="0" marL="0">
              <a:buNone/>
            </a:pPr>
            <a:r>
              <a:rPr lang="en-US" sz="1800" b="1" i="1" dirty="0">
                <a:solidFill>
                  <a:schemeClr val="bg1"/>
                </a:solidFill>
              </a:rPr>
              <a:t>gone</a:t>
            </a:r>
            <a:endParaRPr lang="en-US" sz="1800" dirty="0"/>
          </a:p>
        </p:txBody>
      </p:sp>
      <p:sp>
        <p:nvSpPr>
          <p:cNvPr id="59" name="Text 56"/>
          <p:cNvSpPr txBox="1"/>
          <p:nvPr/>
        </p:nvSpPr>
        <p:spPr>
          <a:xfrm>
            <a:off x="9061704" y="4453128"/>
            <a:ext cx="2487168" cy="365760"/>
          </a:xfrm>
          <a:prstGeom prst="rect">
            <a:avLst/>
          </a:prstGeom>
          <a:noFill/>
          <a:ln/>
        </p:spPr>
        <p:txBody>
          <a:bodyPr wrap="square" lIns="0" tIns="0" rIns="0" bIns="0" rtlCol="0" anchor="ctr"/>
          <a:lstStyle/>
          <a:p>
            <a:pPr algn="ctr" indent="0" marL="0">
              <a:buNone/>
            </a:pPr>
            <a:r>
              <a:rPr lang="en-US" sz="1400" i="1" dirty="0">
                <a:solidFill>
                  <a:schemeClr val="accent5"/>
                </a:solidFill>
              </a:rPr>
              <a:t>write</a:t>
            </a:r>
            <a:r>
              <a:rPr lang="en-US" sz="1400" dirty="0">
                <a:solidFill>
                  <a:schemeClr val="accent5"/>
                </a:solidFill>
              </a:rPr>
              <a:t> → </a:t>
            </a:r>
            <a:r>
              <a:rPr lang="en-US" sz="1400" i="1" dirty="0">
                <a:solidFill>
                  <a:schemeClr val="accent5"/>
                </a:solidFill>
              </a:rPr>
              <a:t>wrote</a:t>
            </a:r>
            <a:r>
              <a:rPr lang="en-US" sz="1400" dirty="0">
                <a:solidFill>
                  <a:schemeClr val="accent5"/>
                </a:solidFill>
              </a:rPr>
              <a:t> →</a:t>
            </a:r>
            <a:endParaRPr lang="en-US" sz="1400" dirty="0"/>
          </a:p>
        </p:txBody>
      </p:sp>
      <p:sp>
        <p:nvSpPr>
          <p:cNvPr id="60" name="Shape 57"/>
          <p:cNvSpPr/>
          <p:nvPr/>
        </p:nvSpPr>
        <p:spPr>
          <a:xfrm>
            <a:off x="9601595" y="4837176"/>
            <a:ext cx="1407386" cy="457200"/>
          </a:xfrm>
          <a:prstGeom prst="roundRect">
            <a:avLst>
              <a:gd name="adj" fmla="val 24000"/>
            </a:avLst>
          </a:prstGeom>
          <a:solidFill>
            <a:schemeClr val="accent2"/>
          </a:solidFill>
          <a:ln w="12700">
            <a:solidFill>
              <a:srgbClr val="FFFFFF">
                <a:alpha val="0"/>
              </a:srgbClr>
            </a:solidFill>
            <a:prstDash val="solid"/>
          </a:ln>
        </p:spPr>
      </p:sp>
      <p:sp>
        <p:nvSpPr>
          <p:cNvPr id="61" name="Text 58"/>
          <p:cNvSpPr txBox="1"/>
          <p:nvPr/>
        </p:nvSpPr>
        <p:spPr>
          <a:xfrm>
            <a:off x="9601595" y="4837176"/>
            <a:ext cx="1407386" cy="457200"/>
          </a:xfrm>
          <a:prstGeom prst="rect">
            <a:avLst/>
          </a:prstGeom>
          <a:noFill/>
          <a:ln/>
        </p:spPr>
        <p:txBody>
          <a:bodyPr wrap="square" lIns="0" tIns="0" rIns="0" bIns="0" rtlCol="0" anchor="ctr"/>
          <a:lstStyle/>
          <a:p>
            <a:pPr algn="ctr" indent="0" marL="0">
              <a:buNone/>
            </a:pPr>
            <a:r>
              <a:rPr lang="en-US" sz="1800" b="1" i="1" dirty="0">
                <a:solidFill>
                  <a:schemeClr val="bg1"/>
                </a:solidFill>
              </a:rPr>
              <a:t>written</a:t>
            </a:r>
            <a:endParaRPr lang="en-US" sz="1800" dirty="0"/>
          </a:p>
        </p:txBody>
      </p:sp>
      <p:sp>
        <p:nvSpPr>
          <p:cNvPr id="62" name="Shape 59"/>
          <p:cNvSpPr/>
          <p:nvPr/>
        </p:nvSpPr>
        <p:spPr>
          <a:xfrm>
            <a:off x="548640" y="5669280"/>
            <a:ext cx="11091672" cy="548640"/>
          </a:xfrm>
          <a:prstGeom prst="roundRect">
            <a:avLst>
              <a:gd name="adj" fmla="val 13333"/>
            </a:avLst>
          </a:prstGeom>
          <a:solidFill>
            <a:schemeClr val="tx2"/>
          </a:solidFill>
          <a:ln w="12700">
            <a:solidFill>
              <a:srgbClr val="FFFFFF">
                <a:alpha val="0"/>
              </a:srgbClr>
            </a:solidFill>
            <a:prstDash val="solid"/>
          </a:ln>
        </p:spPr>
      </p:sp>
      <p:sp>
        <p:nvSpPr>
          <p:cNvPr id="63" name="Text 60"/>
          <p:cNvSpPr txBox="1"/>
          <p:nvPr/>
        </p:nvSpPr>
        <p:spPr>
          <a:xfrm>
            <a:off x="822960" y="5669280"/>
            <a:ext cx="10607040" cy="548640"/>
          </a:xfrm>
          <a:prstGeom prst="rect">
            <a:avLst/>
          </a:prstGeom>
          <a:noFill/>
          <a:ln/>
        </p:spPr>
        <p:txBody>
          <a:bodyPr wrap="square" lIns="0" tIns="0" rIns="0" bIns="0" rtlCol="0" anchor="ctr"/>
          <a:lstStyle/>
          <a:p>
            <a:pPr algn="l" indent="0" marL="0">
              <a:buNone/>
            </a:pPr>
            <a:r>
              <a:rPr lang="en-US" sz="1600" dirty="0">
                <a:solidFill>
                  <a:schemeClr val="bg1"/>
                </a:solidFill>
              </a:rPr>
              <a:t>Les irréguliers ont souvent une </a:t>
            </a:r>
            <a:r>
              <a:rPr lang="en-US" sz="1600" b="1" dirty="0">
                <a:solidFill>
                  <a:schemeClr val="bg1"/>
                </a:solidFill>
              </a:rPr>
              <a:t>3e forme</a:t>
            </a:r>
            <a:r>
              <a:rPr lang="en-US" sz="1600" dirty="0">
                <a:solidFill>
                  <a:schemeClr val="bg1"/>
                </a:solidFill>
              </a:rPr>
              <a:t> différente : </a:t>
            </a:r>
            <a:r>
              <a:rPr lang="en-US" sz="1600" i="1" dirty="0">
                <a:solidFill>
                  <a:schemeClr val="bg1"/>
                </a:solidFill>
              </a:rPr>
              <a:t>go – went – </a:t>
            </a:r>
            <a:r>
              <a:rPr lang="en-US" sz="1600" b="1" i="1" dirty="0">
                <a:solidFill>
                  <a:schemeClr val="bg1"/>
                </a:solidFill>
              </a:rPr>
              <a:t>gone</a:t>
            </a:r>
            <a:r>
              <a:rPr lang="en-US" sz="16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20 past participles you need most</a:t>
            </a:r>
            <a:endParaRPr lang="en-US" sz="3000" dirty="0"/>
          </a:p>
        </p:txBody>
      </p:sp>
      <p:sp>
        <p:nvSpPr>
          <p:cNvPr id="3" name="tag"/>
          <p:cNvSpPr/>
          <p:nvPr/>
        </p:nvSpPr>
        <p:spPr>
          <a:xfrm>
            <a:off x="548640" y="237744"/>
            <a:ext cx="1444752"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EXCEPTIONS</a:t>
            </a:r>
            <a:endParaRPr lang="en-US" sz="1200" dirty="0"/>
          </a:p>
        </p:txBody>
      </p:sp>
      <p:sp>
        <p:nvSpPr>
          <p:cNvPr id="5" name="Shape 2"/>
          <p:cNvSpPr/>
          <p:nvPr/>
        </p:nvSpPr>
        <p:spPr>
          <a:xfrm>
            <a:off x="548640" y="146304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594360" y="149961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be</a:t>
            </a:r>
            <a:r>
              <a:rPr lang="en-US" sz="1500" dirty="0">
                <a:solidFill>
                  <a:schemeClr val="tx2"/>
                </a:solidFill>
              </a:rPr>
              <a:t> ↓</a:t>
            </a:r>
            <a:endParaRPr lang="en-US" sz="1500" dirty="0"/>
          </a:p>
        </p:txBody>
      </p:sp>
      <p:sp>
        <p:nvSpPr>
          <p:cNvPr id="7" name="Shape 4"/>
          <p:cNvSpPr/>
          <p:nvPr/>
        </p:nvSpPr>
        <p:spPr>
          <a:xfrm>
            <a:off x="640080" y="1875252"/>
            <a:ext cx="1925726" cy="394289"/>
          </a:xfrm>
          <a:prstGeom prst="roundRect">
            <a:avLst>
              <a:gd name="adj" fmla="val 27829"/>
            </a:avLst>
          </a:prstGeom>
          <a:solidFill>
            <a:schemeClr val="accent2"/>
          </a:solidFill>
          <a:ln w="12700">
            <a:solidFill>
              <a:srgbClr val="FFFFFF">
                <a:alpha val="0"/>
              </a:srgbClr>
            </a:solidFill>
            <a:prstDash val="solid"/>
          </a:ln>
        </p:spPr>
      </p:sp>
      <p:sp>
        <p:nvSpPr>
          <p:cNvPr id="8" name="Text 5"/>
          <p:cNvSpPr txBox="1"/>
          <p:nvPr/>
        </p:nvSpPr>
        <p:spPr>
          <a:xfrm>
            <a:off x="640080" y="187525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been</a:t>
            </a:r>
            <a:endParaRPr lang="en-US" sz="1700" dirty="0"/>
          </a:p>
        </p:txBody>
      </p:sp>
      <p:sp>
        <p:nvSpPr>
          <p:cNvPr id="9" name="Shape 6"/>
          <p:cNvSpPr/>
          <p:nvPr/>
        </p:nvSpPr>
        <p:spPr>
          <a:xfrm>
            <a:off x="2794406" y="146304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0" name="Text 7"/>
          <p:cNvSpPr txBox="1"/>
          <p:nvPr/>
        </p:nvSpPr>
        <p:spPr>
          <a:xfrm>
            <a:off x="2840126" y="149961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have</a:t>
            </a:r>
            <a:r>
              <a:rPr lang="en-US" sz="1500" dirty="0">
                <a:solidFill>
                  <a:schemeClr val="tx2"/>
                </a:solidFill>
              </a:rPr>
              <a:t> ↓</a:t>
            </a:r>
            <a:endParaRPr lang="en-US" sz="1500" dirty="0"/>
          </a:p>
        </p:txBody>
      </p:sp>
      <p:sp>
        <p:nvSpPr>
          <p:cNvPr id="11" name="Shape 8"/>
          <p:cNvSpPr/>
          <p:nvPr/>
        </p:nvSpPr>
        <p:spPr>
          <a:xfrm>
            <a:off x="2885846" y="1875252"/>
            <a:ext cx="1925726" cy="394289"/>
          </a:xfrm>
          <a:prstGeom prst="roundRect">
            <a:avLst>
              <a:gd name="adj" fmla="val 27829"/>
            </a:avLst>
          </a:prstGeom>
          <a:solidFill>
            <a:schemeClr val="accent2"/>
          </a:solidFill>
          <a:ln w="12700">
            <a:solidFill>
              <a:srgbClr val="FFFFFF">
                <a:alpha val="0"/>
              </a:srgbClr>
            </a:solidFill>
            <a:prstDash val="solid"/>
          </a:ln>
        </p:spPr>
      </p:sp>
      <p:sp>
        <p:nvSpPr>
          <p:cNvPr id="12" name="Text 9"/>
          <p:cNvSpPr txBox="1"/>
          <p:nvPr/>
        </p:nvSpPr>
        <p:spPr>
          <a:xfrm>
            <a:off x="2885846" y="187525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had</a:t>
            </a:r>
            <a:endParaRPr lang="en-US" sz="1700" dirty="0"/>
          </a:p>
        </p:txBody>
      </p:sp>
      <p:sp>
        <p:nvSpPr>
          <p:cNvPr id="13" name="Shape 10"/>
          <p:cNvSpPr/>
          <p:nvPr/>
        </p:nvSpPr>
        <p:spPr>
          <a:xfrm>
            <a:off x="5040173" y="146304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4" name="Text 11"/>
          <p:cNvSpPr txBox="1"/>
          <p:nvPr/>
        </p:nvSpPr>
        <p:spPr>
          <a:xfrm>
            <a:off x="5085893" y="149961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do</a:t>
            </a:r>
            <a:r>
              <a:rPr lang="en-US" sz="1500" dirty="0">
                <a:solidFill>
                  <a:schemeClr val="tx2"/>
                </a:solidFill>
              </a:rPr>
              <a:t> ↓</a:t>
            </a:r>
            <a:endParaRPr lang="en-US" sz="1500" dirty="0"/>
          </a:p>
        </p:txBody>
      </p:sp>
      <p:sp>
        <p:nvSpPr>
          <p:cNvPr id="15" name="Shape 12"/>
          <p:cNvSpPr/>
          <p:nvPr/>
        </p:nvSpPr>
        <p:spPr>
          <a:xfrm>
            <a:off x="5131613" y="1875252"/>
            <a:ext cx="1925726" cy="394289"/>
          </a:xfrm>
          <a:prstGeom prst="roundRect">
            <a:avLst>
              <a:gd name="adj" fmla="val 27829"/>
            </a:avLst>
          </a:prstGeom>
          <a:solidFill>
            <a:schemeClr val="accent2"/>
          </a:solidFill>
          <a:ln w="12700">
            <a:solidFill>
              <a:srgbClr val="FFFFFF">
                <a:alpha val="0"/>
              </a:srgbClr>
            </a:solidFill>
            <a:prstDash val="solid"/>
          </a:ln>
        </p:spPr>
      </p:sp>
      <p:sp>
        <p:nvSpPr>
          <p:cNvPr id="16" name="Text 13"/>
          <p:cNvSpPr txBox="1"/>
          <p:nvPr/>
        </p:nvSpPr>
        <p:spPr>
          <a:xfrm>
            <a:off x="5131613" y="187525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done</a:t>
            </a:r>
            <a:endParaRPr lang="en-US" sz="1700" dirty="0"/>
          </a:p>
        </p:txBody>
      </p:sp>
      <p:sp>
        <p:nvSpPr>
          <p:cNvPr id="17" name="Shape 14"/>
          <p:cNvSpPr/>
          <p:nvPr/>
        </p:nvSpPr>
        <p:spPr>
          <a:xfrm>
            <a:off x="7285939" y="146304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8" name="Text 15"/>
          <p:cNvSpPr txBox="1"/>
          <p:nvPr/>
        </p:nvSpPr>
        <p:spPr>
          <a:xfrm>
            <a:off x="7331659" y="149961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go</a:t>
            </a:r>
            <a:r>
              <a:rPr lang="en-US" sz="1500" dirty="0">
                <a:solidFill>
                  <a:schemeClr val="tx2"/>
                </a:solidFill>
              </a:rPr>
              <a:t> ↓</a:t>
            </a:r>
            <a:endParaRPr lang="en-US" sz="1500" dirty="0"/>
          </a:p>
        </p:txBody>
      </p:sp>
      <p:sp>
        <p:nvSpPr>
          <p:cNvPr id="19" name="Shape 16"/>
          <p:cNvSpPr/>
          <p:nvPr/>
        </p:nvSpPr>
        <p:spPr>
          <a:xfrm>
            <a:off x="7377379" y="1875252"/>
            <a:ext cx="1925726" cy="394289"/>
          </a:xfrm>
          <a:prstGeom prst="roundRect">
            <a:avLst>
              <a:gd name="adj" fmla="val 27829"/>
            </a:avLst>
          </a:prstGeom>
          <a:solidFill>
            <a:schemeClr val="accent2"/>
          </a:solidFill>
          <a:ln w="12700">
            <a:solidFill>
              <a:srgbClr val="FFFFFF">
                <a:alpha val="0"/>
              </a:srgbClr>
            </a:solidFill>
            <a:prstDash val="solid"/>
          </a:ln>
        </p:spPr>
      </p:sp>
      <p:sp>
        <p:nvSpPr>
          <p:cNvPr id="20" name="Text 17"/>
          <p:cNvSpPr txBox="1"/>
          <p:nvPr/>
        </p:nvSpPr>
        <p:spPr>
          <a:xfrm>
            <a:off x="7377379" y="187525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gone / been</a:t>
            </a:r>
            <a:endParaRPr lang="en-US" sz="1700" dirty="0"/>
          </a:p>
        </p:txBody>
      </p:sp>
      <p:sp>
        <p:nvSpPr>
          <p:cNvPr id="21" name="Shape 18"/>
          <p:cNvSpPr/>
          <p:nvPr/>
        </p:nvSpPr>
        <p:spPr>
          <a:xfrm>
            <a:off x="9531706" y="146304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2" name="Text 19"/>
          <p:cNvSpPr txBox="1"/>
          <p:nvPr/>
        </p:nvSpPr>
        <p:spPr>
          <a:xfrm>
            <a:off x="9577426" y="149961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get</a:t>
            </a:r>
            <a:r>
              <a:rPr lang="en-US" sz="1500" dirty="0">
                <a:solidFill>
                  <a:schemeClr val="tx2"/>
                </a:solidFill>
              </a:rPr>
              <a:t> ↓</a:t>
            </a:r>
            <a:endParaRPr lang="en-US" sz="1500" dirty="0"/>
          </a:p>
        </p:txBody>
      </p:sp>
      <p:sp>
        <p:nvSpPr>
          <p:cNvPr id="23" name="Shape 20"/>
          <p:cNvSpPr/>
          <p:nvPr/>
        </p:nvSpPr>
        <p:spPr>
          <a:xfrm>
            <a:off x="9623146" y="1875252"/>
            <a:ext cx="1925726" cy="394289"/>
          </a:xfrm>
          <a:prstGeom prst="roundRect">
            <a:avLst>
              <a:gd name="adj" fmla="val 27829"/>
            </a:avLst>
          </a:prstGeom>
          <a:solidFill>
            <a:schemeClr val="accent2"/>
          </a:solidFill>
          <a:ln w="12700">
            <a:solidFill>
              <a:srgbClr val="FFFFFF">
                <a:alpha val="0"/>
              </a:srgbClr>
            </a:solidFill>
            <a:prstDash val="solid"/>
          </a:ln>
        </p:spPr>
      </p:sp>
      <p:sp>
        <p:nvSpPr>
          <p:cNvPr id="24" name="Text 21"/>
          <p:cNvSpPr txBox="1"/>
          <p:nvPr/>
        </p:nvSpPr>
        <p:spPr>
          <a:xfrm>
            <a:off x="9623146" y="187525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got</a:t>
            </a:r>
            <a:endParaRPr lang="en-US" sz="1700" dirty="0"/>
          </a:p>
        </p:txBody>
      </p:sp>
      <p:sp>
        <p:nvSpPr>
          <p:cNvPr id="25" name="Shape 22"/>
          <p:cNvSpPr/>
          <p:nvPr/>
        </p:nvSpPr>
        <p:spPr>
          <a:xfrm>
            <a:off x="548640" y="246888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6" name="Text 23"/>
          <p:cNvSpPr txBox="1"/>
          <p:nvPr/>
        </p:nvSpPr>
        <p:spPr>
          <a:xfrm>
            <a:off x="594360" y="250545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make</a:t>
            </a:r>
            <a:r>
              <a:rPr lang="en-US" sz="1500" dirty="0">
                <a:solidFill>
                  <a:schemeClr val="tx2"/>
                </a:solidFill>
              </a:rPr>
              <a:t> ↓</a:t>
            </a:r>
            <a:endParaRPr lang="en-US" sz="1500" dirty="0"/>
          </a:p>
        </p:txBody>
      </p:sp>
      <p:sp>
        <p:nvSpPr>
          <p:cNvPr id="27" name="Shape 24"/>
          <p:cNvSpPr/>
          <p:nvPr/>
        </p:nvSpPr>
        <p:spPr>
          <a:xfrm>
            <a:off x="640080" y="2881092"/>
            <a:ext cx="1925726" cy="394289"/>
          </a:xfrm>
          <a:prstGeom prst="roundRect">
            <a:avLst>
              <a:gd name="adj" fmla="val 27829"/>
            </a:avLst>
          </a:prstGeom>
          <a:solidFill>
            <a:schemeClr val="accent2"/>
          </a:solidFill>
          <a:ln w="12700">
            <a:solidFill>
              <a:srgbClr val="FFFFFF">
                <a:alpha val="0"/>
              </a:srgbClr>
            </a:solidFill>
            <a:prstDash val="solid"/>
          </a:ln>
        </p:spPr>
      </p:sp>
      <p:sp>
        <p:nvSpPr>
          <p:cNvPr id="28" name="Text 25"/>
          <p:cNvSpPr txBox="1"/>
          <p:nvPr/>
        </p:nvSpPr>
        <p:spPr>
          <a:xfrm>
            <a:off x="640080" y="288109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made</a:t>
            </a:r>
            <a:endParaRPr lang="en-US" sz="1700" dirty="0"/>
          </a:p>
        </p:txBody>
      </p:sp>
      <p:sp>
        <p:nvSpPr>
          <p:cNvPr id="29" name="Shape 26"/>
          <p:cNvSpPr/>
          <p:nvPr/>
        </p:nvSpPr>
        <p:spPr>
          <a:xfrm>
            <a:off x="2794406" y="246888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0" name="Text 27"/>
          <p:cNvSpPr txBox="1"/>
          <p:nvPr/>
        </p:nvSpPr>
        <p:spPr>
          <a:xfrm>
            <a:off x="2840126" y="250545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say</a:t>
            </a:r>
            <a:r>
              <a:rPr lang="en-US" sz="1500" dirty="0">
                <a:solidFill>
                  <a:schemeClr val="tx2"/>
                </a:solidFill>
              </a:rPr>
              <a:t> ↓</a:t>
            </a:r>
            <a:endParaRPr lang="en-US" sz="1500" dirty="0"/>
          </a:p>
        </p:txBody>
      </p:sp>
      <p:sp>
        <p:nvSpPr>
          <p:cNvPr id="31" name="Shape 28"/>
          <p:cNvSpPr/>
          <p:nvPr/>
        </p:nvSpPr>
        <p:spPr>
          <a:xfrm>
            <a:off x="2885846" y="2881092"/>
            <a:ext cx="1925726" cy="394289"/>
          </a:xfrm>
          <a:prstGeom prst="roundRect">
            <a:avLst>
              <a:gd name="adj" fmla="val 27829"/>
            </a:avLst>
          </a:prstGeom>
          <a:solidFill>
            <a:schemeClr val="accent2"/>
          </a:solidFill>
          <a:ln w="12700">
            <a:solidFill>
              <a:srgbClr val="FFFFFF">
                <a:alpha val="0"/>
              </a:srgbClr>
            </a:solidFill>
            <a:prstDash val="solid"/>
          </a:ln>
        </p:spPr>
      </p:sp>
      <p:sp>
        <p:nvSpPr>
          <p:cNvPr id="32" name="Text 29"/>
          <p:cNvSpPr txBox="1"/>
          <p:nvPr/>
        </p:nvSpPr>
        <p:spPr>
          <a:xfrm>
            <a:off x="2885846" y="288109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said</a:t>
            </a:r>
            <a:endParaRPr lang="en-US" sz="1700" dirty="0"/>
          </a:p>
        </p:txBody>
      </p:sp>
      <p:sp>
        <p:nvSpPr>
          <p:cNvPr id="33" name="Shape 30"/>
          <p:cNvSpPr/>
          <p:nvPr/>
        </p:nvSpPr>
        <p:spPr>
          <a:xfrm>
            <a:off x="5040173" y="246888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4" name="Text 31"/>
          <p:cNvSpPr txBox="1"/>
          <p:nvPr/>
        </p:nvSpPr>
        <p:spPr>
          <a:xfrm>
            <a:off x="5085893" y="250545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see</a:t>
            </a:r>
            <a:r>
              <a:rPr lang="en-US" sz="1500" dirty="0">
                <a:solidFill>
                  <a:schemeClr val="tx2"/>
                </a:solidFill>
              </a:rPr>
              <a:t> ↓</a:t>
            </a:r>
            <a:endParaRPr lang="en-US" sz="1500" dirty="0"/>
          </a:p>
        </p:txBody>
      </p:sp>
      <p:sp>
        <p:nvSpPr>
          <p:cNvPr id="35" name="Shape 32"/>
          <p:cNvSpPr/>
          <p:nvPr/>
        </p:nvSpPr>
        <p:spPr>
          <a:xfrm>
            <a:off x="5131613" y="2881092"/>
            <a:ext cx="1925726" cy="394289"/>
          </a:xfrm>
          <a:prstGeom prst="roundRect">
            <a:avLst>
              <a:gd name="adj" fmla="val 27829"/>
            </a:avLst>
          </a:prstGeom>
          <a:solidFill>
            <a:schemeClr val="accent2"/>
          </a:solidFill>
          <a:ln w="12700">
            <a:solidFill>
              <a:srgbClr val="FFFFFF">
                <a:alpha val="0"/>
              </a:srgbClr>
            </a:solidFill>
            <a:prstDash val="solid"/>
          </a:ln>
        </p:spPr>
      </p:sp>
      <p:sp>
        <p:nvSpPr>
          <p:cNvPr id="36" name="Text 33"/>
          <p:cNvSpPr txBox="1"/>
          <p:nvPr/>
        </p:nvSpPr>
        <p:spPr>
          <a:xfrm>
            <a:off x="5131613" y="288109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seen</a:t>
            </a:r>
            <a:endParaRPr lang="en-US" sz="1700" dirty="0"/>
          </a:p>
        </p:txBody>
      </p:sp>
      <p:sp>
        <p:nvSpPr>
          <p:cNvPr id="37" name="Shape 34"/>
          <p:cNvSpPr/>
          <p:nvPr/>
        </p:nvSpPr>
        <p:spPr>
          <a:xfrm>
            <a:off x="7285939" y="246888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8" name="Text 35"/>
          <p:cNvSpPr txBox="1"/>
          <p:nvPr/>
        </p:nvSpPr>
        <p:spPr>
          <a:xfrm>
            <a:off x="7331659" y="250545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take</a:t>
            </a:r>
            <a:r>
              <a:rPr lang="en-US" sz="1500" dirty="0">
                <a:solidFill>
                  <a:schemeClr val="tx2"/>
                </a:solidFill>
              </a:rPr>
              <a:t> ↓</a:t>
            </a:r>
            <a:endParaRPr lang="en-US" sz="1500" dirty="0"/>
          </a:p>
        </p:txBody>
      </p:sp>
      <p:sp>
        <p:nvSpPr>
          <p:cNvPr id="39" name="Shape 36"/>
          <p:cNvSpPr/>
          <p:nvPr/>
        </p:nvSpPr>
        <p:spPr>
          <a:xfrm>
            <a:off x="7377379" y="2881092"/>
            <a:ext cx="1925726" cy="394289"/>
          </a:xfrm>
          <a:prstGeom prst="roundRect">
            <a:avLst>
              <a:gd name="adj" fmla="val 27829"/>
            </a:avLst>
          </a:prstGeom>
          <a:solidFill>
            <a:schemeClr val="accent2"/>
          </a:solidFill>
          <a:ln w="12700">
            <a:solidFill>
              <a:srgbClr val="FFFFFF">
                <a:alpha val="0"/>
              </a:srgbClr>
            </a:solidFill>
            <a:prstDash val="solid"/>
          </a:ln>
        </p:spPr>
      </p:sp>
      <p:sp>
        <p:nvSpPr>
          <p:cNvPr id="40" name="Text 37"/>
          <p:cNvSpPr txBox="1"/>
          <p:nvPr/>
        </p:nvSpPr>
        <p:spPr>
          <a:xfrm>
            <a:off x="7377379" y="288109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taken</a:t>
            </a:r>
            <a:endParaRPr lang="en-US" sz="1700" dirty="0"/>
          </a:p>
        </p:txBody>
      </p:sp>
      <p:sp>
        <p:nvSpPr>
          <p:cNvPr id="41" name="Shape 38"/>
          <p:cNvSpPr/>
          <p:nvPr/>
        </p:nvSpPr>
        <p:spPr>
          <a:xfrm>
            <a:off x="9531706" y="246888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2" name="Text 39"/>
          <p:cNvSpPr txBox="1"/>
          <p:nvPr/>
        </p:nvSpPr>
        <p:spPr>
          <a:xfrm>
            <a:off x="9577426" y="250545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come</a:t>
            </a:r>
            <a:r>
              <a:rPr lang="en-US" sz="1500" dirty="0">
                <a:solidFill>
                  <a:schemeClr val="tx2"/>
                </a:solidFill>
              </a:rPr>
              <a:t> ↓</a:t>
            </a:r>
            <a:endParaRPr lang="en-US" sz="1500" dirty="0"/>
          </a:p>
        </p:txBody>
      </p:sp>
      <p:sp>
        <p:nvSpPr>
          <p:cNvPr id="43" name="Shape 40"/>
          <p:cNvSpPr/>
          <p:nvPr/>
        </p:nvSpPr>
        <p:spPr>
          <a:xfrm>
            <a:off x="9623146" y="2881092"/>
            <a:ext cx="1925726" cy="394289"/>
          </a:xfrm>
          <a:prstGeom prst="roundRect">
            <a:avLst>
              <a:gd name="adj" fmla="val 27829"/>
            </a:avLst>
          </a:prstGeom>
          <a:solidFill>
            <a:schemeClr val="accent2"/>
          </a:solidFill>
          <a:ln w="12700">
            <a:solidFill>
              <a:srgbClr val="FFFFFF">
                <a:alpha val="0"/>
              </a:srgbClr>
            </a:solidFill>
            <a:prstDash val="solid"/>
          </a:ln>
        </p:spPr>
      </p:sp>
      <p:sp>
        <p:nvSpPr>
          <p:cNvPr id="44" name="Text 41"/>
          <p:cNvSpPr txBox="1"/>
          <p:nvPr/>
        </p:nvSpPr>
        <p:spPr>
          <a:xfrm>
            <a:off x="9623146" y="288109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come</a:t>
            </a:r>
            <a:endParaRPr lang="en-US" sz="1700" dirty="0"/>
          </a:p>
        </p:txBody>
      </p:sp>
      <p:sp>
        <p:nvSpPr>
          <p:cNvPr id="45" name="Shape 42"/>
          <p:cNvSpPr/>
          <p:nvPr/>
        </p:nvSpPr>
        <p:spPr>
          <a:xfrm>
            <a:off x="548640" y="347472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6" name="Text 43"/>
          <p:cNvSpPr txBox="1"/>
          <p:nvPr/>
        </p:nvSpPr>
        <p:spPr>
          <a:xfrm>
            <a:off x="594360" y="351129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know</a:t>
            </a:r>
            <a:r>
              <a:rPr lang="en-US" sz="1500" dirty="0">
                <a:solidFill>
                  <a:schemeClr val="tx2"/>
                </a:solidFill>
              </a:rPr>
              <a:t> ↓</a:t>
            </a:r>
            <a:endParaRPr lang="en-US" sz="1500" dirty="0"/>
          </a:p>
        </p:txBody>
      </p:sp>
      <p:sp>
        <p:nvSpPr>
          <p:cNvPr id="47" name="Shape 44"/>
          <p:cNvSpPr/>
          <p:nvPr/>
        </p:nvSpPr>
        <p:spPr>
          <a:xfrm>
            <a:off x="640080" y="3886932"/>
            <a:ext cx="1925726" cy="394289"/>
          </a:xfrm>
          <a:prstGeom prst="roundRect">
            <a:avLst>
              <a:gd name="adj" fmla="val 27829"/>
            </a:avLst>
          </a:prstGeom>
          <a:solidFill>
            <a:schemeClr val="accent2"/>
          </a:solidFill>
          <a:ln w="12700">
            <a:solidFill>
              <a:srgbClr val="FFFFFF">
                <a:alpha val="0"/>
              </a:srgbClr>
            </a:solidFill>
            <a:prstDash val="solid"/>
          </a:ln>
        </p:spPr>
      </p:sp>
      <p:sp>
        <p:nvSpPr>
          <p:cNvPr id="48" name="Text 45"/>
          <p:cNvSpPr txBox="1"/>
          <p:nvPr/>
        </p:nvSpPr>
        <p:spPr>
          <a:xfrm>
            <a:off x="640080" y="388693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known</a:t>
            </a:r>
            <a:endParaRPr lang="en-US" sz="1700" dirty="0"/>
          </a:p>
        </p:txBody>
      </p:sp>
      <p:sp>
        <p:nvSpPr>
          <p:cNvPr id="49" name="Shape 46"/>
          <p:cNvSpPr/>
          <p:nvPr/>
        </p:nvSpPr>
        <p:spPr>
          <a:xfrm>
            <a:off x="2794406" y="347472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0" name="Text 47"/>
          <p:cNvSpPr txBox="1"/>
          <p:nvPr/>
        </p:nvSpPr>
        <p:spPr>
          <a:xfrm>
            <a:off x="2840126" y="351129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think</a:t>
            </a:r>
            <a:r>
              <a:rPr lang="en-US" sz="1500" dirty="0">
                <a:solidFill>
                  <a:schemeClr val="tx2"/>
                </a:solidFill>
              </a:rPr>
              <a:t> ↓</a:t>
            </a:r>
            <a:endParaRPr lang="en-US" sz="1500" dirty="0"/>
          </a:p>
        </p:txBody>
      </p:sp>
      <p:sp>
        <p:nvSpPr>
          <p:cNvPr id="51" name="Shape 48"/>
          <p:cNvSpPr/>
          <p:nvPr/>
        </p:nvSpPr>
        <p:spPr>
          <a:xfrm>
            <a:off x="2885846" y="3886932"/>
            <a:ext cx="1925726" cy="394289"/>
          </a:xfrm>
          <a:prstGeom prst="roundRect">
            <a:avLst>
              <a:gd name="adj" fmla="val 27829"/>
            </a:avLst>
          </a:prstGeom>
          <a:solidFill>
            <a:schemeClr val="accent2"/>
          </a:solidFill>
          <a:ln w="12700">
            <a:solidFill>
              <a:srgbClr val="FFFFFF">
                <a:alpha val="0"/>
              </a:srgbClr>
            </a:solidFill>
            <a:prstDash val="solid"/>
          </a:ln>
        </p:spPr>
      </p:sp>
      <p:sp>
        <p:nvSpPr>
          <p:cNvPr id="52" name="Text 49"/>
          <p:cNvSpPr txBox="1"/>
          <p:nvPr/>
        </p:nvSpPr>
        <p:spPr>
          <a:xfrm>
            <a:off x="2885846" y="388693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thought</a:t>
            </a:r>
            <a:endParaRPr lang="en-US" sz="1700" dirty="0"/>
          </a:p>
        </p:txBody>
      </p:sp>
      <p:sp>
        <p:nvSpPr>
          <p:cNvPr id="53" name="Shape 50"/>
          <p:cNvSpPr/>
          <p:nvPr/>
        </p:nvSpPr>
        <p:spPr>
          <a:xfrm>
            <a:off x="5040173" y="347472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4" name="Text 51"/>
          <p:cNvSpPr txBox="1"/>
          <p:nvPr/>
        </p:nvSpPr>
        <p:spPr>
          <a:xfrm>
            <a:off x="5085893" y="351129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give</a:t>
            </a:r>
            <a:r>
              <a:rPr lang="en-US" sz="1500" dirty="0">
                <a:solidFill>
                  <a:schemeClr val="tx2"/>
                </a:solidFill>
              </a:rPr>
              <a:t> ↓</a:t>
            </a:r>
            <a:endParaRPr lang="en-US" sz="1500" dirty="0"/>
          </a:p>
        </p:txBody>
      </p:sp>
      <p:sp>
        <p:nvSpPr>
          <p:cNvPr id="55" name="Shape 52"/>
          <p:cNvSpPr/>
          <p:nvPr/>
        </p:nvSpPr>
        <p:spPr>
          <a:xfrm>
            <a:off x="5131613" y="3886932"/>
            <a:ext cx="1925726" cy="394289"/>
          </a:xfrm>
          <a:prstGeom prst="roundRect">
            <a:avLst>
              <a:gd name="adj" fmla="val 27829"/>
            </a:avLst>
          </a:prstGeom>
          <a:solidFill>
            <a:schemeClr val="accent2"/>
          </a:solidFill>
          <a:ln w="12700">
            <a:solidFill>
              <a:srgbClr val="FFFFFF">
                <a:alpha val="0"/>
              </a:srgbClr>
            </a:solidFill>
            <a:prstDash val="solid"/>
          </a:ln>
        </p:spPr>
      </p:sp>
      <p:sp>
        <p:nvSpPr>
          <p:cNvPr id="56" name="Text 53"/>
          <p:cNvSpPr txBox="1"/>
          <p:nvPr/>
        </p:nvSpPr>
        <p:spPr>
          <a:xfrm>
            <a:off x="5131613" y="388693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given</a:t>
            </a:r>
            <a:endParaRPr lang="en-US" sz="1700" dirty="0"/>
          </a:p>
        </p:txBody>
      </p:sp>
      <p:sp>
        <p:nvSpPr>
          <p:cNvPr id="57" name="Shape 54"/>
          <p:cNvSpPr/>
          <p:nvPr/>
        </p:nvSpPr>
        <p:spPr>
          <a:xfrm>
            <a:off x="7285939" y="347472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8" name="Text 55"/>
          <p:cNvSpPr txBox="1"/>
          <p:nvPr/>
        </p:nvSpPr>
        <p:spPr>
          <a:xfrm>
            <a:off x="7331659" y="351129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find</a:t>
            </a:r>
            <a:r>
              <a:rPr lang="en-US" sz="1500" dirty="0">
                <a:solidFill>
                  <a:schemeClr val="tx2"/>
                </a:solidFill>
              </a:rPr>
              <a:t> ↓</a:t>
            </a:r>
            <a:endParaRPr lang="en-US" sz="1500" dirty="0"/>
          </a:p>
        </p:txBody>
      </p:sp>
      <p:sp>
        <p:nvSpPr>
          <p:cNvPr id="59" name="Shape 56"/>
          <p:cNvSpPr/>
          <p:nvPr/>
        </p:nvSpPr>
        <p:spPr>
          <a:xfrm>
            <a:off x="7377379" y="3886932"/>
            <a:ext cx="1925726" cy="394289"/>
          </a:xfrm>
          <a:prstGeom prst="roundRect">
            <a:avLst>
              <a:gd name="adj" fmla="val 27829"/>
            </a:avLst>
          </a:prstGeom>
          <a:solidFill>
            <a:schemeClr val="accent2"/>
          </a:solidFill>
          <a:ln w="12700">
            <a:solidFill>
              <a:srgbClr val="FFFFFF">
                <a:alpha val="0"/>
              </a:srgbClr>
            </a:solidFill>
            <a:prstDash val="solid"/>
          </a:ln>
        </p:spPr>
      </p:sp>
      <p:sp>
        <p:nvSpPr>
          <p:cNvPr id="60" name="Text 57"/>
          <p:cNvSpPr txBox="1"/>
          <p:nvPr/>
        </p:nvSpPr>
        <p:spPr>
          <a:xfrm>
            <a:off x="7377379" y="388693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found</a:t>
            </a:r>
            <a:endParaRPr lang="en-US" sz="1700" dirty="0"/>
          </a:p>
        </p:txBody>
      </p:sp>
      <p:sp>
        <p:nvSpPr>
          <p:cNvPr id="61" name="Shape 58"/>
          <p:cNvSpPr/>
          <p:nvPr/>
        </p:nvSpPr>
        <p:spPr>
          <a:xfrm>
            <a:off x="9531706" y="347472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2" name="Text 59"/>
          <p:cNvSpPr txBox="1"/>
          <p:nvPr/>
        </p:nvSpPr>
        <p:spPr>
          <a:xfrm>
            <a:off x="9577426" y="351129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tell</a:t>
            </a:r>
            <a:r>
              <a:rPr lang="en-US" sz="1500" dirty="0">
                <a:solidFill>
                  <a:schemeClr val="tx2"/>
                </a:solidFill>
              </a:rPr>
              <a:t> ↓</a:t>
            </a:r>
            <a:endParaRPr lang="en-US" sz="1500" dirty="0"/>
          </a:p>
        </p:txBody>
      </p:sp>
      <p:sp>
        <p:nvSpPr>
          <p:cNvPr id="63" name="Shape 60"/>
          <p:cNvSpPr/>
          <p:nvPr/>
        </p:nvSpPr>
        <p:spPr>
          <a:xfrm>
            <a:off x="9623146" y="3886932"/>
            <a:ext cx="1925726" cy="394289"/>
          </a:xfrm>
          <a:prstGeom prst="roundRect">
            <a:avLst>
              <a:gd name="adj" fmla="val 27829"/>
            </a:avLst>
          </a:prstGeom>
          <a:solidFill>
            <a:schemeClr val="accent2"/>
          </a:solidFill>
          <a:ln w="12700">
            <a:solidFill>
              <a:srgbClr val="FFFFFF">
                <a:alpha val="0"/>
              </a:srgbClr>
            </a:solidFill>
            <a:prstDash val="solid"/>
          </a:ln>
        </p:spPr>
      </p:sp>
      <p:sp>
        <p:nvSpPr>
          <p:cNvPr id="64" name="Text 61"/>
          <p:cNvSpPr txBox="1"/>
          <p:nvPr/>
        </p:nvSpPr>
        <p:spPr>
          <a:xfrm>
            <a:off x="9623146" y="388693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told</a:t>
            </a:r>
            <a:endParaRPr lang="en-US" sz="1700" dirty="0"/>
          </a:p>
        </p:txBody>
      </p:sp>
      <p:sp>
        <p:nvSpPr>
          <p:cNvPr id="65" name="Shape 62"/>
          <p:cNvSpPr/>
          <p:nvPr/>
        </p:nvSpPr>
        <p:spPr>
          <a:xfrm>
            <a:off x="548640" y="448056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6" name="Text 63"/>
          <p:cNvSpPr txBox="1"/>
          <p:nvPr/>
        </p:nvSpPr>
        <p:spPr>
          <a:xfrm>
            <a:off x="594360" y="451713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write</a:t>
            </a:r>
            <a:r>
              <a:rPr lang="en-US" sz="1500" dirty="0">
                <a:solidFill>
                  <a:schemeClr val="tx2"/>
                </a:solidFill>
              </a:rPr>
              <a:t> ↓</a:t>
            </a:r>
            <a:endParaRPr lang="en-US" sz="1500" dirty="0"/>
          </a:p>
        </p:txBody>
      </p:sp>
      <p:sp>
        <p:nvSpPr>
          <p:cNvPr id="67" name="Shape 64"/>
          <p:cNvSpPr/>
          <p:nvPr/>
        </p:nvSpPr>
        <p:spPr>
          <a:xfrm>
            <a:off x="640080" y="4892772"/>
            <a:ext cx="1925726" cy="394289"/>
          </a:xfrm>
          <a:prstGeom prst="roundRect">
            <a:avLst>
              <a:gd name="adj" fmla="val 27829"/>
            </a:avLst>
          </a:prstGeom>
          <a:solidFill>
            <a:schemeClr val="accent2"/>
          </a:solidFill>
          <a:ln w="12700">
            <a:solidFill>
              <a:srgbClr val="FFFFFF">
                <a:alpha val="0"/>
              </a:srgbClr>
            </a:solidFill>
            <a:prstDash val="solid"/>
          </a:ln>
        </p:spPr>
      </p:sp>
      <p:sp>
        <p:nvSpPr>
          <p:cNvPr id="68" name="Text 65"/>
          <p:cNvSpPr txBox="1"/>
          <p:nvPr/>
        </p:nvSpPr>
        <p:spPr>
          <a:xfrm>
            <a:off x="640080" y="489277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written</a:t>
            </a:r>
            <a:endParaRPr lang="en-US" sz="1700" dirty="0"/>
          </a:p>
        </p:txBody>
      </p:sp>
      <p:sp>
        <p:nvSpPr>
          <p:cNvPr id="69" name="Shape 66"/>
          <p:cNvSpPr/>
          <p:nvPr/>
        </p:nvSpPr>
        <p:spPr>
          <a:xfrm>
            <a:off x="2794406" y="448056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0" name="Text 67"/>
          <p:cNvSpPr txBox="1"/>
          <p:nvPr/>
        </p:nvSpPr>
        <p:spPr>
          <a:xfrm>
            <a:off x="2840126" y="451713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eat</a:t>
            </a:r>
            <a:r>
              <a:rPr lang="en-US" sz="1500" dirty="0">
                <a:solidFill>
                  <a:schemeClr val="tx2"/>
                </a:solidFill>
              </a:rPr>
              <a:t> ↓</a:t>
            </a:r>
            <a:endParaRPr lang="en-US" sz="1500" dirty="0"/>
          </a:p>
        </p:txBody>
      </p:sp>
      <p:sp>
        <p:nvSpPr>
          <p:cNvPr id="71" name="Shape 68"/>
          <p:cNvSpPr/>
          <p:nvPr/>
        </p:nvSpPr>
        <p:spPr>
          <a:xfrm>
            <a:off x="2885846" y="4892772"/>
            <a:ext cx="1925726" cy="394289"/>
          </a:xfrm>
          <a:prstGeom prst="roundRect">
            <a:avLst>
              <a:gd name="adj" fmla="val 27829"/>
            </a:avLst>
          </a:prstGeom>
          <a:solidFill>
            <a:schemeClr val="accent2"/>
          </a:solidFill>
          <a:ln w="12700">
            <a:solidFill>
              <a:srgbClr val="FFFFFF">
                <a:alpha val="0"/>
              </a:srgbClr>
            </a:solidFill>
            <a:prstDash val="solid"/>
          </a:ln>
        </p:spPr>
      </p:sp>
      <p:sp>
        <p:nvSpPr>
          <p:cNvPr id="72" name="Text 69"/>
          <p:cNvSpPr txBox="1"/>
          <p:nvPr/>
        </p:nvSpPr>
        <p:spPr>
          <a:xfrm>
            <a:off x="2885846" y="489277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eaten</a:t>
            </a:r>
            <a:endParaRPr lang="en-US" sz="1700" dirty="0"/>
          </a:p>
        </p:txBody>
      </p:sp>
      <p:sp>
        <p:nvSpPr>
          <p:cNvPr id="73" name="Shape 70"/>
          <p:cNvSpPr/>
          <p:nvPr/>
        </p:nvSpPr>
        <p:spPr>
          <a:xfrm>
            <a:off x="5040173" y="448056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4" name="Text 71"/>
          <p:cNvSpPr txBox="1"/>
          <p:nvPr/>
        </p:nvSpPr>
        <p:spPr>
          <a:xfrm>
            <a:off x="5085893" y="451713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buy</a:t>
            </a:r>
            <a:r>
              <a:rPr lang="en-US" sz="1500" dirty="0">
                <a:solidFill>
                  <a:schemeClr val="tx2"/>
                </a:solidFill>
              </a:rPr>
              <a:t> ↓</a:t>
            </a:r>
            <a:endParaRPr lang="en-US" sz="1500" dirty="0"/>
          </a:p>
        </p:txBody>
      </p:sp>
      <p:sp>
        <p:nvSpPr>
          <p:cNvPr id="75" name="Shape 72"/>
          <p:cNvSpPr/>
          <p:nvPr/>
        </p:nvSpPr>
        <p:spPr>
          <a:xfrm>
            <a:off x="5131613" y="4892772"/>
            <a:ext cx="1925726" cy="394289"/>
          </a:xfrm>
          <a:prstGeom prst="roundRect">
            <a:avLst>
              <a:gd name="adj" fmla="val 27829"/>
            </a:avLst>
          </a:prstGeom>
          <a:solidFill>
            <a:schemeClr val="accent2"/>
          </a:solidFill>
          <a:ln w="12700">
            <a:solidFill>
              <a:srgbClr val="FFFFFF">
                <a:alpha val="0"/>
              </a:srgbClr>
            </a:solidFill>
            <a:prstDash val="solid"/>
          </a:ln>
        </p:spPr>
      </p:sp>
      <p:sp>
        <p:nvSpPr>
          <p:cNvPr id="76" name="Text 73"/>
          <p:cNvSpPr txBox="1"/>
          <p:nvPr/>
        </p:nvSpPr>
        <p:spPr>
          <a:xfrm>
            <a:off x="5131613" y="489277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bought</a:t>
            </a:r>
            <a:endParaRPr lang="en-US" sz="1700" dirty="0"/>
          </a:p>
        </p:txBody>
      </p:sp>
      <p:sp>
        <p:nvSpPr>
          <p:cNvPr id="77" name="Shape 74"/>
          <p:cNvSpPr/>
          <p:nvPr/>
        </p:nvSpPr>
        <p:spPr>
          <a:xfrm>
            <a:off x="7285939" y="448056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78" name="Text 75"/>
          <p:cNvSpPr txBox="1"/>
          <p:nvPr/>
        </p:nvSpPr>
        <p:spPr>
          <a:xfrm>
            <a:off x="7331659" y="451713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meet</a:t>
            </a:r>
            <a:r>
              <a:rPr lang="en-US" sz="1500" dirty="0">
                <a:solidFill>
                  <a:schemeClr val="tx2"/>
                </a:solidFill>
              </a:rPr>
              <a:t> ↓</a:t>
            </a:r>
            <a:endParaRPr lang="en-US" sz="1500" dirty="0"/>
          </a:p>
        </p:txBody>
      </p:sp>
      <p:sp>
        <p:nvSpPr>
          <p:cNvPr id="79" name="Shape 76"/>
          <p:cNvSpPr/>
          <p:nvPr/>
        </p:nvSpPr>
        <p:spPr>
          <a:xfrm>
            <a:off x="7377379" y="4892772"/>
            <a:ext cx="1925726" cy="394289"/>
          </a:xfrm>
          <a:prstGeom prst="roundRect">
            <a:avLst>
              <a:gd name="adj" fmla="val 27829"/>
            </a:avLst>
          </a:prstGeom>
          <a:solidFill>
            <a:schemeClr val="accent2"/>
          </a:solidFill>
          <a:ln w="12700">
            <a:solidFill>
              <a:srgbClr val="FFFFFF">
                <a:alpha val="0"/>
              </a:srgbClr>
            </a:solidFill>
            <a:prstDash val="solid"/>
          </a:ln>
        </p:spPr>
      </p:sp>
      <p:sp>
        <p:nvSpPr>
          <p:cNvPr id="80" name="Text 77"/>
          <p:cNvSpPr txBox="1"/>
          <p:nvPr/>
        </p:nvSpPr>
        <p:spPr>
          <a:xfrm>
            <a:off x="7377379" y="489277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met</a:t>
            </a:r>
            <a:endParaRPr lang="en-US" sz="1700" dirty="0"/>
          </a:p>
        </p:txBody>
      </p:sp>
      <p:sp>
        <p:nvSpPr>
          <p:cNvPr id="81" name="Shape 78"/>
          <p:cNvSpPr/>
          <p:nvPr/>
        </p:nvSpPr>
        <p:spPr>
          <a:xfrm>
            <a:off x="9531706" y="4480560"/>
            <a:ext cx="2108606" cy="896112"/>
          </a:xfrm>
          <a:prstGeom prst="roundRect">
            <a:avLst>
              <a:gd name="adj" fmla="val 10204"/>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82" name="Text 79"/>
          <p:cNvSpPr txBox="1"/>
          <p:nvPr/>
        </p:nvSpPr>
        <p:spPr>
          <a:xfrm>
            <a:off x="9577426" y="4517136"/>
            <a:ext cx="2017166" cy="358445"/>
          </a:xfrm>
          <a:prstGeom prst="rect">
            <a:avLst/>
          </a:prstGeom>
          <a:noFill/>
          <a:ln/>
        </p:spPr>
        <p:txBody>
          <a:bodyPr wrap="square" lIns="0" tIns="0" rIns="0" bIns="0" rtlCol="0" anchor="ctr"/>
          <a:lstStyle/>
          <a:p>
            <a:pPr algn="ctr" indent="0" marL="0">
              <a:buNone/>
            </a:pPr>
            <a:r>
              <a:rPr lang="en-US" sz="1500" b="1" i="1" dirty="0">
                <a:solidFill>
                  <a:schemeClr val="tx2"/>
                </a:solidFill>
              </a:rPr>
              <a:t>speak</a:t>
            </a:r>
            <a:r>
              <a:rPr lang="en-US" sz="1500" dirty="0">
                <a:solidFill>
                  <a:schemeClr val="tx2"/>
                </a:solidFill>
              </a:rPr>
              <a:t> ↓</a:t>
            </a:r>
            <a:endParaRPr lang="en-US" sz="1500" dirty="0"/>
          </a:p>
        </p:txBody>
      </p:sp>
      <p:sp>
        <p:nvSpPr>
          <p:cNvPr id="83" name="Shape 80"/>
          <p:cNvSpPr/>
          <p:nvPr/>
        </p:nvSpPr>
        <p:spPr>
          <a:xfrm>
            <a:off x="9623146" y="4892772"/>
            <a:ext cx="1925726" cy="394289"/>
          </a:xfrm>
          <a:prstGeom prst="roundRect">
            <a:avLst>
              <a:gd name="adj" fmla="val 27829"/>
            </a:avLst>
          </a:prstGeom>
          <a:solidFill>
            <a:schemeClr val="accent2"/>
          </a:solidFill>
          <a:ln w="12700">
            <a:solidFill>
              <a:srgbClr val="FFFFFF">
                <a:alpha val="0"/>
              </a:srgbClr>
            </a:solidFill>
            <a:prstDash val="solid"/>
          </a:ln>
        </p:spPr>
      </p:sp>
      <p:sp>
        <p:nvSpPr>
          <p:cNvPr id="84" name="Text 81"/>
          <p:cNvSpPr txBox="1"/>
          <p:nvPr/>
        </p:nvSpPr>
        <p:spPr>
          <a:xfrm>
            <a:off x="9623146" y="4892772"/>
            <a:ext cx="1925726" cy="394289"/>
          </a:xfrm>
          <a:prstGeom prst="rect">
            <a:avLst/>
          </a:prstGeom>
          <a:noFill/>
          <a:ln/>
        </p:spPr>
        <p:txBody>
          <a:bodyPr wrap="square" lIns="0" tIns="0" rIns="0" bIns="0" rtlCol="0" anchor="ctr"/>
          <a:lstStyle/>
          <a:p>
            <a:pPr algn="ctr" indent="0" marL="0">
              <a:buNone/>
            </a:pPr>
            <a:r>
              <a:rPr lang="en-US" sz="1700" b="1" i="1" dirty="0">
                <a:solidFill>
                  <a:schemeClr val="bg1"/>
                </a:solidFill>
              </a:rPr>
              <a:t>spoken</a:t>
            </a:r>
            <a:endParaRPr lang="en-US" sz="1700" dirty="0"/>
          </a:p>
        </p:txBody>
      </p:sp>
      <p:sp>
        <p:nvSpPr>
          <p:cNvPr id="85" name="Shape 82"/>
          <p:cNvSpPr/>
          <p:nvPr/>
        </p:nvSpPr>
        <p:spPr>
          <a:xfrm>
            <a:off x="548640" y="5623560"/>
            <a:ext cx="11091672" cy="548640"/>
          </a:xfrm>
          <a:prstGeom prst="roundRect">
            <a:avLst>
              <a:gd name="adj" fmla="val 13333"/>
            </a:avLst>
          </a:prstGeom>
          <a:solidFill>
            <a:schemeClr val="tx2"/>
          </a:solidFill>
          <a:ln w="12700">
            <a:solidFill>
              <a:srgbClr val="FFFFFF">
                <a:alpha val="0"/>
              </a:srgbClr>
            </a:solidFill>
            <a:prstDash val="solid"/>
          </a:ln>
        </p:spPr>
      </p:sp>
      <p:sp>
        <p:nvSpPr>
          <p:cNvPr id="86" name="Text 83"/>
          <p:cNvSpPr txBox="1"/>
          <p:nvPr/>
        </p:nvSpPr>
        <p:spPr>
          <a:xfrm>
            <a:off x="822960" y="5623560"/>
            <a:ext cx="10607040" cy="548640"/>
          </a:xfrm>
          <a:prstGeom prst="rect">
            <a:avLst/>
          </a:prstGeom>
          <a:noFill/>
          <a:ln/>
        </p:spPr>
        <p:txBody>
          <a:bodyPr wrap="square" lIns="0" tIns="0" rIns="0" bIns="0" rtlCol="0" anchor="ctr"/>
          <a:lstStyle/>
          <a:p>
            <a:pPr algn="l" indent="0" marL="0">
              <a:buNone/>
            </a:pPr>
            <a:r>
              <a:rPr lang="en-US" sz="1500" dirty="0">
                <a:solidFill>
                  <a:schemeClr val="bg1"/>
                </a:solidFill>
              </a:rPr>
              <a:t>Astuce : beaucoup de participes irréguliers finissent par </a:t>
            </a:r>
            <a:r>
              <a:rPr lang="en-US" sz="1500" i="1" dirty="0">
                <a:solidFill>
                  <a:schemeClr val="bg1"/>
                </a:solidFill>
              </a:rPr>
              <a:t>-n</a:t>
            </a:r>
            <a:r>
              <a:rPr lang="en-US" sz="1500" dirty="0">
                <a:solidFill>
                  <a:schemeClr val="bg1"/>
                </a:solidFill>
              </a:rPr>
              <a:t> ou </a:t>
            </a:r>
            <a:r>
              <a:rPr lang="en-US" sz="1500" i="1" dirty="0">
                <a:solidFill>
                  <a:schemeClr val="bg1"/>
                </a:solidFill>
              </a:rPr>
              <a:t>-en</a:t>
            </a:r>
            <a:r>
              <a:rPr lang="en-US" sz="1500" dirty="0">
                <a:solidFill>
                  <a:schemeClr val="bg1"/>
                </a:solidFill>
              </a:rPr>
              <a:t> : </a:t>
            </a:r>
            <a:r>
              <a:rPr lang="en-US" sz="1500" i="1" dirty="0">
                <a:solidFill>
                  <a:schemeClr val="bg1"/>
                </a:solidFill>
              </a:rPr>
              <a:t>seen, known, given, written, eaten, spoken</a:t>
            </a:r>
            <a:r>
              <a:rPr lang="en-US" sz="1500" dirty="0">
                <a:solidFill>
                  <a:schemeClr val="bg1"/>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Negative and questions: have does the work</a:t>
            </a:r>
            <a:endParaRPr lang="en-US" sz="3000" dirty="0"/>
          </a:p>
        </p:txBody>
      </p:sp>
      <p:sp>
        <p:nvSpPr>
          <p:cNvPr id="3" name="tag"/>
          <p:cNvSpPr/>
          <p:nvPr/>
        </p:nvSpPr>
        <p:spPr>
          <a:xfrm>
            <a:off x="548640" y="237744"/>
            <a:ext cx="11210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GRAMMAR</a:t>
            </a:r>
            <a:endParaRPr lang="en-US" sz="1200" dirty="0"/>
          </a:p>
        </p:txBody>
      </p:sp>
      <p:sp>
        <p:nvSpPr>
          <p:cNvPr id="5" name="Text 2"/>
          <p:cNvSpPr txBox="1"/>
          <p:nvPr/>
        </p:nvSpPr>
        <p:spPr>
          <a:xfrm>
            <a:off x="548640" y="1554480"/>
            <a:ext cx="365760" cy="640080"/>
          </a:xfrm>
          <a:prstGeom prst="rect">
            <a:avLst/>
          </a:prstGeom>
          <a:noFill/>
          <a:ln/>
        </p:spPr>
        <p:txBody>
          <a:bodyPr wrap="square" lIns="0" tIns="0" rIns="0" bIns="0" rtlCol="0" anchor="ctr"/>
          <a:lstStyle/>
          <a:p>
            <a:pPr algn="ctr" indent="0" marL="0">
              <a:buNone/>
            </a:pPr>
            <a:r>
              <a:rPr lang="en-US" sz="2600" b="1" dirty="0">
                <a:solidFill>
                  <a:schemeClr val="accent6"/>
                </a:solidFill>
              </a:rPr>
              <a:t>−</a:t>
            </a:r>
            <a:endParaRPr lang="en-US" sz="2600" dirty="0"/>
          </a:p>
        </p:txBody>
      </p:sp>
      <p:sp>
        <p:nvSpPr>
          <p:cNvPr id="6" name="Shape 3"/>
          <p:cNvSpPr/>
          <p:nvPr/>
        </p:nvSpPr>
        <p:spPr>
          <a:xfrm>
            <a:off x="1005840" y="1554480"/>
            <a:ext cx="806135" cy="658368"/>
          </a:xfrm>
          <a:prstGeom prst="roundRect">
            <a:avLst>
              <a:gd name="adj" fmla="val 13889"/>
            </a:avLst>
          </a:prstGeom>
          <a:solidFill>
            <a:srgbClr val="FFFFFF"/>
          </a:solidFill>
          <a:ln w="15875">
            <a:solidFill>
              <a:srgbClr val="D5DCE6"/>
            </a:solidFill>
            <a:prstDash val="solid"/>
          </a:ln>
        </p:spPr>
      </p:sp>
      <p:sp>
        <p:nvSpPr>
          <p:cNvPr id="7" name="Text 4"/>
          <p:cNvSpPr txBox="1"/>
          <p:nvPr/>
        </p:nvSpPr>
        <p:spPr>
          <a:xfrm>
            <a:off x="1005840" y="1554480"/>
            <a:ext cx="806135" cy="658368"/>
          </a:xfrm>
          <a:prstGeom prst="rect">
            <a:avLst/>
          </a:prstGeom>
          <a:noFill/>
          <a:ln/>
        </p:spPr>
        <p:txBody>
          <a:bodyPr wrap="square" lIns="0" tIns="0" rIns="0" bIns="0" rtlCol="0" anchor="ctr"/>
          <a:lstStyle/>
          <a:p>
            <a:pPr algn="ctr" indent="0" marL="0">
              <a:buNone/>
            </a:pPr>
            <a:r>
              <a:rPr lang="en-US" sz="2400" i="1" dirty="0">
                <a:solidFill>
                  <a:schemeClr val="tx1"/>
                </a:solidFill>
              </a:rPr>
              <a:t>She</a:t>
            </a:r>
            <a:endParaRPr lang="en-US" sz="2400" dirty="0"/>
          </a:p>
        </p:txBody>
      </p:sp>
      <p:sp>
        <p:nvSpPr>
          <p:cNvPr id="8" name="Text 5"/>
          <p:cNvSpPr txBox="1"/>
          <p:nvPr/>
        </p:nvSpPr>
        <p:spPr>
          <a:xfrm>
            <a:off x="685800" y="2249424"/>
            <a:ext cx="1446215" cy="274320"/>
          </a:xfrm>
          <a:prstGeom prst="rect">
            <a:avLst/>
          </a:prstGeom>
          <a:noFill/>
          <a:ln/>
        </p:spPr>
        <p:txBody>
          <a:bodyPr wrap="square" lIns="0" tIns="0" rIns="0" bIns="0" rtlCol="0" anchor="t"/>
          <a:lstStyle/>
          <a:p>
            <a:pPr algn="ctr" indent="0" marL="0">
              <a:buNone/>
            </a:pPr>
            <a:r>
              <a:rPr lang="en-US" sz="1100" b="1" dirty="0">
                <a:solidFill>
                  <a:schemeClr val="accent5"/>
                </a:solidFill>
              </a:rPr>
              <a:t>SUBJECT</a:t>
            </a:r>
            <a:endParaRPr lang="en-US" sz="1100" dirty="0"/>
          </a:p>
        </p:txBody>
      </p:sp>
      <p:sp>
        <p:nvSpPr>
          <p:cNvPr id="9" name="Shape 6"/>
          <p:cNvSpPr/>
          <p:nvPr/>
        </p:nvSpPr>
        <p:spPr>
          <a:xfrm>
            <a:off x="1885127" y="1554480"/>
            <a:ext cx="976023" cy="658368"/>
          </a:xfrm>
          <a:prstGeom prst="roundRect">
            <a:avLst>
              <a:gd name="adj" fmla="val 13889"/>
            </a:avLst>
          </a:prstGeom>
          <a:solidFill>
            <a:schemeClr val="tx2"/>
          </a:solidFill>
          <a:ln w="12700">
            <a:solidFill>
              <a:srgbClr val="FFFFFF">
                <a:alpha val="0"/>
              </a:srgbClr>
            </a:solidFill>
            <a:prstDash val="solid"/>
          </a:ln>
        </p:spPr>
      </p:sp>
      <p:sp>
        <p:nvSpPr>
          <p:cNvPr id="10" name="Text 7"/>
          <p:cNvSpPr txBox="1"/>
          <p:nvPr/>
        </p:nvSpPr>
        <p:spPr>
          <a:xfrm>
            <a:off x="1885127" y="1554480"/>
            <a:ext cx="976023" cy="658368"/>
          </a:xfrm>
          <a:prstGeom prst="rect">
            <a:avLst/>
          </a:prstGeom>
          <a:noFill/>
          <a:ln/>
        </p:spPr>
        <p:txBody>
          <a:bodyPr wrap="square" lIns="0" tIns="0" rIns="0" bIns="0" rtlCol="0" anchor="ctr"/>
          <a:lstStyle/>
          <a:p>
            <a:pPr algn="ctr" indent="0" marL="0">
              <a:buNone/>
            </a:pPr>
            <a:r>
              <a:rPr lang="en-US" sz="2400" b="1" i="1" dirty="0">
                <a:solidFill>
                  <a:schemeClr val="bg1"/>
                </a:solidFill>
              </a:rPr>
              <a:t>has</a:t>
            </a:r>
            <a:endParaRPr lang="en-US" sz="2400" dirty="0"/>
          </a:p>
        </p:txBody>
      </p:sp>
      <p:sp>
        <p:nvSpPr>
          <p:cNvPr id="11" name="Text 8"/>
          <p:cNvSpPr txBox="1"/>
          <p:nvPr/>
        </p:nvSpPr>
        <p:spPr>
          <a:xfrm>
            <a:off x="1565087" y="2249424"/>
            <a:ext cx="1616103" cy="274320"/>
          </a:xfrm>
          <a:prstGeom prst="rect">
            <a:avLst/>
          </a:prstGeom>
          <a:noFill/>
          <a:ln/>
        </p:spPr>
        <p:txBody>
          <a:bodyPr wrap="square" lIns="0" tIns="0" rIns="0" bIns="0" rtlCol="0" anchor="t"/>
          <a:lstStyle/>
          <a:p>
            <a:pPr algn="ctr" indent="0" marL="0">
              <a:buNone/>
            </a:pPr>
            <a:r>
              <a:rPr lang="en-US" sz="1100" b="1" dirty="0">
                <a:solidFill>
                  <a:schemeClr val="tx2"/>
                </a:solidFill>
              </a:rPr>
              <a:t>HAS</a:t>
            </a:r>
            <a:endParaRPr lang="en-US" sz="1100" dirty="0"/>
          </a:p>
        </p:txBody>
      </p:sp>
      <p:sp>
        <p:nvSpPr>
          <p:cNvPr id="12" name="Shape 9"/>
          <p:cNvSpPr/>
          <p:nvPr/>
        </p:nvSpPr>
        <p:spPr>
          <a:xfrm>
            <a:off x="2879438" y="1554480"/>
            <a:ext cx="866295" cy="658368"/>
          </a:xfrm>
          <a:prstGeom prst="roundRect">
            <a:avLst>
              <a:gd name="adj" fmla="val 13889"/>
            </a:avLst>
          </a:prstGeom>
          <a:solidFill>
            <a:schemeClr val="accent6"/>
          </a:solidFill>
          <a:ln w="12700">
            <a:solidFill>
              <a:srgbClr val="FFFFFF">
                <a:alpha val="0"/>
              </a:srgbClr>
            </a:solidFill>
            <a:prstDash val="solid"/>
          </a:ln>
        </p:spPr>
      </p:sp>
      <p:sp>
        <p:nvSpPr>
          <p:cNvPr id="13" name="Text 10"/>
          <p:cNvSpPr txBox="1"/>
          <p:nvPr/>
        </p:nvSpPr>
        <p:spPr>
          <a:xfrm>
            <a:off x="2879438" y="1554480"/>
            <a:ext cx="866295" cy="658368"/>
          </a:xfrm>
          <a:prstGeom prst="rect">
            <a:avLst/>
          </a:prstGeom>
          <a:noFill/>
          <a:ln/>
        </p:spPr>
        <p:txBody>
          <a:bodyPr wrap="square" lIns="0" tIns="0" rIns="0" bIns="0" rtlCol="0" anchor="ctr"/>
          <a:lstStyle/>
          <a:p>
            <a:pPr algn="ctr" indent="0" marL="0">
              <a:buNone/>
            </a:pPr>
            <a:r>
              <a:rPr lang="en-US" sz="2400" b="1" i="1" dirty="0">
                <a:solidFill>
                  <a:schemeClr val="bg1"/>
                </a:solidFill>
              </a:rPr>
              <a:t>n’t</a:t>
            </a:r>
            <a:endParaRPr lang="en-US" sz="2400" dirty="0"/>
          </a:p>
        </p:txBody>
      </p:sp>
      <p:sp>
        <p:nvSpPr>
          <p:cNvPr id="14" name="Text 11"/>
          <p:cNvSpPr txBox="1"/>
          <p:nvPr/>
        </p:nvSpPr>
        <p:spPr>
          <a:xfrm>
            <a:off x="2559398" y="2249424"/>
            <a:ext cx="1506375" cy="274320"/>
          </a:xfrm>
          <a:prstGeom prst="rect">
            <a:avLst/>
          </a:prstGeom>
          <a:noFill/>
          <a:ln/>
        </p:spPr>
        <p:txBody>
          <a:bodyPr wrap="square" lIns="0" tIns="0" rIns="0" bIns="0" rtlCol="0" anchor="t"/>
          <a:lstStyle/>
          <a:p>
            <a:pPr algn="ctr" indent="0" marL="0">
              <a:buNone/>
            </a:pPr>
            <a:r>
              <a:rPr lang="en-US" sz="1100" b="1" dirty="0">
                <a:solidFill>
                  <a:schemeClr val="accent6"/>
                </a:solidFill>
              </a:rPr>
              <a:t>NOT</a:t>
            </a:r>
            <a:endParaRPr lang="en-US" sz="1100" dirty="0"/>
          </a:p>
        </p:txBody>
      </p:sp>
      <p:sp>
        <p:nvSpPr>
          <p:cNvPr id="15" name="Shape 12"/>
          <p:cNvSpPr/>
          <p:nvPr/>
        </p:nvSpPr>
        <p:spPr>
          <a:xfrm>
            <a:off x="3818886" y="1554480"/>
            <a:ext cx="1934607" cy="658368"/>
          </a:xfrm>
          <a:prstGeom prst="roundRect">
            <a:avLst>
              <a:gd name="adj" fmla="val 13889"/>
            </a:avLst>
          </a:prstGeom>
          <a:solidFill>
            <a:schemeClr val="accent2"/>
          </a:solidFill>
          <a:ln w="12700">
            <a:solidFill>
              <a:srgbClr val="FFFFFF">
                <a:alpha val="0"/>
              </a:srgbClr>
            </a:solidFill>
            <a:prstDash val="solid"/>
          </a:ln>
        </p:spPr>
      </p:sp>
      <p:sp>
        <p:nvSpPr>
          <p:cNvPr id="16" name="Text 13"/>
          <p:cNvSpPr txBox="1"/>
          <p:nvPr/>
        </p:nvSpPr>
        <p:spPr>
          <a:xfrm>
            <a:off x="3818886" y="1554480"/>
            <a:ext cx="1934607" cy="658368"/>
          </a:xfrm>
          <a:prstGeom prst="rect">
            <a:avLst/>
          </a:prstGeom>
          <a:noFill/>
          <a:ln/>
        </p:spPr>
        <p:txBody>
          <a:bodyPr wrap="square" lIns="0" tIns="0" rIns="0" bIns="0" rtlCol="0" anchor="ctr"/>
          <a:lstStyle/>
          <a:p>
            <a:pPr algn="ctr" indent="0" marL="0">
              <a:buNone/>
            </a:pPr>
            <a:r>
              <a:rPr lang="en-US" sz="2400" b="1" i="1" dirty="0">
                <a:solidFill>
                  <a:schemeClr val="bg1"/>
                </a:solidFill>
              </a:rPr>
              <a:t>finished</a:t>
            </a:r>
            <a:endParaRPr lang="en-US" sz="2400" dirty="0"/>
          </a:p>
        </p:txBody>
      </p:sp>
      <p:sp>
        <p:nvSpPr>
          <p:cNvPr id="17" name="Text 14"/>
          <p:cNvSpPr txBox="1"/>
          <p:nvPr/>
        </p:nvSpPr>
        <p:spPr>
          <a:xfrm>
            <a:off x="3498846" y="2249424"/>
            <a:ext cx="2574687" cy="274320"/>
          </a:xfrm>
          <a:prstGeom prst="rect">
            <a:avLst/>
          </a:prstGeom>
          <a:noFill/>
          <a:ln/>
        </p:spPr>
        <p:txBody>
          <a:bodyPr wrap="square" lIns="0" tIns="0" rIns="0" bIns="0" rtlCol="0" anchor="t"/>
          <a:lstStyle/>
          <a:p>
            <a:pPr algn="ctr" indent="0" marL="0">
              <a:buNone/>
            </a:pPr>
            <a:r>
              <a:rPr lang="en-US" sz="1100" b="1" dirty="0">
                <a:solidFill>
                  <a:schemeClr val="accent2"/>
                </a:solidFill>
              </a:rPr>
              <a:t>PARTICIPLE</a:t>
            </a:r>
            <a:endParaRPr lang="en-US" sz="1100" dirty="0"/>
          </a:p>
        </p:txBody>
      </p:sp>
      <p:sp>
        <p:nvSpPr>
          <p:cNvPr id="18" name="Shape 15"/>
          <p:cNvSpPr/>
          <p:nvPr/>
        </p:nvSpPr>
        <p:spPr>
          <a:xfrm>
            <a:off x="5826645" y="1554480"/>
            <a:ext cx="2175540" cy="658368"/>
          </a:xfrm>
          <a:prstGeom prst="roundRect">
            <a:avLst>
              <a:gd name="adj" fmla="val 13889"/>
            </a:avLst>
          </a:prstGeom>
          <a:solidFill>
            <a:srgbClr val="FFFFFF"/>
          </a:solidFill>
          <a:ln w="15875">
            <a:solidFill>
              <a:srgbClr val="D5DCE6"/>
            </a:solidFill>
            <a:prstDash val="solid"/>
          </a:ln>
        </p:spPr>
      </p:sp>
      <p:sp>
        <p:nvSpPr>
          <p:cNvPr id="19" name="Text 16"/>
          <p:cNvSpPr txBox="1"/>
          <p:nvPr/>
        </p:nvSpPr>
        <p:spPr>
          <a:xfrm>
            <a:off x="5826645" y="1554480"/>
            <a:ext cx="2175540" cy="658368"/>
          </a:xfrm>
          <a:prstGeom prst="rect">
            <a:avLst/>
          </a:prstGeom>
          <a:noFill/>
          <a:ln/>
        </p:spPr>
        <p:txBody>
          <a:bodyPr wrap="square" lIns="0" tIns="0" rIns="0" bIns="0" rtlCol="0" anchor="ctr"/>
          <a:lstStyle/>
          <a:p>
            <a:pPr algn="ctr" indent="0" marL="0">
              <a:buNone/>
            </a:pPr>
            <a:r>
              <a:rPr lang="en-US" sz="2400" i="1" dirty="0">
                <a:solidFill>
                  <a:schemeClr val="tx1"/>
                </a:solidFill>
              </a:rPr>
              <a:t>the report.</a:t>
            </a:r>
            <a:endParaRPr lang="en-US" sz="2400" dirty="0"/>
          </a:p>
        </p:txBody>
      </p:sp>
      <p:sp>
        <p:nvSpPr>
          <p:cNvPr id="20" name="Text 17"/>
          <p:cNvSpPr txBox="1"/>
          <p:nvPr/>
        </p:nvSpPr>
        <p:spPr>
          <a:xfrm>
            <a:off x="548640" y="2788920"/>
            <a:ext cx="365760" cy="640080"/>
          </a:xfrm>
          <a:prstGeom prst="rect">
            <a:avLst/>
          </a:prstGeom>
          <a:noFill/>
          <a:ln/>
        </p:spPr>
        <p:txBody>
          <a:bodyPr wrap="square" lIns="0" tIns="0" rIns="0" bIns="0" rtlCol="0" anchor="ctr"/>
          <a:lstStyle/>
          <a:p>
            <a:pPr algn="ctr" indent="0" marL="0">
              <a:buNone/>
            </a:pPr>
            <a:r>
              <a:rPr lang="en-US" sz="2600" b="1" dirty="0">
                <a:solidFill>
                  <a:schemeClr val="accent3"/>
                </a:solidFill>
              </a:rPr>
              <a:t>?</a:t>
            </a:r>
            <a:endParaRPr lang="en-US" sz="2600" dirty="0"/>
          </a:p>
        </p:txBody>
      </p:sp>
      <p:sp>
        <p:nvSpPr>
          <p:cNvPr id="21" name="Shape 18"/>
          <p:cNvSpPr/>
          <p:nvPr/>
        </p:nvSpPr>
        <p:spPr>
          <a:xfrm>
            <a:off x="1005840" y="2788920"/>
            <a:ext cx="976023" cy="658368"/>
          </a:xfrm>
          <a:prstGeom prst="roundRect">
            <a:avLst>
              <a:gd name="adj" fmla="val 13889"/>
            </a:avLst>
          </a:prstGeom>
          <a:solidFill>
            <a:schemeClr val="tx2"/>
          </a:solidFill>
          <a:ln w="12700">
            <a:solidFill>
              <a:srgbClr val="FFFFFF">
                <a:alpha val="0"/>
              </a:srgbClr>
            </a:solidFill>
            <a:prstDash val="solid"/>
          </a:ln>
        </p:spPr>
      </p:sp>
      <p:sp>
        <p:nvSpPr>
          <p:cNvPr id="22" name="Text 19"/>
          <p:cNvSpPr txBox="1"/>
          <p:nvPr/>
        </p:nvSpPr>
        <p:spPr>
          <a:xfrm>
            <a:off x="1005840" y="2788920"/>
            <a:ext cx="976023" cy="658368"/>
          </a:xfrm>
          <a:prstGeom prst="rect">
            <a:avLst/>
          </a:prstGeom>
          <a:noFill/>
          <a:ln/>
        </p:spPr>
        <p:txBody>
          <a:bodyPr wrap="square" lIns="0" tIns="0" rIns="0" bIns="0" rtlCol="0" anchor="ctr"/>
          <a:lstStyle/>
          <a:p>
            <a:pPr algn="ctr" indent="0" marL="0">
              <a:buNone/>
            </a:pPr>
            <a:r>
              <a:rPr lang="en-US" sz="2400" b="1" i="1" dirty="0">
                <a:solidFill>
                  <a:schemeClr val="bg1"/>
                </a:solidFill>
              </a:rPr>
              <a:t>Has</a:t>
            </a:r>
            <a:endParaRPr lang="en-US" sz="2400" dirty="0"/>
          </a:p>
        </p:txBody>
      </p:sp>
      <p:sp>
        <p:nvSpPr>
          <p:cNvPr id="23" name="Text 20"/>
          <p:cNvSpPr txBox="1"/>
          <p:nvPr/>
        </p:nvSpPr>
        <p:spPr>
          <a:xfrm>
            <a:off x="685800" y="3483864"/>
            <a:ext cx="1616103" cy="274320"/>
          </a:xfrm>
          <a:prstGeom prst="rect">
            <a:avLst/>
          </a:prstGeom>
          <a:noFill/>
          <a:ln/>
        </p:spPr>
        <p:txBody>
          <a:bodyPr wrap="square" lIns="0" tIns="0" rIns="0" bIns="0" rtlCol="0" anchor="t"/>
          <a:lstStyle/>
          <a:p>
            <a:pPr algn="ctr" indent="0" marL="0">
              <a:buNone/>
            </a:pPr>
            <a:r>
              <a:rPr lang="en-US" sz="1100" b="1" dirty="0">
                <a:solidFill>
                  <a:schemeClr val="tx2"/>
                </a:solidFill>
              </a:rPr>
              <a:t>HAS</a:t>
            </a:r>
            <a:endParaRPr lang="en-US" sz="1100" dirty="0"/>
          </a:p>
        </p:txBody>
      </p:sp>
      <p:sp>
        <p:nvSpPr>
          <p:cNvPr id="24" name="Shape 21"/>
          <p:cNvSpPr/>
          <p:nvPr/>
        </p:nvSpPr>
        <p:spPr>
          <a:xfrm>
            <a:off x="2055015" y="2788920"/>
            <a:ext cx="806135" cy="658368"/>
          </a:xfrm>
          <a:prstGeom prst="roundRect">
            <a:avLst>
              <a:gd name="adj" fmla="val 13889"/>
            </a:avLst>
          </a:prstGeom>
          <a:solidFill>
            <a:srgbClr val="FFFFFF"/>
          </a:solidFill>
          <a:ln w="15875">
            <a:solidFill>
              <a:srgbClr val="D5DCE6"/>
            </a:solidFill>
            <a:prstDash val="solid"/>
          </a:ln>
        </p:spPr>
      </p:sp>
      <p:sp>
        <p:nvSpPr>
          <p:cNvPr id="25" name="Text 22"/>
          <p:cNvSpPr txBox="1"/>
          <p:nvPr/>
        </p:nvSpPr>
        <p:spPr>
          <a:xfrm>
            <a:off x="2055015" y="2788920"/>
            <a:ext cx="806135" cy="658368"/>
          </a:xfrm>
          <a:prstGeom prst="rect">
            <a:avLst/>
          </a:prstGeom>
          <a:noFill/>
          <a:ln/>
        </p:spPr>
        <p:txBody>
          <a:bodyPr wrap="square" lIns="0" tIns="0" rIns="0" bIns="0" rtlCol="0" anchor="ctr"/>
          <a:lstStyle/>
          <a:p>
            <a:pPr algn="ctr" indent="0" marL="0">
              <a:buNone/>
            </a:pPr>
            <a:r>
              <a:rPr lang="en-US" sz="2400" i="1" dirty="0">
                <a:solidFill>
                  <a:schemeClr val="tx1"/>
                </a:solidFill>
              </a:rPr>
              <a:t>she</a:t>
            </a:r>
            <a:endParaRPr lang="en-US" sz="2400" dirty="0"/>
          </a:p>
        </p:txBody>
      </p:sp>
      <p:sp>
        <p:nvSpPr>
          <p:cNvPr id="26" name="Text 23"/>
          <p:cNvSpPr txBox="1"/>
          <p:nvPr/>
        </p:nvSpPr>
        <p:spPr>
          <a:xfrm>
            <a:off x="1734975" y="3483864"/>
            <a:ext cx="1446215" cy="274320"/>
          </a:xfrm>
          <a:prstGeom prst="rect">
            <a:avLst/>
          </a:prstGeom>
          <a:noFill/>
          <a:ln/>
        </p:spPr>
        <p:txBody>
          <a:bodyPr wrap="square" lIns="0" tIns="0" rIns="0" bIns="0" rtlCol="0" anchor="t"/>
          <a:lstStyle/>
          <a:p>
            <a:pPr algn="ctr" indent="0" marL="0">
              <a:buNone/>
            </a:pPr>
            <a:r>
              <a:rPr lang="en-US" sz="1100" b="1" dirty="0">
                <a:solidFill>
                  <a:schemeClr val="accent5"/>
                </a:solidFill>
              </a:rPr>
              <a:t>SUBJECT</a:t>
            </a:r>
            <a:endParaRPr lang="en-US" sz="1100" dirty="0"/>
          </a:p>
        </p:txBody>
      </p:sp>
      <p:sp>
        <p:nvSpPr>
          <p:cNvPr id="27" name="Shape 24"/>
          <p:cNvSpPr/>
          <p:nvPr/>
        </p:nvSpPr>
        <p:spPr>
          <a:xfrm>
            <a:off x="2934302" y="2788920"/>
            <a:ext cx="1934607" cy="658368"/>
          </a:xfrm>
          <a:prstGeom prst="roundRect">
            <a:avLst>
              <a:gd name="adj" fmla="val 13889"/>
            </a:avLst>
          </a:prstGeom>
          <a:solidFill>
            <a:schemeClr val="accent2"/>
          </a:solidFill>
          <a:ln w="12700">
            <a:solidFill>
              <a:srgbClr val="FFFFFF">
                <a:alpha val="0"/>
              </a:srgbClr>
            </a:solidFill>
            <a:prstDash val="solid"/>
          </a:ln>
        </p:spPr>
      </p:sp>
      <p:sp>
        <p:nvSpPr>
          <p:cNvPr id="28" name="Text 25"/>
          <p:cNvSpPr txBox="1"/>
          <p:nvPr/>
        </p:nvSpPr>
        <p:spPr>
          <a:xfrm>
            <a:off x="2934302" y="2788920"/>
            <a:ext cx="1934607" cy="658368"/>
          </a:xfrm>
          <a:prstGeom prst="rect">
            <a:avLst/>
          </a:prstGeom>
          <a:noFill/>
          <a:ln/>
        </p:spPr>
        <p:txBody>
          <a:bodyPr wrap="square" lIns="0" tIns="0" rIns="0" bIns="0" rtlCol="0" anchor="ctr"/>
          <a:lstStyle/>
          <a:p>
            <a:pPr algn="ctr" indent="0" marL="0">
              <a:buNone/>
            </a:pPr>
            <a:r>
              <a:rPr lang="en-US" sz="2400" b="1" i="1" dirty="0">
                <a:solidFill>
                  <a:schemeClr val="bg1"/>
                </a:solidFill>
              </a:rPr>
              <a:t>finished</a:t>
            </a:r>
            <a:endParaRPr lang="en-US" sz="2400" dirty="0"/>
          </a:p>
        </p:txBody>
      </p:sp>
      <p:sp>
        <p:nvSpPr>
          <p:cNvPr id="29" name="Text 26"/>
          <p:cNvSpPr txBox="1"/>
          <p:nvPr/>
        </p:nvSpPr>
        <p:spPr>
          <a:xfrm>
            <a:off x="2614262" y="3483864"/>
            <a:ext cx="2574687" cy="274320"/>
          </a:xfrm>
          <a:prstGeom prst="rect">
            <a:avLst/>
          </a:prstGeom>
          <a:noFill/>
          <a:ln/>
        </p:spPr>
        <p:txBody>
          <a:bodyPr wrap="square" lIns="0" tIns="0" rIns="0" bIns="0" rtlCol="0" anchor="t"/>
          <a:lstStyle/>
          <a:p>
            <a:pPr algn="ctr" indent="0" marL="0">
              <a:buNone/>
            </a:pPr>
            <a:r>
              <a:rPr lang="en-US" sz="1100" b="1" dirty="0">
                <a:solidFill>
                  <a:schemeClr val="accent2"/>
                </a:solidFill>
              </a:rPr>
              <a:t>PARTICIPLE</a:t>
            </a:r>
            <a:endParaRPr lang="en-US" sz="1100" dirty="0"/>
          </a:p>
        </p:txBody>
      </p:sp>
      <p:sp>
        <p:nvSpPr>
          <p:cNvPr id="30" name="Shape 27"/>
          <p:cNvSpPr/>
          <p:nvPr/>
        </p:nvSpPr>
        <p:spPr>
          <a:xfrm>
            <a:off x="4942061" y="2788920"/>
            <a:ext cx="2175540" cy="658368"/>
          </a:xfrm>
          <a:prstGeom prst="roundRect">
            <a:avLst>
              <a:gd name="adj" fmla="val 13889"/>
            </a:avLst>
          </a:prstGeom>
          <a:solidFill>
            <a:srgbClr val="FFFFFF"/>
          </a:solidFill>
          <a:ln w="15875">
            <a:solidFill>
              <a:srgbClr val="D5DCE6"/>
            </a:solidFill>
            <a:prstDash val="solid"/>
          </a:ln>
        </p:spPr>
      </p:sp>
      <p:sp>
        <p:nvSpPr>
          <p:cNvPr id="31" name="Text 28"/>
          <p:cNvSpPr txBox="1"/>
          <p:nvPr/>
        </p:nvSpPr>
        <p:spPr>
          <a:xfrm>
            <a:off x="4942061" y="2788920"/>
            <a:ext cx="2175540" cy="658368"/>
          </a:xfrm>
          <a:prstGeom prst="rect">
            <a:avLst/>
          </a:prstGeom>
          <a:noFill/>
          <a:ln/>
        </p:spPr>
        <p:txBody>
          <a:bodyPr wrap="square" lIns="0" tIns="0" rIns="0" bIns="0" rtlCol="0" anchor="ctr"/>
          <a:lstStyle/>
          <a:p>
            <a:pPr algn="ctr" indent="0" marL="0">
              <a:buNone/>
            </a:pPr>
            <a:r>
              <a:rPr lang="en-US" sz="2400" i="1" dirty="0">
                <a:solidFill>
                  <a:schemeClr val="tx1"/>
                </a:solidFill>
              </a:rPr>
              <a:t>the report?</a:t>
            </a:r>
            <a:endParaRPr lang="en-US" sz="2400" dirty="0"/>
          </a:p>
        </p:txBody>
      </p:sp>
      <p:sp>
        <p:nvSpPr>
          <p:cNvPr id="32" name="Shape 29"/>
          <p:cNvSpPr/>
          <p:nvPr/>
        </p:nvSpPr>
        <p:spPr>
          <a:xfrm>
            <a:off x="1493852" y="2450592"/>
            <a:ext cx="964231" cy="640080"/>
          </a:xfrm>
          <a:prstGeom prst="arc">
            <a:avLst>
              <a:gd name="adj1" fmla="val 10800000"/>
              <a:gd name="adj2" fmla="val 21600000"/>
            </a:avLst>
          </a:prstGeom>
          <a:solidFill>
            <a:srgbClr val="FFFFFF">
              <a:alpha val="0"/>
            </a:srgbClr>
          </a:solidFill>
          <a:ln w="25400">
            <a:solidFill>
              <a:srgbClr val="17375E"/>
            </a:solidFill>
            <a:prstDash val="solid"/>
            <a:headEnd type="triangle"/>
          </a:ln>
        </p:spPr>
      </p:sp>
      <p:sp>
        <p:nvSpPr>
          <p:cNvPr id="33" name="Shape 30"/>
          <p:cNvSpPr/>
          <p:nvPr/>
        </p:nvSpPr>
        <p:spPr>
          <a:xfrm>
            <a:off x="7863840" y="2880360"/>
            <a:ext cx="2062418" cy="438912"/>
          </a:xfrm>
          <a:prstGeom prst="roundRect">
            <a:avLst>
              <a:gd name="adj" fmla="val 25000"/>
            </a:avLst>
          </a:prstGeom>
          <a:solidFill>
            <a:schemeClr val="accent3"/>
          </a:solidFill>
          <a:ln w="12700">
            <a:solidFill>
              <a:srgbClr val="FFFFFF">
                <a:alpha val="0"/>
              </a:srgbClr>
            </a:solidFill>
            <a:prstDash val="solid"/>
          </a:ln>
        </p:spPr>
      </p:sp>
      <p:sp>
        <p:nvSpPr>
          <p:cNvPr id="34" name="Text 31"/>
          <p:cNvSpPr txBox="1"/>
          <p:nvPr/>
        </p:nvSpPr>
        <p:spPr>
          <a:xfrm>
            <a:off x="7863840" y="2880360"/>
            <a:ext cx="2062418" cy="438912"/>
          </a:xfrm>
          <a:prstGeom prst="rect">
            <a:avLst/>
          </a:prstGeom>
          <a:noFill/>
          <a:ln/>
        </p:spPr>
        <p:txBody>
          <a:bodyPr wrap="square" lIns="0" tIns="0" rIns="0" bIns="0" rtlCol="0" anchor="ctr"/>
          <a:lstStyle/>
          <a:p>
            <a:pPr algn="ctr" indent="0" marL="0">
              <a:buNone/>
            </a:pPr>
            <a:r>
              <a:rPr lang="en-US" sz="1600" b="1" i="1" dirty="0">
                <a:solidFill>
                  <a:schemeClr val="bg1"/>
                </a:solidFill>
              </a:rPr>
              <a:t>Yes, she has.</a:t>
            </a:r>
            <a:endParaRPr lang="en-US" sz="1600" dirty="0"/>
          </a:p>
        </p:txBody>
      </p:sp>
      <p:sp>
        <p:nvSpPr>
          <p:cNvPr id="35" name="Shape 32"/>
          <p:cNvSpPr/>
          <p:nvPr/>
        </p:nvSpPr>
        <p:spPr>
          <a:xfrm>
            <a:off x="7863840" y="3429000"/>
            <a:ext cx="2318041" cy="438912"/>
          </a:xfrm>
          <a:prstGeom prst="roundRect">
            <a:avLst>
              <a:gd name="adj" fmla="val 25000"/>
            </a:avLst>
          </a:prstGeom>
          <a:solidFill>
            <a:schemeClr val="accent6"/>
          </a:solidFill>
          <a:ln w="12700">
            <a:solidFill>
              <a:srgbClr val="FFFFFF">
                <a:alpha val="0"/>
              </a:srgbClr>
            </a:solidFill>
            <a:prstDash val="solid"/>
          </a:ln>
        </p:spPr>
      </p:sp>
      <p:sp>
        <p:nvSpPr>
          <p:cNvPr id="36" name="Text 33"/>
          <p:cNvSpPr txBox="1"/>
          <p:nvPr/>
        </p:nvSpPr>
        <p:spPr>
          <a:xfrm>
            <a:off x="7863840" y="3429000"/>
            <a:ext cx="2318041" cy="438912"/>
          </a:xfrm>
          <a:prstGeom prst="rect">
            <a:avLst/>
          </a:prstGeom>
          <a:noFill/>
          <a:ln/>
        </p:spPr>
        <p:txBody>
          <a:bodyPr wrap="square" lIns="0" tIns="0" rIns="0" bIns="0" rtlCol="0" anchor="ctr"/>
          <a:lstStyle/>
          <a:p>
            <a:pPr algn="ctr" indent="0" marL="0">
              <a:buNone/>
            </a:pPr>
            <a:r>
              <a:rPr lang="en-US" sz="1600" b="1" i="1" dirty="0">
                <a:solidFill>
                  <a:schemeClr val="bg1"/>
                </a:solidFill>
              </a:rPr>
              <a:t>No, she hasn’t.</a:t>
            </a:r>
            <a:endParaRPr lang="en-US" sz="1600" dirty="0"/>
          </a:p>
        </p:txBody>
      </p:sp>
      <p:sp>
        <p:nvSpPr>
          <p:cNvPr id="37" name="Shape 34"/>
          <p:cNvSpPr/>
          <p:nvPr/>
        </p:nvSpPr>
        <p:spPr>
          <a:xfrm>
            <a:off x="548640" y="4023360"/>
            <a:ext cx="11091672" cy="1508760"/>
          </a:xfrm>
          <a:prstGeom prst="roundRect">
            <a:avLst>
              <a:gd name="adj" fmla="val 7273"/>
            </a:avLst>
          </a:prstGeom>
          <a:solidFill>
            <a:srgbClr val="E8F4EC"/>
          </a:solidFill>
          <a:ln w="19050">
            <a:solidFill>
              <a:srgbClr val="2E7D4F"/>
            </a:solidFill>
            <a:prstDash val="solid"/>
          </a:ln>
        </p:spPr>
      </p:sp>
      <p:sp>
        <p:nvSpPr>
          <p:cNvPr id="38" name="Text 35"/>
          <p:cNvSpPr txBox="1"/>
          <p:nvPr/>
        </p:nvSpPr>
        <p:spPr>
          <a:xfrm>
            <a:off x="777240" y="4069080"/>
            <a:ext cx="4572000" cy="384048"/>
          </a:xfrm>
          <a:prstGeom prst="rect">
            <a:avLst/>
          </a:prstGeom>
          <a:noFill/>
          <a:ln/>
        </p:spPr>
        <p:txBody>
          <a:bodyPr wrap="square" lIns="0" tIns="0" rIns="0" bIns="0" rtlCol="0" anchor="ctr"/>
          <a:lstStyle/>
          <a:p>
            <a:pPr algn="l" indent="0" marL="0">
              <a:buNone/>
            </a:pPr>
            <a:r>
              <a:rPr lang="en-US" sz="1500" b="1" dirty="0">
                <a:solidFill>
                  <a:schemeClr val="accent3"/>
                </a:solidFill>
              </a:rPr>
              <a:t>Wh- questions: Q · A · S · participle</a:t>
            </a:r>
            <a:endParaRPr lang="en-US" sz="1500" dirty="0"/>
          </a:p>
        </p:txBody>
      </p:sp>
      <p:sp>
        <p:nvSpPr>
          <p:cNvPr id="39" name="Shape 36"/>
          <p:cNvSpPr/>
          <p:nvPr/>
        </p:nvSpPr>
        <p:spPr>
          <a:xfrm>
            <a:off x="822960" y="4526280"/>
            <a:ext cx="1806796" cy="603504"/>
          </a:xfrm>
          <a:prstGeom prst="roundRect">
            <a:avLst>
              <a:gd name="adj" fmla="val 15152"/>
            </a:avLst>
          </a:prstGeom>
          <a:solidFill>
            <a:schemeClr val="accent3"/>
          </a:solidFill>
          <a:ln w="12700">
            <a:solidFill>
              <a:srgbClr val="FFFFFF">
                <a:alpha val="0"/>
              </a:srgbClr>
            </a:solidFill>
            <a:prstDash val="solid"/>
          </a:ln>
        </p:spPr>
      </p:sp>
      <p:sp>
        <p:nvSpPr>
          <p:cNvPr id="40" name="Text 37"/>
          <p:cNvSpPr txBox="1"/>
          <p:nvPr/>
        </p:nvSpPr>
        <p:spPr>
          <a:xfrm>
            <a:off x="822960" y="4526280"/>
            <a:ext cx="1806796" cy="603504"/>
          </a:xfrm>
          <a:prstGeom prst="rect">
            <a:avLst/>
          </a:prstGeom>
          <a:noFill/>
          <a:ln/>
        </p:spPr>
        <p:txBody>
          <a:bodyPr wrap="square" lIns="0" tIns="0" rIns="0" bIns="0" rtlCol="0" anchor="ctr"/>
          <a:lstStyle/>
          <a:p>
            <a:pPr algn="ctr" indent="0" marL="0">
              <a:buNone/>
            </a:pPr>
            <a:r>
              <a:rPr lang="en-US" sz="2200" b="1" i="1" dirty="0">
                <a:solidFill>
                  <a:schemeClr val="bg1"/>
                </a:solidFill>
              </a:rPr>
              <a:t>How long</a:t>
            </a:r>
            <a:endParaRPr lang="en-US" sz="2200" dirty="0"/>
          </a:p>
        </p:txBody>
      </p:sp>
      <p:sp>
        <p:nvSpPr>
          <p:cNvPr id="41" name="Text 38"/>
          <p:cNvSpPr txBox="1"/>
          <p:nvPr/>
        </p:nvSpPr>
        <p:spPr>
          <a:xfrm>
            <a:off x="502920" y="5166360"/>
            <a:ext cx="2446876" cy="274320"/>
          </a:xfrm>
          <a:prstGeom prst="rect">
            <a:avLst/>
          </a:prstGeom>
          <a:noFill/>
          <a:ln/>
        </p:spPr>
        <p:txBody>
          <a:bodyPr wrap="square" lIns="0" tIns="0" rIns="0" bIns="0" rtlCol="0" anchor="t"/>
          <a:lstStyle/>
          <a:p>
            <a:pPr algn="ctr" indent="0" marL="0">
              <a:buNone/>
            </a:pPr>
            <a:r>
              <a:rPr lang="en-US" sz="1200" b="1" dirty="0">
                <a:solidFill>
                  <a:schemeClr val="accent3"/>
                </a:solidFill>
              </a:rPr>
              <a:t>Q</a:t>
            </a:r>
            <a:endParaRPr lang="en-US" sz="1200" dirty="0"/>
          </a:p>
        </p:txBody>
      </p:sp>
      <p:sp>
        <p:nvSpPr>
          <p:cNvPr id="42" name="Shape 39"/>
          <p:cNvSpPr/>
          <p:nvPr/>
        </p:nvSpPr>
        <p:spPr>
          <a:xfrm>
            <a:off x="2702908" y="4526280"/>
            <a:ext cx="1103834" cy="603504"/>
          </a:xfrm>
          <a:prstGeom prst="roundRect">
            <a:avLst>
              <a:gd name="adj" fmla="val 15152"/>
            </a:avLst>
          </a:prstGeom>
          <a:solidFill>
            <a:schemeClr val="tx2"/>
          </a:solidFill>
          <a:ln w="12700">
            <a:solidFill>
              <a:srgbClr val="FFFFFF">
                <a:alpha val="0"/>
              </a:srgbClr>
            </a:solidFill>
            <a:prstDash val="solid"/>
          </a:ln>
        </p:spPr>
      </p:sp>
      <p:sp>
        <p:nvSpPr>
          <p:cNvPr id="43" name="Text 40"/>
          <p:cNvSpPr txBox="1"/>
          <p:nvPr/>
        </p:nvSpPr>
        <p:spPr>
          <a:xfrm>
            <a:off x="2702908" y="4526280"/>
            <a:ext cx="1103834" cy="603504"/>
          </a:xfrm>
          <a:prstGeom prst="rect">
            <a:avLst/>
          </a:prstGeom>
          <a:noFill/>
          <a:ln/>
        </p:spPr>
        <p:txBody>
          <a:bodyPr wrap="square" lIns="0" tIns="0" rIns="0" bIns="0" rtlCol="0" anchor="ctr"/>
          <a:lstStyle/>
          <a:p>
            <a:pPr algn="ctr" indent="0" marL="0">
              <a:buNone/>
            </a:pPr>
            <a:r>
              <a:rPr lang="en-US" sz="2200" b="1" i="1" dirty="0">
                <a:solidFill>
                  <a:schemeClr val="bg1"/>
                </a:solidFill>
              </a:rPr>
              <a:t>have</a:t>
            </a:r>
            <a:endParaRPr lang="en-US" sz="2200" dirty="0"/>
          </a:p>
        </p:txBody>
      </p:sp>
      <p:sp>
        <p:nvSpPr>
          <p:cNvPr id="44" name="Text 41"/>
          <p:cNvSpPr txBox="1"/>
          <p:nvPr/>
        </p:nvSpPr>
        <p:spPr>
          <a:xfrm>
            <a:off x="2382868" y="5166360"/>
            <a:ext cx="1743914" cy="274320"/>
          </a:xfrm>
          <a:prstGeom prst="rect">
            <a:avLst/>
          </a:prstGeom>
          <a:noFill/>
          <a:ln/>
        </p:spPr>
        <p:txBody>
          <a:bodyPr wrap="square" lIns="0" tIns="0" rIns="0" bIns="0" rtlCol="0" anchor="t"/>
          <a:lstStyle/>
          <a:p>
            <a:pPr algn="ctr" indent="0" marL="0">
              <a:buNone/>
            </a:pPr>
            <a:r>
              <a:rPr lang="en-US" sz="1200" b="1" dirty="0">
                <a:solidFill>
                  <a:schemeClr val="tx2"/>
                </a:solidFill>
              </a:rPr>
              <a:t>A</a:t>
            </a:r>
            <a:endParaRPr lang="en-US" sz="1200" dirty="0"/>
          </a:p>
        </p:txBody>
      </p:sp>
      <p:sp>
        <p:nvSpPr>
          <p:cNvPr id="45" name="Shape 42"/>
          <p:cNvSpPr/>
          <p:nvPr/>
        </p:nvSpPr>
        <p:spPr>
          <a:xfrm>
            <a:off x="3879894" y="4526280"/>
            <a:ext cx="763341" cy="603504"/>
          </a:xfrm>
          <a:prstGeom prst="roundRect">
            <a:avLst>
              <a:gd name="adj" fmla="val 15152"/>
            </a:avLst>
          </a:prstGeom>
          <a:solidFill>
            <a:srgbClr val="FFFFFF"/>
          </a:solidFill>
          <a:ln w="15875">
            <a:solidFill>
              <a:srgbClr val="D5DCE6"/>
            </a:solidFill>
            <a:prstDash val="solid"/>
          </a:ln>
        </p:spPr>
      </p:sp>
      <p:sp>
        <p:nvSpPr>
          <p:cNvPr id="46" name="Text 43"/>
          <p:cNvSpPr txBox="1"/>
          <p:nvPr/>
        </p:nvSpPr>
        <p:spPr>
          <a:xfrm>
            <a:off x="3879894" y="4526280"/>
            <a:ext cx="763341" cy="603504"/>
          </a:xfrm>
          <a:prstGeom prst="rect">
            <a:avLst/>
          </a:prstGeom>
          <a:noFill/>
          <a:ln/>
        </p:spPr>
        <p:txBody>
          <a:bodyPr wrap="square" lIns="0" tIns="0" rIns="0" bIns="0" rtlCol="0" anchor="ctr"/>
          <a:lstStyle/>
          <a:p>
            <a:pPr algn="ctr" indent="0" marL="0">
              <a:buNone/>
            </a:pPr>
            <a:r>
              <a:rPr lang="en-US" sz="2200" i="1" dirty="0">
                <a:solidFill>
                  <a:schemeClr val="tx1"/>
                </a:solidFill>
              </a:rPr>
              <a:t>you</a:t>
            </a:r>
            <a:endParaRPr lang="en-US" sz="2200" dirty="0"/>
          </a:p>
        </p:txBody>
      </p:sp>
      <p:sp>
        <p:nvSpPr>
          <p:cNvPr id="47" name="Text 44"/>
          <p:cNvSpPr txBox="1"/>
          <p:nvPr/>
        </p:nvSpPr>
        <p:spPr>
          <a:xfrm>
            <a:off x="3559854" y="5166360"/>
            <a:ext cx="1403421" cy="274320"/>
          </a:xfrm>
          <a:prstGeom prst="rect">
            <a:avLst/>
          </a:prstGeom>
          <a:noFill/>
          <a:ln/>
        </p:spPr>
        <p:txBody>
          <a:bodyPr wrap="square" lIns="0" tIns="0" rIns="0" bIns="0" rtlCol="0" anchor="t"/>
          <a:lstStyle/>
          <a:p>
            <a:pPr algn="ctr" indent="0" marL="0">
              <a:buNone/>
            </a:pPr>
            <a:r>
              <a:rPr lang="en-US" sz="1200" b="1" dirty="0">
                <a:solidFill>
                  <a:schemeClr val="accent5"/>
                </a:solidFill>
              </a:rPr>
              <a:t>S</a:t>
            </a:r>
            <a:endParaRPr lang="en-US" sz="1200" dirty="0"/>
          </a:p>
        </p:txBody>
      </p:sp>
      <p:sp>
        <p:nvSpPr>
          <p:cNvPr id="48" name="Shape 45"/>
          <p:cNvSpPr/>
          <p:nvPr/>
        </p:nvSpPr>
        <p:spPr>
          <a:xfrm>
            <a:off x="4716387" y="4526280"/>
            <a:ext cx="1279575" cy="603504"/>
          </a:xfrm>
          <a:prstGeom prst="roundRect">
            <a:avLst>
              <a:gd name="adj" fmla="val 15152"/>
            </a:avLst>
          </a:prstGeom>
          <a:solidFill>
            <a:schemeClr val="accent2"/>
          </a:solidFill>
          <a:ln w="12700">
            <a:solidFill>
              <a:srgbClr val="FFFFFF">
                <a:alpha val="0"/>
              </a:srgbClr>
            </a:solidFill>
            <a:prstDash val="solid"/>
          </a:ln>
        </p:spPr>
      </p:sp>
      <p:sp>
        <p:nvSpPr>
          <p:cNvPr id="49" name="Text 46"/>
          <p:cNvSpPr txBox="1"/>
          <p:nvPr/>
        </p:nvSpPr>
        <p:spPr>
          <a:xfrm>
            <a:off x="4716387" y="4526280"/>
            <a:ext cx="1279575" cy="603504"/>
          </a:xfrm>
          <a:prstGeom prst="rect">
            <a:avLst/>
          </a:prstGeom>
          <a:noFill/>
          <a:ln/>
        </p:spPr>
        <p:txBody>
          <a:bodyPr wrap="square" lIns="0" tIns="0" rIns="0" bIns="0" rtlCol="0" anchor="ctr"/>
          <a:lstStyle/>
          <a:p>
            <a:pPr algn="ctr" indent="0" marL="0">
              <a:buNone/>
            </a:pPr>
            <a:r>
              <a:rPr lang="en-US" sz="2200" b="1" i="1" dirty="0">
                <a:solidFill>
                  <a:schemeClr val="bg1"/>
                </a:solidFill>
              </a:rPr>
              <a:t>lived</a:t>
            </a:r>
            <a:endParaRPr lang="en-US" sz="2200" dirty="0"/>
          </a:p>
        </p:txBody>
      </p:sp>
      <p:sp>
        <p:nvSpPr>
          <p:cNvPr id="50" name="Text 47"/>
          <p:cNvSpPr txBox="1"/>
          <p:nvPr/>
        </p:nvSpPr>
        <p:spPr>
          <a:xfrm>
            <a:off x="4396347" y="5166360"/>
            <a:ext cx="1919655" cy="274320"/>
          </a:xfrm>
          <a:prstGeom prst="rect">
            <a:avLst/>
          </a:prstGeom>
          <a:noFill/>
          <a:ln/>
        </p:spPr>
        <p:txBody>
          <a:bodyPr wrap="square" lIns="0" tIns="0" rIns="0" bIns="0" rtlCol="0" anchor="t"/>
          <a:lstStyle/>
          <a:p>
            <a:pPr algn="ctr" indent="0" marL="0">
              <a:buNone/>
            </a:pPr>
            <a:r>
              <a:rPr lang="en-US" sz="1200" b="1" dirty="0">
                <a:solidFill>
                  <a:schemeClr val="accent2"/>
                </a:solidFill>
              </a:rPr>
              <a:t>PARTICIPLE</a:t>
            </a:r>
            <a:endParaRPr lang="en-US" sz="1200" dirty="0"/>
          </a:p>
        </p:txBody>
      </p:sp>
      <p:sp>
        <p:nvSpPr>
          <p:cNvPr id="51" name="Shape 48"/>
          <p:cNvSpPr/>
          <p:nvPr/>
        </p:nvSpPr>
        <p:spPr>
          <a:xfrm>
            <a:off x="6069114" y="4526280"/>
            <a:ext cx="1077163" cy="603504"/>
          </a:xfrm>
          <a:prstGeom prst="roundRect">
            <a:avLst>
              <a:gd name="adj" fmla="val 15152"/>
            </a:avLst>
          </a:prstGeom>
          <a:solidFill>
            <a:srgbClr val="FFFFFF"/>
          </a:solidFill>
          <a:ln w="15875">
            <a:solidFill>
              <a:srgbClr val="D5DCE6"/>
            </a:solidFill>
            <a:prstDash val="solid"/>
          </a:ln>
        </p:spPr>
      </p:sp>
      <p:sp>
        <p:nvSpPr>
          <p:cNvPr id="52" name="Text 49"/>
          <p:cNvSpPr txBox="1"/>
          <p:nvPr/>
        </p:nvSpPr>
        <p:spPr>
          <a:xfrm>
            <a:off x="6069114" y="4526280"/>
            <a:ext cx="1077163" cy="603504"/>
          </a:xfrm>
          <a:prstGeom prst="rect">
            <a:avLst/>
          </a:prstGeom>
          <a:noFill/>
          <a:ln/>
        </p:spPr>
        <p:txBody>
          <a:bodyPr wrap="square" lIns="0" tIns="0" rIns="0" bIns="0" rtlCol="0" anchor="ctr"/>
          <a:lstStyle/>
          <a:p>
            <a:pPr algn="ctr" indent="0" marL="0">
              <a:buNone/>
            </a:pPr>
            <a:r>
              <a:rPr lang="en-US" sz="2200" i="1" dirty="0">
                <a:solidFill>
                  <a:schemeClr val="tx1"/>
                </a:solidFill>
              </a:rPr>
              <a:t>here?</a:t>
            </a:r>
            <a:endParaRPr lang="en-US" sz="2200" dirty="0"/>
          </a:p>
        </p:txBody>
      </p:sp>
      <p:sp>
        <p:nvSpPr>
          <p:cNvPr id="53" name="Text 50"/>
          <p:cNvSpPr txBox="1"/>
          <p:nvPr/>
        </p:nvSpPr>
        <p:spPr>
          <a:xfrm>
            <a:off x="8503920" y="4434840"/>
            <a:ext cx="3017520" cy="1005840"/>
          </a:xfrm>
          <a:prstGeom prst="rect">
            <a:avLst/>
          </a:prstGeom>
          <a:noFill/>
          <a:ln/>
        </p:spPr>
        <p:txBody>
          <a:bodyPr wrap="square" lIns="0" tIns="0" rIns="0" bIns="0" rtlCol="0" anchor="ctr"/>
          <a:lstStyle/>
          <a:p>
            <a:pPr algn="l" indent="0" marL="0">
              <a:spcAft>
                <a:spcPts val="400"/>
              </a:spcAft>
              <a:buNone/>
            </a:pPr>
            <a:r>
              <a:rPr lang="en-US" sz="1600" b="1" i="1" dirty="0">
                <a:solidFill>
                  <a:schemeClr val="tx1"/>
                </a:solidFill>
              </a:rPr>
              <a:t>Where</a:t>
            </a:r>
            <a:r>
              <a:rPr lang="en-US" sz="1600" i="1" dirty="0">
                <a:solidFill>
                  <a:schemeClr val="tx1"/>
                </a:solidFill>
              </a:rPr>
              <a:t> have you been?</a:t>
            </a:r>
            <a:endParaRPr lang="en-US" sz="1600" dirty="0"/>
          </a:p>
          <a:p>
            <a:pPr algn="l" indent="0" marL="0">
              <a:spcAft>
                <a:spcPts val="400"/>
              </a:spcAft>
              <a:buNone/>
            </a:pPr>
            <a:r>
              <a:rPr lang="en-US" sz="1600" b="1" i="1" dirty="0">
                <a:solidFill>
                  <a:schemeClr val="tx1"/>
                </a:solidFill>
              </a:rPr>
              <a:t>What</a:t>
            </a:r>
            <a:r>
              <a:rPr lang="en-US" sz="1600" i="1" dirty="0">
                <a:solidFill>
                  <a:schemeClr val="tx1"/>
                </a:solidFill>
              </a:rPr>
              <a:t> have you done?</a:t>
            </a:r>
            <a:endParaRPr lang="en-US" sz="1600" dirty="0"/>
          </a:p>
        </p:txBody>
      </p:sp>
      <p:sp>
        <p:nvSpPr>
          <p:cNvPr id="54" name="Shape 51"/>
          <p:cNvSpPr/>
          <p:nvPr/>
        </p:nvSpPr>
        <p:spPr>
          <a:xfrm>
            <a:off x="548640" y="5715000"/>
            <a:ext cx="11091672" cy="502920"/>
          </a:xfrm>
          <a:prstGeom prst="roundRect">
            <a:avLst>
              <a:gd name="adj" fmla="val 14545"/>
            </a:avLst>
          </a:prstGeom>
          <a:solidFill>
            <a:schemeClr val="tx2"/>
          </a:solidFill>
          <a:ln w="12700">
            <a:solidFill>
              <a:srgbClr val="FFFFFF">
                <a:alpha val="0"/>
              </a:srgbClr>
            </a:solidFill>
            <a:prstDash val="solid"/>
          </a:ln>
        </p:spPr>
      </p:sp>
      <p:sp>
        <p:nvSpPr>
          <p:cNvPr id="55" name="Text 52"/>
          <p:cNvSpPr txBox="1"/>
          <p:nvPr/>
        </p:nvSpPr>
        <p:spPr>
          <a:xfrm>
            <a:off x="822960" y="5715000"/>
            <a:ext cx="10607040" cy="502920"/>
          </a:xfrm>
          <a:prstGeom prst="rect">
            <a:avLst/>
          </a:prstGeom>
          <a:noFill/>
          <a:ln/>
        </p:spPr>
        <p:txBody>
          <a:bodyPr wrap="square" lIns="0" tIns="0" rIns="0" bIns="0" rtlCol="0" anchor="ctr"/>
          <a:lstStyle/>
          <a:p>
            <a:pPr algn="l" indent="0" marL="0">
              <a:buNone/>
            </a:pPr>
            <a:r>
              <a:rPr lang="en-US" sz="1600" dirty="0">
                <a:solidFill>
                  <a:schemeClr val="bg1"/>
                </a:solidFill>
              </a:rPr>
              <a:t>Pas de </a:t>
            </a:r>
            <a:r>
              <a:rPr lang="en-US" sz="1600" i="1" dirty="0">
                <a:solidFill>
                  <a:schemeClr val="bg1"/>
                </a:solidFill>
              </a:rPr>
              <a:t>do / did</a:t>
            </a:r>
            <a:r>
              <a:rPr lang="en-US" sz="1600" dirty="0">
                <a:solidFill>
                  <a:schemeClr val="bg1"/>
                </a:solidFill>
              </a:rPr>
              <a:t> : c’est </a:t>
            </a:r>
            <a:r>
              <a:rPr lang="en-US" sz="1600" i="1" dirty="0">
                <a:solidFill>
                  <a:schemeClr val="bg1"/>
                </a:solidFill>
              </a:rPr>
              <a:t>have / has</a:t>
            </a:r>
            <a:r>
              <a:rPr lang="en-US" sz="1600" dirty="0">
                <a:solidFill>
                  <a:schemeClr val="bg1"/>
                </a:solidFill>
              </a:rPr>
              <a:t> qui fait la négation et la question.</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Experience: ever, never</a:t>
            </a:r>
            <a:endParaRPr lang="en-US" sz="3000" dirty="0"/>
          </a:p>
        </p:txBody>
      </p:sp>
      <p:sp>
        <p:nvSpPr>
          <p:cNvPr id="3" name="tag"/>
          <p:cNvSpPr/>
          <p:nvPr/>
        </p:nvSpPr>
        <p:spPr>
          <a:xfrm>
            <a:off x="548640" y="237744"/>
            <a:ext cx="905256"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USE 1</a:t>
            </a:r>
            <a:endParaRPr lang="en-US" sz="1200" dirty="0"/>
          </a:p>
        </p:txBody>
      </p:sp>
      <p:sp>
        <p:nvSpPr>
          <p:cNvPr id="5" name="Shape 2"/>
          <p:cNvSpPr/>
          <p:nvPr/>
        </p:nvSpPr>
        <p:spPr>
          <a:xfrm>
            <a:off x="685800" y="1463040"/>
            <a:ext cx="9509760" cy="1417320"/>
          </a:xfrm>
          <a:prstGeom prst="roundRect">
            <a:avLst>
              <a:gd name="adj" fmla="val 7742"/>
            </a:avLst>
          </a:prstGeom>
          <a:solidFill>
            <a:srgbClr val="EAF2FB"/>
          </a:solidFill>
          <a:ln w="19050">
            <a:solidFill>
              <a:srgbClr val="2A6FB0"/>
            </a:solidFill>
            <a:prstDash val="dash"/>
          </a:ln>
        </p:spPr>
      </p:sp>
      <p:sp>
        <p:nvSpPr>
          <p:cNvPr id="6" name="Text 3"/>
          <p:cNvSpPr txBox="1"/>
          <p:nvPr/>
        </p:nvSpPr>
        <p:spPr>
          <a:xfrm>
            <a:off x="868680" y="1490472"/>
            <a:ext cx="5486400" cy="365760"/>
          </a:xfrm>
          <a:prstGeom prst="rect">
            <a:avLst/>
          </a:prstGeom>
          <a:noFill/>
          <a:ln/>
        </p:spPr>
        <p:txBody>
          <a:bodyPr wrap="square" lIns="0" tIns="0" rIns="0" bIns="0" rtlCol="0" anchor="ctr"/>
          <a:lstStyle/>
          <a:p>
            <a:pPr algn="l" indent="0" marL="0">
              <a:buNone/>
            </a:pPr>
            <a:r>
              <a:rPr lang="en-US" sz="1400" b="1" dirty="0">
                <a:solidFill>
                  <a:schemeClr val="accent2"/>
                </a:solidFill>
              </a:rPr>
              <a:t>MY LIFE, UNTIL NOW</a:t>
            </a:r>
            <a:r>
              <a:rPr lang="en-US" sz="1400" dirty="0">
                <a:solidFill>
                  <a:schemeClr val="accent2"/>
                </a:solidFill>
              </a:rPr>
              <a:t> · no date</a:t>
            </a:r>
            <a:endParaRPr lang="en-US" sz="1400" dirty="0"/>
          </a:p>
        </p:txBody>
      </p:sp>
      <p:pic>
        <p:nvPicPr>
          <p:cNvPr id="7" name="Image 0" descr="baby">    </p:cNvPr>
          <p:cNvPicPr>
            <a:picLocks noChangeAspect="1"/>
          </p:cNvPicPr>
          <p:nvPr/>
        </p:nvPicPr>
        <p:blipFill>
          <a:blip r:embed="rId1"/>
          <a:stretch>
            <a:fillRect/>
          </a:stretch>
        </p:blipFill>
        <p:spPr>
          <a:xfrm>
            <a:off x="822960" y="1920240"/>
            <a:ext cx="548640" cy="548640"/>
          </a:xfrm>
          <a:prstGeom prst="rect">
            <a:avLst/>
          </a:prstGeom>
        </p:spPr>
      </p:pic>
      <p:sp>
        <p:nvSpPr>
          <p:cNvPr id="8" name="Shape 4"/>
          <p:cNvSpPr/>
          <p:nvPr/>
        </p:nvSpPr>
        <p:spPr>
          <a:xfrm>
            <a:off x="1463040" y="2240280"/>
            <a:ext cx="10195560" cy="914"/>
          </a:xfrm>
          <a:prstGeom prst="line">
            <a:avLst/>
          </a:prstGeom>
          <a:noFill/>
          <a:ln w="31750">
            <a:solidFill>
              <a:srgbClr val="17375E"/>
            </a:solidFill>
            <a:prstDash val="solid"/>
            <a:tailEnd type="triangle"/>
          </a:ln>
        </p:spPr>
      </p:sp>
      <p:sp>
        <p:nvSpPr>
          <p:cNvPr id="9" name="Shape 5"/>
          <p:cNvSpPr/>
          <p:nvPr/>
        </p:nvSpPr>
        <p:spPr>
          <a:xfrm>
            <a:off x="10469880" y="1929384"/>
            <a:ext cx="91440" cy="621792"/>
          </a:xfrm>
          <a:prstGeom prst="rect">
            <a:avLst/>
          </a:prstGeom>
          <a:solidFill>
            <a:schemeClr val="accent6"/>
          </a:solidFill>
          <a:ln w="12700">
            <a:solidFill>
              <a:srgbClr val="FFFFFF">
                <a:alpha val="0"/>
              </a:srgbClr>
            </a:solidFill>
            <a:prstDash val="solid"/>
          </a:ln>
        </p:spPr>
      </p:sp>
      <p:sp>
        <p:nvSpPr>
          <p:cNvPr id="10" name="Text 6"/>
          <p:cNvSpPr txBox="1"/>
          <p:nvPr/>
        </p:nvSpPr>
        <p:spPr>
          <a:xfrm>
            <a:off x="10149840" y="1508760"/>
            <a:ext cx="731520" cy="320040"/>
          </a:xfrm>
          <a:prstGeom prst="rect">
            <a:avLst/>
          </a:prstGeom>
          <a:noFill/>
          <a:ln/>
        </p:spPr>
        <p:txBody>
          <a:bodyPr wrap="square" lIns="0" tIns="0" rIns="0" bIns="0" rtlCol="0" anchor="t"/>
          <a:lstStyle/>
          <a:p>
            <a:pPr algn="ctr" indent="0" marL="0">
              <a:buNone/>
            </a:pPr>
            <a:r>
              <a:rPr lang="en-US" sz="1300" b="1" dirty="0">
                <a:solidFill>
                  <a:schemeClr val="accent6"/>
                </a:solidFill>
              </a:rPr>
              <a:t>NOW</a:t>
            </a:r>
            <a:endParaRPr lang="en-US" sz="1300" dirty="0"/>
          </a:p>
        </p:txBody>
      </p:sp>
      <p:sp>
        <p:nvSpPr>
          <p:cNvPr id="11" name="Shape 7"/>
          <p:cNvSpPr/>
          <p:nvPr/>
        </p:nvSpPr>
        <p:spPr>
          <a:xfrm>
            <a:off x="2907792" y="2130552"/>
            <a:ext cx="219456" cy="219456"/>
          </a:xfrm>
          <a:prstGeom prst="ellipse">
            <a:avLst/>
          </a:prstGeom>
          <a:solidFill>
            <a:schemeClr val="accent2"/>
          </a:solidFill>
          <a:ln w="12700">
            <a:solidFill>
              <a:srgbClr val="FFFFFF"/>
            </a:solidFill>
            <a:prstDash val="solid"/>
          </a:ln>
        </p:spPr>
      </p:sp>
      <p:sp>
        <p:nvSpPr>
          <p:cNvPr id="12" name="Shape 8"/>
          <p:cNvSpPr/>
          <p:nvPr/>
        </p:nvSpPr>
        <p:spPr>
          <a:xfrm>
            <a:off x="5010912" y="2130552"/>
            <a:ext cx="219456" cy="219456"/>
          </a:xfrm>
          <a:prstGeom prst="ellipse">
            <a:avLst/>
          </a:prstGeom>
          <a:solidFill>
            <a:schemeClr val="accent2"/>
          </a:solidFill>
          <a:ln w="12700">
            <a:solidFill>
              <a:srgbClr val="FFFFFF"/>
            </a:solidFill>
            <a:prstDash val="solid"/>
          </a:ln>
        </p:spPr>
      </p:sp>
      <p:sp>
        <p:nvSpPr>
          <p:cNvPr id="13" name="Shape 9"/>
          <p:cNvSpPr/>
          <p:nvPr/>
        </p:nvSpPr>
        <p:spPr>
          <a:xfrm>
            <a:off x="7571232" y="2130552"/>
            <a:ext cx="219456" cy="219456"/>
          </a:xfrm>
          <a:prstGeom prst="ellipse">
            <a:avLst/>
          </a:prstGeom>
          <a:solidFill>
            <a:schemeClr val="accent2"/>
          </a:solidFill>
          <a:ln w="12700">
            <a:solidFill>
              <a:srgbClr val="FFFFFF"/>
            </a:solidFill>
            <a:prstDash val="solid"/>
          </a:ln>
        </p:spPr>
      </p:sp>
      <p:sp>
        <p:nvSpPr>
          <p:cNvPr id="14" name="Text 10"/>
          <p:cNvSpPr txBox="1"/>
          <p:nvPr/>
        </p:nvSpPr>
        <p:spPr>
          <a:xfrm>
            <a:off x="3657600" y="2377440"/>
            <a:ext cx="3657600" cy="365760"/>
          </a:xfrm>
          <a:prstGeom prst="rect">
            <a:avLst/>
          </a:prstGeom>
          <a:noFill/>
          <a:ln/>
        </p:spPr>
        <p:txBody>
          <a:bodyPr wrap="square" lIns="0" tIns="0" rIns="0" bIns="0" rtlCol="0" anchor="t"/>
          <a:lstStyle/>
          <a:p>
            <a:pPr algn="ctr" indent="0" marL="0">
              <a:buNone/>
            </a:pPr>
            <a:r>
              <a:rPr lang="en-US" sz="1400" b="1" dirty="0">
                <a:solidFill>
                  <a:schemeClr val="accent2"/>
                </a:solidFill>
              </a:rPr>
              <a:t>? ? ?</a:t>
            </a:r>
            <a:endParaRPr lang="en-US" sz="1400" dirty="0"/>
          </a:p>
        </p:txBody>
      </p:sp>
      <p:sp>
        <p:nvSpPr>
          <p:cNvPr id="15" name="Shape 11"/>
          <p:cNvSpPr/>
          <p:nvPr/>
        </p:nvSpPr>
        <p:spPr>
          <a:xfrm>
            <a:off x="731520" y="3154680"/>
            <a:ext cx="1167740" cy="658368"/>
          </a:xfrm>
          <a:prstGeom prst="roundRect">
            <a:avLst>
              <a:gd name="adj" fmla="val 13889"/>
            </a:avLst>
          </a:prstGeom>
          <a:solidFill>
            <a:schemeClr val="tx2"/>
          </a:solidFill>
          <a:ln w="12700">
            <a:solidFill>
              <a:srgbClr val="FFFFFF">
                <a:alpha val="0"/>
              </a:srgbClr>
            </a:solidFill>
            <a:prstDash val="solid"/>
          </a:ln>
        </p:spPr>
      </p:sp>
      <p:sp>
        <p:nvSpPr>
          <p:cNvPr id="16" name="Text 12"/>
          <p:cNvSpPr txBox="1"/>
          <p:nvPr/>
        </p:nvSpPr>
        <p:spPr>
          <a:xfrm>
            <a:off x="731520" y="3154680"/>
            <a:ext cx="1167740" cy="658368"/>
          </a:xfrm>
          <a:prstGeom prst="rect">
            <a:avLst/>
          </a:prstGeom>
          <a:noFill/>
          <a:ln/>
        </p:spPr>
        <p:txBody>
          <a:bodyPr wrap="square" lIns="0" tIns="0" rIns="0" bIns="0" rtlCol="0" anchor="ctr"/>
          <a:lstStyle/>
          <a:p>
            <a:pPr algn="ctr" indent="0" marL="0">
              <a:buNone/>
            </a:pPr>
            <a:r>
              <a:rPr lang="en-US" sz="2400" b="1" i="1" dirty="0">
                <a:solidFill>
                  <a:schemeClr val="bg1"/>
                </a:solidFill>
              </a:rPr>
              <a:t>Have</a:t>
            </a:r>
            <a:endParaRPr lang="en-US" sz="2400" dirty="0"/>
          </a:p>
        </p:txBody>
      </p:sp>
      <p:sp>
        <p:nvSpPr>
          <p:cNvPr id="17" name="Shape 13"/>
          <p:cNvSpPr/>
          <p:nvPr/>
        </p:nvSpPr>
        <p:spPr>
          <a:xfrm>
            <a:off x="1972412" y="3154680"/>
            <a:ext cx="806135" cy="658368"/>
          </a:xfrm>
          <a:prstGeom prst="roundRect">
            <a:avLst>
              <a:gd name="adj" fmla="val 13889"/>
            </a:avLst>
          </a:prstGeom>
          <a:solidFill>
            <a:srgbClr val="FFFFFF"/>
          </a:solidFill>
          <a:ln w="15875">
            <a:solidFill>
              <a:srgbClr val="D5DCE6"/>
            </a:solidFill>
            <a:prstDash val="solid"/>
          </a:ln>
        </p:spPr>
      </p:sp>
      <p:sp>
        <p:nvSpPr>
          <p:cNvPr id="18" name="Text 14"/>
          <p:cNvSpPr txBox="1"/>
          <p:nvPr/>
        </p:nvSpPr>
        <p:spPr>
          <a:xfrm>
            <a:off x="1972412" y="3154680"/>
            <a:ext cx="806135" cy="658368"/>
          </a:xfrm>
          <a:prstGeom prst="rect">
            <a:avLst/>
          </a:prstGeom>
          <a:noFill/>
          <a:ln/>
        </p:spPr>
        <p:txBody>
          <a:bodyPr wrap="square" lIns="0" tIns="0" rIns="0" bIns="0" rtlCol="0" anchor="ctr"/>
          <a:lstStyle/>
          <a:p>
            <a:pPr algn="ctr" indent="0" marL="0">
              <a:buNone/>
            </a:pPr>
            <a:r>
              <a:rPr lang="en-US" sz="2400" i="1" dirty="0">
                <a:solidFill>
                  <a:schemeClr val="tx1"/>
                </a:solidFill>
              </a:rPr>
              <a:t>you</a:t>
            </a:r>
            <a:endParaRPr lang="en-US" sz="2400" dirty="0"/>
          </a:p>
        </p:txBody>
      </p:sp>
      <p:sp>
        <p:nvSpPr>
          <p:cNvPr id="19" name="Shape 15"/>
          <p:cNvSpPr/>
          <p:nvPr/>
        </p:nvSpPr>
        <p:spPr>
          <a:xfrm>
            <a:off x="2851699" y="3154680"/>
            <a:ext cx="1167740" cy="658368"/>
          </a:xfrm>
          <a:prstGeom prst="roundRect">
            <a:avLst>
              <a:gd name="adj" fmla="val 13889"/>
            </a:avLst>
          </a:prstGeom>
          <a:solidFill>
            <a:srgbClr val="FDF1E6"/>
          </a:solidFill>
          <a:ln w="19050">
            <a:solidFill>
              <a:srgbClr val="D9700F"/>
            </a:solidFill>
            <a:prstDash val="solid"/>
          </a:ln>
        </p:spPr>
      </p:sp>
      <p:sp>
        <p:nvSpPr>
          <p:cNvPr id="20" name="Text 16"/>
          <p:cNvSpPr txBox="1"/>
          <p:nvPr/>
        </p:nvSpPr>
        <p:spPr>
          <a:xfrm>
            <a:off x="2851699" y="3154680"/>
            <a:ext cx="1167740" cy="658368"/>
          </a:xfrm>
          <a:prstGeom prst="rect">
            <a:avLst/>
          </a:prstGeom>
          <a:noFill/>
          <a:ln/>
        </p:spPr>
        <p:txBody>
          <a:bodyPr wrap="square" lIns="0" tIns="0" rIns="0" bIns="0" rtlCol="0" anchor="ctr"/>
          <a:lstStyle/>
          <a:p>
            <a:pPr algn="ctr" indent="0" marL="0">
              <a:buNone/>
            </a:pPr>
            <a:r>
              <a:rPr lang="en-US" sz="2400" b="1" i="1" dirty="0">
                <a:solidFill>
                  <a:schemeClr val="accent1"/>
                </a:solidFill>
              </a:rPr>
              <a:t>ever</a:t>
            </a:r>
            <a:endParaRPr lang="en-US" sz="2400" dirty="0"/>
          </a:p>
        </p:txBody>
      </p:sp>
      <p:sp>
        <p:nvSpPr>
          <p:cNvPr id="21" name="Text 17"/>
          <p:cNvSpPr txBox="1"/>
          <p:nvPr/>
        </p:nvSpPr>
        <p:spPr>
          <a:xfrm>
            <a:off x="2531659" y="3849624"/>
            <a:ext cx="1807820" cy="274320"/>
          </a:xfrm>
          <a:prstGeom prst="rect">
            <a:avLst/>
          </a:prstGeom>
          <a:noFill/>
          <a:ln/>
        </p:spPr>
        <p:txBody>
          <a:bodyPr wrap="square" lIns="0" tIns="0" rIns="0" bIns="0" rtlCol="0" anchor="t"/>
          <a:lstStyle/>
          <a:p>
            <a:pPr algn="ctr" indent="0" marL="0">
              <a:buNone/>
            </a:pPr>
            <a:r>
              <a:rPr lang="en-US" sz="1100" b="1" dirty="0">
                <a:solidFill>
                  <a:schemeClr val="accent1"/>
                </a:solidFill>
              </a:rPr>
              <a:t>EVER = déjà (dans ta vie)</a:t>
            </a:r>
            <a:endParaRPr lang="en-US" sz="1100" dirty="0"/>
          </a:p>
        </p:txBody>
      </p:sp>
      <p:sp>
        <p:nvSpPr>
          <p:cNvPr id="22" name="Shape 18"/>
          <p:cNvSpPr/>
          <p:nvPr/>
        </p:nvSpPr>
        <p:spPr>
          <a:xfrm>
            <a:off x="4092591" y="3154680"/>
            <a:ext cx="1167740" cy="658368"/>
          </a:xfrm>
          <a:prstGeom prst="roundRect">
            <a:avLst>
              <a:gd name="adj" fmla="val 13889"/>
            </a:avLst>
          </a:prstGeom>
          <a:solidFill>
            <a:schemeClr val="accent2"/>
          </a:solidFill>
          <a:ln w="12700">
            <a:solidFill>
              <a:srgbClr val="FFFFFF">
                <a:alpha val="0"/>
              </a:srgbClr>
            </a:solidFill>
            <a:prstDash val="solid"/>
          </a:ln>
        </p:spPr>
      </p:sp>
      <p:sp>
        <p:nvSpPr>
          <p:cNvPr id="23" name="Text 19"/>
          <p:cNvSpPr txBox="1"/>
          <p:nvPr/>
        </p:nvSpPr>
        <p:spPr>
          <a:xfrm>
            <a:off x="4092591" y="3154680"/>
            <a:ext cx="1167740" cy="658368"/>
          </a:xfrm>
          <a:prstGeom prst="rect">
            <a:avLst/>
          </a:prstGeom>
          <a:noFill/>
          <a:ln/>
        </p:spPr>
        <p:txBody>
          <a:bodyPr wrap="square" lIns="0" tIns="0" rIns="0" bIns="0" rtlCol="0" anchor="ctr"/>
          <a:lstStyle/>
          <a:p>
            <a:pPr algn="ctr" indent="0" marL="0">
              <a:buNone/>
            </a:pPr>
            <a:r>
              <a:rPr lang="en-US" sz="2400" b="1" i="1" dirty="0">
                <a:solidFill>
                  <a:schemeClr val="bg1"/>
                </a:solidFill>
              </a:rPr>
              <a:t>been</a:t>
            </a:r>
            <a:endParaRPr lang="en-US" sz="2400" dirty="0"/>
          </a:p>
        </p:txBody>
      </p:sp>
      <p:sp>
        <p:nvSpPr>
          <p:cNvPr id="24" name="Shape 20"/>
          <p:cNvSpPr/>
          <p:nvPr/>
        </p:nvSpPr>
        <p:spPr>
          <a:xfrm>
            <a:off x="5333483" y="3154680"/>
            <a:ext cx="1833189" cy="658368"/>
          </a:xfrm>
          <a:prstGeom prst="roundRect">
            <a:avLst>
              <a:gd name="adj" fmla="val 13889"/>
            </a:avLst>
          </a:prstGeom>
          <a:solidFill>
            <a:srgbClr val="FFFFFF"/>
          </a:solidFill>
          <a:ln w="15875">
            <a:solidFill>
              <a:srgbClr val="D5DCE6"/>
            </a:solidFill>
            <a:prstDash val="solid"/>
          </a:ln>
        </p:spPr>
      </p:sp>
      <p:sp>
        <p:nvSpPr>
          <p:cNvPr id="25" name="Text 21"/>
          <p:cNvSpPr txBox="1"/>
          <p:nvPr/>
        </p:nvSpPr>
        <p:spPr>
          <a:xfrm>
            <a:off x="5333483" y="3154680"/>
            <a:ext cx="1833189" cy="658368"/>
          </a:xfrm>
          <a:prstGeom prst="rect">
            <a:avLst/>
          </a:prstGeom>
          <a:noFill/>
          <a:ln/>
        </p:spPr>
        <p:txBody>
          <a:bodyPr wrap="square" lIns="0" tIns="0" rIns="0" bIns="0" rtlCol="0" anchor="ctr"/>
          <a:lstStyle/>
          <a:p>
            <a:pPr algn="ctr" indent="0" marL="0">
              <a:buNone/>
            </a:pPr>
            <a:r>
              <a:rPr lang="en-US" sz="2400" i="1" dirty="0">
                <a:solidFill>
                  <a:schemeClr val="tx1"/>
                </a:solidFill>
              </a:rPr>
              <a:t>to Japan?</a:t>
            </a:r>
            <a:endParaRPr lang="en-US" sz="2400" dirty="0"/>
          </a:p>
        </p:txBody>
      </p:sp>
      <p:sp>
        <p:nvSpPr>
          <p:cNvPr id="26" name="Shape 22"/>
          <p:cNvSpPr/>
          <p:nvPr/>
        </p:nvSpPr>
        <p:spPr>
          <a:xfrm>
            <a:off x="731520" y="4206240"/>
            <a:ext cx="463784" cy="658368"/>
          </a:xfrm>
          <a:prstGeom prst="roundRect">
            <a:avLst>
              <a:gd name="adj" fmla="val 19716"/>
            </a:avLst>
          </a:prstGeom>
          <a:solidFill>
            <a:srgbClr val="FFFFFF"/>
          </a:solidFill>
          <a:ln w="15875">
            <a:solidFill>
              <a:srgbClr val="D5DCE6"/>
            </a:solidFill>
            <a:prstDash val="solid"/>
          </a:ln>
        </p:spPr>
      </p:sp>
      <p:sp>
        <p:nvSpPr>
          <p:cNvPr id="27" name="Text 23"/>
          <p:cNvSpPr txBox="1"/>
          <p:nvPr/>
        </p:nvSpPr>
        <p:spPr>
          <a:xfrm>
            <a:off x="731520" y="4206240"/>
            <a:ext cx="463784" cy="658368"/>
          </a:xfrm>
          <a:prstGeom prst="rect">
            <a:avLst/>
          </a:prstGeom>
          <a:noFill/>
          <a:ln/>
        </p:spPr>
        <p:txBody>
          <a:bodyPr wrap="square" lIns="0" tIns="0" rIns="0" bIns="0" rtlCol="0" anchor="ctr"/>
          <a:lstStyle/>
          <a:p>
            <a:pPr algn="ctr" indent="0" marL="0">
              <a:buNone/>
            </a:pPr>
            <a:r>
              <a:rPr lang="en-US" sz="2400" i="1" dirty="0">
                <a:solidFill>
                  <a:schemeClr val="tx1"/>
                </a:solidFill>
              </a:rPr>
              <a:t>I</a:t>
            </a:r>
            <a:endParaRPr lang="en-US" sz="2400" dirty="0"/>
          </a:p>
        </p:txBody>
      </p:sp>
      <p:sp>
        <p:nvSpPr>
          <p:cNvPr id="28" name="Shape 24"/>
          <p:cNvSpPr/>
          <p:nvPr/>
        </p:nvSpPr>
        <p:spPr>
          <a:xfrm>
            <a:off x="1268456" y="4206240"/>
            <a:ext cx="1167740" cy="658368"/>
          </a:xfrm>
          <a:prstGeom prst="roundRect">
            <a:avLst>
              <a:gd name="adj" fmla="val 13889"/>
            </a:avLst>
          </a:prstGeom>
          <a:solidFill>
            <a:schemeClr val="tx2"/>
          </a:solidFill>
          <a:ln w="12700">
            <a:solidFill>
              <a:srgbClr val="FFFFFF">
                <a:alpha val="0"/>
              </a:srgbClr>
            </a:solidFill>
            <a:prstDash val="solid"/>
          </a:ln>
        </p:spPr>
      </p:sp>
      <p:sp>
        <p:nvSpPr>
          <p:cNvPr id="29" name="Text 25"/>
          <p:cNvSpPr txBox="1"/>
          <p:nvPr/>
        </p:nvSpPr>
        <p:spPr>
          <a:xfrm>
            <a:off x="1268456" y="4206240"/>
            <a:ext cx="1167740" cy="658368"/>
          </a:xfrm>
          <a:prstGeom prst="rect">
            <a:avLst/>
          </a:prstGeom>
          <a:noFill/>
          <a:ln/>
        </p:spPr>
        <p:txBody>
          <a:bodyPr wrap="square" lIns="0" tIns="0" rIns="0" bIns="0" rtlCol="0" anchor="ctr"/>
          <a:lstStyle/>
          <a:p>
            <a:pPr algn="ctr" indent="0" marL="0">
              <a:buNone/>
            </a:pPr>
            <a:r>
              <a:rPr lang="en-US" sz="2400" b="1" i="1" dirty="0">
                <a:solidFill>
                  <a:schemeClr val="bg1"/>
                </a:solidFill>
              </a:rPr>
              <a:t>have</a:t>
            </a:r>
            <a:endParaRPr lang="en-US" sz="2400" dirty="0"/>
          </a:p>
        </p:txBody>
      </p:sp>
      <p:sp>
        <p:nvSpPr>
          <p:cNvPr id="30" name="Shape 26"/>
          <p:cNvSpPr/>
          <p:nvPr/>
        </p:nvSpPr>
        <p:spPr>
          <a:xfrm>
            <a:off x="2509348" y="4206240"/>
            <a:ext cx="1359457" cy="658368"/>
          </a:xfrm>
          <a:prstGeom prst="roundRect">
            <a:avLst>
              <a:gd name="adj" fmla="val 13889"/>
            </a:avLst>
          </a:prstGeom>
          <a:solidFill>
            <a:schemeClr val="accent6"/>
          </a:solidFill>
          <a:ln w="12700">
            <a:solidFill>
              <a:srgbClr val="FFFFFF">
                <a:alpha val="0"/>
              </a:srgbClr>
            </a:solidFill>
            <a:prstDash val="solid"/>
          </a:ln>
        </p:spPr>
      </p:sp>
      <p:sp>
        <p:nvSpPr>
          <p:cNvPr id="31" name="Text 27"/>
          <p:cNvSpPr txBox="1"/>
          <p:nvPr/>
        </p:nvSpPr>
        <p:spPr>
          <a:xfrm>
            <a:off x="2509348" y="4206240"/>
            <a:ext cx="1359457" cy="658368"/>
          </a:xfrm>
          <a:prstGeom prst="rect">
            <a:avLst/>
          </a:prstGeom>
          <a:noFill/>
          <a:ln/>
        </p:spPr>
        <p:txBody>
          <a:bodyPr wrap="square" lIns="0" tIns="0" rIns="0" bIns="0" rtlCol="0" anchor="ctr"/>
          <a:lstStyle/>
          <a:p>
            <a:pPr algn="ctr" indent="0" marL="0">
              <a:buNone/>
            </a:pPr>
            <a:r>
              <a:rPr lang="en-US" sz="2400" b="1" i="1" dirty="0">
                <a:solidFill>
                  <a:schemeClr val="bg1"/>
                </a:solidFill>
              </a:rPr>
              <a:t>never</a:t>
            </a:r>
            <a:endParaRPr lang="en-US" sz="2400" dirty="0"/>
          </a:p>
        </p:txBody>
      </p:sp>
      <p:sp>
        <p:nvSpPr>
          <p:cNvPr id="32" name="Text 28"/>
          <p:cNvSpPr txBox="1"/>
          <p:nvPr/>
        </p:nvSpPr>
        <p:spPr>
          <a:xfrm>
            <a:off x="2189308" y="4901184"/>
            <a:ext cx="1999537" cy="274320"/>
          </a:xfrm>
          <a:prstGeom prst="rect">
            <a:avLst/>
          </a:prstGeom>
          <a:noFill/>
          <a:ln/>
        </p:spPr>
        <p:txBody>
          <a:bodyPr wrap="square" lIns="0" tIns="0" rIns="0" bIns="0" rtlCol="0" anchor="t"/>
          <a:lstStyle/>
          <a:p>
            <a:pPr algn="ctr" indent="0" marL="0">
              <a:buNone/>
            </a:pPr>
            <a:r>
              <a:rPr lang="en-US" sz="1100" b="1" dirty="0">
                <a:solidFill>
                  <a:schemeClr val="accent6"/>
                </a:solidFill>
              </a:rPr>
              <a:t>NEVER = jamais</a:t>
            </a:r>
            <a:endParaRPr lang="en-US" sz="1100" dirty="0"/>
          </a:p>
        </p:txBody>
      </p:sp>
      <p:sp>
        <p:nvSpPr>
          <p:cNvPr id="33" name="Shape 29"/>
          <p:cNvSpPr/>
          <p:nvPr/>
        </p:nvSpPr>
        <p:spPr>
          <a:xfrm>
            <a:off x="3941956" y="4206240"/>
            <a:ext cx="1359457" cy="658368"/>
          </a:xfrm>
          <a:prstGeom prst="roundRect">
            <a:avLst>
              <a:gd name="adj" fmla="val 13889"/>
            </a:avLst>
          </a:prstGeom>
          <a:solidFill>
            <a:schemeClr val="accent2"/>
          </a:solidFill>
          <a:ln w="12700">
            <a:solidFill>
              <a:srgbClr val="FFFFFF">
                <a:alpha val="0"/>
              </a:srgbClr>
            </a:solidFill>
            <a:prstDash val="solid"/>
          </a:ln>
        </p:spPr>
      </p:sp>
      <p:sp>
        <p:nvSpPr>
          <p:cNvPr id="34" name="Text 30"/>
          <p:cNvSpPr txBox="1"/>
          <p:nvPr/>
        </p:nvSpPr>
        <p:spPr>
          <a:xfrm>
            <a:off x="3941956" y="4206240"/>
            <a:ext cx="1359457" cy="658368"/>
          </a:xfrm>
          <a:prstGeom prst="rect">
            <a:avLst/>
          </a:prstGeom>
          <a:noFill/>
          <a:ln/>
        </p:spPr>
        <p:txBody>
          <a:bodyPr wrap="square" lIns="0" tIns="0" rIns="0" bIns="0" rtlCol="0" anchor="ctr"/>
          <a:lstStyle/>
          <a:p>
            <a:pPr algn="ctr" indent="0" marL="0">
              <a:buNone/>
            </a:pPr>
            <a:r>
              <a:rPr lang="en-US" sz="2400" b="1" i="1" dirty="0">
                <a:solidFill>
                  <a:schemeClr val="bg1"/>
                </a:solidFill>
              </a:rPr>
              <a:t>eaten</a:t>
            </a:r>
            <a:endParaRPr lang="en-US" sz="2400" dirty="0"/>
          </a:p>
        </p:txBody>
      </p:sp>
      <p:sp>
        <p:nvSpPr>
          <p:cNvPr id="35" name="Shape 31"/>
          <p:cNvSpPr/>
          <p:nvPr/>
        </p:nvSpPr>
        <p:spPr>
          <a:xfrm>
            <a:off x="5374565" y="4206240"/>
            <a:ext cx="1319662" cy="658368"/>
          </a:xfrm>
          <a:prstGeom prst="roundRect">
            <a:avLst>
              <a:gd name="adj" fmla="val 13889"/>
            </a:avLst>
          </a:prstGeom>
          <a:solidFill>
            <a:srgbClr val="FFFFFF"/>
          </a:solidFill>
          <a:ln w="15875">
            <a:solidFill>
              <a:srgbClr val="D5DCE6"/>
            </a:solidFill>
            <a:prstDash val="solid"/>
          </a:ln>
        </p:spPr>
      </p:sp>
      <p:sp>
        <p:nvSpPr>
          <p:cNvPr id="36" name="Text 32"/>
          <p:cNvSpPr txBox="1"/>
          <p:nvPr/>
        </p:nvSpPr>
        <p:spPr>
          <a:xfrm>
            <a:off x="5374565" y="4206240"/>
            <a:ext cx="1319662" cy="658368"/>
          </a:xfrm>
          <a:prstGeom prst="rect">
            <a:avLst/>
          </a:prstGeom>
          <a:noFill/>
          <a:ln/>
        </p:spPr>
        <p:txBody>
          <a:bodyPr wrap="square" lIns="0" tIns="0" rIns="0" bIns="0" rtlCol="0" anchor="ctr"/>
          <a:lstStyle/>
          <a:p>
            <a:pPr algn="ctr" indent="0" marL="0">
              <a:buNone/>
            </a:pPr>
            <a:r>
              <a:rPr lang="en-US" sz="2400" i="1" dirty="0">
                <a:solidFill>
                  <a:schemeClr val="tx1"/>
                </a:solidFill>
              </a:rPr>
              <a:t>sushi.</a:t>
            </a:r>
            <a:endParaRPr lang="en-US" sz="2400" dirty="0"/>
          </a:p>
        </p:txBody>
      </p:sp>
      <p:sp>
        <p:nvSpPr>
          <p:cNvPr id="37" name="Shape 33"/>
          <p:cNvSpPr/>
          <p:nvPr/>
        </p:nvSpPr>
        <p:spPr>
          <a:xfrm>
            <a:off x="7863840" y="3108960"/>
            <a:ext cx="3776472" cy="2057400"/>
          </a:xfrm>
          <a:prstGeom prst="roundRect">
            <a:avLst>
              <a:gd name="adj" fmla="val 5333"/>
            </a:avLst>
          </a:prstGeom>
          <a:solidFill>
            <a:srgbClr val="E8F4EC"/>
          </a:solidFill>
          <a:ln w="19050">
            <a:solidFill>
              <a:srgbClr val="2E7D4F"/>
            </a:solidFill>
            <a:prstDash val="solid"/>
          </a:ln>
        </p:spPr>
      </p:sp>
      <p:sp>
        <p:nvSpPr>
          <p:cNvPr id="38" name="Text 34"/>
          <p:cNvSpPr txBox="1"/>
          <p:nvPr/>
        </p:nvSpPr>
        <p:spPr>
          <a:xfrm>
            <a:off x="8046720" y="3182112"/>
            <a:ext cx="3410712" cy="384048"/>
          </a:xfrm>
          <a:prstGeom prst="rect">
            <a:avLst/>
          </a:prstGeom>
          <a:noFill/>
          <a:ln/>
        </p:spPr>
        <p:txBody>
          <a:bodyPr wrap="square" lIns="0" tIns="0" rIns="0" bIns="0" rtlCol="0" anchor="ctr"/>
          <a:lstStyle/>
          <a:p>
            <a:pPr algn="l" indent="0" marL="0">
              <a:buNone/>
            </a:pPr>
            <a:r>
              <a:rPr lang="en-US" sz="1500" b="1" dirty="0">
                <a:solidFill>
                  <a:schemeClr val="accent3"/>
                </a:solidFill>
              </a:rPr>
              <a:t>✓ Place</a:t>
            </a:r>
            <a:endParaRPr lang="en-US" sz="1500" dirty="0"/>
          </a:p>
        </p:txBody>
      </p:sp>
      <p:sp>
        <p:nvSpPr>
          <p:cNvPr id="39" name="Text 35"/>
          <p:cNvSpPr txBox="1"/>
          <p:nvPr/>
        </p:nvSpPr>
        <p:spPr>
          <a:xfrm>
            <a:off x="8046720" y="3584448"/>
            <a:ext cx="3410712" cy="1508760"/>
          </a:xfrm>
          <a:prstGeom prst="rect">
            <a:avLst/>
          </a:prstGeom>
          <a:noFill/>
          <a:ln/>
        </p:spPr>
        <p:txBody>
          <a:bodyPr wrap="square" lIns="0" tIns="0" rIns="0" bIns="0" rtlCol="0" anchor="t"/>
          <a:lstStyle/>
          <a:p>
            <a:pPr algn="l" indent="0" marL="0">
              <a:spcAft>
                <a:spcPts val="400"/>
              </a:spcAft>
              <a:buNone/>
            </a:pPr>
            <a:r>
              <a:rPr lang="en-US" sz="1450" i="1" dirty="0">
                <a:solidFill>
                  <a:schemeClr val="tx1"/>
                </a:solidFill>
              </a:rPr>
              <a:t>ever, never</a:t>
            </a:r>
            <a:r>
              <a:rPr lang="en-US" sz="1450" dirty="0">
                <a:solidFill>
                  <a:schemeClr val="tx1"/>
                </a:solidFill>
              </a:rPr>
              <a:t> : entre </a:t>
            </a:r>
            <a:r>
              <a:rPr lang="en-US" sz="1450" i="1" dirty="0">
                <a:solidFill>
                  <a:schemeClr val="tx1"/>
                </a:solidFill>
              </a:rPr>
              <a:t>have</a:t>
            </a:r>
            <a:r>
              <a:rPr lang="en-US" sz="1450" dirty="0">
                <a:solidFill>
                  <a:schemeClr val="tx1"/>
                </a:solidFill>
              </a:rPr>
              <a:t> et le participe</a:t>
            </a:r>
            <a:endParaRPr lang="en-US" sz="1450" dirty="0"/>
          </a:p>
          <a:p>
            <a:pPr algn="l" indent="0" marL="0">
              <a:spcAft>
                <a:spcPts val="400"/>
              </a:spcAft>
              <a:buNone/>
            </a:pPr>
            <a:r>
              <a:rPr lang="en-US" sz="1450" dirty="0">
                <a:solidFill>
                  <a:schemeClr val="tx1"/>
                </a:solidFill>
              </a:rPr>
              <a:t>answer: </a:t>
            </a:r>
            <a:r>
              <a:rPr lang="en-US" sz="1450" i="1" dirty="0">
                <a:solidFill>
                  <a:schemeClr val="tx1"/>
                </a:solidFill>
              </a:rPr>
              <a:t>Yes, I have. · No, never.</a:t>
            </a:r>
            <a:endParaRPr lang="en-US" sz="1450" dirty="0"/>
          </a:p>
        </p:txBody>
      </p:sp>
      <p:sp>
        <p:nvSpPr>
          <p:cNvPr id="40" name="Shape 36"/>
          <p:cNvSpPr/>
          <p:nvPr/>
        </p:nvSpPr>
        <p:spPr>
          <a:xfrm>
            <a:off x="548640" y="5257800"/>
            <a:ext cx="11091672" cy="960120"/>
          </a:xfrm>
          <a:prstGeom prst="roundRect">
            <a:avLst>
              <a:gd name="adj" fmla="val 11429"/>
            </a:avLst>
          </a:prstGeom>
          <a:solidFill>
            <a:srgbClr val="FBEDEB"/>
          </a:solidFill>
          <a:ln w="19050">
            <a:solidFill>
              <a:srgbClr val="B83227"/>
            </a:solidFill>
            <a:prstDash val="solid"/>
          </a:ln>
        </p:spPr>
      </p:sp>
      <p:sp>
        <p:nvSpPr>
          <p:cNvPr id="41" name="Shape 37"/>
          <p:cNvSpPr/>
          <p:nvPr/>
        </p:nvSpPr>
        <p:spPr>
          <a:xfrm>
            <a:off x="731520" y="5404104"/>
            <a:ext cx="128016" cy="253472"/>
          </a:xfrm>
          <a:prstGeom prst="rect">
            <a:avLst/>
          </a:prstGeom>
          <a:solidFill>
            <a:srgbClr val="1F4FA3"/>
          </a:solidFill>
          <a:ln w="12700">
            <a:solidFill>
              <a:srgbClr val="FFFFFF">
                <a:alpha val="0"/>
              </a:srgbClr>
            </a:solidFill>
            <a:prstDash val="solid"/>
          </a:ln>
        </p:spPr>
      </p:sp>
      <p:sp>
        <p:nvSpPr>
          <p:cNvPr id="42" name="Shape 38"/>
          <p:cNvSpPr/>
          <p:nvPr/>
        </p:nvSpPr>
        <p:spPr>
          <a:xfrm>
            <a:off x="859536" y="5404104"/>
            <a:ext cx="128016" cy="253472"/>
          </a:xfrm>
          <a:prstGeom prst="rect">
            <a:avLst/>
          </a:prstGeom>
          <a:solidFill>
            <a:srgbClr val="FFFFFF"/>
          </a:solidFill>
          <a:ln w="12700">
            <a:solidFill>
              <a:srgbClr val="FFFFFF">
                <a:alpha val="0"/>
              </a:srgbClr>
            </a:solidFill>
            <a:prstDash val="solid"/>
          </a:ln>
        </p:spPr>
      </p:sp>
      <p:sp>
        <p:nvSpPr>
          <p:cNvPr id="43" name="Shape 39"/>
          <p:cNvSpPr/>
          <p:nvPr/>
        </p:nvSpPr>
        <p:spPr>
          <a:xfrm>
            <a:off x="987552" y="5404104"/>
            <a:ext cx="128016" cy="253472"/>
          </a:xfrm>
          <a:prstGeom prst="rect">
            <a:avLst/>
          </a:prstGeom>
          <a:solidFill>
            <a:srgbClr val="E2232A"/>
          </a:solidFill>
          <a:ln w="12700">
            <a:solidFill>
              <a:srgbClr val="FFFFFF">
                <a:alpha val="0"/>
              </a:srgbClr>
            </a:solidFill>
            <a:prstDash val="solid"/>
          </a:ln>
        </p:spPr>
      </p:sp>
      <p:sp>
        <p:nvSpPr>
          <p:cNvPr id="44" name="Shape 40"/>
          <p:cNvSpPr/>
          <p:nvPr/>
        </p:nvSpPr>
        <p:spPr>
          <a:xfrm>
            <a:off x="731520" y="5404104"/>
            <a:ext cx="384048" cy="253472"/>
          </a:xfrm>
          <a:prstGeom prst="rect">
            <a:avLst/>
          </a:prstGeom>
          <a:noFill/>
          <a:ln w="9525">
            <a:solidFill>
              <a:srgbClr val="B8C2CF"/>
            </a:solidFill>
            <a:prstDash val="solid"/>
          </a:ln>
        </p:spPr>
      </p:sp>
      <p:sp>
        <p:nvSpPr>
          <p:cNvPr id="45" name="Text 41"/>
          <p:cNvSpPr txBox="1"/>
          <p:nvPr/>
        </p:nvSpPr>
        <p:spPr>
          <a:xfrm>
            <a:off x="1152144" y="5330952"/>
            <a:ext cx="274320" cy="384048"/>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46" name="Shape 42"/>
          <p:cNvSpPr/>
          <p:nvPr/>
        </p:nvSpPr>
        <p:spPr>
          <a:xfrm>
            <a:off x="1444752" y="5404104"/>
            <a:ext cx="384048" cy="253472"/>
          </a:xfrm>
          <a:prstGeom prst="rect">
            <a:avLst/>
          </a:prstGeom>
          <a:solidFill>
            <a:srgbClr val="1F3B87"/>
          </a:solidFill>
          <a:ln w="12700">
            <a:solidFill>
              <a:srgbClr val="FFFFFF">
                <a:alpha val="0"/>
              </a:srgbClr>
            </a:solidFill>
            <a:prstDash val="solid"/>
          </a:ln>
        </p:spPr>
      </p:sp>
      <p:sp>
        <p:nvSpPr>
          <p:cNvPr id="47" name="Shape 43"/>
          <p:cNvSpPr/>
          <p:nvPr/>
        </p:nvSpPr>
        <p:spPr>
          <a:xfrm>
            <a:off x="1444752" y="5404104"/>
            <a:ext cx="384048" cy="253472"/>
          </a:xfrm>
          <a:custGeom>
            <a:avLst/>
            <a:gdLst/>
            <a:ahLst/>
            <a:cxnLst/>
            <a:rect l="l" t="t" r="r" b="b"/>
            <a:pathLst>
              <a:path w="384048" h="253472">
                <a:moveTo>
                  <a:pt x="0" y="0"/>
                </a:moveTo>
                <a:lnTo>
                  <a:pt x="42583" y="0"/>
                </a:lnTo>
                <a:lnTo>
                  <a:pt x="384048" y="223055"/>
                </a:lnTo>
                <a:lnTo>
                  <a:pt x="384048" y="253472"/>
                </a:lnTo>
                <a:lnTo>
                  <a:pt x="341465" y="253472"/>
                </a:lnTo>
                <a:lnTo>
                  <a:pt x="0" y="30417"/>
                </a:lnTo>
                <a:close/>
              </a:path>
            </a:pathLst>
          </a:custGeom>
          <a:solidFill>
            <a:srgbClr val="FFFFFF"/>
          </a:solidFill>
          <a:ln w="12700">
            <a:solidFill>
              <a:srgbClr val="FFFFFF">
                <a:alpha val="0"/>
              </a:srgbClr>
            </a:solidFill>
            <a:prstDash val="solid"/>
          </a:ln>
        </p:spPr>
      </p:sp>
      <p:sp>
        <p:nvSpPr>
          <p:cNvPr id="48" name="Shape 44"/>
          <p:cNvSpPr/>
          <p:nvPr/>
        </p:nvSpPr>
        <p:spPr>
          <a:xfrm>
            <a:off x="1444752" y="5404104"/>
            <a:ext cx="384048" cy="253472"/>
          </a:xfrm>
          <a:custGeom>
            <a:avLst/>
            <a:gdLst/>
            <a:ahLst/>
            <a:cxnLst/>
            <a:rect l="l" t="t" r="r" b="b"/>
            <a:pathLst>
              <a:path w="384048" h="253472">
                <a:moveTo>
                  <a:pt x="384048" y="0"/>
                </a:moveTo>
                <a:lnTo>
                  <a:pt x="384048" y="30417"/>
                </a:lnTo>
                <a:lnTo>
                  <a:pt x="42583" y="253472"/>
                </a:lnTo>
                <a:lnTo>
                  <a:pt x="0" y="253472"/>
                </a:lnTo>
                <a:lnTo>
                  <a:pt x="0" y="223055"/>
                </a:lnTo>
                <a:lnTo>
                  <a:pt x="341465" y="0"/>
                </a:lnTo>
                <a:close/>
              </a:path>
            </a:pathLst>
          </a:custGeom>
          <a:solidFill>
            <a:srgbClr val="FFFFFF"/>
          </a:solidFill>
          <a:ln w="12700">
            <a:solidFill>
              <a:srgbClr val="FFFFFF">
                <a:alpha val="0"/>
              </a:srgbClr>
            </a:solidFill>
            <a:prstDash val="solid"/>
          </a:ln>
        </p:spPr>
      </p:sp>
      <p:sp>
        <p:nvSpPr>
          <p:cNvPr id="49" name="Shape 45"/>
          <p:cNvSpPr/>
          <p:nvPr/>
        </p:nvSpPr>
        <p:spPr>
          <a:xfrm>
            <a:off x="1594193" y="5404104"/>
            <a:ext cx="85166" cy="253472"/>
          </a:xfrm>
          <a:prstGeom prst="rect">
            <a:avLst/>
          </a:prstGeom>
          <a:solidFill>
            <a:srgbClr val="FFFFFF"/>
          </a:solidFill>
          <a:ln w="12700">
            <a:solidFill>
              <a:srgbClr val="FFFFFF">
                <a:alpha val="0"/>
              </a:srgbClr>
            </a:solidFill>
            <a:prstDash val="solid"/>
          </a:ln>
        </p:spPr>
      </p:sp>
      <p:sp>
        <p:nvSpPr>
          <p:cNvPr id="50" name="Shape 46"/>
          <p:cNvSpPr/>
          <p:nvPr/>
        </p:nvSpPr>
        <p:spPr>
          <a:xfrm>
            <a:off x="1444752" y="5488257"/>
            <a:ext cx="384048" cy="85166"/>
          </a:xfrm>
          <a:prstGeom prst="rect">
            <a:avLst/>
          </a:prstGeom>
          <a:solidFill>
            <a:srgbClr val="FFFFFF"/>
          </a:solidFill>
          <a:ln w="12700">
            <a:solidFill>
              <a:srgbClr val="FFFFFF">
                <a:alpha val="0"/>
              </a:srgbClr>
            </a:solidFill>
            <a:prstDash val="solid"/>
          </a:ln>
        </p:spPr>
      </p:sp>
      <p:sp>
        <p:nvSpPr>
          <p:cNvPr id="51" name="Shape 47"/>
          <p:cNvSpPr/>
          <p:nvPr/>
        </p:nvSpPr>
        <p:spPr>
          <a:xfrm>
            <a:off x="1612443" y="5404104"/>
            <a:ext cx="48667" cy="253472"/>
          </a:xfrm>
          <a:prstGeom prst="rect">
            <a:avLst/>
          </a:prstGeom>
          <a:solidFill>
            <a:srgbClr val="C8102E"/>
          </a:solidFill>
          <a:ln w="12700">
            <a:solidFill>
              <a:srgbClr val="FFFFFF">
                <a:alpha val="0"/>
              </a:srgbClr>
            </a:solidFill>
            <a:prstDash val="solid"/>
          </a:ln>
        </p:spPr>
      </p:sp>
      <p:sp>
        <p:nvSpPr>
          <p:cNvPr id="52" name="Shape 48"/>
          <p:cNvSpPr/>
          <p:nvPr/>
        </p:nvSpPr>
        <p:spPr>
          <a:xfrm>
            <a:off x="1444752" y="5506507"/>
            <a:ext cx="384048" cy="48667"/>
          </a:xfrm>
          <a:prstGeom prst="rect">
            <a:avLst/>
          </a:prstGeom>
          <a:solidFill>
            <a:srgbClr val="C8102E"/>
          </a:solidFill>
          <a:ln w="12700">
            <a:solidFill>
              <a:srgbClr val="FFFFFF">
                <a:alpha val="0"/>
              </a:srgbClr>
            </a:solidFill>
            <a:prstDash val="solid"/>
          </a:ln>
        </p:spPr>
      </p:sp>
      <p:sp>
        <p:nvSpPr>
          <p:cNvPr id="53" name="Shape 49"/>
          <p:cNvSpPr/>
          <p:nvPr/>
        </p:nvSpPr>
        <p:spPr>
          <a:xfrm>
            <a:off x="1444752" y="5404104"/>
            <a:ext cx="384048" cy="253472"/>
          </a:xfrm>
          <a:prstGeom prst="rect">
            <a:avLst/>
          </a:prstGeom>
          <a:noFill/>
          <a:ln w="9525">
            <a:solidFill>
              <a:srgbClr val="B8C2CF"/>
            </a:solidFill>
            <a:prstDash val="solid"/>
          </a:ln>
        </p:spPr>
      </p:sp>
      <p:sp>
        <p:nvSpPr>
          <p:cNvPr id="54" name="Text 50"/>
          <p:cNvSpPr txBox="1"/>
          <p:nvPr/>
        </p:nvSpPr>
        <p:spPr>
          <a:xfrm>
            <a:off x="1965960" y="5330952"/>
            <a:ext cx="9537192" cy="384048"/>
          </a:xfrm>
          <a:prstGeom prst="rect">
            <a:avLst/>
          </a:prstGeom>
          <a:noFill/>
          <a:ln/>
        </p:spPr>
        <p:txBody>
          <a:bodyPr wrap="square" lIns="0" tIns="0" rIns="0" bIns="0" rtlCol="0" anchor="ctr"/>
          <a:lstStyle/>
          <a:p>
            <a:pPr algn="l" indent="0" marL="0">
              <a:buNone/>
            </a:pPr>
            <a:r>
              <a:rPr lang="en-US" sz="1500" b="1" dirty="0">
                <a:solidFill>
                  <a:schemeClr val="accent6"/>
                </a:solidFill>
              </a:rPr>
              <a:t>Piège pour francophones</a:t>
            </a:r>
            <a:endParaRPr lang="en-US" sz="1500" dirty="0"/>
          </a:p>
        </p:txBody>
      </p:sp>
      <p:sp>
        <p:nvSpPr>
          <p:cNvPr id="55" name="Text 51"/>
          <p:cNvSpPr txBox="1"/>
          <p:nvPr/>
        </p:nvSpPr>
        <p:spPr>
          <a:xfrm>
            <a:off x="731520" y="5760720"/>
            <a:ext cx="10725912" cy="393192"/>
          </a:xfrm>
          <a:prstGeom prst="rect">
            <a:avLst/>
          </a:prstGeom>
          <a:noFill/>
          <a:ln/>
        </p:spPr>
        <p:txBody>
          <a:bodyPr wrap="square" lIns="0" tIns="0" rIns="0" bIns="0" rtlCol="0" anchor="t"/>
          <a:lstStyle/>
          <a:p>
            <a:pPr algn="l" indent="0" marL="0">
              <a:spcAft>
                <a:spcPts val="400"/>
              </a:spcAft>
              <a:buNone/>
            </a:pPr>
            <a:r>
              <a:rPr lang="en-US" sz="1500" dirty="0">
                <a:solidFill>
                  <a:schemeClr val="tx1"/>
                </a:solidFill>
              </a:rPr>
              <a:t>Avec un temps fini (une date) → past simple : ✗ </a:t>
            </a:r>
            <a:r>
              <a:rPr lang="en-US" sz="1500" i="1" dirty="0">
                <a:solidFill>
                  <a:schemeClr val="tx1"/>
                </a:solidFill>
              </a:rPr>
              <a:t>I have been to Japan in 2019.</a:t>
            </a:r>
            <a:r>
              <a:rPr lang="en-US" sz="1500" dirty="0">
                <a:solidFill>
                  <a:schemeClr val="tx1"/>
                </a:solidFill>
              </a:rPr>
              <a:t> → ✓ </a:t>
            </a:r>
            <a:r>
              <a:rPr lang="en-US" sz="1500" i="1" dirty="0">
                <a:solidFill>
                  <a:schemeClr val="tx1"/>
                </a:solidFill>
              </a:rPr>
              <a:t>I </a:t>
            </a:r>
            <a:r>
              <a:rPr lang="en-US" sz="1500" b="1" i="1" dirty="0">
                <a:solidFill>
                  <a:schemeClr val="tx1"/>
                </a:solidFill>
              </a:rPr>
              <a:t>went</a:t>
            </a:r>
            <a:r>
              <a:rPr lang="en-US" sz="1500" i="1" dirty="0">
                <a:solidFill>
                  <a:schemeClr val="tx1"/>
                </a:solidFill>
              </a:rPr>
              <a:t> to Japan in 2019.</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Been or gone?</a:t>
            </a:r>
            <a:endParaRPr lang="en-US" sz="3000" dirty="0"/>
          </a:p>
        </p:txBody>
      </p:sp>
      <p:sp>
        <p:nvSpPr>
          <p:cNvPr id="3" name="tag"/>
          <p:cNvSpPr/>
          <p:nvPr/>
        </p:nvSpPr>
        <p:spPr>
          <a:xfrm>
            <a:off x="548640" y="237744"/>
            <a:ext cx="1444752"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EXCEPTIONS</a:t>
            </a:r>
            <a:endParaRPr lang="en-US" sz="1200" dirty="0"/>
          </a:p>
        </p:txBody>
      </p:sp>
      <p:sp>
        <p:nvSpPr>
          <p:cNvPr id="5" name="Shape 2"/>
          <p:cNvSpPr/>
          <p:nvPr/>
        </p:nvSpPr>
        <p:spPr>
          <a:xfrm>
            <a:off x="548640" y="1463040"/>
            <a:ext cx="5440680" cy="4023360"/>
          </a:xfrm>
          <a:prstGeom prst="roundRect">
            <a:avLst>
              <a:gd name="adj" fmla="val 2727"/>
            </a:avLst>
          </a:prstGeom>
          <a:solidFill>
            <a:srgbClr val="FFFFFF"/>
          </a:solidFill>
          <a:ln w="25400">
            <a:solidFill>
              <a:srgbClr val="B83227"/>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463040"/>
            <a:ext cx="5440680" cy="594360"/>
          </a:xfrm>
          <a:prstGeom prst="roundRect">
            <a:avLst>
              <a:gd name="adj" fmla="val 18462"/>
            </a:avLst>
          </a:prstGeom>
          <a:solidFill>
            <a:schemeClr val="accent6"/>
          </a:solidFill>
          <a:ln w="12700">
            <a:solidFill>
              <a:srgbClr val="FFFFFF">
                <a:alpha val="0"/>
              </a:srgbClr>
            </a:solidFill>
            <a:prstDash val="solid"/>
          </a:ln>
        </p:spPr>
      </p:sp>
      <p:sp>
        <p:nvSpPr>
          <p:cNvPr id="7" name="Text 4"/>
          <p:cNvSpPr txBox="1"/>
          <p:nvPr/>
        </p:nvSpPr>
        <p:spPr>
          <a:xfrm>
            <a:off x="548640" y="1463040"/>
            <a:ext cx="5440680" cy="594360"/>
          </a:xfrm>
          <a:prstGeom prst="rect">
            <a:avLst/>
          </a:prstGeom>
          <a:noFill/>
          <a:ln/>
        </p:spPr>
        <p:txBody>
          <a:bodyPr wrap="square" lIns="0" tIns="0" rIns="0" bIns="0" rtlCol="0" anchor="ctr"/>
          <a:lstStyle/>
          <a:p>
            <a:pPr algn="ctr" indent="0" marL="0">
              <a:buNone/>
            </a:pPr>
            <a:r>
              <a:rPr lang="en-US" sz="2400" b="1" dirty="0">
                <a:solidFill>
                  <a:schemeClr val="bg1"/>
                </a:solidFill>
              </a:rPr>
              <a:t>GONE</a:t>
            </a:r>
            <a:endParaRPr lang="en-US" sz="2400" dirty="0"/>
          </a:p>
        </p:txBody>
      </p:sp>
      <p:sp>
        <p:nvSpPr>
          <p:cNvPr id="8" name="Text 5"/>
          <p:cNvSpPr txBox="1"/>
          <p:nvPr/>
        </p:nvSpPr>
        <p:spPr>
          <a:xfrm>
            <a:off x="731520" y="2103120"/>
            <a:ext cx="5074920" cy="411480"/>
          </a:xfrm>
          <a:prstGeom prst="rect">
            <a:avLst/>
          </a:prstGeom>
          <a:noFill/>
          <a:ln/>
        </p:spPr>
        <p:txBody>
          <a:bodyPr wrap="square" lIns="0" tIns="0" rIns="0" bIns="0" rtlCol="0" anchor="ctr"/>
          <a:lstStyle/>
          <a:p>
            <a:pPr algn="ctr" indent="0" marL="0">
              <a:buNone/>
            </a:pPr>
            <a:r>
              <a:rPr lang="en-US" sz="1500" i="1" dirty="0">
                <a:solidFill>
                  <a:schemeClr val="accent6"/>
                </a:solidFill>
              </a:rPr>
              <a:t>one-way trip: he is there now</a:t>
            </a:r>
            <a:endParaRPr lang="en-US" sz="1500" dirty="0"/>
          </a:p>
        </p:txBody>
      </p:sp>
      <p:pic>
        <p:nvPicPr>
          <p:cNvPr id="9" name="Image 0" descr="house">    </p:cNvPr>
          <p:cNvPicPr>
            <a:picLocks noChangeAspect="1"/>
          </p:cNvPicPr>
          <p:nvPr/>
        </p:nvPicPr>
        <p:blipFill>
          <a:blip r:embed="rId1"/>
          <a:stretch>
            <a:fillRect/>
          </a:stretch>
        </p:blipFill>
        <p:spPr>
          <a:xfrm>
            <a:off x="1005840" y="2651760"/>
            <a:ext cx="1005840" cy="1005840"/>
          </a:xfrm>
          <a:prstGeom prst="rect">
            <a:avLst/>
          </a:prstGeom>
        </p:spPr>
      </p:pic>
      <p:pic>
        <p:nvPicPr>
          <p:cNvPr id="10" name="Image 1" descr="airplane">    </p:cNvPr>
          <p:cNvPicPr>
            <a:picLocks noChangeAspect="1"/>
          </p:cNvPicPr>
          <p:nvPr/>
        </p:nvPicPr>
        <p:blipFill>
          <a:blip r:embed="rId2"/>
          <a:stretch>
            <a:fillRect/>
          </a:stretch>
        </p:blipFill>
        <p:spPr>
          <a:xfrm>
            <a:off x="2743200" y="2514600"/>
            <a:ext cx="731520" cy="731520"/>
          </a:xfrm>
          <a:prstGeom prst="rect">
            <a:avLst/>
          </a:prstGeom>
        </p:spPr>
      </p:pic>
      <p:sp>
        <p:nvSpPr>
          <p:cNvPr id="11" name="Text 6"/>
          <p:cNvSpPr txBox="1"/>
          <p:nvPr/>
        </p:nvSpPr>
        <p:spPr>
          <a:xfrm>
            <a:off x="4206240" y="2880360"/>
            <a:ext cx="1463040" cy="457200"/>
          </a:xfrm>
          <a:prstGeom prst="rect">
            <a:avLst/>
          </a:prstGeom>
          <a:noFill/>
          <a:ln/>
        </p:spPr>
        <p:txBody>
          <a:bodyPr wrap="square" lIns="0" tIns="0" rIns="0" bIns="0" rtlCol="0" anchor="ctr"/>
          <a:lstStyle/>
          <a:p>
            <a:pPr algn="ctr" indent="0" marL="0">
              <a:buNone/>
            </a:pPr>
            <a:r>
              <a:rPr lang="en-US" sz="1500" b="1" dirty="0">
                <a:solidFill>
                  <a:schemeClr val="tx2"/>
                </a:solidFill>
              </a:rPr>
              <a:t>PARIS</a:t>
            </a:r>
            <a:endParaRPr lang="en-US" sz="1500" dirty="0"/>
          </a:p>
        </p:txBody>
      </p:sp>
      <p:pic>
        <p:nvPicPr>
          <p:cNvPr id="12" name="Image 2" descr="man walking">    </p:cNvPr>
          <p:cNvPicPr>
            <a:picLocks noChangeAspect="1"/>
          </p:cNvPicPr>
          <p:nvPr/>
        </p:nvPicPr>
        <p:blipFill>
          <a:blip r:embed="rId3"/>
          <a:stretch>
            <a:fillRect/>
          </a:stretch>
        </p:blipFill>
        <p:spPr>
          <a:xfrm>
            <a:off x="4526280" y="3291840"/>
            <a:ext cx="822960" cy="822960"/>
          </a:xfrm>
          <a:prstGeom prst="rect">
            <a:avLst/>
          </a:prstGeom>
        </p:spPr>
      </p:pic>
      <p:sp>
        <p:nvSpPr>
          <p:cNvPr id="13" name="Shape 7"/>
          <p:cNvSpPr/>
          <p:nvPr/>
        </p:nvSpPr>
        <p:spPr>
          <a:xfrm>
            <a:off x="2103120" y="3429000"/>
            <a:ext cx="2194560" cy="914"/>
          </a:xfrm>
          <a:prstGeom prst="line">
            <a:avLst/>
          </a:prstGeom>
          <a:noFill/>
          <a:ln w="38100">
            <a:solidFill>
              <a:srgbClr val="B83227"/>
            </a:solidFill>
            <a:prstDash val="solid"/>
            <a:tailEnd type="triangle"/>
          </a:ln>
        </p:spPr>
      </p:sp>
      <p:sp>
        <p:nvSpPr>
          <p:cNvPr id="14" name="Text 8"/>
          <p:cNvSpPr txBox="1"/>
          <p:nvPr/>
        </p:nvSpPr>
        <p:spPr>
          <a:xfrm>
            <a:off x="731520" y="4251960"/>
            <a:ext cx="5074920" cy="548640"/>
          </a:xfrm>
          <a:prstGeom prst="rect">
            <a:avLst/>
          </a:prstGeom>
          <a:noFill/>
          <a:ln/>
        </p:spPr>
        <p:txBody>
          <a:bodyPr wrap="square" lIns="0" tIns="0" rIns="0" bIns="0" rtlCol="0" anchor="ctr"/>
          <a:lstStyle/>
          <a:p>
            <a:pPr algn="ctr" indent="0" marL="0">
              <a:buNone/>
            </a:pPr>
            <a:r>
              <a:rPr lang="en-US" sz="2200" i="1" dirty="0">
                <a:solidFill>
                  <a:schemeClr val="tx1"/>
                </a:solidFill>
              </a:rPr>
              <a:t>Tom </a:t>
            </a:r>
            <a:r>
              <a:rPr lang="en-US" sz="2200" b="1" i="1" dirty="0">
                <a:solidFill>
                  <a:srgbClr val="17375E"/>
                </a:solidFill>
              </a:rPr>
              <a:t>has</a:t>
            </a:r>
            <a:r>
              <a:rPr lang="en-US" sz="2200" i="1" dirty="0">
                <a:solidFill>
                  <a:schemeClr val="tx1"/>
                </a:solidFill>
              </a:rPr>
              <a:t> </a:t>
            </a:r>
            <a:r>
              <a:rPr lang="en-US" sz="2200" b="1" i="1" dirty="0">
                <a:solidFill>
                  <a:srgbClr val="2A6FB0"/>
                </a:solidFill>
              </a:rPr>
              <a:t>gone</a:t>
            </a:r>
            <a:r>
              <a:rPr lang="en-US" sz="2200" i="1" dirty="0">
                <a:solidFill>
                  <a:schemeClr val="tx1"/>
                </a:solidFill>
              </a:rPr>
              <a:t> to Paris.</a:t>
            </a:r>
            <a:endParaRPr lang="en-US" sz="1800" dirty="0"/>
          </a:p>
        </p:txBody>
      </p:sp>
      <p:sp>
        <p:nvSpPr>
          <p:cNvPr id="15" name="Text 9"/>
          <p:cNvSpPr txBox="1"/>
          <p:nvPr/>
        </p:nvSpPr>
        <p:spPr>
          <a:xfrm>
            <a:off x="731520" y="4800600"/>
            <a:ext cx="5074920" cy="457200"/>
          </a:xfrm>
          <a:prstGeom prst="rect">
            <a:avLst/>
          </a:prstGeom>
          <a:noFill/>
          <a:ln/>
        </p:spPr>
        <p:txBody>
          <a:bodyPr wrap="square" lIns="0" tIns="0" rIns="0" bIns="0" rtlCol="0" anchor="ctr"/>
          <a:lstStyle/>
          <a:p>
            <a:pPr algn="ctr" indent="0" marL="0">
              <a:buNone/>
            </a:pPr>
            <a:r>
              <a:rPr lang="en-US" sz="1500" i="1" dirty="0">
                <a:solidFill>
                  <a:schemeClr val="accent5"/>
                </a:solidFill>
              </a:rPr>
              <a:t>(He is in Paris now.)</a:t>
            </a:r>
            <a:endParaRPr lang="en-US" sz="1500" dirty="0"/>
          </a:p>
        </p:txBody>
      </p:sp>
      <p:sp>
        <p:nvSpPr>
          <p:cNvPr id="16" name="Shape 10"/>
          <p:cNvSpPr/>
          <p:nvPr/>
        </p:nvSpPr>
        <p:spPr>
          <a:xfrm>
            <a:off x="6199632" y="1463040"/>
            <a:ext cx="5440680" cy="4023360"/>
          </a:xfrm>
          <a:prstGeom prst="roundRect">
            <a:avLst>
              <a:gd name="adj" fmla="val 2727"/>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17" name="Shape 11"/>
          <p:cNvSpPr/>
          <p:nvPr/>
        </p:nvSpPr>
        <p:spPr>
          <a:xfrm>
            <a:off x="6199632" y="1463040"/>
            <a:ext cx="5440680" cy="594360"/>
          </a:xfrm>
          <a:prstGeom prst="roundRect">
            <a:avLst>
              <a:gd name="adj" fmla="val 18462"/>
            </a:avLst>
          </a:prstGeom>
          <a:solidFill>
            <a:schemeClr val="accent3"/>
          </a:solidFill>
          <a:ln w="12700">
            <a:solidFill>
              <a:srgbClr val="FFFFFF">
                <a:alpha val="0"/>
              </a:srgbClr>
            </a:solidFill>
            <a:prstDash val="solid"/>
          </a:ln>
        </p:spPr>
      </p:sp>
      <p:sp>
        <p:nvSpPr>
          <p:cNvPr id="18" name="Text 12"/>
          <p:cNvSpPr txBox="1"/>
          <p:nvPr/>
        </p:nvSpPr>
        <p:spPr>
          <a:xfrm>
            <a:off x="6199632" y="1463040"/>
            <a:ext cx="5440680" cy="594360"/>
          </a:xfrm>
          <a:prstGeom prst="rect">
            <a:avLst/>
          </a:prstGeom>
          <a:noFill/>
          <a:ln/>
        </p:spPr>
        <p:txBody>
          <a:bodyPr wrap="square" lIns="0" tIns="0" rIns="0" bIns="0" rtlCol="0" anchor="ctr"/>
          <a:lstStyle/>
          <a:p>
            <a:pPr algn="ctr" indent="0" marL="0">
              <a:buNone/>
            </a:pPr>
            <a:r>
              <a:rPr lang="en-US" sz="2400" b="1" dirty="0">
                <a:solidFill>
                  <a:schemeClr val="bg1"/>
                </a:solidFill>
              </a:rPr>
              <a:t>BEEN</a:t>
            </a:r>
            <a:endParaRPr lang="en-US" sz="2400" dirty="0"/>
          </a:p>
        </p:txBody>
      </p:sp>
      <p:sp>
        <p:nvSpPr>
          <p:cNvPr id="19" name="Text 13"/>
          <p:cNvSpPr txBox="1"/>
          <p:nvPr/>
        </p:nvSpPr>
        <p:spPr>
          <a:xfrm>
            <a:off x="6382512" y="2103120"/>
            <a:ext cx="5074920" cy="411480"/>
          </a:xfrm>
          <a:prstGeom prst="rect">
            <a:avLst/>
          </a:prstGeom>
          <a:noFill/>
          <a:ln/>
        </p:spPr>
        <p:txBody>
          <a:bodyPr wrap="square" lIns="0" tIns="0" rIns="0" bIns="0" rtlCol="0" anchor="ctr"/>
          <a:lstStyle/>
          <a:p>
            <a:pPr algn="ctr" indent="0" marL="0">
              <a:buNone/>
            </a:pPr>
            <a:r>
              <a:rPr lang="en-US" sz="1500" i="1" dirty="0">
                <a:solidFill>
                  <a:schemeClr val="accent3"/>
                </a:solidFill>
              </a:rPr>
              <a:t>return trip: he is back</a:t>
            </a:r>
            <a:endParaRPr lang="en-US" sz="1500" dirty="0"/>
          </a:p>
        </p:txBody>
      </p:sp>
      <p:pic>
        <p:nvPicPr>
          <p:cNvPr id="20" name="Image 3" descr="house">    </p:cNvPr>
          <p:cNvPicPr>
            <a:picLocks noChangeAspect="1"/>
          </p:cNvPicPr>
          <p:nvPr/>
        </p:nvPicPr>
        <p:blipFill>
          <a:blip r:embed="rId4"/>
          <a:stretch>
            <a:fillRect/>
          </a:stretch>
        </p:blipFill>
        <p:spPr>
          <a:xfrm>
            <a:off x="6656832" y="2651760"/>
            <a:ext cx="1005840" cy="1005840"/>
          </a:xfrm>
          <a:prstGeom prst="rect">
            <a:avLst/>
          </a:prstGeom>
        </p:spPr>
      </p:pic>
      <p:pic>
        <p:nvPicPr>
          <p:cNvPr id="21" name="Image 4" descr="airplane">    </p:cNvPr>
          <p:cNvPicPr>
            <a:picLocks noChangeAspect="1"/>
          </p:cNvPicPr>
          <p:nvPr/>
        </p:nvPicPr>
        <p:blipFill>
          <a:blip r:embed="rId5"/>
          <a:stretch>
            <a:fillRect/>
          </a:stretch>
        </p:blipFill>
        <p:spPr>
          <a:xfrm>
            <a:off x="8394192" y="2514600"/>
            <a:ext cx="731520" cy="731520"/>
          </a:xfrm>
          <a:prstGeom prst="rect">
            <a:avLst/>
          </a:prstGeom>
        </p:spPr>
      </p:pic>
      <p:sp>
        <p:nvSpPr>
          <p:cNvPr id="22" name="Text 14"/>
          <p:cNvSpPr txBox="1"/>
          <p:nvPr/>
        </p:nvSpPr>
        <p:spPr>
          <a:xfrm>
            <a:off x="9857232" y="2880360"/>
            <a:ext cx="1463040" cy="457200"/>
          </a:xfrm>
          <a:prstGeom prst="rect">
            <a:avLst/>
          </a:prstGeom>
          <a:noFill/>
          <a:ln/>
        </p:spPr>
        <p:txBody>
          <a:bodyPr wrap="square" lIns="0" tIns="0" rIns="0" bIns="0" rtlCol="0" anchor="ctr"/>
          <a:lstStyle/>
          <a:p>
            <a:pPr algn="ctr" indent="0" marL="0">
              <a:buNone/>
            </a:pPr>
            <a:r>
              <a:rPr lang="en-US" sz="1500" b="1" dirty="0">
                <a:solidFill>
                  <a:schemeClr val="tx2"/>
                </a:solidFill>
              </a:rPr>
              <a:t>PARIS</a:t>
            </a:r>
            <a:endParaRPr lang="en-US" sz="1500" dirty="0"/>
          </a:p>
        </p:txBody>
      </p:sp>
      <p:pic>
        <p:nvPicPr>
          <p:cNvPr id="23" name="Image 5" descr="man walking">    </p:cNvPr>
          <p:cNvPicPr>
            <a:picLocks noChangeAspect="1"/>
          </p:cNvPicPr>
          <p:nvPr/>
        </p:nvPicPr>
        <p:blipFill>
          <a:blip r:embed="rId6"/>
          <a:stretch>
            <a:fillRect/>
          </a:stretch>
        </p:blipFill>
        <p:spPr>
          <a:xfrm>
            <a:off x="10177272" y="3291840"/>
            <a:ext cx="822960" cy="822960"/>
          </a:xfrm>
          <a:prstGeom prst="rect">
            <a:avLst/>
          </a:prstGeom>
        </p:spPr>
      </p:pic>
      <p:sp>
        <p:nvSpPr>
          <p:cNvPr id="24" name="Shape 15"/>
          <p:cNvSpPr/>
          <p:nvPr/>
        </p:nvSpPr>
        <p:spPr>
          <a:xfrm>
            <a:off x="7754112" y="3429000"/>
            <a:ext cx="2194560" cy="914"/>
          </a:xfrm>
          <a:prstGeom prst="line">
            <a:avLst/>
          </a:prstGeom>
          <a:noFill/>
          <a:ln w="38100">
            <a:solidFill>
              <a:srgbClr val="2E7D4F"/>
            </a:solidFill>
            <a:prstDash val="solid"/>
            <a:tailEnd type="triangle"/>
          </a:ln>
        </p:spPr>
      </p:sp>
      <p:sp>
        <p:nvSpPr>
          <p:cNvPr id="25" name="Shape 16"/>
          <p:cNvSpPr/>
          <p:nvPr/>
        </p:nvSpPr>
        <p:spPr>
          <a:xfrm flipH="1">
            <a:off x="7754112" y="3794760"/>
            <a:ext cx="2194560" cy="914"/>
          </a:xfrm>
          <a:prstGeom prst="line">
            <a:avLst/>
          </a:prstGeom>
          <a:noFill/>
          <a:ln w="38100">
            <a:solidFill>
              <a:srgbClr val="2E7D4F"/>
            </a:solidFill>
            <a:prstDash val="solid"/>
            <a:tailEnd type="triangle"/>
          </a:ln>
        </p:spPr>
      </p:sp>
      <p:sp>
        <p:nvSpPr>
          <p:cNvPr id="26" name="Text 17"/>
          <p:cNvSpPr txBox="1"/>
          <p:nvPr/>
        </p:nvSpPr>
        <p:spPr>
          <a:xfrm>
            <a:off x="6382512" y="4251960"/>
            <a:ext cx="5074920" cy="548640"/>
          </a:xfrm>
          <a:prstGeom prst="rect">
            <a:avLst/>
          </a:prstGeom>
          <a:noFill/>
          <a:ln/>
        </p:spPr>
        <p:txBody>
          <a:bodyPr wrap="square" lIns="0" tIns="0" rIns="0" bIns="0" rtlCol="0" anchor="ctr"/>
          <a:lstStyle/>
          <a:p>
            <a:pPr algn="ctr" indent="0" marL="0">
              <a:buNone/>
            </a:pPr>
            <a:r>
              <a:rPr lang="en-US" sz="2200" i="1" dirty="0">
                <a:solidFill>
                  <a:schemeClr val="tx1"/>
                </a:solidFill>
              </a:rPr>
              <a:t>Tom </a:t>
            </a:r>
            <a:r>
              <a:rPr lang="en-US" sz="2200" b="1" i="1" dirty="0">
                <a:solidFill>
                  <a:srgbClr val="17375E"/>
                </a:solidFill>
              </a:rPr>
              <a:t>has</a:t>
            </a:r>
            <a:r>
              <a:rPr lang="en-US" sz="2200" i="1" dirty="0">
                <a:solidFill>
                  <a:schemeClr val="tx1"/>
                </a:solidFill>
              </a:rPr>
              <a:t> </a:t>
            </a:r>
            <a:r>
              <a:rPr lang="en-US" sz="2200" b="1" i="1" dirty="0">
                <a:solidFill>
                  <a:srgbClr val="2A6FB0"/>
                </a:solidFill>
              </a:rPr>
              <a:t>been</a:t>
            </a:r>
            <a:r>
              <a:rPr lang="en-US" sz="2200" i="1" dirty="0">
                <a:solidFill>
                  <a:schemeClr val="tx1"/>
                </a:solidFill>
              </a:rPr>
              <a:t> to Paris.</a:t>
            </a:r>
            <a:endParaRPr lang="en-US" sz="1800" dirty="0"/>
          </a:p>
        </p:txBody>
      </p:sp>
      <p:sp>
        <p:nvSpPr>
          <p:cNvPr id="27" name="Text 18"/>
          <p:cNvSpPr txBox="1"/>
          <p:nvPr/>
        </p:nvSpPr>
        <p:spPr>
          <a:xfrm>
            <a:off x="6382512" y="4800600"/>
            <a:ext cx="5074920" cy="457200"/>
          </a:xfrm>
          <a:prstGeom prst="rect">
            <a:avLst/>
          </a:prstGeom>
          <a:noFill/>
          <a:ln/>
        </p:spPr>
        <p:txBody>
          <a:bodyPr wrap="square" lIns="0" tIns="0" rIns="0" bIns="0" rtlCol="0" anchor="ctr"/>
          <a:lstStyle/>
          <a:p>
            <a:pPr algn="ctr" indent="0" marL="0">
              <a:buNone/>
            </a:pPr>
            <a:r>
              <a:rPr lang="en-US" sz="1500" i="1" dirty="0">
                <a:solidFill>
                  <a:schemeClr val="accent5"/>
                </a:solidFill>
              </a:rPr>
              <a:t>(He went and came back.)</a:t>
            </a:r>
            <a:endParaRPr lang="en-US" sz="1500" dirty="0"/>
          </a:p>
        </p:txBody>
      </p:sp>
      <p:sp>
        <p:nvSpPr>
          <p:cNvPr id="28" name="Shape 19"/>
          <p:cNvSpPr/>
          <p:nvPr/>
        </p:nvSpPr>
        <p:spPr>
          <a:xfrm>
            <a:off x="548640" y="5669280"/>
            <a:ext cx="11091672" cy="548640"/>
          </a:xfrm>
          <a:prstGeom prst="roundRect">
            <a:avLst>
              <a:gd name="adj" fmla="val 13333"/>
            </a:avLst>
          </a:prstGeom>
          <a:solidFill>
            <a:schemeClr val="tx2"/>
          </a:solidFill>
          <a:ln w="12700">
            <a:solidFill>
              <a:srgbClr val="FFFFFF">
                <a:alpha val="0"/>
              </a:srgbClr>
            </a:solidFill>
            <a:prstDash val="solid"/>
          </a:ln>
        </p:spPr>
      </p:sp>
      <p:sp>
        <p:nvSpPr>
          <p:cNvPr id="29" name="Text 20"/>
          <p:cNvSpPr txBox="1"/>
          <p:nvPr/>
        </p:nvSpPr>
        <p:spPr>
          <a:xfrm>
            <a:off x="822960" y="5669280"/>
            <a:ext cx="10607040" cy="548640"/>
          </a:xfrm>
          <a:prstGeom prst="rect">
            <a:avLst/>
          </a:prstGeom>
          <a:noFill/>
          <a:ln/>
        </p:spPr>
        <p:txBody>
          <a:bodyPr wrap="square" lIns="0" tIns="0" rIns="0" bIns="0" rtlCol="0" anchor="ctr"/>
          <a:lstStyle/>
          <a:p>
            <a:pPr algn="l" indent="0" marL="0">
              <a:buNone/>
            </a:pPr>
            <a:r>
              <a:rPr lang="en-US" sz="1550" i="1" dirty="0">
                <a:solidFill>
                  <a:schemeClr val="bg1"/>
                </a:solidFill>
              </a:rPr>
              <a:t>go</a:t>
            </a:r>
            <a:r>
              <a:rPr lang="en-US" sz="1550" dirty="0">
                <a:solidFill>
                  <a:schemeClr val="bg1"/>
                </a:solidFill>
              </a:rPr>
              <a:t> a deux participes : </a:t>
            </a:r>
            <a:r>
              <a:rPr lang="en-US" sz="1550" b="1" i="1" dirty="0">
                <a:solidFill>
                  <a:schemeClr val="bg1"/>
                </a:solidFill>
              </a:rPr>
              <a:t>gone</a:t>
            </a:r>
            <a:r>
              <a:rPr lang="en-US" sz="1550" dirty="0">
                <a:solidFill>
                  <a:schemeClr val="bg1"/>
                </a:solidFill>
              </a:rPr>
              <a:t> (il y est encore) · </a:t>
            </a:r>
            <a:r>
              <a:rPr lang="en-US" sz="1550" b="1" i="1" dirty="0">
                <a:solidFill>
                  <a:schemeClr val="bg1"/>
                </a:solidFill>
              </a:rPr>
              <a:t>been</a:t>
            </a:r>
            <a:r>
              <a:rPr lang="en-US" sz="1550" dirty="0">
                <a:solidFill>
                  <a:schemeClr val="bg1"/>
                </a:solidFill>
              </a:rPr>
              <a:t> (il est allé et revenu → l’expérience).</a:t>
            </a:r>
            <a:endParaRPr lang="en-US" sz="15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Result now: just, already, yet</a:t>
            </a:r>
            <a:endParaRPr lang="en-US" sz="3000" dirty="0"/>
          </a:p>
        </p:txBody>
      </p:sp>
      <p:sp>
        <p:nvSpPr>
          <p:cNvPr id="3" name="tag"/>
          <p:cNvSpPr/>
          <p:nvPr/>
        </p:nvSpPr>
        <p:spPr>
          <a:xfrm>
            <a:off x="548640" y="237744"/>
            <a:ext cx="905256"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USE 2</a:t>
            </a:r>
            <a:endParaRPr lang="en-US" sz="1200" dirty="0"/>
          </a:p>
        </p:txBody>
      </p:sp>
      <p:sp>
        <p:nvSpPr>
          <p:cNvPr id="5" name="Shape 2"/>
          <p:cNvSpPr/>
          <p:nvPr/>
        </p:nvSpPr>
        <p:spPr>
          <a:xfrm>
            <a:off x="548640" y="1463040"/>
            <a:ext cx="3575304" cy="2514600"/>
          </a:xfrm>
          <a:prstGeom prst="roundRect">
            <a:avLst>
              <a:gd name="adj" fmla="val 4364"/>
            </a:avLst>
          </a:prstGeom>
          <a:solidFill>
            <a:srgbClr val="FFFFFF"/>
          </a:solidFill>
          <a:ln w="22225">
            <a:solidFill>
              <a:srgbClr val="2A6FB0"/>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731520" y="1572768"/>
            <a:ext cx="976023" cy="457200"/>
          </a:xfrm>
          <a:prstGeom prst="roundRect">
            <a:avLst>
              <a:gd name="adj" fmla="val 24000"/>
            </a:avLst>
          </a:prstGeom>
          <a:solidFill>
            <a:schemeClr val="accent1"/>
          </a:solidFill>
          <a:ln w="12700">
            <a:solidFill>
              <a:srgbClr val="FFFFFF">
                <a:alpha val="0"/>
              </a:srgbClr>
            </a:solidFill>
            <a:prstDash val="solid"/>
          </a:ln>
        </p:spPr>
      </p:sp>
      <p:sp>
        <p:nvSpPr>
          <p:cNvPr id="7" name="Text 4"/>
          <p:cNvSpPr txBox="1"/>
          <p:nvPr/>
        </p:nvSpPr>
        <p:spPr>
          <a:xfrm>
            <a:off x="731520" y="1572768"/>
            <a:ext cx="976023" cy="457200"/>
          </a:xfrm>
          <a:prstGeom prst="rect">
            <a:avLst/>
          </a:prstGeom>
          <a:noFill/>
          <a:ln/>
        </p:spPr>
        <p:txBody>
          <a:bodyPr wrap="square" lIns="0" tIns="0" rIns="0" bIns="0" rtlCol="0" anchor="ctr"/>
          <a:lstStyle/>
          <a:p>
            <a:pPr algn="ctr" indent="0" marL="0">
              <a:buNone/>
            </a:pPr>
            <a:r>
              <a:rPr lang="en-US" sz="1800" b="1" dirty="0">
                <a:solidFill>
                  <a:schemeClr val="bg1"/>
                </a:solidFill>
              </a:rPr>
              <a:t>JUST</a:t>
            </a:r>
            <a:endParaRPr lang="en-US" sz="1800" dirty="0"/>
          </a:p>
        </p:txBody>
      </p:sp>
      <p:sp>
        <p:nvSpPr>
          <p:cNvPr id="8" name="Text 5"/>
          <p:cNvSpPr txBox="1"/>
          <p:nvPr/>
        </p:nvSpPr>
        <p:spPr>
          <a:xfrm>
            <a:off x="731520" y="2084832"/>
            <a:ext cx="3209544" cy="365760"/>
          </a:xfrm>
          <a:prstGeom prst="rect">
            <a:avLst/>
          </a:prstGeom>
          <a:noFill/>
          <a:ln/>
        </p:spPr>
        <p:txBody>
          <a:bodyPr wrap="square" lIns="0" tIns="0" rIns="0" bIns="0" rtlCol="0" anchor="ctr"/>
          <a:lstStyle/>
          <a:p>
            <a:pPr algn="l" indent="0" marL="0">
              <a:buNone/>
            </a:pPr>
            <a:r>
              <a:rPr lang="en-US" sz="1400" i="1" dirty="0">
                <a:solidFill>
                  <a:schemeClr val="tx2"/>
                </a:solidFill>
              </a:rPr>
              <a:t>à l’instant</a:t>
            </a:r>
            <a:endParaRPr lang="en-US" sz="1400" dirty="0"/>
          </a:p>
        </p:txBody>
      </p:sp>
      <p:sp>
        <p:nvSpPr>
          <p:cNvPr id="9" name="Shape 6"/>
          <p:cNvSpPr/>
          <p:nvPr/>
        </p:nvSpPr>
        <p:spPr>
          <a:xfrm>
            <a:off x="822960" y="2761488"/>
            <a:ext cx="3026664" cy="914"/>
          </a:xfrm>
          <a:prstGeom prst="line">
            <a:avLst/>
          </a:prstGeom>
          <a:noFill/>
          <a:ln w="19050">
            <a:solidFill>
              <a:srgbClr val="8A96A8"/>
            </a:solidFill>
            <a:prstDash val="solid"/>
            <a:tailEnd type="triangle"/>
          </a:ln>
        </p:spPr>
      </p:sp>
      <p:sp>
        <p:nvSpPr>
          <p:cNvPr id="10" name="Shape 7"/>
          <p:cNvSpPr/>
          <p:nvPr/>
        </p:nvSpPr>
        <p:spPr>
          <a:xfrm>
            <a:off x="3277392" y="2578608"/>
            <a:ext cx="54864" cy="365760"/>
          </a:xfrm>
          <a:prstGeom prst="rect">
            <a:avLst/>
          </a:prstGeom>
          <a:solidFill>
            <a:schemeClr val="accent6"/>
          </a:solidFill>
          <a:ln w="12700">
            <a:solidFill>
              <a:srgbClr val="FFFFFF">
                <a:alpha val="0"/>
              </a:srgbClr>
            </a:solidFill>
            <a:prstDash val="solid"/>
          </a:ln>
        </p:spPr>
      </p:sp>
      <p:sp>
        <p:nvSpPr>
          <p:cNvPr id="11" name="Shape 8"/>
          <p:cNvSpPr/>
          <p:nvPr/>
        </p:nvSpPr>
        <p:spPr>
          <a:xfrm>
            <a:off x="2902488" y="2679192"/>
            <a:ext cx="164592" cy="164592"/>
          </a:xfrm>
          <a:prstGeom prst="ellipse">
            <a:avLst/>
          </a:prstGeom>
          <a:solidFill>
            <a:schemeClr val="accent2"/>
          </a:solidFill>
          <a:ln w="12700">
            <a:solidFill>
              <a:srgbClr val="FFFFFF">
                <a:alpha val="0"/>
              </a:srgbClr>
            </a:solidFill>
            <a:prstDash val="solid"/>
          </a:ln>
        </p:spPr>
      </p:sp>
      <p:sp>
        <p:nvSpPr>
          <p:cNvPr id="12" name="Shape 9"/>
          <p:cNvSpPr/>
          <p:nvPr/>
        </p:nvSpPr>
        <p:spPr>
          <a:xfrm>
            <a:off x="2984784" y="2395728"/>
            <a:ext cx="292608" cy="640080"/>
          </a:xfrm>
          <a:prstGeom prst="arc">
            <a:avLst>
              <a:gd name="adj1" fmla="val 10800000"/>
              <a:gd name="adj2" fmla="val 21600000"/>
            </a:avLst>
          </a:prstGeom>
          <a:solidFill>
            <a:srgbClr val="FFFFFF">
              <a:alpha val="0"/>
            </a:srgbClr>
          </a:solidFill>
          <a:ln w="25400">
            <a:solidFill>
              <a:srgbClr val="2A6FB0"/>
            </a:solidFill>
            <a:prstDash val="solid"/>
            <a:tailEnd type="triangle"/>
          </a:ln>
        </p:spPr>
      </p:sp>
      <p:sp>
        <p:nvSpPr>
          <p:cNvPr id="13" name="Text 10"/>
          <p:cNvSpPr txBox="1"/>
          <p:nvPr/>
        </p:nvSpPr>
        <p:spPr>
          <a:xfrm>
            <a:off x="731520" y="3063240"/>
            <a:ext cx="3209544" cy="502920"/>
          </a:xfrm>
          <a:prstGeom prst="rect">
            <a:avLst/>
          </a:prstGeom>
          <a:noFill/>
          <a:ln/>
        </p:spPr>
        <p:txBody>
          <a:bodyPr wrap="square" lIns="0" tIns="0" rIns="0" bIns="0" rtlCol="0" anchor="ctr"/>
          <a:lstStyle/>
          <a:p>
            <a:pPr algn="l" indent="0" marL="0">
              <a:buNone/>
            </a:pPr>
            <a:r>
              <a:rPr lang="en-US" sz="1600" i="1" dirty="0">
                <a:solidFill>
                  <a:schemeClr val="tx1"/>
                </a:solidFill>
              </a:rPr>
              <a:t>I’ve </a:t>
            </a:r>
            <a:r>
              <a:rPr lang="en-US" sz="1600" b="1" i="1" dirty="0">
                <a:solidFill>
                  <a:srgbClr val="D9700F"/>
                </a:solidFill>
              </a:rPr>
              <a:t>just</a:t>
            </a:r>
            <a:r>
              <a:rPr lang="en-US" sz="1600" i="1" dirty="0">
                <a:solidFill>
                  <a:schemeClr val="tx1"/>
                </a:solidFill>
              </a:rPr>
              <a:t> </a:t>
            </a:r>
            <a:r>
              <a:rPr lang="en-US" sz="1600" b="1" i="1" dirty="0">
                <a:solidFill>
                  <a:srgbClr val="2A6FB0"/>
                </a:solidFill>
              </a:rPr>
              <a:t>finished</a:t>
            </a:r>
            <a:r>
              <a:rPr lang="en-US" sz="1600" i="1" dirty="0">
                <a:solidFill>
                  <a:schemeClr val="tx1"/>
                </a:solidFill>
              </a:rPr>
              <a:t> the report.</a:t>
            </a:r>
            <a:endParaRPr lang="en-US" sz="1800" dirty="0"/>
          </a:p>
        </p:txBody>
      </p:sp>
      <p:sp>
        <p:nvSpPr>
          <p:cNvPr id="14" name="Text 11"/>
          <p:cNvSpPr txBox="1"/>
          <p:nvPr/>
        </p:nvSpPr>
        <p:spPr>
          <a:xfrm>
            <a:off x="731520" y="3566160"/>
            <a:ext cx="3209544" cy="320040"/>
          </a:xfrm>
          <a:prstGeom prst="rect">
            <a:avLst/>
          </a:prstGeom>
          <a:noFill/>
          <a:ln/>
        </p:spPr>
        <p:txBody>
          <a:bodyPr wrap="square" lIns="0" tIns="0" rIns="0" bIns="0" rtlCol="0" anchor="t"/>
          <a:lstStyle/>
          <a:p>
            <a:pPr algn="l" indent="0" marL="0">
              <a:buNone/>
            </a:pPr>
            <a:r>
              <a:rPr lang="en-US" sz="1200" b="1" i="1" dirty="0">
                <a:solidFill>
                  <a:schemeClr val="accent1"/>
                </a:solidFill>
              </a:rPr>
              <a:t>between have and the participle</a:t>
            </a:r>
            <a:endParaRPr lang="en-US" sz="1200" dirty="0"/>
          </a:p>
        </p:txBody>
      </p:sp>
      <p:sp>
        <p:nvSpPr>
          <p:cNvPr id="15" name="Shape 12"/>
          <p:cNvSpPr/>
          <p:nvPr/>
        </p:nvSpPr>
        <p:spPr>
          <a:xfrm>
            <a:off x="4306824" y="1463040"/>
            <a:ext cx="3575304" cy="2514600"/>
          </a:xfrm>
          <a:prstGeom prst="roundRect">
            <a:avLst>
              <a:gd name="adj" fmla="val 4364"/>
            </a:avLst>
          </a:prstGeom>
          <a:solidFill>
            <a:srgbClr val="FFFFFF"/>
          </a:solidFill>
          <a:ln w="22225">
            <a:solidFill>
              <a:srgbClr val="2A6FB0"/>
            </a:solidFill>
            <a:prstDash val="solid"/>
          </a:ln>
          <a:effectLst>
            <a:outerShdw sx="100000" sy="100000" kx="0" ky="0" algn="bl" rotWithShape="0" blurRad="101600" dist="25400" dir="3600000">
              <a:srgbClr val="000000">
                <a:alpha val="16000"/>
              </a:srgbClr>
            </a:outerShdw>
          </a:effectLst>
        </p:spPr>
      </p:sp>
      <p:sp>
        <p:nvSpPr>
          <p:cNvPr id="16" name="Shape 13"/>
          <p:cNvSpPr/>
          <p:nvPr/>
        </p:nvSpPr>
        <p:spPr>
          <a:xfrm>
            <a:off x="4489704" y="1572768"/>
            <a:ext cx="1407386" cy="457200"/>
          </a:xfrm>
          <a:prstGeom prst="roundRect">
            <a:avLst>
              <a:gd name="adj" fmla="val 24000"/>
            </a:avLst>
          </a:prstGeom>
          <a:solidFill>
            <a:schemeClr val="accent1"/>
          </a:solidFill>
          <a:ln w="12700">
            <a:solidFill>
              <a:srgbClr val="FFFFFF">
                <a:alpha val="0"/>
              </a:srgbClr>
            </a:solidFill>
            <a:prstDash val="solid"/>
          </a:ln>
        </p:spPr>
      </p:sp>
      <p:sp>
        <p:nvSpPr>
          <p:cNvPr id="17" name="Text 14"/>
          <p:cNvSpPr txBox="1"/>
          <p:nvPr/>
        </p:nvSpPr>
        <p:spPr>
          <a:xfrm>
            <a:off x="4489704" y="1572768"/>
            <a:ext cx="1407386" cy="457200"/>
          </a:xfrm>
          <a:prstGeom prst="rect">
            <a:avLst/>
          </a:prstGeom>
          <a:noFill/>
          <a:ln/>
        </p:spPr>
        <p:txBody>
          <a:bodyPr wrap="square" lIns="0" tIns="0" rIns="0" bIns="0" rtlCol="0" anchor="ctr"/>
          <a:lstStyle/>
          <a:p>
            <a:pPr algn="ctr" indent="0" marL="0">
              <a:buNone/>
            </a:pPr>
            <a:r>
              <a:rPr lang="en-US" sz="1800" b="1" dirty="0">
                <a:solidFill>
                  <a:schemeClr val="bg1"/>
                </a:solidFill>
              </a:rPr>
              <a:t>ALREADY</a:t>
            </a:r>
            <a:endParaRPr lang="en-US" sz="1800" dirty="0"/>
          </a:p>
        </p:txBody>
      </p:sp>
      <p:sp>
        <p:nvSpPr>
          <p:cNvPr id="18" name="Text 15"/>
          <p:cNvSpPr txBox="1"/>
          <p:nvPr/>
        </p:nvSpPr>
        <p:spPr>
          <a:xfrm>
            <a:off x="4489704" y="2084832"/>
            <a:ext cx="3209544" cy="365760"/>
          </a:xfrm>
          <a:prstGeom prst="rect">
            <a:avLst/>
          </a:prstGeom>
          <a:noFill/>
          <a:ln/>
        </p:spPr>
        <p:txBody>
          <a:bodyPr wrap="square" lIns="0" tIns="0" rIns="0" bIns="0" rtlCol="0" anchor="ctr"/>
          <a:lstStyle/>
          <a:p>
            <a:pPr algn="l" indent="0" marL="0">
              <a:buNone/>
            </a:pPr>
            <a:r>
              <a:rPr lang="en-US" sz="1400" i="1" dirty="0">
                <a:solidFill>
                  <a:schemeClr val="tx2"/>
                </a:solidFill>
              </a:rPr>
              <a:t>déjà (plus tôt que prévu)</a:t>
            </a:r>
            <a:endParaRPr lang="en-US" sz="1400" dirty="0"/>
          </a:p>
        </p:txBody>
      </p:sp>
      <p:sp>
        <p:nvSpPr>
          <p:cNvPr id="19" name="Shape 16"/>
          <p:cNvSpPr/>
          <p:nvPr/>
        </p:nvSpPr>
        <p:spPr>
          <a:xfrm>
            <a:off x="4581144" y="2761488"/>
            <a:ext cx="3026664" cy="914"/>
          </a:xfrm>
          <a:prstGeom prst="line">
            <a:avLst/>
          </a:prstGeom>
          <a:noFill/>
          <a:ln w="19050">
            <a:solidFill>
              <a:srgbClr val="8A96A8"/>
            </a:solidFill>
            <a:prstDash val="solid"/>
            <a:tailEnd type="triangle"/>
          </a:ln>
        </p:spPr>
      </p:sp>
      <p:sp>
        <p:nvSpPr>
          <p:cNvPr id="20" name="Shape 17"/>
          <p:cNvSpPr/>
          <p:nvPr/>
        </p:nvSpPr>
        <p:spPr>
          <a:xfrm>
            <a:off x="7035576" y="2578608"/>
            <a:ext cx="54864" cy="365760"/>
          </a:xfrm>
          <a:prstGeom prst="rect">
            <a:avLst/>
          </a:prstGeom>
          <a:solidFill>
            <a:schemeClr val="accent6"/>
          </a:solidFill>
          <a:ln w="12700">
            <a:solidFill>
              <a:srgbClr val="FFFFFF">
                <a:alpha val="0"/>
              </a:srgbClr>
            </a:solidFill>
            <a:prstDash val="solid"/>
          </a:ln>
        </p:spPr>
      </p:sp>
      <p:sp>
        <p:nvSpPr>
          <p:cNvPr id="21" name="Shape 18"/>
          <p:cNvSpPr/>
          <p:nvPr/>
        </p:nvSpPr>
        <p:spPr>
          <a:xfrm>
            <a:off x="6660672" y="2679192"/>
            <a:ext cx="164592" cy="164592"/>
          </a:xfrm>
          <a:prstGeom prst="ellipse">
            <a:avLst/>
          </a:prstGeom>
          <a:solidFill>
            <a:schemeClr val="accent2"/>
          </a:solidFill>
          <a:ln w="12700">
            <a:solidFill>
              <a:srgbClr val="FFFFFF">
                <a:alpha val="0"/>
              </a:srgbClr>
            </a:solidFill>
            <a:prstDash val="solid"/>
          </a:ln>
        </p:spPr>
      </p:sp>
      <p:sp>
        <p:nvSpPr>
          <p:cNvPr id="22" name="Shape 19"/>
          <p:cNvSpPr/>
          <p:nvPr/>
        </p:nvSpPr>
        <p:spPr>
          <a:xfrm>
            <a:off x="6742968" y="2395728"/>
            <a:ext cx="292608" cy="640080"/>
          </a:xfrm>
          <a:prstGeom prst="arc">
            <a:avLst>
              <a:gd name="adj1" fmla="val 10800000"/>
              <a:gd name="adj2" fmla="val 21600000"/>
            </a:avLst>
          </a:prstGeom>
          <a:solidFill>
            <a:srgbClr val="FFFFFF">
              <a:alpha val="0"/>
            </a:srgbClr>
          </a:solidFill>
          <a:ln w="25400">
            <a:solidFill>
              <a:srgbClr val="2A6FB0"/>
            </a:solidFill>
            <a:prstDash val="solid"/>
            <a:tailEnd type="triangle"/>
          </a:ln>
        </p:spPr>
      </p:sp>
      <p:sp>
        <p:nvSpPr>
          <p:cNvPr id="23" name="Text 20"/>
          <p:cNvSpPr txBox="1"/>
          <p:nvPr/>
        </p:nvSpPr>
        <p:spPr>
          <a:xfrm>
            <a:off x="4489704" y="3063240"/>
            <a:ext cx="3209544" cy="502920"/>
          </a:xfrm>
          <a:prstGeom prst="rect">
            <a:avLst/>
          </a:prstGeom>
          <a:noFill/>
          <a:ln/>
        </p:spPr>
        <p:txBody>
          <a:bodyPr wrap="square" lIns="0" tIns="0" rIns="0" bIns="0" rtlCol="0" anchor="ctr"/>
          <a:lstStyle/>
          <a:p>
            <a:pPr algn="l" indent="0" marL="0">
              <a:buNone/>
            </a:pPr>
            <a:r>
              <a:rPr lang="en-US" sz="1600" i="1" dirty="0">
                <a:solidFill>
                  <a:schemeClr val="tx1"/>
                </a:solidFill>
              </a:rPr>
              <a:t>She has </a:t>
            </a:r>
            <a:r>
              <a:rPr lang="en-US" sz="1600" b="1" i="1" dirty="0">
                <a:solidFill>
                  <a:srgbClr val="D9700F"/>
                </a:solidFill>
              </a:rPr>
              <a:t>already</a:t>
            </a:r>
            <a:r>
              <a:rPr lang="en-US" sz="1600" i="1" dirty="0">
                <a:solidFill>
                  <a:schemeClr val="tx1"/>
                </a:solidFill>
              </a:rPr>
              <a:t> </a:t>
            </a:r>
            <a:r>
              <a:rPr lang="en-US" sz="1600" b="1" i="1" dirty="0">
                <a:solidFill>
                  <a:srgbClr val="2A6FB0"/>
                </a:solidFill>
              </a:rPr>
              <a:t>left</a:t>
            </a:r>
            <a:r>
              <a:rPr lang="en-US" sz="1600" i="1" dirty="0">
                <a:solidFill>
                  <a:schemeClr val="tx1"/>
                </a:solidFill>
              </a:rPr>
              <a:t>.</a:t>
            </a:r>
            <a:endParaRPr lang="en-US" sz="1800" dirty="0"/>
          </a:p>
        </p:txBody>
      </p:sp>
      <p:sp>
        <p:nvSpPr>
          <p:cNvPr id="24" name="Text 21"/>
          <p:cNvSpPr txBox="1"/>
          <p:nvPr/>
        </p:nvSpPr>
        <p:spPr>
          <a:xfrm>
            <a:off x="4489704" y="3566160"/>
            <a:ext cx="3209544" cy="320040"/>
          </a:xfrm>
          <a:prstGeom prst="rect">
            <a:avLst/>
          </a:prstGeom>
          <a:noFill/>
          <a:ln/>
        </p:spPr>
        <p:txBody>
          <a:bodyPr wrap="square" lIns="0" tIns="0" rIns="0" bIns="0" rtlCol="0" anchor="t"/>
          <a:lstStyle/>
          <a:p>
            <a:pPr algn="l" indent="0" marL="0">
              <a:buNone/>
            </a:pPr>
            <a:r>
              <a:rPr lang="en-US" sz="1200" b="1" i="1" dirty="0">
                <a:solidFill>
                  <a:schemeClr val="accent1"/>
                </a:solidFill>
              </a:rPr>
              <a:t>between have and the participle</a:t>
            </a:r>
            <a:endParaRPr lang="en-US" sz="1200" dirty="0"/>
          </a:p>
        </p:txBody>
      </p:sp>
      <p:sp>
        <p:nvSpPr>
          <p:cNvPr id="25" name="Shape 22"/>
          <p:cNvSpPr/>
          <p:nvPr/>
        </p:nvSpPr>
        <p:spPr>
          <a:xfrm>
            <a:off x="8065008" y="1463040"/>
            <a:ext cx="3575304" cy="2514600"/>
          </a:xfrm>
          <a:prstGeom prst="roundRect">
            <a:avLst>
              <a:gd name="adj" fmla="val 4364"/>
            </a:avLst>
          </a:prstGeom>
          <a:solidFill>
            <a:srgbClr val="FFFFFF"/>
          </a:solidFill>
          <a:ln w="22225">
            <a:solidFill>
              <a:srgbClr val="2A6FB0"/>
            </a:solidFill>
            <a:prstDash val="solid"/>
          </a:ln>
          <a:effectLst>
            <a:outerShdw sx="100000" sy="100000" kx="0" ky="0" algn="bl" rotWithShape="0" blurRad="101600" dist="25400" dir="3600000">
              <a:srgbClr val="000000">
                <a:alpha val="16000"/>
              </a:srgbClr>
            </a:outerShdw>
          </a:effectLst>
        </p:spPr>
      </p:sp>
      <p:sp>
        <p:nvSpPr>
          <p:cNvPr id="26" name="Shape 23"/>
          <p:cNvSpPr/>
          <p:nvPr/>
        </p:nvSpPr>
        <p:spPr>
          <a:xfrm>
            <a:off x="8247888" y="1572768"/>
            <a:ext cx="832236" cy="457200"/>
          </a:xfrm>
          <a:prstGeom prst="roundRect">
            <a:avLst>
              <a:gd name="adj" fmla="val 24000"/>
            </a:avLst>
          </a:prstGeom>
          <a:solidFill>
            <a:schemeClr val="accent1"/>
          </a:solidFill>
          <a:ln w="12700">
            <a:solidFill>
              <a:srgbClr val="FFFFFF">
                <a:alpha val="0"/>
              </a:srgbClr>
            </a:solidFill>
            <a:prstDash val="solid"/>
          </a:ln>
        </p:spPr>
      </p:sp>
      <p:sp>
        <p:nvSpPr>
          <p:cNvPr id="27" name="Text 24"/>
          <p:cNvSpPr txBox="1"/>
          <p:nvPr/>
        </p:nvSpPr>
        <p:spPr>
          <a:xfrm>
            <a:off x="8247888" y="1572768"/>
            <a:ext cx="832236" cy="457200"/>
          </a:xfrm>
          <a:prstGeom prst="rect">
            <a:avLst/>
          </a:prstGeom>
          <a:noFill/>
          <a:ln/>
        </p:spPr>
        <p:txBody>
          <a:bodyPr wrap="square" lIns="0" tIns="0" rIns="0" bIns="0" rtlCol="0" anchor="ctr"/>
          <a:lstStyle/>
          <a:p>
            <a:pPr algn="ctr" indent="0" marL="0">
              <a:buNone/>
            </a:pPr>
            <a:r>
              <a:rPr lang="en-US" sz="1800" b="1" dirty="0">
                <a:solidFill>
                  <a:schemeClr val="bg1"/>
                </a:solidFill>
              </a:rPr>
              <a:t>YET</a:t>
            </a:r>
            <a:endParaRPr lang="en-US" sz="1800" dirty="0"/>
          </a:p>
        </p:txBody>
      </p:sp>
      <p:sp>
        <p:nvSpPr>
          <p:cNvPr id="28" name="Text 25"/>
          <p:cNvSpPr txBox="1"/>
          <p:nvPr/>
        </p:nvSpPr>
        <p:spPr>
          <a:xfrm>
            <a:off x="8247888" y="2084832"/>
            <a:ext cx="3209544" cy="365760"/>
          </a:xfrm>
          <a:prstGeom prst="rect">
            <a:avLst/>
          </a:prstGeom>
          <a:noFill/>
          <a:ln/>
        </p:spPr>
        <p:txBody>
          <a:bodyPr wrap="square" lIns="0" tIns="0" rIns="0" bIns="0" rtlCol="0" anchor="ctr"/>
          <a:lstStyle/>
          <a:p>
            <a:pPr algn="l" indent="0" marL="0">
              <a:buNone/>
            </a:pPr>
            <a:r>
              <a:rPr lang="en-US" sz="1400" i="1" dirty="0">
                <a:solidFill>
                  <a:schemeClr val="tx2"/>
                </a:solidFill>
              </a:rPr>
              <a:t>déjà ? · pas encore</a:t>
            </a:r>
            <a:endParaRPr lang="en-US" sz="1400" dirty="0"/>
          </a:p>
        </p:txBody>
      </p:sp>
      <p:sp>
        <p:nvSpPr>
          <p:cNvPr id="29" name="Shape 26"/>
          <p:cNvSpPr/>
          <p:nvPr/>
        </p:nvSpPr>
        <p:spPr>
          <a:xfrm>
            <a:off x="8339328" y="2761488"/>
            <a:ext cx="3026664" cy="914"/>
          </a:xfrm>
          <a:prstGeom prst="line">
            <a:avLst/>
          </a:prstGeom>
          <a:noFill/>
          <a:ln w="19050">
            <a:solidFill>
              <a:srgbClr val="8A96A8"/>
            </a:solidFill>
            <a:prstDash val="solid"/>
            <a:tailEnd type="triangle"/>
          </a:ln>
        </p:spPr>
      </p:sp>
      <p:sp>
        <p:nvSpPr>
          <p:cNvPr id="30" name="Shape 27"/>
          <p:cNvSpPr/>
          <p:nvPr/>
        </p:nvSpPr>
        <p:spPr>
          <a:xfrm>
            <a:off x="10793760" y="2578608"/>
            <a:ext cx="54864" cy="365760"/>
          </a:xfrm>
          <a:prstGeom prst="rect">
            <a:avLst/>
          </a:prstGeom>
          <a:solidFill>
            <a:schemeClr val="accent6"/>
          </a:solidFill>
          <a:ln w="12700">
            <a:solidFill>
              <a:srgbClr val="FFFFFF">
                <a:alpha val="0"/>
              </a:srgbClr>
            </a:solidFill>
            <a:prstDash val="solid"/>
          </a:ln>
        </p:spPr>
      </p:sp>
      <p:sp>
        <p:nvSpPr>
          <p:cNvPr id="31" name="Shape 28"/>
          <p:cNvSpPr/>
          <p:nvPr/>
        </p:nvSpPr>
        <p:spPr>
          <a:xfrm>
            <a:off x="10418856" y="2679192"/>
            <a:ext cx="164592" cy="164592"/>
          </a:xfrm>
          <a:prstGeom prst="ellipse">
            <a:avLst/>
          </a:prstGeom>
          <a:solidFill>
            <a:schemeClr val="accent2"/>
          </a:solidFill>
          <a:ln w="12700">
            <a:solidFill>
              <a:srgbClr val="FFFFFF">
                <a:alpha val="0"/>
              </a:srgbClr>
            </a:solidFill>
            <a:prstDash val="solid"/>
          </a:ln>
        </p:spPr>
      </p:sp>
      <p:sp>
        <p:nvSpPr>
          <p:cNvPr id="32" name="Shape 29"/>
          <p:cNvSpPr/>
          <p:nvPr/>
        </p:nvSpPr>
        <p:spPr>
          <a:xfrm>
            <a:off x="10501152" y="2395728"/>
            <a:ext cx="292608" cy="640080"/>
          </a:xfrm>
          <a:prstGeom prst="arc">
            <a:avLst>
              <a:gd name="adj1" fmla="val 10800000"/>
              <a:gd name="adj2" fmla="val 21600000"/>
            </a:avLst>
          </a:prstGeom>
          <a:solidFill>
            <a:srgbClr val="FFFFFF">
              <a:alpha val="0"/>
            </a:srgbClr>
          </a:solidFill>
          <a:ln w="25400">
            <a:solidFill>
              <a:srgbClr val="2A6FB0"/>
            </a:solidFill>
            <a:prstDash val="solid"/>
            <a:tailEnd type="triangle"/>
          </a:ln>
        </p:spPr>
      </p:sp>
      <p:sp>
        <p:nvSpPr>
          <p:cNvPr id="33" name="Text 30"/>
          <p:cNvSpPr txBox="1"/>
          <p:nvPr/>
        </p:nvSpPr>
        <p:spPr>
          <a:xfrm>
            <a:off x="8247888" y="3063240"/>
            <a:ext cx="3209544" cy="502920"/>
          </a:xfrm>
          <a:prstGeom prst="rect">
            <a:avLst/>
          </a:prstGeom>
          <a:noFill/>
          <a:ln/>
        </p:spPr>
        <p:txBody>
          <a:bodyPr wrap="square" lIns="0" tIns="0" rIns="0" bIns="0" rtlCol="0" anchor="ctr"/>
          <a:lstStyle/>
          <a:p>
            <a:pPr algn="l" indent="0" marL="0">
              <a:buNone/>
            </a:pPr>
            <a:r>
              <a:rPr lang="en-US" sz="1600" i="1" dirty="0">
                <a:solidFill>
                  <a:schemeClr val="tx1"/>
                </a:solidFill>
              </a:rPr>
              <a:t>Have you finished </a:t>
            </a:r>
            <a:r>
              <a:rPr lang="en-US" sz="1600" b="1" i="1" dirty="0">
                <a:solidFill>
                  <a:srgbClr val="D9700F"/>
                </a:solidFill>
              </a:rPr>
              <a:t>yet</a:t>
            </a:r>
            <a:r>
              <a:rPr lang="en-US" sz="1600" i="1" dirty="0">
                <a:solidFill>
                  <a:schemeClr val="tx1"/>
                </a:solidFill>
              </a:rPr>
              <a:t>? — Not </a:t>
            </a:r>
            <a:r>
              <a:rPr lang="en-US" sz="1600" b="1" i="1" dirty="0">
                <a:solidFill>
                  <a:srgbClr val="D9700F"/>
                </a:solidFill>
              </a:rPr>
              <a:t>yet</a:t>
            </a:r>
            <a:r>
              <a:rPr lang="en-US" sz="1600" i="1" dirty="0">
                <a:solidFill>
                  <a:schemeClr val="tx1"/>
                </a:solidFill>
              </a:rPr>
              <a:t>.</a:t>
            </a:r>
            <a:endParaRPr lang="en-US" sz="1800" dirty="0"/>
          </a:p>
        </p:txBody>
      </p:sp>
      <p:sp>
        <p:nvSpPr>
          <p:cNvPr id="34" name="Text 31"/>
          <p:cNvSpPr txBox="1"/>
          <p:nvPr/>
        </p:nvSpPr>
        <p:spPr>
          <a:xfrm>
            <a:off x="8247888" y="3566160"/>
            <a:ext cx="3209544" cy="320040"/>
          </a:xfrm>
          <a:prstGeom prst="rect">
            <a:avLst/>
          </a:prstGeom>
          <a:noFill/>
          <a:ln/>
        </p:spPr>
        <p:txBody>
          <a:bodyPr wrap="square" lIns="0" tIns="0" rIns="0" bIns="0" rtlCol="0" anchor="t"/>
          <a:lstStyle/>
          <a:p>
            <a:pPr algn="l" indent="0" marL="0">
              <a:buNone/>
            </a:pPr>
            <a:r>
              <a:rPr lang="en-US" sz="1200" b="1" i="1" dirty="0">
                <a:solidFill>
                  <a:schemeClr val="accent1"/>
                </a:solidFill>
              </a:rPr>
              <a:t>at the end · ? and −</a:t>
            </a:r>
            <a:endParaRPr lang="en-US" sz="1200" dirty="0"/>
          </a:p>
        </p:txBody>
      </p:sp>
      <p:sp>
        <p:nvSpPr>
          <p:cNvPr id="35" name="Shape 32"/>
          <p:cNvSpPr/>
          <p:nvPr/>
        </p:nvSpPr>
        <p:spPr>
          <a:xfrm>
            <a:off x="731520" y="4434840"/>
            <a:ext cx="413857" cy="548640"/>
          </a:xfrm>
          <a:prstGeom prst="roundRect">
            <a:avLst>
              <a:gd name="adj" fmla="val 22095"/>
            </a:avLst>
          </a:prstGeom>
          <a:solidFill>
            <a:srgbClr val="FFFFFF"/>
          </a:solidFill>
          <a:ln w="15875">
            <a:solidFill>
              <a:srgbClr val="D5DCE6"/>
            </a:solidFill>
            <a:prstDash val="solid"/>
          </a:ln>
        </p:spPr>
      </p:sp>
      <p:sp>
        <p:nvSpPr>
          <p:cNvPr id="36" name="Text 33"/>
          <p:cNvSpPr txBox="1"/>
          <p:nvPr/>
        </p:nvSpPr>
        <p:spPr>
          <a:xfrm>
            <a:off x="731520" y="4434840"/>
            <a:ext cx="413857" cy="548640"/>
          </a:xfrm>
          <a:prstGeom prst="rect">
            <a:avLst/>
          </a:prstGeom>
          <a:noFill/>
          <a:ln/>
        </p:spPr>
        <p:txBody>
          <a:bodyPr wrap="square" lIns="0" tIns="0" rIns="0" bIns="0" rtlCol="0" anchor="ctr"/>
          <a:lstStyle/>
          <a:p>
            <a:pPr algn="ctr" indent="0" marL="0">
              <a:buNone/>
            </a:pPr>
            <a:r>
              <a:rPr lang="en-US" sz="1700" i="1" dirty="0">
                <a:solidFill>
                  <a:schemeClr val="tx1"/>
                </a:solidFill>
              </a:rPr>
              <a:t>I</a:t>
            </a:r>
            <a:endParaRPr lang="en-US" sz="1700" dirty="0"/>
          </a:p>
        </p:txBody>
      </p:sp>
      <p:sp>
        <p:nvSpPr>
          <p:cNvPr id="37" name="Shape 34"/>
          <p:cNvSpPr/>
          <p:nvPr/>
        </p:nvSpPr>
        <p:spPr>
          <a:xfrm>
            <a:off x="1218529" y="4434840"/>
            <a:ext cx="944070" cy="548640"/>
          </a:xfrm>
          <a:prstGeom prst="roundRect">
            <a:avLst>
              <a:gd name="adj" fmla="val 16667"/>
            </a:avLst>
          </a:prstGeom>
          <a:solidFill>
            <a:schemeClr val="tx2"/>
          </a:solidFill>
          <a:ln w="12700">
            <a:solidFill>
              <a:srgbClr val="FFFFFF">
                <a:alpha val="0"/>
              </a:srgbClr>
            </a:solidFill>
            <a:prstDash val="solid"/>
          </a:ln>
        </p:spPr>
      </p:sp>
      <p:sp>
        <p:nvSpPr>
          <p:cNvPr id="38" name="Text 35"/>
          <p:cNvSpPr txBox="1"/>
          <p:nvPr/>
        </p:nvSpPr>
        <p:spPr>
          <a:xfrm>
            <a:off x="1218529" y="4434840"/>
            <a:ext cx="944070" cy="548640"/>
          </a:xfrm>
          <a:prstGeom prst="rect">
            <a:avLst/>
          </a:prstGeom>
          <a:noFill/>
          <a:ln/>
        </p:spPr>
        <p:txBody>
          <a:bodyPr wrap="square" lIns="0" tIns="0" rIns="0" bIns="0" rtlCol="0" anchor="ctr"/>
          <a:lstStyle/>
          <a:p>
            <a:pPr algn="ctr" indent="0" marL="0">
              <a:buNone/>
            </a:pPr>
            <a:r>
              <a:rPr lang="en-US" sz="1700" b="1" i="1" dirty="0">
                <a:solidFill>
                  <a:schemeClr val="bg1"/>
                </a:solidFill>
              </a:rPr>
              <a:t>have</a:t>
            </a:r>
            <a:endParaRPr lang="en-US" sz="1700" dirty="0"/>
          </a:p>
        </p:txBody>
      </p:sp>
      <p:sp>
        <p:nvSpPr>
          <p:cNvPr id="39" name="Shape 36"/>
          <p:cNvSpPr/>
          <p:nvPr/>
        </p:nvSpPr>
        <p:spPr>
          <a:xfrm>
            <a:off x="2235752" y="4434840"/>
            <a:ext cx="2302064" cy="548640"/>
          </a:xfrm>
          <a:prstGeom prst="roundRect">
            <a:avLst>
              <a:gd name="adj" fmla="val 16667"/>
            </a:avLst>
          </a:prstGeom>
          <a:solidFill>
            <a:srgbClr val="FDF1E6"/>
          </a:solidFill>
          <a:ln w="19050">
            <a:solidFill>
              <a:srgbClr val="D9700F"/>
            </a:solidFill>
            <a:prstDash val="solid"/>
          </a:ln>
        </p:spPr>
      </p:sp>
      <p:sp>
        <p:nvSpPr>
          <p:cNvPr id="40" name="Text 37"/>
          <p:cNvSpPr txBox="1"/>
          <p:nvPr/>
        </p:nvSpPr>
        <p:spPr>
          <a:xfrm>
            <a:off x="2235752" y="4434840"/>
            <a:ext cx="2302064" cy="548640"/>
          </a:xfrm>
          <a:prstGeom prst="rect">
            <a:avLst/>
          </a:prstGeom>
          <a:noFill/>
          <a:ln/>
        </p:spPr>
        <p:txBody>
          <a:bodyPr wrap="square" lIns="0" tIns="0" rIns="0" bIns="0" rtlCol="0" anchor="ctr"/>
          <a:lstStyle/>
          <a:p>
            <a:pPr algn="ctr" indent="0" marL="0">
              <a:buNone/>
            </a:pPr>
            <a:r>
              <a:rPr lang="en-US" sz="1700" b="1" i="1" dirty="0">
                <a:solidFill>
                  <a:schemeClr val="accent1"/>
                </a:solidFill>
              </a:rPr>
              <a:t>just · already</a:t>
            </a:r>
            <a:endParaRPr lang="en-US" sz="1700" dirty="0"/>
          </a:p>
        </p:txBody>
      </p:sp>
      <p:sp>
        <p:nvSpPr>
          <p:cNvPr id="41" name="Text 38"/>
          <p:cNvSpPr txBox="1"/>
          <p:nvPr/>
        </p:nvSpPr>
        <p:spPr>
          <a:xfrm>
            <a:off x="1915712" y="5020056"/>
            <a:ext cx="2942144" cy="274320"/>
          </a:xfrm>
          <a:prstGeom prst="rect">
            <a:avLst/>
          </a:prstGeom>
          <a:noFill/>
          <a:ln/>
        </p:spPr>
        <p:txBody>
          <a:bodyPr wrap="square" lIns="0" tIns="0" rIns="0" bIns="0" rtlCol="0" anchor="t"/>
          <a:lstStyle/>
          <a:p>
            <a:pPr algn="ctr" indent="0" marL="0">
              <a:buNone/>
            </a:pPr>
            <a:r>
              <a:rPr lang="en-US" sz="1100" b="1" dirty="0">
                <a:solidFill>
                  <a:schemeClr val="accent1"/>
                </a:solidFill>
              </a:rPr>
              <a:t>↓ ICI</a:t>
            </a:r>
            <a:endParaRPr lang="en-US" sz="1100" dirty="0"/>
          </a:p>
        </p:txBody>
      </p:sp>
      <p:sp>
        <p:nvSpPr>
          <p:cNvPr id="42" name="Shape 39"/>
          <p:cNvSpPr/>
          <p:nvPr/>
        </p:nvSpPr>
        <p:spPr>
          <a:xfrm>
            <a:off x="4610968" y="4434840"/>
            <a:ext cx="1623067" cy="548640"/>
          </a:xfrm>
          <a:prstGeom prst="roundRect">
            <a:avLst>
              <a:gd name="adj" fmla="val 16667"/>
            </a:avLst>
          </a:prstGeom>
          <a:solidFill>
            <a:schemeClr val="accent2"/>
          </a:solidFill>
          <a:ln w="12700">
            <a:solidFill>
              <a:srgbClr val="FFFFFF">
                <a:alpha val="0"/>
              </a:srgbClr>
            </a:solidFill>
            <a:prstDash val="solid"/>
          </a:ln>
        </p:spPr>
      </p:sp>
      <p:sp>
        <p:nvSpPr>
          <p:cNvPr id="43" name="Text 40"/>
          <p:cNvSpPr txBox="1"/>
          <p:nvPr/>
        </p:nvSpPr>
        <p:spPr>
          <a:xfrm>
            <a:off x="4610968" y="4434840"/>
            <a:ext cx="1623067" cy="548640"/>
          </a:xfrm>
          <a:prstGeom prst="rect">
            <a:avLst/>
          </a:prstGeom>
          <a:noFill/>
          <a:ln/>
        </p:spPr>
        <p:txBody>
          <a:bodyPr wrap="square" lIns="0" tIns="0" rIns="0" bIns="0" rtlCol="0" anchor="ctr"/>
          <a:lstStyle/>
          <a:p>
            <a:pPr algn="ctr" indent="0" marL="0">
              <a:buNone/>
            </a:pPr>
            <a:r>
              <a:rPr lang="en-US" sz="1700" b="1" i="1" dirty="0">
                <a:solidFill>
                  <a:schemeClr val="bg1"/>
                </a:solidFill>
              </a:rPr>
              <a:t>finished.</a:t>
            </a:r>
            <a:endParaRPr lang="en-US" sz="1700" dirty="0"/>
          </a:p>
        </p:txBody>
      </p:sp>
      <p:sp>
        <p:nvSpPr>
          <p:cNvPr id="44" name="Shape 41"/>
          <p:cNvSpPr/>
          <p:nvPr/>
        </p:nvSpPr>
        <p:spPr>
          <a:xfrm>
            <a:off x="6691235" y="4434840"/>
            <a:ext cx="413857" cy="548640"/>
          </a:xfrm>
          <a:prstGeom prst="roundRect">
            <a:avLst>
              <a:gd name="adj" fmla="val 22095"/>
            </a:avLst>
          </a:prstGeom>
          <a:solidFill>
            <a:srgbClr val="FFFFFF"/>
          </a:solidFill>
          <a:ln w="15875">
            <a:solidFill>
              <a:srgbClr val="D5DCE6"/>
            </a:solidFill>
            <a:prstDash val="solid"/>
          </a:ln>
        </p:spPr>
      </p:sp>
      <p:sp>
        <p:nvSpPr>
          <p:cNvPr id="45" name="Text 42"/>
          <p:cNvSpPr txBox="1"/>
          <p:nvPr/>
        </p:nvSpPr>
        <p:spPr>
          <a:xfrm>
            <a:off x="6691235" y="4434840"/>
            <a:ext cx="413857" cy="548640"/>
          </a:xfrm>
          <a:prstGeom prst="rect">
            <a:avLst/>
          </a:prstGeom>
          <a:noFill/>
          <a:ln/>
        </p:spPr>
        <p:txBody>
          <a:bodyPr wrap="square" lIns="0" tIns="0" rIns="0" bIns="0" rtlCol="0" anchor="ctr"/>
          <a:lstStyle/>
          <a:p>
            <a:pPr algn="ctr" indent="0" marL="0">
              <a:buNone/>
            </a:pPr>
            <a:r>
              <a:rPr lang="en-US" sz="1700" i="1" dirty="0">
                <a:solidFill>
                  <a:schemeClr val="tx1"/>
                </a:solidFill>
              </a:rPr>
              <a:t>I</a:t>
            </a:r>
            <a:endParaRPr lang="en-US" sz="1700" dirty="0"/>
          </a:p>
        </p:txBody>
      </p:sp>
      <p:sp>
        <p:nvSpPr>
          <p:cNvPr id="46" name="Shape 43"/>
          <p:cNvSpPr/>
          <p:nvPr/>
        </p:nvSpPr>
        <p:spPr>
          <a:xfrm>
            <a:off x="7178245" y="4434840"/>
            <a:ext cx="1351469" cy="548640"/>
          </a:xfrm>
          <a:prstGeom prst="roundRect">
            <a:avLst>
              <a:gd name="adj" fmla="val 16667"/>
            </a:avLst>
          </a:prstGeom>
          <a:solidFill>
            <a:schemeClr val="tx2"/>
          </a:solidFill>
          <a:ln w="12700">
            <a:solidFill>
              <a:srgbClr val="FFFFFF">
                <a:alpha val="0"/>
              </a:srgbClr>
            </a:solidFill>
            <a:prstDash val="solid"/>
          </a:ln>
        </p:spPr>
      </p:sp>
      <p:sp>
        <p:nvSpPr>
          <p:cNvPr id="47" name="Text 44"/>
          <p:cNvSpPr txBox="1"/>
          <p:nvPr/>
        </p:nvSpPr>
        <p:spPr>
          <a:xfrm>
            <a:off x="7178245" y="4434840"/>
            <a:ext cx="1351469" cy="548640"/>
          </a:xfrm>
          <a:prstGeom prst="rect">
            <a:avLst/>
          </a:prstGeom>
          <a:noFill/>
          <a:ln/>
        </p:spPr>
        <p:txBody>
          <a:bodyPr wrap="square" lIns="0" tIns="0" rIns="0" bIns="0" rtlCol="0" anchor="ctr"/>
          <a:lstStyle/>
          <a:p>
            <a:pPr algn="ctr" indent="0" marL="0">
              <a:buNone/>
            </a:pPr>
            <a:r>
              <a:rPr lang="en-US" sz="1700" b="1" i="1" dirty="0">
                <a:solidFill>
                  <a:schemeClr val="bg1"/>
                </a:solidFill>
              </a:rPr>
              <a:t>haven’t</a:t>
            </a:r>
            <a:endParaRPr lang="en-US" sz="1700" dirty="0"/>
          </a:p>
        </p:txBody>
      </p:sp>
      <p:sp>
        <p:nvSpPr>
          <p:cNvPr id="48" name="Shape 45"/>
          <p:cNvSpPr/>
          <p:nvPr/>
        </p:nvSpPr>
        <p:spPr>
          <a:xfrm>
            <a:off x="8602865" y="4434840"/>
            <a:ext cx="1487268" cy="548640"/>
          </a:xfrm>
          <a:prstGeom prst="roundRect">
            <a:avLst>
              <a:gd name="adj" fmla="val 16667"/>
            </a:avLst>
          </a:prstGeom>
          <a:solidFill>
            <a:schemeClr val="accent2"/>
          </a:solidFill>
          <a:ln w="12700">
            <a:solidFill>
              <a:srgbClr val="FFFFFF">
                <a:alpha val="0"/>
              </a:srgbClr>
            </a:solidFill>
            <a:prstDash val="solid"/>
          </a:ln>
        </p:spPr>
      </p:sp>
      <p:sp>
        <p:nvSpPr>
          <p:cNvPr id="49" name="Text 46"/>
          <p:cNvSpPr txBox="1"/>
          <p:nvPr/>
        </p:nvSpPr>
        <p:spPr>
          <a:xfrm>
            <a:off x="8602865" y="4434840"/>
            <a:ext cx="1487268" cy="548640"/>
          </a:xfrm>
          <a:prstGeom prst="rect">
            <a:avLst/>
          </a:prstGeom>
          <a:noFill/>
          <a:ln/>
        </p:spPr>
        <p:txBody>
          <a:bodyPr wrap="square" lIns="0" tIns="0" rIns="0" bIns="0" rtlCol="0" anchor="ctr"/>
          <a:lstStyle/>
          <a:p>
            <a:pPr algn="ctr" indent="0" marL="0">
              <a:buNone/>
            </a:pPr>
            <a:r>
              <a:rPr lang="en-US" sz="1700" b="1" i="1" dirty="0">
                <a:solidFill>
                  <a:schemeClr val="bg1"/>
                </a:solidFill>
              </a:rPr>
              <a:t>finished</a:t>
            </a:r>
            <a:endParaRPr lang="en-US" sz="1700" dirty="0"/>
          </a:p>
        </p:txBody>
      </p:sp>
      <p:sp>
        <p:nvSpPr>
          <p:cNvPr id="50" name="Shape 47"/>
          <p:cNvSpPr/>
          <p:nvPr/>
        </p:nvSpPr>
        <p:spPr>
          <a:xfrm>
            <a:off x="10163285" y="4434840"/>
            <a:ext cx="944070" cy="548640"/>
          </a:xfrm>
          <a:prstGeom prst="roundRect">
            <a:avLst>
              <a:gd name="adj" fmla="val 16667"/>
            </a:avLst>
          </a:prstGeom>
          <a:solidFill>
            <a:srgbClr val="FDF1E6"/>
          </a:solidFill>
          <a:ln w="19050">
            <a:solidFill>
              <a:srgbClr val="D9700F"/>
            </a:solidFill>
            <a:prstDash val="solid"/>
          </a:ln>
        </p:spPr>
      </p:sp>
      <p:sp>
        <p:nvSpPr>
          <p:cNvPr id="51" name="Text 48"/>
          <p:cNvSpPr txBox="1"/>
          <p:nvPr/>
        </p:nvSpPr>
        <p:spPr>
          <a:xfrm>
            <a:off x="10163285" y="4434840"/>
            <a:ext cx="944070" cy="548640"/>
          </a:xfrm>
          <a:prstGeom prst="rect">
            <a:avLst/>
          </a:prstGeom>
          <a:noFill/>
          <a:ln/>
        </p:spPr>
        <p:txBody>
          <a:bodyPr wrap="square" lIns="0" tIns="0" rIns="0" bIns="0" rtlCol="0" anchor="ctr"/>
          <a:lstStyle/>
          <a:p>
            <a:pPr algn="ctr" indent="0" marL="0">
              <a:buNone/>
            </a:pPr>
            <a:r>
              <a:rPr lang="en-US" sz="1700" b="1" i="1" dirty="0">
                <a:solidFill>
                  <a:schemeClr val="accent1"/>
                </a:solidFill>
              </a:rPr>
              <a:t>yet.</a:t>
            </a:r>
            <a:endParaRPr lang="en-US" sz="1700" dirty="0"/>
          </a:p>
        </p:txBody>
      </p:sp>
      <p:sp>
        <p:nvSpPr>
          <p:cNvPr id="52" name="Text 49"/>
          <p:cNvSpPr txBox="1"/>
          <p:nvPr/>
        </p:nvSpPr>
        <p:spPr>
          <a:xfrm>
            <a:off x="9843245" y="5020056"/>
            <a:ext cx="1584150" cy="274320"/>
          </a:xfrm>
          <a:prstGeom prst="rect">
            <a:avLst/>
          </a:prstGeom>
          <a:noFill/>
          <a:ln/>
        </p:spPr>
        <p:txBody>
          <a:bodyPr wrap="square" lIns="0" tIns="0" rIns="0" bIns="0" rtlCol="0" anchor="t"/>
          <a:lstStyle/>
          <a:p>
            <a:pPr algn="ctr" indent="0" marL="0">
              <a:buNone/>
            </a:pPr>
            <a:r>
              <a:rPr lang="en-US" sz="1100" b="1" dirty="0">
                <a:solidFill>
                  <a:schemeClr val="accent1"/>
                </a:solidFill>
              </a:rPr>
              <a:t>↓ À LA FIN</a:t>
            </a:r>
            <a:endParaRPr lang="en-US" sz="1100" dirty="0"/>
          </a:p>
        </p:txBody>
      </p:sp>
      <p:sp>
        <p:nvSpPr>
          <p:cNvPr id="53" name="Shape 50"/>
          <p:cNvSpPr/>
          <p:nvPr/>
        </p:nvSpPr>
        <p:spPr>
          <a:xfrm>
            <a:off x="548640" y="5715000"/>
            <a:ext cx="11091672" cy="502920"/>
          </a:xfrm>
          <a:prstGeom prst="roundRect">
            <a:avLst>
              <a:gd name="adj" fmla="val 14545"/>
            </a:avLst>
          </a:prstGeom>
          <a:solidFill>
            <a:schemeClr val="tx2"/>
          </a:solidFill>
          <a:ln w="12700">
            <a:solidFill>
              <a:srgbClr val="FFFFFF">
                <a:alpha val="0"/>
              </a:srgbClr>
            </a:solidFill>
            <a:prstDash val="solid"/>
          </a:ln>
        </p:spPr>
      </p:sp>
      <p:sp>
        <p:nvSpPr>
          <p:cNvPr id="54" name="Text 51"/>
          <p:cNvSpPr txBox="1"/>
          <p:nvPr/>
        </p:nvSpPr>
        <p:spPr>
          <a:xfrm>
            <a:off x="822960" y="5715000"/>
            <a:ext cx="10607040" cy="502920"/>
          </a:xfrm>
          <a:prstGeom prst="rect">
            <a:avLst/>
          </a:prstGeom>
          <a:noFill/>
          <a:ln/>
        </p:spPr>
        <p:txBody>
          <a:bodyPr wrap="square" lIns="0" tIns="0" rIns="0" bIns="0" rtlCol="0" anchor="ctr"/>
          <a:lstStyle/>
          <a:p>
            <a:pPr algn="l" indent="0" marL="0">
              <a:buNone/>
            </a:pPr>
            <a:r>
              <a:rPr lang="en-US" sz="1600" dirty="0">
                <a:solidFill>
                  <a:schemeClr val="bg1"/>
                </a:solidFill>
              </a:rPr>
              <a:t>« Je viens de finir » → </a:t>
            </a:r>
            <a:r>
              <a:rPr lang="en-US" sz="1600" i="1" dirty="0">
                <a:solidFill>
                  <a:schemeClr val="bg1"/>
                </a:solidFill>
              </a:rPr>
              <a:t>I’ve </a:t>
            </a:r>
            <a:r>
              <a:rPr lang="en-US" sz="1600" b="1" i="1" dirty="0">
                <a:solidFill>
                  <a:schemeClr val="bg1"/>
                </a:solidFill>
              </a:rPr>
              <a:t>just</a:t>
            </a:r>
            <a:r>
              <a:rPr lang="en-US" sz="1600" i="1" dirty="0">
                <a:solidFill>
                  <a:schemeClr val="bg1"/>
                </a:solidFill>
              </a:rPr>
              <a:t> finished.</a:t>
            </a:r>
            <a:r>
              <a:rPr lang="en-US" sz="1600" dirty="0">
                <a:solidFill>
                  <a:schemeClr val="bg1"/>
                </a:solidFill>
              </a:rPr>
              <a:t> (✗ </a:t>
            </a:r>
            <a:r>
              <a:rPr lang="en-US" sz="1600" i="1" dirty="0">
                <a:solidFill>
                  <a:schemeClr val="bg1"/>
                </a:solidFill>
              </a:rPr>
              <a:t>I come to finish</a:t>
            </a:r>
            <a:r>
              <a:rPr lang="en-US" sz="16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Still true: for and since</a:t>
            </a:r>
            <a:endParaRPr lang="en-US" sz="3000" dirty="0"/>
          </a:p>
        </p:txBody>
      </p:sp>
      <p:sp>
        <p:nvSpPr>
          <p:cNvPr id="3" name="tag"/>
          <p:cNvSpPr/>
          <p:nvPr/>
        </p:nvSpPr>
        <p:spPr>
          <a:xfrm>
            <a:off x="548640" y="237744"/>
            <a:ext cx="905256"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USE 3</a:t>
            </a:r>
            <a:endParaRPr lang="en-US" sz="1200" dirty="0"/>
          </a:p>
        </p:txBody>
      </p:sp>
      <p:sp>
        <p:nvSpPr>
          <p:cNvPr id="5" name="Shape 2"/>
          <p:cNvSpPr/>
          <p:nvPr/>
        </p:nvSpPr>
        <p:spPr>
          <a:xfrm>
            <a:off x="640080" y="2331720"/>
            <a:ext cx="11018520" cy="914"/>
          </a:xfrm>
          <a:prstGeom prst="line">
            <a:avLst/>
          </a:prstGeom>
          <a:noFill/>
          <a:ln w="31750">
            <a:solidFill>
              <a:srgbClr val="17375E"/>
            </a:solidFill>
            <a:prstDash val="solid"/>
            <a:tailEnd type="triangle"/>
          </a:ln>
        </p:spPr>
      </p:sp>
      <p:sp>
        <p:nvSpPr>
          <p:cNvPr id="6" name="Shape 3"/>
          <p:cNvSpPr/>
          <p:nvPr/>
        </p:nvSpPr>
        <p:spPr>
          <a:xfrm>
            <a:off x="10012680" y="2020824"/>
            <a:ext cx="91440" cy="621792"/>
          </a:xfrm>
          <a:prstGeom prst="rect">
            <a:avLst/>
          </a:prstGeom>
          <a:solidFill>
            <a:schemeClr val="accent6"/>
          </a:solidFill>
          <a:ln w="12700">
            <a:solidFill>
              <a:srgbClr val="FFFFFF">
                <a:alpha val="0"/>
              </a:srgbClr>
            </a:solidFill>
            <a:prstDash val="solid"/>
          </a:ln>
        </p:spPr>
      </p:sp>
      <p:sp>
        <p:nvSpPr>
          <p:cNvPr id="7" name="Text 4"/>
          <p:cNvSpPr txBox="1"/>
          <p:nvPr/>
        </p:nvSpPr>
        <p:spPr>
          <a:xfrm>
            <a:off x="9509760" y="1636776"/>
            <a:ext cx="1097280" cy="347472"/>
          </a:xfrm>
          <a:prstGeom prst="rect">
            <a:avLst/>
          </a:prstGeom>
          <a:noFill/>
          <a:ln/>
        </p:spPr>
        <p:txBody>
          <a:bodyPr wrap="square" lIns="0" tIns="0" rIns="0" bIns="0" rtlCol="0" anchor="ctr"/>
          <a:lstStyle/>
          <a:p>
            <a:pPr algn="ctr" indent="0" marL="0">
              <a:buNone/>
            </a:pPr>
            <a:r>
              <a:rPr lang="en-US" sz="1500" b="1" dirty="0">
                <a:solidFill>
                  <a:schemeClr val="accent6"/>
                </a:solidFill>
              </a:rPr>
              <a:t>NOW</a:t>
            </a:r>
            <a:endParaRPr lang="en-US" sz="1500" dirty="0"/>
          </a:p>
        </p:txBody>
      </p:sp>
      <p:sp>
        <p:nvSpPr>
          <p:cNvPr id="8" name="Shape 5"/>
          <p:cNvSpPr/>
          <p:nvPr/>
        </p:nvSpPr>
        <p:spPr>
          <a:xfrm>
            <a:off x="2743200" y="2194560"/>
            <a:ext cx="7315200" cy="274320"/>
          </a:xfrm>
          <a:prstGeom prst="roundRect">
            <a:avLst>
              <a:gd name="adj" fmla="val 20000"/>
            </a:avLst>
          </a:prstGeom>
          <a:solidFill>
            <a:schemeClr val="accent2"/>
          </a:solidFill>
          <a:ln w="12700">
            <a:solidFill>
              <a:srgbClr val="FFFFFF">
                <a:alpha val="0"/>
              </a:srgbClr>
            </a:solidFill>
            <a:prstDash val="solid"/>
          </a:ln>
        </p:spPr>
      </p:sp>
      <p:sp>
        <p:nvSpPr>
          <p:cNvPr id="9" name="Shape 6"/>
          <p:cNvSpPr/>
          <p:nvPr/>
        </p:nvSpPr>
        <p:spPr>
          <a:xfrm>
            <a:off x="2670048" y="1947672"/>
            <a:ext cx="146304" cy="768096"/>
          </a:xfrm>
          <a:prstGeom prst="roundRect">
            <a:avLst>
              <a:gd name="adj" fmla="val 18750"/>
            </a:avLst>
          </a:prstGeom>
          <a:solidFill>
            <a:schemeClr val="accent1"/>
          </a:solidFill>
          <a:ln w="12700">
            <a:solidFill>
              <a:srgbClr val="FFFFFF">
                <a:alpha val="0"/>
              </a:srgbClr>
            </a:solidFill>
            <a:prstDash val="solid"/>
          </a:ln>
        </p:spPr>
      </p:sp>
      <p:sp>
        <p:nvSpPr>
          <p:cNvPr id="10" name="Shape 7"/>
          <p:cNvSpPr/>
          <p:nvPr/>
        </p:nvSpPr>
        <p:spPr>
          <a:xfrm>
            <a:off x="1920240" y="2834640"/>
            <a:ext cx="1678985" cy="420624"/>
          </a:xfrm>
          <a:prstGeom prst="roundRect">
            <a:avLst>
              <a:gd name="adj" fmla="val 26087"/>
            </a:avLst>
          </a:prstGeom>
          <a:solidFill>
            <a:schemeClr val="accent1"/>
          </a:solidFill>
          <a:ln w="12700">
            <a:solidFill>
              <a:srgbClr val="FFFFFF">
                <a:alpha val="0"/>
              </a:srgbClr>
            </a:solidFill>
            <a:prstDash val="solid"/>
          </a:ln>
        </p:spPr>
      </p:sp>
      <p:sp>
        <p:nvSpPr>
          <p:cNvPr id="11" name="Text 8"/>
          <p:cNvSpPr txBox="1"/>
          <p:nvPr/>
        </p:nvSpPr>
        <p:spPr>
          <a:xfrm>
            <a:off x="1920240" y="2834640"/>
            <a:ext cx="1678985" cy="420624"/>
          </a:xfrm>
          <a:prstGeom prst="rect">
            <a:avLst/>
          </a:prstGeom>
          <a:noFill/>
          <a:ln/>
        </p:spPr>
        <p:txBody>
          <a:bodyPr wrap="square" lIns="0" tIns="0" rIns="0" bIns="0" rtlCol="0" anchor="ctr"/>
          <a:lstStyle/>
          <a:p>
            <a:pPr algn="ctr" indent="0" marL="0">
              <a:buNone/>
            </a:pPr>
            <a:r>
              <a:rPr lang="en-US" sz="1600" b="1" i="1" dirty="0">
                <a:solidFill>
                  <a:schemeClr val="bg1"/>
                </a:solidFill>
              </a:rPr>
              <a:t>since 2021</a:t>
            </a:r>
            <a:endParaRPr lang="en-US" sz="1600" dirty="0"/>
          </a:p>
        </p:txBody>
      </p:sp>
      <p:sp>
        <p:nvSpPr>
          <p:cNvPr id="12" name="Text 9"/>
          <p:cNvSpPr txBox="1"/>
          <p:nvPr/>
        </p:nvSpPr>
        <p:spPr>
          <a:xfrm>
            <a:off x="1463040" y="3291840"/>
            <a:ext cx="2651760" cy="320040"/>
          </a:xfrm>
          <a:prstGeom prst="rect">
            <a:avLst/>
          </a:prstGeom>
          <a:noFill/>
          <a:ln/>
        </p:spPr>
        <p:txBody>
          <a:bodyPr wrap="square" lIns="0" tIns="0" rIns="0" bIns="0" rtlCol="0" anchor="t"/>
          <a:lstStyle/>
          <a:p>
            <a:pPr algn="ctr" indent="0" marL="0">
              <a:buNone/>
            </a:pPr>
            <a:r>
              <a:rPr lang="en-US" sz="1300" i="1" dirty="0">
                <a:solidFill>
                  <a:schemeClr val="accent1"/>
                </a:solidFill>
              </a:rPr>
              <a:t>= le point de départ</a:t>
            </a:r>
            <a:endParaRPr lang="en-US" sz="1300" dirty="0"/>
          </a:p>
        </p:txBody>
      </p:sp>
      <p:sp>
        <p:nvSpPr>
          <p:cNvPr id="13" name="Shape 10"/>
          <p:cNvSpPr/>
          <p:nvPr/>
        </p:nvSpPr>
        <p:spPr>
          <a:xfrm>
            <a:off x="2834640" y="1600200"/>
            <a:ext cx="7132320" cy="914"/>
          </a:xfrm>
          <a:prstGeom prst="line">
            <a:avLst/>
          </a:prstGeom>
          <a:noFill/>
          <a:ln w="19050">
            <a:solidFill>
              <a:srgbClr val="2A6FB0"/>
            </a:solidFill>
            <a:prstDash val="solid"/>
            <a:headEnd type="triangle"/>
            <a:tailEnd type="triangle"/>
          </a:ln>
        </p:spPr>
      </p:sp>
      <p:sp>
        <p:nvSpPr>
          <p:cNvPr id="14" name="Shape 11"/>
          <p:cNvSpPr/>
          <p:nvPr/>
        </p:nvSpPr>
        <p:spPr>
          <a:xfrm>
            <a:off x="5394960" y="1389888"/>
            <a:ext cx="2190229" cy="420624"/>
          </a:xfrm>
          <a:prstGeom prst="roundRect">
            <a:avLst>
              <a:gd name="adj" fmla="val 26087"/>
            </a:avLst>
          </a:prstGeom>
          <a:solidFill>
            <a:schemeClr val="accent2"/>
          </a:solidFill>
          <a:ln w="12700">
            <a:solidFill>
              <a:srgbClr val="FFFFFF">
                <a:alpha val="0"/>
              </a:srgbClr>
            </a:solidFill>
            <a:prstDash val="solid"/>
          </a:ln>
        </p:spPr>
      </p:sp>
      <p:sp>
        <p:nvSpPr>
          <p:cNvPr id="15" name="Text 12"/>
          <p:cNvSpPr txBox="1"/>
          <p:nvPr/>
        </p:nvSpPr>
        <p:spPr>
          <a:xfrm>
            <a:off x="5394960" y="1389888"/>
            <a:ext cx="2190229" cy="420624"/>
          </a:xfrm>
          <a:prstGeom prst="rect">
            <a:avLst/>
          </a:prstGeom>
          <a:noFill/>
          <a:ln/>
        </p:spPr>
        <p:txBody>
          <a:bodyPr wrap="square" lIns="0" tIns="0" rIns="0" bIns="0" rtlCol="0" anchor="ctr"/>
          <a:lstStyle/>
          <a:p>
            <a:pPr algn="ctr" indent="0" marL="0">
              <a:buNone/>
            </a:pPr>
            <a:r>
              <a:rPr lang="en-US" sz="1600" b="1" i="1" dirty="0">
                <a:solidFill>
                  <a:schemeClr val="bg1"/>
                </a:solidFill>
              </a:rPr>
              <a:t>for five years</a:t>
            </a:r>
            <a:endParaRPr lang="en-US" sz="1600" dirty="0"/>
          </a:p>
        </p:txBody>
      </p:sp>
      <p:sp>
        <p:nvSpPr>
          <p:cNvPr id="16" name="Text 13"/>
          <p:cNvSpPr txBox="1"/>
          <p:nvPr/>
        </p:nvSpPr>
        <p:spPr>
          <a:xfrm>
            <a:off x="7680960" y="1645920"/>
            <a:ext cx="1645920" cy="274320"/>
          </a:xfrm>
          <a:prstGeom prst="rect">
            <a:avLst/>
          </a:prstGeom>
          <a:noFill/>
          <a:ln/>
        </p:spPr>
        <p:txBody>
          <a:bodyPr wrap="square" lIns="0" tIns="0" rIns="0" bIns="0" rtlCol="0" anchor="ctr"/>
          <a:lstStyle/>
          <a:p>
            <a:pPr algn="l" indent="0" marL="0">
              <a:buNone/>
            </a:pPr>
            <a:r>
              <a:rPr lang="en-US" sz="1300" i="1" dirty="0">
                <a:solidFill>
                  <a:schemeClr val="accent2"/>
                </a:solidFill>
              </a:rPr>
              <a:t>= la durée</a:t>
            </a:r>
            <a:endParaRPr lang="en-US" sz="1300" dirty="0"/>
          </a:p>
        </p:txBody>
      </p:sp>
      <p:sp>
        <p:nvSpPr>
          <p:cNvPr id="17" name="Shape 14"/>
          <p:cNvSpPr/>
          <p:nvPr/>
        </p:nvSpPr>
        <p:spPr>
          <a:xfrm>
            <a:off x="4023360" y="2926080"/>
            <a:ext cx="435254" cy="548640"/>
          </a:xfrm>
          <a:prstGeom prst="roundRect">
            <a:avLst>
              <a:gd name="adj" fmla="val 21008"/>
            </a:avLst>
          </a:prstGeom>
          <a:solidFill>
            <a:srgbClr val="FFFFFF"/>
          </a:solidFill>
          <a:ln w="15875">
            <a:solidFill>
              <a:srgbClr val="D5DCE6"/>
            </a:solidFill>
            <a:prstDash val="solid"/>
          </a:ln>
        </p:spPr>
      </p:sp>
      <p:sp>
        <p:nvSpPr>
          <p:cNvPr id="18" name="Text 15"/>
          <p:cNvSpPr txBox="1"/>
          <p:nvPr/>
        </p:nvSpPr>
        <p:spPr>
          <a:xfrm>
            <a:off x="4023360" y="2926080"/>
            <a:ext cx="435254" cy="548640"/>
          </a:xfrm>
          <a:prstGeom prst="rect">
            <a:avLst/>
          </a:prstGeom>
          <a:noFill/>
          <a:ln/>
        </p:spPr>
        <p:txBody>
          <a:bodyPr wrap="square" lIns="0" tIns="0" rIns="0" bIns="0" rtlCol="0" anchor="ctr"/>
          <a:lstStyle/>
          <a:p>
            <a:pPr algn="ctr" indent="0" marL="0">
              <a:buNone/>
            </a:pPr>
            <a:r>
              <a:rPr lang="en-US" sz="2000" i="1" dirty="0">
                <a:solidFill>
                  <a:schemeClr val="tx1"/>
                </a:solidFill>
              </a:rPr>
              <a:t>I</a:t>
            </a:r>
            <a:endParaRPr lang="en-US" sz="2000" dirty="0"/>
          </a:p>
        </p:txBody>
      </p:sp>
      <p:sp>
        <p:nvSpPr>
          <p:cNvPr id="19" name="Shape 16"/>
          <p:cNvSpPr/>
          <p:nvPr/>
        </p:nvSpPr>
        <p:spPr>
          <a:xfrm>
            <a:off x="4531766" y="2926080"/>
            <a:ext cx="1039929" cy="548640"/>
          </a:xfrm>
          <a:prstGeom prst="roundRect">
            <a:avLst>
              <a:gd name="adj" fmla="val 16667"/>
            </a:avLst>
          </a:prstGeom>
          <a:solidFill>
            <a:schemeClr val="tx2"/>
          </a:solidFill>
          <a:ln w="12700">
            <a:solidFill>
              <a:srgbClr val="FFFFFF">
                <a:alpha val="0"/>
              </a:srgbClr>
            </a:solidFill>
            <a:prstDash val="solid"/>
          </a:ln>
        </p:spPr>
      </p:sp>
      <p:sp>
        <p:nvSpPr>
          <p:cNvPr id="20" name="Text 17"/>
          <p:cNvSpPr txBox="1"/>
          <p:nvPr/>
        </p:nvSpPr>
        <p:spPr>
          <a:xfrm>
            <a:off x="4531766" y="2926080"/>
            <a:ext cx="1039929" cy="548640"/>
          </a:xfrm>
          <a:prstGeom prst="rect">
            <a:avLst/>
          </a:prstGeom>
          <a:noFill/>
          <a:ln/>
        </p:spPr>
        <p:txBody>
          <a:bodyPr wrap="square" lIns="0" tIns="0" rIns="0" bIns="0" rtlCol="0" anchor="ctr"/>
          <a:lstStyle/>
          <a:p>
            <a:pPr algn="ctr" indent="0" marL="0">
              <a:buNone/>
            </a:pPr>
            <a:r>
              <a:rPr lang="en-US" sz="2000" b="1" i="1" dirty="0">
                <a:solidFill>
                  <a:schemeClr val="bg1"/>
                </a:solidFill>
              </a:rPr>
              <a:t>have</a:t>
            </a:r>
            <a:endParaRPr lang="en-US" sz="2000" dirty="0"/>
          </a:p>
        </p:txBody>
      </p:sp>
      <p:sp>
        <p:nvSpPr>
          <p:cNvPr id="21" name="Shape 18"/>
          <p:cNvSpPr/>
          <p:nvPr/>
        </p:nvSpPr>
        <p:spPr>
          <a:xfrm>
            <a:off x="5644847" y="2926080"/>
            <a:ext cx="1199693" cy="548640"/>
          </a:xfrm>
          <a:prstGeom prst="roundRect">
            <a:avLst>
              <a:gd name="adj" fmla="val 16667"/>
            </a:avLst>
          </a:prstGeom>
          <a:solidFill>
            <a:schemeClr val="accent2"/>
          </a:solidFill>
          <a:ln w="12700">
            <a:solidFill>
              <a:srgbClr val="FFFFFF">
                <a:alpha val="0"/>
              </a:srgbClr>
            </a:solidFill>
            <a:prstDash val="solid"/>
          </a:ln>
        </p:spPr>
      </p:sp>
      <p:sp>
        <p:nvSpPr>
          <p:cNvPr id="22" name="Text 19"/>
          <p:cNvSpPr txBox="1"/>
          <p:nvPr/>
        </p:nvSpPr>
        <p:spPr>
          <a:xfrm>
            <a:off x="5644847" y="2926080"/>
            <a:ext cx="1199693" cy="548640"/>
          </a:xfrm>
          <a:prstGeom prst="rect">
            <a:avLst/>
          </a:prstGeom>
          <a:noFill/>
          <a:ln/>
        </p:spPr>
        <p:txBody>
          <a:bodyPr wrap="square" lIns="0" tIns="0" rIns="0" bIns="0" rtlCol="0" anchor="ctr"/>
          <a:lstStyle/>
          <a:p>
            <a:pPr algn="ctr" indent="0" marL="0">
              <a:buNone/>
            </a:pPr>
            <a:r>
              <a:rPr lang="en-US" sz="2000" b="1" i="1" dirty="0">
                <a:solidFill>
                  <a:schemeClr val="bg1"/>
                </a:solidFill>
              </a:rPr>
              <a:t>lived</a:t>
            </a:r>
            <a:endParaRPr lang="en-US" sz="2000" dirty="0"/>
          </a:p>
        </p:txBody>
      </p:sp>
      <p:sp>
        <p:nvSpPr>
          <p:cNvPr id="23" name="Shape 20"/>
          <p:cNvSpPr/>
          <p:nvPr/>
        </p:nvSpPr>
        <p:spPr>
          <a:xfrm>
            <a:off x="6917692" y="2926080"/>
            <a:ext cx="863194" cy="548640"/>
          </a:xfrm>
          <a:prstGeom prst="roundRect">
            <a:avLst>
              <a:gd name="adj" fmla="val 16667"/>
            </a:avLst>
          </a:prstGeom>
          <a:solidFill>
            <a:srgbClr val="FFFFFF"/>
          </a:solidFill>
          <a:ln w="15875">
            <a:solidFill>
              <a:srgbClr val="D5DCE6"/>
            </a:solidFill>
            <a:prstDash val="solid"/>
          </a:ln>
        </p:spPr>
      </p:sp>
      <p:sp>
        <p:nvSpPr>
          <p:cNvPr id="24" name="Text 21"/>
          <p:cNvSpPr txBox="1"/>
          <p:nvPr/>
        </p:nvSpPr>
        <p:spPr>
          <a:xfrm>
            <a:off x="6917692" y="2926080"/>
            <a:ext cx="863194" cy="548640"/>
          </a:xfrm>
          <a:prstGeom prst="rect">
            <a:avLst/>
          </a:prstGeom>
          <a:noFill/>
          <a:ln/>
        </p:spPr>
        <p:txBody>
          <a:bodyPr wrap="square" lIns="0" tIns="0" rIns="0" bIns="0" rtlCol="0" anchor="ctr"/>
          <a:lstStyle/>
          <a:p>
            <a:pPr algn="ctr" indent="0" marL="0">
              <a:buNone/>
            </a:pPr>
            <a:r>
              <a:rPr lang="en-US" sz="2000" i="1" dirty="0">
                <a:solidFill>
                  <a:schemeClr val="tx1"/>
                </a:solidFill>
              </a:rPr>
              <a:t>here</a:t>
            </a:r>
            <a:endParaRPr lang="en-US" sz="2000" dirty="0"/>
          </a:p>
        </p:txBody>
      </p:sp>
      <p:sp>
        <p:nvSpPr>
          <p:cNvPr id="25" name="Shape 22"/>
          <p:cNvSpPr/>
          <p:nvPr/>
        </p:nvSpPr>
        <p:spPr>
          <a:xfrm>
            <a:off x="7854038" y="2926080"/>
            <a:ext cx="2797332" cy="548640"/>
          </a:xfrm>
          <a:prstGeom prst="roundRect">
            <a:avLst>
              <a:gd name="adj" fmla="val 16667"/>
            </a:avLst>
          </a:prstGeom>
          <a:solidFill>
            <a:srgbClr val="FDF1E6"/>
          </a:solidFill>
          <a:ln w="19050">
            <a:solidFill>
              <a:srgbClr val="D9700F"/>
            </a:solidFill>
            <a:prstDash val="solid"/>
          </a:ln>
        </p:spPr>
      </p:sp>
      <p:sp>
        <p:nvSpPr>
          <p:cNvPr id="26" name="Text 23"/>
          <p:cNvSpPr txBox="1"/>
          <p:nvPr/>
        </p:nvSpPr>
        <p:spPr>
          <a:xfrm>
            <a:off x="7854038" y="2926080"/>
            <a:ext cx="2797332" cy="548640"/>
          </a:xfrm>
          <a:prstGeom prst="rect">
            <a:avLst/>
          </a:prstGeom>
          <a:noFill/>
          <a:ln/>
        </p:spPr>
        <p:txBody>
          <a:bodyPr wrap="square" lIns="0" tIns="0" rIns="0" bIns="0" rtlCol="0" anchor="ctr"/>
          <a:lstStyle/>
          <a:p>
            <a:pPr algn="ctr" indent="0" marL="0">
              <a:buNone/>
            </a:pPr>
            <a:r>
              <a:rPr lang="en-US" sz="2000" b="1" i="1" dirty="0">
                <a:solidFill>
                  <a:schemeClr val="accent1"/>
                </a:solidFill>
              </a:rPr>
              <a:t>for five years.</a:t>
            </a:r>
            <a:endParaRPr lang="en-US" sz="2000" dirty="0"/>
          </a:p>
        </p:txBody>
      </p:sp>
      <p:sp>
        <p:nvSpPr>
          <p:cNvPr id="27" name="Shape 24"/>
          <p:cNvSpPr/>
          <p:nvPr/>
        </p:nvSpPr>
        <p:spPr>
          <a:xfrm>
            <a:off x="4023360" y="3611880"/>
            <a:ext cx="435254" cy="548640"/>
          </a:xfrm>
          <a:prstGeom prst="roundRect">
            <a:avLst>
              <a:gd name="adj" fmla="val 21008"/>
            </a:avLst>
          </a:prstGeom>
          <a:solidFill>
            <a:srgbClr val="FFFFFF"/>
          </a:solidFill>
          <a:ln w="15875">
            <a:solidFill>
              <a:srgbClr val="D5DCE6"/>
            </a:solidFill>
            <a:prstDash val="solid"/>
          </a:ln>
        </p:spPr>
      </p:sp>
      <p:sp>
        <p:nvSpPr>
          <p:cNvPr id="28" name="Text 25"/>
          <p:cNvSpPr txBox="1"/>
          <p:nvPr/>
        </p:nvSpPr>
        <p:spPr>
          <a:xfrm>
            <a:off x="4023360" y="3611880"/>
            <a:ext cx="435254" cy="548640"/>
          </a:xfrm>
          <a:prstGeom prst="rect">
            <a:avLst/>
          </a:prstGeom>
          <a:noFill/>
          <a:ln/>
        </p:spPr>
        <p:txBody>
          <a:bodyPr wrap="square" lIns="0" tIns="0" rIns="0" bIns="0" rtlCol="0" anchor="ctr"/>
          <a:lstStyle/>
          <a:p>
            <a:pPr algn="ctr" indent="0" marL="0">
              <a:buNone/>
            </a:pPr>
            <a:r>
              <a:rPr lang="en-US" sz="2000" i="1" dirty="0">
                <a:solidFill>
                  <a:schemeClr val="tx1"/>
                </a:solidFill>
              </a:rPr>
              <a:t>I</a:t>
            </a:r>
            <a:endParaRPr lang="en-US" sz="2000" dirty="0"/>
          </a:p>
        </p:txBody>
      </p:sp>
      <p:sp>
        <p:nvSpPr>
          <p:cNvPr id="29" name="Shape 26"/>
          <p:cNvSpPr/>
          <p:nvPr/>
        </p:nvSpPr>
        <p:spPr>
          <a:xfrm>
            <a:off x="4531766" y="3611880"/>
            <a:ext cx="1039929" cy="548640"/>
          </a:xfrm>
          <a:prstGeom prst="roundRect">
            <a:avLst>
              <a:gd name="adj" fmla="val 16667"/>
            </a:avLst>
          </a:prstGeom>
          <a:solidFill>
            <a:schemeClr val="tx2"/>
          </a:solidFill>
          <a:ln w="12700">
            <a:solidFill>
              <a:srgbClr val="FFFFFF">
                <a:alpha val="0"/>
              </a:srgbClr>
            </a:solidFill>
            <a:prstDash val="solid"/>
          </a:ln>
        </p:spPr>
      </p:sp>
      <p:sp>
        <p:nvSpPr>
          <p:cNvPr id="30" name="Text 27"/>
          <p:cNvSpPr txBox="1"/>
          <p:nvPr/>
        </p:nvSpPr>
        <p:spPr>
          <a:xfrm>
            <a:off x="4531766" y="3611880"/>
            <a:ext cx="1039929" cy="548640"/>
          </a:xfrm>
          <a:prstGeom prst="rect">
            <a:avLst/>
          </a:prstGeom>
          <a:noFill/>
          <a:ln/>
        </p:spPr>
        <p:txBody>
          <a:bodyPr wrap="square" lIns="0" tIns="0" rIns="0" bIns="0" rtlCol="0" anchor="ctr"/>
          <a:lstStyle/>
          <a:p>
            <a:pPr algn="ctr" indent="0" marL="0">
              <a:buNone/>
            </a:pPr>
            <a:r>
              <a:rPr lang="en-US" sz="2000" b="1" i="1" dirty="0">
                <a:solidFill>
                  <a:schemeClr val="bg1"/>
                </a:solidFill>
              </a:rPr>
              <a:t>have</a:t>
            </a:r>
            <a:endParaRPr lang="en-US" sz="2000" dirty="0"/>
          </a:p>
        </p:txBody>
      </p:sp>
      <p:sp>
        <p:nvSpPr>
          <p:cNvPr id="31" name="Shape 28"/>
          <p:cNvSpPr/>
          <p:nvPr/>
        </p:nvSpPr>
        <p:spPr>
          <a:xfrm>
            <a:off x="5644847" y="3611880"/>
            <a:ext cx="1199693" cy="548640"/>
          </a:xfrm>
          <a:prstGeom prst="roundRect">
            <a:avLst>
              <a:gd name="adj" fmla="val 16667"/>
            </a:avLst>
          </a:prstGeom>
          <a:solidFill>
            <a:schemeClr val="accent2"/>
          </a:solidFill>
          <a:ln w="12700">
            <a:solidFill>
              <a:srgbClr val="FFFFFF">
                <a:alpha val="0"/>
              </a:srgbClr>
            </a:solidFill>
            <a:prstDash val="solid"/>
          </a:ln>
        </p:spPr>
      </p:sp>
      <p:sp>
        <p:nvSpPr>
          <p:cNvPr id="32" name="Text 29"/>
          <p:cNvSpPr txBox="1"/>
          <p:nvPr/>
        </p:nvSpPr>
        <p:spPr>
          <a:xfrm>
            <a:off x="5644847" y="3611880"/>
            <a:ext cx="1199693" cy="548640"/>
          </a:xfrm>
          <a:prstGeom prst="rect">
            <a:avLst/>
          </a:prstGeom>
          <a:noFill/>
          <a:ln/>
        </p:spPr>
        <p:txBody>
          <a:bodyPr wrap="square" lIns="0" tIns="0" rIns="0" bIns="0" rtlCol="0" anchor="ctr"/>
          <a:lstStyle/>
          <a:p>
            <a:pPr algn="ctr" indent="0" marL="0">
              <a:buNone/>
            </a:pPr>
            <a:r>
              <a:rPr lang="en-US" sz="2000" b="1" i="1" dirty="0">
                <a:solidFill>
                  <a:schemeClr val="bg1"/>
                </a:solidFill>
              </a:rPr>
              <a:t>lived</a:t>
            </a:r>
            <a:endParaRPr lang="en-US" sz="2000" dirty="0"/>
          </a:p>
        </p:txBody>
      </p:sp>
      <p:sp>
        <p:nvSpPr>
          <p:cNvPr id="33" name="Shape 30"/>
          <p:cNvSpPr/>
          <p:nvPr/>
        </p:nvSpPr>
        <p:spPr>
          <a:xfrm>
            <a:off x="6917692" y="3611880"/>
            <a:ext cx="863194" cy="548640"/>
          </a:xfrm>
          <a:prstGeom prst="roundRect">
            <a:avLst>
              <a:gd name="adj" fmla="val 16667"/>
            </a:avLst>
          </a:prstGeom>
          <a:solidFill>
            <a:srgbClr val="FFFFFF"/>
          </a:solidFill>
          <a:ln w="15875">
            <a:solidFill>
              <a:srgbClr val="D5DCE6"/>
            </a:solidFill>
            <a:prstDash val="solid"/>
          </a:ln>
        </p:spPr>
      </p:sp>
      <p:sp>
        <p:nvSpPr>
          <p:cNvPr id="34" name="Text 31"/>
          <p:cNvSpPr txBox="1"/>
          <p:nvPr/>
        </p:nvSpPr>
        <p:spPr>
          <a:xfrm>
            <a:off x="6917692" y="3611880"/>
            <a:ext cx="863194" cy="548640"/>
          </a:xfrm>
          <a:prstGeom prst="rect">
            <a:avLst/>
          </a:prstGeom>
          <a:noFill/>
          <a:ln/>
        </p:spPr>
        <p:txBody>
          <a:bodyPr wrap="square" lIns="0" tIns="0" rIns="0" bIns="0" rtlCol="0" anchor="ctr"/>
          <a:lstStyle/>
          <a:p>
            <a:pPr algn="ctr" indent="0" marL="0">
              <a:buNone/>
            </a:pPr>
            <a:r>
              <a:rPr lang="en-US" sz="2000" i="1" dirty="0">
                <a:solidFill>
                  <a:schemeClr val="tx1"/>
                </a:solidFill>
              </a:rPr>
              <a:t>here</a:t>
            </a:r>
            <a:endParaRPr lang="en-US" sz="2000" dirty="0"/>
          </a:p>
        </p:txBody>
      </p:sp>
      <p:sp>
        <p:nvSpPr>
          <p:cNvPr id="35" name="Shape 32"/>
          <p:cNvSpPr/>
          <p:nvPr/>
        </p:nvSpPr>
        <p:spPr>
          <a:xfrm>
            <a:off x="7854038" y="3611880"/>
            <a:ext cx="2158277" cy="548640"/>
          </a:xfrm>
          <a:prstGeom prst="roundRect">
            <a:avLst>
              <a:gd name="adj" fmla="val 16667"/>
            </a:avLst>
          </a:prstGeom>
          <a:solidFill>
            <a:srgbClr val="FDF1E6"/>
          </a:solidFill>
          <a:ln w="19050">
            <a:solidFill>
              <a:srgbClr val="D9700F"/>
            </a:solidFill>
            <a:prstDash val="solid"/>
          </a:ln>
        </p:spPr>
      </p:sp>
      <p:sp>
        <p:nvSpPr>
          <p:cNvPr id="36" name="Text 33"/>
          <p:cNvSpPr txBox="1"/>
          <p:nvPr/>
        </p:nvSpPr>
        <p:spPr>
          <a:xfrm>
            <a:off x="7854038" y="3611880"/>
            <a:ext cx="2158277" cy="548640"/>
          </a:xfrm>
          <a:prstGeom prst="rect">
            <a:avLst/>
          </a:prstGeom>
          <a:noFill/>
          <a:ln/>
        </p:spPr>
        <p:txBody>
          <a:bodyPr wrap="square" lIns="0" tIns="0" rIns="0" bIns="0" rtlCol="0" anchor="ctr"/>
          <a:lstStyle/>
          <a:p>
            <a:pPr algn="ctr" indent="0" marL="0">
              <a:buNone/>
            </a:pPr>
            <a:r>
              <a:rPr lang="en-US" sz="2000" b="1" i="1" dirty="0">
                <a:solidFill>
                  <a:schemeClr val="accent1"/>
                </a:solidFill>
              </a:rPr>
              <a:t>since 2021.</a:t>
            </a:r>
            <a:endParaRPr lang="en-US" sz="2000" dirty="0"/>
          </a:p>
        </p:txBody>
      </p:sp>
      <p:sp>
        <p:nvSpPr>
          <p:cNvPr id="37" name="Shape 34"/>
          <p:cNvSpPr/>
          <p:nvPr/>
        </p:nvSpPr>
        <p:spPr>
          <a:xfrm>
            <a:off x="548640" y="4343400"/>
            <a:ext cx="3566160" cy="1234440"/>
          </a:xfrm>
          <a:prstGeom prst="roundRect">
            <a:avLst>
              <a:gd name="adj" fmla="val 8889"/>
            </a:avLst>
          </a:prstGeom>
          <a:solidFill>
            <a:srgbClr val="EAF2FB"/>
          </a:solidFill>
          <a:ln w="19050">
            <a:solidFill>
              <a:srgbClr val="2A6FB0"/>
            </a:solidFill>
            <a:prstDash val="solid"/>
          </a:ln>
        </p:spPr>
      </p:sp>
      <p:sp>
        <p:nvSpPr>
          <p:cNvPr id="38" name="Text 35"/>
          <p:cNvSpPr txBox="1"/>
          <p:nvPr/>
        </p:nvSpPr>
        <p:spPr>
          <a:xfrm>
            <a:off x="731520" y="4416552"/>
            <a:ext cx="3200400" cy="384048"/>
          </a:xfrm>
          <a:prstGeom prst="rect">
            <a:avLst/>
          </a:prstGeom>
          <a:noFill/>
          <a:ln/>
        </p:spPr>
        <p:txBody>
          <a:bodyPr wrap="square" lIns="0" tIns="0" rIns="0" bIns="0" rtlCol="0" anchor="ctr"/>
          <a:lstStyle/>
          <a:p>
            <a:pPr algn="l" indent="0" marL="0">
              <a:buNone/>
            </a:pPr>
            <a:r>
              <a:rPr lang="en-US" sz="1500" b="1" dirty="0">
                <a:solidFill>
                  <a:schemeClr val="accent2"/>
                </a:solidFill>
              </a:rPr>
              <a:t>FOR + a period of time</a:t>
            </a:r>
            <a:endParaRPr lang="en-US" sz="1500" dirty="0"/>
          </a:p>
        </p:txBody>
      </p:sp>
      <p:sp>
        <p:nvSpPr>
          <p:cNvPr id="39" name="Text 36"/>
          <p:cNvSpPr txBox="1"/>
          <p:nvPr/>
        </p:nvSpPr>
        <p:spPr>
          <a:xfrm>
            <a:off x="731520" y="4818888"/>
            <a:ext cx="3200400" cy="685800"/>
          </a:xfrm>
          <a:prstGeom prst="rect">
            <a:avLst/>
          </a:prstGeom>
          <a:noFill/>
          <a:ln/>
        </p:spPr>
        <p:txBody>
          <a:bodyPr wrap="square" lIns="0" tIns="0" rIns="0" bIns="0" rtlCol="0" anchor="t"/>
          <a:lstStyle/>
          <a:p>
            <a:pPr algn="l" indent="0" marL="0">
              <a:spcAft>
                <a:spcPts val="400"/>
              </a:spcAft>
              <a:buNone/>
            </a:pPr>
            <a:r>
              <a:rPr lang="en-US" sz="1450" i="1" dirty="0">
                <a:solidFill>
                  <a:schemeClr val="tx1"/>
                </a:solidFill>
              </a:rPr>
              <a:t>two hours · a week · ten years · ages</a:t>
            </a:r>
            <a:endParaRPr lang="en-US" sz="1450" dirty="0"/>
          </a:p>
        </p:txBody>
      </p:sp>
      <p:sp>
        <p:nvSpPr>
          <p:cNvPr id="40" name="Shape 37"/>
          <p:cNvSpPr/>
          <p:nvPr/>
        </p:nvSpPr>
        <p:spPr>
          <a:xfrm>
            <a:off x="4297680" y="4343400"/>
            <a:ext cx="3566160" cy="1234440"/>
          </a:xfrm>
          <a:prstGeom prst="roundRect">
            <a:avLst>
              <a:gd name="adj" fmla="val 8889"/>
            </a:avLst>
          </a:prstGeom>
          <a:solidFill>
            <a:srgbClr val="FDF1E6"/>
          </a:solidFill>
          <a:ln w="19050">
            <a:solidFill>
              <a:srgbClr val="D9700F"/>
            </a:solidFill>
            <a:prstDash val="solid"/>
          </a:ln>
        </p:spPr>
      </p:sp>
      <p:sp>
        <p:nvSpPr>
          <p:cNvPr id="41" name="Text 38"/>
          <p:cNvSpPr txBox="1"/>
          <p:nvPr/>
        </p:nvSpPr>
        <p:spPr>
          <a:xfrm>
            <a:off x="4480560" y="4416552"/>
            <a:ext cx="3200400" cy="384048"/>
          </a:xfrm>
          <a:prstGeom prst="rect">
            <a:avLst/>
          </a:prstGeom>
          <a:noFill/>
          <a:ln/>
        </p:spPr>
        <p:txBody>
          <a:bodyPr wrap="square" lIns="0" tIns="0" rIns="0" bIns="0" rtlCol="0" anchor="ctr"/>
          <a:lstStyle/>
          <a:p>
            <a:pPr algn="l" indent="0" marL="0">
              <a:buNone/>
            </a:pPr>
            <a:r>
              <a:rPr lang="en-US" sz="1500" b="1" dirty="0">
                <a:solidFill>
                  <a:schemeClr val="accent1"/>
                </a:solidFill>
              </a:rPr>
              <a:t>SINCE + a starting point</a:t>
            </a:r>
            <a:endParaRPr lang="en-US" sz="1500" dirty="0"/>
          </a:p>
        </p:txBody>
      </p:sp>
      <p:sp>
        <p:nvSpPr>
          <p:cNvPr id="42" name="Text 39"/>
          <p:cNvSpPr txBox="1"/>
          <p:nvPr/>
        </p:nvSpPr>
        <p:spPr>
          <a:xfrm>
            <a:off x="4480560" y="4818888"/>
            <a:ext cx="3200400" cy="685800"/>
          </a:xfrm>
          <a:prstGeom prst="rect">
            <a:avLst/>
          </a:prstGeom>
          <a:noFill/>
          <a:ln/>
        </p:spPr>
        <p:txBody>
          <a:bodyPr wrap="square" lIns="0" tIns="0" rIns="0" bIns="0" rtlCol="0" anchor="t"/>
          <a:lstStyle/>
          <a:p>
            <a:pPr algn="l" indent="0" marL="0">
              <a:spcAft>
                <a:spcPts val="400"/>
              </a:spcAft>
              <a:buNone/>
            </a:pPr>
            <a:r>
              <a:rPr lang="en-US" sz="1450" i="1" dirty="0">
                <a:solidFill>
                  <a:schemeClr val="tx1"/>
                </a:solidFill>
              </a:rPr>
              <a:t>9 o’clock · Monday · 2021 · I was a child</a:t>
            </a:r>
            <a:endParaRPr lang="en-US" sz="1450" dirty="0"/>
          </a:p>
        </p:txBody>
      </p:sp>
      <p:sp>
        <p:nvSpPr>
          <p:cNvPr id="43" name="Shape 40"/>
          <p:cNvSpPr/>
          <p:nvPr/>
        </p:nvSpPr>
        <p:spPr>
          <a:xfrm>
            <a:off x="8046720" y="4343400"/>
            <a:ext cx="3593592" cy="1234440"/>
          </a:xfrm>
          <a:prstGeom prst="roundRect">
            <a:avLst>
              <a:gd name="adj" fmla="val 8889"/>
            </a:avLst>
          </a:prstGeom>
          <a:solidFill>
            <a:srgbClr val="FBEDEB"/>
          </a:solidFill>
          <a:ln w="19050">
            <a:solidFill>
              <a:srgbClr val="B83227"/>
            </a:solidFill>
            <a:prstDash val="solid"/>
          </a:ln>
        </p:spPr>
      </p:sp>
      <p:sp>
        <p:nvSpPr>
          <p:cNvPr id="44" name="Shape 41"/>
          <p:cNvSpPr/>
          <p:nvPr/>
        </p:nvSpPr>
        <p:spPr>
          <a:xfrm>
            <a:off x="8229600" y="4489704"/>
            <a:ext cx="128016" cy="253472"/>
          </a:xfrm>
          <a:prstGeom prst="rect">
            <a:avLst/>
          </a:prstGeom>
          <a:solidFill>
            <a:srgbClr val="1F4FA3"/>
          </a:solidFill>
          <a:ln w="12700">
            <a:solidFill>
              <a:srgbClr val="FFFFFF">
                <a:alpha val="0"/>
              </a:srgbClr>
            </a:solidFill>
            <a:prstDash val="solid"/>
          </a:ln>
        </p:spPr>
      </p:sp>
      <p:sp>
        <p:nvSpPr>
          <p:cNvPr id="45" name="Shape 42"/>
          <p:cNvSpPr/>
          <p:nvPr/>
        </p:nvSpPr>
        <p:spPr>
          <a:xfrm>
            <a:off x="8357616" y="4489704"/>
            <a:ext cx="128016" cy="253472"/>
          </a:xfrm>
          <a:prstGeom prst="rect">
            <a:avLst/>
          </a:prstGeom>
          <a:solidFill>
            <a:srgbClr val="FFFFFF"/>
          </a:solidFill>
          <a:ln w="12700">
            <a:solidFill>
              <a:srgbClr val="FFFFFF">
                <a:alpha val="0"/>
              </a:srgbClr>
            </a:solidFill>
            <a:prstDash val="solid"/>
          </a:ln>
        </p:spPr>
      </p:sp>
      <p:sp>
        <p:nvSpPr>
          <p:cNvPr id="46" name="Shape 43"/>
          <p:cNvSpPr/>
          <p:nvPr/>
        </p:nvSpPr>
        <p:spPr>
          <a:xfrm>
            <a:off x="8485632" y="4489704"/>
            <a:ext cx="128016" cy="253472"/>
          </a:xfrm>
          <a:prstGeom prst="rect">
            <a:avLst/>
          </a:prstGeom>
          <a:solidFill>
            <a:srgbClr val="E2232A"/>
          </a:solidFill>
          <a:ln w="12700">
            <a:solidFill>
              <a:srgbClr val="FFFFFF">
                <a:alpha val="0"/>
              </a:srgbClr>
            </a:solidFill>
            <a:prstDash val="solid"/>
          </a:ln>
        </p:spPr>
      </p:sp>
      <p:sp>
        <p:nvSpPr>
          <p:cNvPr id="47" name="Shape 44"/>
          <p:cNvSpPr/>
          <p:nvPr/>
        </p:nvSpPr>
        <p:spPr>
          <a:xfrm>
            <a:off x="8229600" y="4489704"/>
            <a:ext cx="384048" cy="253472"/>
          </a:xfrm>
          <a:prstGeom prst="rect">
            <a:avLst/>
          </a:prstGeom>
          <a:noFill/>
          <a:ln w="9525">
            <a:solidFill>
              <a:srgbClr val="B8C2CF"/>
            </a:solidFill>
            <a:prstDash val="solid"/>
          </a:ln>
        </p:spPr>
      </p:sp>
      <p:sp>
        <p:nvSpPr>
          <p:cNvPr id="48" name="Text 45"/>
          <p:cNvSpPr txBox="1"/>
          <p:nvPr/>
        </p:nvSpPr>
        <p:spPr>
          <a:xfrm>
            <a:off x="8650224" y="4416552"/>
            <a:ext cx="274320" cy="384048"/>
          </a:xfrm>
          <a:prstGeom prst="rect">
            <a:avLst/>
          </a:prstGeom>
          <a:noFill/>
          <a:ln/>
        </p:spPr>
        <p:txBody>
          <a:bodyPr wrap="square" lIns="0" tIns="0" rIns="0" bIns="0" rtlCol="0" anchor="ctr"/>
          <a:lstStyle/>
          <a:p>
            <a:pPr algn="ctr" indent="0" marL="0">
              <a:buNone/>
            </a:pPr>
            <a:r>
              <a:rPr lang="en-US" sz="1800" b="1" dirty="0">
                <a:solidFill>
                  <a:schemeClr val="accent6"/>
                </a:solidFill>
              </a:rPr>
              <a:t>≠</a:t>
            </a:r>
            <a:endParaRPr lang="en-US" sz="1800" dirty="0"/>
          </a:p>
        </p:txBody>
      </p:sp>
      <p:sp>
        <p:nvSpPr>
          <p:cNvPr id="49" name="Shape 46"/>
          <p:cNvSpPr/>
          <p:nvPr/>
        </p:nvSpPr>
        <p:spPr>
          <a:xfrm>
            <a:off x="8942832" y="4489704"/>
            <a:ext cx="384048" cy="253472"/>
          </a:xfrm>
          <a:prstGeom prst="rect">
            <a:avLst/>
          </a:prstGeom>
          <a:solidFill>
            <a:srgbClr val="1F3B87"/>
          </a:solidFill>
          <a:ln w="12700">
            <a:solidFill>
              <a:srgbClr val="FFFFFF">
                <a:alpha val="0"/>
              </a:srgbClr>
            </a:solidFill>
            <a:prstDash val="solid"/>
          </a:ln>
        </p:spPr>
      </p:sp>
      <p:sp>
        <p:nvSpPr>
          <p:cNvPr id="50" name="Shape 47"/>
          <p:cNvSpPr/>
          <p:nvPr/>
        </p:nvSpPr>
        <p:spPr>
          <a:xfrm>
            <a:off x="8942832" y="4489704"/>
            <a:ext cx="384048" cy="253472"/>
          </a:xfrm>
          <a:custGeom>
            <a:avLst/>
            <a:gdLst/>
            <a:ahLst/>
            <a:cxnLst/>
            <a:rect l="l" t="t" r="r" b="b"/>
            <a:pathLst>
              <a:path w="384048" h="253472">
                <a:moveTo>
                  <a:pt x="0" y="0"/>
                </a:moveTo>
                <a:lnTo>
                  <a:pt x="42583" y="0"/>
                </a:lnTo>
                <a:lnTo>
                  <a:pt x="384048" y="223055"/>
                </a:lnTo>
                <a:lnTo>
                  <a:pt x="384048" y="253472"/>
                </a:lnTo>
                <a:lnTo>
                  <a:pt x="341465" y="253472"/>
                </a:lnTo>
                <a:lnTo>
                  <a:pt x="0" y="30417"/>
                </a:lnTo>
                <a:close/>
              </a:path>
            </a:pathLst>
          </a:custGeom>
          <a:solidFill>
            <a:srgbClr val="FFFFFF"/>
          </a:solidFill>
          <a:ln w="12700">
            <a:solidFill>
              <a:srgbClr val="FFFFFF">
                <a:alpha val="0"/>
              </a:srgbClr>
            </a:solidFill>
            <a:prstDash val="solid"/>
          </a:ln>
        </p:spPr>
      </p:sp>
      <p:sp>
        <p:nvSpPr>
          <p:cNvPr id="51" name="Shape 48"/>
          <p:cNvSpPr/>
          <p:nvPr/>
        </p:nvSpPr>
        <p:spPr>
          <a:xfrm>
            <a:off x="8942832" y="4489704"/>
            <a:ext cx="384048" cy="253472"/>
          </a:xfrm>
          <a:custGeom>
            <a:avLst/>
            <a:gdLst/>
            <a:ahLst/>
            <a:cxnLst/>
            <a:rect l="l" t="t" r="r" b="b"/>
            <a:pathLst>
              <a:path w="384048" h="253472">
                <a:moveTo>
                  <a:pt x="384048" y="0"/>
                </a:moveTo>
                <a:lnTo>
                  <a:pt x="384048" y="30417"/>
                </a:lnTo>
                <a:lnTo>
                  <a:pt x="42583" y="253472"/>
                </a:lnTo>
                <a:lnTo>
                  <a:pt x="0" y="253472"/>
                </a:lnTo>
                <a:lnTo>
                  <a:pt x="0" y="223055"/>
                </a:lnTo>
                <a:lnTo>
                  <a:pt x="341465" y="0"/>
                </a:lnTo>
                <a:close/>
              </a:path>
            </a:pathLst>
          </a:custGeom>
          <a:solidFill>
            <a:srgbClr val="FFFFFF"/>
          </a:solidFill>
          <a:ln w="12700">
            <a:solidFill>
              <a:srgbClr val="FFFFFF">
                <a:alpha val="0"/>
              </a:srgbClr>
            </a:solidFill>
            <a:prstDash val="solid"/>
          </a:ln>
        </p:spPr>
      </p:sp>
      <p:sp>
        <p:nvSpPr>
          <p:cNvPr id="52" name="Shape 49"/>
          <p:cNvSpPr/>
          <p:nvPr/>
        </p:nvSpPr>
        <p:spPr>
          <a:xfrm>
            <a:off x="9092273" y="4489704"/>
            <a:ext cx="85166" cy="253472"/>
          </a:xfrm>
          <a:prstGeom prst="rect">
            <a:avLst/>
          </a:prstGeom>
          <a:solidFill>
            <a:srgbClr val="FFFFFF"/>
          </a:solidFill>
          <a:ln w="12700">
            <a:solidFill>
              <a:srgbClr val="FFFFFF">
                <a:alpha val="0"/>
              </a:srgbClr>
            </a:solidFill>
            <a:prstDash val="solid"/>
          </a:ln>
        </p:spPr>
      </p:sp>
      <p:sp>
        <p:nvSpPr>
          <p:cNvPr id="53" name="Shape 50"/>
          <p:cNvSpPr/>
          <p:nvPr/>
        </p:nvSpPr>
        <p:spPr>
          <a:xfrm>
            <a:off x="8942832" y="4573857"/>
            <a:ext cx="384048" cy="85166"/>
          </a:xfrm>
          <a:prstGeom prst="rect">
            <a:avLst/>
          </a:prstGeom>
          <a:solidFill>
            <a:srgbClr val="FFFFFF"/>
          </a:solidFill>
          <a:ln w="12700">
            <a:solidFill>
              <a:srgbClr val="FFFFFF">
                <a:alpha val="0"/>
              </a:srgbClr>
            </a:solidFill>
            <a:prstDash val="solid"/>
          </a:ln>
        </p:spPr>
      </p:sp>
      <p:sp>
        <p:nvSpPr>
          <p:cNvPr id="54" name="Shape 51"/>
          <p:cNvSpPr/>
          <p:nvPr/>
        </p:nvSpPr>
        <p:spPr>
          <a:xfrm>
            <a:off x="9110523" y="4489704"/>
            <a:ext cx="48667" cy="253472"/>
          </a:xfrm>
          <a:prstGeom prst="rect">
            <a:avLst/>
          </a:prstGeom>
          <a:solidFill>
            <a:srgbClr val="C8102E"/>
          </a:solidFill>
          <a:ln w="12700">
            <a:solidFill>
              <a:srgbClr val="FFFFFF">
                <a:alpha val="0"/>
              </a:srgbClr>
            </a:solidFill>
            <a:prstDash val="solid"/>
          </a:ln>
        </p:spPr>
      </p:sp>
      <p:sp>
        <p:nvSpPr>
          <p:cNvPr id="55" name="Shape 52"/>
          <p:cNvSpPr/>
          <p:nvPr/>
        </p:nvSpPr>
        <p:spPr>
          <a:xfrm>
            <a:off x="8942832" y="4592107"/>
            <a:ext cx="384048" cy="48667"/>
          </a:xfrm>
          <a:prstGeom prst="rect">
            <a:avLst/>
          </a:prstGeom>
          <a:solidFill>
            <a:srgbClr val="C8102E"/>
          </a:solidFill>
          <a:ln w="12700">
            <a:solidFill>
              <a:srgbClr val="FFFFFF">
                <a:alpha val="0"/>
              </a:srgbClr>
            </a:solidFill>
            <a:prstDash val="solid"/>
          </a:ln>
        </p:spPr>
      </p:sp>
      <p:sp>
        <p:nvSpPr>
          <p:cNvPr id="56" name="Shape 53"/>
          <p:cNvSpPr/>
          <p:nvPr/>
        </p:nvSpPr>
        <p:spPr>
          <a:xfrm>
            <a:off x="8942832" y="4489704"/>
            <a:ext cx="384048" cy="253472"/>
          </a:xfrm>
          <a:prstGeom prst="rect">
            <a:avLst/>
          </a:prstGeom>
          <a:noFill/>
          <a:ln w="9525">
            <a:solidFill>
              <a:srgbClr val="B8C2CF"/>
            </a:solidFill>
            <a:prstDash val="solid"/>
          </a:ln>
        </p:spPr>
      </p:sp>
      <p:sp>
        <p:nvSpPr>
          <p:cNvPr id="57" name="Text 54"/>
          <p:cNvSpPr txBox="1"/>
          <p:nvPr/>
        </p:nvSpPr>
        <p:spPr>
          <a:xfrm>
            <a:off x="9464040" y="4416552"/>
            <a:ext cx="2039112" cy="384048"/>
          </a:xfrm>
          <a:prstGeom prst="rect">
            <a:avLst/>
          </a:prstGeom>
          <a:noFill/>
          <a:ln/>
        </p:spPr>
        <p:txBody>
          <a:bodyPr wrap="square" lIns="0" tIns="0" rIns="0" bIns="0" rtlCol="0" anchor="ctr"/>
          <a:lstStyle/>
          <a:p>
            <a:pPr algn="l" indent="0" marL="0">
              <a:buNone/>
            </a:pPr>
            <a:r>
              <a:rPr lang="en-US" sz="1500" b="1" dirty="0">
                <a:solidFill>
                  <a:schemeClr val="accent6"/>
                </a:solidFill>
              </a:rPr>
              <a:t>« depuis 5 ans »</a:t>
            </a:r>
            <a:endParaRPr lang="en-US" sz="1500" dirty="0"/>
          </a:p>
        </p:txBody>
      </p:sp>
      <p:sp>
        <p:nvSpPr>
          <p:cNvPr id="58" name="Text 55"/>
          <p:cNvSpPr txBox="1"/>
          <p:nvPr/>
        </p:nvSpPr>
        <p:spPr>
          <a:xfrm>
            <a:off x="8229600" y="4846320"/>
            <a:ext cx="3227832" cy="667512"/>
          </a:xfrm>
          <a:prstGeom prst="rect">
            <a:avLst/>
          </a:prstGeom>
          <a:noFill/>
          <a:ln/>
        </p:spPr>
        <p:txBody>
          <a:bodyPr wrap="square" lIns="0" tIns="0" rIns="0" bIns="0" rtlCol="0" anchor="t"/>
          <a:lstStyle/>
          <a:p>
            <a:pPr algn="l" indent="0" marL="0">
              <a:spcAft>
                <a:spcPts val="200"/>
              </a:spcAft>
              <a:buNone/>
            </a:pPr>
            <a:r>
              <a:rPr lang="en-US" sz="1400" dirty="0">
                <a:solidFill>
                  <a:schemeClr val="tx1"/>
                </a:solidFill>
              </a:rPr>
              <a:t>✗ </a:t>
            </a:r>
            <a:r>
              <a:rPr lang="en-US" sz="1400" i="1" dirty="0">
                <a:solidFill>
                  <a:schemeClr val="tx1"/>
                </a:solidFill>
              </a:rPr>
              <a:t>I live here since 5 years.</a:t>
            </a:r>
            <a:endParaRPr lang="en-US" sz="1400" dirty="0"/>
          </a:p>
          <a:p>
            <a:pPr algn="l" indent="0" marL="0">
              <a:spcAft>
                <a:spcPts val="200"/>
              </a:spcAft>
              <a:buNone/>
            </a:pPr>
            <a:r>
              <a:rPr lang="en-US" sz="1400" dirty="0">
                <a:solidFill>
                  <a:schemeClr val="tx1"/>
                </a:solidFill>
              </a:rPr>
              <a:t>✓ </a:t>
            </a:r>
            <a:r>
              <a:rPr lang="en-US" sz="1400" i="1" dirty="0">
                <a:solidFill>
                  <a:schemeClr val="tx1"/>
                </a:solidFill>
              </a:rPr>
              <a:t>I’</a:t>
            </a:r>
            <a:r>
              <a:rPr lang="en-US" sz="1400" b="1" i="1" dirty="0">
                <a:solidFill>
                  <a:schemeClr val="tx1"/>
                </a:solidFill>
              </a:rPr>
              <a:t>ve lived</a:t>
            </a:r>
            <a:r>
              <a:rPr lang="en-US" sz="1400" i="1" dirty="0">
                <a:solidFill>
                  <a:schemeClr val="tx1"/>
                </a:solidFill>
              </a:rPr>
              <a:t> here </a:t>
            </a:r>
            <a:r>
              <a:rPr lang="en-US" sz="1400" b="1" i="1" dirty="0">
                <a:solidFill>
                  <a:schemeClr val="tx1"/>
                </a:solidFill>
              </a:rPr>
              <a:t>for</a:t>
            </a:r>
            <a:r>
              <a:rPr lang="en-US" sz="1400" i="1" dirty="0">
                <a:solidFill>
                  <a:schemeClr val="tx1"/>
                </a:solidFill>
              </a:rPr>
              <a:t> 5 years.</a:t>
            </a:r>
            <a:endParaRPr lang="en-US" sz="1400" dirty="0"/>
          </a:p>
        </p:txBody>
      </p:sp>
      <p:sp>
        <p:nvSpPr>
          <p:cNvPr id="59" name="Shape 56"/>
          <p:cNvSpPr/>
          <p:nvPr/>
        </p:nvSpPr>
        <p:spPr>
          <a:xfrm>
            <a:off x="548640" y="5715000"/>
            <a:ext cx="11091672" cy="502920"/>
          </a:xfrm>
          <a:prstGeom prst="roundRect">
            <a:avLst>
              <a:gd name="adj" fmla="val 14545"/>
            </a:avLst>
          </a:prstGeom>
          <a:solidFill>
            <a:schemeClr val="tx2"/>
          </a:solidFill>
          <a:ln w="12700">
            <a:solidFill>
              <a:srgbClr val="FFFFFF">
                <a:alpha val="0"/>
              </a:srgbClr>
            </a:solidFill>
            <a:prstDash val="solid"/>
          </a:ln>
        </p:spPr>
      </p:sp>
      <p:sp>
        <p:nvSpPr>
          <p:cNvPr id="60" name="Text 57"/>
          <p:cNvSpPr txBox="1"/>
          <p:nvPr/>
        </p:nvSpPr>
        <p:spPr>
          <a:xfrm>
            <a:off x="822960" y="5715000"/>
            <a:ext cx="10607040" cy="502920"/>
          </a:xfrm>
          <a:prstGeom prst="rect">
            <a:avLst/>
          </a:prstGeom>
          <a:noFill/>
          <a:ln/>
        </p:spPr>
        <p:txBody>
          <a:bodyPr wrap="square" lIns="0" tIns="0" rIns="0" bIns="0" rtlCol="0" anchor="ctr"/>
          <a:lstStyle/>
          <a:p>
            <a:pPr algn="l" indent="0" marL="0">
              <a:buNone/>
            </a:pPr>
            <a:r>
              <a:rPr lang="en-US" sz="1600" dirty="0">
                <a:solidFill>
                  <a:schemeClr val="bg1"/>
                </a:solidFill>
              </a:rPr>
              <a:t>Question : </a:t>
            </a:r>
            <a:r>
              <a:rPr lang="en-US" sz="1600" b="1" i="1" dirty="0">
                <a:solidFill>
                  <a:schemeClr val="bg1"/>
                </a:solidFill>
              </a:rPr>
              <a:t>How long</a:t>
            </a:r>
            <a:r>
              <a:rPr lang="en-US" sz="1600" i="1" dirty="0">
                <a:solidFill>
                  <a:schemeClr val="bg1"/>
                </a:solidFill>
              </a:rPr>
              <a:t> have you lived here?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Open time or closed time?</a:t>
            </a:r>
            <a:endParaRPr lang="en-US" sz="3000" dirty="0"/>
          </a:p>
        </p:txBody>
      </p:sp>
      <p:sp>
        <p:nvSpPr>
          <p:cNvPr id="3" name="tag"/>
          <p:cNvSpPr/>
          <p:nvPr/>
        </p:nvSpPr>
        <p:spPr>
          <a:xfrm>
            <a:off x="548640" y="237744"/>
            <a:ext cx="11210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GRAMMAR</a:t>
            </a:r>
            <a:endParaRPr lang="en-US" sz="1200" dirty="0"/>
          </a:p>
        </p:txBody>
      </p:sp>
      <p:sp>
        <p:nvSpPr>
          <p:cNvPr id="5" name="Shape 2"/>
          <p:cNvSpPr/>
          <p:nvPr/>
        </p:nvSpPr>
        <p:spPr>
          <a:xfrm>
            <a:off x="548640" y="1463040"/>
            <a:ext cx="5440680" cy="4069080"/>
          </a:xfrm>
          <a:prstGeom prst="roundRect">
            <a:avLst>
              <a:gd name="adj" fmla="val 2697"/>
            </a:avLst>
          </a:prstGeom>
          <a:solidFill>
            <a:srgbClr val="EAF2FB"/>
          </a:solidFill>
          <a:ln w="25400">
            <a:solidFill>
              <a:srgbClr val="2A6FB0"/>
            </a:solidFill>
            <a:prstDash val="dash"/>
          </a:ln>
        </p:spPr>
      </p:sp>
      <p:pic>
        <p:nvPicPr>
          <p:cNvPr id="6" name="Image 0" descr="unlocked">    </p:cNvPr>
          <p:cNvPicPr>
            <a:picLocks noChangeAspect="1"/>
          </p:cNvPicPr>
          <p:nvPr/>
        </p:nvPicPr>
        <p:blipFill>
          <a:blip r:embed="rId1"/>
          <a:stretch>
            <a:fillRect/>
          </a:stretch>
        </p:blipFill>
        <p:spPr>
          <a:xfrm>
            <a:off x="731520" y="1572768"/>
            <a:ext cx="640080" cy="640080"/>
          </a:xfrm>
          <a:prstGeom prst="rect">
            <a:avLst/>
          </a:prstGeom>
        </p:spPr>
      </p:pic>
      <p:sp>
        <p:nvSpPr>
          <p:cNvPr id="7" name="Text 3"/>
          <p:cNvSpPr txBox="1"/>
          <p:nvPr/>
        </p:nvSpPr>
        <p:spPr>
          <a:xfrm>
            <a:off x="1508760" y="1536192"/>
            <a:ext cx="2194560" cy="731520"/>
          </a:xfrm>
          <a:prstGeom prst="rect">
            <a:avLst/>
          </a:prstGeom>
          <a:noFill/>
          <a:ln/>
        </p:spPr>
        <p:txBody>
          <a:bodyPr wrap="square" lIns="0" tIns="0" rIns="0" bIns="0" rtlCol="0" anchor="ctr"/>
          <a:lstStyle/>
          <a:p>
            <a:pPr algn="l" indent="0" marL="0">
              <a:buNone/>
            </a:pPr>
            <a:r>
              <a:rPr lang="en-US" sz="1800" b="1" dirty="0">
                <a:solidFill>
                  <a:schemeClr val="accent2"/>
                </a:solidFill>
              </a:rPr>
              <a:t>OPEN TIME</a:t>
            </a:r>
            <a:endParaRPr lang="en-US" sz="1800" dirty="0"/>
          </a:p>
          <a:p>
            <a:pPr algn="l" indent="0" marL="0">
              <a:buNone/>
            </a:pPr>
            <a:r>
              <a:rPr lang="en-US" sz="1800" i="1" dirty="0">
                <a:solidFill>
                  <a:schemeClr val="accent2"/>
                </a:solidFill>
              </a:rPr>
              <a:t>still going</a:t>
            </a:r>
            <a:endParaRPr lang="en-US" sz="1800" dirty="0"/>
          </a:p>
        </p:txBody>
      </p:sp>
      <p:sp>
        <p:nvSpPr>
          <p:cNvPr id="8" name="Shape 4"/>
          <p:cNvSpPr/>
          <p:nvPr/>
        </p:nvSpPr>
        <p:spPr>
          <a:xfrm>
            <a:off x="3728045" y="1691640"/>
            <a:ext cx="2078395" cy="402336"/>
          </a:xfrm>
          <a:prstGeom prst="roundRect">
            <a:avLst>
              <a:gd name="adj" fmla="val 27273"/>
            </a:avLst>
          </a:prstGeom>
          <a:solidFill>
            <a:schemeClr val="accent2"/>
          </a:solidFill>
          <a:ln w="12700">
            <a:solidFill>
              <a:srgbClr val="FFFFFF">
                <a:alpha val="0"/>
              </a:srgbClr>
            </a:solidFill>
            <a:prstDash val="solid"/>
          </a:ln>
        </p:spPr>
      </p:sp>
      <p:sp>
        <p:nvSpPr>
          <p:cNvPr id="9" name="Text 5"/>
          <p:cNvSpPr txBox="1"/>
          <p:nvPr/>
        </p:nvSpPr>
        <p:spPr>
          <a:xfrm>
            <a:off x="3728045" y="1691640"/>
            <a:ext cx="2078395" cy="402336"/>
          </a:xfrm>
          <a:prstGeom prst="rect">
            <a:avLst/>
          </a:prstGeom>
          <a:noFill/>
          <a:ln/>
        </p:spPr>
        <p:txBody>
          <a:bodyPr wrap="square" lIns="0" tIns="0" rIns="0" bIns="0" rtlCol="0" anchor="ctr"/>
          <a:lstStyle/>
          <a:p>
            <a:pPr algn="ctr" indent="0" marL="0">
              <a:buNone/>
            </a:pPr>
            <a:r>
              <a:rPr lang="en-US" sz="1400" b="1" dirty="0">
                <a:solidFill>
                  <a:schemeClr val="bg1"/>
                </a:solidFill>
              </a:rPr>
              <a:t>present perfect</a:t>
            </a:r>
            <a:endParaRPr lang="en-US" sz="1400" dirty="0"/>
          </a:p>
        </p:txBody>
      </p:sp>
      <p:sp>
        <p:nvSpPr>
          <p:cNvPr id="10" name="Shape 6"/>
          <p:cNvSpPr/>
          <p:nvPr/>
        </p:nvSpPr>
        <p:spPr>
          <a:xfrm>
            <a:off x="777240" y="2514600"/>
            <a:ext cx="1572768" cy="438912"/>
          </a:xfrm>
          <a:prstGeom prst="roundRect">
            <a:avLst>
              <a:gd name="adj" fmla="val 25000"/>
            </a:avLst>
          </a:prstGeom>
          <a:solidFill>
            <a:srgbClr val="FDF1E6"/>
          </a:solidFill>
          <a:ln w="19050">
            <a:solidFill>
              <a:srgbClr val="D9700F"/>
            </a:solidFill>
            <a:prstDash val="solid"/>
          </a:ln>
        </p:spPr>
      </p:sp>
      <p:sp>
        <p:nvSpPr>
          <p:cNvPr id="11" name="Text 7"/>
          <p:cNvSpPr txBox="1"/>
          <p:nvPr/>
        </p:nvSpPr>
        <p:spPr>
          <a:xfrm>
            <a:off x="777240" y="2514600"/>
            <a:ext cx="1572768" cy="438912"/>
          </a:xfrm>
          <a:prstGeom prst="rect">
            <a:avLst/>
          </a:prstGeom>
          <a:noFill/>
          <a:ln/>
        </p:spPr>
        <p:txBody>
          <a:bodyPr wrap="square" lIns="0" tIns="0" rIns="0" bIns="0" rtlCol="0" anchor="ctr"/>
          <a:lstStyle/>
          <a:p>
            <a:pPr algn="ctr" indent="0" marL="0">
              <a:buNone/>
            </a:pPr>
            <a:r>
              <a:rPr lang="en-US" sz="1400" b="1" i="1" dirty="0">
                <a:solidFill>
                  <a:schemeClr val="accent1"/>
                </a:solidFill>
              </a:rPr>
              <a:t>today</a:t>
            </a:r>
            <a:endParaRPr lang="en-US" sz="1400" dirty="0"/>
          </a:p>
        </p:txBody>
      </p:sp>
      <p:sp>
        <p:nvSpPr>
          <p:cNvPr id="12" name="Shape 8"/>
          <p:cNvSpPr/>
          <p:nvPr/>
        </p:nvSpPr>
        <p:spPr>
          <a:xfrm>
            <a:off x="2468880" y="2514600"/>
            <a:ext cx="1572768" cy="438912"/>
          </a:xfrm>
          <a:prstGeom prst="roundRect">
            <a:avLst>
              <a:gd name="adj" fmla="val 25000"/>
            </a:avLst>
          </a:prstGeom>
          <a:solidFill>
            <a:srgbClr val="FDF1E6"/>
          </a:solidFill>
          <a:ln w="19050">
            <a:solidFill>
              <a:srgbClr val="D9700F"/>
            </a:solidFill>
            <a:prstDash val="solid"/>
          </a:ln>
        </p:spPr>
      </p:sp>
      <p:sp>
        <p:nvSpPr>
          <p:cNvPr id="13" name="Text 9"/>
          <p:cNvSpPr txBox="1"/>
          <p:nvPr/>
        </p:nvSpPr>
        <p:spPr>
          <a:xfrm>
            <a:off x="2468880" y="2514600"/>
            <a:ext cx="1572768" cy="438912"/>
          </a:xfrm>
          <a:prstGeom prst="rect">
            <a:avLst/>
          </a:prstGeom>
          <a:noFill/>
          <a:ln/>
        </p:spPr>
        <p:txBody>
          <a:bodyPr wrap="square" lIns="0" tIns="0" rIns="0" bIns="0" rtlCol="0" anchor="ctr"/>
          <a:lstStyle/>
          <a:p>
            <a:pPr algn="ctr" indent="0" marL="0">
              <a:buNone/>
            </a:pPr>
            <a:r>
              <a:rPr lang="en-US" sz="1400" b="1" i="1" dirty="0">
                <a:solidFill>
                  <a:schemeClr val="accent1"/>
                </a:solidFill>
              </a:rPr>
              <a:t>this week</a:t>
            </a:r>
            <a:endParaRPr lang="en-US" sz="1400" dirty="0"/>
          </a:p>
        </p:txBody>
      </p:sp>
      <p:sp>
        <p:nvSpPr>
          <p:cNvPr id="14" name="Shape 10"/>
          <p:cNvSpPr/>
          <p:nvPr/>
        </p:nvSpPr>
        <p:spPr>
          <a:xfrm>
            <a:off x="4160520" y="2514600"/>
            <a:ext cx="1572768" cy="438912"/>
          </a:xfrm>
          <a:prstGeom prst="roundRect">
            <a:avLst>
              <a:gd name="adj" fmla="val 25000"/>
            </a:avLst>
          </a:prstGeom>
          <a:solidFill>
            <a:srgbClr val="FDF1E6"/>
          </a:solidFill>
          <a:ln w="19050">
            <a:solidFill>
              <a:srgbClr val="D9700F"/>
            </a:solidFill>
            <a:prstDash val="solid"/>
          </a:ln>
        </p:spPr>
      </p:sp>
      <p:sp>
        <p:nvSpPr>
          <p:cNvPr id="15" name="Text 11"/>
          <p:cNvSpPr txBox="1"/>
          <p:nvPr/>
        </p:nvSpPr>
        <p:spPr>
          <a:xfrm>
            <a:off x="4160520" y="2514600"/>
            <a:ext cx="1572768" cy="438912"/>
          </a:xfrm>
          <a:prstGeom prst="rect">
            <a:avLst/>
          </a:prstGeom>
          <a:noFill/>
          <a:ln/>
        </p:spPr>
        <p:txBody>
          <a:bodyPr wrap="square" lIns="0" tIns="0" rIns="0" bIns="0" rtlCol="0" anchor="ctr"/>
          <a:lstStyle/>
          <a:p>
            <a:pPr algn="ctr" indent="0" marL="0">
              <a:buNone/>
            </a:pPr>
            <a:r>
              <a:rPr lang="en-US" sz="1400" b="1" i="1" dirty="0">
                <a:solidFill>
                  <a:schemeClr val="accent1"/>
                </a:solidFill>
              </a:rPr>
              <a:t>this year</a:t>
            </a:r>
            <a:endParaRPr lang="en-US" sz="1400" dirty="0"/>
          </a:p>
        </p:txBody>
      </p:sp>
      <p:sp>
        <p:nvSpPr>
          <p:cNvPr id="16" name="Shape 12"/>
          <p:cNvSpPr/>
          <p:nvPr/>
        </p:nvSpPr>
        <p:spPr>
          <a:xfrm>
            <a:off x="777240" y="3108960"/>
            <a:ext cx="1572768" cy="438912"/>
          </a:xfrm>
          <a:prstGeom prst="roundRect">
            <a:avLst>
              <a:gd name="adj" fmla="val 25000"/>
            </a:avLst>
          </a:prstGeom>
          <a:solidFill>
            <a:srgbClr val="FDF1E6"/>
          </a:solidFill>
          <a:ln w="19050">
            <a:solidFill>
              <a:srgbClr val="D9700F"/>
            </a:solidFill>
            <a:prstDash val="solid"/>
          </a:ln>
        </p:spPr>
      </p:sp>
      <p:sp>
        <p:nvSpPr>
          <p:cNvPr id="17" name="Text 13"/>
          <p:cNvSpPr txBox="1"/>
          <p:nvPr/>
        </p:nvSpPr>
        <p:spPr>
          <a:xfrm>
            <a:off x="777240" y="3108960"/>
            <a:ext cx="1572768" cy="438912"/>
          </a:xfrm>
          <a:prstGeom prst="rect">
            <a:avLst/>
          </a:prstGeom>
          <a:noFill/>
          <a:ln/>
        </p:spPr>
        <p:txBody>
          <a:bodyPr wrap="square" lIns="0" tIns="0" rIns="0" bIns="0" rtlCol="0" anchor="ctr"/>
          <a:lstStyle/>
          <a:p>
            <a:pPr algn="ctr" indent="0" marL="0">
              <a:buNone/>
            </a:pPr>
            <a:r>
              <a:rPr lang="en-US" sz="1400" b="1" i="1" dirty="0">
                <a:solidFill>
                  <a:schemeClr val="accent1"/>
                </a:solidFill>
              </a:rPr>
              <a:t>in my life</a:t>
            </a:r>
            <a:endParaRPr lang="en-US" sz="1400" dirty="0"/>
          </a:p>
        </p:txBody>
      </p:sp>
      <p:sp>
        <p:nvSpPr>
          <p:cNvPr id="18" name="Shape 14"/>
          <p:cNvSpPr/>
          <p:nvPr/>
        </p:nvSpPr>
        <p:spPr>
          <a:xfrm>
            <a:off x="2468880" y="3108960"/>
            <a:ext cx="1572768" cy="438912"/>
          </a:xfrm>
          <a:prstGeom prst="roundRect">
            <a:avLst>
              <a:gd name="adj" fmla="val 25000"/>
            </a:avLst>
          </a:prstGeom>
          <a:solidFill>
            <a:srgbClr val="FDF1E6"/>
          </a:solidFill>
          <a:ln w="19050">
            <a:solidFill>
              <a:srgbClr val="D9700F"/>
            </a:solidFill>
            <a:prstDash val="solid"/>
          </a:ln>
        </p:spPr>
      </p:sp>
      <p:sp>
        <p:nvSpPr>
          <p:cNvPr id="19" name="Text 15"/>
          <p:cNvSpPr txBox="1"/>
          <p:nvPr/>
        </p:nvSpPr>
        <p:spPr>
          <a:xfrm>
            <a:off x="2468880" y="3108960"/>
            <a:ext cx="1572768" cy="438912"/>
          </a:xfrm>
          <a:prstGeom prst="rect">
            <a:avLst/>
          </a:prstGeom>
          <a:noFill/>
          <a:ln/>
        </p:spPr>
        <p:txBody>
          <a:bodyPr wrap="square" lIns="0" tIns="0" rIns="0" bIns="0" rtlCol="0" anchor="ctr"/>
          <a:lstStyle/>
          <a:p>
            <a:pPr algn="ctr" indent="0" marL="0">
              <a:buNone/>
            </a:pPr>
            <a:r>
              <a:rPr lang="en-US" sz="1400" b="1" i="1" dirty="0">
                <a:solidFill>
                  <a:schemeClr val="accent1"/>
                </a:solidFill>
              </a:rPr>
              <a:t>recently</a:t>
            </a:r>
            <a:endParaRPr lang="en-US" sz="1400" dirty="0"/>
          </a:p>
        </p:txBody>
      </p:sp>
      <p:sp>
        <p:nvSpPr>
          <p:cNvPr id="20" name="Shape 16"/>
          <p:cNvSpPr/>
          <p:nvPr/>
        </p:nvSpPr>
        <p:spPr>
          <a:xfrm>
            <a:off x="4160520" y="3108960"/>
            <a:ext cx="1572768" cy="438912"/>
          </a:xfrm>
          <a:prstGeom prst="roundRect">
            <a:avLst>
              <a:gd name="adj" fmla="val 25000"/>
            </a:avLst>
          </a:prstGeom>
          <a:solidFill>
            <a:srgbClr val="FDF1E6"/>
          </a:solidFill>
          <a:ln w="19050">
            <a:solidFill>
              <a:srgbClr val="D9700F"/>
            </a:solidFill>
            <a:prstDash val="solid"/>
          </a:ln>
        </p:spPr>
      </p:sp>
      <p:sp>
        <p:nvSpPr>
          <p:cNvPr id="21" name="Text 17"/>
          <p:cNvSpPr txBox="1"/>
          <p:nvPr/>
        </p:nvSpPr>
        <p:spPr>
          <a:xfrm>
            <a:off x="4160520" y="3108960"/>
            <a:ext cx="1572768" cy="438912"/>
          </a:xfrm>
          <a:prstGeom prst="rect">
            <a:avLst/>
          </a:prstGeom>
          <a:noFill/>
          <a:ln/>
        </p:spPr>
        <p:txBody>
          <a:bodyPr wrap="square" lIns="0" tIns="0" rIns="0" bIns="0" rtlCol="0" anchor="ctr"/>
          <a:lstStyle/>
          <a:p>
            <a:pPr algn="ctr" indent="0" marL="0">
              <a:buNone/>
            </a:pPr>
            <a:r>
              <a:rPr lang="en-US" sz="1400" b="1" i="1" dirty="0">
                <a:solidFill>
                  <a:schemeClr val="accent1"/>
                </a:solidFill>
              </a:rPr>
              <a:t>so far</a:t>
            </a:r>
            <a:endParaRPr lang="en-US" sz="1400" dirty="0"/>
          </a:p>
        </p:txBody>
      </p:sp>
      <p:sp>
        <p:nvSpPr>
          <p:cNvPr id="22" name="Shape 18"/>
          <p:cNvSpPr/>
          <p:nvPr/>
        </p:nvSpPr>
        <p:spPr>
          <a:xfrm>
            <a:off x="731520" y="3977640"/>
            <a:ext cx="5074920" cy="1325880"/>
          </a:xfrm>
          <a:prstGeom prst="roundRect">
            <a:avLst>
              <a:gd name="adj" fmla="val 6897"/>
            </a:avLst>
          </a:prstGeom>
          <a:solidFill>
            <a:srgbClr val="FFFFFF"/>
          </a:solidFill>
          <a:ln w="12700">
            <a:solidFill>
              <a:srgbClr val="FFFFFF">
                <a:alpha val="0"/>
              </a:srgbClr>
            </a:solidFill>
            <a:prstDash val="solid"/>
          </a:ln>
        </p:spPr>
      </p:sp>
      <p:sp>
        <p:nvSpPr>
          <p:cNvPr id="23" name="Text 19"/>
          <p:cNvSpPr txBox="1"/>
          <p:nvPr/>
        </p:nvSpPr>
        <p:spPr>
          <a:xfrm>
            <a:off x="914400" y="3977640"/>
            <a:ext cx="4754880" cy="1325880"/>
          </a:xfrm>
          <a:prstGeom prst="rect">
            <a:avLst/>
          </a:prstGeom>
          <a:noFill/>
          <a:ln/>
        </p:spPr>
        <p:txBody>
          <a:bodyPr wrap="square" lIns="0" tIns="0" rIns="0" bIns="0" rtlCol="0" anchor="ctr"/>
          <a:lstStyle/>
          <a:p>
            <a:pPr algn="ctr" indent="0" marL="0">
              <a:buNone/>
            </a:pPr>
            <a:r>
              <a:rPr lang="en-US" sz="2000" i="1" dirty="0">
                <a:solidFill>
                  <a:schemeClr val="tx1"/>
                </a:solidFill>
              </a:rPr>
              <a:t>I’</a:t>
            </a:r>
            <a:r>
              <a:rPr lang="en-US" sz="2000" b="1" i="1" dirty="0">
                <a:solidFill>
                  <a:srgbClr val="17375E"/>
                </a:solidFill>
              </a:rPr>
              <a:t>ve</a:t>
            </a:r>
            <a:r>
              <a:rPr lang="en-US" sz="2000" i="1" dirty="0">
                <a:solidFill>
                  <a:schemeClr val="tx1"/>
                </a:solidFill>
              </a:rPr>
              <a:t> </a:t>
            </a:r>
            <a:r>
              <a:rPr lang="en-US" sz="2000" b="1" i="1" dirty="0">
                <a:solidFill>
                  <a:srgbClr val="2A6FB0"/>
                </a:solidFill>
              </a:rPr>
              <a:t>drunk</a:t>
            </a:r>
            <a:r>
              <a:rPr lang="en-US" sz="2000" i="1" dirty="0">
                <a:solidFill>
                  <a:schemeClr val="tx1"/>
                </a:solidFill>
              </a:rPr>
              <a:t> 3 coffees </a:t>
            </a:r>
            <a:r>
              <a:rPr lang="en-US" sz="2000" b="1" i="1" dirty="0">
                <a:solidFill>
                  <a:srgbClr val="D9700F"/>
                </a:solidFill>
              </a:rPr>
              <a:t>today</a:t>
            </a:r>
            <a:r>
              <a:rPr lang="en-US" sz="2000" i="1" dirty="0">
                <a:solidFill>
                  <a:schemeClr val="tx1"/>
                </a:solidFill>
              </a:rPr>
              <a:t>.</a:t>
            </a:r>
            <a:endParaRPr lang="en-US" sz="1800" dirty="0"/>
          </a:p>
        </p:txBody>
      </p:sp>
      <p:sp>
        <p:nvSpPr>
          <p:cNvPr id="24" name="Shape 20"/>
          <p:cNvSpPr/>
          <p:nvPr/>
        </p:nvSpPr>
        <p:spPr>
          <a:xfrm>
            <a:off x="6199632" y="1463040"/>
            <a:ext cx="5440680" cy="4069080"/>
          </a:xfrm>
          <a:prstGeom prst="roundRect">
            <a:avLst>
              <a:gd name="adj" fmla="val 2697"/>
            </a:avLst>
          </a:prstGeom>
          <a:solidFill>
            <a:srgbClr val="FBEAF2"/>
          </a:solidFill>
          <a:ln w="25400">
            <a:solidFill>
              <a:srgbClr val="B4236A"/>
            </a:solidFill>
            <a:prstDash val="solid"/>
          </a:ln>
        </p:spPr>
      </p:sp>
      <p:pic>
        <p:nvPicPr>
          <p:cNvPr id="25" name="Image 1" descr="locked">    </p:cNvPr>
          <p:cNvPicPr>
            <a:picLocks noChangeAspect="1"/>
          </p:cNvPicPr>
          <p:nvPr/>
        </p:nvPicPr>
        <p:blipFill>
          <a:blip r:embed="rId2"/>
          <a:stretch>
            <a:fillRect/>
          </a:stretch>
        </p:blipFill>
        <p:spPr>
          <a:xfrm>
            <a:off x="6382512" y="1572768"/>
            <a:ext cx="640080" cy="640080"/>
          </a:xfrm>
          <a:prstGeom prst="rect">
            <a:avLst/>
          </a:prstGeom>
        </p:spPr>
      </p:pic>
      <p:sp>
        <p:nvSpPr>
          <p:cNvPr id="26" name="Text 21"/>
          <p:cNvSpPr txBox="1"/>
          <p:nvPr/>
        </p:nvSpPr>
        <p:spPr>
          <a:xfrm>
            <a:off x="7159752" y="1536192"/>
            <a:ext cx="2194560" cy="731520"/>
          </a:xfrm>
          <a:prstGeom prst="rect">
            <a:avLst/>
          </a:prstGeom>
          <a:noFill/>
          <a:ln/>
        </p:spPr>
        <p:txBody>
          <a:bodyPr wrap="square" lIns="0" tIns="0" rIns="0" bIns="0" rtlCol="0" anchor="ctr"/>
          <a:lstStyle/>
          <a:p>
            <a:pPr algn="l" indent="0" marL="0">
              <a:buNone/>
            </a:pPr>
            <a:r>
              <a:rPr lang="en-US" sz="1800" b="1" dirty="0">
                <a:solidFill>
                  <a:schemeClr val="accent4"/>
                </a:solidFill>
              </a:rPr>
              <a:t>CLOSED TIME</a:t>
            </a:r>
            <a:endParaRPr lang="en-US" sz="1800" dirty="0"/>
          </a:p>
          <a:p>
            <a:pPr algn="l" indent="0" marL="0">
              <a:buNone/>
            </a:pPr>
            <a:r>
              <a:rPr lang="en-US" sz="1800" i="1" dirty="0">
                <a:solidFill>
                  <a:schemeClr val="accent4"/>
                </a:solidFill>
              </a:rPr>
              <a:t>finished</a:t>
            </a:r>
            <a:endParaRPr lang="en-US" sz="1800" dirty="0"/>
          </a:p>
        </p:txBody>
      </p:sp>
      <p:sp>
        <p:nvSpPr>
          <p:cNvPr id="27" name="Shape 22"/>
          <p:cNvSpPr/>
          <p:nvPr/>
        </p:nvSpPr>
        <p:spPr>
          <a:xfrm>
            <a:off x="9826376" y="1691640"/>
            <a:ext cx="1631056" cy="402336"/>
          </a:xfrm>
          <a:prstGeom prst="roundRect">
            <a:avLst>
              <a:gd name="adj" fmla="val 27273"/>
            </a:avLst>
          </a:prstGeom>
          <a:solidFill>
            <a:schemeClr val="accent4"/>
          </a:solidFill>
          <a:ln w="12700">
            <a:solidFill>
              <a:srgbClr val="FFFFFF">
                <a:alpha val="0"/>
              </a:srgbClr>
            </a:solidFill>
            <a:prstDash val="solid"/>
          </a:ln>
        </p:spPr>
      </p:sp>
      <p:sp>
        <p:nvSpPr>
          <p:cNvPr id="28" name="Text 23"/>
          <p:cNvSpPr txBox="1"/>
          <p:nvPr/>
        </p:nvSpPr>
        <p:spPr>
          <a:xfrm>
            <a:off x="9826376" y="1691640"/>
            <a:ext cx="1631056" cy="402336"/>
          </a:xfrm>
          <a:prstGeom prst="rect">
            <a:avLst/>
          </a:prstGeom>
          <a:noFill/>
          <a:ln/>
        </p:spPr>
        <p:txBody>
          <a:bodyPr wrap="square" lIns="0" tIns="0" rIns="0" bIns="0" rtlCol="0" anchor="ctr"/>
          <a:lstStyle/>
          <a:p>
            <a:pPr algn="ctr" indent="0" marL="0">
              <a:buNone/>
            </a:pPr>
            <a:r>
              <a:rPr lang="en-US" sz="1400" b="1" dirty="0">
                <a:solidFill>
                  <a:schemeClr val="bg1"/>
                </a:solidFill>
              </a:rPr>
              <a:t>past simple</a:t>
            </a:r>
            <a:endParaRPr lang="en-US" sz="1400" dirty="0"/>
          </a:p>
        </p:txBody>
      </p:sp>
      <p:sp>
        <p:nvSpPr>
          <p:cNvPr id="29" name="Shape 24"/>
          <p:cNvSpPr/>
          <p:nvPr/>
        </p:nvSpPr>
        <p:spPr>
          <a:xfrm>
            <a:off x="6428232" y="2514600"/>
            <a:ext cx="1572768" cy="438912"/>
          </a:xfrm>
          <a:prstGeom prst="roundRect">
            <a:avLst>
              <a:gd name="adj" fmla="val 25000"/>
            </a:avLst>
          </a:prstGeom>
          <a:solidFill>
            <a:srgbClr val="FDF1E6"/>
          </a:solidFill>
          <a:ln w="19050">
            <a:solidFill>
              <a:srgbClr val="D9700F"/>
            </a:solidFill>
            <a:prstDash val="solid"/>
          </a:ln>
        </p:spPr>
      </p:sp>
      <p:sp>
        <p:nvSpPr>
          <p:cNvPr id="30" name="Text 25"/>
          <p:cNvSpPr txBox="1"/>
          <p:nvPr/>
        </p:nvSpPr>
        <p:spPr>
          <a:xfrm>
            <a:off x="6428232" y="2514600"/>
            <a:ext cx="1572768" cy="438912"/>
          </a:xfrm>
          <a:prstGeom prst="rect">
            <a:avLst/>
          </a:prstGeom>
          <a:noFill/>
          <a:ln/>
        </p:spPr>
        <p:txBody>
          <a:bodyPr wrap="square" lIns="0" tIns="0" rIns="0" bIns="0" rtlCol="0" anchor="ctr"/>
          <a:lstStyle/>
          <a:p>
            <a:pPr algn="ctr" indent="0" marL="0">
              <a:buNone/>
            </a:pPr>
            <a:r>
              <a:rPr lang="en-US" sz="1400" b="1" i="1" dirty="0">
                <a:solidFill>
                  <a:schemeClr val="accent1"/>
                </a:solidFill>
              </a:rPr>
              <a:t>yesterday</a:t>
            </a:r>
            <a:endParaRPr lang="en-US" sz="1400" dirty="0"/>
          </a:p>
        </p:txBody>
      </p:sp>
      <p:sp>
        <p:nvSpPr>
          <p:cNvPr id="31" name="Shape 26"/>
          <p:cNvSpPr/>
          <p:nvPr/>
        </p:nvSpPr>
        <p:spPr>
          <a:xfrm>
            <a:off x="8119872" y="2514600"/>
            <a:ext cx="1572768" cy="438912"/>
          </a:xfrm>
          <a:prstGeom prst="roundRect">
            <a:avLst>
              <a:gd name="adj" fmla="val 25000"/>
            </a:avLst>
          </a:prstGeom>
          <a:solidFill>
            <a:srgbClr val="FDF1E6"/>
          </a:solidFill>
          <a:ln w="19050">
            <a:solidFill>
              <a:srgbClr val="D9700F"/>
            </a:solidFill>
            <a:prstDash val="solid"/>
          </a:ln>
        </p:spPr>
      </p:sp>
      <p:sp>
        <p:nvSpPr>
          <p:cNvPr id="32" name="Text 27"/>
          <p:cNvSpPr txBox="1"/>
          <p:nvPr/>
        </p:nvSpPr>
        <p:spPr>
          <a:xfrm>
            <a:off x="8119872" y="2514600"/>
            <a:ext cx="1572768" cy="438912"/>
          </a:xfrm>
          <a:prstGeom prst="rect">
            <a:avLst/>
          </a:prstGeom>
          <a:noFill/>
          <a:ln/>
        </p:spPr>
        <p:txBody>
          <a:bodyPr wrap="square" lIns="0" tIns="0" rIns="0" bIns="0" rtlCol="0" anchor="ctr"/>
          <a:lstStyle/>
          <a:p>
            <a:pPr algn="ctr" indent="0" marL="0">
              <a:buNone/>
            </a:pPr>
            <a:r>
              <a:rPr lang="en-US" sz="1400" b="1" i="1" dirty="0">
                <a:solidFill>
                  <a:schemeClr val="accent1"/>
                </a:solidFill>
              </a:rPr>
              <a:t>last week</a:t>
            </a:r>
            <a:endParaRPr lang="en-US" sz="1400" dirty="0"/>
          </a:p>
        </p:txBody>
      </p:sp>
      <p:sp>
        <p:nvSpPr>
          <p:cNvPr id="33" name="Shape 28"/>
          <p:cNvSpPr/>
          <p:nvPr/>
        </p:nvSpPr>
        <p:spPr>
          <a:xfrm>
            <a:off x="9811512" y="2514600"/>
            <a:ext cx="1572768" cy="438912"/>
          </a:xfrm>
          <a:prstGeom prst="roundRect">
            <a:avLst>
              <a:gd name="adj" fmla="val 25000"/>
            </a:avLst>
          </a:prstGeom>
          <a:solidFill>
            <a:srgbClr val="FDF1E6"/>
          </a:solidFill>
          <a:ln w="19050">
            <a:solidFill>
              <a:srgbClr val="D9700F"/>
            </a:solidFill>
            <a:prstDash val="solid"/>
          </a:ln>
        </p:spPr>
      </p:sp>
      <p:sp>
        <p:nvSpPr>
          <p:cNvPr id="34" name="Text 29"/>
          <p:cNvSpPr txBox="1"/>
          <p:nvPr/>
        </p:nvSpPr>
        <p:spPr>
          <a:xfrm>
            <a:off x="9811512" y="2514600"/>
            <a:ext cx="1572768" cy="438912"/>
          </a:xfrm>
          <a:prstGeom prst="rect">
            <a:avLst/>
          </a:prstGeom>
          <a:noFill/>
          <a:ln/>
        </p:spPr>
        <p:txBody>
          <a:bodyPr wrap="square" lIns="0" tIns="0" rIns="0" bIns="0" rtlCol="0" anchor="ctr"/>
          <a:lstStyle/>
          <a:p>
            <a:pPr algn="ctr" indent="0" marL="0">
              <a:buNone/>
            </a:pPr>
            <a:r>
              <a:rPr lang="en-US" sz="1400" b="1" i="1" dirty="0">
                <a:solidFill>
                  <a:schemeClr val="accent1"/>
                </a:solidFill>
              </a:rPr>
              <a:t>in 2019</a:t>
            </a:r>
            <a:endParaRPr lang="en-US" sz="1400" dirty="0"/>
          </a:p>
        </p:txBody>
      </p:sp>
      <p:sp>
        <p:nvSpPr>
          <p:cNvPr id="35" name="Shape 30"/>
          <p:cNvSpPr/>
          <p:nvPr/>
        </p:nvSpPr>
        <p:spPr>
          <a:xfrm>
            <a:off x="6428232" y="3108960"/>
            <a:ext cx="1572768" cy="438912"/>
          </a:xfrm>
          <a:prstGeom prst="roundRect">
            <a:avLst>
              <a:gd name="adj" fmla="val 25000"/>
            </a:avLst>
          </a:prstGeom>
          <a:solidFill>
            <a:srgbClr val="FDF1E6"/>
          </a:solidFill>
          <a:ln w="19050">
            <a:solidFill>
              <a:srgbClr val="D9700F"/>
            </a:solidFill>
            <a:prstDash val="solid"/>
          </a:ln>
        </p:spPr>
      </p:sp>
      <p:sp>
        <p:nvSpPr>
          <p:cNvPr id="36" name="Text 31"/>
          <p:cNvSpPr txBox="1"/>
          <p:nvPr/>
        </p:nvSpPr>
        <p:spPr>
          <a:xfrm>
            <a:off x="6428232" y="3108960"/>
            <a:ext cx="1572768" cy="438912"/>
          </a:xfrm>
          <a:prstGeom prst="rect">
            <a:avLst/>
          </a:prstGeom>
          <a:noFill/>
          <a:ln/>
        </p:spPr>
        <p:txBody>
          <a:bodyPr wrap="square" lIns="0" tIns="0" rIns="0" bIns="0" rtlCol="0" anchor="ctr"/>
          <a:lstStyle/>
          <a:p>
            <a:pPr algn="ctr" indent="0" marL="0">
              <a:buNone/>
            </a:pPr>
            <a:r>
              <a:rPr lang="en-US" sz="1400" b="1" i="1" dirty="0">
                <a:solidFill>
                  <a:schemeClr val="accent1"/>
                </a:solidFill>
              </a:rPr>
              <a:t>two days ago</a:t>
            </a:r>
            <a:endParaRPr lang="en-US" sz="1400" dirty="0"/>
          </a:p>
        </p:txBody>
      </p:sp>
      <p:sp>
        <p:nvSpPr>
          <p:cNvPr id="37" name="Shape 32"/>
          <p:cNvSpPr/>
          <p:nvPr/>
        </p:nvSpPr>
        <p:spPr>
          <a:xfrm>
            <a:off x="8119872" y="3108960"/>
            <a:ext cx="1572768" cy="438912"/>
          </a:xfrm>
          <a:prstGeom prst="roundRect">
            <a:avLst>
              <a:gd name="adj" fmla="val 25000"/>
            </a:avLst>
          </a:prstGeom>
          <a:solidFill>
            <a:srgbClr val="FDF1E6"/>
          </a:solidFill>
          <a:ln w="19050">
            <a:solidFill>
              <a:srgbClr val="D9700F"/>
            </a:solidFill>
            <a:prstDash val="solid"/>
          </a:ln>
        </p:spPr>
      </p:sp>
      <p:sp>
        <p:nvSpPr>
          <p:cNvPr id="38" name="Text 33"/>
          <p:cNvSpPr txBox="1"/>
          <p:nvPr/>
        </p:nvSpPr>
        <p:spPr>
          <a:xfrm>
            <a:off x="8119872" y="3108960"/>
            <a:ext cx="1572768" cy="438912"/>
          </a:xfrm>
          <a:prstGeom prst="rect">
            <a:avLst/>
          </a:prstGeom>
          <a:noFill/>
          <a:ln/>
        </p:spPr>
        <p:txBody>
          <a:bodyPr wrap="square" lIns="0" tIns="0" rIns="0" bIns="0" rtlCol="0" anchor="ctr"/>
          <a:lstStyle/>
          <a:p>
            <a:pPr algn="ctr" indent="0" marL="0">
              <a:buNone/>
            </a:pPr>
            <a:r>
              <a:rPr lang="en-US" sz="1400" b="1" i="1" dirty="0">
                <a:solidFill>
                  <a:schemeClr val="accent1"/>
                </a:solidFill>
              </a:rPr>
              <a:t>when I was 10</a:t>
            </a:r>
            <a:endParaRPr lang="en-US" sz="1400" dirty="0"/>
          </a:p>
        </p:txBody>
      </p:sp>
      <p:sp>
        <p:nvSpPr>
          <p:cNvPr id="39" name="Shape 34"/>
          <p:cNvSpPr/>
          <p:nvPr/>
        </p:nvSpPr>
        <p:spPr>
          <a:xfrm>
            <a:off x="9811512" y="3108960"/>
            <a:ext cx="1572768" cy="438912"/>
          </a:xfrm>
          <a:prstGeom prst="roundRect">
            <a:avLst>
              <a:gd name="adj" fmla="val 25000"/>
            </a:avLst>
          </a:prstGeom>
          <a:solidFill>
            <a:srgbClr val="FDF1E6"/>
          </a:solidFill>
          <a:ln w="19050">
            <a:solidFill>
              <a:srgbClr val="D9700F"/>
            </a:solidFill>
            <a:prstDash val="solid"/>
          </a:ln>
        </p:spPr>
      </p:sp>
      <p:sp>
        <p:nvSpPr>
          <p:cNvPr id="40" name="Text 35"/>
          <p:cNvSpPr txBox="1"/>
          <p:nvPr/>
        </p:nvSpPr>
        <p:spPr>
          <a:xfrm>
            <a:off x="9811512" y="3108960"/>
            <a:ext cx="1572768" cy="438912"/>
          </a:xfrm>
          <a:prstGeom prst="rect">
            <a:avLst/>
          </a:prstGeom>
          <a:noFill/>
          <a:ln/>
        </p:spPr>
        <p:txBody>
          <a:bodyPr wrap="square" lIns="0" tIns="0" rIns="0" bIns="0" rtlCol="0" anchor="ctr"/>
          <a:lstStyle/>
          <a:p>
            <a:pPr algn="ctr" indent="0" marL="0">
              <a:buNone/>
            </a:pPr>
            <a:r>
              <a:rPr lang="en-US" sz="1400" b="1" i="1" dirty="0">
                <a:solidFill>
                  <a:schemeClr val="accent1"/>
                </a:solidFill>
              </a:rPr>
              <a:t>last night</a:t>
            </a:r>
            <a:endParaRPr lang="en-US" sz="1400" dirty="0"/>
          </a:p>
        </p:txBody>
      </p:sp>
      <p:sp>
        <p:nvSpPr>
          <p:cNvPr id="41" name="Shape 36"/>
          <p:cNvSpPr/>
          <p:nvPr/>
        </p:nvSpPr>
        <p:spPr>
          <a:xfrm>
            <a:off x="6382512" y="3977640"/>
            <a:ext cx="5074920" cy="1325880"/>
          </a:xfrm>
          <a:prstGeom prst="roundRect">
            <a:avLst>
              <a:gd name="adj" fmla="val 6897"/>
            </a:avLst>
          </a:prstGeom>
          <a:solidFill>
            <a:srgbClr val="FFFFFF"/>
          </a:solidFill>
          <a:ln w="12700">
            <a:solidFill>
              <a:srgbClr val="FFFFFF">
                <a:alpha val="0"/>
              </a:srgbClr>
            </a:solidFill>
            <a:prstDash val="solid"/>
          </a:ln>
        </p:spPr>
      </p:sp>
      <p:sp>
        <p:nvSpPr>
          <p:cNvPr id="42" name="Text 37"/>
          <p:cNvSpPr txBox="1"/>
          <p:nvPr/>
        </p:nvSpPr>
        <p:spPr>
          <a:xfrm>
            <a:off x="6565392" y="3977640"/>
            <a:ext cx="4754880" cy="1325880"/>
          </a:xfrm>
          <a:prstGeom prst="rect">
            <a:avLst/>
          </a:prstGeom>
          <a:noFill/>
          <a:ln/>
        </p:spPr>
        <p:txBody>
          <a:bodyPr wrap="square" lIns="0" tIns="0" rIns="0" bIns="0" rtlCol="0" anchor="ctr"/>
          <a:lstStyle/>
          <a:p>
            <a:pPr algn="ctr" indent="0" marL="0">
              <a:buNone/>
            </a:pPr>
            <a:r>
              <a:rPr lang="en-US" sz="2000" i="1" dirty="0">
                <a:solidFill>
                  <a:schemeClr val="tx1"/>
                </a:solidFill>
              </a:rPr>
              <a:t>I </a:t>
            </a:r>
            <a:r>
              <a:rPr lang="en-US" sz="2000" b="1" i="1" dirty="0">
                <a:solidFill>
                  <a:srgbClr val="B4236A"/>
                </a:solidFill>
              </a:rPr>
              <a:t>drank</a:t>
            </a:r>
            <a:r>
              <a:rPr lang="en-US" sz="2000" i="1" dirty="0">
                <a:solidFill>
                  <a:schemeClr val="tx1"/>
                </a:solidFill>
              </a:rPr>
              <a:t> 3 coffees </a:t>
            </a:r>
            <a:r>
              <a:rPr lang="en-US" sz="2000" b="1" i="1" dirty="0">
                <a:solidFill>
                  <a:srgbClr val="D9700F"/>
                </a:solidFill>
              </a:rPr>
              <a:t>yesterday</a:t>
            </a:r>
            <a:r>
              <a:rPr lang="en-US" sz="2000" i="1" dirty="0">
                <a:solidFill>
                  <a:schemeClr val="tx1"/>
                </a:solidFill>
              </a:rPr>
              <a:t>.</a:t>
            </a:r>
            <a:endParaRPr lang="en-US" sz="1800" dirty="0"/>
          </a:p>
        </p:txBody>
      </p:sp>
      <p:sp>
        <p:nvSpPr>
          <p:cNvPr id="43" name="Shape 38"/>
          <p:cNvSpPr/>
          <p:nvPr/>
        </p:nvSpPr>
        <p:spPr>
          <a:xfrm>
            <a:off x="548640" y="5669280"/>
            <a:ext cx="11091672" cy="548640"/>
          </a:xfrm>
          <a:prstGeom prst="roundRect">
            <a:avLst>
              <a:gd name="adj" fmla="val 13333"/>
            </a:avLst>
          </a:prstGeom>
          <a:solidFill>
            <a:schemeClr val="tx2"/>
          </a:solidFill>
          <a:ln w="12700">
            <a:solidFill>
              <a:srgbClr val="FFFFFF">
                <a:alpha val="0"/>
              </a:srgbClr>
            </a:solidFill>
            <a:prstDash val="solid"/>
          </a:ln>
        </p:spPr>
      </p:sp>
      <p:sp>
        <p:nvSpPr>
          <p:cNvPr id="44" name="Text 39"/>
          <p:cNvSpPr txBox="1"/>
          <p:nvPr/>
        </p:nvSpPr>
        <p:spPr>
          <a:xfrm>
            <a:off x="822960" y="5669280"/>
            <a:ext cx="10607040" cy="548640"/>
          </a:xfrm>
          <a:prstGeom prst="rect">
            <a:avLst/>
          </a:prstGeom>
          <a:noFill/>
          <a:ln/>
        </p:spPr>
        <p:txBody>
          <a:bodyPr wrap="square" lIns="0" tIns="0" rIns="0" bIns="0" rtlCol="0" anchor="ctr"/>
          <a:lstStyle/>
          <a:p>
            <a:pPr algn="l" indent="0" marL="0">
              <a:buNone/>
            </a:pPr>
            <a:r>
              <a:rPr lang="en-US" sz="1600" dirty="0">
                <a:solidFill>
                  <a:schemeClr val="bg1"/>
                </a:solidFill>
              </a:rPr>
              <a:t>« J’ai bu 3 cafés </a:t>
            </a:r>
            <a:r>
              <a:rPr lang="en-US" sz="1600" b="1" dirty="0">
                <a:solidFill>
                  <a:schemeClr val="bg1"/>
                </a:solidFill>
              </a:rPr>
              <a:t>aujourd’hui</a:t>
            </a:r>
            <a:r>
              <a:rPr lang="en-US" sz="1600" dirty="0">
                <a:solidFill>
                  <a:schemeClr val="bg1"/>
                </a:solidFill>
              </a:rPr>
              <a:t> » (la journée continue) ≠ « </a:t>
            </a:r>
            <a:r>
              <a:rPr lang="en-US" sz="1600" b="1" dirty="0">
                <a:solidFill>
                  <a:schemeClr val="bg1"/>
                </a:solidFill>
              </a:rPr>
              <a:t>hier</a:t>
            </a:r>
            <a:r>
              <a:rPr lang="en-US" sz="1600" dirty="0">
                <a:solidFill>
                  <a:schemeClr val="bg1"/>
                </a:solidFill>
              </a:rPr>
              <a:t> » (c’est fini).</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Past simple or present perfect? Side by side</a:t>
            </a:r>
            <a:endParaRPr lang="en-US" sz="3000" dirty="0"/>
          </a:p>
        </p:txBody>
      </p:sp>
      <p:sp>
        <p:nvSpPr>
          <p:cNvPr id="3" name="tag"/>
          <p:cNvSpPr/>
          <p:nvPr/>
        </p:nvSpPr>
        <p:spPr>
          <a:xfrm>
            <a:off x="548640" y="237744"/>
            <a:ext cx="1444752"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COMPARISON</a:t>
            </a:r>
            <a:endParaRPr lang="en-US" sz="1200" dirty="0"/>
          </a:p>
        </p:txBody>
      </p:sp>
      <p:sp>
        <p:nvSpPr>
          <p:cNvPr id="5" name="Shape 2"/>
          <p:cNvSpPr/>
          <p:nvPr/>
        </p:nvSpPr>
        <p:spPr>
          <a:xfrm>
            <a:off x="548640" y="1417320"/>
            <a:ext cx="5440680" cy="548640"/>
          </a:xfrm>
          <a:prstGeom prst="roundRect">
            <a:avLst>
              <a:gd name="adj" fmla="val 16667"/>
            </a:avLst>
          </a:prstGeom>
          <a:solidFill>
            <a:schemeClr val="accent4"/>
          </a:solidFill>
          <a:ln w="12700">
            <a:solidFill>
              <a:srgbClr val="FFFFFF">
                <a:alpha val="0"/>
              </a:srgbClr>
            </a:solidFill>
            <a:prstDash val="solid"/>
          </a:ln>
        </p:spPr>
      </p:sp>
      <p:pic>
        <p:nvPicPr>
          <p:cNvPr id="6" name="Image 0" descr="locked">    </p:cNvPr>
          <p:cNvPicPr>
            <a:picLocks noChangeAspect="1"/>
          </p:cNvPicPr>
          <p:nvPr/>
        </p:nvPicPr>
        <p:blipFill>
          <a:blip r:embed="rId1"/>
          <a:stretch>
            <a:fillRect/>
          </a:stretch>
        </p:blipFill>
        <p:spPr>
          <a:xfrm>
            <a:off x="685800" y="1463040"/>
            <a:ext cx="457200" cy="457200"/>
          </a:xfrm>
          <a:prstGeom prst="rect">
            <a:avLst/>
          </a:prstGeom>
        </p:spPr>
      </p:pic>
      <p:sp>
        <p:nvSpPr>
          <p:cNvPr id="7" name="Text 3"/>
          <p:cNvSpPr txBox="1"/>
          <p:nvPr/>
        </p:nvSpPr>
        <p:spPr>
          <a:xfrm>
            <a:off x="1280160" y="1417320"/>
            <a:ext cx="2377440" cy="548640"/>
          </a:xfrm>
          <a:prstGeom prst="rect">
            <a:avLst/>
          </a:prstGeom>
          <a:noFill/>
          <a:ln/>
        </p:spPr>
        <p:txBody>
          <a:bodyPr wrap="square" lIns="0" tIns="0" rIns="0" bIns="0" rtlCol="0" anchor="ctr"/>
          <a:lstStyle/>
          <a:p>
            <a:pPr algn="l" indent="0" marL="0">
              <a:spcAft>
                <a:spcPts val="600"/>
              </a:spcAft>
              <a:buNone/>
            </a:pPr>
            <a:r>
              <a:rPr lang="en-US" sz="1600" b="1" dirty="0">
                <a:solidFill>
                  <a:schemeClr val="bg1"/>
                </a:solidFill>
              </a:rPr>
              <a:t>PAST SIMPLE</a:t>
            </a:r>
            <a:endParaRPr lang="en-US" sz="1600" dirty="0"/>
          </a:p>
        </p:txBody>
      </p:sp>
      <p:sp>
        <p:nvSpPr>
          <p:cNvPr id="8" name="Text 4"/>
          <p:cNvSpPr txBox="1"/>
          <p:nvPr/>
        </p:nvSpPr>
        <p:spPr>
          <a:xfrm>
            <a:off x="3246120" y="1417320"/>
            <a:ext cx="2651760" cy="548640"/>
          </a:xfrm>
          <a:prstGeom prst="rect">
            <a:avLst/>
          </a:prstGeom>
          <a:noFill/>
          <a:ln/>
        </p:spPr>
        <p:txBody>
          <a:bodyPr wrap="square" lIns="0" tIns="0" rIns="0" bIns="0" rtlCol="0" anchor="ctr"/>
          <a:lstStyle/>
          <a:p>
            <a:pPr algn="r" indent="0" marL="0">
              <a:buNone/>
            </a:pPr>
            <a:r>
              <a:rPr lang="en-US" sz="1150" i="1" dirty="0">
                <a:solidFill>
                  <a:schemeClr val="bg1"/>
                </a:solidFill>
              </a:rPr>
              <a:t>finished time · yesterday, in 2019</a:t>
            </a:r>
            <a:endParaRPr lang="en-US" sz="1150" dirty="0"/>
          </a:p>
        </p:txBody>
      </p:sp>
      <p:sp>
        <p:nvSpPr>
          <p:cNvPr id="9" name="Shape 5"/>
          <p:cNvSpPr/>
          <p:nvPr/>
        </p:nvSpPr>
        <p:spPr>
          <a:xfrm>
            <a:off x="731520" y="2377440"/>
            <a:ext cx="5074920" cy="914"/>
          </a:xfrm>
          <a:prstGeom prst="line">
            <a:avLst/>
          </a:prstGeom>
          <a:noFill/>
          <a:ln w="19050">
            <a:solidFill>
              <a:srgbClr val="8A96A8"/>
            </a:solidFill>
            <a:prstDash val="solid"/>
            <a:tailEnd type="triangle"/>
          </a:ln>
        </p:spPr>
      </p:sp>
      <p:sp>
        <p:nvSpPr>
          <p:cNvPr id="10" name="Shape 6"/>
          <p:cNvSpPr/>
          <p:nvPr/>
        </p:nvSpPr>
        <p:spPr>
          <a:xfrm>
            <a:off x="5303520" y="2176272"/>
            <a:ext cx="54864" cy="402336"/>
          </a:xfrm>
          <a:prstGeom prst="rect">
            <a:avLst/>
          </a:prstGeom>
          <a:solidFill>
            <a:schemeClr val="accent6"/>
          </a:solidFill>
          <a:ln w="12700">
            <a:solidFill>
              <a:srgbClr val="FFFFFF">
                <a:alpha val="0"/>
              </a:srgbClr>
            </a:solidFill>
            <a:prstDash val="solid"/>
          </a:ln>
        </p:spPr>
      </p:sp>
      <p:sp>
        <p:nvSpPr>
          <p:cNvPr id="11" name="Shape 7"/>
          <p:cNvSpPr/>
          <p:nvPr/>
        </p:nvSpPr>
        <p:spPr>
          <a:xfrm>
            <a:off x="1097280" y="2103120"/>
            <a:ext cx="2926080" cy="548640"/>
          </a:xfrm>
          <a:prstGeom prst="roundRect">
            <a:avLst>
              <a:gd name="adj" fmla="val 10000"/>
            </a:avLst>
          </a:prstGeom>
          <a:solidFill>
            <a:srgbClr val="FFFFFF">
              <a:alpha val="0"/>
            </a:srgbClr>
          </a:solidFill>
          <a:ln w="19050">
            <a:solidFill>
              <a:srgbClr val="B4236A"/>
            </a:solidFill>
            <a:prstDash val="dash"/>
          </a:ln>
        </p:spPr>
      </p:sp>
      <p:sp>
        <p:nvSpPr>
          <p:cNvPr id="12" name="Shape 8"/>
          <p:cNvSpPr/>
          <p:nvPr/>
        </p:nvSpPr>
        <p:spPr>
          <a:xfrm>
            <a:off x="2468880" y="2286000"/>
            <a:ext cx="182880" cy="182880"/>
          </a:xfrm>
          <a:prstGeom prst="ellipse">
            <a:avLst/>
          </a:prstGeom>
          <a:solidFill>
            <a:schemeClr val="accent4"/>
          </a:solidFill>
          <a:ln w="12700">
            <a:solidFill>
              <a:srgbClr val="FFFFFF">
                <a:alpha val="0"/>
              </a:srgbClr>
            </a:solidFill>
            <a:prstDash val="solid"/>
          </a:ln>
        </p:spPr>
      </p:sp>
      <p:sp>
        <p:nvSpPr>
          <p:cNvPr id="13" name="Shape 9"/>
          <p:cNvSpPr/>
          <p:nvPr/>
        </p:nvSpPr>
        <p:spPr>
          <a:xfrm>
            <a:off x="6199632" y="1417320"/>
            <a:ext cx="5440680" cy="548640"/>
          </a:xfrm>
          <a:prstGeom prst="roundRect">
            <a:avLst>
              <a:gd name="adj" fmla="val 16667"/>
            </a:avLst>
          </a:prstGeom>
          <a:solidFill>
            <a:schemeClr val="accent2"/>
          </a:solidFill>
          <a:ln w="12700">
            <a:solidFill>
              <a:srgbClr val="FFFFFF">
                <a:alpha val="0"/>
              </a:srgbClr>
            </a:solidFill>
            <a:prstDash val="solid"/>
          </a:ln>
        </p:spPr>
      </p:sp>
      <p:pic>
        <p:nvPicPr>
          <p:cNvPr id="14" name="Image 1" descr="unlocked">    </p:cNvPr>
          <p:cNvPicPr>
            <a:picLocks noChangeAspect="1"/>
          </p:cNvPicPr>
          <p:nvPr/>
        </p:nvPicPr>
        <p:blipFill>
          <a:blip r:embed="rId2"/>
          <a:stretch>
            <a:fillRect/>
          </a:stretch>
        </p:blipFill>
        <p:spPr>
          <a:xfrm>
            <a:off x="6336792" y="1463040"/>
            <a:ext cx="457200" cy="457200"/>
          </a:xfrm>
          <a:prstGeom prst="rect">
            <a:avLst/>
          </a:prstGeom>
        </p:spPr>
      </p:pic>
      <p:sp>
        <p:nvSpPr>
          <p:cNvPr id="15" name="Text 10"/>
          <p:cNvSpPr txBox="1"/>
          <p:nvPr/>
        </p:nvSpPr>
        <p:spPr>
          <a:xfrm>
            <a:off x="6931152" y="1417320"/>
            <a:ext cx="2377440" cy="548640"/>
          </a:xfrm>
          <a:prstGeom prst="rect">
            <a:avLst/>
          </a:prstGeom>
          <a:noFill/>
          <a:ln/>
        </p:spPr>
        <p:txBody>
          <a:bodyPr wrap="square" lIns="0" tIns="0" rIns="0" bIns="0" rtlCol="0" anchor="ctr"/>
          <a:lstStyle/>
          <a:p>
            <a:pPr algn="l" indent="0" marL="0">
              <a:spcAft>
                <a:spcPts val="600"/>
              </a:spcAft>
              <a:buNone/>
            </a:pPr>
            <a:r>
              <a:rPr lang="en-US" sz="1600" b="1" dirty="0">
                <a:solidFill>
                  <a:schemeClr val="bg1"/>
                </a:solidFill>
              </a:rPr>
              <a:t>PRESENT PERFECT</a:t>
            </a:r>
            <a:endParaRPr lang="en-US" sz="1600" dirty="0"/>
          </a:p>
        </p:txBody>
      </p:sp>
      <p:sp>
        <p:nvSpPr>
          <p:cNvPr id="16" name="Text 11"/>
          <p:cNvSpPr txBox="1"/>
          <p:nvPr/>
        </p:nvSpPr>
        <p:spPr>
          <a:xfrm>
            <a:off x="8897112" y="1417320"/>
            <a:ext cx="2651760" cy="548640"/>
          </a:xfrm>
          <a:prstGeom prst="rect">
            <a:avLst/>
          </a:prstGeom>
          <a:noFill/>
          <a:ln/>
        </p:spPr>
        <p:txBody>
          <a:bodyPr wrap="square" lIns="0" tIns="0" rIns="0" bIns="0" rtlCol="0" anchor="ctr"/>
          <a:lstStyle/>
          <a:p>
            <a:pPr algn="r" indent="0" marL="0">
              <a:buNone/>
            </a:pPr>
            <a:r>
              <a:rPr lang="en-US" sz="1150" i="1" dirty="0">
                <a:solidFill>
                  <a:schemeClr val="bg1"/>
                </a:solidFill>
              </a:rPr>
              <a:t>link with NOW · no finished time</a:t>
            </a:r>
            <a:endParaRPr lang="en-US" sz="1150" dirty="0"/>
          </a:p>
        </p:txBody>
      </p:sp>
      <p:sp>
        <p:nvSpPr>
          <p:cNvPr id="17" name="Shape 12"/>
          <p:cNvSpPr/>
          <p:nvPr/>
        </p:nvSpPr>
        <p:spPr>
          <a:xfrm>
            <a:off x="6382512" y="2377440"/>
            <a:ext cx="5074920" cy="914"/>
          </a:xfrm>
          <a:prstGeom prst="line">
            <a:avLst/>
          </a:prstGeom>
          <a:noFill/>
          <a:ln w="19050">
            <a:solidFill>
              <a:srgbClr val="8A96A8"/>
            </a:solidFill>
            <a:prstDash val="solid"/>
            <a:tailEnd type="triangle"/>
          </a:ln>
        </p:spPr>
      </p:sp>
      <p:sp>
        <p:nvSpPr>
          <p:cNvPr id="18" name="Shape 13"/>
          <p:cNvSpPr/>
          <p:nvPr/>
        </p:nvSpPr>
        <p:spPr>
          <a:xfrm>
            <a:off x="10954512" y="2176272"/>
            <a:ext cx="54864" cy="402336"/>
          </a:xfrm>
          <a:prstGeom prst="rect">
            <a:avLst/>
          </a:prstGeom>
          <a:solidFill>
            <a:schemeClr val="accent6"/>
          </a:solidFill>
          <a:ln w="12700">
            <a:solidFill>
              <a:srgbClr val="FFFFFF">
                <a:alpha val="0"/>
              </a:srgbClr>
            </a:solidFill>
            <a:prstDash val="solid"/>
          </a:ln>
        </p:spPr>
      </p:sp>
      <p:sp>
        <p:nvSpPr>
          <p:cNvPr id="19" name="Shape 14"/>
          <p:cNvSpPr/>
          <p:nvPr/>
        </p:nvSpPr>
        <p:spPr>
          <a:xfrm>
            <a:off x="7552944" y="2267712"/>
            <a:ext cx="219456" cy="219456"/>
          </a:xfrm>
          <a:prstGeom prst="ellipse">
            <a:avLst/>
          </a:prstGeom>
          <a:solidFill>
            <a:schemeClr val="accent2"/>
          </a:solidFill>
          <a:ln w="12700">
            <a:solidFill>
              <a:srgbClr val="FFFFFF"/>
            </a:solidFill>
            <a:prstDash val="solid"/>
          </a:ln>
        </p:spPr>
      </p:sp>
      <p:sp>
        <p:nvSpPr>
          <p:cNvPr id="20" name="Shape 15"/>
          <p:cNvSpPr/>
          <p:nvPr/>
        </p:nvSpPr>
        <p:spPr>
          <a:xfrm>
            <a:off x="7662672" y="1965960"/>
            <a:ext cx="3300984" cy="731520"/>
          </a:xfrm>
          <a:prstGeom prst="arc">
            <a:avLst>
              <a:gd name="adj1" fmla="val 10800000"/>
              <a:gd name="adj2" fmla="val 21600000"/>
            </a:avLst>
          </a:prstGeom>
          <a:solidFill>
            <a:srgbClr val="FFFFFF">
              <a:alpha val="0"/>
            </a:srgbClr>
          </a:solidFill>
          <a:ln w="38100">
            <a:solidFill>
              <a:srgbClr val="2A6FB0"/>
            </a:solidFill>
            <a:prstDash val="solid"/>
            <a:tailEnd type="triangle"/>
          </a:ln>
        </p:spPr>
      </p:sp>
      <p:sp>
        <p:nvSpPr>
          <p:cNvPr id="21" name="Shape 16"/>
          <p:cNvSpPr/>
          <p:nvPr/>
        </p:nvSpPr>
        <p:spPr>
          <a:xfrm>
            <a:off x="548640" y="2788920"/>
            <a:ext cx="5440680" cy="640080"/>
          </a:xfrm>
          <a:prstGeom prst="roundRect">
            <a:avLst>
              <a:gd name="adj" fmla="val 11429"/>
            </a:avLst>
          </a:prstGeom>
          <a:solidFill>
            <a:srgbClr val="FBEAF2"/>
          </a:solidFill>
          <a:ln w="12700">
            <a:solidFill>
              <a:srgbClr val="FFFFFF">
                <a:alpha val="0"/>
              </a:srgbClr>
            </a:solidFill>
            <a:prstDash val="solid"/>
          </a:ln>
        </p:spPr>
      </p:sp>
      <p:sp>
        <p:nvSpPr>
          <p:cNvPr id="22" name="Text 17"/>
          <p:cNvSpPr txBox="1"/>
          <p:nvPr/>
        </p:nvSpPr>
        <p:spPr>
          <a:xfrm>
            <a:off x="685800" y="2807208"/>
            <a:ext cx="5166360" cy="365760"/>
          </a:xfrm>
          <a:prstGeom prst="rect">
            <a:avLst/>
          </a:prstGeom>
          <a:noFill/>
          <a:ln/>
        </p:spPr>
        <p:txBody>
          <a:bodyPr wrap="square" lIns="0" tIns="0" rIns="0" bIns="0" rtlCol="0" anchor="ctr"/>
          <a:lstStyle/>
          <a:p>
            <a:pPr algn="l" indent="0" marL="0">
              <a:buNone/>
            </a:pPr>
            <a:r>
              <a:rPr lang="en-US" sz="1600" i="1" dirty="0">
                <a:solidFill>
                  <a:schemeClr val="tx1"/>
                </a:solidFill>
              </a:rPr>
              <a:t>I </a:t>
            </a:r>
            <a:r>
              <a:rPr lang="en-US" sz="1600" b="1" i="1" dirty="0">
                <a:solidFill>
                  <a:srgbClr val="B4236A"/>
                </a:solidFill>
              </a:rPr>
              <a:t>lost</a:t>
            </a:r>
            <a:r>
              <a:rPr lang="en-US" sz="1600" i="1" dirty="0">
                <a:solidFill>
                  <a:schemeClr val="tx1"/>
                </a:solidFill>
              </a:rPr>
              <a:t> my keys </a:t>
            </a:r>
            <a:r>
              <a:rPr lang="en-US" sz="1600" b="1" i="1" dirty="0">
                <a:solidFill>
                  <a:srgbClr val="D9700F"/>
                </a:solidFill>
              </a:rPr>
              <a:t>yesterday</a:t>
            </a:r>
            <a:r>
              <a:rPr lang="en-US" sz="1600" i="1" dirty="0">
                <a:solidFill>
                  <a:schemeClr val="tx1"/>
                </a:solidFill>
              </a:rPr>
              <a:t>.</a:t>
            </a:r>
            <a:endParaRPr lang="en-US" sz="1800" dirty="0"/>
          </a:p>
        </p:txBody>
      </p:sp>
      <p:sp>
        <p:nvSpPr>
          <p:cNvPr id="23" name="Text 18"/>
          <p:cNvSpPr txBox="1"/>
          <p:nvPr/>
        </p:nvSpPr>
        <p:spPr>
          <a:xfrm>
            <a:off x="685800" y="3154680"/>
            <a:ext cx="5166360" cy="256032"/>
          </a:xfrm>
          <a:prstGeom prst="rect">
            <a:avLst/>
          </a:prstGeom>
          <a:noFill/>
          <a:ln/>
        </p:spPr>
        <p:txBody>
          <a:bodyPr wrap="square" lIns="0" tIns="0" rIns="0" bIns="0" rtlCol="0" anchor="ctr"/>
          <a:lstStyle/>
          <a:p>
            <a:pPr algn="l" indent="0" marL="0">
              <a:buNone/>
            </a:pPr>
            <a:r>
              <a:rPr lang="en-US" sz="1150" i="1" dirty="0">
                <a:solidFill>
                  <a:schemeClr val="accent5"/>
                </a:solidFill>
              </a:rPr>
              <a:t>yesterday = finished time (now? we don’t know)</a:t>
            </a:r>
            <a:endParaRPr lang="en-US" sz="1150" dirty="0"/>
          </a:p>
        </p:txBody>
      </p:sp>
      <p:sp>
        <p:nvSpPr>
          <p:cNvPr id="24" name="Shape 19"/>
          <p:cNvSpPr/>
          <p:nvPr/>
        </p:nvSpPr>
        <p:spPr>
          <a:xfrm>
            <a:off x="6199632" y="2788920"/>
            <a:ext cx="5440680" cy="640080"/>
          </a:xfrm>
          <a:prstGeom prst="roundRect">
            <a:avLst>
              <a:gd name="adj" fmla="val 11429"/>
            </a:avLst>
          </a:prstGeom>
          <a:solidFill>
            <a:srgbClr val="EAF2FB"/>
          </a:solidFill>
          <a:ln w="12700">
            <a:solidFill>
              <a:srgbClr val="FFFFFF">
                <a:alpha val="0"/>
              </a:srgbClr>
            </a:solidFill>
            <a:prstDash val="solid"/>
          </a:ln>
        </p:spPr>
      </p:sp>
      <p:sp>
        <p:nvSpPr>
          <p:cNvPr id="25" name="Text 20"/>
          <p:cNvSpPr txBox="1"/>
          <p:nvPr/>
        </p:nvSpPr>
        <p:spPr>
          <a:xfrm>
            <a:off x="6336792" y="2807208"/>
            <a:ext cx="5166360" cy="365760"/>
          </a:xfrm>
          <a:prstGeom prst="rect">
            <a:avLst/>
          </a:prstGeom>
          <a:noFill/>
          <a:ln/>
        </p:spPr>
        <p:txBody>
          <a:bodyPr wrap="square" lIns="0" tIns="0" rIns="0" bIns="0" rtlCol="0" anchor="ctr"/>
          <a:lstStyle/>
          <a:p>
            <a:pPr algn="l" indent="0" marL="0">
              <a:buNone/>
            </a:pPr>
            <a:r>
              <a:rPr lang="en-US" sz="1600" i="1" dirty="0">
                <a:solidFill>
                  <a:schemeClr val="tx1"/>
                </a:solidFill>
              </a:rPr>
              <a:t>I </a:t>
            </a:r>
            <a:r>
              <a:rPr lang="en-US" sz="1600" b="1" i="1" dirty="0">
                <a:solidFill>
                  <a:srgbClr val="2A6FB0"/>
                </a:solidFill>
              </a:rPr>
              <a:t>’ve lost</a:t>
            </a:r>
            <a:r>
              <a:rPr lang="en-US" sz="1600" i="1" dirty="0">
                <a:solidFill>
                  <a:schemeClr val="tx1"/>
                </a:solidFill>
              </a:rPr>
              <a:t> my keys!</a:t>
            </a:r>
            <a:endParaRPr lang="en-US" sz="1800" dirty="0"/>
          </a:p>
        </p:txBody>
      </p:sp>
      <p:sp>
        <p:nvSpPr>
          <p:cNvPr id="26" name="Text 21"/>
          <p:cNvSpPr txBox="1"/>
          <p:nvPr/>
        </p:nvSpPr>
        <p:spPr>
          <a:xfrm>
            <a:off x="6336792" y="3154680"/>
            <a:ext cx="5166360" cy="256032"/>
          </a:xfrm>
          <a:prstGeom prst="rect">
            <a:avLst/>
          </a:prstGeom>
          <a:noFill/>
          <a:ln/>
        </p:spPr>
        <p:txBody>
          <a:bodyPr wrap="square" lIns="0" tIns="0" rIns="0" bIns="0" rtlCol="0" anchor="ctr"/>
          <a:lstStyle/>
          <a:p>
            <a:pPr algn="l" indent="0" marL="0">
              <a:buNone/>
            </a:pPr>
            <a:r>
              <a:rPr lang="en-US" sz="1150" i="1" dirty="0">
                <a:solidFill>
                  <a:schemeClr val="accent5"/>
                </a:solidFill>
              </a:rPr>
              <a:t>I can’t get in. (résultat maintenant)</a:t>
            </a:r>
            <a:endParaRPr lang="en-US" sz="1150" dirty="0"/>
          </a:p>
        </p:txBody>
      </p:sp>
      <p:sp>
        <p:nvSpPr>
          <p:cNvPr id="27" name="Shape 22"/>
          <p:cNvSpPr/>
          <p:nvPr/>
        </p:nvSpPr>
        <p:spPr>
          <a:xfrm>
            <a:off x="548640" y="3502152"/>
            <a:ext cx="5440680" cy="640080"/>
          </a:xfrm>
          <a:prstGeom prst="roundRect">
            <a:avLst>
              <a:gd name="adj" fmla="val 11429"/>
            </a:avLst>
          </a:prstGeom>
          <a:solidFill>
            <a:srgbClr val="FFFFFF"/>
          </a:solidFill>
          <a:ln w="12700">
            <a:solidFill>
              <a:srgbClr val="FFFFFF">
                <a:alpha val="0"/>
              </a:srgbClr>
            </a:solidFill>
            <a:prstDash val="solid"/>
          </a:ln>
        </p:spPr>
      </p:sp>
      <p:sp>
        <p:nvSpPr>
          <p:cNvPr id="28" name="Text 23"/>
          <p:cNvSpPr txBox="1"/>
          <p:nvPr/>
        </p:nvSpPr>
        <p:spPr>
          <a:xfrm>
            <a:off x="685800" y="3520440"/>
            <a:ext cx="5166360" cy="365760"/>
          </a:xfrm>
          <a:prstGeom prst="rect">
            <a:avLst/>
          </a:prstGeom>
          <a:noFill/>
          <a:ln/>
        </p:spPr>
        <p:txBody>
          <a:bodyPr wrap="square" lIns="0" tIns="0" rIns="0" bIns="0" rtlCol="0" anchor="ctr"/>
          <a:lstStyle/>
          <a:p>
            <a:pPr algn="l" indent="0" marL="0">
              <a:buNone/>
            </a:pPr>
            <a:r>
              <a:rPr lang="en-US" sz="1600" i="1" dirty="0">
                <a:solidFill>
                  <a:schemeClr val="tx1"/>
                </a:solidFill>
              </a:rPr>
              <a:t>She </a:t>
            </a:r>
            <a:r>
              <a:rPr lang="en-US" sz="1600" b="1" i="1" dirty="0">
                <a:solidFill>
                  <a:srgbClr val="B4236A"/>
                </a:solidFill>
              </a:rPr>
              <a:t>lived</a:t>
            </a:r>
            <a:r>
              <a:rPr lang="en-US" sz="1600" i="1" dirty="0">
                <a:solidFill>
                  <a:schemeClr val="tx1"/>
                </a:solidFill>
              </a:rPr>
              <a:t> in Paris for 3 years.</a:t>
            </a:r>
            <a:endParaRPr lang="en-US" sz="1800" dirty="0"/>
          </a:p>
        </p:txBody>
      </p:sp>
      <p:sp>
        <p:nvSpPr>
          <p:cNvPr id="29" name="Text 24"/>
          <p:cNvSpPr txBox="1"/>
          <p:nvPr/>
        </p:nvSpPr>
        <p:spPr>
          <a:xfrm>
            <a:off x="685800" y="3867912"/>
            <a:ext cx="5166360" cy="256032"/>
          </a:xfrm>
          <a:prstGeom prst="rect">
            <a:avLst/>
          </a:prstGeom>
          <a:noFill/>
          <a:ln/>
        </p:spPr>
        <p:txBody>
          <a:bodyPr wrap="square" lIns="0" tIns="0" rIns="0" bIns="0" rtlCol="0" anchor="ctr"/>
          <a:lstStyle/>
          <a:p>
            <a:pPr algn="l" indent="0" marL="0">
              <a:buNone/>
            </a:pPr>
            <a:r>
              <a:rPr lang="en-US" sz="1150" i="1" dirty="0">
                <a:solidFill>
                  <a:schemeClr val="accent5"/>
                </a:solidFill>
              </a:rPr>
              <a:t>She doesn’t live there now.</a:t>
            </a:r>
            <a:endParaRPr lang="en-US" sz="1150" dirty="0"/>
          </a:p>
        </p:txBody>
      </p:sp>
      <p:sp>
        <p:nvSpPr>
          <p:cNvPr id="30" name="Shape 25"/>
          <p:cNvSpPr/>
          <p:nvPr/>
        </p:nvSpPr>
        <p:spPr>
          <a:xfrm>
            <a:off x="6199632" y="3502152"/>
            <a:ext cx="5440680" cy="640080"/>
          </a:xfrm>
          <a:prstGeom prst="roundRect">
            <a:avLst>
              <a:gd name="adj" fmla="val 11429"/>
            </a:avLst>
          </a:prstGeom>
          <a:solidFill>
            <a:srgbClr val="FFFFFF"/>
          </a:solidFill>
          <a:ln w="12700">
            <a:solidFill>
              <a:srgbClr val="FFFFFF">
                <a:alpha val="0"/>
              </a:srgbClr>
            </a:solidFill>
            <a:prstDash val="solid"/>
          </a:ln>
        </p:spPr>
      </p:sp>
      <p:sp>
        <p:nvSpPr>
          <p:cNvPr id="31" name="Text 26"/>
          <p:cNvSpPr txBox="1"/>
          <p:nvPr/>
        </p:nvSpPr>
        <p:spPr>
          <a:xfrm>
            <a:off x="6336792" y="3520440"/>
            <a:ext cx="5166360" cy="365760"/>
          </a:xfrm>
          <a:prstGeom prst="rect">
            <a:avLst/>
          </a:prstGeom>
          <a:noFill/>
          <a:ln/>
        </p:spPr>
        <p:txBody>
          <a:bodyPr wrap="square" lIns="0" tIns="0" rIns="0" bIns="0" rtlCol="0" anchor="ctr"/>
          <a:lstStyle/>
          <a:p>
            <a:pPr algn="l" indent="0" marL="0">
              <a:buNone/>
            </a:pPr>
            <a:r>
              <a:rPr lang="en-US" sz="1600" i="1" dirty="0">
                <a:solidFill>
                  <a:schemeClr val="tx1"/>
                </a:solidFill>
              </a:rPr>
              <a:t>She </a:t>
            </a:r>
            <a:r>
              <a:rPr lang="en-US" sz="1600" b="1" i="1" dirty="0">
                <a:solidFill>
                  <a:srgbClr val="2A6FB0"/>
                </a:solidFill>
              </a:rPr>
              <a:t>has lived</a:t>
            </a:r>
            <a:r>
              <a:rPr lang="en-US" sz="1600" i="1" dirty="0">
                <a:solidFill>
                  <a:schemeClr val="tx1"/>
                </a:solidFill>
              </a:rPr>
              <a:t> in Paris for 3 years.</a:t>
            </a:r>
            <a:endParaRPr lang="en-US" sz="1800" dirty="0"/>
          </a:p>
        </p:txBody>
      </p:sp>
      <p:sp>
        <p:nvSpPr>
          <p:cNvPr id="32" name="Text 27"/>
          <p:cNvSpPr txBox="1"/>
          <p:nvPr/>
        </p:nvSpPr>
        <p:spPr>
          <a:xfrm>
            <a:off x="6336792" y="3867912"/>
            <a:ext cx="5166360" cy="256032"/>
          </a:xfrm>
          <a:prstGeom prst="rect">
            <a:avLst/>
          </a:prstGeom>
          <a:noFill/>
          <a:ln/>
        </p:spPr>
        <p:txBody>
          <a:bodyPr wrap="square" lIns="0" tIns="0" rIns="0" bIns="0" rtlCol="0" anchor="ctr"/>
          <a:lstStyle/>
          <a:p>
            <a:pPr algn="l" indent="0" marL="0">
              <a:buNone/>
            </a:pPr>
            <a:r>
              <a:rPr lang="en-US" sz="1150" i="1" dirty="0">
                <a:solidFill>
                  <a:schemeClr val="accent5"/>
                </a:solidFill>
              </a:rPr>
              <a:t>She still lives there.</a:t>
            </a:r>
            <a:endParaRPr lang="en-US" sz="1150" dirty="0"/>
          </a:p>
        </p:txBody>
      </p:sp>
      <p:sp>
        <p:nvSpPr>
          <p:cNvPr id="33" name="Shape 28"/>
          <p:cNvSpPr/>
          <p:nvPr/>
        </p:nvSpPr>
        <p:spPr>
          <a:xfrm>
            <a:off x="548640" y="4215384"/>
            <a:ext cx="5440680" cy="640080"/>
          </a:xfrm>
          <a:prstGeom prst="roundRect">
            <a:avLst>
              <a:gd name="adj" fmla="val 11429"/>
            </a:avLst>
          </a:prstGeom>
          <a:solidFill>
            <a:srgbClr val="FBEAF2"/>
          </a:solidFill>
          <a:ln w="12700">
            <a:solidFill>
              <a:srgbClr val="FFFFFF">
                <a:alpha val="0"/>
              </a:srgbClr>
            </a:solidFill>
            <a:prstDash val="solid"/>
          </a:ln>
        </p:spPr>
      </p:sp>
      <p:sp>
        <p:nvSpPr>
          <p:cNvPr id="34" name="Text 29"/>
          <p:cNvSpPr txBox="1"/>
          <p:nvPr/>
        </p:nvSpPr>
        <p:spPr>
          <a:xfrm>
            <a:off x="685800" y="4233672"/>
            <a:ext cx="5166360" cy="365760"/>
          </a:xfrm>
          <a:prstGeom prst="rect">
            <a:avLst/>
          </a:prstGeom>
          <a:noFill/>
          <a:ln/>
        </p:spPr>
        <p:txBody>
          <a:bodyPr wrap="square" lIns="0" tIns="0" rIns="0" bIns="0" rtlCol="0" anchor="ctr"/>
          <a:lstStyle/>
          <a:p>
            <a:pPr algn="l" indent="0" marL="0">
              <a:buNone/>
            </a:pPr>
            <a:r>
              <a:rPr lang="en-US" sz="1600" b="1" i="1" dirty="0">
                <a:solidFill>
                  <a:srgbClr val="B4236A"/>
                </a:solidFill>
              </a:rPr>
              <a:t>Did</a:t>
            </a:r>
            <a:r>
              <a:rPr lang="en-US" sz="1600" i="1" dirty="0">
                <a:solidFill>
                  <a:schemeClr val="tx1"/>
                </a:solidFill>
              </a:rPr>
              <a:t> you </a:t>
            </a:r>
            <a:r>
              <a:rPr lang="en-US" sz="1600" b="1" i="1" dirty="0">
                <a:solidFill>
                  <a:srgbClr val="B4236A"/>
                </a:solidFill>
              </a:rPr>
              <a:t>see</a:t>
            </a:r>
            <a:r>
              <a:rPr lang="en-US" sz="1600" i="1" dirty="0">
                <a:solidFill>
                  <a:schemeClr val="tx1"/>
                </a:solidFill>
              </a:rPr>
              <a:t> the match </a:t>
            </a:r>
            <a:r>
              <a:rPr lang="en-US" sz="1600" b="1" i="1" dirty="0">
                <a:solidFill>
                  <a:srgbClr val="D9700F"/>
                </a:solidFill>
              </a:rPr>
              <a:t>last night</a:t>
            </a:r>
            <a:r>
              <a:rPr lang="en-US" sz="1600" i="1" dirty="0">
                <a:solidFill>
                  <a:schemeClr val="tx1"/>
                </a:solidFill>
              </a:rPr>
              <a:t>?</a:t>
            </a:r>
            <a:endParaRPr lang="en-US" sz="1800" dirty="0"/>
          </a:p>
        </p:txBody>
      </p:sp>
      <p:sp>
        <p:nvSpPr>
          <p:cNvPr id="35" name="Text 30"/>
          <p:cNvSpPr txBox="1"/>
          <p:nvPr/>
        </p:nvSpPr>
        <p:spPr>
          <a:xfrm>
            <a:off x="685800" y="4581144"/>
            <a:ext cx="5166360" cy="256032"/>
          </a:xfrm>
          <a:prstGeom prst="rect">
            <a:avLst/>
          </a:prstGeom>
          <a:noFill/>
          <a:ln/>
        </p:spPr>
        <p:txBody>
          <a:bodyPr wrap="square" lIns="0" tIns="0" rIns="0" bIns="0" rtlCol="0" anchor="ctr"/>
          <a:lstStyle/>
          <a:p>
            <a:pPr algn="l" indent="0" marL="0">
              <a:buNone/>
            </a:pPr>
            <a:r>
              <a:rPr lang="en-US" sz="1150" i="1" dirty="0">
                <a:solidFill>
                  <a:schemeClr val="accent5"/>
                </a:solidFill>
              </a:rPr>
              <a:t>one occasion, finished</a:t>
            </a:r>
            <a:endParaRPr lang="en-US" sz="1150" dirty="0"/>
          </a:p>
        </p:txBody>
      </p:sp>
      <p:sp>
        <p:nvSpPr>
          <p:cNvPr id="36" name="Shape 31"/>
          <p:cNvSpPr/>
          <p:nvPr/>
        </p:nvSpPr>
        <p:spPr>
          <a:xfrm>
            <a:off x="6199632" y="4215384"/>
            <a:ext cx="5440680" cy="640080"/>
          </a:xfrm>
          <a:prstGeom prst="roundRect">
            <a:avLst>
              <a:gd name="adj" fmla="val 11429"/>
            </a:avLst>
          </a:prstGeom>
          <a:solidFill>
            <a:srgbClr val="EAF2FB"/>
          </a:solidFill>
          <a:ln w="12700">
            <a:solidFill>
              <a:srgbClr val="FFFFFF">
                <a:alpha val="0"/>
              </a:srgbClr>
            </a:solidFill>
            <a:prstDash val="solid"/>
          </a:ln>
        </p:spPr>
      </p:sp>
      <p:sp>
        <p:nvSpPr>
          <p:cNvPr id="37" name="Text 32"/>
          <p:cNvSpPr txBox="1"/>
          <p:nvPr/>
        </p:nvSpPr>
        <p:spPr>
          <a:xfrm>
            <a:off x="6336792" y="4233672"/>
            <a:ext cx="5166360" cy="365760"/>
          </a:xfrm>
          <a:prstGeom prst="rect">
            <a:avLst/>
          </a:prstGeom>
          <a:noFill/>
          <a:ln/>
        </p:spPr>
        <p:txBody>
          <a:bodyPr wrap="square" lIns="0" tIns="0" rIns="0" bIns="0" rtlCol="0" anchor="ctr"/>
          <a:lstStyle/>
          <a:p>
            <a:pPr algn="l" indent="0" marL="0">
              <a:buNone/>
            </a:pPr>
            <a:r>
              <a:rPr lang="en-US" sz="1600" b="1" i="1" dirty="0">
                <a:solidFill>
                  <a:srgbClr val="2A6FB0"/>
                </a:solidFill>
              </a:rPr>
              <a:t>Have</a:t>
            </a:r>
            <a:r>
              <a:rPr lang="en-US" sz="1600" i="1" dirty="0">
                <a:solidFill>
                  <a:schemeClr val="tx1"/>
                </a:solidFill>
              </a:rPr>
              <a:t> you ever </a:t>
            </a:r>
            <a:r>
              <a:rPr lang="en-US" sz="1600" b="1" i="1" dirty="0">
                <a:solidFill>
                  <a:srgbClr val="2A6FB0"/>
                </a:solidFill>
              </a:rPr>
              <a:t>seen</a:t>
            </a:r>
            <a:r>
              <a:rPr lang="en-US" sz="1600" i="1" dirty="0">
                <a:solidFill>
                  <a:schemeClr val="tx1"/>
                </a:solidFill>
              </a:rPr>
              <a:t> a live match?</a:t>
            </a:r>
            <a:endParaRPr lang="en-US" sz="1800" dirty="0"/>
          </a:p>
        </p:txBody>
      </p:sp>
      <p:sp>
        <p:nvSpPr>
          <p:cNvPr id="38" name="Text 33"/>
          <p:cNvSpPr txBox="1"/>
          <p:nvPr/>
        </p:nvSpPr>
        <p:spPr>
          <a:xfrm>
            <a:off x="6336792" y="4581144"/>
            <a:ext cx="5166360" cy="256032"/>
          </a:xfrm>
          <a:prstGeom prst="rect">
            <a:avLst/>
          </a:prstGeom>
          <a:noFill/>
          <a:ln/>
        </p:spPr>
        <p:txBody>
          <a:bodyPr wrap="square" lIns="0" tIns="0" rIns="0" bIns="0" rtlCol="0" anchor="ctr"/>
          <a:lstStyle/>
          <a:p>
            <a:pPr algn="l" indent="0" marL="0">
              <a:buNone/>
            </a:pPr>
            <a:r>
              <a:rPr lang="en-US" sz="1150" i="1" dirty="0">
                <a:solidFill>
                  <a:schemeClr val="accent5"/>
                </a:solidFill>
              </a:rPr>
              <a:t>in your life (expérience)</a:t>
            </a:r>
            <a:endParaRPr lang="en-US" sz="1150" dirty="0"/>
          </a:p>
        </p:txBody>
      </p:sp>
      <p:sp>
        <p:nvSpPr>
          <p:cNvPr id="39" name="Shape 34"/>
          <p:cNvSpPr/>
          <p:nvPr/>
        </p:nvSpPr>
        <p:spPr>
          <a:xfrm>
            <a:off x="548640" y="4928616"/>
            <a:ext cx="5440680" cy="640080"/>
          </a:xfrm>
          <a:prstGeom prst="roundRect">
            <a:avLst>
              <a:gd name="adj" fmla="val 11429"/>
            </a:avLst>
          </a:prstGeom>
          <a:solidFill>
            <a:srgbClr val="FFFFFF"/>
          </a:solidFill>
          <a:ln w="12700">
            <a:solidFill>
              <a:srgbClr val="FFFFFF">
                <a:alpha val="0"/>
              </a:srgbClr>
            </a:solidFill>
            <a:prstDash val="solid"/>
          </a:ln>
        </p:spPr>
      </p:sp>
      <p:sp>
        <p:nvSpPr>
          <p:cNvPr id="40" name="Text 35"/>
          <p:cNvSpPr txBox="1"/>
          <p:nvPr/>
        </p:nvSpPr>
        <p:spPr>
          <a:xfrm>
            <a:off x="685800" y="4946904"/>
            <a:ext cx="5166360" cy="365760"/>
          </a:xfrm>
          <a:prstGeom prst="rect">
            <a:avLst/>
          </a:prstGeom>
          <a:noFill/>
          <a:ln/>
        </p:spPr>
        <p:txBody>
          <a:bodyPr wrap="square" lIns="0" tIns="0" rIns="0" bIns="0" rtlCol="0" anchor="ctr"/>
          <a:lstStyle/>
          <a:p>
            <a:pPr algn="l" indent="0" marL="0">
              <a:buNone/>
            </a:pPr>
            <a:r>
              <a:rPr lang="en-US" sz="1600" i="1" dirty="0">
                <a:solidFill>
                  <a:schemeClr val="tx1"/>
                </a:solidFill>
              </a:rPr>
              <a:t>I </a:t>
            </a:r>
            <a:r>
              <a:rPr lang="en-US" sz="1600" b="1" i="1" dirty="0">
                <a:solidFill>
                  <a:srgbClr val="B4236A"/>
                </a:solidFill>
              </a:rPr>
              <a:t>wrote</a:t>
            </a:r>
            <a:r>
              <a:rPr lang="en-US" sz="1600" i="1" dirty="0">
                <a:solidFill>
                  <a:schemeClr val="tx1"/>
                </a:solidFill>
              </a:rPr>
              <a:t> 2 emails </a:t>
            </a:r>
            <a:r>
              <a:rPr lang="en-US" sz="1600" b="1" i="1" dirty="0">
                <a:solidFill>
                  <a:srgbClr val="D9700F"/>
                </a:solidFill>
              </a:rPr>
              <a:t>this morning</a:t>
            </a:r>
            <a:r>
              <a:rPr lang="en-US" sz="1600" i="1" dirty="0">
                <a:solidFill>
                  <a:schemeClr val="tx1"/>
                </a:solidFill>
              </a:rPr>
              <a:t>.</a:t>
            </a:r>
            <a:endParaRPr lang="en-US" sz="1800" dirty="0"/>
          </a:p>
        </p:txBody>
      </p:sp>
      <p:sp>
        <p:nvSpPr>
          <p:cNvPr id="41" name="Text 36"/>
          <p:cNvSpPr txBox="1"/>
          <p:nvPr/>
        </p:nvSpPr>
        <p:spPr>
          <a:xfrm>
            <a:off x="685800" y="5294376"/>
            <a:ext cx="5166360" cy="256032"/>
          </a:xfrm>
          <a:prstGeom prst="rect">
            <a:avLst/>
          </a:prstGeom>
          <a:noFill/>
          <a:ln/>
        </p:spPr>
        <p:txBody>
          <a:bodyPr wrap="square" lIns="0" tIns="0" rIns="0" bIns="0" rtlCol="0" anchor="ctr"/>
          <a:lstStyle/>
          <a:p>
            <a:pPr algn="l" indent="0" marL="0">
              <a:buNone/>
            </a:pPr>
            <a:r>
              <a:rPr lang="en-US" sz="1150" i="1" dirty="0">
                <a:solidFill>
                  <a:schemeClr val="accent5"/>
                </a:solidFill>
              </a:rPr>
              <a:t>It’s 3 p.m.: the morning is over.</a:t>
            </a:r>
            <a:endParaRPr lang="en-US" sz="1150" dirty="0"/>
          </a:p>
        </p:txBody>
      </p:sp>
      <p:sp>
        <p:nvSpPr>
          <p:cNvPr id="42" name="Shape 37"/>
          <p:cNvSpPr/>
          <p:nvPr/>
        </p:nvSpPr>
        <p:spPr>
          <a:xfrm>
            <a:off x="6199632" y="4928616"/>
            <a:ext cx="5440680" cy="640080"/>
          </a:xfrm>
          <a:prstGeom prst="roundRect">
            <a:avLst>
              <a:gd name="adj" fmla="val 11429"/>
            </a:avLst>
          </a:prstGeom>
          <a:solidFill>
            <a:srgbClr val="FFFFFF"/>
          </a:solidFill>
          <a:ln w="12700">
            <a:solidFill>
              <a:srgbClr val="FFFFFF">
                <a:alpha val="0"/>
              </a:srgbClr>
            </a:solidFill>
            <a:prstDash val="solid"/>
          </a:ln>
        </p:spPr>
      </p:sp>
      <p:sp>
        <p:nvSpPr>
          <p:cNvPr id="43" name="Text 38"/>
          <p:cNvSpPr txBox="1"/>
          <p:nvPr/>
        </p:nvSpPr>
        <p:spPr>
          <a:xfrm>
            <a:off x="6336792" y="4946904"/>
            <a:ext cx="5166360" cy="365760"/>
          </a:xfrm>
          <a:prstGeom prst="rect">
            <a:avLst/>
          </a:prstGeom>
          <a:noFill/>
          <a:ln/>
        </p:spPr>
        <p:txBody>
          <a:bodyPr wrap="square" lIns="0" tIns="0" rIns="0" bIns="0" rtlCol="0" anchor="ctr"/>
          <a:lstStyle/>
          <a:p>
            <a:pPr algn="l" indent="0" marL="0">
              <a:buNone/>
            </a:pPr>
            <a:r>
              <a:rPr lang="en-US" sz="1600" i="1" dirty="0">
                <a:solidFill>
                  <a:schemeClr val="tx1"/>
                </a:solidFill>
              </a:rPr>
              <a:t>I </a:t>
            </a:r>
            <a:r>
              <a:rPr lang="en-US" sz="1600" b="1" i="1" dirty="0">
                <a:solidFill>
                  <a:srgbClr val="2A6FB0"/>
                </a:solidFill>
              </a:rPr>
              <a:t>’ve written</a:t>
            </a:r>
            <a:r>
              <a:rPr lang="en-US" sz="1600" i="1" dirty="0">
                <a:solidFill>
                  <a:schemeClr val="tx1"/>
                </a:solidFill>
              </a:rPr>
              <a:t> 2 emails </a:t>
            </a:r>
            <a:r>
              <a:rPr lang="en-US" sz="1600" b="1" i="1" dirty="0">
                <a:solidFill>
                  <a:srgbClr val="D9700F"/>
                </a:solidFill>
              </a:rPr>
              <a:t>this morning</a:t>
            </a:r>
            <a:r>
              <a:rPr lang="en-US" sz="1600" i="1" dirty="0">
                <a:solidFill>
                  <a:schemeClr val="tx1"/>
                </a:solidFill>
              </a:rPr>
              <a:t>.</a:t>
            </a:r>
            <a:endParaRPr lang="en-US" sz="1800" dirty="0"/>
          </a:p>
        </p:txBody>
      </p:sp>
      <p:sp>
        <p:nvSpPr>
          <p:cNvPr id="44" name="Text 39"/>
          <p:cNvSpPr txBox="1"/>
          <p:nvPr/>
        </p:nvSpPr>
        <p:spPr>
          <a:xfrm>
            <a:off x="6336792" y="5294376"/>
            <a:ext cx="5166360" cy="256032"/>
          </a:xfrm>
          <a:prstGeom prst="rect">
            <a:avLst/>
          </a:prstGeom>
          <a:noFill/>
          <a:ln/>
        </p:spPr>
        <p:txBody>
          <a:bodyPr wrap="square" lIns="0" tIns="0" rIns="0" bIns="0" rtlCol="0" anchor="ctr"/>
          <a:lstStyle/>
          <a:p>
            <a:pPr algn="l" indent="0" marL="0">
              <a:buNone/>
            </a:pPr>
            <a:r>
              <a:rPr lang="en-US" sz="1150" i="1" dirty="0">
                <a:solidFill>
                  <a:schemeClr val="accent5"/>
                </a:solidFill>
              </a:rPr>
              <a:t>It’s 10 a.m.: still the morning!</a:t>
            </a:r>
            <a:endParaRPr lang="en-US" sz="11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The decision tree: two questions</a:t>
            </a:r>
            <a:endParaRPr lang="en-US" sz="3000" dirty="0"/>
          </a:p>
        </p:txBody>
      </p:sp>
      <p:sp>
        <p:nvSpPr>
          <p:cNvPr id="3" name="tag"/>
          <p:cNvSpPr/>
          <p:nvPr/>
        </p:nvSpPr>
        <p:spPr>
          <a:xfrm>
            <a:off x="548640" y="237744"/>
            <a:ext cx="1444752"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COMPARISON</a:t>
            </a:r>
            <a:endParaRPr lang="en-US" sz="1200" dirty="0"/>
          </a:p>
        </p:txBody>
      </p:sp>
      <p:sp>
        <p:nvSpPr>
          <p:cNvPr id="5" name="Shape 2"/>
          <p:cNvSpPr/>
          <p:nvPr/>
        </p:nvSpPr>
        <p:spPr>
          <a:xfrm>
            <a:off x="3291840" y="1417320"/>
            <a:ext cx="5577840" cy="1005840"/>
          </a:xfrm>
          <a:prstGeom prst="roundRect">
            <a:avLst>
              <a:gd name="adj" fmla="val 12727"/>
            </a:avLst>
          </a:prstGeom>
          <a:solidFill>
            <a:srgbClr val="E6EBF2"/>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3429000" y="1417320"/>
            <a:ext cx="5303520" cy="1005840"/>
          </a:xfrm>
          <a:prstGeom prst="rect">
            <a:avLst/>
          </a:prstGeom>
          <a:noFill/>
          <a:ln/>
        </p:spPr>
        <p:txBody>
          <a:bodyPr wrap="square" lIns="0" tIns="0" rIns="0" bIns="0" rtlCol="0" anchor="ctr"/>
          <a:lstStyle/>
          <a:p>
            <a:pPr algn="ctr" indent="0" marL="0">
              <a:spcAft>
                <a:spcPts val="200"/>
              </a:spcAft>
              <a:buNone/>
            </a:pPr>
            <a:r>
              <a:rPr lang="en-US" sz="1500" b="1" dirty="0">
                <a:solidFill>
                  <a:schemeClr val="tx1"/>
                </a:solidFill>
              </a:rPr>
              <a:t>① Is there a FINISHED time?</a:t>
            </a:r>
            <a:endParaRPr lang="en-US" sz="1500" dirty="0"/>
          </a:p>
          <a:p>
            <a:pPr algn="ctr" indent="0" marL="0">
              <a:spcAft>
                <a:spcPts val="200"/>
              </a:spcAft>
              <a:buNone/>
            </a:pPr>
            <a:r>
              <a:rPr lang="en-US" sz="1500" i="1" dirty="0">
                <a:solidFill>
                  <a:schemeClr val="tx1"/>
                </a:solidFill>
              </a:rPr>
              <a:t>yesterday · last… · …ago · in 2019 · when I was…</a:t>
            </a:r>
            <a:endParaRPr lang="en-US" sz="1500" dirty="0"/>
          </a:p>
        </p:txBody>
      </p:sp>
      <p:sp>
        <p:nvSpPr>
          <p:cNvPr id="7" name="Shape 4"/>
          <p:cNvSpPr/>
          <p:nvPr/>
        </p:nvSpPr>
        <p:spPr>
          <a:xfrm>
            <a:off x="548640" y="2697480"/>
            <a:ext cx="2468880" cy="1005840"/>
          </a:xfrm>
          <a:prstGeom prst="roundRect">
            <a:avLst>
              <a:gd name="adj" fmla="val 12727"/>
            </a:avLst>
          </a:prstGeom>
          <a:solidFill>
            <a:schemeClr val="accent4"/>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8" name="Text 5"/>
          <p:cNvSpPr txBox="1"/>
          <p:nvPr/>
        </p:nvSpPr>
        <p:spPr>
          <a:xfrm>
            <a:off x="685800" y="2697480"/>
            <a:ext cx="2194560" cy="1005840"/>
          </a:xfrm>
          <a:prstGeom prst="rect">
            <a:avLst/>
          </a:prstGeom>
          <a:noFill/>
          <a:ln/>
        </p:spPr>
        <p:txBody>
          <a:bodyPr wrap="square" lIns="0" tIns="0" rIns="0" bIns="0" rtlCol="0" anchor="ctr"/>
          <a:lstStyle/>
          <a:p>
            <a:pPr algn="ctr" indent="0" marL="0">
              <a:spcAft>
                <a:spcPts val="200"/>
              </a:spcAft>
              <a:buNone/>
            </a:pPr>
            <a:r>
              <a:rPr lang="en-US" sz="1500" b="1" dirty="0">
                <a:solidFill>
                  <a:schemeClr val="bg1"/>
                </a:solidFill>
              </a:rPr>
              <a:t>PAST SIMPLE</a:t>
            </a:r>
            <a:endParaRPr lang="en-US" sz="1500" dirty="0"/>
          </a:p>
          <a:p>
            <a:pPr algn="ctr" indent="0" marL="0">
              <a:spcAft>
                <a:spcPts val="200"/>
              </a:spcAft>
              <a:buNone/>
            </a:pPr>
            <a:r>
              <a:rPr lang="en-US" sz="1500" i="1" dirty="0">
                <a:solidFill>
                  <a:schemeClr val="bg1"/>
                </a:solidFill>
              </a:rPr>
              <a:t>I saw it yesterday.</a:t>
            </a:r>
            <a:endParaRPr lang="en-US" sz="1500" dirty="0"/>
          </a:p>
        </p:txBody>
      </p:sp>
      <p:sp>
        <p:nvSpPr>
          <p:cNvPr id="9" name="Shape 6"/>
          <p:cNvSpPr/>
          <p:nvPr/>
        </p:nvSpPr>
        <p:spPr>
          <a:xfrm flipH="1">
            <a:off x="1828800" y="2011680"/>
            <a:ext cx="1463040" cy="667512"/>
          </a:xfrm>
          <a:prstGeom prst="line">
            <a:avLst/>
          </a:prstGeom>
          <a:noFill/>
          <a:ln w="31750">
            <a:solidFill>
              <a:srgbClr val="B4236A"/>
            </a:solidFill>
            <a:prstDash val="solid"/>
            <a:tailEnd type="triangle"/>
          </a:ln>
        </p:spPr>
      </p:sp>
      <p:sp>
        <p:nvSpPr>
          <p:cNvPr id="10" name="Text 7"/>
          <p:cNvSpPr txBox="1"/>
          <p:nvPr/>
        </p:nvSpPr>
        <p:spPr>
          <a:xfrm>
            <a:off x="1965960" y="1965960"/>
            <a:ext cx="822960" cy="320040"/>
          </a:xfrm>
          <a:prstGeom prst="rect">
            <a:avLst/>
          </a:prstGeom>
          <a:noFill/>
          <a:ln/>
        </p:spPr>
        <p:txBody>
          <a:bodyPr wrap="square" lIns="0" tIns="0" rIns="0" bIns="0" rtlCol="0" anchor="t"/>
          <a:lstStyle/>
          <a:p>
            <a:pPr algn="l" indent="0" marL="0">
              <a:buNone/>
            </a:pPr>
            <a:r>
              <a:rPr lang="en-US" sz="1300" b="1" dirty="0">
                <a:solidFill>
                  <a:schemeClr val="accent4"/>
                </a:solidFill>
              </a:rPr>
              <a:t>YES</a:t>
            </a:r>
            <a:endParaRPr lang="en-US" sz="1300" dirty="0"/>
          </a:p>
        </p:txBody>
      </p:sp>
      <p:sp>
        <p:nvSpPr>
          <p:cNvPr id="11" name="Shape 8"/>
          <p:cNvSpPr/>
          <p:nvPr/>
        </p:nvSpPr>
        <p:spPr>
          <a:xfrm>
            <a:off x="6080760" y="2441448"/>
            <a:ext cx="914" cy="512064"/>
          </a:xfrm>
          <a:prstGeom prst="line">
            <a:avLst/>
          </a:prstGeom>
          <a:noFill/>
          <a:ln w="31750">
            <a:solidFill>
              <a:srgbClr val="17375E"/>
            </a:solidFill>
            <a:prstDash val="solid"/>
            <a:tailEnd type="triangle"/>
          </a:ln>
        </p:spPr>
      </p:sp>
      <p:sp>
        <p:nvSpPr>
          <p:cNvPr id="12" name="Text 9"/>
          <p:cNvSpPr txBox="1"/>
          <p:nvPr/>
        </p:nvSpPr>
        <p:spPr>
          <a:xfrm>
            <a:off x="6217920" y="2514600"/>
            <a:ext cx="731520" cy="320040"/>
          </a:xfrm>
          <a:prstGeom prst="rect">
            <a:avLst/>
          </a:prstGeom>
          <a:noFill/>
          <a:ln/>
        </p:spPr>
        <p:txBody>
          <a:bodyPr wrap="square" lIns="0" tIns="0" rIns="0" bIns="0" rtlCol="0" anchor="t"/>
          <a:lstStyle/>
          <a:p>
            <a:pPr algn="l" indent="0" marL="0">
              <a:buNone/>
            </a:pPr>
            <a:r>
              <a:rPr lang="en-US" sz="1300" b="1" dirty="0">
                <a:solidFill>
                  <a:schemeClr val="tx2"/>
                </a:solidFill>
              </a:rPr>
              <a:t>NO</a:t>
            </a:r>
            <a:endParaRPr lang="en-US" sz="1300" dirty="0"/>
          </a:p>
        </p:txBody>
      </p:sp>
      <p:sp>
        <p:nvSpPr>
          <p:cNvPr id="13" name="Shape 10"/>
          <p:cNvSpPr/>
          <p:nvPr/>
        </p:nvSpPr>
        <p:spPr>
          <a:xfrm>
            <a:off x="3291840" y="2971800"/>
            <a:ext cx="5257800" cy="1005840"/>
          </a:xfrm>
          <a:prstGeom prst="roundRect">
            <a:avLst>
              <a:gd name="adj" fmla="val 12727"/>
            </a:avLst>
          </a:prstGeom>
          <a:solidFill>
            <a:srgbClr val="E6EBF2"/>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14" name="Text 11"/>
          <p:cNvSpPr txBox="1"/>
          <p:nvPr/>
        </p:nvSpPr>
        <p:spPr>
          <a:xfrm>
            <a:off x="3429000" y="2971800"/>
            <a:ext cx="4983480" cy="1005840"/>
          </a:xfrm>
          <a:prstGeom prst="rect">
            <a:avLst/>
          </a:prstGeom>
          <a:noFill/>
          <a:ln/>
        </p:spPr>
        <p:txBody>
          <a:bodyPr wrap="square" lIns="0" tIns="0" rIns="0" bIns="0" rtlCol="0" anchor="ctr"/>
          <a:lstStyle/>
          <a:p>
            <a:pPr algn="ctr" indent="0" marL="0">
              <a:spcAft>
                <a:spcPts val="200"/>
              </a:spcAft>
              <a:buNone/>
            </a:pPr>
            <a:r>
              <a:rPr lang="en-US" sz="1500" b="1" dirty="0">
                <a:solidFill>
                  <a:schemeClr val="tx1"/>
                </a:solidFill>
              </a:rPr>
              <a:t>② Is there a LINK with NOW?</a:t>
            </a:r>
            <a:endParaRPr lang="en-US" sz="1500" dirty="0"/>
          </a:p>
          <a:p>
            <a:pPr algn="ctr" indent="0" marL="0">
              <a:spcAft>
                <a:spcPts val="200"/>
              </a:spcAft>
              <a:buNone/>
            </a:pPr>
            <a:r>
              <a:rPr lang="en-US" sz="1500" i="1" dirty="0">
                <a:solidFill>
                  <a:schemeClr val="tx1"/>
                </a:solidFill>
              </a:rPr>
              <a:t>result · experience · still true · open time (today, this week)</a:t>
            </a:r>
            <a:endParaRPr lang="en-US" sz="1500" dirty="0"/>
          </a:p>
        </p:txBody>
      </p:sp>
      <p:sp>
        <p:nvSpPr>
          <p:cNvPr id="15" name="Shape 12"/>
          <p:cNvSpPr/>
          <p:nvPr/>
        </p:nvSpPr>
        <p:spPr>
          <a:xfrm>
            <a:off x="9171432" y="2971800"/>
            <a:ext cx="2468880" cy="1005840"/>
          </a:xfrm>
          <a:prstGeom prst="roundRect">
            <a:avLst>
              <a:gd name="adj" fmla="val 12727"/>
            </a:avLst>
          </a:prstGeom>
          <a:solidFill>
            <a:schemeClr val="accent2"/>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16" name="Text 13"/>
          <p:cNvSpPr txBox="1"/>
          <p:nvPr/>
        </p:nvSpPr>
        <p:spPr>
          <a:xfrm>
            <a:off x="9308592" y="2971800"/>
            <a:ext cx="2194560" cy="1005840"/>
          </a:xfrm>
          <a:prstGeom prst="rect">
            <a:avLst/>
          </a:prstGeom>
          <a:noFill/>
          <a:ln/>
        </p:spPr>
        <p:txBody>
          <a:bodyPr wrap="square" lIns="0" tIns="0" rIns="0" bIns="0" rtlCol="0" anchor="ctr"/>
          <a:lstStyle/>
          <a:p>
            <a:pPr algn="ctr" indent="0" marL="0">
              <a:spcAft>
                <a:spcPts val="200"/>
              </a:spcAft>
              <a:buNone/>
            </a:pPr>
            <a:r>
              <a:rPr lang="en-US" sz="1500" b="1" dirty="0">
                <a:solidFill>
                  <a:schemeClr val="bg1"/>
                </a:solidFill>
              </a:rPr>
              <a:t>PRESENT PERFECT</a:t>
            </a:r>
            <a:endParaRPr lang="en-US" sz="1500" dirty="0"/>
          </a:p>
          <a:p>
            <a:pPr algn="ctr" indent="0" marL="0">
              <a:spcAft>
                <a:spcPts val="200"/>
              </a:spcAft>
              <a:buNone/>
            </a:pPr>
            <a:r>
              <a:rPr lang="en-US" sz="1500" i="1" dirty="0">
                <a:solidFill>
                  <a:schemeClr val="bg1"/>
                </a:solidFill>
              </a:rPr>
              <a:t>I’ve seen it.</a:t>
            </a:r>
            <a:endParaRPr lang="en-US" sz="1500" dirty="0"/>
          </a:p>
        </p:txBody>
      </p:sp>
      <p:sp>
        <p:nvSpPr>
          <p:cNvPr id="17" name="Shape 14"/>
          <p:cNvSpPr/>
          <p:nvPr/>
        </p:nvSpPr>
        <p:spPr>
          <a:xfrm>
            <a:off x="8567928" y="3474720"/>
            <a:ext cx="576072" cy="914"/>
          </a:xfrm>
          <a:prstGeom prst="line">
            <a:avLst/>
          </a:prstGeom>
          <a:noFill/>
          <a:ln w="31750">
            <a:solidFill>
              <a:srgbClr val="2A6FB0"/>
            </a:solidFill>
            <a:prstDash val="solid"/>
            <a:tailEnd type="triangle"/>
          </a:ln>
        </p:spPr>
      </p:sp>
      <p:sp>
        <p:nvSpPr>
          <p:cNvPr id="18" name="Text 15"/>
          <p:cNvSpPr txBox="1"/>
          <p:nvPr/>
        </p:nvSpPr>
        <p:spPr>
          <a:xfrm>
            <a:off x="8567928" y="3090672"/>
            <a:ext cx="576072" cy="320040"/>
          </a:xfrm>
          <a:prstGeom prst="rect">
            <a:avLst/>
          </a:prstGeom>
          <a:noFill/>
          <a:ln/>
        </p:spPr>
        <p:txBody>
          <a:bodyPr wrap="square" lIns="0" tIns="0" rIns="0" bIns="0" rtlCol="0" anchor="t"/>
          <a:lstStyle/>
          <a:p>
            <a:pPr algn="ctr" indent="0" marL="0">
              <a:buNone/>
            </a:pPr>
            <a:r>
              <a:rPr lang="en-US" sz="1200" b="1" dirty="0">
                <a:solidFill>
                  <a:schemeClr val="accent2"/>
                </a:solidFill>
              </a:rPr>
              <a:t>YES</a:t>
            </a:r>
            <a:endParaRPr lang="en-US" sz="1200" dirty="0"/>
          </a:p>
        </p:txBody>
      </p:sp>
      <p:sp>
        <p:nvSpPr>
          <p:cNvPr id="19" name="Shape 16"/>
          <p:cNvSpPr/>
          <p:nvPr/>
        </p:nvSpPr>
        <p:spPr>
          <a:xfrm>
            <a:off x="548640" y="4251960"/>
            <a:ext cx="3575304" cy="1280160"/>
          </a:xfrm>
          <a:prstGeom prst="roundRect">
            <a:avLst>
              <a:gd name="adj" fmla="val 8571"/>
            </a:avLst>
          </a:prstGeom>
          <a:solidFill>
            <a:srgbClr val="FFFFFF"/>
          </a:solidFill>
          <a:ln w="19050">
            <a:solidFill>
              <a:srgbClr val="B4236A"/>
            </a:solidFill>
            <a:prstDash val="solid"/>
          </a:ln>
        </p:spPr>
      </p:sp>
      <p:sp>
        <p:nvSpPr>
          <p:cNvPr id="20" name="Text 17"/>
          <p:cNvSpPr txBox="1"/>
          <p:nvPr/>
        </p:nvSpPr>
        <p:spPr>
          <a:xfrm>
            <a:off x="685800" y="4297680"/>
            <a:ext cx="3300984" cy="640080"/>
          </a:xfrm>
          <a:prstGeom prst="rect">
            <a:avLst/>
          </a:prstGeom>
          <a:noFill/>
          <a:ln/>
        </p:spPr>
        <p:txBody>
          <a:bodyPr wrap="square" lIns="0" tIns="0" rIns="0" bIns="0" rtlCol="0" anchor="ctr"/>
          <a:lstStyle/>
          <a:p>
            <a:pPr algn="ctr" indent="0" marL="0">
              <a:buNone/>
            </a:pPr>
            <a:r>
              <a:rPr lang="en-US" sz="1600" b="1" i="1" dirty="0">
                <a:solidFill>
                  <a:schemeClr val="accent4"/>
                </a:solidFill>
              </a:rPr>
              <a:t>I lost my keys yesterday.</a:t>
            </a:r>
            <a:endParaRPr lang="en-US" sz="1600" dirty="0"/>
          </a:p>
        </p:txBody>
      </p:sp>
      <p:sp>
        <p:nvSpPr>
          <p:cNvPr id="21" name="Text 18"/>
          <p:cNvSpPr txBox="1"/>
          <p:nvPr/>
        </p:nvSpPr>
        <p:spPr>
          <a:xfrm>
            <a:off x="685800" y="4892040"/>
            <a:ext cx="3300984" cy="548640"/>
          </a:xfrm>
          <a:prstGeom prst="rect">
            <a:avLst/>
          </a:prstGeom>
          <a:noFill/>
          <a:ln/>
        </p:spPr>
        <p:txBody>
          <a:bodyPr wrap="square" lIns="0" tIns="0" rIns="0" bIns="0" rtlCol="0" anchor="ctr"/>
          <a:lstStyle/>
          <a:p>
            <a:pPr algn="ctr" indent="0" marL="0">
              <a:buNone/>
            </a:pPr>
            <a:r>
              <a:rPr lang="en-US" sz="1350" dirty="0">
                <a:solidFill>
                  <a:schemeClr val="tx2"/>
                </a:solidFill>
              </a:rPr>
              <a:t>① yes : </a:t>
            </a:r>
            <a:r>
              <a:rPr lang="en-US" sz="1350" i="1" dirty="0">
                <a:solidFill>
                  <a:schemeClr val="tx2"/>
                </a:solidFill>
              </a:rPr>
              <a:t>yesterday</a:t>
            </a:r>
            <a:endParaRPr lang="en-US" sz="1350" dirty="0"/>
          </a:p>
        </p:txBody>
      </p:sp>
      <p:sp>
        <p:nvSpPr>
          <p:cNvPr id="22" name="Shape 19"/>
          <p:cNvSpPr/>
          <p:nvPr/>
        </p:nvSpPr>
        <p:spPr>
          <a:xfrm>
            <a:off x="4306824" y="4251960"/>
            <a:ext cx="3575304" cy="1280160"/>
          </a:xfrm>
          <a:prstGeom prst="roundRect">
            <a:avLst>
              <a:gd name="adj" fmla="val 8571"/>
            </a:avLst>
          </a:prstGeom>
          <a:solidFill>
            <a:srgbClr val="FFFFFF"/>
          </a:solidFill>
          <a:ln w="19050">
            <a:solidFill>
              <a:srgbClr val="2A6FB0"/>
            </a:solidFill>
            <a:prstDash val="solid"/>
          </a:ln>
        </p:spPr>
      </p:sp>
      <p:sp>
        <p:nvSpPr>
          <p:cNvPr id="23" name="Text 20"/>
          <p:cNvSpPr txBox="1"/>
          <p:nvPr/>
        </p:nvSpPr>
        <p:spPr>
          <a:xfrm>
            <a:off x="4443984" y="4297680"/>
            <a:ext cx="3300984" cy="640080"/>
          </a:xfrm>
          <a:prstGeom prst="rect">
            <a:avLst/>
          </a:prstGeom>
          <a:noFill/>
          <a:ln/>
        </p:spPr>
        <p:txBody>
          <a:bodyPr wrap="square" lIns="0" tIns="0" rIns="0" bIns="0" rtlCol="0" anchor="ctr"/>
          <a:lstStyle/>
          <a:p>
            <a:pPr algn="ctr" indent="0" marL="0">
              <a:buNone/>
            </a:pPr>
            <a:r>
              <a:rPr lang="en-US" sz="1600" b="1" i="1" dirty="0">
                <a:solidFill>
                  <a:schemeClr val="accent2"/>
                </a:solidFill>
              </a:rPr>
              <a:t>I’ve lost my keys!</a:t>
            </a:r>
            <a:endParaRPr lang="en-US" sz="1600" dirty="0"/>
          </a:p>
        </p:txBody>
      </p:sp>
      <p:sp>
        <p:nvSpPr>
          <p:cNvPr id="24" name="Text 21"/>
          <p:cNvSpPr txBox="1"/>
          <p:nvPr/>
        </p:nvSpPr>
        <p:spPr>
          <a:xfrm>
            <a:off x="4443984" y="4892040"/>
            <a:ext cx="3300984" cy="548640"/>
          </a:xfrm>
          <a:prstGeom prst="rect">
            <a:avLst/>
          </a:prstGeom>
          <a:noFill/>
          <a:ln/>
        </p:spPr>
        <p:txBody>
          <a:bodyPr wrap="square" lIns="0" tIns="0" rIns="0" bIns="0" rtlCol="0" anchor="ctr"/>
          <a:lstStyle/>
          <a:p>
            <a:pPr algn="ctr" indent="0" marL="0">
              <a:buNone/>
            </a:pPr>
            <a:r>
              <a:rPr lang="en-US" sz="1350" dirty="0">
                <a:solidFill>
                  <a:schemeClr val="tx2"/>
                </a:solidFill>
              </a:rPr>
              <a:t>② yes : résultat (pas de clés !)</a:t>
            </a:r>
            <a:endParaRPr lang="en-US" sz="1350" dirty="0"/>
          </a:p>
        </p:txBody>
      </p:sp>
      <p:sp>
        <p:nvSpPr>
          <p:cNvPr id="25" name="Shape 22"/>
          <p:cNvSpPr/>
          <p:nvPr/>
        </p:nvSpPr>
        <p:spPr>
          <a:xfrm>
            <a:off x="8065008" y="4251960"/>
            <a:ext cx="3575304" cy="1280160"/>
          </a:xfrm>
          <a:prstGeom prst="roundRect">
            <a:avLst>
              <a:gd name="adj" fmla="val 8571"/>
            </a:avLst>
          </a:prstGeom>
          <a:solidFill>
            <a:srgbClr val="FFFFFF"/>
          </a:solidFill>
          <a:ln w="19050">
            <a:solidFill>
              <a:srgbClr val="2A6FB0"/>
            </a:solidFill>
            <a:prstDash val="solid"/>
          </a:ln>
        </p:spPr>
      </p:sp>
      <p:sp>
        <p:nvSpPr>
          <p:cNvPr id="26" name="Text 23"/>
          <p:cNvSpPr txBox="1"/>
          <p:nvPr/>
        </p:nvSpPr>
        <p:spPr>
          <a:xfrm>
            <a:off x="8202168" y="4297680"/>
            <a:ext cx="3300984" cy="640080"/>
          </a:xfrm>
          <a:prstGeom prst="rect">
            <a:avLst/>
          </a:prstGeom>
          <a:noFill/>
          <a:ln/>
        </p:spPr>
        <p:txBody>
          <a:bodyPr wrap="square" lIns="0" tIns="0" rIns="0" bIns="0" rtlCol="0" anchor="ctr"/>
          <a:lstStyle/>
          <a:p>
            <a:pPr algn="ctr" indent="0" marL="0">
              <a:buNone/>
            </a:pPr>
            <a:r>
              <a:rPr lang="en-US" sz="1600" b="1" i="1" dirty="0">
                <a:solidFill>
                  <a:schemeClr val="accent2"/>
                </a:solidFill>
              </a:rPr>
              <a:t>I’ve worked here since 2021.</a:t>
            </a:r>
            <a:endParaRPr lang="en-US" sz="1600" dirty="0"/>
          </a:p>
        </p:txBody>
      </p:sp>
      <p:sp>
        <p:nvSpPr>
          <p:cNvPr id="27" name="Text 24"/>
          <p:cNvSpPr txBox="1"/>
          <p:nvPr/>
        </p:nvSpPr>
        <p:spPr>
          <a:xfrm>
            <a:off x="8202168" y="4892040"/>
            <a:ext cx="3300984" cy="548640"/>
          </a:xfrm>
          <a:prstGeom prst="rect">
            <a:avLst/>
          </a:prstGeom>
          <a:noFill/>
          <a:ln/>
        </p:spPr>
        <p:txBody>
          <a:bodyPr wrap="square" lIns="0" tIns="0" rIns="0" bIns="0" rtlCol="0" anchor="ctr"/>
          <a:lstStyle/>
          <a:p>
            <a:pPr algn="ctr" indent="0" marL="0">
              <a:buNone/>
            </a:pPr>
            <a:r>
              <a:rPr lang="en-US" sz="1350" dirty="0">
                <a:solidFill>
                  <a:schemeClr val="tx2"/>
                </a:solidFill>
              </a:rPr>
              <a:t>② yes : toujours vrai</a:t>
            </a:r>
            <a:endParaRPr lang="en-US" sz="1350" dirty="0"/>
          </a:p>
        </p:txBody>
      </p:sp>
      <p:sp>
        <p:nvSpPr>
          <p:cNvPr id="28" name="Shape 25"/>
          <p:cNvSpPr/>
          <p:nvPr/>
        </p:nvSpPr>
        <p:spPr>
          <a:xfrm>
            <a:off x="548640" y="5715000"/>
            <a:ext cx="11091672" cy="502920"/>
          </a:xfrm>
          <a:prstGeom prst="roundRect">
            <a:avLst>
              <a:gd name="adj" fmla="val 14545"/>
            </a:avLst>
          </a:prstGeom>
          <a:solidFill>
            <a:schemeClr val="tx2"/>
          </a:solidFill>
          <a:ln w="12700">
            <a:solidFill>
              <a:srgbClr val="FFFFFF">
                <a:alpha val="0"/>
              </a:srgbClr>
            </a:solidFill>
            <a:prstDash val="solid"/>
          </a:ln>
        </p:spPr>
      </p:sp>
      <p:sp>
        <p:nvSpPr>
          <p:cNvPr id="29" name="Text 26"/>
          <p:cNvSpPr txBox="1"/>
          <p:nvPr/>
        </p:nvSpPr>
        <p:spPr>
          <a:xfrm>
            <a:off x="822960" y="5715000"/>
            <a:ext cx="10607040" cy="502920"/>
          </a:xfrm>
          <a:prstGeom prst="rect">
            <a:avLst/>
          </a:prstGeom>
          <a:noFill/>
          <a:ln/>
        </p:spPr>
        <p:txBody>
          <a:bodyPr wrap="square" lIns="0" tIns="0" rIns="0" bIns="0" rtlCol="0" anchor="ctr"/>
          <a:lstStyle/>
          <a:p>
            <a:pPr algn="l" indent="0" marL="0">
              <a:buNone/>
            </a:pPr>
            <a:r>
              <a:rPr lang="en-US" sz="1600" dirty="0">
                <a:solidFill>
                  <a:schemeClr val="bg1"/>
                </a:solidFill>
              </a:rPr>
              <a:t>Pour raconter les </a:t>
            </a:r>
            <a:r>
              <a:rPr lang="en-US" sz="1600" b="1" dirty="0">
                <a:solidFill>
                  <a:schemeClr val="bg1"/>
                </a:solidFill>
              </a:rPr>
              <a:t>détails</a:t>
            </a:r>
            <a:r>
              <a:rPr lang="en-US" sz="1600" dirty="0">
                <a:solidFill>
                  <a:schemeClr val="bg1"/>
                </a:solidFill>
              </a:rPr>
              <a:t> d’une histoire (quand, où, comment) : </a:t>
            </a:r>
            <a:r>
              <a:rPr lang="en-US" sz="1600" b="1" dirty="0">
                <a:solidFill>
                  <a:schemeClr val="bg1"/>
                </a:solidFill>
              </a:rPr>
              <a:t>past simple</a:t>
            </a:r>
            <a:r>
              <a:rPr lang="en-US" sz="1600" dirty="0">
                <a:solidFill>
                  <a:schemeClr val="bg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In a conversation: news first, then details</a:t>
            </a:r>
            <a:endParaRPr lang="en-US" sz="3000" dirty="0"/>
          </a:p>
        </p:txBody>
      </p:sp>
      <p:sp>
        <p:nvSpPr>
          <p:cNvPr id="3" name="tag"/>
          <p:cNvSpPr/>
          <p:nvPr/>
        </p:nvSpPr>
        <p:spPr>
          <a:xfrm>
            <a:off x="548640" y="237744"/>
            <a:ext cx="1444752"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COMPARISON</a:t>
            </a:r>
            <a:endParaRPr lang="en-US" sz="1200" dirty="0"/>
          </a:p>
        </p:txBody>
      </p:sp>
      <p:sp>
        <p:nvSpPr>
          <p:cNvPr id="5" name="Shape 2"/>
          <p:cNvSpPr/>
          <p:nvPr/>
        </p:nvSpPr>
        <p:spPr>
          <a:xfrm>
            <a:off x="822960" y="1463040"/>
            <a:ext cx="5669280" cy="530352"/>
          </a:xfrm>
          <a:prstGeom prst="roundRect">
            <a:avLst>
              <a:gd name="adj" fmla="val 34483"/>
            </a:avLst>
          </a:prstGeom>
          <a:solidFill>
            <a:srgbClr val="EAF2FB"/>
          </a:solidFill>
          <a:ln w="15875">
            <a:solidFill>
              <a:srgbClr val="2A6FB0"/>
            </a:solidFill>
            <a:prstDash val="solid"/>
          </a:ln>
        </p:spPr>
      </p:sp>
      <p:sp>
        <p:nvSpPr>
          <p:cNvPr id="6" name="Text 3"/>
          <p:cNvSpPr txBox="1"/>
          <p:nvPr/>
        </p:nvSpPr>
        <p:spPr>
          <a:xfrm>
            <a:off x="502920" y="1463040"/>
            <a:ext cx="274320" cy="530352"/>
          </a:xfrm>
          <a:prstGeom prst="rect">
            <a:avLst/>
          </a:prstGeom>
          <a:noFill/>
          <a:ln/>
        </p:spPr>
        <p:txBody>
          <a:bodyPr wrap="square" lIns="0" tIns="0" rIns="0" bIns="0" rtlCol="0" anchor="ctr"/>
          <a:lstStyle/>
          <a:p>
            <a:pPr algn="ctr" indent="0" marL="0">
              <a:buNone/>
            </a:pPr>
            <a:r>
              <a:rPr lang="en-US" sz="1300" b="1" dirty="0">
                <a:solidFill>
                  <a:schemeClr val="accent2"/>
                </a:solidFill>
              </a:rPr>
              <a:t>A</a:t>
            </a:r>
            <a:endParaRPr lang="en-US" sz="1300" dirty="0"/>
          </a:p>
        </p:txBody>
      </p:sp>
      <p:sp>
        <p:nvSpPr>
          <p:cNvPr id="7" name="Text 4"/>
          <p:cNvSpPr txBox="1"/>
          <p:nvPr/>
        </p:nvSpPr>
        <p:spPr>
          <a:xfrm>
            <a:off x="1005840" y="1463040"/>
            <a:ext cx="5303520" cy="530352"/>
          </a:xfrm>
          <a:prstGeom prst="rect">
            <a:avLst/>
          </a:prstGeom>
          <a:noFill/>
          <a:ln/>
        </p:spPr>
        <p:txBody>
          <a:bodyPr wrap="square" lIns="0" tIns="0" rIns="0" bIns="0" rtlCol="0" anchor="ctr"/>
          <a:lstStyle/>
          <a:p>
            <a:pPr algn="l" indent="0" marL="0">
              <a:buNone/>
            </a:pPr>
            <a:r>
              <a:rPr lang="en-US" sz="1700" i="1" dirty="0">
                <a:solidFill>
                  <a:schemeClr val="tx1"/>
                </a:solidFill>
              </a:rPr>
              <a:t>Have you ever been to Italy?</a:t>
            </a:r>
            <a:endParaRPr lang="en-US" sz="1700" dirty="0"/>
          </a:p>
        </p:txBody>
      </p:sp>
      <p:sp>
        <p:nvSpPr>
          <p:cNvPr id="8" name="Shape 5"/>
          <p:cNvSpPr/>
          <p:nvPr/>
        </p:nvSpPr>
        <p:spPr>
          <a:xfrm>
            <a:off x="2194560" y="2084832"/>
            <a:ext cx="5669280" cy="530352"/>
          </a:xfrm>
          <a:prstGeom prst="roundRect">
            <a:avLst>
              <a:gd name="adj" fmla="val 34483"/>
            </a:avLst>
          </a:prstGeom>
          <a:solidFill>
            <a:srgbClr val="EAF2FB"/>
          </a:solidFill>
          <a:ln w="15875">
            <a:solidFill>
              <a:srgbClr val="2A6FB0"/>
            </a:solidFill>
            <a:prstDash val="solid"/>
          </a:ln>
        </p:spPr>
      </p:sp>
      <p:sp>
        <p:nvSpPr>
          <p:cNvPr id="9" name="Text 6"/>
          <p:cNvSpPr txBox="1"/>
          <p:nvPr/>
        </p:nvSpPr>
        <p:spPr>
          <a:xfrm>
            <a:off x="1874520" y="2084832"/>
            <a:ext cx="274320" cy="530352"/>
          </a:xfrm>
          <a:prstGeom prst="rect">
            <a:avLst/>
          </a:prstGeom>
          <a:noFill/>
          <a:ln/>
        </p:spPr>
        <p:txBody>
          <a:bodyPr wrap="square" lIns="0" tIns="0" rIns="0" bIns="0" rtlCol="0" anchor="ctr"/>
          <a:lstStyle/>
          <a:p>
            <a:pPr algn="ctr" indent="0" marL="0">
              <a:buNone/>
            </a:pPr>
            <a:r>
              <a:rPr lang="en-US" sz="1300" b="1" dirty="0">
                <a:solidFill>
                  <a:schemeClr val="accent2"/>
                </a:solidFill>
              </a:rPr>
              <a:t>B</a:t>
            </a:r>
            <a:endParaRPr lang="en-US" sz="1300" dirty="0"/>
          </a:p>
        </p:txBody>
      </p:sp>
      <p:sp>
        <p:nvSpPr>
          <p:cNvPr id="10" name="Text 7"/>
          <p:cNvSpPr txBox="1"/>
          <p:nvPr/>
        </p:nvSpPr>
        <p:spPr>
          <a:xfrm>
            <a:off x="2377440" y="2084832"/>
            <a:ext cx="5303520" cy="530352"/>
          </a:xfrm>
          <a:prstGeom prst="rect">
            <a:avLst/>
          </a:prstGeom>
          <a:noFill/>
          <a:ln/>
        </p:spPr>
        <p:txBody>
          <a:bodyPr wrap="square" lIns="0" tIns="0" rIns="0" bIns="0" rtlCol="0" anchor="ctr"/>
          <a:lstStyle/>
          <a:p>
            <a:pPr algn="l" indent="0" marL="0">
              <a:buNone/>
            </a:pPr>
            <a:r>
              <a:rPr lang="en-US" sz="1700" i="1" dirty="0">
                <a:solidFill>
                  <a:schemeClr val="tx1"/>
                </a:solidFill>
              </a:rPr>
              <a:t>Yes, I have. I’ve been there twice.</a:t>
            </a:r>
            <a:endParaRPr lang="en-US" sz="1700" dirty="0"/>
          </a:p>
        </p:txBody>
      </p:sp>
      <p:sp>
        <p:nvSpPr>
          <p:cNvPr id="11" name="Shape 8"/>
          <p:cNvSpPr/>
          <p:nvPr/>
        </p:nvSpPr>
        <p:spPr>
          <a:xfrm>
            <a:off x="822960" y="2706624"/>
            <a:ext cx="5669280" cy="530352"/>
          </a:xfrm>
          <a:prstGeom prst="roundRect">
            <a:avLst>
              <a:gd name="adj" fmla="val 34483"/>
            </a:avLst>
          </a:prstGeom>
          <a:solidFill>
            <a:srgbClr val="FBEAF2"/>
          </a:solidFill>
          <a:ln w="15875">
            <a:solidFill>
              <a:srgbClr val="B4236A"/>
            </a:solidFill>
            <a:prstDash val="solid"/>
          </a:ln>
        </p:spPr>
      </p:sp>
      <p:sp>
        <p:nvSpPr>
          <p:cNvPr id="12" name="Text 9"/>
          <p:cNvSpPr txBox="1"/>
          <p:nvPr/>
        </p:nvSpPr>
        <p:spPr>
          <a:xfrm>
            <a:off x="502920" y="2706624"/>
            <a:ext cx="274320" cy="530352"/>
          </a:xfrm>
          <a:prstGeom prst="rect">
            <a:avLst/>
          </a:prstGeom>
          <a:noFill/>
          <a:ln/>
        </p:spPr>
        <p:txBody>
          <a:bodyPr wrap="square" lIns="0" tIns="0" rIns="0" bIns="0" rtlCol="0" anchor="ctr"/>
          <a:lstStyle/>
          <a:p>
            <a:pPr algn="ctr" indent="0" marL="0">
              <a:buNone/>
            </a:pPr>
            <a:r>
              <a:rPr lang="en-US" sz="1300" b="1" dirty="0">
                <a:solidFill>
                  <a:schemeClr val="accent4"/>
                </a:solidFill>
              </a:rPr>
              <a:t>A</a:t>
            </a:r>
            <a:endParaRPr lang="en-US" sz="1300" dirty="0"/>
          </a:p>
        </p:txBody>
      </p:sp>
      <p:sp>
        <p:nvSpPr>
          <p:cNvPr id="13" name="Text 10"/>
          <p:cNvSpPr txBox="1"/>
          <p:nvPr/>
        </p:nvSpPr>
        <p:spPr>
          <a:xfrm>
            <a:off x="1005840" y="2706624"/>
            <a:ext cx="5303520" cy="530352"/>
          </a:xfrm>
          <a:prstGeom prst="rect">
            <a:avLst/>
          </a:prstGeom>
          <a:noFill/>
          <a:ln/>
        </p:spPr>
        <p:txBody>
          <a:bodyPr wrap="square" lIns="0" tIns="0" rIns="0" bIns="0" rtlCol="0" anchor="ctr"/>
          <a:lstStyle/>
          <a:p>
            <a:pPr algn="l" indent="0" marL="0">
              <a:buNone/>
            </a:pPr>
            <a:r>
              <a:rPr lang="en-US" sz="1700" i="1" dirty="0">
                <a:solidFill>
                  <a:schemeClr val="tx1"/>
                </a:solidFill>
              </a:rPr>
              <a:t>When did you last go?</a:t>
            </a:r>
            <a:endParaRPr lang="en-US" sz="1700" dirty="0"/>
          </a:p>
        </p:txBody>
      </p:sp>
      <p:sp>
        <p:nvSpPr>
          <p:cNvPr id="14" name="Shape 11"/>
          <p:cNvSpPr/>
          <p:nvPr/>
        </p:nvSpPr>
        <p:spPr>
          <a:xfrm>
            <a:off x="2194560" y="3328416"/>
            <a:ext cx="5669280" cy="530352"/>
          </a:xfrm>
          <a:prstGeom prst="roundRect">
            <a:avLst>
              <a:gd name="adj" fmla="val 34483"/>
            </a:avLst>
          </a:prstGeom>
          <a:solidFill>
            <a:srgbClr val="FBEAF2"/>
          </a:solidFill>
          <a:ln w="15875">
            <a:solidFill>
              <a:srgbClr val="B4236A"/>
            </a:solidFill>
            <a:prstDash val="solid"/>
          </a:ln>
        </p:spPr>
      </p:sp>
      <p:sp>
        <p:nvSpPr>
          <p:cNvPr id="15" name="Text 12"/>
          <p:cNvSpPr txBox="1"/>
          <p:nvPr/>
        </p:nvSpPr>
        <p:spPr>
          <a:xfrm>
            <a:off x="1874520" y="3328416"/>
            <a:ext cx="274320" cy="530352"/>
          </a:xfrm>
          <a:prstGeom prst="rect">
            <a:avLst/>
          </a:prstGeom>
          <a:noFill/>
          <a:ln/>
        </p:spPr>
        <p:txBody>
          <a:bodyPr wrap="square" lIns="0" tIns="0" rIns="0" bIns="0" rtlCol="0" anchor="ctr"/>
          <a:lstStyle/>
          <a:p>
            <a:pPr algn="ctr" indent="0" marL="0">
              <a:buNone/>
            </a:pPr>
            <a:r>
              <a:rPr lang="en-US" sz="1300" b="1" dirty="0">
                <a:solidFill>
                  <a:schemeClr val="accent4"/>
                </a:solidFill>
              </a:rPr>
              <a:t>B</a:t>
            </a:r>
            <a:endParaRPr lang="en-US" sz="1300" dirty="0"/>
          </a:p>
        </p:txBody>
      </p:sp>
      <p:sp>
        <p:nvSpPr>
          <p:cNvPr id="16" name="Text 13"/>
          <p:cNvSpPr txBox="1"/>
          <p:nvPr/>
        </p:nvSpPr>
        <p:spPr>
          <a:xfrm>
            <a:off x="2377440" y="3328416"/>
            <a:ext cx="5303520" cy="530352"/>
          </a:xfrm>
          <a:prstGeom prst="rect">
            <a:avLst/>
          </a:prstGeom>
          <a:noFill/>
          <a:ln/>
        </p:spPr>
        <p:txBody>
          <a:bodyPr wrap="square" lIns="0" tIns="0" rIns="0" bIns="0" rtlCol="0" anchor="ctr"/>
          <a:lstStyle/>
          <a:p>
            <a:pPr algn="l" indent="0" marL="0">
              <a:buNone/>
            </a:pPr>
            <a:r>
              <a:rPr lang="en-US" sz="1700" i="1" dirty="0">
                <a:solidFill>
                  <a:schemeClr val="tx1"/>
                </a:solidFill>
              </a:rPr>
              <a:t>I went there last summer.</a:t>
            </a:r>
            <a:endParaRPr lang="en-US" sz="1700" dirty="0"/>
          </a:p>
        </p:txBody>
      </p:sp>
      <p:sp>
        <p:nvSpPr>
          <p:cNvPr id="17" name="Shape 14"/>
          <p:cNvSpPr/>
          <p:nvPr/>
        </p:nvSpPr>
        <p:spPr>
          <a:xfrm>
            <a:off x="822960" y="3950208"/>
            <a:ext cx="5669280" cy="530352"/>
          </a:xfrm>
          <a:prstGeom prst="roundRect">
            <a:avLst>
              <a:gd name="adj" fmla="val 34483"/>
            </a:avLst>
          </a:prstGeom>
          <a:solidFill>
            <a:srgbClr val="FBEAF2"/>
          </a:solidFill>
          <a:ln w="15875">
            <a:solidFill>
              <a:srgbClr val="B4236A"/>
            </a:solidFill>
            <a:prstDash val="solid"/>
          </a:ln>
        </p:spPr>
      </p:sp>
      <p:sp>
        <p:nvSpPr>
          <p:cNvPr id="18" name="Text 15"/>
          <p:cNvSpPr txBox="1"/>
          <p:nvPr/>
        </p:nvSpPr>
        <p:spPr>
          <a:xfrm>
            <a:off x="502920" y="3950208"/>
            <a:ext cx="274320" cy="530352"/>
          </a:xfrm>
          <a:prstGeom prst="rect">
            <a:avLst/>
          </a:prstGeom>
          <a:noFill/>
          <a:ln/>
        </p:spPr>
        <p:txBody>
          <a:bodyPr wrap="square" lIns="0" tIns="0" rIns="0" bIns="0" rtlCol="0" anchor="ctr"/>
          <a:lstStyle/>
          <a:p>
            <a:pPr algn="ctr" indent="0" marL="0">
              <a:buNone/>
            </a:pPr>
            <a:r>
              <a:rPr lang="en-US" sz="1300" b="1" dirty="0">
                <a:solidFill>
                  <a:schemeClr val="accent4"/>
                </a:solidFill>
              </a:rPr>
              <a:t>A</a:t>
            </a:r>
            <a:endParaRPr lang="en-US" sz="1300" dirty="0"/>
          </a:p>
        </p:txBody>
      </p:sp>
      <p:sp>
        <p:nvSpPr>
          <p:cNvPr id="19" name="Text 16"/>
          <p:cNvSpPr txBox="1"/>
          <p:nvPr/>
        </p:nvSpPr>
        <p:spPr>
          <a:xfrm>
            <a:off x="1005840" y="3950208"/>
            <a:ext cx="5303520" cy="530352"/>
          </a:xfrm>
          <a:prstGeom prst="rect">
            <a:avLst/>
          </a:prstGeom>
          <a:noFill/>
          <a:ln/>
        </p:spPr>
        <p:txBody>
          <a:bodyPr wrap="square" lIns="0" tIns="0" rIns="0" bIns="0" rtlCol="0" anchor="ctr"/>
          <a:lstStyle/>
          <a:p>
            <a:pPr algn="l" indent="0" marL="0">
              <a:buNone/>
            </a:pPr>
            <a:r>
              <a:rPr lang="en-US" sz="1700" i="1" dirty="0">
                <a:solidFill>
                  <a:schemeClr val="tx1"/>
                </a:solidFill>
              </a:rPr>
              <a:t>Did you like it?</a:t>
            </a:r>
            <a:endParaRPr lang="en-US" sz="1700" dirty="0"/>
          </a:p>
        </p:txBody>
      </p:sp>
      <p:sp>
        <p:nvSpPr>
          <p:cNvPr id="20" name="Shape 17"/>
          <p:cNvSpPr/>
          <p:nvPr/>
        </p:nvSpPr>
        <p:spPr>
          <a:xfrm>
            <a:off x="2194560" y="4572000"/>
            <a:ext cx="5669280" cy="530352"/>
          </a:xfrm>
          <a:prstGeom prst="roundRect">
            <a:avLst>
              <a:gd name="adj" fmla="val 34483"/>
            </a:avLst>
          </a:prstGeom>
          <a:solidFill>
            <a:srgbClr val="FBEAF2"/>
          </a:solidFill>
          <a:ln w="15875">
            <a:solidFill>
              <a:srgbClr val="B4236A"/>
            </a:solidFill>
            <a:prstDash val="solid"/>
          </a:ln>
        </p:spPr>
      </p:sp>
      <p:sp>
        <p:nvSpPr>
          <p:cNvPr id="21" name="Text 18"/>
          <p:cNvSpPr txBox="1"/>
          <p:nvPr/>
        </p:nvSpPr>
        <p:spPr>
          <a:xfrm>
            <a:off x="1874520" y="4572000"/>
            <a:ext cx="274320" cy="530352"/>
          </a:xfrm>
          <a:prstGeom prst="rect">
            <a:avLst/>
          </a:prstGeom>
          <a:noFill/>
          <a:ln/>
        </p:spPr>
        <p:txBody>
          <a:bodyPr wrap="square" lIns="0" tIns="0" rIns="0" bIns="0" rtlCol="0" anchor="ctr"/>
          <a:lstStyle/>
          <a:p>
            <a:pPr algn="ctr" indent="0" marL="0">
              <a:buNone/>
            </a:pPr>
            <a:r>
              <a:rPr lang="en-US" sz="1300" b="1" dirty="0">
                <a:solidFill>
                  <a:schemeClr val="accent4"/>
                </a:solidFill>
              </a:rPr>
              <a:t>B</a:t>
            </a:r>
            <a:endParaRPr lang="en-US" sz="1300" dirty="0"/>
          </a:p>
        </p:txBody>
      </p:sp>
      <p:sp>
        <p:nvSpPr>
          <p:cNvPr id="22" name="Text 19"/>
          <p:cNvSpPr txBox="1"/>
          <p:nvPr/>
        </p:nvSpPr>
        <p:spPr>
          <a:xfrm>
            <a:off x="2377440" y="4572000"/>
            <a:ext cx="5303520" cy="530352"/>
          </a:xfrm>
          <a:prstGeom prst="rect">
            <a:avLst/>
          </a:prstGeom>
          <a:noFill/>
          <a:ln/>
        </p:spPr>
        <p:txBody>
          <a:bodyPr wrap="square" lIns="0" tIns="0" rIns="0" bIns="0" rtlCol="0" anchor="ctr"/>
          <a:lstStyle/>
          <a:p>
            <a:pPr algn="l" indent="0" marL="0">
              <a:buNone/>
            </a:pPr>
            <a:r>
              <a:rPr lang="en-US" sz="1700" i="1" dirty="0">
                <a:solidFill>
                  <a:schemeClr val="tx1"/>
                </a:solidFill>
              </a:rPr>
              <a:t>Yes! We ate pizza every day!</a:t>
            </a:r>
            <a:endParaRPr lang="en-US" sz="1700" dirty="0"/>
          </a:p>
        </p:txBody>
      </p:sp>
      <p:sp>
        <p:nvSpPr>
          <p:cNvPr id="23" name="Shape 20"/>
          <p:cNvSpPr/>
          <p:nvPr/>
        </p:nvSpPr>
        <p:spPr>
          <a:xfrm>
            <a:off x="8229600" y="1463040"/>
            <a:ext cx="109728" cy="1188720"/>
          </a:xfrm>
          <a:prstGeom prst="rect">
            <a:avLst/>
          </a:prstGeom>
          <a:solidFill>
            <a:schemeClr val="accent2"/>
          </a:solidFill>
          <a:ln w="12700">
            <a:solidFill>
              <a:srgbClr val="FFFFFF">
                <a:alpha val="0"/>
              </a:srgbClr>
            </a:solidFill>
            <a:prstDash val="solid"/>
          </a:ln>
        </p:spPr>
      </p:sp>
      <p:sp>
        <p:nvSpPr>
          <p:cNvPr id="24" name="Text 21"/>
          <p:cNvSpPr txBox="1"/>
          <p:nvPr/>
        </p:nvSpPr>
        <p:spPr>
          <a:xfrm>
            <a:off x="8458200" y="1463040"/>
            <a:ext cx="3154680" cy="1188720"/>
          </a:xfrm>
          <a:prstGeom prst="rect">
            <a:avLst/>
          </a:prstGeom>
          <a:noFill/>
          <a:ln/>
        </p:spPr>
        <p:txBody>
          <a:bodyPr wrap="square" lIns="0" tIns="0" rIns="0" bIns="0" rtlCol="0" anchor="ctr"/>
          <a:lstStyle/>
          <a:p>
            <a:pPr algn="l" indent="0" marL="0">
              <a:buNone/>
            </a:pPr>
            <a:r>
              <a:rPr lang="en-US" sz="1500" b="1" dirty="0">
                <a:solidFill>
                  <a:schemeClr val="accent2"/>
                </a:solidFill>
              </a:rPr>
              <a:t>NEWS</a:t>
            </a:r>
            <a:endParaRPr lang="en-US" sz="1500" dirty="0"/>
          </a:p>
          <a:p>
            <a:pPr algn="l" indent="0" marL="0">
              <a:buNone/>
            </a:pPr>
            <a:r>
              <a:rPr lang="en-US" sz="1500" dirty="0">
                <a:solidFill>
                  <a:schemeClr val="accent2"/>
                </a:solidFill>
              </a:rPr>
              <a:t>present perfect</a:t>
            </a:r>
            <a:endParaRPr lang="en-US" sz="1500" dirty="0"/>
          </a:p>
          <a:p>
            <a:pPr algn="l" indent="0" marL="0">
              <a:buNone/>
            </a:pPr>
            <a:r>
              <a:rPr lang="en-US" sz="1500" i="1" dirty="0">
                <a:solidFill>
                  <a:schemeClr val="accent2"/>
                </a:solidFill>
              </a:rPr>
              <a:t>(no date)</a:t>
            </a:r>
            <a:endParaRPr lang="en-US" sz="1500" dirty="0"/>
          </a:p>
        </p:txBody>
      </p:sp>
      <p:sp>
        <p:nvSpPr>
          <p:cNvPr id="25" name="Shape 22"/>
          <p:cNvSpPr/>
          <p:nvPr/>
        </p:nvSpPr>
        <p:spPr>
          <a:xfrm>
            <a:off x="8284464" y="2697480"/>
            <a:ext cx="914" cy="594360"/>
          </a:xfrm>
          <a:prstGeom prst="line">
            <a:avLst/>
          </a:prstGeom>
          <a:noFill/>
          <a:ln w="25400">
            <a:solidFill>
              <a:srgbClr val="8A96A8"/>
            </a:solidFill>
            <a:prstDash val="solid"/>
            <a:tailEnd type="triangle"/>
          </a:ln>
        </p:spPr>
      </p:sp>
      <p:sp>
        <p:nvSpPr>
          <p:cNvPr id="26" name="Shape 23"/>
          <p:cNvSpPr/>
          <p:nvPr/>
        </p:nvSpPr>
        <p:spPr>
          <a:xfrm>
            <a:off x="8229600" y="3291840"/>
            <a:ext cx="109728" cy="1828800"/>
          </a:xfrm>
          <a:prstGeom prst="rect">
            <a:avLst/>
          </a:prstGeom>
          <a:solidFill>
            <a:schemeClr val="accent4"/>
          </a:solidFill>
          <a:ln w="12700">
            <a:solidFill>
              <a:srgbClr val="FFFFFF">
                <a:alpha val="0"/>
              </a:srgbClr>
            </a:solidFill>
            <a:prstDash val="solid"/>
          </a:ln>
        </p:spPr>
      </p:sp>
      <p:sp>
        <p:nvSpPr>
          <p:cNvPr id="27" name="Text 24"/>
          <p:cNvSpPr txBox="1"/>
          <p:nvPr/>
        </p:nvSpPr>
        <p:spPr>
          <a:xfrm>
            <a:off x="8458200" y="3291840"/>
            <a:ext cx="3154680" cy="1828800"/>
          </a:xfrm>
          <a:prstGeom prst="rect">
            <a:avLst/>
          </a:prstGeom>
          <a:noFill/>
          <a:ln/>
        </p:spPr>
        <p:txBody>
          <a:bodyPr wrap="square" lIns="0" tIns="0" rIns="0" bIns="0" rtlCol="0" anchor="ctr"/>
          <a:lstStyle/>
          <a:p>
            <a:pPr algn="l" indent="0" marL="0">
              <a:buNone/>
            </a:pPr>
            <a:r>
              <a:rPr lang="en-US" sz="1500" b="1" dirty="0">
                <a:solidFill>
                  <a:schemeClr val="accent4"/>
                </a:solidFill>
              </a:rPr>
              <a:t>DETAILS</a:t>
            </a:r>
            <a:endParaRPr lang="en-US" sz="1500" dirty="0"/>
          </a:p>
          <a:p>
            <a:pPr algn="l" indent="0" marL="0">
              <a:buNone/>
            </a:pPr>
            <a:r>
              <a:rPr lang="en-US" sz="1500" dirty="0">
                <a:solidFill>
                  <a:schemeClr val="accent4"/>
                </a:solidFill>
              </a:rPr>
              <a:t>past simple</a:t>
            </a:r>
            <a:endParaRPr lang="en-US" sz="1500" dirty="0"/>
          </a:p>
          <a:p>
            <a:pPr algn="l" indent="0" marL="0">
              <a:buNone/>
            </a:pPr>
            <a:r>
              <a:rPr lang="en-US" sz="1500" i="1" dirty="0">
                <a:solidFill>
                  <a:schemeClr val="accent4"/>
                </a:solidFill>
              </a:rPr>
              <a:t>when? where? how?</a:t>
            </a:r>
            <a:endParaRPr lang="en-US" sz="1500" dirty="0"/>
          </a:p>
        </p:txBody>
      </p:sp>
      <p:sp>
        <p:nvSpPr>
          <p:cNvPr id="28" name="Shape 25"/>
          <p:cNvSpPr/>
          <p:nvPr/>
        </p:nvSpPr>
        <p:spPr>
          <a:xfrm>
            <a:off x="548640" y="5349240"/>
            <a:ext cx="11091672" cy="822960"/>
          </a:xfrm>
          <a:prstGeom prst="roundRect">
            <a:avLst>
              <a:gd name="adj" fmla="val 13333"/>
            </a:avLst>
          </a:prstGeom>
          <a:solidFill>
            <a:schemeClr val="bg2"/>
          </a:solidFill>
          <a:ln w="12700">
            <a:solidFill>
              <a:srgbClr val="D5DCE6"/>
            </a:solidFill>
            <a:prstDash val="solid"/>
          </a:ln>
        </p:spPr>
      </p:sp>
      <p:pic>
        <p:nvPicPr>
          <p:cNvPr id="29" name="Image 0" descr="newspaper">    </p:cNvPr>
          <p:cNvPicPr>
            <a:picLocks noChangeAspect="1"/>
          </p:cNvPicPr>
          <p:nvPr/>
        </p:nvPicPr>
        <p:blipFill>
          <a:blip r:embed="rId1"/>
          <a:stretch>
            <a:fillRect/>
          </a:stretch>
        </p:blipFill>
        <p:spPr>
          <a:xfrm>
            <a:off x="685800" y="5413248"/>
            <a:ext cx="685800" cy="685800"/>
          </a:xfrm>
          <a:prstGeom prst="rect">
            <a:avLst/>
          </a:prstGeom>
        </p:spPr>
      </p:pic>
      <p:sp>
        <p:nvSpPr>
          <p:cNvPr id="30" name="Text 26"/>
          <p:cNvSpPr txBox="1"/>
          <p:nvPr/>
        </p:nvSpPr>
        <p:spPr>
          <a:xfrm>
            <a:off x="1508760" y="5349240"/>
            <a:ext cx="10058400" cy="822960"/>
          </a:xfrm>
          <a:prstGeom prst="rect">
            <a:avLst/>
          </a:prstGeom>
          <a:noFill/>
          <a:ln/>
        </p:spPr>
        <p:txBody>
          <a:bodyPr wrap="square" lIns="0" tIns="0" rIns="0" bIns="0" rtlCol="0" anchor="ctr"/>
          <a:lstStyle/>
          <a:p>
            <a:pPr algn="l" indent="0" marL="0">
              <a:buNone/>
            </a:pPr>
            <a:r>
              <a:rPr lang="en-US" sz="1500" i="1" dirty="0">
                <a:solidFill>
                  <a:schemeClr val="tx1"/>
                </a:solidFill>
              </a:rPr>
              <a:t>News: A fire </a:t>
            </a:r>
            <a:r>
              <a:rPr lang="en-US" sz="1500" b="1" i="1" dirty="0">
                <a:solidFill>
                  <a:srgbClr val="2A6FB0"/>
                </a:solidFill>
              </a:rPr>
              <a:t>has destroyed</a:t>
            </a:r>
            <a:r>
              <a:rPr lang="en-US" sz="1500" i="1" dirty="0">
                <a:solidFill>
                  <a:schemeClr val="tx1"/>
                </a:solidFill>
              </a:rPr>
              <a:t> a school in Leeds. — </a:t>
            </a:r>
            <a:r>
              <a:rPr lang="en-US" sz="1500" i="1" dirty="0">
                <a:solidFill>
                  <a:schemeClr val="tx1"/>
                </a:solidFill>
              </a:rPr>
              <a:t>The fire </a:t>
            </a:r>
            <a:r>
              <a:rPr lang="en-US" sz="1500" b="1" i="1" dirty="0">
                <a:solidFill>
                  <a:srgbClr val="B4236A"/>
                </a:solidFill>
              </a:rPr>
              <a:t>started</a:t>
            </a:r>
            <a:r>
              <a:rPr lang="en-US" sz="1500" i="1" dirty="0">
                <a:solidFill>
                  <a:schemeClr val="tx1"/>
                </a:solidFill>
              </a:rPr>
              <a:t> </a:t>
            </a:r>
            <a:r>
              <a:rPr lang="en-US" sz="1500" b="1" i="1" dirty="0">
                <a:solidFill>
                  <a:srgbClr val="D9700F"/>
                </a:solidFill>
              </a:rPr>
              <a:t>at 3 a.m.</a:t>
            </a:r>
            <a:r>
              <a:rPr lang="en-US" sz="1500" i="1" dirty="0">
                <a:solidFill>
                  <a:schemeClr val="tx1"/>
                </a:solidFill>
              </a:rPr>
              <a:t> and firefighters </a:t>
            </a:r>
            <a:r>
              <a:rPr lang="en-US" sz="1500" b="1" i="1" dirty="0">
                <a:solidFill>
                  <a:srgbClr val="B4236A"/>
                </a:solidFill>
              </a:rPr>
              <a:t>arrived</a:t>
            </a:r>
            <a:r>
              <a:rPr lang="en-US" sz="1500" i="1" dirty="0">
                <a:solidFill>
                  <a:schemeClr val="tx1"/>
                </a:solidFill>
              </a:rPr>
              <a:t> </a:t>
            </a:r>
            <a:r>
              <a:rPr lang="en-US" sz="1500" b="1" i="1" dirty="0">
                <a:solidFill>
                  <a:srgbClr val="D9700F"/>
                </a:solidFill>
              </a:rPr>
              <a:t>ten minutes later</a:t>
            </a:r>
            <a:r>
              <a:rPr lang="en-US" sz="1500" i="1"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French passé composé ≠ English present perfect</a:t>
            </a:r>
            <a:endParaRPr lang="en-US" sz="3000" dirty="0"/>
          </a:p>
        </p:txBody>
      </p:sp>
      <p:sp>
        <p:nvSpPr>
          <p:cNvPr id="3" name="tag"/>
          <p:cNvSpPr/>
          <p:nvPr/>
        </p:nvSpPr>
        <p:spPr>
          <a:xfrm>
            <a:off x="548640" y="237744"/>
            <a:ext cx="1230782"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FR ≠ EN</a:t>
            </a:r>
            <a:endParaRPr lang="en-US" sz="1200" dirty="0"/>
          </a:p>
        </p:txBody>
      </p:sp>
      <p:sp>
        <p:nvSpPr>
          <p:cNvPr id="5" name="Shape 2"/>
          <p:cNvSpPr/>
          <p:nvPr/>
        </p:nvSpPr>
        <p:spPr>
          <a:xfrm>
            <a:off x="1463040" y="1417320"/>
            <a:ext cx="152400" cy="301752"/>
          </a:xfrm>
          <a:prstGeom prst="rect">
            <a:avLst/>
          </a:prstGeom>
          <a:solidFill>
            <a:srgbClr val="1F4FA3"/>
          </a:solidFill>
          <a:ln w="12700">
            <a:solidFill>
              <a:srgbClr val="FFFFFF">
                <a:alpha val="0"/>
              </a:srgbClr>
            </a:solidFill>
            <a:prstDash val="solid"/>
          </a:ln>
        </p:spPr>
      </p:sp>
      <p:sp>
        <p:nvSpPr>
          <p:cNvPr id="6" name="Shape 3"/>
          <p:cNvSpPr/>
          <p:nvPr/>
        </p:nvSpPr>
        <p:spPr>
          <a:xfrm>
            <a:off x="1615440" y="1417320"/>
            <a:ext cx="152400" cy="301752"/>
          </a:xfrm>
          <a:prstGeom prst="rect">
            <a:avLst/>
          </a:prstGeom>
          <a:solidFill>
            <a:srgbClr val="FFFFFF"/>
          </a:solidFill>
          <a:ln w="12700">
            <a:solidFill>
              <a:srgbClr val="FFFFFF">
                <a:alpha val="0"/>
              </a:srgbClr>
            </a:solidFill>
            <a:prstDash val="solid"/>
          </a:ln>
        </p:spPr>
      </p:sp>
      <p:sp>
        <p:nvSpPr>
          <p:cNvPr id="7" name="Shape 4"/>
          <p:cNvSpPr/>
          <p:nvPr/>
        </p:nvSpPr>
        <p:spPr>
          <a:xfrm>
            <a:off x="1767840" y="1417320"/>
            <a:ext cx="152400" cy="301752"/>
          </a:xfrm>
          <a:prstGeom prst="rect">
            <a:avLst/>
          </a:prstGeom>
          <a:solidFill>
            <a:srgbClr val="E2232A"/>
          </a:solidFill>
          <a:ln w="12700">
            <a:solidFill>
              <a:srgbClr val="FFFFFF">
                <a:alpha val="0"/>
              </a:srgbClr>
            </a:solidFill>
            <a:prstDash val="solid"/>
          </a:ln>
        </p:spPr>
      </p:sp>
      <p:sp>
        <p:nvSpPr>
          <p:cNvPr id="8" name="Shape 5"/>
          <p:cNvSpPr/>
          <p:nvPr/>
        </p:nvSpPr>
        <p:spPr>
          <a:xfrm>
            <a:off x="1463040" y="1417320"/>
            <a:ext cx="457200" cy="301752"/>
          </a:xfrm>
          <a:prstGeom prst="rect">
            <a:avLst/>
          </a:prstGeom>
          <a:noFill/>
          <a:ln w="9525">
            <a:solidFill>
              <a:srgbClr val="B8C2CF"/>
            </a:solidFill>
            <a:prstDash val="solid"/>
          </a:ln>
        </p:spPr>
      </p:sp>
      <p:sp>
        <p:nvSpPr>
          <p:cNvPr id="9" name="Shape 6"/>
          <p:cNvSpPr/>
          <p:nvPr/>
        </p:nvSpPr>
        <p:spPr>
          <a:xfrm>
            <a:off x="5943600" y="1417320"/>
            <a:ext cx="457200" cy="301752"/>
          </a:xfrm>
          <a:prstGeom prst="rect">
            <a:avLst/>
          </a:prstGeom>
          <a:solidFill>
            <a:srgbClr val="1F3B87"/>
          </a:solidFill>
          <a:ln w="12700">
            <a:solidFill>
              <a:srgbClr val="FFFFFF">
                <a:alpha val="0"/>
              </a:srgbClr>
            </a:solidFill>
            <a:prstDash val="solid"/>
          </a:ln>
        </p:spPr>
      </p:sp>
      <p:sp>
        <p:nvSpPr>
          <p:cNvPr id="10" name="Shape 7"/>
          <p:cNvSpPr/>
          <p:nvPr/>
        </p:nvSpPr>
        <p:spPr>
          <a:xfrm>
            <a:off x="5943600" y="1417320"/>
            <a:ext cx="457200" cy="301752"/>
          </a:xfrm>
          <a:custGeom>
            <a:avLst/>
            <a:gdLst/>
            <a:ahLst/>
            <a:cxnLst/>
            <a:rect l="l" t="t" r="r" b="b"/>
            <a:pathLst>
              <a:path w="457200" h="301752">
                <a:moveTo>
                  <a:pt x="0" y="0"/>
                </a:moveTo>
                <a:lnTo>
                  <a:pt x="50694" y="0"/>
                </a:lnTo>
                <a:lnTo>
                  <a:pt x="457200" y="265542"/>
                </a:lnTo>
                <a:lnTo>
                  <a:pt x="457200" y="301752"/>
                </a:lnTo>
                <a:lnTo>
                  <a:pt x="406506" y="301752"/>
                </a:lnTo>
                <a:lnTo>
                  <a:pt x="0" y="36210"/>
                </a:lnTo>
                <a:close/>
              </a:path>
            </a:pathLst>
          </a:custGeom>
          <a:solidFill>
            <a:srgbClr val="FFFFFF"/>
          </a:solidFill>
          <a:ln w="12700">
            <a:solidFill>
              <a:srgbClr val="FFFFFF">
                <a:alpha val="0"/>
              </a:srgbClr>
            </a:solidFill>
            <a:prstDash val="solid"/>
          </a:ln>
        </p:spPr>
      </p:sp>
      <p:sp>
        <p:nvSpPr>
          <p:cNvPr id="11" name="Shape 8"/>
          <p:cNvSpPr/>
          <p:nvPr/>
        </p:nvSpPr>
        <p:spPr>
          <a:xfrm>
            <a:off x="5943600" y="1417320"/>
            <a:ext cx="457200" cy="301752"/>
          </a:xfrm>
          <a:custGeom>
            <a:avLst/>
            <a:gdLst/>
            <a:ahLst/>
            <a:cxnLst/>
            <a:rect l="l" t="t" r="r" b="b"/>
            <a:pathLst>
              <a:path w="457200" h="301752">
                <a:moveTo>
                  <a:pt x="457200" y="0"/>
                </a:moveTo>
                <a:lnTo>
                  <a:pt x="457200" y="36210"/>
                </a:lnTo>
                <a:lnTo>
                  <a:pt x="50694" y="301752"/>
                </a:lnTo>
                <a:lnTo>
                  <a:pt x="0" y="301752"/>
                </a:lnTo>
                <a:lnTo>
                  <a:pt x="0" y="265542"/>
                </a:lnTo>
                <a:lnTo>
                  <a:pt x="406506" y="0"/>
                </a:lnTo>
                <a:close/>
              </a:path>
            </a:pathLst>
          </a:custGeom>
          <a:solidFill>
            <a:srgbClr val="FFFFFF"/>
          </a:solidFill>
          <a:ln w="12700">
            <a:solidFill>
              <a:srgbClr val="FFFFFF">
                <a:alpha val="0"/>
              </a:srgbClr>
            </a:solidFill>
            <a:prstDash val="solid"/>
          </a:ln>
        </p:spPr>
      </p:sp>
      <p:sp>
        <p:nvSpPr>
          <p:cNvPr id="12" name="Shape 9"/>
          <p:cNvSpPr/>
          <p:nvPr/>
        </p:nvSpPr>
        <p:spPr>
          <a:xfrm>
            <a:off x="6121506" y="1417320"/>
            <a:ext cx="101389" cy="301752"/>
          </a:xfrm>
          <a:prstGeom prst="rect">
            <a:avLst/>
          </a:prstGeom>
          <a:solidFill>
            <a:srgbClr val="FFFFFF"/>
          </a:solidFill>
          <a:ln w="12700">
            <a:solidFill>
              <a:srgbClr val="FFFFFF">
                <a:alpha val="0"/>
              </a:srgbClr>
            </a:solidFill>
            <a:prstDash val="solid"/>
          </a:ln>
        </p:spPr>
      </p:sp>
      <p:sp>
        <p:nvSpPr>
          <p:cNvPr id="13" name="Shape 10"/>
          <p:cNvSpPr/>
          <p:nvPr/>
        </p:nvSpPr>
        <p:spPr>
          <a:xfrm>
            <a:off x="5943600" y="1517502"/>
            <a:ext cx="457200" cy="101389"/>
          </a:xfrm>
          <a:prstGeom prst="rect">
            <a:avLst/>
          </a:prstGeom>
          <a:solidFill>
            <a:srgbClr val="FFFFFF"/>
          </a:solidFill>
          <a:ln w="12700">
            <a:solidFill>
              <a:srgbClr val="FFFFFF">
                <a:alpha val="0"/>
              </a:srgbClr>
            </a:solidFill>
            <a:prstDash val="solid"/>
          </a:ln>
        </p:spPr>
      </p:sp>
      <p:sp>
        <p:nvSpPr>
          <p:cNvPr id="14" name="Shape 11"/>
          <p:cNvSpPr/>
          <p:nvPr/>
        </p:nvSpPr>
        <p:spPr>
          <a:xfrm>
            <a:off x="6143232" y="1417320"/>
            <a:ext cx="57936" cy="301752"/>
          </a:xfrm>
          <a:prstGeom prst="rect">
            <a:avLst/>
          </a:prstGeom>
          <a:solidFill>
            <a:srgbClr val="C8102E"/>
          </a:solidFill>
          <a:ln w="12700">
            <a:solidFill>
              <a:srgbClr val="FFFFFF">
                <a:alpha val="0"/>
              </a:srgbClr>
            </a:solidFill>
            <a:prstDash val="solid"/>
          </a:ln>
        </p:spPr>
      </p:sp>
      <p:sp>
        <p:nvSpPr>
          <p:cNvPr id="15" name="Shape 12"/>
          <p:cNvSpPr/>
          <p:nvPr/>
        </p:nvSpPr>
        <p:spPr>
          <a:xfrm>
            <a:off x="5943600" y="1539228"/>
            <a:ext cx="457200" cy="57936"/>
          </a:xfrm>
          <a:prstGeom prst="rect">
            <a:avLst/>
          </a:prstGeom>
          <a:solidFill>
            <a:srgbClr val="C8102E"/>
          </a:solidFill>
          <a:ln w="12700">
            <a:solidFill>
              <a:srgbClr val="FFFFFF">
                <a:alpha val="0"/>
              </a:srgbClr>
            </a:solidFill>
            <a:prstDash val="solid"/>
          </a:ln>
        </p:spPr>
      </p:sp>
      <p:sp>
        <p:nvSpPr>
          <p:cNvPr id="16" name="Shape 13"/>
          <p:cNvSpPr/>
          <p:nvPr/>
        </p:nvSpPr>
        <p:spPr>
          <a:xfrm>
            <a:off x="5943600" y="1417320"/>
            <a:ext cx="457200" cy="301752"/>
          </a:xfrm>
          <a:prstGeom prst="rect">
            <a:avLst/>
          </a:prstGeom>
          <a:noFill/>
          <a:ln w="9525">
            <a:solidFill>
              <a:srgbClr val="B8C2CF"/>
            </a:solidFill>
            <a:prstDash val="solid"/>
          </a:ln>
        </p:spPr>
      </p:sp>
      <p:sp>
        <p:nvSpPr>
          <p:cNvPr id="17" name="Shape 14"/>
          <p:cNvSpPr/>
          <p:nvPr/>
        </p:nvSpPr>
        <p:spPr>
          <a:xfrm>
            <a:off x="548640" y="1828800"/>
            <a:ext cx="11091672" cy="548640"/>
          </a:xfrm>
          <a:prstGeom prst="roundRect">
            <a:avLst>
              <a:gd name="adj" fmla="val 13333"/>
            </a:avLst>
          </a:prstGeom>
          <a:solidFill>
            <a:schemeClr val="bg2"/>
          </a:solidFill>
          <a:ln w="12700">
            <a:solidFill>
              <a:srgbClr val="FFFFFF">
                <a:alpha val="0"/>
              </a:srgbClr>
            </a:solidFill>
            <a:prstDash val="solid"/>
          </a:ln>
        </p:spPr>
      </p:sp>
      <p:sp>
        <p:nvSpPr>
          <p:cNvPr id="18" name="Text 15"/>
          <p:cNvSpPr txBox="1"/>
          <p:nvPr/>
        </p:nvSpPr>
        <p:spPr>
          <a:xfrm>
            <a:off x="731520" y="1828800"/>
            <a:ext cx="4480560" cy="548640"/>
          </a:xfrm>
          <a:prstGeom prst="rect">
            <a:avLst/>
          </a:prstGeom>
          <a:noFill/>
          <a:ln/>
        </p:spPr>
        <p:txBody>
          <a:bodyPr wrap="square" lIns="0" tIns="0" rIns="0" bIns="0" rtlCol="0" anchor="ctr"/>
          <a:lstStyle/>
          <a:p>
            <a:pPr algn="l" indent="0" marL="0">
              <a:buNone/>
            </a:pPr>
            <a:r>
              <a:rPr lang="en-US" sz="1500" i="1" dirty="0">
                <a:solidFill>
                  <a:schemeClr val="tx2"/>
                </a:solidFill>
              </a:rPr>
              <a:t>« J’ai vu ce film hier. »</a:t>
            </a:r>
            <a:endParaRPr lang="en-US" sz="1500" dirty="0"/>
          </a:p>
        </p:txBody>
      </p:sp>
      <p:sp>
        <p:nvSpPr>
          <p:cNvPr id="19" name="Text 16"/>
          <p:cNvSpPr txBox="1"/>
          <p:nvPr/>
        </p:nvSpPr>
        <p:spPr>
          <a:xfrm>
            <a:off x="5166360" y="1828800"/>
            <a:ext cx="365760" cy="548640"/>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0" name="Text 17"/>
          <p:cNvSpPr txBox="1"/>
          <p:nvPr/>
        </p:nvSpPr>
        <p:spPr>
          <a:xfrm>
            <a:off x="5577840" y="1828800"/>
            <a:ext cx="4069080" cy="548640"/>
          </a:xfrm>
          <a:prstGeom prst="rect">
            <a:avLst/>
          </a:prstGeom>
          <a:noFill/>
          <a:ln/>
        </p:spPr>
        <p:txBody>
          <a:bodyPr wrap="square" lIns="0" tIns="0" rIns="0" bIns="0" rtlCol="0" anchor="ctr"/>
          <a:lstStyle/>
          <a:p>
            <a:pPr algn="l" indent="0" marL="0">
              <a:buNone/>
            </a:pPr>
            <a:r>
              <a:rPr lang="en-US" sz="1600" b="1" i="1" dirty="0">
                <a:solidFill>
                  <a:schemeClr val="accent4"/>
                </a:solidFill>
              </a:rPr>
              <a:t>I saw that film yesterday.</a:t>
            </a:r>
            <a:endParaRPr lang="en-US" sz="1600" dirty="0"/>
          </a:p>
        </p:txBody>
      </p:sp>
      <p:sp>
        <p:nvSpPr>
          <p:cNvPr id="21" name="Shape 18"/>
          <p:cNvSpPr/>
          <p:nvPr/>
        </p:nvSpPr>
        <p:spPr>
          <a:xfrm>
            <a:off x="9692640" y="1920240"/>
            <a:ext cx="1828800" cy="365760"/>
          </a:xfrm>
          <a:prstGeom prst="roundRect">
            <a:avLst>
              <a:gd name="adj" fmla="val 30000"/>
            </a:avLst>
          </a:prstGeom>
          <a:solidFill>
            <a:srgbClr val="FBEAF2"/>
          </a:solidFill>
          <a:ln w="19050">
            <a:solidFill>
              <a:srgbClr val="B4236A"/>
            </a:solidFill>
            <a:prstDash val="solid"/>
          </a:ln>
        </p:spPr>
      </p:sp>
      <p:sp>
        <p:nvSpPr>
          <p:cNvPr id="22" name="Text 19"/>
          <p:cNvSpPr txBox="1"/>
          <p:nvPr/>
        </p:nvSpPr>
        <p:spPr>
          <a:xfrm>
            <a:off x="9692640" y="1920240"/>
            <a:ext cx="1828800" cy="365760"/>
          </a:xfrm>
          <a:prstGeom prst="rect">
            <a:avLst/>
          </a:prstGeom>
          <a:noFill/>
          <a:ln/>
        </p:spPr>
        <p:txBody>
          <a:bodyPr wrap="square" lIns="0" tIns="0" rIns="0" bIns="0" rtlCol="0" anchor="ctr"/>
          <a:lstStyle/>
          <a:p>
            <a:pPr algn="ctr" indent="0" marL="0">
              <a:buNone/>
            </a:pPr>
            <a:r>
              <a:rPr lang="en-US" sz="1300" b="1" dirty="0">
                <a:solidFill>
                  <a:schemeClr val="accent4"/>
                </a:solidFill>
              </a:rPr>
              <a:t>hier → PS</a:t>
            </a:r>
            <a:endParaRPr lang="en-US" sz="1300" dirty="0"/>
          </a:p>
        </p:txBody>
      </p:sp>
      <p:sp>
        <p:nvSpPr>
          <p:cNvPr id="23" name="Shape 20"/>
          <p:cNvSpPr/>
          <p:nvPr/>
        </p:nvSpPr>
        <p:spPr>
          <a:xfrm>
            <a:off x="548640" y="2450592"/>
            <a:ext cx="11091672" cy="548640"/>
          </a:xfrm>
          <a:prstGeom prst="roundRect">
            <a:avLst>
              <a:gd name="adj" fmla="val 13333"/>
            </a:avLst>
          </a:prstGeom>
          <a:solidFill>
            <a:srgbClr val="FFFFFF"/>
          </a:solidFill>
          <a:ln w="12700">
            <a:solidFill>
              <a:srgbClr val="FFFFFF">
                <a:alpha val="0"/>
              </a:srgbClr>
            </a:solidFill>
            <a:prstDash val="solid"/>
          </a:ln>
        </p:spPr>
      </p:sp>
      <p:sp>
        <p:nvSpPr>
          <p:cNvPr id="24" name="Text 21"/>
          <p:cNvSpPr txBox="1"/>
          <p:nvPr/>
        </p:nvSpPr>
        <p:spPr>
          <a:xfrm>
            <a:off x="731520" y="2450592"/>
            <a:ext cx="4480560" cy="548640"/>
          </a:xfrm>
          <a:prstGeom prst="rect">
            <a:avLst/>
          </a:prstGeom>
          <a:noFill/>
          <a:ln/>
        </p:spPr>
        <p:txBody>
          <a:bodyPr wrap="square" lIns="0" tIns="0" rIns="0" bIns="0" rtlCol="0" anchor="ctr"/>
          <a:lstStyle/>
          <a:p>
            <a:pPr algn="l" indent="0" marL="0">
              <a:buNone/>
            </a:pPr>
            <a:r>
              <a:rPr lang="en-US" sz="1500" i="1" dirty="0">
                <a:solidFill>
                  <a:schemeClr val="tx2"/>
                </a:solidFill>
              </a:rPr>
              <a:t>« Je suis allé·e à Londres trois fois. »</a:t>
            </a:r>
            <a:endParaRPr lang="en-US" sz="1500" dirty="0"/>
          </a:p>
        </p:txBody>
      </p:sp>
      <p:sp>
        <p:nvSpPr>
          <p:cNvPr id="25" name="Text 22"/>
          <p:cNvSpPr txBox="1"/>
          <p:nvPr/>
        </p:nvSpPr>
        <p:spPr>
          <a:xfrm>
            <a:off x="5166360" y="2450592"/>
            <a:ext cx="365760" cy="548640"/>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6" name="Text 23"/>
          <p:cNvSpPr txBox="1"/>
          <p:nvPr/>
        </p:nvSpPr>
        <p:spPr>
          <a:xfrm>
            <a:off x="5577840" y="2450592"/>
            <a:ext cx="4069080" cy="548640"/>
          </a:xfrm>
          <a:prstGeom prst="rect">
            <a:avLst/>
          </a:prstGeom>
          <a:noFill/>
          <a:ln/>
        </p:spPr>
        <p:txBody>
          <a:bodyPr wrap="square" lIns="0" tIns="0" rIns="0" bIns="0" rtlCol="0" anchor="ctr"/>
          <a:lstStyle/>
          <a:p>
            <a:pPr algn="l" indent="0" marL="0">
              <a:buNone/>
            </a:pPr>
            <a:r>
              <a:rPr lang="en-US" sz="1600" b="1" i="1" dirty="0">
                <a:solidFill>
                  <a:schemeClr val="accent2"/>
                </a:solidFill>
              </a:rPr>
              <a:t>I’ve been to London three times.</a:t>
            </a:r>
            <a:endParaRPr lang="en-US" sz="1600" dirty="0"/>
          </a:p>
        </p:txBody>
      </p:sp>
      <p:sp>
        <p:nvSpPr>
          <p:cNvPr id="27" name="Shape 24"/>
          <p:cNvSpPr/>
          <p:nvPr/>
        </p:nvSpPr>
        <p:spPr>
          <a:xfrm>
            <a:off x="9692640" y="2542032"/>
            <a:ext cx="1828800" cy="365760"/>
          </a:xfrm>
          <a:prstGeom prst="roundRect">
            <a:avLst>
              <a:gd name="adj" fmla="val 30000"/>
            </a:avLst>
          </a:prstGeom>
          <a:solidFill>
            <a:srgbClr val="EAF2FB"/>
          </a:solidFill>
          <a:ln w="19050">
            <a:solidFill>
              <a:srgbClr val="2A6FB0"/>
            </a:solidFill>
            <a:prstDash val="solid"/>
          </a:ln>
        </p:spPr>
      </p:sp>
      <p:sp>
        <p:nvSpPr>
          <p:cNvPr id="28" name="Text 25"/>
          <p:cNvSpPr txBox="1"/>
          <p:nvPr/>
        </p:nvSpPr>
        <p:spPr>
          <a:xfrm>
            <a:off x="9692640" y="2542032"/>
            <a:ext cx="1828800" cy="365760"/>
          </a:xfrm>
          <a:prstGeom prst="rect">
            <a:avLst/>
          </a:prstGeom>
          <a:noFill/>
          <a:ln/>
        </p:spPr>
        <p:txBody>
          <a:bodyPr wrap="square" lIns="0" tIns="0" rIns="0" bIns="0" rtlCol="0" anchor="ctr"/>
          <a:lstStyle/>
          <a:p>
            <a:pPr algn="ctr" indent="0" marL="0">
              <a:buNone/>
            </a:pPr>
            <a:r>
              <a:rPr lang="en-US" sz="1300" b="1" dirty="0">
                <a:solidFill>
                  <a:schemeClr val="accent2"/>
                </a:solidFill>
              </a:rPr>
              <a:t>expérience → PP</a:t>
            </a:r>
            <a:endParaRPr lang="en-US" sz="1300" dirty="0"/>
          </a:p>
        </p:txBody>
      </p:sp>
      <p:sp>
        <p:nvSpPr>
          <p:cNvPr id="29" name="Shape 26"/>
          <p:cNvSpPr/>
          <p:nvPr/>
        </p:nvSpPr>
        <p:spPr>
          <a:xfrm>
            <a:off x="548640" y="3072384"/>
            <a:ext cx="11091672" cy="548640"/>
          </a:xfrm>
          <a:prstGeom prst="roundRect">
            <a:avLst>
              <a:gd name="adj" fmla="val 13333"/>
            </a:avLst>
          </a:prstGeom>
          <a:solidFill>
            <a:schemeClr val="bg2"/>
          </a:solidFill>
          <a:ln w="12700">
            <a:solidFill>
              <a:srgbClr val="FFFFFF">
                <a:alpha val="0"/>
              </a:srgbClr>
            </a:solidFill>
            <a:prstDash val="solid"/>
          </a:ln>
        </p:spPr>
      </p:sp>
      <p:sp>
        <p:nvSpPr>
          <p:cNvPr id="30" name="Text 27"/>
          <p:cNvSpPr txBox="1"/>
          <p:nvPr/>
        </p:nvSpPr>
        <p:spPr>
          <a:xfrm>
            <a:off x="731520" y="3072384"/>
            <a:ext cx="4480560" cy="548640"/>
          </a:xfrm>
          <a:prstGeom prst="rect">
            <a:avLst/>
          </a:prstGeom>
          <a:noFill/>
          <a:ln/>
        </p:spPr>
        <p:txBody>
          <a:bodyPr wrap="square" lIns="0" tIns="0" rIns="0" bIns="0" rtlCol="0" anchor="ctr"/>
          <a:lstStyle/>
          <a:p>
            <a:pPr algn="l" indent="0" marL="0">
              <a:buNone/>
            </a:pPr>
            <a:r>
              <a:rPr lang="en-US" sz="1500" i="1" dirty="0">
                <a:solidFill>
                  <a:schemeClr val="tx2"/>
                </a:solidFill>
              </a:rPr>
              <a:t>« J’habite ici depuis 2021. »</a:t>
            </a:r>
            <a:endParaRPr lang="en-US" sz="1500" dirty="0"/>
          </a:p>
        </p:txBody>
      </p:sp>
      <p:sp>
        <p:nvSpPr>
          <p:cNvPr id="31" name="Text 28"/>
          <p:cNvSpPr txBox="1"/>
          <p:nvPr/>
        </p:nvSpPr>
        <p:spPr>
          <a:xfrm>
            <a:off x="5166360" y="3072384"/>
            <a:ext cx="365760" cy="548640"/>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32" name="Text 29"/>
          <p:cNvSpPr txBox="1"/>
          <p:nvPr/>
        </p:nvSpPr>
        <p:spPr>
          <a:xfrm>
            <a:off x="5577840" y="3072384"/>
            <a:ext cx="4069080" cy="548640"/>
          </a:xfrm>
          <a:prstGeom prst="rect">
            <a:avLst/>
          </a:prstGeom>
          <a:noFill/>
          <a:ln/>
        </p:spPr>
        <p:txBody>
          <a:bodyPr wrap="square" lIns="0" tIns="0" rIns="0" bIns="0" rtlCol="0" anchor="ctr"/>
          <a:lstStyle/>
          <a:p>
            <a:pPr algn="l" indent="0" marL="0">
              <a:buNone/>
            </a:pPr>
            <a:r>
              <a:rPr lang="en-US" sz="1600" b="1" i="1" dirty="0">
                <a:solidFill>
                  <a:schemeClr val="accent2"/>
                </a:solidFill>
              </a:rPr>
              <a:t>I’ve lived here since 2021.</a:t>
            </a:r>
            <a:endParaRPr lang="en-US" sz="1600" dirty="0"/>
          </a:p>
        </p:txBody>
      </p:sp>
      <p:sp>
        <p:nvSpPr>
          <p:cNvPr id="33" name="Shape 30"/>
          <p:cNvSpPr/>
          <p:nvPr/>
        </p:nvSpPr>
        <p:spPr>
          <a:xfrm>
            <a:off x="9692640" y="3163824"/>
            <a:ext cx="1828800" cy="365760"/>
          </a:xfrm>
          <a:prstGeom prst="roundRect">
            <a:avLst>
              <a:gd name="adj" fmla="val 30000"/>
            </a:avLst>
          </a:prstGeom>
          <a:solidFill>
            <a:srgbClr val="EAF2FB"/>
          </a:solidFill>
          <a:ln w="19050">
            <a:solidFill>
              <a:srgbClr val="2A6FB0"/>
            </a:solidFill>
            <a:prstDash val="solid"/>
          </a:ln>
        </p:spPr>
      </p:sp>
      <p:sp>
        <p:nvSpPr>
          <p:cNvPr id="34" name="Text 31"/>
          <p:cNvSpPr txBox="1"/>
          <p:nvPr/>
        </p:nvSpPr>
        <p:spPr>
          <a:xfrm>
            <a:off x="9692640" y="3163824"/>
            <a:ext cx="1828800" cy="365760"/>
          </a:xfrm>
          <a:prstGeom prst="rect">
            <a:avLst/>
          </a:prstGeom>
          <a:noFill/>
          <a:ln/>
        </p:spPr>
        <p:txBody>
          <a:bodyPr wrap="square" lIns="0" tIns="0" rIns="0" bIns="0" rtlCol="0" anchor="ctr"/>
          <a:lstStyle/>
          <a:p>
            <a:pPr algn="ctr" indent="0" marL="0">
              <a:buNone/>
            </a:pPr>
            <a:r>
              <a:rPr lang="en-US" sz="1300" b="1" dirty="0">
                <a:solidFill>
                  <a:schemeClr val="accent2"/>
                </a:solidFill>
              </a:rPr>
              <a:t>depuis → PP</a:t>
            </a:r>
            <a:endParaRPr lang="en-US" sz="1300" dirty="0"/>
          </a:p>
        </p:txBody>
      </p:sp>
      <p:sp>
        <p:nvSpPr>
          <p:cNvPr id="35" name="Shape 32"/>
          <p:cNvSpPr/>
          <p:nvPr/>
        </p:nvSpPr>
        <p:spPr>
          <a:xfrm>
            <a:off x="548640" y="3694176"/>
            <a:ext cx="11091672" cy="548640"/>
          </a:xfrm>
          <a:prstGeom prst="roundRect">
            <a:avLst>
              <a:gd name="adj" fmla="val 13333"/>
            </a:avLst>
          </a:prstGeom>
          <a:solidFill>
            <a:srgbClr val="FFFFFF"/>
          </a:solidFill>
          <a:ln w="12700">
            <a:solidFill>
              <a:srgbClr val="FFFFFF">
                <a:alpha val="0"/>
              </a:srgbClr>
            </a:solidFill>
            <a:prstDash val="solid"/>
          </a:ln>
        </p:spPr>
      </p:sp>
      <p:sp>
        <p:nvSpPr>
          <p:cNvPr id="36" name="Text 33"/>
          <p:cNvSpPr txBox="1"/>
          <p:nvPr/>
        </p:nvSpPr>
        <p:spPr>
          <a:xfrm>
            <a:off x="731520" y="3694176"/>
            <a:ext cx="4480560" cy="548640"/>
          </a:xfrm>
          <a:prstGeom prst="rect">
            <a:avLst/>
          </a:prstGeom>
          <a:noFill/>
          <a:ln/>
        </p:spPr>
        <p:txBody>
          <a:bodyPr wrap="square" lIns="0" tIns="0" rIns="0" bIns="0" rtlCol="0" anchor="ctr"/>
          <a:lstStyle/>
          <a:p>
            <a:pPr algn="l" indent="0" marL="0">
              <a:buNone/>
            </a:pPr>
            <a:r>
              <a:rPr lang="en-US" sz="1500" i="1" dirty="0">
                <a:solidFill>
                  <a:schemeClr val="tx2"/>
                </a:solidFill>
              </a:rPr>
              <a:t>« Je viens de finir. »</a:t>
            </a:r>
            <a:endParaRPr lang="en-US" sz="1500" dirty="0"/>
          </a:p>
        </p:txBody>
      </p:sp>
      <p:sp>
        <p:nvSpPr>
          <p:cNvPr id="37" name="Text 34"/>
          <p:cNvSpPr txBox="1"/>
          <p:nvPr/>
        </p:nvSpPr>
        <p:spPr>
          <a:xfrm>
            <a:off x="5166360" y="3694176"/>
            <a:ext cx="365760" cy="548640"/>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38" name="Text 35"/>
          <p:cNvSpPr txBox="1"/>
          <p:nvPr/>
        </p:nvSpPr>
        <p:spPr>
          <a:xfrm>
            <a:off x="5577840" y="3694176"/>
            <a:ext cx="4069080" cy="548640"/>
          </a:xfrm>
          <a:prstGeom prst="rect">
            <a:avLst/>
          </a:prstGeom>
          <a:noFill/>
          <a:ln/>
        </p:spPr>
        <p:txBody>
          <a:bodyPr wrap="square" lIns="0" tIns="0" rIns="0" bIns="0" rtlCol="0" anchor="ctr"/>
          <a:lstStyle/>
          <a:p>
            <a:pPr algn="l" indent="0" marL="0">
              <a:buNone/>
            </a:pPr>
            <a:r>
              <a:rPr lang="en-US" sz="1600" b="1" i="1" dirty="0">
                <a:solidFill>
                  <a:schemeClr val="accent2"/>
                </a:solidFill>
              </a:rPr>
              <a:t>I’ve just finished.</a:t>
            </a:r>
            <a:endParaRPr lang="en-US" sz="1600" dirty="0"/>
          </a:p>
        </p:txBody>
      </p:sp>
      <p:sp>
        <p:nvSpPr>
          <p:cNvPr id="39" name="Shape 36"/>
          <p:cNvSpPr/>
          <p:nvPr/>
        </p:nvSpPr>
        <p:spPr>
          <a:xfrm>
            <a:off x="9692640" y="3785616"/>
            <a:ext cx="1828800" cy="365760"/>
          </a:xfrm>
          <a:prstGeom prst="roundRect">
            <a:avLst>
              <a:gd name="adj" fmla="val 30000"/>
            </a:avLst>
          </a:prstGeom>
          <a:solidFill>
            <a:srgbClr val="EAF2FB"/>
          </a:solidFill>
          <a:ln w="19050">
            <a:solidFill>
              <a:srgbClr val="2A6FB0"/>
            </a:solidFill>
            <a:prstDash val="solid"/>
          </a:ln>
        </p:spPr>
      </p:sp>
      <p:sp>
        <p:nvSpPr>
          <p:cNvPr id="40" name="Text 37"/>
          <p:cNvSpPr txBox="1"/>
          <p:nvPr/>
        </p:nvSpPr>
        <p:spPr>
          <a:xfrm>
            <a:off x="9692640" y="3785616"/>
            <a:ext cx="1828800" cy="365760"/>
          </a:xfrm>
          <a:prstGeom prst="rect">
            <a:avLst/>
          </a:prstGeom>
          <a:noFill/>
          <a:ln/>
        </p:spPr>
        <p:txBody>
          <a:bodyPr wrap="square" lIns="0" tIns="0" rIns="0" bIns="0" rtlCol="0" anchor="ctr"/>
          <a:lstStyle/>
          <a:p>
            <a:pPr algn="ctr" indent="0" marL="0">
              <a:buNone/>
            </a:pPr>
            <a:r>
              <a:rPr lang="en-US" sz="1300" b="1" dirty="0">
                <a:solidFill>
                  <a:schemeClr val="accent2"/>
                </a:solidFill>
              </a:rPr>
              <a:t>venir de → just</a:t>
            </a:r>
            <a:endParaRPr lang="en-US" sz="1300" dirty="0"/>
          </a:p>
        </p:txBody>
      </p:sp>
      <p:sp>
        <p:nvSpPr>
          <p:cNvPr id="41" name="Shape 38"/>
          <p:cNvSpPr/>
          <p:nvPr/>
        </p:nvSpPr>
        <p:spPr>
          <a:xfrm>
            <a:off x="548640" y="4315968"/>
            <a:ext cx="11091672" cy="548640"/>
          </a:xfrm>
          <a:prstGeom prst="roundRect">
            <a:avLst>
              <a:gd name="adj" fmla="val 13333"/>
            </a:avLst>
          </a:prstGeom>
          <a:solidFill>
            <a:schemeClr val="bg2"/>
          </a:solidFill>
          <a:ln w="12700">
            <a:solidFill>
              <a:srgbClr val="FFFFFF">
                <a:alpha val="0"/>
              </a:srgbClr>
            </a:solidFill>
            <a:prstDash val="solid"/>
          </a:ln>
        </p:spPr>
      </p:sp>
      <p:sp>
        <p:nvSpPr>
          <p:cNvPr id="42" name="Text 39"/>
          <p:cNvSpPr txBox="1"/>
          <p:nvPr/>
        </p:nvSpPr>
        <p:spPr>
          <a:xfrm>
            <a:off x="731520" y="4315968"/>
            <a:ext cx="4480560" cy="548640"/>
          </a:xfrm>
          <a:prstGeom prst="rect">
            <a:avLst/>
          </a:prstGeom>
          <a:noFill/>
          <a:ln/>
        </p:spPr>
        <p:txBody>
          <a:bodyPr wrap="square" lIns="0" tIns="0" rIns="0" bIns="0" rtlCol="0" anchor="ctr"/>
          <a:lstStyle/>
          <a:p>
            <a:pPr algn="l" indent="0" marL="0">
              <a:buNone/>
            </a:pPr>
            <a:r>
              <a:rPr lang="en-US" sz="1500" i="1" dirty="0">
                <a:solidFill>
                  <a:schemeClr val="tx2"/>
                </a:solidFill>
              </a:rPr>
              <a:t>« Tu as déjà mangé des sushis ? »</a:t>
            </a:r>
            <a:endParaRPr lang="en-US" sz="1500" dirty="0"/>
          </a:p>
        </p:txBody>
      </p:sp>
      <p:sp>
        <p:nvSpPr>
          <p:cNvPr id="43" name="Text 40"/>
          <p:cNvSpPr txBox="1"/>
          <p:nvPr/>
        </p:nvSpPr>
        <p:spPr>
          <a:xfrm>
            <a:off x="5166360" y="4315968"/>
            <a:ext cx="365760" cy="548640"/>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44" name="Text 41"/>
          <p:cNvSpPr txBox="1"/>
          <p:nvPr/>
        </p:nvSpPr>
        <p:spPr>
          <a:xfrm>
            <a:off x="5577840" y="4315968"/>
            <a:ext cx="4069080" cy="548640"/>
          </a:xfrm>
          <a:prstGeom prst="rect">
            <a:avLst/>
          </a:prstGeom>
          <a:noFill/>
          <a:ln/>
        </p:spPr>
        <p:txBody>
          <a:bodyPr wrap="square" lIns="0" tIns="0" rIns="0" bIns="0" rtlCol="0" anchor="ctr"/>
          <a:lstStyle/>
          <a:p>
            <a:pPr algn="l" indent="0" marL="0">
              <a:buNone/>
            </a:pPr>
            <a:r>
              <a:rPr lang="en-US" sz="1600" b="1" i="1" dirty="0">
                <a:solidFill>
                  <a:schemeClr val="accent2"/>
                </a:solidFill>
              </a:rPr>
              <a:t>Have you ever eaten sushi?</a:t>
            </a:r>
            <a:endParaRPr lang="en-US" sz="1600" dirty="0"/>
          </a:p>
        </p:txBody>
      </p:sp>
      <p:sp>
        <p:nvSpPr>
          <p:cNvPr id="45" name="Shape 42"/>
          <p:cNvSpPr/>
          <p:nvPr/>
        </p:nvSpPr>
        <p:spPr>
          <a:xfrm>
            <a:off x="9692640" y="4407408"/>
            <a:ext cx="1828800" cy="365760"/>
          </a:xfrm>
          <a:prstGeom prst="roundRect">
            <a:avLst>
              <a:gd name="adj" fmla="val 30000"/>
            </a:avLst>
          </a:prstGeom>
          <a:solidFill>
            <a:srgbClr val="EAF2FB"/>
          </a:solidFill>
          <a:ln w="19050">
            <a:solidFill>
              <a:srgbClr val="2A6FB0"/>
            </a:solidFill>
            <a:prstDash val="solid"/>
          </a:ln>
        </p:spPr>
      </p:sp>
      <p:sp>
        <p:nvSpPr>
          <p:cNvPr id="46" name="Text 43"/>
          <p:cNvSpPr txBox="1"/>
          <p:nvPr/>
        </p:nvSpPr>
        <p:spPr>
          <a:xfrm>
            <a:off x="9692640" y="4407408"/>
            <a:ext cx="1828800" cy="365760"/>
          </a:xfrm>
          <a:prstGeom prst="rect">
            <a:avLst/>
          </a:prstGeom>
          <a:noFill/>
          <a:ln/>
        </p:spPr>
        <p:txBody>
          <a:bodyPr wrap="square" lIns="0" tIns="0" rIns="0" bIns="0" rtlCol="0" anchor="ctr"/>
          <a:lstStyle/>
          <a:p>
            <a:pPr algn="ctr" indent="0" marL="0">
              <a:buNone/>
            </a:pPr>
            <a:r>
              <a:rPr lang="en-US" sz="1300" b="1" dirty="0">
                <a:solidFill>
                  <a:schemeClr val="accent2"/>
                </a:solidFill>
              </a:rPr>
              <a:t>déjà ? → ever</a:t>
            </a:r>
            <a:endParaRPr lang="en-US" sz="1300" dirty="0"/>
          </a:p>
        </p:txBody>
      </p:sp>
      <p:sp>
        <p:nvSpPr>
          <p:cNvPr id="47" name="Shape 44"/>
          <p:cNvSpPr/>
          <p:nvPr/>
        </p:nvSpPr>
        <p:spPr>
          <a:xfrm>
            <a:off x="548640" y="4937760"/>
            <a:ext cx="11091672" cy="548640"/>
          </a:xfrm>
          <a:prstGeom prst="roundRect">
            <a:avLst>
              <a:gd name="adj" fmla="val 13333"/>
            </a:avLst>
          </a:prstGeom>
          <a:solidFill>
            <a:srgbClr val="FFFFFF"/>
          </a:solidFill>
          <a:ln w="12700">
            <a:solidFill>
              <a:srgbClr val="FFFFFF">
                <a:alpha val="0"/>
              </a:srgbClr>
            </a:solidFill>
            <a:prstDash val="solid"/>
          </a:ln>
        </p:spPr>
      </p:sp>
      <p:sp>
        <p:nvSpPr>
          <p:cNvPr id="48" name="Text 45"/>
          <p:cNvSpPr txBox="1"/>
          <p:nvPr/>
        </p:nvSpPr>
        <p:spPr>
          <a:xfrm>
            <a:off x="731520" y="4937760"/>
            <a:ext cx="4480560" cy="548640"/>
          </a:xfrm>
          <a:prstGeom prst="rect">
            <a:avLst/>
          </a:prstGeom>
          <a:noFill/>
          <a:ln/>
        </p:spPr>
        <p:txBody>
          <a:bodyPr wrap="square" lIns="0" tIns="0" rIns="0" bIns="0" rtlCol="0" anchor="ctr"/>
          <a:lstStyle/>
          <a:p>
            <a:pPr algn="l" indent="0" marL="0">
              <a:buNone/>
            </a:pPr>
            <a:r>
              <a:rPr lang="en-US" sz="1500" i="1" dirty="0">
                <a:solidFill>
                  <a:schemeClr val="tx2"/>
                </a:solidFill>
              </a:rPr>
              <a:t>« Il y a deux ans, j’ai changé de travail. »</a:t>
            </a:r>
            <a:endParaRPr lang="en-US" sz="1500" dirty="0"/>
          </a:p>
        </p:txBody>
      </p:sp>
      <p:sp>
        <p:nvSpPr>
          <p:cNvPr id="49" name="Text 46"/>
          <p:cNvSpPr txBox="1"/>
          <p:nvPr/>
        </p:nvSpPr>
        <p:spPr>
          <a:xfrm>
            <a:off x="5166360" y="4937760"/>
            <a:ext cx="365760" cy="548640"/>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50" name="Text 47"/>
          <p:cNvSpPr txBox="1"/>
          <p:nvPr/>
        </p:nvSpPr>
        <p:spPr>
          <a:xfrm>
            <a:off x="5577840" y="4937760"/>
            <a:ext cx="4069080" cy="548640"/>
          </a:xfrm>
          <a:prstGeom prst="rect">
            <a:avLst/>
          </a:prstGeom>
          <a:noFill/>
          <a:ln/>
        </p:spPr>
        <p:txBody>
          <a:bodyPr wrap="square" lIns="0" tIns="0" rIns="0" bIns="0" rtlCol="0" anchor="ctr"/>
          <a:lstStyle/>
          <a:p>
            <a:pPr algn="l" indent="0" marL="0">
              <a:buNone/>
            </a:pPr>
            <a:r>
              <a:rPr lang="en-US" sz="1600" b="1" i="1" dirty="0">
                <a:solidFill>
                  <a:schemeClr val="accent4"/>
                </a:solidFill>
              </a:rPr>
              <a:t>Two years ago, I changed jobs.</a:t>
            </a:r>
            <a:endParaRPr lang="en-US" sz="1600" dirty="0"/>
          </a:p>
        </p:txBody>
      </p:sp>
      <p:sp>
        <p:nvSpPr>
          <p:cNvPr id="51" name="Shape 48"/>
          <p:cNvSpPr/>
          <p:nvPr/>
        </p:nvSpPr>
        <p:spPr>
          <a:xfrm>
            <a:off x="9692640" y="5029200"/>
            <a:ext cx="1828800" cy="365760"/>
          </a:xfrm>
          <a:prstGeom prst="roundRect">
            <a:avLst>
              <a:gd name="adj" fmla="val 30000"/>
            </a:avLst>
          </a:prstGeom>
          <a:solidFill>
            <a:srgbClr val="FBEAF2"/>
          </a:solidFill>
          <a:ln w="19050">
            <a:solidFill>
              <a:srgbClr val="B4236A"/>
            </a:solidFill>
            <a:prstDash val="solid"/>
          </a:ln>
        </p:spPr>
      </p:sp>
      <p:sp>
        <p:nvSpPr>
          <p:cNvPr id="52" name="Text 49"/>
          <p:cNvSpPr txBox="1"/>
          <p:nvPr/>
        </p:nvSpPr>
        <p:spPr>
          <a:xfrm>
            <a:off x="9692640" y="5029200"/>
            <a:ext cx="1828800" cy="365760"/>
          </a:xfrm>
          <a:prstGeom prst="rect">
            <a:avLst/>
          </a:prstGeom>
          <a:noFill/>
          <a:ln/>
        </p:spPr>
        <p:txBody>
          <a:bodyPr wrap="square" lIns="0" tIns="0" rIns="0" bIns="0" rtlCol="0" anchor="ctr"/>
          <a:lstStyle/>
          <a:p>
            <a:pPr algn="ctr" indent="0" marL="0">
              <a:buNone/>
            </a:pPr>
            <a:r>
              <a:rPr lang="en-US" sz="1300" b="1" dirty="0">
                <a:solidFill>
                  <a:schemeClr val="accent4"/>
                </a:solidFill>
              </a:rPr>
              <a:t>ago → PS</a:t>
            </a:r>
            <a:endParaRPr lang="en-US" sz="1300" dirty="0"/>
          </a:p>
        </p:txBody>
      </p:sp>
      <p:sp>
        <p:nvSpPr>
          <p:cNvPr id="53" name="Shape 50"/>
          <p:cNvSpPr/>
          <p:nvPr/>
        </p:nvSpPr>
        <p:spPr>
          <a:xfrm>
            <a:off x="548640" y="5669280"/>
            <a:ext cx="11091672" cy="548640"/>
          </a:xfrm>
          <a:prstGeom prst="roundRect">
            <a:avLst>
              <a:gd name="adj" fmla="val 13333"/>
            </a:avLst>
          </a:prstGeom>
          <a:solidFill>
            <a:schemeClr val="tx2"/>
          </a:solidFill>
          <a:ln w="12700">
            <a:solidFill>
              <a:srgbClr val="FFFFFF">
                <a:alpha val="0"/>
              </a:srgbClr>
            </a:solidFill>
            <a:prstDash val="solid"/>
          </a:ln>
        </p:spPr>
      </p:sp>
      <p:sp>
        <p:nvSpPr>
          <p:cNvPr id="54" name="Text 51"/>
          <p:cNvSpPr txBox="1"/>
          <p:nvPr/>
        </p:nvSpPr>
        <p:spPr>
          <a:xfrm>
            <a:off x="822960" y="5669280"/>
            <a:ext cx="10607040" cy="548640"/>
          </a:xfrm>
          <a:prstGeom prst="rect">
            <a:avLst/>
          </a:prstGeom>
          <a:noFill/>
          <a:ln/>
        </p:spPr>
        <p:txBody>
          <a:bodyPr wrap="square" lIns="0" tIns="0" rIns="0" bIns="0" rtlCol="0" anchor="ctr"/>
          <a:lstStyle/>
          <a:p>
            <a:pPr algn="l" indent="0" marL="0">
              <a:buNone/>
            </a:pPr>
            <a:r>
              <a:rPr lang="en-US" sz="1500" dirty="0">
                <a:solidFill>
                  <a:schemeClr val="bg1"/>
                </a:solidFill>
              </a:rPr>
              <a:t>Passé composé → </a:t>
            </a:r>
            <a:r>
              <a:rPr lang="en-US" sz="1500" b="1" dirty="0">
                <a:solidFill>
                  <a:schemeClr val="bg1"/>
                </a:solidFill>
              </a:rPr>
              <a:t>past simple</a:t>
            </a:r>
            <a:r>
              <a:rPr lang="en-US" sz="1500" dirty="0">
                <a:solidFill>
                  <a:schemeClr val="bg1"/>
                </a:solidFill>
              </a:rPr>
              <a:t> ou </a:t>
            </a:r>
            <a:r>
              <a:rPr lang="en-US" sz="1500" b="1" dirty="0">
                <a:solidFill>
                  <a:schemeClr val="bg1"/>
                </a:solidFill>
              </a:rPr>
              <a:t>present perfect</a:t>
            </a:r>
            <a:r>
              <a:rPr lang="en-US" sz="1500" dirty="0">
                <a:solidFill>
                  <a:schemeClr val="bg1"/>
                </a:solidFill>
              </a:rPr>
              <a:t> ? Cherchez un </a:t>
            </a:r>
            <a:r>
              <a:rPr lang="en-US" sz="1500" b="1" dirty="0">
                <a:solidFill>
                  <a:schemeClr val="bg1"/>
                </a:solidFill>
              </a:rPr>
              <a:t>temps fini</a:t>
            </a:r>
            <a:r>
              <a:rPr lang="en-US" sz="1500" dirty="0">
                <a:solidFill>
                  <a:schemeClr val="bg1"/>
                </a:solidFill>
              </a:rPr>
              <a:t> et le </a:t>
            </a:r>
            <a:r>
              <a:rPr lang="en-US" sz="1500" b="1" dirty="0">
                <a:solidFill>
                  <a:schemeClr val="bg1"/>
                </a:solidFill>
              </a:rPr>
              <a:t>lien avec NOW</a:t>
            </a:r>
            <a:r>
              <a:rPr lang="en-US" sz="1500" dirty="0">
                <a:solidFill>
                  <a:schemeClr val="bg1"/>
                </a:solidFill>
              </a:rPr>
              <a:t>.</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Remember: present perfect vs past simple</a:t>
            </a:r>
            <a:endParaRPr lang="en-US" sz="3000" dirty="0"/>
          </a:p>
        </p:txBody>
      </p:sp>
      <p:sp>
        <p:nvSpPr>
          <p:cNvPr id="3" name="tag"/>
          <p:cNvSpPr/>
          <p:nvPr/>
        </p:nvSpPr>
        <p:spPr>
          <a:xfrm>
            <a:off x="548640" y="237744"/>
            <a:ext cx="12289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REMEMBER</a:t>
            </a:r>
            <a:endParaRPr lang="en-US" sz="1200" dirty="0"/>
          </a:p>
        </p:txBody>
      </p:sp>
      <p:sp>
        <p:nvSpPr>
          <p:cNvPr id="5" name="Shape 2"/>
          <p:cNvSpPr/>
          <p:nvPr/>
        </p:nvSpPr>
        <p:spPr>
          <a:xfrm>
            <a:off x="548640" y="1463040"/>
            <a:ext cx="5440680" cy="4114800"/>
          </a:xfrm>
          <a:prstGeom prst="roundRect">
            <a:avLst>
              <a:gd name="adj" fmla="val 2667"/>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6" name="Shape 3"/>
          <p:cNvSpPr/>
          <p:nvPr/>
        </p:nvSpPr>
        <p:spPr>
          <a:xfrm>
            <a:off x="548640" y="1463040"/>
            <a:ext cx="5440680" cy="548640"/>
          </a:xfrm>
          <a:prstGeom prst="roundRect">
            <a:avLst>
              <a:gd name="adj" fmla="val 20000"/>
            </a:avLst>
          </a:prstGeom>
          <a:solidFill>
            <a:schemeClr val="accent2"/>
          </a:solidFill>
          <a:ln w="12700">
            <a:solidFill>
              <a:srgbClr val="FFFFFF">
                <a:alpha val="0"/>
              </a:srgbClr>
            </a:solidFill>
            <a:prstDash val="solid"/>
          </a:ln>
        </p:spPr>
      </p:sp>
      <p:sp>
        <p:nvSpPr>
          <p:cNvPr id="7" name="Text 4"/>
          <p:cNvSpPr txBox="1"/>
          <p:nvPr/>
        </p:nvSpPr>
        <p:spPr>
          <a:xfrm>
            <a:off x="548640" y="1463040"/>
            <a:ext cx="5440680" cy="548640"/>
          </a:xfrm>
          <a:prstGeom prst="rect">
            <a:avLst/>
          </a:prstGeom>
          <a:noFill/>
          <a:ln/>
        </p:spPr>
        <p:txBody>
          <a:bodyPr wrap="square" lIns="0" tIns="0" rIns="0" bIns="0" rtlCol="0" anchor="ctr"/>
          <a:lstStyle/>
          <a:p>
            <a:pPr algn="ctr" indent="0" marL="0">
              <a:buNone/>
            </a:pPr>
            <a:r>
              <a:rPr lang="en-US" sz="1800" b="1" dirty="0">
                <a:solidFill>
                  <a:schemeClr val="bg1"/>
                </a:solidFill>
              </a:rPr>
              <a:t>PRESENT PERFECT</a:t>
            </a:r>
            <a:endParaRPr lang="en-US" sz="1800" dirty="0"/>
          </a:p>
        </p:txBody>
      </p:sp>
      <p:sp>
        <p:nvSpPr>
          <p:cNvPr id="8" name="Text 5"/>
          <p:cNvSpPr txBox="1"/>
          <p:nvPr/>
        </p:nvSpPr>
        <p:spPr>
          <a:xfrm>
            <a:off x="731520" y="2103120"/>
            <a:ext cx="5074920" cy="411480"/>
          </a:xfrm>
          <a:prstGeom prst="rect">
            <a:avLst/>
          </a:prstGeom>
          <a:noFill/>
          <a:ln/>
        </p:spPr>
        <p:txBody>
          <a:bodyPr wrap="square" lIns="0" tIns="0" rIns="0" bIns="0" rtlCol="0" anchor="ctr"/>
          <a:lstStyle/>
          <a:p>
            <a:pPr algn="ctr" indent="0" marL="0">
              <a:buNone/>
            </a:pPr>
            <a:r>
              <a:rPr lang="en-US" sz="1500" b="1" dirty="0">
                <a:solidFill>
                  <a:schemeClr val="accent2"/>
                </a:solidFill>
              </a:rPr>
              <a:t>have / has + past participle</a:t>
            </a:r>
            <a:endParaRPr lang="en-US" sz="1500" dirty="0"/>
          </a:p>
        </p:txBody>
      </p:sp>
      <p:sp>
        <p:nvSpPr>
          <p:cNvPr id="9" name="Text 6"/>
          <p:cNvSpPr txBox="1"/>
          <p:nvPr/>
        </p:nvSpPr>
        <p:spPr>
          <a:xfrm>
            <a:off x="822960" y="2606040"/>
            <a:ext cx="4892040" cy="1828800"/>
          </a:xfrm>
          <a:prstGeom prst="rect">
            <a:avLst/>
          </a:prstGeom>
          <a:noFill/>
          <a:ln/>
        </p:spPr>
        <p:txBody>
          <a:bodyPr wrap="square" lIns="0" tIns="0" rIns="0" bIns="0" rtlCol="0" anchor="ctr"/>
          <a:lstStyle/>
          <a:p>
            <a:pPr algn="l" indent="0" marL="0">
              <a:spcAft>
                <a:spcPts val="400"/>
              </a:spcAft>
              <a:buNone/>
            </a:pPr>
            <a:r>
              <a:rPr lang="en-US" sz="1500" dirty="0">
                <a:solidFill>
                  <a:schemeClr val="tx1"/>
                </a:solidFill>
              </a:rPr>
              <a:t>• experience: ever · never</a:t>
            </a:r>
            <a:endParaRPr lang="en-US" sz="1500" dirty="0"/>
          </a:p>
          <a:p>
            <a:pPr algn="l" indent="0" marL="0">
              <a:spcAft>
                <a:spcPts val="400"/>
              </a:spcAft>
              <a:buNone/>
            </a:pPr>
            <a:r>
              <a:rPr lang="en-US" sz="1500" dirty="0">
                <a:solidFill>
                  <a:schemeClr val="tx1"/>
                </a:solidFill>
              </a:rPr>
              <a:t>• result now: just · already · yet</a:t>
            </a:r>
            <a:endParaRPr lang="en-US" sz="1500" dirty="0"/>
          </a:p>
          <a:p>
            <a:pPr algn="l" indent="0" marL="0">
              <a:spcAft>
                <a:spcPts val="400"/>
              </a:spcAft>
              <a:buNone/>
            </a:pPr>
            <a:r>
              <a:rPr lang="en-US" sz="1500" dirty="0">
                <a:solidFill>
                  <a:schemeClr val="tx1"/>
                </a:solidFill>
              </a:rPr>
              <a:t>• still true: for · since</a:t>
            </a:r>
            <a:endParaRPr lang="en-US" sz="1500" dirty="0"/>
          </a:p>
          <a:p>
            <a:pPr algn="l" indent="0" marL="0">
              <a:spcAft>
                <a:spcPts val="400"/>
              </a:spcAft>
              <a:buNone/>
            </a:pPr>
            <a:r>
              <a:rPr lang="en-US" sz="1500" dirty="0">
                <a:solidFill>
                  <a:schemeClr val="tx1"/>
                </a:solidFill>
              </a:rPr>
              <a:t>• open time: today · this week</a:t>
            </a:r>
            <a:endParaRPr lang="en-US" sz="1500" dirty="0"/>
          </a:p>
        </p:txBody>
      </p:sp>
      <p:sp>
        <p:nvSpPr>
          <p:cNvPr id="10" name="Text 7"/>
          <p:cNvSpPr txBox="1"/>
          <p:nvPr/>
        </p:nvSpPr>
        <p:spPr>
          <a:xfrm>
            <a:off x="731520" y="4526280"/>
            <a:ext cx="5074920" cy="914400"/>
          </a:xfrm>
          <a:prstGeom prst="rect">
            <a:avLst/>
          </a:prstGeom>
          <a:noFill/>
          <a:ln/>
        </p:spPr>
        <p:txBody>
          <a:bodyPr wrap="square" lIns="0" tIns="0" rIns="0" bIns="0" rtlCol="0" anchor="ctr"/>
          <a:lstStyle/>
          <a:p>
            <a:pPr algn="ctr" indent="0" marL="0">
              <a:buNone/>
            </a:pPr>
            <a:r>
              <a:rPr lang="en-US" sz="1450" i="1" dirty="0">
                <a:solidFill>
                  <a:schemeClr val="tx2"/>
                </a:solidFill>
              </a:rPr>
              <a:t>I’ve lost my keys! · I’ve lived here since 2021.</a:t>
            </a:r>
            <a:endParaRPr lang="en-US" sz="1450" dirty="0"/>
          </a:p>
        </p:txBody>
      </p:sp>
      <p:sp>
        <p:nvSpPr>
          <p:cNvPr id="11" name="Shape 8"/>
          <p:cNvSpPr/>
          <p:nvPr/>
        </p:nvSpPr>
        <p:spPr>
          <a:xfrm>
            <a:off x="6199632" y="1463040"/>
            <a:ext cx="5440680" cy="4114800"/>
          </a:xfrm>
          <a:prstGeom prst="roundRect">
            <a:avLst>
              <a:gd name="adj" fmla="val 2667"/>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12" name="Shape 9"/>
          <p:cNvSpPr/>
          <p:nvPr/>
        </p:nvSpPr>
        <p:spPr>
          <a:xfrm>
            <a:off x="6199632" y="1463040"/>
            <a:ext cx="5440680" cy="548640"/>
          </a:xfrm>
          <a:prstGeom prst="roundRect">
            <a:avLst>
              <a:gd name="adj" fmla="val 20000"/>
            </a:avLst>
          </a:prstGeom>
          <a:solidFill>
            <a:schemeClr val="accent4"/>
          </a:solidFill>
          <a:ln w="12700">
            <a:solidFill>
              <a:srgbClr val="FFFFFF">
                <a:alpha val="0"/>
              </a:srgbClr>
            </a:solidFill>
            <a:prstDash val="solid"/>
          </a:ln>
        </p:spPr>
      </p:sp>
      <p:sp>
        <p:nvSpPr>
          <p:cNvPr id="13" name="Text 10"/>
          <p:cNvSpPr txBox="1"/>
          <p:nvPr/>
        </p:nvSpPr>
        <p:spPr>
          <a:xfrm>
            <a:off x="6199632" y="1463040"/>
            <a:ext cx="5440680" cy="548640"/>
          </a:xfrm>
          <a:prstGeom prst="rect">
            <a:avLst/>
          </a:prstGeom>
          <a:noFill/>
          <a:ln/>
        </p:spPr>
        <p:txBody>
          <a:bodyPr wrap="square" lIns="0" tIns="0" rIns="0" bIns="0" rtlCol="0" anchor="ctr"/>
          <a:lstStyle/>
          <a:p>
            <a:pPr algn="ctr" indent="0" marL="0">
              <a:buNone/>
            </a:pPr>
            <a:r>
              <a:rPr lang="en-US" sz="1800" b="1" dirty="0">
                <a:solidFill>
                  <a:schemeClr val="bg1"/>
                </a:solidFill>
              </a:rPr>
              <a:t>PAST SIMPLE</a:t>
            </a:r>
            <a:endParaRPr lang="en-US" sz="1800" dirty="0"/>
          </a:p>
        </p:txBody>
      </p:sp>
      <p:sp>
        <p:nvSpPr>
          <p:cNvPr id="14" name="Text 11"/>
          <p:cNvSpPr txBox="1"/>
          <p:nvPr/>
        </p:nvSpPr>
        <p:spPr>
          <a:xfrm>
            <a:off x="6382512" y="2103120"/>
            <a:ext cx="5074920" cy="411480"/>
          </a:xfrm>
          <a:prstGeom prst="rect">
            <a:avLst/>
          </a:prstGeom>
          <a:noFill/>
          <a:ln/>
        </p:spPr>
        <p:txBody>
          <a:bodyPr wrap="square" lIns="0" tIns="0" rIns="0" bIns="0" rtlCol="0" anchor="ctr"/>
          <a:lstStyle/>
          <a:p>
            <a:pPr algn="ctr" indent="0" marL="0">
              <a:buNone/>
            </a:pPr>
            <a:r>
              <a:rPr lang="en-US" sz="1500" b="1" dirty="0">
                <a:solidFill>
                  <a:schemeClr val="accent4"/>
                </a:solidFill>
              </a:rPr>
              <a:t>V-ed / irregular · did · didn’t</a:t>
            </a:r>
            <a:endParaRPr lang="en-US" sz="1500" dirty="0"/>
          </a:p>
        </p:txBody>
      </p:sp>
      <p:sp>
        <p:nvSpPr>
          <p:cNvPr id="15" name="Text 12"/>
          <p:cNvSpPr txBox="1"/>
          <p:nvPr/>
        </p:nvSpPr>
        <p:spPr>
          <a:xfrm>
            <a:off x="6473952" y="2606040"/>
            <a:ext cx="4892040" cy="1828800"/>
          </a:xfrm>
          <a:prstGeom prst="rect">
            <a:avLst/>
          </a:prstGeom>
          <a:noFill/>
          <a:ln/>
        </p:spPr>
        <p:txBody>
          <a:bodyPr wrap="square" lIns="0" tIns="0" rIns="0" bIns="0" rtlCol="0" anchor="ctr"/>
          <a:lstStyle/>
          <a:p>
            <a:pPr algn="l" indent="0" marL="0">
              <a:spcAft>
                <a:spcPts val="400"/>
              </a:spcAft>
              <a:buNone/>
            </a:pPr>
            <a:r>
              <a:rPr lang="en-US" sz="1500" dirty="0">
                <a:solidFill>
                  <a:schemeClr val="tx1"/>
                </a:solidFill>
              </a:rPr>
              <a:t>• finished time: yesterday · last… · …ago</a:t>
            </a:r>
            <a:endParaRPr lang="en-US" sz="1500" dirty="0"/>
          </a:p>
          <a:p>
            <a:pPr algn="l" indent="0" marL="0">
              <a:spcAft>
                <a:spcPts val="400"/>
              </a:spcAft>
              <a:buNone/>
            </a:pPr>
            <a:r>
              <a:rPr lang="en-US" sz="1500" dirty="0">
                <a:solidFill>
                  <a:schemeClr val="tx1"/>
                </a:solidFill>
              </a:rPr>
              <a:t>• a date: in 2019 · on Monday</a:t>
            </a:r>
            <a:endParaRPr lang="en-US" sz="1500" dirty="0"/>
          </a:p>
          <a:p>
            <a:pPr algn="l" indent="0" marL="0">
              <a:spcAft>
                <a:spcPts val="400"/>
              </a:spcAft>
              <a:buNone/>
            </a:pPr>
            <a:r>
              <a:rPr lang="en-US" sz="1500" dirty="0">
                <a:solidFill>
                  <a:schemeClr val="tx1"/>
                </a:solidFill>
              </a:rPr>
              <a:t>• story details: when? where? how?</a:t>
            </a:r>
            <a:endParaRPr lang="en-US" sz="1500" dirty="0"/>
          </a:p>
          <a:p>
            <a:pPr algn="l" indent="0" marL="0">
              <a:spcAft>
                <a:spcPts val="400"/>
              </a:spcAft>
              <a:buNone/>
            </a:pPr>
            <a:r>
              <a:rPr lang="en-US" sz="1500" dirty="0">
                <a:solidFill>
                  <a:schemeClr val="tx1"/>
                </a:solidFill>
              </a:rPr>
              <a:t>• closed time: last night</a:t>
            </a:r>
            <a:endParaRPr lang="en-US" sz="1500" dirty="0"/>
          </a:p>
        </p:txBody>
      </p:sp>
      <p:sp>
        <p:nvSpPr>
          <p:cNvPr id="16" name="Text 13"/>
          <p:cNvSpPr txBox="1"/>
          <p:nvPr/>
        </p:nvSpPr>
        <p:spPr>
          <a:xfrm>
            <a:off x="6382512" y="4526280"/>
            <a:ext cx="5074920" cy="914400"/>
          </a:xfrm>
          <a:prstGeom prst="rect">
            <a:avLst/>
          </a:prstGeom>
          <a:noFill/>
          <a:ln/>
        </p:spPr>
        <p:txBody>
          <a:bodyPr wrap="square" lIns="0" tIns="0" rIns="0" bIns="0" rtlCol="0" anchor="ctr"/>
          <a:lstStyle/>
          <a:p>
            <a:pPr algn="ctr" indent="0" marL="0">
              <a:buNone/>
            </a:pPr>
            <a:r>
              <a:rPr lang="en-US" sz="1450" i="1" dirty="0">
                <a:solidFill>
                  <a:schemeClr val="tx2"/>
                </a:solidFill>
              </a:rPr>
              <a:t>I lost my keys yesterday. · I went to Rome in 2019.</a:t>
            </a:r>
            <a:endParaRPr lang="en-US" sz="1450" dirty="0"/>
          </a:p>
        </p:txBody>
      </p:sp>
      <p:sp>
        <p:nvSpPr>
          <p:cNvPr id="17" name="Text 14"/>
          <p:cNvSpPr txBox="1"/>
          <p:nvPr/>
        </p:nvSpPr>
        <p:spPr>
          <a:xfrm>
            <a:off x="548640" y="5715000"/>
            <a:ext cx="11091672" cy="457200"/>
          </a:xfrm>
          <a:prstGeom prst="rect">
            <a:avLst/>
          </a:prstGeom>
          <a:noFill/>
          <a:ln/>
        </p:spPr>
        <p:txBody>
          <a:bodyPr wrap="square" lIns="0" tIns="0" rIns="0" bIns="0" rtlCol="0" anchor="ctr"/>
          <a:lstStyle/>
          <a:p>
            <a:pPr algn="l" indent="0" marL="0">
              <a:buNone/>
            </a:pPr>
            <a:r>
              <a:rPr lang="en-US" sz="1500" b="1" dirty="0">
                <a:solidFill>
                  <a:schemeClr val="tx2"/>
                </a:solidFill>
              </a:rPr>
              <a:t>Exceptions</a:t>
            </a:r>
            <a:r>
              <a:rPr lang="en-US" sz="1500" dirty="0">
                <a:solidFill>
                  <a:schemeClr val="tx2"/>
                </a:solidFill>
              </a:rPr>
              <a:t> : </a:t>
            </a:r>
            <a:r>
              <a:rPr lang="en-US" sz="1500" i="1" dirty="0">
                <a:solidFill>
                  <a:schemeClr val="tx2"/>
                </a:solidFill>
              </a:rPr>
              <a:t>been / gone</a:t>
            </a:r>
            <a:r>
              <a:rPr lang="en-US" sz="1500" dirty="0">
                <a:solidFill>
                  <a:schemeClr val="tx2"/>
                </a:solidFill>
              </a:rPr>
              <a:t> · participes irréguliers (</a:t>
            </a:r>
            <a:r>
              <a:rPr lang="en-US" sz="1500" i="1" dirty="0">
                <a:solidFill>
                  <a:schemeClr val="tx2"/>
                </a:solidFill>
              </a:rPr>
              <a:t>seen, gone, written…</a:t>
            </a:r>
            <a:r>
              <a:rPr lang="en-US" sz="1500" dirty="0">
                <a:solidFill>
                  <a:schemeClr val="tx2"/>
                </a:solidFill>
              </a:rPr>
              <a:t>) · </a:t>
            </a:r>
            <a:r>
              <a:rPr lang="en-US" sz="1500" i="1" dirty="0">
                <a:solidFill>
                  <a:schemeClr val="tx2"/>
                </a:solidFill>
              </a:rPr>
              <a:t>’s</a:t>
            </a:r>
            <a:r>
              <a:rPr lang="en-US" sz="1500" dirty="0">
                <a:solidFill>
                  <a:schemeClr val="tx2"/>
                </a:solidFill>
              </a:rPr>
              <a:t> = </a:t>
            </a:r>
            <a:r>
              <a:rPr lang="en-US" sz="1500" i="1" dirty="0">
                <a:solidFill>
                  <a:schemeClr val="tx2"/>
                </a:solidFill>
              </a:rPr>
              <a:t>has</a:t>
            </a:r>
            <a:r>
              <a:rPr lang="en-US" sz="1500" dirty="0">
                <a:solidFill>
                  <a:schemeClr val="tx2"/>
                </a:solidFill>
              </a:rPr>
              <a:t> ou </a:t>
            </a:r>
            <a:r>
              <a:rPr lang="en-US" sz="1500" i="1" dirty="0">
                <a:solidFill>
                  <a:schemeClr val="tx2"/>
                </a:solidFill>
              </a:rPr>
              <a:t>is</a:t>
            </a:r>
            <a:endParaRPr lang="en-US" sz="1500" dirty="0"/>
          </a:p>
        </p:txBody>
      </p:sp>
      <p:pic>
        <p:nvPicPr>
          <p:cNvPr id="18" name="Image 0" descr="Camera">    </p:cNvPr>
          <p:cNvPicPr>
            <a:picLocks noChangeAspect="1"/>
          </p:cNvPicPr>
          <p:nvPr/>
        </p:nvPicPr>
        <p:blipFill>
          <a:blip r:embed="rId1"/>
          <a:stretch>
            <a:fillRect/>
          </a:stretch>
        </p:blipFill>
        <p:spPr>
          <a:xfrm>
            <a:off x="11247120" y="960120"/>
            <a:ext cx="347472" cy="347472"/>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Exercises</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YOUR TURN!</a:t>
            </a:r>
            <a:endParaRPr lang="en-US" sz="5400" dirty="0"/>
          </a:p>
        </p:txBody>
      </p:sp>
      <p:sp>
        <p:nvSpPr>
          <p:cNvPr id="6" name="Shape 3"/>
          <p:cNvSpPr/>
          <p:nvPr/>
        </p:nvSpPr>
        <p:spPr>
          <a:xfrm>
            <a:off x="548640" y="26060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Cogs">    </p:cNvPr>
          <p:cNvPicPr>
            <a:picLocks noChangeAspect="1"/>
          </p:cNvPicPr>
          <p:nvPr/>
        </p:nvPicPr>
        <p:blipFill>
          <a:blip r:embed="rId1"/>
          <a:stretch>
            <a:fillRect/>
          </a:stretch>
        </p:blipFill>
        <p:spPr>
          <a:xfrm>
            <a:off x="1700784" y="2770632"/>
            <a:ext cx="384048" cy="384048"/>
          </a:xfrm>
          <a:prstGeom prst="rect">
            <a:avLst/>
          </a:prstGeom>
        </p:spPr>
      </p:pic>
      <p:sp>
        <p:nvSpPr>
          <p:cNvPr id="10" name="Text 6"/>
          <p:cNvSpPr txBox="1"/>
          <p:nvPr/>
        </p:nvSpPr>
        <p:spPr>
          <a:xfrm>
            <a:off x="685800" y="32644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The 3rd form</a:t>
            </a:r>
            <a:endParaRPr lang="en-US" sz="1600" dirty="0"/>
          </a:p>
        </p:txBody>
      </p:sp>
      <p:sp>
        <p:nvSpPr>
          <p:cNvPr id="11" name="Text 7"/>
          <p:cNvSpPr txBox="1"/>
          <p:nvPr/>
        </p:nvSpPr>
        <p:spPr>
          <a:xfrm>
            <a:off x="685800" y="38404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478024" y="26060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2615184"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2615184"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ArrowsAlt">    </p:cNvPr>
          <p:cNvPicPr>
            <a:picLocks noChangeAspect="1"/>
          </p:cNvPicPr>
          <p:nvPr/>
        </p:nvPicPr>
        <p:blipFill>
          <a:blip r:embed="rId2"/>
          <a:stretch>
            <a:fillRect/>
          </a:stretch>
        </p:blipFill>
        <p:spPr>
          <a:xfrm>
            <a:off x="3630168" y="2770632"/>
            <a:ext cx="384048" cy="384048"/>
          </a:xfrm>
          <a:prstGeom prst="rect">
            <a:avLst/>
          </a:prstGeom>
        </p:spPr>
      </p:pic>
      <p:sp>
        <p:nvSpPr>
          <p:cNvPr id="16" name="Text 11"/>
          <p:cNvSpPr txBox="1"/>
          <p:nvPr/>
        </p:nvSpPr>
        <p:spPr>
          <a:xfrm>
            <a:off x="2615184" y="32644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Where does it go?</a:t>
            </a:r>
            <a:endParaRPr lang="en-US" sz="1600" dirty="0"/>
          </a:p>
        </p:txBody>
      </p:sp>
      <p:sp>
        <p:nvSpPr>
          <p:cNvPr id="17" name="Text 12"/>
          <p:cNvSpPr txBox="1"/>
          <p:nvPr/>
        </p:nvSpPr>
        <p:spPr>
          <a:xfrm>
            <a:off x="2615184" y="38404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4407408" y="26060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4544568"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4544568"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HourglassHalf">    </p:cNvPr>
          <p:cNvPicPr>
            <a:picLocks noChangeAspect="1"/>
          </p:cNvPicPr>
          <p:nvPr/>
        </p:nvPicPr>
        <p:blipFill>
          <a:blip r:embed="rId3"/>
          <a:stretch>
            <a:fillRect/>
          </a:stretch>
        </p:blipFill>
        <p:spPr>
          <a:xfrm>
            <a:off x="5559552" y="2770632"/>
            <a:ext cx="384048" cy="384048"/>
          </a:xfrm>
          <a:prstGeom prst="rect">
            <a:avLst/>
          </a:prstGeom>
        </p:spPr>
      </p:pic>
      <p:sp>
        <p:nvSpPr>
          <p:cNvPr id="22" name="Text 16"/>
          <p:cNvSpPr txBox="1"/>
          <p:nvPr/>
        </p:nvSpPr>
        <p:spPr>
          <a:xfrm>
            <a:off x="4544568" y="32644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For or since?</a:t>
            </a:r>
            <a:endParaRPr lang="en-US" sz="1600" dirty="0"/>
          </a:p>
        </p:txBody>
      </p:sp>
      <p:sp>
        <p:nvSpPr>
          <p:cNvPr id="23" name="Text 17"/>
          <p:cNvSpPr txBox="1"/>
          <p:nvPr/>
        </p:nvSpPr>
        <p:spPr>
          <a:xfrm>
            <a:off x="4544568" y="38404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6336792" y="26060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6473952"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6473952"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Plane">    </p:cNvPr>
          <p:cNvPicPr>
            <a:picLocks noChangeAspect="1"/>
          </p:cNvPicPr>
          <p:nvPr/>
        </p:nvPicPr>
        <p:blipFill>
          <a:blip r:embed="rId4"/>
          <a:stretch>
            <a:fillRect/>
          </a:stretch>
        </p:blipFill>
        <p:spPr>
          <a:xfrm>
            <a:off x="7488936" y="2770632"/>
            <a:ext cx="384048" cy="384048"/>
          </a:xfrm>
          <a:prstGeom prst="rect">
            <a:avLst/>
          </a:prstGeom>
        </p:spPr>
      </p:pic>
      <p:sp>
        <p:nvSpPr>
          <p:cNvPr id="28" name="Text 21"/>
          <p:cNvSpPr txBox="1"/>
          <p:nvPr/>
        </p:nvSpPr>
        <p:spPr>
          <a:xfrm>
            <a:off x="6473952" y="32644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Been or gone?</a:t>
            </a:r>
            <a:endParaRPr lang="en-US" sz="1600" dirty="0"/>
          </a:p>
        </p:txBody>
      </p:sp>
      <p:sp>
        <p:nvSpPr>
          <p:cNvPr id="29" name="Text 22"/>
          <p:cNvSpPr txBox="1"/>
          <p:nvPr/>
        </p:nvSpPr>
        <p:spPr>
          <a:xfrm>
            <a:off x="6473952" y="38404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8266176" y="26060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8403336" y="27432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8403336"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Lock">    </p:cNvPr>
          <p:cNvPicPr>
            <a:picLocks noChangeAspect="1"/>
          </p:cNvPicPr>
          <p:nvPr/>
        </p:nvPicPr>
        <p:blipFill>
          <a:blip r:embed="rId5"/>
          <a:stretch>
            <a:fillRect/>
          </a:stretch>
        </p:blipFill>
        <p:spPr>
          <a:xfrm>
            <a:off x="9418320" y="2770632"/>
            <a:ext cx="384048" cy="384048"/>
          </a:xfrm>
          <a:prstGeom prst="rect">
            <a:avLst/>
          </a:prstGeom>
        </p:spPr>
      </p:pic>
      <p:sp>
        <p:nvSpPr>
          <p:cNvPr id="34" name="Text 26"/>
          <p:cNvSpPr txBox="1"/>
          <p:nvPr/>
        </p:nvSpPr>
        <p:spPr>
          <a:xfrm>
            <a:off x="8403336" y="32644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Open or closed?</a:t>
            </a:r>
            <a:endParaRPr lang="en-US" sz="1600" dirty="0"/>
          </a:p>
        </p:txBody>
      </p:sp>
      <p:sp>
        <p:nvSpPr>
          <p:cNvPr id="35" name="Text 27"/>
          <p:cNvSpPr txBox="1"/>
          <p:nvPr/>
        </p:nvSpPr>
        <p:spPr>
          <a:xfrm>
            <a:off x="8403336" y="38404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548640" y="44348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685800" y="45720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685800"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BalanceScale">    </p:cNvPr>
          <p:cNvPicPr>
            <a:picLocks noChangeAspect="1"/>
          </p:cNvPicPr>
          <p:nvPr/>
        </p:nvPicPr>
        <p:blipFill>
          <a:blip r:embed="rId6"/>
          <a:stretch>
            <a:fillRect/>
          </a:stretch>
        </p:blipFill>
        <p:spPr>
          <a:xfrm>
            <a:off x="1700784" y="4599432"/>
            <a:ext cx="384048" cy="384048"/>
          </a:xfrm>
          <a:prstGeom prst="rect">
            <a:avLst/>
          </a:prstGeom>
        </p:spPr>
      </p:pic>
      <p:sp>
        <p:nvSpPr>
          <p:cNvPr id="40" name="Text 31"/>
          <p:cNvSpPr txBox="1"/>
          <p:nvPr/>
        </p:nvSpPr>
        <p:spPr>
          <a:xfrm>
            <a:off x="685800" y="50932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PS or PP?</a:t>
            </a:r>
            <a:endParaRPr lang="en-US" sz="1600" dirty="0"/>
          </a:p>
        </p:txBody>
      </p:sp>
      <p:sp>
        <p:nvSpPr>
          <p:cNvPr id="41" name="Text 32"/>
          <p:cNvSpPr txBox="1"/>
          <p:nvPr/>
        </p:nvSpPr>
        <p:spPr>
          <a:xfrm>
            <a:off x="685800" y="56692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2478024" y="44348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2615184" y="4572000"/>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2615184"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Comments">    </p:cNvPr>
          <p:cNvPicPr>
            <a:picLocks noChangeAspect="1"/>
          </p:cNvPicPr>
          <p:nvPr/>
        </p:nvPicPr>
        <p:blipFill>
          <a:blip r:embed="rId7"/>
          <a:stretch>
            <a:fillRect/>
          </a:stretch>
        </p:blipFill>
        <p:spPr>
          <a:xfrm>
            <a:off x="3630168" y="4599432"/>
            <a:ext cx="384048" cy="384048"/>
          </a:xfrm>
          <a:prstGeom prst="rect">
            <a:avLst/>
          </a:prstGeom>
        </p:spPr>
      </p:pic>
      <p:sp>
        <p:nvSpPr>
          <p:cNvPr id="46" name="Text 36"/>
          <p:cNvSpPr txBox="1"/>
          <p:nvPr/>
        </p:nvSpPr>
        <p:spPr>
          <a:xfrm>
            <a:off x="2615184" y="50932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The dialogue</a:t>
            </a:r>
            <a:endParaRPr lang="en-US" sz="1600" dirty="0"/>
          </a:p>
        </p:txBody>
      </p:sp>
      <p:sp>
        <p:nvSpPr>
          <p:cNvPr id="47" name="Text 37"/>
          <p:cNvSpPr txBox="1"/>
          <p:nvPr/>
        </p:nvSpPr>
        <p:spPr>
          <a:xfrm>
            <a:off x="2615184" y="56692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8" name="Shape 38"/>
          <p:cNvSpPr/>
          <p:nvPr/>
        </p:nvSpPr>
        <p:spPr>
          <a:xfrm>
            <a:off x="4407408" y="44348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9" name="Shape 39"/>
          <p:cNvSpPr/>
          <p:nvPr/>
        </p:nvSpPr>
        <p:spPr>
          <a:xfrm>
            <a:off x="4544568" y="4572000"/>
            <a:ext cx="438912" cy="438912"/>
          </a:xfrm>
          <a:prstGeom prst="ellipse">
            <a:avLst/>
          </a:prstGeom>
          <a:solidFill>
            <a:schemeClr val="accent1"/>
          </a:solidFill>
          <a:ln w="12700">
            <a:solidFill>
              <a:srgbClr val="FFFFFF">
                <a:alpha val="0"/>
              </a:srgbClr>
            </a:solidFill>
            <a:prstDash val="solid"/>
          </a:ln>
        </p:spPr>
      </p:sp>
      <p:sp>
        <p:nvSpPr>
          <p:cNvPr id="50" name="Text 40"/>
          <p:cNvSpPr txBox="1"/>
          <p:nvPr/>
        </p:nvSpPr>
        <p:spPr>
          <a:xfrm>
            <a:off x="4544568"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pic>
        <p:nvPicPr>
          <p:cNvPr id="51" name="Image 7" descr="Search">    </p:cNvPr>
          <p:cNvPicPr>
            <a:picLocks noChangeAspect="1"/>
          </p:cNvPicPr>
          <p:nvPr/>
        </p:nvPicPr>
        <p:blipFill>
          <a:blip r:embed="rId8"/>
          <a:stretch>
            <a:fillRect/>
          </a:stretch>
        </p:blipFill>
        <p:spPr>
          <a:xfrm>
            <a:off x="5559552" y="4599432"/>
            <a:ext cx="384048" cy="384048"/>
          </a:xfrm>
          <a:prstGeom prst="rect">
            <a:avLst/>
          </a:prstGeom>
        </p:spPr>
      </p:pic>
      <p:sp>
        <p:nvSpPr>
          <p:cNvPr id="52" name="Text 41"/>
          <p:cNvSpPr txBox="1"/>
          <p:nvPr/>
        </p:nvSpPr>
        <p:spPr>
          <a:xfrm>
            <a:off x="4544568" y="50932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Detective</a:t>
            </a:r>
            <a:endParaRPr lang="en-US" sz="1600" dirty="0"/>
          </a:p>
        </p:txBody>
      </p:sp>
      <p:sp>
        <p:nvSpPr>
          <p:cNvPr id="53" name="Text 42"/>
          <p:cNvSpPr txBox="1"/>
          <p:nvPr/>
        </p:nvSpPr>
        <p:spPr>
          <a:xfrm>
            <a:off x="4544568" y="56692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54" name="Shape 43"/>
          <p:cNvSpPr/>
          <p:nvPr/>
        </p:nvSpPr>
        <p:spPr>
          <a:xfrm>
            <a:off x="6336792" y="44348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55" name="Shape 44"/>
          <p:cNvSpPr/>
          <p:nvPr/>
        </p:nvSpPr>
        <p:spPr>
          <a:xfrm>
            <a:off x="6473952" y="4572000"/>
            <a:ext cx="438912" cy="438912"/>
          </a:xfrm>
          <a:prstGeom prst="ellipse">
            <a:avLst/>
          </a:prstGeom>
          <a:solidFill>
            <a:schemeClr val="accent1"/>
          </a:solidFill>
          <a:ln w="12700">
            <a:solidFill>
              <a:srgbClr val="FFFFFF">
                <a:alpha val="0"/>
              </a:srgbClr>
            </a:solidFill>
            <a:prstDash val="solid"/>
          </a:ln>
        </p:spPr>
      </p:sp>
      <p:sp>
        <p:nvSpPr>
          <p:cNvPr id="56" name="Text 45"/>
          <p:cNvSpPr txBox="1"/>
          <p:nvPr/>
        </p:nvSpPr>
        <p:spPr>
          <a:xfrm>
            <a:off x="6473952"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pic>
        <p:nvPicPr>
          <p:cNvPr id="57" name="Image 8" descr="Users">    </p:cNvPr>
          <p:cNvPicPr>
            <a:picLocks noChangeAspect="1"/>
          </p:cNvPicPr>
          <p:nvPr/>
        </p:nvPicPr>
        <p:blipFill>
          <a:blip r:embed="rId9"/>
          <a:stretch>
            <a:fillRect/>
          </a:stretch>
        </p:blipFill>
        <p:spPr>
          <a:xfrm>
            <a:off x="7488936" y="4599432"/>
            <a:ext cx="384048" cy="384048"/>
          </a:xfrm>
          <a:prstGeom prst="rect">
            <a:avLst/>
          </a:prstGeom>
        </p:spPr>
      </p:pic>
      <p:sp>
        <p:nvSpPr>
          <p:cNvPr id="58" name="Text 46"/>
          <p:cNvSpPr txBox="1"/>
          <p:nvPr/>
        </p:nvSpPr>
        <p:spPr>
          <a:xfrm>
            <a:off x="6473952" y="50932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Find someone</a:t>
            </a:r>
            <a:endParaRPr lang="en-US" sz="1600" dirty="0"/>
          </a:p>
        </p:txBody>
      </p:sp>
      <p:sp>
        <p:nvSpPr>
          <p:cNvPr id="59" name="Text 47"/>
          <p:cNvSpPr txBox="1"/>
          <p:nvPr/>
        </p:nvSpPr>
        <p:spPr>
          <a:xfrm>
            <a:off x="6473952" y="56692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60" name="Shape 48"/>
          <p:cNvSpPr/>
          <p:nvPr/>
        </p:nvSpPr>
        <p:spPr>
          <a:xfrm>
            <a:off x="8266176" y="4434840"/>
            <a:ext cx="1700784"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61" name="Shape 49"/>
          <p:cNvSpPr/>
          <p:nvPr/>
        </p:nvSpPr>
        <p:spPr>
          <a:xfrm>
            <a:off x="8403336" y="4572000"/>
            <a:ext cx="438912" cy="438912"/>
          </a:xfrm>
          <a:prstGeom prst="ellipse">
            <a:avLst/>
          </a:prstGeom>
          <a:solidFill>
            <a:schemeClr val="accent1"/>
          </a:solidFill>
          <a:ln w="12700">
            <a:solidFill>
              <a:srgbClr val="FFFFFF">
                <a:alpha val="0"/>
              </a:srgbClr>
            </a:solidFill>
            <a:prstDash val="solid"/>
          </a:ln>
        </p:spPr>
      </p:sp>
      <p:sp>
        <p:nvSpPr>
          <p:cNvPr id="62" name="Text 50"/>
          <p:cNvSpPr txBox="1"/>
          <p:nvPr/>
        </p:nvSpPr>
        <p:spPr>
          <a:xfrm>
            <a:off x="8403336" y="45720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pic>
        <p:nvPicPr>
          <p:cNvPr id="63" name="Image 9" descr="Briefcase">    </p:cNvPr>
          <p:cNvPicPr>
            <a:picLocks noChangeAspect="1"/>
          </p:cNvPicPr>
          <p:nvPr/>
        </p:nvPicPr>
        <p:blipFill>
          <a:blip r:embed="rId10"/>
          <a:stretch>
            <a:fillRect/>
          </a:stretch>
        </p:blipFill>
        <p:spPr>
          <a:xfrm>
            <a:off x="9418320" y="4599432"/>
            <a:ext cx="384048" cy="384048"/>
          </a:xfrm>
          <a:prstGeom prst="rect">
            <a:avLst/>
          </a:prstGeom>
        </p:spPr>
      </p:pic>
      <p:sp>
        <p:nvSpPr>
          <p:cNvPr id="64" name="Text 51"/>
          <p:cNvSpPr txBox="1"/>
          <p:nvPr/>
        </p:nvSpPr>
        <p:spPr>
          <a:xfrm>
            <a:off x="8403336" y="5093208"/>
            <a:ext cx="1426464" cy="621792"/>
          </a:xfrm>
          <a:prstGeom prst="rect">
            <a:avLst/>
          </a:prstGeom>
          <a:noFill/>
          <a:ln/>
        </p:spPr>
        <p:txBody>
          <a:bodyPr wrap="square" lIns="0" tIns="0" rIns="0" bIns="0" rtlCol="0" anchor="t"/>
          <a:lstStyle/>
          <a:p>
            <a:pPr algn="l" indent="0" marL="0">
              <a:buNone/>
            </a:pPr>
            <a:r>
              <a:rPr lang="en-US" sz="1600" b="1" dirty="0">
                <a:solidFill>
                  <a:schemeClr val="bg1"/>
                </a:solidFill>
              </a:rPr>
              <a:t>Job interview</a:t>
            </a:r>
            <a:endParaRPr lang="en-US" sz="1600" dirty="0"/>
          </a:p>
        </p:txBody>
      </p:sp>
      <p:sp>
        <p:nvSpPr>
          <p:cNvPr id="65" name="Text 52"/>
          <p:cNvSpPr txBox="1"/>
          <p:nvPr/>
        </p:nvSpPr>
        <p:spPr>
          <a:xfrm>
            <a:off x="8403336" y="5669280"/>
            <a:ext cx="1426464"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66" name="Image 10" descr="man teacher">    </p:cNvPr>
          <p:cNvPicPr>
            <a:picLocks noChangeAspect="1"/>
          </p:cNvPicPr>
          <p:nvPr/>
        </p:nvPicPr>
        <p:blipFill>
          <a:blip r:embed="rId11"/>
          <a:stretch>
            <a:fillRect/>
          </a:stretch>
        </p:blipFill>
        <p:spPr>
          <a:xfrm>
            <a:off x="10058400" y="3657600"/>
            <a:ext cx="1645920" cy="164592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1 — The 3rd form</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Write the past participle. Regular or irregular?</a:t>
            </a:r>
            <a:endParaRPr lang="en-US" sz="1700" dirty="0"/>
          </a:p>
        </p:txBody>
      </p:sp>
      <p:sp>
        <p:nvSpPr>
          <p:cNvPr id="8" name="Shape 4"/>
          <p:cNvSpPr/>
          <p:nvPr/>
        </p:nvSpPr>
        <p:spPr>
          <a:xfrm>
            <a:off x="548640" y="1969008"/>
            <a:ext cx="5454396" cy="615188"/>
          </a:xfrm>
          <a:prstGeom prst="roundRect">
            <a:avLst>
              <a:gd name="adj" fmla="val 14864"/>
            </a:avLst>
          </a:prstGeom>
          <a:solidFill>
            <a:schemeClr val="bg2"/>
          </a:solidFill>
          <a:ln w="9525">
            <a:solidFill>
              <a:srgbClr val="D5DCE6"/>
            </a:solidFill>
            <a:prstDash val="solid"/>
          </a:ln>
        </p:spPr>
      </p:sp>
      <p:sp>
        <p:nvSpPr>
          <p:cNvPr id="9" name="Text 5"/>
          <p:cNvSpPr txBox="1"/>
          <p:nvPr/>
        </p:nvSpPr>
        <p:spPr>
          <a:xfrm>
            <a:off x="640080" y="1969008"/>
            <a:ext cx="365760" cy="615188"/>
          </a:xfrm>
          <a:prstGeom prst="rect">
            <a:avLst/>
          </a:prstGeom>
          <a:noFill/>
          <a:ln/>
        </p:spPr>
        <p:txBody>
          <a:bodyPr wrap="square" lIns="0" tIns="0" rIns="0" bIns="0" rtlCol="0" anchor="ctr"/>
          <a:lstStyle/>
          <a:p>
            <a:pPr algn="l" indent="0" marL="0">
              <a:buNone/>
            </a:pPr>
            <a:r>
              <a:rPr lang="en-US" sz="1400" b="1" dirty="0">
                <a:solidFill>
                  <a:schemeClr val="accent5"/>
                </a:solidFill>
              </a:rPr>
              <a:t>1</a:t>
            </a:r>
            <a:endParaRPr lang="en-US" sz="1400" dirty="0"/>
          </a:p>
        </p:txBody>
      </p:sp>
      <p:sp>
        <p:nvSpPr>
          <p:cNvPr id="10" name="Shape 6"/>
          <p:cNvSpPr/>
          <p:nvPr/>
        </p:nvSpPr>
        <p:spPr>
          <a:xfrm>
            <a:off x="1051560" y="2057146"/>
            <a:ext cx="1280160" cy="384048"/>
          </a:xfrm>
          <a:prstGeom prst="roundRect">
            <a:avLst>
              <a:gd name="adj" fmla="val 28571"/>
            </a:avLst>
          </a:prstGeom>
          <a:solidFill>
            <a:srgbClr val="FBEDEB"/>
          </a:solidFill>
          <a:ln w="19050">
            <a:solidFill>
              <a:srgbClr val="B83227"/>
            </a:solidFill>
            <a:prstDash val="solid"/>
          </a:ln>
        </p:spPr>
      </p:sp>
      <p:sp>
        <p:nvSpPr>
          <p:cNvPr id="11" name="Text 7"/>
          <p:cNvSpPr txBox="1"/>
          <p:nvPr/>
        </p:nvSpPr>
        <p:spPr>
          <a:xfrm>
            <a:off x="1051560" y="2057146"/>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go</a:t>
            </a:r>
            <a:endParaRPr lang="en-US" sz="1600" dirty="0"/>
          </a:p>
        </p:txBody>
      </p:sp>
      <p:sp>
        <p:nvSpPr>
          <p:cNvPr id="12" name="Text 8"/>
          <p:cNvSpPr txBox="1"/>
          <p:nvPr/>
        </p:nvSpPr>
        <p:spPr>
          <a:xfrm>
            <a:off x="2423160" y="1969008"/>
            <a:ext cx="1371600" cy="61518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13" name="Text 9"/>
          <p:cNvSpPr txBox="1"/>
          <p:nvPr/>
        </p:nvSpPr>
        <p:spPr>
          <a:xfrm>
            <a:off x="3840480" y="1969008"/>
            <a:ext cx="2071116" cy="615188"/>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14" name="Shape 10"/>
          <p:cNvSpPr/>
          <p:nvPr/>
        </p:nvSpPr>
        <p:spPr>
          <a:xfrm>
            <a:off x="548640" y="2675636"/>
            <a:ext cx="5454396" cy="615188"/>
          </a:xfrm>
          <a:prstGeom prst="roundRect">
            <a:avLst>
              <a:gd name="adj" fmla="val 14864"/>
            </a:avLst>
          </a:prstGeom>
          <a:solidFill>
            <a:srgbClr val="FFFFFF"/>
          </a:solidFill>
          <a:ln w="9525">
            <a:solidFill>
              <a:srgbClr val="D5DCE6"/>
            </a:solidFill>
            <a:prstDash val="solid"/>
          </a:ln>
        </p:spPr>
      </p:sp>
      <p:sp>
        <p:nvSpPr>
          <p:cNvPr id="15" name="Text 11"/>
          <p:cNvSpPr txBox="1"/>
          <p:nvPr/>
        </p:nvSpPr>
        <p:spPr>
          <a:xfrm>
            <a:off x="640080" y="2675636"/>
            <a:ext cx="365760" cy="615188"/>
          </a:xfrm>
          <a:prstGeom prst="rect">
            <a:avLst/>
          </a:prstGeom>
          <a:noFill/>
          <a:ln/>
        </p:spPr>
        <p:txBody>
          <a:bodyPr wrap="square" lIns="0" tIns="0" rIns="0" bIns="0" rtlCol="0" anchor="ctr"/>
          <a:lstStyle/>
          <a:p>
            <a:pPr algn="l" indent="0" marL="0">
              <a:buNone/>
            </a:pPr>
            <a:r>
              <a:rPr lang="en-US" sz="1400" b="1" dirty="0">
                <a:solidFill>
                  <a:schemeClr val="accent5"/>
                </a:solidFill>
              </a:rPr>
              <a:t>2</a:t>
            </a:r>
            <a:endParaRPr lang="en-US" sz="1400" dirty="0"/>
          </a:p>
        </p:txBody>
      </p:sp>
      <p:sp>
        <p:nvSpPr>
          <p:cNvPr id="16" name="Shape 12"/>
          <p:cNvSpPr/>
          <p:nvPr/>
        </p:nvSpPr>
        <p:spPr>
          <a:xfrm>
            <a:off x="1051560" y="2763774"/>
            <a:ext cx="1280160" cy="384048"/>
          </a:xfrm>
          <a:prstGeom prst="roundRect">
            <a:avLst>
              <a:gd name="adj" fmla="val 28571"/>
            </a:avLst>
          </a:prstGeom>
          <a:solidFill>
            <a:srgbClr val="FBEDEB"/>
          </a:solidFill>
          <a:ln w="19050">
            <a:solidFill>
              <a:srgbClr val="B83227"/>
            </a:solidFill>
            <a:prstDash val="solid"/>
          </a:ln>
        </p:spPr>
      </p:sp>
      <p:sp>
        <p:nvSpPr>
          <p:cNvPr id="17" name="Text 13"/>
          <p:cNvSpPr txBox="1"/>
          <p:nvPr/>
        </p:nvSpPr>
        <p:spPr>
          <a:xfrm>
            <a:off x="1051560" y="2763774"/>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see</a:t>
            </a:r>
            <a:endParaRPr lang="en-US" sz="1600" dirty="0"/>
          </a:p>
        </p:txBody>
      </p:sp>
      <p:sp>
        <p:nvSpPr>
          <p:cNvPr id="18" name="Text 14"/>
          <p:cNvSpPr txBox="1"/>
          <p:nvPr/>
        </p:nvSpPr>
        <p:spPr>
          <a:xfrm>
            <a:off x="2423160" y="2675636"/>
            <a:ext cx="1371600" cy="61518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19" name="Text 15"/>
          <p:cNvSpPr txBox="1"/>
          <p:nvPr/>
        </p:nvSpPr>
        <p:spPr>
          <a:xfrm>
            <a:off x="3840480" y="2675636"/>
            <a:ext cx="2071116" cy="615188"/>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20" name="Shape 16"/>
          <p:cNvSpPr/>
          <p:nvPr/>
        </p:nvSpPr>
        <p:spPr>
          <a:xfrm>
            <a:off x="548640" y="3382264"/>
            <a:ext cx="5454396" cy="615188"/>
          </a:xfrm>
          <a:prstGeom prst="roundRect">
            <a:avLst>
              <a:gd name="adj" fmla="val 14864"/>
            </a:avLst>
          </a:prstGeom>
          <a:solidFill>
            <a:schemeClr val="bg2"/>
          </a:solidFill>
          <a:ln w="9525">
            <a:solidFill>
              <a:srgbClr val="D5DCE6"/>
            </a:solidFill>
            <a:prstDash val="solid"/>
          </a:ln>
        </p:spPr>
      </p:sp>
      <p:sp>
        <p:nvSpPr>
          <p:cNvPr id="21" name="Text 17"/>
          <p:cNvSpPr txBox="1"/>
          <p:nvPr/>
        </p:nvSpPr>
        <p:spPr>
          <a:xfrm>
            <a:off x="640080" y="3382264"/>
            <a:ext cx="365760" cy="615188"/>
          </a:xfrm>
          <a:prstGeom prst="rect">
            <a:avLst/>
          </a:prstGeom>
          <a:noFill/>
          <a:ln/>
        </p:spPr>
        <p:txBody>
          <a:bodyPr wrap="square" lIns="0" tIns="0" rIns="0" bIns="0" rtlCol="0" anchor="ctr"/>
          <a:lstStyle/>
          <a:p>
            <a:pPr algn="l" indent="0" marL="0">
              <a:buNone/>
            </a:pPr>
            <a:r>
              <a:rPr lang="en-US" sz="1400" b="1" dirty="0">
                <a:solidFill>
                  <a:schemeClr val="accent5"/>
                </a:solidFill>
              </a:rPr>
              <a:t>3</a:t>
            </a:r>
            <a:endParaRPr lang="en-US" sz="1400" dirty="0"/>
          </a:p>
        </p:txBody>
      </p:sp>
      <p:sp>
        <p:nvSpPr>
          <p:cNvPr id="22" name="Shape 18"/>
          <p:cNvSpPr/>
          <p:nvPr/>
        </p:nvSpPr>
        <p:spPr>
          <a:xfrm>
            <a:off x="1051560" y="3470402"/>
            <a:ext cx="1280160" cy="384048"/>
          </a:xfrm>
          <a:prstGeom prst="roundRect">
            <a:avLst>
              <a:gd name="adj" fmla="val 28571"/>
            </a:avLst>
          </a:prstGeom>
          <a:solidFill>
            <a:srgbClr val="FBEDEB"/>
          </a:solidFill>
          <a:ln w="19050">
            <a:solidFill>
              <a:srgbClr val="B83227"/>
            </a:solidFill>
            <a:prstDash val="solid"/>
          </a:ln>
        </p:spPr>
      </p:sp>
      <p:sp>
        <p:nvSpPr>
          <p:cNvPr id="23" name="Text 19"/>
          <p:cNvSpPr txBox="1"/>
          <p:nvPr/>
        </p:nvSpPr>
        <p:spPr>
          <a:xfrm>
            <a:off x="1051560" y="3470402"/>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write</a:t>
            </a:r>
            <a:endParaRPr lang="en-US" sz="1600" dirty="0"/>
          </a:p>
        </p:txBody>
      </p:sp>
      <p:sp>
        <p:nvSpPr>
          <p:cNvPr id="24" name="Text 20"/>
          <p:cNvSpPr txBox="1"/>
          <p:nvPr/>
        </p:nvSpPr>
        <p:spPr>
          <a:xfrm>
            <a:off x="2423160" y="3382264"/>
            <a:ext cx="1371600" cy="61518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25" name="Text 21"/>
          <p:cNvSpPr txBox="1"/>
          <p:nvPr/>
        </p:nvSpPr>
        <p:spPr>
          <a:xfrm>
            <a:off x="3840480" y="3382264"/>
            <a:ext cx="2071116" cy="615188"/>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26" name="Shape 22"/>
          <p:cNvSpPr/>
          <p:nvPr/>
        </p:nvSpPr>
        <p:spPr>
          <a:xfrm>
            <a:off x="548640" y="4088892"/>
            <a:ext cx="5454396" cy="615188"/>
          </a:xfrm>
          <a:prstGeom prst="roundRect">
            <a:avLst>
              <a:gd name="adj" fmla="val 14864"/>
            </a:avLst>
          </a:prstGeom>
          <a:solidFill>
            <a:srgbClr val="FFFFFF"/>
          </a:solidFill>
          <a:ln w="9525">
            <a:solidFill>
              <a:srgbClr val="D5DCE6"/>
            </a:solidFill>
            <a:prstDash val="solid"/>
          </a:ln>
        </p:spPr>
      </p:sp>
      <p:sp>
        <p:nvSpPr>
          <p:cNvPr id="27" name="Text 23"/>
          <p:cNvSpPr txBox="1"/>
          <p:nvPr/>
        </p:nvSpPr>
        <p:spPr>
          <a:xfrm>
            <a:off x="640080" y="4088892"/>
            <a:ext cx="365760" cy="615188"/>
          </a:xfrm>
          <a:prstGeom prst="rect">
            <a:avLst/>
          </a:prstGeom>
          <a:noFill/>
          <a:ln/>
        </p:spPr>
        <p:txBody>
          <a:bodyPr wrap="square" lIns="0" tIns="0" rIns="0" bIns="0" rtlCol="0" anchor="ctr"/>
          <a:lstStyle/>
          <a:p>
            <a:pPr algn="l" indent="0" marL="0">
              <a:buNone/>
            </a:pPr>
            <a:r>
              <a:rPr lang="en-US" sz="1400" b="1" dirty="0">
                <a:solidFill>
                  <a:schemeClr val="accent5"/>
                </a:solidFill>
              </a:rPr>
              <a:t>4</a:t>
            </a:r>
            <a:endParaRPr lang="en-US" sz="1400" dirty="0"/>
          </a:p>
        </p:txBody>
      </p:sp>
      <p:sp>
        <p:nvSpPr>
          <p:cNvPr id="28" name="Shape 24"/>
          <p:cNvSpPr/>
          <p:nvPr/>
        </p:nvSpPr>
        <p:spPr>
          <a:xfrm>
            <a:off x="1051560" y="4177030"/>
            <a:ext cx="1280160" cy="384048"/>
          </a:xfrm>
          <a:prstGeom prst="roundRect">
            <a:avLst>
              <a:gd name="adj" fmla="val 28571"/>
            </a:avLst>
          </a:prstGeom>
          <a:solidFill>
            <a:srgbClr val="FBEDEB"/>
          </a:solidFill>
          <a:ln w="19050">
            <a:solidFill>
              <a:srgbClr val="B83227"/>
            </a:solidFill>
            <a:prstDash val="solid"/>
          </a:ln>
        </p:spPr>
      </p:sp>
      <p:sp>
        <p:nvSpPr>
          <p:cNvPr id="29" name="Text 25"/>
          <p:cNvSpPr txBox="1"/>
          <p:nvPr/>
        </p:nvSpPr>
        <p:spPr>
          <a:xfrm>
            <a:off x="1051560" y="4177030"/>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eat</a:t>
            </a:r>
            <a:endParaRPr lang="en-US" sz="1600" dirty="0"/>
          </a:p>
        </p:txBody>
      </p:sp>
      <p:sp>
        <p:nvSpPr>
          <p:cNvPr id="30" name="Text 26"/>
          <p:cNvSpPr txBox="1"/>
          <p:nvPr/>
        </p:nvSpPr>
        <p:spPr>
          <a:xfrm>
            <a:off x="2423160" y="4088892"/>
            <a:ext cx="1371600" cy="61518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31" name="Text 27"/>
          <p:cNvSpPr txBox="1"/>
          <p:nvPr/>
        </p:nvSpPr>
        <p:spPr>
          <a:xfrm>
            <a:off x="3840480" y="4088892"/>
            <a:ext cx="2071116" cy="615188"/>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32" name="Shape 28"/>
          <p:cNvSpPr/>
          <p:nvPr/>
        </p:nvSpPr>
        <p:spPr>
          <a:xfrm>
            <a:off x="548640" y="4795520"/>
            <a:ext cx="5454396" cy="615188"/>
          </a:xfrm>
          <a:prstGeom prst="roundRect">
            <a:avLst>
              <a:gd name="adj" fmla="val 14864"/>
            </a:avLst>
          </a:prstGeom>
          <a:solidFill>
            <a:schemeClr val="bg2"/>
          </a:solidFill>
          <a:ln w="9525">
            <a:solidFill>
              <a:srgbClr val="D5DCE6"/>
            </a:solidFill>
            <a:prstDash val="solid"/>
          </a:ln>
        </p:spPr>
      </p:sp>
      <p:sp>
        <p:nvSpPr>
          <p:cNvPr id="33" name="Text 29"/>
          <p:cNvSpPr txBox="1"/>
          <p:nvPr/>
        </p:nvSpPr>
        <p:spPr>
          <a:xfrm>
            <a:off x="640080" y="4795520"/>
            <a:ext cx="365760" cy="615188"/>
          </a:xfrm>
          <a:prstGeom prst="rect">
            <a:avLst/>
          </a:prstGeom>
          <a:noFill/>
          <a:ln/>
        </p:spPr>
        <p:txBody>
          <a:bodyPr wrap="square" lIns="0" tIns="0" rIns="0" bIns="0" rtlCol="0" anchor="ctr"/>
          <a:lstStyle/>
          <a:p>
            <a:pPr algn="l" indent="0" marL="0">
              <a:buNone/>
            </a:pPr>
            <a:r>
              <a:rPr lang="en-US" sz="1400" b="1" dirty="0">
                <a:solidFill>
                  <a:schemeClr val="accent5"/>
                </a:solidFill>
              </a:rPr>
              <a:t>5</a:t>
            </a:r>
            <a:endParaRPr lang="en-US" sz="1400" dirty="0"/>
          </a:p>
        </p:txBody>
      </p:sp>
      <p:sp>
        <p:nvSpPr>
          <p:cNvPr id="34" name="Shape 30"/>
          <p:cNvSpPr/>
          <p:nvPr/>
        </p:nvSpPr>
        <p:spPr>
          <a:xfrm>
            <a:off x="1051560" y="4883658"/>
            <a:ext cx="1280160" cy="384048"/>
          </a:xfrm>
          <a:prstGeom prst="roundRect">
            <a:avLst>
              <a:gd name="adj" fmla="val 28571"/>
            </a:avLst>
          </a:prstGeom>
          <a:solidFill>
            <a:srgbClr val="FBEDEB"/>
          </a:solidFill>
          <a:ln w="19050">
            <a:solidFill>
              <a:srgbClr val="B83227"/>
            </a:solidFill>
            <a:prstDash val="solid"/>
          </a:ln>
        </p:spPr>
      </p:sp>
      <p:sp>
        <p:nvSpPr>
          <p:cNvPr id="35" name="Text 31"/>
          <p:cNvSpPr txBox="1"/>
          <p:nvPr/>
        </p:nvSpPr>
        <p:spPr>
          <a:xfrm>
            <a:off x="1051560" y="4883658"/>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take</a:t>
            </a:r>
            <a:endParaRPr lang="en-US" sz="1600" dirty="0"/>
          </a:p>
        </p:txBody>
      </p:sp>
      <p:sp>
        <p:nvSpPr>
          <p:cNvPr id="36" name="Text 32"/>
          <p:cNvSpPr txBox="1"/>
          <p:nvPr/>
        </p:nvSpPr>
        <p:spPr>
          <a:xfrm>
            <a:off x="2423160" y="4795520"/>
            <a:ext cx="1371600" cy="61518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37" name="Text 33"/>
          <p:cNvSpPr txBox="1"/>
          <p:nvPr/>
        </p:nvSpPr>
        <p:spPr>
          <a:xfrm>
            <a:off x="3840480" y="4795520"/>
            <a:ext cx="2071116" cy="615188"/>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38" name="Shape 34"/>
          <p:cNvSpPr/>
          <p:nvPr/>
        </p:nvSpPr>
        <p:spPr>
          <a:xfrm>
            <a:off x="548640" y="5502148"/>
            <a:ext cx="5454396" cy="615188"/>
          </a:xfrm>
          <a:prstGeom prst="roundRect">
            <a:avLst>
              <a:gd name="adj" fmla="val 14864"/>
            </a:avLst>
          </a:prstGeom>
          <a:solidFill>
            <a:srgbClr val="FFFFFF"/>
          </a:solidFill>
          <a:ln w="9525">
            <a:solidFill>
              <a:srgbClr val="D5DCE6"/>
            </a:solidFill>
            <a:prstDash val="solid"/>
          </a:ln>
        </p:spPr>
      </p:sp>
      <p:sp>
        <p:nvSpPr>
          <p:cNvPr id="39" name="Text 35"/>
          <p:cNvSpPr txBox="1"/>
          <p:nvPr/>
        </p:nvSpPr>
        <p:spPr>
          <a:xfrm>
            <a:off x="640080" y="5502148"/>
            <a:ext cx="365760" cy="615188"/>
          </a:xfrm>
          <a:prstGeom prst="rect">
            <a:avLst/>
          </a:prstGeom>
          <a:noFill/>
          <a:ln/>
        </p:spPr>
        <p:txBody>
          <a:bodyPr wrap="square" lIns="0" tIns="0" rIns="0" bIns="0" rtlCol="0" anchor="ctr"/>
          <a:lstStyle/>
          <a:p>
            <a:pPr algn="l" indent="0" marL="0">
              <a:buNone/>
            </a:pPr>
            <a:r>
              <a:rPr lang="en-US" sz="1400" b="1" dirty="0">
                <a:solidFill>
                  <a:schemeClr val="accent5"/>
                </a:solidFill>
              </a:rPr>
              <a:t>6</a:t>
            </a:r>
            <a:endParaRPr lang="en-US" sz="1400" dirty="0"/>
          </a:p>
        </p:txBody>
      </p:sp>
      <p:sp>
        <p:nvSpPr>
          <p:cNvPr id="40" name="Shape 36"/>
          <p:cNvSpPr/>
          <p:nvPr/>
        </p:nvSpPr>
        <p:spPr>
          <a:xfrm>
            <a:off x="1051560" y="5590286"/>
            <a:ext cx="1280160" cy="384048"/>
          </a:xfrm>
          <a:prstGeom prst="roundRect">
            <a:avLst>
              <a:gd name="adj" fmla="val 28571"/>
            </a:avLst>
          </a:prstGeom>
          <a:solidFill>
            <a:srgbClr val="FBEDEB"/>
          </a:solidFill>
          <a:ln w="19050">
            <a:solidFill>
              <a:srgbClr val="B83227"/>
            </a:solidFill>
            <a:prstDash val="solid"/>
          </a:ln>
        </p:spPr>
      </p:sp>
      <p:sp>
        <p:nvSpPr>
          <p:cNvPr id="41" name="Text 37"/>
          <p:cNvSpPr txBox="1"/>
          <p:nvPr/>
        </p:nvSpPr>
        <p:spPr>
          <a:xfrm>
            <a:off x="1051560" y="5590286"/>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be</a:t>
            </a:r>
            <a:endParaRPr lang="en-US" sz="1600" dirty="0"/>
          </a:p>
        </p:txBody>
      </p:sp>
      <p:sp>
        <p:nvSpPr>
          <p:cNvPr id="42" name="Text 38"/>
          <p:cNvSpPr txBox="1"/>
          <p:nvPr/>
        </p:nvSpPr>
        <p:spPr>
          <a:xfrm>
            <a:off x="2423160" y="5502148"/>
            <a:ext cx="1371600" cy="61518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43" name="Text 39"/>
          <p:cNvSpPr txBox="1"/>
          <p:nvPr/>
        </p:nvSpPr>
        <p:spPr>
          <a:xfrm>
            <a:off x="3840480" y="5502148"/>
            <a:ext cx="2071116" cy="615188"/>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44" name="Shape 40"/>
          <p:cNvSpPr/>
          <p:nvPr/>
        </p:nvSpPr>
        <p:spPr>
          <a:xfrm>
            <a:off x="6185916" y="1969008"/>
            <a:ext cx="5454396" cy="615188"/>
          </a:xfrm>
          <a:prstGeom prst="roundRect">
            <a:avLst>
              <a:gd name="adj" fmla="val 14864"/>
            </a:avLst>
          </a:prstGeom>
          <a:solidFill>
            <a:schemeClr val="bg2"/>
          </a:solidFill>
          <a:ln w="9525">
            <a:solidFill>
              <a:srgbClr val="D5DCE6"/>
            </a:solidFill>
            <a:prstDash val="solid"/>
          </a:ln>
        </p:spPr>
      </p:sp>
      <p:sp>
        <p:nvSpPr>
          <p:cNvPr id="45" name="Text 41"/>
          <p:cNvSpPr txBox="1"/>
          <p:nvPr/>
        </p:nvSpPr>
        <p:spPr>
          <a:xfrm>
            <a:off x="6277356" y="1969008"/>
            <a:ext cx="365760" cy="615188"/>
          </a:xfrm>
          <a:prstGeom prst="rect">
            <a:avLst/>
          </a:prstGeom>
          <a:noFill/>
          <a:ln/>
        </p:spPr>
        <p:txBody>
          <a:bodyPr wrap="square" lIns="0" tIns="0" rIns="0" bIns="0" rtlCol="0" anchor="ctr"/>
          <a:lstStyle/>
          <a:p>
            <a:pPr algn="l" indent="0" marL="0">
              <a:buNone/>
            </a:pPr>
            <a:r>
              <a:rPr lang="en-US" sz="1400" b="1" dirty="0">
                <a:solidFill>
                  <a:schemeClr val="accent5"/>
                </a:solidFill>
              </a:rPr>
              <a:t>7</a:t>
            </a:r>
            <a:endParaRPr lang="en-US" sz="1400" dirty="0"/>
          </a:p>
        </p:txBody>
      </p:sp>
      <p:sp>
        <p:nvSpPr>
          <p:cNvPr id="46" name="Shape 42"/>
          <p:cNvSpPr/>
          <p:nvPr/>
        </p:nvSpPr>
        <p:spPr>
          <a:xfrm>
            <a:off x="6688836" y="2057146"/>
            <a:ext cx="1280160" cy="384048"/>
          </a:xfrm>
          <a:prstGeom prst="roundRect">
            <a:avLst>
              <a:gd name="adj" fmla="val 28571"/>
            </a:avLst>
          </a:prstGeom>
          <a:solidFill>
            <a:srgbClr val="FBEDEB"/>
          </a:solidFill>
          <a:ln w="19050">
            <a:solidFill>
              <a:srgbClr val="B83227"/>
            </a:solidFill>
            <a:prstDash val="solid"/>
          </a:ln>
        </p:spPr>
      </p:sp>
      <p:sp>
        <p:nvSpPr>
          <p:cNvPr id="47" name="Text 43"/>
          <p:cNvSpPr txBox="1"/>
          <p:nvPr/>
        </p:nvSpPr>
        <p:spPr>
          <a:xfrm>
            <a:off x="6688836" y="2057146"/>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do</a:t>
            </a:r>
            <a:endParaRPr lang="en-US" sz="1600" dirty="0"/>
          </a:p>
        </p:txBody>
      </p:sp>
      <p:sp>
        <p:nvSpPr>
          <p:cNvPr id="48" name="Text 44"/>
          <p:cNvSpPr txBox="1"/>
          <p:nvPr/>
        </p:nvSpPr>
        <p:spPr>
          <a:xfrm>
            <a:off x="8060436" y="1969008"/>
            <a:ext cx="1371600" cy="61518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49" name="Text 45"/>
          <p:cNvSpPr txBox="1"/>
          <p:nvPr/>
        </p:nvSpPr>
        <p:spPr>
          <a:xfrm>
            <a:off x="9477756" y="1969008"/>
            <a:ext cx="2071116" cy="615188"/>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50" name="Shape 46"/>
          <p:cNvSpPr/>
          <p:nvPr/>
        </p:nvSpPr>
        <p:spPr>
          <a:xfrm>
            <a:off x="6185916" y="2675636"/>
            <a:ext cx="5454396" cy="615188"/>
          </a:xfrm>
          <a:prstGeom prst="roundRect">
            <a:avLst>
              <a:gd name="adj" fmla="val 14864"/>
            </a:avLst>
          </a:prstGeom>
          <a:solidFill>
            <a:srgbClr val="FFFFFF"/>
          </a:solidFill>
          <a:ln w="9525">
            <a:solidFill>
              <a:srgbClr val="D5DCE6"/>
            </a:solidFill>
            <a:prstDash val="solid"/>
          </a:ln>
        </p:spPr>
      </p:sp>
      <p:sp>
        <p:nvSpPr>
          <p:cNvPr id="51" name="Text 47"/>
          <p:cNvSpPr txBox="1"/>
          <p:nvPr/>
        </p:nvSpPr>
        <p:spPr>
          <a:xfrm>
            <a:off x="6277356" y="2675636"/>
            <a:ext cx="365760" cy="615188"/>
          </a:xfrm>
          <a:prstGeom prst="rect">
            <a:avLst/>
          </a:prstGeom>
          <a:noFill/>
          <a:ln/>
        </p:spPr>
        <p:txBody>
          <a:bodyPr wrap="square" lIns="0" tIns="0" rIns="0" bIns="0" rtlCol="0" anchor="ctr"/>
          <a:lstStyle/>
          <a:p>
            <a:pPr algn="l" indent="0" marL="0">
              <a:buNone/>
            </a:pPr>
            <a:r>
              <a:rPr lang="en-US" sz="1400" b="1" dirty="0">
                <a:solidFill>
                  <a:schemeClr val="accent5"/>
                </a:solidFill>
              </a:rPr>
              <a:t>8</a:t>
            </a:r>
            <a:endParaRPr lang="en-US" sz="1400" dirty="0"/>
          </a:p>
        </p:txBody>
      </p:sp>
      <p:sp>
        <p:nvSpPr>
          <p:cNvPr id="52" name="Shape 48"/>
          <p:cNvSpPr/>
          <p:nvPr/>
        </p:nvSpPr>
        <p:spPr>
          <a:xfrm>
            <a:off x="6688836" y="2763774"/>
            <a:ext cx="1280160" cy="384048"/>
          </a:xfrm>
          <a:prstGeom prst="roundRect">
            <a:avLst>
              <a:gd name="adj" fmla="val 28571"/>
            </a:avLst>
          </a:prstGeom>
          <a:solidFill>
            <a:srgbClr val="FBEDEB"/>
          </a:solidFill>
          <a:ln w="19050">
            <a:solidFill>
              <a:srgbClr val="B83227"/>
            </a:solidFill>
            <a:prstDash val="solid"/>
          </a:ln>
        </p:spPr>
      </p:sp>
      <p:sp>
        <p:nvSpPr>
          <p:cNvPr id="53" name="Text 49"/>
          <p:cNvSpPr txBox="1"/>
          <p:nvPr/>
        </p:nvSpPr>
        <p:spPr>
          <a:xfrm>
            <a:off x="6688836" y="2763774"/>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break</a:t>
            </a:r>
            <a:endParaRPr lang="en-US" sz="1600" dirty="0"/>
          </a:p>
        </p:txBody>
      </p:sp>
      <p:sp>
        <p:nvSpPr>
          <p:cNvPr id="54" name="Text 50"/>
          <p:cNvSpPr txBox="1"/>
          <p:nvPr/>
        </p:nvSpPr>
        <p:spPr>
          <a:xfrm>
            <a:off x="8060436" y="2675636"/>
            <a:ext cx="1371600" cy="61518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55" name="Text 51"/>
          <p:cNvSpPr txBox="1"/>
          <p:nvPr/>
        </p:nvSpPr>
        <p:spPr>
          <a:xfrm>
            <a:off x="9477756" y="2675636"/>
            <a:ext cx="2071116" cy="615188"/>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56" name="Shape 52"/>
          <p:cNvSpPr/>
          <p:nvPr/>
        </p:nvSpPr>
        <p:spPr>
          <a:xfrm>
            <a:off x="6185916" y="3382264"/>
            <a:ext cx="5454396" cy="615188"/>
          </a:xfrm>
          <a:prstGeom prst="roundRect">
            <a:avLst>
              <a:gd name="adj" fmla="val 14864"/>
            </a:avLst>
          </a:prstGeom>
          <a:solidFill>
            <a:schemeClr val="bg2"/>
          </a:solidFill>
          <a:ln w="9525">
            <a:solidFill>
              <a:srgbClr val="D5DCE6"/>
            </a:solidFill>
            <a:prstDash val="solid"/>
          </a:ln>
        </p:spPr>
      </p:sp>
      <p:sp>
        <p:nvSpPr>
          <p:cNvPr id="57" name="Text 53"/>
          <p:cNvSpPr txBox="1"/>
          <p:nvPr/>
        </p:nvSpPr>
        <p:spPr>
          <a:xfrm>
            <a:off x="6277356" y="3382264"/>
            <a:ext cx="365760" cy="615188"/>
          </a:xfrm>
          <a:prstGeom prst="rect">
            <a:avLst/>
          </a:prstGeom>
          <a:noFill/>
          <a:ln/>
        </p:spPr>
        <p:txBody>
          <a:bodyPr wrap="square" lIns="0" tIns="0" rIns="0" bIns="0" rtlCol="0" anchor="ctr"/>
          <a:lstStyle/>
          <a:p>
            <a:pPr algn="l" indent="0" marL="0">
              <a:buNone/>
            </a:pPr>
            <a:r>
              <a:rPr lang="en-US" sz="1400" b="1" dirty="0">
                <a:solidFill>
                  <a:schemeClr val="accent5"/>
                </a:solidFill>
              </a:rPr>
              <a:t>9</a:t>
            </a:r>
            <a:endParaRPr lang="en-US" sz="1400" dirty="0"/>
          </a:p>
        </p:txBody>
      </p:sp>
      <p:sp>
        <p:nvSpPr>
          <p:cNvPr id="58" name="Shape 54"/>
          <p:cNvSpPr/>
          <p:nvPr/>
        </p:nvSpPr>
        <p:spPr>
          <a:xfrm>
            <a:off x="6688836" y="3470402"/>
            <a:ext cx="1280160" cy="384048"/>
          </a:xfrm>
          <a:prstGeom prst="roundRect">
            <a:avLst>
              <a:gd name="adj" fmla="val 28571"/>
            </a:avLst>
          </a:prstGeom>
          <a:solidFill>
            <a:srgbClr val="FBEDEB"/>
          </a:solidFill>
          <a:ln w="19050">
            <a:solidFill>
              <a:srgbClr val="B83227"/>
            </a:solidFill>
            <a:prstDash val="solid"/>
          </a:ln>
        </p:spPr>
      </p:sp>
      <p:sp>
        <p:nvSpPr>
          <p:cNvPr id="59" name="Text 55"/>
          <p:cNvSpPr txBox="1"/>
          <p:nvPr/>
        </p:nvSpPr>
        <p:spPr>
          <a:xfrm>
            <a:off x="6688836" y="3470402"/>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speak</a:t>
            </a:r>
            <a:endParaRPr lang="en-US" sz="1600" dirty="0"/>
          </a:p>
        </p:txBody>
      </p:sp>
      <p:sp>
        <p:nvSpPr>
          <p:cNvPr id="60" name="Text 56"/>
          <p:cNvSpPr txBox="1"/>
          <p:nvPr/>
        </p:nvSpPr>
        <p:spPr>
          <a:xfrm>
            <a:off x="8060436" y="3382264"/>
            <a:ext cx="1371600" cy="61518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61" name="Text 57"/>
          <p:cNvSpPr txBox="1"/>
          <p:nvPr/>
        </p:nvSpPr>
        <p:spPr>
          <a:xfrm>
            <a:off x="9477756" y="3382264"/>
            <a:ext cx="2071116" cy="615188"/>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62" name="Shape 58"/>
          <p:cNvSpPr/>
          <p:nvPr/>
        </p:nvSpPr>
        <p:spPr>
          <a:xfrm>
            <a:off x="6185916" y="4088892"/>
            <a:ext cx="5454396" cy="615188"/>
          </a:xfrm>
          <a:prstGeom prst="roundRect">
            <a:avLst>
              <a:gd name="adj" fmla="val 14864"/>
            </a:avLst>
          </a:prstGeom>
          <a:solidFill>
            <a:srgbClr val="FFFFFF"/>
          </a:solidFill>
          <a:ln w="9525">
            <a:solidFill>
              <a:srgbClr val="D5DCE6"/>
            </a:solidFill>
            <a:prstDash val="solid"/>
          </a:ln>
        </p:spPr>
      </p:sp>
      <p:sp>
        <p:nvSpPr>
          <p:cNvPr id="63" name="Text 59"/>
          <p:cNvSpPr txBox="1"/>
          <p:nvPr/>
        </p:nvSpPr>
        <p:spPr>
          <a:xfrm>
            <a:off x="6277356" y="4088892"/>
            <a:ext cx="365760" cy="615188"/>
          </a:xfrm>
          <a:prstGeom prst="rect">
            <a:avLst/>
          </a:prstGeom>
          <a:noFill/>
          <a:ln/>
        </p:spPr>
        <p:txBody>
          <a:bodyPr wrap="square" lIns="0" tIns="0" rIns="0" bIns="0" rtlCol="0" anchor="ctr"/>
          <a:lstStyle/>
          <a:p>
            <a:pPr algn="l" indent="0" marL="0">
              <a:buNone/>
            </a:pPr>
            <a:r>
              <a:rPr lang="en-US" sz="1400" b="1" dirty="0">
                <a:solidFill>
                  <a:schemeClr val="accent5"/>
                </a:solidFill>
              </a:rPr>
              <a:t>10</a:t>
            </a:r>
            <a:endParaRPr lang="en-US" sz="1400" dirty="0"/>
          </a:p>
        </p:txBody>
      </p:sp>
      <p:sp>
        <p:nvSpPr>
          <p:cNvPr id="64" name="Shape 60"/>
          <p:cNvSpPr/>
          <p:nvPr/>
        </p:nvSpPr>
        <p:spPr>
          <a:xfrm>
            <a:off x="6688836" y="4177030"/>
            <a:ext cx="1280160" cy="384048"/>
          </a:xfrm>
          <a:prstGeom prst="roundRect">
            <a:avLst>
              <a:gd name="adj" fmla="val 28571"/>
            </a:avLst>
          </a:prstGeom>
          <a:solidFill>
            <a:srgbClr val="FBEDEB"/>
          </a:solidFill>
          <a:ln w="19050">
            <a:solidFill>
              <a:srgbClr val="B83227"/>
            </a:solidFill>
            <a:prstDash val="solid"/>
          </a:ln>
        </p:spPr>
      </p:sp>
      <p:sp>
        <p:nvSpPr>
          <p:cNvPr id="65" name="Text 61"/>
          <p:cNvSpPr txBox="1"/>
          <p:nvPr/>
        </p:nvSpPr>
        <p:spPr>
          <a:xfrm>
            <a:off x="6688836" y="4177030"/>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buy</a:t>
            </a:r>
            <a:endParaRPr lang="en-US" sz="1600" dirty="0"/>
          </a:p>
        </p:txBody>
      </p:sp>
      <p:sp>
        <p:nvSpPr>
          <p:cNvPr id="66" name="Text 62"/>
          <p:cNvSpPr txBox="1"/>
          <p:nvPr/>
        </p:nvSpPr>
        <p:spPr>
          <a:xfrm>
            <a:off x="8060436" y="4088892"/>
            <a:ext cx="1371600" cy="61518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67" name="Text 63"/>
          <p:cNvSpPr txBox="1"/>
          <p:nvPr/>
        </p:nvSpPr>
        <p:spPr>
          <a:xfrm>
            <a:off x="9477756" y="4088892"/>
            <a:ext cx="2071116" cy="615188"/>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68" name="Shape 64"/>
          <p:cNvSpPr/>
          <p:nvPr/>
        </p:nvSpPr>
        <p:spPr>
          <a:xfrm>
            <a:off x="6185916" y="4795520"/>
            <a:ext cx="5454396" cy="615188"/>
          </a:xfrm>
          <a:prstGeom prst="roundRect">
            <a:avLst>
              <a:gd name="adj" fmla="val 14864"/>
            </a:avLst>
          </a:prstGeom>
          <a:solidFill>
            <a:schemeClr val="bg2"/>
          </a:solidFill>
          <a:ln w="9525">
            <a:solidFill>
              <a:srgbClr val="D5DCE6"/>
            </a:solidFill>
            <a:prstDash val="solid"/>
          </a:ln>
        </p:spPr>
      </p:sp>
      <p:sp>
        <p:nvSpPr>
          <p:cNvPr id="69" name="Text 65"/>
          <p:cNvSpPr txBox="1"/>
          <p:nvPr/>
        </p:nvSpPr>
        <p:spPr>
          <a:xfrm>
            <a:off x="6277356" y="4795520"/>
            <a:ext cx="365760" cy="615188"/>
          </a:xfrm>
          <a:prstGeom prst="rect">
            <a:avLst/>
          </a:prstGeom>
          <a:noFill/>
          <a:ln/>
        </p:spPr>
        <p:txBody>
          <a:bodyPr wrap="square" lIns="0" tIns="0" rIns="0" bIns="0" rtlCol="0" anchor="ctr"/>
          <a:lstStyle/>
          <a:p>
            <a:pPr algn="l" indent="0" marL="0">
              <a:buNone/>
            </a:pPr>
            <a:r>
              <a:rPr lang="en-US" sz="1400" b="1" dirty="0">
                <a:solidFill>
                  <a:schemeClr val="accent5"/>
                </a:solidFill>
              </a:rPr>
              <a:t>11</a:t>
            </a:r>
            <a:endParaRPr lang="en-US" sz="1400" dirty="0"/>
          </a:p>
        </p:txBody>
      </p:sp>
      <p:sp>
        <p:nvSpPr>
          <p:cNvPr id="70" name="Shape 66"/>
          <p:cNvSpPr/>
          <p:nvPr/>
        </p:nvSpPr>
        <p:spPr>
          <a:xfrm>
            <a:off x="6688836" y="4883658"/>
            <a:ext cx="1280160" cy="384048"/>
          </a:xfrm>
          <a:prstGeom prst="roundRect">
            <a:avLst>
              <a:gd name="adj" fmla="val 28571"/>
            </a:avLst>
          </a:prstGeom>
          <a:solidFill>
            <a:srgbClr val="FBEDEB"/>
          </a:solidFill>
          <a:ln w="19050">
            <a:solidFill>
              <a:srgbClr val="B83227"/>
            </a:solidFill>
            <a:prstDash val="solid"/>
          </a:ln>
        </p:spPr>
      </p:sp>
      <p:sp>
        <p:nvSpPr>
          <p:cNvPr id="71" name="Text 67"/>
          <p:cNvSpPr txBox="1"/>
          <p:nvPr/>
        </p:nvSpPr>
        <p:spPr>
          <a:xfrm>
            <a:off x="6688836" y="4883658"/>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work</a:t>
            </a:r>
            <a:endParaRPr lang="en-US" sz="1600" dirty="0"/>
          </a:p>
        </p:txBody>
      </p:sp>
      <p:sp>
        <p:nvSpPr>
          <p:cNvPr id="72" name="Text 68"/>
          <p:cNvSpPr txBox="1"/>
          <p:nvPr/>
        </p:nvSpPr>
        <p:spPr>
          <a:xfrm>
            <a:off x="8060436" y="4795520"/>
            <a:ext cx="1371600" cy="61518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73" name="Text 69"/>
          <p:cNvSpPr txBox="1"/>
          <p:nvPr/>
        </p:nvSpPr>
        <p:spPr>
          <a:xfrm>
            <a:off x="9477756" y="4795520"/>
            <a:ext cx="2071116" cy="615188"/>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74" name="Shape 70"/>
          <p:cNvSpPr/>
          <p:nvPr/>
        </p:nvSpPr>
        <p:spPr>
          <a:xfrm>
            <a:off x="6185916" y="5502148"/>
            <a:ext cx="5454396" cy="615188"/>
          </a:xfrm>
          <a:prstGeom prst="roundRect">
            <a:avLst>
              <a:gd name="adj" fmla="val 14864"/>
            </a:avLst>
          </a:prstGeom>
          <a:solidFill>
            <a:srgbClr val="FFFFFF"/>
          </a:solidFill>
          <a:ln w="9525">
            <a:solidFill>
              <a:srgbClr val="D5DCE6"/>
            </a:solidFill>
            <a:prstDash val="solid"/>
          </a:ln>
        </p:spPr>
      </p:sp>
      <p:sp>
        <p:nvSpPr>
          <p:cNvPr id="75" name="Text 71"/>
          <p:cNvSpPr txBox="1"/>
          <p:nvPr/>
        </p:nvSpPr>
        <p:spPr>
          <a:xfrm>
            <a:off x="6277356" y="5502148"/>
            <a:ext cx="365760" cy="615188"/>
          </a:xfrm>
          <a:prstGeom prst="rect">
            <a:avLst/>
          </a:prstGeom>
          <a:noFill/>
          <a:ln/>
        </p:spPr>
        <p:txBody>
          <a:bodyPr wrap="square" lIns="0" tIns="0" rIns="0" bIns="0" rtlCol="0" anchor="ctr"/>
          <a:lstStyle/>
          <a:p>
            <a:pPr algn="l" indent="0" marL="0">
              <a:buNone/>
            </a:pPr>
            <a:r>
              <a:rPr lang="en-US" sz="1400" b="1" dirty="0">
                <a:solidFill>
                  <a:schemeClr val="accent5"/>
                </a:solidFill>
              </a:rPr>
              <a:t>12</a:t>
            </a:r>
            <a:endParaRPr lang="en-US" sz="1400" dirty="0"/>
          </a:p>
        </p:txBody>
      </p:sp>
      <p:sp>
        <p:nvSpPr>
          <p:cNvPr id="76" name="Shape 72"/>
          <p:cNvSpPr/>
          <p:nvPr/>
        </p:nvSpPr>
        <p:spPr>
          <a:xfrm>
            <a:off x="6688836" y="5590286"/>
            <a:ext cx="1280160" cy="384048"/>
          </a:xfrm>
          <a:prstGeom prst="roundRect">
            <a:avLst>
              <a:gd name="adj" fmla="val 28571"/>
            </a:avLst>
          </a:prstGeom>
          <a:solidFill>
            <a:srgbClr val="FBEDEB"/>
          </a:solidFill>
          <a:ln w="19050">
            <a:solidFill>
              <a:srgbClr val="B83227"/>
            </a:solidFill>
            <a:prstDash val="solid"/>
          </a:ln>
        </p:spPr>
      </p:sp>
      <p:sp>
        <p:nvSpPr>
          <p:cNvPr id="77" name="Text 73"/>
          <p:cNvSpPr txBox="1"/>
          <p:nvPr/>
        </p:nvSpPr>
        <p:spPr>
          <a:xfrm>
            <a:off x="6688836" y="5590286"/>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study</a:t>
            </a:r>
            <a:endParaRPr lang="en-US" sz="1600" dirty="0"/>
          </a:p>
        </p:txBody>
      </p:sp>
      <p:sp>
        <p:nvSpPr>
          <p:cNvPr id="78" name="Text 74"/>
          <p:cNvSpPr txBox="1"/>
          <p:nvPr/>
        </p:nvSpPr>
        <p:spPr>
          <a:xfrm>
            <a:off x="8060436" y="5502148"/>
            <a:ext cx="1371600" cy="61518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79" name="Text 75"/>
          <p:cNvSpPr txBox="1"/>
          <p:nvPr/>
        </p:nvSpPr>
        <p:spPr>
          <a:xfrm>
            <a:off x="9477756" y="5502148"/>
            <a:ext cx="2071116" cy="615188"/>
          </a:xfrm>
          <a:prstGeom prst="rect">
            <a:avLst/>
          </a:prstGeom>
          <a:noFill/>
          <a:ln/>
        </p:spPr>
        <p:txBody>
          <a:bodyPr wrap="square" lIns="0" tIns="0" rIns="0" bIns="0" rtlCol="0" anchor="ctr"/>
          <a:lstStyle/>
          <a:p>
            <a:pPr algn="l" indent="0" marL="0">
              <a:buNone/>
            </a:pPr>
            <a:r>
              <a:rPr lang="en-US" sz="1900" i="1" dirty="0">
                <a:solidFill>
                  <a:schemeClr val="accent5"/>
                </a:solidFill>
              </a:rPr>
              <a:t>…………</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1 — The 3rd form</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Write the past participle. Regular or irregular?</a:t>
            </a:r>
            <a:endParaRPr lang="en-US" sz="1700" dirty="0"/>
          </a:p>
        </p:txBody>
      </p:sp>
      <p:sp>
        <p:nvSpPr>
          <p:cNvPr id="9" name="Shape 5"/>
          <p:cNvSpPr/>
          <p:nvPr/>
        </p:nvSpPr>
        <p:spPr>
          <a:xfrm>
            <a:off x="548640" y="1969008"/>
            <a:ext cx="5454396" cy="569468"/>
          </a:xfrm>
          <a:prstGeom prst="roundRect">
            <a:avLst>
              <a:gd name="adj" fmla="val 16057"/>
            </a:avLst>
          </a:prstGeom>
          <a:solidFill>
            <a:schemeClr val="bg2"/>
          </a:solidFill>
          <a:ln w="9525">
            <a:solidFill>
              <a:srgbClr val="D5DCE6"/>
            </a:solidFill>
            <a:prstDash val="solid"/>
          </a:ln>
        </p:spPr>
      </p:sp>
      <p:sp>
        <p:nvSpPr>
          <p:cNvPr id="10" name="Text 6"/>
          <p:cNvSpPr txBox="1"/>
          <p:nvPr/>
        </p:nvSpPr>
        <p:spPr>
          <a:xfrm>
            <a:off x="640080" y="1969008"/>
            <a:ext cx="365760" cy="569468"/>
          </a:xfrm>
          <a:prstGeom prst="rect">
            <a:avLst/>
          </a:prstGeom>
          <a:noFill/>
          <a:ln/>
        </p:spPr>
        <p:txBody>
          <a:bodyPr wrap="square" lIns="0" tIns="0" rIns="0" bIns="0" rtlCol="0" anchor="ctr"/>
          <a:lstStyle/>
          <a:p>
            <a:pPr algn="l" indent="0" marL="0">
              <a:buNone/>
            </a:pPr>
            <a:r>
              <a:rPr lang="en-US" sz="1400" b="1" dirty="0">
                <a:solidFill>
                  <a:schemeClr val="accent5"/>
                </a:solidFill>
              </a:rPr>
              <a:t>1</a:t>
            </a:r>
            <a:endParaRPr lang="en-US" sz="1400" dirty="0"/>
          </a:p>
        </p:txBody>
      </p:sp>
      <p:sp>
        <p:nvSpPr>
          <p:cNvPr id="11" name="Shape 7"/>
          <p:cNvSpPr/>
          <p:nvPr/>
        </p:nvSpPr>
        <p:spPr>
          <a:xfrm>
            <a:off x="1051560" y="2034286"/>
            <a:ext cx="1280160" cy="384048"/>
          </a:xfrm>
          <a:prstGeom prst="roundRect">
            <a:avLst>
              <a:gd name="adj" fmla="val 28571"/>
            </a:avLst>
          </a:prstGeom>
          <a:solidFill>
            <a:srgbClr val="FBEDEB"/>
          </a:solidFill>
          <a:ln w="19050">
            <a:solidFill>
              <a:srgbClr val="B83227"/>
            </a:solidFill>
            <a:prstDash val="solid"/>
          </a:ln>
        </p:spPr>
      </p:sp>
      <p:sp>
        <p:nvSpPr>
          <p:cNvPr id="12" name="Text 8"/>
          <p:cNvSpPr txBox="1"/>
          <p:nvPr/>
        </p:nvSpPr>
        <p:spPr>
          <a:xfrm>
            <a:off x="1051560" y="2034286"/>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go</a:t>
            </a:r>
            <a:endParaRPr lang="en-US" sz="1600" dirty="0"/>
          </a:p>
        </p:txBody>
      </p:sp>
      <p:sp>
        <p:nvSpPr>
          <p:cNvPr id="13" name="Text 9"/>
          <p:cNvSpPr txBox="1"/>
          <p:nvPr/>
        </p:nvSpPr>
        <p:spPr>
          <a:xfrm>
            <a:off x="2423160" y="1969008"/>
            <a:ext cx="1371600" cy="56946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14" name="Text 10"/>
          <p:cNvSpPr txBox="1"/>
          <p:nvPr/>
        </p:nvSpPr>
        <p:spPr>
          <a:xfrm>
            <a:off x="3840480" y="1969008"/>
            <a:ext cx="2071116" cy="569468"/>
          </a:xfrm>
          <a:prstGeom prst="rect">
            <a:avLst/>
          </a:prstGeom>
          <a:noFill/>
          <a:ln/>
        </p:spPr>
        <p:txBody>
          <a:bodyPr wrap="square" lIns="0" tIns="0" rIns="0" bIns="0" rtlCol="0" anchor="ctr"/>
          <a:lstStyle/>
          <a:p>
            <a:pPr algn="l" indent="0" marL="0">
              <a:buNone/>
            </a:pPr>
            <a:r>
              <a:rPr lang="en-US" sz="1900" b="1" i="1" dirty="0">
                <a:solidFill>
                  <a:schemeClr val="accent3"/>
                </a:solidFill>
              </a:rPr>
              <a:t>gone</a:t>
            </a:r>
            <a:endParaRPr lang="en-US" sz="1900" dirty="0"/>
          </a:p>
        </p:txBody>
      </p:sp>
      <p:sp>
        <p:nvSpPr>
          <p:cNvPr id="15" name="Shape 11"/>
          <p:cNvSpPr/>
          <p:nvPr/>
        </p:nvSpPr>
        <p:spPr>
          <a:xfrm>
            <a:off x="548640" y="2629916"/>
            <a:ext cx="5454396" cy="569468"/>
          </a:xfrm>
          <a:prstGeom prst="roundRect">
            <a:avLst>
              <a:gd name="adj" fmla="val 16057"/>
            </a:avLst>
          </a:prstGeom>
          <a:solidFill>
            <a:srgbClr val="FFFFFF"/>
          </a:solidFill>
          <a:ln w="9525">
            <a:solidFill>
              <a:srgbClr val="D5DCE6"/>
            </a:solidFill>
            <a:prstDash val="solid"/>
          </a:ln>
        </p:spPr>
      </p:sp>
      <p:sp>
        <p:nvSpPr>
          <p:cNvPr id="16" name="Text 12"/>
          <p:cNvSpPr txBox="1"/>
          <p:nvPr/>
        </p:nvSpPr>
        <p:spPr>
          <a:xfrm>
            <a:off x="640080" y="2629916"/>
            <a:ext cx="365760" cy="569468"/>
          </a:xfrm>
          <a:prstGeom prst="rect">
            <a:avLst/>
          </a:prstGeom>
          <a:noFill/>
          <a:ln/>
        </p:spPr>
        <p:txBody>
          <a:bodyPr wrap="square" lIns="0" tIns="0" rIns="0" bIns="0" rtlCol="0" anchor="ctr"/>
          <a:lstStyle/>
          <a:p>
            <a:pPr algn="l" indent="0" marL="0">
              <a:buNone/>
            </a:pPr>
            <a:r>
              <a:rPr lang="en-US" sz="1400" b="1" dirty="0">
                <a:solidFill>
                  <a:schemeClr val="accent5"/>
                </a:solidFill>
              </a:rPr>
              <a:t>2</a:t>
            </a:r>
            <a:endParaRPr lang="en-US" sz="1400" dirty="0"/>
          </a:p>
        </p:txBody>
      </p:sp>
      <p:sp>
        <p:nvSpPr>
          <p:cNvPr id="17" name="Shape 13"/>
          <p:cNvSpPr/>
          <p:nvPr/>
        </p:nvSpPr>
        <p:spPr>
          <a:xfrm>
            <a:off x="1051560" y="2695194"/>
            <a:ext cx="1280160" cy="384048"/>
          </a:xfrm>
          <a:prstGeom prst="roundRect">
            <a:avLst>
              <a:gd name="adj" fmla="val 28571"/>
            </a:avLst>
          </a:prstGeom>
          <a:solidFill>
            <a:srgbClr val="FBEDEB"/>
          </a:solidFill>
          <a:ln w="19050">
            <a:solidFill>
              <a:srgbClr val="B83227"/>
            </a:solidFill>
            <a:prstDash val="solid"/>
          </a:ln>
        </p:spPr>
      </p:sp>
      <p:sp>
        <p:nvSpPr>
          <p:cNvPr id="18" name="Text 14"/>
          <p:cNvSpPr txBox="1"/>
          <p:nvPr/>
        </p:nvSpPr>
        <p:spPr>
          <a:xfrm>
            <a:off x="1051560" y="2695194"/>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see</a:t>
            </a:r>
            <a:endParaRPr lang="en-US" sz="1600" dirty="0"/>
          </a:p>
        </p:txBody>
      </p:sp>
      <p:sp>
        <p:nvSpPr>
          <p:cNvPr id="19" name="Text 15"/>
          <p:cNvSpPr txBox="1"/>
          <p:nvPr/>
        </p:nvSpPr>
        <p:spPr>
          <a:xfrm>
            <a:off x="2423160" y="2629916"/>
            <a:ext cx="1371600" cy="56946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20" name="Text 16"/>
          <p:cNvSpPr txBox="1"/>
          <p:nvPr/>
        </p:nvSpPr>
        <p:spPr>
          <a:xfrm>
            <a:off x="3840480" y="2629916"/>
            <a:ext cx="2071116" cy="569468"/>
          </a:xfrm>
          <a:prstGeom prst="rect">
            <a:avLst/>
          </a:prstGeom>
          <a:noFill/>
          <a:ln/>
        </p:spPr>
        <p:txBody>
          <a:bodyPr wrap="square" lIns="0" tIns="0" rIns="0" bIns="0" rtlCol="0" anchor="ctr"/>
          <a:lstStyle/>
          <a:p>
            <a:pPr algn="l" indent="0" marL="0">
              <a:buNone/>
            </a:pPr>
            <a:r>
              <a:rPr lang="en-US" sz="1900" b="1" i="1" dirty="0">
                <a:solidFill>
                  <a:schemeClr val="accent3"/>
                </a:solidFill>
              </a:rPr>
              <a:t>seen</a:t>
            </a:r>
            <a:endParaRPr lang="en-US" sz="1900" dirty="0"/>
          </a:p>
        </p:txBody>
      </p:sp>
      <p:sp>
        <p:nvSpPr>
          <p:cNvPr id="21" name="Shape 17"/>
          <p:cNvSpPr/>
          <p:nvPr/>
        </p:nvSpPr>
        <p:spPr>
          <a:xfrm>
            <a:off x="548640" y="3290824"/>
            <a:ext cx="5454396" cy="569468"/>
          </a:xfrm>
          <a:prstGeom prst="roundRect">
            <a:avLst>
              <a:gd name="adj" fmla="val 16057"/>
            </a:avLst>
          </a:prstGeom>
          <a:solidFill>
            <a:schemeClr val="bg2"/>
          </a:solidFill>
          <a:ln w="9525">
            <a:solidFill>
              <a:srgbClr val="D5DCE6"/>
            </a:solidFill>
            <a:prstDash val="solid"/>
          </a:ln>
        </p:spPr>
      </p:sp>
      <p:sp>
        <p:nvSpPr>
          <p:cNvPr id="22" name="Text 18"/>
          <p:cNvSpPr txBox="1"/>
          <p:nvPr/>
        </p:nvSpPr>
        <p:spPr>
          <a:xfrm>
            <a:off x="640080" y="3290824"/>
            <a:ext cx="365760" cy="569468"/>
          </a:xfrm>
          <a:prstGeom prst="rect">
            <a:avLst/>
          </a:prstGeom>
          <a:noFill/>
          <a:ln/>
        </p:spPr>
        <p:txBody>
          <a:bodyPr wrap="square" lIns="0" tIns="0" rIns="0" bIns="0" rtlCol="0" anchor="ctr"/>
          <a:lstStyle/>
          <a:p>
            <a:pPr algn="l" indent="0" marL="0">
              <a:buNone/>
            </a:pPr>
            <a:r>
              <a:rPr lang="en-US" sz="1400" b="1" dirty="0">
                <a:solidFill>
                  <a:schemeClr val="accent5"/>
                </a:solidFill>
              </a:rPr>
              <a:t>3</a:t>
            </a:r>
            <a:endParaRPr lang="en-US" sz="1400" dirty="0"/>
          </a:p>
        </p:txBody>
      </p:sp>
      <p:sp>
        <p:nvSpPr>
          <p:cNvPr id="23" name="Shape 19"/>
          <p:cNvSpPr/>
          <p:nvPr/>
        </p:nvSpPr>
        <p:spPr>
          <a:xfrm>
            <a:off x="1051560" y="3356102"/>
            <a:ext cx="1280160" cy="384048"/>
          </a:xfrm>
          <a:prstGeom prst="roundRect">
            <a:avLst>
              <a:gd name="adj" fmla="val 28571"/>
            </a:avLst>
          </a:prstGeom>
          <a:solidFill>
            <a:srgbClr val="FBEDEB"/>
          </a:solidFill>
          <a:ln w="19050">
            <a:solidFill>
              <a:srgbClr val="B83227"/>
            </a:solidFill>
            <a:prstDash val="solid"/>
          </a:ln>
        </p:spPr>
      </p:sp>
      <p:sp>
        <p:nvSpPr>
          <p:cNvPr id="24" name="Text 20"/>
          <p:cNvSpPr txBox="1"/>
          <p:nvPr/>
        </p:nvSpPr>
        <p:spPr>
          <a:xfrm>
            <a:off x="1051560" y="3356102"/>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write</a:t>
            </a:r>
            <a:endParaRPr lang="en-US" sz="1600" dirty="0"/>
          </a:p>
        </p:txBody>
      </p:sp>
      <p:sp>
        <p:nvSpPr>
          <p:cNvPr id="25" name="Text 21"/>
          <p:cNvSpPr txBox="1"/>
          <p:nvPr/>
        </p:nvSpPr>
        <p:spPr>
          <a:xfrm>
            <a:off x="2423160" y="3290824"/>
            <a:ext cx="1371600" cy="56946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26" name="Text 22"/>
          <p:cNvSpPr txBox="1"/>
          <p:nvPr/>
        </p:nvSpPr>
        <p:spPr>
          <a:xfrm>
            <a:off x="3840480" y="3290824"/>
            <a:ext cx="2071116" cy="569468"/>
          </a:xfrm>
          <a:prstGeom prst="rect">
            <a:avLst/>
          </a:prstGeom>
          <a:noFill/>
          <a:ln/>
        </p:spPr>
        <p:txBody>
          <a:bodyPr wrap="square" lIns="0" tIns="0" rIns="0" bIns="0" rtlCol="0" anchor="ctr"/>
          <a:lstStyle/>
          <a:p>
            <a:pPr algn="l" indent="0" marL="0">
              <a:buNone/>
            </a:pPr>
            <a:r>
              <a:rPr lang="en-US" sz="1900" b="1" i="1" dirty="0">
                <a:solidFill>
                  <a:schemeClr val="accent3"/>
                </a:solidFill>
              </a:rPr>
              <a:t>written</a:t>
            </a:r>
            <a:endParaRPr lang="en-US" sz="1900" dirty="0"/>
          </a:p>
        </p:txBody>
      </p:sp>
      <p:sp>
        <p:nvSpPr>
          <p:cNvPr id="27" name="Shape 23"/>
          <p:cNvSpPr/>
          <p:nvPr/>
        </p:nvSpPr>
        <p:spPr>
          <a:xfrm>
            <a:off x="548640" y="3951732"/>
            <a:ext cx="5454396" cy="569468"/>
          </a:xfrm>
          <a:prstGeom prst="roundRect">
            <a:avLst>
              <a:gd name="adj" fmla="val 16057"/>
            </a:avLst>
          </a:prstGeom>
          <a:solidFill>
            <a:srgbClr val="FFFFFF"/>
          </a:solidFill>
          <a:ln w="9525">
            <a:solidFill>
              <a:srgbClr val="D5DCE6"/>
            </a:solidFill>
            <a:prstDash val="solid"/>
          </a:ln>
        </p:spPr>
      </p:sp>
      <p:sp>
        <p:nvSpPr>
          <p:cNvPr id="28" name="Text 24"/>
          <p:cNvSpPr txBox="1"/>
          <p:nvPr/>
        </p:nvSpPr>
        <p:spPr>
          <a:xfrm>
            <a:off x="640080" y="3951732"/>
            <a:ext cx="365760" cy="569468"/>
          </a:xfrm>
          <a:prstGeom prst="rect">
            <a:avLst/>
          </a:prstGeom>
          <a:noFill/>
          <a:ln/>
        </p:spPr>
        <p:txBody>
          <a:bodyPr wrap="square" lIns="0" tIns="0" rIns="0" bIns="0" rtlCol="0" anchor="ctr"/>
          <a:lstStyle/>
          <a:p>
            <a:pPr algn="l" indent="0" marL="0">
              <a:buNone/>
            </a:pPr>
            <a:r>
              <a:rPr lang="en-US" sz="1400" b="1" dirty="0">
                <a:solidFill>
                  <a:schemeClr val="accent5"/>
                </a:solidFill>
              </a:rPr>
              <a:t>4</a:t>
            </a:r>
            <a:endParaRPr lang="en-US" sz="1400" dirty="0"/>
          </a:p>
        </p:txBody>
      </p:sp>
      <p:sp>
        <p:nvSpPr>
          <p:cNvPr id="29" name="Shape 25"/>
          <p:cNvSpPr/>
          <p:nvPr/>
        </p:nvSpPr>
        <p:spPr>
          <a:xfrm>
            <a:off x="1051560" y="4017010"/>
            <a:ext cx="1280160" cy="384048"/>
          </a:xfrm>
          <a:prstGeom prst="roundRect">
            <a:avLst>
              <a:gd name="adj" fmla="val 28571"/>
            </a:avLst>
          </a:prstGeom>
          <a:solidFill>
            <a:srgbClr val="FBEDEB"/>
          </a:solidFill>
          <a:ln w="19050">
            <a:solidFill>
              <a:srgbClr val="B83227"/>
            </a:solidFill>
            <a:prstDash val="solid"/>
          </a:ln>
        </p:spPr>
      </p:sp>
      <p:sp>
        <p:nvSpPr>
          <p:cNvPr id="30" name="Text 26"/>
          <p:cNvSpPr txBox="1"/>
          <p:nvPr/>
        </p:nvSpPr>
        <p:spPr>
          <a:xfrm>
            <a:off x="1051560" y="4017010"/>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eat</a:t>
            </a:r>
            <a:endParaRPr lang="en-US" sz="1600" dirty="0"/>
          </a:p>
        </p:txBody>
      </p:sp>
      <p:sp>
        <p:nvSpPr>
          <p:cNvPr id="31" name="Text 27"/>
          <p:cNvSpPr txBox="1"/>
          <p:nvPr/>
        </p:nvSpPr>
        <p:spPr>
          <a:xfrm>
            <a:off x="2423160" y="3951732"/>
            <a:ext cx="1371600" cy="56946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32" name="Text 28"/>
          <p:cNvSpPr txBox="1"/>
          <p:nvPr/>
        </p:nvSpPr>
        <p:spPr>
          <a:xfrm>
            <a:off x="3840480" y="3951732"/>
            <a:ext cx="2071116" cy="569468"/>
          </a:xfrm>
          <a:prstGeom prst="rect">
            <a:avLst/>
          </a:prstGeom>
          <a:noFill/>
          <a:ln/>
        </p:spPr>
        <p:txBody>
          <a:bodyPr wrap="square" lIns="0" tIns="0" rIns="0" bIns="0" rtlCol="0" anchor="ctr"/>
          <a:lstStyle/>
          <a:p>
            <a:pPr algn="l" indent="0" marL="0">
              <a:buNone/>
            </a:pPr>
            <a:r>
              <a:rPr lang="en-US" sz="1900" b="1" i="1" dirty="0">
                <a:solidFill>
                  <a:schemeClr val="accent3"/>
                </a:solidFill>
              </a:rPr>
              <a:t>eaten</a:t>
            </a:r>
            <a:endParaRPr lang="en-US" sz="1900" dirty="0"/>
          </a:p>
        </p:txBody>
      </p:sp>
      <p:sp>
        <p:nvSpPr>
          <p:cNvPr id="33" name="Shape 29"/>
          <p:cNvSpPr/>
          <p:nvPr/>
        </p:nvSpPr>
        <p:spPr>
          <a:xfrm>
            <a:off x="548640" y="4612640"/>
            <a:ext cx="5454396" cy="569468"/>
          </a:xfrm>
          <a:prstGeom prst="roundRect">
            <a:avLst>
              <a:gd name="adj" fmla="val 16057"/>
            </a:avLst>
          </a:prstGeom>
          <a:solidFill>
            <a:schemeClr val="bg2"/>
          </a:solidFill>
          <a:ln w="9525">
            <a:solidFill>
              <a:srgbClr val="D5DCE6"/>
            </a:solidFill>
            <a:prstDash val="solid"/>
          </a:ln>
        </p:spPr>
      </p:sp>
      <p:sp>
        <p:nvSpPr>
          <p:cNvPr id="34" name="Text 30"/>
          <p:cNvSpPr txBox="1"/>
          <p:nvPr/>
        </p:nvSpPr>
        <p:spPr>
          <a:xfrm>
            <a:off x="640080" y="4612640"/>
            <a:ext cx="365760" cy="569468"/>
          </a:xfrm>
          <a:prstGeom prst="rect">
            <a:avLst/>
          </a:prstGeom>
          <a:noFill/>
          <a:ln/>
        </p:spPr>
        <p:txBody>
          <a:bodyPr wrap="square" lIns="0" tIns="0" rIns="0" bIns="0" rtlCol="0" anchor="ctr"/>
          <a:lstStyle/>
          <a:p>
            <a:pPr algn="l" indent="0" marL="0">
              <a:buNone/>
            </a:pPr>
            <a:r>
              <a:rPr lang="en-US" sz="1400" b="1" dirty="0">
                <a:solidFill>
                  <a:schemeClr val="accent5"/>
                </a:solidFill>
              </a:rPr>
              <a:t>5</a:t>
            </a:r>
            <a:endParaRPr lang="en-US" sz="1400" dirty="0"/>
          </a:p>
        </p:txBody>
      </p:sp>
      <p:sp>
        <p:nvSpPr>
          <p:cNvPr id="35" name="Shape 31"/>
          <p:cNvSpPr/>
          <p:nvPr/>
        </p:nvSpPr>
        <p:spPr>
          <a:xfrm>
            <a:off x="1051560" y="4677918"/>
            <a:ext cx="1280160" cy="384048"/>
          </a:xfrm>
          <a:prstGeom prst="roundRect">
            <a:avLst>
              <a:gd name="adj" fmla="val 28571"/>
            </a:avLst>
          </a:prstGeom>
          <a:solidFill>
            <a:srgbClr val="FBEDEB"/>
          </a:solidFill>
          <a:ln w="19050">
            <a:solidFill>
              <a:srgbClr val="B83227"/>
            </a:solidFill>
            <a:prstDash val="solid"/>
          </a:ln>
        </p:spPr>
      </p:sp>
      <p:sp>
        <p:nvSpPr>
          <p:cNvPr id="36" name="Text 32"/>
          <p:cNvSpPr txBox="1"/>
          <p:nvPr/>
        </p:nvSpPr>
        <p:spPr>
          <a:xfrm>
            <a:off x="1051560" y="4677918"/>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take</a:t>
            </a:r>
            <a:endParaRPr lang="en-US" sz="1600" dirty="0"/>
          </a:p>
        </p:txBody>
      </p:sp>
      <p:sp>
        <p:nvSpPr>
          <p:cNvPr id="37" name="Text 33"/>
          <p:cNvSpPr txBox="1"/>
          <p:nvPr/>
        </p:nvSpPr>
        <p:spPr>
          <a:xfrm>
            <a:off x="2423160" y="4612640"/>
            <a:ext cx="1371600" cy="56946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38" name="Text 34"/>
          <p:cNvSpPr txBox="1"/>
          <p:nvPr/>
        </p:nvSpPr>
        <p:spPr>
          <a:xfrm>
            <a:off x="3840480" y="4612640"/>
            <a:ext cx="2071116" cy="569468"/>
          </a:xfrm>
          <a:prstGeom prst="rect">
            <a:avLst/>
          </a:prstGeom>
          <a:noFill/>
          <a:ln/>
        </p:spPr>
        <p:txBody>
          <a:bodyPr wrap="square" lIns="0" tIns="0" rIns="0" bIns="0" rtlCol="0" anchor="ctr"/>
          <a:lstStyle/>
          <a:p>
            <a:pPr algn="l" indent="0" marL="0">
              <a:buNone/>
            </a:pPr>
            <a:r>
              <a:rPr lang="en-US" sz="1900" b="1" i="1" dirty="0">
                <a:solidFill>
                  <a:schemeClr val="accent3"/>
                </a:solidFill>
              </a:rPr>
              <a:t>taken</a:t>
            </a:r>
            <a:endParaRPr lang="en-US" sz="1900" dirty="0"/>
          </a:p>
        </p:txBody>
      </p:sp>
      <p:sp>
        <p:nvSpPr>
          <p:cNvPr id="39" name="Shape 35"/>
          <p:cNvSpPr/>
          <p:nvPr/>
        </p:nvSpPr>
        <p:spPr>
          <a:xfrm>
            <a:off x="548640" y="5273548"/>
            <a:ext cx="5454396" cy="569468"/>
          </a:xfrm>
          <a:prstGeom prst="roundRect">
            <a:avLst>
              <a:gd name="adj" fmla="val 16057"/>
            </a:avLst>
          </a:prstGeom>
          <a:solidFill>
            <a:srgbClr val="FFFFFF"/>
          </a:solidFill>
          <a:ln w="9525">
            <a:solidFill>
              <a:srgbClr val="D5DCE6"/>
            </a:solidFill>
            <a:prstDash val="solid"/>
          </a:ln>
        </p:spPr>
      </p:sp>
      <p:sp>
        <p:nvSpPr>
          <p:cNvPr id="40" name="Text 36"/>
          <p:cNvSpPr txBox="1"/>
          <p:nvPr/>
        </p:nvSpPr>
        <p:spPr>
          <a:xfrm>
            <a:off x="640080" y="5273548"/>
            <a:ext cx="365760" cy="569468"/>
          </a:xfrm>
          <a:prstGeom prst="rect">
            <a:avLst/>
          </a:prstGeom>
          <a:noFill/>
          <a:ln/>
        </p:spPr>
        <p:txBody>
          <a:bodyPr wrap="square" lIns="0" tIns="0" rIns="0" bIns="0" rtlCol="0" anchor="ctr"/>
          <a:lstStyle/>
          <a:p>
            <a:pPr algn="l" indent="0" marL="0">
              <a:buNone/>
            </a:pPr>
            <a:r>
              <a:rPr lang="en-US" sz="1400" b="1" dirty="0">
                <a:solidFill>
                  <a:schemeClr val="accent5"/>
                </a:solidFill>
              </a:rPr>
              <a:t>6</a:t>
            </a:r>
            <a:endParaRPr lang="en-US" sz="1400" dirty="0"/>
          </a:p>
        </p:txBody>
      </p:sp>
      <p:sp>
        <p:nvSpPr>
          <p:cNvPr id="41" name="Shape 37"/>
          <p:cNvSpPr/>
          <p:nvPr/>
        </p:nvSpPr>
        <p:spPr>
          <a:xfrm>
            <a:off x="1051560" y="5338826"/>
            <a:ext cx="1280160" cy="384048"/>
          </a:xfrm>
          <a:prstGeom prst="roundRect">
            <a:avLst>
              <a:gd name="adj" fmla="val 28571"/>
            </a:avLst>
          </a:prstGeom>
          <a:solidFill>
            <a:srgbClr val="FBEDEB"/>
          </a:solidFill>
          <a:ln w="19050">
            <a:solidFill>
              <a:srgbClr val="B83227"/>
            </a:solidFill>
            <a:prstDash val="solid"/>
          </a:ln>
        </p:spPr>
      </p:sp>
      <p:sp>
        <p:nvSpPr>
          <p:cNvPr id="42" name="Text 38"/>
          <p:cNvSpPr txBox="1"/>
          <p:nvPr/>
        </p:nvSpPr>
        <p:spPr>
          <a:xfrm>
            <a:off x="1051560" y="5338826"/>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be</a:t>
            </a:r>
            <a:endParaRPr lang="en-US" sz="1600" dirty="0"/>
          </a:p>
        </p:txBody>
      </p:sp>
      <p:sp>
        <p:nvSpPr>
          <p:cNvPr id="43" name="Text 39"/>
          <p:cNvSpPr txBox="1"/>
          <p:nvPr/>
        </p:nvSpPr>
        <p:spPr>
          <a:xfrm>
            <a:off x="2423160" y="5273548"/>
            <a:ext cx="1371600" cy="56946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44" name="Text 40"/>
          <p:cNvSpPr txBox="1"/>
          <p:nvPr/>
        </p:nvSpPr>
        <p:spPr>
          <a:xfrm>
            <a:off x="3840480" y="5273548"/>
            <a:ext cx="2071116" cy="569468"/>
          </a:xfrm>
          <a:prstGeom prst="rect">
            <a:avLst/>
          </a:prstGeom>
          <a:noFill/>
          <a:ln/>
        </p:spPr>
        <p:txBody>
          <a:bodyPr wrap="square" lIns="0" tIns="0" rIns="0" bIns="0" rtlCol="0" anchor="ctr"/>
          <a:lstStyle/>
          <a:p>
            <a:pPr algn="l" indent="0" marL="0">
              <a:buNone/>
            </a:pPr>
            <a:r>
              <a:rPr lang="en-US" sz="1900" b="1" i="1" dirty="0">
                <a:solidFill>
                  <a:schemeClr val="accent3"/>
                </a:solidFill>
              </a:rPr>
              <a:t>been</a:t>
            </a:r>
            <a:endParaRPr lang="en-US" sz="1900" dirty="0"/>
          </a:p>
        </p:txBody>
      </p:sp>
      <p:sp>
        <p:nvSpPr>
          <p:cNvPr id="45" name="Shape 41"/>
          <p:cNvSpPr/>
          <p:nvPr/>
        </p:nvSpPr>
        <p:spPr>
          <a:xfrm>
            <a:off x="6185916" y="1969008"/>
            <a:ext cx="5454396" cy="569468"/>
          </a:xfrm>
          <a:prstGeom prst="roundRect">
            <a:avLst>
              <a:gd name="adj" fmla="val 16057"/>
            </a:avLst>
          </a:prstGeom>
          <a:solidFill>
            <a:schemeClr val="bg2"/>
          </a:solidFill>
          <a:ln w="9525">
            <a:solidFill>
              <a:srgbClr val="D5DCE6"/>
            </a:solidFill>
            <a:prstDash val="solid"/>
          </a:ln>
        </p:spPr>
      </p:sp>
      <p:sp>
        <p:nvSpPr>
          <p:cNvPr id="46" name="Text 42"/>
          <p:cNvSpPr txBox="1"/>
          <p:nvPr/>
        </p:nvSpPr>
        <p:spPr>
          <a:xfrm>
            <a:off x="6277356" y="1969008"/>
            <a:ext cx="365760" cy="569468"/>
          </a:xfrm>
          <a:prstGeom prst="rect">
            <a:avLst/>
          </a:prstGeom>
          <a:noFill/>
          <a:ln/>
        </p:spPr>
        <p:txBody>
          <a:bodyPr wrap="square" lIns="0" tIns="0" rIns="0" bIns="0" rtlCol="0" anchor="ctr"/>
          <a:lstStyle/>
          <a:p>
            <a:pPr algn="l" indent="0" marL="0">
              <a:buNone/>
            </a:pPr>
            <a:r>
              <a:rPr lang="en-US" sz="1400" b="1" dirty="0">
                <a:solidFill>
                  <a:schemeClr val="accent5"/>
                </a:solidFill>
              </a:rPr>
              <a:t>7</a:t>
            </a:r>
            <a:endParaRPr lang="en-US" sz="1400" dirty="0"/>
          </a:p>
        </p:txBody>
      </p:sp>
      <p:sp>
        <p:nvSpPr>
          <p:cNvPr id="47" name="Shape 43"/>
          <p:cNvSpPr/>
          <p:nvPr/>
        </p:nvSpPr>
        <p:spPr>
          <a:xfrm>
            <a:off x="6688836" y="2034286"/>
            <a:ext cx="1280160" cy="384048"/>
          </a:xfrm>
          <a:prstGeom prst="roundRect">
            <a:avLst>
              <a:gd name="adj" fmla="val 28571"/>
            </a:avLst>
          </a:prstGeom>
          <a:solidFill>
            <a:srgbClr val="FBEDEB"/>
          </a:solidFill>
          <a:ln w="19050">
            <a:solidFill>
              <a:srgbClr val="B83227"/>
            </a:solidFill>
            <a:prstDash val="solid"/>
          </a:ln>
        </p:spPr>
      </p:sp>
      <p:sp>
        <p:nvSpPr>
          <p:cNvPr id="48" name="Text 44"/>
          <p:cNvSpPr txBox="1"/>
          <p:nvPr/>
        </p:nvSpPr>
        <p:spPr>
          <a:xfrm>
            <a:off x="6688836" y="2034286"/>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do</a:t>
            </a:r>
            <a:endParaRPr lang="en-US" sz="1600" dirty="0"/>
          </a:p>
        </p:txBody>
      </p:sp>
      <p:sp>
        <p:nvSpPr>
          <p:cNvPr id="49" name="Text 45"/>
          <p:cNvSpPr txBox="1"/>
          <p:nvPr/>
        </p:nvSpPr>
        <p:spPr>
          <a:xfrm>
            <a:off x="8060436" y="1969008"/>
            <a:ext cx="1371600" cy="56946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50" name="Text 46"/>
          <p:cNvSpPr txBox="1"/>
          <p:nvPr/>
        </p:nvSpPr>
        <p:spPr>
          <a:xfrm>
            <a:off x="9477756" y="1969008"/>
            <a:ext cx="2071116" cy="569468"/>
          </a:xfrm>
          <a:prstGeom prst="rect">
            <a:avLst/>
          </a:prstGeom>
          <a:noFill/>
          <a:ln/>
        </p:spPr>
        <p:txBody>
          <a:bodyPr wrap="square" lIns="0" tIns="0" rIns="0" bIns="0" rtlCol="0" anchor="ctr"/>
          <a:lstStyle/>
          <a:p>
            <a:pPr algn="l" indent="0" marL="0">
              <a:buNone/>
            </a:pPr>
            <a:r>
              <a:rPr lang="en-US" sz="1900" b="1" i="1" dirty="0">
                <a:solidFill>
                  <a:schemeClr val="accent3"/>
                </a:solidFill>
              </a:rPr>
              <a:t>done</a:t>
            </a:r>
            <a:endParaRPr lang="en-US" sz="1900" dirty="0"/>
          </a:p>
        </p:txBody>
      </p:sp>
      <p:sp>
        <p:nvSpPr>
          <p:cNvPr id="51" name="Shape 47"/>
          <p:cNvSpPr/>
          <p:nvPr/>
        </p:nvSpPr>
        <p:spPr>
          <a:xfrm>
            <a:off x="6185916" y="2629916"/>
            <a:ext cx="5454396" cy="569468"/>
          </a:xfrm>
          <a:prstGeom prst="roundRect">
            <a:avLst>
              <a:gd name="adj" fmla="val 16057"/>
            </a:avLst>
          </a:prstGeom>
          <a:solidFill>
            <a:srgbClr val="FFFFFF"/>
          </a:solidFill>
          <a:ln w="9525">
            <a:solidFill>
              <a:srgbClr val="D5DCE6"/>
            </a:solidFill>
            <a:prstDash val="solid"/>
          </a:ln>
        </p:spPr>
      </p:sp>
      <p:sp>
        <p:nvSpPr>
          <p:cNvPr id="52" name="Text 48"/>
          <p:cNvSpPr txBox="1"/>
          <p:nvPr/>
        </p:nvSpPr>
        <p:spPr>
          <a:xfrm>
            <a:off x="6277356" y="2629916"/>
            <a:ext cx="365760" cy="569468"/>
          </a:xfrm>
          <a:prstGeom prst="rect">
            <a:avLst/>
          </a:prstGeom>
          <a:noFill/>
          <a:ln/>
        </p:spPr>
        <p:txBody>
          <a:bodyPr wrap="square" lIns="0" tIns="0" rIns="0" bIns="0" rtlCol="0" anchor="ctr"/>
          <a:lstStyle/>
          <a:p>
            <a:pPr algn="l" indent="0" marL="0">
              <a:buNone/>
            </a:pPr>
            <a:r>
              <a:rPr lang="en-US" sz="1400" b="1" dirty="0">
                <a:solidFill>
                  <a:schemeClr val="accent5"/>
                </a:solidFill>
              </a:rPr>
              <a:t>8</a:t>
            </a:r>
            <a:endParaRPr lang="en-US" sz="1400" dirty="0"/>
          </a:p>
        </p:txBody>
      </p:sp>
      <p:sp>
        <p:nvSpPr>
          <p:cNvPr id="53" name="Shape 49"/>
          <p:cNvSpPr/>
          <p:nvPr/>
        </p:nvSpPr>
        <p:spPr>
          <a:xfrm>
            <a:off x="6688836" y="2695194"/>
            <a:ext cx="1280160" cy="384048"/>
          </a:xfrm>
          <a:prstGeom prst="roundRect">
            <a:avLst>
              <a:gd name="adj" fmla="val 28571"/>
            </a:avLst>
          </a:prstGeom>
          <a:solidFill>
            <a:srgbClr val="FBEDEB"/>
          </a:solidFill>
          <a:ln w="19050">
            <a:solidFill>
              <a:srgbClr val="B83227"/>
            </a:solidFill>
            <a:prstDash val="solid"/>
          </a:ln>
        </p:spPr>
      </p:sp>
      <p:sp>
        <p:nvSpPr>
          <p:cNvPr id="54" name="Text 50"/>
          <p:cNvSpPr txBox="1"/>
          <p:nvPr/>
        </p:nvSpPr>
        <p:spPr>
          <a:xfrm>
            <a:off x="6688836" y="2695194"/>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break</a:t>
            </a:r>
            <a:endParaRPr lang="en-US" sz="1600" dirty="0"/>
          </a:p>
        </p:txBody>
      </p:sp>
      <p:sp>
        <p:nvSpPr>
          <p:cNvPr id="55" name="Text 51"/>
          <p:cNvSpPr txBox="1"/>
          <p:nvPr/>
        </p:nvSpPr>
        <p:spPr>
          <a:xfrm>
            <a:off x="8060436" y="2629916"/>
            <a:ext cx="1371600" cy="56946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56" name="Text 52"/>
          <p:cNvSpPr txBox="1"/>
          <p:nvPr/>
        </p:nvSpPr>
        <p:spPr>
          <a:xfrm>
            <a:off x="9477756" y="2629916"/>
            <a:ext cx="2071116" cy="569468"/>
          </a:xfrm>
          <a:prstGeom prst="rect">
            <a:avLst/>
          </a:prstGeom>
          <a:noFill/>
          <a:ln/>
        </p:spPr>
        <p:txBody>
          <a:bodyPr wrap="square" lIns="0" tIns="0" rIns="0" bIns="0" rtlCol="0" anchor="ctr"/>
          <a:lstStyle/>
          <a:p>
            <a:pPr algn="l" indent="0" marL="0">
              <a:buNone/>
            </a:pPr>
            <a:r>
              <a:rPr lang="en-US" sz="1900" b="1" i="1" dirty="0">
                <a:solidFill>
                  <a:schemeClr val="accent3"/>
                </a:solidFill>
              </a:rPr>
              <a:t>broken</a:t>
            </a:r>
            <a:endParaRPr lang="en-US" sz="1900" dirty="0"/>
          </a:p>
        </p:txBody>
      </p:sp>
      <p:sp>
        <p:nvSpPr>
          <p:cNvPr id="57" name="Shape 53"/>
          <p:cNvSpPr/>
          <p:nvPr/>
        </p:nvSpPr>
        <p:spPr>
          <a:xfrm>
            <a:off x="6185916" y="3290824"/>
            <a:ext cx="5454396" cy="569468"/>
          </a:xfrm>
          <a:prstGeom prst="roundRect">
            <a:avLst>
              <a:gd name="adj" fmla="val 16057"/>
            </a:avLst>
          </a:prstGeom>
          <a:solidFill>
            <a:schemeClr val="bg2"/>
          </a:solidFill>
          <a:ln w="9525">
            <a:solidFill>
              <a:srgbClr val="D5DCE6"/>
            </a:solidFill>
            <a:prstDash val="solid"/>
          </a:ln>
        </p:spPr>
      </p:sp>
      <p:sp>
        <p:nvSpPr>
          <p:cNvPr id="58" name="Text 54"/>
          <p:cNvSpPr txBox="1"/>
          <p:nvPr/>
        </p:nvSpPr>
        <p:spPr>
          <a:xfrm>
            <a:off x="6277356" y="3290824"/>
            <a:ext cx="365760" cy="569468"/>
          </a:xfrm>
          <a:prstGeom prst="rect">
            <a:avLst/>
          </a:prstGeom>
          <a:noFill/>
          <a:ln/>
        </p:spPr>
        <p:txBody>
          <a:bodyPr wrap="square" lIns="0" tIns="0" rIns="0" bIns="0" rtlCol="0" anchor="ctr"/>
          <a:lstStyle/>
          <a:p>
            <a:pPr algn="l" indent="0" marL="0">
              <a:buNone/>
            </a:pPr>
            <a:r>
              <a:rPr lang="en-US" sz="1400" b="1" dirty="0">
                <a:solidFill>
                  <a:schemeClr val="accent5"/>
                </a:solidFill>
              </a:rPr>
              <a:t>9</a:t>
            </a:r>
            <a:endParaRPr lang="en-US" sz="1400" dirty="0"/>
          </a:p>
        </p:txBody>
      </p:sp>
      <p:sp>
        <p:nvSpPr>
          <p:cNvPr id="59" name="Shape 55"/>
          <p:cNvSpPr/>
          <p:nvPr/>
        </p:nvSpPr>
        <p:spPr>
          <a:xfrm>
            <a:off x="6688836" y="3356102"/>
            <a:ext cx="1280160" cy="384048"/>
          </a:xfrm>
          <a:prstGeom prst="roundRect">
            <a:avLst>
              <a:gd name="adj" fmla="val 28571"/>
            </a:avLst>
          </a:prstGeom>
          <a:solidFill>
            <a:srgbClr val="FBEDEB"/>
          </a:solidFill>
          <a:ln w="19050">
            <a:solidFill>
              <a:srgbClr val="B83227"/>
            </a:solidFill>
            <a:prstDash val="solid"/>
          </a:ln>
        </p:spPr>
      </p:sp>
      <p:sp>
        <p:nvSpPr>
          <p:cNvPr id="60" name="Text 56"/>
          <p:cNvSpPr txBox="1"/>
          <p:nvPr/>
        </p:nvSpPr>
        <p:spPr>
          <a:xfrm>
            <a:off x="6688836" y="3356102"/>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speak</a:t>
            </a:r>
            <a:endParaRPr lang="en-US" sz="1600" dirty="0"/>
          </a:p>
        </p:txBody>
      </p:sp>
      <p:sp>
        <p:nvSpPr>
          <p:cNvPr id="61" name="Text 57"/>
          <p:cNvSpPr txBox="1"/>
          <p:nvPr/>
        </p:nvSpPr>
        <p:spPr>
          <a:xfrm>
            <a:off x="8060436" y="3290824"/>
            <a:ext cx="1371600" cy="56946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62" name="Text 58"/>
          <p:cNvSpPr txBox="1"/>
          <p:nvPr/>
        </p:nvSpPr>
        <p:spPr>
          <a:xfrm>
            <a:off x="9477756" y="3290824"/>
            <a:ext cx="2071116" cy="569468"/>
          </a:xfrm>
          <a:prstGeom prst="rect">
            <a:avLst/>
          </a:prstGeom>
          <a:noFill/>
          <a:ln/>
        </p:spPr>
        <p:txBody>
          <a:bodyPr wrap="square" lIns="0" tIns="0" rIns="0" bIns="0" rtlCol="0" anchor="ctr"/>
          <a:lstStyle/>
          <a:p>
            <a:pPr algn="l" indent="0" marL="0">
              <a:buNone/>
            </a:pPr>
            <a:r>
              <a:rPr lang="en-US" sz="1900" b="1" i="1" dirty="0">
                <a:solidFill>
                  <a:schemeClr val="accent3"/>
                </a:solidFill>
              </a:rPr>
              <a:t>spoken</a:t>
            </a:r>
            <a:endParaRPr lang="en-US" sz="1900" dirty="0"/>
          </a:p>
        </p:txBody>
      </p:sp>
      <p:sp>
        <p:nvSpPr>
          <p:cNvPr id="63" name="Shape 59"/>
          <p:cNvSpPr/>
          <p:nvPr/>
        </p:nvSpPr>
        <p:spPr>
          <a:xfrm>
            <a:off x="6185916" y="3951732"/>
            <a:ext cx="5454396" cy="569468"/>
          </a:xfrm>
          <a:prstGeom prst="roundRect">
            <a:avLst>
              <a:gd name="adj" fmla="val 16057"/>
            </a:avLst>
          </a:prstGeom>
          <a:solidFill>
            <a:srgbClr val="FFFFFF"/>
          </a:solidFill>
          <a:ln w="9525">
            <a:solidFill>
              <a:srgbClr val="D5DCE6"/>
            </a:solidFill>
            <a:prstDash val="solid"/>
          </a:ln>
        </p:spPr>
      </p:sp>
      <p:sp>
        <p:nvSpPr>
          <p:cNvPr id="64" name="Text 60"/>
          <p:cNvSpPr txBox="1"/>
          <p:nvPr/>
        </p:nvSpPr>
        <p:spPr>
          <a:xfrm>
            <a:off x="6277356" y="3951732"/>
            <a:ext cx="365760" cy="569468"/>
          </a:xfrm>
          <a:prstGeom prst="rect">
            <a:avLst/>
          </a:prstGeom>
          <a:noFill/>
          <a:ln/>
        </p:spPr>
        <p:txBody>
          <a:bodyPr wrap="square" lIns="0" tIns="0" rIns="0" bIns="0" rtlCol="0" anchor="ctr"/>
          <a:lstStyle/>
          <a:p>
            <a:pPr algn="l" indent="0" marL="0">
              <a:buNone/>
            </a:pPr>
            <a:r>
              <a:rPr lang="en-US" sz="1400" b="1" dirty="0">
                <a:solidFill>
                  <a:schemeClr val="accent5"/>
                </a:solidFill>
              </a:rPr>
              <a:t>10</a:t>
            </a:r>
            <a:endParaRPr lang="en-US" sz="1400" dirty="0"/>
          </a:p>
        </p:txBody>
      </p:sp>
      <p:sp>
        <p:nvSpPr>
          <p:cNvPr id="65" name="Shape 61"/>
          <p:cNvSpPr/>
          <p:nvPr/>
        </p:nvSpPr>
        <p:spPr>
          <a:xfrm>
            <a:off x="6688836" y="4017010"/>
            <a:ext cx="1280160" cy="384048"/>
          </a:xfrm>
          <a:prstGeom prst="roundRect">
            <a:avLst>
              <a:gd name="adj" fmla="val 28571"/>
            </a:avLst>
          </a:prstGeom>
          <a:solidFill>
            <a:srgbClr val="FBEDEB"/>
          </a:solidFill>
          <a:ln w="19050">
            <a:solidFill>
              <a:srgbClr val="B83227"/>
            </a:solidFill>
            <a:prstDash val="solid"/>
          </a:ln>
        </p:spPr>
      </p:sp>
      <p:sp>
        <p:nvSpPr>
          <p:cNvPr id="66" name="Text 62"/>
          <p:cNvSpPr txBox="1"/>
          <p:nvPr/>
        </p:nvSpPr>
        <p:spPr>
          <a:xfrm>
            <a:off x="6688836" y="4017010"/>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buy</a:t>
            </a:r>
            <a:endParaRPr lang="en-US" sz="1600" dirty="0"/>
          </a:p>
        </p:txBody>
      </p:sp>
      <p:sp>
        <p:nvSpPr>
          <p:cNvPr id="67" name="Text 63"/>
          <p:cNvSpPr txBox="1"/>
          <p:nvPr/>
        </p:nvSpPr>
        <p:spPr>
          <a:xfrm>
            <a:off x="8060436" y="3951732"/>
            <a:ext cx="1371600" cy="56946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68" name="Text 64"/>
          <p:cNvSpPr txBox="1"/>
          <p:nvPr/>
        </p:nvSpPr>
        <p:spPr>
          <a:xfrm>
            <a:off x="9477756" y="3951732"/>
            <a:ext cx="2071116" cy="569468"/>
          </a:xfrm>
          <a:prstGeom prst="rect">
            <a:avLst/>
          </a:prstGeom>
          <a:noFill/>
          <a:ln/>
        </p:spPr>
        <p:txBody>
          <a:bodyPr wrap="square" lIns="0" tIns="0" rIns="0" bIns="0" rtlCol="0" anchor="ctr"/>
          <a:lstStyle/>
          <a:p>
            <a:pPr algn="l" indent="0" marL="0">
              <a:buNone/>
            </a:pPr>
            <a:r>
              <a:rPr lang="en-US" sz="1900" b="1" i="1" dirty="0">
                <a:solidFill>
                  <a:schemeClr val="accent3"/>
                </a:solidFill>
              </a:rPr>
              <a:t>bought</a:t>
            </a:r>
            <a:endParaRPr lang="en-US" sz="1900" dirty="0"/>
          </a:p>
        </p:txBody>
      </p:sp>
      <p:sp>
        <p:nvSpPr>
          <p:cNvPr id="69" name="Shape 65"/>
          <p:cNvSpPr/>
          <p:nvPr/>
        </p:nvSpPr>
        <p:spPr>
          <a:xfrm>
            <a:off x="6185916" y="4612640"/>
            <a:ext cx="5454396" cy="569468"/>
          </a:xfrm>
          <a:prstGeom prst="roundRect">
            <a:avLst>
              <a:gd name="adj" fmla="val 16057"/>
            </a:avLst>
          </a:prstGeom>
          <a:solidFill>
            <a:schemeClr val="bg2"/>
          </a:solidFill>
          <a:ln w="9525">
            <a:solidFill>
              <a:srgbClr val="D5DCE6"/>
            </a:solidFill>
            <a:prstDash val="solid"/>
          </a:ln>
        </p:spPr>
      </p:sp>
      <p:sp>
        <p:nvSpPr>
          <p:cNvPr id="70" name="Text 66"/>
          <p:cNvSpPr txBox="1"/>
          <p:nvPr/>
        </p:nvSpPr>
        <p:spPr>
          <a:xfrm>
            <a:off x="6277356" y="4612640"/>
            <a:ext cx="365760" cy="569468"/>
          </a:xfrm>
          <a:prstGeom prst="rect">
            <a:avLst/>
          </a:prstGeom>
          <a:noFill/>
          <a:ln/>
        </p:spPr>
        <p:txBody>
          <a:bodyPr wrap="square" lIns="0" tIns="0" rIns="0" bIns="0" rtlCol="0" anchor="ctr"/>
          <a:lstStyle/>
          <a:p>
            <a:pPr algn="l" indent="0" marL="0">
              <a:buNone/>
            </a:pPr>
            <a:r>
              <a:rPr lang="en-US" sz="1400" b="1" dirty="0">
                <a:solidFill>
                  <a:schemeClr val="accent5"/>
                </a:solidFill>
              </a:rPr>
              <a:t>11</a:t>
            </a:r>
            <a:endParaRPr lang="en-US" sz="1400" dirty="0"/>
          </a:p>
        </p:txBody>
      </p:sp>
      <p:sp>
        <p:nvSpPr>
          <p:cNvPr id="71" name="Shape 67"/>
          <p:cNvSpPr/>
          <p:nvPr/>
        </p:nvSpPr>
        <p:spPr>
          <a:xfrm>
            <a:off x="6688836" y="4677918"/>
            <a:ext cx="1280160" cy="384048"/>
          </a:xfrm>
          <a:prstGeom prst="roundRect">
            <a:avLst>
              <a:gd name="adj" fmla="val 28571"/>
            </a:avLst>
          </a:prstGeom>
          <a:solidFill>
            <a:srgbClr val="FBEDEB"/>
          </a:solidFill>
          <a:ln w="19050">
            <a:solidFill>
              <a:srgbClr val="B83227"/>
            </a:solidFill>
            <a:prstDash val="solid"/>
          </a:ln>
        </p:spPr>
      </p:sp>
      <p:sp>
        <p:nvSpPr>
          <p:cNvPr id="72" name="Text 68"/>
          <p:cNvSpPr txBox="1"/>
          <p:nvPr/>
        </p:nvSpPr>
        <p:spPr>
          <a:xfrm>
            <a:off x="6688836" y="4677918"/>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work</a:t>
            </a:r>
            <a:endParaRPr lang="en-US" sz="1600" dirty="0"/>
          </a:p>
        </p:txBody>
      </p:sp>
      <p:sp>
        <p:nvSpPr>
          <p:cNvPr id="73" name="Text 69"/>
          <p:cNvSpPr txBox="1"/>
          <p:nvPr/>
        </p:nvSpPr>
        <p:spPr>
          <a:xfrm>
            <a:off x="8060436" y="4612640"/>
            <a:ext cx="1371600" cy="56946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74" name="Text 70"/>
          <p:cNvSpPr txBox="1"/>
          <p:nvPr/>
        </p:nvSpPr>
        <p:spPr>
          <a:xfrm>
            <a:off x="9477756" y="4612640"/>
            <a:ext cx="2071116" cy="569468"/>
          </a:xfrm>
          <a:prstGeom prst="rect">
            <a:avLst/>
          </a:prstGeom>
          <a:noFill/>
          <a:ln/>
        </p:spPr>
        <p:txBody>
          <a:bodyPr wrap="square" lIns="0" tIns="0" rIns="0" bIns="0" rtlCol="0" anchor="ctr"/>
          <a:lstStyle/>
          <a:p>
            <a:pPr algn="l" indent="0" marL="0">
              <a:buNone/>
            </a:pPr>
            <a:r>
              <a:rPr lang="en-US" sz="1900" b="1" i="1" dirty="0">
                <a:solidFill>
                  <a:schemeClr val="accent3"/>
                </a:solidFill>
              </a:rPr>
              <a:t>worked</a:t>
            </a:r>
            <a:endParaRPr lang="en-US" sz="1900" dirty="0"/>
          </a:p>
        </p:txBody>
      </p:sp>
      <p:sp>
        <p:nvSpPr>
          <p:cNvPr id="75" name="Shape 71"/>
          <p:cNvSpPr/>
          <p:nvPr/>
        </p:nvSpPr>
        <p:spPr>
          <a:xfrm>
            <a:off x="6185916" y="5273548"/>
            <a:ext cx="5454396" cy="569468"/>
          </a:xfrm>
          <a:prstGeom prst="roundRect">
            <a:avLst>
              <a:gd name="adj" fmla="val 16057"/>
            </a:avLst>
          </a:prstGeom>
          <a:solidFill>
            <a:srgbClr val="FFFFFF"/>
          </a:solidFill>
          <a:ln w="9525">
            <a:solidFill>
              <a:srgbClr val="D5DCE6"/>
            </a:solidFill>
            <a:prstDash val="solid"/>
          </a:ln>
        </p:spPr>
      </p:sp>
      <p:sp>
        <p:nvSpPr>
          <p:cNvPr id="76" name="Text 72"/>
          <p:cNvSpPr txBox="1"/>
          <p:nvPr/>
        </p:nvSpPr>
        <p:spPr>
          <a:xfrm>
            <a:off x="6277356" y="5273548"/>
            <a:ext cx="365760" cy="569468"/>
          </a:xfrm>
          <a:prstGeom prst="rect">
            <a:avLst/>
          </a:prstGeom>
          <a:noFill/>
          <a:ln/>
        </p:spPr>
        <p:txBody>
          <a:bodyPr wrap="square" lIns="0" tIns="0" rIns="0" bIns="0" rtlCol="0" anchor="ctr"/>
          <a:lstStyle/>
          <a:p>
            <a:pPr algn="l" indent="0" marL="0">
              <a:buNone/>
            </a:pPr>
            <a:r>
              <a:rPr lang="en-US" sz="1400" b="1" dirty="0">
                <a:solidFill>
                  <a:schemeClr val="accent5"/>
                </a:solidFill>
              </a:rPr>
              <a:t>12</a:t>
            </a:r>
            <a:endParaRPr lang="en-US" sz="1400" dirty="0"/>
          </a:p>
        </p:txBody>
      </p:sp>
      <p:sp>
        <p:nvSpPr>
          <p:cNvPr id="77" name="Shape 73"/>
          <p:cNvSpPr/>
          <p:nvPr/>
        </p:nvSpPr>
        <p:spPr>
          <a:xfrm>
            <a:off x="6688836" y="5338826"/>
            <a:ext cx="1280160" cy="384048"/>
          </a:xfrm>
          <a:prstGeom prst="roundRect">
            <a:avLst>
              <a:gd name="adj" fmla="val 28571"/>
            </a:avLst>
          </a:prstGeom>
          <a:solidFill>
            <a:srgbClr val="FBEDEB"/>
          </a:solidFill>
          <a:ln w="19050">
            <a:solidFill>
              <a:srgbClr val="B83227"/>
            </a:solidFill>
            <a:prstDash val="solid"/>
          </a:ln>
        </p:spPr>
      </p:sp>
      <p:sp>
        <p:nvSpPr>
          <p:cNvPr id="78" name="Text 74"/>
          <p:cNvSpPr txBox="1"/>
          <p:nvPr/>
        </p:nvSpPr>
        <p:spPr>
          <a:xfrm>
            <a:off x="6688836" y="5338826"/>
            <a:ext cx="1280160" cy="384048"/>
          </a:xfrm>
          <a:prstGeom prst="rect">
            <a:avLst/>
          </a:prstGeom>
          <a:noFill/>
          <a:ln/>
        </p:spPr>
        <p:txBody>
          <a:bodyPr wrap="square" lIns="0" tIns="0" rIns="0" bIns="0" rtlCol="0" anchor="ctr"/>
          <a:lstStyle/>
          <a:p>
            <a:pPr algn="ctr" indent="0" marL="0">
              <a:buNone/>
            </a:pPr>
            <a:r>
              <a:rPr lang="en-US" sz="1600" b="1" i="1" dirty="0">
                <a:solidFill>
                  <a:schemeClr val="accent6"/>
                </a:solidFill>
              </a:rPr>
              <a:t>study</a:t>
            </a:r>
            <a:endParaRPr lang="en-US" sz="1600" dirty="0"/>
          </a:p>
        </p:txBody>
      </p:sp>
      <p:sp>
        <p:nvSpPr>
          <p:cNvPr id="79" name="Text 75"/>
          <p:cNvSpPr txBox="1"/>
          <p:nvPr/>
        </p:nvSpPr>
        <p:spPr>
          <a:xfrm>
            <a:off x="8060436" y="5273548"/>
            <a:ext cx="1371600" cy="569468"/>
          </a:xfrm>
          <a:prstGeom prst="rect">
            <a:avLst/>
          </a:prstGeom>
          <a:noFill/>
          <a:ln/>
        </p:spPr>
        <p:txBody>
          <a:bodyPr wrap="square" lIns="0" tIns="0" rIns="0" bIns="0" rtlCol="0" anchor="ctr"/>
          <a:lstStyle/>
          <a:p>
            <a:pPr algn="l" indent="0" marL="0">
              <a:buNone/>
            </a:pPr>
            <a:r>
              <a:rPr lang="en-US" sz="1300" i="1" dirty="0">
                <a:solidFill>
                  <a:schemeClr val="accent5"/>
                </a:solidFill>
              </a:rPr>
              <a:t>→ have / has</a:t>
            </a:r>
            <a:endParaRPr lang="en-US" sz="1300" dirty="0"/>
          </a:p>
        </p:txBody>
      </p:sp>
      <p:sp>
        <p:nvSpPr>
          <p:cNvPr id="80" name="Text 76"/>
          <p:cNvSpPr txBox="1"/>
          <p:nvPr/>
        </p:nvSpPr>
        <p:spPr>
          <a:xfrm>
            <a:off x="9477756" y="5273548"/>
            <a:ext cx="2071116" cy="569468"/>
          </a:xfrm>
          <a:prstGeom prst="rect">
            <a:avLst/>
          </a:prstGeom>
          <a:noFill/>
          <a:ln/>
        </p:spPr>
        <p:txBody>
          <a:bodyPr wrap="square" lIns="0" tIns="0" rIns="0" bIns="0" rtlCol="0" anchor="ctr"/>
          <a:lstStyle/>
          <a:p>
            <a:pPr algn="l" indent="0" marL="0">
              <a:buNone/>
            </a:pPr>
            <a:r>
              <a:rPr lang="en-US" sz="1900" b="1" i="1" dirty="0">
                <a:solidFill>
                  <a:schemeClr val="accent3"/>
                </a:solidFill>
              </a:rPr>
              <a:t>studied</a:t>
            </a:r>
            <a:endParaRPr lang="en-US" sz="1900" dirty="0"/>
          </a:p>
        </p:txBody>
      </p:sp>
      <p:sp>
        <p:nvSpPr>
          <p:cNvPr id="81" name="Text 77"/>
          <p:cNvSpPr txBox="1"/>
          <p:nvPr/>
        </p:nvSpPr>
        <p:spPr>
          <a:xfrm>
            <a:off x="548640" y="5943600"/>
            <a:ext cx="11091672" cy="329184"/>
          </a:xfrm>
          <a:prstGeom prst="rect">
            <a:avLst/>
          </a:prstGeom>
          <a:noFill/>
          <a:ln/>
        </p:spPr>
        <p:txBody>
          <a:bodyPr wrap="square" lIns="0" tIns="0" rIns="0" bIns="0" rtlCol="0" anchor="t"/>
          <a:lstStyle/>
          <a:p>
            <a:pPr algn="ctr" indent="0" marL="0">
              <a:buNone/>
            </a:pPr>
            <a:r>
              <a:rPr lang="en-US" sz="1300" i="1" dirty="0">
                <a:solidFill>
                  <a:schemeClr val="accent5"/>
                </a:solidFill>
              </a:rPr>
              <a:t>Réguliers : </a:t>
            </a:r>
            <a:r>
              <a:rPr lang="en-US" sz="1300" i="1" dirty="0">
                <a:solidFill>
                  <a:schemeClr val="accent5"/>
                </a:solidFill>
              </a:rPr>
              <a:t>worked, studied</a:t>
            </a:r>
            <a:r>
              <a:rPr lang="en-US" sz="1300" i="1" dirty="0">
                <a:solidFill>
                  <a:schemeClr val="accent5"/>
                </a:solidFill>
              </a:rPr>
              <a:t> (= past simple). Les 10 autres sont irréguliers : beaucoup finissent en </a:t>
            </a:r>
            <a:r>
              <a:rPr lang="en-US" sz="1300" i="1" dirty="0">
                <a:solidFill>
                  <a:schemeClr val="accent5"/>
                </a:solidFill>
              </a:rPr>
              <a:t>-n</a:t>
            </a:r>
            <a:r>
              <a:rPr lang="en-US" sz="1300" i="1" dirty="0">
                <a:solidFill>
                  <a:schemeClr val="accent5"/>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2 — Where does it go?</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Rewrite the sentence with the word: between have and the participle, or at the end?</a:t>
            </a:r>
            <a:endParaRPr lang="en-US" sz="1700" dirty="0"/>
          </a:p>
        </p:txBody>
      </p:sp>
      <p:sp>
        <p:nvSpPr>
          <p:cNvPr id="8" name="Shape 4"/>
          <p:cNvSpPr/>
          <p:nvPr/>
        </p:nvSpPr>
        <p:spPr>
          <a:xfrm>
            <a:off x="548640" y="1969008"/>
            <a:ext cx="11091672" cy="577088"/>
          </a:xfrm>
          <a:prstGeom prst="roundRect">
            <a:avLst>
              <a:gd name="adj" fmla="val 15845"/>
            </a:avLst>
          </a:prstGeom>
          <a:solidFill>
            <a:schemeClr val="bg2"/>
          </a:solidFill>
          <a:ln w="9525">
            <a:solidFill>
              <a:srgbClr val="D5DCE6"/>
            </a:solidFill>
            <a:prstDash val="solid"/>
          </a:ln>
        </p:spPr>
      </p:sp>
      <p:sp>
        <p:nvSpPr>
          <p:cNvPr id="9" name="Shape 5"/>
          <p:cNvSpPr/>
          <p:nvPr/>
        </p:nvSpPr>
        <p:spPr>
          <a:xfrm>
            <a:off x="685800" y="2065528"/>
            <a:ext cx="1097280" cy="347472"/>
          </a:xfrm>
          <a:prstGeom prst="roundRect">
            <a:avLst>
              <a:gd name="adj" fmla="val 31579"/>
            </a:avLst>
          </a:prstGeom>
          <a:solidFill>
            <a:schemeClr val="accent1"/>
          </a:solidFill>
          <a:ln w="12700">
            <a:solidFill>
              <a:srgbClr val="FFFFFF">
                <a:alpha val="0"/>
              </a:srgbClr>
            </a:solidFill>
            <a:prstDash val="solid"/>
          </a:ln>
        </p:spPr>
      </p:sp>
      <p:sp>
        <p:nvSpPr>
          <p:cNvPr id="10" name="Text 6"/>
          <p:cNvSpPr txBox="1"/>
          <p:nvPr/>
        </p:nvSpPr>
        <p:spPr>
          <a:xfrm>
            <a:off x="685800" y="2065528"/>
            <a:ext cx="1097280" cy="347472"/>
          </a:xfrm>
          <a:prstGeom prst="rect">
            <a:avLst/>
          </a:prstGeom>
          <a:noFill/>
          <a:ln/>
        </p:spPr>
        <p:txBody>
          <a:bodyPr wrap="square" lIns="0" tIns="0" rIns="0" bIns="0" rtlCol="0" anchor="ctr"/>
          <a:lstStyle/>
          <a:p>
            <a:pPr algn="ctr" indent="0" marL="0">
              <a:buNone/>
            </a:pPr>
            <a:r>
              <a:rPr lang="en-US" sz="1400" b="1" dirty="0">
                <a:solidFill>
                  <a:schemeClr val="bg1"/>
                </a:solidFill>
              </a:rPr>
              <a:t>just</a:t>
            </a:r>
            <a:endParaRPr lang="en-US" sz="1400" dirty="0"/>
          </a:p>
        </p:txBody>
      </p:sp>
      <p:sp>
        <p:nvSpPr>
          <p:cNvPr id="11" name="Text 7"/>
          <p:cNvSpPr txBox="1"/>
          <p:nvPr/>
        </p:nvSpPr>
        <p:spPr>
          <a:xfrm>
            <a:off x="1920240" y="1969008"/>
            <a:ext cx="4206240" cy="577088"/>
          </a:xfrm>
          <a:prstGeom prst="rect">
            <a:avLst/>
          </a:prstGeom>
          <a:noFill/>
          <a:ln/>
        </p:spPr>
        <p:txBody>
          <a:bodyPr wrap="square" lIns="0" tIns="0" rIns="0" bIns="0" rtlCol="0" anchor="ctr"/>
          <a:lstStyle/>
          <a:p>
            <a:pPr algn="l" indent="0" marL="0">
              <a:buNone/>
            </a:pPr>
            <a:r>
              <a:rPr lang="en-US" sz="1500" i="1" dirty="0">
                <a:solidFill>
                  <a:schemeClr val="tx2"/>
                </a:solidFill>
              </a:rPr>
              <a:t>I have finished the report.</a:t>
            </a:r>
            <a:endParaRPr lang="en-US" sz="1500" dirty="0"/>
          </a:p>
        </p:txBody>
      </p:sp>
      <p:sp>
        <p:nvSpPr>
          <p:cNvPr id="12" name="Text 8"/>
          <p:cNvSpPr txBox="1"/>
          <p:nvPr/>
        </p:nvSpPr>
        <p:spPr>
          <a:xfrm>
            <a:off x="6080760" y="1969008"/>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3" name="Text 9"/>
          <p:cNvSpPr txBox="1"/>
          <p:nvPr/>
        </p:nvSpPr>
        <p:spPr>
          <a:xfrm>
            <a:off x="6537960" y="1969008"/>
            <a:ext cx="5029200" cy="577088"/>
          </a:xfrm>
          <a:prstGeom prst="rect">
            <a:avLst/>
          </a:prstGeom>
          <a:noFill/>
          <a:ln/>
        </p:spPr>
        <p:txBody>
          <a:bodyPr wrap="square" lIns="0" tIns="0" rIns="0" bIns="0" rtlCol="0" anchor="ctr"/>
          <a:lstStyle/>
          <a:p>
            <a:pPr algn="l" indent="0" marL="0">
              <a:buNone/>
            </a:pPr>
            <a:r>
              <a:rPr lang="en-US" sz="1600" dirty="0">
                <a:solidFill>
                  <a:schemeClr val="tx1"/>
                </a:solidFill>
              </a:rPr>
              <a:t>……………………………………………………</a:t>
            </a:r>
            <a:endParaRPr lang="en-US" sz="1600" dirty="0"/>
          </a:p>
        </p:txBody>
      </p:sp>
      <p:sp>
        <p:nvSpPr>
          <p:cNvPr id="14" name="Shape 10"/>
          <p:cNvSpPr/>
          <p:nvPr/>
        </p:nvSpPr>
        <p:spPr>
          <a:xfrm>
            <a:off x="548640" y="2637536"/>
            <a:ext cx="11091672" cy="577088"/>
          </a:xfrm>
          <a:prstGeom prst="roundRect">
            <a:avLst>
              <a:gd name="adj" fmla="val 15845"/>
            </a:avLst>
          </a:prstGeom>
          <a:solidFill>
            <a:srgbClr val="FFFFFF"/>
          </a:solidFill>
          <a:ln w="9525">
            <a:solidFill>
              <a:srgbClr val="D5DCE6"/>
            </a:solidFill>
            <a:prstDash val="solid"/>
          </a:ln>
        </p:spPr>
      </p:sp>
      <p:sp>
        <p:nvSpPr>
          <p:cNvPr id="15" name="Shape 11"/>
          <p:cNvSpPr/>
          <p:nvPr/>
        </p:nvSpPr>
        <p:spPr>
          <a:xfrm>
            <a:off x="685800" y="2734056"/>
            <a:ext cx="1097280" cy="347472"/>
          </a:xfrm>
          <a:prstGeom prst="roundRect">
            <a:avLst>
              <a:gd name="adj" fmla="val 31579"/>
            </a:avLst>
          </a:prstGeom>
          <a:solidFill>
            <a:schemeClr val="accent1"/>
          </a:solidFill>
          <a:ln w="12700">
            <a:solidFill>
              <a:srgbClr val="FFFFFF">
                <a:alpha val="0"/>
              </a:srgbClr>
            </a:solidFill>
            <a:prstDash val="solid"/>
          </a:ln>
        </p:spPr>
      </p:sp>
      <p:sp>
        <p:nvSpPr>
          <p:cNvPr id="16" name="Text 12"/>
          <p:cNvSpPr txBox="1"/>
          <p:nvPr/>
        </p:nvSpPr>
        <p:spPr>
          <a:xfrm>
            <a:off x="685800" y="2734056"/>
            <a:ext cx="1097280" cy="347472"/>
          </a:xfrm>
          <a:prstGeom prst="rect">
            <a:avLst/>
          </a:prstGeom>
          <a:noFill/>
          <a:ln/>
        </p:spPr>
        <p:txBody>
          <a:bodyPr wrap="square" lIns="0" tIns="0" rIns="0" bIns="0" rtlCol="0" anchor="ctr"/>
          <a:lstStyle/>
          <a:p>
            <a:pPr algn="ctr" indent="0" marL="0">
              <a:buNone/>
            </a:pPr>
            <a:r>
              <a:rPr lang="en-US" sz="1400" b="1" dirty="0">
                <a:solidFill>
                  <a:schemeClr val="bg1"/>
                </a:solidFill>
              </a:rPr>
              <a:t>ever</a:t>
            </a:r>
            <a:endParaRPr lang="en-US" sz="1400" dirty="0"/>
          </a:p>
        </p:txBody>
      </p:sp>
      <p:sp>
        <p:nvSpPr>
          <p:cNvPr id="17" name="Text 13"/>
          <p:cNvSpPr txBox="1"/>
          <p:nvPr/>
        </p:nvSpPr>
        <p:spPr>
          <a:xfrm>
            <a:off x="1920240" y="2637536"/>
            <a:ext cx="4206240" cy="577088"/>
          </a:xfrm>
          <a:prstGeom prst="rect">
            <a:avLst/>
          </a:prstGeom>
          <a:noFill/>
          <a:ln/>
        </p:spPr>
        <p:txBody>
          <a:bodyPr wrap="square" lIns="0" tIns="0" rIns="0" bIns="0" rtlCol="0" anchor="ctr"/>
          <a:lstStyle/>
          <a:p>
            <a:pPr algn="l" indent="0" marL="0">
              <a:buNone/>
            </a:pPr>
            <a:r>
              <a:rPr lang="en-US" sz="1500" i="1" dirty="0">
                <a:solidFill>
                  <a:schemeClr val="tx2"/>
                </a:solidFill>
              </a:rPr>
              <a:t>Have you been to India?</a:t>
            </a:r>
            <a:endParaRPr lang="en-US" sz="1500" dirty="0"/>
          </a:p>
        </p:txBody>
      </p:sp>
      <p:sp>
        <p:nvSpPr>
          <p:cNvPr id="18" name="Text 14"/>
          <p:cNvSpPr txBox="1"/>
          <p:nvPr/>
        </p:nvSpPr>
        <p:spPr>
          <a:xfrm>
            <a:off x="6080760" y="2637536"/>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9" name="Text 15"/>
          <p:cNvSpPr txBox="1"/>
          <p:nvPr/>
        </p:nvSpPr>
        <p:spPr>
          <a:xfrm>
            <a:off x="6537960" y="2637536"/>
            <a:ext cx="5029200" cy="577088"/>
          </a:xfrm>
          <a:prstGeom prst="rect">
            <a:avLst/>
          </a:prstGeom>
          <a:noFill/>
          <a:ln/>
        </p:spPr>
        <p:txBody>
          <a:bodyPr wrap="square" lIns="0" tIns="0" rIns="0" bIns="0" rtlCol="0" anchor="ctr"/>
          <a:lstStyle/>
          <a:p>
            <a:pPr algn="l" indent="0" marL="0">
              <a:buNone/>
            </a:pPr>
            <a:r>
              <a:rPr lang="en-US" sz="1600" dirty="0">
                <a:solidFill>
                  <a:schemeClr val="tx1"/>
                </a:solidFill>
              </a:rPr>
              <a:t>……………………………………………………</a:t>
            </a:r>
            <a:endParaRPr lang="en-US" sz="1600" dirty="0"/>
          </a:p>
        </p:txBody>
      </p:sp>
      <p:sp>
        <p:nvSpPr>
          <p:cNvPr id="20" name="Shape 16"/>
          <p:cNvSpPr/>
          <p:nvPr/>
        </p:nvSpPr>
        <p:spPr>
          <a:xfrm>
            <a:off x="548640" y="3306064"/>
            <a:ext cx="11091672" cy="577088"/>
          </a:xfrm>
          <a:prstGeom prst="roundRect">
            <a:avLst>
              <a:gd name="adj" fmla="val 15845"/>
            </a:avLst>
          </a:prstGeom>
          <a:solidFill>
            <a:schemeClr val="bg2"/>
          </a:solidFill>
          <a:ln w="9525">
            <a:solidFill>
              <a:srgbClr val="D5DCE6"/>
            </a:solidFill>
            <a:prstDash val="solid"/>
          </a:ln>
        </p:spPr>
      </p:sp>
      <p:sp>
        <p:nvSpPr>
          <p:cNvPr id="21" name="Shape 17"/>
          <p:cNvSpPr/>
          <p:nvPr/>
        </p:nvSpPr>
        <p:spPr>
          <a:xfrm>
            <a:off x="685800" y="3402584"/>
            <a:ext cx="1097280" cy="347472"/>
          </a:xfrm>
          <a:prstGeom prst="roundRect">
            <a:avLst>
              <a:gd name="adj" fmla="val 31579"/>
            </a:avLst>
          </a:prstGeom>
          <a:solidFill>
            <a:schemeClr val="accent1"/>
          </a:solidFill>
          <a:ln w="12700">
            <a:solidFill>
              <a:srgbClr val="FFFFFF">
                <a:alpha val="0"/>
              </a:srgbClr>
            </a:solidFill>
            <a:prstDash val="solid"/>
          </a:ln>
        </p:spPr>
      </p:sp>
      <p:sp>
        <p:nvSpPr>
          <p:cNvPr id="22" name="Text 18"/>
          <p:cNvSpPr txBox="1"/>
          <p:nvPr/>
        </p:nvSpPr>
        <p:spPr>
          <a:xfrm>
            <a:off x="685800" y="3402584"/>
            <a:ext cx="1097280" cy="347472"/>
          </a:xfrm>
          <a:prstGeom prst="rect">
            <a:avLst/>
          </a:prstGeom>
          <a:noFill/>
          <a:ln/>
        </p:spPr>
        <p:txBody>
          <a:bodyPr wrap="square" lIns="0" tIns="0" rIns="0" bIns="0" rtlCol="0" anchor="ctr"/>
          <a:lstStyle/>
          <a:p>
            <a:pPr algn="ctr" indent="0" marL="0">
              <a:buNone/>
            </a:pPr>
            <a:r>
              <a:rPr lang="en-US" sz="1400" b="1" dirty="0">
                <a:solidFill>
                  <a:schemeClr val="bg1"/>
                </a:solidFill>
              </a:rPr>
              <a:t>yet</a:t>
            </a:r>
            <a:endParaRPr lang="en-US" sz="1400" dirty="0"/>
          </a:p>
        </p:txBody>
      </p:sp>
      <p:sp>
        <p:nvSpPr>
          <p:cNvPr id="23" name="Text 19"/>
          <p:cNvSpPr txBox="1"/>
          <p:nvPr/>
        </p:nvSpPr>
        <p:spPr>
          <a:xfrm>
            <a:off x="1920240" y="3306064"/>
            <a:ext cx="4206240" cy="577088"/>
          </a:xfrm>
          <a:prstGeom prst="rect">
            <a:avLst/>
          </a:prstGeom>
          <a:noFill/>
          <a:ln/>
        </p:spPr>
        <p:txBody>
          <a:bodyPr wrap="square" lIns="0" tIns="0" rIns="0" bIns="0" rtlCol="0" anchor="ctr"/>
          <a:lstStyle/>
          <a:p>
            <a:pPr algn="l" indent="0" marL="0">
              <a:buNone/>
            </a:pPr>
            <a:r>
              <a:rPr lang="en-US" sz="1500" i="1" dirty="0">
                <a:solidFill>
                  <a:schemeClr val="tx2"/>
                </a:solidFill>
              </a:rPr>
              <a:t>She hasn’t called me.</a:t>
            </a:r>
            <a:endParaRPr lang="en-US" sz="1500" dirty="0"/>
          </a:p>
        </p:txBody>
      </p:sp>
      <p:sp>
        <p:nvSpPr>
          <p:cNvPr id="24" name="Text 20"/>
          <p:cNvSpPr txBox="1"/>
          <p:nvPr/>
        </p:nvSpPr>
        <p:spPr>
          <a:xfrm>
            <a:off x="6080760" y="3306064"/>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5" name="Text 21"/>
          <p:cNvSpPr txBox="1"/>
          <p:nvPr/>
        </p:nvSpPr>
        <p:spPr>
          <a:xfrm>
            <a:off x="6537960" y="3306064"/>
            <a:ext cx="5029200" cy="577088"/>
          </a:xfrm>
          <a:prstGeom prst="rect">
            <a:avLst/>
          </a:prstGeom>
          <a:noFill/>
          <a:ln/>
        </p:spPr>
        <p:txBody>
          <a:bodyPr wrap="square" lIns="0" tIns="0" rIns="0" bIns="0" rtlCol="0" anchor="ctr"/>
          <a:lstStyle/>
          <a:p>
            <a:pPr algn="l" indent="0" marL="0">
              <a:buNone/>
            </a:pPr>
            <a:r>
              <a:rPr lang="en-US" sz="1600" dirty="0">
                <a:solidFill>
                  <a:schemeClr val="tx1"/>
                </a:solidFill>
              </a:rPr>
              <a:t>……………………………………………………</a:t>
            </a:r>
            <a:endParaRPr lang="en-US" sz="1600" dirty="0"/>
          </a:p>
        </p:txBody>
      </p:sp>
      <p:sp>
        <p:nvSpPr>
          <p:cNvPr id="26" name="Shape 22"/>
          <p:cNvSpPr/>
          <p:nvPr/>
        </p:nvSpPr>
        <p:spPr>
          <a:xfrm>
            <a:off x="548640" y="3974592"/>
            <a:ext cx="11091672" cy="577088"/>
          </a:xfrm>
          <a:prstGeom prst="roundRect">
            <a:avLst>
              <a:gd name="adj" fmla="val 15845"/>
            </a:avLst>
          </a:prstGeom>
          <a:solidFill>
            <a:srgbClr val="FFFFFF"/>
          </a:solidFill>
          <a:ln w="9525">
            <a:solidFill>
              <a:srgbClr val="D5DCE6"/>
            </a:solidFill>
            <a:prstDash val="solid"/>
          </a:ln>
        </p:spPr>
      </p:sp>
      <p:sp>
        <p:nvSpPr>
          <p:cNvPr id="27" name="Shape 23"/>
          <p:cNvSpPr/>
          <p:nvPr/>
        </p:nvSpPr>
        <p:spPr>
          <a:xfrm>
            <a:off x="685800" y="4071112"/>
            <a:ext cx="1097280" cy="347472"/>
          </a:xfrm>
          <a:prstGeom prst="roundRect">
            <a:avLst>
              <a:gd name="adj" fmla="val 31579"/>
            </a:avLst>
          </a:prstGeom>
          <a:solidFill>
            <a:schemeClr val="accent1"/>
          </a:solidFill>
          <a:ln w="12700">
            <a:solidFill>
              <a:srgbClr val="FFFFFF">
                <a:alpha val="0"/>
              </a:srgbClr>
            </a:solidFill>
            <a:prstDash val="solid"/>
          </a:ln>
        </p:spPr>
      </p:sp>
      <p:sp>
        <p:nvSpPr>
          <p:cNvPr id="28" name="Text 24"/>
          <p:cNvSpPr txBox="1"/>
          <p:nvPr/>
        </p:nvSpPr>
        <p:spPr>
          <a:xfrm>
            <a:off x="685800" y="4071112"/>
            <a:ext cx="1097280" cy="347472"/>
          </a:xfrm>
          <a:prstGeom prst="rect">
            <a:avLst/>
          </a:prstGeom>
          <a:noFill/>
          <a:ln/>
        </p:spPr>
        <p:txBody>
          <a:bodyPr wrap="square" lIns="0" tIns="0" rIns="0" bIns="0" rtlCol="0" anchor="ctr"/>
          <a:lstStyle/>
          <a:p>
            <a:pPr algn="ctr" indent="0" marL="0">
              <a:buNone/>
            </a:pPr>
            <a:r>
              <a:rPr lang="en-US" sz="1400" b="1" dirty="0">
                <a:solidFill>
                  <a:schemeClr val="bg1"/>
                </a:solidFill>
              </a:rPr>
              <a:t>already</a:t>
            </a:r>
            <a:endParaRPr lang="en-US" sz="1400" dirty="0"/>
          </a:p>
        </p:txBody>
      </p:sp>
      <p:sp>
        <p:nvSpPr>
          <p:cNvPr id="29" name="Text 25"/>
          <p:cNvSpPr txBox="1"/>
          <p:nvPr/>
        </p:nvSpPr>
        <p:spPr>
          <a:xfrm>
            <a:off x="1920240" y="3974592"/>
            <a:ext cx="4206240" cy="577088"/>
          </a:xfrm>
          <a:prstGeom prst="rect">
            <a:avLst/>
          </a:prstGeom>
          <a:noFill/>
          <a:ln/>
        </p:spPr>
        <p:txBody>
          <a:bodyPr wrap="square" lIns="0" tIns="0" rIns="0" bIns="0" rtlCol="0" anchor="ctr"/>
          <a:lstStyle/>
          <a:p>
            <a:pPr algn="l" indent="0" marL="0">
              <a:buNone/>
            </a:pPr>
            <a:r>
              <a:rPr lang="en-US" sz="1500" i="1" dirty="0">
                <a:solidFill>
                  <a:schemeClr val="tx2"/>
                </a:solidFill>
              </a:rPr>
              <a:t>We have seen this film.</a:t>
            </a:r>
            <a:endParaRPr lang="en-US" sz="1500" dirty="0"/>
          </a:p>
        </p:txBody>
      </p:sp>
      <p:sp>
        <p:nvSpPr>
          <p:cNvPr id="30" name="Text 26"/>
          <p:cNvSpPr txBox="1"/>
          <p:nvPr/>
        </p:nvSpPr>
        <p:spPr>
          <a:xfrm>
            <a:off x="6080760" y="3974592"/>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31" name="Text 27"/>
          <p:cNvSpPr txBox="1"/>
          <p:nvPr/>
        </p:nvSpPr>
        <p:spPr>
          <a:xfrm>
            <a:off x="6537960" y="3974592"/>
            <a:ext cx="5029200" cy="577088"/>
          </a:xfrm>
          <a:prstGeom prst="rect">
            <a:avLst/>
          </a:prstGeom>
          <a:noFill/>
          <a:ln/>
        </p:spPr>
        <p:txBody>
          <a:bodyPr wrap="square" lIns="0" tIns="0" rIns="0" bIns="0" rtlCol="0" anchor="ctr"/>
          <a:lstStyle/>
          <a:p>
            <a:pPr algn="l" indent="0" marL="0">
              <a:buNone/>
            </a:pPr>
            <a:r>
              <a:rPr lang="en-US" sz="1600" dirty="0">
                <a:solidFill>
                  <a:schemeClr val="tx1"/>
                </a:solidFill>
              </a:rPr>
              <a:t>……………………………………………………</a:t>
            </a:r>
            <a:endParaRPr lang="en-US" sz="1600" dirty="0"/>
          </a:p>
        </p:txBody>
      </p:sp>
      <p:sp>
        <p:nvSpPr>
          <p:cNvPr id="32" name="Shape 28"/>
          <p:cNvSpPr/>
          <p:nvPr/>
        </p:nvSpPr>
        <p:spPr>
          <a:xfrm>
            <a:off x="548640" y="4643120"/>
            <a:ext cx="11091672" cy="577088"/>
          </a:xfrm>
          <a:prstGeom prst="roundRect">
            <a:avLst>
              <a:gd name="adj" fmla="val 15845"/>
            </a:avLst>
          </a:prstGeom>
          <a:solidFill>
            <a:schemeClr val="bg2"/>
          </a:solidFill>
          <a:ln w="9525">
            <a:solidFill>
              <a:srgbClr val="D5DCE6"/>
            </a:solidFill>
            <a:prstDash val="solid"/>
          </a:ln>
        </p:spPr>
      </p:sp>
      <p:sp>
        <p:nvSpPr>
          <p:cNvPr id="33" name="Shape 29"/>
          <p:cNvSpPr/>
          <p:nvPr/>
        </p:nvSpPr>
        <p:spPr>
          <a:xfrm>
            <a:off x="685800" y="4739640"/>
            <a:ext cx="1097280" cy="347472"/>
          </a:xfrm>
          <a:prstGeom prst="roundRect">
            <a:avLst>
              <a:gd name="adj" fmla="val 31579"/>
            </a:avLst>
          </a:prstGeom>
          <a:solidFill>
            <a:schemeClr val="accent1"/>
          </a:solidFill>
          <a:ln w="12700">
            <a:solidFill>
              <a:srgbClr val="FFFFFF">
                <a:alpha val="0"/>
              </a:srgbClr>
            </a:solidFill>
            <a:prstDash val="solid"/>
          </a:ln>
        </p:spPr>
      </p:sp>
      <p:sp>
        <p:nvSpPr>
          <p:cNvPr id="34" name="Text 30"/>
          <p:cNvSpPr txBox="1"/>
          <p:nvPr/>
        </p:nvSpPr>
        <p:spPr>
          <a:xfrm>
            <a:off x="685800" y="4739640"/>
            <a:ext cx="1097280" cy="347472"/>
          </a:xfrm>
          <a:prstGeom prst="rect">
            <a:avLst/>
          </a:prstGeom>
          <a:noFill/>
          <a:ln/>
        </p:spPr>
        <p:txBody>
          <a:bodyPr wrap="square" lIns="0" tIns="0" rIns="0" bIns="0" rtlCol="0" anchor="ctr"/>
          <a:lstStyle/>
          <a:p>
            <a:pPr algn="ctr" indent="0" marL="0">
              <a:buNone/>
            </a:pPr>
            <a:r>
              <a:rPr lang="en-US" sz="1400" b="1" dirty="0">
                <a:solidFill>
                  <a:schemeClr val="bg1"/>
                </a:solidFill>
              </a:rPr>
              <a:t>never</a:t>
            </a:r>
            <a:endParaRPr lang="en-US" sz="1400" dirty="0"/>
          </a:p>
        </p:txBody>
      </p:sp>
      <p:sp>
        <p:nvSpPr>
          <p:cNvPr id="35" name="Text 31"/>
          <p:cNvSpPr txBox="1"/>
          <p:nvPr/>
        </p:nvSpPr>
        <p:spPr>
          <a:xfrm>
            <a:off x="1920240" y="4643120"/>
            <a:ext cx="4206240" cy="577088"/>
          </a:xfrm>
          <a:prstGeom prst="rect">
            <a:avLst/>
          </a:prstGeom>
          <a:noFill/>
          <a:ln/>
        </p:spPr>
        <p:txBody>
          <a:bodyPr wrap="square" lIns="0" tIns="0" rIns="0" bIns="0" rtlCol="0" anchor="ctr"/>
          <a:lstStyle/>
          <a:p>
            <a:pPr algn="l" indent="0" marL="0">
              <a:buNone/>
            </a:pPr>
            <a:r>
              <a:rPr lang="en-US" sz="1500" i="1" dirty="0">
                <a:solidFill>
                  <a:schemeClr val="tx2"/>
                </a:solidFill>
              </a:rPr>
              <a:t>He has eaten snails.</a:t>
            </a:r>
            <a:endParaRPr lang="en-US" sz="1500" dirty="0"/>
          </a:p>
        </p:txBody>
      </p:sp>
      <p:sp>
        <p:nvSpPr>
          <p:cNvPr id="36" name="Text 32"/>
          <p:cNvSpPr txBox="1"/>
          <p:nvPr/>
        </p:nvSpPr>
        <p:spPr>
          <a:xfrm>
            <a:off x="6080760" y="4643120"/>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37" name="Text 33"/>
          <p:cNvSpPr txBox="1"/>
          <p:nvPr/>
        </p:nvSpPr>
        <p:spPr>
          <a:xfrm>
            <a:off x="6537960" y="4643120"/>
            <a:ext cx="5029200" cy="577088"/>
          </a:xfrm>
          <a:prstGeom prst="rect">
            <a:avLst/>
          </a:prstGeom>
          <a:noFill/>
          <a:ln/>
        </p:spPr>
        <p:txBody>
          <a:bodyPr wrap="square" lIns="0" tIns="0" rIns="0" bIns="0" rtlCol="0" anchor="ctr"/>
          <a:lstStyle/>
          <a:p>
            <a:pPr algn="l" indent="0" marL="0">
              <a:buNone/>
            </a:pPr>
            <a:r>
              <a:rPr lang="en-US" sz="1600" dirty="0">
                <a:solidFill>
                  <a:schemeClr val="tx1"/>
                </a:solidFill>
              </a:rPr>
              <a:t>……………………………………………………</a:t>
            </a:r>
            <a:endParaRPr lang="en-US" sz="1600" dirty="0"/>
          </a:p>
        </p:txBody>
      </p:sp>
      <p:sp>
        <p:nvSpPr>
          <p:cNvPr id="38" name="Shape 34"/>
          <p:cNvSpPr/>
          <p:nvPr/>
        </p:nvSpPr>
        <p:spPr>
          <a:xfrm>
            <a:off x="548640" y="5311648"/>
            <a:ext cx="11091672" cy="577088"/>
          </a:xfrm>
          <a:prstGeom prst="roundRect">
            <a:avLst>
              <a:gd name="adj" fmla="val 15845"/>
            </a:avLst>
          </a:prstGeom>
          <a:solidFill>
            <a:srgbClr val="FFFFFF"/>
          </a:solidFill>
          <a:ln w="9525">
            <a:solidFill>
              <a:srgbClr val="D5DCE6"/>
            </a:solidFill>
            <a:prstDash val="solid"/>
          </a:ln>
        </p:spPr>
      </p:sp>
      <p:sp>
        <p:nvSpPr>
          <p:cNvPr id="39" name="Shape 35"/>
          <p:cNvSpPr/>
          <p:nvPr/>
        </p:nvSpPr>
        <p:spPr>
          <a:xfrm>
            <a:off x="685800" y="5408168"/>
            <a:ext cx="1097280" cy="347472"/>
          </a:xfrm>
          <a:prstGeom prst="roundRect">
            <a:avLst>
              <a:gd name="adj" fmla="val 31579"/>
            </a:avLst>
          </a:prstGeom>
          <a:solidFill>
            <a:schemeClr val="accent1"/>
          </a:solidFill>
          <a:ln w="12700">
            <a:solidFill>
              <a:srgbClr val="FFFFFF">
                <a:alpha val="0"/>
              </a:srgbClr>
            </a:solidFill>
            <a:prstDash val="solid"/>
          </a:ln>
        </p:spPr>
      </p:sp>
      <p:sp>
        <p:nvSpPr>
          <p:cNvPr id="40" name="Text 36"/>
          <p:cNvSpPr txBox="1"/>
          <p:nvPr/>
        </p:nvSpPr>
        <p:spPr>
          <a:xfrm>
            <a:off x="685800" y="5408168"/>
            <a:ext cx="1097280" cy="347472"/>
          </a:xfrm>
          <a:prstGeom prst="rect">
            <a:avLst/>
          </a:prstGeom>
          <a:noFill/>
          <a:ln/>
        </p:spPr>
        <p:txBody>
          <a:bodyPr wrap="square" lIns="0" tIns="0" rIns="0" bIns="0" rtlCol="0" anchor="ctr"/>
          <a:lstStyle/>
          <a:p>
            <a:pPr algn="ctr" indent="0" marL="0">
              <a:buNone/>
            </a:pPr>
            <a:r>
              <a:rPr lang="en-US" sz="1400" b="1" dirty="0">
                <a:solidFill>
                  <a:schemeClr val="bg1"/>
                </a:solidFill>
              </a:rPr>
              <a:t>yet</a:t>
            </a:r>
            <a:endParaRPr lang="en-US" sz="1400" dirty="0"/>
          </a:p>
        </p:txBody>
      </p:sp>
      <p:sp>
        <p:nvSpPr>
          <p:cNvPr id="41" name="Text 37"/>
          <p:cNvSpPr txBox="1"/>
          <p:nvPr/>
        </p:nvSpPr>
        <p:spPr>
          <a:xfrm>
            <a:off x="1920240" y="5311648"/>
            <a:ext cx="4206240" cy="577088"/>
          </a:xfrm>
          <a:prstGeom prst="rect">
            <a:avLst/>
          </a:prstGeom>
          <a:noFill/>
          <a:ln/>
        </p:spPr>
        <p:txBody>
          <a:bodyPr wrap="square" lIns="0" tIns="0" rIns="0" bIns="0" rtlCol="0" anchor="ctr"/>
          <a:lstStyle/>
          <a:p>
            <a:pPr algn="l" indent="0" marL="0">
              <a:buNone/>
            </a:pPr>
            <a:r>
              <a:rPr lang="en-US" sz="1500" i="1" dirty="0">
                <a:solidFill>
                  <a:schemeClr val="tx2"/>
                </a:solidFill>
              </a:rPr>
              <a:t>Have they arrived?</a:t>
            </a:r>
            <a:endParaRPr lang="en-US" sz="1500" dirty="0"/>
          </a:p>
        </p:txBody>
      </p:sp>
      <p:sp>
        <p:nvSpPr>
          <p:cNvPr id="42" name="Text 38"/>
          <p:cNvSpPr txBox="1"/>
          <p:nvPr/>
        </p:nvSpPr>
        <p:spPr>
          <a:xfrm>
            <a:off x="6080760" y="5311648"/>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43" name="Text 39"/>
          <p:cNvSpPr txBox="1"/>
          <p:nvPr/>
        </p:nvSpPr>
        <p:spPr>
          <a:xfrm>
            <a:off x="6537960" y="5311648"/>
            <a:ext cx="5029200" cy="577088"/>
          </a:xfrm>
          <a:prstGeom prst="rect">
            <a:avLst/>
          </a:prstGeom>
          <a:noFill/>
          <a:ln/>
        </p:spPr>
        <p:txBody>
          <a:bodyPr wrap="square" lIns="0" tIns="0" rIns="0" bIns="0" rtlCol="0" anchor="ctr"/>
          <a:lstStyle/>
          <a:p>
            <a:pPr algn="l" indent="0" marL="0">
              <a:buNone/>
            </a:pP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2 — Where does it go?</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Rewrite the sentence with the word: between have and the participle, or at the end?</a:t>
            </a:r>
            <a:endParaRPr lang="en-US" sz="1700" dirty="0"/>
          </a:p>
        </p:txBody>
      </p:sp>
      <p:sp>
        <p:nvSpPr>
          <p:cNvPr id="9" name="Shape 5"/>
          <p:cNvSpPr/>
          <p:nvPr/>
        </p:nvSpPr>
        <p:spPr>
          <a:xfrm>
            <a:off x="548640" y="1969008"/>
            <a:ext cx="11091672" cy="577088"/>
          </a:xfrm>
          <a:prstGeom prst="roundRect">
            <a:avLst>
              <a:gd name="adj" fmla="val 15845"/>
            </a:avLst>
          </a:prstGeom>
          <a:solidFill>
            <a:schemeClr val="bg2"/>
          </a:solidFill>
          <a:ln w="9525">
            <a:solidFill>
              <a:srgbClr val="D5DCE6"/>
            </a:solidFill>
            <a:prstDash val="solid"/>
          </a:ln>
        </p:spPr>
      </p:sp>
      <p:sp>
        <p:nvSpPr>
          <p:cNvPr id="10" name="Shape 6"/>
          <p:cNvSpPr/>
          <p:nvPr/>
        </p:nvSpPr>
        <p:spPr>
          <a:xfrm>
            <a:off x="685800" y="2065528"/>
            <a:ext cx="1097280" cy="347472"/>
          </a:xfrm>
          <a:prstGeom prst="roundRect">
            <a:avLst>
              <a:gd name="adj" fmla="val 31579"/>
            </a:avLst>
          </a:prstGeom>
          <a:solidFill>
            <a:schemeClr val="accent1"/>
          </a:solidFill>
          <a:ln w="12700">
            <a:solidFill>
              <a:srgbClr val="FFFFFF">
                <a:alpha val="0"/>
              </a:srgbClr>
            </a:solidFill>
            <a:prstDash val="solid"/>
          </a:ln>
        </p:spPr>
      </p:sp>
      <p:sp>
        <p:nvSpPr>
          <p:cNvPr id="11" name="Text 7"/>
          <p:cNvSpPr txBox="1"/>
          <p:nvPr/>
        </p:nvSpPr>
        <p:spPr>
          <a:xfrm>
            <a:off x="685800" y="2065528"/>
            <a:ext cx="1097280" cy="347472"/>
          </a:xfrm>
          <a:prstGeom prst="rect">
            <a:avLst/>
          </a:prstGeom>
          <a:noFill/>
          <a:ln/>
        </p:spPr>
        <p:txBody>
          <a:bodyPr wrap="square" lIns="0" tIns="0" rIns="0" bIns="0" rtlCol="0" anchor="ctr"/>
          <a:lstStyle/>
          <a:p>
            <a:pPr algn="ctr" indent="0" marL="0">
              <a:buNone/>
            </a:pPr>
            <a:r>
              <a:rPr lang="en-US" sz="1400" b="1" dirty="0">
                <a:solidFill>
                  <a:schemeClr val="bg1"/>
                </a:solidFill>
              </a:rPr>
              <a:t>just</a:t>
            </a:r>
            <a:endParaRPr lang="en-US" sz="1400" dirty="0"/>
          </a:p>
        </p:txBody>
      </p:sp>
      <p:sp>
        <p:nvSpPr>
          <p:cNvPr id="12" name="Text 8"/>
          <p:cNvSpPr txBox="1"/>
          <p:nvPr/>
        </p:nvSpPr>
        <p:spPr>
          <a:xfrm>
            <a:off x="1920240" y="1969008"/>
            <a:ext cx="4206240" cy="577088"/>
          </a:xfrm>
          <a:prstGeom prst="rect">
            <a:avLst/>
          </a:prstGeom>
          <a:noFill/>
          <a:ln/>
        </p:spPr>
        <p:txBody>
          <a:bodyPr wrap="square" lIns="0" tIns="0" rIns="0" bIns="0" rtlCol="0" anchor="ctr"/>
          <a:lstStyle/>
          <a:p>
            <a:pPr algn="l" indent="0" marL="0">
              <a:buNone/>
            </a:pPr>
            <a:r>
              <a:rPr lang="en-US" sz="1500" i="1" dirty="0">
                <a:solidFill>
                  <a:schemeClr val="tx2"/>
                </a:solidFill>
              </a:rPr>
              <a:t>I have finished the report.</a:t>
            </a:r>
            <a:endParaRPr lang="en-US" sz="1500" dirty="0"/>
          </a:p>
        </p:txBody>
      </p:sp>
      <p:sp>
        <p:nvSpPr>
          <p:cNvPr id="13" name="Text 9"/>
          <p:cNvSpPr txBox="1"/>
          <p:nvPr/>
        </p:nvSpPr>
        <p:spPr>
          <a:xfrm>
            <a:off x="6080760" y="1969008"/>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14" name="Text 10"/>
          <p:cNvSpPr txBox="1"/>
          <p:nvPr/>
        </p:nvSpPr>
        <p:spPr>
          <a:xfrm>
            <a:off x="6537960" y="1969008"/>
            <a:ext cx="5029200" cy="577088"/>
          </a:xfrm>
          <a:prstGeom prst="rect">
            <a:avLst/>
          </a:prstGeom>
          <a:noFill/>
          <a:ln/>
        </p:spPr>
        <p:txBody>
          <a:bodyPr wrap="square" lIns="0" tIns="0" rIns="0" bIns="0" rtlCol="0" anchor="ctr"/>
          <a:lstStyle/>
          <a:p>
            <a:pPr algn="l" indent="0" marL="0">
              <a:buNone/>
            </a:pPr>
            <a:r>
              <a:rPr lang="en-US" sz="1600" i="1" dirty="0">
                <a:solidFill>
                  <a:schemeClr val="tx1"/>
                </a:solidFill>
              </a:rPr>
              <a:t>I have </a:t>
            </a:r>
            <a:r>
              <a:rPr lang="en-US" sz="1600" b="1" i="1" dirty="0">
                <a:solidFill>
                  <a:schemeClr val="accent3"/>
                </a:solidFill>
              </a:rPr>
              <a:t>just</a:t>
            </a:r>
            <a:r>
              <a:rPr lang="en-US" sz="1600" i="1" dirty="0">
                <a:solidFill>
                  <a:schemeClr val="tx1"/>
                </a:solidFill>
              </a:rPr>
              <a:t> finished the report.</a:t>
            </a:r>
            <a:endParaRPr lang="en-US" sz="1600" dirty="0"/>
          </a:p>
        </p:txBody>
      </p:sp>
      <p:sp>
        <p:nvSpPr>
          <p:cNvPr id="15" name="Shape 11"/>
          <p:cNvSpPr/>
          <p:nvPr/>
        </p:nvSpPr>
        <p:spPr>
          <a:xfrm>
            <a:off x="548640" y="2637536"/>
            <a:ext cx="11091672" cy="577088"/>
          </a:xfrm>
          <a:prstGeom prst="roundRect">
            <a:avLst>
              <a:gd name="adj" fmla="val 15845"/>
            </a:avLst>
          </a:prstGeom>
          <a:solidFill>
            <a:srgbClr val="FFFFFF"/>
          </a:solidFill>
          <a:ln w="9525">
            <a:solidFill>
              <a:srgbClr val="D5DCE6"/>
            </a:solidFill>
            <a:prstDash val="solid"/>
          </a:ln>
        </p:spPr>
      </p:sp>
      <p:sp>
        <p:nvSpPr>
          <p:cNvPr id="16" name="Shape 12"/>
          <p:cNvSpPr/>
          <p:nvPr/>
        </p:nvSpPr>
        <p:spPr>
          <a:xfrm>
            <a:off x="685800" y="2734056"/>
            <a:ext cx="1097280" cy="347472"/>
          </a:xfrm>
          <a:prstGeom prst="roundRect">
            <a:avLst>
              <a:gd name="adj" fmla="val 31579"/>
            </a:avLst>
          </a:prstGeom>
          <a:solidFill>
            <a:schemeClr val="accent1"/>
          </a:solidFill>
          <a:ln w="12700">
            <a:solidFill>
              <a:srgbClr val="FFFFFF">
                <a:alpha val="0"/>
              </a:srgbClr>
            </a:solidFill>
            <a:prstDash val="solid"/>
          </a:ln>
        </p:spPr>
      </p:sp>
      <p:sp>
        <p:nvSpPr>
          <p:cNvPr id="17" name="Text 13"/>
          <p:cNvSpPr txBox="1"/>
          <p:nvPr/>
        </p:nvSpPr>
        <p:spPr>
          <a:xfrm>
            <a:off x="685800" y="2734056"/>
            <a:ext cx="1097280" cy="347472"/>
          </a:xfrm>
          <a:prstGeom prst="rect">
            <a:avLst/>
          </a:prstGeom>
          <a:noFill/>
          <a:ln/>
        </p:spPr>
        <p:txBody>
          <a:bodyPr wrap="square" lIns="0" tIns="0" rIns="0" bIns="0" rtlCol="0" anchor="ctr"/>
          <a:lstStyle/>
          <a:p>
            <a:pPr algn="ctr" indent="0" marL="0">
              <a:buNone/>
            </a:pPr>
            <a:r>
              <a:rPr lang="en-US" sz="1400" b="1" dirty="0">
                <a:solidFill>
                  <a:schemeClr val="bg1"/>
                </a:solidFill>
              </a:rPr>
              <a:t>ever</a:t>
            </a:r>
            <a:endParaRPr lang="en-US" sz="1400" dirty="0"/>
          </a:p>
        </p:txBody>
      </p:sp>
      <p:sp>
        <p:nvSpPr>
          <p:cNvPr id="18" name="Text 14"/>
          <p:cNvSpPr txBox="1"/>
          <p:nvPr/>
        </p:nvSpPr>
        <p:spPr>
          <a:xfrm>
            <a:off x="1920240" y="2637536"/>
            <a:ext cx="4206240" cy="577088"/>
          </a:xfrm>
          <a:prstGeom prst="rect">
            <a:avLst/>
          </a:prstGeom>
          <a:noFill/>
          <a:ln/>
        </p:spPr>
        <p:txBody>
          <a:bodyPr wrap="square" lIns="0" tIns="0" rIns="0" bIns="0" rtlCol="0" anchor="ctr"/>
          <a:lstStyle/>
          <a:p>
            <a:pPr algn="l" indent="0" marL="0">
              <a:buNone/>
            </a:pPr>
            <a:r>
              <a:rPr lang="en-US" sz="1500" i="1" dirty="0">
                <a:solidFill>
                  <a:schemeClr val="tx2"/>
                </a:solidFill>
              </a:rPr>
              <a:t>Have you been to India?</a:t>
            </a:r>
            <a:endParaRPr lang="en-US" sz="1500" dirty="0"/>
          </a:p>
        </p:txBody>
      </p:sp>
      <p:sp>
        <p:nvSpPr>
          <p:cNvPr id="19" name="Text 15"/>
          <p:cNvSpPr txBox="1"/>
          <p:nvPr/>
        </p:nvSpPr>
        <p:spPr>
          <a:xfrm>
            <a:off x="6080760" y="2637536"/>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0" name="Text 16"/>
          <p:cNvSpPr txBox="1"/>
          <p:nvPr/>
        </p:nvSpPr>
        <p:spPr>
          <a:xfrm>
            <a:off x="6537960" y="2637536"/>
            <a:ext cx="5029200" cy="577088"/>
          </a:xfrm>
          <a:prstGeom prst="rect">
            <a:avLst/>
          </a:prstGeom>
          <a:noFill/>
          <a:ln/>
        </p:spPr>
        <p:txBody>
          <a:bodyPr wrap="square" lIns="0" tIns="0" rIns="0" bIns="0" rtlCol="0" anchor="ctr"/>
          <a:lstStyle/>
          <a:p>
            <a:pPr algn="l" indent="0" marL="0">
              <a:buNone/>
            </a:pPr>
            <a:r>
              <a:rPr lang="en-US" sz="1600" i="1" dirty="0">
                <a:solidFill>
                  <a:schemeClr val="tx1"/>
                </a:solidFill>
              </a:rPr>
              <a:t>Have you </a:t>
            </a:r>
            <a:r>
              <a:rPr lang="en-US" sz="1600" b="1" i="1" dirty="0">
                <a:solidFill>
                  <a:schemeClr val="accent3"/>
                </a:solidFill>
              </a:rPr>
              <a:t>ever</a:t>
            </a:r>
            <a:r>
              <a:rPr lang="en-US" sz="1600" i="1" dirty="0">
                <a:solidFill>
                  <a:schemeClr val="tx1"/>
                </a:solidFill>
              </a:rPr>
              <a:t> been to India?</a:t>
            </a:r>
            <a:endParaRPr lang="en-US" sz="1600" dirty="0"/>
          </a:p>
        </p:txBody>
      </p:sp>
      <p:sp>
        <p:nvSpPr>
          <p:cNvPr id="21" name="Shape 17"/>
          <p:cNvSpPr/>
          <p:nvPr/>
        </p:nvSpPr>
        <p:spPr>
          <a:xfrm>
            <a:off x="548640" y="3306064"/>
            <a:ext cx="11091672" cy="577088"/>
          </a:xfrm>
          <a:prstGeom prst="roundRect">
            <a:avLst>
              <a:gd name="adj" fmla="val 15845"/>
            </a:avLst>
          </a:prstGeom>
          <a:solidFill>
            <a:schemeClr val="bg2"/>
          </a:solidFill>
          <a:ln w="9525">
            <a:solidFill>
              <a:srgbClr val="D5DCE6"/>
            </a:solidFill>
            <a:prstDash val="solid"/>
          </a:ln>
        </p:spPr>
      </p:sp>
      <p:sp>
        <p:nvSpPr>
          <p:cNvPr id="22" name="Shape 18"/>
          <p:cNvSpPr/>
          <p:nvPr/>
        </p:nvSpPr>
        <p:spPr>
          <a:xfrm>
            <a:off x="685800" y="3402584"/>
            <a:ext cx="1097280" cy="347472"/>
          </a:xfrm>
          <a:prstGeom prst="roundRect">
            <a:avLst>
              <a:gd name="adj" fmla="val 31579"/>
            </a:avLst>
          </a:prstGeom>
          <a:solidFill>
            <a:schemeClr val="accent1"/>
          </a:solidFill>
          <a:ln w="12700">
            <a:solidFill>
              <a:srgbClr val="FFFFFF">
                <a:alpha val="0"/>
              </a:srgbClr>
            </a:solidFill>
            <a:prstDash val="solid"/>
          </a:ln>
        </p:spPr>
      </p:sp>
      <p:sp>
        <p:nvSpPr>
          <p:cNvPr id="23" name="Text 19"/>
          <p:cNvSpPr txBox="1"/>
          <p:nvPr/>
        </p:nvSpPr>
        <p:spPr>
          <a:xfrm>
            <a:off x="685800" y="3402584"/>
            <a:ext cx="1097280" cy="347472"/>
          </a:xfrm>
          <a:prstGeom prst="rect">
            <a:avLst/>
          </a:prstGeom>
          <a:noFill/>
          <a:ln/>
        </p:spPr>
        <p:txBody>
          <a:bodyPr wrap="square" lIns="0" tIns="0" rIns="0" bIns="0" rtlCol="0" anchor="ctr"/>
          <a:lstStyle/>
          <a:p>
            <a:pPr algn="ctr" indent="0" marL="0">
              <a:buNone/>
            </a:pPr>
            <a:r>
              <a:rPr lang="en-US" sz="1400" b="1" dirty="0">
                <a:solidFill>
                  <a:schemeClr val="bg1"/>
                </a:solidFill>
              </a:rPr>
              <a:t>yet</a:t>
            </a:r>
            <a:endParaRPr lang="en-US" sz="1400" dirty="0"/>
          </a:p>
        </p:txBody>
      </p:sp>
      <p:sp>
        <p:nvSpPr>
          <p:cNvPr id="24" name="Text 20"/>
          <p:cNvSpPr txBox="1"/>
          <p:nvPr/>
        </p:nvSpPr>
        <p:spPr>
          <a:xfrm>
            <a:off x="1920240" y="3306064"/>
            <a:ext cx="4206240" cy="577088"/>
          </a:xfrm>
          <a:prstGeom prst="rect">
            <a:avLst/>
          </a:prstGeom>
          <a:noFill/>
          <a:ln/>
        </p:spPr>
        <p:txBody>
          <a:bodyPr wrap="square" lIns="0" tIns="0" rIns="0" bIns="0" rtlCol="0" anchor="ctr"/>
          <a:lstStyle/>
          <a:p>
            <a:pPr algn="l" indent="0" marL="0">
              <a:buNone/>
            </a:pPr>
            <a:r>
              <a:rPr lang="en-US" sz="1500" i="1" dirty="0">
                <a:solidFill>
                  <a:schemeClr val="tx2"/>
                </a:solidFill>
              </a:rPr>
              <a:t>She hasn’t called me.</a:t>
            </a:r>
            <a:endParaRPr lang="en-US" sz="1500" dirty="0"/>
          </a:p>
        </p:txBody>
      </p:sp>
      <p:sp>
        <p:nvSpPr>
          <p:cNvPr id="25" name="Text 21"/>
          <p:cNvSpPr txBox="1"/>
          <p:nvPr/>
        </p:nvSpPr>
        <p:spPr>
          <a:xfrm>
            <a:off x="6080760" y="3306064"/>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26" name="Text 22"/>
          <p:cNvSpPr txBox="1"/>
          <p:nvPr/>
        </p:nvSpPr>
        <p:spPr>
          <a:xfrm>
            <a:off x="6537960" y="3306064"/>
            <a:ext cx="5029200" cy="577088"/>
          </a:xfrm>
          <a:prstGeom prst="rect">
            <a:avLst/>
          </a:prstGeom>
          <a:noFill/>
          <a:ln/>
        </p:spPr>
        <p:txBody>
          <a:bodyPr wrap="square" lIns="0" tIns="0" rIns="0" bIns="0" rtlCol="0" anchor="ctr"/>
          <a:lstStyle/>
          <a:p>
            <a:pPr algn="l" indent="0" marL="0">
              <a:buNone/>
            </a:pPr>
            <a:r>
              <a:rPr lang="en-US" sz="1600" i="1" dirty="0">
                <a:solidFill>
                  <a:schemeClr val="tx1"/>
                </a:solidFill>
              </a:rPr>
              <a:t>She hasn’t called me </a:t>
            </a:r>
            <a:r>
              <a:rPr lang="en-US" sz="1600" b="1" i="1" dirty="0">
                <a:solidFill>
                  <a:schemeClr val="accent3"/>
                </a:solidFill>
              </a:rPr>
              <a:t>yet</a:t>
            </a:r>
            <a:r>
              <a:rPr lang="en-US" sz="1600" i="1" dirty="0">
                <a:solidFill>
                  <a:schemeClr val="tx1"/>
                </a:solidFill>
              </a:rPr>
              <a:t>.</a:t>
            </a:r>
            <a:endParaRPr lang="en-US" sz="1600" dirty="0"/>
          </a:p>
        </p:txBody>
      </p:sp>
      <p:sp>
        <p:nvSpPr>
          <p:cNvPr id="27" name="Shape 23"/>
          <p:cNvSpPr/>
          <p:nvPr/>
        </p:nvSpPr>
        <p:spPr>
          <a:xfrm>
            <a:off x="548640" y="3974592"/>
            <a:ext cx="11091672" cy="577088"/>
          </a:xfrm>
          <a:prstGeom prst="roundRect">
            <a:avLst>
              <a:gd name="adj" fmla="val 15845"/>
            </a:avLst>
          </a:prstGeom>
          <a:solidFill>
            <a:srgbClr val="FFFFFF"/>
          </a:solidFill>
          <a:ln w="9525">
            <a:solidFill>
              <a:srgbClr val="D5DCE6"/>
            </a:solidFill>
            <a:prstDash val="solid"/>
          </a:ln>
        </p:spPr>
      </p:sp>
      <p:sp>
        <p:nvSpPr>
          <p:cNvPr id="28" name="Shape 24"/>
          <p:cNvSpPr/>
          <p:nvPr/>
        </p:nvSpPr>
        <p:spPr>
          <a:xfrm>
            <a:off x="685800" y="4071112"/>
            <a:ext cx="1097280" cy="347472"/>
          </a:xfrm>
          <a:prstGeom prst="roundRect">
            <a:avLst>
              <a:gd name="adj" fmla="val 31579"/>
            </a:avLst>
          </a:prstGeom>
          <a:solidFill>
            <a:schemeClr val="accent1"/>
          </a:solidFill>
          <a:ln w="12700">
            <a:solidFill>
              <a:srgbClr val="FFFFFF">
                <a:alpha val="0"/>
              </a:srgbClr>
            </a:solidFill>
            <a:prstDash val="solid"/>
          </a:ln>
        </p:spPr>
      </p:sp>
      <p:sp>
        <p:nvSpPr>
          <p:cNvPr id="29" name="Text 25"/>
          <p:cNvSpPr txBox="1"/>
          <p:nvPr/>
        </p:nvSpPr>
        <p:spPr>
          <a:xfrm>
            <a:off x="685800" y="4071112"/>
            <a:ext cx="1097280" cy="347472"/>
          </a:xfrm>
          <a:prstGeom prst="rect">
            <a:avLst/>
          </a:prstGeom>
          <a:noFill/>
          <a:ln/>
        </p:spPr>
        <p:txBody>
          <a:bodyPr wrap="square" lIns="0" tIns="0" rIns="0" bIns="0" rtlCol="0" anchor="ctr"/>
          <a:lstStyle/>
          <a:p>
            <a:pPr algn="ctr" indent="0" marL="0">
              <a:buNone/>
            </a:pPr>
            <a:r>
              <a:rPr lang="en-US" sz="1400" b="1" dirty="0">
                <a:solidFill>
                  <a:schemeClr val="bg1"/>
                </a:solidFill>
              </a:rPr>
              <a:t>already</a:t>
            </a:r>
            <a:endParaRPr lang="en-US" sz="1400" dirty="0"/>
          </a:p>
        </p:txBody>
      </p:sp>
      <p:sp>
        <p:nvSpPr>
          <p:cNvPr id="30" name="Text 26"/>
          <p:cNvSpPr txBox="1"/>
          <p:nvPr/>
        </p:nvSpPr>
        <p:spPr>
          <a:xfrm>
            <a:off x="1920240" y="3974592"/>
            <a:ext cx="4206240" cy="577088"/>
          </a:xfrm>
          <a:prstGeom prst="rect">
            <a:avLst/>
          </a:prstGeom>
          <a:noFill/>
          <a:ln/>
        </p:spPr>
        <p:txBody>
          <a:bodyPr wrap="square" lIns="0" tIns="0" rIns="0" bIns="0" rtlCol="0" anchor="ctr"/>
          <a:lstStyle/>
          <a:p>
            <a:pPr algn="l" indent="0" marL="0">
              <a:buNone/>
            </a:pPr>
            <a:r>
              <a:rPr lang="en-US" sz="1500" i="1" dirty="0">
                <a:solidFill>
                  <a:schemeClr val="tx2"/>
                </a:solidFill>
              </a:rPr>
              <a:t>We have seen this film.</a:t>
            </a:r>
            <a:endParaRPr lang="en-US" sz="1500" dirty="0"/>
          </a:p>
        </p:txBody>
      </p:sp>
      <p:sp>
        <p:nvSpPr>
          <p:cNvPr id="31" name="Text 27"/>
          <p:cNvSpPr txBox="1"/>
          <p:nvPr/>
        </p:nvSpPr>
        <p:spPr>
          <a:xfrm>
            <a:off x="6080760" y="3974592"/>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32" name="Text 28"/>
          <p:cNvSpPr txBox="1"/>
          <p:nvPr/>
        </p:nvSpPr>
        <p:spPr>
          <a:xfrm>
            <a:off x="6537960" y="3974592"/>
            <a:ext cx="5029200" cy="577088"/>
          </a:xfrm>
          <a:prstGeom prst="rect">
            <a:avLst/>
          </a:prstGeom>
          <a:noFill/>
          <a:ln/>
        </p:spPr>
        <p:txBody>
          <a:bodyPr wrap="square" lIns="0" tIns="0" rIns="0" bIns="0" rtlCol="0" anchor="ctr"/>
          <a:lstStyle/>
          <a:p>
            <a:pPr algn="l" indent="0" marL="0">
              <a:buNone/>
            </a:pPr>
            <a:r>
              <a:rPr lang="en-US" sz="1600" i="1" dirty="0">
                <a:solidFill>
                  <a:schemeClr val="tx1"/>
                </a:solidFill>
              </a:rPr>
              <a:t>We have </a:t>
            </a:r>
            <a:r>
              <a:rPr lang="en-US" sz="1600" b="1" i="1" dirty="0">
                <a:solidFill>
                  <a:schemeClr val="accent3"/>
                </a:solidFill>
              </a:rPr>
              <a:t>already</a:t>
            </a:r>
            <a:r>
              <a:rPr lang="en-US" sz="1600" i="1" dirty="0">
                <a:solidFill>
                  <a:schemeClr val="tx1"/>
                </a:solidFill>
              </a:rPr>
              <a:t> seen this film.</a:t>
            </a:r>
            <a:endParaRPr lang="en-US" sz="1600" dirty="0"/>
          </a:p>
        </p:txBody>
      </p:sp>
      <p:sp>
        <p:nvSpPr>
          <p:cNvPr id="33" name="Shape 29"/>
          <p:cNvSpPr/>
          <p:nvPr/>
        </p:nvSpPr>
        <p:spPr>
          <a:xfrm>
            <a:off x="548640" y="4643120"/>
            <a:ext cx="11091672" cy="577088"/>
          </a:xfrm>
          <a:prstGeom prst="roundRect">
            <a:avLst>
              <a:gd name="adj" fmla="val 15845"/>
            </a:avLst>
          </a:prstGeom>
          <a:solidFill>
            <a:schemeClr val="bg2"/>
          </a:solidFill>
          <a:ln w="9525">
            <a:solidFill>
              <a:srgbClr val="D5DCE6"/>
            </a:solidFill>
            <a:prstDash val="solid"/>
          </a:ln>
        </p:spPr>
      </p:sp>
      <p:sp>
        <p:nvSpPr>
          <p:cNvPr id="34" name="Shape 30"/>
          <p:cNvSpPr/>
          <p:nvPr/>
        </p:nvSpPr>
        <p:spPr>
          <a:xfrm>
            <a:off x="685800" y="4739640"/>
            <a:ext cx="1097280" cy="347472"/>
          </a:xfrm>
          <a:prstGeom prst="roundRect">
            <a:avLst>
              <a:gd name="adj" fmla="val 31579"/>
            </a:avLst>
          </a:prstGeom>
          <a:solidFill>
            <a:schemeClr val="accent1"/>
          </a:solidFill>
          <a:ln w="12700">
            <a:solidFill>
              <a:srgbClr val="FFFFFF">
                <a:alpha val="0"/>
              </a:srgbClr>
            </a:solidFill>
            <a:prstDash val="solid"/>
          </a:ln>
        </p:spPr>
      </p:sp>
      <p:sp>
        <p:nvSpPr>
          <p:cNvPr id="35" name="Text 31"/>
          <p:cNvSpPr txBox="1"/>
          <p:nvPr/>
        </p:nvSpPr>
        <p:spPr>
          <a:xfrm>
            <a:off x="685800" y="4739640"/>
            <a:ext cx="1097280" cy="347472"/>
          </a:xfrm>
          <a:prstGeom prst="rect">
            <a:avLst/>
          </a:prstGeom>
          <a:noFill/>
          <a:ln/>
        </p:spPr>
        <p:txBody>
          <a:bodyPr wrap="square" lIns="0" tIns="0" rIns="0" bIns="0" rtlCol="0" anchor="ctr"/>
          <a:lstStyle/>
          <a:p>
            <a:pPr algn="ctr" indent="0" marL="0">
              <a:buNone/>
            </a:pPr>
            <a:r>
              <a:rPr lang="en-US" sz="1400" b="1" dirty="0">
                <a:solidFill>
                  <a:schemeClr val="bg1"/>
                </a:solidFill>
              </a:rPr>
              <a:t>never</a:t>
            </a:r>
            <a:endParaRPr lang="en-US" sz="1400" dirty="0"/>
          </a:p>
        </p:txBody>
      </p:sp>
      <p:sp>
        <p:nvSpPr>
          <p:cNvPr id="36" name="Text 32"/>
          <p:cNvSpPr txBox="1"/>
          <p:nvPr/>
        </p:nvSpPr>
        <p:spPr>
          <a:xfrm>
            <a:off x="1920240" y="4643120"/>
            <a:ext cx="4206240" cy="577088"/>
          </a:xfrm>
          <a:prstGeom prst="rect">
            <a:avLst/>
          </a:prstGeom>
          <a:noFill/>
          <a:ln/>
        </p:spPr>
        <p:txBody>
          <a:bodyPr wrap="square" lIns="0" tIns="0" rIns="0" bIns="0" rtlCol="0" anchor="ctr"/>
          <a:lstStyle/>
          <a:p>
            <a:pPr algn="l" indent="0" marL="0">
              <a:buNone/>
            </a:pPr>
            <a:r>
              <a:rPr lang="en-US" sz="1500" i="1" dirty="0">
                <a:solidFill>
                  <a:schemeClr val="tx2"/>
                </a:solidFill>
              </a:rPr>
              <a:t>He has eaten snails.</a:t>
            </a:r>
            <a:endParaRPr lang="en-US" sz="1500" dirty="0"/>
          </a:p>
        </p:txBody>
      </p:sp>
      <p:sp>
        <p:nvSpPr>
          <p:cNvPr id="37" name="Text 33"/>
          <p:cNvSpPr txBox="1"/>
          <p:nvPr/>
        </p:nvSpPr>
        <p:spPr>
          <a:xfrm>
            <a:off x="6080760" y="4643120"/>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38" name="Text 34"/>
          <p:cNvSpPr txBox="1"/>
          <p:nvPr/>
        </p:nvSpPr>
        <p:spPr>
          <a:xfrm>
            <a:off x="6537960" y="4643120"/>
            <a:ext cx="5029200" cy="577088"/>
          </a:xfrm>
          <a:prstGeom prst="rect">
            <a:avLst/>
          </a:prstGeom>
          <a:noFill/>
          <a:ln/>
        </p:spPr>
        <p:txBody>
          <a:bodyPr wrap="square" lIns="0" tIns="0" rIns="0" bIns="0" rtlCol="0" anchor="ctr"/>
          <a:lstStyle/>
          <a:p>
            <a:pPr algn="l" indent="0" marL="0">
              <a:buNone/>
            </a:pPr>
            <a:r>
              <a:rPr lang="en-US" sz="1600" i="1" dirty="0">
                <a:solidFill>
                  <a:schemeClr val="tx1"/>
                </a:solidFill>
              </a:rPr>
              <a:t>He has </a:t>
            </a:r>
            <a:r>
              <a:rPr lang="en-US" sz="1600" b="1" i="1" dirty="0">
                <a:solidFill>
                  <a:schemeClr val="accent3"/>
                </a:solidFill>
              </a:rPr>
              <a:t>never</a:t>
            </a:r>
            <a:r>
              <a:rPr lang="en-US" sz="1600" i="1" dirty="0">
                <a:solidFill>
                  <a:schemeClr val="tx1"/>
                </a:solidFill>
              </a:rPr>
              <a:t> eaten snails.</a:t>
            </a:r>
            <a:endParaRPr lang="en-US" sz="1600" dirty="0"/>
          </a:p>
        </p:txBody>
      </p:sp>
      <p:sp>
        <p:nvSpPr>
          <p:cNvPr id="39" name="Shape 35"/>
          <p:cNvSpPr/>
          <p:nvPr/>
        </p:nvSpPr>
        <p:spPr>
          <a:xfrm>
            <a:off x="548640" y="5311648"/>
            <a:ext cx="11091672" cy="577088"/>
          </a:xfrm>
          <a:prstGeom prst="roundRect">
            <a:avLst>
              <a:gd name="adj" fmla="val 15845"/>
            </a:avLst>
          </a:prstGeom>
          <a:solidFill>
            <a:srgbClr val="FFFFFF"/>
          </a:solidFill>
          <a:ln w="9525">
            <a:solidFill>
              <a:srgbClr val="D5DCE6"/>
            </a:solidFill>
            <a:prstDash val="solid"/>
          </a:ln>
        </p:spPr>
      </p:sp>
      <p:sp>
        <p:nvSpPr>
          <p:cNvPr id="40" name="Shape 36"/>
          <p:cNvSpPr/>
          <p:nvPr/>
        </p:nvSpPr>
        <p:spPr>
          <a:xfrm>
            <a:off x="685800" y="5408168"/>
            <a:ext cx="1097280" cy="347472"/>
          </a:xfrm>
          <a:prstGeom prst="roundRect">
            <a:avLst>
              <a:gd name="adj" fmla="val 31579"/>
            </a:avLst>
          </a:prstGeom>
          <a:solidFill>
            <a:schemeClr val="accent1"/>
          </a:solidFill>
          <a:ln w="12700">
            <a:solidFill>
              <a:srgbClr val="FFFFFF">
                <a:alpha val="0"/>
              </a:srgbClr>
            </a:solidFill>
            <a:prstDash val="solid"/>
          </a:ln>
        </p:spPr>
      </p:sp>
      <p:sp>
        <p:nvSpPr>
          <p:cNvPr id="41" name="Text 37"/>
          <p:cNvSpPr txBox="1"/>
          <p:nvPr/>
        </p:nvSpPr>
        <p:spPr>
          <a:xfrm>
            <a:off x="685800" y="5408168"/>
            <a:ext cx="1097280" cy="347472"/>
          </a:xfrm>
          <a:prstGeom prst="rect">
            <a:avLst/>
          </a:prstGeom>
          <a:noFill/>
          <a:ln/>
        </p:spPr>
        <p:txBody>
          <a:bodyPr wrap="square" lIns="0" tIns="0" rIns="0" bIns="0" rtlCol="0" anchor="ctr"/>
          <a:lstStyle/>
          <a:p>
            <a:pPr algn="ctr" indent="0" marL="0">
              <a:buNone/>
            </a:pPr>
            <a:r>
              <a:rPr lang="en-US" sz="1400" b="1" dirty="0">
                <a:solidFill>
                  <a:schemeClr val="bg1"/>
                </a:solidFill>
              </a:rPr>
              <a:t>yet</a:t>
            </a:r>
            <a:endParaRPr lang="en-US" sz="1400" dirty="0"/>
          </a:p>
        </p:txBody>
      </p:sp>
      <p:sp>
        <p:nvSpPr>
          <p:cNvPr id="42" name="Text 38"/>
          <p:cNvSpPr txBox="1"/>
          <p:nvPr/>
        </p:nvSpPr>
        <p:spPr>
          <a:xfrm>
            <a:off x="1920240" y="5311648"/>
            <a:ext cx="4206240" cy="577088"/>
          </a:xfrm>
          <a:prstGeom prst="rect">
            <a:avLst/>
          </a:prstGeom>
          <a:noFill/>
          <a:ln/>
        </p:spPr>
        <p:txBody>
          <a:bodyPr wrap="square" lIns="0" tIns="0" rIns="0" bIns="0" rtlCol="0" anchor="ctr"/>
          <a:lstStyle/>
          <a:p>
            <a:pPr algn="l" indent="0" marL="0">
              <a:buNone/>
            </a:pPr>
            <a:r>
              <a:rPr lang="en-US" sz="1500" i="1" dirty="0">
                <a:solidFill>
                  <a:schemeClr val="tx2"/>
                </a:solidFill>
              </a:rPr>
              <a:t>Have they arrived?</a:t>
            </a:r>
            <a:endParaRPr lang="en-US" sz="1500" dirty="0"/>
          </a:p>
        </p:txBody>
      </p:sp>
      <p:sp>
        <p:nvSpPr>
          <p:cNvPr id="43" name="Text 39"/>
          <p:cNvSpPr txBox="1"/>
          <p:nvPr/>
        </p:nvSpPr>
        <p:spPr>
          <a:xfrm>
            <a:off x="6080760" y="5311648"/>
            <a:ext cx="411480" cy="577088"/>
          </a:xfrm>
          <a:prstGeom prst="rect">
            <a:avLst/>
          </a:prstGeom>
          <a:noFill/>
          <a:ln/>
        </p:spPr>
        <p:txBody>
          <a:bodyPr wrap="square" lIns="0" tIns="0" rIns="0" bIns="0" rtlCol="0" anchor="ctr"/>
          <a:lstStyle/>
          <a:p>
            <a:pPr algn="ctr" indent="0" marL="0">
              <a:buNone/>
            </a:pPr>
            <a:r>
              <a:rPr lang="en-US" sz="1800" b="1" dirty="0">
                <a:solidFill>
                  <a:schemeClr val="accent5"/>
                </a:solidFill>
              </a:rPr>
              <a:t>➜</a:t>
            </a:r>
            <a:endParaRPr lang="en-US" sz="1800" dirty="0"/>
          </a:p>
        </p:txBody>
      </p:sp>
      <p:sp>
        <p:nvSpPr>
          <p:cNvPr id="44" name="Text 40"/>
          <p:cNvSpPr txBox="1"/>
          <p:nvPr/>
        </p:nvSpPr>
        <p:spPr>
          <a:xfrm>
            <a:off x="6537960" y="5311648"/>
            <a:ext cx="5029200" cy="577088"/>
          </a:xfrm>
          <a:prstGeom prst="rect">
            <a:avLst/>
          </a:prstGeom>
          <a:noFill/>
          <a:ln/>
        </p:spPr>
        <p:txBody>
          <a:bodyPr wrap="square" lIns="0" tIns="0" rIns="0" bIns="0" rtlCol="0" anchor="ctr"/>
          <a:lstStyle/>
          <a:p>
            <a:pPr algn="l" indent="0" marL="0">
              <a:buNone/>
            </a:pPr>
            <a:r>
              <a:rPr lang="en-US" sz="1600" i="1" dirty="0">
                <a:solidFill>
                  <a:schemeClr val="tx1"/>
                </a:solidFill>
              </a:rPr>
              <a:t>Have they arrived </a:t>
            </a:r>
            <a:r>
              <a:rPr lang="en-US" sz="1600" b="1" i="1" dirty="0">
                <a:solidFill>
                  <a:schemeClr val="accent3"/>
                </a:solidFill>
              </a:rPr>
              <a:t>yet</a:t>
            </a:r>
            <a:r>
              <a:rPr lang="en-US" sz="1600" i="1" dirty="0">
                <a:solidFill>
                  <a:schemeClr val="tx1"/>
                </a:solidFill>
              </a:rPr>
              <a:t>?</a:t>
            </a:r>
            <a:endParaRPr lang="en-US" sz="1600" dirty="0"/>
          </a:p>
        </p:txBody>
      </p:sp>
      <p:sp>
        <p:nvSpPr>
          <p:cNvPr id="45" name="Text 41"/>
          <p:cNvSpPr txBox="1"/>
          <p:nvPr/>
        </p:nvSpPr>
        <p:spPr>
          <a:xfrm>
            <a:off x="548640" y="5943600"/>
            <a:ext cx="11091672" cy="329184"/>
          </a:xfrm>
          <a:prstGeom prst="rect">
            <a:avLst/>
          </a:prstGeom>
          <a:noFill/>
          <a:ln/>
        </p:spPr>
        <p:txBody>
          <a:bodyPr wrap="square" lIns="0" tIns="0" rIns="0" bIns="0" rtlCol="0" anchor="t"/>
          <a:lstStyle/>
          <a:p>
            <a:pPr algn="ctr" indent="0" marL="0">
              <a:buNone/>
            </a:pPr>
            <a:r>
              <a:rPr lang="en-US" sz="1300" i="1" dirty="0">
                <a:solidFill>
                  <a:schemeClr val="accent5"/>
                </a:solidFill>
              </a:rPr>
              <a:t>Entre </a:t>
            </a:r>
            <a:r>
              <a:rPr lang="en-US" sz="1300" i="1" dirty="0">
                <a:solidFill>
                  <a:schemeClr val="accent5"/>
                </a:solidFill>
              </a:rPr>
              <a:t>have</a:t>
            </a:r>
            <a:r>
              <a:rPr lang="en-US" sz="1300" i="1" dirty="0">
                <a:solidFill>
                  <a:schemeClr val="accent5"/>
                </a:solidFill>
              </a:rPr>
              <a:t> et le participe : </a:t>
            </a:r>
            <a:r>
              <a:rPr lang="en-US" sz="1300" i="1" dirty="0">
                <a:solidFill>
                  <a:schemeClr val="accent5"/>
                </a:solidFill>
              </a:rPr>
              <a:t>just, ever, already, never</a:t>
            </a:r>
            <a:r>
              <a:rPr lang="en-US" sz="1300" i="1" dirty="0">
                <a:solidFill>
                  <a:schemeClr val="accent5"/>
                </a:solidFill>
              </a:rPr>
              <a:t> · à la fin : </a:t>
            </a:r>
            <a:r>
              <a:rPr lang="en-US" sz="1300" i="1" dirty="0">
                <a:solidFill>
                  <a:schemeClr val="accent5"/>
                </a:solidFill>
              </a:rPr>
              <a:t>yet</a:t>
            </a:r>
            <a:r>
              <a:rPr lang="en-US" sz="1300" i="1" dirty="0">
                <a:solidFill>
                  <a:schemeClr val="accent5"/>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3 — For or since?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A period of time → for. A starting point → since. Sort the expressions.</a:t>
            </a:r>
            <a:endParaRPr lang="en-US" sz="1700" dirty="0"/>
          </a:p>
        </p:txBody>
      </p:sp>
      <p:sp>
        <p:nvSpPr>
          <p:cNvPr id="8" name="Shape 4"/>
          <p:cNvSpPr/>
          <p:nvPr/>
        </p:nvSpPr>
        <p:spPr>
          <a:xfrm rot="-120000">
            <a:off x="548640" y="1932432"/>
            <a:ext cx="2108606" cy="457200"/>
          </a:xfrm>
          <a:prstGeom prst="roundRect">
            <a:avLst>
              <a:gd name="adj" fmla="val 24000"/>
            </a:avLst>
          </a:prstGeom>
          <a:solidFill>
            <a:srgbClr val="FFFDF7"/>
          </a:solidFill>
          <a:ln w="15875">
            <a:solidFill>
              <a:srgbClr val="D9700F"/>
            </a:solidFill>
            <a:prstDash val="solid"/>
          </a:ln>
        </p:spPr>
      </p:sp>
      <p:sp>
        <p:nvSpPr>
          <p:cNvPr id="9" name="Text 5"/>
          <p:cNvSpPr txBox="1"/>
          <p:nvPr/>
        </p:nvSpPr>
        <p:spPr>
          <a:xfrm rot="-120000">
            <a:off x="548640" y="1932432"/>
            <a:ext cx="2108606" cy="457200"/>
          </a:xfrm>
          <a:prstGeom prst="rect">
            <a:avLst/>
          </a:prstGeom>
          <a:noFill/>
          <a:ln/>
        </p:spPr>
        <p:txBody>
          <a:bodyPr wrap="square" lIns="0" tIns="0" rIns="0" bIns="0" rtlCol="0" anchor="ctr"/>
          <a:lstStyle/>
          <a:p>
            <a:pPr algn="ctr" indent="0" marL="0">
              <a:buNone/>
            </a:pPr>
            <a:r>
              <a:rPr lang="en-US" sz="1700" b="1" i="1" dirty="0">
                <a:solidFill>
                  <a:schemeClr val="tx1"/>
                </a:solidFill>
              </a:rPr>
              <a:t>two hours</a:t>
            </a:r>
            <a:endParaRPr lang="en-US" sz="1700" dirty="0"/>
          </a:p>
        </p:txBody>
      </p:sp>
      <p:sp>
        <p:nvSpPr>
          <p:cNvPr id="10" name="Shape 6"/>
          <p:cNvSpPr/>
          <p:nvPr/>
        </p:nvSpPr>
        <p:spPr>
          <a:xfrm rot="60000">
            <a:off x="2794406" y="1932432"/>
            <a:ext cx="2108606" cy="457200"/>
          </a:xfrm>
          <a:prstGeom prst="roundRect">
            <a:avLst>
              <a:gd name="adj" fmla="val 24000"/>
            </a:avLst>
          </a:prstGeom>
          <a:solidFill>
            <a:srgbClr val="FFFDF7"/>
          </a:solidFill>
          <a:ln w="15875">
            <a:solidFill>
              <a:srgbClr val="D9700F"/>
            </a:solidFill>
            <a:prstDash val="solid"/>
          </a:ln>
        </p:spPr>
      </p:sp>
      <p:sp>
        <p:nvSpPr>
          <p:cNvPr id="11" name="Text 7"/>
          <p:cNvSpPr txBox="1"/>
          <p:nvPr/>
        </p:nvSpPr>
        <p:spPr>
          <a:xfrm rot="60000">
            <a:off x="2794406" y="1932432"/>
            <a:ext cx="2108606" cy="457200"/>
          </a:xfrm>
          <a:prstGeom prst="rect">
            <a:avLst/>
          </a:prstGeom>
          <a:noFill/>
          <a:ln/>
        </p:spPr>
        <p:txBody>
          <a:bodyPr wrap="square" lIns="0" tIns="0" rIns="0" bIns="0" rtlCol="0" anchor="ctr"/>
          <a:lstStyle/>
          <a:p>
            <a:pPr algn="ctr" indent="0" marL="0">
              <a:buNone/>
            </a:pPr>
            <a:r>
              <a:rPr lang="en-US" sz="1700" b="1" i="1" dirty="0">
                <a:solidFill>
                  <a:schemeClr val="tx1"/>
                </a:solidFill>
              </a:rPr>
              <a:t>Monday</a:t>
            </a:r>
            <a:endParaRPr lang="en-US" sz="1700" dirty="0"/>
          </a:p>
        </p:txBody>
      </p:sp>
      <p:sp>
        <p:nvSpPr>
          <p:cNvPr id="12" name="Shape 8"/>
          <p:cNvSpPr/>
          <p:nvPr/>
        </p:nvSpPr>
        <p:spPr>
          <a:xfrm rot="120000">
            <a:off x="5040173" y="1932432"/>
            <a:ext cx="2108606" cy="457200"/>
          </a:xfrm>
          <a:prstGeom prst="roundRect">
            <a:avLst>
              <a:gd name="adj" fmla="val 24000"/>
            </a:avLst>
          </a:prstGeom>
          <a:solidFill>
            <a:srgbClr val="FFFDF7"/>
          </a:solidFill>
          <a:ln w="15875">
            <a:solidFill>
              <a:srgbClr val="D9700F"/>
            </a:solidFill>
            <a:prstDash val="solid"/>
          </a:ln>
        </p:spPr>
      </p:sp>
      <p:sp>
        <p:nvSpPr>
          <p:cNvPr id="13" name="Text 9"/>
          <p:cNvSpPr txBox="1"/>
          <p:nvPr/>
        </p:nvSpPr>
        <p:spPr>
          <a:xfrm rot="120000">
            <a:off x="5040173" y="1932432"/>
            <a:ext cx="2108606" cy="457200"/>
          </a:xfrm>
          <a:prstGeom prst="rect">
            <a:avLst/>
          </a:prstGeom>
          <a:noFill/>
          <a:ln/>
        </p:spPr>
        <p:txBody>
          <a:bodyPr wrap="square" lIns="0" tIns="0" rIns="0" bIns="0" rtlCol="0" anchor="ctr"/>
          <a:lstStyle/>
          <a:p>
            <a:pPr algn="ctr" indent="0" marL="0">
              <a:buNone/>
            </a:pPr>
            <a:r>
              <a:rPr lang="en-US" sz="1700" b="1" i="1" dirty="0">
                <a:solidFill>
                  <a:schemeClr val="tx1"/>
                </a:solidFill>
              </a:rPr>
              <a:t>2020</a:t>
            </a:r>
            <a:endParaRPr lang="en-US" sz="1700" dirty="0"/>
          </a:p>
        </p:txBody>
      </p:sp>
      <p:sp>
        <p:nvSpPr>
          <p:cNvPr id="14" name="Shape 10"/>
          <p:cNvSpPr/>
          <p:nvPr/>
        </p:nvSpPr>
        <p:spPr>
          <a:xfrm rot="-60000">
            <a:off x="7285939" y="1932432"/>
            <a:ext cx="2108606" cy="457200"/>
          </a:xfrm>
          <a:prstGeom prst="roundRect">
            <a:avLst>
              <a:gd name="adj" fmla="val 24000"/>
            </a:avLst>
          </a:prstGeom>
          <a:solidFill>
            <a:srgbClr val="FFFDF7"/>
          </a:solidFill>
          <a:ln w="15875">
            <a:solidFill>
              <a:srgbClr val="D9700F"/>
            </a:solidFill>
            <a:prstDash val="solid"/>
          </a:ln>
        </p:spPr>
      </p:sp>
      <p:sp>
        <p:nvSpPr>
          <p:cNvPr id="15" name="Text 11"/>
          <p:cNvSpPr txBox="1"/>
          <p:nvPr/>
        </p:nvSpPr>
        <p:spPr>
          <a:xfrm rot="-60000">
            <a:off x="7285939" y="1932432"/>
            <a:ext cx="2108606" cy="457200"/>
          </a:xfrm>
          <a:prstGeom prst="rect">
            <a:avLst/>
          </a:prstGeom>
          <a:noFill/>
          <a:ln/>
        </p:spPr>
        <p:txBody>
          <a:bodyPr wrap="square" lIns="0" tIns="0" rIns="0" bIns="0" rtlCol="0" anchor="ctr"/>
          <a:lstStyle/>
          <a:p>
            <a:pPr algn="ctr" indent="0" marL="0">
              <a:buNone/>
            </a:pPr>
            <a:r>
              <a:rPr lang="en-US" sz="1700" b="1" i="1" dirty="0">
                <a:solidFill>
                  <a:schemeClr val="tx1"/>
                </a:solidFill>
              </a:rPr>
              <a:t>a week</a:t>
            </a:r>
            <a:endParaRPr lang="en-US" sz="1700" dirty="0"/>
          </a:p>
        </p:txBody>
      </p:sp>
      <p:sp>
        <p:nvSpPr>
          <p:cNvPr id="16" name="Shape 12"/>
          <p:cNvSpPr/>
          <p:nvPr/>
        </p:nvSpPr>
        <p:spPr>
          <a:xfrm rot="60000">
            <a:off x="9531706" y="1932432"/>
            <a:ext cx="2108606" cy="457200"/>
          </a:xfrm>
          <a:prstGeom prst="roundRect">
            <a:avLst>
              <a:gd name="adj" fmla="val 24000"/>
            </a:avLst>
          </a:prstGeom>
          <a:solidFill>
            <a:srgbClr val="FFFDF7"/>
          </a:solidFill>
          <a:ln w="15875">
            <a:solidFill>
              <a:srgbClr val="D9700F"/>
            </a:solidFill>
            <a:prstDash val="solid"/>
          </a:ln>
        </p:spPr>
      </p:sp>
      <p:sp>
        <p:nvSpPr>
          <p:cNvPr id="17" name="Text 13"/>
          <p:cNvSpPr txBox="1"/>
          <p:nvPr/>
        </p:nvSpPr>
        <p:spPr>
          <a:xfrm rot="60000">
            <a:off x="9531706" y="1932432"/>
            <a:ext cx="2108606" cy="457200"/>
          </a:xfrm>
          <a:prstGeom prst="rect">
            <a:avLst/>
          </a:prstGeom>
          <a:noFill/>
          <a:ln/>
        </p:spPr>
        <p:txBody>
          <a:bodyPr wrap="square" lIns="0" tIns="0" rIns="0" bIns="0" rtlCol="0" anchor="ctr"/>
          <a:lstStyle/>
          <a:p>
            <a:pPr algn="ctr" indent="0" marL="0">
              <a:buNone/>
            </a:pPr>
            <a:r>
              <a:rPr lang="en-US" sz="1700" b="1" i="1" dirty="0">
                <a:solidFill>
                  <a:schemeClr val="tx1"/>
                </a:solidFill>
              </a:rPr>
              <a:t>9 o’clock</a:t>
            </a:r>
            <a:endParaRPr lang="en-US" sz="1700" dirty="0"/>
          </a:p>
        </p:txBody>
      </p:sp>
      <p:sp>
        <p:nvSpPr>
          <p:cNvPr id="18" name="Shape 14"/>
          <p:cNvSpPr/>
          <p:nvPr/>
        </p:nvSpPr>
        <p:spPr>
          <a:xfrm rot="-120000">
            <a:off x="548640" y="2499360"/>
            <a:ext cx="2108606" cy="457200"/>
          </a:xfrm>
          <a:prstGeom prst="roundRect">
            <a:avLst>
              <a:gd name="adj" fmla="val 24000"/>
            </a:avLst>
          </a:prstGeom>
          <a:solidFill>
            <a:srgbClr val="FFFDF7"/>
          </a:solidFill>
          <a:ln w="15875">
            <a:solidFill>
              <a:srgbClr val="D9700F"/>
            </a:solidFill>
            <a:prstDash val="solid"/>
          </a:ln>
        </p:spPr>
      </p:sp>
      <p:sp>
        <p:nvSpPr>
          <p:cNvPr id="19" name="Text 15"/>
          <p:cNvSpPr txBox="1"/>
          <p:nvPr/>
        </p:nvSpPr>
        <p:spPr>
          <a:xfrm rot="-120000">
            <a:off x="548640" y="2499360"/>
            <a:ext cx="2108606" cy="457200"/>
          </a:xfrm>
          <a:prstGeom prst="rect">
            <a:avLst/>
          </a:prstGeom>
          <a:noFill/>
          <a:ln/>
        </p:spPr>
        <p:txBody>
          <a:bodyPr wrap="square" lIns="0" tIns="0" rIns="0" bIns="0" rtlCol="0" anchor="ctr"/>
          <a:lstStyle/>
          <a:p>
            <a:pPr algn="ctr" indent="0" marL="0">
              <a:buNone/>
            </a:pPr>
            <a:r>
              <a:rPr lang="en-US" sz="1700" b="1" i="1" dirty="0">
                <a:solidFill>
                  <a:schemeClr val="tx1"/>
                </a:solidFill>
              </a:rPr>
              <a:t>ages</a:t>
            </a:r>
            <a:endParaRPr lang="en-US" sz="1700" dirty="0"/>
          </a:p>
        </p:txBody>
      </p:sp>
      <p:sp>
        <p:nvSpPr>
          <p:cNvPr id="20" name="Shape 16"/>
          <p:cNvSpPr/>
          <p:nvPr/>
        </p:nvSpPr>
        <p:spPr>
          <a:xfrm rot="60000">
            <a:off x="2794406" y="2499360"/>
            <a:ext cx="2108606" cy="457200"/>
          </a:xfrm>
          <a:prstGeom prst="roundRect">
            <a:avLst>
              <a:gd name="adj" fmla="val 24000"/>
            </a:avLst>
          </a:prstGeom>
          <a:solidFill>
            <a:srgbClr val="FFFDF7"/>
          </a:solidFill>
          <a:ln w="15875">
            <a:solidFill>
              <a:srgbClr val="D9700F"/>
            </a:solidFill>
            <a:prstDash val="solid"/>
          </a:ln>
        </p:spPr>
      </p:sp>
      <p:sp>
        <p:nvSpPr>
          <p:cNvPr id="21" name="Text 17"/>
          <p:cNvSpPr txBox="1"/>
          <p:nvPr/>
        </p:nvSpPr>
        <p:spPr>
          <a:xfrm rot="60000">
            <a:off x="2794406" y="2499360"/>
            <a:ext cx="2108606" cy="457200"/>
          </a:xfrm>
          <a:prstGeom prst="rect">
            <a:avLst/>
          </a:prstGeom>
          <a:noFill/>
          <a:ln/>
        </p:spPr>
        <p:txBody>
          <a:bodyPr wrap="square" lIns="0" tIns="0" rIns="0" bIns="0" rtlCol="0" anchor="ctr"/>
          <a:lstStyle/>
          <a:p>
            <a:pPr algn="ctr" indent="0" marL="0">
              <a:buNone/>
            </a:pPr>
            <a:r>
              <a:rPr lang="en-US" sz="1700" b="1" i="1" dirty="0">
                <a:solidFill>
                  <a:schemeClr val="tx1"/>
                </a:solidFill>
              </a:rPr>
              <a:t>I was born</a:t>
            </a:r>
            <a:endParaRPr lang="en-US" sz="1700" dirty="0"/>
          </a:p>
        </p:txBody>
      </p:sp>
      <p:sp>
        <p:nvSpPr>
          <p:cNvPr id="22" name="Shape 18"/>
          <p:cNvSpPr/>
          <p:nvPr/>
        </p:nvSpPr>
        <p:spPr>
          <a:xfrm rot="120000">
            <a:off x="5040173" y="2499360"/>
            <a:ext cx="2108606" cy="457200"/>
          </a:xfrm>
          <a:prstGeom prst="roundRect">
            <a:avLst>
              <a:gd name="adj" fmla="val 24000"/>
            </a:avLst>
          </a:prstGeom>
          <a:solidFill>
            <a:srgbClr val="FFFDF7"/>
          </a:solidFill>
          <a:ln w="15875">
            <a:solidFill>
              <a:srgbClr val="D9700F"/>
            </a:solidFill>
            <a:prstDash val="solid"/>
          </a:ln>
        </p:spPr>
      </p:sp>
      <p:sp>
        <p:nvSpPr>
          <p:cNvPr id="23" name="Text 19"/>
          <p:cNvSpPr txBox="1"/>
          <p:nvPr/>
        </p:nvSpPr>
        <p:spPr>
          <a:xfrm rot="120000">
            <a:off x="5040173" y="2499360"/>
            <a:ext cx="2108606" cy="457200"/>
          </a:xfrm>
          <a:prstGeom prst="rect">
            <a:avLst/>
          </a:prstGeom>
          <a:noFill/>
          <a:ln/>
        </p:spPr>
        <p:txBody>
          <a:bodyPr wrap="square" lIns="0" tIns="0" rIns="0" bIns="0" rtlCol="0" anchor="ctr"/>
          <a:lstStyle/>
          <a:p>
            <a:pPr algn="ctr" indent="0" marL="0">
              <a:buNone/>
            </a:pPr>
            <a:r>
              <a:rPr lang="en-US" sz="1700" b="1" i="1" dirty="0">
                <a:solidFill>
                  <a:schemeClr val="tx1"/>
                </a:solidFill>
              </a:rPr>
              <a:t>ten years</a:t>
            </a:r>
            <a:endParaRPr lang="en-US" sz="1700" dirty="0"/>
          </a:p>
        </p:txBody>
      </p:sp>
      <p:sp>
        <p:nvSpPr>
          <p:cNvPr id="24" name="Shape 20"/>
          <p:cNvSpPr/>
          <p:nvPr/>
        </p:nvSpPr>
        <p:spPr>
          <a:xfrm rot="-60000">
            <a:off x="7285939" y="2499360"/>
            <a:ext cx="2108606" cy="457200"/>
          </a:xfrm>
          <a:prstGeom prst="roundRect">
            <a:avLst>
              <a:gd name="adj" fmla="val 24000"/>
            </a:avLst>
          </a:prstGeom>
          <a:solidFill>
            <a:srgbClr val="FFFDF7"/>
          </a:solidFill>
          <a:ln w="15875">
            <a:solidFill>
              <a:srgbClr val="D9700F"/>
            </a:solidFill>
            <a:prstDash val="solid"/>
          </a:ln>
        </p:spPr>
      </p:sp>
      <p:sp>
        <p:nvSpPr>
          <p:cNvPr id="25" name="Text 21"/>
          <p:cNvSpPr txBox="1"/>
          <p:nvPr/>
        </p:nvSpPr>
        <p:spPr>
          <a:xfrm rot="-60000">
            <a:off x="7285939" y="2499360"/>
            <a:ext cx="2108606" cy="457200"/>
          </a:xfrm>
          <a:prstGeom prst="rect">
            <a:avLst/>
          </a:prstGeom>
          <a:noFill/>
          <a:ln/>
        </p:spPr>
        <p:txBody>
          <a:bodyPr wrap="square" lIns="0" tIns="0" rIns="0" bIns="0" rtlCol="0" anchor="ctr"/>
          <a:lstStyle/>
          <a:p>
            <a:pPr algn="ctr" indent="0" marL="0">
              <a:buNone/>
            </a:pPr>
            <a:r>
              <a:rPr lang="en-US" sz="1700" b="1" i="1" dirty="0">
                <a:solidFill>
                  <a:schemeClr val="tx1"/>
                </a:solidFill>
              </a:rPr>
              <a:t>last summer</a:t>
            </a:r>
            <a:endParaRPr lang="en-US" sz="1700" dirty="0"/>
          </a:p>
        </p:txBody>
      </p:sp>
      <p:sp>
        <p:nvSpPr>
          <p:cNvPr id="26" name="Shape 22"/>
          <p:cNvSpPr/>
          <p:nvPr/>
        </p:nvSpPr>
        <p:spPr>
          <a:xfrm rot="60000">
            <a:off x="9531706" y="2499360"/>
            <a:ext cx="2108606" cy="457200"/>
          </a:xfrm>
          <a:prstGeom prst="roundRect">
            <a:avLst>
              <a:gd name="adj" fmla="val 24000"/>
            </a:avLst>
          </a:prstGeom>
          <a:solidFill>
            <a:srgbClr val="FFFDF7"/>
          </a:solidFill>
          <a:ln w="15875">
            <a:solidFill>
              <a:srgbClr val="D9700F"/>
            </a:solidFill>
            <a:prstDash val="solid"/>
          </a:ln>
        </p:spPr>
      </p:sp>
      <p:sp>
        <p:nvSpPr>
          <p:cNvPr id="27" name="Text 23"/>
          <p:cNvSpPr txBox="1"/>
          <p:nvPr/>
        </p:nvSpPr>
        <p:spPr>
          <a:xfrm rot="60000">
            <a:off x="9531706" y="2499360"/>
            <a:ext cx="2108606" cy="457200"/>
          </a:xfrm>
          <a:prstGeom prst="rect">
            <a:avLst/>
          </a:prstGeom>
          <a:noFill/>
          <a:ln/>
        </p:spPr>
        <p:txBody>
          <a:bodyPr wrap="square" lIns="0" tIns="0" rIns="0" bIns="0" rtlCol="0" anchor="ctr"/>
          <a:lstStyle/>
          <a:p>
            <a:pPr algn="ctr" indent="0" marL="0">
              <a:buNone/>
            </a:pPr>
            <a:r>
              <a:rPr lang="en-US" sz="1700" b="1" i="1" dirty="0">
                <a:solidFill>
                  <a:schemeClr val="tx1"/>
                </a:solidFill>
              </a:rPr>
              <a:t>a long time</a:t>
            </a:r>
            <a:endParaRPr lang="en-US" sz="1700" dirty="0"/>
          </a:p>
        </p:txBody>
      </p:sp>
      <p:sp>
        <p:nvSpPr>
          <p:cNvPr id="28" name="Shape 24"/>
          <p:cNvSpPr/>
          <p:nvPr/>
        </p:nvSpPr>
        <p:spPr>
          <a:xfrm>
            <a:off x="548640" y="3258312"/>
            <a:ext cx="5454396" cy="3005328"/>
          </a:xfrm>
          <a:prstGeom prst="roundRect">
            <a:avLst>
              <a:gd name="adj" fmla="val 3651"/>
            </a:avLst>
          </a:prstGeom>
          <a:solidFill>
            <a:srgbClr val="EAF2FB"/>
          </a:solidFill>
          <a:ln w="25400">
            <a:solidFill>
              <a:srgbClr val="2A6FB0"/>
            </a:solidFill>
            <a:prstDash val="dash"/>
          </a:ln>
        </p:spPr>
      </p:sp>
      <p:pic>
        <p:nvPicPr>
          <p:cNvPr id="29" name="Image 1" descr="hourglass not done">    </p:cNvPr>
          <p:cNvPicPr>
            <a:picLocks noChangeAspect="1"/>
          </p:cNvPicPr>
          <p:nvPr/>
        </p:nvPicPr>
        <p:blipFill>
          <a:blip r:embed="rId2"/>
          <a:stretch>
            <a:fillRect/>
          </a:stretch>
        </p:blipFill>
        <p:spPr>
          <a:xfrm>
            <a:off x="731520" y="3368040"/>
            <a:ext cx="548640" cy="548640"/>
          </a:xfrm>
          <a:prstGeom prst="rect">
            <a:avLst/>
          </a:prstGeom>
        </p:spPr>
      </p:pic>
      <p:sp>
        <p:nvSpPr>
          <p:cNvPr id="30" name="Text 25"/>
          <p:cNvSpPr txBox="1"/>
          <p:nvPr/>
        </p:nvSpPr>
        <p:spPr>
          <a:xfrm>
            <a:off x="1417320" y="3331464"/>
            <a:ext cx="3657600" cy="640080"/>
          </a:xfrm>
          <a:prstGeom prst="rect">
            <a:avLst/>
          </a:prstGeom>
          <a:noFill/>
          <a:ln/>
        </p:spPr>
        <p:txBody>
          <a:bodyPr wrap="square" lIns="0" tIns="0" rIns="0" bIns="0" rtlCol="0" anchor="ctr"/>
          <a:lstStyle/>
          <a:p>
            <a:pPr algn="l" indent="0" marL="0">
              <a:buNone/>
            </a:pPr>
            <a:r>
              <a:rPr lang="en-US" sz="1700" b="1" dirty="0">
                <a:solidFill>
                  <a:schemeClr val="accent2"/>
                </a:solidFill>
              </a:rPr>
              <a:t>FOR</a:t>
            </a:r>
            <a:endParaRPr lang="en-US" sz="1700" dirty="0"/>
          </a:p>
          <a:p>
            <a:pPr algn="l" indent="0" marL="0">
              <a:buNone/>
            </a:pPr>
            <a:r>
              <a:rPr lang="en-US" sz="1700" i="1" dirty="0">
                <a:solidFill>
                  <a:schemeClr val="accent2"/>
                </a:solidFill>
              </a:rPr>
              <a:t>a period of time</a:t>
            </a:r>
            <a:endParaRPr lang="en-US" sz="1700" dirty="0"/>
          </a:p>
        </p:txBody>
      </p:sp>
      <p:sp>
        <p:nvSpPr>
          <p:cNvPr id="31" name="Shape 26"/>
          <p:cNvSpPr/>
          <p:nvPr/>
        </p:nvSpPr>
        <p:spPr>
          <a:xfrm>
            <a:off x="6185916" y="3258312"/>
            <a:ext cx="5454396" cy="3005328"/>
          </a:xfrm>
          <a:prstGeom prst="roundRect">
            <a:avLst>
              <a:gd name="adj" fmla="val 3651"/>
            </a:avLst>
          </a:prstGeom>
          <a:solidFill>
            <a:srgbClr val="FDF1E6"/>
          </a:solidFill>
          <a:ln w="25400">
            <a:solidFill>
              <a:srgbClr val="D9700F"/>
            </a:solidFill>
            <a:prstDash val="dash"/>
          </a:ln>
        </p:spPr>
      </p:sp>
      <p:pic>
        <p:nvPicPr>
          <p:cNvPr id="32" name="Image 2" descr="triangular flag">    </p:cNvPr>
          <p:cNvPicPr>
            <a:picLocks noChangeAspect="1"/>
          </p:cNvPicPr>
          <p:nvPr/>
        </p:nvPicPr>
        <p:blipFill>
          <a:blip r:embed="rId3"/>
          <a:stretch>
            <a:fillRect/>
          </a:stretch>
        </p:blipFill>
        <p:spPr>
          <a:xfrm>
            <a:off x="6368796" y="3368040"/>
            <a:ext cx="548640" cy="548640"/>
          </a:xfrm>
          <a:prstGeom prst="rect">
            <a:avLst/>
          </a:prstGeom>
        </p:spPr>
      </p:pic>
      <p:sp>
        <p:nvSpPr>
          <p:cNvPr id="33" name="Text 27"/>
          <p:cNvSpPr txBox="1"/>
          <p:nvPr/>
        </p:nvSpPr>
        <p:spPr>
          <a:xfrm>
            <a:off x="7054596" y="3331464"/>
            <a:ext cx="3657600" cy="640080"/>
          </a:xfrm>
          <a:prstGeom prst="rect">
            <a:avLst/>
          </a:prstGeom>
          <a:noFill/>
          <a:ln/>
        </p:spPr>
        <p:txBody>
          <a:bodyPr wrap="square" lIns="0" tIns="0" rIns="0" bIns="0" rtlCol="0" anchor="ctr"/>
          <a:lstStyle/>
          <a:p>
            <a:pPr algn="l" indent="0" marL="0">
              <a:buNone/>
            </a:pPr>
            <a:r>
              <a:rPr lang="en-US" sz="1700" b="1" dirty="0">
                <a:solidFill>
                  <a:schemeClr val="accent1"/>
                </a:solidFill>
              </a:rPr>
              <a:t>SINCE</a:t>
            </a:r>
            <a:endParaRPr lang="en-US" sz="1700" dirty="0"/>
          </a:p>
          <a:p>
            <a:pPr algn="l" indent="0" marL="0">
              <a:buNone/>
            </a:pPr>
            <a:r>
              <a:rPr lang="en-US" sz="1700" i="1" dirty="0">
                <a:solidFill>
                  <a:schemeClr val="accent1"/>
                </a:solidFill>
              </a:rPr>
              <a:t>a starting point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3 — For or since?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A period of time → for. A starting point → since. Sort the expressions.</a:t>
            </a:r>
            <a:endParaRPr lang="en-US" sz="1700" dirty="0"/>
          </a:p>
        </p:txBody>
      </p:sp>
      <p:sp>
        <p:nvSpPr>
          <p:cNvPr id="9" name="Shape 5"/>
          <p:cNvSpPr/>
          <p:nvPr/>
        </p:nvSpPr>
        <p:spPr>
          <a:xfrm>
            <a:off x="548640" y="1932432"/>
            <a:ext cx="5454396" cy="4331208"/>
          </a:xfrm>
          <a:prstGeom prst="roundRect">
            <a:avLst>
              <a:gd name="adj" fmla="val 2533"/>
            </a:avLst>
          </a:prstGeom>
          <a:solidFill>
            <a:srgbClr val="EAF2FB"/>
          </a:solidFill>
          <a:ln w="25400">
            <a:solidFill>
              <a:srgbClr val="2A6FB0"/>
            </a:solidFill>
            <a:prstDash val="solid"/>
          </a:ln>
        </p:spPr>
      </p:sp>
      <p:pic>
        <p:nvPicPr>
          <p:cNvPr id="10" name="Image 1" descr="hourglass not done">    </p:cNvPr>
          <p:cNvPicPr>
            <a:picLocks noChangeAspect="1"/>
          </p:cNvPicPr>
          <p:nvPr/>
        </p:nvPicPr>
        <p:blipFill>
          <a:blip r:embed="rId2"/>
          <a:stretch>
            <a:fillRect/>
          </a:stretch>
        </p:blipFill>
        <p:spPr>
          <a:xfrm>
            <a:off x="731520" y="2042160"/>
            <a:ext cx="548640" cy="548640"/>
          </a:xfrm>
          <a:prstGeom prst="rect">
            <a:avLst/>
          </a:prstGeom>
        </p:spPr>
      </p:pic>
      <p:sp>
        <p:nvSpPr>
          <p:cNvPr id="11" name="Text 6"/>
          <p:cNvSpPr txBox="1"/>
          <p:nvPr/>
        </p:nvSpPr>
        <p:spPr>
          <a:xfrm>
            <a:off x="1417320" y="2005584"/>
            <a:ext cx="3657600" cy="640080"/>
          </a:xfrm>
          <a:prstGeom prst="rect">
            <a:avLst/>
          </a:prstGeom>
          <a:noFill/>
          <a:ln/>
        </p:spPr>
        <p:txBody>
          <a:bodyPr wrap="square" lIns="0" tIns="0" rIns="0" bIns="0" rtlCol="0" anchor="ctr"/>
          <a:lstStyle/>
          <a:p>
            <a:pPr algn="l" indent="0" marL="0">
              <a:buNone/>
            </a:pPr>
            <a:r>
              <a:rPr lang="en-US" sz="1700" b="1" dirty="0">
                <a:solidFill>
                  <a:schemeClr val="accent2"/>
                </a:solidFill>
              </a:rPr>
              <a:t>FOR</a:t>
            </a:r>
            <a:endParaRPr lang="en-US" sz="1700" dirty="0"/>
          </a:p>
          <a:p>
            <a:pPr algn="l" indent="0" marL="0">
              <a:buNone/>
            </a:pPr>
            <a:r>
              <a:rPr lang="en-US" sz="1700" i="1" dirty="0">
                <a:solidFill>
                  <a:schemeClr val="accent2"/>
                </a:solidFill>
              </a:rPr>
              <a:t>a period of time</a:t>
            </a:r>
            <a:endParaRPr lang="en-US" sz="1700" dirty="0"/>
          </a:p>
        </p:txBody>
      </p:sp>
      <p:sp>
        <p:nvSpPr>
          <p:cNvPr id="12" name="Text 7"/>
          <p:cNvSpPr txBox="1"/>
          <p:nvPr/>
        </p:nvSpPr>
        <p:spPr>
          <a:xfrm>
            <a:off x="731520" y="2709672"/>
            <a:ext cx="5088636" cy="3416808"/>
          </a:xfrm>
          <a:prstGeom prst="rect">
            <a:avLst/>
          </a:prstGeom>
          <a:noFill/>
          <a:ln/>
        </p:spPr>
        <p:txBody>
          <a:bodyPr wrap="square" lIns="0" tIns="0" rIns="0" bIns="0" rtlCol="0" anchor="ctr"/>
          <a:lstStyle/>
          <a:p>
            <a:pPr algn="ctr" indent="0" marL="0">
              <a:spcAft>
                <a:spcPts val="600"/>
              </a:spcAft>
              <a:buNone/>
            </a:pPr>
            <a:r>
              <a:rPr lang="en-US" sz="2100" b="1" i="1" dirty="0">
                <a:solidFill>
                  <a:schemeClr val="accent2"/>
                </a:solidFill>
              </a:rPr>
              <a:t>for two hours</a:t>
            </a:r>
            <a:endParaRPr lang="en-US" sz="2100" dirty="0"/>
          </a:p>
          <a:p>
            <a:pPr algn="ctr" indent="0" marL="0">
              <a:spcAft>
                <a:spcPts val="600"/>
              </a:spcAft>
              <a:buNone/>
            </a:pPr>
            <a:r>
              <a:rPr lang="en-US" sz="2100" b="1" i="1" dirty="0">
                <a:solidFill>
                  <a:schemeClr val="accent2"/>
                </a:solidFill>
              </a:rPr>
              <a:t>for a week</a:t>
            </a:r>
            <a:endParaRPr lang="en-US" sz="2100" dirty="0"/>
          </a:p>
          <a:p>
            <a:pPr algn="ctr" indent="0" marL="0">
              <a:spcAft>
                <a:spcPts val="600"/>
              </a:spcAft>
              <a:buNone/>
            </a:pPr>
            <a:r>
              <a:rPr lang="en-US" sz="2100" b="1" i="1" dirty="0">
                <a:solidFill>
                  <a:schemeClr val="accent2"/>
                </a:solidFill>
              </a:rPr>
              <a:t>for ages</a:t>
            </a:r>
            <a:endParaRPr lang="en-US" sz="2100" dirty="0"/>
          </a:p>
          <a:p>
            <a:pPr algn="ctr" indent="0" marL="0">
              <a:spcAft>
                <a:spcPts val="600"/>
              </a:spcAft>
              <a:buNone/>
            </a:pPr>
            <a:r>
              <a:rPr lang="en-US" sz="2100" b="1" i="1" dirty="0">
                <a:solidFill>
                  <a:schemeClr val="accent2"/>
                </a:solidFill>
              </a:rPr>
              <a:t>for ten years</a:t>
            </a:r>
            <a:endParaRPr lang="en-US" sz="2100" dirty="0"/>
          </a:p>
          <a:p>
            <a:pPr algn="ctr" indent="0" marL="0">
              <a:spcAft>
                <a:spcPts val="600"/>
              </a:spcAft>
              <a:buNone/>
            </a:pPr>
            <a:r>
              <a:rPr lang="en-US" sz="2100" b="1" i="1" dirty="0">
                <a:solidFill>
                  <a:schemeClr val="accent2"/>
                </a:solidFill>
              </a:rPr>
              <a:t>for a long time</a:t>
            </a:r>
            <a:endParaRPr lang="en-US" sz="2100" dirty="0"/>
          </a:p>
        </p:txBody>
      </p:sp>
      <p:sp>
        <p:nvSpPr>
          <p:cNvPr id="13" name="Shape 8"/>
          <p:cNvSpPr/>
          <p:nvPr/>
        </p:nvSpPr>
        <p:spPr>
          <a:xfrm>
            <a:off x="6185916" y="1932432"/>
            <a:ext cx="5454396" cy="4331208"/>
          </a:xfrm>
          <a:prstGeom prst="roundRect">
            <a:avLst>
              <a:gd name="adj" fmla="val 2533"/>
            </a:avLst>
          </a:prstGeom>
          <a:solidFill>
            <a:srgbClr val="FDF1E6"/>
          </a:solidFill>
          <a:ln w="25400">
            <a:solidFill>
              <a:srgbClr val="D9700F"/>
            </a:solidFill>
            <a:prstDash val="solid"/>
          </a:ln>
        </p:spPr>
      </p:sp>
      <p:pic>
        <p:nvPicPr>
          <p:cNvPr id="14" name="Image 2" descr="triangular flag">    </p:cNvPr>
          <p:cNvPicPr>
            <a:picLocks noChangeAspect="1"/>
          </p:cNvPicPr>
          <p:nvPr/>
        </p:nvPicPr>
        <p:blipFill>
          <a:blip r:embed="rId3"/>
          <a:stretch>
            <a:fillRect/>
          </a:stretch>
        </p:blipFill>
        <p:spPr>
          <a:xfrm>
            <a:off x="6368796" y="2042160"/>
            <a:ext cx="548640" cy="548640"/>
          </a:xfrm>
          <a:prstGeom prst="rect">
            <a:avLst/>
          </a:prstGeom>
        </p:spPr>
      </p:pic>
      <p:sp>
        <p:nvSpPr>
          <p:cNvPr id="15" name="Text 9"/>
          <p:cNvSpPr txBox="1"/>
          <p:nvPr/>
        </p:nvSpPr>
        <p:spPr>
          <a:xfrm>
            <a:off x="7054596" y="2005584"/>
            <a:ext cx="3657600" cy="640080"/>
          </a:xfrm>
          <a:prstGeom prst="rect">
            <a:avLst/>
          </a:prstGeom>
          <a:noFill/>
          <a:ln/>
        </p:spPr>
        <p:txBody>
          <a:bodyPr wrap="square" lIns="0" tIns="0" rIns="0" bIns="0" rtlCol="0" anchor="ctr"/>
          <a:lstStyle/>
          <a:p>
            <a:pPr algn="l" indent="0" marL="0">
              <a:buNone/>
            </a:pPr>
            <a:r>
              <a:rPr lang="en-US" sz="1700" b="1" dirty="0">
                <a:solidFill>
                  <a:schemeClr val="accent1"/>
                </a:solidFill>
              </a:rPr>
              <a:t>SINCE</a:t>
            </a:r>
            <a:endParaRPr lang="en-US" sz="1700" dirty="0"/>
          </a:p>
          <a:p>
            <a:pPr algn="l" indent="0" marL="0">
              <a:buNone/>
            </a:pPr>
            <a:r>
              <a:rPr lang="en-US" sz="1700" i="1" dirty="0">
                <a:solidFill>
                  <a:schemeClr val="accent1"/>
                </a:solidFill>
              </a:rPr>
              <a:t>a starting point</a:t>
            </a:r>
            <a:endParaRPr lang="en-US" sz="1700" dirty="0"/>
          </a:p>
        </p:txBody>
      </p:sp>
      <p:sp>
        <p:nvSpPr>
          <p:cNvPr id="16" name="Text 10"/>
          <p:cNvSpPr txBox="1"/>
          <p:nvPr/>
        </p:nvSpPr>
        <p:spPr>
          <a:xfrm>
            <a:off x="6368796" y="2709672"/>
            <a:ext cx="5088636" cy="3416808"/>
          </a:xfrm>
          <a:prstGeom prst="rect">
            <a:avLst/>
          </a:prstGeom>
          <a:noFill/>
          <a:ln/>
        </p:spPr>
        <p:txBody>
          <a:bodyPr wrap="square" lIns="0" tIns="0" rIns="0" bIns="0" rtlCol="0" anchor="ctr"/>
          <a:lstStyle/>
          <a:p>
            <a:pPr algn="ctr" indent="0" marL="0">
              <a:spcAft>
                <a:spcPts val="600"/>
              </a:spcAft>
              <a:buNone/>
            </a:pPr>
            <a:r>
              <a:rPr lang="en-US" sz="2100" b="1" i="1" dirty="0">
                <a:solidFill>
                  <a:schemeClr val="accent1"/>
                </a:solidFill>
              </a:rPr>
              <a:t>since Monday</a:t>
            </a:r>
            <a:endParaRPr lang="en-US" sz="2100" dirty="0"/>
          </a:p>
          <a:p>
            <a:pPr algn="ctr" indent="0" marL="0">
              <a:spcAft>
                <a:spcPts val="600"/>
              </a:spcAft>
              <a:buNone/>
            </a:pPr>
            <a:r>
              <a:rPr lang="en-US" sz="2100" b="1" i="1" dirty="0">
                <a:solidFill>
                  <a:schemeClr val="accent1"/>
                </a:solidFill>
              </a:rPr>
              <a:t>since 2020</a:t>
            </a:r>
            <a:endParaRPr lang="en-US" sz="2100" dirty="0"/>
          </a:p>
          <a:p>
            <a:pPr algn="ctr" indent="0" marL="0">
              <a:spcAft>
                <a:spcPts val="600"/>
              </a:spcAft>
              <a:buNone/>
            </a:pPr>
            <a:r>
              <a:rPr lang="en-US" sz="2100" b="1" i="1" dirty="0">
                <a:solidFill>
                  <a:schemeClr val="accent1"/>
                </a:solidFill>
              </a:rPr>
              <a:t>since 9 o’clock</a:t>
            </a:r>
            <a:endParaRPr lang="en-US" sz="2100" dirty="0"/>
          </a:p>
          <a:p>
            <a:pPr algn="ctr" indent="0" marL="0">
              <a:spcAft>
                <a:spcPts val="600"/>
              </a:spcAft>
              <a:buNone/>
            </a:pPr>
            <a:r>
              <a:rPr lang="en-US" sz="2100" b="1" i="1" dirty="0">
                <a:solidFill>
                  <a:schemeClr val="accent1"/>
                </a:solidFill>
              </a:rPr>
              <a:t>since I was born</a:t>
            </a:r>
            <a:endParaRPr lang="en-US" sz="2100" dirty="0"/>
          </a:p>
          <a:p>
            <a:pPr algn="ctr" indent="0" marL="0">
              <a:spcAft>
                <a:spcPts val="600"/>
              </a:spcAft>
              <a:buNone/>
            </a:pPr>
            <a:r>
              <a:rPr lang="en-US" sz="2100" b="1" i="1" dirty="0">
                <a:solidFill>
                  <a:schemeClr val="accent1"/>
                </a:solidFill>
              </a:rPr>
              <a:t>since last summer</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4 — Been or gone?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Still there → gone. There and back → been.</a:t>
            </a:r>
            <a:endParaRPr lang="en-US" sz="1700" dirty="0"/>
          </a:p>
        </p:txBody>
      </p:sp>
      <p:sp>
        <p:nvSpPr>
          <p:cNvPr id="8" name="Shape 4"/>
          <p:cNvSpPr/>
          <p:nvPr/>
        </p:nvSpPr>
        <p:spPr>
          <a:xfrm>
            <a:off x="548640" y="1978152"/>
            <a:ext cx="5454396" cy="1294384"/>
          </a:xfrm>
          <a:prstGeom prst="roundRect">
            <a:avLst>
              <a:gd name="adj" fmla="val 8477"/>
            </a:avLst>
          </a:prstGeom>
          <a:solidFill>
            <a:srgbClr val="FFFFFF"/>
          </a:solidFill>
          <a:ln w="15875">
            <a:solidFill>
              <a:srgbClr val="2A6FB0"/>
            </a:solidFill>
            <a:prstDash val="solid"/>
          </a:ln>
          <a:effectLst>
            <a:outerShdw sx="100000" sy="100000" kx="0" ky="0" algn="bl" rotWithShape="0" blurRad="101600" dist="25400" dir="3600000">
              <a:srgbClr val="000000">
                <a:alpha val="16000"/>
              </a:srgbClr>
            </a:outerShdw>
          </a:effectLst>
        </p:spPr>
      </p:sp>
      <p:pic>
        <p:nvPicPr>
          <p:cNvPr id="9" name="Image 1" descr="bank">    </p:cNvPr>
          <p:cNvPicPr>
            <a:picLocks noChangeAspect="1"/>
          </p:cNvPicPr>
          <p:nvPr/>
        </p:nvPicPr>
        <p:blipFill>
          <a:blip r:embed="rId2"/>
          <a:stretch>
            <a:fillRect/>
          </a:stretch>
        </p:blipFill>
        <p:spPr>
          <a:xfrm>
            <a:off x="685800" y="2206752"/>
            <a:ext cx="777240" cy="777240"/>
          </a:xfrm>
          <a:prstGeom prst="rect">
            <a:avLst/>
          </a:prstGeom>
        </p:spPr>
      </p:pic>
      <p:sp>
        <p:nvSpPr>
          <p:cNvPr id="10" name="Text 5"/>
          <p:cNvSpPr txBox="1"/>
          <p:nvPr/>
        </p:nvSpPr>
        <p:spPr>
          <a:xfrm>
            <a:off x="1600200" y="1978152"/>
            <a:ext cx="4265676" cy="1294384"/>
          </a:xfrm>
          <a:prstGeom prst="rect">
            <a:avLst/>
          </a:prstGeom>
          <a:noFill/>
          <a:ln/>
        </p:spPr>
        <p:txBody>
          <a:bodyPr wrap="square" lIns="0" tIns="0" rIns="0" bIns="0" rtlCol="0" anchor="ctr"/>
          <a:lstStyle/>
          <a:p>
            <a:pPr algn="l" indent="0" marL="0">
              <a:buNone/>
            </a:pPr>
            <a:r>
              <a:rPr lang="en-US" sz="1700" i="1" dirty="0">
                <a:solidFill>
                  <a:schemeClr val="tx1"/>
                </a:solidFill>
              </a:rPr>
              <a:t>Where’s Tom? — He has </a:t>
            </a:r>
            <a:r>
              <a:rPr lang="en-US" sz="1700" i="1" dirty="0">
                <a:solidFill>
                  <a:schemeClr val="accent5"/>
                </a:solidFill>
              </a:rPr>
              <a:t>…………</a:t>
            </a:r>
            <a:r>
              <a:rPr lang="en-US" sz="1700" i="1" dirty="0">
                <a:solidFill>
                  <a:schemeClr val="tx1"/>
                </a:solidFill>
              </a:rPr>
              <a:t> to the bank.</a:t>
            </a:r>
            <a:endParaRPr lang="en-US" sz="1700" dirty="0"/>
          </a:p>
        </p:txBody>
      </p:sp>
      <p:sp>
        <p:nvSpPr>
          <p:cNvPr id="11" name="Shape 6"/>
          <p:cNvSpPr/>
          <p:nvPr/>
        </p:nvSpPr>
        <p:spPr>
          <a:xfrm>
            <a:off x="6185916" y="1978152"/>
            <a:ext cx="5454396" cy="1294384"/>
          </a:xfrm>
          <a:prstGeom prst="roundRect">
            <a:avLst>
              <a:gd name="adj" fmla="val 8477"/>
            </a:avLst>
          </a:prstGeom>
          <a:solidFill>
            <a:srgbClr val="FFFFFF"/>
          </a:solidFill>
          <a:ln w="15875">
            <a:solidFill>
              <a:srgbClr val="2A6FB0"/>
            </a:solidFill>
            <a:prstDash val="solid"/>
          </a:ln>
          <a:effectLst>
            <a:outerShdw sx="100000" sy="100000" kx="0" ky="0" algn="bl" rotWithShape="0" blurRad="101600" dist="25400" dir="3600000">
              <a:srgbClr val="000000">
                <a:alpha val="16000"/>
              </a:srgbClr>
            </a:outerShdw>
          </a:effectLst>
        </p:spPr>
      </p:sp>
      <p:pic>
        <p:nvPicPr>
          <p:cNvPr id="12" name="Image 2" descr="maple leaf">    </p:cNvPr>
          <p:cNvPicPr>
            <a:picLocks noChangeAspect="1"/>
          </p:cNvPicPr>
          <p:nvPr/>
        </p:nvPicPr>
        <p:blipFill>
          <a:blip r:embed="rId3"/>
          <a:stretch>
            <a:fillRect/>
          </a:stretch>
        </p:blipFill>
        <p:spPr>
          <a:xfrm>
            <a:off x="6323076" y="2206752"/>
            <a:ext cx="777240" cy="777240"/>
          </a:xfrm>
          <a:prstGeom prst="rect">
            <a:avLst/>
          </a:prstGeom>
        </p:spPr>
      </p:pic>
      <p:sp>
        <p:nvSpPr>
          <p:cNvPr id="13" name="Text 7"/>
          <p:cNvSpPr txBox="1"/>
          <p:nvPr/>
        </p:nvSpPr>
        <p:spPr>
          <a:xfrm>
            <a:off x="7237476" y="1978152"/>
            <a:ext cx="4265676" cy="1294384"/>
          </a:xfrm>
          <a:prstGeom prst="rect">
            <a:avLst/>
          </a:prstGeom>
          <a:noFill/>
          <a:ln/>
        </p:spPr>
        <p:txBody>
          <a:bodyPr wrap="square" lIns="0" tIns="0" rIns="0" bIns="0" rtlCol="0" anchor="ctr"/>
          <a:lstStyle/>
          <a:p>
            <a:pPr algn="l" indent="0" marL="0">
              <a:buNone/>
            </a:pPr>
            <a:r>
              <a:rPr lang="en-US" sz="1700" i="1" dirty="0">
                <a:solidFill>
                  <a:schemeClr val="tx1"/>
                </a:solidFill>
              </a:rPr>
              <a:t>I’ve </a:t>
            </a:r>
            <a:r>
              <a:rPr lang="en-US" sz="1700" i="1" dirty="0">
                <a:solidFill>
                  <a:schemeClr val="accent5"/>
                </a:solidFill>
              </a:rPr>
              <a:t>…………</a:t>
            </a:r>
            <a:r>
              <a:rPr lang="en-US" sz="1700" i="1" dirty="0">
                <a:solidFill>
                  <a:schemeClr val="tx1"/>
                </a:solidFill>
              </a:rPr>
              <a:t> to Canada three times.</a:t>
            </a:r>
            <a:endParaRPr lang="en-US" sz="1700" dirty="0"/>
          </a:p>
        </p:txBody>
      </p:sp>
      <p:sp>
        <p:nvSpPr>
          <p:cNvPr id="14" name="Shape 8"/>
          <p:cNvSpPr/>
          <p:nvPr/>
        </p:nvSpPr>
        <p:spPr>
          <a:xfrm>
            <a:off x="548640" y="3391408"/>
            <a:ext cx="5454396" cy="1294384"/>
          </a:xfrm>
          <a:prstGeom prst="roundRect">
            <a:avLst>
              <a:gd name="adj" fmla="val 8477"/>
            </a:avLst>
          </a:prstGeom>
          <a:solidFill>
            <a:srgbClr val="FFFFFF"/>
          </a:solidFill>
          <a:ln w="15875">
            <a:solidFill>
              <a:srgbClr val="2A6FB0"/>
            </a:solidFill>
            <a:prstDash val="solid"/>
          </a:ln>
          <a:effectLst>
            <a:outerShdw sx="100000" sy="100000" kx="0" ky="0" algn="bl" rotWithShape="0" blurRad="101600" dist="25400" dir="3600000">
              <a:srgbClr val="000000">
                <a:alpha val="16000"/>
              </a:srgbClr>
            </a:outerShdw>
          </a:effectLst>
        </p:spPr>
      </p:sp>
      <p:pic>
        <p:nvPicPr>
          <p:cNvPr id="15" name="Image 3" descr="guitar">    </p:cNvPr>
          <p:cNvPicPr>
            <a:picLocks noChangeAspect="1"/>
          </p:cNvPicPr>
          <p:nvPr/>
        </p:nvPicPr>
        <p:blipFill>
          <a:blip r:embed="rId4"/>
          <a:stretch>
            <a:fillRect/>
          </a:stretch>
        </p:blipFill>
        <p:spPr>
          <a:xfrm>
            <a:off x="685800" y="3620008"/>
            <a:ext cx="777240" cy="777240"/>
          </a:xfrm>
          <a:prstGeom prst="rect">
            <a:avLst/>
          </a:prstGeom>
        </p:spPr>
      </p:pic>
      <p:sp>
        <p:nvSpPr>
          <p:cNvPr id="16" name="Text 9"/>
          <p:cNvSpPr txBox="1"/>
          <p:nvPr/>
        </p:nvSpPr>
        <p:spPr>
          <a:xfrm>
            <a:off x="1600200" y="3391408"/>
            <a:ext cx="4265676" cy="1294384"/>
          </a:xfrm>
          <a:prstGeom prst="rect">
            <a:avLst/>
          </a:prstGeom>
          <a:noFill/>
          <a:ln/>
        </p:spPr>
        <p:txBody>
          <a:bodyPr wrap="square" lIns="0" tIns="0" rIns="0" bIns="0" rtlCol="0" anchor="ctr"/>
          <a:lstStyle/>
          <a:p>
            <a:pPr algn="l" indent="0" marL="0">
              <a:buNone/>
            </a:pPr>
            <a:r>
              <a:rPr lang="en-US" sz="1700" i="1" dirty="0">
                <a:solidFill>
                  <a:schemeClr val="tx1"/>
                </a:solidFill>
              </a:rPr>
              <a:t>Have you ever </a:t>
            </a:r>
            <a:r>
              <a:rPr lang="en-US" sz="1700" i="1" dirty="0">
                <a:solidFill>
                  <a:schemeClr val="accent5"/>
                </a:solidFill>
              </a:rPr>
              <a:t>…………</a:t>
            </a:r>
            <a:r>
              <a:rPr lang="en-US" sz="1700" i="1" dirty="0">
                <a:solidFill>
                  <a:schemeClr val="tx1"/>
                </a:solidFill>
              </a:rPr>
              <a:t> to a rock concert?</a:t>
            </a:r>
            <a:endParaRPr lang="en-US" sz="1700" dirty="0"/>
          </a:p>
        </p:txBody>
      </p:sp>
      <p:sp>
        <p:nvSpPr>
          <p:cNvPr id="17" name="Shape 10"/>
          <p:cNvSpPr/>
          <p:nvPr/>
        </p:nvSpPr>
        <p:spPr>
          <a:xfrm>
            <a:off x="6185916" y="3391408"/>
            <a:ext cx="5454396" cy="1294384"/>
          </a:xfrm>
          <a:prstGeom prst="roundRect">
            <a:avLst>
              <a:gd name="adj" fmla="val 8477"/>
            </a:avLst>
          </a:prstGeom>
          <a:solidFill>
            <a:srgbClr val="FFFFFF"/>
          </a:solidFill>
          <a:ln w="15875">
            <a:solidFill>
              <a:srgbClr val="2A6FB0"/>
            </a:solidFill>
            <a:prstDash val="solid"/>
          </a:ln>
          <a:effectLst>
            <a:outerShdw sx="100000" sy="100000" kx="0" ky="0" algn="bl" rotWithShape="0" blurRad="101600" dist="25400" dir="3600000">
              <a:srgbClr val="000000">
                <a:alpha val="16000"/>
              </a:srgbClr>
            </a:outerShdw>
          </a:effectLst>
        </p:spPr>
      </p:sp>
      <p:pic>
        <p:nvPicPr>
          <p:cNvPr id="18" name="Image 4" descr="beach with umbrella">    </p:cNvPr>
          <p:cNvPicPr>
            <a:picLocks noChangeAspect="1"/>
          </p:cNvPicPr>
          <p:nvPr/>
        </p:nvPicPr>
        <p:blipFill>
          <a:blip r:embed="rId5"/>
          <a:stretch>
            <a:fillRect/>
          </a:stretch>
        </p:blipFill>
        <p:spPr>
          <a:xfrm>
            <a:off x="6323076" y="3620008"/>
            <a:ext cx="777240" cy="777240"/>
          </a:xfrm>
          <a:prstGeom prst="rect">
            <a:avLst/>
          </a:prstGeom>
        </p:spPr>
      </p:pic>
      <p:sp>
        <p:nvSpPr>
          <p:cNvPr id="19" name="Text 11"/>
          <p:cNvSpPr txBox="1"/>
          <p:nvPr/>
        </p:nvSpPr>
        <p:spPr>
          <a:xfrm>
            <a:off x="7237476" y="3391408"/>
            <a:ext cx="4265676" cy="1294384"/>
          </a:xfrm>
          <a:prstGeom prst="rect">
            <a:avLst/>
          </a:prstGeom>
          <a:noFill/>
          <a:ln/>
        </p:spPr>
        <p:txBody>
          <a:bodyPr wrap="square" lIns="0" tIns="0" rIns="0" bIns="0" rtlCol="0" anchor="ctr"/>
          <a:lstStyle/>
          <a:p>
            <a:pPr algn="l" indent="0" marL="0">
              <a:buNone/>
            </a:pPr>
            <a:r>
              <a:rPr lang="en-US" sz="1700" i="1" dirty="0">
                <a:solidFill>
                  <a:schemeClr val="tx1"/>
                </a:solidFill>
              </a:rPr>
              <a:t>Sara isn’t here: she has </a:t>
            </a:r>
            <a:r>
              <a:rPr lang="en-US" sz="1700" i="1" dirty="0">
                <a:solidFill>
                  <a:schemeClr val="accent5"/>
                </a:solidFill>
              </a:rPr>
              <a:t>…………</a:t>
            </a:r>
            <a:r>
              <a:rPr lang="en-US" sz="1700" i="1" dirty="0">
                <a:solidFill>
                  <a:schemeClr val="tx1"/>
                </a:solidFill>
              </a:rPr>
              <a:t> on holiday.</a:t>
            </a:r>
            <a:endParaRPr lang="en-US" sz="1700" dirty="0"/>
          </a:p>
        </p:txBody>
      </p:sp>
      <p:sp>
        <p:nvSpPr>
          <p:cNvPr id="20" name="Shape 12"/>
          <p:cNvSpPr/>
          <p:nvPr/>
        </p:nvSpPr>
        <p:spPr>
          <a:xfrm>
            <a:off x="548640" y="4804664"/>
            <a:ext cx="5454396" cy="1294384"/>
          </a:xfrm>
          <a:prstGeom prst="roundRect">
            <a:avLst>
              <a:gd name="adj" fmla="val 8477"/>
            </a:avLst>
          </a:prstGeom>
          <a:solidFill>
            <a:srgbClr val="FFFFFF"/>
          </a:solidFill>
          <a:ln w="15875">
            <a:solidFill>
              <a:srgbClr val="2A6FB0"/>
            </a:solidFill>
            <a:prstDash val="solid"/>
          </a:ln>
          <a:effectLst>
            <a:outerShdw sx="100000" sy="100000" kx="0" ky="0" algn="bl" rotWithShape="0" blurRad="101600" dist="25400" dir="3600000">
              <a:srgbClr val="000000">
                <a:alpha val="16000"/>
              </a:srgbClr>
            </a:outerShdw>
          </a:effectLst>
        </p:spPr>
      </p:sp>
      <p:pic>
        <p:nvPicPr>
          <p:cNvPr id="21" name="Image 5" descr="person lifting weights">    </p:cNvPr>
          <p:cNvPicPr>
            <a:picLocks noChangeAspect="1"/>
          </p:cNvPicPr>
          <p:nvPr/>
        </p:nvPicPr>
        <p:blipFill>
          <a:blip r:embed="rId6"/>
          <a:stretch>
            <a:fillRect/>
          </a:stretch>
        </p:blipFill>
        <p:spPr>
          <a:xfrm>
            <a:off x="685800" y="5033264"/>
            <a:ext cx="777240" cy="777240"/>
          </a:xfrm>
          <a:prstGeom prst="rect">
            <a:avLst/>
          </a:prstGeom>
        </p:spPr>
      </p:pic>
      <p:sp>
        <p:nvSpPr>
          <p:cNvPr id="22" name="Text 13"/>
          <p:cNvSpPr txBox="1"/>
          <p:nvPr/>
        </p:nvSpPr>
        <p:spPr>
          <a:xfrm>
            <a:off x="1600200" y="4804664"/>
            <a:ext cx="4265676" cy="1294384"/>
          </a:xfrm>
          <a:prstGeom prst="rect">
            <a:avLst/>
          </a:prstGeom>
          <a:noFill/>
          <a:ln/>
        </p:spPr>
        <p:txBody>
          <a:bodyPr wrap="square" lIns="0" tIns="0" rIns="0" bIns="0" rtlCol="0" anchor="ctr"/>
          <a:lstStyle/>
          <a:p>
            <a:pPr algn="l" indent="0" marL="0">
              <a:buNone/>
            </a:pPr>
            <a:r>
              <a:rPr lang="en-US" sz="1700" i="1" dirty="0">
                <a:solidFill>
                  <a:schemeClr val="tx1"/>
                </a:solidFill>
              </a:rPr>
              <a:t>Hello! Where have you </a:t>
            </a:r>
            <a:r>
              <a:rPr lang="en-US" sz="1700" i="1" dirty="0">
                <a:solidFill>
                  <a:schemeClr val="accent5"/>
                </a:solidFill>
              </a:rPr>
              <a:t>…………</a:t>
            </a:r>
            <a:r>
              <a:rPr lang="en-US" sz="1700" i="1" dirty="0">
                <a:solidFill>
                  <a:schemeClr val="tx1"/>
                </a:solidFill>
              </a:rPr>
              <a:t>? — At the gym.</a:t>
            </a:r>
            <a:endParaRPr lang="en-US" sz="1700" dirty="0"/>
          </a:p>
        </p:txBody>
      </p:sp>
      <p:sp>
        <p:nvSpPr>
          <p:cNvPr id="23" name="Shape 14"/>
          <p:cNvSpPr/>
          <p:nvPr/>
        </p:nvSpPr>
        <p:spPr>
          <a:xfrm>
            <a:off x="6185916" y="4804664"/>
            <a:ext cx="5454396" cy="1294384"/>
          </a:xfrm>
          <a:prstGeom prst="roundRect">
            <a:avLst>
              <a:gd name="adj" fmla="val 8477"/>
            </a:avLst>
          </a:prstGeom>
          <a:solidFill>
            <a:srgbClr val="FFFFFF"/>
          </a:solidFill>
          <a:ln w="15875">
            <a:solidFill>
              <a:srgbClr val="2A6FB0"/>
            </a:solidFill>
            <a:prstDash val="solid"/>
          </a:ln>
          <a:effectLst>
            <a:outerShdw sx="100000" sy="100000" kx="0" ky="0" algn="bl" rotWithShape="0" blurRad="101600" dist="25400" dir="3600000">
              <a:srgbClr val="000000">
                <a:alpha val="16000"/>
              </a:srgbClr>
            </a:outerShdw>
          </a:effectLst>
        </p:spPr>
      </p:sp>
      <p:pic>
        <p:nvPicPr>
          <p:cNvPr id="24" name="Image 6" descr="office building">    </p:cNvPr>
          <p:cNvPicPr>
            <a:picLocks noChangeAspect="1"/>
          </p:cNvPicPr>
          <p:nvPr/>
        </p:nvPicPr>
        <p:blipFill>
          <a:blip r:embed="rId7"/>
          <a:stretch>
            <a:fillRect/>
          </a:stretch>
        </p:blipFill>
        <p:spPr>
          <a:xfrm>
            <a:off x="6323076" y="5033264"/>
            <a:ext cx="777240" cy="777240"/>
          </a:xfrm>
          <a:prstGeom prst="rect">
            <a:avLst/>
          </a:prstGeom>
        </p:spPr>
      </p:pic>
      <p:sp>
        <p:nvSpPr>
          <p:cNvPr id="25" name="Text 15"/>
          <p:cNvSpPr txBox="1"/>
          <p:nvPr/>
        </p:nvSpPr>
        <p:spPr>
          <a:xfrm>
            <a:off x="7237476" y="4804664"/>
            <a:ext cx="4265676" cy="1294384"/>
          </a:xfrm>
          <a:prstGeom prst="rect">
            <a:avLst/>
          </a:prstGeom>
          <a:noFill/>
          <a:ln/>
        </p:spPr>
        <p:txBody>
          <a:bodyPr wrap="square" lIns="0" tIns="0" rIns="0" bIns="0" rtlCol="0" anchor="ctr"/>
          <a:lstStyle/>
          <a:p>
            <a:pPr algn="l" indent="0" marL="0">
              <a:buNone/>
            </a:pPr>
            <a:r>
              <a:rPr lang="en-US" sz="1700" i="1" dirty="0">
                <a:solidFill>
                  <a:schemeClr val="tx1"/>
                </a:solidFill>
              </a:rPr>
              <a:t>They’ve </a:t>
            </a:r>
            <a:r>
              <a:rPr lang="en-US" sz="1700" i="1" dirty="0">
                <a:solidFill>
                  <a:schemeClr val="accent5"/>
                </a:solidFill>
              </a:rPr>
              <a:t>…………</a:t>
            </a:r>
            <a:r>
              <a:rPr lang="en-US" sz="1700" i="1" dirty="0">
                <a:solidFill>
                  <a:schemeClr val="tx1"/>
                </a:solidFill>
              </a:rPr>
              <a:t> home. The office is empty.</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4 — Been or gone?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Still there → gone. There and back → been.</a:t>
            </a:r>
            <a:endParaRPr lang="en-US" sz="1700" dirty="0"/>
          </a:p>
        </p:txBody>
      </p:sp>
      <p:sp>
        <p:nvSpPr>
          <p:cNvPr id="9" name="Shape 5"/>
          <p:cNvSpPr/>
          <p:nvPr/>
        </p:nvSpPr>
        <p:spPr>
          <a:xfrm>
            <a:off x="548640" y="1978152"/>
            <a:ext cx="5454396" cy="1294384"/>
          </a:xfrm>
          <a:prstGeom prst="roundRect">
            <a:avLst>
              <a:gd name="adj" fmla="val 8477"/>
            </a:avLst>
          </a:prstGeom>
          <a:solidFill>
            <a:srgbClr val="FFFFFF"/>
          </a:solidFill>
          <a:ln w="15875">
            <a:solidFill>
              <a:srgbClr val="2A6FB0"/>
            </a:solidFill>
            <a:prstDash val="solid"/>
          </a:ln>
          <a:effectLst>
            <a:outerShdw sx="100000" sy="100000" kx="0" ky="0" algn="bl" rotWithShape="0" blurRad="101600" dist="25400" dir="3600000">
              <a:srgbClr val="000000">
                <a:alpha val="16000"/>
              </a:srgbClr>
            </a:outerShdw>
          </a:effectLst>
        </p:spPr>
      </p:sp>
      <p:pic>
        <p:nvPicPr>
          <p:cNvPr id="10" name="Image 1" descr="bank">    </p:cNvPr>
          <p:cNvPicPr>
            <a:picLocks noChangeAspect="1"/>
          </p:cNvPicPr>
          <p:nvPr/>
        </p:nvPicPr>
        <p:blipFill>
          <a:blip r:embed="rId2"/>
          <a:stretch>
            <a:fillRect/>
          </a:stretch>
        </p:blipFill>
        <p:spPr>
          <a:xfrm>
            <a:off x="685800" y="2206752"/>
            <a:ext cx="777240" cy="777240"/>
          </a:xfrm>
          <a:prstGeom prst="rect">
            <a:avLst/>
          </a:prstGeom>
        </p:spPr>
      </p:pic>
      <p:sp>
        <p:nvSpPr>
          <p:cNvPr id="11" name="Text 6"/>
          <p:cNvSpPr txBox="1"/>
          <p:nvPr/>
        </p:nvSpPr>
        <p:spPr>
          <a:xfrm>
            <a:off x="1600200" y="1978152"/>
            <a:ext cx="4265676" cy="1294384"/>
          </a:xfrm>
          <a:prstGeom prst="rect">
            <a:avLst/>
          </a:prstGeom>
          <a:noFill/>
          <a:ln/>
        </p:spPr>
        <p:txBody>
          <a:bodyPr wrap="square" lIns="0" tIns="0" rIns="0" bIns="0" rtlCol="0" anchor="ctr"/>
          <a:lstStyle/>
          <a:p>
            <a:pPr algn="l" indent="0" marL="0">
              <a:buNone/>
            </a:pPr>
            <a:r>
              <a:rPr lang="en-US" sz="1700" i="1" dirty="0">
                <a:solidFill>
                  <a:schemeClr val="tx1"/>
                </a:solidFill>
              </a:rPr>
              <a:t>Where’s Tom? — He has </a:t>
            </a:r>
            <a:r>
              <a:rPr lang="en-US" sz="1700" b="1" i="1" dirty="0">
                <a:solidFill>
                  <a:schemeClr val="accent3"/>
                </a:solidFill>
              </a:rPr>
              <a:t>gone</a:t>
            </a:r>
            <a:r>
              <a:rPr lang="en-US" sz="1700" i="1" dirty="0">
                <a:solidFill>
                  <a:schemeClr val="tx1"/>
                </a:solidFill>
              </a:rPr>
              <a:t> to the bank.</a:t>
            </a:r>
            <a:endParaRPr lang="en-US" sz="1700" dirty="0"/>
          </a:p>
        </p:txBody>
      </p:sp>
      <p:sp>
        <p:nvSpPr>
          <p:cNvPr id="12" name="Shape 7"/>
          <p:cNvSpPr/>
          <p:nvPr/>
        </p:nvSpPr>
        <p:spPr>
          <a:xfrm>
            <a:off x="6185916" y="1978152"/>
            <a:ext cx="5454396" cy="1294384"/>
          </a:xfrm>
          <a:prstGeom prst="roundRect">
            <a:avLst>
              <a:gd name="adj" fmla="val 8477"/>
            </a:avLst>
          </a:prstGeom>
          <a:solidFill>
            <a:srgbClr val="FFFFFF"/>
          </a:solidFill>
          <a:ln w="15875">
            <a:solidFill>
              <a:srgbClr val="2A6FB0"/>
            </a:solidFill>
            <a:prstDash val="solid"/>
          </a:ln>
          <a:effectLst>
            <a:outerShdw sx="100000" sy="100000" kx="0" ky="0" algn="bl" rotWithShape="0" blurRad="101600" dist="25400" dir="3600000">
              <a:srgbClr val="000000">
                <a:alpha val="16000"/>
              </a:srgbClr>
            </a:outerShdw>
          </a:effectLst>
        </p:spPr>
      </p:sp>
      <p:pic>
        <p:nvPicPr>
          <p:cNvPr id="13" name="Image 2" descr="maple leaf">    </p:cNvPr>
          <p:cNvPicPr>
            <a:picLocks noChangeAspect="1"/>
          </p:cNvPicPr>
          <p:nvPr/>
        </p:nvPicPr>
        <p:blipFill>
          <a:blip r:embed="rId3"/>
          <a:stretch>
            <a:fillRect/>
          </a:stretch>
        </p:blipFill>
        <p:spPr>
          <a:xfrm>
            <a:off x="6323076" y="2206752"/>
            <a:ext cx="777240" cy="777240"/>
          </a:xfrm>
          <a:prstGeom prst="rect">
            <a:avLst/>
          </a:prstGeom>
        </p:spPr>
      </p:pic>
      <p:sp>
        <p:nvSpPr>
          <p:cNvPr id="14" name="Text 8"/>
          <p:cNvSpPr txBox="1"/>
          <p:nvPr/>
        </p:nvSpPr>
        <p:spPr>
          <a:xfrm>
            <a:off x="7237476" y="1978152"/>
            <a:ext cx="4265676" cy="1294384"/>
          </a:xfrm>
          <a:prstGeom prst="rect">
            <a:avLst/>
          </a:prstGeom>
          <a:noFill/>
          <a:ln/>
        </p:spPr>
        <p:txBody>
          <a:bodyPr wrap="square" lIns="0" tIns="0" rIns="0" bIns="0" rtlCol="0" anchor="ctr"/>
          <a:lstStyle/>
          <a:p>
            <a:pPr algn="l" indent="0" marL="0">
              <a:buNone/>
            </a:pPr>
            <a:r>
              <a:rPr lang="en-US" sz="1700" i="1" dirty="0">
                <a:solidFill>
                  <a:schemeClr val="tx1"/>
                </a:solidFill>
              </a:rPr>
              <a:t>I’ve </a:t>
            </a:r>
            <a:r>
              <a:rPr lang="en-US" sz="1700" b="1" i="1" dirty="0">
                <a:solidFill>
                  <a:schemeClr val="accent3"/>
                </a:solidFill>
              </a:rPr>
              <a:t>been</a:t>
            </a:r>
            <a:r>
              <a:rPr lang="en-US" sz="1700" i="1" dirty="0">
                <a:solidFill>
                  <a:schemeClr val="tx1"/>
                </a:solidFill>
              </a:rPr>
              <a:t> to Canada three times.</a:t>
            </a:r>
            <a:endParaRPr lang="en-US" sz="1700" dirty="0"/>
          </a:p>
        </p:txBody>
      </p:sp>
      <p:sp>
        <p:nvSpPr>
          <p:cNvPr id="15" name="Shape 9"/>
          <p:cNvSpPr/>
          <p:nvPr/>
        </p:nvSpPr>
        <p:spPr>
          <a:xfrm>
            <a:off x="548640" y="3391408"/>
            <a:ext cx="5454396" cy="1294384"/>
          </a:xfrm>
          <a:prstGeom prst="roundRect">
            <a:avLst>
              <a:gd name="adj" fmla="val 8477"/>
            </a:avLst>
          </a:prstGeom>
          <a:solidFill>
            <a:srgbClr val="FFFFFF"/>
          </a:solidFill>
          <a:ln w="15875">
            <a:solidFill>
              <a:srgbClr val="2A6FB0"/>
            </a:solidFill>
            <a:prstDash val="solid"/>
          </a:ln>
          <a:effectLst>
            <a:outerShdw sx="100000" sy="100000" kx="0" ky="0" algn="bl" rotWithShape="0" blurRad="101600" dist="25400" dir="3600000">
              <a:srgbClr val="000000">
                <a:alpha val="16000"/>
              </a:srgbClr>
            </a:outerShdw>
          </a:effectLst>
        </p:spPr>
      </p:sp>
      <p:pic>
        <p:nvPicPr>
          <p:cNvPr id="16" name="Image 3" descr="guitar">    </p:cNvPr>
          <p:cNvPicPr>
            <a:picLocks noChangeAspect="1"/>
          </p:cNvPicPr>
          <p:nvPr/>
        </p:nvPicPr>
        <p:blipFill>
          <a:blip r:embed="rId4"/>
          <a:stretch>
            <a:fillRect/>
          </a:stretch>
        </p:blipFill>
        <p:spPr>
          <a:xfrm>
            <a:off x="685800" y="3620008"/>
            <a:ext cx="777240" cy="777240"/>
          </a:xfrm>
          <a:prstGeom prst="rect">
            <a:avLst/>
          </a:prstGeom>
        </p:spPr>
      </p:pic>
      <p:sp>
        <p:nvSpPr>
          <p:cNvPr id="17" name="Text 10"/>
          <p:cNvSpPr txBox="1"/>
          <p:nvPr/>
        </p:nvSpPr>
        <p:spPr>
          <a:xfrm>
            <a:off x="1600200" y="3391408"/>
            <a:ext cx="4265676" cy="1294384"/>
          </a:xfrm>
          <a:prstGeom prst="rect">
            <a:avLst/>
          </a:prstGeom>
          <a:noFill/>
          <a:ln/>
        </p:spPr>
        <p:txBody>
          <a:bodyPr wrap="square" lIns="0" tIns="0" rIns="0" bIns="0" rtlCol="0" anchor="ctr"/>
          <a:lstStyle/>
          <a:p>
            <a:pPr algn="l" indent="0" marL="0">
              <a:buNone/>
            </a:pPr>
            <a:r>
              <a:rPr lang="en-US" sz="1700" i="1" dirty="0">
                <a:solidFill>
                  <a:schemeClr val="tx1"/>
                </a:solidFill>
              </a:rPr>
              <a:t>Have you ever </a:t>
            </a:r>
            <a:r>
              <a:rPr lang="en-US" sz="1700" b="1" i="1" dirty="0">
                <a:solidFill>
                  <a:schemeClr val="accent3"/>
                </a:solidFill>
              </a:rPr>
              <a:t>been</a:t>
            </a:r>
            <a:r>
              <a:rPr lang="en-US" sz="1700" i="1" dirty="0">
                <a:solidFill>
                  <a:schemeClr val="tx1"/>
                </a:solidFill>
              </a:rPr>
              <a:t> to a rock concert?</a:t>
            </a:r>
            <a:endParaRPr lang="en-US" sz="1700" dirty="0"/>
          </a:p>
        </p:txBody>
      </p:sp>
      <p:sp>
        <p:nvSpPr>
          <p:cNvPr id="18" name="Shape 11"/>
          <p:cNvSpPr/>
          <p:nvPr/>
        </p:nvSpPr>
        <p:spPr>
          <a:xfrm>
            <a:off x="6185916" y="3391408"/>
            <a:ext cx="5454396" cy="1294384"/>
          </a:xfrm>
          <a:prstGeom prst="roundRect">
            <a:avLst>
              <a:gd name="adj" fmla="val 8477"/>
            </a:avLst>
          </a:prstGeom>
          <a:solidFill>
            <a:srgbClr val="FFFFFF"/>
          </a:solidFill>
          <a:ln w="15875">
            <a:solidFill>
              <a:srgbClr val="2A6FB0"/>
            </a:solidFill>
            <a:prstDash val="solid"/>
          </a:ln>
          <a:effectLst>
            <a:outerShdw sx="100000" sy="100000" kx="0" ky="0" algn="bl" rotWithShape="0" blurRad="101600" dist="25400" dir="3600000">
              <a:srgbClr val="000000">
                <a:alpha val="16000"/>
              </a:srgbClr>
            </a:outerShdw>
          </a:effectLst>
        </p:spPr>
      </p:sp>
      <p:pic>
        <p:nvPicPr>
          <p:cNvPr id="19" name="Image 4" descr="beach with umbrella">    </p:cNvPr>
          <p:cNvPicPr>
            <a:picLocks noChangeAspect="1"/>
          </p:cNvPicPr>
          <p:nvPr/>
        </p:nvPicPr>
        <p:blipFill>
          <a:blip r:embed="rId5"/>
          <a:stretch>
            <a:fillRect/>
          </a:stretch>
        </p:blipFill>
        <p:spPr>
          <a:xfrm>
            <a:off x="6323076" y="3620008"/>
            <a:ext cx="777240" cy="777240"/>
          </a:xfrm>
          <a:prstGeom prst="rect">
            <a:avLst/>
          </a:prstGeom>
        </p:spPr>
      </p:pic>
      <p:sp>
        <p:nvSpPr>
          <p:cNvPr id="20" name="Text 12"/>
          <p:cNvSpPr txBox="1"/>
          <p:nvPr/>
        </p:nvSpPr>
        <p:spPr>
          <a:xfrm>
            <a:off x="7237476" y="3391408"/>
            <a:ext cx="4265676" cy="1294384"/>
          </a:xfrm>
          <a:prstGeom prst="rect">
            <a:avLst/>
          </a:prstGeom>
          <a:noFill/>
          <a:ln/>
        </p:spPr>
        <p:txBody>
          <a:bodyPr wrap="square" lIns="0" tIns="0" rIns="0" bIns="0" rtlCol="0" anchor="ctr"/>
          <a:lstStyle/>
          <a:p>
            <a:pPr algn="l" indent="0" marL="0">
              <a:buNone/>
            </a:pPr>
            <a:r>
              <a:rPr lang="en-US" sz="1700" i="1" dirty="0">
                <a:solidFill>
                  <a:schemeClr val="tx1"/>
                </a:solidFill>
              </a:rPr>
              <a:t>Sara isn’t here: she has </a:t>
            </a:r>
            <a:r>
              <a:rPr lang="en-US" sz="1700" b="1" i="1" dirty="0">
                <a:solidFill>
                  <a:schemeClr val="accent3"/>
                </a:solidFill>
              </a:rPr>
              <a:t>gone</a:t>
            </a:r>
            <a:r>
              <a:rPr lang="en-US" sz="1700" i="1" dirty="0">
                <a:solidFill>
                  <a:schemeClr val="tx1"/>
                </a:solidFill>
              </a:rPr>
              <a:t> on holiday.</a:t>
            </a:r>
            <a:endParaRPr lang="en-US" sz="1700" dirty="0"/>
          </a:p>
        </p:txBody>
      </p:sp>
      <p:sp>
        <p:nvSpPr>
          <p:cNvPr id="21" name="Shape 13"/>
          <p:cNvSpPr/>
          <p:nvPr/>
        </p:nvSpPr>
        <p:spPr>
          <a:xfrm>
            <a:off x="548640" y="4804664"/>
            <a:ext cx="5454396" cy="1294384"/>
          </a:xfrm>
          <a:prstGeom prst="roundRect">
            <a:avLst>
              <a:gd name="adj" fmla="val 8477"/>
            </a:avLst>
          </a:prstGeom>
          <a:solidFill>
            <a:srgbClr val="FFFFFF"/>
          </a:solidFill>
          <a:ln w="15875">
            <a:solidFill>
              <a:srgbClr val="2A6FB0"/>
            </a:solidFill>
            <a:prstDash val="solid"/>
          </a:ln>
          <a:effectLst>
            <a:outerShdw sx="100000" sy="100000" kx="0" ky="0" algn="bl" rotWithShape="0" blurRad="101600" dist="25400" dir="3600000">
              <a:srgbClr val="000000">
                <a:alpha val="16000"/>
              </a:srgbClr>
            </a:outerShdw>
          </a:effectLst>
        </p:spPr>
      </p:sp>
      <p:pic>
        <p:nvPicPr>
          <p:cNvPr id="22" name="Image 5" descr="person lifting weights">    </p:cNvPr>
          <p:cNvPicPr>
            <a:picLocks noChangeAspect="1"/>
          </p:cNvPicPr>
          <p:nvPr/>
        </p:nvPicPr>
        <p:blipFill>
          <a:blip r:embed="rId6"/>
          <a:stretch>
            <a:fillRect/>
          </a:stretch>
        </p:blipFill>
        <p:spPr>
          <a:xfrm>
            <a:off x="685800" y="5033264"/>
            <a:ext cx="777240" cy="777240"/>
          </a:xfrm>
          <a:prstGeom prst="rect">
            <a:avLst/>
          </a:prstGeom>
        </p:spPr>
      </p:pic>
      <p:sp>
        <p:nvSpPr>
          <p:cNvPr id="23" name="Text 14"/>
          <p:cNvSpPr txBox="1"/>
          <p:nvPr/>
        </p:nvSpPr>
        <p:spPr>
          <a:xfrm>
            <a:off x="1600200" y="4804664"/>
            <a:ext cx="4265676" cy="1294384"/>
          </a:xfrm>
          <a:prstGeom prst="rect">
            <a:avLst/>
          </a:prstGeom>
          <a:noFill/>
          <a:ln/>
        </p:spPr>
        <p:txBody>
          <a:bodyPr wrap="square" lIns="0" tIns="0" rIns="0" bIns="0" rtlCol="0" anchor="ctr"/>
          <a:lstStyle/>
          <a:p>
            <a:pPr algn="l" indent="0" marL="0">
              <a:buNone/>
            </a:pPr>
            <a:r>
              <a:rPr lang="en-US" sz="1700" i="1" dirty="0">
                <a:solidFill>
                  <a:schemeClr val="tx1"/>
                </a:solidFill>
              </a:rPr>
              <a:t>Hello! Where have you </a:t>
            </a:r>
            <a:r>
              <a:rPr lang="en-US" sz="1700" b="1" i="1" dirty="0">
                <a:solidFill>
                  <a:schemeClr val="accent3"/>
                </a:solidFill>
              </a:rPr>
              <a:t>been</a:t>
            </a:r>
            <a:r>
              <a:rPr lang="en-US" sz="1700" i="1" dirty="0">
                <a:solidFill>
                  <a:schemeClr val="tx1"/>
                </a:solidFill>
              </a:rPr>
              <a:t>? — At the gym.</a:t>
            </a:r>
            <a:endParaRPr lang="en-US" sz="1700" dirty="0"/>
          </a:p>
        </p:txBody>
      </p:sp>
      <p:sp>
        <p:nvSpPr>
          <p:cNvPr id="24" name="Shape 15"/>
          <p:cNvSpPr/>
          <p:nvPr/>
        </p:nvSpPr>
        <p:spPr>
          <a:xfrm>
            <a:off x="6185916" y="4804664"/>
            <a:ext cx="5454396" cy="1294384"/>
          </a:xfrm>
          <a:prstGeom prst="roundRect">
            <a:avLst>
              <a:gd name="adj" fmla="val 8477"/>
            </a:avLst>
          </a:prstGeom>
          <a:solidFill>
            <a:srgbClr val="FFFFFF"/>
          </a:solidFill>
          <a:ln w="15875">
            <a:solidFill>
              <a:srgbClr val="2A6FB0"/>
            </a:solidFill>
            <a:prstDash val="solid"/>
          </a:ln>
          <a:effectLst>
            <a:outerShdw sx="100000" sy="100000" kx="0" ky="0" algn="bl" rotWithShape="0" blurRad="101600" dist="25400" dir="3600000">
              <a:srgbClr val="000000">
                <a:alpha val="16000"/>
              </a:srgbClr>
            </a:outerShdw>
          </a:effectLst>
        </p:spPr>
      </p:sp>
      <p:pic>
        <p:nvPicPr>
          <p:cNvPr id="25" name="Image 6" descr="office building">    </p:cNvPr>
          <p:cNvPicPr>
            <a:picLocks noChangeAspect="1"/>
          </p:cNvPicPr>
          <p:nvPr/>
        </p:nvPicPr>
        <p:blipFill>
          <a:blip r:embed="rId7"/>
          <a:stretch>
            <a:fillRect/>
          </a:stretch>
        </p:blipFill>
        <p:spPr>
          <a:xfrm>
            <a:off x="6323076" y="5033264"/>
            <a:ext cx="777240" cy="777240"/>
          </a:xfrm>
          <a:prstGeom prst="rect">
            <a:avLst/>
          </a:prstGeom>
        </p:spPr>
      </p:pic>
      <p:sp>
        <p:nvSpPr>
          <p:cNvPr id="26" name="Text 16"/>
          <p:cNvSpPr txBox="1"/>
          <p:nvPr/>
        </p:nvSpPr>
        <p:spPr>
          <a:xfrm>
            <a:off x="7237476" y="4804664"/>
            <a:ext cx="4265676" cy="1294384"/>
          </a:xfrm>
          <a:prstGeom prst="rect">
            <a:avLst/>
          </a:prstGeom>
          <a:noFill/>
          <a:ln/>
        </p:spPr>
        <p:txBody>
          <a:bodyPr wrap="square" lIns="0" tIns="0" rIns="0" bIns="0" rtlCol="0" anchor="ctr"/>
          <a:lstStyle/>
          <a:p>
            <a:pPr algn="l" indent="0" marL="0">
              <a:buNone/>
            </a:pPr>
            <a:r>
              <a:rPr lang="en-US" sz="1700" i="1" dirty="0">
                <a:solidFill>
                  <a:schemeClr val="tx1"/>
                </a:solidFill>
              </a:rPr>
              <a:t>They’ve </a:t>
            </a:r>
            <a:r>
              <a:rPr lang="en-US" sz="1700" b="1" i="1" dirty="0">
                <a:solidFill>
                  <a:schemeClr val="accent3"/>
                </a:solidFill>
              </a:rPr>
              <a:t>gone</a:t>
            </a:r>
            <a:r>
              <a:rPr lang="en-US" sz="1700" i="1" dirty="0">
                <a:solidFill>
                  <a:schemeClr val="tx1"/>
                </a:solidFill>
              </a:rPr>
              <a:t> home. The office is empty.</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5 — Open or closed time?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Which tense goes with each word? Present perfect (open) or past simple (closed)?</a:t>
            </a:r>
            <a:endParaRPr lang="en-US" sz="1700" dirty="0"/>
          </a:p>
        </p:txBody>
      </p:sp>
      <p:sp>
        <p:nvSpPr>
          <p:cNvPr id="8" name="Shape 4"/>
          <p:cNvSpPr/>
          <p:nvPr/>
        </p:nvSpPr>
        <p:spPr>
          <a:xfrm rot="-120000">
            <a:off x="548640" y="1932432"/>
            <a:ext cx="1734312" cy="457200"/>
          </a:xfrm>
          <a:prstGeom prst="roundRect">
            <a:avLst>
              <a:gd name="adj" fmla="val 24000"/>
            </a:avLst>
          </a:prstGeom>
          <a:solidFill>
            <a:srgbClr val="FFFDF7"/>
          </a:solidFill>
          <a:ln w="15875">
            <a:solidFill>
              <a:srgbClr val="D9700F"/>
            </a:solidFill>
            <a:prstDash val="solid"/>
          </a:ln>
        </p:spPr>
      </p:sp>
      <p:sp>
        <p:nvSpPr>
          <p:cNvPr id="9" name="Text 5"/>
          <p:cNvSpPr txBox="1"/>
          <p:nvPr/>
        </p:nvSpPr>
        <p:spPr>
          <a:xfrm rot="-120000">
            <a:off x="548640" y="1932432"/>
            <a:ext cx="1734312" cy="457200"/>
          </a:xfrm>
          <a:prstGeom prst="rect">
            <a:avLst/>
          </a:prstGeom>
          <a:noFill/>
          <a:ln/>
        </p:spPr>
        <p:txBody>
          <a:bodyPr wrap="square" lIns="0" tIns="0" rIns="0" bIns="0" rtlCol="0" anchor="ctr"/>
          <a:lstStyle/>
          <a:p>
            <a:pPr algn="ctr" indent="0" marL="0">
              <a:buNone/>
            </a:pPr>
            <a:r>
              <a:rPr lang="en-US" sz="1500" b="1" i="1" dirty="0">
                <a:solidFill>
                  <a:schemeClr val="tx1"/>
                </a:solidFill>
              </a:rPr>
              <a:t>yesterday</a:t>
            </a:r>
            <a:endParaRPr lang="en-US" sz="1500" dirty="0"/>
          </a:p>
        </p:txBody>
      </p:sp>
      <p:sp>
        <p:nvSpPr>
          <p:cNvPr id="10" name="Shape 6"/>
          <p:cNvSpPr/>
          <p:nvPr/>
        </p:nvSpPr>
        <p:spPr>
          <a:xfrm rot="60000">
            <a:off x="2420112" y="1932432"/>
            <a:ext cx="1734312" cy="457200"/>
          </a:xfrm>
          <a:prstGeom prst="roundRect">
            <a:avLst>
              <a:gd name="adj" fmla="val 24000"/>
            </a:avLst>
          </a:prstGeom>
          <a:solidFill>
            <a:srgbClr val="FFFDF7"/>
          </a:solidFill>
          <a:ln w="15875">
            <a:solidFill>
              <a:srgbClr val="D9700F"/>
            </a:solidFill>
            <a:prstDash val="solid"/>
          </a:ln>
        </p:spPr>
      </p:sp>
      <p:sp>
        <p:nvSpPr>
          <p:cNvPr id="11" name="Text 7"/>
          <p:cNvSpPr txBox="1"/>
          <p:nvPr/>
        </p:nvSpPr>
        <p:spPr>
          <a:xfrm rot="60000">
            <a:off x="2420112" y="1932432"/>
            <a:ext cx="1734312" cy="457200"/>
          </a:xfrm>
          <a:prstGeom prst="rect">
            <a:avLst/>
          </a:prstGeom>
          <a:noFill/>
          <a:ln/>
        </p:spPr>
        <p:txBody>
          <a:bodyPr wrap="square" lIns="0" tIns="0" rIns="0" bIns="0" rtlCol="0" anchor="ctr"/>
          <a:lstStyle/>
          <a:p>
            <a:pPr algn="ctr" indent="0" marL="0">
              <a:buNone/>
            </a:pPr>
            <a:r>
              <a:rPr lang="en-US" sz="1500" b="1" i="1" dirty="0">
                <a:solidFill>
                  <a:schemeClr val="tx1"/>
                </a:solidFill>
              </a:rPr>
              <a:t>ever</a:t>
            </a:r>
            <a:endParaRPr lang="en-US" sz="1500" dirty="0"/>
          </a:p>
        </p:txBody>
      </p:sp>
      <p:sp>
        <p:nvSpPr>
          <p:cNvPr id="12" name="Shape 8"/>
          <p:cNvSpPr/>
          <p:nvPr/>
        </p:nvSpPr>
        <p:spPr>
          <a:xfrm rot="120000">
            <a:off x="4291584" y="1932432"/>
            <a:ext cx="1734312" cy="457200"/>
          </a:xfrm>
          <a:prstGeom prst="roundRect">
            <a:avLst>
              <a:gd name="adj" fmla="val 24000"/>
            </a:avLst>
          </a:prstGeom>
          <a:solidFill>
            <a:srgbClr val="FFFDF7"/>
          </a:solidFill>
          <a:ln w="15875">
            <a:solidFill>
              <a:srgbClr val="D9700F"/>
            </a:solidFill>
            <a:prstDash val="solid"/>
          </a:ln>
        </p:spPr>
      </p:sp>
      <p:sp>
        <p:nvSpPr>
          <p:cNvPr id="13" name="Text 9"/>
          <p:cNvSpPr txBox="1"/>
          <p:nvPr/>
        </p:nvSpPr>
        <p:spPr>
          <a:xfrm rot="120000">
            <a:off x="4291584" y="1932432"/>
            <a:ext cx="1734312" cy="457200"/>
          </a:xfrm>
          <a:prstGeom prst="rect">
            <a:avLst/>
          </a:prstGeom>
          <a:noFill/>
          <a:ln/>
        </p:spPr>
        <p:txBody>
          <a:bodyPr wrap="square" lIns="0" tIns="0" rIns="0" bIns="0" rtlCol="0" anchor="ctr"/>
          <a:lstStyle/>
          <a:p>
            <a:pPr algn="ctr" indent="0" marL="0">
              <a:buNone/>
            </a:pPr>
            <a:r>
              <a:rPr lang="en-US" sz="1500" b="1" i="1" dirty="0">
                <a:solidFill>
                  <a:schemeClr val="tx1"/>
                </a:solidFill>
              </a:rPr>
              <a:t>last year</a:t>
            </a:r>
            <a:endParaRPr lang="en-US" sz="1500" dirty="0"/>
          </a:p>
        </p:txBody>
      </p:sp>
      <p:sp>
        <p:nvSpPr>
          <p:cNvPr id="14" name="Shape 10"/>
          <p:cNvSpPr/>
          <p:nvPr/>
        </p:nvSpPr>
        <p:spPr>
          <a:xfrm rot="-60000">
            <a:off x="6163056" y="1932432"/>
            <a:ext cx="1734312" cy="457200"/>
          </a:xfrm>
          <a:prstGeom prst="roundRect">
            <a:avLst>
              <a:gd name="adj" fmla="val 24000"/>
            </a:avLst>
          </a:prstGeom>
          <a:solidFill>
            <a:srgbClr val="FFFDF7"/>
          </a:solidFill>
          <a:ln w="15875">
            <a:solidFill>
              <a:srgbClr val="D9700F"/>
            </a:solidFill>
            <a:prstDash val="solid"/>
          </a:ln>
        </p:spPr>
      </p:sp>
      <p:sp>
        <p:nvSpPr>
          <p:cNvPr id="15" name="Text 11"/>
          <p:cNvSpPr txBox="1"/>
          <p:nvPr/>
        </p:nvSpPr>
        <p:spPr>
          <a:xfrm rot="-60000">
            <a:off x="6163056" y="1932432"/>
            <a:ext cx="1734312" cy="457200"/>
          </a:xfrm>
          <a:prstGeom prst="rect">
            <a:avLst/>
          </a:prstGeom>
          <a:noFill/>
          <a:ln/>
        </p:spPr>
        <p:txBody>
          <a:bodyPr wrap="square" lIns="0" tIns="0" rIns="0" bIns="0" rtlCol="0" anchor="ctr"/>
          <a:lstStyle/>
          <a:p>
            <a:pPr algn="ctr" indent="0" marL="0">
              <a:buNone/>
            </a:pPr>
            <a:r>
              <a:rPr lang="en-US" sz="1500" b="1" i="1" dirty="0">
                <a:solidFill>
                  <a:schemeClr val="tx1"/>
                </a:solidFill>
              </a:rPr>
              <a:t>just</a:t>
            </a:r>
            <a:endParaRPr lang="en-US" sz="1500" dirty="0"/>
          </a:p>
        </p:txBody>
      </p:sp>
      <p:sp>
        <p:nvSpPr>
          <p:cNvPr id="16" name="Shape 12"/>
          <p:cNvSpPr/>
          <p:nvPr/>
        </p:nvSpPr>
        <p:spPr>
          <a:xfrm rot="60000">
            <a:off x="8034528" y="1932432"/>
            <a:ext cx="1734312" cy="457200"/>
          </a:xfrm>
          <a:prstGeom prst="roundRect">
            <a:avLst>
              <a:gd name="adj" fmla="val 24000"/>
            </a:avLst>
          </a:prstGeom>
          <a:solidFill>
            <a:srgbClr val="FFFDF7"/>
          </a:solidFill>
          <a:ln w="15875">
            <a:solidFill>
              <a:srgbClr val="D9700F"/>
            </a:solidFill>
            <a:prstDash val="solid"/>
          </a:ln>
        </p:spPr>
      </p:sp>
      <p:sp>
        <p:nvSpPr>
          <p:cNvPr id="17" name="Text 13"/>
          <p:cNvSpPr txBox="1"/>
          <p:nvPr/>
        </p:nvSpPr>
        <p:spPr>
          <a:xfrm rot="60000">
            <a:off x="8034528" y="1932432"/>
            <a:ext cx="1734312" cy="457200"/>
          </a:xfrm>
          <a:prstGeom prst="rect">
            <a:avLst/>
          </a:prstGeom>
          <a:noFill/>
          <a:ln/>
        </p:spPr>
        <p:txBody>
          <a:bodyPr wrap="square" lIns="0" tIns="0" rIns="0" bIns="0" rtlCol="0" anchor="ctr"/>
          <a:lstStyle/>
          <a:p>
            <a:pPr algn="ctr" indent="0" marL="0">
              <a:buNone/>
            </a:pPr>
            <a:r>
              <a:rPr lang="en-US" sz="1500" b="1" i="1" dirty="0">
                <a:solidFill>
                  <a:schemeClr val="tx1"/>
                </a:solidFill>
              </a:rPr>
              <a:t>in 2010</a:t>
            </a:r>
            <a:endParaRPr lang="en-US" sz="1500" dirty="0"/>
          </a:p>
        </p:txBody>
      </p:sp>
      <p:sp>
        <p:nvSpPr>
          <p:cNvPr id="18" name="Shape 14"/>
          <p:cNvSpPr/>
          <p:nvPr/>
        </p:nvSpPr>
        <p:spPr>
          <a:xfrm rot="-120000">
            <a:off x="9906000" y="1932432"/>
            <a:ext cx="1734312" cy="457200"/>
          </a:xfrm>
          <a:prstGeom prst="roundRect">
            <a:avLst>
              <a:gd name="adj" fmla="val 24000"/>
            </a:avLst>
          </a:prstGeom>
          <a:solidFill>
            <a:srgbClr val="FFFDF7"/>
          </a:solidFill>
          <a:ln w="15875">
            <a:solidFill>
              <a:srgbClr val="D9700F"/>
            </a:solidFill>
            <a:prstDash val="solid"/>
          </a:ln>
        </p:spPr>
      </p:sp>
      <p:sp>
        <p:nvSpPr>
          <p:cNvPr id="19" name="Text 15"/>
          <p:cNvSpPr txBox="1"/>
          <p:nvPr/>
        </p:nvSpPr>
        <p:spPr>
          <a:xfrm rot="-120000">
            <a:off x="9906000" y="1932432"/>
            <a:ext cx="1734312" cy="457200"/>
          </a:xfrm>
          <a:prstGeom prst="rect">
            <a:avLst/>
          </a:prstGeom>
          <a:noFill/>
          <a:ln/>
        </p:spPr>
        <p:txBody>
          <a:bodyPr wrap="square" lIns="0" tIns="0" rIns="0" bIns="0" rtlCol="0" anchor="ctr"/>
          <a:lstStyle/>
          <a:p>
            <a:pPr algn="ctr" indent="0" marL="0">
              <a:buNone/>
            </a:pPr>
            <a:r>
              <a:rPr lang="en-US" sz="1500" b="1" i="1" dirty="0">
                <a:solidFill>
                  <a:schemeClr val="tx1"/>
                </a:solidFill>
              </a:rPr>
              <a:t>since Monday</a:t>
            </a:r>
            <a:endParaRPr lang="en-US" sz="1500" dirty="0"/>
          </a:p>
        </p:txBody>
      </p:sp>
      <p:sp>
        <p:nvSpPr>
          <p:cNvPr id="20" name="Shape 16"/>
          <p:cNvSpPr/>
          <p:nvPr/>
        </p:nvSpPr>
        <p:spPr>
          <a:xfrm rot="-120000">
            <a:off x="548640" y="2481072"/>
            <a:ext cx="1734312" cy="457200"/>
          </a:xfrm>
          <a:prstGeom prst="roundRect">
            <a:avLst>
              <a:gd name="adj" fmla="val 24000"/>
            </a:avLst>
          </a:prstGeom>
          <a:solidFill>
            <a:srgbClr val="FFFDF7"/>
          </a:solidFill>
          <a:ln w="15875">
            <a:solidFill>
              <a:srgbClr val="D9700F"/>
            </a:solidFill>
            <a:prstDash val="solid"/>
          </a:ln>
        </p:spPr>
      </p:sp>
      <p:sp>
        <p:nvSpPr>
          <p:cNvPr id="21" name="Text 17"/>
          <p:cNvSpPr txBox="1"/>
          <p:nvPr/>
        </p:nvSpPr>
        <p:spPr>
          <a:xfrm rot="-120000">
            <a:off x="548640" y="2481072"/>
            <a:ext cx="1734312" cy="457200"/>
          </a:xfrm>
          <a:prstGeom prst="rect">
            <a:avLst/>
          </a:prstGeom>
          <a:noFill/>
          <a:ln/>
        </p:spPr>
        <p:txBody>
          <a:bodyPr wrap="square" lIns="0" tIns="0" rIns="0" bIns="0" rtlCol="0" anchor="ctr"/>
          <a:lstStyle/>
          <a:p>
            <a:pPr algn="ctr" indent="0" marL="0">
              <a:buNone/>
            </a:pPr>
            <a:r>
              <a:rPr lang="en-US" sz="1500" b="1" i="1" dirty="0">
                <a:solidFill>
                  <a:schemeClr val="tx1"/>
                </a:solidFill>
              </a:rPr>
              <a:t>two days ago</a:t>
            </a:r>
            <a:endParaRPr lang="en-US" sz="1500" dirty="0"/>
          </a:p>
        </p:txBody>
      </p:sp>
      <p:sp>
        <p:nvSpPr>
          <p:cNvPr id="22" name="Shape 18"/>
          <p:cNvSpPr/>
          <p:nvPr/>
        </p:nvSpPr>
        <p:spPr>
          <a:xfrm rot="60000">
            <a:off x="2420112" y="2481072"/>
            <a:ext cx="1734312" cy="457200"/>
          </a:xfrm>
          <a:prstGeom prst="roundRect">
            <a:avLst>
              <a:gd name="adj" fmla="val 24000"/>
            </a:avLst>
          </a:prstGeom>
          <a:solidFill>
            <a:srgbClr val="FFFDF7"/>
          </a:solidFill>
          <a:ln w="15875">
            <a:solidFill>
              <a:srgbClr val="D9700F"/>
            </a:solidFill>
            <a:prstDash val="solid"/>
          </a:ln>
        </p:spPr>
      </p:sp>
      <p:sp>
        <p:nvSpPr>
          <p:cNvPr id="23" name="Text 19"/>
          <p:cNvSpPr txBox="1"/>
          <p:nvPr/>
        </p:nvSpPr>
        <p:spPr>
          <a:xfrm rot="60000">
            <a:off x="2420112" y="2481072"/>
            <a:ext cx="1734312" cy="457200"/>
          </a:xfrm>
          <a:prstGeom prst="rect">
            <a:avLst/>
          </a:prstGeom>
          <a:noFill/>
          <a:ln/>
        </p:spPr>
        <p:txBody>
          <a:bodyPr wrap="square" lIns="0" tIns="0" rIns="0" bIns="0" rtlCol="0" anchor="ctr"/>
          <a:lstStyle/>
          <a:p>
            <a:pPr algn="ctr" indent="0" marL="0">
              <a:buNone/>
            </a:pPr>
            <a:r>
              <a:rPr lang="en-US" sz="1500" b="1" i="1" dirty="0">
                <a:solidFill>
                  <a:schemeClr val="tx1"/>
                </a:solidFill>
              </a:rPr>
              <a:t>this week</a:t>
            </a:r>
            <a:endParaRPr lang="en-US" sz="1500" dirty="0"/>
          </a:p>
        </p:txBody>
      </p:sp>
      <p:sp>
        <p:nvSpPr>
          <p:cNvPr id="24" name="Shape 20"/>
          <p:cNvSpPr/>
          <p:nvPr/>
        </p:nvSpPr>
        <p:spPr>
          <a:xfrm rot="120000">
            <a:off x="4291584" y="2481072"/>
            <a:ext cx="1734312" cy="457200"/>
          </a:xfrm>
          <a:prstGeom prst="roundRect">
            <a:avLst>
              <a:gd name="adj" fmla="val 24000"/>
            </a:avLst>
          </a:prstGeom>
          <a:solidFill>
            <a:srgbClr val="FFFDF7"/>
          </a:solidFill>
          <a:ln w="15875">
            <a:solidFill>
              <a:srgbClr val="D9700F"/>
            </a:solidFill>
            <a:prstDash val="solid"/>
          </a:ln>
        </p:spPr>
      </p:sp>
      <p:sp>
        <p:nvSpPr>
          <p:cNvPr id="25" name="Text 21"/>
          <p:cNvSpPr txBox="1"/>
          <p:nvPr/>
        </p:nvSpPr>
        <p:spPr>
          <a:xfrm rot="120000">
            <a:off x="4291584" y="2481072"/>
            <a:ext cx="1734312" cy="457200"/>
          </a:xfrm>
          <a:prstGeom prst="rect">
            <a:avLst/>
          </a:prstGeom>
          <a:noFill/>
          <a:ln/>
        </p:spPr>
        <p:txBody>
          <a:bodyPr wrap="square" lIns="0" tIns="0" rIns="0" bIns="0" rtlCol="0" anchor="ctr"/>
          <a:lstStyle/>
          <a:p>
            <a:pPr algn="ctr" indent="0" marL="0">
              <a:buNone/>
            </a:pPr>
            <a:r>
              <a:rPr lang="en-US" sz="1500" b="1" i="1" dirty="0">
                <a:solidFill>
                  <a:schemeClr val="tx1"/>
                </a:solidFill>
              </a:rPr>
              <a:t>never</a:t>
            </a:r>
            <a:endParaRPr lang="en-US" sz="1500" dirty="0"/>
          </a:p>
        </p:txBody>
      </p:sp>
      <p:sp>
        <p:nvSpPr>
          <p:cNvPr id="26" name="Shape 22"/>
          <p:cNvSpPr/>
          <p:nvPr/>
        </p:nvSpPr>
        <p:spPr>
          <a:xfrm rot="-60000">
            <a:off x="6163056" y="2481072"/>
            <a:ext cx="1734312" cy="457200"/>
          </a:xfrm>
          <a:prstGeom prst="roundRect">
            <a:avLst>
              <a:gd name="adj" fmla="val 24000"/>
            </a:avLst>
          </a:prstGeom>
          <a:solidFill>
            <a:srgbClr val="FFFDF7"/>
          </a:solidFill>
          <a:ln w="15875">
            <a:solidFill>
              <a:srgbClr val="D9700F"/>
            </a:solidFill>
            <a:prstDash val="solid"/>
          </a:ln>
        </p:spPr>
      </p:sp>
      <p:sp>
        <p:nvSpPr>
          <p:cNvPr id="27" name="Text 23"/>
          <p:cNvSpPr txBox="1"/>
          <p:nvPr/>
        </p:nvSpPr>
        <p:spPr>
          <a:xfrm rot="-60000">
            <a:off x="6163056" y="2481072"/>
            <a:ext cx="1734312" cy="457200"/>
          </a:xfrm>
          <a:prstGeom prst="rect">
            <a:avLst/>
          </a:prstGeom>
          <a:noFill/>
          <a:ln/>
        </p:spPr>
        <p:txBody>
          <a:bodyPr wrap="square" lIns="0" tIns="0" rIns="0" bIns="0" rtlCol="0" anchor="ctr"/>
          <a:lstStyle/>
          <a:p>
            <a:pPr algn="ctr" indent="0" marL="0">
              <a:buNone/>
            </a:pPr>
            <a:r>
              <a:rPr lang="en-US" sz="1500" b="1" i="1" dirty="0">
                <a:solidFill>
                  <a:schemeClr val="tx1"/>
                </a:solidFill>
              </a:rPr>
              <a:t>when I was 10</a:t>
            </a:r>
            <a:endParaRPr lang="en-US" sz="1500" dirty="0"/>
          </a:p>
        </p:txBody>
      </p:sp>
      <p:sp>
        <p:nvSpPr>
          <p:cNvPr id="28" name="Shape 24"/>
          <p:cNvSpPr/>
          <p:nvPr/>
        </p:nvSpPr>
        <p:spPr>
          <a:xfrm rot="60000">
            <a:off x="8034528" y="2481072"/>
            <a:ext cx="1734312" cy="457200"/>
          </a:xfrm>
          <a:prstGeom prst="roundRect">
            <a:avLst>
              <a:gd name="adj" fmla="val 24000"/>
            </a:avLst>
          </a:prstGeom>
          <a:solidFill>
            <a:srgbClr val="FFFDF7"/>
          </a:solidFill>
          <a:ln w="15875">
            <a:solidFill>
              <a:srgbClr val="D9700F"/>
            </a:solidFill>
            <a:prstDash val="solid"/>
          </a:ln>
        </p:spPr>
      </p:sp>
      <p:sp>
        <p:nvSpPr>
          <p:cNvPr id="29" name="Text 25"/>
          <p:cNvSpPr txBox="1"/>
          <p:nvPr/>
        </p:nvSpPr>
        <p:spPr>
          <a:xfrm rot="60000">
            <a:off x="8034528" y="2481072"/>
            <a:ext cx="1734312" cy="457200"/>
          </a:xfrm>
          <a:prstGeom prst="rect">
            <a:avLst/>
          </a:prstGeom>
          <a:noFill/>
          <a:ln/>
        </p:spPr>
        <p:txBody>
          <a:bodyPr wrap="square" lIns="0" tIns="0" rIns="0" bIns="0" rtlCol="0" anchor="ctr"/>
          <a:lstStyle/>
          <a:p>
            <a:pPr algn="ctr" indent="0" marL="0">
              <a:buNone/>
            </a:pPr>
            <a:r>
              <a:rPr lang="en-US" sz="1500" b="1" i="1" dirty="0">
                <a:solidFill>
                  <a:schemeClr val="tx1"/>
                </a:solidFill>
              </a:rPr>
              <a:t>already</a:t>
            </a:r>
            <a:endParaRPr lang="en-US" sz="1500" dirty="0"/>
          </a:p>
        </p:txBody>
      </p:sp>
      <p:sp>
        <p:nvSpPr>
          <p:cNvPr id="30" name="Shape 26"/>
          <p:cNvSpPr/>
          <p:nvPr/>
        </p:nvSpPr>
        <p:spPr>
          <a:xfrm rot="-120000">
            <a:off x="9906000" y="2481072"/>
            <a:ext cx="1734312" cy="457200"/>
          </a:xfrm>
          <a:prstGeom prst="roundRect">
            <a:avLst>
              <a:gd name="adj" fmla="val 24000"/>
            </a:avLst>
          </a:prstGeom>
          <a:solidFill>
            <a:srgbClr val="FFFDF7"/>
          </a:solidFill>
          <a:ln w="15875">
            <a:solidFill>
              <a:srgbClr val="D9700F"/>
            </a:solidFill>
            <a:prstDash val="solid"/>
          </a:ln>
        </p:spPr>
      </p:sp>
      <p:sp>
        <p:nvSpPr>
          <p:cNvPr id="31" name="Text 27"/>
          <p:cNvSpPr txBox="1"/>
          <p:nvPr/>
        </p:nvSpPr>
        <p:spPr>
          <a:xfrm rot="-120000">
            <a:off x="9906000" y="2481072"/>
            <a:ext cx="1734312" cy="457200"/>
          </a:xfrm>
          <a:prstGeom prst="rect">
            <a:avLst/>
          </a:prstGeom>
          <a:noFill/>
          <a:ln/>
        </p:spPr>
        <p:txBody>
          <a:bodyPr wrap="square" lIns="0" tIns="0" rIns="0" bIns="0" rtlCol="0" anchor="ctr"/>
          <a:lstStyle/>
          <a:p>
            <a:pPr algn="ctr" indent="0" marL="0">
              <a:buNone/>
            </a:pPr>
            <a:r>
              <a:rPr lang="en-US" sz="1500" b="1" i="1" dirty="0">
                <a:solidFill>
                  <a:schemeClr val="tx1"/>
                </a:solidFill>
              </a:rPr>
              <a:t>so far</a:t>
            </a:r>
            <a:endParaRPr lang="en-US" sz="1500" dirty="0"/>
          </a:p>
        </p:txBody>
      </p:sp>
      <p:sp>
        <p:nvSpPr>
          <p:cNvPr id="32" name="Shape 28"/>
          <p:cNvSpPr/>
          <p:nvPr/>
        </p:nvSpPr>
        <p:spPr>
          <a:xfrm>
            <a:off x="548640" y="3212592"/>
            <a:ext cx="5454396" cy="3051048"/>
          </a:xfrm>
          <a:prstGeom prst="roundRect">
            <a:avLst>
              <a:gd name="adj" fmla="val 3596"/>
            </a:avLst>
          </a:prstGeom>
          <a:solidFill>
            <a:srgbClr val="EAF2FB"/>
          </a:solidFill>
          <a:ln w="25400">
            <a:solidFill>
              <a:srgbClr val="2A6FB0"/>
            </a:solidFill>
            <a:prstDash val="dash"/>
          </a:ln>
        </p:spPr>
      </p:sp>
      <p:pic>
        <p:nvPicPr>
          <p:cNvPr id="33" name="Image 1" descr="unlocked">    </p:cNvPr>
          <p:cNvPicPr>
            <a:picLocks noChangeAspect="1"/>
          </p:cNvPicPr>
          <p:nvPr/>
        </p:nvPicPr>
        <p:blipFill>
          <a:blip r:embed="rId2"/>
          <a:stretch>
            <a:fillRect/>
          </a:stretch>
        </p:blipFill>
        <p:spPr>
          <a:xfrm>
            <a:off x="731520" y="3322320"/>
            <a:ext cx="548640" cy="548640"/>
          </a:xfrm>
          <a:prstGeom prst="rect">
            <a:avLst/>
          </a:prstGeom>
        </p:spPr>
      </p:pic>
      <p:sp>
        <p:nvSpPr>
          <p:cNvPr id="34" name="Text 29"/>
          <p:cNvSpPr txBox="1"/>
          <p:nvPr/>
        </p:nvSpPr>
        <p:spPr>
          <a:xfrm>
            <a:off x="1417320" y="3322320"/>
            <a:ext cx="4448556" cy="548640"/>
          </a:xfrm>
          <a:prstGeom prst="rect">
            <a:avLst/>
          </a:prstGeom>
          <a:noFill/>
          <a:ln/>
        </p:spPr>
        <p:txBody>
          <a:bodyPr wrap="square" lIns="0" tIns="0" rIns="0" bIns="0" rtlCol="0" anchor="ctr"/>
          <a:lstStyle/>
          <a:p>
            <a:pPr algn="l" indent="0" marL="0">
              <a:buNone/>
            </a:pPr>
            <a:r>
              <a:rPr lang="en-US" sz="1700" b="1" dirty="0">
                <a:solidFill>
                  <a:schemeClr val="accent2"/>
                </a:solidFill>
              </a:rPr>
              <a:t>OPEN → present perfect</a:t>
            </a:r>
            <a:endParaRPr lang="en-US" sz="1700" dirty="0"/>
          </a:p>
        </p:txBody>
      </p:sp>
      <p:sp>
        <p:nvSpPr>
          <p:cNvPr id="35" name="Shape 30"/>
          <p:cNvSpPr/>
          <p:nvPr/>
        </p:nvSpPr>
        <p:spPr>
          <a:xfrm>
            <a:off x="6185916" y="3212592"/>
            <a:ext cx="5454396" cy="3051048"/>
          </a:xfrm>
          <a:prstGeom prst="roundRect">
            <a:avLst>
              <a:gd name="adj" fmla="val 3596"/>
            </a:avLst>
          </a:prstGeom>
          <a:solidFill>
            <a:srgbClr val="FBEAF2"/>
          </a:solidFill>
          <a:ln w="25400">
            <a:solidFill>
              <a:srgbClr val="B4236A"/>
            </a:solidFill>
            <a:prstDash val="dash"/>
          </a:ln>
        </p:spPr>
      </p:sp>
      <p:pic>
        <p:nvPicPr>
          <p:cNvPr id="36" name="Image 2" descr="locked">    </p:cNvPr>
          <p:cNvPicPr>
            <a:picLocks noChangeAspect="1"/>
          </p:cNvPicPr>
          <p:nvPr/>
        </p:nvPicPr>
        <p:blipFill>
          <a:blip r:embed="rId3"/>
          <a:stretch>
            <a:fillRect/>
          </a:stretch>
        </p:blipFill>
        <p:spPr>
          <a:xfrm>
            <a:off x="6368796" y="3322320"/>
            <a:ext cx="548640" cy="548640"/>
          </a:xfrm>
          <a:prstGeom prst="rect">
            <a:avLst/>
          </a:prstGeom>
        </p:spPr>
      </p:pic>
      <p:sp>
        <p:nvSpPr>
          <p:cNvPr id="37" name="Text 31"/>
          <p:cNvSpPr txBox="1"/>
          <p:nvPr/>
        </p:nvSpPr>
        <p:spPr>
          <a:xfrm>
            <a:off x="7054596" y="3322320"/>
            <a:ext cx="4448556" cy="548640"/>
          </a:xfrm>
          <a:prstGeom prst="rect">
            <a:avLst/>
          </a:prstGeom>
          <a:noFill/>
          <a:ln/>
        </p:spPr>
        <p:txBody>
          <a:bodyPr wrap="square" lIns="0" tIns="0" rIns="0" bIns="0" rtlCol="0" anchor="ctr"/>
          <a:lstStyle/>
          <a:p>
            <a:pPr algn="l" indent="0" marL="0">
              <a:buNone/>
            </a:pPr>
            <a:r>
              <a:rPr lang="en-US" sz="1700" b="1" dirty="0">
                <a:solidFill>
                  <a:schemeClr val="accent4"/>
                </a:solidFill>
              </a:rPr>
              <a:t>CLOSED → past simple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5 — Open or closed time?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Which tense goes with each word? Present perfect (open) or past simple (closed)?</a:t>
            </a:r>
            <a:endParaRPr lang="en-US" sz="1700" dirty="0"/>
          </a:p>
        </p:txBody>
      </p:sp>
      <p:sp>
        <p:nvSpPr>
          <p:cNvPr id="9" name="Shape 5"/>
          <p:cNvSpPr/>
          <p:nvPr/>
        </p:nvSpPr>
        <p:spPr>
          <a:xfrm>
            <a:off x="548640" y="1932432"/>
            <a:ext cx="5454396" cy="4331208"/>
          </a:xfrm>
          <a:prstGeom prst="roundRect">
            <a:avLst>
              <a:gd name="adj" fmla="val 2533"/>
            </a:avLst>
          </a:prstGeom>
          <a:solidFill>
            <a:srgbClr val="EAF2FB"/>
          </a:solidFill>
          <a:ln w="25400">
            <a:solidFill>
              <a:srgbClr val="2A6FB0"/>
            </a:solidFill>
            <a:prstDash val="solid"/>
          </a:ln>
        </p:spPr>
      </p:sp>
      <p:pic>
        <p:nvPicPr>
          <p:cNvPr id="10" name="Image 1" descr="unlocked">    </p:cNvPr>
          <p:cNvPicPr>
            <a:picLocks noChangeAspect="1"/>
          </p:cNvPicPr>
          <p:nvPr/>
        </p:nvPicPr>
        <p:blipFill>
          <a:blip r:embed="rId2"/>
          <a:stretch>
            <a:fillRect/>
          </a:stretch>
        </p:blipFill>
        <p:spPr>
          <a:xfrm>
            <a:off x="731520" y="2042160"/>
            <a:ext cx="548640" cy="548640"/>
          </a:xfrm>
          <a:prstGeom prst="rect">
            <a:avLst/>
          </a:prstGeom>
        </p:spPr>
      </p:pic>
      <p:sp>
        <p:nvSpPr>
          <p:cNvPr id="11" name="Text 6"/>
          <p:cNvSpPr txBox="1"/>
          <p:nvPr/>
        </p:nvSpPr>
        <p:spPr>
          <a:xfrm>
            <a:off x="1417320" y="2042160"/>
            <a:ext cx="4448556" cy="548640"/>
          </a:xfrm>
          <a:prstGeom prst="rect">
            <a:avLst/>
          </a:prstGeom>
          <a:noFill/>
          <a:ln/>
        </p:spPr>
        <p:txBody>
          <a:bodyPr wrap="square" lIns="0" tIns="0" rIns="0" bIns="0" rtlCol="0" anchor="ctr"/>
          <a:lstStyle/>
          <a:p>
            <a:pPr algn="l" indent="0" marL="0">
              <a:buNone/>
            </a:pPr>
            <a:r>
              <a:rPr lang="en-US" sz="1700" b="1" dirty="0">
                <a:solidFill>
                  <a:schemeClr val="accent2"/>
                </a:solidFill>
              </a:rPr>
              <a:t>OPEN → present perfect</a:t>
            </a:r>
            <a:endParaRPr lang="en-US" sz="1700" dirty="0"/>
          </a:p>
        </p:txBody>
      </p:sp>
      <p:sp>
        <p:nvSpPr>
          <p:cNvPr id="12" name="Text 7"/>
          <p:cNvSpPr txBox="1"/>
          <p:nvPr/>
        </p:nvSpPr>
        <p:spPr>
          <a:xfrm>
            <a:off x="731520" y="2709672"/>
            <a:ext cx="5088636" cy="3416808"/>
          </a:xfrm>
          <a:prstGeom prst="rect">
            <a:avLst/>
          </a:prstGeom>
          <a:noFill/>
          <a:ln/>
        </p:spPr>
        <p:txBody>
          <a:bodyPr wrap="square" lIns="0" tIns="0" rIns="0" bIns="0" rtlCol="0" anchor="ctr"/>
          <a:lstStyle/>
          <a:p>
            <a:pPr algn="ctr" indent="0" marL="0">
              <a:spcAft>
                <a:spcPts val="300"/>
              </a:spcAft>
              <a:buNone/>
            </a:pPr>
            <a:r>
              <a:rPr lang="en-US" sz="1900" b="1" i="1" dirty="0">
                <a:solidFill>
                  <a:schemeClr val="accent2"/>
                </a:solidFill>
              </a:rPr>
              <a:t>ever</a:t>
            </a:r>
            <a:endParaRPr lang="en-US" sz="1900" dirty="0"/>
          </a:p>
          <a:p>
            <a:pPr algn="ctr" indent="0" marL="0">
              <a:spcAft>
                <a:spcPts val="300"/>
              </a:spcAft>
              <a:buNone/>
            </a:pPr>
            <a:r>
              <a:rPr lang="en-US" sz="1900" b="1" i="1" dirty="0">
                <a:solidFill>
                  <a:schemeClr val="accent2"/>
                </a:solidFill>
              </a:rPr>
              <a:t>just</a:t>
            </a:r>
            <a:endParaRPr lang="en-US" sz="1900" dirty="0"/>
          </a:p>
          <a:p>
            <a:pPr algn="ctr" indent="0" marL="0">
              <a:spcAft>
                <a:spcPts val="300"/>
              </a:spcAft>
              <a:buNone/>
            </a:pPr>
            <a:r>
              <a:rPr lang="en-US" sz="1900" b="1" i="1" dirty="0">
                <a:solidFill>
                  <a:schemeClr val="accent2"/>
                </a:solidFill>
              </a:rPr>
              <a:t>since Monday</a:t>
            </a:r>
            <a:endParaRPr lang="en-US" sz="1900" dirty="0"/>
          </a:p>
          <a:p>
            <a:pPr algn="ctr" indent="0" marL="0">
              <a:spcAft>
                <a:spcPts val="300"/>
              </a:spcAft>
              <a:buNone/>
            </a:pPr>
            <a:r>
              <a:rPr lang="en-US" sz="1900" b="1" i="1" dirty="0">
                <a:solidFill>
                  <a:schemeClr val="accent2"/>
                </a:solidFill>
              </a:rPr>
              <a:t>this week</a:t>
            </a:r>
            <a:endParaRPr lang="en-US" sz="1900" dirty="0"/>
          </a:p>
          <a:p>
            <a:pPr algn="ctr" indent="0" marL="0">
              <a:spcAft>
                <a:spcPts val="300"/>
              </a:spcAft>
              <a:buNone/>
            </a:pPr>
            <a:r>
              <a:rPr lang="en-US" sz="1900" b="1" i="1" dirty="0">
                <a:solidFill>
                  <a:schemeClr val="accent2"/>
                </a:solidFill>
              </a:rPr>
              <a:t>never</a:t>
            </a:r>
            <a:endParaRPr lang="en-US" sz="1900" dirty="0"/>
          </a:p>
          <a:p>
            <a:pPr algn="ctr" indent="0" marL="0">
              <a:spcAft>
                <a:spcPts val="300"/>
              </a:spcAft>
              <a:buNone/>
            </a:pPr>
            <a:r>
              <a:rPr lang="en-US" sz="1900" b="1" i="1" dirty="0">
                <a:solidFill>
                  <a:schemeClr val="accent2"/>
                </a:solidFill>
              </a:rPr>
              <a:t>already</a:t>
            </a:r>
            <a:endParaRPr lang="en-US" sz="1900" dirty="0"/>
          </a:p>
          <a:p>
            <a:pPr algn="ctr" indent="0" marL="0">
              <a:spcAft>
                <a:spcPts val="300"/>
              </a:spcAft>
              <a:buNone/>
            </a:pPr>
            <a:r>
              <a:rPr lang="en-US" sz="1900" b="1" i="1" dirty="0">
                <a:solidFill>
                  <a:schemeClr val="accent2"/>
                </a:solidFill>
              </a:rPr>
              <a:t>so far</a:t>
            </a:r>
            <a:endParaRPr lang="en-US" sz="1900" dirty="0"/>
          </a:p>
        </p:txBody>
      </p:sp>
      <p:sp>
        <p:nvSpPr>
          <p:cNvPr id="13" name="Shape 8"/>
          <p:cNvSpPr/>
          <p:nvPr/>
        </p:nvSpPr>
        <p:spPr>
          <a:xfrm>
            <a:off x="6185916" y="1932432"/>
            <a:ext cx="5454396" cy="4331208"/>
          </a:xfrm>
          <a:prstGeom prst="roundRect">
            <a:avLst>
              <a:gd name="adj" fmla="val 2533"/>
            </a:avLst>
          </a:prstGeom>
          <a:solidFill>
            <a:srgbClr val="FBEAF2"/>
          </a:solidFill>
          <a:ln w="25400">
            <a:solidFill>
              <a:srgbClr val="B4236A"/>
            </a:solidFill>
            <a:prstDash val="solid"/>
          </a:ln>
        </p:spPr>
      </p:sp>
      <p:pic>
        <p:nvPicPr>
          <p:cNvPr id="14" name="Image 2" descr="locked">    </p:cNvPr>
          <p:cNvPicPr>
            <a:picLocks noChangeAspect="1"/>
          </p:cNvPicPr>
          <p:nvPr/>
        </p:nvPicPr>
        <p:blipFill>
          <a:blip r:embed="rId3"/>
          <a:stretch>
            <a:fillRect/>
          </a:stretch>
        </p:blipFill>
        <p:spPr>
          <a:xfrm>
            <a:off x="6368796" y="2042160"/>
            <a:ext cx="548640" cy="548640"/>
          </a:xfrm>
          <a:prstGeom prst="rect">
            <a:avLst/>
          </a:prstGeom>
        </p:spPr>
      </p:pic>
      <p:sp>
        <p:nvSpPr>
          <p:cNvPr id="15" name="Text 9"/>
          <p:cNvSpPr txBox="1"/>
          <p:nvPr/>
        </p:nvSpPr>
        <p:spPr>
          <a:xfrm>
            <a:off x="7054596" y="2042160"/>
            <a:ext cx="4448556" cy="548640"/>
          </a:xfrm>
          <a:prstGeom prst="rect">
            <a:avLst/>
          </a:prstGeom>
          <a:noFill/>
          <a:ln/>
        </p:spPr>
        <p:txBody>
          <a:bodyPr wrap="square" lIns="0" tIns="0" rIns="0" bIns="0" rtlCol="0" anchor="ctr"/>
          <a:lstStyle/>
          <a:p>
            <a:pPr algn="l" indent="0" marL="0">
              <a:buNone/>
            </a:pPr>
            <a:r>
              <a:rPr lang="en-US" sz="1700" b="1" dirty="0">
                <a:solidFill>
                  <a:schemeClr val="accent4"/>
                </a:solidFill>
              </a:rPr>
              <a:t>CLOSED → past simple</a:t>
            </a:r>
            <a:endParaRPr lang="en-US" sz="1700" dirty="0"/>
          </a:p>
        </p:txBody>
      </p:sp>
      <p:sp>
        <p:nvSpPr>
          <p:cNvPr id="16" name="Text 10"/>
          <p:cNvSpPr txBox="1"/>
          <p:nvPr/>
        </p:nvSpPr>
        <p:spPr>
          <a:xfrm>
            <a:off x="6368796" y="2709672"/>
            <a:ext cx="5088636" cy="3416808"/>
          </a:xfrm>
          <a:prstGeom prst="rect">
            <a:avLst/>
          </a:prstGeom>
          <a:noFill/>
          <a:ln/>
        </p:spPr>
        <p:txBody>
          <a:bodyPr wrap="square" lIns="0" tIns="0" rIns="0" bIns="0" rtlCol="0" anchor="ctr"/>
          <a:lstStyle/>
          <a:p>
            <a:pPr algn="ctr" indent="0" marL="0">
              <a:spcAft>
                <a:spcPts val="300"/>
              </a:spcAft>
              <a:buNone/>
            </a:pPr>
            <a:r>
              <a:rPr lang="en-US" sz="1900" b="1" i="1" dirty="0">
                <a:solidFill>
                  <a:schemeClr val="accent4"/>
                </a:solidFill>
              </a:rPr>
              <a:t>yesterday</a:t>
            </a:r>
            <a:endParaRPr lang="en-US" sz="1900" dirty="0"/>
          </a:p>
          <a:p>
            <a:pPr algn="ctr" indent="0" marL="0">
              <a:spcAft>
                <a:spcPts val="300"/>
              </a:spcAft>
              <a:buNone/>
            </a:pPr>
            <a:r>
              <a:rPr lang="en-US" sz="1900" b="1" i="1" dirty="0">
                <a:solidFill>
                  <a:schemeClr val="accent4"/>
                </a:solidFill>
              </a:rPr>
              <a:t>last year</a:t>
            </a:r>
            <a:endParaRPr lang="en-US" sz="1900" dirty="0"/>
          </a:p>
          <a:p>
            <a:pPr algn="ctr" indent="0" marL="0">
              <a:spcAft>
                <a:spcPts val="300"/>
              </a:spcAft>
              <a:buNone/>
            </a:pPr>
            <a:r>
              <a:rPr lang="en-US" sz="1900" b="1" i="1" dirty="0">
                <a:solidFill>
                  <a:schemeClr val="accent4"/>
                </a:solidFill>
              </a:rPr>
              <a:t>in 2010</a:t>
            </a:r>
            <a:endParaRPr lang="en-US" sz="1900" dirty="0"/>
          </a:p>
          <a:p>
            <a:pPr algn="ctr" indent="0" marL="0">
              <a:spcAft>
                <a:spcPts val="300"/>
              </a:spcAft>
              <a:buNone/>
            </a:pPr>
            <a:r>
              <a:rPr lang="en-US" sz="1900" b="1" i="1" dirty="0">
                <a:solidFill>
                  <a:schemeClr val="accent4"/>
                </a:solidFill>
              </a:rPr>
              <a:t>two days ago</a:t>
            </a:r>
            <a:endParaRPr lang="en-US" sz="1900" dirty="0"/>
          </a:p>
          <a:p>
            <a:pPr algn="ctr" indent="0" marL="0">
              <a:spcAft>
                <a:spcPts val="300"/>
              </a:spcAft>
              <a:buNone/>
            </a:pPr>
            <a:r>
              <a:rPr lang="en-US" sz="1900" b="1" i="1" dirty="0">
                <a:solidFill>
                  <a:schemeClr val="accent4"/>
                </a:solidFill>
              </a:rPr>
              <a:t>when I was 10</a:t>
            </a:r>
            <a:endParaRPr lang="en-US" sz="19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6 — Past simple or present perfect?</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Look for the clue (a finished time? a link with now?), then write the verb.</a:t>
            </a:r>
            <a:endParaRPr lang="en-US" sz="1700" dirty="0"/>
          </a:p>
        </p:txBody>
      </p:sp>
      <p:sp>
        <p:nvSpPr>
          <p:cNvPr id="8" name="Shape 4"/>
          <p:cNvSpPr/>
          <p:nvPr/>
        </p:nvSpPr>
        <p:spPr>
          <a:xfrm>
            <a:off x="548640" y="1959864"/>
            <a:ext cx="11091672" cy="465963"/>
          </a:xfrm>
          <a:prstGeom prst="roundRect">
            <a:avLst>
              <a:gd name="adj" fmla="val 15699"/>
            </a:avLst>
          </a:prstGeom>
          <a:solidFill>
            <a:schemeClr val="bg2"/>
          </a:solidFill>
          <a:ln w="12700">
            <a:solidFill>
              <a:srgbClr val="FFFFFF">
                <a:alpha val="0"/>
              </a:srgbClr>
            </a:solidFill>
            <a:prstDash val="solid"/>
          </a:ln>
        </p:spPr>
      </p:sp>
      <p:sp>
        <p:nvSpPr>
          <p:cNvPr id="9" name="Text 5"/>
          <p:cNvSpPr txBox="1"/>
          <p:nvPr/>
        </p:nvSpPr>
        <p:spPr>
          <a:xfrm>
            <a:off x="640080" y="1932432"/>
            <a:ext cx="365760" cy="529971"/>
          </a:xfrm>
          <a:prstGeom prst="rect">
            <a:avLst/>
          </a:prstGeom>
          <a:noFill/>
          <a:ln/>
        </p:spPr>
        <p:txBody>
          <a:bodyPr wrap="square" lIns="0" tIns="0" rIns="0" bIns="0" rtlCol="0" anchor="ctr"/>
          <a:lstStyle/>
          <a:p>
            <a:pPr algn="l" indent="0" marL="0">
              <a:buNone/>
            </a:pPr>
            <a:r>
              <a:rPr lang="en-US" sz="1400" b="1" dirty="0">
                <a:solidFill>
                  <a:schemeClr val="accent5"/>
                </a:solidFill>
              </a:rPr>
              <a:t>1</a:t>
            </a:r>
            <a:endParaRPr lang="en-US" sz="1400" dirty="0"/>
          </a:p>
        </p:txBody>
      </p:sp>
      <p:sp>
        <p:nvSpPr>
          <p:cNvPr id="10" name="Text 6"/>
          <p:cNvSpPr txBox="1"/>
          <p:nvPr/>
        </p:nvSpPr>
        <p:spPr>
          <a:xfrm>
            <a:off x="1051560" y="1932432"/>
            <a:ext cx="10424160" cy="529971"/>
          </a:xfrm>
          <a:prstGeom prst="rect">
            <a:avLst/>
          </a:prstGeom>
          <a:noFill/>
          <a:ln/>
        </p:spPr>
        <p:txBody>
          <a:bodyPr wrap="square" lIns="0" tIns="0" rIns="0" bIns="0" rtlCol="0" anchor="ctr"/>
          <a:lstStyle/>
          <a:p>
            <a:pPr algn="l" indent="0" marL="0">
              <a:buNone/>
            </a:pPr>
            <a:r>
              <a:rPr lang="en-US" sz="1650" i="1" dirty="0">
                <a:solidFill>
                  <a:schemeClr val="tx1"/>
                </a:solidFill>
              </a:rPr>
              <a:t>I </a:t>
            </a:r>
            <a:r>
              <a:rPr lang="en-US" sz="1650" i="1" dirty="0">
                <a:solidFill>
                  <a:schemeClr val="accent5"/>
                </a:solidFill>
              </a:rPr>
              <a:t>……………</a:t>
            </a:r>
            <a:r>
              <a:rPr lang="en-US" sz="1650" i="1" dirty="0">
                <a:solidFill>
                  <a:schemeClr val="tx1"/>
                </a:solidFill>
              </a:rPr>
              <a:t> </a:t>
            </a:r>
            <a:r>
              <a:rPr lang="en-US" sz="1650" b="1" i="1" dirty="0">
                <a:solidFill>
                  <a:schemeClr val="tx1"/>
                </a:solidFill>
              </a:rPr>
              <a:t>(lose)</a:t>
            </a:r>
            <a:r>
              <a:rPr lang="en-US" sz="1650" i="1" dirty="0">
                <a:solidFill>
                  <a:schemeClr val="tx1"/>
                </a:solidFill>
              </a:rPr>
              <a:t> my keys. I can’t open the door!</a:t>
            </a:r>
            <a:endParaRPr lang="en-US" sz="1650" dirty="0"/>
          </a:p>
        </p:txBody>
      </p:sp>
      <p:sp>
        <p:nvSpPr>
          <p:cNvPr id="11" name="Shape 7"/>
          <p:cNvSpPr/>
          <p:nvPr/>
        </p:nvSpPr>
        <p:spPr>
          <a:xfrm>
            <a:off x="548640" y="2489835"/>
            <a:ext cx="11091672" cy="465963"/>
          </a:xfrm>
          <a:prstGeom prst="roundRect">
            <a:avLst>
              <a:gd name="adj" fmla="val 15699"/>
            </a:avLst>
          </a:prstGeom>
          <a:solidFill>
            <a:srgbClr val="FFFFFF"/>
          </a:solidFill>
          <a:ln w="12700">
            <a:solidFill>
              <a:srgbClr val="FFFFFF">
                <a:alpha val="0"/>
              </a:srgbClr>
            </a:solidFill>
            <a:prstDash val="solid"/>
          </a:ln>
        </p:spPr>
      </p:sp>
      <p:sp>
        <p:nvSpPr>
          <p:cNvPr id="12" name="Text 8"/>
          <p:cNvSpPr txBox="1"/>
          <p:nvPr/>
        </p:nvSpPr>
        <p:spPr>
          <a:xfrm>
            <a:off x="640080" y="2462403"/>
            <a:ext cx="365760" cy="529971"/>
          </a:xfrm>
          <a:prstGeom prst="rect">
            <a:avLst/>
          </a:prstGeom>
          <a:noFill/>
          <a:ln/>
        </p:spPr>
        <p:txBody>
          <a:bodyPr wrap="square" lIns="0" tIns="0" rIns="0" bIns="0" rtlCol="0" anchor="ctr"/>
          <a:lstStyle/>
          <a:p>
            <a:pPr algn="l" indent="0" marL="0">
              <a:buNone/>
            </a:pPr>
            <a:r>
              <a:rPr lang="en-US" sz="1400" b="1" dirty="0">
                <a:solidFill>
                  <a:schemeClr val="accent5"/>
                </a:solidFill>
              </a:rPr>
              <a:t>2</a:t>
            </a:r>
            <a:endParaRPr lang="en-US" sz="1400" dirty="0"/>
          </a:p>
        </p:txBody>
      </p:sp>
      <p:sp>
        <p:nvSpPr>
          <p:cNvPr id="13" name="Text 9"/>
          <p:cNvSpPr txBox="1"/>
          <p:nvPr/>
        </p:nvSpPr>
        <p:spPr>
          <a:xfrm>
            <a:off x="1051560" y="2462403"/>
            <a:ext cx="10424160" cy="529971"/>
          </a:xfrm>
          <a:prstGeom prst="rect">
            <a:avLst/>
          </a:prstGeom>
          <a:noFill/>
          <a:ln/>
        </p:spPr>
        <p:txBody>
          <a:bodyPr wrap="square" lIns="0" tIns="0" rIns="0" bIns="0" rtlCol="0" anchor="ctr"/>
          <a:lstStyle/>
          <a:p>
            <a:pPr algn="l" indent="0" marL="0">
              <a:buNone/>
            </a:pPr>
            <a:r>
              <a:rPr lang="en-US" sz="1650" i="1" dirty="0">
                <a:solidFill>
                  <a:schemeClr val="tx1"/>
                </a:solidFill>
              </a:rPr>
              <a:t>I </a:t>
            </a:r>
            <a:r>
              <a:rPr lang="en-US" sz="1650" i="1" dirty="0">
                <a:solidFill>
                  <a:schemeClr val="accent5"/>
                </a:solidFill>
              </a:rPr>
              <a:t>…………</a:t>
            </a:r>
            <a:r>
              <a:rPr lang="en-US" sz="1650" i="1" dirty="0">
                <a:solidFill>
                  <a:schemeClr val="tx1"/>
                </a:solidFill>
              </a:rPr>
              <a:t> </a:t>
            </a:r>
            <a:r>
              <a:rPr lang="en-US" sz="1650" b="1" i="1" dirty="0">
                <a:solidFill>
                  <a:schemeClr val="tx1"/>
                </a:solidFill>
              </a:rPr>
              <a:t>(lose)</a:t>
            </a:r>
            <a:r>
              <a:rPr lang="en-US" sz="1650" i="1" dirty="0">
                <a:solidFill>
                  <a:schemeClr val="tx1"/>
                </a:solidFill>
              </a:rPr>
              <a:t> my keys yesterday, but I found them.</a:t>
            </a:r>
            <a:endParaRPr lang="en-US" sz="1650" dirty="0"/>
          </a:p>
        </p:txBody>
      </p:sp>
      <p:sp>
        <p:nvSpPr>
          <p:cNvPr id="14" name="Shape 10"/>
          <p:cNvSpPr/>
          <p:nvPr/>
        </p:nvSpPr>
        <p:spPr>
          <a:xfrm>
            <a:off x="548640" y="3019806"/>
            <a:ext cx="11091672" cy="465963"/>
          </a:xfrm>
          <a:prstGeom prst="roundRect">
            <a:avLst>
              <a:gd name="adj" fmla="val 15699"/>
            </a:avLst>
          </a:prstGeom>
          <a:solidFill>
            <a:schemeClr val="bg2"/>
          </a:solidFill>
          <a:ln w="12700">
            <a:solidFill>
              <a:srgbClr val="FFFFFF">
                <a:alpha val="0"/>
              </a:srgbClr>
            </a:solidFill>
            <a:prstDash val="solid"/>
          </a:ln>
        </p:spPr>
      </p:sp>
      <p:sp>
        <p:nvSpPr>
          <p:cNvPr id="15" name="Text 11"/>
          <p:cNvSpPr txBox="1"/>
          <p:nvPr/>
        </p:nvSpPr>
        <p:spPr>
          <a:xfrm>
            <a:off x="640080" y="2992374"/>
            <a:ext cx="365760" cy="529971"/>
          </a:xfrm>
          <a:prstGeom prst="rect">
            <a:avLst/>
          </a:prstGeom>
          <a:noFill/>
          <a:ln/>
        </p:spPr>
        <p:txBody>
          <a:bodyPr wrap="square" lIns="0" tIns="0" rIns="0" bIns="0" rtlCol="0" anchor="ctr"/>
          <a:lstStyle/>
          <a:p>
            <a:pPr algn="l" indent="0" marL="0">
              <a:buNone/>
            </a:pPr>
            <a:r>
              <a:rPr lang="en-US" sz="1400" b="1" dirty="0">
                <a:solidFill>
                  <a:schemeClr val="accent5"/>
                </a:solidFill>
              </a:rPr>
              <a:t>3</a:t>
            </a:r>
            <a:endParaRPr lang="en-US" sz="1400" dirty="0"/>
          </a:p>
        </p:txBody>
      </p:sp>
      <p:sp>
        <p:nvSpPr>
          <p:cNvPr id="16" name="Text 12"/>
          <p:cNvSpPr txBox="1"/>
          <p:nvPr/>
        </p:nvSpPr>
        <p:spPr>
          <a:xfrm>
            <a:off x="1051560" y="2992374"/>
            <a:ext cx="10424160" cy="529971"/>
          </a:xfrm>
          <a:prstGeom prst="rect">
            <a:avLst/>
          </a:prstGeom>
          <a:noFill/>
          <a:ln/>
        </p:spPr>
        <p:txBody>
          <a:bodyPr wrap="square" lIns="0" tIns="0" rIns="0" bIns="0" rtlCol="0" anchor="ctr"/>
          <a:lstStyle/>
          <a:p>
            <a:pPr algn="l" indent="0" marL="0">
              <a:buNone/>
            </a:pPr>
            <a:r>
              <a:rPr lang="en-US" sz="1650" i="1" dirty="0">
                <a:solidFill>
                  <a:schemeClr val="tx1"/>
                </a:solidFill>
              </a:rPr>
              <a:t>She </a:t>
            </a:r>
            <a:r>
              <a:rPr lang="en-US" sz="1650" i="1" dirty="0">
                <a:solidFill>
                  <a:schemeClr val="accent5"/>
                </a:solidFill>
              </a:rPr>
              <a:t>………………</a:t>
            </a:r>
            <a:r>
              <a:rPr lang="en-US" sz="1650" i="1" dirty="0">
                <a:solidFill>
                  <a:schemeClr val="tx1"/>
                </a:solidFill>
              </a:rPr>
              <a:t> </a:t>
            </a:r>
            <a:r>
              <a:rPr lang="en-US" sz="1650" b="1" i="1" dirty="0">
                <a:solidFill>
                  <a:schemeClr val="tx1"/>
                </a:solidFill>
              </a:rPr>
              <a:t>(work)</a:t>
            </a:r>
            <a:r>
              <a:rPr lang="en-US" sz="1650" i="1" dirty="0">
                <a:solidFill>
                  <a:schemeClr val="tx1"/>
                </a:solidFill>
              </a:rPr>
              <a:t> here since 2020.</a:t>
            </a:r>
            <a:endParaRPr lang="en-US" sz="1650" dirty="0"/>
          </a:p>
        </p:txBody>
      </p:sp>
      <p:sp>
        <p:nvSpPr>
          <p:cNvPr id="17" name="Shape 13"/>
          <p:cNvSpPr/>
          <p:nvPr/>
        </p:nvSpPr>
        <p:spPr>
          <a:xfrm>
            <a:off x="548640" y="3549777"/>
            <a:ext cx="11091672" cy="465963"/>
          </a:xfrm>
          <a:prstGeom prst="roundRect">
            <a:avLst>
              <a:gd name="adj" fmla="val 15699"/>
            </a:avLst>
          </a:prstGeom>
          <a:solidFill>
            <a:srgbClr val="FFFFFF"/>
          </a:solidFill>
          <a:ln w="12700">
            <a:solidFill>
              <a:srgbClr val="FFFFFF">
                <a:alpha val="0"/>
              </a:srgbClr>
            </a:solidFill>
            <a:prstDash val="solid"/>
          </a:ln>
        </p:spPr>
      </p:sp>
      <p:sp>
        <p:nvSpPr>
          <p:cNvPr id="18" name="Text 14"/>
          <p:cNvSpPr txBox="1"/>
          <p:nvPr/>
        </p:nvSpPr>
        <p:spPr>
          <a:xfrm>
            <a:off x="640080" y="3522345"/>
            <a:ext cx="365760" cy="529971"/>
          </a:xfrm>
          <a:prstGeom prst="rect">
            <a:avLst/>
          </a:prstGeom>
          <a:noFill/>
          <a:ln/>
        </p:spPr>
        <p:txBody>
          <a:bodyPr wrap="square" lIns="0" tIns="0" rIns="0" bIns="0" rtlCol="0" anchor="ctr"/>
          <a:lstStyle/>
          <a:p>
            <a:pPr algn="l" indent="0" marL="0">
              <a:buNone/>
            </a:pPr>
            <a:r>
              <a:rPr lang="en-US" sz="1400" b="1" dirty="0">
                <a:solidFill>
                  <a:schemeClr val="accent5"/>
                </a:solidFill>
              </a:rPr>
              <a:t>4</a:t>
            </a:r>
            <a:endParaRPr lang="en-US" sz="1400" dirty="0"/>
          </a:p>
        </p:txBody>
      </p:sp>
      <p:sp>
        <p:nvSpPr>
          <p:cNvPr id="19" name="Text 15"/>
          <p:cNvSpPr txBox="1"/>
          <p:nvPr/>
        </p:nvSpPr>
        <p:spPr>
          <a:xfrm>
            <a:off x="1051560" y="3522345"/>
            <a:ext cx="10424160" cy="529971"/>
          </a:xfrm>
          <a:prstGeom prst="rect">
            <a:avLst/>
          </a:prstGeom>
          <a:noFill/>
          <a:ln/>
        </p:spPr>
        <p:txBody>
          <a:bodyPr wrap="square" lIns="0" tIns="0" rIns="0" bIns="0" rtlCol="0" anchor="ctr"/>
          <a:lstStyle/>
          <a:p>
            <a:pPr algn="l" indent="0" marL="0">
              <a:buNone/>
            </a:pPr>
            <a:r>
              <a:rPr lang="en-US" sz="1650" i="1" dirty="0">
                <a:solidFill>
                  <a:schemeClr val="tx1"/>
                </a:solidFill>
              </a:rPr>
              <a:t>She </a:t>
            </a:r>
            <a:r>
              <a:rPr lang="en-US" sz="1650" i="1" dirty="0">
                <a:solidFill>
                  <a:schemeClr val="accent5"/>
                </a:solidFill>
              </a:rPr>
              <a:t>…………</a:t>
            </a:r>
            <a:r>
              <a:rPr lang="en-US" sz="1650" i="1" dirty="0">
                <a:solidFill>
                  <a:schemeClr val="tx1"/>
                </a:solidFill>
              </a:rPr>
              <a:t> </a:t>
            </a:r>
            <a:r>
              <a:rPr lang="en-US" sz="1650" b="1" i="1" dirty="0">
                <a:solidFill>
                  <a:schemeClr val="tx1"/>
                </a:solidFill>
              </a:rPr>
              <a:t>(work)</a:t>
            </a:r>
            <a:r>
              <a:rPr lang="en-US" sz="1650" i="1" dirty="0">
                <a:solidFill>
                  <a:schemeClr val="tx1"/>
                </a:solidFill>
              </a:rPr>
              <a:t> in Paris from 2015 to 2019.</a:t>
            </a:r>
            <a:endParaRPr lang="en-US" sz="1650" dirty="0"/>
          </a:p>
        </p:txBody>
      </p:sp>
      <p:sp>
        <p:nvSpPr>
          <p:cNvPr id="20" name="Shape 16"/>
          <p:cNvSpPr/>
          <p:nvPr/>
        </p:nvSpPr>
        <p:spPr>
          <a:xfrm>
            <a:off x="548640" y="4079748"/>
            <a:ext cx="11091672" cy="465963"/>
          </a:xfrm>
          <a:prstGeom prst="roundRect">
            <a:avLst>
              <a:gd name="adj" fmla="val 15699"/>
            </a:avLst>
          </a:prstGeom>
          <a:solidFill>
            <a:schemeClr val="bg2"/>
          </a:solidFill>
          <a:ln w="12700">
            <a:solidFill>
              <a:srgbClr val="FFFFFF">
                <a:alpha val="0"/>
              </a:srgbClr>
            </a:solidFill>
            <a:prstDash val="solid"/>
          </a:ln>
        </p:spPr>
      </p:sp>
      <p:sp>
        <p:nvSpPr>
          <p:cNvPr id="21" name="Text 17"/>
          <p:cNvSpPr txBox="1"/>
          <p:nvPr/>
        </p:nvSpPr>
        <p:spPr>
          <a:xfrm>
            <a:off x="640080" y="4052316"/>
            <a:ext cx="365760" cy="529971"/>
          </a:xfrm>
          <a:prstGeom prst="rect">
            <a:avLst/>
          </a:prstGeom>
          <a:noFill/>
          <a:ln/>
        </p:spPr>
        <p:txBody>
          <a:bodyPr wrap="square" lIns="0" tIns="0" rIns="0" bIns="0" rtlCol="0" anchor="ctr"/>
          <a:lstStyle/>
          <a:p>
            <a:pPr algn="l" indent="0" marL="0">
              <a:buNone/>
            </a:pPr>
            <a:r>
              <a:rPr lang="en-US" sz="1400" b="1" dirty="0">
                <a:solidFill>
                  <a:schemeClr val="accent5"/>
                </a:solidFill>
              </a:rPr>
              <a:t>5</a:t>
            </a:r>
            <a:endParaRPr lang="en-US" sz="1400" dirty="0"/>
          </a:p>
        </p:txBody>
      </p:sp>
      <p:sp>
        <p:nvSpPr>
          <p:cNvPr id="22" name="Text 18"/>
          <p:cNvSpPr txBox="1"/>
          <p:nvPr/>
        </p:nvSpPr>
        <p:spPr>
          <a:xfrm>
            <a:off x="1051560" y="4052316"/>
            <a:ext cx="10424160" cy="529971"/>
          </a:xfrm>
          <a:prstGeom prst="rect">
            <a:avLst/>
          </a:prstGeom>
          <a:noFill/>
          <a:ln/>
        </p:spPr>
        <p:txBody>
          <a:bodyPr wrap="square" lIns="0" tIns="0" rIns="0" bIns="0" rtlCol="0" anchor="ctr"/>
          <a:lstStyle/>
          <a:p>
            <a:pPr algn="l" indent="0" marL="0">
              <a:buNone/>
            </a:pPr>
            <a:r>
              <a:rPr lang="en-US" sz="1650" i="1" dirty="0">
                <a:solidFill>
                  <a:schemeClr val="accent5"/>
                </a:solidFill>
              </a:rPr>
              <a:t>……………………………</a:t>
            </a:r>
            <a:r>
              <a:rPr lang="en-US" sz="1650" i="1" dirty="0">
                <a:solidFill>
                  <a:schemeClr val="tx1"/>
                </a:solidFill>
              </a:rPr>
              <a:t> </a:t>
            </a:r>
            <a:r>
              <a:rPr lang="en-US" sz="1650" b="1" i="1" dirty="0">
                <a:solidFill>
                  <a:schemeClr val="tx1"/>
                </a:solidFill>
              </a:rPr>
              <a:t>(you / ever / see)</a:t>
            </a:r>
            <a:r>
              <a:rPr lang="en-US" sz="1650" i="1" dirty="0">
                <a:solidFill>
                  <a:schemeClr val="tx1"/>
                </a:solidFill>
              </a:rPr>
              <a:t> a whale?</a:t>
            </a:r>
            <a:endParaRPr lang="en-US" sz="1650" dirty="0"/>
          </a:p>
        </p:txBody>
      </p:sp>
      <p:sp>
        <p:nvSpPr>
          <p:cNvPr id="23" name="Shape 19"/>
          <p:cNvSpPr/>
          <p:nvPr/>
        </p:nvSpPr>
        <p:spPr>
          <a:xfrm>
            <a:off x="548640" y="4609719"/>
            <a:ext cx="11091672" cy="465963"/>
          </a:xfrm>
          <a:prstGeom prst="roundRect">
            <a:avLst>
              <a:gd name="adj" fmla="val 15699"/>
            </a:avLst>
          </a:prstGeom>
          <a:solidFill>
            <a:srgbClr val="FFFFFF"/>
          </a:solidFill>
          <a:ln w="12700">
            <a:solidFill>
              <a:srgbClr val="FFFFFF">
                <a:alpha val="0"/>
              </a:srgbClr>
            </a:solidFill>
            <a:prstDash val="solid"/>
          </a:ln>
        </p:spPr>
      </p:sp>
      <p:sp>
        <p:nvSpPr>
          <p:cNvPr id="24" name="Text 20"/>
          <p:cNvSpPr txBox="1"/>
          <p:nvPr/>
        </p:nvSpPr>
        <p:spPr>
          <a:xfrm>
            <a:off x="640080" y="4582287"/>
            <a:ext cx="365760" cy="529971"/>
          </a:xfrm>
          <a:prstGeom prst="rect">
            <a:avLst/>
          </a:prstGeom>
          <a:noFill/>
          <a:ln/>
        </p:spPr>
        <p:txBody>
          <a:bodyPr wrap="square" lIns="0" tIns="0" rIns="0" bIns="0" rtlCol="0" anchor="ctr"/>
          <a:lstStyle/>
          <a:p>
            <a:pPr algn="l" indent="0" marL="0">
              <a:buNone/>
            </a:pPr>
            <a:r>
              <a:rPr lang="en-US" sz="1400" b="1" dirty="0">
                <a:solidFill>
                  <a:schemeClr val="accent5"/>
                </a:solidFill>
              </a:rPr>
              <a:t>6</a:t>
            </a:r>
            <a:endParaRPr lang="en-US" sz="1400" dirty="0"/>
          </a:p>
        </p:txBody>
      </p:sp>
      <p:sp>
        <p:nvSpPr>
          <p:cNvPr id="25" name="Text 21"/>
          <p:cNvSpPr txBox="1"/>
          <p:nvPr/>
        </p:nvSpPr>
        <p:spPr>
          <a:xfrm>
            <a:off x="1051560" y="4582287"/>
            <a:ext cx="10424160" cy="529971"/>
          </a:xfrm>
          <a:prstGeom prst="rect">
            <a:avLst/>
          </a:prstGeom>
          <a:noFill/>
          <a:ln/>
        </p:spPr>
        <p:txBody>
          <a:bodyPr wrap="square" lIns="0" tIns="0" rIns="0" bIns="0" rtlCol="0" anchor="ctr"/>
          <a:lstStyle/>
          <a:p>
            <a:pPr algn="l" indent="0" marL="0">
              <a:buNone/>
            </a:pPr>
            <a:r>
              <a:rPr lang="en-US" sz="1650" i="1" dirty="0">
                <a:solidFill>
                  <a:schemeClr val="accent5"/>
                </a:solidFill>
              </a:rPr>
              <a:t>…………………</a:t>
            </a:r>
            <a:r>
              <a:rPr lang="en-US" sz="1650" i="1" dirty="0">
                <a:solidFill>
                  <a:schemeClr val="tx1"/>
                </a:solidFill>
              </a:rPr>
              <a:t> </a:t>
            </a:r>
            <a:r>
              <a:rPr lang="en-US" sz="1650" b="1" i="1" dirty="0">
                <a:solidFill>
                  <a:schemeClr val="tx1"/>
                </a:solidFill>
              </a:rPr>
              <a:t>(you / see)</a:t>
            </a:r>
            <a:r>
              <a:rPr lang="en-US" sz="1650" i="1" dirty="0">
                <a:solidFill>
                  <a:schemeClr val="tx1"/>
                </a:solidFill>
              </a:rPr>
              <a:t> the match last night?</a:t>
            </a:r>
            <a:endParaRPr lang="en-US" sz="1650" dirty="0"/>
          </a:p>
        </p:txBody>
      </p:sp>
      <p:sp>
        <p:nvSpPr>
          <p:cNvPr id="26" name="Shape 22"/>
          <p:cNvSpPr/>
          <p:nvPr/>
        </p:nvSpPr>
        <p:spPr>
          <a:xfrm>
            <a:off x="548640" y="5139690"/>
            <a:ext cx="11091672" cy="465963"/>
          </a:xfrm>
          <a:prstGeom prst="roundRect">
            <a:avLst>
              <a:gd name="adj" fmla="val 15699"/>
            </a:avLst>
          </a:prstGeom>
          <a:solidFill>
            <a:schemeClr val="bg2"/>
          </a:solidFill>
          <a:ln w="12700">
            <a:solidFill>
              <a:srgbClr val="FFFFFF">
                <a:alpha val="0"/>
              </a:srgbClr>
            </a:solidFill>
            <a:prstDash val="solid"/>
          </a:ln>
        </p:spPr>
      </p:sp>
      <p:sp>
        <p:nvSpPr>
          <p:cNvPr id="27" name="Text 23"/>
          <p:cNvSpPr txBox="1"/>
          <p:nvPr/>
        </p:nvSpPr>
        <p:spPr>
          <a:xfrm>
            <a:off x="640080" y="5112258"/>
            <a:ext cx="365760" cy="529971"/>
          </a:xfrm>
          <a:prstGeom prst="rect">
            <a:avLst/>
          </a:prstGeom>
          <a:noFill/>
          <a:ln/>
        </p:spPr>
        <p:txBody>
          <a:bodyPr wrap="square" lIns="0" tIns="0" rIns="0" bIns="0" rtlCol="0" anchor="ctr"/>
          <a:lstStyle/>
          <a:p>
            <a:pPr algn="l" indent="0" marL="0">
              <a:buNone/>
            </a:pPr>
            <a:r>
              <a:rPr lang="en-US" sz="1400" b="1" dirty="0">
                <a:solidFill>
                  <a:schemeClr val="accent5"/>
                </a:solidFill>
              </a:rPr>
              <a:t>7</a:t>
            </a:r>
            <a:endParaRPr lang="en-US" sz="1400" dirty="0"/>
          </a:p>
        </p:txBody>
      </p:sp>
      <p:sp>
        <p:nvSpPr>
          <p:cNvPr id="28" name="Text 24"/>
          <p:cNvSpPr txBox="1"/>
          <p:nvPr/>
        </p:nvSpPr>
        <p:spPr>
          <a:xfrm>
            <a:off x="1051560" y="5112258"/>
            <a:ext cx="10424160" cy="529971"/>
          </a:xfrm>
          <a:prstGeom prst="rect">
            <a:avLst/>
          </a:prstGeom>
          <a:noFill/>
          <a:ln/>
        </p:spPr>
        <p:txBody>
          <a:bodyPr wrap="square" lIns="0" tIns="0" rIns="0" bIns="0" rtlCol="0" anchor="ctr"/>
          <a:lstStyle/>
          <a:p>
            <a:pPr algn="l" indent="0" marL="0">
              <a:buNone/>
            </a:pPr>
            <a:r>
              <a:rPr lang="en-US" sz="1650" i="1" dirty="0">
                <a:solidFill>
                  <a:schemeClr val="tx1"/>
                </a:solidFill>
              </a:rPr>
              <a:t>We </a:t>
            </a:r>
            <a:r>
              <a:rPr lang="en-US" sz="1650" i="1" dirty="0">
                <a:solidFill>
                  <a:schemeClr val="accent5"/>
                </a:solidFill>
              </a:rPr>
              <a:t>…………………………</a:t>
            </a:r>
            <a:r>
              <a:rPr lang="en-US" sz="1650" i="1" dirty="0">
                <a:solidFill>
                  <a:schemeClr val="tx1"/>
                </a:solidFill>
              </a:rPr>
              <a:t> </a:t>
            </a:r>
            <a:r>
              <a:rPr lang="en-US" sz="1650" b="1" i="1" dirty="0">
                <a:solidFill>
                  <a:schemeClr val="tx1"/>
                </a:solidFill>
              </a:rPr>
              <a:t>(not / finish)</a:t>
            </a:r>
            <a:r>
              <a:rPr lang="en-US" sz="1650" i="1" dirty="0">
                <a:solidFill>
                  <a:schemeClr val="tx1"/>
                </a:solidFill>
              </a:rPr>
              <a:t> yet.</a:t>
            </a:r>
            <a:endParaRPr lang="en-US" sz="1650" dirty="0"/>
          </a:p>
        </p:txBody>
      </p:sp>
      <p:sp>
        <p:nvSpPr>
          <p:cNvPr id="29" name="Shape 25"/>
          <p:cNvSpPr/>
          <p:nvPr/>
        </p:nvSpPr>
        <p:spPr>
          <a:xfrm>
            <a:off x="548640" y="5669661"/>
            <a:ext cx="11091672" cy="465963"/>
          </a:xfrm>
          <a:prstGeom prst="roundRect">
            <a:avLst>
              <a:gd name="adj" fmla="val 15699"/>
            </a:avLst>
          </a:prstGeom>
          <a:solidFill>
            <a:srgbClr val="FFFFFF"/>
          </a:solidFill>
          <a:ln w="12700">
            <a:solidFill>
              <a:srgbClr val="FFFFFF">
                <a:alpha val="0"/>
              </a:srgbClr>
            </a:solidFill>
            <a:prstDash val="solid"/>
          </a:ln>
        </p:spPr>
      </p:sp>
      <p:sp>
        <p:nvSpPr>
          <p:cNvPr id="30" name="Text 26"/>
          <p:cNvSpPr txBox="1"/>
          <p:nvPr/>
        </p:nvSpPr>
        <p:spPr>
          <a:xfrm>
            <a:off x="640080" y="5642229"/>
            <a:ext cx="365760" cy="529971"/>
          </a:xfrm>
          <a:prstGeom prst="rect">
            <a:avLst/>
          </a:prstGeom>
          <a:noFill/>
          <a:ln/>
        </p:spPr>
        <p:txBody>
          <a:bodyPr wrap="square" lIns="0" tIns="0" rIns="0" bIns="0" rtlCol="0" anchor="ctr"/>
          <a:lstStyle/>
          <a:p>
            <a:pPr algn="l" indent="0" marL="0">
              <a:buNone/>
            </a:pPr>
            <a:r>
              <a:rPr lang="en-US" sz="1400" b="1" dirty="0">
                <a:solidFill>
                  <a:schemeClr val="accent5"/>
                </a:solidFill>
              </a:rPr>
              <a:t>8</a:t>
            </a:r>
            <a:endParaRPr lang="en-US" sz="1400" dirty="0"/>
          </a:p>
        </p:txBody>
      </p:sp>
      <p:sp>
        <p:nvSpPr>
          <p:cNvPr id="31" name="Text 27"/>
          <p:cNvSpPr txBox="1"/>
          <p:nvPr/>
        </p:nvSpPr>
        <p:spPr>
          <a:xfrm>
            <a:off x="1051560" y="5642229"/>
            <a:ext cx="10424160" cy="529971"/>
          </a:xfrm>
          <a:prstGeom prst="rect">
            <a:avLst/>
          </a:prstGeom>
          <a:noFill/>
          <a:ln/>
        </p:spPr>
        <p:txBody>
          <a:bodyPr wrap="square" lIns="0" tIns="0" rIns="0" bIns="0" rtlCol="0" anchor="ctr"/>
          <a:lstStyle/>
          <a:p>
            <a:pPr algn="l" indent="0" marL="0">
              <a:buNone/>
            </a:pPr>
            <a:r>
              <a:rPr lang="en-US" sz="1650" i="1" dirty="0">
                <a:solidFill>
                  <a:schemeClr val="tx1"/>
                </a:solidFill>
              </a:rPr>
              <a:t>They </a:t>
            </a:r>
            <a:r>
              <a:rPr lang="en-US" sz="1650" i="1" dirty="0">
                <a:solidFill>
                  <a:schemeClr val="accent5"/>
                </a:solidFill>
              </a:rPr>
              <a:t>…………</a:t>
            </a:r>
            <a:r>
              <a:rPr lang="en-US" sz="1650" i="1" dirty="0">
                <a:solidFill>
                  <a:schemeClr val="tx1"/>
                </a:solidFill>
              </a:rPr>
              <a:t> </a:t>
            </a:r>
            <a:r>
              <a:rPr lang="en-US" sz="1650" b="1" i="1" dirty="0">
                <a:solidFill>
                  <a:schemeClr val="tx1"/>
                </a:solidFill>
              </a:rPr>
              <a:t>(arrive)</a:t>
            </a:r>
            <a:r>
              <a:rPr lang="en-US" sz="1650" i="1" dirty="0">
                <a:solidFill>
                  <a:schemeClr val="tx1"/>
                </a:solidFill>
              </a:rPr>
              <a:t> two hours ago.</a:t>
            </a:r>
            <a:endParaRPr lang="en-US" sz="16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6 — Past simple or present perfect?</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Look for the clue (a finished time? a link with now?), then write the verb.</a:t>
            </a:r>
            <a:endParaRPr lang="en-US" sz="1700" dirty="0"/>
          </a:p>
        </p:txBody>
      </p:sp>
      <p:sp>
        <p:nvSpPr>
          <p:cNvPr id="9" name="Shape 5"/>
          <p:cNvSpPr/>
          <p:nvPr/>
        </p:nvSpPr>
        <p:spPr>
          <a:xfrm>
            <a:off x="548640" y="1959864"/>
            <a:ext cx="11091672" cy="431673"/>
          </a:xfrm>
          <a:prstGeom prst="roundRect">
            <a:avLst>
              <a:gd name="adj" fmla="val 16946"/>
            </a:avLst>
          </a:prstGeom>
          <a:solidFill>
            <a:srgbClr val="EAF2FB"/>
          </a:solidFill>
          <a:ln w="12700">
            <a:solidFill>
              <a:srgbClr val="FFFFFF">
                <a:alpha val="0"/>
              </a:srgbClr>
            </a:solidFill>
            <a:prstDash val="solid"/>
          </a:ln>
        </p:spPr>
      </p:sp>
      <p:sp>
        <p:nvSpPr>
          <p:cNvPr id="10" name="Text 6"/>
          <p:cNvSpPr txBox="1"/>
          <p:nvPr/>
        </p:nvSpPr>
        <p:spPr>
          <a:xfrm>
            <a:off x="640080" y="1932432"/>
            <a:ext cx="365760" cy="495681"/>
          </a:xfrm>
          <a:prstGeom prst="rect">
            <a:avLst/>
          </a:prstGeom>
          <a:noFill/>
          <a:ln/>
        </p:spPr>
        <p:txBody>
          <a:bodyPr wrap="square" lIns="0" tIns="0" rIns="0" bIns="0" rtlCol="0" anchor="ctr"/>
          <a:lstStyle/>
          <a:p>
            <a:pPr algn="l" indent="0" marL="0">
              <a:buNone/>
            </a:pPr>
            <a:r>
              <a:rPr lang="en-US" sz="1400" b="1" dirty="0">
                <a:solidFill>
                  <a:schemeClr val="accent5"/>
                </a:solidFill>
              </a:rPr>
              <a:t>1</a:t>
            </a:r>
            <a:endParaRPr lang="en-US" sz="1400" dirty="0"/>
          </a:p>
        </p:txBody>
      </p:sp>
      <p:sp>
        <p:nvSpPr>
          <p:cNvPr id="11" name="Text 7"/>
          <p:cNvSpPr txBox="1"/>
          <p:nvPr/>
        </p:nvSpPr>
        <p:spPr>
          <a:xfrm>
            <a:off x="1051560" y="1932432"/>
            <a:ext cx="8595360" cy="495681"/>
          </a:xfrm>
          <a:prstGeom prst="rect">
            <a:avLst/>
          </a:prstGeom>
          <a:noFill/>
          <a:ln/>
        </p:spPr>
        <p:txBody>
          <a:bodyPr wrap="square" lIns="0" tIns="0" rIns="0" bIns="0" rtlCol="0" anchor="ctr"/>
          <a:lstStyle/>
          <a:p>
            <a:pPr algn="l" indent="0" marL="0">
              <a:buNone/>
            </a:pPr>
            <a:r>
              <a:rPr lang="en-US" sz="1650" i="1" dirty="0">
                <a:solidFill>
                  <a:schemeClr val="tx1"/>
                </a:solidFill>
              </a:rPr>
              <a:t>I </a:t>
            </a:r>
            <a:r>
              <a:rPr lang="en-US" sz="1650" b="1" i="1" dirty="0">
                <a:solidFill>
                  <a:schemeClr val="accent3"/>
                </a:solidFill>
              </a:rPr>
              <a:t>have lost</a:t>
            </a:r>
            <a:r>
              <a:rPr lang="en-US" sz="1650" i="1" dirty="0">
                <a:solidFill>
                  <a:schemeClr val="tx1"/>
                </a:solidFill>
              </a:rPr>
              <a:t> </a:t>
            </a:r>
            <a:r>
              <a:rPr lang="en-US" sz="1650" b="1" i="1" dirty="0">
                <a:solidFill>
                  <a:schemeClr val="tx1"/>
                </a:solidFill>
              </a:rPr>
              <a:t>(lose)</a:t>
            </a:r>
            <a:r>
              <a:rPr lang="en-US" sz="1650" i="1" dirty="0">
                <a:solidFill>
                  <a:schemeClr val="tx1"/>
                </a:solidFill>
              </a:rPr>
              <a:t> my keys. I can’t open the door!</a:t>
            </a:r>
            <a:endParaRPr lang="en-US" sz="1650" dirty="0"/>
          </a:p>
        </p:txBody>
      </p:sp>
      <p:sp>
        <p:nvSpPr>
          <p:cNvPr id="12" name="Shape 8"/>
          <p:cNvSpPr/>
          <p:nvPr/>
        </p:nvSpPr>
        <p:spPr>
          <a:xfrm>
            <a:off x="9692640" y="2006537"/>
            <a:ext cx="1874520" cy="329184"/>
          </a:xfrm>
          <a:prstGeom prst="roundRect">
            <a:avLst>
              <a:gd name="adj" fmla="val 33333"/>
            </a:avLst>
          </a:prstGeom>
          <a:solidFill>
            <a:schemeClr val="accent2"/>
          </a:solidFill>
          <a:ln w="12700">
            <a:solidFill>
              <a:srgbClr val="FFFFFF">
                <a:alpha val="0"/>
              </a:srgbClr>
            </a:solidFill>
            <a:prstDash val="solid"/>
          </a:ln>
        </p:spPr>
      </p:sp>
      <p:sp>
        <p:nvSpPr>
          <p:cNvPr id="13" name="Text 9"/>
          <p:cNvSpPr txBox="1"/>
          <p:nvPr/>
        </p:nvSpPr>
        <p:spPr>
          <a:xfrm>
            <a:off x="9692640" y="2006537"/>
            <a:ext cx="1874520" cy="329184"/>
          </a:xfrm>
          <a:prstGeom prst="rect">
            <a:avLst/>
          </a:prstGeom>
          <a:noFill/>
          <a:ln/>
        </p:spPr>
        <p:txBody>
          <a:bodyPr wrap="square" lIns="0" tIns="0" rIns="0" bIns="0" rtlCol="0" anchor="ctr"/>
          <a:lstStyle/>
          <a:p>
            <a:pPr algn="ctr" indent="0" marL="0">
              <a:buNone/>
            </a:pPr>
            <a:r>
              <a:rPr lang="en-US" sz="1200" b="1" dirty="0">
                <a:solidFill>
                  <a:schemeClr val="bg1"/>
                </a:solidFill>
              </a:rPr>
              <a:t>present perfect</a:t>
            </a:r>
            <a:endParaRPr lang="en-US" sz="1200" dirty="0"/>
          </a:p>
        </p:txBody>
      </p:sp>
      <p:sp>
        <p:nvSpPr>
          <p:cNvPr id="14" name="Shape 10"/>
          <p:cNvSpPr/>
          <p:nvPr/>
        </p:nvSpPr>
        <p:spPr>
          <a:xfrm>
            <a:off x="548640" y="2455545"/>
            <a:ext cx="11091672" cy="431673"/>
          </a:xfrm>
          <a:prstGeom prst="roundRect">
            <a:avLst>
              <a:gd name="adj" fmla="val 16946"/>
            </a:avLst>
          </a:prstGeom>
          <a:solidFill>
            <a:srgbClr val="FBEAF2"/>
          </a:solidFill>
          <a:ln w="12700">
            <a:solidFill>
              <a:srgbClr val="FFFFFF">
                <a:alpha val="0"/>
              </a:srgbClr>
            </a:solidFill>
            <a:prstDash val="solid"/>
          </a:ln>
        </p:spPr>
      </p:sp>
      <p:sp>
        <p:nvSpPr>
          <p:cNvPr id="15" name="Text 11"/>
          <p:cNvSpPr txBox="1"/>
          <p:nvPr/>
        </p:nvSpPr>
        <p:spPr>
          <a:xfrm>
            <a:off x="640080" y="2428113"/>
            <a:ext cx="365760" cy="495681"/>
          </a:xfrm>
          <a:prstGeom prst="rect">
            <a:avLst/>
          </a:prstGeom>
          <a:noFill/>
          <a:ln/>
        </p:spPr>
        <p:txBody>
          <a:bodyPr wrap="square" lIns="0" tIns="0" rIns="0" bIns="0" rtlCol="0" anchor="ctr"/>
          <a:lstStyle/>
          <a:p>
            <a:pPr algn="l" indent="0" marL="0">
              <a:buNone/>
            </a:pPr>
            <a:r>
              <a:rPr lang="en-US" sz="1400" b="1" dirty="0">
                <a:solidFill>
                  <a:schemeClr val="accent5"/>
                </a:solidFill>
              </a:rPr>
              <a:t>2</a:t>
            </a:r>
            <a:endParaRPr lang="en-US" sz="1400" dirty="0"/>
          </a:p>
        </p:txBody>
      </p:sp>
      <p:sp>
        <p:nvSpPr>
          <p:cNvPr id="16" name="Text 12"/>
          <p:cNvSpPr txBox="1"/>
          <p:nvPr/>
        </p:nvSpPr>
        <p:spPr>
          <a:xfrm>
            <a:off x="1051560" y="2428113"/>
            <a:ext cx="8595360" cy="495681"/>
          </a:xfrm>
          <a:prstGeom prst="rect">
            <a:avLst/>
          </a:prstGeom>
          <a:noFill/>
          <a:ln/>
        </p:spPr>
        <p:txBody>
          <a:bodyPr wrap="square" lIns="0" tIns="0" rIns="0" bIns="0" rtlCol="0" anchor="ctr"/>
          <a:lstStyle/>
          <a:p>
            <a:pPr algn="l" indent="0" marL="0">
              <a:buNone/>
            </a:pPr>
            <a:r>
              <a:rPr lang="en-US" sz="1650" i="1" dirty="0">
                <a:solidFill>
                  <a:schemeClr val="tx1"/>
                </a:solidFill>
              </a:rPr>
              <a:t>I </a:t>
            </a:r>
            <a:r>
              <a:rPr lang="en-US" sz="1650" b="1" i="1" dirty="0">
                <a:solidFill>
                  <a:schemeClr val="accent3"/>
                </a:solidFill>
              </a:rPr>
              <a:t>lost</a:t>
            </a:r>
            <a:r>
              <a:rPr lang="en-US" sz="1650" i="1" dirty="0">
                <a:solidFill>
                  <a:schemeClr val="tx1"/>
                </a:solidFill>
              </a:rPr>
              <a:t> </a:t>
            </a:r>
            <a:r>
              <a:rPr lang="en-US" sz="1650" b="1" i="1" dirty="0">
                <a:solidFill>
                  <a:schemeClr val="tx1"/>
                </a:solidFill>
              </a:rPr>
              <a:t>(lose)</a:t>
            </a:r>
            <a:r>
              <a:rPr lang="en-US" sz="1650" i="1" dirty="0">
                <a:solidFill>
                  <a:schemeClr val="tx1"/>
                </a:solidFill>
              </a:rPr>
              <a:t> my keys yesterday, but I found them.</a:t>
            </a:r>
            <a:endParaRPr lang="en-US" sz="1650" dirty="0"/>
          </a:p>
        </p:txBody>
      </p:sp>
      <p:sp>
        <p:nvSpPr>
          <p:cNvPr id="17" name="Shape 13"/>
          <p:cNvSpPr/>
          <p:nvPr/>
        </p:nvSpPr>
        <p:spPr>
          <a:xfrm>
            <a:off x="9692640" y="2502218"/>
            <a:ext cx="1874520" cy="329184"/>
          </a:xfrm>
          <a:prstGeom prst="roundRect">
            <a:avLst>
              <a:gd name="adj" fmla="val 33333"/>
            </a:avLst>
          </a:prstGeom>
          <a:solidFill>
            <a:schemeClr val="accent4"/>
          </a:solidFill>
          <a:ln w="12700">
            <a:solidFill>
              <a:srgbClr val="FFFFFF">
                <a:alpha val="0"/>
              </a:srgbClr>
            </a:solidFill>
            <a:prstDash val="solid"/>
          </a:ln>
        </p:spPr>
      </p:sp>
      <p:sp>
        <p:nvSpPr>
          <p:cNvPr id="18" name="Text 14"/>
          <p:cNvSpPr txBox="1"/>
          <p:nvPr/>
        </p:nvSpPr>
        <p:spPr>
          <a:xfrm>
            <a:off x="9692640" y="2502218"/>
            <a:ext cx="1874520" cy="329184"/>
          </a:xfrm>
          <a:prstGeom prst="rect">
            <a:avLst/>
          </a:prstGeom>
          <a:noFill/>
          <a:ln/>
        </p:spPr>
        <p:txBody>
          <a:bodyPr wrap="square" lIns="0" tIns="0" rIns="0" bIns="0" rtlCol="0" anchor="ctr"/>
          <a:lstStyle/>
          <a:p>
            <a:pPr algn="ctr" indent="0" marL="0">
              <a:buNone/>
            </a:pPr>
            <a:r>
              <a:rPr lang="en-US" sz="1200" b="1" dirty="0">
                <a:solidFill>
                  <a:schemeClr val="bg1"/>
                </a:solidFill>
              </a:rPr>
              <a:t>past simple</a:t>
            </a:r>
            <a:endParaRPr lang="en-US" sz="1200" dirty="0"/>
          </a:p>
        </p:txBody>
      </p:sp>
      <p:sp>
        <p:nvSpPr>
          <p:cNvPr id="19" name="Shape 15"/>
          <p:cNvSpPr/>
          <p:nvPr/>
        </p:nvSpPr>
        <p:spPr>
          <a:xfrm>
            <a:off x="548640" y="2951226"/>
            <a:ext cx="11091672" cy="431673"/>
          </a:xfrm>
          <a:prstGeom prst="roundRect">
            <a:avLst>
              <a:gd name="adj" fmla="val 16946"/>
            </a:avLst>
          </a:prstGeom>
          <a:solidFill>
            <a:srgbClr val="EAF2FB"/>
          </a:solidFill>
          <a:ln w="12700">
            <a:solidFill>
              <a:srgbClr val="FFFFFF">
                <a:alpha val="0"/>
              </a:srgbClr>
            </a:solidFill>
            <a:prstDash val="solid"/>
          </a:ln>
        </p:spPr>
      </p:sp>
      <p:sp>
        <p:nvSpPr>
          <p:cNvPr id="20" name="Text 16"/>
          <p:cNvSpPr txBox="1"/>
          <p:nvPr/>
        </p:nvSpPr>
        <p:spPr>
          <a:xfrm>
            <a:off x="640080" y="2923794"/>
            <a:ext cx="365760" cy="495681"/>
          </a:xfrm>
          <a:prstGeom prst="rect">
            <a:avLst/>
          </a:prstGeom>
          <a:noFill/>
          <a:ln/>
        </p:spPr>
        <p:txBody>
          <a:bodyPr wrap="square" lIns="0" tIns="0" rIns="0" bIns="0" rtlCol="0" anchor="ctr"/>
          <a:lstStyle/>
          <a:p>
            <a:pPr algn="l" indent="0" marL="0">
              <a:buNone/>
            </a:pPr>
            <a:r>
              <a:rPr lang="en-US" sz="1400" b="1" dirty="0">
                <a:solidFill>
                  <a:schemeClr val="accent5"/>
                </a:solidFill>
              </a:rPr>
              <a:t>3</a:t>
            </a:r>
            <a:endParaRPr lang="en-US" sz="1400" dirty="0"/>
          </a:p>
        </p:txBody>
      </p:sp>
      <p:sp>
        <p:nvSpPr>
          <p:cNvPr id="21" name="Text 17"/>
          <p:cNvSpPr txBox="1"/>
          <p:nvPr/>
        </p:nvSpPr>
        <p:spPr>
          <a:xfrm>
            <a:off x="1051560" y="2923794"/>
            <a:ext cx="8595360" cy="495681"/>
          </a:xfrm>
          <a:prstGeom prst="rect">
            <a:avLst/>
          </a:prstGeom>
          <a:noFill/>
          <a:ln/>
        </p:spPr>
        <p:txBody>
          <a:bodyPr wrap="square" lIns="0" tIns="0" rIns="0" bIns="0" rtlCol="0" anchor="ctr"/>
          <a:lstStyle/>
          <a:p>
            <a:pPr algn="l" indent="0" marL="0">
              <a:buNone/>
            </a:pPr>
            <a:r>
              <a:rPr lang="en-US" sz="1650" i="1" dirty="0">
                <a:solidFill>
                  <a:schemeClr val="tx1"/>
                </a:solidFill>
              </a:rPr>
              <a:t>She </a:t>
            </a:r>
            <a:r>
              <a:rPr lang="en-US" sz="1650" b="1" i="1" dirty="0">
                <a:solidFill>
                  <a:schemeClr val="accent3"/>
                </a:solidFill>
              </a:rPr>
              <a:t>has worked</a:t>
            </a:r>
            <a:r>
              <a:rPr lang="en-US" sz="1650" i="1" dirty="0">
                <a:solidFill>
                  <a:schemeClr val="tx1"/>
                </a:solidFill>
              </a:rPr>
              <a:t> </a:t>
            </a:r>
            <a:r>
              <a:rPr lang="en-US" sz="1650" b="1" i="1" dirty="0">
                <a:solidFill>
                  <a:schemeClr val="tx1"/>
                </a:solidFill>
              </a:rPr>
              <a:t>(work)</a:t>
            </a:r>
            <a:r>
              <a:rPr lang="en-US" sz="1650" i="1" dirty="0">
                <a:solidFill>
                  <a:schemeClr val="tx1"/>
                </a:solidFill>
              </a:rPr>
              <a:t> here since 2020.</a:t>
            </a:r>
            <a:endParaRPr lang="en-US" sz="1650" dirty="0"/>
          </a:p>
        </p:txBody>
      </p:sp>
      <p:sp>
        <p:nvSpPr>
          <p:cNvPr id="22" name="Shape 18"/>
          <p:cNvSpPr/>
          <p:nvPr/>
        </p:nvSpPr>
        <p:spPr>
          <a:xfrm>
            <a:off x="9692640" y="2997899"/>
            <a:ext cx="1874520" cy="329184"/>
          </a:xfrm>
          <a:prstGeom prst="roundRect">
            <a:avLst>
              <a:gd name="adj" fmla="val 33333"/>
            </a:avLst>
          </a:prstGeom>
          <a:solidFill>
            <a:schemeClr val="accent2"/>
          </a:solidFill>
          <a:ln w="12700">
            <a:solidFill>
              <a:srgbClr val="FFFFFF">
                <a:alpha val="0"/>
              </a:srgbClr>
            </a:solidFill>
            <a:prstDash val="solid"/>
          </a:ln>
        </p:spPr>
      </p:sp>
      <p:sp>
        <p:nvSpPr>
          <p:cNvPr id="23" name="Text 19"/>
          <p:cNvSpPr txBox="1"/>
          <p:nvPr/>
        </p:nvSpPr>
        <p:spPr>
          <a:xfrm>
            <a:off x="9692640" y="2997899"/>
            <a:ext cx="1874520" cy="329184"/>
          </a:xfrm>
          <a:prstGeom prst="rect">
            <a:avLst/>
          </a:prstGeom>
          <a:noFill/>
          <a:ln/>
        </p:spPr>
        <p:txBody>
          <a:bodyPr wrap="square" lIns="0" tIns="0" rIns="0" bIns="0" rtlCol="0" anchor="ctr"/>
          <a:lstStyle/>
          <a:p>
            <a:pPr algn="ctr" indent="0" marL="0">
              <a:buNone/>
            </a:pPr>
            <a:r>
              <a:rPr lang="en-US" sz="1200" b="1" dirty="0">
                <a:solidFill>
                  <a:schemeClr val="bg1"/>
                </a:solidFill>
              </a:rPr>
              <a:t>present perfect</a:t>
            </a:r>
            <a:endParaRPr lang="en-US" sz="1200" dirty="0"/>
          </a:p>
        </p:txBody>
      </p:sp>
      <p:sp>
        <p:nvSpPr>
          <p:cNvPr id="24" name="Shape 20"/>
          <p:cNvSpPr/>
          <p:nvPr/>
        </p:nvSpPr>
        <p:spPr>
          <a:xfrm>
            <a:off x="548640" y="3446907"/>
            <a:ext cx="11091672" cy="431673"/>
          </a:xfrm>
          <a:prstGeom prst="roundRect">
            <a:avLst>
              <a:gd name="adj" fmla="val 16946"/>
            </a:avLst>
          </a:prstGeom>
          <a:solidFill>
            <a:srgbClr val="FBEAF2"/>
          </a:solidFill>
          <a:ln w="12700">
            <a:solidFill>
              <a:srgbClr val="FFFFFF">
                <a:alpha val="0"/>
              </a:srgbClr>
            </a:solidFill>
            <a:prstDash val="solid"/>
          </a:ln>
        </p:spPr>
      </p:sp>
      <p:sp>
        <p:nvSpPr>
          <p:cNvPr id="25" name="Text 21"/>
          <p:cNvSpPr txBox="1"/>
          <p:nvPr/>
        </p:nvSpPr>
        <p:spPr>
          <a:xfrm>
            <a:off x="640080" y="3419475"/>
            <a:ext cx="365760" cy="495681"/>
          </a:xfrm>
          <a:prstGeom prst="rect">
            <a:avLst/>
          </a:prstGeom>
          <a:noFill/>
          <a:ln/>
        </p:spPr>
        <p:txBody>
          <a:bodyPr wrap="square" lIns="0" tIns="0" rIns="0" bIns="0" rtlCol="0" anchor="ctr"/>
          <a:lstStyle/>
          <a:p>
            <a:pPr algn="l" indent="0" marL="0">
              <a:buNone/>
            </a:pPr>
            <a:r>
              <a:rPr lang="en-US" sz="1400" b="1" dirty="0">
                <a:solidFill>
                  <a:schemeClr val="accent5"/>
                </a:solidFill>
              </a:rPr>
              <a:t>4</a:t>
            </a:r>
            <a:endParaRPr lang="en-US" sz="1400" dirty="0"/>
          </a:p>
        </p:txBody>
      </p:sp>
      <p:sp>
        <p:nvSpPr>
          <p:cNvPr id="26" name="Text 22"/>
          <p:cNvSpPr txBox="1"/>
          <p:nvPr/>
        </p:nvSpPr>
        <p:spPr>
          <a:xfrm>
            <a:off x="1051560" y="3419475"/>
            <a:ext cx="8595360" cy="495681"/>
          </a:xfrm>
          <a:prstGeom prst="rect">
            <a:avLst/>
          </a:prstGeom>
          <a:noFill/>
          <a:ln/>
        </p:spPr>
        <p:txBody>
          <a:bodyPr wrap="square" lIns="0" tIns="0" rIns="0" bIns="0" rtlCol="0" anchor="ctr"/>
          <a:lstStyle/>
          <a:p>
            <a:pPr algn="l" indent="0" marL="0">
              <a:buNone/>
            </a:pPr>
            <a:r>
              <a:rPr lang="en-US" sz="1650" i="1" dirty="0">
                <a:solidFill>
                  <a:schemeClr val="tx1"/>
                </a:solidFill>
              </a:rPr>
              <a:t>She </a:t>
            </a:r>
            <a:r>
              <a:rPr lang="en-US" sz="1650" b="1" i="1" dirty="0">
                <a:solidFill>
                  <a:schemeClr val="accent3"/>
                </a:solidFill>
              </a:rPr>
              <a:t>worked</a:t>
            </a:r>
            <a:r>
              <a:rPr lang="en-US" sz="1650" i="1" dirty="0">
                <a:solidFill>
                  <a:schemeClr val="tx1"/>
                </a:solidFill>
              </a:rPr>
              <a:t> </a:t>
            </a:r>
            <a:r>
              <a:rPr lang="en-US" sz="1650" b="1" i="1" dirty="0">
                <a:solidFill>
                  <a:schemeClr val="tx1"/>
                </a:solidFill>
              </a:rPr>
              <a:t>(work)</a:t>
            </a:r>
            <a:r>
              <a:rPr lang="en-US" sz="1650" i="1" dirty="0">
                <a:solidFill>
                  <a:schemeClr val="tx1"/>
                </a:solidFill>
              </a:rPr>
              <a:t> in Paris from 2015 to 2019.</a:t>
            </a:r>
            <a:endParaRPr lang="en-US" sz="1650" dirty="0"/>
          </a:p>
        </p:txBody>
      </p:sp>
      <p:sp>
        <p:nvSpPr>
          <p:cNvPr id="27" name="Shape 23"/>
          <p:cNvSpPr/>
          <p:nvPr/>
        </p:nvSpPr>
        <p:spPr>
          <a:xfrm>
            <a:off x="9692640" y="3493580"/>
            <a:ext cx="1874520" cy="329184"/>
          </a:xfrm>
          <a:prstGeom prst="roundRect">
            <a:avLst>
              <a:gd name="adj" fmla="val 33333"/>
            </a:avLst>
          </a:prstGeom>
          <a:solidFill>
            <a:schemeClr val="accent4"/>
          </a:solidFill>
          <a:ln w="12700">
            <a:solidFill>
              <a:srgbClr val="FFFFFF">
                <a:alpha val="0"/>
              </a:srgbClr>
            </a:solidFill>
            <a:prstDash val="solid"/>
          </a:ln>
        </p:spPr>
      </p:sp>
      <p:sp>
        <p:nvSpPr>
          <p:cNvPr id="28" name="Text 24"/>
          <p:cNvSpPr txBox="1"/>
          <p:nvPr/>
        </p:nvSpPr>
        <p:spPr>
          <a:xfrm>
            <a:off x="9692640" y="3493580"/>
            <a:ext cx="1874520" cy="329184"/>
          </a:xfrm>
          <a:prstGeom prst="rect">
            <a:avLst/>
          </a:prstGeom>
          <a:noFill/>
          <a:ln/>
        </p:spPr>
        <p:txBody>
          <a:bodyPr wrap="square" lIns="0" tIns="0" rIns="0" bIns="0" rtlCol="0" anchor="ctr"/>
          <a:lstStyle/>
          <a:p>
            <a:pPr algn="ctr" indent="0" marL="0">
              <a:buNone/>
            </a:pPr>
            <a:r>
              <a:rPr lang="en-US" sz="1200" b="1" dirty="0">
                <a:solidFill>
                  <a:schemeClr val="bg1"/>
                </a:solidFill>
              </a:rPr>
              <a:t>past simple</a:t>
            </a:r>
            <a:endParaRPr lang="en-US" sz="1200" dirty="0"/>
          </a:p>
        </p:txBody>
      </p:sp>
      <p:sp>
        <p:nvSpPr>
          <p:cNvPr id="29" name="Shape 25"/>
          <p:cNvSpPr/>
          <p:nvPr/>
        </p:nvSpPr>
        <p:spPr>
          <a:xfrm>
            <a:off x="548640" y="3942588"/>
            <a:ext cx="11091672" cy="431673"/>
          </a:xfrm>
          <a:prstGeom prst="roundRect">
            <a:avLst>
              <a:gd name="adj" fmla="val 16946"/>
            </a:avLst>
          </a:prstGeom>
          <a:solidFill>
            <a:srgbClr val="EAF2FB"/>
          </a:solidFill>
          <a:ln w="12700">
            <a:solidFill>
              <a:srgbClr val="FFFFFF">
                <a:alpha val="0"/>
              </a:srgbClr>
            </a:solidFill>
            <a:prstDash val="solid"/>
          </a:ln>
        </p:spPr>
      </p:sp>
      <p:sp>
        <p:nvSpPr>
          <p:cNvPr id="30" name="Text 26"/>
          <p:cNvSpPr txBox="1"/>
          <p:nvPr/>
        </p:nvSpPr>
        <p:spPr>
          <a:xfrm>
            <a:off x="640080" y="3915156"/>
            <a:ext cx="365760" cy="495681"/>
          </a:xfrm>
          <a:prstGeom prst="rect">
            <a:avLst/>
          </a:prstGeom>
          <a:noFill/>
          <a:ln/>
        </p:spPr>
        <p:txBody>
          <a:bodyPr wrap="square" lIns="0" tIns="0" rIns="0" bIns="0" rtlCol="0" anchor="ctr"/>
          <a:lstStyle/>
          <a:p>
            <a:pPr algn="l" indent="0" marL="0">
              <a:buNone/>
            </a:pPr>
            <a:r>
              <a:rPr lang="en-US" sz="1400" b="1" dirty="0">
                <a:solidFill>
                  <a:schemeClr val="accent5"/>
                </a:solidFill>
              </a:rPr>
              <a:t>5</a:t>
            </a:r>
            <a:endParaRPr lang="en-US" sz="1400" dirty="0"/>
          </a:p>
        </p:txBody>
      </p:sp>
      <p:sp>
        <p:nvSpPr>
          <p:cNvPr id="31" name="Text 27"/>
          <p:cNvSpPr txBox="1"/>
          <p:nvPr/>
        </p:nvSpPr>
        <p:spPr>
          <a:xfrm>
            <a:off x="1051560" y="3915156"/>
            <a:ext cx="8595360" cy="495681"/>
          </a:xfrm>
          <a:prstGeom prst="rect">
            <a:avLst/>
          </a:prstGeom>
          <a:noFill/>
          <a:ln/>
        </p:spPr>
        <p:txBody>
          <a:bodyPr wrap="square" lIns="0" tIns="0" rIns="0" bIns="0" rtlCol="0" anchor="ctr"/>
          <a:lstStyle/>
          <a:p>
            <a:pPr algn="l" indent="0" marL="0">
              <a:buNone/>
            </a:pPr>
            <a:r>
              <a:rPr lang="en-US" sz="1650" b="1" i="1" dirty="0">
                <a:solidFill>
                  <a:schemeClr val="accent3"/>
                </a:solidFill>
              </a:rPr>
              <a:t>Have you ever seen</a:t>
            </a:r>
            <a:r>
              <a:rPr lang="en-US" sz="1650" i="1" dirty="0">
                <a:solidFill>
                  <a:schemeClr val="tx1"/>
                </a:solidFill>
              </a:rPr>
              <a:t> </a:t>
            </a:r>
            <a:r>
              <a:rPr lang="en-US" sz="1650" b="1" i="1" dirty="0">
                <a:solidFill>
                  <a:schemeClr val="tx1"/>
                </a:solidFill>
              </a:rPr>
              <a:t>(you / ever / see)</a:t>
            </a:r>
            <a:r>
              <a:rPr lang="en-US" sz="1650" i="1" dirty="0">
                <a:solidFill>
                  <a:schemeClr val="tx1"/>
                </a:solidFill>
              </a:rPr>
              <a:t> a whale?</a:t>
            </a:r>
            <a:endParaRPr lang="en-US" sz="1650" dirty="0"/>
          </a:p>
        </p:txBody>
      </p:sp>
      <p:sp>
        <p:nvSpPr>
          <p:cNvPr id="32" name="Shape 28"/>
          <p:cNvSpPr/>
          <p:nvPr/>
        </p:nvSpPr>
        <p:spPr>
          <a:xfrm>
            <a:off x="9692640" y="3989260"/>
            <a:ext cx="1874520" cy="329184"/>
          </a:xfrm>
          <a:prstGeom prst="roundRect">
            <a:avLst>
              <a:gd name="adj" fmla="val 33333"/>
            </a:avLst>
          </a:prstGeom>
          <a:solidFill>
            <a:schemeClr val="accent2"/>
          </a:solidFill>
          <a:ln w="12700">
            <a:solidFill>
              <a:srgbClr val="FFFFFF">
                <a:alpha val="0"/>
              </a:srgbClr>
            </a:solidFill>
            <a:prstDash val="solid"/>
          </a:ln>
        </p:spPr>
      </p:sp>
      <p:sp>
        <p:nvSpPr>
          <p:cNvPr id="33" name="Text 29"/>
          <p:cNvSpPr txBox="1"/>
          <p:nvPr/>
        </p:nvSpPr>
        <p:spPr>
          <a:xfrm>
            <a:off x="9692640" y="3989260"/>
            <a:ext cx="1874520" cy="329184"/>
          </a:xfrm>
          <a:prstGeom prst="rect">
            <a:avLst/>
          </a:prstGeom>
          <a:noFill/>
          <a:ln/>
        </p:spPr>
        <p:txBody>
          <a:bodyPr wrap="square" lIns="0" tIns="0" rIns="0" bIns="0" rtlCol="0" anchor="ctr"/>
          <a:lstStyle/>
          <a:p>
            <a:pPr algn="ctr" indent="0" marL="0">
              <a:buNone/>
            </a:pPr>
            <a:r>
              <a:rPr lang="en-US" sz="1200" b="1" dirty="0">
                <a:solidFill>
                  <a:schemeClr val="bg1"/>
                </a:solidFill>
              </a:rPr>
              <a:t>present perfect</a:t>
            </a:r>
            <a:endParaRPr lang="en-US" sz="1200" dirty="0"/>
          </a:p>
        </p:txBody>
      </p:sp>
      <p:sp>
        <p:nvSpPr>
          <p:cNvPr id="34" name="Shape 30"/>
          <p:cNvSpPr/>
          <p:nvPr/>
        </p:nvSpPr>
        <p:spPr>
          <a:xfrm>
            <a:off x="548640" y="4438269"/>
            <a:ext cx="11091672" cy="431673"/>
          </a:xfrm>
          <a:prstGeom prst="roundRect">
            <a:avLst>
              <a:gd name="adj" fmla="val 16946"/>
            </a:avLst>
          </a:prstGeom>
          <a:solidFill>
            <a:srgbClr val="FBEAF2"/>
          </a:solidFill>
          <a:ln w="12700">
            <a:solidFill>
              <a:srgbClr val="FFFFFF">
                <a:alpha val="0"/>
              </a:srgbClr>
            </a:solidFill>
            <a:prstDash val="solid"/>
          </a:ln>
        </p:spPr>
      </p:sp>
      <p:sp>
        <p:nvSpPr>
          <p:cNvPr id="35" name="Text 31"/>
          <p:cNvSpPr txBox="1"/>
          <p:nvPr/>
        </p:nvSpPr>
        <p:spPr>
          <a:xfrm>
            <a:off x="640080" y="4410837"/>
            <a:ext cx="365760" cy="495681"/>
          </a:xfrm>
          <a:prstGeom prst="rect">
            <a:avLst/>
          </a:prstGeom>
          <a:noFill/>
          <a:ln/>
        </p:spPr>
        <p:txBody>
          <a:bodyPr wrap="square" lIns="0" tIns="0" rIns="0" bIns="0" rtlCol="0" anchor="ctr"/>
          <a:lstStyle/>
          <a:p>
            <a:pPr algn="l" indent="0" marL="0">
              <a:buNone/>
            </a:pPr>
            <a:r>
              <a:rPr lang="en-US" sz="1400" b="1" dirty="0">
                <a:solidFill>
                  <a:schemeClr val="accent5"/>
                </a:solidFill>
              </a:rPr>
              <a:t>6</a:t>
            </a:r>
            <a:endParaRPr lang="en-US" sz="1400" dirty="0"/>
          </a:p>
        </p:txBody>
      </p:sp>
      <p:sp>
        <p:nvSpPr>
          <p:cNvPr id="36" name="Text 32"/>
          <p:cNvSpPr txBox="1"/>
          <p:nvPr/>
        </p:nvSpPr>
        <p:spPr>
          <a:xfrm>
            <a:off x="1051560" y="4410837"/>
            <a:ext cx="8595360" cy="495681"/>
          </a:xfrm>
          <a:prstGeom prst="rect">
            <a:avLst/>
          </a:prstGeom>
          <a:noFill/>
          <a:ln/>
        </p:spPr>
        <p:txBody>
          <a:bodyPr wrap="square" lIns="0" tIns="0" rIns="0" bIns="0" rtlCol="0" anchor="ctr"/>
          <a:lstStyle/>
          <a:p>
            <a:pPr algn="l" indent="0" marL="0">
              <a:buNone/>
            </a:pPr>
            <a:r>
              <a:rPr lang="en-US" sz="1650" b="1" i="1" dirty="0">
                <a:solidFill>
                  <a:schemeClr val="accent3"/>
                </a:solidFill>
              </a:rPr>
              <a:t>Did you see</a:t>
            </a:r>
            <a:r>
              <a:rPr lang="en-US" sz="1650" i="1" dirty="0">
                <a:solidFill>
                  <a:schemeClr val="tx1"/>
                </a:solidFill>
              </a:rPr>
              <a:t> </a:t>
            </a:r>
            <a:r>
              <a:rPr lang="en-US" sz="1650" b="1" i="1" dirty="0">
                <a:solidFill>
                  <a:schemeClr val="tx1"/>
                </a:solidFill>
              </a:rPr>
              <a:t>(you / see)</a:t>
            </a:r>
            <a:r>
              <a:rPr lang="en-US" sz="1650" i="1" dirty="0">
                <a:solidFill>
                  <a:schemeClr val="tx1"/>
                </a:solidFill>
              </a:rPr>
              <a:t> the match last night?</a:t>
            </a:r>
            <a:endParaRPr lang="en-US" sz="1650" dirty="0"/>
          </a:p>
        </p:txBody>
      </p:sp>
      <p:sp>
        <p:nvSpPr>
          <p:cNvPr id="37" name="Shape 33"/>
          <p:cNvSpPr/>
          <p:nvPr/>
        </p:nvSpPr>
        <p:spPr>
          <a:xfrm>
            <a:off x="9692640" y="4484942"/>
            <a:ext cx="1874520" cy="329184"/>
          </a:xfrm>
          <a:prstGeom prst="roundRect">
            <a:avLst>
              <a:gd name="adj" fmla="val 33333"/>
            </a:avLst>
          </a:prstGeom>
          <a:solidFill>
            <a:schemeClr val="accent4"/>
          </a:solidFill>
          <a:ln w="12700">
            <a:solidFill>
              <a:srgbClr val="FFFFFF">
                <a:alpha val="0"/>
              </a:srgbClr>
            </a:solidFill>
            <a:prstDash val="solid"/>
          </a:ln>
        </p:spPr>
      </p:sp>
      <p:sp>
        <p:nvSpPr>
          <p:cNvPr id="38" name="Text 34"/>
          <p:cNvSpPr txBox="1"/>
          <p:nvPr/>
        </p:nvSpPr>
        <p:spPr>
          <a:xfrm>
            <a:off x="9692640" y="4484942"/>
            <a:ext cx="1874520" cy="329184"/>
          </a:xfrm>
          <a:prstGeom prst="rect">
            <a:avLst/>
          </a:prstGeom>
          <a:noFill/>
          <a:ln/>
        </p:spPr>
        <p:txBody>
          <a:bodyPr wrap="square" lIns="0" tIns="0" rIns="0" bIns="0" rtlCol="0" anchor="ctr"/>
          <a:lstStyle/>
          <a:p>
            <a:pPr algn="ctr" indent="0" marL="0">
              <a:buNone/>
            </a:pPr>
            <a:r>
              <a:rPr lang="en-US" sz="1200" b="1" dirty="0">
                <a:solidFill>
                  <a:schemeClr val="bg1"/>
                </a:solidFill>
              </a:rPr>
              <a:t>past simple</a:t>
            </a:r>
            <a:endParaRPr lang="en-US" sz="1200" dirty="0"/>
          </a:p>
        </p:txBody>
      </p:sp>
      <p:sp>
        <p:nvSpPr>
          <p:cNvPr id="39" name="Shape 35"/>
          <p:cNvSpPr/>
          <p:nvPr/>
        </p:nvSpPr>
        <p:spPr>
          <a:xfrm>
            <a:off x="548640" y="4933950"/>
            <a:ext cx="11091672" cy="431673"/>
          </a:xfrm>
          <a:prstGeom prst="roundRect">
            <a:avLst>
              <a:gd name="adj" fmla="val 16946"/>
            </a:avLst>
          </a:prstGeom>
          <a:solidFill>
            <a:srgbClr val="EAF2FB"/>
          </a:solidFill>
          <a:ln w="12700">
            <a:solidFill>
              <a:srgbClr val="FFFFFF">
                <a:alpha val="0"/>
              </a:srgbClr>
            </a:solidFill>
            <a:prstDash val="solid"/>
          </a:ln>
        </p:spPr>
      </p:sp>
      <p:sp>
        <p:nvSpPr>
          <p:cNvPr id="40" name="Text 36"/>
          <p:cNvSpPr txBox="1"/>
          <p:nvPr/>
        </p:nvSpPr>
        <p:spPr>
          <a:xfrm>
            <a:off x="640080" y="4906518"/>
            <a:ext cx="365760" cy="495681"/>
          </a:xfrm>
          <a:prstGeom prst="rect">
            <a:avLst/>
          </a:prstGeom>
          <a:noFill/>
          <a:ln/>
        </p:spPr>
        <p:txBody>
          <a:bodyPr wrap="square" lIns="0" tIns="0" rIns="0" bIns="0" rtlCol="0" anchor="ctr"/>
          <a:lstStyle/>
          <a:p>
            <a:pPr algn="l" indent="0" marL="0">
              <a:buNone/>
            </a:pPr>
            <a:r>
              <a:rPr lang="en-US" sz="1400" b="1" dirty="0">
                <a:solidFill>
                  <a:schemeClr val="accent5"/>
                </a:solidFill>
              </a:rPr>
              <a:t>7</a:t>
            </a:r>
            <a:endParaRPr lang="en-US" sz="1400" dirty="0"/>
          </a:p>
        </p:txBody>
      </p:sp>
      <p:sp>
        <p:nvSpPr>
          <p:cNvPr id="41" name="Text 37"/>
          <p:cNvSpPr txBox="1"/>
          <p:nvPr/>
        </p:nvSpPr>
        <p:spPr>
          <a:xfrm>
            <a:off x="1051560" y="4906518"/>
            <a:ext cx="8595360" cy="495681"/>
          </a:xfrm>
          <a:prstGeom prst="rect">
            <a:avLst/>
          </a:prstGeom>
          <a:noFill/>
          <a:ln/>
        </p:spPr>
        <p:txBody>
          <a:bodyPr wrap="square" lIns="0" tIns="0" rIns="0" bIns="0" rtlCol="0" anchor="ctr"/>
          <a:lstStyle/>
          <a:p>
            <a:pPr algn="l" indent="0" marL="0">
              <a:buNone/>
            </a:pPr>
            <a:r>
              <a:rPr lang="en-US" sz="1650" i="1" dirty="0">
                <a:solidFill>
                  <a:schemeClr val="tx1"/>
                </a:solidFill>
              </a:rPr>
              <a:t>We </a:t>
            </a:r>
            <a:r>
              <a:rPr lang="en-US" sz="1650" b="1" i="1" dirty="0">
                <a:solidFill>
                  <a:schemeClr val="accent3"/>
                </a:solidFill>
              </a:rPr>
              <a:t>haven’t finished</a:t>
            </a:r>
            <a:r>
              <a:rPr lang="en-US" sz="1650" i="1" dirty="0">
                <a:solidFill>
                  <a:schemeClr val="tx1"/>
                </a:solidFill>
              </a:rPr>
              <a:t> </a:t>
            </a:r>
            <a:r>
              <a:rPr lang="en-US" sz="1650" b="1" i="1" dirty="0">
                <a:solidFill>
                  <a:schemeClr val="tx1"/>
                </a:solidFill>
              </a:rPr>
              <a:t>(not / finish)</a:t>
            </a:r>
            <a:r>
              <a:rPr lang="en-US" sz="1650" i="1" dirty="0">
                <a:solidFill>
                  <a:schemeClr val="tx1"/>
                </a:solidFill>
              </a:rPr>
              <a:t> yet.</a:t>
            </a:r>
            <a:endParaRPr lang="en-US" sz="1650" dirty="0"/>
          </a:p>
        </p:txBody>
      </p:sp>
      <p:sp>
        <p:nvSpPr>
          <p:cNvPr id="42" name="Shape 38"/>
          <p:cNvSpPr/>
          <p:nvPr/>
        </p:nvSpPr>
        <p:spPr>
          <a:xfrm>
            <a:off x="9692640" y="4980623"/>
            <a:ext cx="1874520" cy="329184"/>
          </a:xfrm>
          <a:prstGeom prst="roundRect">
            <a:avLst>
              <a:gd name="adj" fmla="val 33333"/>
            </a:avLst>
          </a:prstGeom>
          <a:solidFill>
            <a:schemeClr val="accent2"/>
          </a:solidFill>
          <a:ln w="12700">
            <a:solidFill>
              <a:srgbClr val="FFFFFF">
                <a:alpha val="0"/>
              </a:srgbClr>
            </a:solidFill>
            <a:prstDash val="solid"/>
          </a:ln>
        </p:spPr>
      </p:sp>
      <p:sp>
        <p:nvSpPr>
          <p:cNvPr id="43" name="Text 39"/>
          <p:cNvSpPr txBox="1"/>
          <p:nvPr/>
        </p:nvSpPr>
        <p:spPr>
          <a:xfrm>
            <a:off x="9692640" y="4980623"/>
            <a:ext cx="1874520" cy="329184"/>
          </a:xfrm>
          <a:prstGeom prst="rect">
            <a:avLst/>
          </a:prstGeom>
          <a:noFill/>
          <a:ln/>
        </p:spPr>
        <p:txBody>
          <a:bodyPr wrap="square" lIns="0" tIns="0" rIns="0" bIns="0" rtlCol="0" anchor="ctr"/>
          <a:lstStyle/>
          <a:p>
            <a:pPr algn="ctr" indent="0" marL="0">
              <a:buNone/>
            </a:pPr>
            <a:r>
              <a:rPr lang="en-US" sz="1200" b="1" dirty="0">
                <a:solidFill>
                  <a:schemeClr val="bg1"/>
                </a:solidFill>
              </a:rPr>
              <a:t>present perfect</a:t>
            </a:r>
            <a:endParaRPr lang="en-US" sz="1200" dirty="0"/>
          </a:p>
        </p:txBody>
      </p:sp>
      <p:sp>
        <p:nvSpPr>
          <p:cNvPr id="44" name="Shape 40"/>
          <p:cNvSpPr/>
          <p:nvPr/>
        </p:nvSpPr>
        <p:spPr>
          <a:xfrm>
            <a:off x="548640" y="5429631"/>
            <a:ext cx="11091672" cy="431673"/>
          </a:xfrm>
          <a:prstGeom prst="roundRect">
            <a:avLst>
              <a:gd name="adj" fmla="val 16946"/>
            </a:avLst>
          </a:prstGeom>
          <a:solidFill>
            <a:srgbClr val="FBEAF2"/>
          </a:solidFill>
          <a:ln w="12700">
            <a:solidFill>
              <a:srgbClr val="FFFFFF">
                <a:alpha val="0"/>
              </a:srgbClr>
            </a:solidFill>
            <a:prstDash val="solid"/>
          </a:ln>
        </p:spPr>
      </p:sp>
      <p:sp>
        <p:nvSpPr>
          <p:cNvPr id="45" name="Text 41"/>
          <p:cNvSpPr txBox="1"/>
          <p:nvPr/>
        </p:nvSpPr>
        <p:spPr>
          <a:xfrm>
            <a:off x="640080" y="5402199"/>
            <a:ext cx="365760" cy="495681"/>
          </a:xfrm>
          <a:prstGeom prst="rect">
            <a:avLst/>
          </a:prstGeom>
          <a:noFill/>
          <a:ln/>
        </p:spPr>
        <p:txBody>
          <a:bodyPr wrap="square" lIns="0" tIns="0" rIns="0" bIns="0" rtlCol="0" anchor="ctr"/>
          <a:lstStyle/>
          <a:p>
            <a:pPr algn="l" indent="0" marL="0">
              <a:buNone/>
            </a:pPr>
            <a:r>
              <a:rPr lang="en-US" sz="1400" b="1" dirty="0">
                <a:solidFill>
                  <a:schemeClr val="accent5"/>
                </a:solidFill>
              </a:rPr>
              <a:t>8</a:t>
            </a:r>
            <a:endParaRPr lang="en-US" sz="1400" dirty="0"/>
          </a:p>
        </p:txBody>
      </p:sp>
      <p:sp>
        <p:nvSpPr>
          <p:cNvPr id="46" name="Text 42"/>
          <p:cNvSpPr txBox="1"/>
          <p:nvPr/>
        </p:nvSpPr>
        <p:spPr>
          <a:xfrm>
            <a:off x="1051560" y="5402199"/>
            <a:ext cx="8595360" cy="495681"/>
          </a:xfrm>
          <a:prstGeom prst="rect">
            <a:avLst/>
          </a:prstGeom>
          <a:noFill/>
          <a:ln/>
        </p:spPr>
        <p:txBody>
          <a:bodyPr wrap="square" lIns="0" tIns="0" rIns="0" bIns="0" rtlCol="0" anchor="ctr"/>
          <a:lstStyle/>
          <a:p>
            <a:pPr algn="l" indent="0" marL="0">
              <a:buNone/>
            </a:pPr>
            <a:r>
              <a:rPr lang="en-US" sz="1650" i="1" dirty="0">
                <a:solidFill>
                  <a:schemeClr val="tx1"/>
                </a:solidFill>
              </a:rPr>
              <a:t>They </a:t>
            </a:r>
            <a:r>
              <a:rPr lang="en-US" sz="1650" b="1" i="1" dirty="0">
                <a:solidFill>
                  <a:schemeClr val="accent3"/>
                </a:solidFill>
              </a:rPr>
              <a:t>arrived</a:t>
            </a:r>
            <a:r>
              <a:rPr lang="en-US" sz="1650" i="1" dirty="0">
                <a:solidFill>
                  <a:schemeClr val="tx1"/>
                </a:solidFill>
              </a:rPr>
              <a:t> </a:t>
            </a:r>
            <a:r>
              <a:rPr lang="en-US" sz="1650" b="1" i="1" dirty="0">
                <a:solidFill>
                  <a:schemeClr val="tx1"/>
                </a:solidFill>
              </a:rPr>
              <a:t>(arrive)</a:t>
            </a:r>
            <a:r>
              <a:rPr lang="en-US" sz="1650" i="1" dirty="0">
                <a:solidFill>
                  <a:schemeClr val="tx1"/>
                </a:solidFill>
              </a:rPr>
              <a:t> two hours ago.</a:t>
            </a:r>
            <a:endParaRPr lang="en-US" sz="1650" dirty="0"/>
          </a:p>
        </p:txBody>
      </p:sp>
      <p:sp>
        <p:nvSpPr>
          <p:cNvPr id="47" name="Shape 43"/>
          <p:cNvSpPr/>
          <p:nvPr/>
        </p:nvSpPr>
        <p:spPr>
          <a:xfrm>
            <a:off x="9692640" y="5476304"/>
            <a:ext cx="1874520" cy="329184"/>
          </a:xfrm>
          <a:prstGeom prst="roundRect">
            <a:avLst>
              <a:gd name="adj" fmla="val 33333"/>
            </a:avLst>
          </a:prstGeom>
          <a:solidFill>
            <a:schemeClr val="accent4"/>
          </a:solidFill>
          <a:ln w="12700">
            <a:solidFill>
              <a:srgbClr val="FFFFFF">
                <a:alpha val="0"/>
              </a:srgbClr>
            </a:solidFill>
            <a:prstDash val="solid"/>
          </a:ln>
        </p:spPr>
      </p:sp>
      <p:sp>
        <p:nvSpPr>
          <p:cNvPr id="48" name="Text 44"/>
          <p:cNvSpPr txBox="1"/>
          <p:nvPr/>
        </p:nvSpPr>
        <p:spPr>
          <a:xfrm>
            <a:off x="9692640" y="5476304"/>
            <a:ext cx="1874520" cy="329184"/>
          </a:xfrm>
          <a:prstGeom prst="rect">
            <a:avLst/>
          </a:prstGeom>
          <a:noFill/>
          <a:ln/>
        </p:spPr>
        <p:txBody>
          <a:bodyPr wrap="square" lIns="0" tIns="0" rIns="0" bIns="0" rtlCol="0" anchor="ctr"/>
          <a:lstStyle/>
          <a:p>
            <a:pPr algn="ctr" indent="0" marL="0">
              <a:buNone/>
            </a:pPr>
            <a:r>
              <a:rPr lang="en-US" sz="1200" b="1" dirty="0">
                <a:solidFill>
                  <a:schemeClr val="bg1"/>
                </a:solidFill>
              </a:rPr>
              <a:t>past simple</a:t>
            </a:r>
            <a:endParaRPr lang="en-US" sz="1200" dirty="0"/>
          </a:p>
        </p:txBody>
      </p:sp>
      <p:sp>
        <p:nvSpPr>
          <p:cNvPr id="49" name="Text 45"/>
          <p:cNvSpPr txBox="1"/>
          <p:nvPr/>
        </p:nvSpPr>
        <p:spPr>
          <a:xfrm>
            <a:off x="548640" y="5943600"/>
            <a:ext cx="11091672" cy="329184"/>
          </a:xfrm>
          <a:prstGeom prst="rect">
            <a:avLst/>
          </a:prstGeom>
          <a:noFill/>
          <a:ln/>
        </p:spPr>
        <p:txBody>
          <a:bodyPr wrap="square" lIns="0" tIns="0" rIns="0" bIns="0" rtlCol="0" anchor="t"/>
          <a:lstStyle/>
          <a:p>
            <a:pPr algn="ctr" indent="0" marL="0">
              <a:buNone/>
            </a:pPr>
            <a:r>
              <a:rPr lang="en-US" sz="1300" i="1" dirty="0">
                <a:solidFill>
                  <a:schemeClr val="accent5"/>
                </a:solidFill>
              </a:rPr>
              <a:t>Indices : 1 résultat · 2 </a:t>
            </a:r>
            <a:r>
              <a:rPr lang="en-US" sz="1300" i="1" dirty="0">
                <a:solidFill>
                  <a:schemeClr val="accent5"/>
                </a:solidFill>
              </a:rPr>
              <a:t>yesterday</a:t>
            </a:r>
            <a:r>
              <a:rPr lang="en-US" sz="1300" i="1" dirty="0">
                <a:solidFill>
                  <a:schemeClr val="accent5"/>
                </a:solidFill>
              </a:rPr>
              <a:t> · 3 </a:t>
            </a:r>
            <a:r>
              <a:rPr lang="en-US" sz="1300" i="1" dirty="0">
                <a:solidFill>
                  <a:schemeClr val="accent5"/>
                </a:solidFill>
              </a:rPr>
              <a:t>since</a:t>
            </a:r>
            <a:r>
              <a:rPr lang="en-US" sz="1300" i="1" dirty="0">
                <a:solidFill>
                  <a:schemeClr val="accent5"/>
                </a:solidFill>
              </a:rPr>
              <a:t> · 4 </a:t>
            </a:r>
            <a:r>
              <a:rPr lang="en-US" sz="1300" i="1" dirty="0">
                <a:solidFill>
                  <a:schemeClr val="accent5"/>
                </a:solidFill>
              </a:rPr>
              <a:t>from… to…</a:t>
            </a:r>
            <a:r>
              <a:rPr lang="en-US" sz="1300" i="1" dirty="0">
                <a:solidFill>
                  <a:schemeClr val="accent5"/>
                </a:solidFill>
              </a:rPr>
              <a:t> (fini) · 5 </a:t>
            </a:r>
            <a:r>
              <a:rPr lang="en-US" sz="1300" i="1" dirty="0">
                <a:solidFill>
                  <a:schemeClr val="accent5"/>
                </a:solidFill>
              </a:rPr>
              <a:t>ever</a:t>
            </a:r>
            <a:r>
              <a:rPr lang="en-US" sz="1300" i="1" dirty="0">
                <a:solidFill>
                  <a:schemeClr val="accent5"/>
                </a:solidFill>
              </a:rPr>
              <a:t> · 6 </a:t>
            </a:r>
            <a:r>
              <a:rPr lang="en-US" sz="1300" i="1" dirty="0">
                <a:solidFill>
                  <a:schemeClr val="accent5"/>
                </a:solidFill>
              </a:rPr>
              <a:t>last night</a:t>
            </a:r>
            <a:r>
              <a:rPr lang="en-US" sz="1300" i="1" dirty="0">
                <a:solidFill>
                  <a:schemeClr val="accent5"/>
                </a:solidFill>
              </a:rPr>
              <a:t> · 7 </a:t>
            </a:r>
            <a:r>
              <a:rPr lang="en-US" sz="1300" i="1" dirty="0">
                <a:solidFill>
                  <a:schemeClr val="accent5"/>
                </a:solidFill>
              </a:rPr>
              <a:t>yet</a:t>
            </a:r>
            <a:r>
              <a:rPr lang="en-US" sz="1300" i="1" dirty="0">
                <a:solidFill>
                  <a:schemeClr val="accent5"/>
                </a:solidFill>
              </a:rPr>
              <a:t> · 8 </a:t>
            </a:r>
            <a:r>
              <a:rPr lang="en-US" sz="1300" i="1" dirty="0">
                <a:solidFill>
                  <a:schemeClr val="accent5"/>
                </a:solidFill>
              </a:rPr>
              <a:t>ago</a:t>
            </a:r>
            <a:r>
              <a:rPr lang="en-US" sz="1300" i="1" dirty="0">
                <a:solidFill>
                  <a:schemeClr val="accent5"/>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7 — The dialogue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Complete the conversation: news (present perfect), then details (past simple).</a:t>
            </a:r>
            <a:endParaRPr lang="en-US" sz="1700" dirty="0"/>
          </a:p>
        </p:txBody>
      </p:sp>
      <p:sp>
        <p:nvSpPr>
          <p:cNvPr id="8" name="Shape 4"/>
          <p:cNvSpPr/>
          <p:nvPr/>
        </p:nvSpPr>
        <p:spPr>
          <a:xfrm>
            <a:off x="868680" y="1978152"/>
            <a:ext cx="9601200" cy="604520"/>
          </a:xfrm>
          <a:prstGeom prst="roundRect">
            <a:avLst>
              <a:gd name="adj" fmla="val 30252"/>
            </a:avLst>
          </a:prstGeom>
          <a:solidFill>
            <a:srgbClr val="EAF2FB"/>
          </a:solidFill>
          <a:ln w="15875">
            <a:solidFill>
              <a:srgbClr val="2A6FB0"/>
            </a:solidFill>
            <a:prstDash val="solid"/>
          </a:ln>
        </p:spPr>
      </p:sp>
      <p:sp>
        <p:nvSpPr>
          <p:cNvPr id="9" name="Text 5"/>
          <p:cNvSpPr txBox="1"/>
          <p:nvPr/>
        </p:nvSpPr>
        <p:spPr>
          <a:xfrm>
            <a:off x="548640" y="1978152"/>
            <a:ext cx="274320" cy="604520"/>
          </a:xfrm>
          <a:prstGeom prst="rect">
            <a:avLst/>
          </a:prstGeom>
          <a:noFill/>
          <a:ln/>
        </p:spPr>
        <p:txBody>
          <a:bodyPr wrap="square" lIns="0" tIns="0" rIns="0" bIns="0" rtlCol="0" anchor="ctr"/>
          <a:lstStyle/>
          <a:p>
            <a:pPr algn="ctr" indent="0" marL="0">
              <a:buNone/>
            </a:pPr>
            <a:r>
              <a:rPr lang="en-US" sz="1400" b="1" dirty="0">
                <a:solidFill>
                  <a:schemeClr val="accent2"/>
                </a:solidFill>
              </a:rPr>
              <a:t>A</a:t>
            </a:r>
            <a:endParaRPr lang="en-US" sz="1400" dirty="0"/>
          </a:p>
        </p:txBody>
      </p:sp>
      <p:sp>
        <p:nvSpPr>
          <p:cNvPr id="10" name="Text 6"/>
          <p:cNvSpPr txBox="1"/>
          <p:nvPr/>
        </p:nvSpPr>
        <p:spPr>
          <a:xfrm>
            <a:off x="1097280" y="1978152"/>
            <a:ext cx="9144000" cy="604520"/>
          </a:xfrm>
          <a:prstGeom prst="rect">
            <a:avLst/>
          </a:prstGeom>
          <a:noFill/>
          <a:ln/>
        </p:spPr>
        <p:txBody>
          <a:bodyPr wrap="square" lIns="0" tIns="0" rIns="0" bIns="0" rtlCol="0" anchor="ctr"/>
          <a:lstStyle/>
          <a:p>
            <a:pPr algn="l" indent="0" marL="0">
              <a:buNone/>
            </a:pPr>
            <a:r>
              <a:rPr lang="en-US" sz="1700" i="1" dirty="0">
                <a:solidFill>
                  <a:schemeClr val="accent5"/>
                </a:solidFill>
              </a:rPr>
              <a:t>…………</a:t>
            </a:r>
            <a:r>
              <a:rPr lang="en-US" sz="1700" i="1" dirty="0">
                <a:solidFill>
                  <a:schemeClr val="tx1"/>
                </a:solidFill>
              </a:rPr>
              <a:t> you ever </a:t>
            </a:r>
            <a:r>
              <a:rPr lang="en-US" sz="1700" i="1" dirty="0">
                <a:solidFill>
                  <a:schemeClr val="accent5"/>
                </a:solidFill>
              </a:rPr>
              <a:t>…………</a:t>
            </a:r>
            <a:r>
              <a:rPr lang="en-US" sz="1700" i="1" dirty="0">
                <a:solidFill>
                  <a:schemeClr val="tx1"/>
                </a:solidFill>
              </a:rPr>
              <a:t> (be) to New York?</a:t>
            </a:r>
            <a:endParaRPr lang="en-US" sz="1700" dirty="0"/>
          </a:p>
        </p:txBody>
      </p:sp>
      <p:sp>
        <p:nvSpPr>
          <p:cNvPr id="11" name="Shape 7"/>
          <p:cNvSpPr/>
          <p:nvPr/>
        </p:nvSpPr>
        <p:spPr>
          <a:xfrm>
            <a:off x="2011680" y="2692400"/>
            <a:ext cx="9601200" cy="604520"/>
          </a:xfrm>
          <a:prstGeom prst="roundRect">
            <a:avLst>
              <a:gd name="adj" fmla="val 30252"/>
            </a:avLst>
          </a:prstGeom>
          <a:solidFill>
            <a:srgbClr val="F1ECF7"/>
          </a:solidFill>
          <a:ln w="15875">
            <a:solidFill>
              <a:srgbClr val="6E4A9E"/>
            </a:solidFill>
            <a:prstDash val="solid"/>
          </a:ln>
        </p:spPr>
      </p:sp>
      <p:sp>
        <p:nvSpPr>
          <p:cNvPr id="12" name="Text 8"/>
          <p:cNvSpPr txBox="1"/>
          <p:nvPr/>
        </p:nvSpPr>
        <p:spPr>
          <a:xfrm>
            <a:off x="1691640" y="2692400"/>
            <a:ext cx="274320" cy="604520"/>
          </a:xfrm>
          <a:prstGeom prst="rect">
            <a:avLst/>
          </a:prstGeom>
          <a:noFill/>
          <a:ln/>
        </p:spPr>
        <p:txBody>
          <a:bodyPr wrap="square" lIns="0" tIns="0" rIns="0" bIns="0" rtlCol="0" anchor="ctr"/>
          <a:lstStyle/>
          <a:p>
            <a:pPr algn="ctr" indent="0" marL="0">
              <a:buNone/>
            </a:pPr>
            <a:r>
              <a:rPr lang="en-US" sz="1400" b="1" dirty="0">
                <a:solidFill>
                  <a:srgbClr val="6E4A9E"/>
                </a:solidFill>
              </a:rPr>
              <a:t>B</a:t>
            </a:r>
            <a:endParaRPr lang="en-US" sz="1400" dirty="0"/>
          </a:p>
        </p:txBody>
      </p:sp>
      <p:sp>
        <p:nvSpPr>
          <p:cNvPr id="13" name="Text 9"/>
          <p:cNvSpPr txBox="1"/>
          <p:nvPr/>
        </p:nvSpPr>
        <p:spPr>
          <a:xfrm>
            <a:off x="2240280" y="2692400"/>
            <a:ext cx="9144000" cy="604520"/>
          </a:xfrm>
          <a:prstGeom prst="rect">
            <a:avLst/>
          </a:prstGeom>
          <a:noFill/>
          <a:ln/>
        </p:spPr>
        <p:txBody>
          <a:bodyPr wrap="square" lIns="0" tIns="0" rIns="0" bIns="0" rtlCol="0" anchor="ctr"/>
          <a:lstStyle/>
          <a:p>
            <a:pPr algn="l" indent="0" marL="0">
              <a:buNone/>
            </a:pPr>
            <a:r>
              <a:rPr lang="en-US" sz="1700" i="1" dirty="0">
                <a:solidFill>
                  <a:schemeClr val="tx1"/>
                </a:solidFill>
              </a:rPr>
              <a:t>Yes, I </a:t>
            </a:r>
            <a:r>
              <a:rPr lang="en-US" sz="1700" i="1" dirty="0">
                <a:solidFill>
                  <a:schemeClr val="accent5"/>
                </a:solidFill>
              </a:rPr>
              <a:t>…………</a:t>
            </a:r>
            <a:r>
              <a:rPr lang="en-US" sz="1700" i="1" dirty="0">
                <a:solidFill>
                  <a:schemeClr val="tx1"/>
                </a:solidFill>
              </a:rPr>
              <a:t>. I </a:t>
            </a:r>
            <a:r>
              <a:rPr lang="en-US" sz="1700" i="1" dirty="0">
                <a:solidFill>
                  <a:schemeClr val="accent5"/>
                </a:solidFill>
              </a:rPr>
              <a:t>…………</a:t>
            </a:r>
            <a:r>
              <a:rPr lang="en-US" sz="1700" i="1" dirty="0">
                <a:solidFill>
                  <a:schemeClr val="tx1"/>
                </a:solidFill>
              </a:rPr>
              <a:t> (go) there in 2022.</a:t>
            </a:r>
            <a:endParaRPr lang="en-US" sz="1700" dirty="0"/>
          </a:p>
        </p:txBody>
      </p:sp>
      <p:sp>
        <p:nvSpPr>
          <p:cNvPr id="14" name="Shape 10"/>
          <p:cNvSpPr/>
          <p:nvPr/>
        </p:nvSpPr>
        <p:spPr>
          <a:xfrm>
            <a:off x="868680" y="3406648"/>
            <a:ext cx="9601200" cy="604520"/>
          </a:xfrm>
          <a:prstGeom prst="roundRect">
            <a:avLst>
              <a:gd name="adj" fmla="val 30252"/>
            </a:avLst>
          </a:prstGeom>
          <a:solidFill>
            <a:srgbClr val="EAF2FB"/>
          </a:solidFill>
          <a:ln w="15875">
            <a:solidFill>
              <a:srgbClr val="2A6FB0"/>
            </a:solidFill>
            <a:prstDash val="solid"/>
          </a:ln>
        </p:spPr>
      </p:sp>
      <p:sp>
        <p:nvSpPr>
          <p:cNvPr id="15" name="Text 11"/>
          <p:cNvSpPr txBox="1"/>
          <p:nvPr/>
        </p:nvSpPr>
        <p:spPr>
          <a:xfrm>
            <a:off x="548640" y="3406648"/>
            <a:ext cx="274320" cy="604520"/>
          </a:xfrm>
          <a:prstGeom prst="rect">
            <a:avLst/>
          </a:prstGeom>
          <a:noFill/>
          <a:ln/>
        </p:spPr>
        <p:txBody>
          <a:bodyPr wrap="square" lIns="0" tIns="0" rIns="0" bIns="0" rtlCol="0" anchor="ctr"/>
          <a:lstStyle/>
          <a:p>
            <a:pPr algn="ctr" indent="0" marL="0">
              <a:buNone/>
            </a:pPr>
            <a:r>
              <a:rPr lang="en-US" sz="1400" b="1" dirty="0">
                <a:solidFill>
                  <a:schemeClr val="accent2"/>
                </a:solidFill>
              </a:rPr>
              <a:t>A</a:t>
            </a:r>
            <a:endParaRPr lang="en-US" sz="1400" dirty="0"/>
          </a:p>
        </p:txBody>
      </p:sp>
      <p:sp>
        <p:nvSpPr>
          <p:cNvPr id="16" name="Text 12"/>
          <p:cNvSpPr txBox="1"/>
          <p:nvPr/>
        </p:nvSpPr>
        <p:spPr>
          <a:xfrm>
            <a:off x="1097280" y="3406648"/>
            <a:ext cx="9144000" cy="604520"/>
          </a:xfrm>
          <a:prstGeom prst="rect">
            <a:avLst/>
          </a:prstGeom>
          <a:noFill/>
          <a:ln/>
        </p:spPr>
        <p:txBody>
          <a:bodyPr wrap="square" lIns="0" tIns="0" rIns="0" bIns="0" rtlCol="0" anchor="ctr"/>
          <a:lstStyle/>
          <a:p>
            <a:pPr algn="l" indent="0" marL="0">
              <a:buNone/>
            </a:pPr>
            <a:r>
              <a:rPr lang="en-US" sz="1700" i="1" dirty="0">
                <a:solidFill>
                  <a:schemeClr val="tx1"/>
                </a:solidFill>
              </a:rPr>
              <a:t>What </a:t>
            </a:r>
            <a:r>
              <a:rPr lang="en-US" sz="1700" i="1" dirty="0">
                <a:solidFill>
                  <a:schemeClr val="accent5"/>
                </a:solidFill>
              </a:rPr>
              <a:t>…………</a:t>
            </a:r>
            <a:r>
              <a:rPr lang="en-US" sz="1700" i="1" dirty="0">
                <a:solidFill>
                  <a:schemeClr val="tx1"/>
                </a:solidFill>
              </a:rPr>
              <a:t> you </a:t>
            </a:r>
            <a:r>
              <a:rPr lang="en-US" sz="1700" i="1" dirty="0">
                <a:solidFill>
                  <a:schemeClr val="accent5"/>
                </a:solidFill>
              </a:rPr>
              <a:t>…………</a:t>
            </a:r>
            <a:r>
              <a:rPr lang="en-US" sz="1700" i="1" dirty="0">
                <a:solidFill>
                  <a:schemeClr val="tx1"/>
                </a:solidFill>
              </a:rPr>
              <a:t> (do) there?</a:t>
            </a:r>
            <a:endParaRPr lang="en-US" sz="1700" dirty="0"/>
          </a:p>
        </p:txBody>
      </p:sp>
      <p:sp>
        <p:nvSpPr>
          <p:cNvPr id="17" name="Shape 13"/>
          <p:cNvSpPr/>
          <p:nvPr/>
        </p:nvSpPr>
        <p:spPr>
          <a:xfrm>
            <a:off x="2011680" y="4120896"/>
            <a:ext cx="9601200" cy="604520"/>
          </a:xfrm>
          <a:prstGeom prst="roundRect">
            <a:avLst>
              <a:gd name="adj" fmla="val 30252"/>
            </a:avLst>
          </a:prstGeom>
          <a:solidFill>
            <a:srgbClr val="F1ECF7"/>
          </a:solidFill>
          <a:ln w="15875">
            <a:solidFill>
              <a:srgbClr val="6E4A9E"/>
            </a:solidFill>
            <a:prstDash val="solid"/>
          </a:ln>
        </p:spPr>
      </p:sp>
      <p:sp>
        <p:nvSpPr>
          <p:cNvPr id="18" name="Text 14"/>
          <p:cNvSpPr txBox="1"/>
          <p:nvPr/>
        </p:nvSpPr>
        <p:spPr>
          <a:xfrm>
            <a:off x="1691640" y="4120896"/>
            <a:ext cx="274320" cy="604520"/>
          </a:xfrm>
          <a:prstGeom prst="rect">
            <a:avLst/>
          </a:prstGeom>
          <a:noFill/>
          <a:ln/>
        </p:spPr>
        <p:txBody>
          <a:bodyPr wrap="square" lIns="0" tIns="0" rIns="0" bIns="0" rtlCol="0" anchor="ctr"/>
          <a:lstStyle/>
          <a:p>
            <a:pPr algn="ctr" indent="0" marL="0">
              <a:buNone/>
            </a:pPr>
            <a:r>
              <a:rPr lang="en-US" sz="1400" b="1" dirty="0">
                <a:solidFill>
                  <a:srgbClr val="6E4A9E"/>
                </a:solidFill>
              </a:rPr>
              <a:t>B</a:t>
            </a:r>
            <a:endParaRPr lang="en-US" sz="1400" dirty="0"/>
          </a:p>
        </p:txBody>
      </p:sp>
      <p:sp>
        <p:nvSpPr>
          <p:cNvPr id="19" name="Text 15"/>
          <p:cNvSpPr txBox="1"/>
          <p:nvPr/>
        </p:nvSpPr>
        <p:spPr>
          <a:xfrm>
            <a:off x="2240280" y="4120896"/>
            <a:ext cx="9144000" cy="604520"/>
          </a:xfrm>
          <a:prstGeom prst="rect">
            <a:avLst/>
          </a:prstGeom>
          <a:noFill/>
          <a:ln/>
        </p:spPr>
        <p:txBody>
          <a:bodyPr wrap="square" lIns="0" tIns="0" rIns="0" bIns="0" rtlCol="0" anchor="ctr"/>
          <a:lstStyle/>
          <a:p>
            <a:pPr algn="l" indent="0" marL="0">
              <a:buNone/>
            </a:pPr>
            <a:r>
              <a:rPr lang="en-US" sz="1700" i="1" dirty="0">
                <a:solidFill>
                  <a:schemeClr val="tx1"/>
                </a:solidFill>
              </a:rPr>
              <a:t>I </a:t>
            </a:r>
            <a:r>
              <a:rPr lang="en-US" sz="1700" i="1" dirty="0">
                <a:solidFill>
                  <a:schemeClr val="accent5"/>
                </a:solidFill>
              </a:rPr>
              <a:t>…………</a:t>
            </a:r>
            <a:r>
              <a:rPr lang="en-US" sz="1700" i="1" dirty="0">
                <a:solidFill>
                  <a:schemeClr val="tx1"/>
                </a:solidFill>
              </a:rPr>
              <a:t> (visit) the museums and I </a:t>
            </a:r>
            <a:r>
              <a:rPr lang="en-US" sz="1700" i="1" dirty="0">
                <a:solidFill>
                  <a:schemeClr val="accent5"/>
                </a:solidFill>
              </a:rPr>
              <a:t>…………</a:t>
            </a:r>
            <a:r>
              <a:rPr lang="en-US" sz="1700" i="1" dirty="0">
                <a:solidFill>
                  <a:schemeClr val="tx1"/>
                </a:solidFill>
              </a:rPr>
              <a:t> (see) a show.</a:t>
            </a:r>
            <a:endParaRPr lang="en-US" sz="1700" dirty="0"/>
          </a:p>
        </p:txBody>
      </p:sp>
      <p:sp>
        <p:nvSpPr>
          <p:cNvPr id="20" name="Shape 16"/>
          <p:cNvSpPr/>
          <p:nvPr/>
        </p:nvSpPr>
        <p:spPr>
          <a:xfrm>
            <a:off x="868680" y="4835144"/>
            <a:ext cx="9601200" cy="604520"/>
          </a:xfrm>
          <a:prstGeom prst="roundRect">
            <a:avLst>
              <a:gd name="adj" fmla="val 30252"/>
            </a:avLst>
          </a:prstGeom>
          <a:solidFill>
            <a:srgbClr val="EAF2FB"/>
          </a:solidFill>
          <a:ln w="15875">
            <a:solidFill>
              <a:srgbClr val="2A6FB0"/>
            </a:solidFill>
            <a:prstDash val="solid"/>
          </a:ln>
        </p:spPr>
      </p:sp>
      <p:sp>
        <p:nvSpPr>
          <p:cNvPr id="21" name="Text 17"/>
          <p:cNvSpPr txBox="1"/>
          <p:nvPr/>
        </p:nvSpPr>
        <p:spPr>
          <a:xfrm>
            <a:off x="548640" y="4835144"/>
            <a:ext cx="274320" cy="604520"/>
          </a:xfrm>
          <a:prstGeom prst="rect">
            <a:avLst/>
          </a:prstGeom>
          <a:noFill/>
          <a:ln/>
        </p:spPr>
        <p:txBody>
          <a:bodyPr wrap="square" lIns="0" tIns="0" rIns="0" bIns="0" rtlCol="0" anchor="ctr"/>
          <a:lstStyle/>
          <a:p>
            <a:pPr algn="ctr" indent="0" marL="0">
              <a:buNone/>
            </a:pPr>
            <a:r>
              <a:rPr lang="en-US" sz="1400" b="1" dirty="0">
                <a:solidFill>
                  <a:schemeClr val="accent2"/>
                </a:solidFill>
              </a:rPr>
              <a:t>A</a:t>
            </a:r>
            <a:endParaRPr lang="en-US" sz="1400" dirty="0"/>
          </a:p>
        </p:txBody>
      </p:sp>
      <p:sp>
        <p:nvSpPr>
          <p:cNvPr id="22" name="Text 18"/>
          <p:cNvSpPr txBox="1"/>
          <p:nvPr/>
        </p:nvSpPr>
        <p:spPr>
          <a:xfrm>
            <a:off x="1097280" y="4835144"/>
            <a:ext cx="9144000" cy="604520"/>
          </a:xfrm>
          <a:prstGeom prst="rect">
            <a:avLst/>
          </a:prstGeom>
          <a:noFill/>
          <a:ln/>
        </p:spPr>
        <p:txBody>
          <a:bodyPr wrap="square" lIns="0" tIns="0" rIns="0" bIns="0" rtlCol="0" anchor="ctr"/>
          <a:lstStyle/>
          <a:p>
            <a:pPr algn="l" indent="0" marL="0">
              <a:buNone/>
            </a:pPr>
            <a:r>
              <a:rPr lang="en-US" sz="1700" i="1" dirty="0">
                <a:solidFill>
                  <a:schemeClr val="tx1"/>
                </a:solidFill>
              </a:rPr>
              <a:t>Wow! I </a:t>
            </a:r>
            <a:r>
              <a:rPr lang="en-US" sz="1700" i="1" dirty="0">
                <a:solidFill>
                  <a:schemeClr val="accent5"/>
                </a:solidFill>
              </a:rPr>
              <a:t>…………</a:t>
            </a:r>
            <a:r>
              <a:rPr lang="en-US" sz="1700" i="1" dirty="0">
                <a:solidFill>
                  <a:schemeClr val="tx1"/>
                </a:solidFill>
              </a:rPr>
              <a:t> never </a:t>
            </a:r>
            <a:r>
              <a:rPr lang="en-US" sz="1700" i="1" dirty="0">
                <a:solidFill>
                  <a:schemeClr val="accent5"/>
                </a:solidFill>
              </a:rPr>
              <a:t>…………</a:t>
            </a:r>
            <a:r>
              <a:rPr lang="en-US" sz="1700" i="1" dirty="0">
                <a:solidFill>
                  <a:schemeClr val="tx1"/>
                </a:solidFill>
              </a:rPr>
              <a:t> (be) to the USA.</a:t>
            </a:r>
            <a:endParaRPr lang="en-US" sz="1700" dirty="0"/>
          </a:p>
        </p:txBody>
      </p:sp>
      <p:sp>
        <p:nvSpPr>
          <p:cNvPr id="23" name="Shape 19"/>
          <p:cNvSpPr/>
          <p:nvPr/>
        </p:nvSpPr>
        <p:spPr>
          <a:xfrm>
            <a:off x="2011680" y="5549392"/>
            <a:ext cx="9601200" cy="604520"/>
          </a:xfrm>
          <a:prstGeom prst="roundRect">
            <a:avLst>
              <a:gd name="adj" fmla="val 30252"/>
            </a:avLst>
          </a:prstGeom>
          <a:solidFill>
            <a:srgbClr val="F1ECF7"/>
          </a:solidFill>
          <a:ln w="15875">
            <a:solidFill>
              <a:srgbClr val="6E4A9E"/>
            </a:solidFill>
            <a:prstDash val="solid"/>
          </a:ln>
        </p:spPr>
      </p:sp>
      <p:sp>
        <p:nvSpPr>
          <p:cNvPr id="24" name="Text 20"/>
          <p:cNvSpPr txBox="1"/>
          <p:nvPr/>
        </p:nvSpPr>
        <p:spPr>
          <a:xfrm>
            <a:off x="1691640" y="5549392"/>
            <a:ext cx="274320" cy="604520"/>
          </a:xfrm>
          <a:prstGeom prst="rect">
            <a:avLst/>
          </a:prstGeom>
          <a:noFill/>
          <a:ln/>
        </p:spPr>
        <p:txBody>
          <a:bodyPr wrap="square" lIns="0" tIns="0" rIns="0" bIns="0" rtlCol="0" anchor="ctr"/>
          <a:lstStyle/>
          <a:p>
            <a:pPr algn="ctr" indent="0" marL="0">
              <a:buNone/>
            </a:pPr>
            <a:r>
              <a:rPr lang="en-US" sz="1400" b="1" dirty="0">
                <a:solidFill>
                  <a:srgbClr val="6E4A9E"/>
                </a:solidFill>
              </a:rPr>
              <a:t>B</a:t>
            </a:r>
            <a:endParaRPr lang="en-US" sz="1400" dirty="0"/>
          </a:p>
        </p:txBody>
      </p:sp>
      <p:sp>
        <p:nvSpPr>
          <p:cNvPr id="25" name="Text 21"/>
          <p:cNvSpPr txBox="1"/>
          <p:nvPr/>
        </p:nvSpPr>
        <p:spPr>
          <a:xfrm>
            <a:off x="2240280" y="5549392"/>
            <a:ext cx="9144000" cy="604520"/>
          </a:xfrm>
          <a:prstGeom prst="rect">
            <a:avLst/>
          </a:prstGeom>
          <a:noFill/>
          <a:ln/>
        </p:spPr>
        <p:txBody>
          <a:bodyPr wrap="square" lIns="0" tIns="0" rIns="0" bIns="0" rtlCol="0" anchor="ctr"/>
          <a:lstStyle/>
          <a:p>
            <a:pPr algn="l" indent="0" marL="0">
              <a:buNone/>
            </a:pPr>
            <a:r>
              <a:rPr lang="en-US" sz="1700" i="1" dirty="0">
                <a:solidFill>
                  <a:schemeClr val="tx1"/>
                </a:solidFill>
              </a:rPr>
              <a:t>You should go! </a:t>
            </a:r>
            <a:r>
              <a:rPr lang="en-US" sz="1700" i="1" dirty="0">
                <a:solidFill>
                  <a:schemeClr val="accent5"/>
                </a:solidFill>
              </a:rPr>
              <a:t>…………</a:t>
            </a:r>
            <a:r>
              <a:rPr lang="en-US" sz="1700" i="1" dirty="0">
                <a:solidFill>
                  <a:schemeClr val="tx1"/>
                </a:solidFill>
              </a:rPr>
              <a:t> you </a:t>
            </a:r>
            <a:r>
              <a:rPr lang="en-US" sz="1700" i="1" dirty="0">
                <a:solidFill>
                  <a:schemeClr val="accent5"/>
                </a:solidFill>
              </a:rPr>
              <a:t>…………</a:t>
            </a:r>
            <a:r>
              <a:rPr lang="en-US" sz="1700" i="1" dirty="0">
                <a:solidFill>
                  <a:schemeClr val="tx1"/>
                </a:solidFill>
              </a:rPr>
              <a:t> (book) your summer holiday yet?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7 — The dialogue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Complete the conversation: news (present perfect), then details (past simple).</a:t>
            </a:r>
            <a:endParaRPr lang="en-US" sz="1700" dirty="0"/>
          </a:p>
        </p:txBody>
      </p:sp>
      <p:sp>
        <p:nvSpPr>
          <p:cNvPr id="9" name="Shape 5"/>
          <p:cNvSpPr/>
          <p:nvPr/>
        </p:nvSpPr>
        <p:spPr>
          <a:xfrm>
            <a:off x="868680" y="1978152"/>
            <a:ext cx="9601200" cy="604520"/>
          </a:xfrm>
          <a:prstGeom prst="roundRect">
            <a:avLst>
              <a:gd name="adj" fmla="val 30252"/>
            </a:avLst>
          </a:prstGeom>
          <a:solidFill>
            <a:srgbClr val="EAF2FB"/>
          </a:solidFill>
          <a:ln w="15875">
            <a:solidFill>
              <a:srgbClr val="2A6FB0"/>
            </a:solidFill>
            <a:prstDash val="solid"/>
          </a:ln>
        </p:spPr>
      </p:sp>
      <p:sp>
        <p:nvSpPr>
          <p:cNvPr id="10" name="Text 6"/>
          <p:cNvSpPr txBox="1"/>
          <p:nvPr/>
        </p:nvSpPr>
        <p:spPr>
          <a:xfrm>
            <a:off x="548640" y="1978152"/>
            <a:ext cx="274320" cy="604520"/>
          </a:xfrm>
          <a:prstGeom prst="rect">
            <a:avLst/>
          </a:prstGeom>
          <a:noFill/>
          <a:ln/>
        </p:spPr>
        <p:txBody>
          <a:bodyPr wrap="square" lIns="0" tIns="0" rIns="0" bIns="0" rtlCol="0" anchor="ctr"/>
          <a:lstStyle/>
          <a:p>
            <a:pPr algn="ctr" indent="0" marL="0">
              <a:buNone/>
            </a:pPr>
            <a:r>
              <a:rPr lang="en-US" sz="1400" b="1" dirty="0">
                <a:solidFill>
                  <a:schemeClr val="accent2"/>
                </a:solidFill>
              </a:rPr>
              <a:t>A</a:t>
            </a:r>
            <a:endParaRPr lang="en-US" sz="1400" dirty="0"/>
          </a:p>
        </p:txBody>
      </p:sp>
      <p:sp>
        <p:nvSpPr>
          <p:cNvPr id="11" name="Text 7"/>
          <p:cNvSpPr txBox="1"/>
          <p:nvPr/>
        </p:nvSpPr>
        <p:spPr>
          <a:xfrm>
            <a:off x="1097280" y="1978152"/>
            <a:ext cx="9144000" cy="604520"/>
          </a:xfrm>
          <a:prstGeom prst="rect">
            <a:avLst/>
          </a:prstGeom>
          <a:noFill/>
          <a:ln/>
        </p:spPr>
        <p:txBody>
          <a:bodyPr wrap="square" lIns="0" tIns="0" rIns="0" bIns="0" rtlCol="0" anchor="ctr"/>
          <a:lstStyle/>
          <a:p>
            <a:pPr algn="l" indent="0" marL="0">
              <a:buNone/>
            </a:pPr>
            <a:r>
              <a:rPr lang="en-US" sz="1700" b="1" i="1" dirty="0">
                <a:solidFill>
                  <a:schemeClr val="accent3"/>
                </a:solidFill>
              </a:rPr>
              <a:t>Have</a:t>
            </a:r>
            <a:r>
              <a:rPr lang="en-US" sz="1700" i="1" dirty="0">
                <a:solidFill>
                  <a:schemeClr val="tx1"/>
                </a:solidFill>
              </a:rPr>
              <a:t> you ever </a:t>
            </a:r>
            <a:r>
              <a:rPr lang="en-US" sz="1700" b="1" i="1" dirty="0">
                <a:solidFill>
                  <a:schemeClr val="accent3"/>
                </a:solidFill>
              </a:rPr>
              <a:t>been</a:t>
            </a:r>
            <a:r>
              <a:rPr lang="en-US" sz="1700" i="1" dirty="0">
                <a:solidFill>
                  <a:schemeClr val="tx1"/>
                </a:solidFill>
              </a:rPr>
              <a:t> (be) to New York?</a:t>
            </a:r>
            <a:endParaRPr lang="en-US" sz="1700" dirty="0"/>
          </a:p>
        </p:txBody>
      </p:sp>
      <p:sp>
        <p:nvSpPr>
          <p:cNvPr id="12" name="Shape 8"/>
          <p:cNvSpPr/>
          <p:nvPr/>
        </p:nvSpPr>
        <p:spPr>
          <a:xfrm>
            <a:off x="2011680" y="2692400"/>
            <a:ext cx="9601200" cy="604520"/>
          </a:xfrm>
          <a:prstGeom prst="roundRect">
            <a:avLst>
              <a:gd name="adj" fmla="val 30252"/>
            </a:avLst>
          </a:prstGeom>
          <a:solidFill>
            <a:srgbClr val="F1ECF7"/>
          </a:solidFill>
          <a:ln w="15875">
            <a:solidFill>
              <a:srgbClr val="6E4A9E"/>
            </a:solidFill>
            <a:prstDash val="solid"/>
          </a:ln>
        </p:spPr>
      </p:sp>
      <p:sp>
        <p:nvSpPr>
          <p:cNvPr id="13" name="Text 9"/>
          <p:cNvSpPr txBox="1"/>
          <p:nvPr/>
        </p:nvSpPr>
        <p:spPr>
          <a:xfrm>
            <a:off x="1691640" y="2692400"/>
            <a:ext cx="274320" cy="604520"/>
          </a:xfrm>
          <a:prstGeom prst="rect">
            <a:avLst/>
          </a:prstGeom>
          <a:noFill/>
          <a:ln/>
        </p:spPr>
        <p:txBody>
          <a:bodyPr wrap="square" lIns="0" tIns="0" rIns="0" bIns="0" rtlCol="0" anchor="ctr"/>
          <a:lstStyle/>
          <a:p>
            <a:pPr algn="ctr" indent="0" marL="0">
              <a:buNone/>
            </a:pPr>
            <a:r>
              <a:rPr lang="en-US" sz="1400" b="1" dirty="0">
                <a:solidFill>
                  <a:srgbClr val="6E4A9E"/>
                </a:solidFill>
              </a:rPr>
              <a:t>B</a:t>
            </a:r>
            <a:endParaRPr lang="en-US" sz="1400" dirty="0"/>
          </a:p>
        </p:txBody>
      </p:sp>
      <p:sp>
        <p:nvSpPr>
          <p:cNvPr id="14" name="Text 10"/>
          <p:cNvSpPr txBox="1"/>
          <p:nvPr/>
        </p:nvSpPr>
        <p:spPr>
          <a:xfrm>
            <a:off x="2240280" y="2692400"/>
            <a:ext cx="9144000" cy="604520"/>
          </a:xfrm>
          <a:prstGeom prst="rect">
            <a:avLst/>
          </a:prstGeom>
          <a:noFill/>
          <a:ln/>
        </p:spPr>
        <p:txBody>
          <a:bodyPr wrap="square" lIns="0" tIns="0" rIns="0" bIns="0" rtlCol="0" anchor="ctr"/>
          <a:lstStyle/>
          <a:p>
            <a:pPr algn="l" indent="0" marL="0">
              <a:buNone/>
            </a:pPr>
            <a:r>
              <a:rPr lang="en-US" sz="1700" i="1" dirty="0">
                <a:solidFill>
                  <a:schemeClr val="tx1"/>
                </a:solidFill>
              </a:rPr>
              <a:t>Yes, I </a:t>
            </a:r>
            <a:r>
              <a:rPr lang="en-US" sz="1700" b="1" i="1" dirty="0">
                <a:solidFill>
                  <a:schemeClr val="accent3"/>
                </a:solidFill>
              </a:rPr>
              <a:t>have</a:t>
            </a:r>
            <a:r>
              <a:rPr lang="en-US" sz="1700" i="1" dirty="0">
                <a:solidFill>
                  <a:schemeClr val="tx1"/>
                </a:solidFill>
              </a:rPr>
              <a:t>. I </a:t>
            </a:r>
            <a:r>
              <a:rPr lang="en-US" sz="1700" b="1" i="1" dirty="0">
                <a:solidFill>
                  <a:schemeClr val="accent3"/>
                </a:solidFill>
              </a:rPr>
              <a:t>went</a:t>
            </a:r>
            <a:r>
              <a:rPr lang="en-US" sz="1700" i="1" dirty="0">
                <a:solidFill>
                  <a:schemeClr val="tx1"/>
                </a:solidFill>
              </a:rPr>
              <a:t> (go) there in 2022.</a:t>
            </a:r>
            <a:endParaRPr lang="en-US" sz="1700" dirty="0"/>
          </a:p>
        </p:txBody>
      </p:sp>
      <p:sp>
        <p:nvSpPr>
          <p:cNvPr id="15" name="Shape 11"/>
          <p:cNvSpPr/>
          <p:nvPr/>
        </p:nvSpPr>
        <p:spPr>
          <a:xfrm>
            <a:off x="868680" y="3406648"/>
            <a:ext cx="9601200" cy="604520"/>
          </a:xfrm>
          <a:prstGeom prst="roundRect">
            <a:avLst>
              <a:gd name="adj" fmla="val 30252"/>
            </a:avLst>
          </a:prstGeom>
          <a:solidFill>
            <a:srgbClr val="EAF2FB"/>
          </a:solidFill>
          <a:ln w="15875">
            <a:solidFill>
              <a:srgbClr val="2A6FB0"/>
            </a:solidFill>
            <a:prstDash val="solid"/>
          </a:ln>
        </p:spPr>
      </p:sp>
      <p:sp>
        <p:nvSpPr>
          <p:cNvPr id="16" name="Text 12"/>
          <p:cNvSpPr txBox="1"/>
          <p:nvPr/>
        </p:nvSpPr>
        <p:spPr>
          <a:xfrm>
            <a:off x="548640" y="3406648"/>
            <a:ext cx="274320" cy="604520"/>
          </a:xfrm>
          <a:prstGeom prst="rect">
            <a:avLst/>
          </a:prstGeom>
          <a:noFill/>
          <a:ln/>
        </p:spPr>
        <p:txBody>
          <a:bodyPr wrap="square" lIns="0" tIns="0" rIns="0" bIns="0" rtlCol="0" anchor="ctr"/>
          <a:lstStyle/>
          <a:p>
            <a:pPr algn="ctr" indent="0" marL="0">
              <a:buNone/>
            </a:pPr>
            <a:r>
              <a:rPr lang="en-US" sz="1400" b="1" dirty="0">
                <a:solidFill>
                  <a:schemeClr val="accent2"/>
                </a:solidFill>
              </a:rPr>
              <a:t>A</a:t>
            </a:r>
            <a:endParaRPr lang="en-US" sz="1400" dirty="0"/>
          </a:p>
        </p:txBody>
      </p:sp>
      <p:sp>
        <p:nvSpPr>
          <p:cNvPr id="17" name="Text 13"/>
          <p:cNvSpPr txBox="1"/>
          <p:nvPr/>
        </p:nvSpPr>
        <p:spPr>
          <a:xfrm>
            <a:off x="1097280" y="3406648"/>
            <a:ext cx="9144000" cy="604520"/>
          </a:xfrm>
          <a:prstGeom prst="rect">
            <a:avLst/>
          </a:prstGeom>
          <a:noFill/>
          <a:ln/>
        </p:spPr>
        <p:txBody>
          <a:bodyPr wrap="square" lIns="0" tIns="0" rIns="0" bIns="0" rtlCol="0" anchor="ctr"/>
          <a:lstStyle/>
          <a:p>
            <a:pPr algn="l" indent="0" marL="0">
              <a:buNone/>
            </a:pPr>
            <a:r>
              <a:rPr lang="en-US" sz="1700" i="1" dirty="0">
                <a:solidFill>
                  <a:schemeClr val="tx1"/>
                </a:solidFill>
              </a:rPr>
              <a:t>What </a:t>
            </a:r>
            <a:r>
              <a:rPr lang="en-US" sz="1700" b="1" i="1" dirty="0">
                <a:solidFill>
                  <a:schemeClr val="accent3"/>
                </a:solidFill>
              </a:rPr>
              <a:t>did</a:t>
            </a:r>
            <a:r>
              <a:rPr lang="en-US" sz="1700" i="1" dirty="0">
                <a:solidFill>
                  <a:schemeClr val="tx1"/>
                </a:solidFill>
              </a:rPr>
              <a:t> you </a:t>
            </a:r>
            <a:r>
              <a:rPr lang="en-US" sz="1700" b="1" i="1" dirty="0">
                <a:solidFill>
                  <a:schemeClr val="accent3"/>
                </a:solidFill>
              </a:rPr>
              <a:t>do</a:t>
            </a:r>
            <a:r>
              <a:rPr lang="en-US" sz="1700" i="1" dirty="0">
                <a:solidFill>
                  <a:schemeClr val="tx1"/>
                </a:solidFill>
              </a:rPr>
              <a:t> (do) there?</a:t>
            </a:r>
            <a:endParaRPr lang="en-US" sz="1700" dirty="0"/>
          </a:p>
        </p:txBody>
      </p:sp>
      <p:sp>
        <p:nvSpPr>
          <p:cNvPr id="18" name="Shape 14"/>
          <p:cNvSpPr/>
          <p:nvPr/>
        </p:nvSpPr>
        <p:spPr>
          <a:xfrm>
            <a:off x="2011680" y="4120896"/>
            <a:ext cx="9601200" cy="604520"/>
          </a:xfrm>
          <a:prstGeom prst="roundRect">
            <a:avLst>
              <a:gd name="adj" fmla="val 30252"/>
            </a:avLst>
          </a:prstGeom>
          <a:solidFill>
            <a:srgbClr val="F1ECF7"/>
          </a:solidFill>
          <a:ln w="15875">
            <a:solidFill>
              <a:srgbClr val="6E4A9E"/>
            </a:solidFill>
            <a:prstDash val="solid"/>
          </a:ln>
        </p:spPr>
      </p:sp>
      <p:sp>
        <p:nvSpPr>
          <p:cNvPr id="19" name="Text 15"/>
          <p:cNvSpPr txBox="1"/>
          <p:nvPr/>
        </p:nvSpPr>
        <p:spPr>
          <a:xfrm>
            <a:off x="1691640" y="4120896"/>
            <a:ext cx="274320" cy="604520"/>
          </a:xfrm>
          <a:prstGeom prst="rect">
            <a:avLst/>
          </a:prstGeom>
          <a:noFill/>
          <a:ln/>
        </p:spPr>
        <p:txBody>
          <a:bodyPr wrap="square" lIns="0" tIns="0" rIns="0" bIns="0" rtlCol="0" anchor="ctr"/>
          <a:lstStyle/>
          <a:p>
            <a:pPr algn="ctr" indent="0" marL="0">
              <a:buNone/>
            </a:pPr>
            <a:r>
              <a:rPr lang="en-US" sz="1400" b="1" dirty="0">
                <a:solidFill>
                  <a:srgbClr val="6E4A9E"/>
                </a:solidFill>
              </a:rPr>
              <a:t>B</a:t>
            </a:r>
            <a:endParaRPr lang="en-US" sz="1400" dirty="0"/>
          </a:p>
        </p:txBody>
      </p:sp>
      <p:sp>
        <p:nvSpPr>
          <p:cNvPr id="20" name="Text 16"/>
          <p:cNvSpPr txBox="1"/>
          <p:nvPr/>
        </p:nvSpPr>
        <p:spPr>
          <a:xfrm>
            <a:off x="2240280" y="4120896"/>
            <a:ext cx="9144000" cy="604520"/>
          </a:xfrm>
          <a:prstGeom prst="rect">
            <a:avLst/>
          </a:prstGeom>
          <a:noFill/>
          <a:ln/>
        </p:spPr>
        <p:txBody>
          <a:bodyPr wrap="square" lIns="0" tIns="0" rIns="0" bIns="0" rtlCol="0" anchor="ctr"/>
          <a:lstStyle/>
          <a:p>
            <a:pPr algn="l" indent="0" marL="0">
              <a:buNone/>
            </a:pPr>
            <a:r>
              <a:rPr lang="en-US" sz="1700" i="1" dirty="0">
                <a:solidFill>
                  <a:schemeClr val="tx1"/>
                </a:solidFill>
              </a:rPr>
              <a:t>I </a:t>
            </a:r>
            <a:r>
              <a:rPr lang="en-US" sz="1700" b="1" i="1" dirty="0">
                <a:solidFill>
                  <a:schemeClr val="accent3"/>
                </a:solidFill>
              </a:rPr>
              <a:t>visited</a:t>
            </a:r>
            <a:r>
              <a:rPr lang="en-US" sz="1700" i="1" dirty="0">
                <a:solidFill>
                  <a:schemeClr val="tx1"/>
                </a:solidFill>
              </a:rPr>
              <a:t> (visit) the museums and I </a:t>
            </a:r>
            <a:r>
              <a:rPr lang="en-US" sz="1700" b="1" i="1" dirty="0">
                <a:solidFill>
                  <a:schemeClr val="accent3"/>
                </a:solidFill>
              </a:rPr>
              <a:t>saw</a:t>
            </a:r>
            <a:r>
              <a:rPr lang="en-US" sz="1700" i="1" dirty="0">
                <a:solidFill>
                  <a:schemeClr val="tx1"/>
                </a:solidFill>
              </a:rPr>
              <a:t> (see) a show.</a:t>
            </a:r>
            <a:endParaRPr lang="en-US" sz="1700" dirty="0"/>
          </a:p>
        </p:txBody>
      </p:sp>
      <p:sp>
        <p:nvSpPr>
          <p:cNvPr id="21" name="Shape 17"/>
          <p:cNvSpPr/>
          <p:nvPr/>
        </p:nvSpPr>
        <p:spPr>
          <a:xfrm>
            <a:off x="868680" y="4835144"/>
            <a:ext cx="9601200" cy="604520"/>
          </a:xfrm>
          <a:prstGeom prst="roundRect">
            <a:avLst>
              <a:gd name="adj" fmla="val 30252"/>
            </a:avLst>
          </a:prstGeom>
          <a:solidFill>
            <a:srgbClr val="EAF2FB"/>
          </a:solidFill>
          <a:ln w="15875">
            <a:solidFill>
              <a:srgbClr val="2A6FB0"/>
            </a:solidFill>
            <a:prstDash val="solid"/>
          </a:ln>
        </p:spPr>
      </p:sp>
      <p:sp>
        <p:nvSpPr>
          <p:cNvPr id="22" name="Text 18"/>
          <p:cNvSpPr txBox="1"/>
          <p:nvPr/>
        </p:nvSpPr>
        <p:spPr>
          <a:xfrm>
            <a:off x="548640" y="4835144"/>
            <a:ext cx="274320" cy="604520"/>
          </a:xfrm>
          <a:prstGeom prst="rect">
            <a:avLst/>
          </a:prstGeom>
          <a:noFill/>
          <a:ln/>
        </p:spPr>
        <p:txBody>
          <a:bodyPr wrap="square" lIns="0" tIns="0" rIns="0" bIns="0" rtlCol="0" anchor="ctr"/>
          <a:lstStyle/>
          <a:p>
            <a:pPr algn="ctr" indent="0" marL="0">
              <a:buNone/>
            </a:pPr>
            <a:r>
              <a:rPr lang="en-US" sz="1400" b="1" dirty="0">
                <a:solidFill>
                  <a:schemeClr val="accent2"/>
                </a:solidFill>
              </a:rPr>
              <a:t>A</a:t>
            </a:r>
            <a:endParaRPr lang="en-US" sz="1400" dirty="0"/>
          </a:p>
        </p:txBody>
      </p:sp>
      <p:sp>
        <p:nvSpPr>
          <p:cNvPr id="23" name="Text 19"/>
          <p:cNvSpPr txBox="1"/>
          <p:nvPr/>
        </p:nvSpPr>
        <p:spPr>
          <a:xfrm>
            <a:off x="1097280" y="4835144"/>
            <a:ext cx="9144000" cy="604520"/>
          </a:xfrm>
          <a:prstGeom prst="rect">
            <a:avLst/>
          </a:prstGeom>
          <a:noFill/>
          <a:ln/>
        </p:spPr>
        <p:txBody>
          <a:bodyPr wrap="square" lIns="0" tIns="0" rIns="0" bIns="0" rtlCol="0" anchor="ctr"/>
          <a:lstStyle/>
          <a:p>
            <a:pPr algn="l" indent="0" marL="0">
              <a:buNone/>
            </a:pPr>
            <a:r>
              <a:rPr lang="en-US" sz="1700" i="1" dirty="0">
                <a:solidFill>
                  <a:schemeClr val="tx1"/>
                </a:solidFill>
              </a:rPr>
              <a:t>Wow! I </a:t>
            </a:r>
            <a:r>
              <a:rPr lang="en-US" sz="1700" b="1" i="1" dirty="0">
                <a:solidFill>
                  <a:schemeClr val="accent3"/>
                </a:solidFill>
              </a:rPr>
              <a:t>have</a:t>
            </a:r>
            <a:r>
              <a:rPr lang="en-US" sz="1700" i="1" dirty="0">
                <a:solidFill>
                  <a:schemeClr val="tx1"/>
                </a:solidFill>
              </a:rPr>
              <a:t> never </a:t>
            </a:r>
            <a:r>
              <a:rPr lang="en-US" sz="1700" b="1" i="1" dirty="0">
                <a:solidFill>
                  <a:schemeClr val="accent3"/>
                </a:solidFill>
              </a:rPr>
              <a:t>been</a:t>
            </a:r>
            <a:r>
              <a:rPr lang="en-US" sz="1700" i="1" dirty="0">
                <a:solidFill>
                  <a:schemeClr val="tx1"/>
                </a:solidFill>
              </a:rPr>
              <a:t> (be) to the USA.</a:t>
            </a:r>
            <a:endParaRPr lang="en-US" sz="1700" dirty="0"/>
          </a:p>
        </p:txBody>
      </p:sp>
      <p:sp>
        <p:nvSpPr>
          <p:cNvPr id="24" name="Shape 20"/>
          <p:cNvSpPr/>
          <p:nvPr/>
        </p:nvSpPr>
        <p:spPr>
          <a:xfrm>
            <a:off x="2011680" y="5549392"/>
            <a:ext cx="9601200" cy="604520"/>
          </a:xfrm>
          <a:prstGeom prst="roundRect">
            <a:avLst>
              <a:gd name="adj" fmla="val 30252"/>
            </a:avLst>
          </a:prstGeom>
          <a:solidFill>
            <a:srgbClr val="F1ECF7"/>
          </a:solidFill>
          <a:ln w="15875">
            <a:solidFill>
              <a:srgbClr val="6E4A9E"/>
            </a:solidFill>
            <a:prstDash val="solid"/>
          </a:ln>
        </p:spPr>
      </p:sp>
      <p:sp>
        <p:nvSpPr>
          <p:cNvPr id="25" name="Text 21"/>
          <p:cNvSpPr txBox="1"/>
          <p:nvPr/>
        </p:nvSpPr>
        <p:spPr>
          <a:xfrm>
            <a:off x="1691640" y="5549392"/>
            <a:ext cx="274320" cy="604520"/>
          </a:xfrm>
          <a:prstGeom prst="rect">
            <a:avLst/>
          </a:prstGeom>
          <a:noFill/>
          <a:ln/>
        </p:spPr>
        <p:txBody>
          <a:bodyPr wrap="square" lIns="0" tIns="0" rIns="0" bIns="0" rtlCol="0" anchor="ctr"/>
          <a:lstStyle/>
          <a:p>
            <a:pPr algn="ctr" indent="0" marL="0">
              <a:buNone/>
            </a:pPr>
            <a:r>
              <a:rPr lang="en-US" sz="1400" b="1" dirty="0">
                <a:solidFill>
                  <a:srgbClr val="6E4A9E"/>
                </a:solidFill>
              </a:rPr>
              <a:t>B</a:t>
            </a:r>
            <a:endParaRPr lang="en-US" sz="1400" dirty="0"/>
          </a:p>
        </p:txBody>
      </p:sp>
      <p:sp>
        <p:nvSpPr>
          <p:cNvPr id="26" name="Text 22"/>
          <p:cNvSpPr txBox="1"/>
          <p:nvPr/>
        </p:nvSpPr>
        <p:spPr>
          <a:xfrm>
            <a:off x="2240280" y="5549392"/>
            <a:ext cx="9144000" cy="604520"/>
          </a:xfrm>
          <a:prstGeom prst="rect">
            <a:avLst/>
          </a:prstGeom>
          <a:noFill/>
          <a:ln/>
        </p:spPr>
        <p:txBody>
          <a:bodyPr wrap="square" lIns="0" tIns="0" rIns="0" bIns="0" rtlCol="0" anchor="ctr"/>
          <a:lstStyle/>
          <a:p>
            <a:pPr algn="l" indent="0" marL="0">
              <a:buNone/>
            </a:pPr>
            <a:r>
              <a:rPr lang="en-US" sz="1700" i="1" dirty="0">
                <a:solidFill>
                  <a:schemeClr val="tx1"/>
                </a:solidFill>
              </a:rPr>
              <a:t>You should go! </a:t>
            </a:r>
            <a:r>
              <a:rPr lang="en-US" sz="1700" b="1" i="1" dirty="0">
                <a:solidFill>
                  <a:schemeClr val="accent3"/>
                </a:solidFill>
              </a:rPr>
              <a:t>Have</a:t>
            </a:r>
            <a:r>
              <a:rPr lang="en-US" sz="1700" i="1" dirty="0">
                <a:solidFill>
                  <a:schemeClr val="tx1"/>
                </a:solidFill>
              </a:rPr>
              <a:t> you </a:t>
            </a:r>
            <a:r>
              <a:rPr lang="en-US" sz="1700" b="1" i="1" dirty="0">
                <a:solidFill>
                  <a:schemeClr val="accent3"/>
                </a:solidFill>
              </a:rPr>
              <a:t>booked</a:t>
            </a:r>
            <a:r>
              <a:rPr lang="en-US" sz="1700" i="1" dirty="0">
                <a:solidFill>
                  <a:schemeClr val="tx1"/>
                </a:solidFill>
              </a:rPr>
              <a:t> (book) your summer holiday yet?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8 — The detective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Sam writes to his new team in Madrid. Find the 5 mistakes.</a:t>
            </a:r>
            <a:endParaRPr lang="en-US" sz="1700" dirty="0"/>
          </a:p>
        </p:txBody>
      </p:sp>
      <p:sp>
        <p:nvSpPr>
          <p:cNvPr id="8" name="Shape 4"/>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0" name="Text 6"/>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chemeClr val="accent5"/>
                </a:solidFill>
              </a:rPr>
              <a:t>From: Sam Taylor · To: the Madrid team · Subject: Hello!</a:t>
            </a:r>
            <a:endParaRPr lang="en-US" sz="1300" dirty="0"/>
          </a:p>
        </p:txBody>
      </p:sp>
      <p:sp>
        <p:nvSpPr>
          <p:cNvPr id="11" name="Text 7"/>
          <p:cNvSpPr txBox="1"/>
          <p:nvPr/>
        </p:nvSpPr>
        <p:spPr>
          <a:xfrm>
            <a:off x="868680" y="2526792"/>
            <a:ext cx="7589520" cy="3627120"/>
          </a:xfrm>
          <a:prstGeom prst="rect">
            <a:avLst/>
          </a:prstGeom>
          <a:noFill/>
          <a:ln/>
        </p:spPr>
        <p:txBody>
          <a:bodyPr wrap="square" lIns="0" tIns="0" rIns="0" bIns="0" rtlCol="0" anchor="t"/>
          <a:lstStyle/>
          <a:p>
            <a:pPr algn="l" indent="0" marL="0">
              <a:lnSpc>
                <a:spcPct val="115000"/>
              </a:lnSpc>
              <a:spcAft>
                <a:spcPts val="600"/>
              </a:spcAft>
              <a:buNone/>
            </a:pPr>
            <a:r>
              <a:rPr lang="en-US" sz="1650" i="1" dirty="0">
                <a:solidFill>
                  <a:schemeClr val="tx1"/>
                </a:solidFill>
              </a:rPr>
              <a:t>Hi everyone!</a:t>
            </a:r>
            <a:endParaRPr lang="en-US" sz="1650" dirty="0"/>
          </a:p>
          <a:p>
            <a:pPr algn="l" indent="0" marL="0">
              <a:lnSpc>
                <a:spcPct val="115000"/>
              </a:lnSpc>
              <a:spcAft>
                <a:spcPts val="600"/>
              </a:spcAft>
              <a:buNone/>
            </a:pPr>
            <a:r>
              <a:rPr lang="en-US" sz="1650" i="1" dirty="0">
                <a:solidFill>
                  <a:schemeClr val="tx1"/>
                </a:solidFill>
              </a:rPr>
              <a:t>My name is Sam. I </a:t>
            </a:r>
            <a:r>
              <a:rPr lang="en-US" sz="1650" i="1" dirty="0">
                <a:solidFill>
                  <a:schemeClr val="tx1"/>
                </a:solidFill>
              </a:rPr>
              <a:t>work</a:t>
            </a:r>
            <a:r>
              <a:rPr lang="en-US" sz="1650" i="1" dirty="0">
                <a:solidFill>
                  <a:schemeClr val="tx1"/>
                </a:solidFill>
              </a:rPr>
              <a:t> here since 2021. Before that, I </a:t>
            </a:r>
            <a:r>
              <a:rPr lang="en-US" sz="1650" i="1" dirty="0">
                <a:solidFill>
                  <a:schemeClr val="tx1"/>
                </a:solidFill>
              </a:rPr>
              <a:t>have worked</a:t>
            </a:r>
            <a:r>
              <a:rPr lang="en-US" sz="1650" i="1" dirty="0">
                <a:solidFill>
                  <a:schemeClr val="tx1"/>
                </a:solidFill>
              </a:rPr>
              <a:t> for a bank in Leeds from 2015 to 2020. Last month I </a:t>
            </a:r>
            <a:r>
              <a:rPr lang="en-US" sz="1650" i="1" dirty="0">
                <a:solidFill>
                  <a:schemeClr val="tx1"/>
                </a:solidFill>
              </a:rPr>
              <a:t>have been</a:t>
            </a:r>
            <a:r>
              <a:rPr lang="en-US" sz="1650" i="1" dirty="0">
                <a:solidFill>
                  <a:schemeClr val="tx1"/>
                </a:solidFill>
              </a:rPr>
              <a:t> to Dublin for a course. I </a:t>
            </a:r>
            <a:r>
              <a:rPr lang="en-US" sz="1650" i="1" dirty="0">
                <a:solidFill>
                  <a:schemeClr val="tx1"/>
                </a:solidFill>
              </a:rPr>
              <a:t>have never visit</a:t>
            </a:r>
            <a:r>
              <a:rPr lang="en-US" sz="1650" i="1" dirty="0">
                <a:solidFill>
                  <a:schemeClr val="tx1"/>
                </a:solidFill>
              </a:rPr>
              <a:t> our office in Madrid, but I </a:t>
            </a:r>
            <a:r>
              <a:rPr lang="en-US" sz="1650" i="1" dirty="0">
                <a:solidFill>
                  <a:schemeClr val="tx1"/>
                </a:solidFill>
              </a:rPr>
              <a:t>already have met</a:t>
            </a:r>
            <a:r>
              <a:rPr lang="en-US" sz="1650" i="1" dirty="0">
                <a:solidFill>
                  <a:schemeClr val="tx1"/>
                </a:solidFill>
              </a:rPr>
              <a:t> the team online.</a:t>
            </a:r>
            <a:endParaRPr lang="en-US" sz="1650" dirty="0"/>
          </a:p>
          <a:p>
            <a:pPr algn="l" indent="0" marL="0">
              <a:lnSpc>
                <a:spcPct val="115000"/>
              </a:lnSpc>
              <a:spcAft>
                <a:spcPts val="600"/>
              </a:spcAft>
              <a:buNone/>
            </a:pPr>
            <a:r>
              <a:rPr lang="en-US" sz="1650" i="1" dirty="0">
                <a:solidFill>
                  <a:schemeClr val="tx1"/>
                </a:solidFill>
              </a:rPr>
              <a:t>See you soon!</a:t>
            </a:r>
            <a:endParaRPr lang="en-US" sz="1650" dirty="0"/>
          </a:p>
          <a:p>
            <a:pPr algn="l" indent="0" marL="0">
              <a:lnSpc>
                <a:spcPct val="115000"/>
              </a:lnSpc>
              <a:spcAft>
                <a:spcPts val="600"/>
              </a:spcAft>
              <a:buNone/>
            </a:pPr>
            <a:r>
              <a:rPr lang="en-US" sz="1650" i="1" dirty="0">
                <a:solidFill>
                  <a:schemeClr val="tx1"/>
                </a:solidFill>
              </a:rPr>
              <a:t>Sam</a:t>
            </a:r>
            <a:endParaRPr lang="en-US" sz="1650" dirty="0"/>
          </a:p>
        </p:txBody>
      </p:sp>
      <p:pic>
        <p:nvPicPr>
          <p:cNvPr id="12"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3" name="Shape 8"/>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4" name="Text 9"/>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mistakes?</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8 — The detective</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ag"/>
          <p:cNvSpPr/>
          <p:nvPr/>
        </p:nvSpPr>
        <p:spPr>
          <a:xfrm>
            <a:off x="2103120" y="237744"/>
            <a:ext cx="1770278"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CORRECTION</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Sam writes to his new team in Madrid. Find the 5 mistakes.</a:t>
            </a:r>
            <a:endParaRPr lang="en-US" sz="1700" dirty="0"/>
          </a:p>
        </p:txBody>
      </p:sp>
      <p:sp>
        <p:nvSpPr>
          <p:cNvPr id="9" name="Shape 5"/>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1" name="Text 7"/>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chemeClr val="accent5"/>
                </a:solidFill>
              </a:rPr>
              <a:t>From: Sam Taylor · To: the Madrid team · Subject: Hello!</a:t>
            </a:r>
            <a:endParaRPr lang="en-US" sz="1300" dirty="0"/>
          </a:p>
        </p:txBody>
      </p:sp>
      <p:sp>
        <p:nvSpPr>
          <p:cNvPr id="12" name="Text 8"/>
          <p:cNvSpPr txBox="1"/>
          <p:nvPr/>
        </p:nvSpPr>
        <p:spPr>
          <a:xfrm>
            <a:off x="868680" y="2526792"/>
            <a:ext cx="7589520" cy="3627120"/>
          </a:xfrm>
          <a:prstGeom prst="rect">
            <a:avLst/>
          </a:prstGeom>
          <a:noFill/>
          <a:ln/>
        </p:spPr>
        <p:txBody>
          <a:bodyPr wrap="square" lIns="0" tIns="0" rIns="0" bIns="0" rtlCol="0" anchor="t"/>
          <a:lstStyle/>
          <a:p>
            <a:pPr algn="l" indent="0" marL="0">
              <a:lnSpc>
                <a:spcPct val="115000"/>
              </a:lnSpc>
              <a:spcAft>
                <a:spcPts val="600"/>
              </a:spcAft>
              <a:buNone/>
            </a:pPr>
            <a:r>
              <a:rPr lang="en-US" sz="1650" i="1" dirty="0">
                <a:solidFill>
                  <a:schemeClr val="tx1"/>
                </a:solidFill>
              </a:rPr>
              <a:t>Hi everyone!</a:t>
            </a:r>
            <a:endParaRPr lang="en-US" sz="1650" dirty="0"/>
          </a:p>
          <a:p>
            <a:pPr algn="l" indent="0" marL="0">
              <a:lnSpc>
                <a:spcPct val="115000"/>
              </a:lnSpc>
              <a:spcAft>
                <a:spcPts val="600"/>
              </a:spcAft>
              <a:buNone/>
            </a:pPr>
            <a:r>
              <a:rPr lang="en-US" sz="1650" i="1" dirty="0">
                <a:solidFill>
                  <a:schemeClr val="tx1"/>
                </a:solidFill>
              </a:rPr>
              <a:t>My name is Sam. I </a:t>
            </a:r>
            <a:r>
              <a:rPr lang="en-US" sz="1650" i="1" strike="sngStrike" dirty="0">
                <a:solidFill>
                  <a:schemeClr val="accent6"/>
                </a:solidFill>
              </a:rPr>
              <a:t>work</a:t>
            </a:r>
            <a:r>
              <a:rPr lang="en-US" sz="1650" b="1" i="1" dirty="0">
                <a:solidFill>
                  <a:schemeClr val="accent3"/>
                </a:solidFill>
              </a:rPr>
              <a:t> have worked</a:t>
            </a:r>
            <a:r>
              <a:rPr lang="en-US" sz="1650" i="1" dirty="0">
                <a:solidFill>
                  <a:schemeClr val="tx1"/>
                </a:solidFill>
              </a:rPr>
              <a:t> here since 2021. Before that, I </a:t>
            </a:r>
            <a:r>
              <a:rPr lang="en-US" sz="1650" i="1" strike="sngStrike" dirty="0">
                <a:solidFill>
                  <a:schemeClr val="accent6"/>
                </a:solidFill>
              </a:rPr>
              <a:t>have worked</a:t>
            </a:r>
            <a:r>
              <a:rPr lang="en-US" sz="1650" b="1" i="1" dirty="0">
                <a:solidFill>
                  <a:schemeClr val="accent3"/>
                </a:solidFill>
              </a:rPr>
              <a:t> worked</a:t>
            </a:r>
            <a:r>
              <a:rPr lang="en-US" sz="1650" i="1" dirty="0">
                <a:solidFill>
                  <a:schemeClr val="tx1"/>
                </a:solidFill>
              </a:rPr>
              <a:t> for a bank in Leeds from 2015 to 2020. Last month I </a:t>
            </a:r>
            <a:r>
              <a:rPr lang="en-US" sz="1650" i="1" strike="sngStrike" dirty="0">
                <a:solidFill>
                  <a:schemeClr val="accent6"/>
                </a:solidFill>
              </a:rPr>
              <a:t>have been</a:t>
            </a:r>
            <a:r>
              <a:rPr lang="en-US" sz="1650" b="1" i="1" dirty="0">
                <a:solidFill>
                  <a:schemeClr val="accent3"/>
                </a:solidFill>
              </a:rPr>
              <a:t> went</a:t>
            </a:r>
            <a:r>
              <a:rPr lang="en-US" sz="1650" i="1" dirty="0">
                <a:solidFill>
                  <a:schemeClr val="tx1"/>
                </a:solidFill>
              </a:rPr>
              <a:t> to Dublin for a course. I </a:t>
            </a:r>
            <a:r>
              <a:rPr lang="en-US" sz="1650" i="1" strike="sngStrike" dirty="0">
                <a:solidFill>
                  <a:schemeClr val="accent6"/>
                </a:solidFill>
              </a:rPr>
              <a:t>have never visit</a:t>
            </a:r>
            <a:r>
              <a:rPr lang="en-US" sz="1650" b="1" i="1" dirty="0">
                <a:solidFill>
                  <a:schemeClr val="accent3"/>
                </a:solidFill>
              </a:rPr>
              <a:t> have never visited</a:t>
            </a:r>
            <a:r>
              <a:rPr lang="en-US" sz="1650" i="1" dirty="0">
                <a:solidFill>
                  <a:schemeClr val="tx1"/>
                </a:solidFill>
              </a:rPr>
              <a:t> our office in Madrid, but I </a:t>
            </a:r>
            <a:r>
              <a:rPr lang="en-US" sz="1650" i="1" strike="sngStrike" dirty="0">
                <a:solidFill>
                  <a:schemeClr val="accent6"/>
                </a:solidFill>
              </a:rPr>
              <a:t>already have met</a:t>
            </a:r>
            <a:r>
              <a:rPr lang="en-US" sz="1650" b="1" i="1" dirty="0">
                <a:solidFill>
                  <a:schemeClr val="accent3"/>
                </a:solidFill>
              </a:rPr>
              <a:t> have already met</a:t>
            </a:r>
            <a:r>
              <a:rPr lang="en-US" sz="1650" i="1" dirty="0">
                <a:solidFill>
                  <a:schemeClr val="tx1"/>
                </a:solidFill>
              </a:rPr>
              <a:t> the team online.</a:t>
            </a:r>
            <a:endParaRPr lang="en-US" sz="1650" dirty="0"/>
          </a:p>
          <a:p>
            <a:pPr algn="l" indent="0" marL="0">
              <a:lnSpc>
                <a:spcPct val="115000"/>
              </a:lnSpc>
              <a:spcAft>
                <a:spcPts val="600"/>
              </a:spcAft>
              <a:buNone/>
            </a:pPr>
            <a:r>
              <a:rPr lang="en-US" sz="1650" i="1" dirty="0">
                <a:solidFill>
                  <a:schemeClr val="tx1"/>
                </a:solidFill>
              </a:rPr>
              <a:t>See you soon!</a:t>
            </a:r>
            <a:endParaRPr lang="en-US" sz="1650" dirty="0"/>
          </a:p>
          <a:p>
            <a:pPr algn="l" indent="0" marL="0">
              <a:lnSpc>
                <a:spcPct val="115000"/>
              </a:lnSpc>
              <a:spcAft>
                <a:spcPts val="600"/>
              </a:spcAft>
              <a:buNone/>
            </a:pPr>
            <a:r>
              <a:rPr lang="en-US" sz="1650" i="1" dirty="0">
                <a:solidFill>
                  <a:schemeClr val="tx1"/>
                </a:solidFill>
              </a:rPr>
              <a:t>Sam</a:t>
            </a:r>
            <a:endParaRPr lang="en-US" sz="1650" dirty="0"/>
          </a:p>
        </p:txBody>
      </p:sp>
      <p:pic>
        <p:nvPicPr>
          <p:cNvPr id="13"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4" name="Shape 9"/>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5" name="Text 10"/>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chemeClr val="bg1"/>
                </a:solidFill>
              </a:rPr>
              <a:t>5 mistakes ✓</a:t>
            </a:r>
            <a:endParaRPr lang="en-US" sz="2200" dirty="0"/>
          </a:p>
        </p:txBody>
      </p:sp>
      <p:sp>
        <p:nvSpPr>
          <p:cNvPr id="16" name="Text 11"/>
          <p:cNvSpPr txBox="1"/>
          <p:nvPr/>
        </p:nvSpPr>
        <p:spPr>
          <a:xfrm>
            <a:off x="9052560" y="4721352"/>
            <a:ext cx="2587752" cy="2011680"/>
          </a:xfrm>
          <a:prstGeom prst="rect">
            <a:avLst/>
          </a:prstGeom>
          <a:noFill/>
          <a:ln/>
        </p:spPr>
        <p:txBody>
          <a:bodyPr wrap="square" lIns="0" tIns="0" rIns="0" bIns="0" rtlCol="0" anchor="t"/>
          <a:lstStyle/>
          <a:p>
            <a:pPr algn="l" indent="0" marL="0">
              <a:buNone/>
            </a:pPr>
            <a:r>
              <a:rPr lang="en-US" sz="1300" i="1" dirty="0">
                <a:solidFill>
                  <a:schemeClr val="accent5"/>
                </a:solidFill>
              </a:rPr>
              <a:t>Règles : </a:t>
            </a:r>
            <a:r>
              <a:rPr lang="en-US" sz="1300" i="1" dirty="0">
                <a:solidFill>
                  <a:schemeClr val="accent5"/>
                </a:solidFill>
              </a:rPr>
              <a:t>since</a:t>
            </a:r>
            <a:r>
              <a:rPr lang="en-US" sz="1300" i="1" dirty="0">
                <a:solidFill>
                  <a:schemeClr val="accent5"/>
                </a:solidFill>
              </a:rPr>
              <a:t> → PP · </a:t>
            </a:r>
            <a:r>
              <a:rPr lang="en-US" sz="1300" i="1" dirty="0">
                <a:solidFill>
                  <a:schemeClr val="accent5"/>
                </a:solidFill>
              </a:rPr>
              <a:t>from… to…</a:t>
            </a:r>
            <a:r>
              <a:rPr lang="en-US" sz="1300" i="1" dirty="0">
                <a:solidFill>
                  <a:schemeClr val="accent5"/>
                </a:solidFill>
              </a:rPr>
              <a:t> fini → PS · </a:t>
            </a:r>
            <a:r>
              <a:rPr lang="en-US" sz="1300" i="1" dirty="0">
                <a:solidFill>
                  <a:schemeClr val="accent5"/>
                </a:solidFill>
              </a:rPr>
              <a:t>last month</a:t>
            </a:r>
            <a:r>
              <a:rPr lang="en-US" sz="1300" i="1" dirty="0">
                <a:solidFill>
                  <a:schemeClr val="accent5"/>
                </a:solidFill>
              </a:rPr>
              <a:t> → PS · participe · place de </a:t>
            </a:r>
            <a:r>
              <a:rPr lang="en-US" sz="1300" i="1" dirty="0">
                <a:solidFill>
                  <a:schemeClr val="accent5"/>
                </a:solidFill>
              </a:rPr>
              <a:t>already</a:t>
            </a:r>
            <a:r>
              <a:rPr lang="en-US" sz="1300" i="1" dirty="0">
                <a:solidFill>
                  <a:schemeClr val="accent5"/>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9 — Find someone who…</a:t>
            </a:r>
            <a:endParaRPr lang="en-US" sz="3000" dirty="0"/>
          </a:p>
        </p:txBody>
      </p:sp>
      <p:sp>
        <p:nvSpPr>
          <p:cNvPr id="3" name="tag"/>
          <p:cNvSpPr/>
          <p:nvPr/>
        </p:nvSpPr>
        <p:spPr>
          <a:xfrm>
            <a:off x="548640" y="237744"/>
            <a:ext cx="1444752"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YOUR TURN!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63040"/>
            <a:ext cx="2331720" cy="1371600"/>
          </a:xfrm>
          <a:prstGeom prst="roundRect">
            <a:avLst>
              <a:gd name="adj" fmla="val 6667"/>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7" name="Image 0" descr="globe showing europe africa">    </p:cNvPr>
          <p:cNvPicPr>
            <a:picLocks noChangeAspect="1"/>
          </p:cNvPicPr>
          <p:nvPr/>
        </p:nvPicPr>
        <p:blipFill>
          <a:blip r:embed="rId1"/>
          <a:stretch>
            <a:fillRect/>
          </a:stretch>
        </p:blipFill>
        <p:spPr>
          <a:xfrm>
            <a:off x="658368" y="1572768"/>
            <a:ext cx="502920" cy="502920"/>
          </a:xfrm>
          <a:prstGeom prst="rect">
            <a:avLst/>
          </a:prstGeom>
        </p:spPr>
      </p:pic>
      <p:sp>
        <p:nvSpPr>
          <p:cNvPr id="8" name="Text 4"/>
          <p:cNvSpPr txBox="1"/>
          <p:nvPr/>
        </p:nvSpPr>
        <p:spPr>
          <a:xfrm>
            <a:off x="1234440" y="1508760"/>
            <a:ext cx="1554480" cy="685800"/>
          </a:xfrm>
          <a:prstGeom prst="rect">
            <a:avLst/>
          </a:prstGeom>
          <a:noFill/>
          <a:ln/>
        </p:spPr>
        <p:txBody>
          <a:bodyPr wrap="square" lIns="0" tIns="0" rIns="0" bIns="0" rtlCol="0" anchor="ctr"/>
          <a:lstStyle/>
          <a:p>
            <a:pPr algn="l" indent="0" marL="0">
              <a:buNone/>
            </a:pPr>
            <a:r>
              <a:rPr lang="en-US" sz="1300" b="1" i="1" dirty="0">
                <a:solidFill>
                  <a:schemeClr val="tx2"/>
                </a:solidFill>
              </a:rPr>
              <a:t>has been to London</a:t>
            </a:r>
            <a:endParaRPr lang="en-US" sz="1300" dirty="0"/>
          </a:p>
        </p:txBody>
      </p:sp>
      <p:sp>
        <p:nvSpPr>
          <p:cNvPr id="9" name="Text 5"/>
          <p:cNvSpPr txBox="1"/>
          <p:nvPr/>
        </p:nvSpPr>
        <p:spPr>
          <a:xfrm>
            <a:off x="658368" y="2331720"/>
            <a:ext cx="2112264" cy="365760"/>
          </a:xfrm>
          <a:prstGeom prst="rect">
            <a:avLst/>
          </a:prstGeom>
          <a:noFill/>
          <a:ln/>
        </p:spPr>
        <p:txBody>
          <a:bodyPr wrap="square" lIns="0" tIns="0" rIns="0" bIns="0" rtlCol="0" anchor="ctr"/>
          <a:lstStyle/>
          <a:p>
            <a:pPr algn="l" indent="0" marL="0">
              <a:buNone/>
            </a:pPr>
            <a:r>
              <a:rPr lang="en-US" sz="1200" dirty="0">
                <a:solidFill>
                  <a:schemeClr val="accent5"/>
                </a:solidFill>
              </a:rPr>
              <a:t>name: ……………</a:t>
            </a:r>
            <a:endParaRPr lang="en-US" sz="1200" dirty="0"/>
          </a:p>
        </p:txBody>
      </p:sp>
      <p:sp>
        <p:nvSpPr>
          <p:cNvPr id="10" name="Shape 6"/>
          <p:cNvSpPr/>
          <p:nvPr/>
        </p:nvSpPr>
        <p:spPr>
          <a:xfrm>
            <a:off x="2990088" y="1463040"/>
            <a:ext cx="2331720" cy="1371600"/>
          </a:xfrm>
          <a:prstGeom prst="roundRect">
            <a:avLst>
              <a:gd name="adj" fmla="val 6667"/>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11" name="Image 1" descr="sushi">    </p:cNvPr>
          <p:cNvPicPr>
            <a:picLocks noChangeAspect="1"/>
          </p:cNvPicPr>
          <p:nvPr/>
        </p:nvPicPr>
        <p:blipFill>
          <a:blip r:embed="rId2"/>
          <a:stretch>
            <a:fillRect/>
          </a:stretch>
        </p:blipFill>
        <p:spPr>
          <a:xfrm>
            <a:off x="3099816" y="1572768"/>
            <a:ext cx="502920" cy="502920"/>
          </a:xfrm>
          <a:prstGeom prst="rect">
            <a:avLst/>
          </a:prstGeom>
        </p:spPr>
      </p:pic>
      <p:sp>
        <p:nvSpPr>
          <p:cNvPr id="12" name="Text 7"/>
          <p:cNvSpPr txBox="1"/>
          <p:nvPr/>
        </p:nvSpPr>
        <p:spPr>
          <a:xfrm>
            <a:off x="3675888" y="1508760"/>
            <a:ext cx="1554480" cy="685800"/>
          </a:xfrm>
          <a:prstGeom prst="rect">
            <a:avLst/>
          </a:prstGeom>
          <a:noFill/>
          <a:ln/>
        </p:spPr>
        <p:txBody>
          <a:bodyPr wrap="square" lIns="0" tIns="0" rIns="0" bIns="0" rtlCol="0" anchor="ctr"/>
          <a:lstStyle/>
          <a:p>
            <a:pPr algn="l" indent="0" marL="0">
              <a:buNone/>
            </a:pPr>
            <a:r>
              <a:rPr lang="en-US" sz="1300" b="1" i="1" dirty="0">
                <a:solidFill>
                  <a:schemeClr val="tx2"/>
                </a:solidFill>
              </a:rPr>
              <a:t>has eaten sushi</a:t>
            </a:r>
            <a:endParaRPr lang="en-US" sz="1300" dirty="0"/>
          </a:p>
        </p:txBody>
      </p:sp>
      <p:sp>
        <p:nvSpPr>
          <p:cNvPr id="13" name="Text 8"/>
          <p:cNvSpPr txBox="1"/>
          <p:nvPr/>
        </p:nvSpPr>
        <p:spPr>
          <a:xfrm>
            <a:off x="3099816" y="2331720"/>
            <a:ext cx="2112264" cy="365760"/>
          </a:xfrm>
          <a:prstGeom prst="rect">
            <a:avLst/>
          </a:prstGeom>
          <a:noFill/>
          <a:ln/>
        </p:spPr>
        <p:txBody>
          <a:bodyPr wrap="square" lIns="0" tIns="0" rIns="0" bIns="0" rtlCol="0" anchor="ctr"/>
          <a:lstStyle/>
          <a:p>
            <a:pPr algn="l" indent="0" marL="0">
              <a:buNone/>
            </a:pPr>
            <a:r>
              <a:rPr lang="en-US" sz="1200" dirty="0">
                <a:solidFill>
                  <a:schemeClr val="accent5"/>
                </a:solidFill>
              </a:rPr>
              <a:t>name: ……………</a:t>
            </a:r>
            <a:endParaRPr lang="en-US" sz="1200" dirty="0"/>
          </a:p>
        </p:txBody>
      </p:sp>
      <p:sp>
        <p:nvSpPr>
          <p:cNvPr id="14" name="Shape 9"/>
          <p:cNvSpPr/>
          <p:nvPr/>
        </p:nvSpPr>
        <p:spPr>
          <a:xfrm>
            <a:off x="5431536" y="1463040"/>
            <a:ext cx="2331720" cy="1371600"/>
          </a:xfrm>
          <a:prstGeom prst="roundRect">
            <a:avLst>
              <a:gd name="adj" fmla="val 6667"/>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15" name="Image 2" descr="star struck">    </p:cNvPr>
          <p:cNvPicPr>
            <a:picLocks noChangeAspect="1"/>
          </p:cNvPicPr>
          <p:nvPr/>
        </p:nvPicPr>
        <p:blipFill>
          <a:blip r:embed="rId3"/>
          <a:stretch>
            <a:fillRect/>
          </a:stretch>
        </p:blipFill>
        <p:spPr>
          <a:xfrm>
            <a:off x="5541264" y="1572768"/>
            <a:ext cx="502920" cy="502920"/>
          </a:xfrm>
          <a:prstGeom prst="rect">
            <a:avLst/>
          </a:prstGeom>
        </p:spPr>
      </p:pic>
      <p:sp>
        <p:nvSpPr>
          <p:cNvPr id="16" name="Text 10"/>
          <p:cNvSpPr txBox="1"/>
          <p:nvPr/>
        </p:nvSpPr>
        <p:spPr>
          <a:xfrm>
            <a:off x="6117336" y="1508760"/>
            <a:ext cx="1554480" cy="685800"/>
          </a:xfrm>
          <a:prstGeom prst="rect">
            <a:avLst/>
          </a:prstGeom>
          <a:noFill/>
          <a:ln/>
        </p:spPr>
        <p:txBody>
          <a:bodyPr wrap="square" lIns="0" tIns="0" rIns="0" bIns="0" rtlCol="0" anchor="ctr"/>
          <a:lstStyle/>
          <a:p>
            <a:pPr algn="l" indent="0" marL="0">
              <a:buNone/>
            </a:pPr>
            <a:r>
              <a:rPr lang="en-US" sz="1300" b="1" i="1" dirty="0">
                <a:solidFill>
                  <a:schemeClr val="tx2"/>
                </a:solidFill>
              </a:rPr>
              <a:t>has met a famous person</a:t>
            </a:r>
            <a:endParaRPr lang="en-US" sz="1300" dirty="0"/>
          </a:p>
        </p:txBody>
      </p:sp>
      <p:sp>
        <p:nvSpPr>
          <p:cNvPr id="17" name="Text 11"/>
          <p:cNvSpPr txBox="1"/>
          <p:nvPr/>
        </p:nvSpPr>
        <p:spPr>
          <a:xfrm>
            <a:off x="5541264" y="2331720"/>
            <a:ext cx="2112264" cy="365760"/>
          </a:xfrm>
          <a:prstGeom prst="rect">
            <a:avLst/>
          </a:prstGeom>
          <a:noFill/>
          <a:ln/>
        </p:spPr>
        <p:txBody>
          <a:bodyPr wrap="square" lIns="0" tIns="0" rIns="0" bIns="0" rtlCol="0" anchor="ctr"/>
          <a:lstStyle/>
          <a:p>
            <a:pPr algn="l" indent="0" marL="0">
              <a:buNone/>
            </a:pPr>
            <a:r>
              <a:rPr lang="en-US" sz="1200" dirty="0">
                <a:solidFill>
                  <a:schemeClr val="accent5"/>
                </a:solidFill>
              </a:rPr>
              <a:t>name: ……………</a:t>
            </a:r>
            <a:endParaRPr lang="en-US" sz="1200" dirty="0"/>
          </a:p>
        </p:txBody>
      </p:sp>
      <p:sp>
        <p:nvSpPr>
          <p:cNvPr id="18" name="Shape 12"/>
          <p:cNvSpPr/>
          <p:nvPr/>
        </p:nvSpPr>
        <p:spPr>
          <a:xfrm>
            <a:off x="548640" y="2944368"/>
            <a:ext cx="2331720" cy="1371600"/>
          </a:xfrm>
          <a:prstGeom prst="roundRect">
            <a:avLst>
              <a:gd name="adj" fmla="val 6667"/>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19" name="Image 3" descr="adhesive bandage">    </p:cNvPr>
          <p:cNvPicPr>
            <a:picLocks noChangeAspect="1"/>
          </p:cNvPicPr>
          <p:nvPr/>
        </p:nvPicPr>
        <p:blipFill>
          <a:blip r:embed="rId4"/>
          <a:stretch>
            <a:fillRect/>
          </a:stretch>
        </p:blipFill>
        <p:spPr>
          <a:xfrm>
            <a:off x="658368" y="3054096"/>
            <a:ext cx="502920" cy="502920"/>
          </a:xfrm>
          <a:prstGeom prst="rect">
            <a:avLst/>
          </a:prstGeom>
        </p:spPr>
      </p:pic>
      <p:sp>
        <p:nvSpPr>
          <p:cNvPr id="20" name="Text 13"/>
          <p:cNvSpPr txBox="1"/>
          <p:nvPr/>
        </p:nvSpPr>
        <p:spPr>
          <a:xfrm>
            <a:off x="1234440" y="2990088"/>
            <a:ext cx="1554480" cy="685800"/>
          </a:xfrm>
          <a:prstGeom prst="rect">
            <a:avLst/>
          </a:prstGeom>
          <a:noFill/>
          <a:ln/>
        </p:spPr>
        <p:txBody>
          <a:bodyPr wrap="square" lIns="0" tIns="0" rIns="0" bIns="0" rtlCol="0" anchor="ctr"/>
          <a:lstStyle/>
          <a:p>
            <a:pPr algn="l" indent="0" marL="0">
              <a:buNone/>
            </a:pPr>
            <a:r>
              <a:rPr lang="en-US" sz="1300" b="1" i="1" dirty="0">
                <a:solidFill>
                  <a:schemeClr val="tx2"/>
                </a:solidFill>
              </a:rPr>
              <a:t>has broken a bone</a:t>
            </a:r>
            <a:endParaRPr lang="en-US" sz="1300" dirty="0"/>
          </a:p>
        </p:txBody>
      </p:sp>
      <p:sp>
        <p:nvSpPr>
          <p:cNvPr id="21" name="Text 14"/>
          <p:cNvSpPr txBox="1"/>
          <p:nvPr/>
        </p:nvSpPr>
        <p:spPr>
          <a:xfrm>
            <a:off x="658368" y="3813048"/>
            <a:ext cx="2112264" cy="365760"/>
          </a:xfrm>
          <a:prstGeom prst="rect">
            <a:avLst/>
          </a:prstGeom>
          <a:noFill/>
          <a:ln/>
        </p:spPr>
        <p:txBody>
          <a:bodyPr wrap="square" lIns="0" tIns="0" rIns="0" bIns="0" rtlCol="0" anchor="ctr"/>
          <a:lstStyle/>
          <a:p>
            <a:pPr algn="l" indent="0" marL="0">
              <a:buNone/>
            </a:pPr>
            <a:r>
              <a:rPr lang="en-US" sz="1200" dirty="0">
                <a:solidFill>
                  <a:schemeClr val="accent5"/>
                </a:solidFill>
              </a:rPr>
              <a:t>name: ……………</a:t>
            </a:r>
            <a:endParaRPr lang="en-US" sz="1200" dirty="0"/>
          </a:p>
        </p:txBody>
      </p:sp>
      <p:sp>
        <p:nvSpPr>
          <p:cNvPr id="22" name="Shape 15"/>
          <p:cNvSpPr/>
          <p:nvPr/>
        </p:nvSpPr>
        <p:spPr>
          <a:xfrm>
            <a:off x="2990088" y="2944368"/>
            <a:ext cx="2331720" cy="1371600"/>
          </a:xfrm>
          <a:prstGeom prst="roundRect">
            <a:avLst>
              <a:gd name="adj" fmla="val 6667"/>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23" name="Image 4" descr="trophy">    </p:cNvPr>
          <p:cNvPicPr>
            <a:picLocks noChangeAspect="1"/>
          </p:cNvPicPr>
          <p:nvPr/>
        </p:nvPicPr>
        <p:blipFill>
          <a:blip r:embed="rId5"/>
          <a:stretch>
            <a:fillRect/>
          </a:stretch>
        </p:blipFill>
        <p:spPr>
          <a:xfrm>
            <a:off x="3099816" y="3054096"/>
            <a:ext cx="502920" cy="502920"/>
          </a:xfrm>
          <a:prstGeom prst="rect">
            <a:avLst/>
          </a:prstGeom>
        </p:spPr>
      </p:pic>
      <p:sp>
        <p:nvSpPr>
          <p:cNvPr id="24" name="Text 16"/>
          <p:cNvSpPr txBox="1"/>
          <p:nvPr/>
        </p:nvSpPr>
        <p:spPr>
          <a:xfrm>
            <a:off x="3675888" y="2990088"/>
            <a:ext cx="1554480" cy="685800"/>
          </a:xfrm>
          <a:prstGeom prst="rect">
            <a:avLst/>
          </a:prstGeom>
          <a:noFill/>
          <a:ln/>
        </p:spPr>
        <p:txBody>
          <a:bodyPr wrap="square" lIns="0" tIns="0" rIns="0" bIns="0" rtlCol="0" anchor="ctr"/>
          <a:lstStyle/>
          <a:p>
            <a:pPr algn="l" indent="0" marL="0">
              <a:buNone/>
            </a:pPr>
            <a:r>
              <a:rPr lang="en-US" sz="1300" b="1" i="1" dirty="0">
                <a:solidFill>
                  <a:schemeClr val="tx2"/>
                </a:solidFill>
              </a:rPr>
              <a:t>has won a prize</a:t>
            </a:r>
            <a:endParaRPr lang="en-US" sz="1300" dirty="0"/>
          </a:p>
        </p:txBody>
      </p:sp>
      <p:sp>
        <p:nvSpPr>
          <p:cNvPr id="25" name="Text 17"/>
          <p:cNvSpPr txBox="1"/>
          <p:nvPr/>
        </p:nvSpPr>
        <p:spPr>
          <a:xfrm>
            <a:off x="3099816" y="3813048"/>
            <a:ext cx="2112264" cy="365760"/>
          </a:xfrm>
          <a:prstGeom prst="rect">
            <a:avLst/>
          </a:prstGeom>
          <a:noFill/>
          <a:ln/>
        </p:spPr>
        <p:txBody>
          <a:bodyPr wrap="square" lIns="0" tIns="0" rIns="0" bIns="0" rtlCol="0" anchor="ctr"/>
          <a:lstStyle/>
          <a:p>
            <a:pPr algn="l" indent="0" marL="0">
              <a:buNone/>
            </a:pPr>
            <a:r>
              <a:rPr lang="en-US" sz="1200" dirty="0">
                <a:solidFill>
                  <a:schemeClr val="accent5"/>
                </a:solidFill>
              </a:rPr>
              <a:t>name: ……………</a:t>
            </a:r>
            <a:endParaRPr lang="en-US" sz="1200" dirty="0"/>
          </a:p>
        </p:txBody>
      </p:sp>
      <p:sp>
        <p:nvSpPr>
          <p:cNvPr id="26" name="Shape 18"/>
          <p:cNvSpPr/>
          <p:nvPr/>
        </p:nvSpPr>
        <p:spPr>
          <a:xfrm>
            <a:off x="5431536" y="2944368"/>
            <a:ext cx="2331720" cy="1371600"/>
          </a:xfrm>
          <a:prstGeom prst="roundRect">
            <a:avLst>
              <a:gd name="adj" fmla="val 6667"/>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27" name="Image 5" descr="helicopter">    </p:cNvPr>
          <p:cNvPicPr>
            <a:picLocks noChangeAspect="1"/>
          </p:cNvPicPr>
          <p:nvPr/>
        </p:nvPicPr>
        <p:blipFill>
          <a:blip r:embed="rId6"/>
          <a:stretch>
            <a:fillRect/>
          </a:stretch>
        </p:blipFill>
        <p:spPr>
          <a:xfrm>
            <a:off x="5541264" y="3054096"/>
            <a:ext cx="502920" cy="502920"/>
          </a:xfrm>
          <a:prstGeom prst="rect">
            <a:avLst/>
          </a:prstGeom>
        </p:spPr>
      </p:pic>
      <p:sp>
        <p:nvSpPr>
          <p:cNvPr id="28" name="Text 19"/>
          <p:cNvSpPr txBox="1"/>
          <p:nvPr/>
        </p:nvSpPr>
        <p:spPr>
          <a:xfrm>
            <a:off x="6117336" y="2990088"/>
            <a:ext cx="1554480" cy="685800"/>
          </a:xfrm>
          <a:prstGeom prst="rect">
            <a:avLst/>
          </a:prstGeom>
          <a:noFill/>
          <a:ln/>
        </p:spPr>
        <p:txBody>
          <a:bodyPr wrap="square" lIns="0" tIns="0" rIns="0" bIns="0" rtlCol="0" anchor="ctr"/>
          <a:lstStyle/>
          <a:p>
            <a:pPr algn="l" indent="0" marL="0">
              <a:buNone/>
            </a:pPr>
            <a:r>
              <a:rPr lang="en-US" sz="1300" b="1" i="1" dirty="0">
                <a:solidFill>
                  <a:schemeClr val="tx2"/>
                </a:solidFill>
              </a:rPr>
              <a:t>has flown in a helicopter</a:t>
            </a:r>
            <a:endParaRPr lang="en-US" sz="1300" dirty="0"/>
          </a:p>
        </p:txBody>
      </p:sp>
      <p:sp>
        <p:nvSpPr>
          <p:cNvPr id="29" name="Text 20"/>
          <p:cNvSpPr txBox="1"/>
          <p:nvPr/>
        </p:nvSpPr>
        <p:spPr>
          <a:xfrm>
            <a:off x="5541264" y="3813048"/>
            <a:ext cx="2112264" cy="365760"/>
          </a:xfrm>
          <a:prstGeom prst="rect">
            <a:avLst/>
          </a:prstGeom>
          <a:noFill/>
          <a:ln/>
        </p:spPr>
        <p:txBody>
          <a:bodyPr wrap="square" lIns="0" tIns="0" rIns="0" bIns="0" rtlCol="0" anchor="ctr"/>
          <a:lstStyle/>
          <a:p>
            <a:pPr algn="l" indent="0" marL="0">
              <a:buNone/>
            </a:pPr>
            <a:r>
              <a:rPr lang="en-US" sz="1200" dirty="0">
                <a:solidFill>
                  <a:schemeClr val="accent5"/>
                </a:solidFill>
              </a:rPr>
              <a:t>name: ……………</a:t>
            </a:r>
            <a:endParaRPr lang="en-US" sz="1200" dirty="0"/>
          </a:p>
        </p:txBody>
      </p:sp>
      <p:sp>
        <p:nvSpPr>
          <p:cNvPr id="30" name="Shape 21"/>
          <p:cNvSpPr/>
          <p:nvPr/>
        </p:nvSpPr>
        <p:spPr>
          <a:xfrm>
            <a:off x="548640" y="4425696"/>
            <a:ext cx="2331720" cy="1371600"/>
          </a:xfrm>
          <a:prstGeom prst="roundRect">
            <a:avLst>
              <a:gd name="adj" fmla="val 6667"/>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31" name="Image 6" descr="cooking">    </p:cNvPr>
          <p:cNvPicPr>
            <a:picLocks noChangeAspect="1"/>
          </p:cNvPicPr>
          <p:nvPr/>
        </p:nvPicPr>
        <p:blipFill>
          <a:blip r:embed="rId7"/>
          <a:stretch>
            <a:fillRect/>
          </a:stretch>
        </p:blipFill>
        <p:spPr>
          <a:xfrm>
            <a:off x="658368" y="4535424"/>
            <a:ext cx="502920" cy="502920"/>
          </a:xfrm>
          <a:prstGeom prst="rect">
            <a:avLst/>
          </a:prstGeom>
        </p:spPr>
      </p:pic>
      <p:sp>
        <p:nvSpPr>
          <p:cNvPr id="32" name="Text 22"/>
          <p:cNvSpPr txBox="1"/>
          <p:nvPr/>
        </p:nvSpPr>
        <p:spPr>
          <a:xfrm>
            <a:off x="1234440" y="4471416"/>
            <a:ext cx="1554480" cy="685800"/>
          </a:xfrm>
          <a:prstGeom prst="rect">
            <a:avLst/>
          </a:prstGeom>
          <a:noFill/>
          <a:ln/>
        </p:spPr>
        <p:txBody>
          <a:bodyPr wrap="square" lIns="0" tIns="0" rIns="0" bIns="0" rtlCol="0" anchor="ctr"/>
          <a:lstStyle/>
          <a:p>
            <a:pPr algn="l" indent="0" marL="0">
              <a:buNone/>
            </a:pPr>
            <a:r>
              <a:rPr lang="en-US" sz="1300" b="1" i="1" dirty="0">
                <a:solidFill>
                  <a:schemeClr val="tx2"/>
                </a:solidFill>
              </a:rPr>
              <a:t>has cooked for 10 people</a:t>
            </a:r>
            <a:endParaRPr lang="en-US" sz="1300" dirty="0"/>
          </a:p>
        </p:txBody>
      </p:sp>
      <p:sp>
        <p:nvSpPr>
          <p:cNvPr id="33" name="Text 23"/>
          <p:cNvSpPr txBox="1"/>
          <p:nvPr/>
        </p:nvSpPr>
        <p:spPr>
          <a:xfrm>
            <a:off x="658368" y="5294376"/>
            <a:ext cx="2112264" cy="365760"/>
          </a:xfrm>
          <a:prstGeom prst="rect">
            <a:avLst/>
          </a:prstGeom>
          <a:noFill/>
          <a:ln/>
        </p:spPr>
        <p:txBody>
          <a:bodyPr wrap="square" lIns="0" tIns="0" rIns="0" bIns="0" rtlCol="0" anchor="ctr"/>
          <a:lstStyle/>
          <a:p>
            <a:pPr algn="l" indent="0" marL="0">
              <a:buNone/>
            </a:pPr>
            <a:r>
              <a:rPr lang="en-US" sz="1200" dirty="0">
                <a:solidFill>
                  <a:schemeClr val="accent5"/>
                </a:solidFill>
              </a:rPr>
              <a:t>name: ……………</a:t>
            </a:r>
            <a:endParaRPr lang="en-US" sz="1200" dirty="0"/>
          </a:p>
        </p:txBody>
      </p:sp>
      <p:sp>
        <p:nvSpPr>
          <p:cNvPr id="34" name="Shape 24"/>
          <p:cNvSpPr/>
          <p:nvPr/>
        </p:nvSpPr>
        <p:spPr>
          <a:xfrm>
            <a:off x="2990088" y="4425696"/>
            <a:ext cx="2331720" cy="1371600"/>
          </a:xfrm>
          <a:prstGeom prst="roundRect">
            <a:avLst>
              <a:gd name="adj" fmla="val 6667"/>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35" name="Image 7" descr="mobile phone">    </p:cNvPr>
          <p:cNvPicPr>
            <a:picLocks noChangeAspect="1"/>
          </p:cNvPicPr>
          <p:nvPr/>
        </p:nvPicPr>
        <p:blipFill>
          <a:blip r:embed="rId8"/>
          <a:stretch>
            <a:fillRect/>
          </a:stretch>
        </p:blipFill>
        <p:spPr>
          <a:xfrm>
            <a:off x="3099816" y="4535424"/>
            <a:ext cx="502920" cy="502920"/>
          </a:xfrm>
          <a:prstGeom prst="rect">
            <a:avLst/>
          </a:prstGeom>
        </p:spPr>
      </p:pic>
      <p:sp>
        <p:nvSpPr>
          <p:cNvPr id="36" name="Text 25"/>
          <p:cNvSpPr txBox="1"/>
          <p:nvPr/>
        </p:nvSpPr>
        <p:spPr>
          <a:xfrm>
            <a:off x="3675888" y="4471416"/>
            <a:ext cx="1554480" cy="685800"/>
          </a:xfrm>
          <a:prstGeom prst="rect">
            <a:avLst/>
          </a:prstGeom>
          <a:noFill/>
          <a:ln/>
        </p:spPr>
        <p:txBody>
          <a:bodyPr wrap="square" lIns="0" tIns="0" rIns="0" bIns="0" rtlCol="0" anchor="ctr"/>
          <a:lstStyle/>
          <a:p>
            <a:pPr algn="l" indent="0" marL="0">
              <a:buNone/>
            </a:pPr>
            <a:r>
              <a:rPr lang="en-US" sz="1300" b="1" i="1" dirty="0">
                <a:solidFill>
                  <a:schemeClr val="tx2"/>
                </a:solidFill>
              </a:rPr>
              <a:t>has lost a phone</a:t>
            </a:r>
            <a:endParaRPr lang="en-US" sz="1300" dirty="0"/>
          </a:p>
        </p:txBody>
      </p:sp>
      <p:sp>
        <p:nvSpPr>
          <p:cNvPr id="37" name="Text 26"/>
          <p:cNvSpPr txBox="1"/>
          <p:nvPr/>
        </p:nvSpPr>
        <p:spPr>
          <a:xfrm>
            <a:off x="3099816" y="5294376"/>
            <a:ext cx="2112264" cy="365760"/>
          </a:xfrm>
          <a:prstGeom prst="rect">
            <a:avLst/>
          </a:prstGeom>
          <a:noFill/>
          <a:ln/>
        </p:spPr>
        <p:txBody>
          <a:bodyPr wrap="square" lIns="0" tIns="0" rIns="0" bIns="0" rtlCol="0" anchor="ctr"/>
          <a:lstStyle/>
          <a:p>
            <a:pPr algn="l" indent="0" marL="0">
              <a:buNone/>
            </a:pPr>
            <a:r>
              <a:rPr lang="en-US" sz="1200" dirty="0">
                <a:solidFill>
                  <a:schemeClr val="accent5"/>
                </a:solidFill>
              </a:rPr>
              <a:t>name: ……………</a:t>
            </a:r>
            <a:endParaRPr lang="en-US" sz="1200" dirty="0"/>
          </a:p>
        </p:txBody>
      </p:sp>
      <p:sp>
        <p:nvSpPr>
          <p:cNvPr id="38" name="Shape 27"/>
          <p:cNvSpPr/>
          <p:nvPr/>
        </p:nvSpPr>
        <p:spPr>
          <a:xfrm>
            <a:off x="5431536" y="4425696"/>
            <a:ext cx="2331720" cy="1371600"/>
          </a:xfrm>
          <a:prstGeom prst="roundRect">
            <a:avLst>
              <a:gd name="adj" fmla="val 6667"/>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pic>
        <p:nvPicPr>
          <p:cNvPr id="39" name="Image 8" descr="snowflake">    </p:cNvPr>
          <p:cNvPicPr>
            <a:picLocks noChangeAspect="1"/>
          </p:cNvPicPr>
          <p:nvPr/>
        </p:nvPicPr>
        <p:blipFill>
          <a:blip r:embed="rId9"/>
          <a:stretch>
            <a:fillRect/>
          </a:stretch>
        </p:blipFill>
        <p:spPr>
          <a:xfrm>
            <a:off x="5541264" y="4535424"/>
            <a:ext cx="502920" cy="502920"/>
          </a:xfrm>
          <a:prstGeom prst="rect">
            <a:avLst/>
          </a:prstGeom>
        </p:spPr>
      </p:pic>
      <p:sp>
        <p:nvSpPr>
          <p:cNvPr id="40" name="Text 28"/>
          <p:cNvSpPr txBox="1"/>
          <p:nvPr/>
        </p:nvSpPr>
        <p:spPr>
          <a:xfrm>
            <a:off x="6117336" y="4471416"/>
            <a:ext cx="1554480" cy="685800"/>
          </a:xfrm>
          <a:prstGeom prst="rect">
            <a:avLst/>
          </a:prstGeom>
          <a:noFill/>
          <a:ln/>
        </p:spPr>
        <p:txBody>
          <a:bodyPr wrap="square" lIns="0" tIns="0" rIns="0" bIns="0" rtlCol="0" anchor="ctr"/>
          <a:lstStyle/>
          <a:p>
            <a:pPr algn="l" indent="0" marL="0">
              <a:buNone/>
            </a:pPr>
            <a:r>
              <a:rPr lang="en-US" sz="1300" b="1" i="1" dirty="0">
                <a:solidFill>
                  <a:schemeClr val="tx2"/>
                </a:solidFill>
              </a:rPr>
              <a:t>has seen snow this year</a:t>
            </a:r>
            <a:endParaRPr lang="en-US" sz="1300" dirty="0"/>
          </a:p>
        </p:txBody>
      </p:sp>
      <p:sp>
        <p:nvSpPr>
          <p:cNvPr id="41" name="Text 29"/>
          <p:cNvSpPr txBox="1"/>
          <p:nvPr/>
        </p:nvSpPr>
        <p:spPr>
          <a:xfrm>
            <a:off x="5541264" y="5294376"/>
            <a:ext cx="2112264" cy="365760"/>
          </a:xfrm>
          <a:prstGeom prst="rect">
            <a:avLst/>
          </a:prstGeom>
          <a:noFill/>
          <a:ln/>
        </p:spPr>
        <p:txBody>
          <a:bodyPr wrap="square" lIns="0" tIns="0" rIns="0" bIns="0" rtlCol="0" anchor="ctr"/>
          <a:lstStyle/>
          <a:p>
            <a:pPr algn="l" indent="0" marL="0">
              <a:buNone/>
            </a:pPr>
            <a:r>
              <a:rPr lang="en-US" sz="1200" dirty="0">
                <a:solidFill>
                  <a:schemeClr val="accent5"/>
                </a:solidFill>
              </a:rPr>
              <a:t>name: ……………</a:t>
            </a:r>
            <a:endParaRPr lang="en-US" sz="1200" dirty="0"/>
          </a:p>
        </p:txBody>
      </p:sp>
      <p:sp>
        <p:nvSpPr>
          <p:cNvPr id="42" name="Shape 30"/>
          <p:cNvSpPr/>
          <p:nvPr/>
        </p:nvSpPr>
        <p:spPr>
          <a:xfrm>
            <a:off x="8092440" y="1463040"/>
            <a:ext cx="3547872" cy="4343400"/>
          </a:xfrm>
          <a:prstGeom prst="roundRect">
            <a:avLst>
              <a:gd name="adj" fmla="val 3093"/>
            </a:avLst>
          </a:prstGeom>
          <a:solidFill>
            <a:srgbClr val="E8F4EC"/>
          </a:solidFill>
          <a:ln w="19050">
            <a:solidFill>
              <a:srgbClr val="2E7D4F"/>
            </a:solidFill>
            <a:prstDash val="solid"/>
          </a:ln>
        </p:spPr>
      </p:sp>
      <p:sp>
        <p:nvSpPr>
          <p:cNvPr id="43" name="Text 31"/>
          <p:cNvSpPr txBox="1"/>
          <p:nvPr/>
        </p:nvSpPr>
        <p:spPr>
          <a:xfrm>
            <a:off x="8275320" y="1536192"/>
            <a:ext cx="3200400" cy="384048"/>
          </a:xfrm>
          <a:prstGeom prst="rect">
            <a:avLst/>
          </a:prstGeom>
          <a:noFill/>
          <a:ln/>
        </p:spPr>
        <p:txBody>
          <a:bodyPr wrap="square" lIns="0" tIns="0" rIns="0" bIns="0" rtlCol="0" anchor="t"/>
          <a:lstStyle/>
          <a:p>
            <a:pPr algn="l" indent="0" marL="0">
              <a:buNone/>
            </a:pPr>
            <a:r>
              <a:rPr lang="en-US" sz="1500" b="1" spc="100" kern="0" dirty="0">
                <a:solidFill>
                  <a:schemeClr val="accent3"/>
                </a:solidFill>
              </a:rPr>
              <a:t>HOW TO PLAY</a:t>
            </a:r>
            <a:endParaRPr lang="en-US" sz="1500" dirty="0"/>
          </a:p>
        </p:txBody>
      </p:sp>
      <p:sp>
        <p:nvSpPr>
          <p:cNvPr id="44" name="Text 32"/>
          <p:cNvSpPr txBox="1"/>
          <p:nvPr/>
        </p:nvSpPr>
        <p:spPr>
          <a:xfrm>
            <a:off x="8275320" y="2011680"/>
            <a:ext cx="3200400" cy="3657600"/>
          </a:xfrm>
          <a:prstGeom prst="rect">
            <a:avLst/>
          </a:prstGeom>
          <a:noFill/>
          <a:ln/>
        </p:spPr>
        <p:txBody>
          <a:bodyPr wrap="square" lIns="0" tIns="0" rIns="0" bIns="0" rtlCol="0" anchor="t"/>
          <a:lstStyle/>
          <a:p>
            <a:pPr algn="l" indent="0" marL="0">
              <a:spcAft>
                <a:spcPts val="1200"/>
              </a:spcAft>
              <a:buNone/>
            </a:pPr>
            <a:r>
              <a:rPr lang="en-US" sz="1600" dirty="0">
                <a:solidFill>
                  <a:schemeClr val="tx1"/>
                </a:solidFill>
              </a:rPr>
              <a:t>① Ask: </a:t>
            </a:r>
            <a:r>
              <a:rPr lang="en-US" sz="1600" i="1" dirty="0">
                <a:solidFill>
                  <a:schemeClr val="tx1"/>
                </a:solidFill>
              </a:rPr>
              <a:t>Have you ever…?</a:t>
            </a:r>
            <a:endParaRPr lang="en-US" sz="1600" dirty="0"/>
          </a:p>
          <a:p>
            <a:pPr algn="l" indent="0" marL="0">
              <a:spcAft>
                <a:spcPts val="1200"/>
              </a:spcAft>
              <a:buNone/>
            </a:pPr>
            <a:r>
              <a:rPr lang="en-US" sz="1600" dirty="0">
                <a:solidFill>
                  <a:schemeClr val="tx1"/>
                </a:solidFill>
              </a:rPr>
              <a:t>② </a:t>
            </a:r>
            <a:r>
              <a:rPr lang="en-US" sz="1600" i="1" dirty="0">
                <a:solidFill>
                  <a:schemeClr val="tx1"/>
                </a:solidFill>
              </a:rPr>
              <a:t>Yes, I have!</a:t>
            </a:r>
            <a:r>
              <a:rPr lang="en-US" sz="1600" dirty="0">
                <a:solidFill>
                  <a:schemeClr val="tx1"/>
                </a:solidFill>
              </a:rPr>
              <a:t> → write the name.</a:t>
            </a:r>
            <a:endParaRPr lang="en-US" sz="1600" dirty="0"/>
          </a:p>
          <a:p>
            <a:pPr algn="l" indent="0" marL="0">
              <a:spcAft>
                <a:spcPts val="1200"/>
              </a:spcAft>
              <a:buNone/>
            </a:pPr>
            <a:r>
              <a:rPr lang="en-US" sz="1600" dirty="0">
                <a:solidFill>
                  <a:schemeClr val="tx1"/>
                </a:solidFill>
              </a:rPr>
              <a:t>③ Ask one more question in the </a:t>
            </a:r>
            <a:r>
              <a:rPr lang="en-US" sz="1600" b="1" dirty="0">
                <a:solidFill>
                  <a:schemeClr val="tx1"/>
                </a:solidFill>
              </a:rPr>
              <a:t>past simple</a:t>
            </a:r>
            <a:r>
              <a:rPr lang="en-US" sz="1600" dirty="0">
                <a:solidFill>
                  <a:schemeClr val="tx1"/>
                </a:solidFill>
              </a:rPr>
              <a:t>: </a:t>
            </a:r>
            <a:r>
              <a:rPr lang="en-US" sz="1600" i="1" dirty="0">
                <a:solidFill>
                  <a:schemeClr val="tx1"/>
                </a:solidFill>
              </a:rPr>
              <a:t>When did you…? Where…?</a:t>
            </a:r>
            <a:endParaRPr lang="en-US" sz="1600" dirty="0"/>
          </a:p>
          <a:p>
            <a:pPr algn="l" indent="0" marL="0">
              <a:spcAft>
                <a:spcPts val="1200"/>
              </a:spcAft>
              <a:buNone/>
            </a:pPr>
            <a:r>
              <a:rPr lang="en-US" sz="1600" dirty="0">
                <a:solidFill>
                  <a:schemeClr val="tx1"/>
                </a:solidFill>
              </a:rPr>
              <a:t>④ 3 names in a line = </a:t>
            </a:r>
            <a:r>
              <a:rPr lang="en-US" sz="1600" b="1" dirty="0">
                <a:solidFill>
                  <a:schemeClr val="tx1"/>
                </a:solidFill>
              </a:rPr>
              <a:t>BINGO!</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Exercise 10 — The job interview</a:t>
            </a:r>
            <a:endParaRPr lang="en-US" sz="3000" dirty="0"/>
          </a:p>
        </p:txBody>
      </p:sp>
      <p:sp>
        <p:nvSpPr>
          <p:cNvPr id="3" name="tag"/>
          <p:cNvSpPr/>
          <p:nvPr/>
        </p:nvSpPr>
        <p:spPr>
          <a:xfrm>
            <a:off x="548640" y="237744"/>
            <a:ext cx="1336853"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ROLE PLAY</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251192" cy="755904"/>
          </a:xfrm>
          <a:prstGeom prst="roundRect">
            <a:avLst>
              <a:gd name="adj" fmla="val 9677"/>
            </a:avLst>
          </a:prstGeom>
          <a:solidFill>
            <a:srgbClr val="6E4A9E">
              <a:alpha val="10000"/>
            </a:srgbClr>
          </a:solidFill>
          <a:ln w="12700">
            <a:solidFill>
              <a:srgbClr val="6E4A9E"/>
            </a:solidFill>
            <a:prstDash val="solid"/>
          </a:ln>
        </p:spPr>
      </p:sp>
      <p:sp>
        <p:nvSpPr>
          <p:cNvPr id="7" name="Text 4"/>
          <p:cNvSpPr txBox="1"/>
          <p:nvPr/>
        </p:nvSpPr>
        <p:spPr>
          <a:xfrm>
            <a:off x="777240" y="1481328"/>
            <a:ext cx="6793992" cy="755904"/>
          </a:xfrm>
          <a:prstGeom prst="rect">
            <a:avLst/>
          </a:prstGeom>
          <a:noFill/>
          <a:ln/>
        </p:spPr>
        <p:txBody>
          <a:bodyPr wrap="square" lIns="0" tIns="0" rIns="0" bIns="0" rtlCol="0" anchor="ctr"/>
          <a:lstStyle/>
          <a:p>
            <a:pPr algn="l" indent="0" marL="0">
              <a:buNone/>
            </a:pPr>
            <a:r>
              <a:rPr lang="en-US" sz="1700" dirty="0">
                <a:solidFill>
                  <a:schemeClr val="tx1"/>
                </a:solidFill>
              </a:rPr>
              <a:t>A company is looking for a team leader. A interviews B about B’s experience. Use the present perfect and the past simple.</a:t>
            </a:r>
            <a:endParaRPr lang="en-US" sz="1700" dirty="0"/>
          </a:p>
        </p:txBody>
      </p:sp>
      <p:sp>
        <p:nvSpPr>
          <p:cNvPr id="8" name="Shape 5"/>
          <p:cNvSpPr/>
          <p:nvPr/>
        </p:nvSpPr>
        <p:spPr>
          <a:xfrm>
            <a:off x="548640" y="2420112"/>
            <a:ext cx="3488436" cy="2087880"/>
          </a:xfrm>
          <a:prstGeom prst="roundRect">
            <a:avLst>
              <a:gd name="adj" fmla="val 3504"/>
            </a:avLst>
          </a:prstGeom>
          <a:solidFill>
            <a:schemeClr val="bg1"/>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557272"/>
            <a:ext cx="457200" cy="457200"/>
          </a:xfrm>
          <a:prstGeom prst="ellipse">
            <a:avLst/>
          </a:prstGeom>
          <a:solidFill>
            <a:schemeClr val="accent2"/>
          </a:solidFill>
          <a:ln w="12700">
            <a:solidFill>
              <a:srgbClr val="FFFFFF">
                <a:alpha val="0"/>
              </a:srgbClr>
            </a:solidFill>
            <a:prstDash val="solid"/>
          </a:ln>
        </p:spPr>
      </p:sp>
      <p:sp>
        <p:nvSpPr>
          <p:cNvPr id="10" name="Text 7"/>
          <p:cNvSpPr txBox="1"/>
          <p:nvPr/>
        </p:nvSpPr>
        <p:spPr>
          <a:xfrm>
            <a:off x="713232"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A — the interviewer</a:t>
            </a:r>
            <a:endParaRPr lang="en-US" sz="1700" dirty="0"/>
          </a:p>
          <a:p>
            <a:pPr algn="l" indent="0" marL="0">
              <a:spcAft>
                <a:spcPts val="600"/>
              </a:spcAft>
              <a:buNone/>
            </a:pPr>
            <a:r>
              <a:rPr lang="en-US" sz="1700" dirty="0">
                <a:solidFill>
                  <a:schemeClr val="tx1"/>
                </a:solidFill>
              </a:rPr>
              <a:t>Ask: </a:t>
            </a:r>
            <a:r>
              <a:rPr lang="en-US" sz="1700" i="1" dirty="0">
                <a:solidFill>
                  <a:schemeClr val="tx1"/>
                </a:solidFill>
              </a:rPr>
              <a:t>How long…? Have you ever…?</a:t>
            </a:r>
            <a:r>
              <a:rPr lang="en-US" sz="1700" dirty="0">
                <a:solidFill>
                  <a:schemeClr val="tx1"/>
                </a:solidFill>
              </a:rPr>
              <a:t> Then: </a:t>
            </a:r>
            <a:r>
              <a:rPr lang="en-US" sz="1700" i="1" dirty="0">
                <a:solidFill>
                  <a:schemeClr val="tx1"/>
                </a:solidFill>
              </a:rPr>
              <a:t>When…? What did you…?</a:t>
            </a:r>
            <a:endParaRPr lang="en-US" sz="1700" dirty="0"/>
          </a:p>
        </p:txBody>
      </p:sp>
      <p:sp>
        <p:nvSpPr>
          <p:cNvPr id="12" name="Shape 9"/>
          <p:cNvSpPr/>
          <p:nvPr/>
        </p:nvSpPr>
        <p:spPr>
          <a:xfrm>
            <a:off x="4311396" y="2420112"/>
            <a:ext cx="3488436" cy="2087880"/>
          </a:xfrm>
          <a:prstGeom prst="roundRect">
            <a:avLst>
              <a:gd name="adj" fmla="val 3504"/>
            </a:avLst>
          </a:prstGeom>
          <a:solidFill>
            <a:schemeClr val="bg1"/>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3" name="Shape 10"/>
          <p:cNvSpPr/>
          <p:nvPr/>
        </p:nvSpPr>
        <p:spPr>
          <a:xfrm>
            <a:off x="4475988" y="2557272"/>
            <a:ext cx="457200" cy="457200"/>
          </a:xfrm>
          <a:prstGeom prst="ellipse">
            <a:avLst/>
          </a:prstGeom>
          <a:solidFill>
            <a:srgbClr val="6E4A9E"/>
          </a:solidFill>
          <a:ln w="12700">
            <a:solidFill>
              <a:srgbClr val="FFFFFF">
                <a:alpha val="0"/>
              </a:srgbClr>
            </a:solidFill>
            <a:prstDash val="solid"/>
          </a:ln>
        </p:spPr>
      </p:sp>
      <p:sp>
        <p:nvSpPr>
          <p:cNvPr id="14" name="Text 11"/>
          <p:cNvSpPr txBox="1"/>
          <p:nvPr/>
        </p:nvSpPr>
        <p:spPr>
          <a:xfrm>
            <a:off x="4475988" y="2557272"/>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5" name="Text 12"/>
          <p:cNvSpPr txBox="1"/>
          <p:nvPr/>
        </p:nvSpPr>
        <p:spPr>
          <a:xfrm>
            <a:off x="5088636" y="2511552"/>
            <a:ext cx="2574036" cy="1905000"/>
          </a:xfrm>
          <a:prstGeom prst="rect">
            <a:avLst/>
          </a:prstGeom>
          <a:noFill/>
          <a:ln/>
        </p:spPr>
        <p:txBody>
          <a:bodyPr wrap="square" lIns="0" tIns="0" rIns="0" bIns="0" rtlCol="0" anchor="ctr"/>
          <a:lstStyle/>
          <a:p>
            <a:pPr algn="l" indent="0" marL="0">
              <a:spcAft>
                <a:spcPts val="600"/>
              </a:spcAft>
              <a:buNone/>
            </a:pPr>
            <a:r>
              <a:rPr lang="en-US" sz="1700" b="1" dirty="0">
                <a:solidFill>
                  <a:schemeClr val="tx1"/>
                </a:solidFill>
              </a:rPr>
              <a:t>B — the candidate</a:t>
            </a:r>
            <a:endParaRPr lang="en-US" sz="1700" dirty="0"/>
          </a:p>
          <a:p>
            <a:pPr algn="l" indent="0" marL="0">
              <a:spcAft>
                <a:spcPts val="600"/>
              </a:spcAft>
              <a:buNone/>
            </a:pPr>
            <a:r>
              <a:rPr lang="en-US" sz="1700" dirty="0">
                <a:solidFill>
                  <a:schemeClr val="tx1"/>
                </a:solidFill>
              </a:rPr>
              <a:t>Answer with the CV: what you have done (until now) and what you did (finished, with a date).</a:t>
            </a:r>
            <a:endParaRPr lang="en-US" sz="1700" dirty="0"/>
          </a:p>
        </p:txBody>
      </p:sp>
      <p:sp>
        <p:nvSpPr>
          <p:cNvPr id="16" name="Shape 13"/>
          <p:cNvSpPr/>
          <p:nvPr/>
        </p:nvSpPr>
        <p:spPr>
          <a:xfrm>
            <a:off x="548640" y="4690872"/>
            <a:ext cx="7251192" cy="1600200"/>
          </a:xfrm>
          <a:prstGeom prst="roundRect">
            <a:avLst>
              <a:gd name="adj" fmla="val 4571"/>
            </a:avLst>
          </a:prstGeom>
          <a:solidFill>
            <a:schemeClr val="bg2"/>
          </a:solidFill>
          <a:ln w="12700">
            <a:solidFill>
              <a:srgbClr val="D5DCE6"/>
            </a:solidFill>
            <a:prstDash val="solid"/>
          </a:ln>
        </p:spPr>
      </p:sp>
      <p:sp>
        <p:nvSpPr>
          <p:cNvPr id="17" name="Text 14"/>
          <p:cNvSpPr txBox="1"/>
          <p:nvPr/>
        </p:nvSpPr>
        <p:spPr>
          <a:xfrm>
            <a:off x="731520" y="4764024"/>
            <a:ext cx="3657600" cy="274320"/>
          </a:xfrm>
          <a:prstGeom prst="rect">
            <a:avLst/>
          </a:prstGeom>
          <a:noFill/>
          <a:ln/>
        </p:spPr>
        <p:txBody>
          <a:bodyPr wrap="square" lIns="0" tIns="0" rIns="0" bIns="0" rtlCol="0" anchor="t"/>
          <a:lstStyle/>
          <a:p>
            <a:pPr algn="l" indent="0" marL="0">
              <a:buNone/>
            </a:pPr>
            <a:r>
              <a:rPr lang="en-US" sz="1200" b="1" spc="200" kern="0" dirty="0">
                <a:solidFill>
                  <a:schemeClr val="accent5"/>
                </a:solidFill>
              </a:rPr>
              <a:t>USEFUL PHRASES</a:t>
            </a:r>
            <a:endParaRPr lang="en-US" sz="1200" dirty="0"/>
          </a:p>
        </p:txBody>
      </p:sp>
      <p:sp>
        <p:nvSpPr>
          <p:cNvPr id="18" name="Text 15"/>
          <p:cNvSpPr txBox="1"/>
          <p:nvPr/>
        </p:nvSpPr>
        <p:spPr>
          <a:xfrm>
            <a:off x="731520" y="5056632"/>
            <a:ext cx="6885432" cy="1161288"/>
          </a:xfrm>
          <a:prstGeom prst="rect">
            <a:avLst/>
          </a:prstGeom>
          <a:noFill/>
          <a:ln/>
        </p:spPr>
        <p:txBody>
          <a:bodyPr wrap="square" lIns="0" tIns="0" rIns="0" bIns="0" rtlCol="0" anchor="t"/>
          <a:lstStyle/>
          <a:p>
            <a:pPr algn="l" indent="0" marL="0">
              <a:buNone/>
            </a:pPr>
            <a:r>
              <a:rPr lang="en-US" sz="1600" i="1" dirty="0">
                <a:solidFill>
                  <a:schemeClr val="tx1"/>
                </a:solidFill>
              </a:rPr>
              <a:t>How long have you worked as…? · Have you ever…? · What did you do in…? · When did you…? — I’ve worked… since / for… · I’ve never… · In 2018, I… · I’ve already… · That was a great experience.</a:t>
            </a:r>
            <a:endParaRPr lang="en-US" sz="1600" dirty="0"/>
          </a:p>
        </p:txBody>
      </p:sp>
      <p:sp>
        <p:nvSpPr>
          <p:cNvPr id="19" name="Shape 16"/>
          <p:cNvSpPr/>
          <p:nvPr/>
        </p:nvSpPr>
        <p:spPr>
          <a:xfrm>
            <a:off x="8074152" y="1481328"/>
            <a:ext cx="3566160" cy="4809744"/>
          </a:xfrm>
          <a:prstGeom prst="roundRect">
            <a:avLst>
              <a:gd name="adj" fmla="val 1026"/>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20" name="Shape 17"/>
          <p:cNvSpPr/>
          <p:nvPr/>
        </p:nvSpPr>
        <p:spPr>
          <a:xfrm>
            <a:off x="8074152" y="1481328"/>
            <a:ext cx="3566160" cy="548640"/>
          </a:xfrm>
          <a:prstGeom prst="roundRect">
            <a:avLst>
              <a:gd name="adj" fmla="val 6667"/>
            </a:avLst>
          </a:prstGeom>
          <a:solidFill>
            <a:schemeClr val="tx2"/>
          </a:solidFill>
          <a:ln w="12700">
            <a:solidFill>
              <a:srgbClr val="FFFFFF">
                <a:alpha val="0"/>
              </a:srgbClr>
            </a:solidFill>
            <a:prstDash val="solid"/>
          </a:ln>
        </p:spPr>
      </p:sp>
      <p:sp>
        <p:nvSpPr>
          <p:cNvPr id="21" name="Text 18"/>
          <p:cNvSpPr txBox="1"/>
          <p:nvPr/>
        </p:nvSpPr>
        <p:spPr>
          <a:xfrm>
            <a:off x="8211312" y="1481328"/>
            <a:ext cx="3291840" cy="548640"/>
          </a:xfrm>
          <a:prstGeom prst="rect">
            <a:avLst/>
          </a:prstGeom>
          <a:noFill/>
          <a:ln/>
        </p:spPr>
        <p:txBody>
          <a:bodyPr wrap="square" lIns="0" tIns="0" rIns="0" bIns="0" rtlCol="0" anchor="ctr"/>
          <a:lstStyle/>
          <a:p>
            <a:pPr algn="l" indent="0" marL="0">
              <a:buNone/>
            </a:pPr>
            <a:r>
              <a:rPr lang="en-US" sz="1300" b="1" spc="100" kern="0" dirty="0">
                <a:solidFill>
                  <a:schemeClr val="bg1"/>
                </a:solidFill>
              </a:rPr>
              <a:t>B’S CV</a:t>
            </a:r>
            <a:endParaRPr lang="en-US" sz="1300" dirty="0"/>
          </a:p>
        </p:txBody>
      </p:sp>
      <p:pic>
        <p:nvPicPr>
          <p:cNvPr id="22" name="Image 0" descr="briefcase">    </p:cNvPr>
          <p:cNvPicPr>
            <a:picLocks noChangeAspect="1"/>
          </p:cNvPicPr>
          <p:nvPr/>
        </p:nvPicPr>
        <p:blipFill>
          <a:blip r:embed="rId1"/>
          <a:stretch>
            <a:fillRect/>
          </a:stretch>
        </p:blipFill>
        <p:spPr>
          <a:xfrm>
            <a:off x="8211312" y="2167128"/>
            <a:ext cx="457200" cy="457200"/>
          </a:xfrm>
          <a:prstGeom prst="rect">
            <a:avLst/>
          </a:prstGeom>
        </p:spPr>
      </p:pic>
      <p:sp>
        <p:nvSpPr>
          <p:cNvPr id="23" name="Text 19"/>
          <p:cNvSpPr txBox="1"/>
          <p:nvPr/>
        </p:nvSpPr>
        <p:spPr>
          <a:xfrm>
            <a:off x="8805672" y="2112264"/>
            <a:ext cx="2697480" cy="274320"/>
          </a:xfrm>
          <a:prstGeom prst="rect">
            <a:avLst/>
          </a:prstGeom>
          <a:noFill/>
          <a:ln/>
        </p:spPr>
        <p:txBody>
          <a:bodyPr wrap="square" lIns="0" tIns="0" rIns="0" bIns="0" rtlCol="0" anchor="ctr"/>
          <a:lstStyle/>
          <a:p>
            <a:pPr algn="l" indent="0" marL="0">
              <a:buNone/>
            </a:pPr>
            <a:r>
              <a:rPr lang="en-US" sz="1200" b="1" dirty="0">
                <a:solidFill>
                  <a:schemeClr val="accent2"/>
                </a:solidFill>
              </a:rPr>
              <a:t>since 2020</a:t>
            </a:r>
            <a:endParaRPr lang="en-US" sz="1200" dirty="0"/>
          </a:p>
        </p:txBody>
      </p:sp>
      <p:sp>
        <p:nvSpPr>
          <p:cNvPr id="24" name="Text 20"/>
          <p:cNvSpPr txBox="1"/>
          <p:nvPr/>
        </p:nvSpPr>
        <p:spPr>
          <a:xfrm>
            <a:off x="8805672" y="2368296"/>
            <a:ext cx="2697480" cy="310896"/>
          </a:xfrm>
          <a:prstGeom prst="rect">
            <a:avLst/>
          </a:prstGeom>
          <a:noFill/>
          <a:ln/>
        </p:spPr>
        <p:txBody>
          <a:bodyPr wrap="square" lIns="0" tIns="0" rIns="0" bIns="0" rtlCol="0" anchor="ctr"/>
          <a:lstStyle/>
          <a:p>
            <a:pPr algn="l" indent="0" marL="0">
              <a:buNone/>
            </a:pPr>
            <a:r>
              <a:rPr lang="en-US" sz="1350" i="1" dirty="0">
                <a:solidFill>
                  <a:schemeClr val="tx1"/>
                </a:solidFill>
              </a:rPr>
              <a:t>team leader, Brussels</a:t>
            </a:r>
            <a:endParaRPr lang="en-US" sz="1350" dirty="0"/>
          </a:p>
        </p:txBody>
      </p:sp>
      <p:pic>
        <p:nvPicPr>
          <p:cNvPr id="25" name="Image 1" descr="shopping cart">    </p:cNvPr>
          <p:cNvPicPr>
            <a:picLocks noChangeAspect="1"/>
          </p:cNvPicPr>
          <p:nvPr/>
        </p:nvPicPr>
        <p:blipFill>
          <a:blip r:embed="rId2"/>
          <a:stretch>
            <a:fillRect/>
          </a:stretch>
        </p:blipFill>
        <p:spPr>
          <a:xfrm>
            <a:off x="8211312" y="2834640"/>
            <a:ext cx="457200" cy="457200"/>
          </a:xfrm>
          <a:prstGeom prst="rect">
            <a:avLst/>
          </a:prstGeom>
        </p:spPr>
      </p:pic>
      <p:sp>
        <p:nvSpPr>
          <p:cNvPr id="26" name="Text 21"/>
          <p:cNvSpPr txBox="1"/>
          <p:nvPr/>
        </p:nvSpPr>
        <p:spPr>
          <a:xfrm>
            <a:off x="8805672" y="2779776"/>
            <a:ext cx="2697480" cy="274320"/>
          </a:xfrm>
          <a:prstGeom prst="rect">
            <a:avLst/>
          </a:prstGeom>
          <a:noFill/>
          <a:ln/>
        </p:spPr>
        <p:txBody>
          <a:bodyPr wrap="square" lIns="0" tIns="0" rIns="0" bIns="0" rtlCol="0" anchor="ctr"/>
          <a:lstStyle/>
          <a:p>
            <a:pPr algn="l" indent="0" marL="0">
              <a:buNone/>
            </a:pPr>
            <a:r>
              <a:rPr lang="en-US" sz="1200" b="1" dirty="0">
                <a:solidFill>
                  <a:schemeClr val="accent4"/>
                </a:solidFill>
              </a:rPr>
              <a:t>2015 – 2019</a:t>
            </a:r>
            <a:endParaRPr lang="en-US" sz="1200" dirty="0"/>
          </a:p>
        </p:txBody>
      </p:sp>
      <p:sp>
        <p:nvSpPr>
          <p:cNvPr id="27" name="Text 22"/>
          <p:cNvSpPr txBox="1"/>
          <p:nvPr/>
        </p:nvSpPr>
        <p:spPr>
          <a:xfrm>
            <a:off x="8805672" y="3035808"/>
            <a:ext cx="2697480" cy="310896"/>
          </a:xfrm>
          <a:prstGeom prst="rect">
            <a:avLst/>
          </a:prstGeom>
          <a:noFill/>
          <a:ln/>
        </p:spPr>
        <p:txBody>
          <a:bodyPr wrap="square" lIns="0" tIns="0" rIns="0" bIns="0" rtlCol="0" anchor="ctr"/>
          <a:lstStyle/>
          <a:p>
            <a:pPr algn="l" indent="0" marL="0">
              <a:buNone/>
            </a:pPr>
            <a:r>
              <a:rPr lang="en-US" sz="1350" i="1" dirty="0">
                <a:solidFill>
                  <a:schemeClr val="tx1"/>
                </a:solidFill>
              </a:rPr>
              <a:t>sales assistant, Leeds</a:t>
            </a:r>
            <a:endParaRPr lang="en-US" sz="1350" dirty="0"/>
          </a:p>
        </p:txBody>
      </p:sp>
      <p:pic>
        <p:nvPicPr>
          <p:cNvPr id="28" name="Image 2" descr="graduation cap">    </p:cNvPr>
          <p:cNvPicPr>
            <a:picLocks noChangeAspect="1"/>
          </p:cNvPicPr>
          <p:nvPr/>
        </p:nvPicPr>
        <p:blipFill>
          <a:blip r:embed="rId3"/>
          <a:stretch>
            <a:fillRect/>
          </a:stretch>
        </p:blipFill>
        <p:spPr>
          <a:xfrm>
            <a:off x="8211312" y="3502152"/>
            <a:ext cx="457200" cy="457200"/>
          </a:xfrm>
          <a:prstGeom prst="rect">
            <a:avLst/>
          </a:prstGeom>
        </p:spPr>
      </p:pic>
      <p:sp>
        <p:nvSpPr>
          <p:cNvPr id="29" name="Text 23"/>
          <p:cNvSpPr txBox="1"/>
          <p:nvPr/>
        </p:nvSpPr>
        <p:spPr>
          <a:xfrm>
            <a:off x="8805672" y="3447288"/>
            <a:ext cx="2697480" cy="274320"/>
          </a:xfrm>
          <a:prstGeom prst="rect">
            <a:avLst/>
          </a:prstGeom>
          <a:noFill/>
          <a:ln/>
        </p:spPr>
        <p:txBody>
          <a:bodyPr wrap="square" lIns="0" tIns="0" rIns="0" bIns="0" rtlCol="0" anchor="ctr"/>
          <a:lstStyle/>
          <a:p>
            <a:pPr algn="l" indent="0" marL="0">
              <a:buNone/>
            </a:pPr>
            <a:r>
              <a:rPr lang="en-US" sz="1200" b="1" dirty="0">
                <a:solidFill>
                  <a:schemeClr val="accent4"/>
                </a:solidFill>
              </a:rPr>
              <a:t>degree</a:t>
            </a:r>
            <a:endParaRPr lang="en-US" sz="1200" dirty="0"/>
          </a:p>
        </p:txBody>
      </p:sp>
      <p:sp>
        <p:nvSpPr>
          <p:cNvPr id="30" name="Text 24"/>
          <p:cNvSpPr txBox="1"/>
          <p:nvPr/>
        </p:nvSpPr>
        <p:spPr>
          <a:xfrm>
            <a:off x="8805672" y="3703320"/>
            <a:ext cx="2697480" cy="310896"/>
          </a:xfrm>
          <a:prstGeom prst="rect">
            <a:avLst/>
          </a:prstGeom>
          <a:noFill/>
          <a:ln/>
        </p:spPr>
        <p:txBody>
          <a:bodyPr wrap="square" lIns="0" tIns="0" rIns="0" bIns="0" rtlCol="0" anchor="ctr"/>
          <a:lstStyle/>
          <a:p>
            <a:pPr algn="l" indent="0" marL="0">
              <a:buNone/>
            </a:pPr>
            <a:r>
              <a:rPr lang="en-US" sz="1350" i="1" dirty="0">
                <a:solidFill>
                  <a:schemeClr val="tx1"/>
                </a:solidFill>
              </a:rPr>
              <a:t>Business, Leeds (2014)</a:t>
            </a:r>
            <a:endParaRPr lang="en-US" sz="1350" dirty="0"/>
          </a:p>
        </p:txBody>
      </p:sp>
      <p:pic>
        <p:nvPicPr>
          <p:cNvPr id="31" name="Image 3" descr="airplane">    </p:cNvPr>
          <p:cNvPicPr>
            <a:picLocks noChangeAspect="1"/>
          </p:cNvPicPr>
          <p:nvPr/>
        </p:nvPicPr>
        <p:blipFill>
          <a:blip r:embed="rId4"/>
          <a:stretch>
            <a:fillRect/>
          </a:stretch>
        </p:blipFill>
        <p:spPr>
          <a:xfrm>
            <a:off x="8211312" y="4169664"/>
            <a:ext cx="457200" cy="457200"/>
          </a:xfrm>
          <a:prstGeom prst="rect">
            <a:avLst/>
          </a:prstGeom>
        </p:spPr>
      </p:pic>
      <p:sp>
        <p:nvSpPr>
          <p:cNvPr id="32" name="Text 25"/>
          <p:cNvSpPr txBox="1"/>
          <p:nvPr/>
        </p:nvSpPr>
        <p:spPr>
          <a:xfrm>
            <a:off x="8805672" y="4114800"/>
            <a:ext cx="2697480" cy="274320"/>
          </a:xfrm>
          <a:prstGeom prst="rect">
            <a:avLst/>
          </a:prstGeom>
          <a:noFill/>
          <a:ln/>
        </p:spPr>
        <p:txBody>
          <a:bodyPr wrap="square" lIns="0" tIns="0" rIns="0" bIns="0" rtlCol="0" anchor="ctr"/>
          <a:lstStyle/>
          <a:p>
            <a:pPr algn="l" indent="0" marL="0">
              <a:buNone/>
            </a:pPr>
            <a:r>
              <a:rPr lang="en-US" sz="1200" b="1" dirty="0">
                <a:solidFill>
                  <a:schemeClr val="accent4"/>
                </a:solidFill>
              </a:rPr>
              <a:t>travel</a:t>
            </a:r>
            <a:endParaRPr lang="en-US" sz="1200" dirty="0"/>
          </a:p>
        </p:txBody>
      </p:sp>
      <p:sp>
        <p:nvSpPr>
          <p:cNvPr id="33" name="Text 26"/>
          <p:cNvSpPr txBox="1"/>
          <p:nvPr/>
        </p:nvSpPr>
        <p:spPr>
          <a:xfrm>
            <a:off x="8805672" y="4370832"/>
            <a:ext cx="2697480" cy="310896"/>
          </a:xfrm>
          <a:prstGeom prst="rect">
            <a:avLst/>
          </a:prstGeom>
          <a:noFill/>
          <a:ln/>
        </p:spPr>
        <p:txBody>
          <a:bodyPr wrap="square" lIns="0" tIns="0" rIns="0" bIns="0" rtlCol="0" anchor="ctr"/>
          <a:lstStyle/>
          <a:p>
            <a:pPr algn="l" indent="0" marL="0">
              <a:buNone/>
            </a:pPr>
            <a:r>
              <a:rPr lang="en-US" sz="1350" i="1" dirty="0">
                <a:solidFill>
                  <a:schemeClr val="tx1"/>
                </a:solidFill>
              </a:rPr>
              <a:t>USA (2018) · Japan (2023)</a:t>
            </a:r>
            <a:endParaRPr lang="en-US" sz="1350" dirty="0"/>
          </a:p>
        </p:txBody>
      </p:sp>
      <p:pic>
        <p:nvPicPr>
          <p:cNvPr id="34" name="Image 4" descr="trophy">    </p:cNvPr>
          <p:cNvPicPr>
            <a:picLocks noChangeAspect="1"/>
          </p:cNvPicPr>
          <p:nvPr/>
        </p:nvPicPr>
        <p:blipFill>
          <a:blip r:embed="rId5"/>
          <a:stretch>
            <a:fillRect/>
          </a:stretch>
        </p:blipFill>
        <p:spPr>
          <a:xfrm>
            <a:off x="8211312" y="4837176"/>
            <a:ext cx="457200" cy="457200"/>
          </a:xfrm>
          <a:prstGeom prst="rect">
            <a:avLst/>
          </a:prstGeom>
        </p:spPr>
      </p:pic>
      <p:sp>
        <p:nvSpPr>
          <p:cNvPr id="35" name="Text 27"/>
          <p:cNvSpPr txBox="1"/>
          <p:nvPr/>
        </p:nvSpPr>
        <p:spPr>
          <a:xfrm>
            <a:off x="8805672" y="4782312"/>
            <a:ext cx="2697480" cy="274320"/>
          </a:xfrm>
          <a:prstGeom prst="rect">
            <a:avLst/>
          </a:prstGeom>
          <a:noFill/>
          <a:ln/>
        </p:spPr>
        <p:txBody>
          <a:bodyPr wrap="square" lIns="0" tIns="0" rIns="0" bIns="0" rtlCol="0" anchor="ctr"/>
          <a:lstStyle/>
          <a:p>
            <a:pPr algn="l" indent="0" marL="0">
              <a:buNone/>
            </a:pPr>
            <a:r>
              <a:rPr lang="en-US" sz="1200" b="1" dirty="0">
                <a:solidFill>
                  <a:schemeClr val="accent2"/>
                </a:solidFill>
              </a:rPr>
              <a:t>events</a:t>
            </a:r>
            <a:endParaRPr lang="en-US" sz="1200" dirty="0"/>
          </a:p>
        </p:txBody>
      </p:sp>
      <p:sp>
        <p:nvSpPr>
          <p:cNvPr id="36" name="Text 28"/>
          <p:cNvSpPr txBox="1"/>
          <p:nvPr/>
        </p:nvSpPr>
        <p:spPr>
          <a:xfrm>
            <a:off x="8805672" y="5038344"/>
            <a:ext cx="2697480" cy="310896"/>
          </a:xfrm>
          <a:prstGeom prst="rect">
            <a:avLst/>
          </a:prstGeom>
          <a:noFill/>
          <a:ln/>
        </p:spPr>
        <p:txBody>
          <a:bodyPr wrap="square" lIns="0" tIns="0" rIns="0" bIns="0" rtlCol="0" anchor="ctr"/>
          <a:lstStyle/>
          <a:p>
            <a:pPr algn="l" indent="0" marL="0">
              <a:buNone/>
            </a:pPr>
            <a:r>
              <a:rPr lang="en-US" sz="1350" i="1" dirty="0">
                <a:solidFill>
                  <a:schemeClr val="tx1"/>
                </a:solidFill>
              </a:rPr>
              <a:t>organised 3 conferences so far</a:t>
            </a:r>
            <a:endParaRPr lang="en-US" sz="1350" dirty="0"/>
          </a:p>
        </p:txBody>
      </p:sp>
      <p:pic>
        <p:nvPicPr>
          <p:cNvPr id="37" name="Image 5" descr="cross mark">    </p:cNvPr>
          <p:cNvPicPr>
            <a:picLocks noChangeAspect="1"/>
          </p:cNvPicPr>
          <p:nvPr/>
        </p:nvPicPr>
        <p:blipFill>
          <a:blip r:embed="rId6"/>
          <a:stretch>
            <a:fillRect/>
          </a:stretch>
        </p:blipFill>
        <p:spPr>
          <a:xfrm>
            <a:off x="8211312" y="5504688"/>
            <a:ext cx="457200" cy="457200"/>
          </a:xfrm>
          <a:prstGeom prst="rect">
            <a:avLst/>
          </a:prstGeom>
        </p:spPr>
      </p:pic>
      <p:sp>
        <p:nvSpPr>
          <p:cNvPr id="38" name="Text 29"/>
          <p:cNvSpPr txBox="1"/>
          <p:nvPr/>
        </p:nvSpPr>
        <p:spPr>
          <a:xfrm>
            <a:off x="8805672" y="5449824"/>
            <a:ext cx="2697480" cy="274320"/>
          </a:xfrm>
          <a:prstGeom prst="rect">
            <a:avLst/>
          </a:prstGeom>
          <a:noFill/>
          <a:ln/>
        </p:spPr>
        <p:txBody>
          <a:bodyPr wrap="square" lIns="0" tIns="0" rIns="0" bIns="0" rtlCol="0" anchor="ctr"/>
          <a:lstStyle/>
          <a:p>
            <a:pPr algn="l" indent="0" marL="0">
              <a:buNone/>
            </a:pPr>
            <a:r>
              <a:rPr lang="en-US" sz="1200" b="1" dirty="0">
                <a:solidFill>
                  <a:schemeClr val="accent2"/>
                </a:solidFill>
              </a:rPr>
              <a:t>never</a:t>
            </a:r>
            <a:endParaRPr lang="en-US" sz="1200" dirty="0"/>
          </a:p>
        </p:txBody>
      </p:sp>
      <p:sp>
        <p:nvSpPr>
          <p:cNvPr id="39" name="Text 30"/>
          <p:cNvSpPr txBox="1"/>
          <p:nvPr/>
        </p:nvSpPr>
        <p:spPr>
          <a:xfrm>
            <a:off x="8805672" y="5705856"/>
            <a:ext cx="2697480" cy="310896"/>
          </a:xfrm>
          <a:prstGeom prst="rect">
            <a:avLst/>
          </a:prstGeom>
          <a:noFill/>
          <a:ln/>
        </p:spPr>
        <p:txBody>
          <a:bodyPr wrap="square" lIns="0" tIns="0" rIns="0" bIns="0" rtlCol="0" anchor="ctr"/>
          <a:lstStyle/>
          <a:p>
            <a:pPr algn="l" indent="0" marL="0">
              <a:buNone/>
            </a:pPr>
            <a:r>
              <a:rPr lang="en-US" sz="1350" i="1" dirty="0">
                <a:solidFill>
                  <a:schemeClr val="tx1"/>
                </a:solidFill>
              </a:rPr>
              <a:t>worked abroad</a:t>
            </a:r>
            <a:endParaRPr lang="en-US" sz="13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Exit ticket</a:t>
            </a:r>
            <a:endParaRPr lang="en-US" sz="3000" dirty="0"/>
          </a:p>
        </p:txBody>
      </p:sp>
      <p:sp>
        <p:nvSpPr>
          <p:cNvPr id="3" name="tag"/>
          <p:cNvSpPr/>
          <p:nvPr/>
        </p:nvSpPr>
        <p:spPr>
          <a:xfrm>
            <a:off x="548640" y="237744"/>
            <a:ext cx="1552651"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EXIT TICKET</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Past participle of </a:t>
            </a:r>
            <a:r>
              <a:rPr lang="en-US" sz="2000" i="1" dirty="0">
                <a:solidFill>
                  <a:schemeClr val="tx1"/>
                </a:solidFill>
              </a:rPr>
              <a:t>go</a:t>
            </a:r>
            <a:r>
              <a:rPr lang="en-US" sz="2000" dirty="0">
                <a:solidFill>
                  <a:schemeClr val="tx1"/>
                </a:solidFill>
              </a:rPr>
              <a:t>, </a:t>
            </a:r>
            <a:r>
              <a:rPr lang="en-US" sz="2000" i="1" dirty="0">
                <a:solidFill>
                  <a:schemeClr val="tx1"/>
                </a:solidFill>
              </a:rPr>
              <a:t>write</a:t>
            </a:r>
            <a:r>
              <a:rPr lang="en-US" sz="2000" dirty="0">
                <a:solidFill>
                  <a:schemeClr val="tx1"/>
                </a:solidFill>
              </a:rPr>
              <a:t>, </a:t>
            </a:r>
            <a:r>
              <a:rPr lang="en-US" sz="2000" i="1" dirty="0">
                <a:solidFill>
                  <a:schemeClr val="tx1"/>
                </a:solidFill>
              </a:rPr>
              <a:t>see</a:t>
            </a:r>
            <a:r>
              <a:rPr lang="en-US" sz="2000" dirty="0">
                <a:solidFill>
                  <a:schemeClr val="tx1"/>
                </a:solidFill>
              </a:rPr>
              <a:t>?</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i="1" dirty="0">
                <a:solidFill>
                  <a:schemeClr val="tx1"/>
                </a:solidFill>
              </a:rPr>
              <a:t>for</a:t>
            </a:r>
            <a:r>
              <a:rPr lang="en-US" sz="2000" dirty="0">
                <a:solidFill>
                  <a:schemeClr val="tx1"/>
                </a:solidFill>
              </a:rPr>
              <a:t> or </a:t>
            </a:r>
            <a:r>
              <a:rPr lang="en-US" sz="2000" i="1" dirty="0">
                <a:solidFill>
                  <a:schemeClr val="tx1"/>
                </a:solidFill>
              </a:rPr>
              <a:t>since</a:t>
            </a:r>
            <a:r>
              <a:rPr lang="en-US" sz="2000" dirty="0">
                <a:solidFill>
                  <a:schemeClr val="tx1"/>
                </a:solidFill>
              </a:rPr>
              <a:t>? … 2020 · … two weeks</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Past simple or present perfect? </a:t>
            </a:r>
            <a:r>
              <a:rPr lang="en-US" sz="2000" i="1" dirty="0">
                <a:solidFill>
                  <a:schemeClr val="tx1"/>
                </a:solidFill>
              </a:rPr>
              <a:t>I (lose) my phone yesterday.</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SELF-CHECK</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Build</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Use</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Choose</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Book">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Homework</a:t>
            </a:r>
            <a:r>
              <a:rPr lang="en-US" sz="1800" dirty="0">
                <a:solidFill>
                  <a:schemeClr val="bg1"/>
                </a:solidFill>
              </a:rPr>
              <a:t>: write 4 things you have done in your life, then give one detail in the past simple for each.</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38</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IRAM — English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 A2–B1 — The present perfect (vs the past simple)</dc:title>
  <dc:subject>English A2–B1 — The present perfect</dc:subject>
  <dc:creator>A. Jouniaux</dc:creator>
  <cp:lastModifiedBy>A. Jouniaux</cp:lastModifiedBy>
  <cp:revision>1</cp:revision>
  <dcterms:created xsi:type="dcterms:W3CDTF">2026-10-08T11:35:16Z</dcterms:created>
  <dcterms:modified xsi:type="dcterms:W3CDTF">2026-10-08T11:35:16Z</dcterms:modified>
</cp:coreProperties>
</file>