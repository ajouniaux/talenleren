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cf96084-fd82-129c-4942-dfa7665ece02}">
          <p14:sldIdLst>
            <p14:sldId id="256"/>
          </p14:sldIdLst>
        </p14:section>
        <p14:section name="The boxes" id="{bb51e44d-dffd-71ac-b017-0f1554315d7a}">
          <p14:sldIdLst>
            <p14:sldId id="257"/>
            <p14:sldId id="258"/>
            <p14:sldId id="259"/>
          </p14:sldIdLst>
        </p14:section>
        <p14:section name="+ − ?" id="{bd1240e6-d507-ef01-bb77-1213e4a3f977}">
          <p14:sldIdLst>
            <p14:sldId id="260"/>
            <p14:sldId id="261"/>
            <p14:sldId id="262"/>
            <p14:sldId id="263"/>
            <p14:sldId id="264"/>
          </p14:sldIdLst>
        </p14:section>
        <p14:section name="Exceptions" id="{30cb3a85-fe3c-5931-6e21-e8fac561f9a5}">
          <p14:sldIdLst>
            <p14:sldId id="265"/>
            <p14:sldId id="266"/>
          </p14:sldIdLst>
        </p14:section>
        <p14:section name="YOUR TURN! — Exercises" id="{6224c5a8-84da-6143-8d43-1bf7f11ad43a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Closing" id="{5a0c0df5-593a-a43a-4ca0-6dc42573f823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: découper la phrase pour voir sa structure.
Faites observer les trois phrases sans rien expliquer : « Qu'est-ce qui change ? Qu'est-ce qui reste ? » (London ne bouge pas ; did apparaît ; le -ed disparaît).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Présenter les 3 objectifs.
Lisez les objectifs ; vérifiez cut, build, transform.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Découvrir les 9 types de cases et leur couleur.
Insistez sur la différence entre PAST FORM (framboise, la forme du passé : went) et BASE (encadrée de rouge, le verbe nu : go). Toute la séance repose sur cette différence. Si vous travaillez au tableau, gardez les mêmes couleurs de feutres.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Visualiser les trois formules côte à côte.
Faites lire les trois exemples à voix haute en tapant une case par main. La case WH- WORD est entre parenthèses : elle n'existe que pour les questions ouvertes (diapo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Découper la phrase affirmative, avec un verbe régulier et un verbe irrégulier.
Faites remarquer que -ed est une petite case collée : c'est elle qui « partira » dans did à la négation (diapo 6). Le piège ✗ I have worked yesterday (calque du passé composé) est traité dans le deck Present perfect.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Transformer une phrase affirmative en phrase négative.
Image utile : le passé (-ed, ou la forme went) « saute » dans did ; le verbe redevient nu. Pour l'irrégulier, décomposez : went = did + go. À l'écrit soigné : did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Transformer une phrase affirmative en question fermée et y répondre.
Faites entendre l'intonation montante. Erreur fréquente : ✗ Did you saw…? (deux marques du passé). Les réponses ✗ Yes, I saw. ou ✗ Yes, I did see. sont à éviter : on reprend l'auxiliaire.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Construire une question ouverte dans le bon ordre.
Comparez avec la diapo 7 : on garde Did you go…? et on ajoute Where devant. Who did you meet? : ici who est le complément (on a rencontré quelqu'un). Le cas où who est le sujet vient diapo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Comparer les quatre versions d'une même phrase.
Masquez trois lignes et faites retrouver les autres à partir d'une seule. Remarquez que yesterday disparaît dans la question en When : c'est la réponse 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Repérer les deux cas sans did.
be fonctionne comme did : il fait lui-même la négation (wasn't) et passe devant le sujet (Were you…?). Pour who : « Quelqu'un t'a appelé·e. Qui ? » → Who called you? (sujet) ≠ « Tu as appelé quelqu'un. Qui ? » → Who did you call? (complément).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Synthétiser les trois formules, les exceptions et les pièges.
Invitez les apprenant·es à photographier la diapo, ou à la recopier avec leurs couleurs.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Les exercices 1 à 4 se font aussi sur papier : imprimez les diapos « question ». L'exercice 5 se joue par deux ou par trois.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Identifier la fonction de chaque case.
Sur papier, faites colorier avec les couleurs du deck. Pour chaque phrase, demandez aussi le type : 1 et 5 (+), 2 et 6 (−), 3 et 4 (?). N° 6 : was n'est pas un PAST FORM « ordinaire » : c'est be, qui fait lui-même la négation.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Identifier la fonction de chaque case.
Sur papier, faites colorier avec les couleurs du deck. Pour chaque phrase, demandez aussi le type : 1 et 5 (+), 2 et 6 (−), 3 et 4 (?). N° 6 : was n'est pas un PAST FORM « ordinaire » : c'est be, qui fait lui-même la négation.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Reconstruire des phrases +, − et ? à partir de cases mélangées.
Les couleurs et la ponctuation sont des indices : la case verte ou bleu nuit avec une majuscule ouvre la question ; la case avec « ? » ou « . » la ferme. N° 5 : Yesterday, I didn't see Tom. est aussi correct. Version manipulable : imprimez et découpez les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Reconstruire des phrases +, − et ? à partir de cases mélangées.
Les couleurs et la ponctuation sont des indices : la case verte ou bleu nuit avec une majuscule ouvre la question ; la case avec « ? » ou « . » la ferme. N° 5 : Yesterday, I didn't see Tom. est aussi correct. Version manipulable : imprimez et découpez les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Transformer une phrase affirmative en négative et en question, case par case.
Le nombre de cases est un indice : la phrase − a une case de plus que la phrase + (did|n't), et la ligne + de They watched compte watch et -ed. Faites nommer la base de chaque verbe irrégulier (went → go, met → meet, bought → buy).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Transformer une phrase affirmative en négative et en question, case par case.
Le nombre de cases est un indice : la phrase − a une case de plus que la phrase + (did|n't), et la ligne + de They watched compte watch et -ed. Faites nommer la base de chaque verbe irrégulier (went → go, met → meet, bought → buy).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Repérer et corriger la case fausse.
Faites justifier avec les diapos : 1–2 (diapos 6–7), 3 (irréguliers), 4 et 6 (le marqueur de temps impose le passé), 5 (diapo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Repérer et corriger la case fausse.
Faites justifier avec les diapos : 1–2 (diapos 6–7), 3 (irréguliers), 4 et 6 (le marqueur de temps impose le passé), 5 (diapo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Produire des phrases +, − et ? de façon ludique, puis les découper.
Par deux ou trois, un dé par groupe (ou une appli de dé). Exemple : My sister · buy a pizza · last night + 🎲 3 → My sister didn't buy a pizza last night. Variante ★★★ : sur un 6, poser une question en Wh- (What did your sister buy last night?).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objectifs.
Réponses :
1. We didn't go to the park.
2. Did he work late?
3. What did you see?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English · A2–B1 · Past simple · Sentences in boxes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English · A2–B1 · Past simple · Sentences in boxes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English · A2–B1 · Grammar in pictures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372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ENGLISH · A2–B1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The past simple in boxes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Découper la phrase : affirmative, négative, interrogative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+ · − · 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1097280"/>
            <a:ext cx="553212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9400" y="1463040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2940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32" b="1" dirty="0">
                <a:solidFill>
                  <a:schemeClr val="bg1"/>
                </a:solidFill>
              </a:rPr>
              <a:t>+</a:t>
            </a:r>
            <a:endParaRPr lang="en-US" sz="2232" dirty="0"/>
          </a:p>
        </p:txBody>
      </p:sp>
      <p:sp>
        <p:nvSpPr>
          <p:cNvPr id="8" name="Shape 6"/>
          <p:cNvSpPr/>
          <p:nvPr/>
        </p:nvSpPr>
        <p:spPr>
          <a:xfrm>
            <a:off x="7360920" y="1463040"/>
            <a:ext cx="420990" cy="566928"/>
          </a:xfrm>
          <a:prstGeom prst="roundRect">
            <a:avLst>
              <a:gd name="adj" fmla="val 21720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60920" y="1463040"/>
            <a:ext cx="4209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855062" y="1463040"/>
            <a:ext cx="1119811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55062" y="1463040"/>
            <a:ext cx="11198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6"/>
                </a:solidFill>
              </a:rPr>
              <a:t>visit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993161" y="1463040"/>
            <a:ext cx="57872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93161" y="1463040"/>
            <a:ext cx="57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ed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645033" y="1463040"/>
            <a:ext cx="11912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45033" y="1463040"/>
            <a:ext cx="119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London.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629400" y="2560320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32" b="1" dirty="0">
                <a:solidFill>
                  <a:schemeClr val="bg1"/>
                </a:solidFill>
              </a:rPr>
              <a:t>−</a:t>
            </a:r>
            <a:endParaRPr lang="en-US" sz="2232" dirty="0"/>
          </a:p>
        </p:txBody>
      </p:sp>
      <p:sp>
        <p:nvSpPr>
          <p:cNvPr id="18" name="Shape 16"/>
          <p:cNvSpPr/>
          <p:nvPr/>
        </p:nvSpPr>
        <p:spPr>
          <a:xfrm>
            <a:off x="7360920" y="2560320"/>
            <a:ext cx="420990" cy="566928"/>
          </a:xfrm>
          <a:prstGeom prst="roundRect">
            <a:avLst>
              <a:gd name="adj" fmla="val 21720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60920" y="2560320"/>
            <a:ext cx="4209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855062" y="2560320"/>
            <a:ext cx="832236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55062" y="2560320"/>
            <a:ext cx="8322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did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705585" y="2560320"/>
            <a:ext cx="722508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05585" y="2560320"/>
            <a:ext cx="7225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n’t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01245" y="2560320"/>
            <a:ext cx="1119811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01245" y="2560320"/>
            <a:ext cx="11198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6"/>
                </a:solidFill>
              </a:rPr>
              <a:t>visit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694208" y="2560320"/>
            <a:ext cx="11912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94208" y="2560320"/>
            <a:ext cx="119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London.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629400" y="3657600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29400" y="3657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32" b="1" dirty="0">
                <a:solidFill>
                  <a:schemeClr val="bg1"/>
                </a:solidFill>
              </a:rPr>
              <a:t>?</a:t>
            </a:r>
            <a:endParaRPr lang="en-US" sz="2232" dirty="0"/>
          </a:p>
        </p:txBody>
      </p:sp>
      <p:sp>
        <p:nvSpPr>
          <p:cNvPr id="30" name="Shape 28"/>
          <p:cNvSpPr/>
          <p:nvPr/>
        </p:nvSpPr>
        <p:spPr>
          <a:xfrm>
            <a:off x="7360920" y="3657600"/>
            <a:ext cx="832236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60920" y="3657600"/>
            <a:ext cx="8322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Did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266308" y="3657600"/>
            <a:ext cx="677753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66308" y="3657600"/>
            <a:ext cx="67775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you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017213" y="3657600"/>
            <a:ext cx="1119811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17213" y="3657600"/>
            <a:ext cx="11198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6"/>
                </a:solidFill>
              </a:rPr>
              <a:t>visit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210176" y="3657600"/>
            <a:ext cx="119128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210176" y="3657600"/>
            <a:ext cx="119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London?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Today’s mission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21054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C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Cut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 cut a sentence into boxes: subject, verb, did, when…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uzzlePie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Build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 build affirmative, negative and question sentences.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Exchange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Transform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 change + into − and into ?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boxes stay the same — only the verb box changes.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boxes and their colours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21054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75304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609344"/>
            <a:ext cx="720547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609344"/>
            <a:ext cx="7205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She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1284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SUBJECT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43230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qui ? le sujet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06824" y="1463040"/>
            <a:ext cx="3575304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9704" y="1609344"/>
            <a:ext cx="1199693" cy="548640"/>
          </a:xfrm>
          <a:prstGeom prst="roundRect">
            <a:avLst>
              <a:gd name="adj" fmla="val 16667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9704" y="1609344"/>
            <a:ext cx="11996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6"/>
                </a:solidFill>
              </a:rPr>
              <a:t>visit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707685" y="1609344"/>
            <a:ext cx="610673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07685" y="1609344"/>
            <a:ext cx="6106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ed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489704" y="221284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VERB + -ED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489704" y="243230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verbe régulier : base + -ed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65008" y="1463040"/>
            <a:ext cx="3575304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47888" y="1609344"/>
            <a:ext cx="1039929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47888" y="1609344"/>
            <a:ext cx="10399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went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247888" y="221284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PAST FORM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47888" y="243230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verbe irrégulier : à apprendre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2834640"/>
            <a:ext cx="3575304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31520" y="2980944"/>
            <a:ext cx="880165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2980944"/>
            <a:ext cx="8801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did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358444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DID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380390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l’auxiliaire du passé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306824" y="2834640"/>
            <a:ext cx="3575304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89704" y="2980944"/>
            <a:ext cx="880165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489704" y="2980944"/>
            <a:ext cx="8801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did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388157" y="2980944"/>
            <a:ext cx="770437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388157" y="2980944"/>
            <a:ext cx="77043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n’t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4489704" y="358444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NOT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489704" y="380390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n’t</a:t>
            </a:r>
            <a:r>
              <a:rPr lang="en-US" sz="1250" i="1" dirty="0">
                <a:solidFill>
                  <a:schemeClr val="tx2"/>
                </a:solidFill>
              </a:rPr>
              <a:t> = </a:t>
            </a:r>
            <a:r>
              <a:rPr lang="en-US" sz="1250" i="1" dirty="0">
                <a:solidFill>
                  <a:schemeClr val="tx2"/>
                </a:solidFill>
              </a:rPr>
              <a:t>not</a:t>
            </a:r>
            <a:r>
              <a:rPr lang="en-US" sz="1250" i="1" dirty="0">
                <a:solidFill>
                  <a:schemeClr val="tx2"/>
                </a:solidFill>
              </a:rPr>
              <a:t> : la négation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8065008" y="2834640"/>
            <a:ext cx="3575304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8247888" y="2980944"/>
            <a:ext cx="720401" cy="548640"/>
          </a:xfrm>
          <a:prstGeom prst="roundRect">
            <a:avLst>
              <a:gd name="adj" fmla="val 16667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47888" y="2980944"/>
            <a:ext cx="7204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6"/>
                </a:solidFill>
              </a:rPr>
              <a:t>go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8247888" y="358444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BASE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8247888" y="380390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le verbe nu : sans -ed, sans to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548640" y="4206240"/>
            <a:ext cx="3575304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31520" y="4352544"/>
            <a:ext cx="1199693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31520" y="4352544"/>
            <a:ext cx="11996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Where</a:t>
            </a:r>
            <a:endParaRPr lang="en-US" sz="2000" dirty="0"/>
          </a:p>
        </p:txBody>
      </p:sp>
      <p:sp>
        <p:nvSpPr>
          <p:cNvPr id="42" name="Text 39"/>
          <p:cNvSpPr txBox="1"/>
          <p:nvPr/>
        </p:nvSpPr>
        <p:spPr>
          <a:xfrm>
            <a:off x="731520" y="495604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QUESTION WORD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731520" y="517550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Where? What? When? Who?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4306824" y="4206240"/>
            <a:ext cx="3575304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4489704" y="4352544"/>
            <a:ext cx="1838749" cy="548640"/>
          </a:xfrm>
          <a:prstGeom prst="roundRect">
            <a:avLst>
              <a:gd name="adj" fmla="val 16667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89704" y="4352544"/>
            <a:ext cx="1838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yesterday</a:t>
            </a:r>
            <a:endParaRPr lang="en-US" sz="2000" dirty="0"/>
          </a:p>
        </p:txBody>
      </p:sp>
      <p:sp>
        <p:nvSpPr>
          <p:cNvPr id="47" name="Text 44"/>
          <p:cNvSpPr txBox="1"/>
          <p:nvPr/>
        </p:nvSpPr>
        <p:spPr>
          <a:xfrm>
            <a:off x="4489704" y="495604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WHEN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4489704" y="517550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le marqueur de temps</a:t>
            </a:r>
            <a:endParaRPr lang="en-US" sz="1250" dirty="0"/>
          </a:p>
        </p:txBody>
      </p:sp>
      <p:sp>
        <p:nvSpPr>
          <p:cNvPr id="49" name="Shape 46"/>
          <p:cNvSpPr/>
          <p:nvPr/>
        </p:nvSpPr>
        <p:spPr>
          <a:xfrm>
            <a:off x="8065008" y="4206240"/>
            <a:ext cx="3575304" cy="126187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8247888" y="4352544"/>
            <a:ext cx="1433779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247888" y="4352544"/>
            <a:ext cx="14337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to Spain</a:t>
            </a:r>
            <a:endParaRPr lang="en-US" sz="2000" dirty="0"/>
          </a:p>
        </p:txBody>
      </p:sp>
      <p:sp>
        <p:nvSpPr>
          <p:cNvPr id="52" name="Text 49"/>
          <p:cNvSpPr txBox="1"/>
          <p:nvPr/>
        </p:nvSpPr>
        <p:spPr>
          <a:xfrm>
            <a:off x="8247888" y="495604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OBJECT · PLACE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247888" y="5175504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le reste : quoi ? où ?</a:t>
            </a:r>
            <a:endParaRPr lang="en-US" sz="1250" dirty="0"/>
          </a:p>
        </p:txBody>
      </p:sp>
      <p:sp>
        <p:nvSpPr>
          <p:cNvPr id="54" name="Shape 51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Chaque case a sa couleur : on voit la </a:t>
            </a:r>
            <a:r>
              <a:rPr lang="en-US" sz="1600" b="1" dirty="0">
                <a:solidFill>
                  <a:schemeClr val="bg1"/>
                </a:solidFill>
              </a:rPr>
              <a:t>structure</a:t>
            </a:r>
            <a:r>
              <a:rPr lang="en-US" sz="1600" dirty="0">
                <a:solidFill>
                  <a:schemeClr val="bg1"/>
                </a:solidFill>
              </a:rPr>
              <a:t> de la phrase d’un coup d’œil.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Three sentences, three formulas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21054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68580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+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1417320" y="1554480"/>
            <a:ext cx="101653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17320" y="1554480"/>
            <a:ext cx="101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SUBJECT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2507010" y="1554480"/>
            <a:ext cx="1443333" cy="566928"/>
          </a:xfrm>
          <a:prstGeom prst="roundRect">
            <a:avLst>
              <a:gd name="adj" fmla="val 16129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07010" y="1554480"/>
            <a:ext cx="14433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PAST FORM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023495" y="1554480"/>
            <a:ext cx="1740469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023495" y="1554480"/>
            <a:ext cx="174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OBJECT · PLACE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837116" y="1554480"/>
            <a:ext cx="864188" cy="566928"/>
          </a:xfrm>
          <a:prstGeom prst="roundRect">
            <a:avLst>
              <a:gd name="adj" fmla="val 16129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37116" y="1554480"/>
            <a:ext cx="8641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WHEN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218541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She </a:t>
            </a:r>
            <a:r>
              <a:rPr lang="en-US" sz="1600" b="1" i="1" dirty="0">
                <a:solidFill>
                  <a:srgbClr val="B4236A"/>
                </a:solidFill>
              </a:rPr>
              <a:t>went</a:t>
            </a:r>
            <a:r>
              <a:rPr lang="en-US" sz="1600" i="1" dirty="0">
                <a:solidFill>
                  <a:schemeClr val="tx1"/>
                </a:solidFill>
              </a:rPr>
              <a:t> to London </a:t>
            </a:r>
            <a:r>
              <a:rPr lang="en-US" sz="1600" b="1" i="1" dirty="0">
                <a:solidFill>
                  <a:srgbClr val="D9700F"/>
                </a:solidFill>
              </a:rPr>
              <a:t>last year</a:t>
            </a:r>
            <a:r>
              <a:rPr lang="en-US" sz="16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9098280" y="1508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 d’auxiliaire : </a:t>
            </a:r>
            <a:r>
              <a:rPr lang="en-US" sz="1400" b="1" dirty="0">
                <a:solidFill>
                  <a:schemeClr val="tx2"/>
                </a:solidFill>
              </a:rPr>
              <a:t>une seule case</a:t>
            </a:r>
            <a:r>
              <a:rPr lang="en-US" sz="1400" dirty="0">
                <a:solidFill>
                  <a:schemeClr val="tx2"/>
                </a:solidFill>
              </a:rPr>
              <a:t> pour le verbe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2862072"/>
            <a:ext cx="685800" cy="68580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28620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−</a:t>
            </a:r>
            <a:endParaRPr lang="en-US" sz="2700" dirty="0"/>
          </a:p>
        </p:txBody>
      </p:sp>
      <p:sp>
        <p:nvSpPr>
          <p:cNvPr id="19" name="Shape 16"/>
          <p:cNvSpPr/>
          <p:nvPr/>
        </p:nvSpPr>
        <p:spPr>
          <a:xfrm>
            <a:off x="1417320" y="2907792"/>
            <a:ext cx="101653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417320" y="2907792"/>
            <a:ext cx="101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SUBJECT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2507010" y="2907792"/>
            <a:ext cx="74836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507010" y="2907792"/>
            <a:ext cx="748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did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3273658" y="2907792"/>
            <a:ext cx="638632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73658" y="2907792"/>
            <a:ext cx="638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n’t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3985442" y="2907792"/>
            <a:ext cx="864188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985442" y="2907792"/>
            <a:ext cx="8641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6"/>
                </a:solidFill>
              </a:rPr>
              <a:t>BASE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4922782" y="2907792"/>
            <a:ext cx="1740469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922782" y="2907792"/>
            <a:ext cx="174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OBJECT · PLACE</a:t>
            </a:r>
            <a:endParaRPr lang="en-US" sz="1450" dirty="0"/>
          </a:p>
        </p:txBody>
      </p:sp>
      <p:sp>
        <p:nvSpPr>
          <p:cNvPr id="29" name="Shape 26"/>
          <p:cNvSpPr/>
          <p:nvPr/>
        </p:nvSpPr>
        <p:spPr>
          <a:xfrm>
            <a:off x="6736403" y="2907792"/>
            <a:ext cx="864188" cy="566928"/>
          </a:xfrm>
          <a:prstGeom prst="roundRect">
            <a:avLst>
              <a:gd name="adj" fmla="val 16129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736403" y="2907792"/>
            <a:ext cx="8641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WHEN</a:t>
            </a:r>
            <a:endParaRPr lang="en-US" sz="1450" dirty="0"/>
          </a:p>
        </p:txBody>
      </p:sp>
      <p:sp>
        <p:nvSpPr>
          <p:cNvPr id="31" name="Text 28"/>
          <p:cNvSpPr txBox="1"/>
          <p:nvPr/>
        </p:nvSpPr>
        <p:spPr>
          <a:xfrm>
            <a:off x="1417320" y="353872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She </a:t>
            </a:r>
            <a:r>
              <a:rPr lang="en-US" sz="1600" b="1" i="1" dirty="0">
                <a:solidFill>
                  <a:srgbClr val="17375E"/>
                </a:solidFill>
              </a:rPr>
              <a:t>did</a:t>
            </a:r>
            <a:r>
              <a:rPr lang="en-US" sz="1600" b="1" i="1" dirty="0">
                <a:solidFill>
                  <a:srgbClr val="B83227"/>
                </a:solidFill>
              </a:rPr>
              <a:t>n’t</a:t>
            </a:r>
            <a:r>
              <a:rPr lang="en-US" sz="1600" i="1" dirty="0">
                <a:solidFill>
                  <a:schemeClr val="tx1"/>
                </a:solidFill>
              </a:rPr>
              <a:t> </a:t>
            </a:r>
            <a:r>
              <a:rPr lang="en-US" sz="1600" b="1" i="1" dirty="0">
                <a:solidFill>
                  <a:srgbClr val="B83227"/>
                </a:solidFill>
              </a:rPr>
              <a:t>go</a:t>
            </a:r>
            <a:r>
              <a:rPr lang="en-US" sz="1600" i="1" dirty="0">
                <a:solidFill>
                  <a:schemeClr val="tx1"/>
                </a:solidFill>
              </a:rPr>
              <a:t> to London </a:t>
            </a:r>
            <a:r>
              <a:rPr lang="en-US" sz="1600" b="1" i="1" dirty="0">
                <a:solidFill>
                  <a:srgbClr val="D9700F"/>
                </a:solidFill>
              </a:rPr>
              <a:t>last year</a:t>
            </a:r>
            <a:r>
              <a:rPr lang="en-US" sz="16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9098280" y="2862072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did</a:t>
            </a:r>
            <a:r>
              <a:rPr lang="en-US" sz="1400" dirty="0">
                <a:solidFill>
                  <a:schemeClr val="tx2"/>
                </a:solidFill>
              </a:rPr>
              <a:t> + </a:t>
            </a:r>
            <a:r>
              <a:rPr lang="en-US" sz="1400" i="1" dirty="0">
                <a:solidFill>
                  <a:schemeClr val="tx2"/>
                </a:solidFill>
              </a:rPr>
              <a:t>n’t</a:t>
            </a:r>
            <a:r>
              <a:rPr lang="en-US" sz="1400" dirty="0">
                <a:solidFill>
                  <a:schemeClr val="tx2"/>
                </a:solidFill>
              </a:rPr>
              <a:t> · le verbe revient à la </a:t>
            </a:r>
            <a:r>
              <a:rPr lang="en-US" sz="1400" b="1" dirty="0">
                <a:solidFill>
                  <a:schemeClr val="tx2"/>
                </a:solidFill>
              </a:rPr>
              <a:t>base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8640" y="4215384"/>
            <a:ext cx="685800" cy="68580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8640" y="421538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?</a:t>
            </a:r>
            <a:endParaRPr lang="en-US" sz="2700" dirty="0"/>
          </a:p>
        </p:txBody>
      </p:sp>
      <p:sp>
        <p:nvSpPr>
          <p:cNvPr id="35" name="Shape 32"/>
          <p:cNvSpPr/>
          <p:nvPr/>
        </p:nvSpPr>
        <p:spPr>
          <a:xfrm>
            <a:off x="1417320" y="4261104"/>
            <a:ext cx="1559162" cy="566928"/>
          </a:xfrm>
          <a:prstGeom prst="roundRect">
            <a:avLst>
              <a:gd name="adj" fmla="val 16129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417320" y="4261104"/>
            <a:ext cx="15591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(WH- WORD)</a:t>
            </a:r>
            <a:endParaRPr lang="en-US" sz="1450" dirty="0"/>
          </a:p>
        </p:txBody>
      </p:sp>
      <p:sp>
        <p:nvSpPr>
          <p:cNvPr id="37" name="Shape 34"/>
          <p:cNvSpPr/>
          <p:nvPr/>
        </p:nvSpPr>
        <p:spPr>
          <a:xfrm>
            <a:off x="3049634" y="4261104"/>
            <a:ext cx="748360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049634" y="4261104"/>
            <a:ext cx="748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did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3871145" y="4261104"/>
            <a:ext cx="101653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871145" y="4261104"/>
            <a:ext cx="101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SUBJECT</a:t>
            </a:r>
            <a:endParaRPr lang="en-US" sz="1450" dirty="0"/>
          </a:p>
        </p:txBody>
      </p:sp>
      <p:sp>
        <p:nvSpPr>
          <p:cNvPr id="41" name="Shape 38"/>
          <p:cNvSpPr/>
          <p:nvPr/>
        </p:nvSpPr>
        <p:spPr>
          <a:xfrm>
            <a:off x="4960836" y="4261104"/>
            <a:ext cx="864188" cy="566928"/>
          </a:xfrm>
          <a:prstGeom prst="roundRect">
            <a:avLst>
              <a:gd name="adj" fmla="val 16129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960836" y="4261104"/>
            <a:ext cx="8641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6"/>
                </a:solidFill>
              </a:rPr>
              <a:t>BASE</a:t>
            </a:r>
            <a:endParaRPr lang="en-US" sz="1450" dirty="0"/>
          </a:p>
        </p:txBody>
      </p:sp>
      <p:sp>
        <p:nvSpPr>
          <p:cNvPr id="43" name="Shape 40"/>
          <p:cNvSpPr/>
          <p:nvPr/>
        </p:nvSpPr>
        <p:spPr>
          <a:xfrm>
            <a:off x="5898176" y="4261104"/>
            <a:ext cx="1740469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898176" y="4261104"/>
            <a:ext cx="174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OBJECT · PLACE</a:t>
            </a:r>
            <a:endParaRPr lang="en-US" sz="1450" dirty="0"/>
          </a:p>
        </p:txBody>
      </p:sp>
      <p:sp>
        <p:nvSpPr>
          <p:cNvPr id="45" name="Shape 42"/>
          <p:cNvSpPr/>
          <p:nvPr/>
        </p:nvSpPr>
        <p:spPr>
          <a:xfrm>
            <a:off x="7711797" y="4261104"/>
            <a:ext cx="980017" cy="566928"/>
          </a:xfrm>
          <a:prstGeom prst="roundRect">
            <a:avLst>
              <a:gd name="adj" fmla="val 16129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711797" y="4261104"/>
            <a:ext cx="98001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WHEN?</a:t>
            </a:r>
            <a:endParaRPr lang="en-US" sz="1450" dirty="0"/>
          </a:p>
        </p:txBody>
      </p:sp>
      <p:sp>
        <p:nvSpPr>
          <p:cNvPr id="47" name="Text 44"/>
          <p:cNvSpPr txBox="1"/>
          <p:nvPr/>
        </p:nvSpPr>
        <p:spPr>
          <a:xfrm>
            <a:off x="1417320" y="4892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17375E"/>
                </a:solidFill>
              </a:rPr>
              <a:t>Did</a:t>
            </a:r>
            <a:r>
              <a:rPr lang="en-US" sz="1600" i="1" dirty="0">
                <a:solidFill>
                  <a:schemeClr val="tx1"/>
                </a:solidFill>
              </a:rPr>
              <a:t> she </a:t>
            </a:r>
            <a:r>
              <a:rPr lang="en-US" sz="1600" b="1" i="1" dirty="0">
                <a:solidFill>
                  <a:srgbClr val="B83227"/>
                </a:solidFill>
              </a:rPr>
              <a:t>go</a:t>
            </a:r>
            <a:r>
              <a:rPr lang="en-US" sz="1600" i="1" dirty="0">
                <a:solidFill>
                  <a:schemeClr val="tx1"/>
                </a:solidFill>
              </a:rPr>
              <a:t> to London </a:t>
            </a:r>
            <a:r>
              <a:rPr lang="en-US" sz="1600" b="1" i="1" dirty="0">
                <a:solidFill>
                  <a:srgbClr val="D9700F"/>
                </a:solidFill>
              </a:rPr>
              <a:t>last year</a:t>
            </a:r>
            <a:r>
              <a:rPr lang="en-US" sz="1600" i="1" dirty="0">
                <a:solidFill>
                  <a:schemeClr val="tx1"/>
                </a:solidFill>
              </a:rPr>
              <a:t>? · Where </a:t>
            </a:r>
            <a:r>
              <a:rPr lang="en-US" sz="1600" b="1" i="1" dirty="0">
                <a:solidFill>
                  <a:srgbClr val="17375E"/>
                </a:solidFill>
              </a:rPr>
              <a:t>did</a:t>
            </a:r>
            <a:r>
              <a:rPr lang="en-US" sz="1600" i="1" dirty="0">
                <a:solidFill>
                  <a:schemeClr val="tx1"/>
                </a:solidFill>
              </a:rPr>
              <a:t> she </a:t>
            </a:r>
            <a:r>
              <a:rPr lang="en-US" sz="1600" b="1" i="1" dirty="0">
                <a:solidFill>
                  <a:srgbClr val="B83227"/>
                </a:solidFill>
              </a:rPr>
              <a:t>go</a:t>
            </a:r>
            <a:r>
              <a:rPr lang="en-US" sz="1600" i="1" dirty="0">
                <a:solidFill>
                  <a:schemeClr val="tx1"/>
                </a:solidFill>
              </a:rPr>
              <a:t>?</a:t>
            </a:r>
            <a:endParaRPr lang="en-US" sz="1800" dirty="0"/>
          </a:p>
        </p:txBody>
      </p:sp>
      <p:sp>
        <p:nvSpPr>
          <p:cNvPr id="48" name="Text 45"/>
          <p:cNvSpPr txBox="1"/>
          <p:nvPr/>
        </p:nvSpPr>
        <p:spPr>
          <a:xfrm>
            <a:off x="9098280" y="4215384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did</a:t>
            </a:r>
            <a:r>
              <a:rPr lang="en-US" sz="1400" dirty="0">
                <a:solidFill>
                  <a:schemeClr val="tx2"/>
                </a:solidFill>
              </a:rPr>
              <a:t> passe </a:t>
            </a:r>
            <a:r>
              <a:rPr lang="en-US" sz="1400" b="1" dirty="0">
                <a:solidFill>
                  <a:schemeClr val="tx2"/>
                </a:solidFill>
              </a:rPr>
              <a:t>devant</a:t>
            </a:r>
            <a:r>
              <a:rPr lang="en-US" sz="1400" dirty="0">
                <a:solidFill>
                  <a:schemeClr val="tx2"/>
                </a:solidFill>
              </a:rPr>
              <a:t> le sujet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8961120" y="1554480"/>
            <a:ext cx="914" cy="384048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Les cases OBJECT et WHEN ne bougent pas : seule la </a:t>
            </a:r>
            <a:r>
              <a:rPr lang="en-US" sz="1600" b="1" dirty="0">
                <a:solidFill>
                  <a:schemeClr val="bg1"/>
                </a:solidFill>
              </a:rPr>
              <a:t>zone du verbe</a:t>
            </a:r>
            <a:r>
              <a:rPr lang="en-US" sz="1600" dirty="0">
                <a:solidFill>
                  <a:schemeClr val="bg1"/>
                </a:solidFill>
              </a:rPr>
              <a:t> change.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+ Affirmative: one box for the verb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6845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+ AFFIRMATIVE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1417320"/>
            <a:ext cx="2637569" cy="365760"/>
          </a:xfrm>
          <a:prstGeom prst="roundRect">
            <a:avLst>
              <a:gd name="adj" fmla="val 30000"/>
            </a:avLst>
          </a:prstGeom>
          <a:solidFill>
            <a:srgbClr val="FBEAF2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417320"/>
            <a:ext cx="26375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REGULAR · base + -ed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1874520"/>
            <a:ext cx="449519" cy="603504"/>
          </a:xfrm>
          <a:prstGeom prst="roundRect">
            <a:avLst>
              <a:gd name="adj" fmla="val 2034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874520"/>
            <a:ext cx="44951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I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514600"/>
            <a:ext cx="10895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SUBJECT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254191" y="1874520"/>
            <a:ext cx="1103834" cy="603504"/>
          </a:xfrm>
          <a:prstGeom prst="roundRect">
            <a:avLst>
              <a:gd name="adj" fmla="val 15152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54191" y="1874520"/>
            <a:ext cx="11038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work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376313" y="1874520"/>
            <a:ext cx="642626" cy="603504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376313" y="1874520"/>
            <a:ext cx="6426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ed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2056273" y="2514600"/>
            <a:ext cx="1282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VERB + -ED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092091" y="1874520"/>
            <a:ext cx="1704807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092091" y="1874520"/>
            <a:ext cx="170480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in a bank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2772051" y="2514600"/>
            <a:ext cx="2344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PLACE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870051" y="1874520"/>
            <a:ext cx="2158277" cy="603504"/>
          </a:xfrm>
          <a:prstGeom prst="roundRect">
            <a:avLst>
              <a:gd name="adj" fmla="val 15152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70051" y="1874520"/>
            <a:ext cx="215827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1"/>
                </a:solidFill>
              </a:rPr>
              <a:t>last year.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4550011" y="2514600"/>
            <a:ext cx="27983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WHEN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31520" y="2816352"/>
            <a:ext cx="763341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2816352"/>
            <a:ext cx="76334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She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1568013" y="2816352"/>
            <a:ext cx="1103834" cy="603504"/>
          </a:xfrm>
          <a:prstGeom prst="roundRect">
            <a:avLst>
              <a:gd name="adj" fmla="val 15152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568013" y="2816352"/>
            <a:ext cx="11038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play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2690136" y="2816352"/>
            <a:ext cx="642626" cy="603504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690136" y="2816352"/>
            <a:ext cx="6426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ed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3405913" y="2816352"/>
            <a:ext cx="1234074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405913" y="2816352"/>
            <a:ext cx="12340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tennis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4713139" y="2816352"/>
            <a:ext cx="2158277" cy="603504"/>
          </a:xfrm>
          <a:prstGeom prst="roundRect">
            <a:avLst>
              <a:gd name="adj" fmla="val 15152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713139" y="2816352"/>
            <a:ext cx="215827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1"/>
                </a:solidFill>
              </a:rPr>
              <a:t>yesterday.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731520" y="3611880"/>
            <a:ext cx="4203255" cy="365760"/>
          </a:xfrm>
          <a:prstGeom prst="roundRect">
            <a:avLst>
              <a:gd name="adj" fmla="val 30000"/>
            </a:avLst>
          </a:prstGeom>
          <a:solidFill>
            <a:srgbClr val="FBEAF2"/>
          </a:solidFill>
          <a:ln w="19050">
            <a:solidFill>
              <a:srgbClr val="B4236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31520" y="3611880"/>
            <a:ext cx="4203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IRREGULAR · one box: the past form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31520" y="4069080"/>
            <a:ext cx="60643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1520" y="4069080"/>
            <a:ext cx="606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He</a:t>
            </a:r>
            <a:endParaRPr lang="en-US" sz="2200" dirty="0"/>
          </a:p>
        </p:txBody>
      </p:sp>
      <p:sp>
        <p:nvSpPr>
          <p:cNvPr id="35" name="Text 32"/>
          <p:cNvSpPr txBox="1"/>
          <p:nvPr/>
        </p:nvSpPr>
        <p:spPr>
          <a:xfrm>
            <a:off x="411480" y="4709160"/>
            <a:ext cx="1246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SUBJECT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411102" y="4069080"/>
            <a:ext cx="1103834" cy="603504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411102" y="4069080"/>
            <a:ext cx="110383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went</a:t>
            </a:r>
            <a:endParaRPr lang="en-US" sz="2200" dirty="0"/>
          </a:p>
        </p:txBody>
      </p:sp>
      <p:sp>
        <p:nvSpPr>
          <p:cNvPr id="38" name="Text 35"/>
          <p:cNvSpPr txBox="1"/>
          <p:nvPr/>
        </p:nvSpPr>
        <p:spPr>
          <a:xfrm>
            <a:off x="1091062" y="4709160"/>
            <a:ext cx="17439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4"/>
                </a:solidFill>
              </a:rPr>
              <a:t>PAST FORM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2588088" y="4069080"/>
            <a:ext cx="1547896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588088" y="4069080"/>
            <a:ext cx="1547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to Spain</a:t>
            </a:r>
            <a:endParaRPr lang="en-US" sz="2200" dirty="0"/>
          </a:p>
        </p:txBody>
      </p:sp>
      <p:sp>
        <p:nvSpPr>
          <p:cNvPr id="41" name="Text 38"/>
          <p:cNvSpPr txBox="1"/>
          <p:nvPr/>
        </p:nvSpPr>
        <p:spPr>
          <a:xfrm>
            <a:off x="2268048" y="4709160"/>
            <a:ext cx="2187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PLACE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209137" y="4069080"/>
            <a:ext cx="1806796" cy="603504"/>
          </a:xfrm>
          <a:prstGeom prst="roundRect">
            <a:avLst>
              <a:gd name="adj" fmla="val 15152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209137" y="4069080"/>
            <a:ext cx="18067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1"/>
                </a:solidFill>
              </a:rPr>
              <a:t>in 2019.</a:t>
            </a:r>
            <a:endParaRPr lang="en-US" sz="2200" dirty="0"/>
          </a:p>
        </p:txBody>
      </p:sp>
      <p:sp>
        <p:nvSpPr>
          <p:cNvPr id="44" name="Text 41"/>
          <p:cNvSpPr txBox="1"/>
          <p:nvPr/>
        </p:nvSpPr>
        <p:spPr>
          <a:xfrm>
            <a:off x="3889097" y="4709160"/>
            <a:ext cx="244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WHEN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731520" y="5010912"/>
            <a:ext cx="920252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31520" y="5010912"/>
            <a:ext cx="9202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They</a:t>
            </a:r>
            <a:endParaRPr lang="en-US" sz="2200" dirty="0"/>
          </a:p>
        </p:txBody>
      </p:sp>
      <p:sp>
        <p:nvSpPr>
          <p:cNvPr id="47" name="Shape 44"/>
          <p:cNvSpPr/>
          <p:nvPr/>
        </p:nvSpPr>
        <p:spPr>
          <a:xfrm>
            <a:off x="1724924" y="5010912"/>
            <a:ext cx="1455315" cy="603504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724924" y="5010912"/>
            <a:ext cx="14553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bought</a:t>
            </a:r>
            <a:endParaRPr lang="en-US" sz="2200" dirty="0"/>
          </a:p>
        </p:txBody>
      </p:sp>
      <p:sp>
        <p:nvSpPr>
          <p:cNvPr id="49" name="Shape 46"/>
          <p:cNvSpPr/>
          <p:nvPr/>
        </p:nvSpPr>
        <p:spPr>
          <a:xfrm>
            <a:off x="3253391" y="5010912"/>
            <a:ext cx="1077163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3253391" y="5010912"/>
            <a:ext cx="10771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a car</a:t>
            </a:r>
            <a:endParaRPr lang="en-US" sz="2200" dirty="0"/>
          </a:p>
        </p:txBody>
      </p:sp>
      <p:sp>
        <p:nvSpPr>
          <p:cNvPr id="51" name="Shape 48"/>
          <p:cNvSpPr/>
          <p:nvPr/>
        </p:nvSpPr>
        <p:spPr>
          <a:xfrm>
            <a:off x="4403707" y="5010912"/>
            <a:ext cx="2158277" cy="603504"/>
          </a:xfrm>
          <a:prstGeom prst="roundRect">
            <a:avLst>
              <a:gd name="adj" fmla="val 15152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403707" y="5010912"/>
            <a:ext cx="215827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1"/>
                </a:solidFill>
              </a:rPr>
              <a:t>last week.</a:t>
            </a:r>
            <a:endParaRPr lang="en-US" sz="2200" dirty="0"/>
          </a:p>
        </p:txBody>
      </p:sp>
      <p:sp>
        <p:nvSpPr>
          <p:cNvPr id="53" name="Shape 50"/>
          <p:cNvSpPr/>
          <p:nvPr/>
        </p:nvSpPr>
        <p:spPr>
          <a:xfrm>
            <a:off x="8138160" y="1417320"/>
            <a:ext cx="3502152" cy="4206240"/>
          </a:xfrm>
          <a:prstGeom prst="roundRect">
            <a:avLst>
              <a:gd name="adj" fmla="val 3133"/>
            </a:avLst>
          </a:prstGeom>
          <a:solidFill>
            <a:srgbClr val="E8F4EC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321040" y="1490472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✓ Same form for everybody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8321040" y="1892808"/>
            <a:ext cx="31363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I · you · he · she · it · we · they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→ </a:t>
            </a:r>
            <a:r>
              <a:rPr lang="en-US" sz="1500" b="1" i="1" dirty="0">
                <a:solidFill>
                  <a:schemeClr val="tx1"/>
                </a:solidFill>
              </a:rPr>
              <a:t>worked</a:t>
            </a:r>
            <a:r>
              <a:rPr lang="en-US" sz="1500" dirty="0">
                <a:solidFill>
                  <a:schemeClr val="tx1"/>
                </a:solidFill>
              </a:rPr>
              <a:t> · </a:t>
            </a:r>
            <a:r>
              <a:rPr lang="en-US" sz="1500" b="1" i="1" dirty="0">
                <a:solidFill>
                  <a:schemeClr val="tx1"/>
                </a:solidFill>
              </a:rPr>
              <a:t>went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pas de </a:t>
            </a:r>
            <a:r>
              <a:rPr lang="en-US" sz="1500" i="1" dirty="0">
                <a:solidFill>
                  <a:schemeClr val="tx1"/>
                </a:solidFill>
              </a:rPr>
              <a:t>-s</a:t>
            </a:r>
            <a:r>
              <a:rPr lang="en-US" sz="1500" dirty="0">
                <a:solidFill>
                  <a:schemeClr val="tx1"/>
                </a:solidFill>
              </a:rPr>
              <a:t> :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✗ </a:t>
            </a:r>
            <a:r>
              <a:rPr lang="en-US" sz="1500" i="1" dirty="0">
                <a:solidFill>
                  <a:schemeClr val="tx1"/>
                </a:solidFill>
              </a:rPr>
              <a:t>he workeds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pas d’auxiliaire :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✗ </a:t>
            </a:r>
            <a:r>
              <a:rPr lang="en-US" sz="1500" i="1" dirty="0">
                <a:solidFill>
                  <a:schemeClr val="tx1"/>
                </a:solidFill>
              </a:rPr>
              <a:t>I have worked yesterday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548640" y="5760720"/>
            <a:ext cx="11091672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822960" y="5760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Phrase affirmative : </a:t>
            </a:r>
            <a:r>
              <a:rPr lang="en-US" sz="1500" b="1" dirty="0">
                <a:solidFill>
                  <a:schemeClr val="bg1"/>
                </a:solidFill>
              </a:rPr>
              <a:t>pas de </a:t>
            </a:r>
            <a:r>
              <a:rPr lang="en-US" sz="1500" b="1" i="1" dirty="0">
                <a:solidFill>
                  <a:schemeClr val="bg1"/>
                </a:solidFill>
              </a:rPr>
              <a:t>did</a:t>
            </a:r>
            <a:r>
              <a:rPr lang="en-US" sz="1500" dirty="0">
                <a:solidFill>
                  <a:schemeClr val="bg1"/>
                </a:solidFill>
              </a:rPr>
              <a:t>, une seule case pour le verbe.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− Negative: didn’t + base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448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− NEGATIVE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11480" y="1536192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11480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chemeClr val="bg1"/>
                </a:solidFill>
              </a:rPr>
              <a:t>+</a:t>
            </a:r>
            <a:endParaRPr lang="en-US" sz="2160" dirty="0"/>
          </a:p>
        </p:txBody>
      </p:sp>
      <p:sp>
        <p:nvSpPr>
          <p:cNvPr id="7" name="Shape 4"/>
          <p:cNvSpPr/>
          <p:nvPr/>
        </p:nvSpPr>
        <p:spPr>
          <a:xfrm>
            <a:off x="1097280" y="1508760"/>
            <a:ext cx="763341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7280" y="1508760"/>
            <a:ext cx="76334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She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933773" y="1508760"/>
            <a:ext cx="1279575" cy="603504"/>
          </a:xfrm>
          <a:prstGeom prst="roundRect">
            <a:avLst>
              <a:gd name="adj" fmla="val 15152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933773" y="1508760"/>
            <a:ext cx="12795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visit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231636" y="1508760"/>
            <a:ext cx="642626" cy="603504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31636" y="1508760"/>
            <a:ext cx="6426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ed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947414" y="1508760"/>
            <a:ext cx="217554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47414" y="1508760"/>
            <a:ext cx="21755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her friends.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411480" y="2770632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1480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chemeClr val="bg1"/>
                </a:solidFill>
              </a:rPr>
              <a:t>−</a:t>
            </a:r>
            <a:endParaRPr lang="en-US" sz="2160" dirty="0"/>
          </a:p>
        </p:txBody>
      </p:sp>
      <p:sp>
        <p:nvSpPr>
          <p:cNvPr id="17" name="Shape 14"/>
          <p:cNvSpPr/>
          <p:nvPr/>
        </p:nvSpPr>
        <p:spPr>
          <a:xfrm>
            <a:off x="1097280" y="2743200"/>
            <a:ext cx="763341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97280" y="2743200"/>
            <a:ext cx="76334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She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3383280"/>
            <a:ext cx="14034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SUBJECT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933773" y="2743200"/>
            <a:ext cx="928094" cy="603504"/>
          </a:xfrm>
          <a:prstGeom prst="roundRect">
            <a:avLst>
              <a:gd name="adj" fmla="val 1515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933773" y="2743200"/>
            <a:ext cx="9280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did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1613733" y="3383280"/>
            <a:ext cx="156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AUX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880155" y="2743200"/>
            <a:ext cx="818366" cy="603504"/>
          </a:xfrm>
          <a:prstGeom prst="roundRect">
            <a:avLst>
              <a:gd name="adj" fmla="val 15152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880155" y="2743200"/>
            <a:ext cx="8183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n’t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2560115" y="3383280"/>
            <a:ext cx="14584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NOT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771673" y="2743200"/>
            <a:ext cx="1279575" cy="603504"/>
          </a:xfrm>
          <a:prstGeom prst="roundRect">
            <a:avLst>
              <a:gd name="adj" fmla="val 15152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771673" y="2743200"/>
            <a:ext cx="12795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visit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3451633" y="3383280"/>
            <a:ext cx="1919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BASE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124400" y="2743200"/>
            <a:ext cx="217554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124400" y="2743200"/>
            <a:ext cx="21755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her friends.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 flipH="1">
            <a:off x="2397820" y="2148840"/>
            <a:ext cx="1155129" cy="566928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3734556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-ed moves to did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863840" y="1508760"/>
            <a:ext cx="60643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863840" y="1508760"/>
            <a:ext cx="606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He</a:t>
            </a:r>
            <a:endParaRPr lang="en-US" sz="2200" dirty="0"/>
          </a:p>
        </p:txBody>
      </p:sp>
      <p:sp>
        <p:nvSpPr>
          <p:cNvPr id="35" name="Shape 32"/>
          <p:cNvSpPr/>
          <p:nvPr/>
        </p:nvSpPr>
        <p:spPr>
          <a:xfrm>
            <a:off x="8543422" y="1508760"/>
            <a:ext cx="1279575" cy="603504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543422" y="1508760"/>
            <a:ext cx="12795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went.</a:t>
            </a:r>
            <a:endParaRPr lang="en-US" sz="2200" dirty="0"/>
          </a:p>
        </p:txBody>
      </p:sp>
      <p:sp>
        <p:nvSpPr>
          <p:cNvPr id="37" name="Text 34"/>
          <p:cNvSpPr txBox="1"/>
          <p:nvPr/>
        </p:nvSpPr>
        <p:spPr>
          <a:xfrm>
            <a:off x="78638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↓</a:t>
            </a:r>
            <a:endParaRPr lang="en-US" sz="2400" dirty="0"/>
          </a:p>
        </p:txBody>
      </p:sp>
      <p:sp>
        <p:nvSpPr>
          <p:cNvPr id="38" name="Text 35"/>
          <p:cNvSpPr txBox="1"/>
          <p:nvPr/>
        </p:nvSpPr>
        <p:spPr>
          <a:xfrm>
            <a:off x="8412480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went</a:t>
            </a:r>
            <a:r>
              <a:rPr lang="en-US" sz="1400" b="1" i="1" dirty="0">
                <a:solidFill>
                  <a:schemeClr val="accent1"/>
                </a:solidFill>
              </a:rPr>
              <a:t> = </a:t>
            </a:r>
            <a:r>
              <a:rPr lang="en-US" sz="1400" b="1" i="1" dirty="0">
                <a:solidFill>
                  <a:schemeClr val="accent1"/>
                </a:solidFill>
              </a:rPr>
              <a:t>did</a:t>
            </a:r>
            <a:r>
              <a:rPr lang="en-US" sz="1400" b="1" i="1" dirty="0">
                <a:solidFill>
                  <a:schemeClr val="accent1"/>
                </a:solidFill>
              </a:rPr>
              <a:t> + </a:t>
            </a:r>
            <a:r>
              <a:rPr lang="en-US" sz="1400" b="1" i="1" dirty="0">
                <a:solidFill>
                  <a:schemeClr val="accent1"/>
                </a:solidFill>
              </a:rPr>
              <a:t>go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7863840" y="2743200"/>
            <a:ext cx="60643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863840" y="2743200"/>
            <a:ext cx="6064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He</a:t>
            </a:r>
            <a:endParaRPr lang="en-US" sz="2200" dirty="0"/>
          </a:p>
        </p:txBody>
      </p:sp>
      <p:sp>
        <p:nvSpPr>
          <p:cNvPr id="41" name="Shape 38"/>
          <p:cNvSpPr/>
          <p:nvPr/>
        </p:nvSpPr>
        <p:spPr>
          <a:xfrm>
            <a:off x="8543422" y="2743200"/>
            <a:ext cx="928094" cy="603504"/>
          </a:xfrm>
          <a:prstGeom prst="roundRect">
            <a:avLst>
              <a:gd name="adj" fmla="val 1515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543422" y="2743200"/>
            <a:ext cx="9280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did</a:t>
            </a:r>
            <a:endParaRPr lang="en-US" sz="2200" dirty="0"/>
          </a:p>
        </p:txBody>
      </p:sp>
      <p:sp>
        <p:nvSpPr>
          <p:cNvPr id="43" name="Shape 40"/>
          <p:cNvSpPr/>
          <p:nvPr/>
        </p:nvSpPr>
        <p:spPr>
          <a:xfrm>
            <a:off x="9489804" y="2743200"/>
            <a:ext cx="818366" cy="603504"/>
          </a:xfrm>
          <a:prstGeom prst="roundRect">
            <a:avLst>
              <a:gd name="adj" fmla="val 15152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89804" y="2743200"/>
            <a:ext cx="8183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n’t</a:t>
            </a:r>
            <a:endParaRPr lang="en-US" sz="2200" dirty="0"/>
          </a:p>
        </p:txBody>
      </p:sp>
      <p:sp>
        <p:nvSpPr>
          <p:cNvPr id="45" name="Shape 42"/>
          <p:cNvSpPr/>
          <p:nvPr/>
        </p:nvSpPr>
        <p:spPr>
          <a:xfrm>
            <a:off x="10381322" y="2743200"/>
            <a:ext cx="928094" cy="603504"/>
          </a:xfrm>
          <a:prstGeom prst="roundRect">
            <a:avLst>
              <a:gd name="adj" fmla="val 15152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0381322" y="2743200"/>
            <a:ext cx="9280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go.</a:t>
            </a:r>
            <a:endParaRPr lang="en-US" sz="2200" dirty="0"/>
          </a:p>
        </p:txBody>
      </p:sp>
      <p:sp>
        <p:nvSpPr>
          <p:cNvPr id="47" name="Shape 44"/>
          <p:cNvSpPr/>
          <p:nvPr/>
        </p:nvSpPr>
        <p:spPr>
          <a:xfrm>
            <a:off x="411480" y="4050792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1148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−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1097280" y="4023360"/>
            <a:ext cx="435254" cy="530352"/>
          </a:xfrm>
          <a:prstGeom prst="roundRect">
            <a:avLst>
              <a:gd name="adj" fmla="val 21008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97280" y="4023360"/>
            <a:ext cx="4352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</a:t>
            </a:r>
            <a:endParaRPr lang="en-US" sz="2000" dirty="0"/>
          </a:p>
        </p:txBody>
      </p:sp>
      <p:sp>
        <p:nvSpPr>
          <p:cNvPr id="51" name="Shape 48"/>
          <p:cNvSpPr/>
          <p:nvPr/>
        </p:nvSpPr>
        <p:spPr>
          <a:xfrm>
            <a:off x="1605686" y="4023360"/>
            <a:ext cx="880165" cy="530352"/>
          </a:xfrm>
          <a:prstGeom prst="roundRect">
            <a:avLst>
              <a:gd name="adj" fmla="val 1724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605686" y="4023360"/>
            <a:ext cx="88016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did</a:t>
            </a:r>
            <a:endParaRPr lang="en-US" sz="2000" dirty="0"/>
          </a:p>
        </p:txBody>
      </p:sp>
      <p:sp>
        <p:nvSpPr>
          <p:cNvPr id="53" name="Shape 50"/>
          <p:cNvSpPr/>
          <p:nvPr/>
        </p:nvSpPr>
        <p:spPr>
          <a:xfrm>
            <a:off x="2504139" y="4023360"/>
            <a:ext cx="770437" cy="530352"/>
          </a:xfrm>
          <a:prstGeom prst="roundRect">
            <a:avLst>
              <a:gd name="adj" fmla="val 17241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2504139" y="4023360"/>
            <a:ext cx="77043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n’t</a:t>
            </a:r>
            <a:endParaRPr lang="en-US" sz="2000" dirty="0"/>
          </a:p>
        </p:txBody>
      </p:sp>
      <p:sp>
        <p:nvSpPr>
          <p:cNvPr id="55" name="Shape 52"/>
          <p:cNvSpPr/>
          <p:nvPr/>
        </p:nvSpPr>
        <p:spPr>
          <a:xfrm>
            <a:off x="3347728" y="4023360"/>
            <a:ext cx="880165" cy="530352"/>
          </a:xfrm>
          <a:prstGeom prst="roundRect">
            <a:avLst>
              <a:gd name="adj" fmla="val 17241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3347728" y="4023360"/>
            <a:ext cx="88016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6"/>
                </a:solidFill>
              </a:rPr>
              <a:t>see</a:t>
            </a:r>
            <a:endParaRPr lang="en-US" sz="2000" dirty="0"/>
          </a:p>
        </p:txBody>
      </p:sp>
      <p:sp>
        <p:nvSpPr>
          <p:cNvPr id="57" name="Shape 54"/>
          <p:cNvSpPr/>
          <p:nvPr/>
        </p:nvSpPr>
        <p:spPr>
          <a:xfrm>
            <a:off x="4301045" y="4023360"/>
            <a:ext cx="720547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4301045" y="4023360"/>
            <a:ext cx="7205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Tom</a:t>
            </a:r>
            <a:endParaRPr lang="en-US" sz="2000" dirty="0"/>
          </a:p>
        </p:txBody>
      </p:sp>
      <p:sp>
        <p:nvSpPr>
          <p:cNvPr id="59" name="Shape 56"/>
          <p:cNvSpPr/>
          <p:nvPr/>
        </p:nvSpPr>
        <p:spPr>
          <a:xfrm>
            <a:off x="5094744" y="4023360"/>
            <a:ext cx="1998513" cy="530352"/>
          </a:xfrm>
          <a:prstGeom prst="roundRect">
            <a:avLst>
              <a:gd name="adj" fmla="val 17241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5094744" y="4023360"/>
            <a:ext cx="199851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yesterday.</a:t>
            </a:r>
            <a:endParaRPr lang="en-US" sz="2000" dirty="0"/>
          </a:p>
        </p:txBody>
      </p:sp>
      <p:sp>
        <p:nvSpPr>
          <p:cNvPr id="61" name="Shape 58"/>
          <p:cNvSpPr/>
          <p:nvPr/>
        </p:nvSpPr>
        <p:spPr>
          <a:xfrm>
            <a:off x="411480" y="4828032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41148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−</a:t>
            </a:r>
            <a:endParaRPr lang="en-US" sz="1800" dirty="0"/>
          </a:p>
        </p:txBody>
      </p:sp>
      <p:sp>
        <p:nvSpPr>
          <p:cNvPr id="63" name="Shape 60"/>
          <p:cNvSpPr/>
          <p:nvPr/>
        </p:nvSpPr>
        <p:spPr>
          <a:xfrm>
            <a:off x="1097280" y="4800600"/>
            <a:ext cx="863194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097280" y="4800600"/>
            <a:ext cx="86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They</a:t>
            </a:r>
            <a:endParaRPr lang="en-US" sz="2000" dirty="0"/>
          </a:p>
        </p:txBody>
      </p:sp>
      <p:sp>
        <p:nvSpPr>
          <p:cNvPr id="65" name="Shape 62"/>
          <p:cNvSpPr/>
          <p:nvPr/>
        </p:nvSpPr>
        <p:spPr>
          <a:xfrm>
            <a:off x="2033626" y="4800600"/>
            <a:ext cx="880165" cy="530352"/>
          </a:xfrm>
          <a:prstGeom prst="roundRect">
            <a:avLst>
              <a:gd name="adj" fmla="val 1724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2033626" y="4800600"/>
            <a:ext cx="88016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did</a:t>
            </a:r>
            <a:endParaRPr lang="en-US" sz="2000" dirty="0"/>
          </a:p>
        </p:txBody>
      </p:sp>
      <p:sp>
        <p:nvSpPr>
          <p:cNvPr id="67" name="Shape 64"/>
          <p:cNvSpPr/>
          <p:nvPr/>
        </p:nvSpPr>
        <p:spPr>
          <a:xfrm>
            <a:off x="2932078" y="4800600"/>
            <a:ext cx="770437" cy="530352"/>
          </a:xfrm>
          <a:prstGeom prst="roundRect">
            <a:avLst>
              <a:gd name="adj" fmla="val 17241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2932078" y="4800600"/>
            <a:ext cx="77043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n’t</a:t>
            </a:r>
            <a:endParaRPr lang="en-US" sz="2000" dirty="0"/>
          </a:p>
        </p:txBody>
      </p:sp>
      <p:sp>
        <p:nvSpPr>
          <p:cNvPr id="69" name="Shape 66"/>
          <p:cNvSpPr/>
          <p:nvPr/>
        </p:nvSpPr>
        <p:spPr>
          <a:xfrm>
            <a:off x="3775667" y="4800600"/>
            <a:ext cx="1039929" cy="530352"/>
          </a:xfrm>
          <a:prstGeom prst="roundRect">
            <a:avLst>
              <a:gd name="adj" fmla="val 17241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3775667" y="4800600"/>
            <a:ext cx="103992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6"/>
                </a:solidFill>
              </a:rPr>
              <a:t>come</a:t>
            </a:r>
            <a:endParaRPr lang="en-US" sz="2000" dirty="0"/>
          </a:p>
        </p:txBody>
      </p:sp>
      <p:sp>
        <p:nvSpPr>
          <p:cNvPr id="71" name="Shape 68"/>
          <p:cNvSpPr/>
          <p:nvPr/>
        </p:nvSpPr>
        <p:spPr>
          <a:xfrm>
            <a:off x="4888748" y="4800600"/>
            <a:ext cx="2147011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4888748" y="4800600"/>
            <a:ext cx="214701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to the party.</a:t>
            </a:r>
            <a:endParaRPr lang="en-US" sz="2000" dirty="0"/>
          </a:p>
        </p:txBody>
      </p:sp>
      <p:sp>
        <p:nvSpPr>
          <p:cNvPr id="73" name="Shape 70"/>
          <p:cNvSpPr/>
          <p:nvPr/>
        </p:nvSpPr>
        <p:spPr>
          <a:xfrm>
            <a:off x="8138160" y="3931920"/>
            <a:ext cx="3502152" cy="1508760"/>
          </a:xfrm>
          <a:prstGeom prst="roundRect">
            <a:avLst>
              <a:gd name="adj" fmla="val 7273"/>
            </a:avLst>
          </a:prstGeom>
          <a:solidFill>
            <a:srgbClr val="FBEDEB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321040" y="4078224"/>
            <a:ext cx="128016" cy="253472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8449056" y="4078224"/>
            <a:ext cx="128016" cy="25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577072" y="4078224"/>
            <a:ext cx="128016" cy="253472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8321040" y="4078224"/>
            <a:ext cx="384048" cy="253472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8741664" y="400507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≠</a:t>
            </a:r>
            <a:endParaRPr lang="en-US" sz="1800" dirty="0"/>
          </a:p>
        </p:txBody>
      </p:sp>
      <p:sp>
        <p:nvSpPr>
          <p:cNvPr id="79" name="Shape 76"/>
          <p:cNvSpPr/>
          <p:nvPr/>
        </p:nvSpPr>
        <p:spPr>
          <a:xfrm>
            <a:off x="9034272" y="4078224"/>
            <a:ext cx="384048" cy="253472"/>
          </a:xfrm>
          <a:prstGeom prst="rect">
            <a:avLst/>
          </a:prstGeom>
          <a:solidFill>
            <a:srgbClr val="1F3B8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9034272" y="4078224"/>
            <a:ext cx="384048" cy="253472"/>
          </a:xfrm>
          <a:custGeom>
            <a:avLst/>
            <a:gdLst/>
            <a:ahLst/>
            <a:cxnLst/>
            <a:rect l="l" t="t" r="r" b="b"/>
            <a:pathLst>
              <a:path w="384048" h="253472">
                <a:moveTo>
                  <a:pt x="0" y="0"/>
                </a:moveTo>
                <a:lnTo>
                  <a:pt x="42583" y="0"/>
                </a:lnTo>
                <a:lnTo>
                  <a:pt x="384048" y="223055"/>
                </a:lnTo>
                <a:lnTo>
                  <a:pt x="384048" y="253472"/>
                </a:lnTo>
                <a:lnTo>
                  <a:pt x="341465" y="253472"/>
                </a:lnTo>
                <a:lnTo>
                  <a:pt x="0" y="30417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9034272" y="4078224"/>
            <a:ext cx="384048" cy="253472"/>
          </a:xfrm>
          <a:custGeom>
            <a:avLst/>
            <a:gdLst/>
            <a:ahLst/>
            <a:cxnLst/>
            <a:rect l="l" t="t" r="r" b="b"/>
            <a:pathLst>
              <a:path w="384048" h="253472">
                <a:moveTo>
                  <a:pt x="384048" y="0"/>
                </a:moveTo>
                <a:lnTo>
                  <a:pt x="384048" y="30417"/>
                </a:lnTo>
                <a:lnTo>
                  <a:pt x="42583" y="253472"/>
                </a:lnTo>
                <a:lnTo>
                  <a:pt x="0" y="253472"/>
                </a:lnTo>
                <a:lnTo>
                  <a:pt x="0" y="223055"/>
                </a:lnTo>
                <a:lnTo>
                  <a:pt x="341465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9183713" y="4078224"/>
            <a:ext cx="85166" cy="25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9034272" y="4162377"/>
            <a:ext cx="384048" cy="8516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9201963" y="4078224"/>
            <a:ext cx="48667" cy="253472"/>
          </a:xfrm>
          <a:prstGeom prst="rect">
            <a:avLst/>
          </a:prstGeom>
          <a:solidFill>
            <a:srgbClr val="C810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9034272" y="4180627"/>
            <a:ext cx="384048" cy="48667"/>
          </a:xfrm>
          <a:prstGeom prst="rect">
            <a:avLst/>
          </a:prstGeom>
          <a:solidFill>
            <a:srgbClr val="C810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9034272" y="4078224"/>
            <a:ext cx="384048" cy="253472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9555480" y="4005072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Une seule marque</a:t>
            </a:r>
            <a:endParaRPr lang="en-US" sz="1500" dirty="0"/>
          </a:p>
        </p:txBody>
      </p:sp>
      <p:sp>
        <p:nvSpPr>
          <p:cNvPr id="88" name="Text 85"/>
          <p:cNvSpPr txBox="1"/>
          <p:nvPr/>
        </p:nvSpPr>
        <p:spPr>
          <a:xfrm>
            <a:off x="8321040" y="4434840"/>
            <a:ext cx="31363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✗ </a:t>
            </a:r>
            <a:r>
              <a:rPr lang="en-US" sz="1400" i="1" dirty="0">
                <a:solidFill>
                  <a:schemeClr val="tx1"/>
                </a:solidFill>
              </a:rPr>
              <a:t>didn’t went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✗ </a:t>
            </a:r>
            <a:r>
              <a:rPr lang="en-US" sz="1400" i="1" dirty="0">
                <a:solidFill>
                  <a:schemeClr val="tx1"/>
                </a:solidFill>
              </a:rPr>
              <a:t>didn’t visited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 passé est </a:t>
            </a:r>
            <a:r>
              <a:rPr lang="en-US" sz="1400" b="1" dirty="0">
                <a:solidFill>
                  <a:schemeClr val="tx1"/>
                </a:solidFill>
              </a:rPr>
              <a:t>déjà</a:t>
            </a:r>
            <a:r>
              <a:rPr lang="en-US" sz="1400" dirty="0">
                <a:solidFill>
                  <a:schemeClr val="tx1"/>
                </a:solidFill>
              </a:rPr>
              <a:t> dans </a:t>
            </a:r>
            <a:r>
              <a:rPr lang="en-US" sz="1400" i="1" dirty="0">
                <a:solidFill>
                  <a:schemeClr val="tx1"/>
                </a:solidFill>
              </a:rPr>
              <a:t>did</a:t>
            </a:r>
            <a:r>
              <a:rPr lang="en-US" sz="1400" dirty="0">
                <a:solidFill>
                  <a:schemeClr val="tx1"/>
                </a:solidFill>
              </a:rPr>
              <a:t> !</a:t>
            </a:r>
            <a:endParaRPr lang="en-US" sz="1400" dirty="0"/>
          </a:p>
        </p:txBody>
      </p:sp>
      <p:sp>
        <p:nvSpPr>
          <p:cNvPr id="89" name="Shape 86"/>
          <p:cNvSpPr/>
          <p:nvPr/>
        </p:nvSpPr>
        <p:spPr>
          <a:xfrm>
            <a:off x="548640" y="5715000"/>
            <a:ext cx="11091672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822960" y="57150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didn’t</a:t>
            </a:r>
            <a:r>
              <a:rPr lang="en-US" sz="1600" dirty="0">
                <a:solidFill>
                  <a:schemeClr val="bg1"/>
                </a:solidFill>
              </a:rPr>
              <a:t> (= </a:t>
            </a:r>
            <a:r>
              <a:rPr lang="en-US" sz="1600" i="1" dirty="0">
                <a:solidFill>
                  <a:schemeClr val="bg1"/>
                </a:solidFill>
              </a:rPr>
              <a:t>did not</a:t>
            </a:r>
            <a:r>
              <a:rPr lang="en-US" sz="1600" dirty="0">
                <a:solidFill>
                  <a:schemeClr val="bg1"/>
                </a:solidFill>
              </a:rPr>
              <a:t>) + </a:t>
            </a:r>
            <a:r>
              <a:rPr lang="en-US" sz="1600" b="1" dirty="0">
                <a:solidFill>
                  <a:schemeClr val="bg1"/>
                </a:solidFill>
              </a:rPr>
              <a:t>base</a:t>
            </a:r>
            <a:r>
              <a:rPr lang="en-US" sz="1600" dirty="0">
                <a:solidFill>
                  <a:schemeClr val="bg1"/>
                </a:solidFill>
              </a:rPr>
              <a:t> : la même forme pour tout le monde.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? Yes / no questions: did comes first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4752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? QUESTION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11480" y="1536192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11480" y="1536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chemeClr val="bg1"/>
                </a:solidFill>
              </a:rPr>
              <a:t>+</a:t>
            </a:r>
            <a:endParaRPr lang="en-US" sz="2160" dirty="0"/>
          </a:p>
        </p:txBody>
      </p:sp>
      <p:sp>
        <p:nvSpPr>
          <p:cNvPr id="7" name="Shape 4"/>
          <p:cNvSpPr/>
          <p:nvPr/>
        </p:nvSpPr>
        <p:spPr>
          <a:xfrm>
            <a:off x="1097280" y="1508760"/>
            <a:ext cx="763341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7280" y="1508760"/>
            <a:ext cx="76334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You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933773" y="1508760"/>
            <a:ext cx="1279575" cy="603504"/>
          </a:xfrm>
          <a:prstGeom prst="roundRect">
            <a:avLst>
              <a:gd name="adj" fmla="val 15152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933773" y="1508760"/>
            <a:ext cx="12795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visit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231636" y="1508760"/>
            <a:ext cx="642626" cy="603504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31636" y="1508760"/>
            <a:ext cx="6426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ed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947414" y="1508760"/>
            <a:ext cx="1390985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47414" y="1508760"/>
            <a:ext cx="139098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London.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411480" y="2770632"/>
            <a:ext cx="54864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1480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chemeClr val="bg1"/>
                </a:solidFill>
              </a:rPr>
              <a:t>?</a:t>
            </a:r>
            <a:endParaRPr lang="en-US" sz="2160" dirty="0"/>
          </a:p>
        </p:txBody>
      </p:sp>
      <p:sp>
        <p:nvSpPr>
          <p:cNvPr id="17" name="Shape 14"/>
          <p:cNvSpPr/>
          <p:nvPr/>
        </p:nvSpPr>
        <p:spPr>
          <a:xfrm>
            <a:off x="1097280" y="2743200"/>
            <a:ext cx="928094" cy="603504"/>
          </a:xfrm>
          <a:prstGeom prst="roundRect">
            <a:avLst>
              <a:gd name="adj" fmla="val 1515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97280" y="2743200"/>
            <a:ext cx="9280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Did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3383280"/>
            <a:ext cx="156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AUX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098526" y="2743200"/>
            <a:ext cx="763341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098526" y="2743200"/>
            <a:ext cx="76334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you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1778486" y="3383280"/>
            <a:ext cx="14034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SUBJECT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935019" y="2743200"/>
            <a:ext cx="1279575" cy="603504"/>
          </a:xfrm>
          <a:prstGeom prst="roundRect">
            <a:avLst>
              <a:gd name="adj" fmla="val 15152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935019" y="2743200"/>
            <a:ext cx="12795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visit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2614979" y="3383280"/>
            <a:ext cx="1919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BASE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287746" y="2743200"/>
            <a:ext cx="1390985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287746" y="2743200"/>
            <a:ext cx="139098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London?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 flipH="1">
            <a:off x="1561327" y="2148840"/>
            <a:ext cx="1991622" cy="566928"/>
          </a:xfrm>
          <a:prstGeom prst="line">
            <a:avLst/>
          </a:prstGeom>
          <a:noFill/>
          <a:ln w="3175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3643116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chemeClr val="tx2"/>
                </a:solidFill>
              </a:rPr>
              <a:t>did comes first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001000" y="1508760"/>
            <a:ext cx="763341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001000" y="1508760"/>
            <a:ext cx="76334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She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8837493" y="1508760"/>
            <a:ext cx="928094" cy="603504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837493" y="1508760"/>
            <a:ext cx="9280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saw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9838739" y="1508760"/>
            <a:ext cx="920252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838739" y="1508760"/>
            <a:ext cx="9202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Tom.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↓</a:t>
            </a:r>
            <a:endParaRPr lang="en-US" sz="2400" dirty="0"/>
          </a:p>
        </p:txBody>
      </p:sp>
      <p:sp>
        <p:nvSpPr>
          <p:cNvPr id="37" name="Text 34"/>
          <p:cNvSpPr txBox="1"/>
          <p:nvPr/>
        </p:nvSpPr>
        <p:spPr>
          <a:xfrm>
            <a:off x="85496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saw</a:t>
            </a:r>
            <a:r>
              <a:rPr lang="en-US" sz="1400" b="1" i="1" dirty="0">
                <a:solidFill>
                  <a:schemeClr val="accent1"/>
                </a:solidFill>
              </a:rPr>
              <a:t> = </a:t>
            </a:r>
            <a:r>
              <a:rPr lang="en-US" sz="1400" b="1" i="1" dirty="0">
                <a:solidFill>
                  <a:schemeClr val="accent1"/>
                </a:solidFill>
              </a:rPr>
              <a:t>did</a:t>
            </a:r>
            <a:r>
              <a:rPr lang="en-US" sz="1400" b="1" i="1" dirty="0">
                <a:solidFill>
                  <a:schemeClr val="accent1"/>
                </a:solidFill>
              </a:rPr>
              <a:t> + </a:t>
            </a:r>
            <a:r>
              <a:rPr lang="en-US" sz="1400" b="1" i="1" dirty="0">
                <a:solidFill>
                  <a:schemeClr val="accent1"/>
                </a:solidFill>
              </a:rPr>
              <a:t>see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8001000" y="2743200"/>
            <a:ext cx="928094" cy="603504"/>
          </a:xfrm>
          <a:prstGeom prst="roundRect">
            <a:avLst>
              <a:gd name="adj" fmla="val 1515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001000" y="2743200"/>
            <a:ext cx="9280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Did</a:t>
            </a:r>
            <a:endParaRPr lang="en-US" sz="2200" dirty="0"/>
          </a:p>
        </p:txBody>
      </p:sp>
      <p:sp>
        <p:nvSpPr>
          <p:cNvPr id="40" name="Shape 37"/>
          <p:cNvSpPr/>
          <p:nvPr/>
        </p:nvSpPr>
        <p:spPr>
          <a:xfrm>
            <a:off x="9002246" y="2743200"/>
            <a:ext cx="763341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002246" y="2743200"/>
            <a:ext cx="76334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she</a:t>
            </a:r>
            <a:endParaRPr lang="en-US" sz="2200" dirty="0"/>
          </a:p>
        </p:txBody>
      </p:sp>
      <p:sp>
        <p:nvSpPr>
          <p:cNvPr id="42" name="Shape 39"/>
          <p:cNvSpPr/>
          <p:nvPr/>
        </p:nvSpPr>
        <p:spPr>
          <a:xfrm>
            <a:off x="9838739" y="2743200"/>
            <a:ext cx="928094" cy="603504"/>
          </a:xfrm>
          <a:prstGeom prst="roundRect">
            <a:avLst>
              <a:gd name="adj" fmla="val 15152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838739" y="2743200"/>
            <a:ext cx="9280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see</a:t>
            </a:r>
            <a:endParaRPr lang="en-US" sz="2200" dirty="0"/>
          </a:p>
        </p:txBody>
      </p:sp>
      <p:sp>
        <p:nvSpPr>
          <p:cNvPr id="44" name="Shape 41"/>
          <p:cNvSpPr/>
          <p:nvPr/>
        </p:nvSpPr>
        <p:spPr>
          <a:xfrm>
            <a:off x="10839985" y="2743200"/>
            <a:ext cx="920252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0839985" y="2743200"/>
            <a:ext cx="9202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Tom?</a:t>
            </a:r>
            <a:endParaRPr lang="en-US" sz="2200" dirty="0"/>
          </a:p>
        </p:txBody>
      </p:sp>
      <p:sp>
        <p:nvSpPr>
          <p:cNvPr id="46" name="Shape 43"/>
          <p:cNvSpPr/>
          <p:nvPr/>
        </p:nvSpPr>
        <p:spPr>
          <a:xfrm>
            <a:off x="411480" y="4050792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1148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1097280" y="4023360"/>
            <a:ext cx="880165" cy="530352"/>
          </a:xfrm>
          <a:prstGeom prst="roundRect">
            <a:avLst>
              <a:gd name="adj" fmla="val 1724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1097280" y="4023360"/>
            <a:ext cx="88016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Did</a:t>
            </a:r>
            <a:endParaRPr lang="en-US" sz="2000" dirty="0"/>
          </a:p>
        </p:txBody>
      </p:sp>
      <p:sp>
        <p:nvSpPr>
          <p:cNvPr id="50" name="Shape 47"/>
          <p:cNvSpPr/>
          <p:nvPr/>
        </p:nvSpPr>
        <p:spPr>
          <a:xfrm>
            <a:off x="2050597" y="4023360"/>
            <a:ext cx="863194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2050597" y="4023360"/>
            <a:ext cx="86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they</a:t>
            </a:r>
            <a:endParaRPr lang="en-US" sz="2000" dirty="0"/>
          </a:p>
        </p:txBody>
      </p:sp>
      <p:sp>
        <p:nvSpPr>
          <p:cNvPr id="52" name="Shape 49"/>
          <p:cNvSpPr/>
          <p:nvPr/>
        </p:nvSpPr>
        <p:spPr>
          <a:xfrm>
            <a:off x="2986942" y="4023360"/>
            <a:ext cx="720401" cy="530352"/>
          </a:xfrm>
          <a:prstGeom prst="roundRect">
            <a:avLst>
              <a:gd name="adj" fmla="val 17241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2986942" y="4023360"/>
            <a:ext cx="72040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6"/>
                </a:solidFill>
              </a:rPr>
              <a:t>go</a:t>
            </a:r>
            <a:endParaRPr lang="en-US" sz="2000" dirty="0"/>
          </a:p>
        </p:txBody>
      </p:sp>
      <p:sp>
        <p:nvSpPr>
          <p:cNvPr id="54" name="Shape 51"/>
          <p:cNvSpPr/>
          <p:nvPr/>
        </p:nvSpPr>
        <p:spPr>
          <a:xfrm>
            <a:off x="3780495" y="4023360"/>
            <a:ext cx="2004365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3780495" y="4023360"/>
            <a:ext cx="200436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to the beach</a:t>
            </a:r>
            <a:endParaRPr lang="en-US" sz="2000" dirty="0"/>
          </a:p>
        </p:txBody>
      </p:sp>
      <p:sp>
        <p:nvSpPr>
          <p:cNvPr id="56" name="Shape 53"/>
          <p:cNvSpPr/>
          <p:nvPr/>
        </p:nvSpPr>
        <p:spPr>
          <a:xfrm>
            <a:off x="5858012" y="4023360"/>
            <a:ext cx="2318041" cy="530352"/>
          </a:xfrm>
          <a:prstGeom prst="roundRect">
            <a:avLst>
              <a:gd name="adj" fmla="val 17241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858012" y="4023360"/>
            <a:ext cx="231804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last summer?</a:t>
            </a:r>
            <a:endParaRPr lang="en-US" sz="2000" dirty="0"/>
          </a:p>
        </p:txBody>
      </p:sp>
      <p:sp>
        <p:nvSpPr>
          <p:cNvPr id="58" name="Shape 55"/>
          <p:cNvSpPr/>
          <p:nvPr/>
        </p:nvSpPr>
        <p:spPr>
          <a:xfrm>
            <a:off x="1097280" y="4846320"/>
            <a:ext cx="2190229" cy="43891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1097280" y="4846320"/>
            <a:ext cx="219022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Yes, they did.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3470389" y="4846320"/>
            <a:ext cx="2445852" cy="438912"/>
          </a:xfrm>
          <a:prstGeom prst="roundRect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3470389" y="4846320"/>
            <a:ext cx="24458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No, they didn’t.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6190561" y="48463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réponse courte : </a:t>
            </a:r>
            <a:r>
              <a:rPr lang="en-US" sz="1400" i="1" dirty="0">
                <a:solidFill>
                  <a:schemeClr val="accent5"/>
                </a:solidFill>
              </a:rPr>
              <a:t>did / didn’t</a:t>
            </a:r>
            <a:r>
              <a:rPr lang="en-US" sz="1400" i="1" dirty="0">
                <a:solidFill>
                  <a:schemeClr val="accent5"/>
                </a:solidFill>
              </a:rPr>
              <a:t>, sans le verbe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548640" y="5715000"/>
            <a:ext cx="11091672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22960" y="57150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Did</a:t>
            </a:r>
            <a:r>
              <a:rPr lang="en-US" sz="1600" dirty="0">
                <a:solidFill>
                  <a:schemeClr val="bg1"/>
                </a:solidFill>
              </a:rPr>
              <a:t> + sujet + </a:t>
            </a:r>
            <a:r>
              <a:rPr lang="en-US" sz="1600" b="1" dirty="0">
                <a:solidFill>
                  <a:schemeClr val="bg1"/>
                </a:solidFill>
              </a:rPr>
              <a:t>base</a:t>
            </a:r>
            <a:r>
              <a:rPr lang="en-US" sz="1600" dirty="0">
                <a:solidFill>
                  <a:schemeClr val="bg1"/>
                </a:solidFill>
              </a:rPr>
              <a:t> … ? : </a:t>
            </a:r>
            <a:r>
              <a:rPr lang="en-US" sz="1600" i="1" dirty="0">
                <a:solidFill>
                  <a:schemeClr val="bg1"/>
                </a:solidFill>
              </a:rPr>
              <a:t>did</a:t>
            </a:r>
            <a:r>
              <a:rPr lang="en-US" sz="1600" dirty="0">
                <a:solidFill>
                  <a:schemeClr val="bg1"/>
                </a:solidFill>
              </a:rPr>
              <a:t> se place </a:t>
            </a:r>
            <a:r>
              <a:rPr lang="en-US" sz="1600" b="1" dirty="0">
                <a:solidFill>
                  <a:schemeClr val="bg1"/>
                </a:solidFill>
              </a:rPr>
              <a:t>devant</a:t>
            </a:r>
            <a:r>
              <a:rPr lang="en-US" sz="1600" dirty="0">
                <a:solidFill>
                  <a:schemeClr val="bg1"/>
                </a:solidFill>
              </a:rPr>
              <a:t> le sujet.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? Wh- questions: QUASI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4752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? QUESTION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1554480"/>
            <a:ext cx="1439339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54480"/>
            <a:ext cx="14393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chemeClr val="bg1"/>
                </a:solidFill>
              </a:rPr>
              <a:t>Where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2322576"/>
            <a:ext cx="20794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Q · question word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353739" y="1554480"/>
            <a:ext cx="1023952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353739" y="1554480"/>
            <a:ext cx="1023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chemeClr val="bg1"/>
                </a:solidFill>
              </a:rPr>
              <a:t>did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2033699" y="2322576"/>
            <a:ext cx="1664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A · auxiliary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560571" y="1554480"/>
            <a:ext cx="848929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0571" y="1554480"/>
            <a:ext cx="8489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chemeClr val="tx1"/>
                </a:solidFill>
              </a:rPr>
              <a:t>you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3240531" y="2322576"/>
            <a:ext cx="14890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S · subject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92380" y="1554480"/>
            <a:ext cx="816259" cy="731520"/>
          </a:xfrm>
          <a:prstGeom prst="roundRect">
            <a:avLst>
              <a:gd name="adj" fmla="val 12500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92380" y="1554480"/>
            <a:ext cx="8162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chemeClr val="accent6"/>
                </a:solidFill>
              </a:rPr>
              <a:t>go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4272340" y="2322576"/>
            <a:ext cx="1456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I · infinitive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591519" y="1554480"/>
            <a:ext cx="2893191" cy="731520"/>
          </a:xfrm>
          <a:prstGeom prst="roundRect">
            <a:avLst>
              <a:gd name="adj" fmla="val 12500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591519" y="1554480"/>
            <a:ext cx="289319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chemeClr val="accent1"/>
                </a:solidFill>
              </a:rPr>
              <a:t>last summer?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5271479" y="2322576"/>
            <a:ext cx="35332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WHEN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31520" y="2926080"/>
            <a:ext cx="1039929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2926080"/>
            <a:ext cx="10399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What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1844601" y="2926080"/>
            <a:ext cx="880165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844601" y="2926080"/>
            <a:ext cx="8801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did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2797918" y="2926080"/>
            <a:ext cx="720547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797918" y="2926080"/>
            <a:ext cx="7205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she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3591617" y="2926080"/>
            <a:ext cx="1039929" cy="548640"/>
          </a:xfrm>
          <a:prstGeom prst="roundRect">
            <a:avLst>
              <a:gd name="adj" fmla="val 16667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591617" y="2926080"/>
            <a:ext cx="10399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6"/>
                </a:solidFill>
              </a:rPr>
              <a:t>buy?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6309360" y="2926080"/>
            <a:ext cx="1039929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09360" y="2926080"/>
            <a:ext cx="10399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When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7422441" y="2926080"/>
            <a:ext cx="880165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22441" y="2926080"/>
            <a:ext cx="8801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did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8375758" y="2926080"/>
            <a:ext cx="863194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375758" y="2926080"/>
            <a:ext cx="863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they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9312103" y="2926080"/>
            <a:ext cx="1519221" cy="548640"/>
          </a:xfrm>
          <a:prstGeom prst="roundRect">
            <a:avLst>
              <a:gd name="adj" fmla="val 16667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312103" y="2926080"/>
            <a:ext cx="15192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6"/>
                </a:solidFill>
              </a:rPr>
              <a:t>arrive?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731520" y="3703320"/>
            <a:ext cx="880165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31520" y="3703320"/>
            <a:ext cx="8801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Who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1684837" y="3703320"/>
            <a:ext cx="880165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684837" y="3703320"/>
            <a:ext cx="8801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did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2638154" y="3703320"/>
            <a:ext cx="720547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638154" y="3703320"/>
            <a:ext cx="7205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you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3431853" y="3703320"/>
            <a:ext cx="1199693" cy="548640"/>
          </a:xfrm>
          <a:prstGeom prst="roundRect">
            <a:avLst>
              <a:gd name="adj" fmla="val 16667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431853" y="3703320"/>
            <a:ext cx="11996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6"/>
                </a:solidFill>
              </a:rPr>
              <a:t>meet?</a:t>
            </a:r>
            <a:endParaRPr lang="en-US" sz="2000" dirty="0"/>
          </a:p>
        </p:txBody>
      </p:sp>
      <p:sp>
        <p:nvSpPr>
          <p:cNvPr id="44" name="Shape 41"/>
          <p:cNvSpPr/>
          <p:nvPr/>
        </p:nvSpPr>
        <p:spPr>
          <a:xfrm>
            <a:off x="6309360" y="3703320"/>
            <a:ext cx="880165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309360" y="3703320"/>
            <a:ext cx="8801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How</a:t>
            </a:r>
            <a:endParaRPr lang="en-US" sz="2000" dirty="0"/>
          </a:p>
        </p:txBody>
      </p:sp>
      <p:sp>
        <p:nvSpPr>
          <p:cNvPr id="46" name="Shape 43"/>
          <p:cNvSpPr/>
          <p:nvPr/>
        </p:nvSpPr>
        <p:spPr>
          <a:xfrm>
            <a:off x="7262677" y="3703320"/>
            <a:ext cx="880165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262677" y="3703320"/>
            <a:ext cx="8801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did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8215994" y="3703320"/>
            <a:ext cx="720547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15994" y="3703320"/>
            <a:ext cx="7205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you</a:t>
            </a:r>
            <a:endParaRPr lang="en-US" sz="2000" dirty="0"/>
          </a:p>
        </p:txBody>
      </p:sp>
      <p:sp>
        <p:nvSpPr>
          <p:cNvPr id="50" name="Shape 47"/>
          <p:cNvSpPr/>
          <p:nvPr/>
        </p:nvSpPr>
        <p:spPr>
          <a:xfrm>
            <a:off x="9009693" y="3703320"/>
            <a:ext cx="1519221" cy="548640"/>
          </a:xfrm>
          <a:prstGeom prst="roundRect">
            <a:avLst>
              <a:gd name="adj" fmla="val 16667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9009693" y="3703320"/>
            <a:ext cx="15192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6"/>
                </a:solidFill>
              </a:rPr>
              <a:t>travel?</a:t>
            </a:r>
            <a:endParaRPr lang="en-US" sz="2000" dirty="0"/>
          </a:p>
        </p:txBody>
      </p:sp>
      <p:sp>
        <p:nvSpPr>
          <p:cNvPr id="52" name="Shape 49"/>
          <p:cNvSpPr/>
          <p:nvPr/>
        </p:nvSpPr>
        <p:spPr>
          <a:xfrm>
            <a:off x="548640" y="452628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E8F4EC"/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77240" y="45262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Q</a:t>
            </a:r>
            <a:r>
              <a:rPr lang="en-US" sz="1800" dirty="0">
                <a:solidFill>
                  <a:schemeClr val="accent3"/>
                </a:solidFill>
              </a:rPr>
              <a:t>uestion word · </a:t>
            </a:r>
            <a:r>
              <a:rPr lang="en-US" sz="1800" b="1" dirty="0">
                <a:solidFill>
                  <a:schemeClr val="accent3"/>
                </a:solidFill>
              </a:rPr>
              <a:t>A</a:t>
            </a:r>
            <a:r>
              <a:rPr lang="en-US" sz="1800" dirty="0">
                <a:solidFill>
                  <a:schemeClr val="accent3"/>
                </a:solidFill>
              </a:rPr>
              <a:t>uxiliary (</a:t>
            </a:r>
            <a:r>
              <a:rPr lang="en-US" sz="1800" i="1" dirty="0">
                <a:solidFill>
                  <a:schemeClr val="accent3"/>
                </a:solidFill>
              </a:rPr>
              <a:t>did</a:t>
            </a:r>
            <a:r>
              <a:rPr lang="en-US" sz="1800" dirty="0">
                <a:solidFill>
                  <a:schemeClr val="accent3"/>
                </a:solidFill>
              </a:rPr>
              <a:t>) · </a:t>
            </a:r>
            <a:r>
              <a:rPr lang="en-US" sz="1800" b="1" dirty="0">
                <a:solidFill>
                  <a:schemeClr val="accent3"/>
                </a:solidFill>
              </a:rPr>
              <a:t>S</a:t>
            </a:r>
            <a:r>
              <a:rPr lang="en-US" sz="1800" dirty="0">
                <a:solidFill>
                  <a:schemeClr val="accent3"/>
                </a:solidFill>
              </a:rPr>
              <a:t>ubject · </a:t>
            </a:r>
            <a:r>
              <a:rPr lang="en-US" sz="1800" b="1" dirty="0">
                <a:solidFill>
                  <a:schemeClr val="accent3"/>
                </a:solidFill>
              </a:rPr>
              <a:t>I</a:t>
            </a:r>
            <a:r>
              <a:rPr lang="en-US" sz="1800" dirty="0">
                <a:solidFill>
                  <a:schemeClr val="accent3"/>
                </a:solidFill>
              </a:rPr>
              <a:t>nfinitive (la base)   →   </a:t>
            </a:r>
            <a:r>
              <a:rPr lang="en-US" sz="1800" b="1" dirty="0">
                <a:solidFill>
                  <a:schemeClr val="accent3"/>
                </a:solidFill>
              </a:rPr>
              <a:t>QUASI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548640" y="5715000"/>
            <a:ext cx="11091672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22960" y="57150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Le même ordre que </a:t>
            </a:r>
            <a:r>
              <a:rPr lang="en-US" sz="1600" i="1" dirty="0">
                <a:solidFill>
                  <a:schemeClr val="bg1"/>
                </a:solidFill>
              </a:rPr>
              <a:t>Did…?</a:t>
            </a:r>
            <a:r>
              <a:rPr lang="en-US" sz="1600" dirty="0">
                <a:solidFill>
                  <a:schemeClr val="bg1"/>
                </a:solidFill>
              </a:rPr>
              <a:t>, avec le </a:t>
            </a:r>
            <a:r>
              <a:rPr lang="en-US" sz="1600" b="1" dirty="0">
                <a:solidFill>
                  <a:schemeClr val="bg1"/>
                </a:solidFill>
              </a:rPr>
              <a:t>mot interrogatif devant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One sentence, four ways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4752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COMPARISON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44752"/>
            <a:ext cx="11091672" cy="877824"/>
          </a:xfrm>
          <a:prstGeom prst="roundRect">
            <a:avLst>
              <a:gd name="adj" fmla="val 10417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554480"/>
            <a:ext cx="658368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554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92" b="1" dirty="0">
                <a:solidFill>
                  <a:schemeClr val="bg1"/>
                </a:solidFill>
              </a:rPr>
              <a:t>+</a:t>
            </a:r>
            <a:endParaRPr lang="en-US" sz="2592" dirty="0"/>
          </a:p>
        </p:txBody>
      </p:sp>
      <p:sp>
        <p:nvSpPr>
          <p:cNvPr id="8" name="Shape 5"/>
          <p:cNvSpPr/>
          <p:nvPr/>
        </p:nvSpPr>
        <p:spPr>
          <a:xfrm>
            <a:off x="1783080" y="1554480"/>
            <a:ext cx="977311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783080" y="1554480"/>
            <a:ext cx="9773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chemeClr val="tx1"/>
                </a:solidFill>
              </a:rPr>
              <a:t>They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833543" y="1554480"/>
            <a:ext cx="1167740" cy="658368"/>
          </a:xfrm>
          <a:prstGeom prst="roundRect">
            <a:avLst>
              <a:gd name="adj" fmla="val 13889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33543" y="1554480"/>
            <a:ext cx="11677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chemeClr val="accent6"/>
                </a:solidFill>
              </a:rPr>
              <a:t>play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019571" y="1554480"/>
            <a:ext cx="674578" cy="658368"/>
          </a:xfrm>
          <a:prstGeom prst="roundRect">
            <a:avLst>
              <a:gd name="adj" fmla="val 1388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019571" y="1554480"/>
            <a:ext cx="6745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chemeClr val="bg1"/>
                </a:solidFill>
              </a:rPr>
              <a:t>ed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4767301" y="1554480"/>
            <a:ext cx="131966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67301" y="1554480"/>
            <a:ext cx="13196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chemeClr val="tx1"/>
                </a:solidFill>
              </a:rPr>
              <a:t>tennis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6160115" y="1554480"/>
            <a:ext cx="2318041" cy="658368"/>
          </a:xfrm>
          <a:prstGeom prst="roundRect">
            <a:avLst>
              <a:gd name="adj" fmla="val 13889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60115" y="1554480"/>
            <a:ext cx="23180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chemeClr val="accent1"/>
                </a:solidFill>
              </a:rPr>
              <a:t>yesterday.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548640" y="2432304"/>
            <a:ext cx="11091672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" y="2542032"/>
            <a:ext cx="658368" cy="658368"/>
          </a:xfrm>
          <a:prstGeom prst="roundRect">
            <a:avLst>
              <a:gd name="adj" fmla="val 13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25420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92" b="1" dirty="0">
                <a:solidFill>
                  <a:schemeClr val="bg1"/>
                </a:solidFill>
              </a:rPr>
              <a:t>−</a:t>
            </a:r>
            <a:endParaRPr lang="en-US" sz="2592" dirty="0"/>
          </a:p>
        </p:txBody>
      </p:sp>
      <p:sp>
        <p:nvSpPr>
          <p:cNvPr id="21" name="Shape 18"/>
          <p:cNvSpPr/>
          <p:nvPr/>
        </p:nvSpPr>
        <p:spPr>
          <a:xfrm>
            <a:off x="1783080" y="2542032"/>
            <a:ext cx="977311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783080" y="2542032"/>
            <a:ext cx="9773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chemeClr val="tx1"/>
                </a:solidFill>
              </a:rPr>
              <a:t>They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2833543" y="2542032"/>
            <a:ext cx="976023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833543" y="2542032"/>
            <a:ext cx="9760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chemeClr val="bg1"/>
                </a:solidFill>
              </a:rPr>
              <a:t>did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3827854" y="2542032"/>
            <a:ext cx="866295" cy="658368"/>
          </a:xfrm>
          <a:prstGeom prst="roundRect">
            <a:avLst>
              <a:gd name="adj" fmla="val 13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827854" y="2542032"/>
            <a:ext cx="866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chemeClr val="bg1"/>
                </a:solidFill>
              </a:rPr>
              <a:t>n’t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4767301" y="2542032"/>
            <a:ext cx="1167740" cy="658368"/>
          </a:xfrm>
          <a:prstGeom prst="roundRect">
            <a:avLst>
              <a:gd name="adj" fmla="val 13889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67301" y="2542032"/>
            <a:ext cx="11677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chemeClr val="accent6"/>
                </a:solidFill>
              </a:rPr>
              <a:t>play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6008193" y="2542032"/>
            <a:ext cx="131966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008193" y="2542032"/>
            <a:ext cx="13196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chemeClr val="tx1"/>
                </a:solidFill>
              </a:rPr>
              <a:t>tennis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7401007" y="2542032"/>
            <a:ext cx="2318041" cy="658368"/>
          </a:xfrm>
          <a:prstGeom prst="roundRect">
            <a:avLst>
              <a:gd name="adj" fmla="val 13889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01007" y="2542032"/>
            <a:ext cx="23180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chemeClr val="accent1"/>
                </a:solidFill>
              </a:rPr>
              <a:t>yesterday.</a:t>
            </a:r>
            <a:endParaRPr lang="en-US" sz="2400" dirty="0"/>
          </a:p>
        </p:txBody>
      </p:sp>
      <p:sp>
        <p:nvSpPr>
          <p:cNvPr id="33" name="Shape 30"/>
          <p:cNvSpPr/>
          <p:nvPr/>
        </p:nvSpPr>
        <p:spPr>
          <a:xfrm>
            <a:off x="548640" y="3419856"/>
            <a:ext cx="11091672" cy="877824"/>
          </a:xfrm>
          <a:prstGeom prst="roundRect">
            <a:avLst>
              <a:gd name="adj" fmla="val 10417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85800" y="3529584"/>
            <a:ext cx="658368" cy="658368"/>
          </a:xfrm>
          <a:prstGeom prst="roundRect">
            <a:avLst>
              <a:gd name="adj" fmla="val 13889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85800" y="35295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92" b="1" dirty="0">
                <a:solidFill>
                  <a:schemeClr val="bg1"/>
                </a:solidFill>
              </a:rPr>
              <a:t>?</a:t>
            </a:r>
            <a:endParaRPr lang="en-US" sz="2592" dirty="0"/>
          </a:p>
        </p:txBody>
      </p:sp>
      <p:sp>
        <p:nvSpPr>
          <p:cNvPr id="36" name="Shape 33"/>
          <p:cNvSpPr/>
          <p:nvPr/>
        </p:nvSpPr>
        <p:spPr>
          <a:xfrm>
            <a:off x="1783080" y="3529584"/>
            <a:ext cx="976023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783080" y="3529584"/>
            <a:ext cx="9760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chemeClr val="bg1"/>
                </a:solidFill>
              </a:rPr>
              <a:t>Did</a:t>
            </a:r>
            <a:endParaRPr lang="en-US" sz="2400" dirty="0"/>
          </a:p>
        </p:txBody>
      </p:sp>
      <p:sp>
        <p:nvSpPr>
          <p:cNvPr id="38" name="Shape 35"/>
          <p:cNvSpPr/>
          <p:nvPr/>
        </p:nvSpPr>
        <p:spPr>
          <a:xfrm>
            <a:off x="2832255" y="3529584"/>
            <a:ext cx="977311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832255" y="3529584"/>
            <a:ext cx="9773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chemeClr val="tx1"/>
                </a:solidFill>
              </a:rPr>
              <a:t>they</a:t>
            </a:r>
            <a:endParaRPr lang="en-US" sz="2400" dirty="0"/>
          </a:p>
        </p:txBody>
      </p:sp>
      <p:sp>
        <p:nvSpPr>
          <p:cNvPr id="40" name="Shape 37"/>
          <p:cNvSpPr/>
          <p:nvPr/>
        </p:nvSpPr>
        <p:spPr>
          <a:xfrm>
            <a:off x="3882718" y="3529584"/>
            <a:ext cx="1167740" cy="658368"/>
          </a:xfrm>
          <a:prstGeom prst="roundRect">
            <a:avLst>
              <a:gd name="adj" fmla="val 13889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882718" y="3529584"/>
            <a:ext cx="11677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chemeClr val="accent6"/>
                </a:solidFill>
              </a:rPr>
              <a:t>play</a:t>
            </a:r>
            <a:endParaRPr lang="en-US" sz="2400" dirty="0"/>
          </a:p>
        </p:txBody>
      </p:sp>
      <p:sp>
        <p:nvSpPr>
          <p:cNvPr id="42" name="Shape 39"/>
          <p:cNvSpPr/>
          <p:nvPr/>
        </p:nvSpPr>
        <p:spPr>
          <a:xfrm>
            <a:off x="5123610" y="3529584"/>
            <a:ext cx="131966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123610" y="3529584"/>
            <a:ext cx="13196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chemeClr val="tx1"/>
                </a:solidFill>
              </a:rPr>
              <a:t>tennis</a:t>
            </a:r>
            <a:endParaRPr lang="en-US" sz="2400" dirty="0"/>
          </a:p>
        </p:txBody>
      </p:sp>
      <p:sp>
        <p:nvSpPr>
          <p:cNvPr id="44" name="Shape 41"/>
          <p:cNvSpPr/>
          <p:nvPr/>
        </p:nvSpPr>
        <p:spPr>
          <a:xfrm>
            <a:off x="6516424" y="3529584"/>
            <a:ext cx="2318041" cy="658368"/>
          </a:xfrm>
          <a:prstGeom prst="roundRect">
            <a:avLst>
              <a:gd name="adj" fmla="val 13889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516424" y="3529584"/>
            <a:ext cx="23180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chemeClr val="accent1"/>
                </a:solidFill>
              </a:rPr>
              <a:t>yesterday?</a:t>
            </a:r>
            <a:endParaRPr lang="en-US" sz="2400" dirty="0"/>
          </a:p>
        </p:txBody>
      </p:sp>
      <p:sp>
        <p:nvSpPr>
          <p:cNvPr id="46" name="Shape 43"/>
          <p:cNvSpPr/>
          <p:nvPr/>
        </p:nvSpPr>
        <p:spPr>
          <a:xfrm>
            <a:off x="548640" y="4407408"/>
            <a:ext cx="11091672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85800" y="4517136"/>
            <a:ext cx="868680" cy="658368"/>
          </a:xfrm>
          <a:prstGeom prst="roundRect">
            <a:avLst>
              <a:gd name="adj" fmla="val 13889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85800" y="4517136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chemeClr val="bg1"/>
                </a:solidFill>
              </a:rPr>
              <a:t>Wh?</a:t>
            </a:r>
            <a:endParaRPr lang="en-US" sz="1584" dirty="0"/>
          </a:p>
        </p:txBody>
      </p:sp>
      <p:sp>
        <p:nvSpPr>
          <p:cNvPr id="49" name="Shape 46"/>
          <p:cNvSpPr/>
          <p:nvPr/>
        </p:nvSpPr>
        <p:spPr>
          <a:xfrm>
            <a:off x="1783080" y="4517136"/>
            <a:ext cx="1167740" cy="658368"/>
          </a:xfrm>
          <a:prstGeom prst="roundRect">
            <a:avLst>
              <a:gd name="adj" fmla="val 13889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783080" y="4517136"/>
            <a:ext cx="11677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chemeClr val="bg1"/>
                </a:solidFill>
              </a:rPr>
              <a:t>When</a:t>
            </a:r>
            <a:endParaRPr lang="en-US" sz="2400" dirty="0"/>
          </a:p>
        </p:txBody>
      </p:sp>
      <p:sp>
        <p:nvSpPr>
          <p:cNvPr id="51" name="Shape 48"/>
          <p:cNvSpPr/>
          <p:nvPr/>
        </p:nvSpPr>
        <p:spPr>
          <a:xfrm>
            <a:off x="3023972" y="4517136"/>
            <a:ext cx="976023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3023972" y="4517136"/>
            <a:ext cx="9760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chemeClr val="bg1"/>
                </a:solidFill>
              </a:rPr>
              <a:t>did</a:t>
            </a:r>
            <a:endParaRPr lang="en-US" sz="2400" dirty="0"/>
          </a:p>
        </p:txBody>
      </p:sp>
      <p:sp>
        <p:nvSpPr>
          <p:cNvPr id="53" name="Shape 50"/>
          <p:cNvSpPr/>
          <p:nvPr/>
        </p:nvSpPr>
        <p:spPr>
          <a:xfrm>
            <a:off x="4073147" y="4517136"/>
            <a:ext cx="977311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4073147" y="4517136"/>
            <a:ext cx="9773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chemeClr val="tx1"/>
                </a:solidFill>
              </a:rPr>
              <a:t>they</a:t>
            </a:r>
            <a:endParaRPr lang="en-US" sz="2400" dirty="0"/>
          </a:p>
        </p:txBody>
      </p:sp>
      <p:sp>
        <p:nvSpPr>
          <p:cNvPr id="55" name="Shape 52"/>
          <p:cNvSpPr/>
          <p:nvPr/>
        </p:nvSpPr>
        <p:spPr>
          <a:xfrm>
            <a:off x="5123610" y="4517136"/>
            <a:ext cx="1167740" cy="658368"/>
          </a:xfrm>
          <a:prstGeom prst="roundRect">
            <a:avLst>
              <a:gd name="adj" fmla="val 13889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5123610" y="4517136"/>
            <a:ext cx="11677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chemeClr val="accent6"/>
                </a:solidFill>
              </a:rPr>
              <a:t>play</a:t>
            </a:r>
            <a:endParaRPr lang="en-US" sz="2400" dirty="0"/>
          </a:p>
        </p:txBody>
      </p:sp>
      <p:sp>
        <p:nvSpPr>
          <p:cNvPr id="57" name="Shape 54"/>
          <p:cNvSpPr/>
          <p:nvPr/>
        </p:nvSpPr>
        <p:spPr>
          <a:xfrm>
            <a:off x="6364502" y="4517136"/>
            <a:ext cx="1490838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364502" y="4517136"/>
            <a:ext cx="14908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chemeClr val="tx1"/>
                </a:solidFill>
              </a:rPr>
              <a:t>tennis?</a:t>
            </a:r>
            <a:endParaRPr lang="en-US" sz="2400" dirty="0"/>
          </a:p>
        </p:txBody>
      </p:sp>
      <p:sp>
        <p:nvSpPr>
          <p:cNvPr id="59" name="Shape 56"/>
          <p:cNvSpPr/>
          <p:nvPr/>
        </p:nvSpPr>
        <p:spPr>
          <a:xfrm>
            <a:off x="9464040" y="3529584"/>
            <a:ext cx="2011680" cy="310896"/>
          </a:xfrm>
          <a:prstGeom prst="roundRect">
            <a:avLst>
              <a:gd name="adj" fmla="val 35294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464040" y="35295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bg1"/>
                </a:solidFill>
              </a:rPr>
              <a:t>Yes, they did.</a:t>
            </a:r>
            <a:endParaRPr lang="en-US" sz="1300" dirty="0"/>
          </a:p>
        </p:txBody>
      </p:sp>
      <p:sp>
        <p:nvSpPr>
          <p:cNvPr id="61" name="Shape 58"/>
          <p:cNvSpPr/>
          <p:nvPr/>
        </p:nvSpPr>
        <p:spPr>
          <a:xfrm>
            <a:off x="9464040" y="3877056"/>
            <a:ext cx="2011680" cy="310896"/>
          </a:xfrm>
          <a:prstGeom prst="roundRect">
            <a:avLst>
              <a:gd name="adj" fmla="val 35294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464040" y="387705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bg1"/>
                </a:solidFill>
              </a:rPr>
              <a:t>No, they didn’t.</a:t>
            </a:r>
            <a:endParaRPr lang="en-US" sz="1300" dirty="0"/>
          </a:p>
        </p:txBody>
      </p:sp>
      <p:sp>
        <p:nvSpPr>
          <p:cNvPr id="63" name="Shape 60"/>
          <p:cNvSpPr/>
          <p:nvPr/>
        </p:nvSpPr>
        <p:spPr>
          <a:xfrm>
            <a:off x="9464040" y="4681728"/>
            <a:ext cx="2011680" cy="365760"/>
          </a:xfrm>
          <a:prstGeom prst="roundRect">
            <a:avLst>
              <a:gd name="adj" fmla="val 30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9464040" y="4681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bg1"/>
                </a:solidFill>
              </a:rPr>
              <a:t>Yesterday!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they · tennis · yesterday</a:t>
            </a:r>
            <a:r>
              <a:rPr lang="en-US" sz="1600" dirty="0">
                <a:solidFill>
                  <a:schemeClr val="bg1"/>
                </a:solidFill>
              </a:rPr>
              <a:t> ne bougent pas : seule la </a:t>
            </a:r>
            <a:r>
              <a:rPr lang="en-US" sz="1600" b="1" dirty="0">
                <a:solidFill>
                  <a:schemeClr val="bg1"/>
                </a:solidFill>
              </a:rPr>
              <a:t>zone du verbe</a:t>
            </a:r>
            <a:r>
              <a:rPr lang="en-US" sz="1600" dirty="0">
                <a:solidFill>
                  <a:schemeClr val="bg1"/>
                </a:solidFill>
              </a:rPr>
              <a:t> change.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No did! be, and who as the subject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4752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EXCEPTIONS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4068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25400">
            <a:solidFill>
              <a:srgbClr val="B83227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463040"/>
            <a:ext cx="5440680" cy="502920"/>
          </a:xfrm>
          <a:prstGeom prst="roundRect">
            <a:avLst>
              <a:gd name="adj" fmla="val 21818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46304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BE : was / were</a:t>
            </a:r>
            <a:r>
              <a:rPr lang="en-US" sz="1700" dirty="0">
                <a:solidFill>
                  <a:schemeClr val="bg1"/>
                </a:solidFill>
              </a:rPr>
              <a:t> → no </a:t>
            </a:r>
            <a:r>
              <a:rPr lang="en-US" sz="1700" i="1" dirty="0">
                <a:solidFill>
                  <a:schemeClr val="bg1"/>
                </a:solidFill>
              </a:rPr>
              <a:t>did</a:t>
            </a:r>
            <a:r>
              <a:rPr lang="en-US" sz="1700" dirty="0">
                <a:solidFill>
                  <a:schemeClr val="bg1"/>
                </a:solidFill>
              </a:rPr>
              <a:t> !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77240" y="2231136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231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+</a:t>
            </a:r>
            <a:endParaRPr lang="en-US" sz="1872" dirty="0"/>
          </a:p>
        </p:txBody>
      </p:sp>
      <p:sp>
        <p:nvSpPr>
          <p:cNvPr id="10" name="Shape 7"/>
          <p:cNvSpPr/>
          <p:nvPr/>
        </p:nvSpPr>
        <p:spPr>
          <a:xfrm>
            <a:off x="1463040" y="2194560"/>
            <a:ext cx="435254" cy="548640"/>
          </a:xfrm>
          <a:prstGeom prst="roundRect">
            <a:avLst>
              <a:gd name="adj" fmla="val 21008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63040" y="2194560"/>
            <a:ext cx="435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1971446" y="2194560"/>
            <a:ext cx="880165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971446" y="2194560"/>
            <a:ext cx="8801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was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651406" y="2779776"/>
            <a:ext cx="15202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WAS / WERE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924763" y="2194560"/>
            <a:ext cx="1148486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24763" y="2194560"/>
            <a:ext cx="11484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tired.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777240" y="3099816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099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−</a:t>
            </a:r>
            <a:endParaRPr lang="en-US" sz="1872" dirty="0"/>
          </a:p>
        </p:txBody>
      </p:sp>
      <p:sp>
        <p:nvSpPr>
          <p:cNvPr id="19" name="Shape 16"/>
          <p:cNvSpPr/>
          <p:nvPr/>
        </p:nvSpPr>
        <p:spPr>
          <a:xfrm>
            <a:off x="1463040" y="3063240"/>
            <a:ext cx="435254" cy="548640"/>
          </a:xfrm>
          <a:prstGeom prst="roundRect">
            <a:avLst>
              <a:gd name="adj" fmla="val 21008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463040" y="3063240"/>
            <a:ext cx="435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I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1971446" y="3063240"/>
            <a:ext cx="880165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971446" y="3063240"/>
            <a:ext cx="8801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was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2869899" y="3063240"/>
            <a:ext cx="770437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869899" y="3063240"/>
            <a:ext cx="77043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n’t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2549859" y="3648456"/>
            <a:ext cx="14105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6"/>
                </a:solidFill>
              </a:rPr>
              <a:t>NOT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713488" y="3063240"/>
            <a:ext cx="1148486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713488" y="3063240"/>
            <a:ext cx="11484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tired.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777240" y="3968496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3968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?</a:t>
            </a:r>
            <a:endParaRPr lang="en-US" sz="1872" dirty="0"/>
          </a:p>
        </p:txBody>
      </p:sp>
      <p:sp>
        <p:nvSpPr>
          <p:cNvPr id="30" name="Shape 27"/>
          <p:cNvSpPr/>
          <p:nvPr/>
        </p:nvSpPr>
        <p:spPr>
          <a:xfrm>
            <a:off x="1463040" y="3931920"/>
            <a:ext cx="1039929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463040" y="3931920"/>
            <a:ext cx="10399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Were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4517136"/>
            <a:ext cx="16800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WERE first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576121" y="3931920"/>
            <a:ext cx="720547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576121" y="3931920"/>
            <a:ext cx="7205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you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3369820" y="3931920"/>
            <a:ext cx="1148486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369820" y="3931920"/>
            <a:ext cx="11484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tired?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777240" y="4846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chemeClr val="accent6"/>
                </a:solidFill>
              </a:rPr>
              <a:t>✗ </a:t>
            </a:r>
            <a:r>
              <a:rPr lang="en-US" sz="1450" i="1" dirty="0">
                <a:solidFill>
                  <a:schemeClr val="accent6"/>
                </a:solidFill>
              </a:rPr>
              <a:t>Did you were tired?</a:t>
            </a:r>
            <a:r>
              <a:rPr lang="en-US" sz="1450" dirty="0">
                <a:solidFill>
                  <a:schemeClr val="accent6"/>
                </a:solidFill>
              </a:rPr>
              <a:t> · ✗ </a:t>
            </a:r>
            <a:r>
              <a:rPr lang="en-US" sz="1450" i="1" dirty="0">
                <a:solidFill>
                  <a:schemeClr val="accent6"/>
                </a:solidFill>
              </a:rPr>
              <a:t>I didn’t be tired.</a:t>
            </a:r>
            <a:endParaRPr lang="en-US" sz="1450" dirty="0"/>
          </a:p>
        </p:txBody>
      </p:sp>
      <p:sp>
        <p:nvSpPr>
          <p:cNvPr id="38" name="Shape 35"/>
          <p:cNvSpPr/>
          <p:nvPr/>
        </p:nvSpPr>
        <p:spPr>
          <a:xfrm>
            <a:off x="6199632" y="1463040"/>
            <a:ext cx="544068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199632" y="1463040"/>
            <a:ext cx="5440680" cy="502920"/>
          </a:xfrm>
          <a:prstGeom prst="roundRect">
            <a:avLst>
              <a:gd name="adj" fmla="val 21818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146304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WHO / WHAT = the subject</a:t>
            </a:r>
            <a:r>
              <a:rPr lang="en-US" sz="1700" dirty="0">
                <a:solidFill>
                  <a:schemeClr val="bg1"/>
                </a:solidFill>
              </a:rPr>
              <a:t> → no </a:t>
            </a:r>
            <a:r>
              <a:rPr lang="en-US" sz="1700" i="1" dirty="0">
                <a:solidFill>
                  <a:schemeClr val="bg1"/>
                </a:solidFill>
              </a:rPr>
              <a:t>did</a:t>
            </a:r>
            <a:r>
              <a:rPr lang="en-US" sz="1700" dirty="0">
                <a:solidFill>
                  <a:schemeClr val="bg1"/>
                </a:solidFill>
              </a:rPr>
              <a:t> !</a:t>
            </a:r>
            <a:endParaRPr lang="en-US" sz="1700" dirty="0"/>
          </a:p>
        </p:txBody>
      </p:sp>
      <p:sp>
        <p:nvSpPr>
          <p:cNvPr id="41" name="Shape 38"/>
          <p:cNvSpPr/>
          <p:nvPr/>
        </p:nvSpPr>
        <p:spPr>
          <a:xfrm>
            <a:off x="6446520" y="2194560"/>
            <a:ext cx="880165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446520" y="2194560"/>
            <a:ext cx="8801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Who</a:t>
            </a:r>
            <a:endParaRPr lang="en-US" sz="2000" dirty="0"/>
          </a:p>
        </p:txBody>
      </p:sp>
      <p:sp>
        <p:nvSpPr>
          <p:cNvPr id="43" name="Text 40"/>
          <p:cNvSpPr txBox="1"/>
          <p:nvPr/>
        </p:nvSpPr>
        <p:spPr>
          <a:xfrm>
            <a:off x="6126480" y="2779776"/>
            <a:ext cx="15202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3"/>
                </a:solidFill>
              </a:rPr>
              <a:t>SUBJECT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7399837" y="2194560"/>
            <a:ext cx="1359457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399837" y="2194560"/>
            <a:ext cx="135945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called</a:t>
            </a:r>
            <a:endParaRPr lang="en-US" sz="2000" dirty="0"/>
          </a:p>
        </p:txBody>
      </p:sp>
      <p:sp>
        <p:nvSpPr>
          <p:cNvPr id="46" name="Text 43"/>
          <p:cNvSpPr txBox="1"/>
          <p:nvPr/>
        </p:nvSpPr>
        <p:spPr>
          <a:xfrm>
            <a:off x="7079797" y="2779776"/>
            <a:ext cx="19995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PAST FORM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8832446" y="2194560"/>
            <a:ext cx="863194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832446" y="2194560"/>
            <a:ext cx="863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you?</a:t>
            </a:r>
            <a:endParaRPr lang="en-US" sz="2000" dirty="0"/>
          </a:p>
        </p:txBody>
      </p:sp>
      <p:sp>
        <p:nvSpPr>
          <p:cNvPr id="49" name="Shape 46"/>
          <p:cNvSpPr/>
          <p:nvPr/>
        </p:nvSpPr>
        <p:spPr>
          <a:xfrm>
            <a:off x="6446520" y="3063240"/>
            <a:ext cx="1039929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446520" y="3063240"/>
            <a:ext cx="10399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What</a:t>
            </a:r>
            <a:endParaRPr lang="en-US" sz="2000" dirty="0"/>
          </a:p>
        </p:txBody>
      </p:sp>
      <p:sp>
        <p:nvSpPr>
          <p:cNvPr id="51" name="Text 48"/>
          <p:cNvSpPr txBox="1"/>
          <p:nvPr/>
        </p:nvSpPr>
        <p:spPr>
          <a:xfrm>
            <a:off x="6126480" y="3648456"/>
            <a:ext cx="16800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3"/>
                </a:solidFill>
              </a:rPr>
              <a:t>SUBJECT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7559601" y="3063240"/>
            <a:ext cx="1838749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559601" y="3063240"/>
            <a:ext cx="1838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happened?</a:t>
            </a:r>
            <a:endParaRPr lang="en-US" sz="2000" dirty="0"/>
          </a:p>
        </p:txBody>
      </p:sp>
      <p:sp>
        <p:nvSpPr>
          <p:cNvPr id="54" name="Text 51"/>
          <p:cNvSpPr txBox="1"/>
          <p:nvPr/>
        </p:nvSpPr>
        <p:spPr>
          <a:xfrm>
            <a:off x="7239561" y="3648456"/>
            <a:ext cx="2478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PAST FORM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6446520" y="4041648"/>
            <a:ext cx="4937760" cy="914"/>
          </a:xfrm>
          <a:prstGeom prst="line">
            <a:avLst/>
          </a:prstGeom>
          <a:noFill/>
          <a:ln w="12700">
            <a:solidFill>
              <a:srgbClr val="D5DCE6"/>
            </a:solidFill>
            <a:prstDash val="dash"/>
          </a:ln>
        </p:spPr>
      </p:sp>
      <p:sp>
        <p:nvSpPr>
          <p:cNvPr id="56" name="Text 53"/>
          <p:cNvSpPr txBox="1"/>
          <p:nvPr/>
        </p:nvSpPr>
        <p:spPr>
          <a:xfrm>
            <a:off x="644652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≠ </a:t>
            </a:r>
            <a:r>
              <a:rPr lang="en-US" sz="1300" i="1" dirty="0">
                <a:solidFill>
                  <a:schemeClr val="accent5"/>
                </a:solidFill>
              </a:rPr>
              <a:t>Who</a:t>
            </a:r>
            <a:r>
              <a:rPr lang="en-US" sz="1300" i="1" dirty="0">
                <a:solidFill>
                  <a:schemeClr val="accent5"/>
                </a:solidFill>
              </a:rPr>
              <a:t> = the object → </a:t>
            </a:r>
            <a:r>
              <a:rPr lang="en-US" sz="1300" i="1" dirty="0">
                <a:solidFill>
                  <a:schemeClr val="accent5"/>
                </a:solidFill>
              </a:rPr>
              <a:t>did</a:t>
            </a:r>
            <a:r>
              <a:rPr lang="en-US" sz="1300" i="1" dirty="0">
                <a:solidFill>
                  <a:schemeClr val="accent5"/>
                </a:solidFill>
              </a:rPr>
              <a:t> + base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6446520" y="4480560"/>
            <a:ext cx="880165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46520" y="4480560"/>
            <a:ext cx="8801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Who</a:t>
            </a:r>
            <a:endParaRPr lang="en-US" sz="2000" dirty="0"/>
          </a:p>
        </p:txBody>
      </p:sp>
      <p:sp>
        <p:nvSpPr>
          <p:cNvPr id="59" name="Text 56"/>
          <p:cNvSpPr txBox="1"/>
          <p:nvPr/>
        </p:nvSpPr>
        <p:spPr>
          <a:xfrm>
            <a:off x="6126480" y="5065776"/>
            <a:ext cx="15202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3"/>
                </a:solidFill>
              </a:rPr>
              <a:t>OBJECT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7399837" y="4480560"/>
            <a:ext cx="880165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7399837" y="4480560"/>
            <a:ext cx="8801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did</a:t>
            </a:r>
            <a:endParaRPr lang="en-US" sz="2000" dirty="0"/>
          </a:p>
        </p:txBody>
      </p:sp>
      <p:sp>
        <p:nvSpPr>
          <p:cNvPr id="62" name="Text 59"/>
          <p:cNvSpPr txBox="1"/>
          <p:nvPr/>
        </p:nvSpPr>
        <p:spPr>
          <a:xfrm>
            <a:off x="7079797" y="5065776"/>
            <a:ext cx="15202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AUX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8353154" y="4480560"/>
            <a:ext cx="720547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353154" y="4480560"/>
            <a:ext cx="7205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you</a:t>
            </a:r>
            <a:endParaRPr lang="en-US" sz="2000" dirty="0"/>
          </a:p>
        </p:txBody>
      </p:sp>
      <p:sp>
        <p:nvSpPr>
          <p:cNvPr id="65" name="Text 62"/>
          <p:cNvSpPr txBox="1"/>
          <p:nvPr/>
        </p:nvSpPr>
        <p:spPr>
          <a:xfrm>
            <a:off x="8033114" y="5065776"/>
            <a:ext cx="13606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SUBJECT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9146853" y="4480560"/>
            <a:ext cx="1199693" cy="548640"/>
          </a:xfrm>
          <a:prstGeom prst="roundRect">
            <a:avLst>
              <a:gd name="adj" fmla="val 16667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146853" y="4480560"/>
            <a:ext cx="11996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6"/>
                </a:solidFill>
              </a:rPr>
              <a:t>call?</a:t>
            </a:r>
            <a:endParaRPr lang="en-US" sz="2000" dirty="0"/>
          </a:p>
        </p:txBody>
      </p:sp>
      <p:sp>
        <p:nvSpPr>
          <p:cNvPr id="68" name="Text 65"/>
          <p:cNvSpPr txBox="1"/>
          <p:nvPr/>
        </p:nvSpPr>
        <p:spPr>
          <a:xfrm>
            <a:off x="8826813" y="5065776"/>
            <a:ext cx="18397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6"/>
                </a:solidFill>
              </a:rPr>
              <a:t>BASE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548640" y="5715000"/>
            <a:ext cx="11091672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22960" y="57150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Pas de </a:t>
            </a:r>
            <a:r>
              <a:rPr lang="en-US" sz="1600" i="1" dirty="0">
                <a:solidFill>
                  <a:schemeClr val="bg1"/>
                </a:solidFill>
              </a:rPr>
              <a:t>did</a:t>
            </a:r>
            <a:r>
              <a:rPr lang="en-US" sz="1600" dirty="0">
                <a:solidFill>
                  <a:schemeClr val="bg1"/>
                </a:solidFill>
              </a:rPr>
              <a:t> avec </a:t>
            </a:r>
            <a:r>
              <a:rPr lang="en-US" sz="1600" i="1" dirty="0">
                <a:solidFill>
                  <a:schemeClr val="bg1"/>
                </a:solidFill>
              </a:rPr>
              <a:t>be</a:t>
            </a:r>
            <a:r>
              <a:rPr lang="en-US" sz="1600" dirty="0">
                <a:solidFill>
                  <a:schemeClr val="bg1"/>
                </a:solidFill>
              </a:rPr>
              <a:t>, ni quand </a:t>
            </a:r>
            <a:r>
              <a:rPr lang="en-US" sz="1600" i="1" dirty="0">
                <a:solidFill>
                  <a:schemeClr val="bg1"/>
                </a:solidFill>
              </a:rPr>
              <a:t>Who / What</a:t>
            </a:r>
            <a:r>
              <a:rPr lang="en-US" sz="1600" dirty="0">
                <a:solidFill>
                  <a:schemeClr val="bg1"/>
                </a:solidFill>
              </a:rPr>
              <a:t> est le </a:t>
            </a:r>
            <a:r>
              <a:rPr lang="en-US" sz="1600" b="1" dirty="0">
                <a:solidFill>
                  <a:schemeClr val="bg1"/>
                </a:solidFill>
              </a:rPr>
              <a:t>sujet</a:t>
            </a:r>
            <a:r>
              <a:rPr lang="en-US" sz="1600" dirty="0">
                <a:solidFill>
                  <a:schemeClr val="bg1"/>
                </a:solidFill>
              </a:rPr>
              <a:t> de la question.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Remember: the three formulas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REMEMBER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75304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254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463040"/>
            <a:ext cx="3575304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463040"/>
            <a:ext cx="3575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+  AFFIRMATIVE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084832"/>
            <a:ext cx="3300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SUBJECT + PAST FORM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7240" y="2651760"/>
            <a:ext cx="406725" cy="502920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651760"/>
            <a:ext cx="4067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57117" y="2651760"/>
            <a:ext cx="912118" cy="502920"/>
          </a:xfrm>
          <a:prstGeom prst="roundRect">
            <a:avLst>
              <a:gd name="adj" fmla="val 18182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57117" y="2651760"/>
            <a:ext cx="9121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6"/>
                </a:solidFill>
              </a:rPr>
              <a:t>work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187523" y="2651760"/>
            <a:ext cx="674578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87523" y="2651760"/>
            <a:ext cx="674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ed.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77240" y="3337560"/>
            <a:ext cx="406725" cy="502920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337560"/>
            <a:ext cx="4067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257117" y="3337560"/>
            <a:ext cx="1039929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257117" y="3337560"/>
            <a:ext cx="10399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went.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4114800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chemeClr val="tx2"/>
                </a:solidFill>
              </a:rPr>
              <a:t>regular: base + -ed · irregular: learn it!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306824" y="1463040"/>
            <a:ext cx="3575304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25400">
            <a:solidFill>
              <a:srgbClr val="B83227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06824" y="1463040"/>
            <a:ext cx="3575304" cy="54864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306824" y="1463040"/>
            <a:ext cx="3575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−  NEGATIVE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4443984" y="2084832"/>
            <a:ext cx="3300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accent6"/>
                </a:solidFill>
              </a:rPr>
              <a:t>SUBJECT + didn’t + BASE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535424" y="2651760"/>
            <a:ext cx="406725" cy="502920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35424" y="2651760"/>
            <a:ext cx="4067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015301" y="2651760"/>
            <a:ext cx="784306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15301" y="2651760"/>
            <a:ext cx="784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did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817896" y="2651760"/>
            <a:ext cx="674578" cy="502920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817896" y="2651760"/>
            <a:ext cx="674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n’t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565626" y="2651760"/>
            <a:ext cx="1039929" cy="502920"/>
          </a:xfrm>
          <a:prstGeom prst="roundRect">
            <a:avLst>
              <a:gd name="adj" fmla="val 18182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65626" y="2651760"/>
            <a:ext cx="10399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6"/>
                </a:solidFill>
              </a:rPr>
              <a:t>work.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535424" y="3337560"/>
            <a:ext cx="406725" cy="502920"/>
          </a:xfrm>
          <a:prstGeom prst="roundRect">
            <a:avLst>
              <a:gd name="adj" fmla="val 2248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35424" y="3337560"/>
            <a:ext cx="4067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015301" y="3337560"/>
            <a:ext cx="784306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015301" y="3337560"/>
            <a:ext cx="784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did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817896" y="3337560"/>
            <a:ext cx="674578" cy="502920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817896" y="3337560"/>
            <a:ext cx="674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n’t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565626" y="3337560"/>
            <a:ext cx="784306" cy="502920"/>
          </a:xfrm>
          <a:prstGeom prst="roundRect">
            <a:avLst>
              <a:gd name="adj" fmla="val 18182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65626" y="3337560"/>
            <a:ext cx="784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6"/>
                </a:solidFill>
              </a:rPr>
              <a:t>go.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4443984" y="4114800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chemeClr val="tx2"/>
                </a:solidFill>
              </a:rPr>
              <a:t>didn’t = did not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8065008" y="1463040"/>
            <a:ext cx="3575304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8065008" y="1463040"/>
            <a:ext cx="3575304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065008" y="1463040"/>
            <a:ext cx="3575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?  QUESTION</a:t>
            </a:r>
            <a:endParaRPr lang="en-US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8202168" y="2084832"/>
            <a:ext cx="3300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accent3"/>
                </a:solidFill>
              </a:rPr>
              <a:t>(Q) + did + SUBJECT + BASE?</a:t>
            </a:r>
            <a:endParaRPr lang="en-US" sz="1350" dirty="0"/>
          </a:p>
        </p:txBody>
      </p:sp>
      <p:sp>
        <p:nvSpPr>
          <p:cNvPr id="45" name="Shape 42"/>
          <p:cNvSpPr/>
          <p:nvPr/>
        </p:nvSpPr>
        <p:spPr>
          <a:xfrm>
            <a:off x="8293608" y="2651760"/>
            <a:ext cx="784306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293608" y="2651760"/>
            <a:ext cx="784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Did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9151066" y="2651760"/>
            <a:ext cx="634959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151066" y="2651760"/>
            <a:ext cx="63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you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9859178" y="2651760"/>
            <a:ext cx="1039929" cy="502920"/>
          </a:xfrm>
          <a:prstGeom prst="roundRect">
            <a:avLst>
              <a:gd name="adj" fmla="val 18182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859178" y="2651760"/>
            <a:ext cx="10399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6"/>
                </a:solidFill>
              </a:rPr>
              <a:t>work?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293608" y="3337560"/>
            <a:ext cx="1039929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293608" y="3337560"/>
            <a:ext cx="10399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Where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9406689" y="3337560"/>
            <a:ext cx="784306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406689" y="3337560"/>
            <a:ext cx="784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did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10264147" y="3337560"/>
            <a:ext cx="634959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64147" y="3337560"/>
            <a:ext cx="63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you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10972259" y="3337560"/>
            <a:ext cx="784306" cy="502920"/>
          </a:xfrm>
          <a:prstGeom prst="roundRect">
            <a:avLst>
              <a:gd name="adj" fmla="val 18182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0972259" y="3337560"/>
            <a:ext cx="784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6"/>
                </a:solidFill>
              </a:rPr>
              <a:t>go?</a:t>
            </a: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8202168" y="4114800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chemeClr val="tx2"/>
                </a:solidFill>
              </a:rPr>
              <a:t>Yes, I did. · No, I didn’t.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548640" y="4956048"/>
            <a:ext cx="5440680" cy="1261872"/>
          </a:xfrm>
          <a:prstGeom prst="roundRect">
            <a:avLst>
              <a:gd name="adj" fmla="val 8696"/>
            </a:avLst>
          </a:prstGeom>
          <a:solidFill>
            <a:srgbClr val="F1ECF7"/>
          </a:solidFill>
          <a:ln w="19050">
            <a:solidFill>
              <a:srgbClr val="6E4A9E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731520" y="50292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4A9E"/>
                </a:solidFill>
              </a:rPr>
              <a:t>No did</a:t>
            </a:r>
            <a:endParaRPr lang="en-US" sz="1500" dirty="0"/>
          </a:p>
        </p:txBody>
      </p:sp>
      <p:sp>
        <p:nvSpPr>
          <p:cNvPr id="62" name="Text 59"/>
          <p:cNvSpPr txBox="1"/>
          <p:nvPr/>
        </p:nvSpPr>
        <p:spPr>
          <a:xfrm>
            <a:off x="731520" y="5431536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I wasn’t tired. · Were you tired?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Who called you? · What happened?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6199632" y="4956048"/>
            <a:ext cx="5440680" cy="1261872"/>
          </a:xfrm>
          <a:prstGeom prst="roundRect">
            <a:avLst>
              <a:gd name="adj" fmla="val 8696"/>
            </a:avLst>
          </a:prstGeom>
          <a:solidFill>
            <a:srgbClr val="FBEDEB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382512" y="50292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✗ Traps</a:t>
            </a:r>
            <a:endParaRPr lang="en-US" sz="1500" dirty="0"/>
          </a:p>
        </p:txBody>
      </p:sp>
      <p:sp>
        <p:nvSpPr>
          <p:cNvPr id="65" name="Text 62"/>
          <p:cNvSpPr txBox="1"/>
          <p:nvPr/>
        </p:nvSpPr>
        <p:spPr>
          <a:xfrm>
            <a:off x="6382512" y="5431536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didn’t went · Did you saw?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Did you were tired? · He workeds.</a:t>
            </a:r>
            <a:endParaRPr lang="en-US" sz="1400" dirty="0"/>
          </a:p>
        </p:txBody>
      </p:sp>
      <p:pic>
        <p:nvPicPr>
          <p:cNvPr id="66" name="Image 0" descr="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Exercises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4752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YOUR TURN!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YOUR TURN!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Palet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04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Colour the boxes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764280" y="26060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90144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90144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SortAmountDow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68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01440" y="32644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Put the boxes in order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901440" y="38404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979920" y="26060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1708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11708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Edi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17080" y="32644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Fill the boxes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117080" y="38404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44348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040" y="45994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85800" y="50932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The wrong box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685800" y="56692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3764280" y="4434840"/>
            <a:ext cx="29870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90144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390144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Di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68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901440" y="5093208"/>
            <a:ext cx="271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Sentence dice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901440" y="5669280"/>
            <a:ext cx="271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pic>
        <p:nvPicPr>
          <p:cNvPr id="36" name="Image 5" descr="man teach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Exercise 1 — Colour the boxes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4752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YOUR TURN!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Name each box (SUBJECT, PAST FORM, AUX, NOT, BASE…), then colour it!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78152"/>
            <a:ext cx="5454396" cy="1324864"/>
          </a:xfrm>
          <a:prstGeom prst="roundRect">
            <a:avLst>
              <a:gd name="adj" fmla="val 6902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1978152"/>
            <a:ext cx="320040" cy="132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1005840" y="2219960"/>
            <a:ext cx="420990" cy="548640"/>
          </a:xfrm>
          <a:prstGeom prst="roundRect">
            <a:avLst>
              <a:gd name="adj" fmla="val 21720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05840" y="2219960"/>
            <a:ext cx="420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805176"/>
            <a:ext cx="10610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499982" y="2219960"/>
            <a:ext cx="806135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499982" y="2219960"/>
            <a:ext cx="806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cook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2379269" y="2219960"/>
            <a:ext cx="54937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379269" y="2219960"/>
            <a:ext cx="54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ed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2059229" y="2805176"/>
            <a:ext cx="1189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001792" y="2219960"/>
            <a:ext cx="1062899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001792" y="2219960"/>
            <a:ext cx="10628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dinner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2681752" y="2805176"/>
            <a:ext cx="1702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137843" y="2219960"/>
            <a:ext cx="1576426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137843" y="2219960"/>
            <a:ext cx="1576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yesterday.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3817803" y="2805176"/>
            <a:ext cx="2216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48640" y="3421888"/>
            <a:ext cx="5454396" cy="1324864"/>
          </a:xfrm>
          <a:prstGeom prst="roundRect">
            <a:avLst>
              <a:gd name="adj" fmla="val 6902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40080" y="3421888"/>
            <a:ext cx="320040" cy="132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2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1005840" y="3663696"/>
            <a:ext cx="677753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005840" y="3663696"/>
            <a:ext cx="67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She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685800" y="4248912"/>
            <a:ext cx="13178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1756745" y="3663696"/>
            <a:ext cx="677753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756745" y="3663696"/>
            <a:ext cx="67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did</a:t>
            </a:r>
            <a:endParaRPr lang="en-US" sz="1800" dirty="0"/>
          </a:p>
        </p:txBody>
      </p:sp>
      <p:sp>
        <p:nvSpPr>
          <p:cNvPr id="31" name="Text 27"/>
          <p:cNvSpPr txBox="1"/>
          <p:nvPr/>
        </p:nvSpPr>
        <p:spPr>
          <a:xfrm>
            <a:off x="1436705" y="4248912"/>
            <a:ext cx="13178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2507651" y="3663696"/>
            <a:ext cx="677753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2507651" y="3663696"/>
            <a:ext cx="67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n’t</a:t>
            </a:r>
            <a:endParaRPr lang="en-US" sz="1800" dirty="0"/>
          </a:p>
        </p:txBody>
      </p:sp>
      <p:sp>
        <p:nvSpPr>
          <p:cNvPr id="34" name="Text 30"/>
          <p:cNvSpPr txBox="1"/>
          <p:nvPr/>
        </p:nvSpPr>
        <p:spPr>
          <a:xfrm>
            <a:off x="2187611" y="4248912"/>
            <a:ext cx="13178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258556" y="3663696"/>
            <a:ext cx="806135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3258556" y="3663696"/>
            <a:ext cx="806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call</a:t>
            </a:r>
            <a:endParaRPr lang="en-US" sz="1800" dirty="0"/>
          </a:p>
        </p:txBody>
      </p:sp>
      <p:sp>
        <p:nvSpPr>
          <p:cNvPr id="37" name="Text 33"/>
          <p:cNvSpPr txBox="1"/>
          <p:nvPr/>
        </p:nvSpPr>
        <p:spPr>
          <a:xfrm>
            <a:off x="2938516" y="4248912"/>
            <a:ext cx="144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4137843" y="3663696"/>
            <a:ext cx="677753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137843" y="3663696"/>
            <a:ext cx="67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me.</a:t>
            </a:r>
            <a:endParaRPr lang="en-US" sz="1800" dirty="0"/>
          </a:p>
        </p:txBody>
      </p:sp>
      <p:sp>
        <p:nvSpPr>
          <p:cNvPr id="40" name="Text 36"/>
          <p:cNvSpPr txBox="1"/>
          <p:nvPr/>
        </p:nvSpPr>
        <p:spPr>
          <a:xfrm>
            <a:off x="3817803" y="4248912"/>
            <a:ext cx="13178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548640" y="4865624"/>
            <a:ext cx="5454396" cy="1324864"/>
          </a:xfrm>
          <a:prstGeom prst="roundRect">
            <a:avLst>
              <a:gd name="adj" fmla="val 6902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40080" y="4865624"/>
            <a:ext cx="320040" cy="132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3</a:t>
            </a:r>
            <a:endParaRPr lang="en-US" sz="1500" dirty="0"/>
          </a:p>
        </p:txBody>
      </p:sp>
      <p:sp>
        <p:nvSpPr>
          <p:cNvPr id="43" name="Shape 39"/>
          <p:cNvSpPr/>
          <p:nvPr/>
        </p:nvSpPr>
        <p:spPr>
          <a:xfrm>
            <a:off x="1005840" y="5107432"/>
            <a:ext cx="677753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1005840" y="5107432"/>
            <a:ext cx="67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Did</a:t>
            </a:r>
            <a:endParaRPr lang="en-US" sz="1800" dirty="0"/>
          </a:p>
        </p:txBody>
      </p:sp>
      <p:sp>
        <p:nvSpPr>
          <p:cNvPr id="45" name="Text 41"/>
          <p:cNvSpPr txBox="1"/>
          <p:nvPr/>
        </p:nvSpPr>
        <p:spPr>
          <a:xfrm>
            <a:off x="685800" y="5692648"/>
            <a:ext cx="13178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1756745" y="5107432"/>
            <a:ext cx="677753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1756745" y="5107432"/>
            <a:ext cx="67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you</a:t>
            </a:r>
            <a:endParaRPr lang="en-US" sz="1800" dirty="0"/>
          </a:p>
        </p:txBody>
      </p:sp>
      <p:sp>
        <p:nvSpPr>
          <p:cNvPr id="48" name="Text 44"/>
          <p:cNvSpPr txBox="1"/>
          <p:nvPr/>
        </p:nvSpPr>
        <p:spPr>
          <a:xfrm>
            <a:off x="1436705" y="5692648"/>
            <a:ext cx="13178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2507651" y="5107432"/>
            <a:ext cx="677753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2507651" y="5107432"/>
            <a:ext cx="67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see</a:t>
            </a:r>
            <a:endParaRPr lang="en-US" sz="1800" dirty="0"/>
          </a:p>
        </p:txBody>
      </p:sp>
      <p:sp>
        <p:nvSpPr>
          <p:cNvPr id="51" name="Text 47"/>
          <p:cNvSpPr txBox="1"/>
          <p:nvPr/>
        </p:nvSpPr>
        <p:spPr>
          <a:xfrm>
            <a:off x="2187611" y="5692648"/>
            <a:ext cx="13178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3258556" y="5107432"/>
            <a:ext cx="1576426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3258556" y="5107432"/>
            <a:ext cx="1576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the match?</a:t>
            </a:r>
            <a:endParaRPr lang="en-US" sz="1800" dirty="0"/>
          </a:p>
        </p:txBody>
      </p:sp>
      <p:sp>
        <p:nvSpPr>
          <p:cNvPr id="54" name="Text 50"/>
          <p:cNvSpPr txBox="1"/>
          <p:nvPr/>
        </p:nvSpPr>
        <p:spPr>
          <a:xfrm>
            <a:off x="2938516" y="5692648"/>
            <a:ext cx="2216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55" name="Shape 51"/>
          <p:cNvSpPr/>
          <p:nvPr/>
        </p:nvSpPr>
        <p:spPr>
          <a:xfrm>
            <a:off x="6185916" y="1978152"/>
            <a:ext cx="5454396" cy="1324864"/>
          </a:xfrm>
          <a:prstGeom prst="roundRect">
            <a:avLst>
              <a:gd name="adj" fmla="val 6902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6277356" y="1978152"/>
            <a:ext cx="320040" cy="132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4</a:t>
            </a:r>
            <a:endParaRPr lang="en-US" sz="1500" dirty="0"/>
          </a:p>
        </p:txBody>
      </p:sp>
      <p:sp>
        <p:nvSpPr>
          <p:cNvPr id="57" name="Shape 53"/>
          <p:cNvSpPr/>
          <p:nvPr/>
        </p:nvSpPr>
        <p:spPr>
          <a:xfrm>
            <a:off x="6643116" y="2219960"/>
            <a:ext cx="934517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6643116" y="2219960"/>
            <a:ext cx="93451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Where</a:t>
            </a:r>
            <a:endParaRPr lang="en-US" sz="1800" dirty="0"/>
          </a:p>
        </p:txBody>
      </p:sp>
      <p:sp>
        <p:nvSpPr>
          <p:cNvPr id="59" name="Text 55"/>
          <p:cNvSpPr txBox="1"/>
          <p:nvPr/>
        </p:nvSpPr>
        <p:spPr>
          <a:xfrm>
            <a:off x="6323076" y="2805176"/>
            <a:ext cx="15745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7650785" y="2219960"/>
            <a:ext cx="677753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7650785" y="2219960"/>
            <a:ext cx="67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did</a:t>
            </a:r>
            <a:endParaRPr lang="en-US" sz="1800" dirty="0"/>
          </a:p>
        </p:txBody>
      </p:sp>
      <p:sp>
        <p:nvSpPr>
          <p:cNvPr id="62" name="Text 58"/>
          <p:cNvSpPr txBox="1"/>
          <p:nvPr/>
        </p:nvSpPr>
        <p:spPr>
          <a:xfrm>
            <a:off x="7330745" y="2805176"/>
            <a:ext cx="13178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63" name="Shape 59"/>
          <p:cNvSpPr/>
          <p:nvPr/>
        </p:nvSpPr>
        <p:spPr>
          <a:xfrm>
            <a:off x="8401690" y="2219960"/>
            <a:ext cx="806135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8401690" y="2219960"/>
            <a:ext cx="806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they</a:t>
            </a:r>
            <a:endParaRPr lang="en-US" sz="1800" dirty="0"/>
          </a:p>
        </p:txBody>
      </p:sp>
      <p:sp>
        <p:nvSpPr>
          <p:cNvPr id="65" name="Text 61"/>
          <p:cNvSpPr txBox="1"/>
          <p:nvPr/>
        </p:nvSpPr>
        <p:spPr>
          <a:xfrm>
            <a:off x="8081650" y="2805176"/>
            <a:ext cx="144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66" name="Shape 62"/>
          <p:cNvSpPr/>
          <p:nvPr/>
        </p:nvSpPr>
        <p:spPr>
          <a:xfrm>
            <a:off x="9280977" y="2219960"/>
            <a:ext cx="677753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9280977" y="2219960"/>
            <a:ext cx="67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go?</a:t>
            </a:r>
            <a:endParaRPr lang="en-US" sz="1800" dirty="0"/>
          </a:p>
        </p:txBody>
      </p:sp>
      <p:sp>
        <p:nvSpPr>
          <p:cNvPr id="68" name="Text 64"/>
          <p:cNvSpPr txBox="1"/>
          <p:nvPr/>
        </p:nvSpPr>
        <p:spPr>
          <a:xfrm>
            <a:off x="8960937" y="2805176"/>
            <a:ext cx="13178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6185916" y="3421888"/>
            <a:ext cx="5454396" cy="1324864"/>
          </a:xfrm>
          <a:prstGeom prst="roundRect">
            <a:avLst>
              <a:gd name="adj" fmla="val 6902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6277356" y="3421888"/>
            <a:ext cx="320040" cy="132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5</a:t>
            </a:r>
            <a:endParaRPr lang="en-US" sz="1500" dirty="0"/>
          </a:p>
        </p:txBody>
      </p:sp>
      <p:sp>
        <p:nvSpPr>
          <p:cNvPr id="71" name="Shape 67"/>
          <p:cNvSpPr/>
          <p:nvPr/>
        </p:nvSpPr>
        <p:spPr>
          <a:xfrm>
            <a:off x="6643116" y="3663696"/>
            <a:ext cx="54937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72" name="Text 68"/>
          <p:cNvSpPr txBox="1"/>
          <p:nvPr/>
        </p:nvSpPr>
        <p:spPr>
          <a:xfrm>
            <a:off x="6643116" y="3663696"/>
            <a:ext cx="54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We</a:t>
            </a:r>
            <a:endParaRPr lang="en-US" sz="1800" dirty="0"/>
          </a:p>
        </p:txBody>
      </p:sp>
      <p:sp>
        <p:nvSpPr>
          <p:cNvPr id="73" name="Text 69"/>
          <p:cNvSpPr txBox="1"/>
          <p:nvPr/>
        </p:nvSpPr>
        <p:spPr>
          <a:xfrm>
            <a:off x="6323076" y="4248912"/>
            <a:ext cx="1189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74" name="Shape 70"/>
          <p:cNvSpPr/>
          <p:nvPr/>
        </p:nvSpPr>
        <p:spPr>
          <a:xfrm>
            <a:off x="7265640" y="3663696"/>
            <a:ext cx="806135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7265640" y="3663696"/>
            <a:ext cx="806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went</a:t>
            </a:r>
            <a:endParaRPr lang="en-US" sz="1800" dirty="0"/>
          </a:p>
        </p:txBody>
      </p:sp>
      <p:sp>
        <p:nvSpPr>
          <p:cNvPr id="76" name="Text 72"/>
          <p:cNvSpPr txBox="1"/>
          <p:nvPr/>
        </p:nvSpPr>
        <p:spPr>
          <a:xfrm>
            <a:off x="6945600" y="4248912"/>
            <a:ext cx="144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77" name="Shape 73"/>
          <p:cNvSpPr/>
          <p:nvPr/>
        </p:nvSpPr>
        <p:spPr>
          <a:xfrm>
            <a:off x="8144927" y="3663696"/>
            <a:ext cx="131966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78" name="Text 74"/>
          <p:cNvSpPr txBox="1"/>
          <p:nvPr/>
        </p:nvSpPr>
        <p:spPr>
          <a:xfrm>
            <a:off x="8144927" y="3663696"/>
            <a:ext cx="13196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to Spain</a:t>
            </a:r>
            <a:endParaRPr lang="en-US" sz="1800" dirty="0"/>
          </a:p>
        </p:txBody>
      </p:sp>
      <p:sp>
        <p:nvSpPr>
          <p:cNvPr id="79" name="Text 75"/>
          <p:cNvSpPr txBox="1"/>
          <p:nvPr/>
        </p:nvSpPr>
        <p:spPr>
          <a:xfrm>
            <a:off x="7824887" y="4248912"/>
            <a:ext cx="1959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80" name="Shape 76"/>
          <p:cNvSpPr/>
          <p:nvPr/>
        </p:nvSpPr>
        <p:spPr>
          <a:xfrm>
            <a:off x="9537741" y="3663696"/>
            <a:ext cx="131966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81" name="Text 77"/>
          <p:cNvSpPr txBox="1"/>
          <p:nvPr/>
        </p:nvSpPr>
        <p:spPr>
          <a:xfrm>
            <a:off x="9537741" y="3663696"/>
            <a:ext cx="13196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in 2019.</a:t>
            </a:r>
            <a:endParaRPr lang="en-US" sz="1800" dirty="0"/>
          </a:p>
        </p:txBody>
      </p:sp>
      <p:sp>
        <p:nvSpPr>
          <p:cNvPr id="82" name="Text 78"/>
          <p:cNvSpPr txBox="1"/>
          <p:nvPr/>
        </p:nvSpPr>
        <p:spPr>
          <a:xfrm>
            <a:off x="9217701" y="4248912"/>
            <a:ext cx="1959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83" name="Shape 79"/>
          <p:cNvSpPr/>
          <p:nvPr/>
        </p:nvSpPr>
        <p:spPr>
          <a:xfrm>
            <a:off x="6185916" y="4865624"/>
            <a:ext cx="5454396" cy="1324864"/>
          </a:xfrm>
          <a:prstGeom prst="roundRect">
            <a:avLst>
              <a:gd name="adj" fmla="val 6902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4" name="Text 80"/>
          <p:cNvSpPr txBox="1"/>
          <p:nvPr/>
        </p:nvSpPr>
        <p:spPr>
          <a:xfrm>
            <a:off x="6277356" y="4865624"/>
            <a:ext cx="320040" cy="132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6</a:t>
            </a:r>
            <a:endParaRPr lang="en-US" sz="1500" dirty="0"/>
          </a:p>
        </p:txBody>
      </p:sp>
      <p:sp>
        <p:nvSpPr>
          <p:cNvPr id="85" name="Shape 81"/>
          <p:cNvSpPr/>
          <p:nvPr/>
        </p:nvSpPr>
        <p:spPr>
          <a:xfrm>
            <a:off x="6643116" y="5107432"/>
            <a:ext cx="54937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86" name="Text 82"/>
          <p:cNvSpPr txBox="1"/>
          <p:nvPr/>
        </p:nvSpPr>
        <p:spPr>
          <a:xfrm>
            <a:off x="6643116" y="5107432"/>
            <a:ext cx="54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He</a:t>
            </a:r>
            <a:endParaRPr lang="en-US" sz="1800" dirty="0"/>
          </a:p>
        </p:txBody>
      </p:sp>
      <p:sp>
        <p:nvSpPr>
          <p:cNvPr id="87" name="Text 83"/>
          <p:cNvSpPr txBox="1"/>
          <p:nvPr/>
        </p:nvSpPr>
        <p:spPr>
          <a:xfrm>
            <a:off x="6323076" y="5692648"/>
            <a:ext cx="1189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88" name="Shape 84"/>
          <p:cNvSpPr/>
          <p:nvPr/>
        </p:nvSpPr>
        <p:spPr>
          <a:xfrm>
            <a:off x="7265640" y="5107432"/>
            <a:ext cx="677753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89" name="Text 85"/>
          <p:cNvSpPr txBox="1"/>
          <p:nvPr/>
        </p:nvSpPr>
        <p:spPr>
          <a:xfrm>
            <a:off x="7265640" y="5107432"/>
            <a:ext cx="67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was</a:t>
            </a:r>
            <a:endParaRPr lang="en-US" sz="1800" dirty="0"/>
          </a:p>
        </p:txBody>
      </p:sp>
      <p:sp>
        <p:nvSpPr>
          <p:cNvPr id="90" name="Text 86"/>
          <p:cNvSpPr txBox="1"/>
          <p:nvPr/>
        </p:nvSpPr>
        <p:spPr>
          <a:xfrm>
            <a:off x="6945600" y="5692648"/>
            <a:ext cx="13178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91" name="Shape 87"/>
          <p:cNvSpPr/>
          <p:nvPr/>
        </p:nvSpPr>
        <p:spPr>
          <a:xfrm>
            <a:off x="8016545" y="5107432"/>
            <a:ext cx="677753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92" name="Text 88"/>
          <p:cNvSpPr txBox="1"/>
          <p:nvPr/>
        </p:nvSpPr>
        <p:spPr>
          <a:xfrm>
            <a:off x="8016545" y="5107432"/>
            <a:ext cx="67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n’t</a:t>
            </a:r>
            <a:endParaRPr lang="en-US" sz="1800" dirty="0"/>
          </a:p>
        </p:txBody>
      </p:sp>
      <p:sp>
        <p:nvSpPr>
          <p:cNvPr id="93" name="Text 89"/>
          <p:cNvSpPr txBox="1"/>
          <p:nvPr/>
        </p:nvSpPr>
        <p:spPr>
          <a:xfrm>
            <a:off x="7696505" y="5692648"/>
            <a:ext cx="13178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94" name="Shape 90"/>
          <p:cNvSpPr/>
          <p:nvPr/>
        </p:nvSpPr>
        <p:spPr>
          <a:xfrm>
            <a:off x="8767450" y="5107432"/>
            <a:ext cx="131966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95" name="Text 91"/>
          <p:cNvSpPr txBox="1"/>
          <p:nvPr/>
        </p:nvSpPr>
        <p:spPr>
          <a:xfrm>
            <a:off x="8767450" y="5107432"/>
            <a:ext cx="13196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at home.</a:t>
            </a:r>
            <a:endParaRPr lang="en-US" sz="1800" dirty="0"/>
          </a:p>
        </p:txBody>
      </p:sp>
      <p:sp>
        <p:nvSpPr>
          <p:cNvPr id="96" name="Text 92"/>
          <p:cNvSpPr txBox="1"/>
          <p:nvPr/>
        </p:nvSpPr>
        <p:spPr>
          <a:xfrm>
            <a:off x="8447410" y="5692648"/>
            <a:ext cx="1959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……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Exercise 1 — Colour the boxes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4752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YOUR TURN!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0312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Name each box (SUBJECT, PAST FORM, AUX, NOT, BASE…), then colour it!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78152"/>
            <a:ext cx="5454396" cy="1324864"/>
          </a:xfrm>
          <a:prstGeom prst="roundRect">
            <a:avLst>
              <a:gd name="adj" fmla="val 6902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1978152"/>
            <a:ext cx="320040" cy="132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005840" y="2219960"/>
            <a:ext cx="420990" cy="548640"/>
          </a:xfrm>
          <a:prstGeom prst="roundRect">
            <a:avLst>
              <a:gd name="adj" fmla="val 21720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05840" y="2219960"/>
            <a:ext cx="420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805176"/>
            <a:ext cx="10610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SUBJECT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1499982" y="2219960"/>
            <a:ext cx="976023" cy="548640"/>
          </a:xfrm>
          <a:prstGeom prst="roundRect">
            <a:avLst>
              <a:gd name="adj" fmla="val 16667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499982" y="2219960"/>
            <a:ext cx="9760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6"/>
                </a:solidFill>
              </a:rPr>
              <a:t>cook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2494293" y="2219960"/>
            <a:ext cx="57872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494293" y="2219960"/>
            <a:ext cx="57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ed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2174253" y="2805176"/>
            <a:ext cx="121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VERB + -ED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146165" y="2219960"/>
            <a:ext cx="1062899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146165" y="2219960"/>
            <a:ext cx="10628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dinner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2826125" y="2805176"/>
            <a:ext cx="1702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OBJECT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282216" y="2219960"/>
            <a:ext cx="1838749" cy="548640"/>
          </a:xfrm>
          <a:prstGeom prst="roundRect">
            <a:avLst>
              <a:gd name="adj" fmla="val 16667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282216" y="2219960"/>
            <a:ext cx="18387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yesterday.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3962176" y="2805176"/>
            <a:ext cx="2478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WHEN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48640" y="3421888"/>
            <a:ext cx="5454396" cy="1324864"/>
          </a:xfrm>
          <a:prstGeom prst="roundRect">
            <a:avLst>
              <a:gd name="adj" fmla="val 6902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40080" y="3421888"/>
            <a:ext cx="320040" cy="132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2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1005840" y="3663696"/>
            <a:ext cx="677753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005840" y="3663696"/>
            <a:ext cx="67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She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685800" y="4248912"/>
            <a:ext cx="13178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SUBJECT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1756745" y="3663696"/>
            <a:ext cx="832236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756745" y="3663696"/>
            <a:ext cx="832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did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1436705" y="4248912"/>
            <a:ext cx="1472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AUX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2607269" y="3663696"/>
            <a:ext cx="722508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2607269" y="3663696"/>
            <a:ext cx="7225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n’t</a:t>
            </a:r>
            <a:endParaRPr lang="en-US" sz="1800" dirty="0"/>
          </a:p>
        </p:txBody>
      </p:sp>
      <p:sp>
        <p:nvSpPr>
          <p:cNvPr id="35" name="Text 31"/>
          <p:cNvSpPr txBox="1"/>
          <p:nvPr/>
        </p:nvSpPr>
        <p:spPr>
          <a:xfrm>
            <a:off x="2287229" y="4248912"/>
            <a:ext cx="1362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NOT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3402929" y="3663696"/>
            <a:ext cx="976023" cy="548640"/>
          </a:xfrm>
          <a:prstGeom prst="roundRect">
            <a:avLst>
              <a:gd name="adj" fmla="val 16667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3402929" y="3663696"/>
            <a:ext cx="9760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6"/>
                </a:solidFill>
              </a:rPr>
              <a:t>call</a:t>
            </a:r>
            <a:endParaRPr lang="en-US" sz="1800" dirty="0"/>
          </a:p>
        </p:txBody>
      </p:sp>
      <p:sp>
        <p:nvSpPr>
          <p:cNvPr id="38" name="Text 34"/>
          <p:cNvSpPr txBox="1"/>
          <p:nvPr/>
        </p:nvSpPr>
        <p:spPr>
          <a:xfrm>
            <a:off x="3082889" y="4248912"/>
            <a:ext cx="1616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BASE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4452104" y="3663696"/>
            <a:ext cx="677753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4452104" y="3663696"/>
            <a:ext cx="67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me.</a:t>
            </a:r>
            <a:endParaRPr lang="en-US" sz="1800" dirty="0"/>
          </a:p>
        </p:txBody>
      </p:sp>
      <p:sp>
        <p:nvSpPr>
          <p:cNvPr id="41" name="Text 37"/>
          <p:cNvSpPr txBox="1"/>
          <p:nvPr/>
        </p:nvSpPr>
        <p:spPr>
          <a:xfrm>
            <a:off x="4132064" y="4248912"/>
            <a:ext cx="13178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OBJECT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548640" y="4865624"/>
            <a:ext cx="5454396" cy="1324864"/>
          </a:xfrm>
          <a:prstGeom prst="roundRect">
            <a:avLst>
              <a:gd name="adj" fmla="val 6902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40080" y="4865624"/>
            <a:ext cx="320040" cy="132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3</a:t>
            </a:r>
            <a:endParaRPr lang="en-US" sz="1500" dirty="0"/>
          </a:p>
        </p:txBody>
      </p:sp>
      <p:sp>
        <p:nvSpPr>
          <p:cNvPr id="44" name="Shape 40"/>
          <p:cNvSpPr/>
          <p:nvPr/>
        </p:nvSpPr>
        <p:spPr>
          <a:xfrm>
            <a:off x="1005840" y="5107432"/>
            <a:ext cx="832236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1005840" y="5107432"/>
            <a:ext cx="832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Did</a:t>
            </a:r>
            <a:endParaRPr lang="en-US" sz="1800" dirty="0"/>
          </a:p>
        </p:txBody>
      </p:sp>
      <p:sp>
        <p:nvSpPr>
          <p:cNvPr id="46" name="Text 42"/>
          <p:cNvSpPr txBox="1"/>
          <p:nvPr/>
        </p:nvSpPr>
        <p:spPr>
          <a:xfrm>
            <a:off x="685800" y="5692648"/>
            <a:ext cx="1472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AUX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1911228" y="5107432"/>
            <a:ext cx="677753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1911228" y="5107432"/>
            <a:ext cx="6777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you</a:t>
            </a:r>
            <a:endParaRPr lang="en-US" sz="1800" dirty="0"/>
          </a:p>
        </p:txBody>
      </p:sp>
      <p:sp>
        <p:nvSpPr>
          <p:cNvPr id="49" name="Text 45"/>
          <p:cNvSpPr txBox="1"/>
          <p:nvPr/>
        </p:nvSpPr>
        <p:spPr>
          <a:xfrm>
            <a:off x="1591188" y="5692648"/>
            <a:ext cx="13178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SUBJECT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2662133" y="5107432"/>
            <a:ext cx="832236" cy="548640"/>
          </a:xfrm>
          <a:prstGeom prst="roundRect">
            <a:avLst>
              <a:gd name="adj" fmla="val 16667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2662133" y="5107432"/>
            <a:ext cx="832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6"/>
                </a:solidFill>
              </a:rPr>
              <a:t>see</a:t>
            </a:r>
            <a:endParaRPr lang="en-US" sz="1800" dirty="0"/>
          </a:p>
        </p:txBody>
      </p:sp>
      <p:sp>
        <p:nvSpPr>
          <p:cNvPr id="52" name="Text 48"/>
          <p:cNvSpPr txBox="1"/>
          <p:nvPr/>
        </p:nvSpPr>
        <p:spPr>
          <a:xfrm>
            <a:off x="2342093" y="5692648"/>
            <a:ext cx="1472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BASE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3567521" y="5107432"/>
            <a:ext cx="1576426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3567521" y="5107432"/>
            <a:ext cx="1576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the match?</a:t>
            </a:r>
            <a:endParaRPr lang="en-US" sz="1800" dirty="0"/>
          </a:p>
        </p:txBody>
      </p:sp>
      <p:sp>
        <p:nvSpPr>
          <p:cNvPr id="55" name="Text 51"/>
          <p:cNvSpPr txBox="1"/>
          <p:nvPr/>
        </p:nvSpPr>
        <p:spPr>
          <a:xfrm>
            <a:off x="3247481" y="5692648"/>
            <a:ext cx="2216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OBJECT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6185916" y="1978152"/>
            <a:ext cx="5454396" cy="1324864"/>
          </a:xfrm>
          <a:prstGeom prst="roundRect">
            <a:avLst>
              <a:gd name="adj" fmla="val 6902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6277356" y="1978152"/>
            <a:ext cx="320040" cy="132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4</a:t>
            </a:r>
            <a:endParaRPr lang="en-US" sz="1500" dirty="0"/>
          </a:p>
        </p:txBody>
      </p:sp>
      <p:sp>
        <p:nvSpPr>
          <p:cNvPr id="58" name="Shape 54"/>
          <p:cNvSpPr/>
          <p:nvPr/>
        </p:nvSpPr>
        <p:spPr>
          <a:xfrm>
            <a:off x="6643116" y="2219960"/>
            <a:ext cx="1119811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6643116" y="2219960"/>
            <a:ext cx="11198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Where</a:t>
            </a:r>
            <a:endParaRPr lang="en-US" sz="1800" dirty="0"/>
          </a:p>
        </p:txBody>
      </p:sp>
      <p:sp>
        <p:nvSpPr>
          <p:cNvPr id="60" name="Text 56"/>
          <p:cNvSpPr txBox="1"/>
          <p:nvPr/>
        </p:nvSpPr>
        <p:spPr>
          <a:xfrm>
            <a:off x="6323076" y="2805176"/>
            <a:ext cx="17598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QUESTION WORD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7836079" y="2219960"/>
            <a:ext cx="832236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7836079" y="2219960"/>
            <a:ext cx="832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did</a:t>
            </a:r>
            <a:endParaRPr lang="en-US" sz="1800" dirty="0"/>
          </a:p>
        </p:txBody>
      </p:sp>
      <p:sp>
        <p:nvSpPr>
          <p:cNvPr id="63" name="Text 59"/>
          <p:cNvSpPr txBox="1"/>
          <p:nvPr/>
        </p:nvSpPr>
        <p:spPr>
          <a:xfrm>
            <a:off x="7516039" y="2805176"/>
            <a:ext cx="1472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AUX</a:t>
            </a:r>
            <a:endParaRPr lang="en-US" sz="900" dirty="0"/>
          </a:p>
        </p:txBody>
      </p:sp>
      <p:sp>
        <p:nvSpPr>
          <p:cNvPr id="64" name="Shape 60"/>
          <p:cNvSpPr/>
          <p:nvPr/>
        </p:nvSpPr>
        <p:spPr>
          <a:xfrm>
            <a:off x="8741466" y="2219960"/>
            <a:ext cx="806135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8741466" y="2219960"/>
            <a:ext cx="806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they</a:t>
            </a:r>
            <a:endParaRPr lang="en-US" sz="1800" dirty="0"/>
          </a:p>
        </p:txBody>
      </p:sp>
      <p:sp>
        <p:nvSpPr>
          <p:cNvPr id="66" name="Text 62"/>
          <p:cNvSpPr txBox="1"/>
          <p:nvPr/>
        </p:nvSpPr>
        <p:spPr>
          <a:xfrm>
            <a:off x="8421426" y="2805176"/>
            <a:ext cx="144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SUBJECT</a:t>
            </a:r>
            <a:endParaRPr lang="en-US" sz="900" dirty="0"/>
          </a:p>
        </p:txBody>
      </p:sp>
      <p:sp>
        <p:nvSpPr>
          <p:cNvPr id="67" name="Shape 63"/>
          <p:cNvSpPr/>
          <p:nvPr/>
        </p:nvSpPr>
        <p:spPr>
          <a:xfrm>
            <a:off x="9620754" y="2219960"/>
            <a:ext cx="832236" cy="548640"/>
          </a:xfrm>
          <a:prstGeom prst="roundRect">
            <a:avLst>
              <a:gd name="adj" fmla="val 16667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9620754" y="2219960"/>
            <a:ext cx="832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6"/>
                </a:solidFill>
              </a:rPr>
              <a:t>go?</a:t>
            </a:r>
            <a:endParaRPr lang="en-US" sz="1800" dirty="0"/>
          </a:p>
        </p:txBody>
      </p:sp>
      <p:sp>
        <p:nvSpPr>
          <p:cNvPr id="69" name="Text 65"/>
          <p:cNvSpPr txBox="1"/>
          <p:nvPr/>
        </p:nvSpPr>
        <p:spPr>
          <a:xfrm>
            <a:off x="9300714" y="2805176"/>
            <a:ext cx="1472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BASE</a:t>
            </a:r>
            <a:endParaRPr lang="en-US" sz="900" dirty="0"/>
          </a:p>
        </p:txBody>
      </p:sp>
      <p:sp>
        <p:nvSpPr>
          <p:cNvPr id="70" name="Shape 66"/>
          <p:cNvSpPr/>
          <p:nvPr/>
        </p:nvSpPr>
        <p:spPr>
          <a:xfrm>
            <a:off x="6185916" y="3421888"/>
            <a:ext cx="5454396" cy="1324864"/>
          </a:xfrm>
          <a:prstGeom prst="roundRect">
            <a:avLst>
              <a:gd name="adj" fmla="val 6902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6277356" y="3421888"/>
            <a:ext cx="320040" cy="132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5</a:t>
            </a:r>
            <a:endParaRPr lang="en-US" sz="1500" dirty="0"/>
          </a:p>
        </p:txBody>
      </p:sp>
      <p:sp>
        <p:nvSpPr>
          <p:cNvPr id="72" name="Shape 68"/>
          <p:cNvSpPr/>
          <p:nvPr/>
        </p:nvSpPr>
        <p:spPr>
          <a:xfrm>
            <a:off x="6643116" y="3663696"/>
            <a:ext cx="54937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6643116" y="3663696"/>
            <a:ext cx="54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We</a:t>
            </a:r>
            <a:endParaRPr lang="en-US" sz="1800" dirty="0"/>
          </a:p>
        </p:txBody>
      </p:sp>
      <p:sp>
        <p:nvSpPr>
          <p:cNvPr id="74" name="Text 70"/>
          <p:cNvSpPr txBox="1"/>
          <p:nvPr/>
        </p:nvSpPr>
        <p:spPr>
          <a:xfrm>
            <a:off x="6323076" y="4248912"/>
            <a:ext cx="1189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SUBJECT</a:t>
            </a:r>
            <a:endParaRPr lang="en-US" sz="900" dirty="0"/>
          </a:p>
        </p:txBody>
      </p:sp>
      <p:sp>
        <p:nvSpPr>
          <p:cNvPr id="75" name="Shape 71"/>
          <p:cNvSpPr/>
          <p:nvPr/>
        </p:nvSpPr>
        <p:spPr>
          <a:xfrm>
            <a:off x="7265640" y="3663696"/>
            <a:ext cx="976023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7265640" y="3663696"/>
            <a:ext cx="9760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went</a:t>
            </a:r>
            <a:endParaRPr lang="en-US" sz="1800" dirty="0"/>
          </a:p>
        </p:txBody>
      </p:sp>
      <p:sp>
        <p:nvSpPr>
          <p:cNvPr id="77" name="Text 73"/>
          <p:cNvSpPr txBox="1"/>
          <p:nvPr/>
        </p:nvSpPr>
        <p:spPr>
          <a:xfrm>
            <a:off x="6945600" y="4248912"/>
            <a:ext cx="16161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PAST FORM</a:t>
            </a:r>
            <a:endParaRPr lang="en-US" sz="900" dirty="0"/>
          </a:p>
        </p:txBody>
      </p:sp>
      <p:sp>
        <p:nvSpPr>
          <p:cNvPr id="78" name="Shape 74"/>
          <p:cNvSpPr/>
          <p:nvPr/>
        </p:nvSpPr>
        <p:spPr>
          <a:xfrm>
            <a:off x="8314815" y="3663696"/>
            <a:ext cx="131966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8314815" y="3663696"/>
            <a:ext cx="13196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to Spain</a:t>
            </a:r>
            <a:endParaRPr lang="en-US" sz="1800" dirty="0"/>
          </a:p>
        </p:txBody>
      </p:sp>
      <p:sp>
        <p:nvSpPr>
          <p:cNvPr id="80" name="Text 76"/>
          <p:cNvSpPr txBox="1"/>
          <p:nvPr/>
        </p:nvSpPr>
        <p:spPr>
          <a:xfrm>
            <a:off x="7994775" y="4248912"/>
            <a:ext cx="1959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PLACE</a:t>
            </a:r>
            <a:endParaRPr lang="en-US" sz="900" dirty="0"/>
          </a:p>
        </p:txBody>
      </p:sp>
      <p:sp>
        <p:nvSpPr>
          <p:cNvPr id="81" name="Shape 77"/>
          <p:cNvSpPr/>
          <p:nvPr/>
        </p:nvSpPr>
        <p:spPr>
          <a:xfrm>
            <a:off x="9707629" y="3663696"/>
            <a:ext cx="1551174" cy="548640"/>
          </a:xfrm>
          <a:prstGeom prst="roundRect">
            <a:avLst>
              <a:gd name="adj" fmla="val 16667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9707629" y="3663696"/>
            <a:ext cx="15511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in 2019.</a:t>
            </a:r>
            <a:endParaRPr lang="en-US" sz="1800" dirty="0"/>
          </a:p>
        </p:txBody>
      </p:sp>
      <p:sp>
        <p:nvSpPr>
          <p:cNvPr id="83" name="Text 79"/>
          <p:cNvSpPr txBox="1"/>
          <p:nvPr/>
        </p:nvSpPr>
        <p:spPr>
          <a:xfrm>
            <a:off x="9387589" y="4248912"/>
            <a:ext cx="2191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WHEN</a:t>
            </a:r>
            <a:endParaRPr lang="en-US" sz="900" dirty="0"/>
          </a:p>
        </p:txBody>
      </p:sp>
      <p:sp>
        <p:nvSpPr>
          <p:cNvPr id="84" name="Shape 80"/>
          <p:cNvSpPr/>
          <p:nvPr/>
        </p:nvSpPr>
        <p:spPr>
          <a:xfrm>
            <a:off x="6185916" y="4865624"/>
            <a:ext cx="5454396" cy="1324864"/>
          </a:xfrm>
          <a:prstGeom prst="roundRect">
            <a:avLst>
              <a:gd name="adj" fmla="val 6902"/>
            </a:avLst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6277356" y="4865624"/>
            <a:ext cx="320040" cy="132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6</a:t>
            </a:r>
            <a:endParaRPr lang="en-US" sz="1500" dirty="0"/>
          </a:p>
        </p:txBody>
      </p:sp>
      <p:sp>
        <p:nvSpPr>
          <p:cNvPr id="86" name="Shape 82"/>
          <p:cNvSpPr/>
          <p:nvPr/>
        </p:nvSpPr>
        <p:spPr>
          <a:xfrm>
            <a:off x="6643116" y="5107432"/>
            <a:ext cx="54937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87" name="Text 83"/>
          <p:cNvSpPr txBox="1"/>
          <p:nvPr/>
        </p:nvSpPr>
        <p:spPr>
          <a:xfrm>
            <a:off x="6643116" y="5107432"/>
            <a:ext cx="5493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He</a:t>
            </a:r>
            <a:endParaRPr lang="en-US" sz="1800" dirty="0"/>
          </a:p>
        </p:txBody>
      </p:sp>
      <p:sp>
        <p:nvSpPr>
          <p:cNvPr id="88" name="Text 84"/>
          <p:cNvSpPr txBox="1"/>
          <p:nvPr/>
        </p:nvSpPr>
        <p:spPr>
          <a:xfrm>
            <a:off x="6323076" y="5692648"/>
            <a:ext cx="1189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SUBJECT</a:t>
            </a:r>
            <a:endParaRPr lang="en-US" sz="900" dirty="0"/>
          </a:p>
        </p:txBody>
      </p:sp>
      <p:sp>
        <p:nvSpPr>
          <p:cNvPr id="89" name="Shape 85"/>
          <p:cNvSpPr/>
          <p:nvPr/>
        </p:nvSpPr>
        <p:spPr>
          <a:xfrm>
            <a:off x="7265640" y="5107432"/>
            <a:ext cx="832236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Text 86"/>
          <p:cNvSpPr txBox="1"/>
          <p:nvPr/>
        </p:nvSpPr>
        <p:spPr>
          <a:xfrm>
            <a:off x="7265640" y="5107432"/>
            <a:ext cx="832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was</a:t>
            </a:r>
            <a:endParaRPr lang="en-US" sz="1800" dirty="0"/>
          </a:p>
        </p:txBody>
      </p:sp>
      <p:sp>
        <p:nvSpPr>
          <p:cNvPr id="91" name="Text 87"/>
          <p:cNvSpPr txBox="1"/>
          <p:nvPr/>
        </p:nvSpPr>
        <p:spPr>
          <a:xfrm>
            <a:off x="6945600" y="5692648"/>
            <a:ext cx="1472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BE</a:t>
            </a:r>
            <a:endParaRPr lang="en-US" sz="900" dirty="0"/>
          </a:p>
        </p:txBody>
      </p:sp>
      <p:sp>
        <p:nvSpPr>
          <p:cNvPr id="92" name="Shape 88"/>
          <p:cNvSpPr/>
          <p:nvPr/>
        </p:nvSpPr>
        <p:spPr>
          <a:xfrm>
            <a:off x="8116163" y="5107432"/>
            <a:ext cx="722508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Text 89"/>
          <p:cNvSpPr txBox="1"/>
          <p:nvPr/>
        </p:nvSpPr>
        <p:spPr>
          <a:xfrm>
            <a:off x="8116163" y="5107432"/>
            <a:ext cx="7225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n’t</a:t>
            </a:r>
            <a:endParaRPr lang="en-US" sz="1800" dirty="0"/>
          </a:p>
        </p:txBody>
      </p:sp>
      <p:sp>
        <p:nvSpPr>
          <p:cNvPr id="94" name="Text 90"/>
          <p:cNvSpPr txBox="1"/>
          <p:nvPr/>
        </p:nvSpPr>
        <p:spPr>
          <a:xfrm>
            <a:off x="7796123" y="5692648"/>
            <a:ext cx="1362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NOT</a:t>
            </a:r>
            <a:endParaRPr lang="en-US" sz="900" dirty="0"/>
          </a:p>
        </p:txBody>
      </p:sp>
      <p:sp>
        <p:nvSpPr>
          <p:cNvPr id="95" name="Shape 91"/>
          <p:cNvSpPr/>
          <p:nvPr/>
        </p:nvSpPr>
        <p:spPr>
          <a:xfrm>
            <a:off x="8911823" y="5107432"/>
            <a:ext cx="1319662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96" name="Text 92"/>
          <p:cNvSpPr txBox="1"/>
          <p:nvPr/>
        </p:nvSpPr>
        <p:spPr>
          <a:xfrm>
            <a:off x="8911823" y="5107432"/>
            <a:ext cx="13196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at home.</a:t>
            </a:r>
            <a:endParaRPr lang="en-US" sz="1800" dirty="0"/>
          </a:p>
        </p:txBody>
      </p:sp>
      <p:sp>
        <p:nvSpPr>
          <p:cNvPr id="97" name="Text 93"/>
          <p:cNvSpPr txBox="1"/>
          <p:nvPr/>
        </p:nvSpPr>
        <p:spPr>
          <a:xfrm>
            <a:off x="8591783" y="5692648"/>
            <a:ext cx="1959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PLACE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Exercise 2 — Put the boxes in order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4752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YOUR TURN!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The colours help you! Build the sentence: +, − or ?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023872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1005840" y="2023872"/>
            <a:ext cx="2158277" cy="585216"/>
          </a:xfrm>
          <a:prstGeom prst="roundRect">
            <a:avLst>
              <a:gd name="adj" fmla="val 15625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05840" y="2023872"/>
            <a:ext cx="215827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1"/>
                </a:solidFill>
              </a:rPr>
              <a:t>yesterday.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3438437" y="2023872"/>
            <a:ext cx="1547896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438437" y="2023872"/>
            <a:ext cx="1547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football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5260653" y="2023872"/>
            <a:ext cx="60643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260653" y="2023872"/>
            <a:ext cx="60643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We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6141403" y="2023872"/>
            <a:ext cx="1455315" cy="585216"/>
          </a:xfrm>
          <a:prstGeom prst="roundRect">
            <a:avLst>
              <a:gd name="adj" fmla="val 15625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141403" y="2023872"/>
            <a:ext cx="14553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played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2871826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1005840" y="2871826"/>
            <a:ext cx="752354" cy="585216"/>
          </a:xfrm>
          <a:prstGeom prst="roundRect">
            <a:avLst>
              <a:gd name="adj" fmla="val 15625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05840" y="2871826"/>
            <a:ext cx="7523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go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2032514" y="2871826"/>
            <a:ext cx="1547896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032514" y="2871826"/>
            <a:ext cx="1547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to work.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3854730" y="2871826"/>
            <a:ext cx="60643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854730" y="2871826"/>
            <a:ext cx="60643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He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4735480" y="2871826"/>
            <a:ext cx="1455315" cy="585216"/>
          </a:xfrm>
          <a:prstGeom prst="roundRect">
            <a:avLst>
              <a:gd name="adj" fmla="val 1562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735480" y="2871826"/>
            <a:ext cx="14553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didn’t</a:t>
            </a:r>
            <a:endParaRPr lang="en-US" sz="220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3719779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3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1005840" y="3719779"/>
            <a:ext cx="1103834" cy="585216"/>
          </a:xfrm>
          <a:prstGeom prst="roundRect">
            <a:avLst>
              <a:gd name="adj" fmla="val 15625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005840" y="3719779"/>
            <a:ext cx="110383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call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2383994" y="3719779"/>
            <a:ext cx="920252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383994" y="3719779"/>
            <a:ext cx="9202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you?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3578567" y="3719779"/>
            <a:ext cx="763341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3578567" y="3719779"/>
            <a:ext cx="76334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she</a:t>
            </a:r>
            <a:endParaRPr lang="en-US" sz="2200" dirty="0"/>
          </a:p>
        </p:txBody>
      </p:sp>
      <p:sp>
        <p:nvSpPr>
          <p:cNvPr id="33" name="Shape 29"/>
          <p:cNvSpPr/>
          <p:nvPr/>
        </p:nvSpPr>
        <p:spPr>
          <a:xfrm>
            <a:off x="4616228" y="3719779"/>
            <a:ext cx="928094" cy="585216"/>
          </a:xfrm>
          <a:prstGeom prst="roundRect">
            <a:avLst>
              <a:gd name="adj" fmla="val 1562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616228" y="3719779"/>
            <a:ext cx="92809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Did</a:t>
            </a:r>
            <a:endParaRPr lang="en-US" sz="2200" dirty="0"/>
          </a:p>
        </p:txBody>
      </p:sp>
      <p:sp>
        <p:nvSpPr>
          <p:cNvPr id="35" name="Text 31"/>
          <p:cNvSpPr txBox="1"/>
          <p:nvPr/>
        </p:nvSpPr>
        <p:spPr>
          <a:xfrm>
            <a:off x="548640" y="4567733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4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1005840" y="4567733"/>
            <a:ext cx="928094" cy="585216"/>
          </a:xfrm>
          <a:prstGeom prst="roundRect">
            <a:avLst>
              <a:gd name="adj" fmla="val 15625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1005840" y="4567733"/>
            <a:ext cx="92809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eat</a:t>
            </a:r>
            <a:endParaRPr lang="en-US" sz="2200" dirty="0"/>
          </a:p>
        </p:txBody>
      </p:sp>
      <p:sp>
        <p:nvSpPr>
          <p:cNvPr id="38" name="Shape 34"/>
          <p:cNvSpPr/>
          <p:nvPr/>
        </p:nvSpPr>
        <p:spPr>
          <a:xfrm>
            <a:off x="2208254" y="4567733"/>
            <a:ext cx="920252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2208254" y="4567733"/>
            <a:ext cx="9202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they</a:t>
            </a:r>
            <a:endParaRPr lang="en-US" sz="2200" dirty="0"/>
          </a:p>
        </p:txBody>
      </p:sp>
      <p:sp>
        <p:nvSpPr>
          <p:cNvPr id="40" name="Shape 36"/>
          <p:cNvSpPr/>
          <p:nvPr/>
        </p:nvSpPr>
        <p:spPr>
          <a:xfrm>
            <a:off x="3402826" y="4567733"/>
            <a:ext cx="1861718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3402826" y="4567733"/>
            <a:ext cx="1861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for lunch?</a:t>
            </a:r>
            <a:endParaRPr lang="en-US" sz="2200" dirty="0"/>
          </a:p>
        </p:txBody>
      </p:sp>
      <p:sp>
        <p:nvSpPr>
          <p:cNvPr id="42" name="Shape 38"/>
          <p:cNvSpPr/>
          <p:nvPr/>
        </p:nvSpPr>
        <p:spPr>
          <a:xfrm>
            <a:off x="5538865" y="4567733"/>
            <a:ext cx="1103834" cy="585216"/>
          </a:xfrm>
          <a:prstGeom prst="roundRect">
            <a:avLst>
              <a:gd name="adj" fmla="val 15625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538865" y="4567733"/>
            <a:ext cx="110383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What</a:t>
            </a:r>
            <a:endParaRPr lang="en-US" sz="2200" dirty="0"/>
          </a:p>
        </p:txBody>
      </p:sp>
      <p:sp>
        <p:nvSpPr>
          <p:cNvPr id="44" name="Shape 40"/>
          <p:cNvSpPr/>
          <p:nvPr/>
        </p:nvSpPr>
        <p:spPr>
          <a:xfrm>
            <a:off x="6917019" y="4567733"/>
            <a:ext cx="928094" cy="585216"/>
          </a:xfrm>
          <a:prstGeom prst="roundRect">
            <a:avLst>
              <a:gd name="adj" fmla="val 1562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917019" y="4567733"/>
            <a:ext cx="92809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did</a:t>
            </a:r>
            <a:endParaRPr lang="en-US" sz="2200" dirty="0"/>
          </a:p>
        </p:txBody>
      </p:sp>
      <p:sp>
        <p:nvSpPr>
          <p:cNvPr id="46" name="Text 42"/>
          <p:cNvSpPr txBox="1"/>
          <p:nvPr/>
        </p:nvSpPr>
        <p:spPr>
          <a:xfrm>
            <a:off x="548640" y="5415686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5</a:t>
            </a:r>
            <a:endParaRPr lang="en-US" sz="1800" dirty="0"/>
          </a:p>
        </p:txBody>
      </p:sp>
      <p:sp>
        <p:nvSpPr>
          <p:cNvPr id="47" name="Shape 43"/>
          <p:cNvSpPr/>
          <p:nvPr/>
        </p:nvSpPr>
        <p:spPr>
          <a:xfrm>
            <a:off x="1005840" y="5415686"/>
            <a:ext cx="763341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1005840" y="5415686"/>
            <a:ext cx="76334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Tom</a:t>
            </a:r>
            <a:endParaRPr lang="en-US" sz="2200" dirty="0"/>
          </a:p>
        </p:txBody>
      </p:sp>
      <p:sp>
        <p:nvSpPr>
          <p:cNvPr id="49" name="Shape 45"/>
          <p:cNvSpPr/>
          <p:nvPr/>
        </p:nvSpPr>
        <p:spPr>
          <a:xfrm>
            <a:off x="2043501" y="5415686"/>
            <a:ext cx="2158277" cy="585216"/>
          </a:xfrm>
          <a:prstGeom prst="roundRect">
            <a:avLst>
              <a:gd name="adj" fmla="val 15625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2043501" y="5415686"/>
            <a:ext cx="215827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1"/>
                </a:solidFill>
              </a:rPr>
              <a:t>yesterday.</a:t>
            </a:r>
            <a:endParaRPr lang="en-US" sz="2200" dirty="0"/>
          </a:p>
        </p:txBody>
      </p:sp>
      <p:sp>
        <p:nvSpPr>
          <p:cNvPr id="51" name="Shape 47"/>
          <p:cNvSpPr/>
          <p:nvPr/>
        </p:nvSpPr>
        <p:spPr>
          <a:xfrm>
            <a:off x="4476098" y="5415686"/>
            <a:ext cx="1455315" cy="585216"/>
          </a:xfrm>
          <a:prstGeom prst="roundRect">
            <a:avLst>
              <a:gd name="adj" fmla="val 1562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4476098" y="5415686"/>
            <a:ext cx="14553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didn’t</a:t>
            </a:r>
            <a:endParaRPr lang="en-US" sz="2200" dirty="0"/>
          </a:p>
        </p:txBody>
      </p:sp>
      <p:sp>
        <p:nvSpPr>
          <p:cNvPr id="53" name="Shape 49"/>
          <p:cNvSpPr/>
          <p:nvPr/>
        </p:nvSpPr>
        <p:spPr>
          <a:xfrm>
            <a:off x="6205733" y="5415686"/>
            <a:ext cx="449519" cy="585216"/>
          </a:xfrm>
          <a:prstGeom prst="roundRect">
            <a:avLst>
              <a:gd name="adj" fmla="val 2034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6205733" y="5415686"/>
            <a:ext cx="44951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I</a:t>
            </a:r>
            <a:endParaRPr lang="en-US" sz="2200" dirty="0"/>
          </a:p>
        </p:txBody>
      </p:sp>
      <p:sp>
        <p:nvSpPr>
          <p:cNvPr id="55" name="Shape 51"/>
          <p:cNvSpPr/>
          <p:nvPr/>
        </p:nvSpPr>
        <p:spPr>
          <a:xfrm>
            <a:off x="6929572" y="5415686"/>
            <a:ext cx="928094" cy="585216"/>
          </a:xfrm>
          <a:prstGeom prst="roundRect">
            <a:avLst>
              <a:gd name="adj" fmla="val 15625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6929572" y="5415686"/>
            <a:ext cx="92809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see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Exercise 2 — Put the boxes in order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4752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YOUR TURN!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0312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The colours help you! Build the sentence: +, − or ?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023872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1005840" y="2023872"/>
            <a:ext cx="60643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05840" y="2023872"/>
            <a:ext cx="60643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We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1685422" y="2023872"/>
            <a:ext cx="1455315" cy="585216"/>
          </a:xfrm>
          <a:prstGeom prst="roundRect">
            <a:avLst>
              <a:gd name="adj" fmla="val 15625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85422" y="2023872"/>
            <a:ext cx="14553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played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3213889" y="2023872"/>
            <a:ext cx="1547896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213889" y="2023872"/>
            <a:ext cx="1547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football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834938" y="2023872"/>
            <a:ext cx="2158277" cy="585216"/>
          </a:xfrm>
          <a:prstGeom prst="roundRect">
            <a:avLst>
              <a:gd name="adj" fmla="val 15625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834938" y="2023872"/>
            <a:ext cx="215827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1"/>
                </a:solidFill>
              </a:rPr>
              <a:t>yesterday.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10698480" y="2023872"/>
            <a:ext cx="585216" cy="585216"/>
          </a:xfrm>
          <a:prstGeom prst="roundRect">
            <a:avLst>
              <a:gd name="adj" fmla="val 1562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698480" y="20238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4" b="1" dirty="0">
                <a:solidFill>
                  <a:schemeClr val="bg1"/>
                </a:solidFill>
              </a:rPr>
              <a:t>+</a:t>
            </a:r>
            <a:endParaRPr lang="en-US" sz="2304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2871826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1005840" y="2871826"/>
            <a:ext cx="60643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005840" y="2871826"/>
            <a:ext cx="60643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He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1685422" y="2871826"/>
            <a:ext cx="1455315" cy="585216"/>
          </a:xfrm>
          <a:prstGeom prst="roundRect">
            <a:avLst>
              <a:gd name="adj" fmla="val 1562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685422" y="2871826"/>
            <a:ext cx="14553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didn’t</a:t>
            </a:r>
            <a:endParaRPr lang="en-US" sz="2200" dirty="0"/>
          </a:p>
        </p:txBody>
      </p:sp>
      <p:sp>
        <p:nvSpPr>
          <p:cNvPr id="25" name="Shape 21"/>
          <p:cNvSpPr/>
          <p:nvPr/>
        </p:nvSpPr>
        <p:spPr>
          <a:xfrm>
            <a:off x="3213889" y="2871826"/>
            <a:ext cx="752354" cy="585216"/>
          </a:xfrm>
          <a:prstGeom prst="roundRect">
            <a:avLst>
              <a:gd name="adj" fmla="val 15625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3213889" y="2871826"/>
            <a:ext cx="75235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go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4039395" y="2871826"/>
            <a:ext cx="1547896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039395" y="2871826"/>
            <a:ext cx="1547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to work.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10698480" y="2871826"/>
            <a:ext cx="585216" cy="585216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0698480" y="287182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4" b="1" dirty="0">
                <a:solidFill>
                  <a:schemeClr val="bg1"/>
                </a:solidFill>
              </a:rPr>
              <a:t>−</a:t>
            </a:r>
            <a:endParaRPr lang="en-US" sz="2304" dirty="0"/>
          </a:p>
        </p:txBody>
      </p:sp>
      <p:sp>
        <p:nvSpPr>
          <p:cNvPr id="31" name="Text 27"/>
          <p:cNvSpPr txBox="1"/>
          <p:nvPr/>
        </p:nvSpPr>
        <p:spPr>
          <a:xfrm>
            <a:off x="548640" y="3719779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3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1005840" y="3719779"/>
            <a:ext cx="928094" cy="585216"/>
          </a:xfrm>
          <a:prstGeom prst="roundRect">
            <a:avLst>
              <a:gd name="adj" fmla="val 1562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005840" y="3719779"/>
            <a:ext cx="92809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Did</a:t>
            </a:r>
            <a:endParaRPr lang="en-US" sz="2200" dirty="0"/>
          </a:p>
        </p:txBody>
      </p:sp>
      <p:sp>
        <p:nvSpPr>
          <p:cNvPr id="34" name="Shape 30"/>
          <p:cNvSpPr/>
          <p:nvPr/>
        </p:nvSpPr>
        <p:spPr>
          <a:xfrm>
            <a:off x="2007086" y="3719779"/>
            <a:ext cx="763341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2007086" y="3719779"/>
            <a:ext cx="76334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she</a:t>
            </a:r>
            <a:endParaRPr lang="en-US" sz="2200" dirty="0"/>
          </a:p>
        </p:txBody>
      </p:sp>
      <p:sp>
        <p:nvSpPr>
          <p:cNvPr id="36" name="Shape 32"/>
          <p:cNvSpPr/>
          <p:nvPr/>
        </p:nvSpPr>
        <p:spPr>
          <a:xfrm>
            <a:off x="2843579" y="3719779"/>
            <a:ext cx="1103834" cy="585216"/>
          </a:xfrm>
          <a:prstGeom prst="roundRect">
            <a:avLst>
              <a:gd name="adj" fmla="val 15625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2843579" y="3719779"/>
            <a:ext cx="110383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call</a:t>
            </a:r>
            <a:endParaRPr lang="en-US" sz="2200" dirty="0"/>
          </a:p>
        </p:txBody>
      </p:sp>
      <p:sp>
        <p:nvSpPr>
          <p:cNvPr id="38" name="Shape 34"/>
          <p:cNvSpPr/>
          <p:nvPr/>
        </p:nvSpPr>
        <p:spPr>
          <a:xfrm>
            <a:off x="4020566" y="3719779"/>
            <a:ext cx="920252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020566" y="3719779"/>
            <a:ext cx="9202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you?</a:t>
            </a:r>
            <a:endParaRPr lang="en-US" sz="2200" dirty="0"/>
          </a:p>
        </p:txBody>
      </p:sp>
      <p:sp>
        <p:nvSpPr>
          <p:cNvPr id="40" name="Shape 36"/>
          <p:cNvSpPr/>
          <p:nvPr/>
        </p:nvSpPr>
        <p:spPr>
          <a:xfrm>
            <a:off x="10698480" y="3719779"/>
            <a:ext cx="585216" cy="585216"/>
          </a:xfrm>
          <a:prstGeom prst="roundRect">
            <a:avLst>
              <a:gd name="adj" fmla="val 15625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0698480" y="3719779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4" b="1" dirty="0">
                <a:solidFill>
                  <a:schemeClr val="bg1"/>
                </a:solidFill>
              </a:rPr>
              <a:t>?</a:t>
            </a:r>
            <a:endParaRPr lang="en-US" sz="2304" dirty="0"/>
          </a:p>
        </p:txBody>
      </p:sp>
      <p:sp>
        <p:nvSpPr>
          <p:cNvPr id="42" name="Text 38"/>
          <p:cNvSpPr txBox="1"/>
          <p:nvPr/>
        </p:nvSpPr>
        <p:spPr>
          <a:xfrm>
            <a:off x="548640" y="4567733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4</a:t>
            </a:r>
            <a:endParaRPr lang="en-US" sz="1800" dirty="0"/>
          </a:p>
        </p:txBody>
      </p:sp>
      <p:sp>
        <p:nvSpPr>
          <p:cNvPr id="43" name="Shape 39"/>
          <p:cNvSpPr/>
          <p:nvPr/>
        </p:nvSpPr>
        <p:spPr>
          <a:xfrm>
            <a:off x="1005840" y="4567733"/>
            <a:ext cx="1103834" cy="585216"/>
          </a:xfrm>
          <a:prstGeom prst="roundRect">
            <a:avLst>
              <a:gd name="adj" fmla="val 15625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1005840" y="4567733"/>
            <a:ext cx="110383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What</a:t>
            </a:r>
            <a:endParaRPr lang="en-US" sz="2200" dirty="0"/>
          </a:p>
        </p:txBody>
      </p:sp>
      <p:sp>
        <p:nvSpPr>
          <p:cNvPr id="45" name="Shape 41"/>
          <p:cNvSpPr/>
          <p:nvPr/>
        </p:nvSpPr>
        <p:spPr>
          <a:xfrm>
            <a:off x="2182826" y="4567733"/>
            <a:ext cx="928094" cy="585216"/>
          </a:xfrm>
          <a:prstGeom prst="roundRect">
            <a:avLst>
              <a:gd name="adj" fmla="val 1562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2182826" y="4567733"/>
            <a:ext cx="92809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did</a:t>
            </a:r>
            <a:endParaRPr lang="en-US" sz="2200" dirty="0"/>
          </a:p>
        </p:txBody>
      </p:sp>
      <p:sp>
        <p:nvSpPr>
          <p:cNvPr id="47" name="Shape 43"/>
          <p:cNvSpPr/>
          <p:nvPr/>
        </p:nvSpPr>
        <p:spPr>
          <a:xfrm>
            <a:off x="3184072" y="4567733"/>
            <a:ext cx="920252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3184072" y="4567733"/>
            <a:ext cx="9202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they</a:t>
            </a:r>
            <a:endParaRPr lang="en-US" sz="2200" dirty="0"/>
          </a:p>
        </p:txBody>
      </p:sp>
      <p:sp>
        <p:nvSpPr>
          <p:cNvPr id="49" name="Shape 45"/>
          <p:cNvSpPr/>
          <p:nvPr/>
        </p:nvSpPr>
        <p:spPr>
          <a:xfrm>
            <a:off x="4177477" y="4567733"/>
            <a:ext cx="928094" cy="585216"/>
          </a:xfrm>
          <a:prstGeom prst="roundRect">
            <a:avLst>
              <a:gd name="adj" fmla="val 15625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4177477" y="4567733"/>
            <a:ext cx="92809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eat</a:t>
            </a:r>
            <a:endParaRPr lang="en-US" sz="2200" dirty="0"/>
          </a:p>
        </p:txBody>
      </p:sp>
      <p:sp>
        <p:nvSpPr>
          <p:cNvPr id="51" name="Shape 47"/>
          <p:cNvSpPr/>
          <p:nvPr/>
        </p:nvSpPr>
        <p:spPr>
          <a:xfrm>
            <a:off x="5178723" y="4567733"/>
            <a:ext cx="1861718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5178723" y="4567733"/>
            <a:ext cx="1861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for lunch?</a:t>
            </a:r>
            <a:endParaRPr lang="en-US" sz="2200" dirty="0"/>
          </a:p>
        </p:txBody>
      </p:sp>
      <p:sp>
        <p:nvSpPr>
          <p:cNvPr id="53" name="Shape 49"/>
          <p:cNvSpPr/>
          <p:nvPr/>
        </p:nvSpPr>
        <p:spPr>
          <a:xfrm>
            <a:off x="10698480" y="4567733"/>
            <a:ext cx="868680" cy="585216"/>
          </a:xfrm>
          <a:prstGeom prst="roundRect">
            <a:avLst>
              <a:gd name="adj" fmla="val 15625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10698480" y="4567733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8" b="1" dirty="0">
                <a:solidFill>
                  <a:schemeClr val="bg1"/>
                </a:solidFill>
              </a:rPr>
              <a:t>Wh?</a:t>
            </a:r>
            <a:endParaRPr lang="en-US" sz="1408" dirty="0"/>
          </a:p>
        </p:txBody>
      </p:sp>
      <p:sp>
        <p:nvSpPr>
          <p:cNvPr id="55" name="Text 51"/>
          <p:cNvSpPr txBox="1"/>
          <p:nvPr/>
        </p:nvSpPr>
        <p:spPr>
          <a:xfrm>
            <a:off x="548640" y="5415686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5</a:t>
            </a:r>
            <a:endParaRPr lang="en-US" sz="1800" dirty="0"/>
          </a:p>
        </p:txBody>
      </p:sp>
      <p:sp>
        <p:nvSpPr>
          <p:cNvPr id="56" name="Shape 52"/>
          <p:cNvSpPr/>
          <p:nvPr/>
        </p:nvSpPr>
        <p:spPr>
          <a:xfrm>
            <a:off x="1005840" y="5415686"/>
            <a:ext cx="449519" cy="585216"/>
          </a:xfrm>
          <a:prstGeom prst="roundRect">
            <a:avLst>
              <a:gd name="adj" fmla="val 2034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1005840" y="5415686"/>
            <a:ext cx="44951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I</a:t>
            </a:r>
            <a:endParaRPr lang="en-US" sz="2200" dirty="0"/>
          </a:p>
        </p:txBody>
      </p:sp>
      <p:sp>
        <p:nvSpPr>
          <p:cNvPr id="58" name="Shape 54"/>
          <p:cNvSpPr/>
          <p:nvPr/>
        </p:nvSpPr>
        <p:spPr>
          <a:xfrm>
            <a:off x="1528511" y="5415686"/>
            <a:ext cx="1455315" cy="585216"/>
          </a:xfrm>
          <a:prstGeom prst="roundRect">
            <a:avLst>
              <a:gd name="adj" fmla="val 15625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1528511" y="5415686"/>
            <a:ext cx="14553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</a:rPr>
              <a:t>didn’t</a:t>
            </a:r>
            <a:endParaRPr lang="en-US" sz="2200" dirty="0"/>
          </a:p>
        </p:txBody>
      </p:sp>
      <p:sp>
        <p:nvSpPr>
          <p:cNvPr id="60" name="Shape 56"/>
          <p:cNvSpPr/>
          <p:nvPr/>
        </p:nvSpPr>
        <p:spPr>
          <a:xfrm>
            <a:off x="3056978" y="5415686"/>
            <a:ext cx="928094" cy="585216"/>
          </a:xfrm>
          <a:prstGeom prst="roundRect">
            <a:avLst>
              <a:gd name="adj" fmla="val 15625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3056978" y="5415686"/>
            <a:ext cx="92809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6"/>
                </a:solidFill>
              </a:rPr>
              <a:t>see</a:t>
            </a:r>
            <a:endParaRPr lang="en-US" sz="2200" dirty="0"/>
          </a:p>
        </p:txBody>
      </p:sp>
      <p:sp>
        <p:nvSpPr>
          <p:cNvPr id="62" name="Shape 58"/>
          <p:cNvSpPr/>
          <p:nvPr/>
        </p:nvSpPr>
        <p:spPr>
          <a:xfrm>
            <a:off x="4058224" y="5415686"/>
            <a:ext cx="763341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4058224" y="5415686"/>
            <a:ext cx="76334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Tom</a:t>
            </a:r>
            <a:endParaRPr lang="en-US" sz="2200" dirty="0"/>
          </a:p>
        </p:txBody>
      </p:sp>
      <p:sp>
        <p:nvSpPr>
          <p:cNvPr id="64" name="Shape 60"/>
          <p:cNvSpPr/>
          <p:nvPr/>
        </p:nvSpPr>
        <p:spPr>
          <a:xfrm>
            <a:off x="4894717" y="5415686"/>
            <a:ext cx="2158277" cy="585216"/>
          </a:xfrm>
          <a:prstGeom prst="roundRect">
            <a:avLst>
              <a:gd name="adj" fmla="val 15625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4894717" y="5415686"/>
            <a:ext cx="215827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accent1"/>
                </a:solidFill>
              </a:rPr>
              <a:t>yesterday.</a:t>
            </a:r>
            <a:endParaRPr lang="en-US" sz="2200" dirty="0"/>
          </a:p>
        </p:txBody>
      </p:sp>
      <p:sp>
        <p:nvSpPr>
          <p:cNvPr id="66" name="Shape 62"/>
          <p:cNvSpPr/>
          <p:nvPr/>
        </p:nvSpPr>
        <p:spPr>
          <a:xfrm>
            <a:off x="10698480" y="5415686"/>
            <a:ext cx="585216" cy="585216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10698480" y="541568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4" b="1" dirty="0">
                <a:solidFill>
                  <a:schemeClr val="bg1"/>
                </a:solidFill>
              </a:rPr>
              <a:t>−</a:t>
            </a:r>
            <a:endParaRPr lang="en-US" sz="2304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Exercise 3 — Fill the boxes: + → − →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4752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YOUR TURN!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Write the negative (−) and the question (?). One word in each box!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5454396" cy="2097024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2097024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2097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+</a:t>
            </a:r>
            <a:endParaRPr lang="en-US" sz="1872" dirty="0"/>
          </a:p>
        </p:txBody>
      </p:sp>
      <p:sp>
        <p:nvSpPr>
          <p:cNvPr id="11" name="Shape 7"/>
          <p:cNvSpPr/>
          <p:nvPr/>
        </p:nvSpPr>
        <p:spPr>
          <a:xfrm>
            <a:off x="1417320" y="2097024"/>
            <a:ext cx="77760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17320" y="2097024"/>
            <a:ext cx="7776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They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2268078" y="2097024"/>
            <a:ext cx="1079870" cy="475488"/>
          </a:xfrm>
          <a:prstGeom prst="roundRect">
            <a:avLst>
              <a:gd name="adj" fmla="val 19231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268078" y="2097024"/>
            <a:ext cx="10798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accent6"/>
                </a:solidFill>
              </a:rPr>
              <a:t>watch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3366236" y="2097024"/>
            <a:ext cx="562744" cy="475488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366236" y="2097024"/>
            <a:ext cx="562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ed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4002131" y="2097024"/>
            <a:ext cx="65635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002131" y="2097024"/>
            <a:ext cx="6563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TV.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731520" y="2686304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31520" y="2686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−</a:t>
            </a:r>
            <a:endParaRPr lang="en-US" sz="1872" dirty="0"/>
          </a:p>
        </p:txBody>
      </p:sp>
      <p:sp>
        <p:nvSpPr>
          <p:cNvPr id="21" name="Shape 17"/>
          <p:cNvSpPr/>
          <p:nvPr/>
        </p:nvSpPr>
        <p:spPr>
          <a:xfrm>
            <a:off x="1417320" y="2686304"/>
            <a:ext cx="77760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2268078" y="2686304"/>
            <a:ext cx="808271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23" name="Shape 19"/>
          <p:cNvSpPr/>
          <p:nvPr/>
        </p:nvSpPr>
        <p:spPr>
          <a:xfrm>
            <a:off x="3094637" y="2686304"/>
            <a:ext cx="698543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24" name="Shape 20"/>
          <p:cNvSpPr/>
          <p:nvPr/>
        </p:nvSpPr>
        <p:spPr>
          <a:xfrm>
            <a:off x="3866332" y="2686304"/>
            <a:ext cx="107987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25" name="Shape 21"/>
          <p:cNvSpPr/>
          <p:nvPr/>
        </p:nvSpPr>
        <p:spPr>
          <a:xfrm>
            <a:off x="5019354" y="2686304"/>
            <a:ext cx="65635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26" name="Shape 22"/>
          <p:cNvSpPr/>
          <p:nvPr/>
        </p:nvSpPr>
        <p:spPr>
          <a:xfrm>
            <a:off x="731520" y="3275584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31520" y="3275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?</a:t>
            </a:r>
            <a:endParaRPr lang="en-US" sz="1872" dirty="0"/>
          </a:p>
        </p:txBody>
      </p:sp>
      <p:sp>
        <p:nvSpPr>
          <p:cNvPr id="28" name="Shape 24"/>
          <p:cNvSpPr/>
          <p:nvPr/>
        </p:nvSpPr>
        <p:spPr>
          <a:xfrm>
            <a:off x="1417320" y="3275584"/>
            <a:ext cx="808271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29" name="Shape 25"/>
          <p:cNvSpPr/>
          <p:nvPr/>
        </p:nvSpPr>
        <p:spPr>
          <a:xfrm>
            <a:off x="2298743" y="3275584"/>
            <a:ext cx="77760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30" name="Shape 26"/>
          <p:cNvSpPr/>
          <p:nvPr/>
        </p:nvSpPr>
        <p:spPr>
          <a:xfrm>
            <a:off x="3149501" y="3275584"/>
            <a:ext cx="107987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31" name="Shape 27"/>
          <p:cNvSpPr/>
          <p:nvPr/>
        </p:nvSpPr>
        <p:spPr>
          <a:xfrm>
            <a:off x="4302523" y="3275584"/>
            <a:ext cx="65635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32" name="Shape 28"/>
          <p:cNvSpPr/>
          <p:nvPr/>
        </p:nvSpPr>
        <p:spPr>
          <a:xfrm>
            <a:off x="6185916" y="1932432"/>
            <a:ext cx="5454396" cy="2097024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368796" y="2097024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368796" y="2097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+</a:t>
            </a:r>
            <a:endParaRPr lang="en-US" sz="1872" dirty="0"/>
          </a:p>
        </p:txBody>
      </p:sp>
      <p:sp>
        <p:nvSpPr>
          <p:cNvPr id="35" name="Shape 31"/>
          <p:cNvSpPr/>
          <p:nvPr/>
        </p:nvSpPr>
        <p:spPr>
          <a:xfrm>
            <a:off x="7054596" y="2097024"/>
            <a:ext cx="65635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054596" y="2097024"/>
            <a:ext cx="6563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She</a:t>
            </a:r>
            <a:endParaRPr lang="en-US" sz="1700" dirty="0"/>
          </a:p>
        </p:txBody>
      </p:sp>
      <p:sp>
        <p:nvSpPr>
          <p:cNvPr id="37" name="Shape 33"/>
          <p:cNvSpPr/>
          <p:nvPr/>
        </p:nvSpPr>
        <p:spPr>
          <a:xfrm>
            <a:off x="7784104" y="2097024"/>
            <a:ext cx="944070" cy="475488"/>
          </a:xfrm>
          <a:prstGeom prst="roundRect">
            <a:avLst>
              <a:gd name="adj" fmla="val 19231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7784104" y="2097024"/>
            <a:ext cx="9440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went</a:t>
            </a:r>
            <a:endParaRPr lang="en-US" sz="1700" dirty="0"/>
          </a:p>
        </p:txBody>
      </p:sp>
      <p:sp>
        <p:nvSpPr>
          <p:cNvPr id="39" name="Shape 35"/>
          <p:cNvSpPr/>
          <p:nvPr/>
        </p:nvSpPr>
        <p:spPr>
          <a:xfrm>
            <a:off x="8801327" y="2097024"/>
            <a:ext cx="898855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8801327" y="2097024"/>
            <a:ext cx="898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home.</a:t>
            </a:r>
            <a:endParaRPr lang="en-US" sz="1700" dirty="0"/>
          </a:p>
        </p:txBody>
      </p:sp>
      <p:sp>
        <p:nvSpPr>
          <p:cNvPr id="41" name="Shape 37"/>
          <p:cNvSpPr/>
          <p:nvPr/>
        </p:nvSpPr>
        <p:spPr>
          <a:xfrm>
            <a:off x="6368796" y="2686304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368796" y="2686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−</a:t>
            </a:r>
            <a:endParaRPr lang="en-US" sz="1872" dirty="0"/>
          </a:p>
        </p:txBody>
      </p:sp>
      <p:sp>
        <p:nvSpPr>
          <p:cNvPr id="43" name="Shape 39"/>
          <p:cNvSpPr/>
          <p:nvPr/>
        </p:nvSpPr>
        <p:spPr>
          <a:xfrm>
            <a:off x="7054596" y="2686304"/>
            <a:ext cx="65635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44" name="Shape 40"/>
          <p:cNvSpPr/>
          <p:nvPr/>
        </p:nvSpPr>
        <p:spPr>
          <a:xfrm>
            <a:off x="7784104" y="2686304"/>
            <a:ext cx="808271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45" name="Shape 41"/>
          <p:cNvSpPr/>
          <p:nvPr/>
        </p:nvSpPr>
        <p:spPr>
          <a:xfrm>
            <a:off x="8610663" y="2686304"/>
            <a:ext cx="698543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46" name="Shape 42"/>
          <p:cNvSpPr/>
          <p:nvPr/>
        </p:nvSpPr>
        <p:spPr>
          <a:xfrm>
            <a:off x="9382358" y="2686304"/>
            <a:ext cx="672472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47" name="Shape 43"/>
          <p:cNvSpPr/>
          <p:nvPr/>
        </p:nvSpPr>
        <p:spPr>
          <a:xfrm>
            <a:off x="10127982" y="2686304"/>
            <a:ext cx="898855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48" name="Shape 44"/>
          <p:cNvSpPr/>
          <p:nvPr/>
        </p:nvSpPr>
        <p:spPr>
          <a:xfrm>
            <a:off x="6368796" y="3275584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6368796" y="3275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?</a:t>
            </a:r>
            <a:endParaRPr lang="en-US" sz="1872" dirty="0"/>
          </a:p>
        </p:txBody>
      </p:sp>
      <p:sp>
        <p:nvSpPr>
          <p:cNvPr id="50" name="Shape 46"/>
          <p:cNvSpPr/>
          <p:nvPr/>
        </p:nvSpPr>
        <p:spPr>
          <a:xfrm>
            <a:off x="7054596" y="3275584"/>
            <a:ext cx="808271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51" name="Shape 47"/>
          <p:cNvSpPr/>
          <p:nvPr/>
        </p:nvSpPr>
        <p:spPr>
          <a:xfrm>
            <a:off x="7936019" y="3275584"/>
            <a:ext cx="65635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52" name="Shape 48"/>
          <p:cNvSpPr/>
          <p:nvPr/>
        </p:nvSpPr>
        <p:spPr>
          <a:xfrm>
            <a:off x="8665527" y="3275584"/>
            <a:ext cx="672472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53" name="Shape 49"/>
          <p:cNvSpPr/>
          <p:nvPr/>
        </p:nvSpPr>
        <p:spPr>
          <a:xfrm>
            <a:off x="9411151" y="3275584"/>
            <a:ext cx="898855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54" name="Shape 50"/>
          <p:cNvSpPr/>
          <p:nvPr/>
        </p:nvSpPr>
        <p:spPr>
          <a:xfrm>
            <a:off x="548640" y="4166616"/>
            <a:ext cx="5454396" cy="2097024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731520" y="4331208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731520" y="4331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+</a:t>
            </a:r>
            <a:endParaRPr lang="en-US" sz="1872" dirty="0"/>
          </a:p>
        </p:txBody>
      </p:sp>
      <p:sp>
        <p:nvSpPr>
          <p:cNvPr id="57" name="Shape 53"/>
          <p:cNvSpPr/>
          <p:nvPr/>
        </p:nvSpPr>
        <p:spPr>
          <a:xfrm>
            <a:off x="1417320" y="4331208"/>
            <a:ext cx="65635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1417320" y="4331208"/>
            <a:ext cx="6563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You</a:t>
            </a:r>
            <a:endParaRPr lang="en-US" sz="1700" dirty="0"/>
          </a:p>
        </p:txBody>
      </p:sp>
      <p:sp>
        <p:nvSpPr>
          <p:cNvPr id="59" name="Shape 55"/>
          <p:cNvSpPr/>
          <p:nvPr/>
        </p:nvSpPr>
        <p:spPr>
          <a:xfrm>
            <a:off x="2146828" y="4331208"/>
            <a:ext cx="808271" cy="475488"/>
          </a:xfrm>
          <a:prstGeom prst="roundRect">
            <a:avLst>
              <a:gd name="adj" fmla="val 19231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2146828" y="4331208"/>
            <a:ext cx="80827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met</a:t>
            </a:r>
            <a:endParaRPr lang="en-US" sz="1700" dirty="0"/>
          </a:p>
        </p:txBody>
      </p:sp>
      <p:sp>
        <p:nvSpPr>
          <p:cNvPr id="61" name="Shape 57"/>
          <p:cNvSpPr/>
          <p:nvPr/>
        </p:nvSpPr>
        <p:spPr>
          <a:xfrm>
            <a:off x="3028251" y="4331208"/>
            <a:ext cx="77760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3028251" y="4331208"/>
            <a:ext cx="7776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Tom.</a:t>
            </a:r>
            <a:endParaRPr lang="en-US" sz="1700" dirty="0"/>
          </a:p>
        </p:txBody>
      </p:sp>
      <p:sp>
        <p:nvSpPr>
          <p:cNvPr id="63" name="Shape 59"/>
          <p:cNvSpPr/>
          <p:nvPr/>
        </p:nvSpPr>
        <p:spPr>
          <a:xfrm>
            <a:off x="731520" y="4920488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731520" y="4920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−</a:t>
            </a:r>
            <a:endParaRPr lang="en-US" sz="1872" dirty="0"/>
          </a:p>
        </p:txBody>
      </p:sp>
      <p:sp>
        <p:nvSpPr>
          <p:cNvPr id="65" name="Shape 61"/>
          <p:cNvSpPr/>
          <p:nvPr/>
        </p:nvSpPr>
        <p:spPr>
          <a:xfrm>
            <a:off x="1417320" y="4920488"/>
            <a:ext cx="65635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66" name="Shape 62"/>
          <p:cNvSpPr/>
          <p:nvPr/>
        </p:nvSpPr>
        <p:spPr>
          <a:xfrm>
            <a:off x="2146828" y="4920488"/>
            <a:ext cx="808271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67" name="Shape 63"/>
          <p:cNvSpPr/>
          <p:nvPr/>
        </p:nvSpPr>
        <p:spPr>
          <a:xfrm>
            <a:off x="2973387" y="4920488"/>
            <a:ext cx="698543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68" name="Shape 64"/>
          <p:cNvSpPr/>
          <p:nvPr/>
        </p:nvSpPr>
        <p:spPr>
          <a:xfrm>
            <a:off x="3745082" y="4920488"/>
            <a:ext cx="94407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69" name="Shape 65"/>
          <p:cNvSpPr/>
          <p:nvPr/>
        </p:nvSpPr>
        <p:spPr>
          <a:xfrm>
            <a:off x="4762305" y="4920488"/>
            <a:ext cx="77760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70" name="Shape 66"/>
          <p:cNvSpPr/>
          <p:nvPr/>
        </p:nvSpPr>
        <p:spPr>
          <a:xfrm>
            <a:off x="731520" y="5509768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731520" y="5509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?</a:t>
            </a:r>
            <a:endParaRPr lang="en-US" sz="1872" dirty="0"/>
          </a:p>
        </p:txBody>
      </p:sp>
      <p:sp>
        <p:nvSpPr>
          <p:cNvPr id="72" name="Shape 68"/>
          <p:cNvSpPr/>
          <p:nvPr/>
        </p:nvSpPr>
        <p:spPr>
          <a:xfrm>
            <a:off x="1417320" y="5509768"/>
            <a:ext cx="808271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73" name="Shape 69"/>
          <p:cNvSpPr/>
          <p:nvPr/>
        </p:nvSpPr>
        <p:spPr>
          <a:xfrm>
            <a:off x="2298743" y="5509768"/>
            <a:ext cx="65635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74" name="Shape 70"/>
          <p:cNvSpPr/>
          <p:nvPr/>
        </p:nvSpPr>
        <p:spPr>
          <a:xfrm>
            <a:off x="3028251" y="5509768"/>
            <a:ext cx="94407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75" name="Shape 71"/>
          <p:cNvSpPr/>
          <p:nvPr/>
        </p:nvSpPr>
        <p:spPr>
          <a:xfrm>
            <a:off x="4045474" y="5509768"/>
            <a:ext cx="77760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76" name="Shape 72"/>
          <p:cNvSpPr/>
          <p:nvPr/>
        </p:nvSpPr>
        <p:spPr>
          <a:xfrm>
            <a:off x="6185916" y="4166616"/>
            <a:ext cx="5454396" cy="2097024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77" name="Shape 73"/>
          <p:cNvSpPr/>
          <p:nvPr/>
        </p:nvSpPr>
        <p:spPr>
          <a:xfrm>
            <a:off x="6368796" y="4331208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74"/>
          <p:cNvSpPr txBox="1"/>
          <p:nvPr/>
        </p:nvSpPr>
        <p:spPr>
          <a:xfrm>
            <a:off x="6368796" y="4331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+</a:t>
            </a:r>
            <a:endParaRPr lang="en-US" sz="1872" dirty="0"/>
          </a:p>
        </p:txBody>
      </p:sp>
      <p:sp>
        <p:nvSpPr>
          <p:cNvPr id="79" name="Shape 75"/>
          <p:cNvSpPr/>
          <p:nvPr/>
        </p:nvSpPr>
        <p:spPr>
          <a:xfrm>
            <a:off x="7054596" y="4331208"/>
            <a:ext cx="535107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80" name="Text 76"/>
          <p:cNvSpPr txBox="1"/>
          <p:nvPr/>
        </p:nvSpPr>
        <p:spPr>
          <a:xfrm>
            <a:off x="7054596" y="4331208"/>
            <a:ext cx="53510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</a:t>
            </a:r>
            <a:endParaRPr lang="en-US" sz="1700" dirty="0"/>
          </a:p>
        </p:txBody>
      </p:sp>
      <p:sp>
        <p:nvSpPr>
          <p:cNvPr id="81" name="Shape 77"/>
          <p:cNvSpPr/>
          <p:nvPr/>
        </p:nvSpPr>
        <p:spPr>
          <a:xfrm>
            <a:off x="7662855" y="4331208"/>
            <a:ext cx="1215669" cy="475488"/>
          </a:xfrm>
          <a:prstGeom prst="roundRect">
            <a:avLst>
              <a:gd name="adj" fmla="val 19231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7662855" y="4331208"/>
            <a:ext cx="12156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bought</a:t>
            </a:r>
            <a:endParaRPr lang="en-US" sz="1700" dirty="0"/>
          </a:p>
        </p:txBody>
      </p:sp>
      <p:sp>
        <p:nvSpPr>
          <p:cNvPr id="83" name="Shape 79"/>
          <p:cNvSpPr/>
          <p:nvPr/>
        </p:nvSpPr>
        <p:spPr>
          <a:xfrm>
            <a:off x="8951676" y="4331208"/>
            <a:ext cx="1020105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84" name="Text 80"/>
          <p:cNvSpPr txBox="1"/>
          <p:nvPr/>
        </p:nvSpPr>
        <p:spPr>
          <a:xfrm>
            <a:off x="8951676" y="4331208"/>
            <a:ext cx="10201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a car.</a:t>
            </a:r>
            <a:endParaRPr lang="en-US" sz="1700" dirty="0"/>
          </a:p>
        </p:txBody>
      </p:sp>
      <p:sp>
        <p:nvSpPr>
          <p:cNvPr id="85" name="Shape 81"/>
          <p:cNvSpPr/>
          <p:nvPr/>
        </p:nvSpPr>
        <p:spPr>
          <a:xfrm>
            <a:off x="6368796" y="4920488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Text 82"/>
          <p:cNvSpPr txBox="1"/>
          <p:nvPr/>
        </p:nvSpPr>
        <p:spPr>
          <a:xfrm>
            <a:off x="6368796" y="4920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−</a:t>
            </a:r>
            <a:endParaRPr lang="en-US" sz="1872" dirty="0"/>
          </a:p>
        </p:txBody>
      </p:sp>
      <p:sp>
        <p:nvSpPr>
          <p:cNvPr id="87" name="Shape 83"/>
          <p:cNvSpPr/>
          <p:nvPr/>
        </p:nvSpPr>
        <p:spPr>
          <a:xfrm>
            <a:off x="7054596" y="4920488"/>
            <a:ext cx="535107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88" name="Shape 84"/>
          <p:cNvSpPr/>
          <p:nvPr/>
        </p:nvSpPr>
        <p:spPr>
          <a:xfrm>
            <a:off x="7662855" y="4920488"/>
            <a:ext cx="808271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89" name="Shape 85"/>
          <p:cNvSpPr/>
          <p:nvPr/>
        </p:nvSpPr>
        <p:spPr>
          <a:xfrm>
            <a:off x="8489414" y="4920488"/>
            <a:ext cx="698543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90" name="Shape 86"/>
          <p:cNvSpPr/>
          <p:nvPr/>
        </p:nvSpPr>
        <p:spPr>
          <a:xfrm>
            <a:off x="9261109" y="4920488"/>
            <a:ext cx="808271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91" name="Shape 87"/>
          <p:cNvSpPr/>
          <p:nvPr/>
        </p:nvSpPr>
        <p:spPr>
          <a:xfrm>
            <a:off x="10142532" y="4920488"/>
            <a:ext cx="1020105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92" name="Shape 88"/>
          <p:cNvSpPr/>
          <p:nvPr/>
        </p:nvSpPr>
        <p:spPr>
          <a:xfrm>
            <a:off x="6368796" y="5509768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Text 89"/>
          <p:cNvSpPr txBox="1"/>
          <p:nvPr/>
        </p:nvSpPr>
        <p:spPr>
          <a:xfrm>
            <a:off x="6368796" y="5509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?</a:t>
            </a:r>
            <a:endParaRPr lang="en-US" sz="1872" dirty="0"/>
          </a:p>
        </p:txBody>
      </p:sp>
      <p:sp>
        <p:nvSpPr>
          <p:cNvPr id="94" name="Shape 90"/>
          <p:cNvSpPr/>
          <p:nvPr/>
        </p:nvSpPr>
        <p:spPr>
          <a:xfrm>
            <a:off x="7054596" y="5509768"/>
            <a:ext cx="808271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95" name="Shape 91"/>
          <p:cNvSpPr/>
          <p:nvPr/>
        </p:nvSpPr>
        <p:spPr>
          <a:xfrm>
            <a:off x="7936019" y="5509768"/>
            <a:ext cx="535107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96" name="Shape 92"/>
          <p:cNvSpPr/>
          <p:nvPr/>
        </p:nvSpPr>
        <p:spPr>
          <a:xfrm>
            <a:off x="8544278" y="5509768"/>
            <a:ext cx="808271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97" name="Shape 93"/>
          <p:cNvSpPr/>
          <p:nvPr/>
        </p:nvSpPr>
        <p:spPr>
          <a:xfrm>
            <a:off x="9425701" y="5509768"/>
            <a:ext cx="1020105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Exercise 3 — Fill the boxes: + → − →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4752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YOUR TURN!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0312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Write the negative (−) and the question (?). One word in each box!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5454396" cy="2097024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31520" y="2097024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2097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+</a:t>
            </a:r>
            <a:endParaRPr lang="en-US" sz="1872" dirty="0"/>
          </a:p>
        </p:txBody>
      </p:sp>
      <p:sp>
        <p:nvSpPr>
          <p:cNvPr id="12" name="Shape 8"/>
          <p:cNvSpPr/>
          <p:nvPr/>
        </p:nvSpPr>
        <p:spPr>
          <a:xfrm>
            <a:off x="1417320" y="2097024"/>
            <a:ext cx="77760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417320" y="2097024"/>
            <a:ext cx="7776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They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2268078" y="2097024"/>
            <a:ext cx="1079870" cy="475488"/>
          </a:xfrm>
          <a:prstGeom prst="roundRect">
            <a:avLst>
              <a:gd name="adj" fmla="val 19231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268078" y="2097024"/>
            <a:ext cx="10798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accent6"/>
                </a:solidFill>
              </a:rPr>
              <a:t>watch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3366236" y="2097024"/>
            <a:ext cx="562744" cy="475488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366236" y="2097024"/>
            <a:ext cx="562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ed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4002131" y="2097024"/>
            <a:ext cx="65635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002131" y="2097024"/>
            <a:ext cx="6563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TV.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731520" y="2686304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31520" y="2686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−</a:t>
            </a:r>
            <a:endParaRPr lang="en-US" sz="1872" dirty="0"/>
          </a:p>
        </p:txBody>
      </p:sp>
      <p:sp>
        <p:nvSpPr>
          <p:cNvPr id="22" name="Shape 18"/>
          <p:cNvSpPr/>
          <p:nvPr/>
        </p:nvSpPr>
        <p:spPr>
          <a:xfrm>
            <a:off x="1417320" y="2686304"/>
            <a:ext cx="77760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417320" y="2686304"/>
            <a:ext cx="7776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They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2268078" y="2686304"/>
            <a:ext cx="808271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2268078" y="2686304"/>
            <a:ext cx="80827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did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3094637" y="2686304"/>
            <a:ext cx="698543" cy="475488"/>
          </a:xfrm>
          <a:prstGeom prst="roundRect">
            <a:avLst>
              <a:gd name="adj" fmla="val 19231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094637" y="2686304"/>
            <a:ext cx="6985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n’t</a:t>
            </a:r>
            <a:endParaRPr lang="en-US" sz="1700" dirty="0"/>
          </a:p>
        </p:txBody>
      </p:sp>
      <p:sp>
        <p:nvSpPr>
          <p:cNvPr id="28" name="Shape 24"/>
          <p:cNvSpPr/>
          <p:nvPr/>
        </p:nvSpPr>
        <p:spPr>
          <a:xfrm>
            <a:off x="3866332" y="2686304"/>
            <a:ext cx="1079870" cy="475488"/>
          </a:xfrm>
          <a:prstGeom prst="roundRect">
            <a:avLst>
              <a:gd name="adj" fmla="val 19231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3866332" y="2686304"/>
            <a:ext cx="10798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accent6"/>
                </a:solidFill>
              </a:rPr>
              <a:t>watch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5019354" y="2686304"/>
            <a:ext cx="65635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019354" y="2686304"/>
            <a:ext cx="6563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TV.</a:t>
            </a:r>
            <a:endParaRPr lang="en-US" sz="1700" dirty="0"/>
          </a:p>
        </p:txBody>
      </p:sp>
      <p:sp>
        <p:nvSpPr>
          <p:cNvPr id="32" name="Shape 28"/>
          <p:cNvSpPr/>
          <p:nvPr/>
        </p:nvSpPr>
        <p:spPr>
          <a:xfrm>
            <a:off x="731520" y="3275584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31520" y="3275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?</a:t>
            </a:r>
            <a:endParaRPr lang="en-US" sz="1872" dirty="0"/>
          </a:p>
        </p:txBody>
      </p:sp>
      <p:sp>
        <p:nvSpPr>
          <p:cNvPr id="34" name="Shape 30"/>
          <p:cNvSpPr/>
          <p:nvPr/>
        </p:nvSpPr>
        <p:spPr>
          <a:xfrm>
            <a:off x="1417320" y="3275584"/>
            <a:ext cx="808271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417320" y="3275584"/>
            <a:ext cx="80827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Did</a:t>
            </a:r>
            <a:endParaRPr lang="en-US" sz="1700" dirty="0"/>
          </a:p>
        </p:txBody>
      </p:sp>
      <p:sp>
        <p:nvSpPr>
          <p:cNvPr id="36" name="Shape 32"/>
          <p:cNvSpPr/>
          <p:nvPr/>
        </p:nvSpPr>
        <p:spPr>
          <a:xfrm>
            <a:off x="2298743" y="3275584"/>
            <a:ext cx="77760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2298743" y="3275584"/>
            <a:ext cx="7776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they</a:t>
            </a:r>
            <a:endParaRPr lang="en-US" sz="1700" dirty="0"/>
          </a:p>
        </p:txBody>
      </p:sp>
      <p:sp>
        <p:nvSpPr>
          <p:cNvPr id="38" name="Shape 34"/>
          <p:cNvSpPr/>
          <p:nvPr/>
        </p:nvSpPr>
        <p:spPr>
          <a:xfrm>
            <a:off x="3149501" y="3275584"/>
            <a:ext cx="1079870" cy="475488"/>
          </a:xfrm>
          <a:prstGeom prst="roundRect">
            <a:avLst>
              <a:gd name="adj" fmla="val 19231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3149501" y="3275584"/>
            <a:ext cx="10798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accent6"/>
                </a:solidFill>
              </a:rPr>
              <a:t>watch</a:t>
            </a:r>
            <a:endParaRPr lang="en-US" sz="1700" dirty="0"/>
          </a:p>
        </p:txBody>
      </p:sp>
      <p:sp>
        <p:nvSpPr>
          <p:cNvPr id="40" name="Shape 36"/>
          <p:cNvSpPr/>
          <p:nvPr/>
        </p:nvSpPr>
        <p:spPr>
          <a:xfrm>
            <a:off x="4302523" y="3275584"/>
            <a:ext cx="65635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4302523" y="3275584"/>
            <a:ext cx="6563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TV?</a:t>
            </a:r>
            <a:endParaRPr lang="en-US" sz="1700" dirty="0"/>
          </a:p>
        </p:txBody>
      </p:sp>
      <p:sp>
        <p:nvSpPr>
          <p:cNvPr id="42" name="Shape 38"/>
          <p:cNvSpPr/>
          <p:nvPr/>
        </p:nvSpPr>
        <p:spPr>
          <a:xfrm>
            <a:off x="6185916" y="1932432"/>
            <a:ext cx="5454396" cy="2097024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6368796" y="2097024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6368796" y="2097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+</a:t>
            </a:r>
            <a:endParaRPr lang="en-US" sz="1872" dirty="0"/>
          </a:p>
        </p:txBody>
      </p:sp>
      <p:sp>
        <p:nvSpPr>
          <p:cNvPr id="45" name="Shape 41"/>
          <p:cNvSpPr/>
          <p:nvPr/>
        </p:nvSpPr>
        <p:spPr>
          <a:xfrm>
            <a:off x="7054596" y="2097024"/>
            <a:ext cx="65635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7054596" y="2097024"/>
            <a:ext cx="6563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She</a:t>
            </a:r>
            <a:endParaRPr lang="en-US" sz="1700" dirty="0"/>
          </a:p>
        </p:txBody>
      </p:sp>
      <p:sp>
        <p:nvSpPr>
          <p:cNvPr id="47" name="Shape 43"/>
          <p:cNvSpPr/>
          <p:nvPr/>
        </p:nvSpPr>
        <p:spPr>
          <a:xfrm>
            <a:off x="7784104" y="2097024"/>
            <a:ext cx="944070" cy="475488"/>
          </a:xfrm>
          <a:prstGeom prst="roundRect">
            <a:avLst>
              <a:gd name="adj" fmla="val 19231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7784104" y="2097024"/>
            <a:ext cx="9440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went</a:t>
            </a:r>
            <a:endParaRPr lang="en-US" sz="1700" dirty="0"/>
          </a:p>
        </p:txBody>
      </p:sp>
      <p:sp>
        <p:nvSpPr>
          <p:cNvPr id="49" name="Shape 45"/>
          <p:cNvSpPr/>
          <p:nvPr/>
        </p:nvSpPr>
        <p:spPr>
          <a:xfrm>
            <a:off x="8801327" y="2097024"/>
            <a:ext cx="898855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8801327" y="2097024"/>
            <a:ext cx="898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home.</a:t>
            </a:r>
            <a:endParaRPr lang="en-US" sz="1700" dirty="0"/>
          </a:p>
        </p:txBody>
      </p:sp>
      <p:sp>
        <p:nvSpPr>
          <p:cNvPr id="51" name="Shape 47"/>
          <p:cNvSpPr/>
          <p:nvPr/>
        </p:nvSpPr>
        <p:spPr>
          <a:xfrm>
            <a:off x="6368796" y="2686304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6368796" y="2686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−</a:t>
            </a:r>
            <a:endParaRPr lang="en-US" sz="1872" dirty="0"/>
          </a:p>
        </p:txBody>
      </p:sp>
      <p:sp>
        <p:nvSpPr>
          <p:cNvPr id="53" name="Shape 49"/>
          <p:cNvSpPr/>
          <p:nvPr/>
        </p:nvSpPr>
        <p:spPr>
          <a:xfrm>
            <a:off x="7054596" y="2686304"/>
            <a:ext cx="65635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7054596" y="2686304"/>
            <a:ext cx="6563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She</a:t>
            </a:r>
            <a:endParaRPr lang="en-US" sz="1700" dirty="0"/>
          </a:p>
        </p:txBody>
      </p:sp>
      <p:sp>
        <p:nvSpPr>
          <p:cNvPr id="55" name="Shape 51"/>
          <p:cNvSpPr/>
          <p:nvPr/>
        </p:nvSpPr>
        <p:spPr>
          <a:xfrm>
            <a:off x="7784104" y="2686304"/>
            <a:ext cx="808271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7784104" y="2686304"/>
            <a:ext cx="80827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did</a:t>
            </a:r>
            <a:endParaRPr lang="en-US" sz="1700" dirty="0"/>
          </a:p>
        </p:txBody>
      </p:sp>
      <p:sp>
        <p:nvSpPr>
          <p:cNvPr id="57" name="Shape 53"/>
          <p:cNvSpPr/>
          <p:nvPr/>
        </p:nvSpPr>
        <p:spPr>
          <a:xfrm>
            <a:off x="8610663" y="2686304"/>
            <a:ext cx="698543" cy="475488"/>
          </a:xfrm>
          <a:prstGeom prst="roundRect">
            <a:avLst>
              <a:gd name="adj" fmla="val 19231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8610663" y="2686304"/>
            <a:ext cx="6985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n’t</a:t>
            </a:r>
            <a:endParaRPr lang="en-US" sz="1700" dirty="0"/>
          </a:p>
        </p:txBody>
      </p:sp>
      <p:sp>
        <p:nvSpPr>
          <p:cNvPr id="59" name="Shape 55"/>
          <p:cNvSpPr/>
          <p:nvPr/>
        </p:nvSpPr>
        <p:spPr>
          <a:xfrm>
            <a:off x="9382358" y="2686304"/>
            <a:ext cx="672472" cy="475488"/>
          </a:xfrm>
          <a:prstGeom prst="roundRect">
            <a:avLst>
              <a:gd name="adj" fmla="val 19231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9382358" y="2686304"/>
            <a:ext cx="672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accent6"/>
                </a:solidFill>
              </a:rPr>
              <a:t>go</a:t>
            </a:r>
            <a:endParaRPr lang="en-US" sz="1700" dirty="0"/>
          </a:p>
        </p:txBody>
      </p:sp>
      <p:sp>
        <p:nvSpPr>
          <p:cNvPr id="61" name="Shape 57"/>
          <p:cNvSpPr/>
          <p:nvPr/>
        </p:nvSpPr>
        <p:spPr>
          <a:xfrm>
            <a:off x="10127982" y="2686304"/>
            <a:ext cx="898855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10127982" y="2686304"/>
            <a:ext cx="898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home.</a:t>
            </a:r>
            <a:endParaRPr lang="en-US" sz="1700" dirty="0"/>
          </a:p>
        </p:txBody>
      </p:sp>
      <p:sp>
        <p:nvSpPr>
          <p:cNvPr id="63" name="Shape 59"/>
          <p:cNvSpPr/>
          <p:nvPr/>
        </p:nvSpPr>
        <p:spPr>
          <a:xfrm>
            <a:off x="6368796" y="3275584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6368796" y="3275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?</a:t>
            </a:r>
            <a:endParaRPr lang="en-US" sz="1872" dirty="0"/>
          </a:p>
        </p:txBody>
      </p:sp>
      <p:sp>
        <p:nvSpPr>
          <p:cNvPr id="65" name="Shape 61"/>
          <p:cNvSpPr/>
          <p:nvPr/>
        </p:nvSpPr>
        <p:spPr>
          <a:xfrm>
            <a:off x="7054596" y="3275584"/>
            <a:ext cx="808271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7054596" y="3275584"/>
            <a:ext cx="80827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Did</a:t>
            </a:r>
            <a:endParaRPr lang="en-US" sz="1700" dirty="0"/>
          </a:p>
        </p:txBody>
      </p:sp>
      <p:sp>
        <p:nvSpPr>
          <p:cNvPr id="67" name="Shape 63"/>
          <p:cNvSpPr/>
          <p:nvPr/>
        </p:nvSpPr>
        <p:spPr>
          <a:xfrm>
            <a:off x="7936019" y="3275584"/>
            <a:ext cx="65635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7936019" y="3275584"/>
            <a:ext cx="6563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she</a:t>
            </a:r>
            <a:endParaRPr lang="en-US" sz="1700" dirty="0"/>
          </a:p>
        </p:txBody>
      </p:sp>
      <p:sp>
        <p:nvSpPr>
          <p:cNvPr id="69" name="Shape 65"/>
          <p:cNvSpPr/>
          <p:nvPr/>
        </p:nvSpPr>
        <p:spPr>
          <a:xfrm>
            <a:off x="8665527" y="3275584"/>
            <a:ext cx="672472" cy="475488"/>
          </a:xfrm>
          <a:prstGeom prst="roundRect">
            <a:avLst>
              <a:gd name="adj" fmla="val 19231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8665527" y="3275584"/>
            <a:ext cx="672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accent6"/>
                </a:solidFill>
              </a:rPr>
              <a:t>go</a:t>
            </a:r>
            <a:endParaRPr lang="en-US" sz="1700" dirty="0"/>
          </a:p>
        </p:txBody>
      </p:sp>
      <p:sp>
        <p:nvSpPr>
          <p:cNvPr id="71" name="Shape 67"/>
          <p:cNvSpPr/>
          <p:nvPr/>
        </p:nvSpPr>
        <p:spPr>
          <a:xfrm>
            <a:off x="9411151" y="3275584"/>
            <a:ext cx="898855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72" name="Text 68"/>
          <p:cNvSpPr txBox="1"/>
          <p:nvPr/>
        </p:nvSpPr>
        <p:spPr>
          <a:xfrm>
            <a:off x="9411151" y="3275584"/>
            <a:ext cx="898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home?</a:t>
            </a:r>
            <a:endParaRPr lang="en-US" sz="1700" dirty="0"/>
          </a:p>
        </p:txBody>
      </p:sp>
      <p:sp>
        <p:nvSpPr>
          <p:cNvPr id="73" name="Shape 69"/>
          <p:cNvSpPr/>
          <p:nvPr/>
        </p:nvSpPr>
        <p:spPr>
          <a:xfrm>
            <a:off x="548640" y="4166616"/>
            <a:ext cx="5454396" cy="2097024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74" name="Shape 70"/>
          <p:cNvSpPr/>
          <p:nvPr/>
        </p:nvSpPr>
        <p:spPr>
          <a:xfrm>
            <a:off x="731520" y="4331208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731520" y="4331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+</a:t>
            </a:r>
            <a:endParaRPr lang="en-US" sz="1872" dirty="0"/>
          </a:p>
        </p:txBody>
      </p:sp>
      <p:sp>
        <p:nvSpPr>
          <p:cNvPr id="76" name="Shape 72"/>
          <p:cNvSpPr/>
          <p:nvPr/>
        </p:nvSpPr>
        <p:spPr>
          <a:xfrm>
            <a:off x="1417320" y="4331208"/>
            <a:ext cx="65635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1417320" y="4331208"/>
            <a:ext cx="6563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You</a:t>
            </a:r>
            <a:endParaRPr lang="en-US" sz="1700" dirty="0"/>
          </a:p>
        </p:txBody>
      </p:sp>
      <p:sp>
        <p:nvSpPr>
          <p:cNvPr id="78" name="Shape 74"/>
          <p:cNvSpPr/>
          <p:nvPr/>
        </p:nvSpPr>
        <p:spPr>
          <a:xfrm>
            <a:off x="2146828" y="4331208"/>
            <a:ext cx="808271" cy="475488"/>
          </a:xfrm>
          <a:prstGeom prst="roundRect">
            <a:avLst>
              <a:gd name="adj" fmla="val 19231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2146828" y="4331208"/>
            <a:ext cx="80827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met</a:t>
            </a:r>
            <a:endParaRPr lang="en-US" sz="1700" dirty="0"/>
          </a:p>
        </p:txBody>
      </p:sp>
      <p:sp>
        <p:nvSpPr>
          <p:cNvPr id="80" name="Shape 76"/>
          <p:cNvSpPr/>
          <p:nvPr/>
        </p:nvSpPr>
        <p:spPr>
          <a:xfrm>
            <a:off x="3028251" y="4331208"/>
            <a:ext cx="77760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81" name="Text 77"/>
          <p:cNvSpPr txBox="1"/>
          <p:nvPr/>
        </p:nvSpPr>
        <p:spPr>
          <a:xfrm>
            <a:off x="3028251" y="4331208"/>
            <a:ext cx="7776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Tom.</a:t>
            </a:r>
            <a:endParaRPr lang="en-US" sz="1700" dirty="0"/>
          </a:p>
        </p:txBody>
      </p:sp>
      <p:sp>
        <p:nvSpPr>
          <p:cNvPr id="82" name="Shape 78"/>
          <p:cNvSpPr/>
          <p:nvPr/>
        </p:nvSpPr>
        <p:spPr>
          <a:xfrm>
            <a:off x="731520" y="4920488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Text 79"/>
          <p:cNvSpPr txBox="1"/>
          <p:nvPr/>
        </p:nvSpPr>
        <p:spPr>
          <a:xfrm>
            <a:off x="731520" y="4920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−</a:t>
            </a:r>
            <a:endParaRPr lang="en-US" sz="1872" dirty="0"/>
          </a:p>
        </p:txBody>
      </p:sp>
      <p:sp>
        <p:nvSpPr>
          <p:cNvPr id="84" name="Shape 80"/>
          <p:cNvSpPr/>
          <p:nvPr/>
        </p:nvSpPr>
        <p:spPr>
          <a:xfrm>
            <a:off x="1417320" y="4920488"/>
            <a:ext cx="65635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1417320" y="4920488"/>
            <a:ext cx="6563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You</a:t>
            </a:r>
            <a:endParaRPr lang="en-US" sz="1700" dirty="0"/>
          </a:p>
        </p:txBody>
      </p:sp>
      <p:sp>
        <p:nvSpPr>
          <p:cNvPr id="86" name="Shape 82"/>
          <p:cNvSpPr/>
          <p:nvPr/>
        </p:nvSpPr>
        <p:spPr>
          <a:xfrm>
            <a:off x="2146828" y="4920488"/>
            <a:ext cx="808271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Text 83"/>
          <p:cNvSpPr txBox="1"/>
          <p:nvPr/>
        </p:nvSpPr>
        <p:spPr>
          <a:xfrm>
            <a:off x="2146828" y="4920488"/>
            <a:ext cx="80827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did</a:t>
            </a:r>
            <a:endParaRPr lang="en-US" sz="1700" dirty="0"/>
          </a:p>
        </p:txBody>
      </p:sp>
      <p:sp>
        <p:nvSpPr>
          <p:cNvPr id="88" name="Shape 84"/>
          <p:cNvSpPr/>
          <p:nvPr/>
        </p:nvSpPr>
        <p:spPr>
          <a:xfrm>
            <a:off x="2973387" y="4920488"/>
            <a:ext cx="698543" cy="475488"/>
          </a:xfrm>
          <a:prstGeom prst="roundRect">
            <a:avLst>
              <a:gd name="adj" fmla="val 19231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Text 85"/>
          <p:cNvSpPr txBox="1"/>
          <p:nvPr/>
        </p:nvSpPr>
        <p:spPr>
          <a:xfrm>
            <a:off x="2973387" y="4920488"/>
            <a:ext cx="6985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n’t</a:t>
            </a:r>
            <a:endParaRPr lang="en-US" sz="1700" dirty="0"/>
          </a:p>
        </p:txBody>
      </p:sp>
      <p:sp>
        <p:nvSpPr>
          <p:cNvPr id="90" name="Shape 86"/>
          <p:cNvSpPr/>
          <p:nvPr/>
        </p:nvSpPr>
        <p:spPr>
          <a:xfrm>
            <a:off x="3745082" y="4920488"/>
            <a:ext cx="944070" cy="475488"/>
          </a:xfrm>
          <a:prstGeom prst="roundRect">
            <a:avLst>
              <a:gd name="adj" fmla="val 19231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91" name="Text 87"/>
          <p:cNvSpPr txBox="1"/>
          <p:nvPr/>
        </p:nvSpPr>
        <p:spPr>
          <a:xfrm>
            <a:off x="3745082" y="4920488"/>
            <a:ext cx="9440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accent6"/>
                </a:solidFill>
              </a:rPr>
              <a:t>meet</a:t>
            </a:r>
            <a:endParaRPr lang="en-US" sz="1700" dirty="0"/>
          </a:p>
        </p:txBody>
      </p:sp>
      <p:sp>
        <p:nvSpPr>
          <p:cNvPr id="92" name="Shape 88"/>
          <p:cNvSpPr/>
          <p:nvPr/>
        </p:nvSpPr>
        <p:spPr>
          <a:xfrm>
            <a:off x="4762305" y="4920488"/>
            <a:ext cx="77760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93" name="Text 89"/>
          <p:cNvSpPr txBox="1"/>
          <p:nvPr/>
        </p:nvSpPr>
        <p:spPr>
          <a:xfrm>
            <a:off x="4762305" y="4920488"/>
            <a:ext cx="7776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Tom.</a:t>
            </a:r>
            <a:endParaRPr lang="en-US" sz="1700" dirty="0"/>
          </a:p>
        </p:txBody>
      </p:sp>
      <p:sp>
        <p:nvSpPr>
          <p:cNvPr id="94" name="Shape 90"/>
          <p:cNvSpPr/>
          <p:nvPr/>
        </p:nvSpPr>
        <p:spPr>
          <a:xfrm>
            <a:off x="731520" y="5509768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Text 91"/>
          <p:cNvSpPr txBox="1"/>
          <p:nvPr/>
        </p:nvSpPr>
        <p:spPr>
          <a:xfrm>
            <a:off x="731520" y="5509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?</a:t>
            </a:r>
            <a:endParaRPr lang="en-US" sz="1872" dirty="0"/>
          </a:p>
        </p:txBody>
      </p:sp>
      <p:sp>
        <p:nvSpPr>
          <p:cNvPr id="96" name="Shape 92"/>
          <p:cNvSpPr/>
          <p:nvPr/>
        </p:nvSpPr>
        <p:spPr>
          <a:xfrm>
            <a:off x="1417320" y="5509768"/>
            <a:ext cx="808271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Text 93"/>
          <p:cNvSpPr txBox="1"/>
          <p:nvPr/>
        </p:nvSpPr>
        <p:spPr>
          <a:xfrm>
            <a:off x="1417320" y="5509768"/>
            <a:ext cx="80827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Did</a:t>
            </a:r>
            <a:endParaRPr lang="en-US" sz="1700" dirty="0"/>
          </a:p>
        </p:txBody>
      </p:sp>
      <p:sp>
        <p:nvSpPr>
          <p:cNvPr id="98" name="Shape 94"/>
          <p:cNvSpPr/>
          <p:nvPr/>
        </p:nvSpPr>
        <p:spPr>
          <a:xfrm>
            <a:off x="2298743" y="5509768"/>
            <a:ext cx="65635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99" name="Text 95"/>
          <p:cNvSpPr txBox="1"/>
          <p:nvPr/>
        </p:nvSpPr>
        <p:spPr>
          <a:xfrm>
            <a:off x="2298743" y="5509768"/>
            <a:ext cx="6563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you</a:t>
            </a:r>
            <a:endParaRPr lang="en-US" sz="1700" dirty="0"/>
          </a:p>
        </p:txBody>
      </p:sp>
      <p:sp>
        <p:nvSpPr>
          <p:cNvPr id="100" name="Shape 96"/>
          <p:cNvSpPr/>
          <p:nvPr/>
        </p:nvSpPr>
        <p:spPr>
          <a:xfrm>
            <a:off x="3028251" y="5509768"/>
            <a:ext cx="944070" cy="475488"/>
          </a:xfrm>
          <a:prstGeom prst="roundRect">
            <a:avLst>
              <a:gd name="adj" fmla="val 19231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101" name="Text 97"/>
          <p:cNvSpPr txBox="1"/>
          <p:nvPr/>
        </p:nvSpPr>
        <p:spPr>
          <a:xfrm>
            <a:off x="3028251" y="5509768"/>
            <a:ext cx="9440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accent6"/>
                </a:solidFill>
              </a:rPr>
              <a:t>meet</a:t>
            </a:r>
            <a:endParaRPr lang="en-US" sz="1700" dirty="0"/>
          </a:p>
        </p:txBody>
      </p:sp>
      <p:sp>
        <p:nvSpPr>
          <p:cNvPr id="102" name="Shape 98"/>
          <p:cNvSpPr/>
          <p:nvPr/>
        </p:nvSpPr>
        <p:spPr>
          <a:xfrm>
            <a:off x="4045474" y="5509768"/>
            <a:ext cx="777606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03" name="Text 99"/>
          <p:cNvSpPr txBox="1"/>
          <p:nvPr/>
        </p:nvSpPr>
        <p:spPr>
          <a:xfrm>
            <a:off x="4045474" y="5509768"/>
            <a:ext cx="7776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Tom?</a:t>
            </a:r>
            <a:endParaRPr lang="en-US" sz="1700" dirty="0"/>
          </a:p>
        </p:txBody>
      </p:sp>
      <p:sp>
        <p:nvSpPr>
          <p:cNvPr id="104" name="Shape 100"/>
          <p:cNvSpPr/>
          <p:nvPr/>
        </p:nvSpPr>
        <p:spPr>
          <a:xfrm>
            <a:off x="6185916" y="4166616"/>
            <a:ext cx="5454396" cy="2097024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5" name="Shape 101"/>
          <p:cNvSpPr/>
          <p:nvPr/>
        </p:nvSpPr>
        <p:spPr>
          <a:xfrm>
            <a:off x="6368796" y="4331208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Text 102"/>
          <p:cNvSpPr txBox="1"/>
          <p:nvPr/>
        </p:nvSpPr>
        <p:spPr>
          <a:xfrm>
            <a:off x="6368796" y="4331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+</a:t>
            </a:r>
            <a:endParaRPr lang="en-US" sz="1872" dirty="0"/>
          </a:p>
        </p:txBody>
      </p:sp>
      <p:sp>
        <p:nvSpPr>
          <p:cNvPr id="107" name="Shape 103"/>
          <p:cNvSpPr/>
          <p:nvPr/>
        </p:nvSpPr>
        <p:spPr>
          <a:xfrm>
            <a:off x="7054596" y="4331208"/>
            <a:ext cx="535107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08" name="Text 104"/>
          <p:cNvSpPr txBox="1"/>
          <p:nvPr/>
        </p:nvSpPr>
        <p:spPr>
          <a:xfrm>
            <a:off x="7054596" y="4331208"/>
            <a:ext cx="53510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</a:t>
            </a:r>
            <a:endParaRPr lang="en-US" sz="1700" dirty="0"/>
          </a:p>
        </p:txBody>
      </p:sp>
      <p:sp>
        <p:nvSpPr>
          <p:cNvPr id="109" name="Shape 105"/>
          <p:cNvSpPr/>
          <p:nvPr/>
        </p:nvSpPr>
        <p:spPr>
          <a:xfrm>
            <a:off x="7662855" y="4331208"/>
            <a:ext cx="1215669" cy="475488"/>
          </a:xfrm>
          <a:prstGeom prst="roundRect">
            <a:avLst>
              <a:gd name="adj" fmla="val 19231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Text 106"/>
          <p:cNvSpPr txBox="1"/>
          <p:nvPr/>
        </p:nvSpPr>
        <p:spPr>
          <a:xfrm>
            <a:off x="7662855" y="4331208"/>
            <a:ext cx="12156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bought</a:t>
            </a:r>
            <a:endParaRPr lang="en-US" sz="1700" dirty="0"/>
          </a:p>
        </p:txBody>
      </p:sp>
      <p:sp>
        <p:nvSpPr>
          <p:cNvPr id="111" name="Shape 107"/>
          <p:cNvSpPr/>
          <p:nvPr/>
        </p:nvSpPr>
        <p:spPr>
          <a:xfrm>
            <a:off x="8951676" y="4331208"/>
            <a:ext cx="1020105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12" name="Text 108"/>
          <p:cNvSpPr txBox="1"/>
          <p:nvPr/>
        </p:nvSpPr>
        <p:spPr>
          <a:xfrm>
            <a:off x="8951676" y="4331208"/>
            <a:ext cx="10201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a car.</a:t>
            </a:r>
            <a:endParaRPr lang="en-US" sz="1700" dirty="0"/>
          </a:p>
        </p:txBody>
      </p:sp>
      <p:sp>
        <p:nvSpPr>
          <p:cNvPr id="113" name="Shape 109"/>
          <p:cNvSpPr/>
          <p:nvPr/>
        </p:nvSpPr>
        <p:spPr>
          <a:xfrm>
            <a:off x="6368796" y="4920488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Text 110"/>
          <p:cNvSpPr txBox="1"/>
          <p:nvPr/>
        </p:nvSpPr>
        <p:spPr>
          <a:xfrm>
            <a:off x="6368796" y="4920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−</a:t>
            </a:r>
            <a:endParaRPr lang="en-US" sz="1872" dirty="0"/>
          </a:p>
        </p:txBody>
      </p:sp>
      <p:sp>
        <p:nvSpPr>
          <p:cNvPr id="115" name="Shape 111"/>
          <p:cNvSpPr/>
          <p:nvPr/>
        </p:nvSpPr>
        <p:spPr>
          <a:xfrm>
            <a:off x="7054596" y="4920488"/>
            <a:ext cx="535107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16" name="Text 112"/>
          <p:cNvSpPr txBox="1"/>
          <p:nvPr/>
        </p:nvSpPr>
        <p:spPr>
          <a:xfrm>
            <a:off x="7054596" y="4920488"/>
            <a:ext cx="53510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</a:t>
            </a:r>
            <a:endParaRPr lang="en-US" sz="1700" dirty="0"/>
          </a:p>
        </p:txBody>
      </p:sp>
      <p:sp>
        <p:nvSpPr>
          <p:cNvPr id="117" name="Shape 113"/>
          <p:cNvSpPr/>
          <p:nvPr/>
        </p:nvSpPr>
        <p:spPr>
          <a:xfrm>
            <a:off x="7662855" y="4920488"/>
            <a:ext cx="808271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Text 114"/>
          <p:cNvSpPr txBox="1"/>
          <p:nvPr/>
        </p:nvSpPr>
        <p:spPr>
          <a:xfrm>
            <a:off x="7662855" y="4920488"/>
            <a:ext cx="80827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did</a:t>
            </a:r>
            <a:endParaRPr lang="en-US" sz="1700" dirty="0"/>
          </a:p>
        </p:txBody>
      </p:sp>
      <p:sp>
        <p:nvSpPr>
          <p:cNvPr id="119" name="Shape 115"/>
          <p:cNvSpPr/>
          <p:nvPr/>
        </p:nvSpPr>
        <p:spPr>
          <a:xfrm>
            <a:off x="8489414" y="4920488"/>
            <a:ext cx="698543" cy="475488"/>
          </a:xfrm>
          <a:prstGeom prst="roundRect">
            <a:avLst>
              <a:gd name="adj" fmla="val 19231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Text 116"/>
          <p:cNvSpPr txBox="1"/>
          <p:nvPr/>
        </p:nvSpPr>
        <p:spPr>
          <a:xfrm>
            <a:off x="8489414" y="4920488"/>
            <a:ext cx="6985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n’t</a:t>
            </a:r>
            <a:endParaRPr lang="en-US" sz="1700" dirty="0"/>
          </a:p>
        </p:txBody>
      </p:sp>
      <p:sp>
        <p:nvSpPr>
          <p:cNvPr id="121" name="Shape 117"/>
          <p:cNvSpPr/>
          <p:nvPr/>
        </p:nvSpPr>
        <p:spPr>
          <a:xfrm>
            <a:off x="9261109" y="4920488"/>
            <a:ext cx="808271" cy="475488"/>
          </a:xfrm>
          <a:prstGeom prst="roundRect">
            <a:avLst>
              <a:gd name="adj" fmla="val 19231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122" name="Text 118"/>
          <p:cNvSpPr txBox="1"/>
          <p:nvPr/>
        </p:nvSpPr>
        <p:spPr>
          <a:xfrm>
            <a:off x="9261109" y="4920488"/>
            <a:ext cx="80827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accent6"/>
                </a:solidFill>
              </a:rPr>
              <a:t>buy</a:t>
            </a:r>
            <a:endParaRPr lang="en-US" sz="1700" dirty="0"/>
          </a:p>
        </p:txBody>
      </p:sp>
      <p:sp>
        <p:nvSpPr>
          <p:cNvPr id="123" name="Shape 119"/>
          <p:cNvSpPr/>
          <p:nvPr/>
        </p:nvSpPr>
        <p:spPr>
          <a:xfrm>
            <a:off x="10142532" y="4920488"/>
            <a:ext cx="1020105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24" name="Text 120"/>
          <p:cNvSpPr txBox="1"/>
          <p:nvPr/>
        </p:nvSpPr>
        <p:spPr>
          <a:xfrm>
            <a:off x="10142532" y="4920488"/>
            <a:ext cx="10201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a car.</a:t>
            </a:r>
            <a:endParaRPr lang="en-US" sz="1700" dirty="0"/>
          </a:p>
        </p:txBody>
      </p:sp>
      <p:sp>
        <p:nvSpPr>
          <p:cNvPr id="125" name="Shape 121"/>
          <p:cNvSpPr/>
          <p:nvPr/>
        </p:nvSpPr>
        <p:spPr>
          <a:xfrm>
            <a:off x="6368796" y="5509768"/>
            <a:ext cx="475488" cy="475488"/>
          </a:xfrm>
          <a:prstGeom prst="roundRect">
            <a:avLst>
              <a:gd name="adj" fmla="val 1923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Text 122"/>
          <p:cNvSpPr txBox="1"/>
          <p:nvPr/>
        </p:nvSpPr>
        <p:spPr>
          <a:xfrm>
            <a:off x="6368796" y="5509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chemeClr val="bg1"/>
                </a:solidFill>
              </a:rPr>
              <a:t>?</a:t>
            </a:r>
            <a:endParaRPr lang="en-US" sz="1872" dirty="0"/>
          </a:p>
        </p:txBody>
      </p:sp>
      <p:sp>
        <p:nvSpPr>
          <p:cNvPr id="127" name="Shape 123"/>
          <p:cNvSpPr/>
          <p:nvPr/>
        </p:nvSpPr>
        <p:spPr>
          <a:xfrm>
            <a:off x="7054596" y="5509768"/>
            <a:ext cx="808271" cy="475488"/>
          </a:xfrm>
          <a:prstGeom prst="roundRect">
            <a:avLst>
              <a:gd name="adj" fmla="val 1923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Text 124"/>
          <p:cNvSpPr txBox="1"/>
          <p:nvPr/>
        </p:nvSpPr>
        <p:spPr>
          <a:xfrm>
            <a:off x="7054596" y="5509768"/>
            <a:ext cx="80827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Did</a:t>
            </a:r>
            <a:endParaRPr lang="en-US" sz="1700" dirty="0"/>
          </a:p>
        </p:txBody>
      </p:sp>
      <p:sp>
        <p:nvSpPr>
          <p:cNvPr id="129" name="Shape 125"/>
          <p:cNvSpPr/>
          <p:nvPr/>
        </p:nvSpPr>
        <p:spPr>
          <a:xfrm>
            <a:off x="7936019" y="5509768"/>
            <a:ext cx="535107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30" name="Text 126"/>
          <p:cNvSpPr txBox="1"/>
          <p:nvPr/>
        </p:nvSpPr>
        <p:spPr>
          <a:xfrm>
            <a:off x="7936019" y="5509768"/>
            <a:ext cx="53510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</a:t>
            </a:r>
            <a:endParaRPr lang="en-US" sz="1700" dirty="0"/>
          </a:p>
        </p:txBody>
      </p:sp>
      <p:sp>
        <p:nvSpPr>
          <p:cNvPr id="131" name="Shape 127"/>
          <p:cNvSpPr/>
          <p:nvPr/>
        </p:nvSpPr>
        <p:spPr>
          <a:xfrm>
            <a:off x="8544278" y="5509768"/>
            <a:ext cx="808271" cy="475488"/>
          </a:xfrm>
          <a:prstGeom prst="roundRect">
            <a:avLst>
              <a:gd name="adj" fmla="val 19231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132" name="Text 128"/>
          <p:cNvSpPr txBox="1"/>
          <p:nvPr/>
        </p:nvSpPr>
        <p:spPr>
          <a:xfrm>
            <a:off x="8544278" y="5509768"/>
            <a:ext cx="80827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accent6"/>
                </a:solidFill>
              </a:rPr>
              <a:t>buy</a:t>
            </a:r>
            <a:endParaRPr lang="en-US" sz="1700" dirty="0"/>
          </a:p>
        </p:txBody>
      </p:sp>
      <p:sp>
        <p:nvSpPr>
          <p:cNvPr id="133" name="Shape 129"/>
          <p:cNvSpPr/>
          <p:nvPr/>
        </p:nvSpPr>
        <p:spPr>
          <a:xfrm>
            <a:off x="9425701" y="5509768"/>
            <a:ext cx="1020105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34" name="Text 130"/>
          <p:cNvSpPr txBox="1"/>
          <p:nvPr/>
        </p:nvSpPr>
        <p:spPr>
          <a:xfrm>
            <a:off x="9425701" y="5509768"/>
            <a:ext cx="10201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a car?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Exercise 4 — The wrong box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4752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YOUR TURN!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In each sentence, one box is wrong. Find it and correct it.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59864"/>
            <a:ext cx="11091672" cy="650240"/>
          </a:xfrm>
          <a:prstGeom prst="roundRect">
            <a:avLst>
              <a:gd name="adj" fmla="val 11250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1932432"/>
            <a:ext cx="365760" cy="71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1097280" y="2033524"/>
            <a:ext cx="69915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97280" y="2033524"/>
            <a:ext cx="6991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She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1869582" y="2033524"/>
            <a:ext cx="856200" cy="512064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869582" y="2033524"/>
            <a:ext cx="85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did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2744071" y="2033524"/>
            <a:ext cx="746472" cy="512064"/>
          </a:xfrm>
          <a:prstGeom prst="roundRect">
            <a:avLst>
              <a:gd name="adj" fmla="val 1785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744071" y="2033524"/>
            <a:ext cx="746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n’t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3563695" y="2033524"/>
            <a:ext cx="1007976" cy="512064"/>
          </a:xfrm>
          <a:prstGeom prst="roundRect">
            <a:avLst>
              <a:gd name="adj" fmla="val 17857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563695" y="2033524"/>
            <a:ext cx="1007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went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4644823" y="2033524"/>
            <a:ext cx="1647749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644823" y="2033524"/>
            <a:ext cx="164774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to school.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548640" y="2674112"/>
            <a:ext cx="11091672" cy="65024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40080" y="2646680"/>
            <a:ext cx="365760" cy="71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2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1097280" y="2747772"/>
            <a:ext cx="856200" cy="512064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97280" y="2747772"/>
            <a:ext cx="85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Did</a:t>
            </a:r>
            <a:endParaRPr lang="en-US" sz="1900" dirty="0"/>
          </a:p>
        </p:txBody>
      </p:sp>
      <p:sp>
        <p:nvSpPr>
          <p:cNvPr id="24" name="Shape 20"/>
          <p:cNvSpPr/>
          <p:nvPr/>
        </p:nvSpPr>
        <p:spPr>
          <a:xfrm>
            <a:off x="2026632" y="2747772"/>
            <a:ext cx="69915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2026632" y="2747772"/>
            <a:ext cx="6991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you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2798935" y="2747772"/>
            <a:ext cx="856200" cy="512064"/>
          </a:xfrm>
          <a:prstGeom prst="roundRect">
            <a:avLst>
              <a:gd name="adj" fmla="val 17857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2798935" y="2747772"/>
            <a:ext cx="85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saw</a:t>
            </a:r>
            <a:endParaRPr lang="en-US" sz="1900" dirty="0"/>
          </a:p>
        </p:txBody>
      </p:sp>
      <p:sp>
        <p:nvSpPr>
          <p:cNvPr id="28" name="Shape 24"/>
          <p:cNvSpPr/>
          <p:nvPr/>
        </p:nvSpPr>
        <p:spPr>
          <a:xfrm>
            <a:off x="3728287" y="2747772"/>
            <a:ext cx="1647749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3728287" y="2747772"/>
            <a:ext cx="164774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the match?</a:t>
            </a:r>
            <a:endParaRPr lang="en-US" sz="1900" dirty="0"/>
          </a:p>
        </p:txBody>
      </p:sp>
      <p:sp>
        <p:nvSpPr>
          <p:cNvPr id="30" name="Shape 26"/>
          <p:cNvSpPr/>
          <p:nvPr/>
        </p:nvSpPr>
        <p:spPr>
          <a:xfrm>
            <a:off x="548640" y="3388360"/>
            <a:ext cx="11091672" cy="650240"/>
          </a:xfrm>
          <a:prstGeom prst="roundRect">
            <a:avLst>
              <a:gd name="adj" fmla="val 11250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40080" y="3360928"/>
            <a:ext cx="365760" cy="71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3</a:t>
            </a:r>
            <a:endParaRPr lang="en-US" sz="1500" dirty="0"/>
          </a:p>
        </p:txBody>
      </p:sp>
      <p:sp>
        <p:nvSpPr>
          <p:cNvPr id="32" name="Shape 28"/>
          <p:cNvSpPr/>
          <p:nvPr/>
        </p:nvSpPr>
        <p:spPr>
          <a:xfrm>
            <a:off x="1097280" y="3462020"/>
            <a:ext cx="563636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097280" y="3462020"/>
            <a:ext cx="5636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He</a:t>
            </a:r>
            <a:endParaRPr lang="en-US" sz="1900" dirty="0"/>
          </a:p>
        </p:txBody>
      </p:sp>
      <p:sp>
        <p:nvSpPr>
          <p:cNvPr id="34" name="Shape 30"/>
          <p:cNvSpPr/>
          <p:nvPr/>
        </p:nvSpPr>
        <p:spPr>
          <a:xfrm>
            <a:off x="1734068" y="3462020"/>
            <a:ext cx="1159752" cy="512064"/>
          </a:xfrm>
          <a:prstGeom prst="roundRect">
            <a:avLst>
              <a:gd name="adj" fmla="val 17857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734068" y="3462020"/>
            <a:ext cx="1159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buyed</a:t>
            </a:r>
            <a:endParaRPr lang="en-US" sz="1900" dirty="0"/>
          </a:p>
        </p:txBody>
      </p:sp>
      <p:sp>
        <p:nvSpPr>
          <p:cNvPr id="36" name="Shape 32"/>
          <p:cNvSpPr/>
          <p:nvPr/>
        </p:nvSpPr>
        <p:spPr>
          <a:xfrm>
            <a:off x="2966972" y="3462020"/>
            <a:ext cx="1918777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2966972" y="3462020"/>
            <a:ext cx="191877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a new phone.</a:t>
            </a:r>
            <a:endParaRPr lang="en-US" sz="1900" dirty="0"/>
          </a:p>
        </p:txBody>
      </p:sp>
      <p:sp>
        <p:nvSpPr>
          <p:cNvPr id="38" name="Shape 34"/>
          <p:cNvSpPr/>
          <p:nvPr/>
        </p:nvSpPr>
        <p:spPr>
          <a:xfrm>
            <a:off x="548640" y="4102608"/>
            <a:ext cx="11091672" cy="65024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40080" y="4075176"/>
            <a:ext cx="365760" cy="71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4</a:t>
            </a:r>
            <a:endParaRPr lang="en-US" sz="1500" dirty="0"/>
          </a:p>
        </p:txBody>
      </p:sp>
      <p:sp>
        <p:nvSpPr>
          <p:cNvPr id="40" name="Shape 36"/>
          <p:cNvSpPr/>
          <p:nvPr/>
        </p:nvSpPr>
        <p:spPr>
          <a:xfrm>
            <a:off x="1097280" y="4176268"/>
            <a:ext cx="1007976" cy="512064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097280" y="4176268"/>
            <a:ext cx="1007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When</a:t>
            </a:r>
            <a:endParaRPr lang="en-US" sz="1900" dirty="0"/>
          </a:p>
        </p:txBody>
      </p:sp>
      <p:sp>
        <p:nvSpPr>
          <p:cNvPr id="42" name="Shape 38"/>
          <p:cNvSpPr/>
          <p:nvPr/>
        </p:nvSpPr>
        <p:spPr>
          <a:xfrm>
            <a:off x="2178408" y="4176268"/>
            <a:ext cx="1007976" cy="512064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2178408" y="4176268"/>
            <a:ext cx="1007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does</a:t>
            </a:r>
            <a:endParaRPr lang="en-US" sz="1900" dirty="0"/>
          </a:p>
        </p:txBody>
      </p:sp>
      <p:sp>
        <p:nvSpPr>
          <p:cNvPr id="44" name="Shape 40"/>
          <p:cNvSpPr/>
          <p:nvPr/>
        </p:nvSpPr>
        <p:spPr>
          <a:xfrm>
            <a:off x="3259536" y="4176268"/>
            <a:ext cx="69915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3259536" y="4176268"/>
            <a:ext cx="6991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she</a:t>
            </a:r>
            <a:endParaRPr lang="en-US" sz="1900" dirty="0"/>
          </a:p>
        </p:txBody>
      </p:sp>
      <p:sp>
        <p:nvSpPr>
          <p:cNvPr id="46" name="Shape 42"/>
          <p:cNvSpPr/>
          <p:nvPr/>
        </p:nvSpPr>
        <p:spPr>
          <a:xfrm>
            <a:off x="4031838" y="4176268"/>
            <a:ext cx="1311528" cy="512064"/>
          </a:xfrm>
          <a:prstGeom prst="roundRect">
            <a:avLst>
              <a:gd name="adj" fmla="val 17857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4031838" y="4176268"/>
            <a:ext cx="131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arrive</a:t>
            </a:r>
            <a:endParaRPr lang="en-US" sz="1900" dirty="0"/>
          </a:p>
        </p:txBody>
      </p:sp>
      <p:sp>
        <p:nvSpPr>
          <p:cNvPr id="48" name="Shape 44"/>
          <p:cNvSpPr/>
          <p:nvPr/>
        </p:nvSpPr>
        <p:spPr>
          <a:xfrm>
            <a:off x="5416518" y="4176268"/>
            <a:ext cx="2070406" cy="512064"/>
          </a:xfrm>
          <a:prstGeom prst="roundRect">
            <a:avLst>
              <a:gd name="adj" fmla="val 17857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5416518" y="4176268"/>
            <a:ext cx="20704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accent1"/>
                </a:solidFill>
              </a:rPr>
              <a:t>last night?</a:t>
            </a:r>
            <a:endParaRPr lang="en-US" sz="1900" dirty="0"/>
          </a:p>
        </p:txBody>
      </p:sp>
      <p:sp>
        <p:nvSpPr>
          <p:cNvPr id="50" name="Shape 46"/>
          <p:cNvSpPr/>
          <p:nvPr/>
        </p:nvSpPr>
        <p:spPr>
          <a:xfrm>
            <a:off x="548640" y="4816856"/>
            <a:ext cx="11091672" cy="650240"/>
          </a:xfrm>
          <a:prstGeom prst="roundRect">
            <a:avLst>
              <a:gd name="adj" fmla="val 11250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640080" y="4789424"/>
            <a:ext cx="365760" cy="71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5</a:t>
            </a:r>
            <a:endParaRPr lang="en-US" sz="1500" dirty="0"/>
          </a:p>
        </p:txBody>
      </p:sp>
      <p:sp>
        <p:nvSpPr>
          <p:cNvPr id="52" name="Shape 48"/>
          <p:cNvSpPr/>
          <p:nvPr/>
        </p:nvSpPr>
        <p:spPr>
          <a:xfrm>
            <a:off x="1097280" y="4890516"/>
            <a:ext cx="563636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1097280" y="4890516"/>
            <a:ext cx="5636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It</a:t>
            </a:r>
            <a:endParaRPr lang="en-US" sz="1900" dirty="0"/>
          </a:p>
        </p:txBody>
      </p:sp>
      <p:sp>
        <p:nvSpPr>
          <p:cNvPr id="54" name="Shape 50"/>
          <p:cNvSpPr/>
          <p:nvPr/>
        </p:nvSpPr>
        <p:spPr>
          <a:xfrm>
            <a:off x="1734068" y="4890516"/>
            <a:ext cx="1007976" cy="512064"/>
          </a:xfrm>
          <a:prstGeom prst="roundRect">
            <a:avLst>
              <a:gd name="adj" fmla="val 17857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1734068" y="4890516"/>
            <a:ext cx="1007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were</a:t>
            </a:r>
            <a:endParaRPr lang="en-US" sz="1900" dirty="0"/>
          </a:p>
        </p:txBody>
      </p:sp>
      <p:sp>
        <p:nvSpPr>
          <p:cNvPr id="56" name="Shape 52"/>
          <p:cNvSpPr/>
          <p:nvPr/>
        </p:nvSpPr>
        <p:spPr>
          <a:xfrm>
            <a:off x="2815196" y="4890516"/>
            <a:ext cx="83466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2815196" y="4890516"/>
            <a:ext cx="834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cold</a:t>
            </a:r>
            <a:endParaRPr lang="en-US" sz="1900" dirty="0"/>
          </a:p>
        </p:txBody>
      </p:sp>
      <p:sp>
        <p:nvSpPr>
          <p:cNvPr id="58" name="Shape 54"/>
          <p:cNvSpPr/>
          <p:nvPr/>
        </p:nvSpPr>
        <p:spPr>
          <a:xfrm>
            <a:off x="3723013" y="4890516"/>
            <a:ext cx="1918631" cy="512064"/>
          </a:xfrm>
          <a:prstGeom prst="roundRect">
            <a:avLst>
              <a:gd name="adj" fmla="val 17857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3723013" y="4890516"/>
            <a:ext cx="191863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accent1"/>
                </a:solidFill>
              </a:rPr>
              <a:t>yesterday.</a:t>
            </a:r>
            <a:endParaRPr lang="en-US" sz="1900" dirty="0"/>
          </a:p>
        </p:txBody>
      </p:sp>
      <p:sp>
        <p:nvSpPr>
          <p:cNvPr id="60" name="Shape 56"/>
          <p:cNvSpPr/>
          <p:nvPr/>
        </p:nvSpPr>
        <p:spPr>
          <a:xfrm>
            <a:off x="548640" y="5531104"/>
            <a:ext cx="11091672" cy="65024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640080" y="5503672"/>
            <a:ext cx="365760" cy="71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6</a:t>
            </a:r>
            <a:endParaRPr lang="en-US" sz="1500" dirty="0"/>
          </a:p>
        </p:txBody>
      </p:sp>
      <p:sp>
        <p:nvSpPr>
          <p:cNvPr id="62" name="Shape 58"/>
          <p:cNvSpPr/>
          <p:nvPr/>
        </p:nvSpPr>
        <p:spPr>
          <a:xfrm>
            <a:off x="1097280" y="5604764"/>
            <a:ext cx="428122" cy="512064"/>
          </a:xfrm>
          <a:prstGeom prst="roundRect">
            <a:avLst>
              <a:gd name="adj" fmla="val 21358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1097280" y="5604764"/>
            <a:ext cx="4281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</a:t>
            </a:r>
            <a:endParaRPr lang="en-US" sz="1900" dirty="0"/>
          </a:p>
        </p:txBody>
      </p:sp>
      <p:sp>
        <p:nvSpPr>
          <p:cNvPr id="64" name="Shape 60"/>
          <p:cNvSpPr/>
          <p:nvPr/>
        </p:nvSpPr>
        <p:spPr>
          <a:xfrm>
            <a:off x="1598554" y="5604764"/>
            <a:ext cx="704424" cy="512064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1598554" y="5604764"/>
            <a:ext cx="704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do</a:t>
            </a:r>
            <a:endParaRPr lang="en-US" sz="1900" dirty="0"/>
          </a:p>
        </p:txBody>
      </p:sp>
      <p:sp>
        <p:nvSpPr>
          <p:cNvPr id="66" name="Shape 62"/>
          <p:cNvSpPr/>
          <p:nvPr/>
        </p:nvSpPr>
        <p:spPr>
          <a:xfrm>
            <a:off x="2321267" y="5604764"/>
            <a:ext cx="746472" cy="512064"/>
          </a:xfrm>
          <a:prstGeom prst="roundRect">
            <a:avLst>
              <a:gd name="adj" fmla="val 1785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2321267" y="5604764"/>
            <a:ext cx="746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n’t</a:t>
            </a:r>
            <a:endParaRPr lang="en-US" sz="1900" dirty="0"/>
          </a:p>
        </p:txBody>
      </p:sp>
      <p:sp>
        <p:nvSpPr>
          <p:cNvPr id="68" name="Shape 64"/>
          <p:cNvSpPr/>
          <p:nvPr/>
        </p:nvSpPr>
        <p:spPr>
          <a:xfrm>
            <a:off x="3140891" y="5604764"/>
            <a:ext cx="856200" cy="512064"/>
          </a:xfrm>
          <a:prstGeom prst="roundRect">
            <a:avLst>
              <a:gd name="adj" fmla="val 17857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69" name="Text 65"/>
          <p:cNvSpPr txBox="1"/>
          <p:nvPr/>
        </p:nvSpPr>
        <p:spPr>
          <a:xfrm>
            <a:off x="3140891" y="5604764"/>
            <a:ext cx="85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see</a:t>
            </a:r>
            <a:endParaRPr lang="en-US" sz="1900" dirty="0"/>
          </a:p>
        </p:txBody>
      </p:sp>
      <p:sp>
        <p:nvSpPr>
          <p:cNvPr id="70" name="Shape 66"/>
          <p:cNvSpPr/>
          <p:nvPr/>
        </p:nvSpPr>
        <p:spPr>
          <a:xfrm>
            <a:off x="4070243" y="5604764"/>
            <a:ext cx="69915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4070243" y="5604764"/>
            <a:ext cx="6991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Sam</a:t>
            </a:r>
            <a:endParaRPr lang="en-US" sz="1900" dirty="0"/>
          </a:p>
        </p:txBody>
      </p:sp>
      <p:sp>
        <p:nvSpPr>
          <p:cNvPr id="72" name="Shape 68"/>
          <p:cNvSpPr/>
          <p:nvPr/>
        </p:nvSpPr>
        <p:spPr>
          <a:xfrm>
            <a:off x="4842545" y="5604764"/>
            <a:ext cx="1918631" cy="512064"/>
          </a:xfrm>
          <a:prstGeom prst="roundRect">
            <a:avLst>
              <a:gd name="adj" fmla="val 17857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4842545" y="5604764"/>
            <a:ext cx="191863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accent1"/>
                </a:solidFill>
              </a:rPr>
              <a:t>yesterday.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Exercise 4 — The wrong box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4752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YOUR TURN!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0312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In each sentence, one box is wrong. Find it and correct it.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59864"/>
            <a:ext cx="11091672" cy="596900"/>
          </a:xfrm>
          <a:prstGeom prst="roundRect">
            <a:avLst>
              <a:gd name="adj" fmla="val 12255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1932432"/>
            <a:ext cx="365760" cy="660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097280" y="2006854"/>
            <a:ext cx="69915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97280" y="2006854"/>
            <a:ext cx="6991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She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1869582" y="2006854"/>
            <a:ext cx="856200" cy="512064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869582" y="2006854"/>
            <a:ext cx="85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did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2744071" y="2006854"/>
            <a:ext cx="746472" cy="512064"/>
          </a:xfrm>
          <a:prstGeom prst="roundRect">
            <a:avLst>
              <a:gd name="adj" fmla="val 1785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744071" y="2006854"/>
            <a:ext cx="746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n’t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3563695" y="2006854"/>
            <a:ext cx="83466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18" name="Text 14"/>
          <p:cNvSpPr txBox="1"/>
          <p:nvPr/>
        </p:nvSpPr>
        <p:spPr>
          <a:xfrm>
            <a:off x="3563695" y="2006854"/>
            <a:ext cx="834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strike="sngStrike" dirty="0">
                <a:solidFill>
                  <a:schemeClr val="accent6"/>
                </a:solidFill>
              </a:rPr>
              <a:t>went</a:t>
            </a:r>
            <a:endParaRPr lang="en-US" sz="1900" dirty="0"/>
          </a:p>
        </p:txBody>
      </p:sp>
      <p:sp>
        <p:nvSpPr>
          <p:cNvPr id="19" name="Shape 15"/>
          <p:cNvSpPr/>
          <p:nvPr/>
        </p:nvSpPr>
        <p:spPr>
          <a:xfrm>
            <a:off x="4471511" y="2006854"/>
            <a:ext cx="1647749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471511" y="2006854"/>
            <a:ext cx="164774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to school.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6256420" y="1932432"/>
            <a:ext cx="457200" cy="660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6759340" y="2034286"/>
            <a:ext cx="688448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759340" y="2034286"/>
            <a:ext cx="68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go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548640" y="2620772"/>
            <a:ext cx="11091672" cy="596900"/>
          </a:xfrm>
          <a:prstGeom prst="roundRect">
            <a:avLst>
              <a:gd name="adj" fmla="val 122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40080" y="2593340"/>
            <a:ext cx="365760" cy="660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2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1097280" y="2667762"/>
            <a:ext cx="856200" cy="512064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097280" y="2667762"/>
            <a:ext cx="85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Did</a:t>
            </a:r>
            <a:endParaRPr lang="en-US" sz="1900" dirty="0"/>
          </a:p>
        </p:txBody>
      </p:sp>
      <p:sp>
        <p:nvSpPr>
          <p:cNvPr id="28" name="Shape 24"/>
          <p:cNvSpPr/>
          <p:nvPr/>
        </p:nvSpPr>
        <p:spPr>
          <a:xfrm>
            <a:off x="2026632" y="2667762"/>
            <a:ext cx="69915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2026632" y="2667762"/>
            <a:ext cx="6991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you</a:t>
            </a:r>
            <a:endParaRPr lang="en-US" sz="1900" dirty="0"/>
          </a:p>
        </p:txBody>
      </p:sp>
      <p:sp>
        <p:nvSpPr>
          <p:cNvPr id="30" name="Shape 26"/>
          <p:cNvSpPr/>
          <p:nvPr/>
        </p:nvSpPr>
        <p:spPr>
          <a:xfrm>
            <a:off x="2798935" y="2667762"/>
            <a:ext cx="69915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31" name="Text 27"/>
          <p:cNvSpPr txBox="1"/>
          <p:nvPr/>
        </p:nvSpPr>
        <p:spPr>
          <a:xfrm>
            <a:off x="2798935" y="2667762"/>
            <a:ext cx="6991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strike="sngStrike" dirty="0">
                <a:solidFill>
                  <a:schemeClr val="accent6"/>
                </a:solidFill>
              </a:rPr>
              <a:t>saw</a:t>
            </a:r>
            <a:endParaRPr lang="en-US" sz="1900" dirty="0"/>
          </a:p>
        </p:txBody>
      </p:sp>
      <p:sp>
        <p:nvSpPr>
          <p:cNvPr id="32" name="Shape 28"/>
          <p:cNvSpPr/>
          <p:nvPr/>
        </p:nvSpPr>
        <p:spPr>
          <a:xfrm>
            <a:off x="3571237" y="2667762"/>
            <a:ext cx="1647749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3571237" y="2667762"/>
            <a:ext cx="164774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the match?</a:t>
            </a:r>
            <a:endParaRPr lang="en-US" sz="1900" dirty="0"/>
          </a:p>
        </p:txBody>
      </p:sp>
      <p:sp>
        <p:nvSpPr>
          <p:cNvPr id="34" name="Text 30"/>
          <p:cNvSpPr txBox="1"/>
          <p:nvPr/>
        </p:nvSpPr>
        <p:spPr>
          <a:xfrm>
            <a:off x="5356146" y="2593340"/>
            <a:ext cx="457200" cy="660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859066" y="2695194"/>
            <a:ext cx="832236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859066" y="2695194"/>
            <a:ext cx="832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see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48640" y="3281680"/>
            <a:ext cx="11091672" cy="596900"/>
          </a:xfrm>
          <a:prstGeom prst="roundRect">
            <a:avLst>
              <a:gd name="adj" fmla="val 12255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40080" y="3254248"/>
            <a:ext cx="365760" cy="660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3</a:t>
            </a:r>
            <a:endParaRPr lang="en-US" sz="1500" dirty="0"/>
          </a:p>
        </p:txBody>
      </p:sp>
      <p:sp>
        <p:nvSpPr>
          <p:cNvPr id="39" name="Shape 35"/>
          <p:cNvSpPr/>
          <p:nvPr/>
        </p:nvSpPr>
        <p:spPr>
          <a:xfrm>
            <a:off x="1097280" y="3328670"/>
            <a:ext cx="563636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097280" y="3328670"/>
            <a:ext cx="5636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He</a:t>
            </a:r>
            <a:endParaRPr lang="en-US" sz="1900" dirty="0"/>
          </a:p>
        </p:txBody>
      </p:sp>
      <p:sp>
        <p:nvSpPr>
          <p:cNvPr id="41" name="Shape 37"/>
          <p:cNvSpPr/>
          <p:nvPr/>
        </p:nvSpPr>
        <p:spPr>
          <a:xfrm>
            <a:off x="1734068" y="3328670"/>
            <a:ext cx="970178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42" name="Text 38"/>
          <p:cNvSpPr txBox="1"/>
          <p:nvPr/>
        </p:nvSpPr>
        <p:spPr>
          <a:xfrm>
            <a:off x="1734068" y="3328670"/>
            <a:ext cx="9701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strike="sngStrike" dirty="0">
                <a:solidFill>
                  <a:schemeClr val="accent6"/>
                </a:solidFill>
              </a:rPr>
              <a:t>buyed</a:t>
            </a:r>
            <a:endParaRPr lang="en-US" sz="1900" dirty="0"/>
          </a:p>
        </p:txBody>
      </p:sp>
      <p:sp>
        <p:nvSpPr>
          <p:cNvPr id="43" name="Shape 39"/>
          <p:cNvSpPr/>
          <p:nvPr/>
        </p:nvSpPr>
        <p:spPr>
          <a:xfrm>
            <a:off x="2777399" y="3328670"/>
            <a:ext cx="1918777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2777399" y="3328670"/>
            <a:ext cx="191877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a new phone.</a:t>
            </a:r>
            <a:endParaRPr lang="en-US" sz="1900" dirty="0"/>
          </a:p>
        </p:txBody>
      </p:sp>
      <p:sp>
        <p:nvSpPr>
          <p:cNvPr id="45" name="Text 41"/>
          <p:cNvSpPr txBox="1"/>
          <p:nvPr/>
        </p:nvSpPr>
        <p:spPr>
          <a:xfrm>
            <a:off x="4833336" y="3254248"/>
            <a:ext cx="457200" cy="660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</a:t>
            </a:r>
            <a:endParaRPr lang="en-US" sz="2000" dirty="0"/>
          </a:p>
        </p:txBody>
      </p:sp>
      <p:sp>
        <p:nvSpPr>
          <p:cNvPr id="46" name="Shape 42"/>
          <p:cNvSpPr/>
          <p:nvPr/>
        </p:nvSpPr>
        <p:spPr>
          <a:xfrm>
            <a:off x="5336256" y="3356102"/>
            <a:ext cx="1263598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5336256" y="3356102"/>
            <a:ext cx="1263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bought</a:t>
            </a:r>
            <a:endParaRPr lang="en-US" sz="1800" dirty="0"/>
          </a:p>
        </p:txBody>
      </p:sp>
      <p:sp>
        <p:nvSpPr>
          <p:cNvPr id="48" name="Shape 44"/>
          <p:cNvSpPr/>
          <p:nvPr/>
        </p:nvSpPr>
        <p:spPr>
          <a:xfrm>
            <a:off x="548640" y="3942588"/>
            <a:ext cx="11091672" cy="596900"/>
          </a:xfrm>
          <a:prstGeom prst="roundRect">
            <a:avLst>
              <a:gd name="adj" fmla="val 122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640080" y="3915156"/>
            <a:ext cx="365760" cy="660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4</a:t>
            </a:r>
            <a:endParaRPr lang="en-US" sz="1500" dirty="0"/>
          </a:p>
        </p:txBody>
      </p:sp>
      <p:sp>
        <p:nvSpPr>
          <p:cNvPr id="50" name="Shape 46"/>
          <p:cNvSpPr/>
          <p:nvPr/>
        </p:nvSpPr>
        <p:spPr>
          <a:xfrm>
            <a:off x="1097280" y="3989578"/>
            <a:ext cx="1007976" cy="512064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1097280" y="3989578"/>
            <a:ext cx="1007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When</a:t>
            </a:r>
            <a:endParaRPr lang="en-US" sz="1900" dirty="0"/>
          </a:p>
        </p:txBody>
      </p:sp>
      <p:sp>
        <p:nvSpPr>
          <p:cNvPr id="52" name="Shape 48"/>
          <p:cNvSpPr/>
          <p:nvPr/>
        </p:nvSpPr>
        <p:spPr>
          <a:xfrm>
            <a:off x="2178408" y="3989578"/>
            <a:ext cx="83466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53" name="Text 49"/>
          <p:cNvSpPr txBox="1"/>
          <p:nvPr/>
        </p:nvSpPr>
        <p:spPr>
          <a:xfrm>
            <a:off x="2178408" y="3989578"/>
            <a:ext cx="834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strike="sngStrike" dirty="0">
                <a:solidFill>
                  <a:schemeClr val="accent6"/>
                </a:solidFill>
              </a:rPr>
              <a:t>does</a:t>
            </a:r>
            <a:endParaRPr lang="en-US" sz="1900" dirty="0"/>
          </a:p>
        </p:txBody>
      </p:sp>
      <p:sp>
        <p:nvSpPr>
          <p:cNvPr id="54" name="Shape 50"/>
          <p:cNvSpPr/>
          <p:nvPr/>
        </p:nvSpPr>
        <p:spPr>
          <a:xfrm>
            <a:off x="3086224" y="3989578"/>
            <a:ext cx="69915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3086224" y="3989578"/>
            <a:ext cx="6991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she</a:t>
            </a:r>
            <a:endParaRPr lang="en-US" sz="1900" dirty="0"/>
          </a:p>
        </p:txBody>
      </p:sp>
      <p:sp>
        <p:nvSpPr>
          <p:cNvPr id="56" name="Shape 52"/>
          <p:cNvSpPr/>
          <p:nvPr/>
        </p:nvSpPr>
        <p:spPr>
          <a:xfrm>
            <a:off x="3858527" y="3989578"/>
            <a:ext cx="1311528" cy="512064"/>
          </a:xfrm>
          <a:prstGeom prst="roundRect">
            <a:avLst>
              <a:gd name="adj" fmla="val 17857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3858527" y="3989578"/>
            <a:ext cx="131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arrive</a:t>
            </a:r>
            <a:endParaRPr lang="en-US" sz="1900" dirty="0"/>
          </a:p>
        </p:txBody>
      </p:sp>
      <p:sp>
        <p:nvSpPr>
          <p:cNvPr id="58" name="Shape 54"/>
          <p:cNvSpPr/>
          <p:nvPr/>
        </p:nvSpPr>
        <p:spPr>
          <a:xfrm>
            <a:off x="5243206" y="3989578"/>
            <a:ext cx="2070406" cy="512064"/>
          </a:xfrm>
          <a:prstGeom prst="roundRect">
            <a:avLst>
              <a:gd name="adj" fmla="val 17857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5243206" y="3989578"/>
            <a:ext cx="20704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accent1"/>
                </a:solidFill>
              </a:rPr>
              <a:t>last night?</a:t>
            </a:r>
            <a:endParaRPr lang="en-US" sz="1900" dirty="0"/>
          </a:p>
        </p:txBody>
      </p:sp>
      <p:sp>
        <p:nvSpPr>
          <p:cNvPr id="60" name="Text 56"/>
          <p:cNvSpPr txBox="1"/>
          <p:nvPr/>
        </p:nvSpPr>
        <p:spPr>
          <a:xfrm>
            <a:off x="7450773" y="3915156"/>
            <a:ext cx="457200" cy="660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</a:t>
            </a:r>
            <a:endParaRPr lang="en-US" sz="2000" dirty="0"/>
          </a:p>
        </p:txBody>
      </p:sp>
      <p:sp>
        <p:nvSpPr>
          <p:cNvPr id="61" name="Shape 57"/>
          <p:cNvSpPr/>
          <p:nvPr/>
        </p:nvSpPr>
        <p:spPr>
          <a:xfrm>
            <a:off x="7953693" y="4017010"/>
            <a:ext cx="832236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7953693" y="4017010"/>
            <a:ext cx="832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did</a:t>
            </a:r>
            <a:endParaRPr lang="en-US" sz="1800" dirty="0"/>
          </a:p>
        </p:txBody>
      </p:sp>
      <p:sp>
        <p:nvSpPr>
          <p:cNvPr id="63" name="Shape 59"/>
          <p:cNvSpPr/>
          <p:nvPr/>
        </p:nvSpPr>
        <p:spPr>
          <a:xfrm>
            <a:off x="548640" y="4603496"/>
            <a:ext cx="11091672" cy="596900"/>
          </a:xfrm>
          <a:prstGeom prst="roundRect">
            <a:avLst>
              <a:gd name="adj" fmla="val 12255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640080" y="4576064"/>
            <a:ext cx="365760" cy="660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5</a:t>
            </a:r>
            <a:endParaRPr lang="en-US" sz="1500" dirty="0"/>
          </a:p>
        </p:txBody>
      </p:sp>
      <p:sp>
        <p:nvSpPr>
          <p:cNvPr id="65" name="Shape 61"/>
          <p:cNvSpPr/>
          <p:nvPr/>
        </p:nvSpPr>
        <p:spPr>
          <a:xfrm>
            <a:off x="1097280" y="4650486"/>
            <a:ext cx="563636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1097280" y="4650486"/>
            <a:ext cx="5636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It</a:t>
            </a:r>
            <a:endParaRPr lang="en-US" sz="1900" dirty="0"/>
          </a:p>
        </p:txBody>
      </p:sp>
      <p:sp>
        <p:nvSpPr>
          <p:cNvPr id="67" name="Shape 63"/>
          <p:cNvSpPr/>
          <p:nvPr/>
        </p:nvSpPr>
        <p:spPr>
          <a:xfrm>
            <a:off x="1734068" y="4650486"/>
            <a:ext cx="83466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68" name="Text 64"/>
          <p:cNvSpPr txBox="1"/>
          <p:nvPr/>
        </p:nvSpPr>
        <p:spPr>
          <a:xfrm>
            <a:off x="1734068" y="4650486"/>
            <a:ext cx="834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strike="sngStrike" dirty="0">
                <a:solidFill>
                  <a:schemeClr val="accent6"/>
                </a:solidFill>
              </a:rPr>
              <a:t>were</a:t>
            </a:r>
            <a:endParaRPr lang="en-US" sz="1900" dirty="0"/>
          </a:p>
        </p:txBody>
      </p:sp>
      <p:sp>
        <p:nvSpPr>
          <p:cNvPr id="69" name="Shape 65"/>
          <p:cNvSpPr/>
          <p:nvPr/>
        </p:nvSpPr>
        <p:spPr>
          <a:xfrm>
            <a:off x="2641884" y="4650486"/>
            <a:ext cx="83466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2641884" y="4650486"/>
            <a:ext cx="834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cold</a:t>
            </a:r>
            <a:endParaRPr lang="en-US" sz="1900" dirty="0"/>
          </a:p>
        </p:txBody>
      </p:sp>
      <p:sp>
        <p:nvSpPr>
          <p:cNvPr id="71" name="Shape 67"/>
          <p:cNvSpPr/>
          <p:nvPr/>
        </p:nvSpPr>
        <p:spPr>
          <a:xfrm>
            <a:off x="3549701" y="4650486"/>
            <a:ext cx="1918631" cy="512064"/>
          </a:xfrm>
          <a:prstGeom prst="roundRect">
            <a:avLst>
              <a:gd name="adj" fmla="val 17857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72" name="Text 68"/>
          <p:cNvSpPr txBox="1"/>
          <p:nvPr/>
        </p:nvSpPr>
        <p:spPr>
          <a:xfrm>
            <a:off x="3549701" y="4650486"/>
            <a:ext cx="191863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accent1"/>
                </a:solidFill>
              </a:rPr>
              <a:t>yesterday.</a:t>
            </a:r>
            <a:endParaRPr lang="en-US" sz="1900" dirty="0"/>
          </a:p>
        </p:txBody>
      </p:sp>
      <p:sp>
        <p:nvSpPr>
          <p:cNvPr id="73" name="Text 69"/>
          <p:cNvSpPr txBox="1"/>
          <p:nvPr/>
        </p:nvSpPr>
        <p:spPr>
          <a:xfrm>
            <a:off x="5605491" y="4576064"/>
            <a:ext cx="457200" cy="660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</a:t>
            </a:r>
            <a:endParaRPr lang="en-US" sz="2000" dirty="0"/>
          </a:p>
        </p:txBody>
      </p:sp>
      <p:sp>
        <p:nvSpPr>
          <p:cNvPr id="74" name="Shape 70"/>
          <p:cNvSpPr/>
          <p:nvPr/>
        </p:nvSpPr>
        <p:spPr>
          <a:xfrm>
            <a:off x="6108411" y="4677918"/>
            <a:ext cx="832236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6108411" y="4677918"/>
            <a:ext cx="832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was</a:t>
            </a:r>
            <a:endParaRPr lang="en-US" sz="1800" dirty="0"/>
          </a:p>
        </p:txBody>
      </p:sp>
      <p:sp>
        <p:nvSpPr>
          <p:cNvPr id="76" name="Shape 72"/>
          <p:cNvSpPr/>
          <p:nvPr/>
        </p:nvSpPr>
        <p:spPr>
          <a:xfrm>
            <a:off x="548640" y="5264404"/>
            <a:ext cx="11091672" cy="596900"/>
          </a:xfrm>
          <a:prstGeom prst="roundRect">
            <a:avLst>
              <a:gd name="adj" fmla="val 122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640080" y="5236972"/>
            <a:ext cx="365760" cy="660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6</a:t>
            </a:r>
            <a:endParaRPr lang="en-US" sz="1500" dirty="0"/>
          </a:p>
        </p:txBody>
      </p:sp>
      <p:sp>
        <p:nvSpPr>
          <p:cNvPr id="78" name="Shape 74"/>
          <p:cNvSpPr/>
          <p:nvPr/>
        </p:nvSpPr>
        <p:spPr>
          <a:xfrm>
            <a:off x="1097280" y="5311394"/>
            <a:ext cx="428122" cy="512064"/>
          </a:xfrm>
          <a:prstGeom prst="roundRect">
            <a:avLst>
              <a:gd name="adj" fmla="val 21358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1097280" y="5311394"/>
            <a:ext cx="4281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</a:t>
            </a:r>
            <a:endParaRPr lang="en-US" sz="1900" dirty="0"/>
          </a:p>
        </p:txBody>
      </p:sp>
      <p:sp>
        <p:nvSpPr>
          <p:cNvPr id="80" name="Shape 76"/>
          <p:cNvSpPr/>
          <p:nvPr/>
        </p:nvSpPr>
        <p:spPr>
          <a:xfrm>
            <a:off x="1598554" y="5311394"/>
            <a:ext cx="563636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dash"/>
          </a:ln>
        </p:spPr>
      </p:sp>
      <p:sp>
        <p:nvSpPr>
          <p:cNvPr id="81" name="Text 77"/>
          <p:cNvSpPr txBox="1"/>
          <p:nvPr/>
        </p:nvSpPr>
        <p:spPr>
          <a:xfrm>
            <a:off x="1598554" y="5311394"/>
            <a:ext cx="5636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strike="sngStrike" dirty="0">
                <a:solidFill>
                  <a:schemeClr val="accent6"/>
                </a:solidFill>
              </a:rPr>
              <a:t>do</a:t>
            </a:r>
            <a:endParaRPr lang="en-US" sz="1900" dirty="0"/>
          </a:p>
        </p:txBody>
      </p:sp>
      <p:sp>
        <p:nvSpPr>
          <p:cNvPr id="82" name="Shape 78"/>
          <p:cNvSpPr/>
          <p:nvPr/>
        </p:nvSpPr>
        <p:spPr>
          <a:xfrm>
            <a:off x="2180478" y="5311394"/>
            <a:ext cx="746472" cy="512064"/>
          </a:xfrm>
          <a:prstGeom prst="roundRect">
            <a:avLst>
              <a:gd name="adj" fmla="val 17857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Text 79"/>
          <p:cNvSpPr txBox="1"/>
          <p:nvPr/>
        </p:nvSpPr>
        <p:spPr>
          <a:xfrm>
            <a:off x="2180478" y="5311394"/>
            <a:ext cx="746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n’t</a:t>
            </a:r>
            <a:endParaRPr lang="en-US" sz="1900" dirty="0"/>
          </a:p>
        </p:txBody>
      </p:sp>
      <p:sp>
        <p:nvSpPr>
          <p:cNvPr id="84" name="Shape 80"/>
          <p:cNvSpPr/>
          <p:nvPr/>
        </p:nvSpPr>
        <p:spPr>
          <a:xfrm>
            <a:off x="3000103" y="5311394"/>
            <a:ext cx="856200" cy="512064"/>
          </a:xfrm>
          <a:prstGeom prst="roundRect">
            <a:avLst>
              <a:gd name="adj" fmla="val 17857"/>
            </a:avLst>
          </a:prstGeom>
          <a:solidFill>
            <a:srgbClr val="FBEDEB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3000103" y="5311394"/>
            <a:ext cx="85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accent6"/>
                </a:solidFill>
              </a:rPr>
              <a:t>see</a:t>
            </a:r>
            <a:endParaRPr lang="en-US" sz="1900" dirty="0"/>
          </a:p>
        </p:txBody>
      </p:sp>
      <p:sp>
        <p:nvSpPr>
          <p:cNvPr id="86" name="Shape 82"/>
          <p:cNvSpPr/>
          <p:nvPr/>
        </p:nvSpPr>
        <p:spPr>
          <a:xfrm>
            <a:off x="3929455" y="5311394"/>
            <a:ext cx="69915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87" name="Text 83"/>
          <p:cNvSpPr txBox="1"/>
          <p:nvPr/>
        </p:nvSpPr>
        <p:spPr>
          <a:xfrm>
            <a:off x="3929455" y="5311394"/>
            <a:ext cx="6991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Sam</a:t>
            </a:r>
            <a:endParaRPr lang="en-US" sz="1900" dirty="0"/>
          </a:p>
        </p:txBody>
      </p:sp>
      <p:sp>
        <p:nvSpPr>
          <p:cNvPr id="88" name="Shape 84"/>
          <p:cNvSpPr/>
          <p:nvPr/>
        </p:nvSpPr>
        <p:spPr>
          <a:xfrm>
            <a:off x="4701757" y="5311394"/>
            <a:ext cx="1918631" cy="512064"/>
          </a:xfrm>
          <a:prstGeom prst="roundRect">
            <a:avLst>
              <a:gd name="adj" fmla="val 17857"/>
            </a:avLst>
          </a:prstGeom>
          <a:solidFill>
            <a:srgbClr val="FDF1E6"/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89" name="Text 85"/>
          <p:cNvSpPr txBox="1"/>
          <p:nvPr/>
        </p:nvSpPr>
        <p:spPr>
          <a:xfrm>
            <a:off x="4701757" y="5311394"/>
            <a:ext cx="191863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chemeClr val="accent1"/>
                </a:solidFill>
              </a:rPr>
              <a:t>yesterday.</a:t>
            </a:r>
            <a:endParaRPr lang="en-US" sz="1900" dirty="0"/>
          </a:p>
        </p:txBody>
      </p:sp>
      <p:sp>
        <p:nvSpPr>
          <p:cNvPr id="90" name="Text 86"/>
          <p:cNvSpPr txBox="1"/>
          <p:nvPr/>
        </p:nvSpPr>
        <p:spPr>
          <a:xfrm>
            <a:off x="6757548" y="5236972"/>
            <a:ext cx="457200" cy="660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→</a:t>
            </a:r>
            <a:endParaRPr lang="en-US" sz="2000" dirty="0"/>
          </a:p>
        </p:txBody>
      </p:sp>
      <p:sp>
        <p:nvSpPr>
          <p:cNvPr id="91" name="Shape 87"/>
          <p:cNvSpPr/>
          <p:nvPr/>
        </p:nvSpPr>
        <p:spPr>
          <a:xfrm>
            <a:off x="7260468" y="5338826"/>
            <a:ext cx="832236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Text 88"/>
          <p:cNvSpPr txBox="1"/>
          <p:nvPr/>
        </p:nvSpPr>
        <p:spPr>
          <a:xfrm>
            <a:off x="7260468" y="5338826"/>
            <a:ext cx="832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bg1"/>
                </a:solidFill>
              </a:rPr>
              <a:t>did</a:t>
            </a:r>
            <a:endParaRPr lang="en-US" sz="1800" dirty="0"/>
          </a:p>
        </p:txBody>
      </p:sp>
      <p:sp>
        <p:nvSpPr>
          <p:cNvPr id="93" name="Text 89"/>
          <p:cNvSpPr txBox="1"/>
          <p:nvPr/>
        </p:nvSpPr>
        <p:spPr>
          <a:xfrm>
            <a:off x="548640" y="5943600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Après </a:t>
            </a:r>
            <a:r>
              <a:rPr lang="en-US" sz="1300" i="1" dirty="0">
                <a:solidFill>
                  <a:schemeClr val="accent5"/>
                </a:solidFill>
              </a:rPr>
              <a:t>did / didn’t</a:t>
            </a:r>
            <a:r>
              <a:rPr lang="en-US" sz="1300" i="1" dirty="0">
                <a:solidFill>
                  <a:schemeClr val="accent5"/>
                </a:solidFill>
              </a:rPr>
              <a:t> : la </a:t>
            </a:r>
            <a:r>
              <a:rPr lang="en-US" sz="1300" b="1" i="1" dirty="0">
                <a:solidFill>
                  <a:schemeClr val="accent5"/>
                </a:solidFill>
              </a:rPr>
              <a:t>base</a:t>
            </a:r>
            <a:r>
              <a:rPr lang="en-US" sz="1300" i="1" dirty="0">
                <a:solidFill>
                  <a:schemeClr val="accent5"/>
                </a:solidFill>
              </a:rPr>
              <a:t> · </a:t>
            </a:r>
            <a:r>
              <a:rPr lang="en-US" sz="1300" i="1" dirty="0">
                <a:solidFill>
                  <a:schemeClr val="accent5"/>
                </a:solidFill>
              </a:rPr>
              <a:t>be</a:t>
            </a:r>
            <a:r>
              <a:rPr lang="en-US" sz="1300" i="1" dirty="0">
                <a:solidFill>
                  <a:schemeClr val="accent5"/>
                </a:solidFill>
              </a:rPr>
              <a:t> : </a:t>
            </a:r>
            <a:r>
              <a:rPr lang="en-US" sz="1300" i="1" dirty="0">
                <a:solidFill>
                  <a:schemeClr val="accent5"/>
                </a:solidFill>
              </a:rPr>
              <a:t>was / were</a:t>
            </a:r>
            <a:r>
              <a:rPr lang="en-US" sz="1300" i="1" dirty="0">
                <a:solidFill>
                  <a:schemeClr val="accent5"/>
                </a:solidFill>
              </a:rPr>
              <a:t> · </a:t>
            </a:r>
            <a:r>
              <a:rPr lang="en-US" sz="1300" i="1" dirty="0">
                <a:solidFill>
                  <a:schemeClr val="accent5"/>
                </a:solidFill>
              </a:rPr>
              <a:t>yesterday, last night</a:t>
            </a:r>
            <a:r>
              <a:rPr lang="en-US" sz="1300" i="1" dirty="0">
                <a:solidFill>
                  <a:schemeClr val="accent5"/>
                </a:solidFill>
              </a:rPr>
              <a:t> → </a:t>
            </a:r>
            <a:r>
              <a:rPr lang="en-US" sz="1300" b="1" i="1" dirty="0">
                <a:solidFill>
                  <a:schemeClr val="accent5"/>
                </a:solidFill>
              </a:rPr>
              <a:t>past simple</a:t>
            </a:r>
            <a:r>
              <a:rPr lang="en-US" sz="1300" i="1" dirty="0">
                <a:solidFill>
                  <a:schemeClr val="accent5"/>
                </a:solidFill>
              </a:rPr>
              <a:t> (</a:t>
            </a:r>
            <a:r>
              <a:rPr lang="en-US" sz="1300" i="1" dirty="0">
                <a:solidFill>
                  <a:schemeClr val="accent5"/>
                </a:solidFill>
              </a:rPr>
              <a:t>did</a:t>
            </a:r>
            <a:r>
              <a:rPr lang="en-US" sz="1300" i="1" dirty="0">
                <a:solidFill>
                  <a:schemeClr val="accent5"/>
                </a:solidFill>
              </a:rPr>
              <a:t>, pas </a:t>
            </a:r>
            <a:r>
              <a:rPr lang="en-US" sz="1300" i="1" dirty="0">
                <a:solidFill>
                  <a:schemeClr val="accent5"/>
                </a:solidFill>
              </a:rPr>
              <a:t>do / does</a:t>
            </a:r>
            <a:r>
              <a:rPr lang="en-US" sz="1300" i="1" dirty="0">
                <a:solidFill>
                  <a:schemeClr val="accent5"/>
                </a:solidFill>
              </a:rPr>
              <a:t>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Exercise 5 — Sentence dice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4752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YOUR TURN!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20116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chemeClr val="bg1"/>
                </a:solidFill>
              </a:rPr>
              <a:t>WHO?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20116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48640" y="20574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20116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48640" y="26974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My sister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337560"/>
            <a:ext cx="20116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48640" y="33375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Tom and Lucy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977640"/>
            <a:ext cx="20116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48640" y="39776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We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4617720"/>
            <a:ext cx="20116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48640" y="461772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My boss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697480" y="1463040"/>
            <a:ext cx="2743200" cy="4572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69748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chemeClr val="bg1"/>
                </a:solidFill>
              </a:rPr>
              <a:t>WHAT?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697480" y="2057400"/>
            <a:ext cx="27432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B83227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2697480" y="20574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go to the cinema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2697480" y="2697480"/>
            <a:ext cx="27432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B83227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2697480" y="26974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play football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697480" y="3337560"/>
            <a:ext cx="27432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B83227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2697480" y="33375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buy a pizza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2697480" y="3977640"/>
            <a:ext cx="27432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B83227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2697480" y="39776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see a film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2697480" y="4617720"/>
            <a:ext cx="27432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B83227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697480" y="46177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work late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2697480" y="5257800"/>
            <a:ext cx="27432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5875">
            <a:solidFill>
              <a:srgbClr val="B83227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2697480" y="52578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visit Paris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577840" y="1463040"/>
            <a:ext cx="23317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57784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chemeClr val="bg1"/>
                </a:solidFill>
              </a:rPr>
              <a:t>WHEN?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577840" y="2057400"/>
            <a:ext cx="2331720" cy="530352"/>
          </a:xfrm>
          <a:prstGeom prst="roundRect">
            <a:avLst>
              <a:gd name="adj" fmla="val 17241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5577840" y="205740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yesterday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577840" y="2697480"/>
            <a:ext cx="2331720" cy="530352"/>
          </a:xfrm>
          <a:prstGeom prst="roundRect">
            <a:avLst>
              <a:gd name="adj" fmla="val 17241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5577840" y="269748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last night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577840" y="3337560"/>
            <a:ext cx="2331720" cy="530352"/>
          </a:xfrm>
          <a:prstGeom prst="roundRect">
            <a:avLst>
              <a:gd name="adj" fmla="val 17241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5577840" y="333756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on Monday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5577840" y="3977640"/>
            <a:ext cx="2331720" cy="530352"/>
          </a:xfrm>
          <a:prstGeom prst="roundRect">
            <a:avLst>
              <a:gd name="adj" fmla="val 17241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5577840" y="397764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two days ago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5577840" y="4617720"/>
            <a:ext cx="2331720" cy="530352"/>
          </a:xfrm>
          <a:prstGeom prst="roundRect">
            <a:avLst>
              <a:gd name="adj" fmla="val 17241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5577840" y="461772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last summer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2697480" y="5897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chemeClr val="accent6"/>
                </a:solidFill>
              </a:rPr>
              <a:t>(base form!)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8229600" y="1463040"/>
            <a:ext cx="3410712" cy="4754880"/>
          </a:xfrm>
          <a:prstGeom prst="roundRect">
            <a:avLst>
              <a:gd name="adj" fmla="val 3217"/>
            </a:avLst>
          </a:prstGeom>
          <a:solidFill>
            <a:srgbClr val="E8F4EC"/>
          </a:solidFill>
          <a:ln w="19050">
            <a:solidFill>
              <a:srgbClr val="2E7D4F"/>
            </a:solidFill>
            <a:prstDash val="solid"/>
          </a:ln>
        </p:spPr>
      </p:sp>
      <p:pic>
        <p:nvPicPr>
          <p:cNvPr id="46" name="Image 0" descr="game d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00200"/>
            <a:ext cx="777240" cy="777240"/>
          </a:xfrm>
          <a:prstGeom prst="rect">
            <a:avLst/>
          </a:prstGeom>
        </p:spPr>
      </p:pic>
      <p:sp>
        <p:nvSpPr>
          <p:cNvPr id="47" name="Text 43"/>
          <p:cNvSpPr txBox="1"/>
          <p:nvPr/>
        </p:nvSpPr>
        <p:spPr>
          <a:xfrm>
            <a:off x="9326880" y="15727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 · 2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9436608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943660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+</a:t>
            </a:r>
            <a:endParaRPr lang="en-US" sz="1800" dirty="0"/>
          </a:p>
        </p:txBody>
      </p:sp>
      <p:sp>
        <p:nvSpPr>
          <p:cNvPr id="50" name="Text 46"/>
          <p:cNvSpPr txBox="1"/>
          <p:nvPr/>
        </p:nvSpPr>
        <p:spPr>
          <a:xfrm>
            <a:off x="10076688" y="15727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3 · 4</a:t>
            </a:r>
            <a:endParaRPr lang="en-US" sz="1100" dirty="0"/>
          </a:p>
        </p:txBody>
      </p:sp>
      <p:sp>
        <p:nvSpPr>
          <p:cNvPr id="51" name="Shape 47"/>
          <p:cNvSpPr/>
          <p:nvPr/>
        </p:nvSpPr>
        <p:spPr>
          <a:xfrm>
            <a:off x="10186416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1018641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−</a:t>
            </a:r>
            <a:endParaRPr lang="en-US" sz="1800" dirty="0"/>
          </a:p>
        </p:txBody>
      </p:sp>
      <p:sp>
        <p:nvSpPr>
          <p:cNvPr id="53" name="Text 49"/>
          <p:cNvSpPr txBox="1"/>
          <p:nvPr/>
        </p:nvSpPr>
        <p:spPr>
          <a:xfrm>
            <a:off x="10826496" y="15727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5 · 6</a:t>
            </a:r>
            <a:endParaRPr lang="en-US" sz="1100" dirty="0"/>
          </a:p>
        </p:txBody>
      </p:sp>
      <p:sp>
        <p:nvSpPr>
          <p:cNvPr id="54" name="Shape 50"/>
          <p:cNvSpPr/>
          <p:nvPr/>
        </p:nvSpPr>
        <p:spPr>
          <a:xfrm>
            <a:off x="10936224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1093622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?</a:t>
            </a:r>
            <a:endParaRPr lang="en-US" sz="1800" dirty="0"/>
          </a:p>
        </p:txBody>
      </p:sp>
      <p:sp>
        <p:nvSpPr>
          <p:cNvPr id="56" name="Text 52"/>
          <p:cNvSpPr txBox="1"/>
          <p:nvPr/>
        </p:nvSpPr>
        <p:spPr>
          <a:xfrm>
            <a:off x="8412480" y="25603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chemeClr val="accent3"/>
                </a:solidFill>
              </a:rPr>
              <a:t>HOW TO PLAY</a:t>
            </a:r>
            <a:endParaRPr lang="en-US" sz="1500" dirty="0"/>
          </a:p>
        </p:txBody>
      </p:sp>
      <p:sp>
        <p:nvSpPr>
          <p:cNvPr id="57" name="Text 53"/>
          <p:cNvSpPr txBox="1"/>
          <p:nvPr/>
        </p:nvSpPr>
        <p:spPr>
          <a:xfrm>
            <a:off x="8412480" y="2926080"/>
            <a:ext cx="30449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① Take one card in each column.</a:t>
            </a:r>
            <a:endParaRPr lang="en-US" sz="14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② Roll the die: </a:t>
            </a:r>
            <a:r>
              <a:rPr lang="en-US" sz="1450" b="1" dirty="0">
                <a:solidFill>
                  <a:schemeClr val="tx1"/>
                </a:solidFill>
              </a:rPr>
              <a:t>+</a:t>
            </a:r>
            <a:r>
              <a:rPr lang="en-US" sz="1450" dirty="0">
                <a:solidFill>
                  <a:schemeClr val="tx1"/>
                </a:solidFill>
              </a:rPr>
              <a:t>, </a:t>
            </a:r>
            <a:r>
              <a:rPr lang="en-US" sz="1450" b="1" dirty="0">
                <a:solidFill>
                  <a:schemeClr val="tx1"/>
                </a:solidFill>
              </a:rPr>
              <a:t>−</a:t>
            </a:r>
            <a:r>
              <a:rPr lang="en-US" sz="1450" dirty="0">
                <a:solidFill>
                  <a:schemeClr val="tx1"/>
                </a:solidFill>
              </a:rPr>
              <a:t> or </a:t>
            </a:r>
            <a:r>
              <a:rPr lang="en-US" sz="1450" b="1" dirty="0">
                <a:solidFill>
                  <a:schemeClr val="tx1"/>
                </a:solidFill>
              </a:rPr>
              <a:t>?</a:t>
            </a:r>
            <a:endParaRPr lang="en-US" sz="14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③ Say the sentence in the past simple.</a:t>
            </a:r>
            <a:endParaRPr lang="en-US" sz="14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④ Your partner draws the </a:t>
            </a:r>
            <a:r>
              <a:rPr lang="en-US" sz="1450" b="1" dirty="0">
                <a:solidFill>
                  <a:schemeClr val="tx1"/>
                </a:solidFill>
              </a:rPr>
              <a:t>boxes</a:t>
            </a:r>
            <a:r>
              <a:rPr lang="en-US" sz="1450" dirty="0">
                <a:solidFill>
                  <a:schemeClr val="tx1"/>
                </a:solidFill>
              </a:rPr>
              <a:t> (with the colours!).</a:t>
            </a:r>
            <a:endParaRPr lang="en-US" sz="145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⑤ Correct = </a:t>
            </a:r>
            <a:r>
              <a:rPr lang="en-US" sz="1450" b="1" dirty="0">
                <a:solidFill>
                  <a:schemeClr val="tx1"/>
                </a:solidFill>
              </a:rPr>
              <a:t>1 point</a:t>
            </a:r>
            <a:r>
              <a:rPr lang="en-US" sz="1450" dirty="0">
                <a:solidFill>
                  <a:schemeClr val="tx1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Exit ticket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EXIT TICKET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Negative: </a:t>
            </a:r>
            <a:r>
              <a:rPr lang="en-US" sz="2000" i="1" dirty="0">
                <a:solidFill>
                  <a:schemeClr val="tx1"/>
                </a:solidFill>
              </a:rPr>
              <a:t>We went to the park.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Question: </a:t>
            </a:r>
            <a:r>
              <a:rPr lang="en-US" sz="2000" i="1" dirty="0">
                <a:solidFill>
                  <a:schemeClr val="tx1"/>
                </a:solidFill>
              </a:rPr>
              <a:t>He worked late.</a:t>
            </a:r>
            <a:r>
              <a:rPr lang="en-US" sz="2000" dirty="0">
                <a:solidFill>
                  <a:schemeClr val="tx1"/>
                </a:solidFill>
              </a:rPr>
              <a:t> (Did…?)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Put in order: </a:t>
            </a:r>
            <a:r>
              <a:rPr lang="en-US" sz="2000" i="1" dirty="0">
                <a:solidFill>
                  <a:schemeClr val="tx1"/>
                </a:solidFill>
              </a:rPr>
              <a:t>you · did · What · see?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SELF-CHECK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Cut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Build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Transform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Book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Homework</a:t>
            </a:r>
            <a:r>
              <a:rPr lang="en-US" sz="1800" dirty="0">
                <a:solidFill>
                  <a:schemeClr val="bg1"/>
                </a:solidFill>
              </a:rPr>
              <a:t>: write 3 sentences about yesterday (one +, one −, one ?) and cut them into coloured boxes.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IRAM — English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A2–B1 — Past simple: sentences in boxes (+ − ?)</dc:title>
  <dc:subject>English A2–B1 — Past simple: sentences in boxes</dc:subject>
  <dc:creator>A. Jouniaux</dc:creator>
  <cp:lastModifiedBy>A. Jouniaux</cp:lastModifiedBy>
  <cp:revision>1</cp:revision>
  <dcterms:created xsi:type="dcterms:W3CDTF">2026-10-08T11:35:17Z</dcterms:created>
  <dcterms:modified xsi:type="dcterms:W3CDTF">2026-10-08T11:35:17Z</dcterms:modified>
</cp:coreProperties>
</file>