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07c9d394-eb8a-ef7b-3320-b2f5e2d64b91}">
          <p14:sldIdLst>
            <p14:sldId id="256"/>
          </p14:sldIdLst>
        </p14:section>
        <p14:section name="Découvrir" id="{88b4c955-672c-9a24-f016-ff0fdef63194}">
          <p14:sldIdLst>
            <p14:sldId id="257"/>
            <p14:sldId id="258"/>
          </p14:sldIdLst>
        </p14:section>
        <p14:section name="Comprendre" id="{698491de-0c98-96bb-0782-96713ee7dcfc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aca33812-cfdf-2cdb-60c6-8dffde119782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ca636f17-5395-f2bf-eb07-6255ab50dec8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à qui est-ce ? Lequel ?
Ramassez trois objets dans la classe et montrez-les : « À qui est-ce ? » Faites répondre en français, puis annoncez l'objectif : le dire en néerlandais.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Au bureau, on parle sans cesse de « mon dossier, votre rendez-vous, cette salle ». Ce module donne ces petits mots, très fréquents.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les formes dans un mini-dialogue.
Faites relever les petits mots devant les noms : deze, dit, die (montrer) et jouw, mijn (posséder). de bril = les lunettes (un singulier en néerlandais, M17).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Mémoriser les possessifs, en parallèle avec les pronoms personnels (M2).
Une seule forme par personne (sauf ons / onze) : pas d'accord avec le nom, contrairement au français (mon / ma / mes). Les formes courtes sont pour l'oral et les messages informels (diapo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zijn ou haar selon le possesseur, pas selon l'objet.
En français, « son / sa » s'accorde avec l'objet (son frère, sa femme). En néerlandais, on regarde le possesseur : un homme → zijn, une femme → haar. Faites la question-réflexe : « à lui ou à elle ?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ons ou onze selon de / het (M5).
C'est le seul possessif qui change. Même logique que l'adjectif (M21) : la forme sans -e ne va qu'avec un mot het au singulier. Dans le doute, vérifiez l'article (M5).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« votre » et « leur » selon la situation.
uw = une personne vouvoyée (M8) ; jullie = plusieurs personnes. Erreur entendue aux Pays-Bas : Hun hebben… au lieu de Zij hebben… ; dans la langue standard, hun n'est jamais sujet.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m'n, je, z'n, d'r à l'oral et dans les messages informels.
À reconnaître, pas à produire à l'écrit. je = « ton » (non accentué) : Waar is je jas? La forme pleine sert à contraster : Niet míjn pen, jóuw pen!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démonstratif selon de / het et la distance.
Le français dit « ce, cette, ces » et ajoute « -ci / -là ». Le néerlandais intègre la distance dans le mot. Au pluriel, toujours deze / die, même pour un mot het (deze huizen).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 pas suivre le genre français.
Masculin ou féminin en français ne dit rien sur de / het. On regarde l'article du mot néerlandais (M5). Réflexe : de → deze, het → dit, pluriel → deze.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dit / dat seuls pour présenter (« c'est », « ce sont »).
Pour présenter, dit / dat ne change pas, même pour une personne ou un pluriel : c'est le verbe qui s'accorde. die seul (= « celui-là, celle-là ») est très fréquent à l'oral : à reconnaître.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à qui appartient un objet sans répéter le nom.
van + pronom objet (mij, jou, hem, haar…) = « à moi, à toi ». À l'oral, on entend aussi van hun (à la place de van hen). de mijne / het mijne (le mien) : Néerlandais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possessif selon le possesseur.
Faites justifier : à lui / à elle, de / het (n° 3 : de vergaderzaal → onze), politesse (n°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le possessif selon le possesseur.
Faites justifier : à lui / à elle, de / het (n° 3 : de vergaderzaal → onze), politesse (n°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Automatiser ons / onze selon de / het.
Variante orale rapide : l'enseignant·e dit le nom, la classe répond ons ou onze en chœur.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Automatiser ons / onze selon de / het.
Variante orale rapide : l'enseignant·e dit le nom, la classe répond ons ou onze en chœur.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démonstratif selon de / het et la distance.
Faites montrer de la main en même temps : toucher (deze / dit), pointer (die / dat).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le démonstratif selon de / het et la distance.
Faites montrer de la main en même temps : toucher (deze / dit), pointer (die / dat).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en évitant les pièges du français.
N° 3, 4, 7 et 8 : dat / die (plus loin) est aussi correct : Dat huis…, Dat zijn…, Die pen…, Dat is… (« ce, cette » ne dit pas si c'est proche ou loin). N° 8 : het bedrijf → 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Traduire en évitant les pièges du français.
N° 3, 4, 7 et 8 : dat / die (plus loin) est aussi correct : Dat huis…, Dat zijn…, Die pen…, Dat is… (« ce, cette » ne dit pas si c'est proche ou loin). N° 8 : het bedrijf → 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message.
Leurres : onze teamdag (de teamdag) et Neem jullie badge mee sont corrects. Chaque erreur renvoie à une diapo (5, 6, 10,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message.
Leurres : onze teamdag (de teamdag) et Neem jullie badge mee sont corrects. Chaque erreur renvoie à une diapo (5, 6, 10,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Demander et dire à qui est un objet, à l'oral.
Exigez le bon démonstratif (deze / dit) et un possessif dans la réponse. Variante : on devine le propriétaire (Ik denk dat dit de bril van Sofie 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présenter sa famille ou son équipe sur une photo.
Ensuite, chacun présente sa propre famille (ou son équipe) avec une photo réelle ou dessinée. Insistez sur zijn / haar : Mijn zus en haar man…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Sofie en haar broer.
2. ons kantoor · onze klanten.
3. dit huis · deze stoel.
Teaser M21 : een groot huis, de grote auto.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20 · Van wie is dit?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20 · Van wie is dit?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image" Target="../media/image-19-8.png"/><Relationship Id="rId9" Type="http://schemas.openxmlformats.org/officeDocument/2006/relationships/image" Target="../media/image-19-9.png"/><Relationship Id="rId10" Type="http://schemas.openxmlformats.org/officeDocument/2006/relationships/image" Target="../media/image-19-10.pn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png"/><Relationship Id="rId13" Type="http://schemas.openxmlformats.org/officeDocument/2006/relationships/image" Target="../media/image-19-13.png"/><Relationship Id="rId14" Type="http://schemas.openxmlformats.org/officeDocument/2006/relationships/image" Target="../media/image-19-14.png"/><Relationship Id="rId15" Type="http://schemas.openxmlformats.org/officeDocument/2006/relationships/image" Target="../media/image-19-15.png"/><Relationship Id="rId16" Type="http://schemas.openxmlformats.org/officeDocument/2006/relationships/image" Target="../media/image-19-16.png"/><Relationship Id="rId17" Type="http://schemas.openxmlformats.org/officeDocument/2006/relationships/image" Target="../media/image-19-17.png"/><Relationship Id="rId18" Type="http://schemas.openxmlformats.org/officeDocument/2006/relationships/slideLayout" Target="../slideLayouts/slideLayout2.xml"/><Relationship Id="rId1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image" Target="../media/image-20-10.png"/><Relationship Id="rId11" Type="http://schemas.openxmlformats.org/officeDocument/2006/relationships/image" Target="../media/image-20-11.png"/><Relationship Id="rId12" Type="http://schemas.openxmlformats.org/officeDocument/2006/relationships/image" Target="../media/image-20-12.png"/><Relationship Id="rId13" Type="http://schemas.openxmlformats.org/officeDocument/2006/relationships/image" Target="../media/image-20-13.png"/><Relationship Id="rId14" Type="http://schemas.openxmlformats.org/officeDocument/2006/relationships/image" Target="../media/image-20-14.png"/><Relationship Id="rId15" Type="http://schemas.openxmlformats.org/officeDocument/2006/relationships/image" Target="../media/image-20-15.png"/><Relationship Id="rId16" Type="http://schemas.openxmlformats.org/officeDocument/2006/relationships/image" Target="../media/image-20-16.png"/><Relationship Id="rId17" Type="http://schemas.openxmlformats.org/officeDocument/2006/relationships/image" Target="../media/image-20-17.png"/><Relationship Id="rId18" Type="http://schemas.openxmlformats.org/officeDocument/2006/relationships/slideLayout" Target="../slideLayouts/slideLayout2.xml"/><Relationship Id="rId1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20 / 24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Van wie is dit?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Possessifs et démonstratifs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Is dit jouw pen? — Nee, die is van Sofie.</a:t>
            </a:r>
            <a:endParaRPr lang="en-US" sz="2000" dirty="0"/>
          </a:p>
        </p:txBody>
      </p:sp>
      <p:pic>
        <p:nvPicPr>
          <p:cNvPr id="5" name="Image 0" descr="pack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097280"/>
            <a:ext cx="2377440" cy="2377440"/>
          </a:xfrm>
          <a:prstGeom prst="rect">
            <a:avLst/>
          </a:prstGeom>
        </p:spPr>
      </p:pic>
      <p:pic>
        <p:nvPicPr>
          <p:cNvPr id="6" name="Image 1" descr="closed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777240"/>
            <a:ext cx="914400" cy="914400"/>
          </a:xfrm>
          <a:prstGeom prst="rect">
            <a:avLst/>
          </a:prstGeom>
        </p:spPr>
      </p:pic>
      <p:pic>
        <p:nvPicPr>
          <p:cNvPr id="7" name="Image 2" descr="ke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731520"/>
            <a:ext cx="731520" cy="731520"/>
          </a:xfrm>
          <a:prstGeom prst="rect">
            <a:avLst/>
          </a:prstGeom>
        </p:spPr>
      </p:pic>
      <p:pic>
        <p:nvPicPr>
          <p:cNvPr id="8" name="Image 3" descr="glass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0" y="1143000"/>
            <a:ext cx="731520" cy="73152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9601200" y="1828800"/>
            <a:ext cx="20116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4"/>
          <p:cNvSpPr txBox="1"/>
          <p:nvPr/>
        </p:nvSpPr>
        <p:spPr>
          <a:xfrm>
            <a:off x="9601200" y="182880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Van wie?</a:t>
            </a:r>
            <a:endParaRPr lang="en-US" sz="2400" dirty="0"/>
          </a:p>
        </p:txBody>
      </p:sp>
      <p:sp>
        <p:nvSpPr>
          <p:cNvPr id="11" name="Shape 5"/>
          <p:cNvSpPr/>
          <p:nvPr/>
        </p:nvSpPr>
        <p:spPr>
          <a:xfrm>
            <a:off x="6355080" y="3794760"/>
            <a:ext cx="5303520" cy="100584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6"/>
          <p:cNvSpPr txBox="1"/>
          <p:nvPr/>
        </p:nvSpPr>
        <p:spPr>
          <a:xfrm>
            <a:off x="6355080" y="379476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Is 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dit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</a:t>
            </a: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jouw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pen?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Posséder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à qui est une chose : </a:t>
            </a:r>
            <a:r>
              <a:rPr lang="en-US" sz="2000" i="1" dirty="0">
                <a:solidFill>
                  <a:schemeClr val="tx1"/>
                </a:solidFill>
              </a:rPr>
              <a:t>mijn laptop, haar jas, ons kantoor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HandPoint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Montrer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montre : </a:t>
            </a:r>
            <a:r>
              <a:rPr lang="en-US" sz="2000" i="1" dirty="0">
                <a:solidFill>
                  <a:schemeClr val="tx1"/>
                </a:solidFill>
              </a:rPr>
              <a:t>deze stoel, dit bureau, die collega’s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Ques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Demander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demande : </a:t>
            </a:r>
            <a:r>
              <a:rPr lang="en-US" sz="2000" i="1" dirty="0">
                <a:solidFill>
                  <a:schemeClr val="tx1"/>
                </a:solidFill>
              </a:rPr>
              <a:t>Van wie is dit? — Van mij!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Au bureau, on parle sans cesse de « mon dossier, votre rendez-vous, cette salle » : de tout petits mots, très fréquents.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les objets trouvés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66160" cy="4709160"/>
          </a:xfrm>
          <a:prstGeom prst="roundRect">
            <a:avLst>
              <a:gd name="adj" fmla="val 2051"/>
            </a:avLst>
          </a:prstGeom>
          <a:solidFill>
            <a:srgbClr val="FFFDF5"/>
          </a:solidFill>
          <a:ln w="15875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5"/>
                </a:solidFill>
              </a:rPr>
              <a:t>GEVONDEN VOORWERPEN</a:t>
            </a:r>
            <a:endParaRPr lang="en-US" sz="1300" dirty="0"/>
          </a:p>
        </p:txBody>
      </p:sp>
      <p:pic>
        <p:nvPicPr>
          <p:cNvPr id="7" name="Image 0" descr="pack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926080"/>
            <a:ext cx="2560320" cy="2560320"/>
          </a:xfrm>
          <a:prstGeom prst="rect">
            <a:avLst/>
          </a:prstGeom>
        </p:spPr>
      </p:pic>
      <p:pic>
        <p:nvPicPr>
          <p:cNvPr id="8" name="Image 1" descr="closed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03120"/>
            <a:ext cx="777240" cy="777240"/>
          </a:xfrm>
          <a:prstGeom prst="rect">
            <a:avLst/>
          </a:prstGeom>
        </p:spPr>
      </p:pic>
      <p:pic>
        <p:nvPicPr>
          <p:cNvPr id="9" name="Image 2" descr="ke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2148840"/>
            <a:ext cx="777240" cy="777240"/>
          </a:xfrm>
          <a:prstGeom prst="rect">
            <a:avLst/>
          </a:prstGeom>
        </p:spPr>
      </p:pic>
      <p:pic>
        <p:nvPicPr>
          <p:cNvPr id="10" name="Image 3" descr="glass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1800" y="2194560"/>
            <a:ext cx="777240" cy="777240"/>
          </a:xfrm>
          <a:prstGeom prst="rect">
            <a:avLst/>
          </a:prstGeom>
        </p:spPr>
      </p:pic>
      <p:pic>
        <p:nvPicPr>
          <p:cNvPr id="11" name="Image 4" descr="scarf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3040" y="2651760"/>
            <a:ext cx="777240" cy="777240"/>
          </a:xfrm>
          <a:prstGeom prst="rect">
            <a:avLst/>
          </a:prstGeom>
        </p:spPr>
      </p:pic>
      <p:sp>
        <p:nvSpPr>
          <p:cNvPr id="12" name="Shape 4"/>
          <p:cNvSpPr/>
          <p:nvPr/>
        </p:nvSpPr>
        <p:spPr>
          <a:xfrm>
            <a:off x="4389120" y="1554480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13" name="Text 5"/>
          <p:cNvSpPr txBox="1"/>
          <p:nvPr/>
        </p:nvSpPr>
        <p:spPr>
          <a:xfrm>
            <a:off x="4553712" y="1554480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Van wie is </a:t>
            </a:r>
            <a:r>
              <a:rPr lang="en-US" sz="1700" b="1" i="1" dirty="0">
                <a:solidFill>
                  <a:schemeClr val="accent1"/>
                </a:solidFill>
              </a:rPr>
              <a:t>deze</a:t>
            </a:r>
            <a:r>
              <a:rPr lang="en-US" sz="1700" i="1" dirty="0">
                <a:solidFill>
                  <a:schemeClr val="tx1"/>
                </a:solidFill>
              </a:rPr>
              <a:t> paraplu?</a:t>
            </a:r>
            <a:endParaRPr lang="en-US" sz="1700" dirty="0"/>
          </a:p>
        </p:txBody>
      </p:sp>
      <p:sp>
        <p:nvSpPr>
          <p:cNvPr id="14" name="Shape 6"/>
          <p:cNvSpPr/>
          <p:nvPr/>
        </p:nvSpPr>
        <p:spPr>
          <a:xfrm>
            <a:off x="5120640" y="2340864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5285232" y="2340864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b="1" i="1" dirty="0">
                <a:solidFill>
                  <a:schemeClr val="accent1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is van An.</a:t>
            </a:r>
            <a:endParaRPr lang="en-US" sz="1700" dirty="0"/>
          </a:p>
        </p:txBody>
      </p:sp>
      <p:sp>
        <p:nvSpPr>
          <p:cNvPr id="16" name="Shape 8"/>
          <p:cNvSpPr/>
          <p:nvPr/>
        </p:nvSpPr>
        <p:spPr>
          <a:xfrm>
            <a:off x="4389120" y="3127248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17" name="Text 9"/>
          <p:cNvSpPr txBox="1"/>
          <p:nvPr/>
        </p:nvSpPr>
        <p:spPr>
          <a:xfrm>
            <a:off x="4553712" y="3127248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En zijn </a:t>
            </a:r>
            <a:r>
              <a:rPr lang="en-US" sz="1700" b="1" i="1" dirty="0">
                <a:solidFill>
                  <a:schemeClr val="accent1"/>
                </a:solidFill>
              </a:rPr>
              <a:t>dit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2"/>
                </a:solidFill>
              </a:rPr>
              <a:t>jouw</a:t>
            </a:r>
            <a:r>
              <a:rPr lang="en-US" sz="1700" i="1" dirty="0">
                <a:solidFill>
                  <a:schemeClr val="tx1"/>
                </a:solidFill>
              </a:rPr>
              <a:t> sleutels?</a:t>
            </a:r>
            <a:endParaRPr lang="en-US" sz="1700" dirty="0"/>
          </a:p>
        </p:txBody>
      </p:sp>
      <p:sp>
        <p:nvSpPr>
          <p:cNvPr id="18" name="Shape 10"/>
          <p:cNvSpPr/>
          <p:nvPr/>
        </p:nvSpPr>
        <p:spPr>
          <a:xfrm>
            <a:off x="5120640" y="3913632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9" name="Text 11"/>
          <p:cNvSpPr txBox="1"/>
          <p:nvPr/>
        </p:nvSpPr>
        <p:spPr>
          <a:xfrm>
            <a:off x="5285232" y="3913632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Ja! Dat zijn </a:t>
            </a:r>
            <a:r>
              <a:rPr lang="en-US" sz="1700" b="1" i="1" dirty="0">
                <a:solidFill>
                  <a:schemeClr val="accent2"/>
                </a:solidFill>
              </a:rPr>
              <a:t>mijn</a:t>
            </a:r>
            <a:r>
              <a:rPr lang="en-US" sz="1700" i="1" dirty="0">
                <a:solidFill>
                  <a:schemeClr val="tx1"/>
                </a:solidFill>
              </a:rPr>
              <a:t> sleutels. Dank je!</a:t>
            </a:r>
            <a:endParaRPr lang="en-US" sz="1700" dirty="0"/>
          </a:p>
        </p:txBody>
      </p:sp>
      <p:sp>
        <p:nvSpPr>
          <p:cNvPr id="20" name="Shape 12"/>
          <p:cNvSpPr/>
          <p:nvPr/>
        </p:nvSpPr>
        <p:spPr>
          <a:xfrm>
            <a:off x="4389120" y="4700016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4553712" y="4700016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En </a:t>
            </a:r>
            <a:r>
              <a:rPr lang="en-US" sz="1700" b="1" i="1" dirty="0">
                <a:solidFill>
                  <a:schemeClr val="accent1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bril? Is dat </a:t>
            </a:r>
            <a:r>
              <a:rPr lang="en-US" sz="1700" b="1" i="1" dirty="0">
                <a:solidFill>
                  <a:schemeClr val="accent2"/>
                </a:solidFill>
              </a:rPr>
              <a:t>jouw</a:t>
            </a:r>
            <a:r>
              <a:rPr lang="en-US" sz="1700" i="1" dirty="0">
                <a:solidFill>
                  <a:schemeClr val="tx1"/>
                </a:solidFill>
              </a:rPr>
              <a:t> bril?</a:t>
            </a:r>
            <a:endParaRPr lang="en-US" sz="1700" dirty="0"/>
          </a:p>
        </p:txBody>
      </p:sp>
      <p:sp>
        <p:nvSpPr>
          <p:cNvPr id="22" name="Shape 14"/>
          <p:cNvSpPr/>
          <p:nvPr/>
        </p:nvSpPr>
        <p:spPr>
          <a:xfrm>
            <a:off x="5120640" y="5486400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3" name="Text 15"/>
          <p:cNvSpPr txBox="1"/>
          <p:nvPr/>
        </p:nvSpPr>
        <p:spPr>
          <a:xfrm>
            <a:off x="5285232" y="5486400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Nee, dat is de bril van meneer Maes.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possessifs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7315200" cy="36576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5544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pronom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2194560" y="1554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possessif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343400" y="1554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oral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349240" y="15544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français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196596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19659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ik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2194560" y="19659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mijn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4343400" y="19659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m’n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5349240" y="19659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mon, ma, mes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251460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25146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jij / je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2194560" y="25146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jouw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4343400" y="251460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je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349240" y="25146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ton, ta, tes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306324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30632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u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2194560" y="30632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6E4A9E"/>
                </a:solidFill>
              </a:rPr>
              <a:t>uw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4343400" y="30632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349240" y="30632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votre (politesse)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548640" y="361188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36118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hij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2194560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zijn</a:t>
            </a:r>
            <a:endParaRPr lang="en-US" sz="2200" dirty="0"/>
          </a:p>
        </p:txBody>
      </p:sp>
      <p:sp>
        <p:nvSpPr>
          <p:cNvPr id="28" name="Text 25"/>
          <p:cNvSpPr txBox="1"/>
          <p:nvPr/>
        </p:nvSpPr>
        <p:spPr>
          <a:xfrm>
            <a:off x="4343400" y="3611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z’n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349240" y="36118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son, sa, ses (à lui)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548640" y="416052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85800" y="41605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zij / ze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2194560" y="41605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4"/>
                </a:solidFill>
              </a:rPr>
              <a:t>haar</a:t>
            </a:r>
            <a:endParaRPr lang="en-US" sz="2200" dirty="0"/>
          </a:p>
        </p:txBody>
      </p:sp>
      <p:sp>
        <p:nvSpPr>
          <p:cNvPr id="33" name="Text 30"/>
          <p:cNvSpPr txBox="1"/>
          <p:nvPr/>
        </p:nvSpPr>
        <p:spPr>
          <a:xfrm>
            <a:off x="4343400" y="41605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d’r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5349240" y="41605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son, sa, ses (à elle)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548640" y="470916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85800" y="47091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wij / we</a:t>
            </a:r>
            <a:endParaRPr lang="en-US" sz="1700" dirty="0"/>
          </a:p>
        </p:txBody>
      </p:sp>
      <p:sp>
        <p:nvSpPr>
          <p:cNvPr id="37" name="Text 34"/>
          <p:cNvSpPr txBox="1"/>
          <p:nvPr/>
        </p:nvSpPr>
        <p:spPr>
          <a:xfrm>
            <a:off x="2194560" y="47091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ons / onze</a:t>
            </a:r>
            <a:endParaRPr lang="en-US" sz="2200" dirty="0"/>
          </a:p>
        </p:txBody>
      </p:sp>
      <p:sp>
        <p:nvSpPr>
          <p:cNvPr id="38" name="Text 35"/>
          <p:cNvSpPr txBox="1"/>
          <p:nvPr/>
        </p:nvSpPr>
        <p:spPr>
          <a:xfrm>
            <a:off x="4343400" y="47091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5349240" y="47091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notre, nos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548640" y="525780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85800" y="52578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jullie</a:t>
            </a:r>
            <a:endParaRPr lang="en-US" sz="1700" dirty="0"/>
          </a:p>
        </p:txBody>
      </p:sp>
      <p:sp>
        <p:nvSpPr>
          <p:cNvPr id="42" name="Text 39"/>
          <p:cNvSpPr txBox="1"/>
          <p:nvPr/>
        </p:nvSpPr>
        <p:spPr>
          <a:xfrm>
            <a:off x="2194560" y="52578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jullie</a:t>
            </a:r>
            <a:endParaRPr lang="en-US" sz="2200" dirty="0"/>
          </a:p>
        </p:txBody>
      </p:sp>
      <p:sp>
        <p:nvSpPr>
          <p:cNvPr id="43" name="Text 40"/>
          <p:cNvSpPr txBox="1"/>
          <p:nvPr/>
        </p:nvSpPr>
        <p:spPr>
          <a:xfrm>
            <a:off x="4343400" y="525780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je</a:t>
            </a:r>
            <a:endParaRPr lang="en-US" sz="1500" dirty="0"/>
          </a:p>
        </p:txBody>
      </p:sp>
      <p:sp>
        <p:nvSpPr>
          <p:cNvPr id="44" name="Text 41"/>
          <p:cNvSpPr txBox="1"/>
          <p:nvPr/>
        </p:nvSpPr>
        <p:spPr>
          <a:xfrm>
            <a:off x="5349240" y="52578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votre, vos (plusieurs)</a:t>
            </a:r>
            <a:endParaRPr lang="en-US" sz="1500" dirty="0"/>
          </a:p>
        </p:txBody>
      </p:sp>
      <p:sp>
        <p:nvSpPr>
          <p:cNvPr id="45" name="Shape 42"/>
          <p:cNvSpPr/>
          <p:nvPr/>
        </p:nvSpPr>
        <p:spPr>
          <a:xfrm>
            <a:off x="548640" y="580644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85800" y="58064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zij / ze</a:t>
            </a:r>
            <a:endParaRPr lang="en-US" sz="1700" dirty="0"/>
          </a:p>
        </p:txBody>
      </p:sp>
      <p:sp>
        <p:nvSpPr>
          <p:cNvPr id="47" name="Text 44"/>
          <p:cNvSpPr txBox="1"/>
          <p:nvPr/>
        </p:nvSpPr>
        <p:spPr>
          <a:xfrm>
            <a:off x="2194560" y="58064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hun</a:t>
            </a:r>
            <a:endParaRPr lang="en-US" sz="2200" dirty="0"/>
          </a:p>
        </p:txBody>
      </p:sp>
      <p:sp>
        <p:nvSpPr>
          <p:cNvPr id="48" name="Text 45"/>
          <p:cNvSpPr txBox="1"/>
          <p:nvPr/>
        </p:nvSpPr>
        <p:spPr>
          <a:xfrm>
            <a:off x="4343400" y="58064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49" name="Text 46"/>
          <p:cNvSpPr txBox="1"/>
          <p:nvPr/>
        </p:nvSpPr>
        <p:spPr>
          <a:xfrm>
            <a:off x="5349240" y="58064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leur, leurs</a:t>
            </a:r>
            <a:endParaRPr lang="en-US" sz="1500" dirty="0"/>
          </a:p>
        </p:txBody>
      </p:sp>
      <p:sp>
        <p:nvSpPr>
          <p:cNvPr id="50" name="Shape 47"/>
          <p:cNvSpPr/>
          <p:nvPr/>
        </p:nvSpPr>
        <p:spPr>
          <a:xfrm>
            <a:off x="8138160" y="1554480"/>
            <a:ext cx="3502152" cy="4389120"/>
          </a:xfrm>
          <a:prstGeom prst="roundRect">
            <a:avLst>
              <a:gd name="adj" fmla="val 261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8321040" y="171907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2" name="Image 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7103" y="1855135"/>
            <a:ext cx="294803" cy="294803"/>
          </a:xfrm>
          <a:prstGeom prst="rect">
            <a:avLst/>
          </a:prstGeom>
        </p:spPr>
      </p:pic>
      <p:sp>
        <p:nvSpPr>
          <p:cNvPr id="53" name="Text 49"/>
          <p:cNvSpPr txBox="1"/>
          <p:nvPr/>
        </p:nvSpPr>
        <p:spPr>
          <a:xfrm>
            <a:off x="9034272" y="1700784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Une seule forme</a:t>
            </a:r>
            <a:endParaRPr lang="en-US" sz="1900" dirty="0"/>
          </a:p>
        </p:txBody>
      </p:sp>
      <p:sp>
        <p:nvSpPr>
          <p:cNvPr id="54" name="Text 50"/>
          <p:cNvSpPr txBox="1"/>
          <p:nvPr/>
        </p:nvSpPr>
        <p:spPr>
          <a:xfrm>
            <a:off x="8339328" y="2423160"/>
            <a:ext cx="3099816" cy="3410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mijn</a:t>
            </a:r>
            <a:r>
              <a:rPr lang="en-US" sz="1600" i="1" dirty="0">
                <a:solidFill>
                  <a:schemeClr val="tx1"/>
                </a:solidFill>
              </a:rPr>
              <a:t> laptop · </a:t>
            </a:r>
            <a:r>
              <a:rPr lang="en-US" sz="1600" b="1" i="1" dirty="0">
                <a:solidFill>
                  <a:schemeClr val="tx1"/>
                </a:solidFill>
              </a:rPr>
              <a:t>mijn</a:t>
            </a:r>
            <a:r>
              <a:rPr lang="en-US" sz="1600" i="1" dirty="0">
                <a:solidFill>
                  <a:schemeClr val="tx1"/>
                </a:solidFill>
              </a:rPr>
              <a:t> tas · </a:t>
            </a:r>
            <a:r>
              <a:rPr lang="en-US" sz="1600" b="1" i="1" dirty="0">
                <a:solidFill>
                  <a:schemeClr val="tx1"/>
                </a:solidFill>
              </a:rPr>
              <a:t>mijn</a:t>
            </a:r>
            <a:r>
              <a:rPr lang="en-US" sz="1600" i="1" dirty="0">
                <a:solidFill>
                  <a:schemeClr val="tx1"/>
                </a:solidFill>
              </a:rPr>
              <a:t> boeken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FR : mon / ma / mes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Seul </a:t>
            </a:r>
            <a:r>
              <a:rPr lang="en-US" sz="1600" i="1" dirty="0">
                <a:solidFill>
                  <a:schemeClr val="tx1"/>
                </a:solidFill>
              </a:rPr>
              <a:t>ons / onze</a:t>
            </a:r>
            <a:r>
              <a:rPr lang="en-US" sz="1600" dirty="0">
                <a:solidFill>
                  <a:schemeClr val="tx1"/>
                </a:solidFill>
              </a:rPr>
              <a:t> change (diapo 6).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Formes courtes : l’oral (diapo 8).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son / sa — c’est le possesseur qui décide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48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Sofie et </a:t>
            </a:r>
            <a:r>
              <a:rPr lang="en-US" sz="1700" b="1" dirty="0">
                <a:solidFill>
                  <a:schemeClr val="tx1"/>
                </a:solidFill>
              </a:rPr>
              <a:t>son</a:t>
            </a:r>
            <a:r>
              <a:rPr lang="en-US" sz="1700" dirty="0">
                <a:solidFill>
                  <a:schemeClr val="tx1"/>
                </a:solidFill>
              </a:rPr>
              <a:t> frère »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4846320" y="2148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Sofie en zijn broer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7543800" y="2578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7909560" y="2221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46720" y="2221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Sofie en </a:t>
            </a:r>
            <a:r>
              <a:rPr lang="en-US" sz="1800" b="1" i="1" dirty="0">
                <a:solidFill>
                  <a:schemeClr val="accent4"/>
                </a:solidFill>
              </a:rPr>
              <a:t>haar</a:t>
            </a:r>
            <a:r>
              <a:rPr lang="en-US" sz="1800" i="1" dirty="0">
                <a:solidFill>
                  <a:schemeClr val="tx1"/>
                </a:solidFill>
              </a:rPr>
              <a:t> broer</a:t>
            </a:r>
            <a:endParaRPr lang="en-US" sz="1800" dirty="0"/>
          </a:p>
        </p:txBody>
      </p:sp>
      <p:pic>
        <p:nvPicPr>
          <p:cNvPr id="13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83280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3291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Karim et </a:t>
            </a:r>
            <a:r>
              <a:rPr lang="en-US" sz="1700" b="1" dirty="0">
                <a:solidFill>
                  <a:schemeClr val="tx1"/>
                </a:solidFill>
              </a:rPr>
              <a:t>sa</a:t>
            </a:r>
            <a:r>
              <a:rPr lang="en-US" sz="1700" dirty="0">
                <a:solidFill>
                  <a:schemeClr val="tx1"/>
                </a:solidFill>
              </a:rPr>
              <a:t> femme »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4846320" y="3291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Karim en haar vrouw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7543800" y="3721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7909560" y="3364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046720" y="3364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Karim en </a:t>
            </a:r>
            <a:r>
              <a:rPr lang="en-US" sz="1800" b="1" i="1" dirty="0">
                <a:solidFill>
                  <a:schemeClr val="accent2"/>
                </a:solidFill>
              </a:rPr>
              <a:t>zijn</a:t>
            </a:r>
            <a:r>
              <a:rPr lang="en-US" sz="1800" i="1" dirty="0">
                <a:solidFill>
                  <a:schemeClr val="tx1"/>
                </a:solidFill>
              </a:rPr>
              <a:t> vrouw</a:t>
            </a:r>
            <a:endParaRPr lang="en-US" sz="1800" dirty="0"/>
          </a:p>
        </p:txBody>
      </p:sp>
      <p:pic>
        <p:nvPicPr>
          <p:cNvPr id="19" name="Image 2" descr="woman office wor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526280"/>
            <a:ext cx="685800" cy="6858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00200" y="4434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Sofie et </a:t>
            </a:r>
            <a:r>
              <a:rPr lang="en-US" sz="1700" b="1" dirty="0">
                <a:solidFill>
                  <a:schemeClr val="tx1"/>
                </a:solidFill>
              </a:rPr>
              <a:t>ses</a:t>
            </a:r>
            <a:r>
              <a:rPr lang="en-US" sz="1700" dirty="0">
                <a:solidFill>
                  <a:schemeClr val="tx1"/>
                </a:solidFill>
              </a:rPr>
              <a:t> collègues »</a:t>
            </a:r>
            <a:endParaRPr lang="en-US" sz="1700" dirty="0"/>
          </a:p>
        </p:txBody>
      </p:sp>
      <p:sp>
        <p:nvSpPr>
          <p:cNvPr id="21" name="Shape 15"/>
          <p:cNvSpPr/>
          <p:nvPr/>
        </p:nvSpPr>
        <p:spPr>
          <a:xfrm>
            <a:off x="7543800" y="4864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2" name="Shape 16"/>
          <p:cNvSpPr/>
          <p:nvPr/>
        </p:nvSpPr>
        <p:spPr>
          <a:xfrm>
            <a:off x="7909560" y="4507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046720" y="4507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Sofie en </a:t>
            </a:r>
            <a:r>
              <a:rPr lang="en-US" sz="1800" b="1" i="1" dirty="0">
                <a:solidFill>
                  <a:schemeClr val="accent4"/>
                </a:solidFill>
              </a:rPr>
              <a:t>haar</a:t>
            </a:r>
            <a:r>
              <a:rPr lang="en-US" sz="1800" i="1" dirty="0">
                <a:solidFill>
                  <a:schemeClr val="tx1"/>
                </a:solidFill>
              </a:rPr>
              <a:t> collega’s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Question-réflexe : </a:t>
            </a:r>
            <a:r>
              <a:rPr lang="en-US" sz="1700" b="1" dirty="0">
                <a:solidFill>
                  <a:schemeClr val="bg1"/>
                </a:solidFill>
              </a:rPr>
              <a:t>à lui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b="1" i="1" dirty="0">
                <a:solidFill>
                  <a:schemeClr val="bg1"/>
                </a:solidFill>
              </a:rPr>
              <a:t>zijn</a:t>
            </a:r>
            <a:r>
              <a:rPr lang="en-US" sz="1700" dirty="0">
                <a:solidFill>
                  <a:schemeClr val="bg1"/>
                </a:solidFill>
              </a:rPr>
              <a:t> · </a:t>
            </a:r>
            <a:r>
              <a:rPr lang="en-US" sz="1700" b="1" dirty="0">
                <a:solidFill>
                  <a:schemeClr val="bg1"/>
                </a:solidFill>
              </a:rPr>
              <a:t>à elle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b="1" i="1" dirty="0">
                <a:solidFill>
                  <a:schemeClr val="bg1"/>
                </a:solidFill>
              </a:rPr>
              <a:t>haar</a:t>
            </a:r>
            <a:r>
              <a:rPr lang="en-US" sz="1700" dirty="0">
                <a:solidFill>
                  <a:schemeClr val="bg1"/>
                </a:solidFill>
              </a:rPr>
              <a:t> — l’objet (frère, femme) ne compte pas 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ons ou onze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840480"/>
          </a:xfrm>
          <a:prstGeom prst="roundRect">
            <a:avLst>
              <a:gd name="adj" fmla="val 1905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1783080"/>
            <a:ext cx="1463040" cy="96012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78308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HET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1783080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→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2834640" y="178308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ons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8803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+ mot </a:t>
            </a:r>
            <a:r>
              <a:rPr lang="en-US" sz="1600" i="1" dirty="0">
                <a:solidFill>
                  <a:schemeClr val="accent5"/>
                </a:solidFill>
              </a:rPr>
              <a:t>het</a:t>
            </a:r>
            <a:r>
              <a:rPr lang="en-US" sz="1600" i="1" dirty="0">
                <a:solidFill>
                  <a:schemeClr val="accent5"/>
                </a:solidFill>
              </a:rPr>
              <a:t> au singulier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337560"/>
            <a:ext cx="49377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ons kantoor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ons team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ons bedrijf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6227064" y="1554480"/>
            <a:ext cx="5413248" cy="3840480"/>
          </a:xfrm>
          <a:prstGeom prst="roundRect">
            <a:avLst>
              <a:gd name="adj" fmla="val 1905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455664" y="1783080"/>
            <a:ext cx="146304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55664" y="178308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+ pluriel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964424" y="1783080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→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8513064" y="178308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onze</a:t>
            </a:r>
            <a:endParaRPr lang="en-US" sz="4000" dirty="0"/>
          </a:p>
        </p:txBody>
      </p:sp>
      <p:sp>
        <p:nvSpPr>
          <p:cNvPr id="17" name="Text 14"/>
          <p:cNvSpPr txBox="1"/>
          <p:nvPr/>
        </p:nvSpPr>
        <p:spPr>
          <a:xfrm>
            <a:off x="6501384" y="28803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+ mot </a:t>
            </a:r>
            <a:r>
              <a:rPr lang="en-US" sz="1600" i="1" dirty="0">
                <a:solidFill>
                  <a:schemeClr val="accent5"/>
                </a:solidFill>
              </a:rPr>
              <a:t>de</a:t>
            </a:r>
            <a:r>
              <a:rPr lang="en-US" sz="1600" i="1" dirty="0">
                <a:solidFill>
                  <a:schemeClr val="accent5"/>
                </a:solidFill>
              </a:rPr>
              <a:t> ou pluriel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6501384" y="3337560"/>
            <a:ext cx="49377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onze klant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onze directeur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onze collega’s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onze kantoren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seul possessif qui change. Même logique que l’adjectif (M21) : </a:t>
            </a:r>
            <a:r>
              <a:rPr lang="en-US" sz="1800" i="1" dirty="0">
                <a:solidFill>
                  <a:schemeClr val="bg1"/>
                </a:solidFill>
              </a:rPr>
              <a:t>ons</a:t>
            </a:r>
            <a:r>
              <a:rPr lang="en-US" sz="1800" dirty="0">
                <a:solidFill>
                  <a:schemeClr val="bg1"/>
                </a:solidFill>
              </a:rPr>
              <a:t> + </a:t>
            </a:r>
            <a:r>
              <a:rPr lang="en-US" sz="1800" i="1" dirty="0">
                <a:solidFill>
                  <a:schemeClr val="bg1"/>
                </a:solidFill>
              </a:rPr>
              <a:t>het</a:t>
            </a:r>
            <a:r>
              <a:rPr lang="en-US" sz="1800" dirty="0">
                <a:solidFill>
                  <a:schemeClr val="bg1"/>
                </a:solidFill>
              </a:rPr>
              <a:t> au singulier.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votre, leur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48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Monsieur, </a:t>
            </a:r>
            <a:r>
              <a:rPr lang="en-US" sz="1700" b="1" dirty="0">
                <a:solidFill>
                  <a:schemeClr val="tx1"/>
                </a:solidFill>
              </a:rPr>
              <a:t>votre</a:t>
            </a:r>
            <a:r>
              <a:rPr lang="en-US" sz="1700" dirty="0">
                <a:solidFill>
                  <a:schemeClr val="tx1"/>
                </a:solidFill>
              </a:rPr>
              <a:t> café ! » (une personne, politesse)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543800" y="2578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7909560" y="2221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046720" y="2221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Meneer, </a:t>
            </a:r>
            <a:r>
              <a:rPr lang="en-US" sz="1800" b="1" i="1" dirty="0">
                <a:solidFill>
                  <a:schemeClr val="tx2"/>
                </a:solidFill>
              </a:rPr>
              <a:t>uw</a:t>
            </a:r>
            <a:r>
              <a:rPr lang="en-US" sz="1800" i="1" dirty="0">
                <a:solidFill>
                  <a:schemeClr val="tx1"/>
                </a:solidFill>
              </a:rPr>
              <a:t> koffie!</a:t>
            </a:r>
            <a:endParaRPr lang="en-US" sz="1800" dirty="0"/>
          </a:p>
        </p:txBody>
      </p:sp>
      <p:pic>
        <p:nvPicPr>
          <p:cNvPr id="12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83280"/>
            <a:ext cx="685800" cy="6858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00200" y="3291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Les amis, </a:t>
            </a:r>
            <a:r>
              <a:rPr lang="en-US" sz="1700" b="1" dirty="0">
                <a:solidFill>
                  <a:schemeClr val="tx1"/>
                </a:solidFill>
              </a:rPr>
              <a:t>votre</a:t>
            </a:r>
            <a:r>
              <a:rPr lang="en-US" sz="1700" dirty="0">
                <a:solidFill>
                  <a:schemeClr val="tx1"/>
                </a:solidFill>
              </a:rPr>
              <a:t> café ! » (plusieurs personnes)</a:t>
            </a:r>
            <a:endParaRPr lang="en-US" sz="1700" dirty="0"/>
          </a:p>
        </p:txBody>
      </p:sp>
      <p:sp>
        <p:nvSpPr>
          <p:cNvPr id="14" name="Shape 9"/>
          <p:cNvSpPr/>
          <p:nvPr/>
        </p:nvSpPr>
        <p:spPr>
          <a:xfrm>
            <a:off x="7543800" y="3721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0"/>
          <p:cNvSpPr/>
          <p:nvPr/>
        </p:nvSpPr>
        <p:spPr>
          <a:xfrm>
            <a:off x="7909560" y="3364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046720" y="3364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Jongens, </a:t>
            </a:r>
            <a:r>
              <a:rPr lang="en-US" sz="1800" b="1" i="1" dirty="0">
                <a:solidFill>
                  <a:schemeClr val="tx2"/>
                </a:solidFill>
              </a:rPr>
              <a:t>jullie</a:t>
            </a:r>
            <a:r>
              <a:rPr lang="en-US" sz="1800" i="1" dirty="0">
                <a:solidFill>
                  <a:schemeClr val="tx1"/>
                </a:solidFill>
              </a:rPr>
              <a:t> koffie!</a:t>
            </a:r>
            <a:endParaRPr lang="en-US" sz="1800" dirty="0"/>
          </a:p>
        </p:txBody>
      </p:sp>
      <p:pic>
        <p:nvPicPr>
          <p:cNvPr id="17" name="Image 2" descr="automob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526280"/>
            <a:ext cx="685800" cy="6858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00200" y="4434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Ils cherchent </a:t>
            </a:r>
            <a:r>
              <a:rPr lang="en-US" sz="1700" b="1" dirty="0">
                <a:solidFill>
                  <a:schemeClr val="tx1"/>
                </a:solidFill>
              </a:rPr>
              <a:t>leur</a:t>
            </a:r>
            <a:r>
              <a:rPr lang="en-US" sz="1700" dirty="0">
                <a:solidFill>
                  <a:schemeClr val="tx1"/>
                </a:solidFill>
              </a:rPr>
              <a:t> voiture. »</a:t>
            </a:r>
            <a:endParaRPr lang="en-US" sz="1700" dirty="0"/>
          </a:p>
        </p:txBody>
      </p:sp>
      <p:sp>
        <p:nvSpPr>
          <p:cNvPr id="19" name="Text 13"/>
          <p:cNvSpPr txBox="1"/>
          <p:nvPr/>
        </p:nvSpPr>
        <p:spPr>
          <a:xfrm>
            <a:off x="4846320" y="4434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Ze zoeken zijn auto.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7543800" y="4864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>
            <a:off x="7909560" y="4507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046720" y="4507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Ze zoeken </a:t>
            </a:r>
            <a:r>
              <a:rPr lang="en-US" sz="1800" b="1" i="1" dirty="0">
                <a:solidFill>
                  <a:schemeClr val="tx2"/>
                </a:solidFill>
              </a:rPr>
              <a:t>hun</a:t>
            </a:r>
            <a:r>
              <a:rPr lang="en-US" sz="1800" i="1" dirty="0">
                <a:solidFill>
                  <a:schemeClr val="tx1"/>
                </a:solidFill>
              </a:rPr>
              <a:t> auto.</a:t>
            </a:r>
            <a:endParaRPr lang="en-US" sz="1800" dirty="0"/>
          </a:p>
        </p:txBody>
      </p:sp>
      <p:sp>
        <p:nvSpPr>
          <p:cNvPr id="23" name="Shape 17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uw</a:t>
            </a:r>
            <a:r>
              <a:rPr lang="en-US" sz="1700" dirty="0">
                <a:solidFill>
                  <a:schemeClr val="bg1"/>
                </a:solidFill>
              </a:rPr>
              <a:t> = vous (une personne, M8) · </a:t>
            </a:r>
            <a:r>
              <a:rPr lang="en-US" sz="1700" i="1" dirty="0">
                <a:solidFill>
                  <a:schemeClr val="bg1"/>
                </a:solidFill>
              </a:rPr>
              <a:t>jullie</a:t>
            </a:r>
            <a:r>
              <a:rPr lang="en-US" sz="1700" dirty="0">
                <a:solidFill>
                  <a:schemeClr val="bg1"/>
                </a:solidFill>
              </a:rPr>
              <a:t> = vous (plusieurs) · </a:t>
            </a:r>
            <a:r>
              <a:rPr lang="en-US" sz="1700" i="1" dirty="0">
                <a:solidFill>
                  <a:schemeClr val="bg1"/>
                </a:solidFill>
              </a:rPr>
              <a:t>hun</a:t>
            </a:r>
            <a:r>
              <a:rPr lang="en-US" sz="1700" dirty="0">
                <a:solidFill>
                  <a:schemeClr val="bg1"/>
                </a:solidFill>
              </a:rPr>
              <a:t> = leur, jamais sujet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formes courtes de l’oral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4709160"/>
          </a:xfrm>
          <a:prstGeom prst="roundRect">
            <a:avLst>
              <a:gd name="adj" fmla="val 3883"/>
            </a:avLst>
          </a:prstGeom>
          <a:solidFill>
            <a:srgbClr val="EEF3F8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6" name="Image 0" descr="mobile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91640"/>
            <a:ext cx="548640" cy="5486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71600" y="1691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Berichten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777240" y="2423160"/>
            <a:ext cx="4206240" cy="749808"/>
          </a:xfrm>
          <a:prstGeom prst="roundRect">
            <a:avLst>
              <a:gd name="adj" fmla="val 3048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960120" y="2423160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bel </a:t>
            </a:r>
            <a:r>
              <a:rPr lang="en-US" sz="1900" b="1" i="1" dirty="0">
                <a:solidFill>
                  <a:schemeClr val="accent2"/>
                </a:solidFill>
              </a:rPr>
              <a:t>m’n</a:t>
            </a:r>
            <a:r>
              <a:rPr lang="en-US" sz="1900" i="1" dirty="0">
                <a:solidFill>
                  <a:schemeClr val="tx1"/>
                </a:solidFill>
              </a:rPr>
              <a:t> moeder.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2103120" y="3355848"/>
            <a:ext cx="4206240" cy="749808"/>
          </a:xfrm>
          <a:prstGeom prst="roundRect">
            <a:avLst>
              <a:gd name="adj" fmla="val 30488"/>
            </a:avLst>
          </a:prstGeom>
          <a:solidFill>
            <a:srgbClr val="DCF2E3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286000" y="3355848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Waar is </a:t>
            </a:r>
            <a:r>
              <a:rPr lang="en-US" sz="1900" b="1" i="1" dirty="0">
                <a:solidFill>
                  <a:schemeClr val="accent2"/>
                </a:solidFill>
              </a:rPr>
              <a:t>je</a:t>
            </a:r>
            <a:r>
              <a:rPr lang="en-US" sz="1900" i="1" dirty="0">
                <a:solidFill>
                  <a:schemeClr val="tx1"/>
                </a:solidFill>
              </a:rPr>
              <a:t> jas?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777240" y="4288536"/>
            <a:ext cx="4206240" cy="749808"/>
          </a:xfrm>
          <a:prstGeom prst="roundRect">
            <a:avLst>
              <a:gd name="adj" fmla="val 3048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60120" y="4288536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Hij zoekt </a:t>
            </a:r>
            <a:r>
              <a:rPr lang="en-US" sz="1900" b="1" i="1" dirty="0">
                <a:solidFill>
                  <a:schemeClr val="accent2"/>
                </a:solidFill>
              </a:rPr>
              <a:t>z’n</a:t>
            </a:r>
            <a:r>
              <a:rPr lang="en-US" sz="1900" i="1" dirty="0">
                <a:solidFill>
                  <a:schemeClr val="tx1"/>
                </a:solidFill>
              </a:rPr>
              <a:t> sleutels.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2103120" y="5221224"/>
            <a:ext cx="4206240" cy="749808"/>
          </a:xfrm>
          <a:prstGeom prst="roundRect">
            <a:avLst>
              <a:gd name="adj" fmla="val 30488"/>
            </a:avLst>
          </a:prstGeom>
          <a:solidFill>
            <a:srgbClr val="DCF2E3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286000" y="522122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Ze komt met </a:t>
            </a:r>
            <a:r>
              <a:rPr lang="en-US" sz="1900" b="1" i="1" dirty="0">
                <a:solidFill>
                  <a:schemeClr val="accent2"/>
                </a:solidFill>
              </a:rPr>
              <a:t>d’r</a:t>
            </a:r>
            <a:r>
              <a:rPr lang="en-US" sz="1900" i="1" dirty="0">
                <a:solidFill>
                  <a:schemeClr val="tx1"/>
                </a:solidFill>
              </a:rPr>
              <a:t> man.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6858000" y="1554480"/>
            <a:ext cx="4782312" cy="2194560"/>
          </a:xfrm>
          <a:prstGeom prst="roundRect">
            <a:avLst>
              <a:gd name="adj" fmla="val 416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040880" y="171907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8" name="Image 1" descr="Volume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6943" y="1855135"/>
            <a:ext cx="294803" cy="29480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754112" y="170078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Pour insister</a:t>
            </a:r>
            <a:endParaRPr lang="en-US" sz="1900" dirty="0"/>
          </a:p>
        </p:txBody>
      </p:sp>
      <p:sp>
        <p:nvSpPr>
          <p:cNvPr id="20" name="Text 15"/>
          <p:cNvSpPr txBox="1"/>
          <p:nvPr/>
        </p:nvSpPr>
        <p:spPr>
          <a:xfrm>
            <a:off x="7059168" y="2423160"/>
            <a:ext cx="4379976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la forme pleine, accentuée :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Is dat </a:t>
            </a:r>
            <a:r>
              <a:rPr lang="en-US" sz="1700" b="1" i="1" dirty="0">
                <a:solidFill>
                  <a:schemeClr val="tx1"/>
                </a:solidFill>
              </a:rPr>
              <a:t>jóuw</a:t>
            </a:r>
            <a:r>
              <a:rPr lang="en-US" sz="1700" i="1" dirty="0">
                <a:solidFill>
                  <a:schemeClr val="tx1"/>
                </a:solidFill>
              </a:rPr>
              <a:t> pen of </a:t>
            </a:r>
            <a:r>
              <a:rPr lang="en-US" sz="1700" b="1" i="1" dirty="0">
                <a:solidFill>
                  <a:schemeClr val="tx1"/>
                </a:solidFill>
              </a:rPr>
              <a:t>míjn</a:t>
            </a:r>
            <a:r>
              <a:rPr lang="en-US" sz="1700" i="1" dirty="0">
                <a:solidFill>
                  <a:schemeClr val="tx1"/>
                </a:solidFill>
              </a:rPr>
              <a:t> pen?</a:t>
            </a:r>
            <a:endParaRPr lang="en-US" sz="1700" dirty="0"/>
          </a:p>
        </p:txBody>
      </p:sp>
      <p:sp>
        <p:nvSpPr>
          <p:cNvPr id="21" name="Shape 16"/>
          <p:cNvSpPr/>
          <p:nvPr/>
        </p:nvSpPr>
        <p:spPr>
          <a:xfrm>
            <a:off x="6858000" y="3977640"/>
            <a:ext cx="4782312" cy="22860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040880" y="4142232"/>
            <a:ext cx="566928" cy="5669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2" descr="Envelo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6943" y="4278295"/>
            <a:ext cx="294803" cy="294803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754112" y="412394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À l’écrit formel</a:t>
            </a:r>
            <a:endParaRPr lang="en-US" sz="1900" dirty="0"/>
          </a:p>
        </p:txBody>
      </p:sp>
      <p:sp>
        <p:nvSpPr>
          <p:cNvPr id="25" name="Text 19"/>
          <p:cNvSpPr txBox="1"/>
          <p:nvPr/>
        </p:nvSpPr>
        <p:spPr>
          <a:xfrm>
            <a:off x="7059168" y="4846320"/>
            <a:ext cx="437997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Toujours la forme pleine (M10) :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mijn, zijn, haar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Formes courtes : à reconnaître.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démonstratifs : deze, dit, die, dat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2743200" y="15087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proche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132320" y="15087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loin</a:t>
            </a:r>
            <a:endParaRPr lang="en-US" sz="1600" dirty="0"/>
          </a:p>
        </p:txBody>
      </p:sp>
      <p:pic>
        <p:nvPicPr>
          <p:cNvPr id="7" name="Image 0" descr="HandPap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91840" y="1554480"/>
            <a:ext cx="329184" cy="329184"/>
          </a:xfrm>
          <a:prstGeom prst="rect">
            <a:avLst/>
          </a:prstGeom>
        </p:spPr>
      </p:pic>
      <p:pic>
        <p:nvPicPr>
          <p:cNvPr id="8" name="Image 1" descr="HandPoint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554480"/>
            <a:ext cx="329184" cy="32918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2011680"/>
            <a:ext cx="2057400" cy="164592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94360" y="2011680"/>
            <a:ext cx="1965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mot DE + pluriel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2743200" y="2011680"/>
            <a:ext cx="4206240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423160"/>
            <a:ext cx="868680" cy="8686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3931920" y="21031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deze</a:t>
            </a:r>
            <a:endParaRPr lang="en-US" sz="3400" dirty="0"/>
          </a:p>
        </p:txBody>
      </p:sp>
      <p:sp>
        <p:nvSpPr>
          <p:cNvPr id="14" name="Text 8"/>
          <p:cNvSpPr txBox="1"/>
          <p:nvPr/>
        </p:nvSpPr>
        <p:spPr>
          <a:xfrm>
            <a:off x="3931920" y="292608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deze stoel · deze mappen</a:t>
            </a:r>
            <a:endParaRPr lang="en-US" sz="1700" dirty="0"/>
          </a:p>
        </p:txBody>
      </p:sp>
      <p:sp>
        <p:nvSpPr>
          <p:cNvPr id="15" name="Shape 9"/>
          <p:cNvSpPr/>
          <p:nvPr/>
        </p:nvSpPr>
        <p:spPr>
          <a:xfrm>
            <a:off x="7132320" y="2011680"/>
            <a:ext cx="4206240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3" descr="chai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4160" y="2423160"/>
            <a:ext cx="548640" cy="54864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7406640" y="21031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die</a:t>
            </a:r>
            <a:endParaRPr lang="en-US" sz="3400" dirty="0"/>
          </a:p>
        </p:txBody>
      </p:sp>
      <p:sp>
        <p:nvSpPr>
          <p:cNvPr id="18" name="Text 11"/>
          <p:cNvSpPr txBox="1"/>
          <p:nvPr/>
        </p:nvSpPr>
        <p:spPr>
          <a:xfrm>
            <a:off x="7406640" y="292608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die stoel · die mappen</a:t>
            </a:r>
            <a:endParaRPr lang="en-US" sz="1700" dirty="0"/>
          </a:p>
        </p:txBody>
      </p:sp>
      <p:sp>
        <p:nvSpPr>
          <p:cNvPr id="19" name="Shape 12"/>
          <p:cNvSpPr/>
          <p:nvPr/>
        </p:nvSpPr>
        <p:spPr>
          <a:xfrm>
            <a:off x="548640" y="3794760"/>
            <a:ext cx="2057400" cy="1645920"/>
          </a:xfrm>
          <a:prstGeom prst="roundRect">
            <a:avLst>
              <a:gd name="adj" fmla="val 444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594360" y="3794760"/>
            <a:ext cx="1965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mot HET</a:t>
            </a:r>
            <a:endParaRPr lang="en-US" sz="1600" dirty="0"/>
          </a:p>
        </p:txBody>
      </p:sp>
      <p:sp>
        <p:nvSpPr>
          <p:cNvPr id="21" name="Shape 14"/>
          <p:cNvSpPr/>
          <p:nvPr/>
        </p:nvSpPr>
        <p:spPr>
          <a:xfrm>
            <a:off x="2743200" y="3794760"/>
            <a:ext cx="4206240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4" descr="desktop compu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0" y="4206240"/>
            <a:ext cx="868680" cy="86868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3931920" y="38862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dit</a:t>
            </a:r>
            <a:endParaRPr lang="en-US" sz="3400" dirty="0"/>
          </a:p>
        </p:txBody>
      </p:sp>
      <p:sp>
        <p:nvSpPr>
          <p:cNvPr id="24" name="Text 16"/>
          <p:cNvSpPr txBox="1"/>
          <p:nvPr/>
        </p:nvSpPr>
        <p:spPr>
          <a:xfrm>
            <a:off x="3931920" y="470916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dit bureau</a:t>
            </a:r>
            <a:endParaRPr lang="en-US" sz="1700" dirty="0"/>
          </a:p>
        </p:txBody>
      </p:sp>
      <p:sp>
        <p:nvSpPr>
          <p:cNvPr id="25" name="Shape 17"/>
          <p:cNvSpPr/>
          <p:nvPr/>
        </p:nvSpPr>
        <p:spPr>
          <a:xfrm>
            <a:off x="7132320" y="3794760"/>
            <a:ext cx="4206240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5" descr="desktop comput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24160" y="4206240"/>
            <a:ext cx="548640" cy="54864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406640" y="38862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</a:t>
            </a:r>
            <a:endParaRPr lang="en-US" sz="3400" dirty="0"/>
          </a:p>
        </p:txBody>
      </p:sp>
      <p:sp>
        <p:nvSpPr>
          <p:cNvPr id="28" name="Text 19"/>
          <p:cNvSpPr txBox="1"/>
          <p:nvPr/>
        </p:nvSpPr>
        <p:spPr>
          <a:xfrm>
            <a:off x="7406640" y="470916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dat bureau</a:t>
            </a:r>
            <a:endParaRPr lang="en-US" sz="1700" dirty="0"/>
          </a:p>
        </p:txBody>
      </p:sp>
      <p:sp>
        <p:nvSpPr>
          <p:cNvPr id="29" name="Shape 20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La distance est </a:t>
            </a:r>
            <a:r>
              <a:rPr lang="en-US" sz="1800" b="1" dirty="0">
                <a:solidFill>
                  <a:schemeClr val="bg1"/>
                </a:solidFill>
              </a:rPr>
              <a:t>dans le mot</a:t>
            </a:r>
            <a:r>
              <a:rPr lang="en-US" sz="1800" dirty="0">
                <a:solidFill>
                  <a:schemeClr val="bg1"/>
                </a:solidFill>
              </a:rPr>
              <a:t> (FR : « -ci / -là ») · pluriel : toujours </a:t>
            </a:r>
            <a:r>
              <a:rPr lang="en-US" sz="1800" i="1" dirty="0">
                <a:solidFill>
                  <a:schemeClr val="bg1"/>
                </a:solidFill>
              </a:rPr>
              <a:t>deze / die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ce, cette, ces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48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cette</a:t>
            </a:r>
            <a:r>
              <a:rPr lang="en-US" sz="1700" dirty="0">
                <a:solidFill>
                  <a:schemeClr val="tx1"/>
                </a:solidFill>
              </a:rPr>
              <a:t> maison »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4846320" y="2148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deze huis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7543800" y="2578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7909560" y="2221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46720" y="2221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accent1"/>
                </a:solidFill>
              </a:rPr>
              <a:t>dit</a:t>
            </a:r>
            <a:r>
              <a:rPr lang="en-US" sz="1800" i="1" dirty="0">
                <a:solidFill>
                  <a:schemeClr val="tx1"/>
                </a:solidFill>
              </a:rPr>
              <a:t> huis (</a:t>
            </a:r>
            <a:r>
              <a:rPr lang="en-US" sz="1800" dirty="0">
                <a:solidFill>
                  <a:schemeClr val="tx1"/>
                </a:solidFill>
              </a:rPr>
              <a:t>het</a:t>
            </a:r>
            <a:r>
              <a:rPr lang="en-US" sz="1800" i="1" dirty="0">
                <a:solidFill>
                  <a:schemeClr val="tx1"/>
                </a:solidFill>
              </a:rPr>
              <a:t> huis)</a:t>
            </a:r>
            <a:endParaRPr lang="en-US" sz="1800" dirty="0"/>
          </a:p>
        </p:txBody>
      </p:sp>
      <p:pic>
        <p:nvPicPr>
          <p:cNvPr id="13" name="Image 1" descr="office buil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36392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3044952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ce</a:t>
            </a:r>
            <a:r>
              <a:rPr lang="en-US" sz="1700" dirty="0">
                <a:solidFill>
                  <a:schemeClr val="tx1"/>
                </a:solidFill>
              </a:rPr>
              <a:t> bâtiment »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7543800" y="3474720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7909560" y="3118104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046720" y="3118104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accent1"/>
                </a:solidFill>
              </a:rPr>
              <a:t>dit</a:t>
            </a:r>
            <a:r>
              <a:rPr lang="en-US" sz="1800" i="1" dirty="0">
                <a:solidFill>
                  <a:schemeClr val="tx1"/>
                </a:solidFill>
              </a:rPr>
              <a:t> gebouw (</a:t>
            </a:r>
            <a:r>
              <a:rPr lang="en-US" sz="1800" dirty="0">
                <a:solidFill>
                  <a:schemeClr val="tx1"/>
                </a:solidFill>
              </a:rPr>
              <a:t>het</a:t>
            </a:r>
            <a:r>
              <a:rPr lang="en-US" sz="1800" i="1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pic>
        <p:nvPicPr>
          <p:cNvPr id="18" name="Image 2" descr="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032504"/>
            <a:ext cx="685800" cy="6858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600200" y="3941064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ce</a:t>
            </a:r>
            <a:r>
              <a:rPr lang="en-US" sz="1700" dirty="0">
                <a:solidFill>
                  <a:schemeClr val="tx1"/>
                </a:solidFill>
              </a:rPr>
              <a:t> stylo »</a:t>
            </a:r>
            <a:endParaRPr lang="en-US" sz="1700" dirty="0"/>
          </a:p>
        </p:txBody>
      </p:sp>
      <p:sp>
        <p:nvSpPr>
          <p:cNvPr id="20" name="Shape 14"/>
          <p:cNvSpPr/>
          <p:nvPr/>
        </p:nvSpPr>
        <p:spPr>
          <a:xfrm>
            <a:off x="7543800" y="437083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>
            <a:off x="7909560" y="4014216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046720" y="4014216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tx2"/>
                </a:solidFill>
              </a:rPr>
              <a:t>deze</a:t>
            </a:r>
            <a:r>
              <a:rPr lang="en-US" sz="1800" i="1" dirty="0">
                <a:solidFill>
                  <a:schemeClr val="tx1"/>
                </a:solidFill>
              </a:rPr>
              <a:t> pen (</a:t>
            </a:r>
            <a:r>
              <a:rPr lang="en-US" sz="1800" dirty="0">
                <a:solidFill>
                  <a:schemeClr val="tx1"/>
                </a:solidFill>
              </a:rPr>
              <a:t>de</a:t>
            </a:r>
            <a:r>
              <a:rPr lang="en-US" sz="1800" i="1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pic>
        <p:nvPicPr>
          <p:cNvPr id="23" name="Image 3" descr="desktop compu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928616"/>
            <a:ext cx="685800" cy="6858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00200" y="4837176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ces</a:t>
            </a:r>
            <a:r>
              <a:rPr lang="en-US" sz="1700" dirty="0">
                <a:solidFill>
                  <a:schemeClr val="tx1"/>
                </a:solidFill>
              </a:rPr>
              <a:t> bureaux »</a:t>
            </a:r>
            <a:endParaRPr lang="en-US" sz="1700" dirty="0"/>
          </a:p>
        </p:txBody>
      </p:sp>
      <p:sp>
        <p:nvSpPr>
          <p:cNvPr id="25" name="Shape 18"/>
          <p:cNvSpPr/>
          <p:nvPr/>
        </p:nvSpPr>
        <p:spPr>
          <a:xfrm>
            <a:off x="7543800" y="5266944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6" name="Shape 19"/>
          <p:cNvSpPr/>
          <p:nvPr/>
        </p:nvSpPr>
        <p:spPr>
          <a:xfrm>
            <a:off x="7909560" y="4910328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8046720" y="4910328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tx2"/>
                </a:solidFill>
              </a:rPr>
              <a:t>deze</a:t>
            </a:r>
            <a:r>
              <a:rPr lang="en-US" sz="1800" i="1" dirty="0">
                <a:solidFill>
                  <a:schemeClr val="tx1"/>
                </a:solidFill>
              </a:rPr>
              <a:t> bureaus (pluriel)</a:t>
            </a:r>
            <a:endParaRPr lang="en-US" sz="1800" dirty="0"/>
          </a:p>
        </p:txBody>
      </p:sp>
      <p:sp>
        <p:nvSpPr>
          <p:cNvPr id="28" name="Shape 21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Masculin ou féminin en français ne dit rien : </a:t>
            </a:r>
            <a:r>
              <a:rPr lang="en-US" sz="1700" i="1" dirty="0">
                <a:solidFill>
                  <a:schemeClr val="bg1"/>
                </a:solidFill>
              </a:rPr>
              <a:t>de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i="1" dirty="0">
                <a:solidFill>
                  <a:schemeClr val="bg1"/>
                </a:solidFill>
              </a:rPr>
              <a:t>deze</a:t>
            </a:r>
            <a:r>
              <a:rPr lang="en-US" sz="1700" dirty="0">
                <a:solidFill>
                  <a:schemeClr val="bg1"/>
                </a:solidFill>
              </a:rPr>
              <a:t>, </a:t>
            </a:r>
            <a:r>
              <a:rPr lang="en-US" sz="1700" i="1" dirty="0">
                <a:solidFill>
                  <a:schemeClr val="bg1"/>
                </a:solidFill>
              </a:rPr>
              <a:t>het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i="1" dirty="0">
                <a:solidFill>
                  <a:schemeClr val="bg1"/>
                </a:solidFill>
              </a:rPr>
              <a:t>dit</a:t>
            </a:r>
            <a:r>
              <a:rPr lang="en-US" sz="1700" dirty="0">
                <a:solidFill>
                  <a:schemeClr val="bg1"/>
                </a:solidFill>
              </a:rPr>
              <a:t>, pluriel → </a:t>
            </a:r>
            <a:r>
              <a:rPr lang="en-US" sz="1700" i="1" dirty="0">
                <a:solidFill>
                  <a:schemeClr val="bg1"/>
                </a:solidFill>
              </a:rPr>
              <a:t>deze</a:t>
            </a:r>
            <a:r>
              <a:rPr lang="en-US" sz="1700" dirty="0">
                <a:solidFill>
                  <a:schemeClr val="bg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Dit is… · Dat zijn… : présenter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943600" cy="329184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37360"/>
            <a:ext cx="5577840" cy="2926080"/>
          </a:xfrm>
          <a:prstGeom prst="rect">
            <a:avLst/>
          </a:prstGeom>
          <a:solidFill>
            <a:srgbClr val="EAF1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377440"/>
            <a:ext cx="1234440" cy="1234440"/>
          </a:xfrm>
          <a:prstGeom prst="rect">
            <a:avLst/>
          </a:prstGeom>
        </p:spPr>
      </p:pic>
      <p:pic>
        <p:nvPicPr>
          <p:cNvPr id="8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377440"/>
            <a:ext cx="1234440" cy="1234440"/>
          </a:xfrm>
          <a:prstGeom prst="rect">
            <a:avLst/>
          </a:prstGeom>
        </p:spPr>
      </p:pic>
      <p:pic>
        <p:nvPicPr>
          <p:cNvPr id="9" name="Image 2" descr="gir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2377440"/>
            <a:ext cx="1234440" cy="1234440"/>
          </a:xfrm>
          <a:prstGeom prst="rect">
            <a:avLst/>
          </a:prstGeom>
        </p:spPr>
      </p:pic>
      <p:pic>
        <p:nvPicPr>
          <p:cNvPr id="10" name="Image 3" descr="bo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2377440"/>
            <a:ext cx="1234440" cy="1234440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6766560" y="1554480"/>
            <a:ext cx="48737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100" b="1" i="1" dirty="0">
                <a:solidFill>
                  <a:schemeClr val="tx1"/>
                </a:solidFill>
              </a:rPr>
              <a:t>Dit is</a:t>
            </a:r>
            <a:r>
              <a:rPr lang="en-US" sz="2100" i="1" dirty="0">
                <a:solidFill>
                  <a:schemeClr val="tx1"/>
                </a:solidFill>
              </a:rPr>
              <a:t> mijn collega Sofie.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b="1" i="1" dirty="0">
                <a:solidFill>
                  <a:schemeClr val="tx1"/>
                </a:solidFill>
              </a:rPr>
              <a:t>Dat is</a:t>
            </a:r>
            <a:r>
              <a:rPr lang="en-US" sz="2100" i="1" dirty="0">
                <a:solidFill>
                  <a:schemeClr val="tx1"/>
                </a:solidFill>
              </a:rPr>
              <a:t> onze directeur.</a:t>
            </a:r>
            <a:endParaRPr lang="en-US" sz="2100" dirty="0"/>
          </a:p>
        </p:txBody>
      </p:sp>
      <p:sp>
        <p:nvSpPr>
          <p:cNvPr id="12" name="Text 5"/>
          <p:cNvSpPr txBox="1"/>
          <p:nvPr/>
        </p:nvSpPr>
        <p:spPr>
          <a:xfrm>
            <a:off x="6766560" y="2834640"/>
            <a:ext cx="48737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100" b="1" i="1" dirty="0">
                <a:solidFill>
                  <a:schemeClr val="tx1"/>
                </a:solidFill>
              </a:rPr>
              <a:t>Dit zijn</a:t>
            </a:r>
            <a:r>
              <a:rPr lang="en-US" sz="2100" i="1" dirty="0">
                <a:solidFill>
                  <a:schemeClr val="tx1"/>
                </a:solidFill>
              </a:rPr>
              <a:t> mijn kinderen.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b="1" i="1" dirty="0">
                <a:solidFill>
                  <a:schemeClr val="tx1"/>
                </a:solidFill>
              </a:rPr>
              <a:t>Dat zijn</a:t>
            </a:r>
            <a:r>
              <a:rPr lang="en-US" sz="2100" i="1" dirty="0">
                <a:solidFill>
                  <a:schemeClr val="tx1"/>
                </a:solidFill>
              </a:rPr>
              <a:t> onze klanten.</a:t>
            </a:r>
            <a:endParaRPr lang="en-US" sz="2100" dirty="0"/>
          </a:p>
        </p:txBody>
      </p:sp>
      <p:sp>
        <p:nvSpPr>
          <p:cNvPr id="13" name="tag"/>
          <p:cNvSpPr/>
          <p:nvPr/>
        </p:nvSpPr>
        <p:spPr>
          <a:xfrm>
            <a:off x="6766560" y="4069080"/>
            <a:ext cx="2469794" cy="329184"/>
          </a:xfrm>
          <a:prstGeom prst="roundRect">
            <a:avLst>
              <a:gd name="adj" fmla="val 13889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verbe au pluriel !</a:t>
            </a:r>
            <a:endParaRPr lang="en-US" sz="1300" dirty="0"/>
          </a:p>
        </p:txBody>
      </p:sp>
      <p:sp>
        <p:nvSpPr>
          <p:cNvPr id="14" name="Shape 7"/>
          <p:cNvSpPr/>
          <p:nvPr/>
        </p:nvSpPr>
        <p:spPr>
          <a:xfrm>
            <a:off x="548640" y="5029200"/>
            <a:ext cx="11091672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777240" y="5029200"/>
            <a:ext cx="10698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dit / dat</a:t>
            </a:r>
            <a:r>
              <a:rPr lang="en-US" sz="1700" dirty="0">
                <a:solidFill>
                  <a:schemeClr val="tx1"/>
                </a:solidFill>
              </a:rPr>
              <a:t> ne changent pas, même pour une personne ou un pluriel : c’est le </a:t>
            </a:r>
            <a:r>
              <a:rPr lang="en-US" sz="1700" b="1" dirty="0">
                <a:solidFill>
                  <a:schemeClr val="tx1"/>
                </a:solidFill>
              </a:rPr>
              <a:t>verbe</a:t>
            </a:r>
            <a:r>
              <a:rPr lang="en-US" sz="1700" dirty="0">
                <a:solidFill>
                  <a:schemeClr val="tx1"/>
                </a:solidFill>
              </a:rPr>
              <a:t> qui s’accorde.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Aperçu : </a:t>
            </a:r>
            <a:r>
              <a:rPr lang="en-US" sz="1700" i="1" dirty="0">
                <a:solidFill>
                  <a:schemeClr val="tx1"/>
                </a:solidFill>
              </a:rPr>
              <a:t>Ken je Sofie? — Ja, </a:t>
            </a:r>
            <a:r>
              <a:rPr lang="en-US" sz="1700" b="1" i="1" dirty="0">
                <a:solidFill>
                  <a:schemeClr val="tx1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ken ik.</a:t>
            </a:r>
            <a:r>
              <a:rPr lang="en-US" sz="1700" dirty="0">
                <a:solidFill>
                  <a:schemeClr val="tx1"/>
                </a:solidFill>
              </a:rPr>
              <a:t> (= celle-là)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Van wie is dit? — van mij, van jou…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3611880"/>
            <a:ext cx="5852160" cy="164592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468880"/>
            <a:ext cx="1097280" cy="1097280"/>
          </a:xfrm>
          <a:prstGeom prst="rect">
            <a:avLst/>
          </a:prstGeom>
        </p:spPr>
      </p:pic>
      <p:sp>
        <p:nvSpPr>
          <p:cNvPr id="7" name="tag"/>
          <p:cNvSpPr/>
          <p:nvPr/>
        </p:nvSpPr>
        <p:spPr>
          <a:xfrm>
            <a:off x="673913" y="3931920"/>
            <a:ext cx="1183996" cy="329184"/>
          </a:xfrm>
          <a:prstGeom prst="roundRect">
            <a:avLst>
              <a:gd name="adj" fmla="val 13889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van mij</a:t>
            </a:r>
            <a:endParaRPr lang="en-US" sz="1300" dirty="0"/>
          </a:p>
        </p:txBody>
      </p:sp>
      <p:pic>
        <p:nvPicPr>
          <p:cNvPr id="8" name="Image 1" descr="closed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2468880"/>
            <a:ext cx="1097280" cy="1097280"/>
          </a:xfrm>
          <a:prstGeom prst="rect">
            <a:avLst/>
          </a:prstGeom>
        </p:spPr>
      </p:pic>
      <p:sp>
        <p:nvSpPr>
          <p:cNvPr id="9" name="tag"/>
          <p:cNvSpPr/>
          <p:nvPr/>
        </p:nvSpPr>
        <p:spPr>
          <a:xfrm>
            <a:off x="2083003" y="3931920"/>
            <a:ext cx="1300886" cy="329184"/>
          </a:xfrm>
          <a:prstGeom prst="roundRect">
            <a:avLst>
              <a:gd name="adj" fmla="val 13889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van haar</a:t>
            </a:r>
            <a:endParaRPr lang="en-US" sz="1300" dirty="0"/>
          </a:p>
        </p:txBody>
      </p:sp>
      <p:pic>
        <p:nvPicPr>
          <p:cNvPr id="10" name="Image 2" descr="glass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468880"/>
            <a:ext cx="1097280" cy="1097280"/>
          </a:xfrm>
          <a:prstGeom prst="rect">
            <a:avLst/>
          </a:prstGeom>
        </p:spPr>
      </p:pic>
      <p:sp>
        <p:nvSpPr>
          <p:cNvPr id="11" name="tag"/>
          <p:cNvSpPr/>
          <p:nvPr/>
        </p:nvSpPr>
        <p:spPr>
          <a:xfrm>
            <a:off x="3599993" y="3931920"/>
            <a:ext cx="1183996" cy="329184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van hem</a:t>
            </a:r>
            <a:endParaRPr lang="en-US" sz="1300" dirty="0"/>
          </a:p>
        </p:txBody>
      </p:sp>
      <p:pic>
        <p:nvPicPr>
          <p:cNvPr id="12" name="Image 3" descr="lapto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2468880"/>
            <a:ext cx="1097280" cy="1097280"/>
          </a:xfrm>
          <a:prstGeom prst="rect">
            <a:avLst/>
          </a:prstGeom>
        </p:spPr>
      </p:pic>
      <p:sp>
        <p:nvSpPr>
          <p:cNvPr id="13" name="tag"/>
          <p:cNvSpPr/>
          <p:nvPr/>
        </p:nvSpPr>
        <p:spPr>
          <a:xfrm>
            <a:off x="5063033" y="3931920"/>
            <a:ext cx="1183996" cy="329184"/>
          </a:xfrm>
          <a:prstGeom prst="roundRect">
            <a:avLst>
              <a:gd name="adj" fmla="val 13889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van ons</a:t>
            </a:r>
            <a:endParaRPr lang="en-US" sz="1300" dirty="0"/>
          </a:p>
        </p:txBody>
      </p:sp>
      <p:sp>
        <p:nvSpPr>
          <p:cNvPr id="14" name="Shape 7"/>
          <p:cNvSpPr/>
          <p:nvPr/>
        </p:nvSpPr>
        <p:spPr>
          <a:xfrm>
            <a:off x="548640" y="1554480"/>
            <a:ext cx="5852160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713232" y="1554480"/>
            <a:ext cx="55229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Van wie is deze sleutel? — Die is </a:t>
            </a:r>
            <a:r>
              <a:rPr lang="en-US" sz="1900" b="1" i="1" dirty="0">
                <a:solidFill>
                  <a:schemeClr val="tx1"/>
                </a:solidFill>
              </a:rPr>
              <a:t>van mij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6" name="Shape 9"/>
          <p:cNvSpPr/>
          <p:nvPr/>
        </p:nvSpPr>
        <p:spPr>
          <a:xfrm>
            <a:off x="6675120" y="1554480"/>
            <a:ext cx="4965192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6858000" y="16459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VAN + PRONOM</a:t>
            </a:r>
            <a:endParaRPr lang="en-US" sz="1200" dirty="0"/>
          </a:p>
        </p:txBody>
      </p:sp>
      <p:sp>
        <p:nvSpPr>
          <p:cNvPr id="18" name="Text 11"/>
          <p:cNvSpPr txBox="1"/>
          <p:nvPr/>
        </p:nvSpPr>
        <p:spPr>
          <a:xfrm>
            <a:off x="6858000" y="2011680"/>
            <a:ext cx="4663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van </a:t>
            </a:r>
            <a:r>
              <a:rPr lang="en-US" sz="2100" b="1" i="1" dirty="0">
                <a:solidFill>
                  <a:schemeClr val="tx1"/>
                </a:solidFill>
              </a:rPr>
              <a:t>mij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jou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u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van </a:t>
            </a:r>
            <a:r>
              <a:rPr lang="en-US" sz="2100" b="1" i="1" dirty="0">
                <a:solidFill>
                  <a:schemeClr val="tx1"/>
                </a:solidFill>
              </a:rPr>
              <a:t>hem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haar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van </a:t>
            </a:r>
            <a:r>
              <a:rPr lang="en-US" sz="2100" b="1" i="1" dirty="0">
                <a:solidFill>
                  <a:schemeClr val="tx1"/>
                </a:solidFill>
              </a:rPr>
              <a:t>ons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jullie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hen</a:t>
            </a:r>
            <a:endParaRPr lang="en-US" sz="2100" dirty="0"/>
          </a:p>
        </p:txBody>
      </p:sp>
      <p:sp>
        <p:nvSpPr>
          <p:cNvPr id="19" name="Shape 12"/>
          <p:cNvSpPr/>
          <p:nvPr/>
        </p:nvSpPr>
        <p:spPr>
          <a:xfrm>
            <a:off x="548640" y="4663440"/>
            <a:ext cx="11091672" cy="1600200"/>
          </a:xfrm>
          <a:prstGeom prst="roundRect">
            <a:avLst>
              <a:gd name="adj" fmla="val 4571"/>
            </a:avLst>
          </a:prstGeom>
          <a:solidFill>
            <a:schemeClr val="accent5">
              <a:alpha val="10000"/>
            </a:schemeClr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20" name="tag"/>
          <p:cNvSpPr/>
          <p:nvPr/>
        </p:nvSpPr>
        <p:spPr>
          <a:xfrm>
            <a:off x="777240" y="4773168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APERÇU</a:t>
            </a:r>
            <a:endParaRPr lang="en-US" sz="1200" dirty="0"/>
          </a:p>
        </p:txBody>
      </p:sp>
      <p:sp>
        <p:nvSpPr>
          <p:cNvPr id="21" name="Text 14"/>
          <p:cNvSpPr txBox="1"/>
          <p:nvPr/>
        </p:nvSpPr>
        <p:spPr>
          <a:xfrm>
            <a:off x="777240" y="51206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Is dit jouw jas? — Ja, het is </a:t>
            </a:r>
            <a:r>
              <a:rPr lang="en-US" sz="1700" b="1" i="1" dirty="0">
                <a:solidFill>
                  <a:schemeClr val="tx1"/>
                </a:solidFill>
              </a:rPr>
              <a:t>de mijne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r>
              <a:rPr lang="en-US" sz="1700" dirty="0">
                <a:solidFill>
                  <a:schemeClr val="tx1"/>
                </a:solidFill>
              </a:rPr>
              <a:t> (le mien)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À l’oral, on entend aussi </a:t>
            </a:r>
            <a:r>
              <a:rPr lang="en-US" sz="1700" i="1" dirty="0">
                <a:solidFill>
                  <a:schemeClr val="tx1"/>
                </a:solidFill>
              </a:rPr>
              <a:t>van hun</a:t>
            </a:r>
            <a:r>
              <a:rPr lang="en-US" sz="1700" dirty="0">
                <a:solidFill>
                  <a:schemeClr val="tx1"/>
                </a:solidFill>
              </a:rPr>
              <a:t> (à la place de </a:t>
            </a:r>
            <a:r>
              <a:rPr lang="en-US" sz="1700" i="1" dirty="0">
                <a:solidFill>
                  <a:schemeClr val="tx1"/>
                </a:solidFill>
              </a:rPr>
              <a:t>van hen</a:t>
            </a:r>
            <a:r>
              <a:rPr lang="en-US" sz="1700" dirty="0">
                <a:solidFill>
                  <a:schemeClr val="tx1"/>
                </a:solidFill>
              </a:rPr>
              <a:t>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posséder, montrer, demander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1907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855135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44752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Posséder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mijn, jouw, uw, zijn, haar, ons / onze, jullie, hun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à lui → </a:t>
            </a:r>
            <a:r>
              <a:rPr lang="en-US" sz="1800" b="1" i="1" dirty="0">
                <a:solidFill>
                  <a:schemeClr val="tx1"/>
                </a:solidFill>
              </a:rPr>
              <a:t>zijn</a:t>
            </a:r>
            <a:r>
              <a:rPr lang="en-US" sz="1800" dirty="0">
                <a:solidFill>
                  <a:schemeClr val="tx1"/>
                </a:solidFill>
              </a:rPr>
              <a:t> · à elle → </a:t>
            </a:r>
            <a:r>
              <a:rPr lang="en-US" sz="1800" b="1" i="1" dirty="0">
                <a:solidFill>
                  <a:schemeClr val="tx1"/>
                </a:solidFill>
              </a:rPr>
              <a:t>haar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ons</a:t>
            </a:r>
            <a:r>
              <a:rPr lang="en-US" sz="1800" dirty="0">
                <a:solidFill>
                  <a:schemeClr val="tx1"/>
                </a:solidFill>
              </a:rPr>
              <a:t> + </a:t>
            </a:r>
            <a:r>
              <a:rPr lang="en-US" sz="1800" i="1" dirty="0">
                <a:solidFill>
                  <a:schemeClr val="tx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 ; sinon </a:t>
            </a:r>
            <a:r>
              <a:rPr lang="en-US" sz="1800" b="1" i="1" dirty="0">
                <a:solidFill>
                  <a:schemeClr val="tx1"/>
                </a:solidFill>
              </a:rPr>
              <a:t>onze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4322064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04944" y="171907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HandPoint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1007" y="1855135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18176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Montrer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4523232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</a:t>
            </a:r>
            <a:r>
              <a:rPr lang="en-US" sz="1800" dirty="0">
                <a:solidFill>
                  <a:schemeClr val="tx1"/>
                </a:solidFill>
              </a:rPr>
              <a:t> + pluriel → </a:t>
            </a:r>
            <a:r>
              <a:rPr lang="en-US" sz="1800" b="1" i="1" dirty="0">
                <a:solidFill>
                  <a:schemeClr val="tx1"/>
                </a:solidFill>
              </a:rPr>
              <a:t>deze / die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i="1" dirty="0">
                <a:solidFill>
                  <a:schemeClr val="tx1"/>
                </a:solidFill>
              </a:rPr>
              <a:t>dit / dat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présenter : </a:t>
            </a:r>
            <a:r>
              <a:rPr lang="en-US" sz="1800" i="1" dirty="0">
                <a:solidFill>
                  <a:schemeClr val="tx1"/>
                </a:solidFill>
              </a:rPr>
              <a:t>Dit is… · Dat zijn…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8095488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78368" y="1719072"/>
            <a:ext cx="566928" cy="566928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Ques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4431" y="1855135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91600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6E4A9E"/>
                </a:solidFill>
              </a:rPr>
              <a:t>Demander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8296656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Van wie is dit?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Van mij · van haar · van hen.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Is dit jouw pen?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58064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Ce schéma est la référence pour tous les exercices.</a:t>
            </a:r>
            <a:endParaRPr lang="en-US" sz="1400" dirty="0"/>
          </a:p>
        </p:txBody>
      </p:sp>
      <p:pic>
        <p:nvPicPr>
          <p:cNvPr id="21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bon possessif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ons ou onze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HandPoint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deze, dit, die ou dat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Langu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Traduction piège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BoxOpe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objets trouvés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Imag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L’album photo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 bon possessif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le bon possessif. À qui est-ce ?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dirty="0">
                <a:solidFill>
                  <a:schemeClr val="tx1"/>
                </a:solidFill>
              </a:rPr>
              <a:t>Karim zoekt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sleutels.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dirty="0">
                <a:solidFill>
                  <a:schemeClr val="tx1"/>
                </a:solidFill>
              </a:rPr>
              <a:t>Sofie belt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moeder.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dirty="0">
                <a:solidFill>
                  <a:schemeClr val="tx1"/>
                </a:solidFill>
              </a:rPr>
              <a:t>We vergaderen in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vergaderzaal.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dirty="0">
                <a:solidFill>
                  <a:schemeClr val="tx1"/>
                </a:solidFill>
              </a:rPr>
              <a:t>Meneer Maes, is dit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jas?</a:t>
            </a:r>
            <a:endParaRPr lang="en-US" sz="21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dirty="0">
                <a:solidFill>
                  <a:schemeClr val="tx1"/>
                </a:solidFill>
              </a:rPr>
              <a:t>Jongens, waar zijn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laptops?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dirty="0">
                <a:solidFill>
                  <a:schemeClr val="tx1"/>
                </a:solidFill>
              </a:rPr>
              <a:t>De klanten wachten op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facturen.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dirty="0">
                <a:solidFill>
                  <a:schemeClr val="tx1"/>
                </a:solidFill>
              </a:rPr>
              <a:t>Ik neem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lunch mee.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dirty="0">
                <a:solidFill>
                  <a:schemeClr val="tx1"/>
                </a:solidFill>
              </a:rPr>
              <a:t>Heb jij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badge?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 bon possessif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le bon possessif. À qui est-ce ?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dirty="0">
                <a:solidFill>
                  <a:schemeClr val="tx1"/>
                </a:solidFill>
              </a:rPr>
              <a:t>Karim zoekt </a:t>
            </a:r>
            <a:r>
              <a:rPr lang="en-US" sz="2100" b="1" dirty="0">
                <a:solidFill>
                  <a:schemeClr val="accent3"/>
                </a:solidFill>
              </a:rPr>
              <a:t>zijn</a:t>
            </a:r>
            <a:r>
              <a:rPr lang="en-US" sz="2100" dirty="0">
                <a:solidFill>
                  <a:schemeClr val="tx1"/>
                </a:solidFill>
              </a:rPr>
              <a:t> sleutels.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dirty="0">
                <a:solidFill>
                  <a:schemeClr val="tx1"/>
                </a:solidFill>
              </a:rPr>
              <a:t>Sofie belt </a:t>
            </a:r>
            <a:r>
              <a:rPr lang="en-US" sz="2100" b="1" dirty="0">
                <a:solidFill>
                  <a:schemeClr val="accent3"/>
                </a:solidFill>
              </a:rPr>
              <a:t>haar</a:t>
            </a:r>
            <a:r>
              <a:rPr lang="en-US" sz="2100" dirty="0">
                <a:solidFill>
                  <a:schemeClr val="tx1"/>
                </a:solidFill>
              </a:rPr>
              <a:t> moeder.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dirty="0">
                <a:solidFill>
                  <a:schemeClr val="tx1"/>
                </a:solidFill>
              </a:rPr>
              <a:t>We vergaderen in </a:t>
            </a:r>
            <a:r>
              <a:rPr lang="en-US" sz="2100" b="1" dirty="0">
                <a:solidFill>
                  <a:schemeClr val="accent3"/>
                </a:solidFill>
              </a:rPr>
              <a:t>onze</a:t>
            </a:r>
            <a:r>
              <a:rPr lang="en-US" sz="2100" dirty="0">
                <a:solidFill>
                  <a:schemeClr val="tx1"/>
                </a:solidFill>
              </a:rPr>
              <a:t> vergaderzaal.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dirty="0">
                <a:solidFill>
                  <a:schemeClr val="tx1"/>
                </a:solidFill>
              </a:rPr>
              <a:t>Meneer Maes, is dit </a:t>
            </a:r>
            <a:r>
              <a:rPr lang="en-US" sz="2100" b="1" dirty="0">
                <a:solidFill>
                  <a:schemeClr val="accent3"/>
                </a:solidFill>
              </a:rPr>
              <a:t>uw</a:t>
            </a:r>
            <a:r>
              <a:rPr lang="en-US" sz="2100" dirty="0">
                <a:solidFill>
                  <a:schemeClr val="tx1"/>
                </a:solidFill>
              </a:rPr>
              <a:t> jas?</a:t>
            </a:r>
            <a:endParaRPr lang="en-US" sz="21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dirty="0">
                <a:solidFill>
                  <a:schemeClr val="tx1"/>
                </a:solidFill>
              </a:rPr>
              <a:t>Jongens, waar zijn </a:t>
            </a:r>
            <a:r>
              <a:rPr lang="en-US" sz="2100" b="1" dirty="0">
                <a:solidFill>
                  <a:schemeClr val="accent3"/>
                </a:solidFill>
              </a:rPr>
              <a:t>jullie</a:t>
            </a:r>
            <a:r>
              <a:rPr lang="en-US" sz="2100" dirty="0">
                <a:solidFill>
                  <a:schemeClr val="tx1"/>
                </a:solidFill>
              </a:rPr>
              <a:t> laptops?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dirty="0">
                <a:solidFill>
                  <a:schemeClr val="tx1"/>
                </a:solidFill>
              </a:rPr>
              <a:t>De klanten wachten op </a:t>
            </a:r>
            <a:r>
              <a:rPr lang="en-US" sz="2100" b="1" dirty="0">
                <a:solidFill>
                  <a:schemeClr val="accent3"/>
                </a:solidFill>
              </a:rPr>
              <a:t>hun</a:t>
            </a:r>
            <a:r>
              <a:rPr lang="en-US" sz="2100" dirty="0">
                <a:solidFill>
                  <a:schemeClr val="tx1"/>
                </a:solidFill>
              </a:rPr>
              <a:t> facturen.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dirty="0">
                <a:solidFill>
                  <a:schemeClr val="tx1"/>
                </a:solidFill>
              </a:rPr>
              <a:t>Ik neem </a:t>
            </a:r>
            <a:r>
              <a:rPr lang="en-US" sz="2100" b="1" dirty="0">
                <a:solidFill>
                  <a:schemeClr val="accent3"/>
                </a:solidFill>
              </a:rPr>
              <a:t>mijn</a:t>
            </a:r>
            <a:r>
              <a:rPr lang="en-US" sz="2100" dirty="0">
                <a:solidFill>
                  <a:schemeClr val="tx1"/>
                </a:solidFill>
              </a:rPr>
              <a:t> lunch mee.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dirty="0">
                <a:solidFill>
                  <a:schemeClr val="tx1"/>
                </a:solidFill>
              </a:rPr>
              <a:t>Heb jij </a:t>
            </a:r>
            <a:r>
              <a:rPr lang="en-US" sz="2100" b="1" dirty="0">
                <a:solidFill>
                  <a:schemeClr val="accent3"/>
                </a:solidFill>
              </a:rPr>
              <a:t>jouw</a:t>
            </a:r>
            <a:r>
              <a:rPr lang="en-US" sz="2100" dirty="0">
                <a:solidFill>
                  <a:schemeClr val="tx1"/>
                </a:solidFill>
              </a:rPr>
              <a:t> badge?</a:t>
            </a:r>
            <a:endParaRPr lang="en-US" sz="21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6692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n° 3 : </a:t>
            </a:r>
            <a:r>
              <a:rPr lang="en-US" sz="1500" i="1" dirty="0">
                <a:solidFill>
                  <a:schemeClr val="accent5"/>
                </a:solidFill>
              </a:rPr>
              <a:t>de</a:t>
            </a:r>
            <a:r>
              <a:rPr lang="en-US" sz="1500" i="1" dirty="0">
                <a:solidFill>
                  <a:schemeClr val="accent5"/>
                </a:solidFill>
              </a:rPr>
              <a:t> vergaderzaal → </a:t>
            </a:r>
            <a:r>
              <a:rPr lang="en-US" sz="1500" i="1" dirty="0">
                <a:solidFill>
                  <a:schemeClr val="accent5"/>
                </a:solidFill>
              </a:rPr>
              <a:t>onze</a:t>
            </a:r>
            <a:r>
              <a:rPr lang="en-US" sz="1500" i="1" dirty="0">
                <a:solidFill>
                  <a:schemeClr val="accent5"/>
                </a:solidFill>
              </a:rPr>
              <a:t> · n° 8 : aussi </a:t>
            </a:r>
            <a:r>
              <a:rPr lang="en-US" sz="1500" i="1" dirty="0">
                <a:solidFill>
                  <a:schemeClr val="accent5"/>
                </a:solidFill>
              </a:rPr>
              <a:t>je</a:t>
            </a:r>
            <a:r>
              <a:rPr lang="en-US" sz="1500" i="1" dirty="0">
                <a:solidFill>
                  <a:schemeClr val="accent5"/>
                </a:solidFill>
              </a:rPr>
              <a:t> (forme courte)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ons ou onze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mots : ons ou onze ? Regardez l’article.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594360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kantoor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2807208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2852928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team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065776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111496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klant </a:t>
            </a:r>
            <a:r>
              <a:rPr lang="en-US" sz="1700" dirty="0">
                <a:solidFill>
                  <a:srgbClr val="B8C2CF"/>
                </a:solidFill>
              </a:rPr>
              <a:t>(de)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7324344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7370064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collega’s </a:t>
            </a:r>
            <a:r>
              <a:rPr lang="en-US" sz="1700" dirty="0">
                <a:solidFill>
                  <a:srgbClr val="B8C2CF"/>
                </a:solidFill>
              </a:rPr>
              <a:t>(mv.)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9582912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9628632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huis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594360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auto </a:t>
            </a:r>
            <a:r>
              <a:rPr lang="en-US" sz="1700" dirty="0">
                <a:solidFill>
                  <a:srgbClr val="B8C2CF"/>
                </a:solidFill>
              </a:rPr>
              <a:t>(de)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2807208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2852928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bedrijf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5065776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5111496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directeur </a:t>
            </a:r>
            <a:r>
              <a:rPr lang="en-US" sz="1700" dirty="0">
                <a:solidFill>
                  <a:srgbClr val="B8C2CF"/>
                </a:solidFill>
              </a:rPr>
              <a:t>(de)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7324344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7370064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kinderen </a:t>
            </a:r>
            <a:r>
              <a:rPr lang="en-US" sz="1700" dirty="0">
                <a:solidFill>
                  <a:srgbClr val="B8C2CF"/>
                </a:solidFill>
              </a:rPr>
              <a:t>(mv.)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9582912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9628632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adres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548640" y="3532632"/>
            <a:ext cx="5468112" cy="2758440"/>
          </a:xfrm>
          <a:prstGeom prst="roundRect">
            <a:avLst>
              <a:gd name="adj" fmla="val 2652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3532632"/>
            <a:ext cx="5468112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3532632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</a:rPr>
              <a:t>ONS</a:t>
            </a:r>
            <a:endParaRPr lang="en-US" sz="2200" dirty="0"/>
          </a:p>
        </p:txBody>
      </p:sp>
      <p:sp>
        <p:nvSpPr>
          <p:cNvPr id="31" name="Shape 27"/>
          <p:cNvSpPr/>
          <p:nvPr/>
        </p:nvSpPr>
        <p:spPr>
          <a:xfrm>
            <a:off x="6172200" y="3532632"/>
            <a:ext cx="5468112" cy="2758440"/>
          </a:xfrm>
          <a:prstGeom prst="roundRect">
            <a:avLst>
              <a:gd name="adj" fmla="val 2652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6172200" y="3532632"/>
            <a:ext cx="546811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172200" y="3532632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</a:rPr>
              <a:t>ONZE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ons ou onze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mots : ons ou onze ? Regardez l’article.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23872"/>
            <a:ext cx="5468112" cy="4267200"/>
          </a:xfrm>
          <a:prstGeom prst="roundRect">
            <a:avLst>
              <a:gd name="adj" fmla="val 1714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2023872"/>
            <a:ext cx="5468112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2023872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</a:rPr>
              <a:t>ONS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280111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kantoor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3383280" y="280111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team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822960" y="35783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huis</a:t>
            </a:r>
            <a:endParaRPr lang="en-US" sz="2200" dirty="0"/>
          </a:p>
        </p:txBody>
      </p:sp>
      <p:sp>
        <p:nvSpPr>
          <p:cNvPr id="15" name="Text 11"/>
          <p:cNvSpPr txBox="1"/>
          <p:nvPr/>
        </p:nvSpPr>
        <p:spPr>
          <a:xfrm>
            <a:off x="3383280" y="35783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bedrijf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822960" y="435559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adres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6172200" y="2023872"/>
            <a:ext cx="5468112" cy="4267200"/>
          </a:xfrm>
          <a:prstGeom prst="roundRect">
            <a:avLst>
              <a:gd name="adj" fmla="val 1714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172200" y="2023872"/>
            <a:ext cx="546811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172200" y="2023872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</a:rPr>
              <a:t>ONZE</a:t>
            </a:r>
            <a:endParaRPr lang="en-US" sz="2200" dirty="0"/>
          </a:p>
        </p:txBody>
      </p:sp>
      <p:sp>
        <p:nvSpPr>
          <p:cNvPr id="20" name="Text 16"/>
          <p:cNvSpPr txBox="1"/>
          <p:nvPr/>
        </p:nvSpPr>
        <p:spPr>
          <a:xfrm>
            <a:off x="6446520" y="280111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klant</a:t>
            </a:r>
            <a:endParaRPr lang="en-US" sz="2200" dirty="0"/>
          </a:p>
        </p:txBody>
      </p:sp>
      <p:sp>
        <p:nvSpPr>
          <p:cNvPr id="21" name="Text 17"/>
          <p:cNvSpPr txBox="1"/>
          <p:nvPr/>
        </p:nvSpPr>
        <p:spPr>
          <a:xfrm>
            <a:off x="9006840" y="280111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collega’s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6446520" y="35783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auto</a:t>
            </a:r>
            <a:endParaRPr lang="en-US" sz="2200" dirty="0"/>
          </a:p>
        </p:txBody>
      </p:sp>
      <p:sp>
        <p:nvSpPr>
          <p:cNvPr id="23" name="Text 19"/>
          <p:cNvSpPr txBox="1"/>
          <p:nvPr/>
        </p:nvSpPr>
        <p:spPr>
          <a:xfrm>
            <a:off x="9006840" y="35783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directeur</a:t>
            </a:r>
            <a:endParaRPr lang="en-US" sz="2200" dirty="0"/>
          </a:p>
        </p:txBody>
      </p:sp>
      <p:sp>
        <p:nvSpPr>
          <p:cNvPr id="24" name="Text 20"/>
          <p:cNvSpPr txBox="1"/>
          <p:nvPr/>
        </p:nvSpPr>
        <p:spPr>
          <a:xfrm>
            <a:off x="6446520" y="435559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kinderen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deze, dit, die ou dat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La main = proche, le doigt = loin. Regardez aussi l’article.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58368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1" name="Image 1" descr="HandPap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1478" y="2069592"/>
            <a:ext cx="347472" cy="347472"/>
          </a:xfrm>
          <a:prstGeom prst="rect">
            <a:avLst/>
          </a:prstGeom>
        </p:spPr>
      </p:pic>
      <p:pic>
        <p:nvPicPr>
          <p:cNvPr id="12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599" y="2252472"/>
            <a:ext cx="1005840" cy="100584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40080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stoel</a:t>
            </a:r>
            <a:endParaRPr lang="en-US" sz="2000" dirty="0"/>
          </a:p>
        </p:txBody>
      </p:sp>
      <p:sp>
        <p:nvSpPr>
          <p:cNvPr id="14" name="Text 8"/>
          <p:cNvSpPr txBox="1"/>
          <p:nvPr/>
        </p:nvSpPr>
        <p:spPr>
          <a:xfrm>
            <a:off x="1097280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(de)</a:t>
            </a:r>
            <a:endParaRPr lang="en-US" sz="1300" dirty="0"/>
          </a:p>
        </p:txBody>
      </p:sp>
      <p:sp>
        <p:nvSpPr>
          <p:cNvPr id="15" name="Shape 9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3477006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3477006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8" name="Image 3" descr="HandPointR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0116" y="2069592"/>
            <a:ext cx="347472" cy="347472"/>
          </a:xfrm>
          <a:prstGeom prst="rect">
            <a:avLst/>
          </a:prstGeom>
        </p:spPr>
      </p:pic>
      <p:pic>
        <p:nvPicPr>
          <p:cNvPr id="19" name="Image 4" descr="window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2237" y="2252472"/>
            <a:ext cx="1005840" cy="100584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3458718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raam</a:t>
            </a:r>
            <a:endParaRPr lang="en-US" sz="2000" dirty="0"/>
          </a:p>
        </p:txBody>
      </p:sp>
      <p:sp>
        <p:nvSpPr>
          <p:cNvPr id="21" name="Text 13"/>
          <p:cNvSpPr txBox="1"/>
          <p:nvPr/>
        </p:nvSpPr>
        <p:spPr>
          <a:xfrm>
            <a:off x="3915918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2" name="Shape 14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5"/>
          <p:cNvSpPr/>
          <p:nvPr/>
        </p:nvSpPr>
        <p:spPr>
          <a:xfrm>
            <a:off x="6295644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6"/>
          <p:cNvSpPr txBox="1"/>
          <p:nvPr/>
        </p:nvSpPr>
        <p:spPr>
          <a:xfrm>
            <a:off x="6295644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5" name="Image 5" descr="HandPap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8754" y="2069592"/>
            <a:ext cx="347472" cy="347472"/>
          </a:xfrm>
          <a:prstGeom prst="rect">
            <a:avLst/>
          </a:prstGeom>
        </p:spPr>
      </p:pic>
      <p:pic>
        <p:nvPicPr>
          <p:cNvPr id="26" name="Image 6" descr="desktop comput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0875" y="2252472"/>
            <a:ext cx="1005840" cy="1005840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6277356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bureau</a:t>
            </a:r>
            <a:endParaRPr lang="en-US" sz="2000" dirty="0"/>
          </a:p>
        </p:txBody>
      </p:sp>
      <p:sp>
        <p:nvSpPr>
          <p:cNvPr id="28" name="Text 18"/>
          <p:cNvSpPr txBox="1"/>
          <p:nvPr/>
        </p:nvSpPr>
        <p:spPr>
          <a:xfrm>
            <a:off x="6734556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9" name="Shape 19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0"/>
          <p:cNvSpPr/>
          <p:nvPr/>
        </p:nvSpPr>
        <p:spPr>
          <a:xfrm>
            <a:off x="9114282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9114282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2" name="Image 7" descr="HandPointRigh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37392" y="2069592"/>
            <a:ext cx="347472" cy="347472"/>
          </a:xfrm>
          <a:prstGeom prst="rect">
            <a:avLst/>
          </a:prstGeom>
        </p:spPr>
      </p:pic>
      <p:pic>
        <p:nvPicPr>
          <p:cNvPr id="33" name="Image 8" descr="printe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19513" y="2252472"/>
            <a:ext cx="1005840" cy="1005840"/>
          </a:xfrm>
          <a:prstGeom prst="rect">
            <a:avLst/>
          </a:prstGeom>
        </p:spPr>
      </p:pic>
      <p:sp>
        <p:nvSpPr>
          <p:cNvPr id="34" name="Text 22"/>
          <p:cNvSpPr txBox="1"/>
          <p:nvPr/>
        </p:nvSpPr>
        <p:spPr>
          <a:xfrm>
            <a:off x="9095994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printer</a:t>
            </a:r>
            <a:endParaRPr lang="en-US" sz="2000" dirty="0"/>
          </a:p>
        </p:txBody>
      </p:sp>
      <p:sp>
        <p:nvSpPr>
          <p:cNvPr id="35" name="Text 23"/>
          <p:cNvSpPr txBox="1"/>
          <p:nvPr/>
        </p:nvSpPr>
        <p:spPr>
          <a:xfrm>
            <a:off x="9553194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(de)</a:t>
            </a:r>
            <a:endParaRPr lang="en-US" sz="1300" dirty="0"/>
          </a:p>
        </p:txBody>
      </p:sp>
      <p:sp>
        <p:nvSpPr>
          <p:cNvPr id="36" name="Shape 24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25"/>
          <p:cNvSpPr/>
          <p:nvPr/>
        </p:nvSpPr>
        <p:spPr>
          <a:xfrm>
            <a:off x="658368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6"/>
          <p:cNvSpPr txBox="1"/>
          <p:nvPr/>
        </p:nvSpPr>
        <p:spPr>
          <a:xfrm>
            <a:off x="658368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39" name="Image 9" descr="HandPape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81478" y="4340352"/>
            <a:ext cx="347472" cy="347472"/>
          </a:xfrm>
          <a:prstGeom prst="rect">
            <a:avLst/>
          </a:prstGeom>
        </p:spPr>
      </p:pic>
      <p:pic>
        <p:nvPicPr>
          <p:cNvPr id="40" name="Image 10" descr="file folder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63599" y="4523232"/>
            <a:ext cx="1005840" cy="1005840"/>
          </a:xfrm>
          <a:prstGeom prst="rect">
            <a:avLst/>
          </a:prstGeom>
        </p:spPr>
      </p:pic>
      <p:sp>
        <p:nvSpPr>
          <p:cNvPr id="41" name="Text 27"/>
          <p:cNvSpPr txBox="1"/>
          <p:nvPr/>
        </p:nvSpPr>
        <p:spPr>
          <a:xfrm>
            <a:off x="640080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mappen</a:t>
            </a:r>
            <a:endParaRPr lang="en-US" sz="2000" dirty="0"/>
          </a:p>
        </p:txBody>
      </p:sp>
      <p:sp>
        <p:nvSpPr>
          <p:cNvPr id="42" name="Text 28"/>
          <p:cNvSpPr txBox="1"/>
          <p:nvPr/>
        </p:nvSpPr>
        <p:spPr>
          <a:xfrm>
            <a:off x="1097280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(mv.)</a:t>
            </a:r>
            <a:endParaRPr lang="en-US" sz="1300" dirty="0"/>
          </a:p>
        </p:txBody>
      </p:sp>
      <p:sp>
        <p:nvSpPr>
          <p:cNvPr id="43" name="Shape 29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4" name="Shape 30"/>
          <p:cNvSpPr/>
          <p:nvPr/>
        </p:nvSpPr>
        <p:spPr>
          <a:xfrm>
            <a:off x="3477006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31"/>
          <p:cNvSpPr txBox="1"/>
          <p:nvPr/>
        </p:nvSpPr>
        <p:spPr>
          <a:xfrm>
            <a:off x="3477006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6" name="Image 11" descr="HandPointRigh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00116" y="4340352"/>
            <a:ext cx="347472" cy="347472"/>
          </a:xfrm>
          <a:prstGeom prst="rect">
            <a:avLst/>
          </a:prstGeom>
        </p:spPr>
      </p:pic>
      <p:pic>
        <p:nvPicPr>
          <p:cNvPr id="47" name="Image 12" descr="busts in silhouette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82237" y="4523232"/>
            <a:ext cx="1005840" cy="1005840"/>
          </a:xfrm>
          <a:prstGeom prst="rect">
            <a:avLst/>
          </a:prstGeom>
        </p:spPr>
      </p:pic>
      <p:sp>
        <p:nvSpPr>
          <p:cNvPr id="48" name="Text 32"/>
          <p:cNvSpPr txBox="1"/>
          <p:nvPr/>
        </p:nvSpPr>
        <p:spPr>
          <a:xfrm>
            <a:off x="3458718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collega’s</a:t>
            </a:r>
            <a:endParaRPr lang="en-US" sz="2000" dirty="0"/>
          </a:p>
        </p:txBody>
      </p:sp>
      <p:sp>
        <p:nvSpPr>
          <p:cNvPr id="49" name="Text 33"/>
          <p:cNvSpPr txBox="1"/>
          <p:nvPr/>
        </p:nvSpPr>
        <p:spPr>
          <a:xfrm>
            <a:off x="3915918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(mv.)</a:t>
            </a:r>
            <a:endParaRPr lang="en-US" sz="1300" dirty="0"/>
          </a:p>
        </p:txBody>
      </p:sp>
      <p:sp>
        <p:nvSpPr>
          <p:cNvPr id="50" name="Shape 34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1" name="Shape 35"/>
          <p:cNvSpPr/>
          <p:nvPr/>
        </p:nvSpPr>
        <p:spPr>
          <a:xfrm>
            <a:off x="6295644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36"/>
          <p:cNvSpPr txBox="1"/>
          <p:nvPr/>
        </p:nvSpPr>
        <p:spPr>
          <a:xfrm>
            <a:off x="6295644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pic>
        <p:nvPicPr>
          <p:cNvPr id="53" name="Image 13" descr="HandPaper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18754" y="4340352"/>
            <a:ext cx="347472" cy="347472"/>
          </a:xfrm>
          <a:prstGeom prst="rect">
            <a:avLst/>
          </a:prstGeom>
        </p:spPr>
      </p:pic>
      <p:pic>
        <p:nvPicPr>
          <p:cNvPr id="54" name="Image 14" descr="green book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00875" y="4523232"/>
            <a:ext cx="1005840" cy="1005840"/>
          </a:xfrm>
          <a:prstGeom prst="rect">
            <a:avLst/>
          </a:prstGeom>
        </p:spPr>
      </p:pic>
      <p:sp>
        <p:nvSpPr>
          <p:cNvPr id="55" name="Text 37"/>
          <p:cNvSpPr txBox="1"/>
          <p:nvPr/>
        </p:nvSpPr>
        <p:spPr>
          <a:xfrm>
            <a:off x="6277356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boek</a:t>
            </a:r>
            <a:endParaRPr lang="en-US" sz="2000" dirty="0"/>
          </a:p>
        </p:txBody>
      </p:sp>
      <p:sp>
        <p:nvSpPr>
          <p:cNvPr id="56" name="Text 38"/>
          <p:cNvSpPr txBox="1"/>
          <p:nvPr/>
        </p:nvSpPr>
        <p:spPr>
          <a:xfrm>
            <a:off x="6734556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57" name="Shape 39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8" name="Shape 40"/>
          <p:cNvSpPr/>
          <p:nvPr/>
        </p:nvSpPr>
        <p:spPr>
          <a:xfrm>
            <a:off x="9114282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41"/>
          <p:cNvSpPr txBox="1"/>
          <p:nvPr/>
        </p:nvSpPr>
        <p:spPr>
          <a:xfrm>
            <a:off x="9114282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pic>
        <p:nvPicPr>
          <p:cNvPr id="60" name="Image 15" descr="HandPointRight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37392" y="4340352"/>
            <a:ext cx="347472" cy="347472"/>
          </a:xfrm>
          <a:prstGeom prst="rect">
            <a:avLst/>
          </a:prstGeom>
        </p:spPr>
      </p:pic>
      <p:pic>
        <p:nvPicPr>
          <p:cNvPr id="61" name="Image 16" descr="office buildi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819513" y="4523232"/>
            <a:ext cx="1005840" cy="1005840"/>
          </a:xfrm>
          <a:prstGeom prst="rect">
            <a:avLst/>
          </a:prstGeom>
        </p:spPr>
      </p:pic>
      <p:sp>
        <p:nvSpPr>
          <p:cNvPr id="62" name="Text 42"/>
          <p:cNvSpPr txBox="1"/>
          <p:nvPr/>
        </p:nvSpPr>
        <p:spPr>
          <a:xfrm>
            <a:off x="9095994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gebouw</a:t>
            </a:r>
            <a:endParaRPr lang="en-US" sz="2000" dirty="0"/>
          </a:p>
        </p:txBody>
      </p:sp>
      <p:sp>
        <p:nvSpPr>
          <p:cNvPr id="63" name="Text 43"/>
          <p:cNvSpPr txBox="1"/>
          <p:nvPr/>
        </p:nvSpPr>
        <p:spPr>
          <a:xfrm>
            <a:off x="9553194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deze, dit, die ou dat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La main = proche, le doigt = loin. Regardez aussi l’article.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58368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2" name="Image 1" descr="HandPap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1478" y="2069592"/>
            <a:ext cx="347472" cy="347472"/>
          </a:xfrm>
          <a:prstGeom prst="rect">
            <a:avLst/>
          </a:prstGeom>
        </p:spPr>
      </p:pic>
      <p:pic>
        <p:nvPicPr>
          <p:cNvPr id="13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599" y="2252472"/>
            <a:ext cx="1005840" cy="10058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40080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deze</a:t>
            </a:r>
            <a:r>
              <a:rPr lang="en-US" sz="2000" i="1" dirty="0">
                <a:solidFill>
                  <a:schemeClr val="tx1"/>
                </a:solidFill>
              </a:rPr>
              <a:t> stoel</a:t>
            </a:r>
            <a:endParaRPr lang="en-US" sz="2000" dirty="0"/>
          </a:p>
        </p:txBody>
      </p:sp>
      <p:sp>
        <p:nvSpPr>
          <p:cNvPr id="15" name="Text 9"/>
          <p:cNvSpPr txBox="1"/>
          <p:nvPr/>
        </p:nvSpPr>
        <p:spPr>
          <a:xfrm>
            <a:off x="1097280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(de)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3477006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3477006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9" name="Image 3" descr="HandPointR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0116" y="2069592"/>
            <a:ext cx="347472" cy="347472"/>
          </a:xfrm>
          <a:prstGeom prst="rect">
            <a:avLst/>
          </a:prstGeom>
        </p:spPr>
      </p:pic>
      <p:pic>
        <p:nvPicPr>
          <p:cNvPr id="20" name="Image 4" descr="window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2237" y="2252472"/>
            <a:ext cx="1005840" cy="100584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3458718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dat</a:t>
            </a:r>
            <a:r>
              <a:rPr lang="en-US" sz="2000" i="1" dirty="0">
                <a:solidFill>
                  <a:schemeClr val="tx1"/>
                </a:solidFill>
              </a:rPr>
              <a:t> raam</a:t>
            </a:r>
            <a:endParaRPr lang="en-US" sz="2000" dirty="0"/>
          </a:p>
        </p:txBody>
      </p:sp>
      <p:sp>
        <p:nvSpPr>
          <p:cNvPr id="22" name="Text 14"/>
          <p:cNvSpPr txBox="1"/>
          <p:nvPr/>
        </p:nvSpPr>
        <p:spPr>
          <a:xfrm>
            <a:off x="3915918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3" name="Shape 15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6295644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6295644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6" name="Image 5" descr="HandPap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8754" y="2069592"/>
            <a:ext cx="347472" cy="347472"/>
          </a:xfrm>
          <a:prstGeom prst="rect">
            <a:avLst/>
          </a:prstGeom>
        </p:spPr>
      </p:pic>
      <p:pic>
        <p:nvPicPr>
          <p:cNvPr id="27" name="Image 6" descr="desktop comput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0875" y="2252472"/>
            <a:ext cx="1005840" cy="100584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6277356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dit</a:t>
            </a:r>
            <a:r>
              <a:rPr lang="en-US" sz="2000" i="1" dirty="0">
                <a:solidFill>
                  <a:schemeClr val="tx1"/>
                </a:solidFill>
              </a:rPr>
              <a:t> bureau</a:t>
            </a:r>
            <a:endParaRPr lang="en-US" sz="2000" dirty="0"/>
          </a:p>
        </p:txBody>
      </p:sp>
      <p:sp>
        <p:nvSpPr>
          <p:cNvPr id="29" name="Text 19"/>
          <p:cNvSpPr txBox="1"/>
          <p:nvPr/>
        </p:nvSpPr>
        <p:spPr>
          <a:xfrm>
            <a:off x="6734556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30" name="Shape 20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1"/>
          <p:cNvSpPr/>
          <p:nvPr/>
        </p:nvSpPr>
        <p:spPr>
          <a:xfrm>
            <a:off x="9114282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2"/>
          <p:cNvSpPr txBox="1"/>
          <p:nvPr/>
        </p:nvSpPr>
        <p:spPr>
          <a:xfrm>
            <a:off x="9114282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3" name="Image 7" descr="HandPointRigh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37392" y="2069592"/>
            <a:ext cx="347472" cy="347472"/>
          </a:xfrm>
          <a:prstGeom prst="rect">
            <a:avLst/>
          </a:prstGeom>
        </p:spPr>
      </p:pic>
      <p:pic>
        <p:nvPicPr>
          <p:cNvPr id="34" name="Image 8" descr="printe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19513" y="2252472"/>
            <a:ext cx="1005840" cy="1005840"/>
          </a:xfrm>
          <a:prstGeom prst="rect">
            <a:avLst/>
          </a:prstGeom>
        </p:spPr>
      </p:pic>
      <p:sp>
        <p:nvSpPr>
          <p:cNvPr id="35" name="Text 23"/>
          <p:cNvSpPr txBox="1"/>
          <p:nvPr/>
        </p:nvSpPr>
        <p:spPr>
          <a:xfrm>
            <a:off x="9095994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die</a:t>
            </a:r>
            <a:r>
              <a:rPr lang="en-US" sz="2000" i="1" dirty="0">
                <a:solidFill>
                  <a:schemeClr val="tx1"/>
                </a:solidFill>
              </a:rPr>
              <a:t> printer</a:t>
            </a:r>
            <a:endParaRPr lang="en-US" sz="2000" dirty="0"/>
          </a:p>
        </p:txBody>
      </p:sp>
      <p:sp>
        <p:nvSpPr>
          <p:cNvPr id="36" name="Text 24"/>
          <p:cNvSpPr txBox="1"/>
          <p:nvPr/>
        </p:nvSpPr>
        <p:spPr>
          <a:xfrm>
            <a:off x="9553194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(de)</a:t>
            </a:r>
            <a:endParaRPr lang="en-US" sz="1300" dirty="0"/>
          </a:p>
        </p:txBody>
      </p:sp>
      <p:sp>
        <p:nvSpPr>
          <p:cNvPr id="37" name="Shape 25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26"/>
          <p:cNvSpPr/>
          <p:nvPr/>
        </p:nvSpPr>
        <p:spPr>
          <a:xfrm>
            <a:off x="658368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7"/>
          <p:cNvSpPr txBox="1"/>
          <p:nvPr/>
        </p:nvSpPr>
        <p:spPr>
          <a:xfrm>
            <a:off x="658368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40" name="Image 9" descr="HandPape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81478" y="4340352"/>
            <a:ext cx="347472" cy="347472"/>
          </a:xfrm>
          <a:prstGeom prst="rect">
            <a:avLst/>
          </a:prstGeom>
        </p:spPr>
      </p:pic>
      <p:pic>
        <p:nvPicPr>
          <p:cNvPr id="41" name="Image 10" descr="file folder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63599" y="4523232"/>
            <a:ext cx="1005840" cy="1005840"/>
          </a:xfrm>
          <a:prstGeom prst="rect">
            <a:avLst/>
          </a:prstGeom>
        </p:spPr>
      </p:pic>
      <p:sp>
        <p:nvSpPr>
          <p:cNvPr id="42" name="Text 28"/>
          <p:cNvSpPr txBox="1"/>
          <p:nvPr/>
        </p:nvSpPr>
        <p:spPr>
          <a:xfrm>
            <a:off x="640080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deze</a:t>
            </a:r>
            <a:r>
              <a:rPr lang="en-US" sz="2000" i="1" dirty="0">
                <a:solidFill>
                  <a:schemeClr val="tx1"/>
                </a:solidFill>
              </a:rPr>
              <a:t> mappen</a:t>
            </a:r>
            <a:endParaRPr lang="en-US" sz="2000" dirty="0"/>
          </a:p>
        </p:txBody>
      </p:sp>
      <p:sp>
        <p:nvSpPr>
          <p:cNvPr id="43" name="Text 29"/>
          <p:cNvSpPr txBox="1"/>
          <p:nvPr/>
        </p:nvSpPr>
        <p:spPr>
          <a:xfrm>
            <a:off x="1097280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(mv.)</a:t>
            </a:r>
            <a:endParaRPr lang="en-US" sz="1300" dirty="0"/>
          </a:p>
        </p:txBody>
      </p:sp>
      <p:sp>
        <p:nvSpPr>
          <p:cNvPr id="44" name="Shape 30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5" name="Shape 31"/>
          <p:cNvSpPr/>
          <p:nvPr/>
        </p:nvSpPr>
        <p:spPr>
          <a:xfrm>
            <a:off x="3477006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2"/>
          <p:cNvSpPr txBox="1"/>
          <p:nvPr/>
        </p:nvSpPr>
        <p:spPr>
          <a:xfrm>
            <a:off x="3477006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7" name="Image 11" descr="HandPointRigh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00116" y="4340352"/>
            <a:ext cx="347472" cy="347472"/>
          </a:xfrm>
          <a:prstGeom prst="rect">
            <a:avLst/>
          </a:prstGeom>
        </p:spPr>
      </p:pic>
      <p:pic>
        <p:nvPicPr>
          <p:cNvPr id="48" name="Image 12" descr="busts in silhouette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82237" y="4523232"/>
            <a:ext cx="1005840" cy="1005840"/>
          </a:xfrm>
          <a:prstGeom prst="rect">
            <a:avLst/>
          </a:prstGeom>
        </p:spPr>
      </p:pic>
      <p:sp>
        <p:nvSpPr>
          <p:cNvPr id="49" name="Text 33"/>
          <p:cNvSpPr txBox="1"/>
          <p:nvPr/>
        </p:nvSpPr>
        <p:spPr>
          <a:xfrm>
            <a:off x="3458718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die</a:t>
            </a:r>
            <a:r>
              <a:rPr lang="en-US" sz="2000" i="1" dirty="0">
                <a:solidFill>
                  <a:schemeClr val="tx1"/>
                </a:solidFill>
              </a:rPr>
              <a:t> collega’s</a:t>
            </a:r>
            <a:endParaRPr lang="en-US" sz="2000" dirty="0"/>
          </a:p>
        </p:txBody>
      </p:sp>
      <p:sp>
        <p:nvSpPr>
          <p:cNvPr id="50" name="Text 34"/>
          <p:cNvSpPr txBox="1"/>
          <p:nvPr/>
        </p:nvSpPr>
        <p:spPr>
          <a:xfrm>
            <a:off x="3915918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(mv.)</a:t>
            </a:r>
            <a:endParaRPr lang="en-US" sz="1300" dirty="0"/>
          </a:p>
        </p:txBody>
      </p:sp>
      <p:sp>
        <p:nvSpPr>
          <p:cNvPr id="51" name="Shape 35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2" name="Shape 36"/>
          <p:cNvSpPr/>
          <p:nvPr/>
        </p:nvSpPr>
        <p:spPr>
          <a:xfrm>
            <a:off x="6295644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37"/>
          <p:cNvSpPr txBox="1"/>
          <p:nvPr/>
        </p:nvSpPr>
        <p:spPr>
          <a:xfrm>
            <a:off x="6295644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pic>
        <p:nvPicPr>
          <p:cNvPr id="54" name="Image 13" descr="HandPaper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18754" y="4340352"/>
            <a:ext cx="347472" cy="347472"/>
          </a:xfrm>
          <a:prstGeom prst="rect">
            <a:avLst/>
          </a:prstGeom>
        </p:spPr>
      </p:pic>
      <p:pic>
        <p:nvPicPr>
          <p:cNvPr id="55" name="Image 14" descr="green book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00875" y="4523232"/>
            <a:ext cx="1005840" cy="1005840"/>
          </a:xfrm>
          <a:prstGeom prst="rect">
            <a:avLst/>
          </a:prstGeom>
        </p:spPr>
      </p:pic>
      <p:sp>
        <p:nvSpPr>
          <p:cNvPr id="56" name="Text 38"/>
          <p:cNvSpPr txBox="1"/>
          <p:nvPr/>
        </p:nvSpPr>
        <p:spPr>
          <a:xfrm>
            <a:off x="6277356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dit</a:t>
            </a:r>
            <a:r>
              <a:rPr lang="en-US" sz="2000" i="1" dirty="0">
                <a:solidFill>
                  <a:schemeClr val="tx1"/>
                </a:solidFill>
              </a:rPr>
              <a:t> boek</a:t>
            </a:r>
            <a:endParaRPr lang="en-US" sz="2000" dirty="0"/>
          </a:p>
        </p:txBody>
      </p:sp>
      <p:sp>
        <p:nvSpPr>
          <p:cNvPr id="57" name="Text 39"/>
          <p:cNvSpPr txBox="1"/>
          <p:nvPr/>
        </p:nvSpPr>
        <p:spPr>
          <a:xfrm>
            <a:off x="6734556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58" name="Shape 40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9" name="Shape 41"/>
          <p:cNvSpPr/>
          <p:nvPr/>
        </p:nvSpPr>
        <p:spPr>
          <a:xfrm>
            <a:off x="9114282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42"/>
          <p:cNvSpPr txBox="1"/>
          <p:nvPr/>
        </p:nvSpPr>
        <p:spPr>
          <a:xfrm>
            <a:off x="9114282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pic>
        <p:nvPicPr>
          <p:cNvPr id="61" name="Image 15" descr="HandPointRight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37392" y="4340352"/>
            <a:ext cx="347472" cy="347472"/>
          </a:xfrm>
          <a:prstGeom prst="rect">
            <a:avLst/>
          </a:prstGeom>
        </p:spPr>
      </p:pic>
      <p:pic>
        <p:nvPicPr>
          <p:cNvPr id="62" name="Image 16" descr="office buildi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819513" y="4523232"/>
            <a:ext cx="1005840" cy="1005840"/>
          </a:xfrm>
          <a:prstGeom prst="rect">
            <a:avLst/>
          </a:prstGeom>
        </p:spPr>
      </p:pic>
      <p:sp>
        <p:nvSpPr>
          <p:cNvPr id="63" name="Text 43"/>
          <p:cNvSpPr txBox="1"/>
          <p:nvPr/>
        </p:nvSpPr>
        <p:spPr>
          <a:xfrm>
            <a:off x="9095994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dat</a:t>
            </a:r>
            <a:r>
              <a:rPr lang="en-US" sz="2000" i="1" dirty="0">
                <a:solidFill>
                  <a:schemeClr val="tx1"/>
                </a:solidFill>
              </a:rPr>
              <a:t> gebouw</a:t>
            </a:r>
            <a:endParaRPr lang="en-US" sz="2000" dirty="0"/>
          </a:p>
        </p:txBody>
      </p:sp>
      <p:sp>
        <p:nvSpPr>
          <p:cNvPr id="64" name="Text 44"/>
          <p:cNvSpPr txBox="1"/>
          <p:nvPr/>
        </p:nvSpPr>
        <p:spPr>
          <a:xfrm>
            <a:off x="9553194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Traduction piège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Attention aux phrases marquées ⚠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960120" y="196900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196900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Sofie et son mari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754880" y="196900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5257800" y="218655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806440" y="196900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60120" y="251383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097280" y="251383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Karim et sa sœur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4754880" y="251383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5257800" y="273138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5806440" y="251383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960120" y="305866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97280" y="305866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Cette maison est grande.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4754880" y="305866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5257800" y="327621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5806440" y="305866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960120" y="360349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097280" y="360349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sont mes collègues.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257800" y="382104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4" name="Shape 30"/>
          <p:cNvSpPr/>
          <p:nvPr/>
        </p:nvSpPr>
        <p:spPr>
          <a:xfrm>
            <a:off x="5806440" y="360349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960120" y="414832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1097280" y="414832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Monsieur, votre café !</a:t>
            </a:r>
            <a:endParaRPr lang="en-US" sz="1700" dirty="0"/>
          </a:p>
        </p:txBody>
      </p:sp>
      <p:sp>
        <p:nvSpPr>
          <p:cNvPr id="39" name="Text 35"/>
          <p:cNvSpPr txBox="1"/>
          <p:nvPr/>
        </p:nvSpPr>
        <p:spPr>
          <a:xfrm>
            <a:off x="4754880" y="414832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40" name="Shape 36"/>
          <p:cNvSpPr/>
          <p:nvPr/>
        </p:nvSpPr>
        <p:spPr>
          <a:xfrm>
            <a:off x="5257800" y="436587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1" name="Shape 37"/>
          <p:cNvSpPr/>
          <p:nvPr/>
        </p:nvSpPr>
        <p:spPr>
          <a:xfrm>
            <a:off x="5806440" y="414832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4" name="Shape 40"/>
          <p:cNvSpPr/>
          <p:nvPr/>
        </p:nvSpPr>
        <p:spPr>
          <a:xfrm>
            <a:off x="960120" y="469315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1097280" y="469315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Ils cherchent leur voiture.</a:t>
            </a:r>
            <a:endParaRPr lang="en-US" sz="1700" dirty="0"/>
          </a:p>
        </p:txBody>
      </p:sp>
      <p:sp>
        <p:nvSpPr>
          <p:cNvPr id="46" name="Shape 42"/>
          <p:cNvSpPr/>
          <p:nvPr/>
        </p:nvSpPr>
        <p:spPr>
          <a:xfrm>
            <a:off x="5257800" y="491070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7" name="Shape 43"/>
          <p:cNvSpPr/>
          <p:nvPr/>
        </p:nvSpPr>
        <p:spPr>
          <a:xfrm>
            <a:off x="5806440" y="469315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0" name="Shape 46"/>
          <p:cNvSpPr/>
          <p:nvPr/>
        </p:nvSpPr>
        <p:spPr>
          <a:xfrm>
            <a:off x="960120" y="523798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1097280" y="523798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stylo est à moi.</a:t>
            </a:r>
            <a:endParaRPr lang="en-US" sz="1700" dirty="0"/>
          </a:p>
        </p:txBody>
      </p:sp>
      <p:sp>
        <p:nvSpPr>
          <p:cNvPr id="52" name="Shape 48"/>
          <p:cNvSpPr/>
          <p:nvPr/>
        </p:nvSpPr>
        <p:spPr>
          <a:xfrm>
            <a:off x="5257800" y="545553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3" name="Shape 49"/>
          <p:cNvSpPr/>
          <p:nvPr/>
        </p:nvSpPr>
        <p:spPr>
          <a:xfrm>
            <a:off x="5806440" y="523798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6" name="Shape 52"/>
          <p:cNvSpPr/>
          <p:nvPr/>
        </p:nvSpPr>
        <p:spPr>
          <a:xfrm>
            <a:off x="960120" y="578281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1097280" y="578281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C’est notre entreprise.</a:t>
            </a:r>
            <a:endParaRPr lang="en-US" sz="1700" dirty="0"/>
          </a:p>
        </p:txBody>
      </p:sp>
      <p:sp>
        <p:nvSpPr>
          <p:cNvPr id="58" name="Shape 54"/>
          <p:cNvSpPr/>
          <p:nvPr/>
        </p:nvSpPr>
        <p:spPr>
          <a:xfrm>
            <a:off x="5257800" y="600036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9" name="Shape 55"/>
          <p:cNvSpPr/>
          <p:nvPr/>
        </p:nvSpPr>
        <p:spPr>
          <a:xfrm>
            <a:off x="5806440" y="578281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Traduction piège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Attention aux phrases marquées ⚠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960120" y="196900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97280" y="196900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Sofie et son mari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754880" y="196900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5257800" y="218655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5806440" y="196900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943600" y="196900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Sofie en haar man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960120" y="251383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097280" y="251383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Karim et sa sœur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4754880" y="251383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5257800" y="273138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5806440" y="251383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943600" y="251383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Karim en zijn zus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960120" y="305866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97280" y="305866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Cette maison est grande.</a:t>
            </a:r>
            <a:endParaRPr lang="en-US" sz="1700" dirty="0"/>
          </a:p>
        </p:txBody>
      </p:sp>
      <p:sp>
        <p:nvSpPr>
          <p:cNvPr id="29" name="Text 25"/>
          <p:cNvSpPr txBox="1"/>
          <p:nvPr/>
        </p:nvSpPr>
        <p:spPr>
          <a:xfrm>
            <a:off x="4754880" y="305866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5257800" y="327621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5806440" y="305866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943600" y="305866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Dit huis is groot.</a:t>
            </a:r>
            <a:endParaRPr lang="en-US" sz="1800" dirty="0"/>
          </a:p>
        </p:txBody>
      </p:sp>
      <p:sp>
        <p:nvSpPr>
          <p:cNvPr id="33" name="Text 29"/>
          <p:cNvSpPr txBox="1"/>
          <p:nvPr/>
        </p:nvSpPr>
        <p:spPr>
          <a:xfrm>
            <a:off x="9326880" y="3058668"/>
            <a:ext cx="21945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Dat…</a:t>
            </a:r>
            <a:r>
              <a:rPr lang="en-US" sz="1300" dirty="0">
                <a:solidFill>
                  <a:schemeClr val="accent5"/>
                </a:solidFill>
              </a:rPr>
              <a:t> (plus loin)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960120" y="360349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1097280" y="360349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sont mes collègues.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257800" y="382104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9" name="Shape 35"/>
          <p:cNvSpPr/>
          <p:nvPr/>
        </p:nvSpPr>
        <p:spPr>
          <a:xfrm>
            <a:off x="5806440" y="360349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943600" y="360349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Dit zijn mijn collega’s.</a:t>
            </a:r>
            <a:endParaRPr lang="en-US" sz="1800" dirty="0"/>
          </a:p>
        </p:txBody>
      </p:sp>
      <p:sp>
        <p:nvSpPr>
          <p:cNvPr id="41" name="Text 37"/>
          <p:cNvSpPr txBox="1"/>
          <p:nvPr/>
        </p:nvSpPr>
        <p:spPr>
          <a:xfrm>
            <a:off x="9326880" y="3603498"/>
            <a:ext cx="21945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Dat…</a:t>
            </a:r>
            <a:r>
              <a:rPr lang="en-US" sz="1300" dirty="0">
                <a:solidFill>
                  <a:schemeClr val="accent5"/>
                </a:solidFill>
              </a:rPr>
              <a:t> (plus loin)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4" name="Shape 40"/>
          <p:cNvSpPr/>
          <p:nvPr/>
        </p:nvSpPr>
        <p:spPr>
          <a:xfrm>
            <a:off x="960120" y="414832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1097280" y="414832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Monsieur, votre café !</a:t>
            </a:r>
            <a:endParaRPr lang="en-US" sz="1700" dirty="0"/>
          </a:p>
        </p:txBody>
      </p:sp>
      <p:sp>
        <p:nvSpPr>
          <p:cNvPr id="46" name="Text 42"/>
          <p:cNvSpPr txBox="1"/>
          <p:nvPr/>
        </p:nvSpPr>
        <p:spPr>
          <a:xfrm>
            <a:off x="4754880" y="414832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47" name="Shape 43"/>
          <p:cNvSpPr/>
          <p:nvPr/>
        </p:nvSpPr>
        <p:spPr>
          <a:xfrm>
            <a:off x="5257800" y="436587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8" name="Shape 44"/>
          <p:cNvSpPr/>
          <p:nvPr/>
        </p:nvSpPr>
        <p:spPr>
          <a:xfrm>
            <a:off x="5806440" y="414832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943600" y="414832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Meneer, uw koffie!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>
            <a:off x="960120" y="469315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1097280" y="469315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Ils cherchent leur voiture.</a:t>
            </a:r>
            <a:endParaRPr lang="en-US" sz="1700" dirty="0"/>
          </a:p>
        </p:txBody>
      </p:sp>
      <p:sp>
        <p:nvSpPr>
          <p:cNvPr id="54" name="Shape 50"/>
          <p:cNvSpPr/>
          <p:nvPr/>
        </p:nvSpPr>
        <p:spPr>
          <a:xfrm>
            <a:off x="5257800" y="491070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5806440" y="469315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5943600" y="469315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Ze zoeken hun auto.</a:t>
            </a:r>
            <a:endParaRPr lang="en-US" sz="1800" dirty="0"/>
          </a:p>
        </p:txBody>
      </p:sp>
      <p:sp>
        <p:nvSpPr>
          <p:cNvPr id="57" name="Shape 53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9" name="Shape 55"/>
          <p:cNvSpPr/>
          <p:nvPr/>
        </p:nvSpPr>
        <p:spPr>
          <a:xfrm>
            <a:off x="960120" y="523798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1097280" y="523798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stylo est à moi.</a:t>
            </a:r>
            <a:endParaRPr lang="en-US" sz="1700" dirty="0"/>
          </a:p>
        </p:txBody>
      </p:sp>
      <p:sp>
        <p:nvSpPr>
          <p:cNvPr id="61" name="Shape 57"/>
          <p:cNvSpPr/>
          <p:nvPr/>
        </p:nvSpPr>
        <p:spPr>
          <a:xfrm>
            <a:off x="5257800" y="545553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2" name="Shape 58"/>
          <p:cNvSpPr/>
          <p:nvPr/>
        </p:nvSpPr>
        <p:spPr>
          <a:xfrm>
            <a:off x="5806440" y="523798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5943600" y="523798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Deze pen is van mij.</a:t>
            </a:r>
            <a:endParaRPr lang="en-US" sz="1800" dirty="0"/>
          </a:p>
        </p:txBody>
      </p:sp>
      <p:sp>
        <p:nvSpPr>
          <p:cNvPr id="64" name="Text 60"/>
          <p:cNvSpPr txBox="1"/>
          <p:nvPr/>
        </p:nvSpPr>
        <p:spPr>
          <a:xfrm>
            <a:off x="9326880" y="5237988"/>
            <a:ext cx="21945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Die…</a:t>
            </a:r>
            <a:r>
              <a:rPr lang="en-US" sz="1300" dirty="0">
                <a:solidFill>
                  <a:schemeClr val="accent5"/>
                </a:solidFill>
              </a:rPr>
              <a:t> (plus loin)</a:t>
            </a:r>
            <a:endParaRPr lang="en-US" sz="1300" dirty="0"/>
          </a:p>
        </p:txBody>
      </p:sp>
      <p:sp>
        <p:nvSpPr>
          <p:cNvPr id="65" name="Shape 61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67" name="Shape 63"/>
          <p:cNvSpPr/>
          <p:nvPr/>
        </p:nvSpPr>
        <p:spPr>
          <a:xfrm>
            <a:off x="960120" y="578281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1097280" y="578281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C’est notre entreprise.</a:t>
            </a:r>
            <a:endParaRPr lang="en-US" sz="1700" dirty="0"/>
          </a:p>
        </p:txBody>
      </p:sp>
      <p:sp>
        <p:nvSpPr>
          <p:cNvPr id="69" name="Shape 65"/>
          <p:cNvSpPr/>
          <p:nvPr/>
        </p:nvSpPr>
        <p:spPr>
          <a:xfrm>
            <a:off x="5257800" y="600036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0" name="Shape 66"/>
          <p:cNvSpPr/>
          <p:nvPr/>
        </p:nvSpPr>
        <p:spPr>
          <a:xfrm>
            <a:off x="5806440" y="578281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5943600" y="578281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Dit is ons bedrijf.</a:t>
            </a:r>
            <a:endParaRPr lang="en-US" sz="1800" dirty="0"/>
          </a:p>
        </p:txBody>
      </p:sp>
      <p:sp>
        <p:nvSpPr>
          <p:cNvPr id="72" name="Text 68"/>
          <p:cNvSpPr txBox="1"/>
          <p:nvPr/>
        </p:nvSpPr>
        <p:spPr>
          <a:xfrm>
            <a:off x="9326880" y="5782818"/>
            <a:ext cx="21945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Dat…</a:t>
            </a:r>
            <a:r>
              <a:rPr lang="en-US" sz="1300" dirty="0">
                <a:solidFill>
                  <a:schemeClr val="accent5"/>
                </a:solidFill>
              </a:rPr>
              <a:t> (plus loin)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écrit à l’équipe.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team · Onderwerp: teamdag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Hoi allemaal! Vrijdag is onze teamdag. An komt met </a:t>
            </a:r>
            <a:r>
              <a:rPr lang="en-US" sz="2100" i="1" dirty="0">
                <a:solidFill>
                  <a:schemeClr val="tx1"/>
                </a:solidFill>
              </a:rPr>
              <a:t>zijn</a:t>
            </a:r>
            <a:r>
              <a:rPr lang="en-US" sz="2100" i="1" dirty="0">
                <a:solidFill>
                  <a:schemeClr val="tx1"/>
                </a:solidFill>
              </a:rPr>
              <a:t> man en Karim komt met </a:t>
            </a:r>
            <a:r>
              <a:rPr lang="en-US" sz="2100" i="1" dirty="0">
                <a:solidFill>
                  <a:schemeClr val="tx1"/>
                </a:solidFill>
              </a:rPr>
              <a:t>haar</a:t>
            </a:r>
            <a:r>
              <a:rPr lang="en-US" sz="2100" i="1" dirty="0">
                <a:solidFill>
                  <a:schemeClr val="tx1"/>
                </a:solidFill>
              </a:rPr>
              <a:t> vrouw. We vertrekken om 9 uur bij </a:t>
            </a:r>
            <a:r>
              <a:rPr lang="en-US" sz="2100" i="1" dirty="0">
                <a:solidFill>
                  <a:schemeClr val="tx1"/>
                </a:solidFill>
              </a:rPr>
              <a:t>onze</a:t>
            </a:r>
            <a:r>
              <a:rPr lang="en-US" sz="2100" i="1" dirty="0">
                <a:solidFill>
                  <a:schemeClr val="tx1"/>
                </a:solidFill>
              </a:rPr>
              <a:t> kantoor. </a:t>
            </a:r>
            <a:r>
              <a:rPr lang="en-US" sz="2100" i="1" dirty="0">
                <a:solidFill>
                  <a:schemeClr val="tx1"/>
                </a:solidFill>
              </a:rPr>
              <a:t>Deze</a:t>
            </a:r>
            <a:r>
              <a:rPr lang="en-US" sz="2100" i="1" dirty="0">
                <a:solidFill>
                  <a:schemeClr val="tx1"/>
                </a:solidFill>
              </a:rPr>
              <a:t> programma zit in de bijlage. De collega’s van marketing komen ook, maar </a:t>
            </a:r>
            <a:r>
              <a:rPr lang="en-US" sz="2100" i="1" dirty="0">
                <a:solidFill>
                  <a:schemeClr val="tx1"/>
                </a:solidFill>
              </a:rPr>
              <a:t>hun</a:t>
            </a:r>
            <a:r>
              <a:rPr lang="en-US" sz="2100" i="1" dirty="0">
                <a:solidFill>
                  <a:schemeClr val="tx1"/>
                </a:solidFill>
              </a:rPr>
              <a:t> nemen de trein. Neem jullie badge mee! Groetjes, Sofie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écrit à l’équipe.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team · Onderwerp: teamdag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Hoi allemaal! Vrijdag is onze teamdag. An komt met </a:t>
            </a:r>
            <a:r>
              <a:rPr lang="en-US" sz="2100" i="1" strike="sngStrike" dirty="0">
                <a:solidFill>
                  <a:schemeClr val="accent6"/>
                </a:solidFill>
              </a:rPr>
              <a:t>zijn</a:t>
            </a:r>
            <a:r>
              <a:rPr lang="en-US" sz="2100" b="1" i="1" dirty="0">
                <a:solidFill>
                  <a:schemeClr val="accent3"/>
                </a:solidFill>
              </a:rPr>
              <a:t> haar</a:t>
            </a:r>
            <a:r>
              <a:rPr lang="en-US" sz="2100" i="1" dirty="0">
                <a:solidFill>
                  <a:schemeClr val="tx1"/>
                </a:solidFill>
              </a:rPr>
              <a:t> man en Karim komt met </a:t>
            </a:r>
            <a:r>
              <a:rPr lang="en-US" sz="2100" i="1" strike="sngStrike" dirty="0">
                <a:solidFill>
                  <a:schemeClr val="accent6"/>
                </a:solidFill>
              </a:rPr>
              <a:t>haar</a:t>
            </a:r>
            <a:r>
              <a:rPr lang="en-US" sz="2100" b="1" i="1" dirty="0">
                <a:solidFill>
                  <a:schemeClr val="accent3"/>
                </a:solidFill>
              </a:rPr>
              <a:t> zijn</a:t>
            </a:r>
            <a:r>
              <a:rPr lang="en-US" sz="2100" i="1" dirty="0">
                <a:solidFill>
                  <a:schemeClr val="tx1"/>
                </a:solidFill>
              </a:rPr>
              <a:t> vrouw. We vertrekken om 9 uur bij </a:t>
            </a:r>
            <a:r>
              <a:rPr lang="en-US" sz="2100" i="1" strike="sngStrike" dirty="0">
                <a:solidFill>
                  <a:schemeClr val="accent6"/>
                </a:solidFill>
              </a:rPr>
              <a:t>onze</a:t>
            </a:r>
            <a:r>
              <a:rPr lang="en-US" sz="2100" b="1" i="1" dirty="0">
                <a:solidFill>
                  <a:schemeClr val="accent3"/>
                </a:solidFill>
              </a:rPr>
              <a:t> ons</a:t>
            </a:r>
            <a:r>
              <a:rPr lang="en-US" sz="2100" i="1" dirty="0">
                <a:solidFill>
                  <a:schemeClr val="tx1"/>
                </a:solidFill>
              </a:rPr>
              <a:t> kantoor. </a:t>
            </a:r>
            <a:r>
              <a:rPr lang="en-US" sz="2100" i="1" strike="sngStrike" dirty="0">
                <a:solidFill>
                  <a:schemeClr val="accent6"/>
                </a:solidFill>
              </a:rPr>
              <a:t>Deze</a:t>
            </a:r>
            <a:r>
              <a:rPr lang="en-US" sz="2100" b="1" i="1" dirty="0">
                <a:solidFill>
                  <a:schemeClr val="accent3"/>
                </a:solidFill>
              </a:rPr>
              <a:t> Dit</a:t>
            </a:r>
            <a:r>
              <a:rPr lang="en-US" sz="2100" i="1" dirty="0">
                <a:solidFill>
                  <a:schemeClr val="tx1"/>
                </a:solidFill>
              </a:rPr>
              <a:t> programma zit in de bijlage. De collega’s van marketing komen ook, maar </a:t>
            </a:r>
            <a:r>
              <a:rPr lang="en-US" sz="2100" i="1" strike="sngStrike" dirty="0">
                <a:solidFill>
                  <a:schemeClr val="accent6"/>
                </a:solidFill>
              </a:rPr>
              <a:t>hun</a:t>
            </a:r>
            <a:r>
              <a:rPr lang="en-US" sz="2100" b="1" i="1" dirty="0">
                <a:solidFill>
                  <a:schemeClr val="accent3"/>
                </a:solidFill>
              </a:rPr>
              <a:t> zij</a:t>
            </a:r>
            <a:r>
              <a:rPr lang="en-US" sz="2100" i="1" dirty="0">
                <a:solidFill>
                  <a:schemeClr val="tx1"/>
                </a:solidFill>
              </a:rPr>
              <a:t> nemen de trein. Neem jullie badge mee! Groetjes, Sofie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onze teamdag</a:t>
            </a:r>
            <a:r>
              <a:rPr lang="en-US" sz="1400" i="1" dirty="0">
                <a:solidFill>
                  <a:schemeClr val="accent5"/>
                </a:solidFill>
              </a:rPr>
              <a:t> (</a:t>
            </a:r>
            <a:r>
              <a:rPr lang="en-US" sz="1400" i="1" dirty="0">
                <a:solidFill>
                  <a:schemeClr val="accent5"/>
                </a:solidFill>
              </a:rPr>
              <a:t>de</a:t>
            </a:r>
            <a:r>
              <a:rPr lang="en-US" sz="1400" i="1" dirty="0">
                <a:solidFill>
                  <a:schemeClr val="accent5"/>
                </a:solidFill>
              </a:rPr>
              <a:t>) · </a:t>
            </a:r>
            <a:r>
              <a:rPr lang="en-US" sz="1400" i="1" dirty="0">
                <a:solidFill>
                  <a:schemeClr val="accent5"/>
                </a:solidFill>
              </a:rPr>
              <a:t>Neem jullie badge mee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Les objets trouvés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pack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11680"/>
            <a:ext cx="3108960" cy="3108960"/>
          </a:xfrm>
          <a:prstGeom prst="rect">
            <a:avLst/>
          </a:prstGeom>
        </p:spPr>
      </p:pic>
      <p:pic>
        <p:nvPicPr>
          <p:cNvPr id="7" name="Image 1" descr="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731520" cy="731520"/>
          </a:xfrm>
          <a:prstGeom prst="rect">
            <a:avLst/>
          </a:prstGeom>
        </p:spPr>
      </p:pic>
      <p:pic>
        <p:nvPicPr>
          <p:cNvPr id="8" name="Image 2" descr="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1554480"/>
            <a:ext cx="731520" cy="731520"/>
          </a:xfrm>
          <a:prstGeom prst="rect">
            <a:avLst/>
          </a:prstGeom>
        </p:spPr>
      </p:pic>
      <p:pic>
        <p:nvPicPr>
          <p:cNvPr id="9" name="Image 3" descr="glass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1645920"/>
            <a:ext cx="731520" cy="731520"/>
          </a:xfrm>
          <a:prstGeom prst="rect">
            <a:avLst/>
          </a:prstGeom>
        </p:spPr>
      </p:pic>
      <p:pic>
        <p:nvPicPr>
          <p:cNvPr id="10" name="Image 4" descr="mobile pho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7520" y="2743200"/>
            <a:ext cx="731520" cy="731520"/>
          </a:xfrm>
          <a:prstGeom prst="rect">
            <a:avLst/>
          </a:prstGeom>
        </p:spPr>
      </p:pic>
      <p:pic>
        <p:nvPicPr>
          <p:cNvPr id="11" name="Image 5" descr="scarf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2834640"/>
            <a:ext cx="731520" cy="731520"/>
          </a:xfrm>
          <a:prstGeom prst="rect">
            <a:avLst/>
          </a:prstGeom>
        </p:spPr>
      </p:pic>
      <p:sp>
        <p:nvSpPr>
          <p:cNvPr id="12" name="Text 3"/>
          <p:cNvSpPr txBox="1"/>
          <p:nvPr/>
        </p:nvSpPr>
        <p:spPr>
          <a:xfrm>
            <a:off x="4206240" y="1600200"/>
            <a:ext cx="74340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1.</a:t>
            </a:r>
            <a:r>
              <a:rPr lang="en-US" sz="1800" dirty="0">
                <a:solidFill>
                  <a:schemeClr val="tx1"/>
                </a:solidFill>
              </a:rPr>
              <a:t> Chacun dépose un objet dans la boîte, en secret.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2.</a:t>
            </a:r>
            <a:r>
              <a:rPr lang="en-US" sz="1800" dirty="0">
                <a:solidFill>
                  <a:schemeClr val="tx1"/>
                </a:solidFill>
              </a:rPr>
              <a:t> On tire un objet et on demande à qui il est.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3.</a:t>
            </a:r>
            <a:r>
              <a:rPr lang="en-US" sz="1800" dirty="0">
                <a:solidFill>
                  <a:schemeClr val="tx1"/>
                </a:solidFill>
              </a:rPr>
              <a:t> On répond avec un possessif et </a:t>
            </a:r>
            <a:r>
              <a:rPr lang="en-US" sz="1800" i="1" dirty="0">
                <a:solidFill>
                  <a:schemeClr val="tx1"/>
                </a:solidFill>
              </a:rPr>
              <a:t>van</a:t>
            </a:r>
            <a:r>
              <a:rPr lang="en-US" sz="1800" dirty="0">
                <a:solidFill>
                  <a:schemeClr val="tx1"/>
                </a:solidFill>
              </a:rPr>
              <a:t> + pronom.</a:t>
            </a:r>
            <a:endParaRPr lang="en-US" sz="1800" dirty="0"/>
          </a:p>
        </p:txBody>
      </p:sp>
      <p:sp>
        <p:nvSpPr>
          <p:cNvPr id="13" name="Shape 4"/>
          <p:cNvSpPr/>
          <p:nvPr/>
        </p:nvSpPr>
        <p:spPr>
          <a:xfrm>
            <a:off x="4206240" y="3520440"/>
            <a:ext cx="7434072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4" name="Text 5"/>
          <p:cNvSpPr txBox="1"/>
          <p:nvPr/>
        </p:nvSpPr>
        <p:spPr>
          <a:xfrm>
            <a:off x="4370832" y="3520440"/>
            <a:ext cx="71048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Van wie is </a:t>
            </a:r>
            <a:r>
              <a:rPr lang="en-US" sz="1900" b="1" i="1" dirty="0">
                <a:solidFill>
                  <a:schemeClr val="tx1"/>
                </a:solidFill>
              </a:rPr>
              <a:t>deze</a:t>
            </a:r>
            <a:r>
              <a:rPr lang="en-US" sz="1900" i="1" dirty="0">
                <a:solidFill>
                  <a:schemeClr val="tx1"/>
                </a:solidFill>
              </a:rPr>
              <a:t> sleutel? · Is </a:t>
            </a:r>
            <a:r>
              <a:rPr lang="en-US" sz="1900" b="1" i="1" dirty="0">
                <a:solidFill>
                  <a:schemeClr val="tx1"/>
                </a:solidFill>
              </a:rPr>
              <a:t>dit</a:t>
            </a:r>
            <a:r>
              <a:rPr lang="en-US" sz="1900" i="1" dirty="0">
                <a:solidFill>
                  <a:schemeClr val="tx1"/>
                </a:solidFill>
              </a:rPr>
              <a:t> jouw pen?</a:t>
            </a:r>
            <a:endParaRPr lang="en-US" sz="1900" dirty="0"/>
          </a:p>
        </p:txBody>
      </p:sp>
      <p:sp>
        <p:nvSpPr>
          <p:cNvPr id="15" name="Shape 6"/>
          <p:cNvSpPr/>
          <p:nvPr/>
        </p:nvSpPr>
        <p:spPr>
          <a:xfrm>
            <a:off x="4206240" y="4434840"/>
            <a:ext cx="7434072" cy="1005840"/>
          </a:xfrm>
          <a:prstGeom prst="roundRect">
            <a:avLst>
              <a:gd name="adj" fmla="val 16364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7"/>
          <p:cNvSpPr txBox="1"/>
          <p:nvPr/>
        </p:nvSpPr>
        <p:spPr>
          <a:xfrm>
            <a:off x="4370832" y="4434840"/>
            <a:ext cx="71048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Ja, </a:t>
            </a:r>
            <a:r>
              <a:rPr lang="en-US" sz="1900" b="1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is </a:t>
            </a:r>
            <a:r>
              <a:rPr lang="en-US" sz="1900" b="1" i="1" dirty="0">
                <a:solidFill>
                  <a:schemeClr val="tx1"/>
                </a:solidFill>
              </a:rPr>
              <a:t>van mij</a:t>
            </a:r>
            <a:r>
              <a:rPr lang="en-US" sz="1900" i="1" dirty="0">
                <a:solidFill>
                  <a:schemeClr val="tx1"/>
                </a:solidFill>
              </a:rPr>
              <a:t>! · Nee, dat is niet </a:t>
            </a:r>
            <a:r>
              <a:rPr lang="en-US" sz="1900" b="1" i="1" dirty="0">
                <a:solidFill>
                  <a:schemeClr val="tx1"/>
                </a:solidFill>
              </a:rPr>
              <a:t>mijn</a:t>
            </a:r>
            <a:r>
              <a:rPr lang="en-US" sz="1900" i="1" dirty="0">
                <a:solidFill>
                  <a:schemeClr val="tx1"/>
                </a:solidFill>
              </a:rPr>
              <a:t> pen. </a:t>
            </a:r>
            <a:r>
              <a:rPr lang="en-US" sz="1900" b="1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is van Karim, denk ik.</a:t>
            </a:r>
            <a:endParaRPr lang="en-US" sz="1900" dirty="0"/>
          </a:p>
        </p:txBody>
      </p:sp>
      <p:sp>
        <p:nvSpPr>
          <p:cNvPr id="17" name="Text 8"/>
          <p:cNvSpPr txBox="1"/>
          <p:nvPr/>
        </p:nvSpPr>
        <p:spPr>
          <a:xfrm>
            <a:off x="4206240" y="5623560"/>
            <a:ext cx="7434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Variante : devinez le propriétaire — </a:t>
            </a:r>
            <a:r>
              <a:rPr lang="en-US" sz="1500" i="1" dirty="0">
                <a:solidFill>
                  <a:schemeClr val="accent5"/>
                </a:solidFill>
              </a:rPr>
              <a:t>Ik denk dat dit de bril van Sofie is.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L’album photo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À la pause, Karim montre des photos de famille à Sofie sur son téléphone.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présentez votre famille : </a:t>
            </a:r>
            <a:r>
              <a:rPr lang="en-US" sz="1700" i="1" dirty="0">
                <a:solidFill>
                  <a:schemeClr val="tx1"/>
                </a:solidFill>
              </a:rPr>
              <a:t>Dit is mijn vrouw. Dat zijn onze kinderen.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posez des questions : </a:t>
            </a:r>
            <a:r>
              <a:rPr lang="en-US" sz="1700" i="1" dirty="0">
                <a:solidFill>
                  <a:schemeClr val="tx1"/>
                </a:solidFill>
              </a:rPr>
              <a:t>Wie is dat? Is dat jouw zus? Hoe heten hun kinderen?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Dit is mijn vrouw, Leila. · Dat zijn onze kinderen. · Die man links is mijn broer. · Zijn vrouw heet Nora. · Wie is dat? · Is dat jouw zus? · Hoe heten hun kinderen?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DE FAMILIE VAN KARIM</a:t>
            </a:r>
            <a:endParaRPr lang="en-US" sz="1200" dirty="0"/>
          </a:p>
        </p:txBody>
      </p:sp>
      <p:pic>
        <p:nvPicPr>
          <p:cNvPr id="22" name="Image 0" descr="man white hai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88552" y="2167128"/>
            <a:ext cx="548640" cy="54864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8714232" y="2715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vader</a:t>
            </a:r>
            <a:endParaRPr lang="en-US" sz="1000" dirty="0"/>
          </a:p>
        </p:txBody>
      </p:sp>
      <p:pic>
        <p:nvPicPr>
          <p:cNvPr id="24" name="Image 1" descr="woman white h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7272" y="2167128"/>
            <a:ext cx="548640" cy="54864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9902952" y="2715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moeder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9537192" y="2441448"/>
            <a:ext cx="64008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9857232" y="2441448"/>
            <a:ext cx="914" cy="7315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8577072" y="3172968"/>
            <a:ext cx="256032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pic>
        <p:nvPicPr>
          <p:cNvPr id="29" name="Image 2" descr="man be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2752" y="3310128"/>
            <a:ext cx="548640" cy="54864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028432" y="3858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broer</a:t>
            </a:r>
            <a:endParaRPr lang="en-US" sz="1000" dirty="0"/>
          </a:p>
        </p:txBody>
      </p:sp>
      <p:pic>
        <p:nvPicPr>
          <p:cNvPr id="31" name="Image 3" descr="man office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2912" y="3310128"/>
            <a:ext cx="548640" cy="54864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9308592" y="3858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Karim</a:t>
            </a:r>
            <a:endParaRPr lang="en-US" sz="1000" dirty="0"/>
          </a:p>
        </p:txBody>
      </p:sp>
      <p:pic>
        <p:nvPicPr>
          <p:cNvPr id="33" name="Image 4" descr="woman red hai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3072" y="3310128"/>
            <a:ext cx="548640" cy="54864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10588752" y="3858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zus</a:t>
            </a:r>
            <a:endParaRPr lang="en-US" sz="1000" dirty="0"/>
          </a:p>
        </p:txBody>
      </p:sp>
      <p:pic>
        <p:nvPicPr>
          <p:cNvPr id="35" name="Image 5" descr="woman with headscarf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82912" y="4361688"/>
            <a:ext cx="548640" cy="54864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9308592" y="49103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Leila</a:t>
            </a:r>
            <a:endParaRPr lang="en-US" sz="1000" dirty="0"/>
          </a:p>
        </p:txBody>
      </p:sp>
      <p:sp>
        <p:nvSpPr>
          <p:cNvPr id="37" name="Shape 28"/>
          <p:cNvSpPr/>
          <p:nvPr/>
        </p:nvSpPr>
        <p:spPr>
          <a:xfrm>
            <a:off x="9857232" y="4133088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8" name="Shape 29"/>
          <p:cNvSpPr/>
          <p:nvPr/>
        </p:nvSpPr>
        <p:spPr>
          <a:xfrm>
            <a:off x="9857232" y="5184648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pic>
        <p:nvPicPr>
          <p:cNvPr id="39" name="Image 6" descr="bo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88552" y="5413248"/>
            <a:ext cx="548640" cy="548640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8714232" y="59618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Adam</a:t>
            </a:r>
            <a:endParaRPr lang="en-US" sz="1000" dirty="0"/>
          </a:p>
        </p:txBody>
      </p:sp>
      <p:pic>
        <p:nvPicPr>
          <p:cNvPr id="41" name="Image 7" descr="gir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77272" y="5413248"/>
            <a:ext cx="548640" cy="548640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9902952" y="59618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Lina</a:t>
            </a:r>
            <a:endParaRPr lang="en-US" sz="1000" dirty="0"/>
          </a:p>
        </p:txBody>
      </p:sp>
      <p:sp>
        <p:nvSpPr>
          <p:cNvPr id="43" name="Shape 32"/>
          <p:cNvSpPr/>
          <p:nvPr/>
        </p:nvSpPr>
        <p:spPr>
          <a:xfrm>
            <a:off x="9262872" y="5413248"/>
            <a:ext cx="118872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Sofie et son frère ».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ons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onze</a:t>
            </a:r>
            <a:r>
              <a:rPr lang="en-US" sz="2000" dirty="0">
                <a:solidFill>
                  <a:schemeClr val="tx1"/>
                </a:solidFill>
              </a:rPr>
              <a:t> : …… </a:t>
            </a:r>
            <a:r>
              <a:rPr lang="en-US" sz="2000" i="1" dirty="0">
                <a:solidFill>
                  <a:schemeClr val="tx1"/>
                </a:solidFill>
              </a:rPr>
              <a:t>kantoor</a:t>
            </a:r>
            <a:r>
              <a:rPr lang="en-US" sz="2000" dirty="0">
                <a:solidFill>
                  <a:schemeClr val="tx1"/>
                </a:solidFill>
              </a:rPr>
              <a:t> · …… </a:t>
            </a:r>
            <a:r>
              <a:rPr lang="en-US" sz="2000" i="1" dirty="0">
                <a:solidFill>
                  <a:schemeClr val="tx1"/>
                </a:solidFill>
              </a:rPr>
              <a:t>klanten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deze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dit</a:t>
            </a:r>
            <a:r>
              <a:rPr lang="en-US" sz="2000" dirty="0">
                <a:solidFill>
                  <a:schemeClr val="tx1"/>
                </a:solidFill>
              </a:rPr>
              <a:t> (proche) : …… </a:t>
            </a:r>
            <a:r>
              <a:rPr lang="en-US" sz="2000" i="1" dirty="0">
                <a:solidFill>
                  <a:schemeClr val="tx1"/>
                </a:solidFill>
              </a:rPr>
              <a:t>huis</a:t>
            </a:r>
            <a:r>
              <a:rPr lang="en-US" sz="2000" dirty="0">
                <a:solidFill>
                  <a:schemeClr val="tx1"/>
                </a:solidFill>
              </a:rPr>
              <a:t> · …… </a:t>
            </a:r>
            <a:r>
              <a:rPr lang="en-US" sz="2000" i="1" dirty="0">
                <a:solidFill>
                  <a:schemeClr val="tx1"/>
                </a:solidFill>
              </a:rPr>
              <a:t>stoel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Posséder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Montrer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Demander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Hom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Groot of grote?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een groot huis, de grote auto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20 — Van wie is dit? — Possessifs et démonstratifs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2026-10-04T18:33:16Z</dcterms:created>
  <dcterms:modified xsi:type="dcterms:W3CDTF">2026-10-04T18:33:16Z</dcterms:modified>
</cp:coreProperties>
</file>