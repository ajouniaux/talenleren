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be2c599e-0303-323a-5313-5633a78f0931}">
          <p14:sldIdLst>
            <p14:sldId id="256"/>
          </p14:sldIdLst>
        </p14:section>
        <p14:section name="Découvrir" id="{4e63dd44-ce20-95ae-82c2-cd9077ada3cb}">
          <p14:sldIdLst>
            <p14:sldId id="257"/>
            <p14:sldId id="258"/>
          </p14:sldIdLst>
        </p14:section>
        <p14:section name="Comprendre" id="{74938bc4-b8e6-10c3-48e8-51d1db25ad6a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02c2f8ba-f803-de25-de7f-a459dd5685b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54051b4f-85c9-194b-de42-25528facab89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à qui est-ce ? Lequel ?
Ramassez trois objets dans la classe et montrez-les : « À qui est-ce ? » Faites répondre en français, puis annoncez l'objectif : le dire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on parle sans cesse de « mon dossier, votre rendez-vous, cette salle ». Ce module donne ces petits mots,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formes dans un mini-dialogue.
Faites relever les petits mots devant les noms : deze, dit, die (montrer) et jouw, mijn (posséder). de bril = les lunettes (un singulier en néerlandais,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possessifs, en parallèle avec les pronoms personnels (M2).
Une seule forme par personne (sauf ons / onze) : pas d'accord avec le nom, contrairement au français (mon / ma / mes). Les formes courtes sont pour l'oral et les messages informels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zijn ou haar selon le possesseur, pas selon l'objet.
En français, « son / sa » s'accorde avec l'objet (son frère, sa femme). En néerlandais, on regarde le possesseur : un homme → zijn, une femme → haar. Faites la question-réflexe : « à lui ou à elle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ons ou onze selon de / het (M5).
C'est le seul possessif qui change. Même logique que l'adjectif (M21) : la forme sans -e ne va qu'avec un mot het au singulier. Dans le doute, vérifiez l'article 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votre » et « leur » selon la situation.
uw = une personne vouvoyée (M8) ; jullie = plusieurs personnes. Erreur entendue aux Pays-Bas : Hun hebben… au lieu de Zij hebben… ; dans la langue standard, hun n'est jamais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m'n, je, z'n, d'r à l'oral et dans les messages informels.
À reconnaître, pas à produire à l'écrit. je = « ton » (non accentué) : Waar is je jas? La forme pleine sert à contraster : Niet míjn pen, jóuw pen!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Le français dit « ce, cette, ces » et ajoute « -ci / -là ». Le néerlandais intègre la distance dans le mot. Au pluriel, toujours deze / die, même pour un mot het (deze huizen).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pas suivre le genre français.
Masculin ou féminin en français ne dit rien sur de / het. On regarde l'article du mot néerlandais (M5). Réflexe : de → deze, het → dit, pluriel → deze.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dit / dat seuls pour présenter (« c'est », « ce sont »).
Pour présenter, dit / dat ne change pas, même pour une personne ou un pluriel : c'est le verbe qui s'accorde. die seul (= « celui-là, celle-là ») est très fréquent à l'oral :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à qui appartient un objet sans répéter le nom.
van + pronom objet (mij, jou, hem, haar…) = « à moi, à toi ». À l'oral, on entend aussi van hun (à la place de van hen). de mijne / het mijne (le mien) :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à qui est un objet, à l'oral.
Exigez le bon démonstratif (deze / dit) et un possessif dans la réponse. Variante : on devine le propriétaire (Ik denk dat dit de bril van Sofie 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sa famille ou son équipe sur une photo.
Ensuite, chacun présente sa propre famille (ou son équipe) avec une photo réelle ou dessinée. Insistez sur zijn / haar : Mijn zus en haar man…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Sofie en haar broer.
2. ons kantoor · onze klanten.
3. dit huis · deze stoel.
Teaser M21 : een groot huis, de grote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png"/><Relationship Id="rId17" Type="http://schemas.openxmlformats.org/officeDocument/2006/relationships/image" Target="../media/image-20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Van wie is dit?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Possessifs et démonstratifs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Is dit jouw pen? — Nee, die is van Sofie.</a:t>
            </a:r>
            <a:endParaRPr lang="en-US" sz="2000" dirty="0"/>
          </a:p>
        </p:txBody>
      </p:sp>
      <p:pic>
        <p:nvPicPr>
          <p:cNvPr id="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097280"/>
            <a:ext cx="2377440" cy="2377440"/>
          </a:xfrm>
          <a:prstGeom prst="rect">
            <a:avLst/>
          </a:prstGeom>
        </p:spPr>
      </p:pic>
      <p:pic>
        <p:nvPicPr>
          <p:cNvPr id="6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77240"/>
            <a:ext cx="914400" cy="914400"/>
          </a:xfrm>
          <a:prstGeom prst="rect">
            <a:avLst/>
          </a:prstGeom>
        </p:spPr>
      </p:pic>
      <p:pic>
        <p:nvPicPr>
          <p:cNvPr id="7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731520"/>
            <a:ext cx="731520" cy="731520"/>
          </a:xfrm>
          <a:prstGeom prst="rect">
            <a:avLst/>
          </a:prstGeom>
        </p:spPr>
      </p:pic>
      <p:pic>
        <p:nvPicPr>
          <p:cNvPr id="8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143000"/>
            <a:ext cx="731520" cy="7315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601200" y="18288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9601200" y="1828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Van wie?</a:t>
            </a:r>
            <a:endParaRPr lang="en-US" sz="2400" dirty="0"/>
          </a:p>
        </p:txBody>
      </p:sp>
      <p:sp>
        <p:nvSpPr>
          <p:cNvPr id="11" name="Shape 5"/>
          <p:cNvSpPr/>
          <p:nvPr/>
        </p:nvSpPr>
        <p:spPr>
          <a:xfrm>
            <a:off x="6355080" y="3794760"/>
            <a:ext cx="53035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55080" y="3794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jouw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pen?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Posséder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à qui est une chose : </a:t>
            </a:r>
            <a:r>
              <a:rPr lang="en-US" sz="2000" i="1" dirty="0">
                <a:solidFill>
                  <a:schemeClr val="tx1"/>
                </a:solidFill>
              </a:rPr>
              <a:t>mijn laptop, haar jas, ons kantoor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Montrer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montre : </a:t>
            </a:r>
            <a:r>
              <a:rPr lang="en-US" sz="2000" i="1" dirty="0">
                <a:solidFill>
                  <a:schemeClr val="tx1"/>
                </a:solidFill>
              </a:rPr>
              <a:t>deze stoel, dit bureau, die collega’s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: </a:t>
            </a:r>
            <a:r>
              <a:rPr lang="en-US" sz="2000" i="1" dirty="0">
                <a:solidFill>
                  <a:schemeClr val="tx1"/>
                </a:solidFill>
              </a:rPr>
              <a:t>Van wie is dit? — Van mij!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parle sans cesse de « mon dossier, votre rendez-vous, cette salle » : de tout petits mots, très fréquents.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FFDF5"/>
          </a:solidFill>
          <a:ln w="15875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5"/>
                </a:solidFill>
              </a:rPr>
              <a:t>GEVONDEN VOORWERPEN</a:t>
            </a:r>
            <a:endParaRPr lang="en-US" sz="1300" dirty="0"/>
          </a:p>
        </p:txBody>
      </p:sp>
      <p:pic>
        <p:nvPicPr>
          <p:cNvPr id="7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26080"/>
            <a:ext cx="2560320" cy="2560320"/>
          </a:xfrm>
          <a:prstGeom prst="rect">
            <a:avLst/>
          </a:prstGeom>
        </p:spPr>
      </p:pic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77240" cy="777240"/>
          </a:xfrm>
          <a:prstGeom prst="rect">
            <a:avLst/>
          </a:prstGeom>
        </p:spPr>
      </p:pic>
      <p:pic>
        <p:nvPicPr>
          <p:cNvPr id="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148840"/>
            <a:ext cx="777240" cy="777240"/>
          </a:xfrm>
          <a:prstGeom prst="rect">
            <a:avLst/>
          </a:prstGeom>
        </p:spPr>
      </p:pic>
      <p:pic>
        <p:nvPicPr>
          <p:cNvPr id="10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194560"/>
            <a:ext cx="777240" cy="777240"/>
          </a:xfrm>
          <a:prstGeom prst="rect">
            <a:avLst/>
          </a:prstGeom>
        </p:spPr>
      </p:pic>
      <p:pic>
        <p:nvPicPr>
          <p:cNvPr id="11" name="Image 4" descr="scar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2651760"/>
            <a:ext cx="777240" cy="77724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4389120" y="155448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4553712" y="155448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Van wie is </a:t>
            </a:r>
            <a:r>
              <a:rPr lang="en-US" sz="1700" b="1" i="1" dirty="0">
                <a:solidFill>
                  <a:schemeClr val="accent1"/>
                </a:solidFill>
              </a:rPr>
              <a:t>deze</a:t>
            </a:r>
            <a:r>
              <a:rPr lang="en-US" sz="1700" i="1" dirty="0">
                <a:solidFill>
                  <a:schemeClr val="tx1"/>
                </a:solidFill>
              </a:rPr>
              <a:t> paraplu?</a:t>
            </a:r>
            <a:endParaRPr lang="en-US" sz="1700" dirty="0"/>
          </a:p>
        </p:txBody>
      </p:sp>
      <p:sp>
        <p:nvSpPr>
          <p:cNvPr id="14" name="Shape 6"/>
          <p:cNvSpPr/>
          <p:nvPr/>
        </p:nvSpPr>
        <p:spPr>
          <a:xfrm>
            <a:off x="5120640" y="2340864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5285232" y="2340864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is van An.</a:t>
            </a:r>
            <a:endParaRPr lang="en-US" sz="1700" dirty="0"/>
          </a:p>
        </p:txBody>
      </p:sp>
      <p:sp>
        <p:nvSpPr>
          <p:cNvPr id="16" name="Shape 8"/>
          <p:cNvSpPr/>
          <p:nvPr/>
        </p:nvSpPr>
        <p:spPr>
          <a:xfrm>
            <a:off x="4389120" y="3127248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4553712" y="3127248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zijn </a:t>
            </a:r>
            <a:r>
              <a:rPr lang="en-US" sz="1700" b="1" i="1" dirty="0">
                <a:solidFill>
                  <a:schemeClr val="accent1"/>
                </a:solidFill>
              </a:rPr>
              <a:t>dit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sleutels?</a:t>
            </a:r>
            <a:endParaRPr lang="en-US" sz="1700" dirty="0"/>
          </a:p>
        </p:txBody>
      </p:sp>
      <p:sp>
        <p:nvSpPr>
          <p:cNvPr id="18" name="Shape 10"/>
          <p:cNvSpPr/>
          <p:nvPr/>
        </p:nvSpPr>
        <p:spPr>
          <a:xfrm>
            <a:off x="5120640" y="3913632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5285232" y="3913632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Ja! Dat zijn </a:t>
            </a:r>
            <a:r>
              <a:rPr lang="en-US" sz="1700" b="1" i="1" dirty="0">
                <a:solidFill>
                  <a:schemeClr val="accent2"/>
                </a:solidFill>
              </a:rPr>
              <a:t>mijn</a:t>
            </a:r>
            <a:r>
              <a:rPr lang="en-US" sz="1700" i="1" dirty="0">
                <a:solidFill>
                  <a:schemeClr val="tx1"/>
                </a:solidFill>
              </a:rPr>
              <a:t> sleutels. Dank je!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4389120" y="4700016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553712" y="4700016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bril? Is dat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bril?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120640" y="548640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285232" y="548640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Nee, dat is de bril van meneer Maes.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possessifs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7315200" cy="3657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pronom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possessif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49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français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ik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mijn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m’n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mon, ma, 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jij / je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jouw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343400" y="25146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2514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ton, ta, tes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0632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u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219456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</a:rPr>
              <a:t>uw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343400" y="3063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 (politesse)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61188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611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hij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zijn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4343400" y="3611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z’n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349240" y="3611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lui)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haar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34340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d’r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349240" y="4160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elle)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47091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09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wij / we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2194560" y="4709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ons / onze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343400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5349240" y="4709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notre, nos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52578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257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jullie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2194560" y="5257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jullie</a:t>
            </a:r>
            <a:endParaRPr lang="en-US" sz="2200" dirty="0"/>
          </a:p>
        </p:txBody>
      </p:sp>
      <p:sp>
        <p:nvSpPr>
          <p:cNvPr id="43" name="Text 40"/>
          <p:cNvSpPr txBox="1"/>
          <p:nvPr/>
        </p:nvSpPr>
        <p:spPr>
          <a:xfrm>
            <a:off x="4343400" y="5257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349240" y="5257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votre, vos (plusieurs)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8064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5800" y="5806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2194560" y="5806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hun</a:t>
            </a:r>
            <a:endParaRPr lang="en-US" sz="2200" dirty="0"/>
          </a:p>
        </p:txBody>
      </p:sp>
      <p:sp>
        <p:nvSpPr>
          <p:cNvPr id="48" name="Text 45"/>
          <p:cNvSpPr txBox="1"/>
          <p:nvPr/>
        </p:nvSpPr>
        <p:spPr>
          <a:xfrm>
            <a:off x="4343400" y="5806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349240" y="5806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leur, leurs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138160" y="1554480"/>
            <a:ext cx="3502152" cy="4389120"/>
          </a:xfrm>
          <a:prstGeom prst="roundRect">
            <a:avLst>
              <a:gd name="adj" fmla="val 26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832104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7103" y="1855135"/>
            <a:ext cx="294803" cy="294803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9034272" y="170078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Une seule forme</a:t>
            </a:r>
            <a:endParaRPr lang="en-US" sz="1900" dirty="0"/>
          </a:p>
        </p:txBody>
      </p:sp>
      <p:sp>
        <p:nvSpPr>
          <p:cNvPr id="54" name="Text 50"/>
          <p:cNvSpPr txBox="1"/>
          <p:nvPr/>
        </p:nvSpPr>
        <p:spPr>
          <a:xfrm>
            <a:off x="8339328" y="2423160"/>
            <a:ext cx="3099816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laptop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tas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boeken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FR : mon / ma / mes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Seul </a:t>
            </a:r>
            <a:r>
              <a:rPr lang="en-US" sz="1600" i="1" dirty="0">
                <a:solidFill>
                  <a:schemeClr val="tx1"/>
                </a:solidFill>
              </a:rPr>
              <a:t>ons / onze</a:t>
            </a:r>
            <a:r>
              <a:rPr lang="en-US" sz="1600" dirty="0">
                <a:solidFill>
                  <a:schemeClr val="tx1"/>
                </a:solidFill>
              </a:rPr>
              <a:t> change (diapo 6).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Formes courtes : l’oral (diapo 8).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son / sa — c’est le possesseur qui décide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son</a:t>
            </a:r>
            <a:r>
              <a:rPr lang="en-US" sz="1700" dirty="0">
                <a:solidFill>
                  <a:schemeClr val="tx1"/>
                </a:solidFill>
              </a:rPr>
              <a:t> frère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Sofie en zijn broer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broer</a:t>
            </a:r>
            <a:endParaRPr lang="en-US" sz="18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Karim et </a:t>
            </a:r>
            <a:r>
              <a:rPr lang="en-US" sz="1700" b="1" dirty="0">
                <a:solidFill>
                  <a:schemeClr val="tx1"/>
                </a:solidFill>
              </a:rPr>
              <a:t>sa</a:t>
            </a:r>
            <a:r>
              <a:rPr lang="en-US" sz="1700" dirty="0">
                <a:solidFill>
                  <a:schemeClr val="tx1"/>
                </a:solidFill>
              </a:rPr>
              <a:t> femme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Karim en haar vrouw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Karim en </a:t>
            </a:r>
            <a:r>
              <a:rPr lang="en-US" sz="1800" b="1" i="1" dirty="0">
                <a:solidFill>
                  <a:schemeClr val="accent2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 vrouw</a:t>
            </a:r>
            <a:endParaRPr lang="en-US" sz="1800" dirty="0"/>
          </a:p>
        </p:txBody>
      </p:sp>
      <p:pic>
        <p:nvPicPr>
          <p:cNvPr id="19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ses</a:t>
            </a:r>
            <a:r>
              <a:rPr lang="en-US" sz="1700" dirty="0">
                <a:solidFill>
                  <a:schemeClr val="tx1"/>
                </a:solidFill>
              </a:rPr>
              <a:t> collègues »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collega’s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Question-réflexe : </a:t>
            </a:r>
            <a:r>
              <a:rPr lang="en-US" sz="1700" b="1" dirty="0">
                <a:solidFill>
                  <a:schemeClr val="bg1"/>
                </a:solidFill>
              </a:rPr>
              <a:t>à lui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zijn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à elle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haar</a:t>
            </a:r>
            <a:r>
              <a:rPr lang="en-US" sz="1700" dirty="0">
                <a:solidFill>
                  <a:schemeClr val="bg1"/>
                </a:solidFill>
              </a:rPr>
              <a:t> — l’objet (frère, femme) ne compte pas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het</a:t>
            </a:r>
            <a:r>
              <a:rPr lang="en-US" sz="1600" i="1" dirty="0">
                <a:solidFill>
                  <a:schemeClr val="accent5"/>
                </a:solidFill>
              </a:rPr>
              <a:t> au singulier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kantoor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team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bedrijf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227064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55664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55664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+ pluriel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64424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onze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de</a:t>
            </a:r>
            <a:r>
              <a:rPr lang="en-US" sz="1600" i="1" dirty="0">
                <a:solidFill>
                  <a:schemeClr val="accent5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klant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directeur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collega’s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kantoren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seul possessif qui change. Même logique que l’adjectif (M21) : </a:t>
            </a:r>
            <a:r>
              <a:rPr lang="en-US" sz="1800" i="1" dirty="0">
                <a:solidFill>
                  <a:schemeClr val="bg1"/>
                </a:solidFill>
              </a:rPr>
              <a:t>ons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au singulier.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votre, leur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Monsieur,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(une personne, politesse)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Meneer, </a:t>
            </a:r>
            <a:r>
              <a:rPr lang="en-US" sz="1800" b="1" i="1" dirty="0">
                <a:solidFill>
                  <a:schemeClr val="tx2"/>
                </a:solidFill>
              </a:rPr>
              <a:t>uw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Les amis,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(plusieurs personnes)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Jongens, </a:t>
            </a:r>
            <a:r>
              <a:rPr lang="en-US" sz="1800" b="1" i="1" dirty="0">
                <a:solidFill>
                  <a:schemeClr val="tx2"/>
                </a:solidFill>
              </a:rPr>
              <a:t>jullie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7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cherchent </a:t>
            </a:r>
            <a:r>
              <a:rPr lang="en-US" sz="1700" b="1" dirty="0">
                <a:solidFill>
                  <a:schemeClr val="tx1"/>
                </a:solidFill>
              </a:rPr>
              <a:t>leur</a:t>
            </a:r>
            <a:r>
              <a:rPr lang="en-US" sz="1700" dirty="0">
                <a:solidFill>
                  <a:schemeClr val="tx1"/>
                </a:solidFill>
              </a:rPr>
              <a:t> voiture. »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Ze zoeken zijn auto.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zoeken </a:t>
            </a:r>
            <a:r>
              <a:rPr lang="en-US" sz="1800" b="1" i="1" dirty="0">
                <a:solidFill>
                  <a:schemeClr val="tx2"/>
                </a:solidFill>
              </a:rPr>
              <a:t>hun</a:t>
            </a:r>
            <a:r>
              <a:rPr lang="en-US" sz="1800" i="1" dirty="0">
                <a:solidFill>
                  <a:schemeClr val="tx1"/>
                </a:solidFill>
              </a:rPr>
              <a:t> auto.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uw</a:t>
            </a:r>
            <a:r>
              <a:rPr lang="en-US" sz="1700" dirty="0">
                <a:solidFill>
                  <a:schemeClr val="bg1"/>
                </a:solidFill>
              </a:rPr>
              <a:t> = vous (une personne, M8) · </a:t>
            </a:r>
            <a:r>
              <a:rPr lang="en-US" sz="1700" i="1" dirty="0">
                <a:solidFill>
                  <a:schemeClr val="bg1"/>
                </a:solidFill>
              </a:rPr>
              <a:t>jullie</a:t>
            </a:r>
            <a:r>
              <a:rPr lang="en-US" sz="1700" dirty="0">
                <a:solidFill>
                  <a:schemeClr val="bg1"/>
                </a:solidFill>
              </a:rPr>
              <a:t> = vous (plusieurs) · </a:t>
            </a:r>
            <a:r>
              <a:rPr lang="en-US" sz="1700" i="1" dirty="0">
                <a:solidFill>
                  <a:schemeClr val="bg1"/>
                </a:solidFill>
              </a:rPr>
              <a:t>hun</a:t>
            </a:r>
            <a:r>
              <a:rPr lang="en-US" sz="1700" dirty="0">
                <a:solidFill>
                  <a:schemeClr val="bg1"/>
                </a:solidFill>
              </a:rPr>
              <a:t> = leur, jamais sujet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formes courtes de l’oral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4709160"/>
          </a:xfrm>
          <a:prstGeom prst="roundRect">
            <a:avLst>
              <a:gd name="adj" fmla="val 3883"/>
            </a:avLst>
          </a:prstGeom>
          <a:solidFill>
            <a:srgbClr val="EEF3F8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548640" cy="548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Berichten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77240" y="2423160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60120" y="24231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bel </a:t>
            </a:r>
            <a:r>
              <a:rPr lang="en-US" sz="1900" b="1" i="1" dirty="0">
                <a:solidFill>
                  <a:schemeClr val="accent2"/>
                </a:solidFill>
              </a:rPr>
              <a:t>m’n</a:t>
            </a:r>
            <a:r>
              <a:rPr lang="en-US" sz="1900" i="1" dirty="0">
                <a:solidFill>
                  <a:schemeClr val="tx1"/>
                </a:solidFill>
              </a:rPr>
              <a:t> moeder.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2103120" y="3355848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286000" y="335584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is </a:t>
            </a: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r>
              <a:rPr lang="en-US" sz="1900" i="1" dirty="0">
                <a:solidFill>
                  <a:schemeClr val="tx1"/>
                </a:solidFill>
              </a:rPr>
              <a:t> jas?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777240" y="4288536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428853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zoekt </a:t>
            </a:r>
            <a:r>
              <a:rPr lang="en-US" sz="1900" b="1" i="1" dirty="0">
                <a:solidFill>
                  <a:schemeClr val="accent2"/>
                </a:solidFill>
              </a:rPr>
              <a:t>z’n</a:t>
            </a:r>
            <a:r>
              <a:rPr lang="en-US" sz="1900" i="1" dirty="0">
                <a:solidFill>
                  <a:schemeClr val="tx1"/>
                </a:solidFill>
              </a:rPr>
              <a:t> sleutels.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103120" y="5221224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86000" y="52212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komt met </a:t>
            </a:r>
            <a:r>
              <a:rPr lang="en-US" sz="1900" b="1" i="1" dirty="0">
                <a:solidFill>
                  <a:schemeClr val="accent2"/>
                </a:solidFill>
              </a:rPr>
              <a:t>d’r</a:t>
            </a:r>
            <a:r>
              <a:rPr lang="en-US" sz="1900" i="1" dirty="0">
                <a:solidFill>
                  <a:schemeClr val="tx1"/>
                </a:solidFill>
              </a:rPr>
              <a:t> man.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6858000" y="1554480"/>
            <a:ext cx="4782312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43" y="1855135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54112" y="170078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Pour insister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7059168" y="2423160"/>
            <a:ext cx="43799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la forme pleine, accentuée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</a:t>
            </a:r>
            <a:r>
              <a:rPr lang="en-US" sz="1700" b="1" i="1" dirty="0">
                <a:solidFill>
                  <a:schemeClr val="tx1"/>
                </a:solidFill>
              </a:rPr>
              <a:t>jóuw</a:t>
            </a:r>
            <a:r>
              <a:rPr lang="en-US" sz="1700" i="1" dirty="0">
                <a:solidFill>
                  <a:schemeClr val="tx1"/>
                </a:solidFill>
              </a:rPr>
              <a:t> pen of </a:t>
            </a:r>
            <a:r>
              <a:rPr lang="en-US" sz="1700" b="1" i="1" dirty="0">
                <a:solidFill>
                  <a:schemeClr val="tx1"/>
                </a:solidFill>
              </a:rPr>
              <a:t>míjn</a:t>
            </a:r>
            <a:r>
              <a:rPr lang="en-US" sz="1700" i="1" dirty="0">
                <a:solidFill>
                  <a:schemeClr val="tx1"/>
                </a:solidFill>
              </a:rPr>
              <a:t> pen?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6858000" y="3977640"/>
            <a:ext cx="4782312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40880" y="414223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Envel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4278295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54112" y="412394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À l’écrit formel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7059168" y="4846320"/>
            <a:ext cx="437997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Toujours la forme pleine (M10)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mijn, zijn, haar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Formes courtes : à reconnaître.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démonstratifs : deze, dit, die, dat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proche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13232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loin</a:t>
            </a:r>
            <a:endParaRPr lang="en-US" sz="1600" dirty="0"/>
          </a:p>
        </p:txBody>
      </p:sp>
      <p:pic>
        <p:nvPicPr>
          <p:cNvPr id="7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554480"/>
            <a:ext cx="329184" cy="329184"/>
          </a:xfrm>
          <a:prstGeom prst="rect">
            <a:avLst/>
          </a:prstGeom>
        </p:spPr>
      </p:pic>
      <p:pic>
        <p:nvPicPr>
          <p:cNvPr id="8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29184" cy="329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201168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201168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DE + pluriel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274320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423160"/>
            <a:ext cx="868680" cy="8686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192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deze</a:t>
            </a:r>
            <a:endParaRPr lang="en-US" sz="3400" dirty="0"/>
          </a:p>
        </p:txBody>
      </p:sp>
      <p:sp>
        <p:nvSpPr>
          <p:cNvPr id="14" name="Text 8"/>
          <p:cNvSpPr txBox="1"/>
          <p:nvPr/>
        </p:nvSpPr>
        <p:spPr>
          <a:xfrm>
            <a:off x="393192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deze stoel · deze mappen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713232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423160"/>
            <a:ext cx="548640" cy="5486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4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stoel · die mappen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379476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94360" y="379476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HET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274320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206240"/>
            <a:ext cx="868680" cy="868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3192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endParaRPr lang="en-US" sz="3400" dirty="0"/>
          </a:p>
        </p:txBody>
      </p:sp>
      <p:sp>
        <p:nvSpPr>
          <p:cNvPr id="24" name="Text 16"/>
          <p:cNvSpPr txBox="1"/>
          <p:nvPr/>
        </p:nvSpPr>
        <p:spPr>
          <a:xfrm>
            <a:off x="393192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dit bureau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713232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4206240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0664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400" dirty="0"/>
          </a:p>
        </p:txBody>
      </p:sp>
      <p:sp>
        <p:nvSpPr>
          <p:cNvPr id="28" name="Text 19"/>
          <p:cNvSpPr txBox="1"/>
          <p:nvPr/>
        </p:nvSpPr>
        <p:spPr>
          <a:xfrm>
            <a:off x="740664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bureau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distance est </a:t>
            </a:r>
            <a:r>
              <a:rPr lang="en-US" sz="1800" b="1" dirty="0">
                <a:solidFill>
                  <a:schemeClr val="bg1"/>
                </a:solidFill>
              </a:rPr>
              <a:t>dans le mot</a:t>
            </a:r>
            <a:r>
              <a:rPr lang="en-US" sz="1800" dirty="0">
                <a:solidFill>
                  <a:schemeClr val="bg1"/>
                </a:solidFill>
              </a:rPr>
              <a:t> (FR : « -ci / -là ») · pluriel : toujours </a:t>
            </a:r>
            <a:r>
              <a:rPr lang="en-US" sz="1800" i="1" dirty="0">
                <a:solidFill>
                  <a:schemeClr val="bg1"/>
                </a:solidFill>
              </a:rPr>
              <a:t>deze / die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ce, cette, 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cette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deze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huis)</a:t>
            </a:r>
            <a:endParaRPr lang="en-US" sz="1800" dirty="0"/>
          </a:p>
        </p:txBody>
      </p:sp>
      <p:pic>
        <p:nvPicPr>
          <p:cNvPr id="13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044952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bâtiment »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543800" y="34747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909560" y="3118104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0" y="311810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gebouw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858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4106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stylo »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7543800" y="43708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014216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01421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pen (</a:t>
            </a:r>
            <a:r>
              <a:rPr lang="en-US" sz="1800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23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85800" cy="6858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483717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ces</a:t>
            </a:r>
            <a:r>
              <a:rPr lang="en-US" sz="1700" dirty="0">
                <a:solidFill>
                  <a:schemeClr val="tx1"/>
                </a:solidFill>
              </a:rPr>
              <a:t> bureaux »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543800" y="52669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7909560" y="4910328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46720" y="49103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bureaus (pluriel)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Masculin ou féminin en français ne dit rien :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dit</a:t>
            </a:r>
            <a:r>
              <a:rPr lang="en-US" sz="1700" dirty="0">
                <a:solidFill>
                  <a:schemeClr val="bg1"/>
                </a:solidFill>
              </a:rPr>
              <a:t>, pluriel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Dit is… · Dat zijn… : présenter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9436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5577840" cy="292608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77440"/>
            <a:ext cx="1234440" cy="1234440"/>
          </a:xfrm>
          <a:prstGeom prst="rect">
            <a:avLst/>
          </a:prstGeom>
        </p:spPr>
      </p:pic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77440"/>
            <a:ext cx="1234440" cy="1234440"/>
          </a:xfrm>
          <a:prstGeom prst="rect">
            <a:avLst/>
          </a:prstGeom>
        </p:spPr>
      </p:pic>
      <p:pic>
        <p:nvPicPr>
          <p:cNvPr id="9" name="Image 2" descr="gir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377440"/>
            <a:ext cx="1234440" cy="1234440"/>
          </a:xfrm>
          <a:prstGeom prst="rect">
            <a:avLst/>
          </a:prstGeom>
        </p:spPr>
      </p:pic>
      <p:pic>
        <p:nvPicPr>
          <p:cNvPr id="10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377440"/>
            <a:ext cx="1234440" cy="12344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766560" y="155448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is</a:t>
            </a:r>
            <a:r>
              <a:rPr lang="en-US" sz="2100" i="1" dirty="0">
                <a:solidFill>
                  <a:schemeClr val="tx1"/>
                </a:solidFill>
              </a:rPr>
              <a:t> mijn collega Sofie.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is</a:t>
            </a:r>
            <a:r>
              <a:rPr lang="en-US" sz="2100" i="1" dirty="0">
                <a:solidFill>
                  <a:schemeClr val="tx1"/>
                </a:solidFill>
              </a:rPr>
              <a:t> onze directeur.</a:t>
            </a:r>
            <a:endParaRPr lang="en-US" sz="2100" dirty="0"/>
          </a:p>
        </p:txBody>
      </p:sp>
      <p:sp>
        <p:nvSpPr>
          <p:cNvPr id="12" name="Text 5"/>
          <p:cNvSpPr txBox="1"/>
          <p:nvPr/>
        </p:nvSpPr>
        <p:spPr>
          <a:xfrm>
            <a:off x="6766560" y="283464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zijn</a:t>
            </a:r>
            <a:r>
              <a:rPr lang="en-US" sz="2100" i="1" dirty="0">
                <a:solidFill>
                  <a:schemeClr val="tx1"/>
                </a:solidFill>
              </a:rPr>
              <a:t> mijn kinderen.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zijn</a:t>
            </a:r>
            <a:r>
              <a:rPr lang="en-US" sz="2100" i="1" dirty="0">
                <a:solidFill>
                  <a:schemeClr val="tx1"/>
                </a:solidFill>
              </a:rPr>
              <a:t> onze klanten.</a:t>
            </a:r>
            <a:endParaRPr lang="en-US" sz="2100" dirty="0"/>
          </a:p>
        </p:txBody>
      </p:sp>
      <p:sp>
        <p:nvSpPr>
          <p:cNvPr id="13" name="tag"/>
          <p:cNvSpPr/>
          <p:nvPr/>
        </p:nvSpPr>
        <p:spPr>
          <a:xfrm>
            <a:off x="6766560" y="4069080"/>
            <a:ext cx="2469794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verbe au pluriel !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77240" y="50292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dit / dat</a:t>
            </a:r>
            <a:r>
              <a:rPr lang="en-US" sz="1700" dirty="0">
                <a:solidFill>
                  <a:schemeClr val="tx1"/>
                </a:solidFill>
              </a:rPr>
              <a:t> ne changent pas, même pour une personne ou un pluriel : c’est le </a:t>
            </a:r>
            <a:r>
              <a:rPr lang="en-US" sz="1700" b="1" dirty="0">
                <a:solidFill>
                  <a:schemeClr val="tx1"/>
                </a:solidFill>
              </a:rPr>
              <a:t>verbe</a:t>
            </a:r>
            <a:r>
              <a:rPr lang="en-US" sz="1700" dirty="0">
                <a:solidFill>
                  <a:schemeClr val="tx1"/>
                </a:solidFill>
              </a:rPr>
              <a:t> qui s’accorde.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Aperçu : </a:t>
            </a:r>
            <a:r>
              <a:rPr lang="en-US" sz="1700" i="1" dirty="0">
                <a:solidFill>
                  <a:schemeClr val="tx1"/>
                </a:solidFill>
              </a:rPr>
              <a:t>Ken je Sofie? — Ja, </a:t>
            </a:r>
            <a:r>
              <a:rPr lang="en-US" sz="1700" b="1" i="1" dirty="0">
                <a:solidFill>
                  <a:schemeClr val="tx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ken ik.</a:t>
            </a:r>
            <a:r>
              <a:rPr lang="en-US" sz="1700" dirty="0">
                <a:solidFill>
                  <a:schemeClr val="tx1"/>
                </a:solidFill>
              </a:rPr>
              <a:t> (= celle-là)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Van wie is dit? — van mij, van jou…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5852160" cy="164592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1097280" cy="1097280"/>
          </a:xfrm>
          <a:prstGeom prst="rect">
            <a:avLst/>
          </a:prstGeom>
        </p:spPr>
      </p:pic>
      <p:sp>
        <p:nvSpPr>
          <p:cNvPr id="7" name="tag"/>
          <p:cNvSpPr/>
          <p:nvPr/>
        </p:nvSpPr>
        <p:spPr>
          <a:xfrm>
            <a:off x="67391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mij</a:t>
            </a:r>
            <a:endParaRPr lang="en-US" sz="1300" dirty="0"/>
          </a:p>
        </p:txBody>
      </p:sp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468880"/>
            <a:ext cx="1097280" cy="109728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2083003" y="3931920"/>
            <a:ext cx="1300886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haar</a:t>
            </a:r>
            <a:endParaRPr lang="en-US" sz="1300" dirty="0"/>
          </a:p>
        </p:txBody>
      </p:sp>
      <p:pic>
        <p:nvPicPr>
          <p:cNvPr id="10" name="Image 2" descr="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468880"/>
            <a:ext cx="1097280" cy="1097280"/>
          </a:xfrm>
          <a:prstGeom prst="rect">
            <a:avLst/>
          </a:prstGeom>
        </p:spPr>
      </p:pic>
      <p:sp>
        <p:nvSpPr>
          <p:cNvPr id="11" name="tag"/>
          <p:cNvSpPr/>
          <p:nvPr/>
        </p:nvSpPr>
        <p:spPr>
          <a:xfrm>
            <a:off x="359999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hem</a:t>
            </a:r>
            <a:endParaRPr lang="en-US" sz="1300" dirty="0"/>
          </a:p>
        </p:txBody>
      </p:sp>
      <p:pic>
        <p:nvPicPr>
          <p:cNvPr id="12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468880"/>
            <a:ext cx="1097280" cy="1097280"/>
          </a:xfrm>
          <a:prstGeom prst="rect">
            <a:avLst/>
          </a:prstGeom>
        </p:spPr>
      </p:pic>
      <p:sp>
        <p:nvSpPr>
          <p:cNvPr id="13" name="tag"/>
          <p:cNvSpPr/>
          <p:nvPr/>
        </p:nvSpPr>
        <p:spPr>
          <a:xfrm>
            <a:off x="506303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ons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1554480"/>
            <a:ext cx="585216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3232" y="1554480"/>
            <a:ext cx="5522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deze sleutel? — Die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Shape 9"/>
          <p:cNvSpPr/>
          <p:nvPr/>
        </p:nvSpPr>
        <p:spPr>
          <a:xfrm>
            <a:off x="6675120" y="1554480"/>
            <a:ext cx="4965192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85800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VAN + PRONOM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858000" y="20116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mij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jou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u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hem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haar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ons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jullie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hen</a:t>
            </a:r>
            <a:endParaRPr lang="en-US" sz="2100" dirty="0"/>
          </a:p>
        </p:txBody>
      </p:sp>
      <p:sp>
        <p:nvSpPr>
          <p:cNvPr id="19" name="Shape 12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5">
              <a:alpha val="10000"/>
            </a:schemeClr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0" name="tag"/>
          <p:cNvSpPr/>
          <p:nvPr/>
        </p:nvSpPr>
        <p:spPr>
          <a:xfrm>
            <a:off x="777240" y="4773168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dit jouw jas? — Ja, het is </a:t>
            </a:r>
            <a:r>
              <a:rPr lang="en-US" sz="1700" b="1" i="1" dirty="0">
                <a:solidFill>
                  <a:schemeClr val="tx1"/>
                </a:solidFill>
              </a:rPr>
              <a:t>de mijne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r>
              <a:rPr lang="en-US" sz="1700" dirty="0">
                <a:solidFill>
                  <a:schemeClr val="tx1"/>
                </a:solidFill>
              </a:rPr>
              <a:t> (le mien)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l’oral, on entend aussi </a:t>
            </a:r>
            <a:r>
              <a:rPr lang="en-US" sz="1700" i="1" dirty="0">
                <a:solidFill>
                  <a:schemeClr val="tx1"/>
                </a:solidFill>
              </a:rPr>
              <a:t>van hun</a:t>
            </a:r>
            <a:r>
              <a:rPr lang="en-US" sz="1700" dirty="0">
                <a:solidFill>
                  <a:schemeClr val="tx1"/>
                </a:solidFill>
              </a:rPr>
              <a:t> (à la place de </a:t>
            </a:r>
            <a:r>
              <a:rPr lang="en-US" sz="1700" i="1" dirty="0">
                <a:solidFill>
                  <a:schemeClr val="tx1"/>
                </a:solidFill>
              </a:rPr>
              <a:t>van hen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posséder, montrer, demander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Posséder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mijn, jouw, uw, zijn, haar, ons / onze, jullie, hun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lui →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dirty="0">
                <a:solidFill>
                  <a:schemeClr val="tx1"/>
                </a:solidFill>
              </a:rPr>
              <a:t> · à elle →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; sinon </a:t>
            </a:r>
            <a:r>
              <a:rPr lang="en-US" sz="1800" b="1" i="1" dirty="0">
                <a:solidFill>
                  <a:schemeClr val="tx1"/>
                </a:solidFill>
              </a:rPr>
              <a:t>onze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Montrer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+ pluriel → </a:t>
            </a:r>
            <a:r>
              <a:rPr lang="en-US" sz="1800" b="1" i="1" dirty="0">
                <a:solidFill>
                  <a:schemeClr val="tx1"/>
                </a:solidFill>
              </a:rPr>
              <a:t>deze / die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dit / dat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présenter : </a:t>
            </a:r>
            <a:r>
              <a:rPr lang="en-US" sz="1800" i="1" dirty="0">
                <a:solidFill>
                  <a:schemeClr val="tx1"/>
                </a:solidFill>
              </a:rPr>
              <a:t>Dit is… · Dat zijn…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4A9E"/>
                </a:solidFill>
              </a:rPr>
              <a:t>Demander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wie is dit?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mij · van haar · van hen.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Is dit jouw pen?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possessif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 ou onze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oin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deze, dit, die ou dat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piège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ox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objets trouvés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Imag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L’album photo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b="1" dirty="0">
                <a:solidFill>
                  <a:schemeClr val="accent3"/>
                </a:solidFill>
              </a:rPr>
              <a:t>zijn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b="1" dirty="0">
                <a:solidFill>
                  <a:schemeClr val="accent3"/>
                </a:solidFill>
              </a:rPr>
              <a:t>haar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b="1" dirty="0">
                <a:solidFill>
                  <a:schemeClr val="accent3"/>
                </a:solidFill>
              </a:rPr>
              <a:t>onze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b="1" dirty="0">
                <a:solidFill>
                  <a:schemeClr val="accent3"/>
                </a:solidFill>
              </a:rPr>
              <a:t>uw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b="1" dirty="0">
                <a:solidFill>
                  <a:schemeClr val="accent3"/>
                </a:solidFill>
              </a:rPr>
              <a:t>jullie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b="1" dirty="0">
                <a:solidFill>
                  <a:schemeClr val="accent3"/>
                </a:solidFill>
              </a:rPr>
              <a:t>hun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b="1" dirty="0">
                <a:solidFill>
                  <a:schemeClr val="accent3"/>
                </a:solidFill>
              </a:rPr>
              <a:t>mijn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b="1" dirty="0">
                <a:solidFill>
                  <a:schemeClr val="accent3"/>
                </a:solidFill>
              </a:rPr>
              <a:t>jouw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3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vergaderzaal → </a:t>
            </a:r>
            <a:r>
              <a:rPr lang="en-US" sz="1500" i="1" dirty="0">
                <a:solidFill>
                  <a:schemeClr val="accent5"/>
                </a:solidFill>
              </a:rPr>
              <a:t>onze</a:t>
            </a:r>
            <a:r>
              <a:rPr lang="en-US" sz="1500" i="1" dirty="0">
                <a:solidFill>
                  <a:schemeClr val="accent5"/>
                </a:solidFill>
              </a:rPr>
              <a:t> · n° 8 : aussi </a:t>
            </a:r>
            <a:r>
              <a:rPr lang="en-US" sz="1500" i="1" dirty="0">
                <a:solidFill>
                  <a:schemeClr val="accent5"/>
                </a:solidFill>
              </a:rPr>
              <a:t>je</a:t>
            </a:r>
            <a:r>
              <a:rPr lang="en-US" sz="1500" i="1" dirty="0">
                <a:solidFill>
                  <a:schemeClr val="accent5"/>
                </a:solidFill>
              </a:rPr>
              <a:t> (forme courte)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kantoor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807208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52928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team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065776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111496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klant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7324344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70064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collega’s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582912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28632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huis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94360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auto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807208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52928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bedrijf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65776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111496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directeur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324344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370064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kinderen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582912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9628632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adres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17220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17220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7220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team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bedrijf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adres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17220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7220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7220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klant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900684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collega’s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auto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900684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directeur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644652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kinderen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19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1" name="Text 13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5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6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2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3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5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9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0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2" name="Text 28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3" name="Shape 29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0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1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6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7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49" name="Text 33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0" name="Shape 3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35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6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3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4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6" name="Text 38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7" name="Shape 39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Shape 40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1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0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1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2" name="Text 42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3" name="Text 43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3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20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6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7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9" name="Text 19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3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4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6" name="Text 24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0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1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3" name="Text 29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1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7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8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50" name="Text 34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1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36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37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4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5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7" name="Text 39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8" name="Shape 40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9" name="Shape 41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1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2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3" name="Text 43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4" name="Text 44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0" y="196900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Sofie en haar man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943600" y="251383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Karim en zijn zus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943600" y="305866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huis is groot.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326880" y="305866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943600" y="360349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zijn mijn collega’s.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9326880" y="360349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46" name="Text 42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7" name="Shape 43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943600" y="414832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Meneer, uw koffie!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54" name="Shape 50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943600" y="469315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Ze zoeken hun auto.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61" name="Shape 57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523798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Deze pen is van mij.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9326880" y="523798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Die…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69" name="Shape 65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943600" y="578281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is ons bedrijf.</a:t>
            </a:r>
            <a:endParaRPr lang="en-US" sz="1800" dirty="0"/>
          </a:p>
        </p:txBody>
      </p:sp>
      <p:sp>
        <p:nvSpPr>
          <p:cNvPr id="72" name="Text 68"/>
          <p:cNvSpPr txBox="1"/>
          <p:nvPr/>
        </p:nvSpPr>
        <p:spPr>
          <a:xfrm>
            <a:off x="9326880" y="578281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dirty="0">
                <a:solidFill>
                  <a:schemeClr val="tx1"/>
                </a:solidFill>
              </a:rPr>
              <a:t>zijn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dirty="0">
                <a:solidFill>
                  <a:schemeClr val="tx1"/>
                </a:solidFill>
              </a:rPr>
              <a:t>haar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dirty="0">
                <a:solidFill>
                  <a:schemeClr val="tx1"/>
                </a:solidFill>
              </a:rPr>
              <a:t>onze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dirty="0">
                <a:solidFill>
                  <a:schemeClr val="tx1"/>
                </a:solidFill>
              </a:rPr>
              <a:t>Deze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dirty="0">
                <a:solidFill>
                  <a:schemeClr val="tx1"/>
                </a:solidFill>
              </a:rPr>
              <a:t>hun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zijn</a:t>
            </a:r>
            <a:r>
              <a:rPr lang="en-US" sz="2100" b="1" i="1" dirty="0">
                <a:solidFill>
                  <a:schemeClr val="accent3"/>
                </a:solidFill>
              </a:rPr>
              <a:t> haar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haar</a:t>
            </a:r>
            <a:r>
              <a:rPr lang="en-US" sz="2100" b="1" i="1" dirty="0">
                <a:solidFill>
                  <a:schemeClr val="accent3"/>
                </a:solidFill>
              </a:rPr>
              <a:t> zijn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strike="sngStrike" dirty="0">
                <a:solidFill>
                  <a:schemeClr val="accent6"/>
                </a:solidFill>
              </a:rPr>
              <a:t>onze</a:t>
            </a:r>
            <a:r>
              <a:rPr lang="en-US" sz="2100" b="1" i="1" dirty="0">
                <a:solidFill>
                  <a:schemeClr val="accent3"/>
                </a:solidFill>
              </a:rPr>
              <a:t> ons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strike="sngStrike" dirty="0">
                <a:solidFill>
                  <a:schemeClr val="accent6"/>
                </a:solidFill>
              </a:rPr>
              <a:t>Deze</a:t>
            </a:r>
            <a:r>
              <a:rPr lang="en-US" sz="2100" b="1" i="1" dirty="0">
                <a:solidFill>
                  <a:schemeClr val="accent3"/>
                </a:solidFill>
              </a:rPr>
              <a:t> Dit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strike="sngStrike" dirty="0">
                <a:solidFill>
                  <a:schemeClr val="accent6"/>
                </a:solidFill>
              </a:rPr>
              <a:t>hun</a:t>
            </a:r>
            <a:r>
              <a:rPr lang="en-US" sz="2100" b="1" i="1" dirty="0">
                <a:solidFill>
                  <a:schemeClr val="accent3"/>
                </a:solidFill>
              </a:rPr>
              <a:t> zij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onze teamdag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de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Neem jullie badge mee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3108960" cy="3108960"/>
          </a:xfrm>
          <a:prstGeom prst="rect">
            <a:avLst/>
          </a:prstGeom>
        </p:spPr>
      </p:pic>
      <p:pic>
        <p:nvPicPr>
          <p:cNvPr id="7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731520" cy="731520"/>
          </a:xfrm>
          <a:prstGeom prst="rect">
            <a:avLst/>
          </a:prstGeom>
        </p:spPr>
      </p:pic>
      <p:pic>
        <p:nvPicPr>
          <p:cNvPr id="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54480"/>
            <a:ext cx="731520" cy="731520"/>
          </a:xfrm>
          <a:prstGeom prst="rect">
            <a:avLst/>
          </a:prstGeom>
        </p:spPr>
      </p:pic>
      <p:pic>
        <p:nvPicPr>
          <p:cNvPr id="9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45920"/>
            <a:ext cx="731520" cy="731520"/>
          </a:xfrm>
          <a:prstGeom prst="rect">
            <a:avLst/>
          </a:prstGeom>
        </p:spPr>
      </p:pic>
      <p:pic>
        <p:nvPicPr>
          <p:cNvPr id="10" name="Image 4" descr="mobile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2743200"/>
            <a:ext cx="731520" cy="731520"/>
          </a:xfrm>
          <a:prstGeom prst="rect">
            <a:avLst/>
          </a:prstGeom>
        </p:spPr>
      </p:pic>
      <p:pic>
        <p:nvPicPr>
          <p:cNvPr id="11" name="Image 5" descr="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834640"/>
            <a:ext cx="731520" cy="73152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4206240" y="1600200"/>
            <a:ext cx="7434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1.</a:t>
            </a:r>
            <a:r>
              <a:rPr lang="en-US" sz="1800" dirty="0">
                <a:solidFill>
                  <a:schemeClr val="tx1"/>
                </a:solidFill>
              </a:rPr>
              <a:t> Chacun dépose un objet dans la boîte, en secret.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2.</a:t>
            </a:r>
            <a:r>
              <a:rPr lang="en-US" sz="1800" dirty="0">
                <a:solidFill>
                  <a:schemeClr val="tx1"/>
                </a:solidFill>
              </a:rPr>
              <a:t> On tire un objet et on demande à qui il est.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3.</a:t>
            </a:r>
            <a:r>
              <a:rPr lang="en-US" sz="1800" dirty="0">
                <a:solidFill>
                  <a:schemeClr val="tx1"/>
                </a:solidFill>
              </a:rPr>
              <a:t> On répond avec un possessif et </a:t>
            </a:r>
            <a:r>
              <a:rPr lang="en-US" sz="1800" i="1" dirty="0">
                <a:solidFill>
                  <a:schemeClr val="tx1"/>
                </a:solidFill>
              </a:rPr>
              <a:t>van</a:t>
            </a:r>
            <a:r>
              <a:rPr lang="en-US" sz="1800" dirty="0">
                <a:solidFill>
                  <a:schemeClr val="tx1"/>
                </a:solidFill>
              </a:rPr>
              <a:t> + pronom.</a:t>
            </a:r>
            <a:endParaRPr lang="en-US" sz="1800" dirty="0"/>
          </a:p>
        </p:txBody>
      </p:sp>
      <p:sp>
        <p:nvSpPr>
          <p:cNvPr id="13" name="Shape 4"/>
          <p:cNvSpPr/>
          <p:nvPr/>
        </p:nvSpPr>
        <p:spPr>
          <a:xfrm>
            <a:off x="4206240" y="3520440"/>
            <a:ext cx="7434072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5"/>
          <p:cNvSpPr txBox="1"/>
          <p:nvPr/>
        </p:nvSpPr>
        <p:spPr>
          <a:xfrm>
            <a:off x="4370832" y="3520440"/>
            <a:ext cx="7104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</a:t>
            </a:r>
            <a:r>
              <a:rPr lang="en-US" sz="1900" b="1" i="1" dirty="0">
                <a:solidFill>
                  <a:schemeClr val="tx1"/>
                </a:solidFill>
              </a:rPr>
              <a:t>deze</a:t>
            </a:r>
            <a:r>
              <a:rPr lang="en-US" sz="1900" i="1" dirty="0">
                <a:solidFill>
                  <a:schemeClr val="tx1"/>
                </a:solidFill>
              </a:rPr>
              <a:t> sleutel? · Is </a:t>
            </a:r>
            <a:r>
              <a:rPr lang="en-US" sz="1900" b="1" i="1" dirty="0">
                <a:solidFill>
                  <a:schemeClr val="tx1"/>
                </a:solidFill>
              </a:rPr>
              <a:t>dit</a:t>
            </a:r>
            <a:r>
              <a:rPr lang="en-US" sz="1900" i="1" dirty="0">
                <a:solidFill>
                  <a:schemeClr val="tx1"/>
                </a:solidFill>
              </a:rPr>
              <a:t> jouw pen?</a:t>
            </a:r>
            <a:endParaRPr lang="en-US" sz="1900" dirty="0"/>
          </a:p>
        </p:txBody>
      </p:sp>
      <p:sp>
        <p:nvSpPr>
          <p:cNvPr id="15" name="Shape 6"/>
          <p:cNvSpPr/>
          <p:nvPr/>
        </p:nvSpPr>
        <p:spPr>
          <a:xfrm>
            <a:off x="4206240" y="4434840"/>
            <a:ext cx="7434072" cy="1005840"/>
          </a:xfrm>
          <a:prstGeom prst="roundRect">
            <a:avLst>
              <a:gd name="adj" fmla="val 16364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7"/>
          <p:cNvSpPr txBox="1"/>
          <p:nvPr/>
        </p:nvSpPr>
        <p:spPr>
          <a:xfrm>
            <a:off x="4370832" y="4434840"/>
            <a:ext cx="7104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Ja,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! · Nee, dat is niet </a:t>
            </a:r>
            <a:r>
              <a:rPr lang="en-US" sz="1900" b="1" i="1" dirty="0">
                <a:solidFill>
                  <a:schemeClr val="tx1"/>
                </a:solidFill>
              </a:rPr>
              <a:t>mijn</a:t>
            </a:r>
            <a:r>
              <a:rPr lang="en-US" sz="1900" i="1" dirty="0">
                <a:solidFill>
                  <a:schemeClr val="tx1"/>
                </a:solidFill>
              </a:rPr>
              <a:t> pen.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van Karim, denk ik.</a:t>
            </a:r>
            <a:endParaRPr lang="en-US" sz="1900" dirty="0"/>
          </a:p>
        </p:txBody>
      </p:sp>
      <p:sp>
        <p:nvSpPr>
          <p:cNvPr id="17" name="Text 8"/>
          <p:cNvSpPr txBox="1"/>
          <p:nvPr/>
        </p:nvSpPr>
        <p:spPr>
          <a:xfrm>
            <a:off x="4206240" y="5623560"/>
            <a:ext cx="7434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Variante : devinez le propriétaire — </a:t>
            </a:r>
            <a:r>
              <a:rPr lang="en-US" sz="1500" i="1" dirty="0">
                <a:solidFill>
                  <a:schemeClr val="accent5"/>
                </a:solidFill>
              </a:rPr>
              <a:t>Ik denk dat dit de bril van Sofie 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L’album photo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pause, Karim montre des photos de famille à Sofie sur son téléphone.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présentez votre famille : </a:t>
            </a:r>
            <a:r>
              <a:rPr lang="en-US" sz="1700" i="1" dirty="0">
                <a:solidFill>
                  <a:schemeClr val="tx1"/>
                </a:solidFill>
              </a:rPr>
              <a:t>Dit is mijn vrouw. Dat zijn onze kinderen.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Wie is dat? Is dat jouw zus? Hoe heten hun kinderen?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mijn vrouw, Leila. · Dat zijn onze kinderen. · Die man links is mijn broer. · Zijn vrouw heet Nora. · Wie is dat? · Is dat jouw zus? · Hoe heten hun kinderen?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DE FAMILIE VAN KARIM</a:t>
            </a:r>
            <a:endParaRPr lang="en-US" sz="1200" dirty="0"/>
          </a:p>
        </p:txBody>
      </p:sp>
      <p:pic>
        <p:nvPicPr>
          <p:cNvPr id="22" name="Image 0" descr="man white 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2167128"/>
            <a:ext cx="548640" cy="54864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1423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vader</a:t>
            </a:r>
            <a:endParaRPr lang="en-US" sz="1000" dirty="0"/>
          </a:p>
        </p:txBody>
      </p:sp>
      <p:pic>
        <p:nvPicPr>
          <p:cNvPr id="24" name="Image 1" descr="woman white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2167128"/>
            <a:ext cx="548640" cy="5486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90295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moeder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537192" y="2441448"/>
            <a:ext cx="6400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857232" y="2441448"/>
            <a:ext cx="914" cy="7315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3172968"/>
            <a:ext cx="25603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29" name="Image 2" descr="man be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331012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02843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broer</a:t>
            </a:r>
            <a:endParaRPr lang="en-US" sz="1000" dirty="0"/>
          </a:p>
        </p:txBody>
      </p:sp>
      <p:pic>
        <p:nvPicPr>
          <p:cNvPr id="31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3310128"/>
            <a:ext cx="548640" cy="54864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30859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Karim</a:t>
            </a:r>
            <a:endParaRPr lang="en-US" sz="1000" dirty="0"/>
          </a:p>
        </p:txBody>
      </p:sp>
      <p:pic>
        <p:nvPicPr>
          <p:cNvPr id="33" name="Image 4" descr="woman red hai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3310128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058875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zus</a:t>
            </a:r>
            <a:endParaRPr lang="en-US" sz="1000" dirty="0"/>
          </a:p>
        </p:txBody>
      </p:sp>
      <p:pic>
        <p:nvPicPr>
          <p:cNvPr id="35" name="Image 5" descr="woman with head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2" y="4361688"/>
            <a:ext cx="548640" cy="5486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308592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Leila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9857232" y="413308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9857232" y="518464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39" name="Image 6" descr="bo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8552" y="5413248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71423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Adam</a:t>
            </a:r>
            <a:endParaRPr lang="en-US" sz="1000" dirty="0"/>
          </a:p>
        </p:txBody>
      </p:sp>
      <p:pic>
        <p:nvPicPr>
          <p:cNvPr id="41" name="Image 7" descr="gir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5413248"/>
            <a:ext cx="548640" cy="54864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90295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Lina</a:t>
            </a:r>
            <a:endParaRPr lang="en-US" sz="1000" dirty="0"/>
          </a:p>
        </p:txBody>
      </p:sp>
      <p:sp>
        <p:nvSpPr>
          <p:cNvPr id="43" name="Shape 32"/>
          <p:cNvSpPr/>
          <p:nvPr/>
        </p:nvSpPr>
        <p:spPr>
          <a:xfrm>
            <a:off x="9262872" y="5413248"/>
            <a:ext cx="11887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Sofie et son frère ».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ons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onze</a:t>
            </a:r>
            <a:r>
              <a:rPr lang="en-US" sz="2000" dirty="0">
                <a:solidFill>
                  <a:schemeClr val="tx1"/>
                </a:solidFill>
              </a:rPr>
              <a:t> : …… </a:t>
            </a:r>
            <a:r>
              <a:rPr lang="en-US" sz="2000" i="1" dirty="0">
                <a:solidFill>
                  <a:schemeClr val="tx1"/>
                </a:solidFill>
              </a:rPr>
              <a:t>kantoor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klanten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deze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dit</a:t>
            </a:r>
            <a:r>
              <a:rPr lang="en-US" sz="2000" dirty="0">
                <a:solidFill>
                  <a:schemeClr val="tx1"/>
                </a:solidFill>
              </a:rPr>
              <a:t> (proche) : ……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stoel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Posséder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o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Groot of grote?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een groot huis, de grote auto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20 — Van wie is dit? — Possessifs et démonstratifs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2026-10-05T07:24:45Z</dcterms:created>
  <dcterms:modified xsi:type="dcterms:W3CDTF">2026-10-05T07:24:45Z</dcterms:modified>
</cp:coreProperties>
</file>