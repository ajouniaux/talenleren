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9895d03-c811-2f52-9808-1522d261965a}">
          <p14:sldIdLst>
            <p14:sldId id="256"/>
          </p14:sldIdLst>
        </p14:section>
        <p14:section name="Découvrir" id="{8cd6be49-1302-d10e-ae4f-180213185e0b}">
          <p14:sldIdLst>
            <p14:sldId id="257"/>
            <p14:sldId id="258"/>
          </p14:sldIdLst>
        </p14:section>
        <p14:section name="Comprendre" id="{f4e48633-196e-613d-2836-5aa6c4c4e21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1a389569-d86a-a2bb-7709-fe52b995fd8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962a2a97-8330-2951-b2d7-ed68b2028e8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à qui est-ce ? Lequel ?
Ramassez trois objets dans la classe et montrez-les : « À qui est-ce ? » Faites répondre en français, puis annoncez l'objectif : le dire en néerlandais.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Au bureau, on parle sans cesse de « mon dossier, votre rendez-vous, cette salle ». Ce module donne ces petits mots, très fréquents.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Découvrir les formes dans un mini-dialogue.
Faites relever les petits mots devant les noms : deze, dit, die (montrer) et jouw, mijn (posséder). de bril = les lunettes (un singulier en néerlandais, M17).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Mémoriser les possessifs, en parallèle avec les pronoms personnels (M2).
Une seule forme par personne (sauf ons / onze) : pas d'accord avec le nom, contrairement au français (mon / ma / mes). Les formes courtes sont pour l'oral et les messages informels (diapo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zijn ou haar selon le possesseur, pas selon l'objet.
En français, « son / sa » s'accorde avec l'objet (son frère, sa femme). En néerlandais, on regarde le possesseur : un homme → zijn, une femme → haar. Faites la question-réflexe : « à lui ou à elle 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ons ou onze selon de / het (M5).
C'est le seul possessif qui change. Même logique que l'adjectif (M21) : la forme sans -e ne va qu'avec un mot het au singulier. Dans le doute, vérifiez l'article (M5).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« votre » et « leur » selon la situation.
uw = une personne vouvoyée (M8) ; jullie = plusieurs personnes. Erreur entendue aux Pays-Bas : Hun hebben… au lieu de Zij hebben… ; dans la langue standard, hun n'est jamais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m'n, je, z'n, d'r à l'oral et dans les messages informels.
À reconnaître, pas à produire à l'écrit. je = « ton » (non accentué) : Waar is je jas? La forme pleine sert à contraster : Niet míjn pen, jóuw pen!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démonstratif selon de / het et la distance.
Le français dit « ce, cette, ces » et ajoute « -ci / -là ». Le néerlandais intègre la distance dans le mot. Au pluriel, toujours deze / die, même pour un mot het (deze huizen).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Ne pas suivre le genre français.
Masculin ou féminin en français ne dit rien sur de / het. On regarde l'article du mot néerlandais (M5). Réflexe : de → deze, het → dit, pluriel → deze.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dit / dat seuls pour présenter (« c'est », « ce sont »).
Pour présenter, dit / dat ne change pas, même pour une personne ou un pluriel : c'est le verbe qui s'accorde. die seul (= « celui-là, celle-là ») est très fréquent à l'oral : à reconnaître.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Dire à qui appartient un objet sans répéter le nom.
van + pronom objet (mij, jou, hem, haar…) = « à moi, à toi ». À l'oral, on entend aussi van hun (à la place de van hen). de mijne / het mijne (le mien) : Néerlandais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schéma est la référence pour tous les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et 2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possessif selon le possesseur.
Faites justifier : à lui / à elle, de / het (n° 3 : de vergaderzaal → onze), politesse (n°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le possessif selon le possesseur.
Faites justifier : à lui / à elle, de / het (n° 3 : de vergaderzaal → onze), politesse (n°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Automatiser ons / onze selon de / het.
Variante orale rapide : l'enseignant·e dit le nom, la classe répond ons ou onze en chœur.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Automatiser ons / onze selon de / het.
Variante orale rapide : l'enseignant·e dit le nom, la classe répond ons ou onze en chœur.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le démonstratif selon de / het et la distance.
Faites montrer de la main en même temps : toucher (deze / dit), pointer (die / dat).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le démonstratif selon de / het et la distance.
Faites montrer de la main en même temps : toucher (deze / dit), pointer (die / dat).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Traduire en évitant les pièges du français.
N° 3, 4, 7 et 8 : dat / die (plus loin) est aussi correct : Dat huis…, Dat zijn…, Die pen…, Dat is… (« ce, cette » ne dit pas si c'est proche ou loin). N° 8 : het bedrijf → 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Traduire en évitant les pièges du français.
N° 3, 4, 7 et 8 : dat / die (plus loin) est aussi correct : Dat huis…, Dat zijn…, Die pen…, Dat is… (« ce, cette » ne dit pas si c'est proche ou loin). N° 8 : het bedrijf → 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les erreurs typiques dans un message.
Leurres : onze teamdag (de teamdag) et Neem jullie badge mee sont corrects. Chaque erreur renvoie à une diapo (5, 6, 10,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les erreurs typiques dans un message.
Leurres : onze teamdag (de teamdag) et Neem jullie badge mee sont corrects. Chaque erreur renvoie à une diapo (5, 6, 10,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Demander et dire à qui est un objet, à l'oral.
Exigez le bon démonstratif (deze / dit) et un possessif dans la réponse. Variante : on devine le propriétaire (Ik denk dat dit de bril van Sofie 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présenter sa famille ou son équipe sur une photo.
Ensuite, chacun présente sa propre famille (ou son équipe) avec une photo réelle ou dessinée. Insistez sur zijn / haar : Mijn zus en haar man…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objectifs.
Réponses :
1. Sofie en haar broer.
2. ons kantoor · onze klanten.
3. dit huis · deze stoel.
Teaser M21 : een groot huis, de grote auto.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20 · Van wie is dit?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20 · Van wie is dit?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20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Van wie is dit?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Possessifs et démonstratifs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Is dit jouw pen? — Nee, die is van Sofie.</a:t>
            </a:r>
            <a:endParaRPr lang="en-US" sz="2000" dirty="0"/>
          </a:p>
        </p:txBody>
      </p:sp>
      <p:pic>
        <p:nvPicPr>
          <p:cNvPr id="5" name="Image 0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97280"/>
            <a:ext cx="2377440" cy="2377440"/>
          </a:xfrm>
          <a:prstGeom prst="rect">
            <a:avLst/>
          </a:prstGeom>
        </p:spPr>
      </p:pic>
      <p:pic>
        <p:nvPicPr>
          <p:cNvPr id="6" name="Image 1" descr="closed 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777240"/>
            <a:ext cx="914400" cy="914400"/>
          </a:xfrm>
          <a:prstGeom prst="rect">
            <a:avLst/>
          </a:prstGeom>
        </p:spPr>
      </p:pic>
      <p:pic>
        <p:nvPicPr>
          <p:cNvPr id="7" name="Image 2" descr="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31520"/>
            <a:ext cx="731520" cy="731520"/>
          </a:xfrm>
          <a:prstGeom prst="rect">
            <a:avLst/>
          </a:prstGeom>
        </p:spPr>
      </p:pic>
      <p:pic>
        <p:nvPicPr>
          <p:cNvPr id="8" name="Image 3" descr="glass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143000"/>
            <a:ext cx="731520" cy="7315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601200" y="182880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381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Text 4"/>
          <p:cNvSpPr txBox="1"/>
          <p:nvPr/>
        </p:nvSpPr>
        <p:spPr>
          <a:xfrm>
            <a:off x="9601200" y="18288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Van wie?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6355080" y="3794760"/>
            <a:ext cx="530352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Text 6"/>
          <p:cNvSpPr txBox="1"/>
          <p:nvPr/>
        </p:nvSpPr>
        <p:spPr>
          <a:xfrm>
            <a:off x="6355080" y="37947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Is </a:t>
            </a: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dit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jouw</a:t>
            </a:r>
            <a:r>
              <a:rPr lang="en-US" sz="3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pen?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Posséder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dis à qui est une chose : </a:t>
            </a:r>
            <a:r>
              <a:rPr lang="en-US" sz="2000" i="1" dirty="0">
                <a:solidFill>
                  <a:schemeClr val="tx1"/>
                </a:solidFill>
              </a:rPr>
              <a:t>mijn laptop, haar jas, ons kantoor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HandPoint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Montrer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montre : </a:t>
            </a:r>
            <a:r>
              <a:rPr lang="en-US" sz="2000" i="1" dirty="0">
                <a:solidFill>
                  <a:schemeClr val="tx1"/>
                </a:solidFill>
              </a:rPr>
              <a:t>deze stoel, dit bureau, die collega’s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4A9E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Demander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demande : </a:t>
            </a:r>
            <a:r>
              <a:rPr lang="en-US" sz="2000" i="1" dirty="0">
                <a:solidFill>
                  <a:schemeClr val="tx1"/>
                </a:solidFill>
              </a:rPr>
              <a:t>Van wie is dit? — Van mij!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 bureau, on parle sans cesse de « mon dossier, votre rendez-vous, cette salle » : de tout petits mots, très fréquents.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les objets trouvés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FFDF5"/>
          </a:solidFill>
          <a:ln w="15875">
            <a:solidFill>
              <a:srgbClr val="C9B98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accent5"/>
                </a:solidFill>
              </a:rPr>
              <a:t>GEVONDEN VOORWERPEN</a:t>
            </a:r>
            <a:endParaRPr lang="en-US" sz="1300" dirty="0"/>
          </a:p>
        </p:txBody>
      </p:sp>
      <p:pic>
        <p:nvPicPr>
          <p:cNvPr id="7" name="Image 0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26080"/>
            <a:ext cx="2560320" cy="2560320"/>
          </a:xfrm>
          <a:prstGeom prst="rect">
            <a:avLst/>
          </a:prstGeom>
        </p:spPr>
      </p:pic>
      <p:pic>
        <p:nvPicPr>
          <p:cNvPr id="8" name="Image 1" descr="closed 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777240" cy="777240"/>
          </a:xfrm>
          <a:prstGeom prst="rect">
            <a:avLst/>
          </a:prstGeom>
        </p:spPr>
      </p:pic>
      <p:pic>
        <p:nvPicPr>
          <p:cNvPr id="9" name="Image 2" descr="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148840"/>
            <a:ext cx="777240" cy="777240"/>
          </a:xfrm>
          <a:prstGeom prst="rect">
            <a:avLst/>
          </a:prstGeom>
        </p:spPr>
      </p:pic>
      <p:pic>
        <p:nvPicPr>
          <p:cNvPr id="10" name="Image 3" descr="glass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194560"/>
            <a:ext cx="777240" cy="777240"/>
          </a:xfrm>
          <a:prstGeom prst="rect">
            <a:avLst/>
          </a:prstGeom>
        </p:spPr>
      </p:pic>
      <p:pic>
        <p:nvPicPr>
          <p:cNvPr id="11" name="Image 4" descr="scar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2651760"/>
            <a:ext cx="777240" cy="777240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4389120" y="1554480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13" name="Text 5"/>
          <p:cNvSpPr txBox="1"/>
          <p:nvPr/>
        </p:nvSpPr>
        <p:spPr>
          <a:xfrm>
            <a:off x="4553712" y="1554480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Van wie is </a:t>
            </a:r>
            <a:r>
              <a:rPr lang="en-US" sz="1700" b="1" i="1" dirty="0">
                <a:solidFill>
                  <a:schemeClr val="accent1"/>
                </a:solidFill>
              </a:rPr>
              <a:t>deze</a:t>
            </a:r>
            <a:r>
              <a:rPr lang="en-US" sz="1700" i="1" dirty="0">
                <a:solidFill>
                  <a:schemeClr val="tx1"/>
                </a:solidFill>
              </a:rPr>
              <a:t> paraplu?</a:t>
            </a:r>
            <a:endParaRPr lang="en-US" sz="1700" dirty="0"/>
          </a:p>
        </p:txBody>
      </p:sp>
      <p:sp>
        <p:nvSpPr>
          <p:cNvPr id="14" name="Shape 6"/>
          <p:cNvSpPr/>
          <p:nvPr/>
        </p:nvSpPr>
        <p:spPr>
          <a:xfrm>
            <a:off x="5120640" y="2340864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5285232" y="2340864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b="1" i="1" dirty="0">
                <a:solidFill>
                  <a:schemeClr val="accent1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is van An.</a:t>
            </a:r>
            <a:endParaRPr lang="en-US" sz="1700" dirty="0"/>
          </a:p>
        </p:txBody>
      </p:sp>
      <p:sp>
        <p:nvSpPr>
          <p:cNvPr id="16" name="Shape 8"/>
          <p:cNvSpPr/>
          <p:nvPr/>
        </p:nvSpPr>
        <p:spPr>
          <a:xfrm>
            <a:off x="4389120" y="3127248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4553712" y="3127248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En zijn </a:t>
            </a:r>
            <a:r>
              <a:rPr lang="en-US" sz="1700" b="1" i="1" dirty="0">
                <a:solidFill>
                  <a:schemeClr val="accent1"/>
                </a:solidFill>
              </a:rPr>
              <a:t>dit</a:t>
            </a:r>
            <a:r>
              <a:rPr lang="en-US" sz="1700" i="1" dirty="0">
                <a:solidFill>
                  <a:schemeClr val="tx1"/>
                </a:solidFill>
              </a:rPr>
              <a:t> </a:t>
            </a:r>
            <a:r>
              <a:rPr lang="en-US" sz="1700" b="1" i="1" dirty="0">
                <a:solidFill>
                  <a:schemeClr val="accent2"/>
                </a:solidFill>
              </a:rPr>
              <a:t>jouw</a:t>
            </a:r>
            <a:r>
              <a:rPr lang="en-US" sz="1700" i="1" dirty="0">
                <a:solidFill>
                  <a:schemeClr val="tx1"/>
                </a:solidFill>
              </a:rPr>
              <a:t> sleutels?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5120640" y="3913632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5285232" y="3913632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Ja! Dat zijn </a:t>
            </a:r>
            <a:r>
              <a:rPr lang="en-US" sz="1700" b="1" i="1" dirty="0">
                <a:solidFill>
                  <a:schemeClr val="accent2"/>
                </a:solidFill>
              </a:rPr>
              <a:t>mijn</a:t>
            </a:r>
            <a:r>
              <a:rPr lang="en-US" sz="1700" i="1" dirty="0">
                <a:solidFill>
                  <a:schemeClr val="tx1"/>
                </a:solidFill>
              </a:rPr>
              <a:t> sleutels. Dank je!</a:t>
            </a:r>
            <a:endParaRPr lang="en-US" sz="1700" dirty="0"/>
          </a:p>
        </p:txBody>
      </p:sp>
      <p:sp>
        <p:nvSpPr>
          <p:cNvPr id="20" name="Shape 12"/>
          <p:cNvSpPr/>
          <p:nvPr/>
        </p:nvSpPr>
        <p:spPr>
          <a:xfrm>
            <a:off x="4389120" y="4700016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4553712" y="4700016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En </a:t>
            </a:r>
            <a:r>
              <a:rPr lang="en-US" sz="1700" b="1" i="1" dirty="0">
                <a:solidFill>
                  <a:schemeClr val="accent1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bril? Is dat </a:t>
            </a:r>
            <a:r>
              <a:rPr lang="en-US" sz="1700" b="1" i="1" dirty="0">
                <a:solidFill>
                  <a:schemeClr val="accent2"/>
                </a:solidFill>
              </a:rPr>
              <a:t>jouw</a:t>
            </a:r>
            <a:r>
              <a:rPr lang="en-US" sz="1700" i="1" dirty="0">
                <a:solidFill>
                  <a:schemeClr val="tx1"/>
                </a:solidFill>
              </a:rPr>
              <a:t> bril?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5120640" y="5486400"/>
            <a:ext cx="6492240" cy="676656"/>
          </a:xfrm>
          <a:prstGeom prst="roundRect">
            <a:avLst>
              <a:gd name="adj" fmla="val 24324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285232" y="5486400"/>
            <a:ext cx="61630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Nee, dat is de bril van meneer Maes.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possessifs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7315200" cy="36576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pronom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19456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possessif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oral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français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ik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194560" y="1965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mijn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3434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C2CF"/>
                </a:solidFill>
              </a:rPr>
              <a:t>m’n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mon, ma, mes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251460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jij / je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jouw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434340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C2CF"/>
                </a:solidFill>
              </a:rPr>
              <a:t>je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ton, ta, tes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06324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063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u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219456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E4A9E"/>
                </a:solidFill>
              </a:rPr>
              <a:t>uw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30632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4924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votre (politesse)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361188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hij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2194560" y="3611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zijn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343400" y="3611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C2CF"/>
                </a:solidFill>
              </a:rPr>
              <a:t>z’n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34924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son, sa, ses (à lui)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zij / ze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21945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haar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434340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C2CF"/>
                </a:solidFill>
              </a:rPr>
              <a:t>d’r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3492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son, sa, ses (à elle)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48640" y="470916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4709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wij / we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2194560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ons / onze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434340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5349240" y="4709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notre, nos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48640" y="525780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5800" y="5257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jullie</a:t>
            </a:r>
            <a:endParaRPr lang="en-US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2194560" y="5257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jullie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4343400" y="5257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C2CF"/>
                </a:solidFill>
              </a:rPr>
              <a:t>je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534924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votre, vos (plusieurs)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548640" y="5806440"/>
            <a:ext cx="7315200" cy="5029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5800" y="5806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zij / ze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2194560" y="5806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hun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4343400" y="5806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9" name="Text 46"/>
          <p:cNvSpPr txBox="1"/>
          <p:nvPr/>
        </p:nvSpPr>
        <p:spPr>
          <a:xfrm>
            <a:off x="5349240" y="5806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leur, leurs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8138160" y="1554480"/>
            <a:ext cx="3502152" cy="4389120"/>
          </a:xfrm>
          <a:prstGeom prst="roundRect">
            <a:avLst>
              <a:gd name="adj" fmla="val 2611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8321040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0" descr="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7103" y="1855135"/>
            <a:ext cx="294803" cy="294803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9034272" y="17007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Une seule forme</a:t>
            </a:r>
            <a:endParaRPr lang="en-US" sz="1900" dirty="0"/>
          </a:p>
        </p:txBody>
      </p:sp>
      <p:sp>
        <p:nvSpPr>
          <p:cNvPr id="54" name="Text 50"/>
          <p:cNvSpPr txBox="1"/>
          <p:nvPr/>
        </p:nvSpPr>
        <p:spPr>
          <a:xfrm>
            <a:off x="8339328" y="2423160"/>
            <a:ext cx="3099816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mijn</a:t>
            </a:r>
            <a:r>
              <a:rPr lang="en-US" sz="1600" i="1" dirty="0">
                <a:solidFill>
                  <a:schemeClr val="tx1"/>
                </a:solidFill>
              </a:rPr>
              <a:t> laptop · </a:t>
            </a:r>
            <a:r>
              <a:rPr lang="en-US" sz="1600" b="1" i="1" dirty="0">
                <a:solidFill>
                  <a:schemeClr val="tx1"/>
                </a:solidFill>
              </a:rPr>
              <a:t>mijn</a:t>
            </a:r>
            <a:r>
              <a:rPr lang="en-US" sz="1600" i="1" dirty="0">
                <a:solidFill>
                  <a:schemeClr val="tx1"/>
                </a:solidFill>
              </a:rPr>
              <a:t> tas · </a:t>
            </a:r>
            <a:r>
              <a:rPr lang="en-US" sz="1600" b="1" i="1" dirty="0">
                <a:solidFill>
                  <a:schemeClr val="tx1"/>
                </a:solidFill>
              </a:rPr>
              <a:t>mijn</a:t>
            </a:r>
            <a:r>
              <a:rPr lang="en-US" sz="1600" i="1" dirty="0">
                <a:solidFill>
                  <a:schemeClr val="tx1"/>
                </a:solidFill>
              </a:rPr>
              <a:t> boeken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FR : mon / ma / mes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Seul </a:t>
            </a:r>
            <a:r>
              <a:rPr lang="en-US" sz="1600" i="1" dirty="0">
                <a:solidFill>
                  <a:schemeClr val="tx1"/>
                </a:solidFill>
              </a:rPr>
              <a:t>ons / onze</a:t>
            </a:r>
            <a:r>
              <a:rPr lang="en-US" sz="1600" dirty="0">
                <a:solidFill>
                  <a:schemeClr val="tx1"/>
                </a:solidFill>
              </a:rPr>
              <a:t> change (diapo 6).</a:t>
            </a:r>
            <a:endParaRPr lang="en-US" sz="16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Formes courtes : l’oral (diapo 8).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son / sa — c’est le possesseur qui décide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Sofie et </a:t>
            </a:r>
            <a:r>
              <a:rPr lang="en-US" sz="1700" b="1" dirty="0">
                <a:solidFill>
                  <a:schemeClr val="tx1"/>
                </a:solidFill>
              </a:rPr>
              <a:t>son</a:t>
            </a:r>
            <a:r>
              <a:rPr lang="en-US" sz="1700" dirty="0">
                <a:solidFill>
                  <a:schemeClr val="tx1"/>
                </a:solidFill>
              </a:rPr>
              <a:t> frère »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Sofie en zijn broer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543800" y="2578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7909560" y="2221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2221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Sofie en </a:t>
            </a:r>
            <a:r>
              <a:rPr lang="en-US" sz="1800" b="1" i="1" dirty="0">
                <a:solidFill>
                  <a:schemeClr val="accent4"/>
                </a:solidFill>
              </a:rPr>
              <a:t>haar</a:t>
            </a:r>
            <a:r>
              <a:rPr lang="en-US" sz="1800" i="1" dirty="0">
                <a:solidFill>
                  <a:schemeClr val="tx1"/>
                </a:solidFill>
              </a:rPr>
              <a:t> broer</a:t>
            </a:r>
            <a:endParaRPr lang="en-US" sz="1800" dirty="0"/>
          </a:p>
        </p:txBody>
      </p:sp>
      <p:pic>
        <p:nvPicPr>
          <p:cNvPr id="13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291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Karim et </a:t>
            </a:r>
            <a:r>
              <a:rPr lang="en-US" sz="1700" b="1" dirty="0">
                <a:solidFill>
                  <a:schemeClr val="tx1"/>
                </a:solidFill>
              </a:rPr>
              <a:t>sa</a:t>
            </a:r>
            <a:r>
              <a:rPr lang="en-US" sz="1700" dirty="0">
                <a:solidFill>
                  <a:schemeClr val="tx1"/>
                </a:solidFill>
              </a:rPr>
              <a:t> femme »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3291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Karim en haar vrouw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543800" y="3721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7909560" y="3364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0" y="3364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Karim en </a:t>
            </a:r>
            <a:r>
              <a:rPr lang="en-US" sz="1800" b="1" i="1" dirty="0">
                <a:solidFill>
                  <a:schemeClr val="accent2"/>
                </a:solidFill>
              </a:rPr>
              <a:t>zijn</a:t>
            </a:r>
            <a:r>
              <a:rPr lang="en-US" sz="1800" i="1" dirty="0">
                <a:solidFill>
                  <a:schemeClr val="tx1"/>
                </a:solidFill>
              </a:rPr>
              <a:t> vrouw</a:t>
            </a:r>
            <a:endParaRPr lang="en-US" sz="1800" dirty="0"/>
          </a:p>
        </p:txBody>
      </p:sp>
      <p:pic>
        <p:nvPicPr>
          <p:cNvPr id="19" name="Image 2" descr="woman office wor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685800" cy="6858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4434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Sofie et </a:t>
            </a:r>
            <a:r>
              <a:rPr lang="en-US" sz="1700" b="1" dirty="0">
                <a:solidFill>
                  <a:schemeClr val="tx1"/>
                </a:solidFill>
              </a:rPr>
              <a:t>ses</a:t>
            </a:r>
            <a:r>
              <a:rPr lang="en-US" sz="1700" dirty="0">
                <a:solidFill>
                  <a:schemeClr val="tx1"/>
                </a:solidFill>
              </a:rPr>
              <a:t> collègues »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7543800" y="4864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7909560" y="4507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046720" y="4507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Sofie en </a:t>
            </a:r>
            <a:r>
              <a:rPr lang="en-US" sz="1800" b="1" i="1" dirty="0">
                <a:solidFill>
                  <a:schemeClr val="accent4"/>
                </a:solidFill>
              </a:rPr>
              <a:t>haar</a:t>
            </a:r>
            <a:r>
              <a:rPr lang="en-US" sz="1800" i="1" dirty="0">
                <a:solidFill>
                  <a:schemeClr val="tx1"/>
                </a:solidFill>
              </a:rPr>
              <a:t> collega’s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Question-réflexe : </a:t>
            </a:r>
            <a:r>
              <a:rPr lang="en-US" sz="1700" b="1" dirty="0">
                <a:solidFill>
                  <a:schemeClr val="bg1"/>
                </a:solidFill>
              </a:rPr>
              <a:t>à lui</a:t>
            </a:r>
            <a:r>
              <a:rPr lang="en-US" sz="1700" dirty="0">
                <a:solidFill>
                  <a:schemeClr val="bg1"/>
                </a:solidFill>
              </a:rPr>
              <a:t> → </a:t>
            </a:r>
            <a:r>
              <a:rPr lang="en-US" sz="1700" b="1" i="1" dirty="0">
                <a:solidFill>
                  <a:schemeClr val="bg1"/>
                </a:solidFill>
              </a:rPr>
              <a:t>zijn</a:t>
            </a:r>
            <a:r>
              <a:rPr lang="en-US" sz="1700" dirty="0">
                <a:solidFill>
                  <a:schemeClr val="bg1"/>
                </a:solidFill>
              </a:rPr>
              <a:t> · </a:t>
            </a:r>
            <a:r>
              <a:rPr lang="en-US" sz="1700" b="1" dirty="0">
                <a:solidFill>
                  <a:schemeClr val="bg1"/>
                </a:solidFill>
              </a:rPr>
              <a:t>à elle</a:t>
            </a:r>
            <a:r>
              <a:rPr lang="en-US" sz="1700" dirty="0">
                <a:solidFill>
                  <a:schemeClr val="bg1"/>
                </a:solidFill>
              </a:rPr>
              <a:t> → </a:t>
            </a:r>
            <a:r>
              <a:rPr lang="en-US" sz="1700" b="1" i="1" dirty="0">
                <a:solidFill>
                  <a:schemeClr val="bg1"/>
                </a:solidFill>
              </a:rPr>
              <a:t>haar</a:t>
            </a:r>
            <a:r>
              <a:rPr lang="en-US" sz="1700" dirty="0">
                <a:solidFill>
                  <a:schemeClr val="bg1"/>
                </a:solidFill>
              </a:rPr>
              <a:t> — l’objet (frère, femme) ne compte pas !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ons ou onze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3175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83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7830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1783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ons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+ mot </a:t>
            </a:r>
            <a:r>
              <a:rPr lang="en-US" sz="1600" i="1" dirty="0">
                <a:solidFill>
                  <a:schemeClr val="accent5"/>
                </a:solidFill>
              </a:rPr>
              <a:t>het</a:t>
            </a:r>
            <a:r>
              <a:rPr lang="en-US" sz="1600" i="1" dirty="0">
                <a:solidFill>
                  <a:schemeClr val="accent5"/>
                </a:solidFill>
              </a:rPr>
              <a:t> au singulier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ons kantoor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ons team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ons bedrijf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6227064" y="1554480"/>
            <a:ext cx="5413248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3175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55664" y="178308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55664" y="17830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 + pluriel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64424" y="178308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513064" y="1783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onze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6501384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+ mot </a:t>
            </a:r>
            <a:r>
              <a:rPr lang="en-US" sz="1600" i="1" dirty="0">
                <a:solidFill>
                  <a:schemeClr val="accent5"/>
                </a:solidFill>
              </a:rPr>
              <a:t>de</a:t>
            </a:r>
            <a:r>
              <a:rPr lang="en-US" sz="1600" i="1" dirty="0">
                <a:solidFill>
                  <a:schemeClr val="accent5"/>
                </a:solidFill>
              </a:rPr>
              <a:t> ou pluriel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501384" y="3337560"/>
            <a:ext cx="4937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onze klant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onze directeur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onze collega’s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onze kantoren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Le seul possessif qui change. Même logique que l’adjectif (M21) : </a:t>
            </a:r>
            <a:r>
              <a:rPr lang="en-US" sz="1800" i="1" dirty="0">
                <a:solidFill>
                  <a:schemeClr val="bg1"/>
                </a:solidFill>
              </a:rPr>
              <a:t>ons</a:t>
            </a:r>
            <a:r>
              <a:rPr lang="en-US" sz="1800" dirty="0">
                <a:solidFill>
                  <a:schemeClr val="bg1"/>
                </a:solidFill>
              </a:rPr>
              <a:t> + </a:t>
            </a:r>
            <a:r>
              <a:rPr lang="en-US" sz="1800" i="1" dirty="0">
                <a:solidFill>
                  <a:schemeClr val="bg1"/>
                </a:solidFill>
              </a:rPr>
              <a:t>het</a:t>
            </a:r>
            <a:r>
              <a:rPr lang="en-US" sz="1800" dirty="0">
                <a:solidFill>
                  <a:schemeClr val="bg1"/>
                </a:solidFill>
              </a:rPr>
              <a:t> au singulier.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votre, leur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3977640"/>
          </a:xfrm>
          <a:prstGeom prst="roundRect">
            <a:avLst>
              <a:gd name="adj" fmla="val 1839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Monsieur, </a:t>
            </a:r>
            <a:r>
              <a:rPr lang="en-US" sz="1700" b="1" dirty="0">
                <a:solidFill>
                  <a:schemeClr val="tx1"/>
                </a:solidFill>
              </a:rPr>
              <a:t>votre</a:t>
            </a:r>
            <a:r>
              <a:rPr lang="en-US" sz="1700" dirty="0">
                <a:solidFill>
                  <a:schemeClr val="tx1"/>
                </a:solidFill>
              </a:rPr>
              <a:t> café ! » (une personne, politesse)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543800" y="2578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7909560" y="2221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46720" y="2221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Meneer, </a:t>
            </a:r>
            <a:r>
              <a:rPr lang="en-US" sz="1800" b="1" i="1" dirty="0">
                <a:solidFill>
                  <a:schemeClr val="tx2"/>
                </a:solidFill>
              </a:rPr>
              <a:t>uw</a:t>
            </a:r>
            <a:r>
              <a:rPr lang="en-US" sz="1800" i="1" dirty="0">
                <a:solidFill>
                  <a:schemeClr val="tx1"/>
                </a:solidFill>
              </a:rPr>
              <a:t> koffie!</a:t>
            </a:r>
            <a:endParaRPr lang="en-US" sz="1800" dirty="0"/>
          </a:p>
        </p:txBody>
      </p:sp>
      <p:pic>
        <p:nvPicPr>
          <p:cNvPr id="12" name="Image 1" descr="busts in silhouet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685800" cy="6858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291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Les amis, </a:t>
            </a:r>
            <a:r>
              <a:rPr lang="en-US" sz="1700" b="1" dirty="0">
                <a:solidFill>
                  <a:schemeClr val="tx1"/>
                </a:solidFill>
              </a:rPr>
              <a:t>votre</a:t>
            </a:r>
            <a:r>
              <a:rPr lang="en-US" sz="1700" dirty="0">
                <a:solidFill>
                  <a:schemeClr val="tx1"/>
                </a:solidFill>
              </a:rPr>
              <a:t> café ! » (plusieurs personnes)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543800" y="3721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7909560" y="3364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046720" y="3364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Jongens, </a:t>
            </a:r>
            <a:r>
              <a:rPr lang="en-US" sz="1800" b="1" i="1" dirty="0">
                <a:solidFill>
                  <a:schemeClr val="tx2"/>
                </a:solidFill>
              </a:rPr>
              <a:t>jullie</a:t>
            </a:r>
            <a:r>
              <a:rPr lang="en-US" sz="1800" i="1" dirty="0">
                <a:solidFill>
                  <a:schemeClr val="tx1"/>
                </a:solidFill>
              </a:rPr>
              <a:t> koffie!</a:t>
            </a:r>
            <a:endParaRPr lang="en-US" sz="1800" dirty="0"/>
          </a:p>
        </p:txBody>
      </p:sp>
      <p:pic>
        <p:nvPicPr>
          <p:cNvPr id="17" name="Image 2" descr="auto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26280"/>
            <a:ext cx="685800" cy="6858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434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Ils cherchent </a:t>
            </a:r>
            <a:r>
              <a:rPr lang="en-US" sz="1700" b="1" dirty="0">
                <a:solidFill>
                  <a:schemeClr val="tx1"/>
                </a:solidFill>
              </a:rPr>
              <a:t>leur</a:t>
            </a:r>
            <a:r>
              <a:rPr lang="en-US" sz="1700" dirty="0">
                <a:solidFill>
                  <a:schemeClr val="tx1"/>
                </a:solidFill>
              </a:rPr>
              <a:t> voiture. »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4846320" y="4434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Ze zoeken zijn auto.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543800" y="4864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7909560" y="4507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046720" y="4507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Ze zoeken </a:t>
            </a:r>
            <a:r>
              <a:rPr lang="en-US" sz="1800" b="1" i="1" dirty="0">
                <a:solidFill>
                  <a:schemeClr val="tx2"/>
                </a:solidFill>
              </a:rPr>
              <a:t>hun</a:t>
            </a:r>
            <a:r>
              <a:rPr lang="en-US" sz="1800" i="1" dirty="0">
                <a:solidFill>
                  <a:schemeClr val="tx1"/>
                </a:solidFill>
              </a:rPr>
              <a:t> auto.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uw</a:t>
            </a:r>
            <a:r>
              <a:rPr lang="en-US" sz="1700" dirty="0">
                <a:solidFill>
                  <a:schemeClr val="bg1"/>
                </a:solidFill>
              </a:rPr>
              <a:t> = vous (une personne, M8) · </a:t>
            </a:r>
            <a:r>
              <a:rPr lang="en-US" sz="1700" i="1" dirty="0">
                <a:solidFill>
                  <a:schemeClr val="bg1"/>
                </a:solidFill>
              </a:rPr>
              <a:t>jullie</a:t>
            </a:r>
            <a:r>
              <a:rPr lang="en-US" sz="1700" dirty="0">
                <a:solidFill>
                  <a:schemeClr val="bg1"/>
                </a:solidFill>
              </a:rPr>
              <a:t> = vous (plusieurs) · </a:t>
            </a:r>
            <a:r>
              <a:rPr lang="en-US" sz="1700" i="1" dirty="0">
                <a:solidFill>
                  <a:schemeClr val="bg1"/>
                </a:solidFill>
              </a:rPr>
              <a:t>hun</a:t>
            </a:r>
            <a:r>
              <a:rPr lang="en-US" sz="1700" dirty="0">
                <a:solidFill>
                  <a:schemeClr val="bg1"/>
                </a:solidFill>
              </a:rPr>
              <a:t> = leur, jamais sujet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formes courtes de l’oral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4709160"/>
          </a:xfrm>
          <a:prstGeom prst="roundRect">
            <a:avLst>
              <a:gd name="adj" fmla="val 3883"/>
            </a:avLst>
          </a:prstGeom>
          <a:solidFill>
            <a:srgbClr val="EEF3F8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6" name="Image 0" descr="mobile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Berichten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2423160"/>
            <a:ext cx="4206240" cy="749808"/>
          </a:xfrm>
          <a:prstGeom prst="roundRect">
            <a:avLst>
              <a:gd name="adj" fmla="val 3048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960120" y="24231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Ik bel </a:t>
            </a:r>
            <a:r>
              <a:rPr lang="en-US" sz="1900" b="1" i="1" dirty="0">
                <a:solidFill>
                  <a:schemeClr val="accent2"/>
                </a:solidFill>
              </a:rPr>
              <a:t>m’n</a:t>
            </a:r>
            <a:r>
              <a:rPr lang="en-US" sz="1900" i="1" dirty="0">
                <a:solidFill>
                  <a:schemeClr val="tx1"/>
                </a:solidFill>
              </a:rPr>
              <a:t> moeder.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2103120" y="3355848"/>
            <a:ext cx="4206240" cy="749808"/>
          </a:xfrm>
          <a:prstGeom prst="roundRect">
            <a:avLst>
              <a:gd name="adj" fmla="val 30488"/>
            </a:avLst>
          </a:prstGeom>
          <a:solidFill>
            <a:srgbClr val="DCF2E3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286000" y="335584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Waar is </a:t>
            </a:r>
            <a:r>
              <a:rPr lang="en-US" sz="1900" b="1" i="1" dirty="0">
                <a:solidFill>
                  <a:schemeClr val="accent2"/>
                </a:solidFill>
              </a:rPr>
              <a:t>je</a:t>
            </a:r>
            <a:r>
              <a:rPr lang="en-US" sz="1900" i="1" dirty="0">
                <a:solidFill>
                  <a:schemeClr val="tx1"/>
                </a:solidFill>
              </a:rPr>
              <a:t> jas?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777240" y="4288536"/>
            <a:ext cx="4206240" cy="749808"/>
          </a:xfrm>
          <a:prstGeom prst="roundRect">
            <a:avLst>
              <a:gd name="adj" fmla="val 30488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60120" y="428853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Hij zoekt </a:t>
            </a:r>
            <a:r>
              <a:rPr lang="en-US" sz="1900" b="1" i="1" dirty="0">
                <a:solidFill>
                  <a:schemeClr val="accent2"/>
                </a:solidFill>
              </a:rPr>
              <a:t>z’n</a:t>
            </a:r>
            <a:r>
              <a:rPr lang="en-US" sz="1900" i="1" dirty="0">
                <a:solidFill>
                  <a:schemeClr val="tx1"/>
                </a:solidFill>
              </a:rPr>
              <a:t> sleutels.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2103120" y="5221224"/>
            <a:ext cx="4206240" cy="749808"/>
          </a:xfrm>
          <a:prstGeom prst="roundRect">
            <a:avLst>
              <a:gd name="adj" fmla="val 30488"/>
            </a:avLst>
          </a:prstGeom>
          <a:solidFill>
            <a:srgbClr val="DCF2E3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286000" y="522122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Ze komt met </a:t>
            </a:r>
            <a:r>
              <a:rPr lang="en-US" sz="1900" b="1" i="1" dirty="0">
                <a:solidFill>
                  <a:schemeClr val="accent2"/>
                </a:solidFill>
              </a:rPr>
              <a:t>d’r</a:t>
            </a:r>
            <a:r>
              <a:rPr lang="en-US" sz="1900" i="1" dirty="0">
                <a:solidFill>
                  <a:schemeClr val="tx1"/>
                </a:solidFill>
              </a:rPr>
              <a:t> man.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6858000" y="1554480"/>
            <a:ext cx="4782312" cy="219456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Volume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43" y="185513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54112" y="17007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Pour insister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7059168" y="2423160"/>
            <a:ext cx="437997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la forme pleine, accentuée :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Is dat </a:t>
            </a:r>
            <a:r>
              <a:rPr lang="en-US" sz="1700" b="1" i="1" dirty="0">
                <a:solidFill>
                  <a:schemeClr val="tx1"/>
                </a:solidFill>
              </a:rPr>
              <a:t>jóuw</a:t>
            </a:r>
            <a:r>
              <a:rPr lang="en-US" sz="1700" i="1" dirty="0">
                <a:solidFill>
                  <a:schemeClr val="tx1"/>
                </a:solidFill>
              </a:rPr>
              <a:t> pen of </a:t>
            </a:r>
            <a:r>
              <a:rPr lang="en-US" sz="1700" b="1" i="1" dirty="0">
                <a:solidFill>
                  <a:schemeClr val="tx1"/>
                </a:solidFill>
              </a:rPr>
              <a:t>míjn</a:t>
            </a:r>
            <a:r>
              <a:rPr lang="en-US" sz="1700" i="1" dirty="0">
                <a:solidFill>
                  <a:schemeClr val="tx1"/>
                </a:solidFill>
              </a:rPr>
              <a:t> pen?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6858000" y="3977640"/>
            <a:ext cx="4782312" cy="22860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40880" y="414223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Envelop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943" y="4278295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54112" y="4123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À l’écrit formel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7059168" y="4846320"/>
            <a:ext cx="437997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Toujours la forme pleine (M10) :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mijn, zijn, haar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Formes courtes : à reconnaître.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Les démonstratifs : deze, dit, die, dat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proche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loin</a:t>
            </a:r>
            <a:endParaRPr lang="en-US" sz="1600" dirty="0"/>
          </a:p>
        </p:txBody>
      </p:sp>
      <p:pic>
        <p:nvPicPr>
          <p:cNvPr id="7" name="Image 0" descr="HandPap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554480"/>
            <a:ext cx="329184" cy="329184"/>
          </a:xfrm>
          <a:prstGeom prst="rect">
            <a:avLst/>
          </a:prstGeom>
        </p:spPr>
      </p:pic>
      <p:pic>
        <p:nvPicPr>
          <p:cNvPr id="8" name="Image 1" descr="HandPoint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329184" cy="3291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201168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1168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mot DE + pluriel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2743200" y="2011680"/>
            <a:ext cx="4206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423160"/>
            <a:ext cx="868680" cy="8686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3192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deze</a:t>
            </a:r>
            <a:endParaRPr lang="en-US" sz="3400" dirty="0"/>
          </a:p>
        </p:txBody>
      </p:sp>
      <p:sp>
        <p:nvSpPr>
          <p:cNvPr id="14" name="Text 8"/>
          <p:cNvSpPr txBox="1"/>
          <p:nvPr/>
        </p:nvSpPr>
        <p:spPr>
          <a:xfrm>
            <a:off x="393192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deze stoel · deze mappen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132320" y="2011680"/>
            <a:ext cx="4206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cha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2423160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4066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die</a:t>
            </a:r>
            <a:endParaRPr lang="en-US" sz="3400" dirty="0"/>
          </a:p>
        </p:txBody>
      </p:sp>
      <p:sp>
        <p:nvSpPr>
          <p:cNvPr id="18" name="Text 11"/>
          <p:cNvSpPr txBox="1"/>
          <p:nvPr/>
        </p:nvSpPr>
        <p:spPr>
          <a:xfrm>
            <a:off x="7406640" y="2926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die stoel · die mappen</a:t>
            </a:r>
            <a:endParaRPr lang="en-US" sz="1700" dirty="0"/>
          </a:p>
        </p:txBody>
      </p:sp>
      <p:sp>
        <p:nvSpPr>
          <p:cNvPr id="19" name="Shape 12"/>
          <p:cNvSpPr/>
          <p:nvPr/>
        </p:nvSpPr>
        <p:spPr>
          <a:xfrm>
            <a:off x="548640" y="3794760"/>
            <a:ext cx="2057400" cy="164592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94360" y="3794760"/>
            <a:ext cx="1965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mot HET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2743200" y="3794760"/>
            <a:ext cx="4206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desktop comput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206240"/>
            <a:ext cx="868680" cy="86868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31920" y="3886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dit</a:t>
            </a:r>
            <a:endParaRPr lang="en-US" sz="3400" dirty="0"/>
          </a:p>
        </p:txBody>
      </p:sp>
      <p:sp>
        <p:nvSpPr>
          <p:cNvPr id="24" name="Text 16"/>
          <p:cNvSpPr txBox="1"/>
          <p:nvPr/>
        </p:nvSpPr>
        <p:spPr>
          <a:xfrm>
            <a:off x="3931920" y="4709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dit bureau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7132320" y="3794760"/>
            <a:ext cx="4206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6" name="Image 5" descr="desktop compu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4206240"/>
            <a:ext cx="548640" cy="54864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06640" y="38862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</a:t>
            </a:r>
            <a:endParaRPr lang="en-US" sz="3400" dirty="0"/>
          </a:p>
        </p:txBody>
      </p:sp>
      <p:sp>
        <p:nvSpPr>
          <p:cNvPr id="28" name="Text 19"/>
          <p:cNvSpPr txBox="1"/>
          <p:nvPr/>
        </p:nvSpPr>
        <p:spPr>
          <a:xfrm>
            <a:off x="7406640" y="4709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dat bureau</a:t>
            </a:r>
            <a:endParaRPr lang="en-US" sz="1700" dirty="0"/>
          </a:p>
        </p:txBody>
      </p:sp>
      <p:sp>
        <p:nvSpPr>
          <p:cNvPr id="29" name="Shape 20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 distance est </a:t>
            </a:r>
            <a:r>
              <a:rPr lang="en-US" sz="1800" b="1" dirty="0">
                <a:solidFill>
                  <a:schemeClr val="bg1"/>
                </a:solidFill>
              </a:rPr>
              <a:t>dans le mot</a:t>
            </a:r>
            <a:r>
              <a:rPr lang="en-US" sz="1800" dirty="0">
                <a:solidFill>
                  <a:schemeClr val="bg1"/>
                </a:solidFill>
              </a:rPr>
              <a:t> (FR : « -ci / -là ») · pluriel : toujours </a:t>
            </a:r>
            <a:r>
              <a:rPr lang="en-US" sz="1800" i="1" dirty="0">
                <a:solidFill>
                  <a:schemeClr val="bg1"/>
                </a:solidFill>
              </a:rPr>
              <a:t>deze / die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ce, cette, ces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pic>
        <p:nvPicPr>
          <p:cNvPr id="7" name="Image 0" descr="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1488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</a:t>
            </a:r>
            <a:r>
              <a:rPr lang="en-US" sz="1700" b="1" dirty="0">
                <a:solidFill>
                  <a:schemeClr val="tx1"/>
                </a:solidFill>
              </a:rPr>
              <a:t>cette</a:t>
            </a:r>
            <a:r>
              <a:rPr lang="en-US" sz="1700" dirty="0">
                <a:solidFill>
                  <a:schemeClr val="tx1"/>
                </a:solidFill>
              </a:rPr>
              <a:t> maison »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846320" y="21488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✗ </a:t>
            </a:r>
            <a:r>
              <a:rPr lang="en-US" sz="1500" i="1" strike="sngStrike" dirty="0">
                <a:solidFill>
                  <a:schemeClr val="accent6"/>
                </a:solidFill>
              </a:rPr>
              <a:t>deze huis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543800" y="2578608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7909560" y="2221992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0" y="2221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accent1"/>
                </a:solidFill>
              </a:rPr>
              <a:t>dit</a:t>
            </a:r>
            <a:r>
              <a:rPr lang="en-US" sz="1800" i="1" dirty="0">
                <a:solidFill>
                  <a:schemeClr val="tx1"/>
                </a:solidFill>
              </a:rPr>
              <a:t> huis (</a:t>
            </a:r>
            <a:r>
              <a:rPr lang="en-US" sz="1800" dirty="0">
                <a:solidFill>
                  <a:schemeClr val="tx1"/>
                </a:solidFill>
              </a:rPr>
              <a:t>het</a:t>
            </a:r>
            <a:r>
              <a:rPr lang="en-US" sz="1800" i="1" dirty="0">
                <a:solidFill>
                  <a:schemeClr val="tx1"/>
                </a:solidFill>
              </a:rPr>
              <a:t> huis)</a:t>
            </a:r>
            <a:endParaRPr lang="en-US" sz="1800" dirty="0"/>
          </a:p>
        </p:txBody>
      </p:sp>
      <p:pic>
        <p:nvPicPr>
          <p:cNvPr id="13" name="Image 1" descr="office buil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3639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304495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</a:t>
            </a:r>
            <a:r>
              <a:rPr lang="en-US" sz="1700" b="1" dirty="0">
                <a:solidFill>
                  <a:schemeClr val="tx1"/>
                </a:solidFill>
              </a:rPr>
              <a:t>ce</a:t>
            </a:r>
            <a:r>
              <a:rPr lang="en-US" sz="1700" dirty="0">
                <a:solidFill>
                  <a:schemeClr val="tx1"/>
                </a:solidFill>
              </a:rPr>
              <a:t> bâtiment »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7543800" y="3474720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909560" y="3118104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0" y="311810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accent1"/>
                </a:solidFill>
              </a:rPr>
              <a:t>dit</a:t>
            </a:r>
            <a:r>
              <a:rPr lang="en-US" sz="1800" i="1" dirty="0">
                <a:solidFill>
                  <a:schemeClr val="tx1"/>
                </a:solidFill>
              </a:rPr>
              <a:t> gebouw (</a:t>
            </a:r>
            <a:r>
              <a:rPr lang="en-US" sz="1800" dirty="0">
                <a:solidFill>
                  <a:schemeClr val="tx1"/>
                </a:solidFill>
              </a:rPr>
              <a:t>het</a:t>
            </a:r>
            <a:r>
              <a:rPr lang="en-US" sz="1800" i="1" dirty="0">
                <a:solidFill>
                  <a:schemeClr val="tx1"/>
                </a:solidFill>
              </a:rPr>
              <a:t>)</a:t>
            </a:r>
            <a:endParaRPr lang="en-US" sz="1800" dirty="0"/>
          </a:p>
        </p:txBody>
      </p:sp>
      <p:pic>
        <p:nvPicPr>
          <p:cNvPr id="18" name="Image 2" descr="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32504"/>
            <a:ext cx="685800" cy="6858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941064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</a:t>
            </a:r>
            <a:r>
              <a:rPr lang="en-US" sz="1700" b="1" dirty="0">
                <a:solidFill>
                  <a:schemeClr val="tx1"/>
                </a:solidFill>
              </a:rPr>
              <a:t>ce</a:t>
            </a:r>
            <a:r>
              <a:rPr lang="en-US" sz="1700" dirty="0">
                <a:solidFill>
                  <a:schemeClr val="tx1"/>
                </a:solidFill>
              </a:rPr>
              <a:t> stylo »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7543800" y="4370832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7909560" y="4014216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046720" y="401421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tx2"/>
                </a:solidFill>
              </a:rPr>
              <a:t>deze</a:t>
            </a:r>
            <a:r>
              <a:rPr lang="en-US" sz="1800" i="1" dirty="0">
                <a:solidFill>
                  <a:schemeClr val="tx1"/>
                </a:solidFill>
              </a:rPr>
              <a:t> pen (</a:t>
            </a:r>
            <a:r>
              <a:rPr lang="en-US" sz="1800" dirty="0">
                <a:solidFill>
                  <a:schemeClr val="tx1"/>
                </a:solidFill>
              </a:rPr>
              <a:t>de</a:t>
            </a:r>
            <a:r>
              <a:rPr lang="en-US" sz="1800" i="1" dirty="0">
                <a:solidFill>
                  <a:schemeClr val="tx1"/>
                </a:solidFill>
              </a:rPr>
              <a:t>)</a:t>
            </a:r>
            <a:endParaRPr lang="en-US" sz="1800" dirty="0"/>
          </a:p>
        </p:txBody>
      </p:sp>
      <p:pic>
        <p:nvPicPr>
          <p:cNvPr id="23" name="Image 3" descr="desktop comp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685800" cy="6858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00200" y="483717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« </a:t>
            </a:r>
            <a:r>
              <a:rPr lang="en-US" sz="1700" b="1" dirty="0">
                <a:solidFill>
                  <a:schemeClr val="tx1"/>
                </a:solidFill>
              </a:rPr>
              <a:t>ces</a:t>
            </a:r>
            <a:r>
              <a:rPr lang="en-US" sz="1700" dirty="0">
                <a:solidFill>
                  <a:schemeClr val="tx1"/>
                </a:solidFill>
              </a:rPr>
              <a:t> bureaux »</a:t>
            </a:r>
            <a:endParaRPr lang="en-US" sz="1700" dirty="0"/>
          </a:p>
        </p:txBody>
      </p:sp>
      <p:sp>
        <p:nvSpPr>
          <p:cNvPr id="25" name="Shape 18"/>
          <p:cNvSpPr/>
          <p:nvPr/>
        </p:nvSpPr>
        <p:spPr>
          <a:xfrm>
            <a:off x="7543800" y="5266944"/>
            <a:ext cx="32004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909560" y="4910328"/>
            <a:ext cx="356616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046720" y="49103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b="1" i="1" dirty="0">
                <a:solidFill>
                  <a:schemeClr val="tx2"/>
                </a:solidFill>
              </a:rPr>
              <a:t>deze</a:t>
            </a:r>
            <a:r>
              <a:rPr lang="en-US" sz="1800" i="1" dirty="0">
                <a:solidFill>
                  <a:schemeClr val="tx1"/>
                </a:solidFill>
              </a:rPr>
              <a:t> bureaus (pluriel)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548640" y="571500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22960" y="57150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Masculin ou féminin en français ne dit rien : </a:t>
            </a:r>
            <a:r>
              <a:rPr lang="en-US" sz="1700" i="1" dirty="0">
                <a:solidFill>
                  <a:schemeClr val="bg1"/>
                </a:solidFill>
              </a:rPr>
              <a:t>de</a:t>
            </a:r>
            <a:r>
              <a:rPr lang="en-US" sz="1700" dirty="0">
                <a:solidFill>
                  <a:schemeClr val="bg1"/>
                </a:solidFill>
              </a:rPr>
              <a:t> → </a:t>
            </a:r>
            <a:r>
              <a:rPr lang="en-US" sz="1700" i="1" dirty="0">
                <a:solidFill>
                  <a:schemeClr val="bg1"/>
                </a:solidFill>
              </a:rPr>
              <a:t>deze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i="1" dirty="0">
                <a:solidFill>
                  <a:schemeClr val="bg1"/>
                </a:solidFill>
              </a:rPr>
              <a:t>het</a:t>
            </a:r>
            <a:r>
              <a:rPr lang="en-US" sz="1700" dirty="0">
                <a:solidFill>
                  <a:schemeClr val="bg1"/>
                </a:solidFill>
              </a:rPr>
              <a:t> → </a:t>
            </a:r>
            <a:r>
              <a:rPr lang="en-US" sz="1700" i="1" dirty="0">
                <a:solidFill>
                  <a:schemeClr val="bg1"/>
                </a:solidFill>
              </a:rPr>
              <a:t>dit</a:t>
            </a:r>
            <a:r>
              <a:rPr lang="en-US" sz="1700" dirty="0">
                <a:solidFill>
                  <a:schemeClr val="bg1"/>
                </a:solidFill>
              </a:rPr>
              <a:t>, pluriel → </a:t>
            </a:r>
            <a:r>
              <a:rPr lang="en-US" sz="1700" i="1" dirty="0">
                <a:solidFill>
                  <a:schemeClr val="bg1"/>
                </a:solidFill>
              </a:rPr>
              <a:t>deze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Dit is… · Dat zijn… : présenter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94360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38100">
            <a:solidFill>
              <a:srgbClr val="17375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37360"/>
            <a:ext cx="5577840" cy="2926080"/>
          </a:xfrm>
          <a:prstGeom prst="rect">
            <a:avLst/>
          </a:prstGeom>
          <a:solidFill>
            <a:srgbClr val="EAF1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woman office wo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1234440" cy="1234440"/>
          </a:xfrm>
          <a:prstGeom prst="rect">
            <a:avLst/>
          </a:prstGeom>
        </p:spPr>
      </p:pic>
      <p:pic>
        <p:nvPicPr>
          <p:cNvPr id="8" name="Image 1" descr="man office wor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77440"/>
            <a:ext cx="1234440" cy="1234440"/>
          </a:xfrm>
          <a:prstGeom prst="rect">
            <a:avLst/>
          </a:prstGeom>
        </p:spPr>
      </p:pic>
      <p:pic>
        <p:nvPicPr>
          <p:cNvPr id="9" name="Image 2" descr="gir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377440"/>
            <a:ext cx="1234440" cy="1234440"/>
          </a:xfrm>
          <a:prstGeom prst="rect">
            <a:avLst/>
          </a:prstGeom>
        </p:spPr>
      </p:pic>
      <p:pic>
        <p:nvPicPr>
          <p:cNvPr id="10" name="Image 3" descr="bo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77440"/>
            <a:ext cx="1234440" cy="123444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6766560" y="1554480"/>
            <a:ext cx="4873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Dit is</a:t>
            </a:r>
            <a:r>
              <a:rPr lang="en-US" sz="2100" i="1" dirty="0">
                <a:solidFill>
                  <a:schemeClr val="tx1"/>
                </a:solidFill>
              </a:rPr>
              <a:t> mijn collega Sofie.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Dat is</a:t>
            </a:r>
            <a:r>
              <a:rPr lang="en-US" sz="2100" i="1" dirty="0">
                <a:solidFill>
                  <a:schemeClr val="tx1"/>
                </a:solidFill>
              </a:rPr>
              <a:t> onze directeur.</a:t>
            </a:r>
            <a:endParaRPr lang="en-US" sz="2100" dirty="0"/>
          </a:p>
        </p:txBody>
      </p:sp>
      <p:sp>
        <p:nvSpPr>
          <p:cNvPr id="12" name="Text 5"/>
          <p:cNvSpPr txBox="1"/>
          <p:nvPr/>
        </p:nvSpPr>
        <p:spPr>
          <a:xfrm>
            <a:off x="6766560" y="2834640"/>
            <a:ext cx="4873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Dit zijn</a:t>
            </a:r>
            <a:r>
              <a:rPr lang="en-US" sz="2100" i="1" dirty="0">
                <a:solidFill>
                  <a:schemeClr val="tx1"/>
                </a:solidFill>
              </a:rPr>
              <a:t> mijn kinderen.</a:t>
            </a:r>
            <a:endParaRPr lang="en-US" sz="21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100" b="1" i="1" dirty="0">
                <a:solidFill>
                  <a:schemeClr val="tx1"/>
                </a:solidFill>
              </a:rPr>
              <a:t>Dat zijn</a:t>
            </a:r>
            <a:r>
              <a:rPr lang="en-US" sz="2100" i="1" dirty="0">
                <a:solidFill>
                  <a:schemeClr val="tx1"/>
                </a:solidFill>
              </a:rPr>
              <a:t> onze klanten.</a:t>
            </a:r>
            <a:endParaRPr lang="en-US" sz="2100" dirty="0"/>
          </a:p>
        </p:txBody>
      </p:sp>
      <p:sp>
        <p:nvSpPr>
          <p:cNvPr id="13" name="tag"/>
          <p:cNvSpPr/>
          <p:nvPr/>
        </p:nvSpPr>
        <p:spPr>
          <a:xfrm>
            <a:off x="6766560" y="4069080"/>
            <a:ext cx="2469794" cy="329184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verbe au pluriel !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77240" y="502920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dit / dat</a:t>
            </a:r>
            <a:r>
              <a:rPr lang="en-US" sz="1700" dirty="0">
                <a:solidFill>
                  <a:schemeClr val="tx1"/>
                </a:solidFill>
              </a:rPr>
              <a:t> ne changent pas, même pour une personne ou un pluriel : c’est le </a:t>
            </a:r>
            <a:r>
              <a:rPr lang="en-US" sz="1700" b="1" dirty="0">
                <a:solidFill>
                  <a:schemeClr val="tx1"/>
                </a:solidFill>
              </a:rPr>
              <a:t>verbe</a:t>
            </a:r>
            <a:r>
              <a:rPr lang="en-US" sz="1700" dirty="0">
                <a:solidFill>
                  <a:schemeClr val="tx1"/>
                </a:solidFill>
              </a:rPr>
              <a:t> qui s’accorde.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Aperçu : </a:t>
            </a:r>
            <a:r>
              <a:rPr lang="en-US" sz="1700" i="1" dirty="0">
                <a:solidFill>
                  <a:schemeClr val="tx1"/>
                </a:solidFill>
              </a:rPr>
              <a:t>Ken je Sofie? — Ja, </a:t>
            </a:r>
            <a:r>
              <a:rPr lang="en-US" sz="1700" b="1" i="1" dirty="0">
                <a:solidFill>
                  <a:schemeClr val="tx1"/>
                </a:solidFill>
              </a:rPr>
              <a:t>die</a:t>
            </a:r>
            <a:r>
              <a:rPr lang="en-US" sz="1700" i="1" dirty="0">
                <a:solidFill>
                  <a:schemeClr val="tx1"/>
                </a:solidFill>
              </a:rPr>
              <a:t> ken ik.</a:t>
            </a:r>
            <a:r>
              <a:rPr lang="en-US" sz="1700" dirty="0">
                <a:solidFill>
                  <a:schemeClr val="tx1"/>
                </a:solidFill>
              </a:rPr>
              <a:t> (= celle-là)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Van wie is dit? — van mij, van jou…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3611880"/>
            <a:ext cx="5852160" cy="164592"/>
          </a:xfrm>
          <a:prstGeom prst="rect">
            <a:avLst/>
          </a:prstGeom>
          <a:solidFill>
            <a:srgbClr val="C9A2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68880"/>
            <a:ext cx="1097280" cy="1097280"/>
          </a:xfrm>
          <a:prstGeom prst="rect">
            <a:avLst/>
          </a:prstGeom>
        </p:spPr>
      </p:pic>
      <p:sp>
        <p:nvSpPr>
          <p:cNvPr id="7" name="tag"/>
          <p:cNvSpPr/>
          <p:nvPr/>
        </p:nvSpPr>
        <p:spPr>
          <a:xfrm>
            <a:off x="673913" y="3931920"/>
            <a:ext cx="1183996" cy="329184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van mij</a:t>
            </a:r>
            <a:endParaRPr lang="en-US" sz="1300" dirty="0"/>
          </a:p>
        </p:txBody>
      </p:sp>
      <p:pic>
        <p:nvPicPr>
          <p:cNvPr id="8" name="Image 1" descr="closed umbrel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468880"/>
            <a:ext cx="1097280" cy="1097280"/>
          </a:xfrm>
          <a:prstGeom prst="rect">
            <a:avLst/>
          </a:prstGeom>
        </p:spPr>
      </p:pic>
      <p:sp>
        <p:nvSpPr>
          <p:cNvPr id="9" name="tag"/>
          <p:cNvSpPr/>
          <p:nvPr/>
        </p:nvSpPr>
        <p:spPr>
          <a:xfrm>
            <a:off x="2083003" y="3931920"/>
            <a:ext cx="1300886" cy="329184"/>
          </a:xfrm>
          <a:prstGeom prst="roundRect">
            <a:avLst>
              <a:gd name="adj" fmla="val 13889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van haar</a:t>
            </a:r>
            <a:endParaRPr lang="en-US" sz="1300" dirty="0"/>
          </a:p>
        </p:txBody>
      </p:sp>
      <p:pic>
        <p:nvPicPr>
          <p:cNvPr id="10" name="Image 2" descr="glass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468880"/>
            <a:ext cx="1097280" cy="1097280"/>
          </a:xfrm>
          <a:prstGeom prst="rect">
            <a:avLst/>
          </a:prstGeom>
        </p:spPr>
      </p:pic>
      <p:sp>
        <p:nvSpPr>
          <p:cNvPr id="11" name="tag"/>
          <p:cNvSpPr/>
          <p:nvPr/>
        </p:nvSpPr>
        <p:spPr>
          <a:xfrm>
            <a:off x="3599993" y="3931920"/>
            <a:ext cx="1183996" cy="329184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van hem</a:t>
            </a:r>
            <a:endParaRPr lang="en-US" sz="1300" dirty="0"/>
          </a:p>
        </p:txBody>
      </p:sp>
      <p:pic>
        <p:nvPicPr>
          <p:cNvPr id="12" name="Image 3" descr="lap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68880"/>
            <a:ext cx="1097280" cy="1097280"/>
          </a:xfrm>
          <a:prstGeom prst="rect">
            <a:avLst/>
          </a:prstGeom>
        </p:spPr>
      </p:pic>
      <p:sp>
        <p:nvSpPr>
          <p:cNvPr id="13" name="tag"/>
          <p:cNvSpPr/>
          <p:nvPr/>
        </p:nvSpPr>
        <p:spPr>
          <a:xfrm>
            <a:off x="5063033" y="3931920"/>
            <a:ext cx="1183996" cy="329184"/>
          </a:xfrm>
          <a:prstGeom prst="roundRect">
            <a:avLst>
              <a:gd name="adj" fmla="val 1388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van ons</a:t>
            </a:r>
            <a:endParaRPr lang="en-US" sz="1300" dirty="0"/>
          </a:p>
        </p:txBody>
      </p:sp>
      <p:sp>
        <p:nvSpPr>
          <p:cNvPr id="14" name="Shape 7"/>
          <p:cNvSpPr/>
          <p:nvPr/>
        </p:nvSpPr>
        <p:spPr>
          <a:xfrm>
            <a:off x="548640" y="1554480"/>
            <a:ext cx="5852160" cy="777240"/>
          </a:xfrm>
          <a:prstGeom prst="roundRect">
            <a:avLst>
              <a:gd name="adj" fmla="val 2117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13232" y="1554480"/>
            <a:ext cx="5522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Van wie is deze sleutel? — Die is </a:t>
            </a:r>
            <a:r>
              <a:rPr lang="en-US" sz="1900" b="1" i="1" dirty="0">
                <a:solidFill>
                  <a:schemeClr val="tx1"/>
                </a:solidFill>
              </a:rPr>
              <a:t>van mij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16" name="Shape 9"/>
          <p:cNvSpPr/>
          <p:nvPr/>
        </p:nvSpPr>
        <p:spPr>
          <a:xfrm>
            <a:off x="6675120" y="1554480"/>
            <a:ext cx="4965192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6858000" y="1645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VAN + PRONOM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6858000" y="20116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van </a:t>
            </a:r>
            <a:r>
              <a:rPr lang="en-US" sz="2100" b="1" i="1" dirty="0">
                <a:solidFill>
                  <a:schemeClr val="tx1"/>
                </a:solidFill>
              </a:rPr>
              <a:t>mij</a:t>
            </a:r>
            <a:r>
              <a:rPr lang="en-US" sz="2100" i="1" dirty="0">
                <a:solidFill>
                  <a:schemeClr val="tx1"/>
                </a:solidFill>
              </a:rPr>
              <a:t> · van </a:t>
            </a:r>
            <a:r>
              <a:rPr lang="en-US" sz="2100" b="1" i="1" dirty="0">
                <a:solidFill>
                  <a:schemeClr val="tx1"/>
                </a:solidFill>
              </a:rPr>
              <a:t>jou</a:t>
            </a:r>
            <a:r>
              <a:rPr lang="en-US" sz="2100" i="1" dirty="0">
                <a:solidFill>
                  <a:schemeClr val="tx1"/>
                </a:solidFill>
              </a:rPr>
              <a:t> · van </a:t>
            </a:r>
            <a:r>
              <a:rPr lang="en-US" sz="2100" b="1" i="1" dirty="0">
                <a:solidFill>
                  <a:schemeClr val="tx1"/>
                </a:solidFill>
              </a:rPr>
              <a:t>u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van </a:t>
            </a:r>
            <a:r>
              <a:rPr lang="en-US" sz="2100" b="1" i="1" dirty="0">
                <a:solidFill>
                  <a:schemeClr val="tx1"/>
                </a:solidFill>
              </a:rPr>
              <a:t>hem</a:t>
            </a:r>
            <a:r>
              <a:rPr lang="en-US" sz="2100" i="1" dirty="0">
                <a:solidFill>
                  <a:schemeClr val="tx1"/>
                </a:solidFill>
              </a:rPr>
              <a:t> · van </a:t>
            </a:r>
            <a:r>
              <a:rPr lang="en-US" sz="2100" b="1" i="1" dirty="0">
                <a:solidFill>
                  <a:schemeClr val="tx1"/>
                </a:solidFill>
              </a:rPr>
              <a:t>haar</a:t>
            </a:r>
            <a:endParaRPr lang="en-US" sz="21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van </a:t>
            </a:r>
            <a:r>
              <a:rPr lang="en-US" sz="2100" b="1" i="1" dirty="0">
                <a:solidFill>
                  <a:schemeClr val="tx1"/>
                </a:solidFill>
              </a:rPr>
              <a:t>ons</a:t>
            </a:r>
            <a:r>
              <a:rPr lang="en-US" sz="2100" i="1" dirty="0">
                <a:solidFill>
                  <a:schemeClr val="tx1"/>
                </a:solidFill>
              </a:rPr>
              <a:t> · van </a:t>
            </a:r>
            <a:r>
              <a:rPr lang="en-US" sz="2100" b="1" i="1" dirty="0">
                <a:solidFill>
                  <a:schemeClr val="tx1"/>
                </a:solidFill>
              </a:rPr>
              <a:t>jullie</a:t>
            </a:r>
            <a:r>
              <a:rPr lang="en-US" sz="2100" i="1" dirty="0">
                <a:solidFill>
                  <a:schemeClr val="tx1"/>
                </a:solidFill>
              </a:rPr>
              <a:t> · van </a:t>
            </a:r>
            <a:r>
              <a:rPr lang="en-US" sz="2100" b="1" i="1" dirty="0">
                <a:solidFill>
                  <a:schemeClr val="tx1"/>
                </a:solidFill>
              </a:rPr>
              <a:t>hen</a:t>
            </a:r>
            <a:endParaRPr lang="en-US" sz="2100" dirty="0"/>
          </a:p>
        </p:txBody>
      </p:sp>
      <p:sp>
        <p:nvSpPr>
          <p:cNvPr id="19" name="Shape 12"/>
          <p:cNvSpPr/>
          <p:nvPr/>
        </p:nvSpPr>
        <p:spPr>
          <a:xfrm>
            <a:off x="548640" y="4663440"/>
            <a:ext cx="11091672" cy="1600200"/>
          </a:xfrm>
          <a:prstGeom prst="roundRect">
            <a:avLst>
              <a:gd name="adj" fmla="val 4571"/>
            </a:avLst>
          </a:prstGeom>
          <a:solidFill>
            <a:schemeClr val="accent5">
              <a:alpha val="10000"/>
            </a:schemeClr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20" name="tag"/>
          <p:cNvSpPr/>
          <p:nvPr/>
        </p:nvSpPr>
        <p:spPr>
          <a:xfrm>
            <a:off x="777240" y="4773168"/>
            <a:ext cx="1338682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+ APERÇU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Is dit jouw jas? — Ja, het is </a:t>
            </a:r>
            <a:r>
              <a:rPr lang="en-US" sz="1700" b="1" i="1" dirty="0">
                <a:solidFill>
                  <a:schemeClr val="tx1"/>
                </a:solidFill>
              </a:rPr>
              <a:t>de mijne</a:t>
            </a:r>
            <a:r>
              <a:rPr lang="en-US" sz="1700" i="1" dirty="0">
                <a:solidFill>
                  <a:schemeClr val="tx1"/>
                </a:solidFill>
              </a:rPr>
              <a:t>.</a:t>
            </a:r>
            <a:r>
              <a:rPr lang="en-US" sz="1700" dirty="0">
                <a:solidFill>
                  <a:schemeClr val="tx1"/>
                </a:solidFill>
              </a:rPr>
              <a:t> (le mien)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À l’oral, on entend aussi </a:t>
            </a:r>
            <a:r>
              <a:rPr lang="en-US" sz="1700" i="1" dirty="0">
                <a:solidFill>
                  <a:schemeClr val="tx1"/>
                </a:solidFill>
              </a:rPr>
              <a:t>van hun</a:t>
            </a:r>
            <a:r>
              <a:rPr lang="en-US" sz="1700" dirty="0">
                <a:solidFill>
                  <a:schemeClr val="tx1"/>
                </a:solidFill>
              </a:rPr>
              <a:t> (à la place de </a:t>
            </a:r>
            <a:r>
              <a:rPr lang="en-US" sz="1700" i="1" dirty="0">
                <a:solidFill>
                  <a:schemeClr val="tx1"/>
                </a:solidFill>
              </a:rPr>
              <a:t>van hen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posséder, montrer, demander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71907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855135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44752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Posséder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mijn, jouw, uw, zijn, haar, ons / onze, jullie, hun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à lui → </a:t>
            </a:r>
            <a:r>
              <a:rPr lang="en-US" sz="1800" b="1" i="1" dirty="0">
                <a:solidFill>
                  <a:schemeClr val="tx1"/>
                </a:solidFill>
              </a:rPr>
              <a:t>zijn</a:t>
            </a:r>
            <a:r>
              <a:rPr lang="en-US" sz="1800" dirty="0">
                <a:solidFill>
                  <a:schemeClr val="tx1"/>
                </a:solidFill>
              </a:rPr>
              <a:t> · à elle → </a:t>
            </a:r>
            <a:r>
              <a:rPr lang="en-US" sz="1800" b="1" i="1" dirty="0">
                <a:solidFill>
                  <a:schemeClr val="tx1"/>
                </a:solidFill>
              </a:rPr>
              <a:t>haar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ons</a:t>
            </a:r>
            <a:r>
              <a:rPr lang="en-US" sz="1800" dirty="0">
                <a:solidFill>
                  <a:schemeClr val="tx1"/>
                </a:solidFill>
              </a:rPr>
              <a:t> + </a:t>
            </a:r>
            <a:r>
              <a:rPr lang="en-US" sz="1800" i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; sinon </a:t>
            </a:r>
            <a:r>
              <a:rPr lang="en-US" sz="1800" b="1" i="1" dirty="0">
                <a:solidFill>
                  <a:schemeClr val="tx1"/>
                </a:solidFill>
              </a:rPr>
              <a:t>onze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22064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04944" y="171907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HandPoint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007" y="1855135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8176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Montrer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4523232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+ pluriel → </a:t>
            </a:r>
            <a:r>
              <a:rPr lang="en-US" sz="1800" b="1" i="1" dirty="0">
                <a:solidFill>
                  <a:schemeClr val="tx1"/>
                </a:solidFill>
              </a:rPr>
              <a:t>deze / die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b="1" i="1" dirty="0">
                <a:solidFill>
                  <a:schemeClr val="tx1"/>
                </a:solidFill>
              </a:rPr>
              <a:t>dit / dat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présenter : </a:t>
            </a:r>
            <a:r>
              <a:rPr lang="en-US" sz="1800" i="1" dirty="0">
                <a:solidFill>
                  <a:schemeClr val="tx1"/>
                </a:solidFill>
              </a:rPr>
              <a:t>Dit is… · Dat zijn…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8095488" y="1554480"/>
            <a:ext cx="3544824" cy="4023360"/>
          </a:xfrm>
          <a:prstGeom prst="roundRect">
            <a:avLst>
              <a:gd name="adj" fmla="val 258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78368" y="1719072"/>
            <a:ext cx="566928" cy="566928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4431" y="1855135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91600" y="1700784"/>
            <a:ext cx="2511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E4A9E"/>
                </a:solidFill>
              </a:rPr>
              <a:t>Demander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296656" y="2423160"/>
            <a:ext cx="3142488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Van wie is dit?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Van mij · van haar · van hen.</a:t>
            </a:r>
            <a:endParaRPr lang="en-US" sz="1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Is dit jouw pen?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Ce schéma est la référence pour tous les exercices.</a:t>
            </a:r>
            <a:endParaRPr lang="en-US" sz="1400" dirty="0"/>
          </a:p>
        </p:txBody>
      </p:sp>
      <p:pic>
        <p:nvPicPr>
          <p:cNvPr id="21" name="Image 3" descr="Came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bon possessif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Balance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ons ou onze 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HandPoint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deze, dit, die ou dat ?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Traduction piège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BoxOp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objets trouvés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Imag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L’album photo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 bon possessif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le bon possessif. À qui est-ce ?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dirty="0">
                <a:solidFill>
                  <a:schemeClr val="tx1"/>
                </a:solidFill>
              </a:rPr>
              <a:t>Karim zoekt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sleutels.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dirty="0">
                <a:solidFill>
                  <a:schemeClr val="tx1"/>
                </a:solidFill>
              </a:rPr>
              <a:t>Sofie belt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moeder.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dirty="0">
                <a:solidFill>
                  <a:schemeClr val="tx1"/>
                </a:solidFill>
              </a:rPr>
              <a:t>We vergaderen in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vergaderzaal.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dirty="0">
                <a:solidFill>
                  <a:schemeClr val="tx1"/>
                </a:solidFill>
              </a:rPr>
              <a:t>Meneer Maes, is dit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jas?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6300216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dirty="0">
                <a:solidFill>
                  <a:schemeClr val="tx1"/>
                </a:solidFill>
              </a:rPr>
              <a:t>Jongens, waar zijn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laptops?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dirty="0">
                <a:solidFill>
                  <a:schemeClr val="tx1"/>
                </a:solidFill>
              </a:rPr>
              <a:t>De klanten wachten op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facturen.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dirty="0">
                <a:solidFill>
                  <a:schemeClr val="tx1"/>
                </a:solidFill>
              </a:rPr>
              <a:t>Ik neem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lunch mee.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dirty="0">
                <a:solidFill>
                  <a:schemeClr val="tx1"/>
                </a:solidFill>
              </a:rPr>
              <a:t>Heb jij </a:t>
            </a:r>
            <a:r>
              <a:rPr lang="en-US" sz="2100" dirty="0">
                <a:solidFill>
                  <a:schemeClr val="accent5"/>
                </a:solidFill>
              </a:rPr>
              <a:t>…………</a:t>
            </a:r>
            <a:r>
              <a:rPr lang="en-US" sz="2100" dirty="0">
                <a:solidFill>
                  <a:schemeClr val="tx1"/>
                </a:solidFill>
              </a:rPr>
              <a:t> badge?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Le bon possessif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le bon possessif. À qui est-ce ?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  </a:t>
            </a:r>
            <a:r>
              <a:rPr lang="en-US" sz="2100" dirty="0">
                <a:solidFill>
                  <a:schemeClr val="tx1"/>
                </a:solidFill>
              </a:rPr>
              <a:t>Karim zoekt </a:t>
            </a:r>
            <a:r>
              <a:rPr lang="en-US" sz="2100" b="1" dirty="0">
                <a:solidFill>
                  <a:schemeClr val="accent3"/>
                </a:solidFill>
              </a:rPr>
              <a:t>zijn</a:t>
            </a:r>
            <a:r>
              <a:rPr lang="en-US" sz="2100" dirty="0">
                <a:solidFill>
                  <a:schemeClr val="tx1"/>
                </a:solidFill>
              </a:rPr>
              <a:t> sleutels.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  </a:t>
            </a:r>
            <a:r>
              <a:rPr lang="en-US" sz="2100" dirty="0">
                <a:solidFill>
                  <a:schemeClr val="tx1"/>
                </a:solidFill>
              </a:rPr>
              <a:t>Sofie belt </a:t>
            </a:r>
            <a:r>
              <a:rPr lang="en-US" sz="2100" b="1" dirty="0">
                <a:solidFill>
                  <a:schemeClr val="accent3"/>
                </a:solidFill>
              </a:rPr>
              <a:t>haar</a:t>
            </a:r>
            <a:r>
              <a:rPr lang="en-US" sz="2100" dirty="0">
                <a:solidFill>
                  <a:schemeClr val="tx1"/>
                </a:solidFill>
              </a:rPr>
              <a:t> moeder.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  </a:t>
            </a:r>
            <a:r>
              <a:rPr lang="en-US" sz="2100" dirty="0">
                <a:solidFill>
                  <a:schemeClr val="tx1"/>
                </a:solidFill>
              </a:rPr>
              <a:t>We vergaderen in </a:t>
            </a:r>
            <a:r>
              <a:rPr lang="en-US" sz="2100" b="1" dirty="0">
                <a:solidFill>
                  <a:schemeClr val="accent3"/>
                </a:solidFill>
              </a:rPr>
              <a:t>onze</a:t>
            </a:r>
            <a:r>
              <a:rPr lang="en-US" sz="2100" dirty="0">
                <a:solidFill>
                  <a:schemeClr val="tx1"/>
                </a:solidFill>
              </a:rPr>
              <a:t> vergaderzaal.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  </a:t>
            </a:r>
            <a:r>
              <a:rPr lang="en-US" sz="2100" dirty="0">
                <a:solidFill>
                  <a:schemeClr val="tx1"/>
                </a:solidFill>
              </a:rPr>
              <a:t>Meneer Maes, is dit </a:t>
            </a:r>
            <a:r>
              <a:rPr lang="en-US" sz="2100" b="1" dirty="0">
                <a:solidFill>
                  <a:schemeClr val="accent3"/>
                </a:solidFill>
              </a:rPr>
              <a:t>uw</a:t>
            </a:r>
            <a:r>
              <a:rPr lang="en-US" sz="2100" dirty="0">
                <a:solidFill>
                  <a:schemeClr val="tx1"/>
                </a:solidFill>
              </a:rPr>
              <a:t> jas?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6300216" y="2115312"/>
            <a:ext cx="534009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  </a:t>
            </a:r>
            <a:r>
              <a:rPr lang="en-US" sz="2100" dirty="0">
                <a:solidFill>
                  <a:schemeClr val="tx1"/>
                </a:solidFill>
              </a:rPr>
              <a:t>Jongens, waar zijn </a:t>
            </a:r>
            <a:r>
              <a:rPr lang="en-US" sz="2100" b="1" dirty="0">
                <a:solidFill>
                  <a:schemeClr val="accent3"/>
                </a:solidFill>
              </a:rPr>
              <a:t>jullie</a:t>
            </a:r>
            <a:r>
              <a:rPr lang="en-US" sz="2100" dirty="0">
                <a:solidFill>
                  <a:schemeClr val="tx1"/>
                </a:solidFill>
              </a:rPr>
              <a:t> laptops?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6  </a:t>
            </a:r>
            <a:r>
              <a:rPr lang="en-US" sz="2100" dirty="0">
                <a:solidFill>
                  <a:schemeClr val="tx1"/>
                </a:solidFill>
              </a:rPr>
              <a:t>De klanten wachten op </a:t>
            </a:r>
            <a:r>
              <a:rPr lang="en-US" sz="2100" b="1" dirty="0">
                <a:solidFill>
                  <a:schemeClr val="accent3"/>
                </a:solidFill>
              </a:rPr>
              <a:t>hun</a:t>
            </a:r>
            <a:r>
              <a:rPr lang="en-US" sz="2100" dirty="0">
                <a:solidFill>
                  <a:schemeClr val="tx1"/>
                </a:solidFill>
              </a:rPr>
              <a:t> facturen.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7  </a:t>
            </a:r>
            <a:r>
              <a:rPr lang="en-US" sz="2100" dirty="0">
                <a:solidFill>
                  <a:schemeClr val="tx1"/>
                </a:solidFill>
              </a:rPr>
              <a:t>Ik neem </a:t>
            </a:r>
            <a:r>
              <a:rPr lang="en-US" sz="2100" b="1" dirty="0">
                <a:solidFill>
                  <a:schemeClr val="accent3"/>
                </a:solidFill>
              </a:rPr>
              <a:t>mijn</a:t>
            </a:r>
            <a:r>
              <a:rPr lang="en-US" sz="2100" dirty="0">
                <a:solidFill>
                  <a:schemeClr val="tx1"/>
                </a:solidFill>
              </a:rPr>
              <a:t> lunch mee.</a:t>
            </a:r>
            <a:endParaRPr lang="en-US" sz="2100" dirty="0"/>
          </a:p>
          <a:p>
            <a:pPr indent="0" marL="0">
              <a:spcAft>
                <a:spcPts val="24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8  </a:t>
            </a:r>
            <a:r>
              <a:rPr lang="en-US" sz="2100" dirty="0">
                <a:solidFill>
                  <a:schemeClr val="tx1"/>
                </a:solidFill>
              </a:rPr>
              <a:t>Heb jij </a:t>
            </a:r>
            <a:r>
              <a:rPr lang="en-US" sz="2100" b="1" dirty="0">
                <a:solidFill>
                  <a:schemeClr val="accent3"/>
                </a:solidFill>
              </a:rPr>
              <a:t>jouw</a:t>
            </a:r>
            <a:r>
              <a:rPr lang="en-US" sz="2100" dirty="0">
                <a:solidFill>
                  <a:schemeClr val="tx1"/>
                </a:solidFill>
              </a:rPr>
              <a:t> badge?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n° 3 : </a:t>
            </a:r>
            <a:r>
              <a:rPr lang="en-US" sz="1500" i="1" dirty="0">
                <a:solidFill>
                  <a:schemeClr val="accent5"/>
                </a:solidFill>
              </a:rPr>
              <a:t>de</a:t>
            </a:r>
            <a:r>
              <a:rPr lang="en-US" sz="1500" i="1" dirty="0">
                <a:solidFill>
                  <a:schemeClr val="accent5"/>
                </a:solidFill>
              </a:rPr>
              <a:t> vergaderzaal → </a:t>
            </a:r>
            <a:r>
              <a:rPr lang="en-US" sz="1500" i="1" dirty="0">
                <a:solidFill>
                  <a:schemeClr val="accent5"/>
                </a:solidFill>
              </a:rPr>
              <a:t>onze</a:t>
            </a:r>
            <a:r>
              <a:rPr lang="en-US" sz="1500" i="1" dirty="0">
                <a:solidFill>
                  <a:schemeClr val="accent5"/>
                </a:solidFill>
              </a:rPr>
              <a:t> · n° 8 : aussi </a:t>
            </a:r>
            <a:r>
              <a:rPr lang="en-US" sz="1500" i="1" dirty="0">
                <a:solidFill>
                  <a:schemeClr val="accent5"/>
                </a:solidFill>
              </a:rPr>
              <a:t>je</a:t>
            </a:r>
            <a:r>
              <a:rPr lang="en-US" sz="1500" i="1" dirty="0">
                <a:solidFill>
                  <a:schemeClr val="accent5"/>
                </a:solidFill>
              </a:rPr>
              <a:t> (forme courte)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ons ou onze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 : ons ou onze ? Regardez l’article.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594360" y="193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kantoor </a:t>
            </a:r>
            <a:r>
              <a:rPr lang="en-US" sz="1700" dirty="0">
                <a:solidFill>
                  <a:srgbClr val="B8C2CF"/>
                </a:solidFill>
              </a:rPr>
              <a:t>(het)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2807208" y="19324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852928" y="193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team </a:t>
            </a:r>
            <a:r>
              <a:rPr lang="en-US" sz="1700" dirty="0">
                <a:solidFill>
                  <a:srgbClr val="B8C2CF"/>
                </a:solidFill>
              </a:rPr>
              <a:t>(het)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065776" y="19324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111496" y="193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klant </a:t>
            </a:r>
            <a:r>
              <a:rPr lang="en-US" sz="1700" dirty="0">
                <a:solidFill>
                  <a:srgbClr val="B8C2CF"/>
                </a:solidFill>
              </a:rPr>
              <a:t>(de)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324344" y="19324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7370064" y="193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collega’s </a:t>
            </a:r>
            <a:r>
              <a:rPr lang="en-US" sz="1700" dirty="0">
                <a:solidFill>
                  <a:srgbClr val="B8C2CF"/>
                </a:solidFill>
              </a:rPr>
              <a:t>(mv.)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582912" y="19324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9628632" y="19324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huis </a:t>
            </a:r>
            <a:r>
              <a:rPr lang="en-US" sz="1700" dirty="0">
                <a:solidFill>
                  <a:srgbClr val="B8C2CF"/>
                </a:solidFill>
              </a:rPr>
              <a:t>(het)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26182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594360" y="2618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auto </a:t>
            </a:r>
            <a:r>
              <a:rPr lang="en-US" sz="1700" dirty="0">
                <a:solidFill>
                  <a:srgbClr val="B8C2CF"/>
                </a:solidFill>
              </a:rPr>
              <a:t>(de)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2807208" y="26182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2852928" y="2618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bedrijf </a:t>
            </a:r>
            <a:r>
              <a:rPr lang="en-US" sz="1700" dirty="0">
                <a:solidFill>
                  <a:srgbClr val="B8C2CF"/>
                </a:solidFill>
              </a:rPr>
              <a:t>(het)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065776" y="26182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5111496" y="2618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directeur </a:t>
            </a:r>
            <a:r>
              <a:rPr lang="en-US" sz="1700" dirty="0">
                <a:solidFill>
                  <a:srgbClr val="B8C2CF"/>
                </a:solidFill>
              </a:rPr>
              <a:t>(de)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7324344" y="26182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7370064" y="2618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kinderen </a:t>
            </a:r>
            <a:r>
              <a:rPr lang="en-US" sz="1700" dirty="0">
                <a:solidFill>
                  <a:srgbClr val="B8C2CF"/>
                </a:solidFill>
              </a:rPr>
              <a:t>(mv.)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9582912" y="2618232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bg1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9628632" y="26182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adres </a:t>
            </a:r>
            <a:r>
              <a:rPr lang="en-US" sz="1700" dirty="0">
                <a:solidFill>
                  <a:srgbClr val="B8C2CF"/>
                </a:solidFill>
              </a:rPr>
              <a:t>(het)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48640" y="3532632"/>
            <a:ext cx="5468112" cy="2758440"/>
          </a:xfrm>
          <a:prstGeom prst="roundRect">
            <a:avLst>
              <a:gd name="adj" fmla="val 2652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3532632"/>
            <a:ext cx="5468112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353263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</a:rPr>
              <a:t>ONS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6172200" y="3532632"/>
            <a:ext cx="5468112" cy="2758440"/>
          </a:xfrm>
          <a:prstGeom prst="roundRect">
            <a:avLst>
              <a:gd name="adj" fmla="val 2652"/>
            </a:avLst>
          </a:prstGeom>
          <a:solidFill>
            <a:schemeClr val="tx2">
              <a:alpha val="10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172200" y="3532632"/>
            <a:ext cx="546811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72200" y="353263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</a:rPr>
              <a:t>ONZE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ons ou onze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mots : ons ou onze ? Regardez l’article.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23872"/>
            <a:ext cx="5468112" cy="4267200"/>
          </a:xfrm>
          <a:prstGeom prst="roundRect">
            <a:avLst>
              <a:gd name="adj" fmla="val 1714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2023872"/>
            <a:ext cx="5468112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20238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</a:rPr>
              <a:t>ONS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801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kantoor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801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team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578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huis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578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bedrijf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43555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ons</a:t>
            </a:r>
            <a:r>
              <a:rPr lang="en-US" sz="2200" i="1" dirty="0">
                <a:solidFill>
                  <a:schemeClr val="tx1"/>
                </a:solidFill>
              </a:rPr>
              <a:t> adres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172200" y="2023872"/>
            <a:ext cx="5468112" cy="4267200"/>
          </a:xfrm>
          <a:prstGeom prst="roundRect">
            <a:avLst>
              <a:gd name="adj" fmla="val 1714"/>
            </a:avLst>
          </a:prstGeom>
          <a:solidFill>
            <a:schemeClr val="tx2">
              <a:alpha val="10000"/>
            </a:schemeClr>
          </a:solidFill>
          <a:ln w="25400">
            <a:solidFill>
              <a:srgbClr val="17375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2023872"/>
            <a:ext cx="5468112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72200" y="2023872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chemeClr val="bg1"/>
                </a:solidFill>
              </a:rPr>
              <a:t>ONZE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6446520" y="2801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onze</a:t>
            </a:r>
            <a:r>
              <a:rPr lang="en-US" sz="2200" i="1" dirty="0">
                <a:solidFill>
                  <a:schemeClr val="tx1"/>
                </a:solidFill>
              </a:rPr>
              <a:t> klant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9006840" y="28011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onze</a:t>
            </a:r>
            <a:r>
              <a:rPr lang="en-US" sz="2200" i="1" dirty="0">
                <a:solidFill>
                  <a:schemeClr val="tx1"/>
                </a:solidFill>
              </a:rPr>
              <a:t> collega’s</a:t>
            </a:r>
            <a:endParaRPr 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446520" y="3578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onze</a:t>
            </a:r>
            <a:r>
              <a:rPr lang="en-US" sz="2200" i="1" dirty="0">
                <a:solidFill>
                  <a:schemeClr val="tx1"/>
                </a:solidFill>
              </a:rPr>
              <a:t> auto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9006840" y="35783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onze</a:t>
            </a:r>
            <a:r>
              <a:rPr lang="en-US" sz="2200" i="1" dirty="0">
                <a:solidFill>
                  <a:schemeClr val="tx1"/>
                </a:solidFill>
              </a:rPr>
              <a:t> directeur</a:t>
            </a:r>
            <a:endParaRPr lang="en-US" sz="2200" dirty="0"/>
          </a:p>
        </p:txBody>
      </p:sp>
      <p:sp>
        <p:nvSpPr>
          <p:cNvPr id="24" name="Text 20"/>
          <p:cNvSpPr txBox="1"/>
          <p:nvPr/>
        </p:nvSpPr>
        <p:spPr>
          <a:xfrm>
            <a:off x="6446520" y="43555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chemeClr val="tx1"/>
                </a:solidFill>
              </a:rPr>
              <a:t>onze</a:t>
            </a:r>
            <a:r>
              <a:rPr lang="en-US" sz="2200" i="1" dirty="0">
                <a:solidFill>
                  <a:schemeClr val="tx1"/>
                </a:solidFill>
              </a:rPr>
              <a:t> kinderen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deze, dit, die ou dat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La main = proche, le doigt = loin. Regardez aussi l’article.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58368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1" name="Image 1" descr="Hand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478" y="2069592"/>
            <a:ext cx="347472" cy="347472"/>
          </a:xfrm>
          <a:prstGeom prst="rect">
            <a:avLst/>
          </a:prstGeom>
        </p:spPr>
      </p:pic>
      <p:pic>
        <p:nvPicPr>
          <p:cNvPr id="12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599" y="2252472"/>
            <a:ext cx="1005840" cy="10058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stoel</a:t>
            </a:r>
            <a:endParaRPr lang="en-US" sz="2000" dirty="0"/>
          </a:p>
        </p:txBody>
      </p:sp>
      <p:sp>
        <p:nvSpPr>
          <p:cNvPr id="14" name="Text 8"/>
          <p:cNvSpPr txBox="1"/>
          <p:nvPr/>
        </p:nvSpPr>
        <p:spPr>
          <a:xfrm>
            <a:off x="1097280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(de)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477006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3477006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3" descr="HandPoint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116" y="2069592"/>
            <a:ext cx="347472" cy="347472"/>
          </a:xfrm>
          <a:prstGeom prst="rect">
            <a:avLst/>
          </a:prstGeom>
        </p:spPr>
      </p:pic>
      <p:pic>
        <p:nvPicPr>
          <p:cNvPr id="19" name="Image 4" descr="wind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237" y="2252472"/>
            <a:ext cx="1005840" cy="10058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3458718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raam</a:t>
            </a:r>
            <a:endParaRPr lang="en-US" sz="2000" dirty="0"/>
          </a:p>
        </p:txBody>
      </p:sp>
      <p:sp>
        <p:nvSpPr>
          <p:cNvPr id="21" name="Text 13"/>
          <p:cNvSpPr txBox="1"/>
          <p:nvPr/>
        </p:nvSpPr>
        <p:spPr>
          <a:xfrm>
            <a:off x="3915918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295644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295644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5" name="Image 5" descr="HandPap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754" y="2069592"/>
            <a:ext cx="347472" cy="347472"/>
          </a:xfrm>
          <a:prstGeom prst="rect">
            <a:avLst/>
          </a:prstGeom>
        </p:spPr>
      </p:pic>
      <p:pic>
        <p:nvPicPr>
          <p:cNvPr id="26" name="Image 6" descr="desktop compu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2252472"/>
            <a:ext cx="1005840" cy="100584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277356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bureau</a:t>
            </a:r>
            <a:endParaRPr lang="en-US" sz="2000" dirty="0"/>
          </a:p>
        </p:txBody>
      </p:sp>
      <p:sp>
        <p:nvSpPr>
          <p:cNvPr id="28" name="Text 18"/>
          <p:cNvSpPr txBox="1"/>
          <p:nvPr/>
        </p:nvSpPr>
        <p:spPr>
          <a:xfrm>
            <a:off x="6734556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29" name="Shape 19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9114282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9114282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32" name="Image 7" descr="HandPointRigh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2069592"/>
            <a:ext cx="347472" cy="347472"/>
          </a:xfrm>
          <a:prstGeom prst="rect">
            <a:avLst/>
          </a:prstGeom>
        </p:spPr>
      </p:pic>
      <p:pic>
        <p:nvPicPr>
          <p:cNvPr id="33" name="Image 8" descr="prin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9513" y="2252472"/>
            <a:ext cx="1005840" cy="100584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095994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printer</a:t>
            </a:r>
            <a:endParaRPr lang="en-US" sz="2000" dirty="0"/>
          </a:p>
        </p:txBody>
      </p:sp>
      <p:sp>
        <p:nvSpPr>
          <p:cNvPr id="35" name="Text 23"/>
          <p:cNvSpPr txBox="1"/>
          <p:nvPr/>
        </p:nvSpPr>
        <p:spPr>
          <a:xfrm>
            <a:off x="9553194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(de)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58368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6"/>
          <p:cNvSpPr txBox="1"/>
          <p:nvPr/>
        </p:nvSpPr>
        <p:spPr>
          <a:xfrm>
            <a:off x="658368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39" name="Image 9" descr="HandPap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1478" y="4340352"/>
            <a:ext cx="347472" cy="347472"/>
          </a:xfrm>
          <a:prstGeom prst="rect">
            <a:avLst/>
          </a:prstGeom>
        </p:spPr>
      </p:pic>
      <p:pic>
        <p:nvPicPr>
          <p:cNvPr id="40" name="Image 10" descr="file fold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3599" y="4523232"/>
            <a:ext cx="1005840" cy="100584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40080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mappen</a:t>
            </a:r>
            <a:endParaRPr lang="en-US" sz="2000" dirty="0"/>
          </a:p>
        </p:txBody>
      </p:sp>
      <p:sp>
        <p:nvSpPr>
          <p:cNvPr id="42" name="Text 28"/>
          <p:cNvSpPr txBox="1"/>
          <p:nvPr/>
        </p:nvSpPr>
        <p:spPr>
          <a:xfrm>
            <a:off x="1097280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(mv.)</a:t>
            </a:r>
            <a:endParaRPr lang="en-US" sz="1300" dirty="0"/>
          </a:p>
        </p:txBody>
      </p:sp>
      <p:sp>
        <p:nvSpPr>
          <p:cNvPr id="43" name="Shape 29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4" name="Shape 30"/>
          <p:cNvSpPr/>
          <p:nvPr/>
        </p:nvSpPr>
        <p:spPr>
          <a:xfrm>
            <a:off x="3477006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3477006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46" name="Image 11" descr="HandPointRigh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0116" y="4340352"/>
            <a:ext cx="347472" cy="347472"/>
          </a:xfrm>
          <a:prstGeom prst="rect">
            <a:avLst/>
          </a:prstGeom>
        </p:spPr>
      </p:pic>
      <p:pic>
        <p:nvPicPr>
          <p:cNvPr id="47" name="Image 12" descr="busts in silhouett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2237" y="4523232"/>
            <a:ext cx="1005840" cy="100584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3458718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collega’s</a:t>
            </a:r>
            <a:endParaRPr lang="en-US" sz="2000" dirty="0"/>
          </a:p>
        </p:txBody>
      </p:sp>
      <p:sp>
        <p:nvSpPr>
          <p:cNvPr id="49" name="Text 33"/>
          <p:cNvSpPr txBox="1"/>
          <p:nvPr/>
        </p:nvSpPr>
        <p:spPr>
          <a:xfrm>
            <a:off x="3915918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(mv.)</a:t>
            </a:r>
            <a:endParaRPr lang="en-US" sz="1300" dirty="0"/>
          </a:p>
        </p:txBody>
      </p:sp>
      <p:sp>
        <p:nvSpPr>
          <p:cNvPr id="50" name="Shape 34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1" name="Shape 35"/>
          <p:cNvSpPr/>
          <p:nvPr/>
        </p:nvSpPr>
        <p:spPr>
          <a:xfrm>
            <a:off x="6295644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36"/>
          <p:cNvSpPr txBox="1"/>
          <p:nvPr/>
        </p:nvSpPr>
        <p:spPr>
          <a:xfrm>
            <a:off x="6295644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pic>
        <p:nvPicPr>
          <p:cNvPr id="53" name="Image 13" descr="HandPap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754" y="4340352"/>
            <a:ext cx="347472" cy="347472"/>
          </a:xfrm>
          <a:prstGeom prst="rect">
            <a:avLst/>
          </a:prstGeom>
        </p:spPr>
      </p:pic>
      <p:pic>
        <p:nvPicPr>
          <p:cNvPr id="54" name="Image 14" descr="green book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0875" y="4523232"/>
            <a:ext cx="1005840" cy="100584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6277356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boek</a:t>
            </a:r>
            <a:endParaRPr lang="en-US" sz="2000" dirty="0"/>
          </a:p>
        </p:txBody>
      </p:sp>
      <p:sp>
        <p:nvSpPr>
          <p:cNvPr id="56" name="Text 38"/>
          <p:cNvSpPr txBox="1"/>
          <p:nvPr/>
        </p:nvSpPr>
        <p:spPr>
          <a:xfrm>
            <a:off x="6734556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57" name="Shape 39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8" name="Shape 40"/>
          <p:cNvSpPr/>
          <p:nvPr/>
        </p:nvSpPr>
        <p:spPr>
          <a:xfrm>
            <a:off x="9114282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1"/>
          <p:cNvSpPr txBox="1"/>
          <p:nvPr/>
        </p:nvSpPr>
        <p:spPr>
          <a:xfrm>
            <a:off x="9114282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pic>
        <p:nvPicPr>
          <p:cNvPr id="60" name="Image 15" descr="HandPointRigh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37392" y="4340352"/>
            <a:ext cx="347472" cy="347472"/>
          </a:xfrm>
          <a:prstGeom prst="rect">
            <a:avLst/>
          </a:prstGeom>
        </p:spPr>
      </p:pic>
      <p:pic>
        <p:nvPicPr>
          <p:cNvPr id="61" name="Image 16" descr="office buildi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9513" y="4523232"/>
            <a:ext cx="1005840" cy="1005840"/>
          </a:xfrm>
          <a:prstGeom prst="rect">
            <a:avLst/>
          </a:prstGeom>
        </p:spPr>
      </p:pic>
      <p:sp>
        <p:nvSpPr>
          <p:cNvPr id="62" name="Text 42"/>
          <p:cNvSpPr txBox="1"/>
          <p:nvPr/>
        </p:nvSpPr>
        <p:spPr>
          <a:xfrm>
            <a:off x="9095994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…………</a:t>
            </a:r>
            <a:r>
              <a:rPr lang="en-US" sz="2000" i="1" dirty="0">
                <a:solidFill>
                  <a:schemeClr val="tx1"/>
                </a:solidFill>
              </a:rPr>
              <a:t> gebouw</a:t>
            </a:r>
            <a:endParaRPr lang="en-US" sz="2000" dirty="0"/>
          </a:p>
        </p:txBody>
      </p:sp>
      <p:sp>
        <p:nvSpPr>
          <p:cNvPr id="63" name="Text 43"/>
          <p:cNvSpPr txBox="1"/>
          <p:nvPr/>
        </p:nvSpPr>
        <p:spPr>
          <a:xfrm>
            <a:off x="9553194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deze, dit, die ou dat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La main = proche, le doigt = loin. Regardez aussi l’article.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8368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2" name="Image 1" descr="HandPap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478" y="2069592"/>
            <a:ext cx="347472" cy="347472"/>
          </a:xfrm>
          <a:prstGeom prst="rect">
            <a:avLst/>
          </a:prstGeom>
        </p:spPr>
      </p:pic>
      <p:pic>
        <p:nvPicPr>
          <p:cNvPr id="13" name="Image 2" descr="cha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599" y="2252472"/>
            <a:ext cx="1005840" cy="10058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0080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deze</a:t>
            </a:r>
            <a:r>
              <a:rPr lang="en-US" sz="2000" i="1" dirty="0">
                <a:solidFill>
                  <a:schemeClr val="tx1"/>
                </a:solidFill>
              </a:rPr>
              <a:t> stoel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1097280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(de)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3367278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477006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3477006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9" name="Image 3" descr="HandPoint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116" y="2069592"/>
            <a:ext cx="347472" cy="347472"/>
          </a:xfrm>
          <a:prstGeom prst="rect">
            <a:avLst/>
          </a:prstGeom>
        </p:spPr>
      </p:pic>
      <p:pic>
        <p:nvPicPr>
          <p:cNvPr id="20" name="Image 4" descr="wind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2237" y="2252472"/>
            <a:ext cx="1005840" cy="10058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458718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dat</a:t>
            </a:r>
            <a:r>
              <a:rPr lang="en-US" sz="2000" i="1" dirty="0">
                <a:solidFill>
                  <a:schemeClr val="tx1"/>
                </a:solidFill>
              </a:rPr>
              <a:t> raam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3915918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185916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295644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295644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6" name="Image 5" descr="HandPap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8754" y="2069592"/>
            <a:ext cx="347472" cy="347472"/>
          </a:xfrm>
          <a:prstGeom prst="rect">
            <a:avLst/>
          </a:prstGeom>
        </p:spPr>
      </p:pic>
      <p:pic>
        <p:nvPicPr>
          <p:cNvPr id="27" name="Image 6" descr="desktop compu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75" y="2252472"/>
            <a:ext cx="1005840" cy="10058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277356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dit</a:t>
            </a:r>
            <a:r>
              <a:rPr lang="en-US" sz="2000" i="1" dirty="0">
                <a:solidFill>
                  <a:schemeClr val="tx1"/>
                </a:solidFill>
              </a:rPr>
              <a:t> bureau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6734556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9004554" y="193243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9114282" y="204216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9114282" y="2042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33" name="Image 7" descr="HandPointRigh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2069592"/>
            <a:ext cx="347472" cy="347472"/>
          </a:xfrm>
          <a:prstGeom prst="rect">
            <a:avLst/>
          </a:prstGeom>
        </p:spPr>
      </p:pic>
      <p:pic>
        <p:nvPicPr>
          <p:cNvPr id="34" name="Image 8" descr="prin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9513" y="2252472"/>
            <a:ext cx="1005840" cy="10058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9095994" y="334975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die</a:t>
            </a:r>
            <a:r>
              <a:rPr lang="en-US" sz="2000" i="1" dirty="0">
                <a:solidFill>
                  <a:schemeClr val="tx1"/>
                </a:solidFill>
              </a:rPr>
              <a:t> printer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9553194" y="2042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(de)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548640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658368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658368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40" name="Image 9" descr="HandPap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1478" y="4340352"/>
            <a:ext cx="347472" cy="347472"/>
          </a:xfrm>
          <a:prstGeom prst="rect">
            <a:avLst/>
          </a:prstGeom>
        </p:spPr>
      </p:pic>
      <p:pic>
        <p:nvPicPr>
          <p:cNvPr id="41" name="Image 10" descr="file fold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3599" y="4523232"/>
            <a:ext cx="1005840" cy="100584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0080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deze</a:t>
            </a:r>
            <a:r>
              <a:rPr lang="en-US" sz="2000" i="1" dirty="0">
                <a:solidFill>
                  <a:schemeClr val="tx1"/>
                </a:solidFill>
              </a:rPr>
              <a:t> mappen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1097280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(mv.)</a:t>
            </a:r>
            <a:endParaRPr lang="en-US" sz="1300" dirty="0"/>
          </a:p>
        </p:txBody>
      </p:sp>
      <p:sp>
        <p:nvSpPr>
          <p:cNvPr id="44" name="Shape 30"/>
          <p:cNvSpPr/>
          <p:nvPr/>
        </p:nvSpPr>
        <p:spPr>
          <a:xfrm>
            <a:off x="3367278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5" name="Shape 31"/>
          <p:cNvSpPr/>
          <p:nvPr/>
        </p:nvSpPr>
        <p:spPr>
          <a:xfrm>
            <a:off x="3477006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2"/>
          <p:cNvSpPr txBox="1"/>
          <p:nvPr/>
        </p:nvSpPr>
        <p:spPr>
          <a:xfrm>
            <a:off x="3477006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47" name="Image 11" descr="HandPointRigh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0116" y="4340352"/>
            <a:ext cx="347472" cy="347472"/>
          </a:xfrm>
          <a:prstGeom prst="rect">
            <a:avLst/>
          </a:prstGeom>
        </p:spPr>
      </p:pic>
      <p:pic>
        <p:nvPicPr>
          <p:cNvPr id="48" name="Image 12" descr="busts in silhouett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2237" y="4523232"/>
            <a:ext cx="1005840" cy="10058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3458718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die</a:t>
            </a:r>
            <a:r>
              <a:rPr lang="en-US" sz="2000" i="1" dirty="0">
                <a:solidFill>
                  <a:schemeClr val="tx1"/>
                </a:solidFill>
              </a:rPr>
              <a:t> collega’s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3915918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(mv.)</a:t>
            </a:r>
            <a:endParaRPr lang="en-US" sz="1300" dirty="0"/>
          </a:p>
        </p:txBody>
      </p:sp>
      <p:sp>
        <p:nvSpPr>
          <p:cNvPr id="51" name="Shape 35"/>
          <p:cNvSpPr/>
          <p:nvPr/>
        </p:nvSpPr>
        <p:spPr>
          <a:xfrm>
            <a:off x="6185916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2" name="Shape 36"/>
          <p:cNvSpPr/>
          <p:nvPr/>
        </p:nvSpPr>
        <p:spPr>
          <a:xfrm>
            <a:off x="6295644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7"/>
          <p:cNvSpPr txBox="1"/>
          <p:nvPr/>
        </p:nvSpPr>
        <p:spPr>
          <a:xfrm>
            <a:off x="6295644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pic>
        <p:nvPicPr>
          <p:cNvPr id="54" name="Image 13" descr="HandPaper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8754" y="4340352"/>
            <a:ext cx="347472" cy="347472"/>
          </a:xfrm>
          <a:prstGeom prst="rect">
            <a:avLst/>
          </a:prstGeom>
        </p:spPr>
      </p:pic>
      <p:pic>
        <p:nvPicPr>
          <p:cNvPr id="55" name="Image 14" descr="green book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0875" y="4523232"/>
            <a:ext cx="1005840" cy="1005840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277356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dit</a:t>
            </a:r>
            <a:r>
              <a:rPr lang="en-US" sz="2000" i="1" dirty="0">
                <a:solidFill>
                  <a:schemeClr val="tx1"/>
                </a:solidFill>
              </a:rPr>
              <a:t> boek</a:t>
            </a:r>
            <a:endParaRPr lang="en-US" sz="2000" dirty="0"/>
          </a:p>
        </p:txBody>
      </p:sp>
      <p:sp>
        <p:nvSpPr>
          <p:cNvPr id="57" name="Text 39"/>
          <p:cNvSpPr txBox="1"/>
          <p:nvPr/>
        </p:nvSpPr>
        <p:spPr>
          <a:xfrm>
            <a:off x="6734556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58" name="Shape 40"/>
          <p:cNvSpPr/>
          <p:nvPr/>
        </p:nvSpPr>
        <p:spPr>
          <a:xfrm>
            <a:off x="9004554" y="4203192"/>
            <a:ext cx="2635758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59" name="Shape 41"/>
          <p:cNvSpPr/>
          <p:nvPr/>
        </p:nvSpPr>
        <p:spPr>
          <a:xfrm>
            <a:off x="9114282" y="4312920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2"/>
          <p:cNvSpPr txBox="1"/>
          <p:nvPr/>
        </p:nvSpPr>
        <p:spPr>
          <a:xfrm>
            <a:off x="9114282" y="4312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pic>
        <p:nvPicPr>
          <p:cNvPr id="61" name="Image 15" descr="HandPointRight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37392" y="4340352"/>
            <a:ext cx="347472" cy="347472"/>
          </a:xfrm>
          <a:prstGeom prst="rect">
            <a:avLst/>
          </a:prstGeom>
        </p:spPr>
      </p:pic>
      <p:pic>
        <p:nvPicPr>
          <p:cNvPr id="62" name="Image 16" descr="office buildi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9513" y="4523232"/>
            <a:ext cx="1005840" cy="1005840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9095994" y="5620512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dat</a:t>
            </a:r>
            <a:r>
              <a:rPr lang="en-US" sz="2000" i="1" dirty="0">
                <a:solidFill>
                  <a:schemeClr val="tx1"/>
                </a:solidFill>
              </a:rPr>
              <a:t> gebouw</a:t>
            </a:r>
            <a:endParaRPr lang="en-US" sz="2000" dirty="0"/>
          </a:p>
        </p:txBody>
      </p:sp>
      <p:sp>
        <p:nvSpPr>
          <p:cNvPr id="64" name="Text 44"/>
          <p:cNvSpPr txBox="1"/>
          <p:nvPr/>
        </p:nvSpPr>
        <p:spPr>
          <a:xfrm>
            <a:off x="9553194" y="4312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(het)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Traduction piège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Attention aux phrases marquées ⚠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60120" y="196900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97280" y="196900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Sofie et son mari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196900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257800" y="218655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806440" y="196900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960120" y="251383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97280" y="251383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Karim et sa sœur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4754880" y="251383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257800" y="273138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806440" y="251383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60120" y="305866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97280" y="305866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Cette maison est grande.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754880" y="305866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257800" y="327621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5806440" y="305866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60120" y="360349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97280" y="360349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sont mes collègues.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5257800" y="382104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5806440" y="360349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60120" y="414832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097280" y="414832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Monsieur, votre café !</a:t>
            </a:r>
            <a:endParaRPr lang="en-US" sz="1700" dirty="0"/>
          </a:p>
        </p:txBody>
      </p:sp>
      <p:sp>
        <p:nvSpPr>
          <p:cNvPr id="39" name="Text 35"/>
          <p:cNvSpPr txBox="1"/>
          <p:nvPr/>
        </p:nvSpPr>
        <p:spPr>
          <a:xfrm>
            <a:off x="4754880" y="414832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5257800" y="436587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5806440" y="414832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960120" y="469315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1097280" y="469315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Ils cherchent leur voiture.</a:t>
            </a:r>
            <a:endParaRPr lang="en-US" sz="1700" dirty="0"/>
          </a:p>
        </p:txBody>
      </p:sp>
      <p:sp>
        <p:nvSpPr>
          <p:cNvPr id="46" name="Shape 42"/>
          <p:cNvSpPr/>
          <p:nvPr/>
        </p:nvSpPr>
        <p:spPr>
          <a:xfrm>
            <a:off x="5257800" y="491070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5806440" y="469315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960120" y="523798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1097280" y="523798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stylo est à moi.</a:t>
            </a:r>
            <a:endParaRPr lang="en-US" sz="1700" dirty="0"/>
          </a:p>
        </p:txBody>
      </p:sp>
      <p:sp>
        <p:nvSpPr>
          <p:cNvPr id="52" name="Shape 48"/>
          <p:cNvSpPr/>
          <p:nvPr/>
        </p:nvSpPr>
        <p:spPr>
          <a:xfrm>
            <a:off x="5257800" y="545553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5806440" y="523798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6" name="Shape 52"/>
          <p:cNvSpPr/>
          <p:nvPr/>
        </p:nvSpPr>
        <p:spPr>
          <a:xfrm>
            <a:off x="960120" y="578281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097280" y="578281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C’est notre entreprise.</a:t>
            </a:r>
            <a:endParaRPr lang="en-US" sz="1700" dirty="0"/>
          </a:p>
        </p:txBody>
      </p:sp>
      <p:sp>
        <p:nvSpPr>
          <p:cNvPr id="58" name="Shape 54"/>
          <p:cNvSpPr/>
          <p:nvPr/>
        </p:nvSpPr>
        <p:spPr>
          <a:xfrm>
            <a:off x="5257800" y="600036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5806440" y="5782818"/>
            <a:ext cx="5833872" cy="453390"/>
          </a:xfrm>
          <a:prstGeom prst="roundRect">
            <a:avLst>
              <a:gd name="adj" fmla="val 16134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Traduction piège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Attention aux phrases marquées ⚠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04025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0402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196900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97280" y="196900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Sofie et son mari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196900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257800" y="218655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806440" y="196900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0" y="196900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Sofie en haar man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258508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25850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60120" y="251383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097280" y="251383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Karim et sa sœur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4754880" y="251383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257800" y="273138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806440" y="251383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943600" y="251383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Karim en zijn zus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548640" y="312991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48640" y="312991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960120" y="305866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97280" y="305866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Cette maison est grande.</a:t>
            </a:r>
            <a:endParaRPr lang="en-US" sz="1700" dirty="0"/>
          </a:p>
        </p:txBody>
      </p:sp>
      <p:sp>
        <p:nvSpPr>
          <p:cNvPr id="29" name="Text 25"/>
          <p:cNvSpPr txBox="1"/>
          <p:nvPr/>
        </p:nvSpPr>
        <p:spPr>
          <a:xfrm>
            <a:off x="4754880" y="305866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257800" y="327621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5806440" y="305866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943600" y="305866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Dit huis is groot.</a:t>
            </a:r>
            <a:endParaRPr lang="en-US" sz="1800" dirty="0"/>
          </a:p>
        </p:txBody>
      </p:sp>
      <p:sp>
        <p:nvSpPr>
          <p:cNvPr id="33" name="Text 29"/>
          <p:cNvSpPr txBox="1"/>
          <p:nvPr/>
        </p:nvSpPr>
        <p:spPr>
          <a:xfrm>
            <a:off x="9326880" y="3058668"/>
            <a:ext cx="21945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 </a:t>
            </a:r>
            <a:r>
              <a:rPr lang="en-US" sz="1300" i="1" dirty="0">
                <a:solidFill>
                  <a:schemeClr val="accent5"/>
                </a:solidFill>
              </a:rPr>
              <a:t>Dat…</a:t>
            </a:r>
            <a:r>
              <a:rPr lang="en-US" sz="1300" dirty="0">
                <a:solidFill>
                  <a:schemeClr val="accent5"/>
                </a:solidFill>
              </a:rPr>
              <a:t> (plus loin)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8640" y="367474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3674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60120" y="360349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97280" y="360349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sont mes collègues.</a:t>
            </a:r>
            <a:endParaRPr lang="en-US" sz="1700" dirty="0"/>
          </a:p>
        </p:txBody>
      </p:sp>
      <p:sp>
        <p:nvSpPr>
          <p:cNvPr id="38" name="Shape 34"/>
          <p:cNvSpPr/>
          <p:nvPr/>
        </p:nvSpPr>
        <p:spPr>
          <a:xfrm>
            <a:off x="5257800" y="382104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5806440" y="360349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943600" y="360349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Dit zijn mijn collega’s.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9326880" y="3603498"/>
            <a:ext cx="21945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 </a:t>
            </a:r>
            <a:r>
              <a:rPr lang="en-US" sz="1300" i="1" dirty="0">
                <a:solidFill>
                  <a:schemeClr val="accent5"/>
                </a:solidFill>
              </a:rPr>
              <a:t>Dat…</a:t>
            </a:r>
            <a:r>
              <a:rPr lang="en-US" sz="1300" dirty="0">
                <a:solidFill>
                  <a:schemeClr val="accent5"/>
                </a:solidFill>
              </a:rPr>
              <a:t> (plus loin)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548640" y="421957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48640" y="421957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960120" y="414832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1097280" y="414832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Monsieur, votre café !</a:t>
            </a:r>
            <a:endParaRPr lang="en-US" sz="1700" dirty="0"/>
          </a:p>
        </p:txBody>
      </p:sp>
      <p:sp>
        <p:nvSpPr>
          <p:cNvPr id="46" name="Text 42"/>
          <p:cNvSpPr txBox="1"/>
          <p:nvPr/>
        </p:nvSpPr>
        <p:spPr>
          <a:xfrm>
            <a:off x="4754880" y="4148328"/>
            <a:ext cx="3657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⚠</a:t>
            </a:r>
            <a:endParaRPr lang="en-US" sz="1500" dirty="0"/>
          </a:p>
        </p:txBody>
      </p:sp>
      <p:sp>
        <p:nvSpPr>
          <p:cNvPr id="47" name="Shape 43"/>
          <p:cNvSpPr/>
          <p:nvPr/>
        </p:nvSpPr>
        <p:spPr>
          <a:xfrm>
            <a:off x="5257800" y="436587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5806440" y="414832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943600" y="414832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Meneer, uw koffie!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>
            <a:off x="548640" y="476440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48640" y="47644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2" name="Shape 48"/>
          <p:cNvSpPr/>
          <p:nvPr/>
        </p:nvSpPr>
        <p:spPr>
          <a:xfrm>
            <a:off x="960120" y="469315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1097280" y="469315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Ils cherchent leur voiture.</a:t>
            </a:r>
            <a:endParaRPr lang="en-US" sz="1700" dirty="0"/>
          </a:p>
        </p:txBody>
      </p:sp>
      <p:sp>
        <p:nvSpPr>
          <p:cNvPr id="54" name="Shape 50"/>
          <p:cNvSpPr/>
          <p:nvPr/>
        </p:nvSpPr>
        <p:spPr>
          <a:xfrm>
            <a:off x="5257800" y="491070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5" name="Shape 51"/>
          <p:cNvSpPr/>
          <p:nvPr/>
        </p:nvSpPr>
        <p:spPr>
          <a:xfrm>
            <a:off x="5806440" y="469315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5943600" y="469315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Ze zoeken hun auto.</a:t>
            </a:r>
            <a:endParaRPr lang="en-US" sz="1800" dirty="0"/>
          </a:p>
        </p:txBody>
      </p:sp>
      <p:sp>
        <p:nvSpPr>
          <p:cNvPr id="57" name="Shape 53"/>
          <p:cNvSpPr/>
          <p:nvPr/>
        </p:nvSpPr>
        <p:spPr>
          <a:xfrm>
            <a:off x="548640" y="530923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48640" y="53092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9" name="Shape 55"/>
          <p:cNvSpPr/>
          <p:nvPr/>
        </p:nvSpPr>
        <p:spPr>
          <a:xfrm>
            <a:off x="960120" y="523798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097280" y="523798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Ce stylo est à moi.</a:t>
            </a:r>
            <a:endParaRPr lang="en-US" sz="1700" dirty="0"/>
          </a:p>
        </p:txBody>
      </p:sp>
      <p:sp>
        <p:nvSpPr>
          <p:cNvPr id="61" name="Shape 57"/>
          <p:cNvSpPr/>
          <p:nvPr/>
        </p:nvSpPr>
        <p:spPr>
          <a:xfrm>
            <a:off x="5257800" y="545553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5806440" y="523798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5943600" y="523798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Deze pen is van mij.</a:t>
            </a:r>
            <a:endParaRPr lang="en-US" sz="1800" dirty="0"/>
          </a:p>
        </p:txBody>
      </p:sp>
      <p:sp>
        <p:nvSpPr>
          <p:cNvPr id="64" name="Text 60"/>
          <p:cNvSpPr txBox="1"/>
          <p:nvPr/>
        </p:nvSpPr>
        <p:spPr>
          <a:xfrm>
            <a:off x="9326880" y="5237988"/>
            <a:ext cx="21945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 </a:t>
            </a:r>
            <a:r>
              <a:rPr lang="en-US" sz="1300" i="1" dirty="0">
                <a:solidFill>
                  <a:schemeClr val="accent5"/>
                </a:solidFill>
              </a:rPr>
              <a:t>Die…</a:t>
            </a:r>
            <a:r>
              <a:rPr lang="en-US" sz="1300" dirty="0">
                <a:solidFill>
                  <a:schemeClr val="accent5"/>
                </a:solidFill>
              </a:rPr>
              <a:t> (plus loin)</a:t>
            </a:r>
            <a:endParaRPr lang="en-US" sz="1300" dirty="0"/>
          </a:p>
        </p:txBody>
      </p:sp>
      <p:sp>
        <p:nvSpPr>
          <p:cNvPr id="65" name="Shape 61"/>
          <p:cNvSpPr/>
          <p:nvPr/>
        </p:nvSpPr>
        <p:spPr>
          <a:xfrm>
            <a:off x="548640" y="5854065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548640" y="585406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67" name="Shape 63"/>
          <p:cNvSpPr/>
          <p:nvPr/>
        </p:nvSpPr>
        <p:spPr>
          <a:xfrm>
            <a:off x="960120" y="5782818"/>
            <a:ext cx="4206240" cy="453390"/>
          </a:xfrm>
          <a:prstGeom prst="roundRect">
            <a:avLst>
              <a:gd name="adj" fmla="val 16134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1097280" y="5782818"/>
            <a:ext cx="365760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C’est notre entreprise.</a:t>
            </a:r>
            <a:endParaRPr lang="en-US" sz="1700" dirty="0"/>
          </a:p>
        </p:txBody>
      </p:sp>
      <p:sp>
        <p:nvSpPr>
          <p:cNvPr id="69" name="Shape 65"/>
          <p:cNvSpPr/>
          <p:nvPr/>
        </p:nvSpPr>
        <p:spPr>
          <a:xfrm>
            <a:off x="5257800" y="6000369"/>
            <a:ext cx="50292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5806440" y="5782818"/>
            <a:ext cx="5833872" cy="453390"/>
          </a:xfrm>
          <a:prstGeom prst="roundRect">
            <a:avLst>
              <a:gd name="adj" fmla="val 16134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5943600" y="5782818"/>
            <a:ext cx="55778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chemeClr val="accent3"/>
                </a:solidFill>
              </a:rPr>
              <a:t>Dit is ons bedrijf.</a:t>
            </a:r>
            <a:endParaRPr lang="en-US" sz="1800" dirty="0"/>
          </a:p>
        </p:txBody>
      </p:sp>
      <p:sp>
        <p:nvSpPr>
          <p:cNvPr id="72" name="Text 68"/>
          <p:cNvSpPr txBox="1"/>
          <p:nvPr/>
        </p:nvSpPr>
        <p:spPr>
          <a:xfrm>
            <a:off x="9326880" y="5782818"/>
            <a:ext cx="219456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ou </a:t>
            </a:r>
            <a:r>
              <a:rPr lang="en-US" sz="1300" i="1" dirty="0">
                <a:solidFill>
                  <a:schemeClr val="accent5"/>
                </a:solidFill>
              </a:rPr>
              <a:t>Dat…</a:t>
            </a:r>
            <a:r>
              <a:rPr lang="en-US" sz="1300" dirty="0">
                <a:solidFill>
                  <a:schemeClr val="accent5"/>
                </a:solidFill>
              </a:rPr>
              <a:t> (plus loin)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écrit à l’équipe. Trouvez les 5 erreurs.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team · Onderwerp: teamdag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Hoi allemaal! Vrijdag is onze teamdag. An komt met </a:t>
            </a:r>
            <a:r>
              <a:rPr lang="en-US" sz="2100" i="1" dirty="0">
                <a:solidFill>
                  <a:schemeClr val="tx1"/>
                </a:solidFill>
              </a:rPr>
              <a:t>zijn</a:t>
            </a:r>
            <a:r>
              <a:rPr lang="en-US" sz="2100" i="1" dirty="0">
                <a:solidFill>
                  <a:schemeClr val="tx1"/>
                </a:solidFill>
              </a:rPr>
              <a:t> man en Karim komt met </a:t>
            </a:r>
            <a:r>
              <a:rPr lang="en-US" sz="2100" i="1" dirty="0">
                <a:solidFill>
                  <a:schemeClr val="tx1"/>
                </a:solidFill>
              </a:rPr>
              <a:t>haar</a:t>
            </a:r>
            <a:r>
              <a:rPr lang="en-US" sz="2100" i="1" dirty="0">
                <a:solidFill>
                  <a:schemeClr val="tx1"/>
                </a:solidFill>
              </a:rPr>
              <a:t> vrouw. We vertrekken om 9 uur bij </a:t>
            </a:r>
            <a:r>
              <a:rPr lang="en-US" sz="2100" i="1" dirty="0">
                <a:solidFill>
                  <a:schemeClr val="tx1"/>
                </a:solidFill>
              </a:rPr>
              <a:t>onze</a:t>
            </a:r>
            <a:r>
              <a:rPr lang="en-US" sz="2100" i="1" dirty="0">
                <a:solidFill>
                  <a:schemeClr val="tx1"/>
                </a:solidFill>
              </a:rPr>
              <a:t> kantoor. </a:t>
            </a:r>
            <a:r>
              <a:rPr lang="en-US" sz="2100" i="1" dirty="0">
                <a:solidFill>
                  <a:schemeClr val="tx1"/>
                </a:solidFill>
              </a:rPr>
              <a:t>Deze</a:t>
            </a:r>
            <a:r>
              <a:rPr lang="en-US" sz="2100" i="1" dirty="0">
                <a:solidFill>
                  <a:schemeClr val="tx1"/>
                </a:solidFill>
              </a:rPr>
              <a:t> programma zit in de bijlage. De collega’s van marketing komen ook, maar </a:t>
            </a:r>
            <a:r>
              <a:rPr lang="en-US" sz="2100" i="1" dirty="0">
                <a:solidFill>
                  <a:schemeClr val="tx1"/>
                </a:solidFill>
              </a:rPr>
              <a:t>hun</a:t>
            </a:r>
            <a:r>
              <a:rPr lang="en-US" sz="2100" i="1" dirty="0">
                <a:solidFill>
                  <a:schemeClr val="tx1"/>
                </a:solidFill>
              </a:rPr>
              <a:t> nemen de trein. Neem jullie badge mee! Groetjes, Sofie</a:t>
            </a:r>
            <a:endParaRPr lang="en-US" sz="2100" dirty="0"/>
          </a:p>
        </p:txBody>
      </p:sp>
      <p:pic>
        <p:nvPicPr>
          <p:cNvPr id="12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Sofie écrit à l’équipe. Trouvez les 5 erreurs.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Van: Sofie Peeters · Aan: team · Onderwerp: teamdag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2572512"/>
            <a:ext cx="7589520" cy="353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i="1" dirty="0">
                <a:solidFill>
                  <a:schemeClr val="tx1"/>
                </a:solidFill>
              </a:rPr>
              <a:t>Hoi allemaal! Vrijdag is onze teamdag. An komt met </a:t>
            </a:r>
            <a:r>
              <a:rPr lang="en-US" sz="2100" i="1" strike="sngStrike" dirty="0">
                <a:solidFill>
                  <a:schemeClr val="accent6"/>
                </a:solidFill>
              </a:rPr>
              <a:t>zijn</a:t>
            </a:r>
            <a:r>
              <a:rPr lang="en-US" sz="2100" b="1" i="1" dirty="0">
                <a:solidFill>
                  <a:schemeClr val="accent3"/>
                </a:solidFill>
              </a:rPr>
              <a:t> haar</a:t>
            </a:r>
            <a:r>
              <a:rPr lang="en-US" sz="2100" i="1" dirty="0">
                <a:solidFill>
                  <a:schemeClr val="tx1"/>
                </a:solidFill>
              </a:rPr>
              <a:t> man en Karim komt met </a:t>
            </a:r>
            <a:r>
              <a:rPr lang="en-US" sz="2100" i="1" strike="sngStrike" dirty="0">
                <a:solidFill>
                  <a:schemeClr val="accent6"/>
                </a:solidFill>
              </a:rPr>
              <a:t>haar</a:t>
            </a:r>
            <a:r>
              <a:rPr lang="en-US" sz="2100" b="1" i="1" dirty="0">
                <a:solidFill>
                  <a:schemeClr val="accent3"/>
                </a:solidFill>
              </a:rPr>
              <a:t> zijn</a:t>
            </a:r>
            <a:r>
              <a:rPr lang="en-US" sz="2100" i="1" dirty="0">
                <a:solidFill>
                  <a:schemeClr val="tx1"/>
                </a:solidFill>
              </a:rPr>
              <a:t> vrouw. We vertrekken om 9 uur bij </a:t>
            </a:r>
            <a:r>
              <a:rPr lang="en-US" sz="2100" i="1" strike="sngStrike" dirty="0">
                <a:solidFill>
                  <a:schemeClr val="accent6"/>
                </a:solidFill>
              </a:rPr>
              <a:t>onze</a:t>
            </a:r>
            <a:r>
              <a:rPr lang="en-US" sz="2100" b="1" i="1" dirty="0">
                <a:solidFill>
                  <a:schemeClr val="accent3"/>
                </a:solidFill>
              </a:rPr>
              <a:t> ons</a:t>
            </a:r>
            <a:r>
              <a:rPr lang="en-US" sz="2100" i="1" dirty="0">
                <a:solidFill>
                  <a:schemeClr val="tx1"/>
                </a:solidFill>
              </a:rPr>
              <a:t> kantoor. </a:t>
            </a:r>
            <a:r>
              <a:rPr lang="en-US" sz="2100" i="1" strike="sngStrike" dirty="0">
                <a:solidFill>
                  <a:schemeClr val="accent6"/>
                </a:solidFill>
              </a:rPr>
              <a:t>Deze</a:t>
            </a:r>
            <a:r>
              <a:rPr lang="en-US" sz="2100" b="1" i="1" dirty="0">
                <a:solidFill>
                  <a:schemeClr val="accent3"/>
                </a:solidFill>
              </a:rPr>
              <a:t> Dit</a:t>
            </a:r>
            <a:r>
              <a:rPr lang="en-US" sz="2100" i="1" dirty="0">
                <a:solidFill>
                  <a:schemeClr val="tx1"/>
                </a:solidFill>
              </a:rPr>
              <a:t> programma zit in de bijlage. De collega’s van marketing komen ook, maar </a:t>
            </a:r>
            <a:r>
              <a:rPr lang="en-US" sz="2100" i="1" strike="sngStrike" dirty="0">
                <a:solidFill>
                  <a:schemeClr val="accent6"/>
                </a:solidFill>
              </a:rPr>
              <a:t>hun</a:t>
            </a:r>
            <a:r>
              <a:rPr lang="en-US" sz="2100" b="1" i="1" dirty="0">
                <a:solidFill>
                  <a:schemeClr val="accent3"/>
                </a:solidFill>
              </a:rPr>
              <a:t> zij</a:t>
            </a:r>
            <a:r>
              <a:rPr lang="en-US" sz="2100" i="1" dirty="0">
                <a:solidFill>
                  <a:schemeClr val="tx1"/>
                </a:solidFill>
              </a:rPr>
              <a:t> nemen de trein. Neem jullie badge mee! Groetjes, Sofie</a:t>
            </a:r>
            <a:endParaRPr lang="en-US" sz="2100" dirty="0"/>
          </a:p>
        </p:txBody>
      </p:sp>
      <p:pic>
        <p:nvPicPr>
          <p:cNvPr id="1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9052560" y="4721352"/>
            <a:ext cx="2587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onze teamdag</a:t>
            </a:r>
            <a:r>
              <a:rPr lang="en-US" sz="1400" i="1" dirty="0">
                <a:solidFill>
                  <a:schemeClr val="accent5"/>
                </a:solidFill>
              </a:rPr>
              <a:t> (</a:t>
            </a:r>
            <a:r>
              <a:rPr lang="en-US" sz="1400" i="1" dirty="0">
                <a:solidFill>
                  <a:schemeClr val="accent5"/>
                </a:solidFill>
              </a:rPr>
              <a:t>de</a:t>
            </a:r>
            <a:r>
              <a:rPr lang="en-US" sz="1400" i="1" dirty="0">
                <a:solidFill>
                  <a:schemeClr val="accent5"/>
                </a:solidFill>
              </a:rPr>
              <a:t>) · </a:t>
            </a:r>
            <a:r>
              <a:rPr lang="en-US" sz="1400" i="1" dirty="0">
                <a:solidFill>
                  <a:schemeClr val="accent5"/>
                </a:solidFill>
              </a:rPr>
              <a:t>Neem jullie badge mee</a:t>
            </a:r>
            <a:r>
              <a:rPr lang="en-US" sz="1400" i="1" dirty="0">
                <a:solidFill>
                  <a:schemeClr val="accent5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Les objets trouvés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pack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3108960" cy="3108960"/>
          </a:xfrm>
          <a:prstGeom prst="rect">
            <a:avLst/>
          </a:prstGeom>
        </p:spPr>
      </p:pic>
      <p:pic>
        <p:nvPicPr>
          <p:cNvPr id="7" name="Image 1" descr="k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731520" cy="731520"/>
          </a:xfrm>
          <a:prstGeom prst="rect">
            <a:avLst/>
          </a:prstGeom>
        </p:spPr>
      </p:pic>
      <p:pic>
        <p:nvPicPr>
          <p:cNvPr id="8" name="Image 2" descr="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554480"/>
            <a:ext cx="731520" cy="731520"/>
          </a:xfrm>
          <a:prstGeom prst="rect">
            <a:avLst/>
          </a:prstGeom>
        </p:spPr>
      </p:pic>
      <p:pic>
        <p:nvPicPr>
          <p:cNvPr id="9" name="Image 3" descr="glass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645920"/>
            <a:ext cx="731520" cy="731520"/>
          </a:xfrm>
          <a:prstGeom prst="rect">
            <a:avLst/>
          </a:prstGeom>
        </p:spPr>
      </p:pic>
      <p:pic>
        <p:nvPicPr>
          <p:cNvPr id="10" name="Image 4" descr="mobile ph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2743200"/>
            <a:ext cx="731520" cy="731520"/>
          </a:xfrm>
          <a:prstGeom prst="rect">
            <a:avLst/>
          </a:prstGeom>
        </p:spPr>
      </p:pic>
      <p:pic>
        <p:nvPicPr>
          <p:cNvPr id="11" name="Image 5" descr="scar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834640"/>
            <a:ext cx="731520" cy="731520"/>
          </a:xfrm>
          <a:prstGeom prst="rect">
            <a:avLst/>
          </a:prstGeom>
        </p:spPr>
      </p:pic>
      <p:sp>
        <p:nvSpPr>
          <p:cNvPr id="12" name="Text 3"/>
          <p:cNvSpPr txBox="1"/>
          <p:nvPr/>
        </p:nvSpPr>
        <p:spPr>
          <a:xfrm>
            <a:off x="4206240" y="1600200"/>
            <a:ext cx="7434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</a:t>
            </a:r>
            <a:r>
              <a:rPr lang="en-US" sz="1800" dirty="0">
                <a:solidFill>
                  <a:schemeClr val="tx1"/>
                </a:solidFill>
              </a:rPr>
              <a:t> Chacun dépose un objet dans la boîte, en secret.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2.</a:t>
            </a:r>
            <a:r>
              <a:rPr lang="en-US" sz="1800" dirty="0">
                <a:solidFill>
                  <a:schemeClr val="tx1"/>
                </a:solidFill>
              </a:rPr>
              <a:t> On tire un objet et on demande à qui il est.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3.</a:t>
            </a:r>
            <a:r>
              <a:rPr lang="en-US" sz="1800" dirty="0">
                <a:solidFill>
                  <a:schemeClr val="tx1"/>
                </a:solidFill>
              </a:rPr>
              <a:t> On répond avec un possessif et </a:t>
            </a:r>
            <a:r>
              <a:rPr lang="en-US" sz="1800" i="1" dirty="0">
                <a:solidFill>
                  <a:schemeClr val="tx1"/>
                </a:solidFill>
              </a:rPr>
              <a:t>van</a:t>
            </a:r>
            <a:r>
              <a:rPr lang="en-US" sz="1800" dirty="0">
                <a:solidFill>
                  <a:schemeClr val="tx1"/>
                </a:solidFill>
              </a:rPr>
              <a:t> + pronom.</a:t>
            </a:r>
            <a:endParaRPr lang="en-US" sz="1800" dirty="0"/>
          </a:p>
        </p:txBody>
      </p:sp>
      <p:sp>
        <p:nvSpPr>
          <p:cNvPr id="13" name="Shape 4"/>
          <p:cNvSpPr/>
          <p:nvPr/>
        </p:nvSpPr>
        <p:spPr>
          <a:xfrm>
            <a:off x="4206240" y="3520440"/>
            <a:ext cx="7434072" cy="777240"/>
          </a:xfrm>
          <a:prstGeom prst="roundRect">
            <a:avLst>
              <a:gd name="adj" fmla="val 2117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4" name="Text 5"/>
          <p:cNvSpPr txBox="1"/>
          <p:nvPr/>
        </p:nvSpPr>
        <p:spPr>
          <a:xfrm>
            <a:off x="4370832" y="3520440"/>
            <a:ext cx="7104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Van wie is </a:t>
            </a:r>
            <a:r>
              <a:rPr lang="en-US" sz="1900" b="1" i="1" dirty="0">
                <a:solidFill>
                  <a:schemeClr val="tx1"/>
                </a:solidFill>
              </a:rPr>
              <a:t>deze</a:t>
            </a:r>
            <a:r>
              <a:rPr lang="en-US" sz="1900" i="1" dirty="0">
                <a:solidFill>
                  <a:schemeClr val="tx1"/>
                </a:solidFill>
              </a:rPr>
              <a:t> sleutel? · Is </a:t>
            </a:r>
            <a:r>
              <a:rPr lang="en-US" sz="1900" b="1" i="1" dirty="0">
                <a:solidFill>
                  <a:schemeClr val="tx1"/>
                </a:solidFill>
              </a:rPr>
              <a:t>dit</a:t>
            </a:r>
            <a:r>
              <a:rPr lang="en-US" sz="1900" i="1" dirty="0">
                <a:solidFill>
                  <a:schemeClr val="tx1"/>
                </a:solidFill>
              </a:rPr>
              <a:t> jouw pen?</a:t>
            </a:r>
            <a:endParaRPr lang="en-US" sz="1900" dirty="0"/>
          </a:p>
        </p:txBody>
      </p:sp>
      <p:sp>
        <p:nvSpPr>
          <p:cNvPr id="15" name="Shape 6"/>
          <p:cNvSpPr/>
          <p:nvPr/>
        </p:nvSpPr>
        <p:spPr>
          <a:xfrm>
            <a:off x="4206240" y="4434840"/>
            <a:ext cx="7434072" cy="1005840"/>
          </a:xfrm>
          <a:prstGeom prst="roundRect">
            <a:avLst>
              <a:gd name="adj" fmla="val 16364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6" name="Text 7"/>
          <p:cNvSpPr txBox="1"/>
          <p:nvPr/>
        </p:nvSpPr>
        <p:spPr>
          <a:xfrm>
            <a:off x="4370832" y="4434840"/>
            <a:ext cx="7104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Ja, </a:t>
            </a:r>
            <a:r>
              <a:rPr lang="en-US" sz="1900" b="1" i="1" dirty="0">
                <a:solidFill>
                  <a:schemeClr val="tx1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is </a:t>
            </a:r>
            <a:r>
              <a:rPr lang="en-US" sz="1900" b="1" i="1" dirty="0">
                <a:solidFill>
                  <a:schemeClr val="tx1"/>
                </a:solidFill>
              </a:rPr>
              <a:t>van mij</a:t>
            </a:r>
            <a:r>
              <a:rPr lang="en-US" sz="1900" i="1" dirty="0">
                <a:solidFill>
                  <a:schemeClr val="tx1"/>
                </a:solidFill>
              </a:rPr>
              <a:t>! · Nee, dat is niet </a:t>
            </a:r>
            <a:r>
              <a:rPr lang="en-US" sz="1900" b="1" i="1" dirty="0">
                <a:solidFill>
                  <a:schemeClr val="tx1"/>
                </a:solidFill>
              </a:rPr>
              <a:t>mijn</a:t>
            </a:r>
            <a:r>
              <a:rPr lang="en-US" sz="1900" i="1" dirty="0">
                <a:solidFill>
                  <a:schemeClr val="tx1"/>
                </a:solidFill>
              </a:rPr>
              <a:t> pen. </a:t>
            </a:r>
            <a:r>
              <a:rPr lang="en-US" sz="1900" b="1" i="1" dirty="0">
                <a:solidFill>
                  <a:schemeClr val="tx1"/>
                </a:solidFill>
              </a:rPr>
              <a:t>Die</a:t>
            </a:r>
            <a:r>
              <a:rPr lang="en-US" sz="1900" i="1" dirty="0">
                <a:solidFill>
                  <a:schemeClr val="tx1"/>
                </a:solidFill>
              </a:rPr>
              <a:t> is van Karim, denk ik.</a:t>
            </a:r>
            <a:endParaRPr lang="en-US" sz="1900" dirty="0"/>
          </a:p>
        </p:txBody>
      </p:sp>
      <p:sp>
        <p:nvSpPr>
          <p:cNvPr id="17" name="Text 8"/>
          <p:cNvSpPr txBox="1"/>
          <p:nvPr/>
        </p:nvSpPr>
        <p:spPr>
          <a:xfrm>
            <a:off x="4206240" y="5623560"/>
            <a:ext cx="7434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Variante : devinez le propriétaire — </a:t>
            </a:r>
            <a:r>
              <a:rPr lang="en-US" sz="1500" i="1" dirty="0">
                <a:solidFill>
                  <a:schemeClr val="accent5"/>
                </a:solidFill>
              </a:rPr>
              <a:t>Ik denk dat dit de bril van Sofie 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L’album photo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À la pause, Karim montre des photos de famille à Sofie sur son téléphone.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présentez votre famille : </a:t>
            </a:r>
            <a:r>
              <a:rPr lang="en-US" sz="1700" i="1" dirty="0">
                <a:solidFill>
                  <a:schemeClr val="tx1"/>
                </a:solidFill>
              </a:rPr>
              <a:t>Dit is mijn vrouw. Dat zijn onze kinderen.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Sofie</a:t>
            </a:r>
            <a:r>
              <a:rPr lang="en-US" sz="1700" dirty="0">
                <a:solidFill>
                  <a:schemeClr val="tx1"/>
                </a:solidFill>
              </a:rPr>
              <a:t> : posez des questions : </a:t>
            </a:r>
            <a:r>
              <a:rPr lang="en-US" sz="1700" i="1" dirty="0">
                <a:solidFill>
                  <a:schemeClr val="tx1"/>
                </a:solidFill>
              </a:rPr>
              <a:t>Wie is dat? Is dat jouw zus? Hoe heten hun kinderen?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Dit is mijn vrouw, Leila. · Dat zijn onze kinderen. · Die man links is mijn broer. · Zijn vrouw heet Nora. · Wie is dat? · Is dat jouw zus? · Hoe heten hun kinderen?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DE FAMILIE VAN KARIM</a:t>
            </a:r>
            <a:endParaRPr lang="en-US" sz="1200" dirty="0"/>
          </a:p>
        </p:txBody>
      </p:sp>
      <p:pic>
        <p:nvPicPr>
          <p:cNvPr id="22" name="Image 0" descr="man white ha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8552" y="2167128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714232" y="2715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vader</a:t>
            </a:r>
            <a:endParaRPr lang="en-US" sz="1000" dirty="0"/>
          </a:p>
        </p:txBody>
      </p:sp>
      <p:pic>
        <p:nvPicPr>
          <p:cNvPr id="24" name="Image 1" descr="woman white hai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2167128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902952" y="2715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moeder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537192" y="2441448"/>
            <a:ext cx="64008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857232" y="2441448"/>
            <a:ext cx="914" cy="73152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577072" y="3172968"/>
            <a:ext cx="256032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pic>
        <p:nvPicPr>
          <p:cNvPr id="29" name="Image 2" descr="man be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3310128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028432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broer</a:t>
            </a:r>
            <a:endParaRPr lang="en-US" sz="1000" dirty="0"/>
          </a:p>
        </p:txBody>
      </p:sp>
      <p:pic>
        <p:nvPicPr>
          <p:cNvPr id="31" name="Image 3" descr="man office 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3310128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308592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Karim</a:t>
            </a:r>
            <a:endParaRPr lang="en-US" sz="1000" dirty="0"/>
          </a:p>
        </p:txBody>
      </p:sp>
      <p:pic>
        <p:nvPicPr>
          <p:cNvPr id="33" name="Image 4" descr="woman red ha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3310128"/>
            <a:ext cx="548640" cy="5486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0588752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zus</a:t>
            </a:r>
            <a:endParaRPr lang="en-US" sz="1000" dirty="0"/>
          </a:p>
        </p:txBody>
      </p:sp>
      <p:pic>
        <p:nvPicPr>
          <p:cNvPr id="35" name="Image 5" descr="woman with headscar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2" y="4361688"/>
            <a:ext cx="548640" cy="5486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308592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Leila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9857232" y="4133088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9857232" y="5184648"/>
            <a:ext cx="914" cy="228600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pic>
        <p:nvPicPr>
          <p:cNvPr id="39" name="Image 6" descr="bo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5413248"/>
            <a:ext cx="548640" cy="54864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714232" y="5961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Adam</a:t>
            </a:r>
            <a:endParaRPr lang="en-US" sz="1000" dirty="0"/>
          </a:p>
        </p:txBody>
      </p:sp>
      <p:pic>
        <p:nvPicPr>
          <p:cNvPr id="41" name="Image 7" descr="gir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7272" y="5413248"/>
            <a:ext cx="548640" cy="54864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902952" y="5961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Lina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9262872" y="5413248"/>
            <a:ext cx="1188720" cy="914"/>
          </a:xfrm>
          <a:prstGeom prst="line">
            <a:avLst/>
          </a:prstGeom>
          <a:noFill/>
          <a:ln w="19050">
            <a:solidFill>
              <a:srgbClr val="4A5A7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Traduisez : « Sofie et son frère ».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ons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onze</a:t>
            </a:r>
            <a:r>
              <a:rPr lang="en-US" sz="2000" dirty="0">
                <a:solidFill>
                  <a:schemeClr val="tx1"/>
                </a:solidFill>
              </a:rPr>
              <a:t> : …… </a:t>
            </a:r>
            <a:r>
              <a:rPr lang="en-US" sz="2000" i="1" dirty="0">
                <a:solidFill>
                  <a:schemeClr val="tx1"/>
                </a:solidFill>
              </a:rPr>
              <a:t>kantoor</a:t>
            </a:r>
            <a:r>
              <a:rPr lang="en-US" sz="2000" dirty="0">
                <a:solidFill>
                  <a:schemeClr val="tx1"/>
                </a:solidFill>
              </a:rPr>
              <a:t> · …… </a:t>
            </a:r>
            <a:r>
              <a:rPr lang="en-US" sz="2000" i="1" dirty="0">
                <a:solidFill>
                  <a:schemeClr val="tx1"/>
                </a:solidFill>
              </a:rPr>
              <a:t>klanten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deze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i="1" dirty="0">
                <a:solidFill>
                  <a:schemeClr val="tx1"/>
                </a:solidFill>
              </a:rPr>
              <a:t>dit</a:t>
            </a:r>
            <a:r>
              <a:rPr lang="en-US" sz="2000" dirty="0">
                <a:solidFill>
                  <a:schemeClr val="tx1"/>
                </a:solidFill>
              </a:rPr>
              <a:t> (proche) : …… </a:t>
            </a:r>
            <a:r>
              <a:rPr lang="en-US" sz="2000" i="1" dirty="0">
                <a:solidFill>
                  <a:schemeClr val="tx1"/>
                </a:solidFill>
              </a:rPr>
              <a:t>huis</a:t>
            </a:r>
            <a:r>
              <a:rPr lang="en-US" sz="2000" dirty="0">
                <a:solidFill>
                  <a:schemeClr val="tx1"/>
                </a:solidFill>
              </a:rPr>
              <a:t> · …… </a:t>
            </a:r>
            <a:r>
              <a:rPr lang="en-US" sz="2000" i="1" dirty="0">
                <a:solidFill>
                  <a:schemeClr val="tx1"/>
                </a:solidFill>
              </a:rPr>
              <a:t>stoel</a:t>
            </a:r>
            <a:r>
              <a:rPr lang="en-US" sz="2000" dirty="0">
                <a:solidFill>
                  <a:schemeClr val="tx1"/>
                </a:solidFill>
              </a:rPr>
              <a:t> 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Posséder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Montrer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Demander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Hom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Volgende keer : Groot of grote?</a:t>
            </a:r>
            <a:r>
              <a:rPr lang="en-US" sz="1800" dirty="0">
                <a:solidFill>
                  <a:schemeClr val="bg1"/>
                </a:solidFill>
              </a:rPr>
              <a:t> — </a:t>
            </a:r>
            <a:r>
              <a:rPr lang="en-US" sz="1800" i="1" dirty="0">
                <a:solidFill>
                  <a:schemeClr val="bg1"/>
                </a:solidFill>
              </a:rPr>
              <a:t>een groot huis, de grote auto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20 — Van wie is dit? — Possessifs et démonstratifs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2026-10-06T17:53:44Z</dcterms:created>
  <dcterms:modified xsi:type="dcterms:W3CDTF">2026-10-06T17:53:44Z</dcterms:modified>
</cp:coreProperties>
</file>