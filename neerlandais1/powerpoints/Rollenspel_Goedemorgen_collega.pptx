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f967e686-ac06-a721-8eae-b26c793d295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jeu de rôle et la situation.
Demandez : « Que dit-on le matin, en arrivant au travail ? » Réponse attendue : Goedemorgen!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Installer la scène et les quatre étapes.
het onthaal (BE) = l'accueil, la réception. Faites décrire le décor avec les mots connus (couleurs, nombres) si la classe est à l'aise.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Rassembler les phrases utiles, par étape.
Faites répéter en chœur, puis par deux. Ik ben … En jij? et Tot straks! (à tout à l'heure) sont donnés comme des blocs. drieënzeventig : le tréma sépare drie et 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Montrer le jeu de rôle complet avant de jouer.
Lisez d'abord à deux voix (l'enseignant·e et un·e volontaire), puis toute la classe : moitié A, moitié B. B répète le nombre (Drieënzeventig) : c'est la façon naturelle de vérifier.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Jouer la situation par deux avec une fiche d'informations.
Pour que B ne lise pas la fiche, imprimez-la (ou B tourne le dos à l'écran). B choisit Tom ou Toon en secret : A doit écouter la voyelle, puis vérifier avec Hoe spel je dat?. A utilise son vrai prénom.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Rejouer avec d'autres données et s'auto-évaluer.
Vérification : A montre sa fiche, B compare avec son badge. Nombres de la ronde 2 : eenennegentig, zevenenveertig, zesendertig. Retour en grand groupe : quels nombres étaient difficiles ? Variante : chacun·e invente sa propre fiche.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· A1 · Jeu de rôle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· A1 · Jeu de rôle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489606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JEU DE RÔLE · A1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Goedemorgen, collega!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Une mise en situation après la 2e séance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saluer · épeler · compter · remercier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72200" y="1097280"/>
            <a:ext cx="576072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234440"/>
            <a:ext cx="5486400" cy="2638958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873398"/>
            <a:ext cx="5486400" cy="89154"/>
          </a:xfrm>
          <a:prstGeom prst="rect">
            <a:avLst/>
          </a:prstGeom>
          <a:solidFill>
            <a:srgbClr val="B8C2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962552"/>
            <a:ext cx="5486400" cy="838048"/>
          </a:xfrm>
          <a:prstGeom prst="rect">
            <a:avLst/>
          </a:prstGeom>
          <a:solidFill>
            <a:srgbClr val="EADF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748272" y="3962552"/>
            <a:ext cx="219456" cy="838048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7735824" y="3962552"/>
            <a:ext cx="219456" cy="838048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833104" y="3962552"/>
            <a:ext cx="219456" cy="838048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930384" y="3962552"/>
            <a:ext cx="219456" cy="838048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0917936" y="3962552"/>
            <a:ext cx="219456" cy="838048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1384" y="1555394"/>
            <a:ext cx="1097280" cy="1497787"/>
          </a:xfrm>
          <a:prstGeom prst="rect">
            <a:avLst/>
          </a:prstGeom>
          <a:solidFill>
            <a:srgbClr val="CDE7F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0024" y="1555394"/>
            <a:ext cx="914" cy="149778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2304288"/>
            <a:ext cx="1097280" cy="91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pic>
        <p:nvPicPr>
          <p:cNvPr id="17" name="Image 0" descr="sun behind 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62379"/>
            <a:ext cx="534924" cy="53492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84464" y="1484071"/>
            <a:ext cx="1536192" cy="427939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84464" y="1484071"/>
            <a:ext cx="153619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PEETERS &amp; CO</a:t>
            </a:r>
            <a:endParaRPr lang="en-US" sz="1200" dirty="0"/>
          </a:p>
        </p:txBody>
      </p:sp>
      <p:pic>
        <p:nvPicPr>
          <p:cNvPr id="20" name="Image 1" descr="mantelpiece 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1484071"/>
            <a:ext cx="534924" cy="534924"/>
          </a:xfrm>
          <a:prstGeom prst="rect">
            <a:avLst/>
          </a:prstGeom>
        </p:spPr>
      </p:pic>
      <p:pic>
        <p:nvPicPr>
          <p:cNvPr id="21" name="Image 2" descr="framed pic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1555394"/>
            <a:ext cx="677570" cy="677570"/>
          </a:xfrm>
          <a:prstGeom prst="rect">
            <a:avLst/>
          </a:prstGeom>
        </p:spPr>
      </p:pic>
      <p:pic>
        <p:nvPicPr>
          <p:cNvPr id="22" name="Image 3" descr="desktop compu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411273"/>
            <a:ext cx="713232" cy="713232"/>
          </a:xfrm>
          <a:prstGeom prst="rect">
            <a:avLst/>
          </a:prstGeom>
        </p:spPr>
      </p:pic>
      <p:pic>
        <p:nvPicPr>
          <p:cNvPr id="23" name="Image 4" descr="hot bever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767889"/>
            <a:ext cx="356616" cy="356616"/>
          </a:xfrm>
          <a:prstGeom prst="rect">
            <a:avLst/>
          </a:prstGeom>
        </p:spPr>
      </p:pic>
      <p:pic>
        <p:nvPicPr>
          <p:cNvPr id="24" name="Image 5" descr="potted pla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4" y="2482596"/>
            <a:ext cx="641909" cy="641909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037576" y="3088843"/>
            <a:ext cx="2029968" cy="178308"/>
          </a:xfrm>
          <a:prstGeom prst="roundRect">
            <a:avLst>
              <a:gd name="adj" fmla="val 15385"/>
            </a:avLst>
          </a:prstGeom>
          <a:solidFill>
            <a:srgbClr val="D5DC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119872" y="3267151"/>
            <a:ext cx="1865376" cy="1176833"/>
          </a:xfrm>
          <a:prstGeom prst="roundRect">
            <a:avLst>
              <a:gd name="adj" fmla="val 31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8119872" y="3516782"/>
            <a:ext cx="186537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bg1"/>
                </a:solidFill>
              </a:rPr>
              <a:t>ONTHAAL</a:t>
            </a:r>
            <a:endParaRPr lang="en-US" sz="1000" dirty="0"/>
          </a:p>
        </p:txBody>
      </p:sp>
      <p:pic>
        <p:nvPicPr>
          <p:cNvPr id="28" name="Image 6" descr="woman office wor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446934"/>
            <a:ext cx="1997050" cy="1997050"/>
          </a:xfrm>
          <a:prstGeom prst="rect">
            <a:avLst/>
          </a:prstGeom>
        </p:spPr>
      </p:pic>
      <p:pic>
        <p:nvPicPr>
          <p:cNvPr id="29" name="Image 7" descr="man office work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0070" y="2446934"/>
            <a:ext cx="1997050" cy="1997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Premier jour chez Peeters &amp; Co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3011119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428439"/>
            <a:ext cx="11091672" cy="101727"/>
          </a:xfrm>
          <a:prstGeom prst="rect">
            <a:avLst/>
          </a:prstGeom>
          <a:solidFill>
            <a:srgbClr val="B8C2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530166"/>
            <a:ext cx="11091672" cy="956234"/>
          </a:xfrm>
          <a:prstGeom prst="rect">
            <a:avLst/>
          </a:prstGeom>
          <a:solidFill>
            <a:srgbClr val="EADF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1435974" y="4530166"/>
            <a:ext cx="443667" cy="956234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3432475" y="4530166"/>
            <a:ext cx="443667" cy="956234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5650809" y="4530166"/>
            <a:ext cx="443667" cy="956234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7869144" y="4530166"/>
            <a:ext cx="443667" cy="956234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9865644" y="4530166"/>
            <a:ext cx="443667" cy="956234"/>
          </a:xfrm>
          <a:prstGeom prst="line">
            <a:avLst/>
          </a:prstGeom>
          <a:noFill/>
          <a:ln w="12700">
            <a:solidFill>
              <a:srgbClr val="D9C8B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6849" y="1783537"/>
            <a:ext cx="2218334" cy="1709014"/>
          </a:xfrm>
          <a:prstGeom prst="rect">
            <a:avLst/>
          </a:prstGeom>
          <a:solidFill>
            <a:srgbClr val="CDE7F7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46016" y="1783537"/>
            <a:ext cx="914" cy="1709014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6849" y="2638044"/>
            <a:ext cx="2218334" cy="914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16" name="Image 0" descr="sun behind 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905610"/>
            <a:ext cx="610362" cy="61036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41642" y="1702156"/>
            <a:ext cx="3105668" cy="488290"/>
          </a:xfrm>
          <a:prstGeom prst="roundRect">
            <a:avLst>
              <a:gd name="adj" fmla="val 112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41642" y="1702156"/>
            <a:ext cx="3105668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PEETERS &amp; CO</a:t>
            </a:r>
            <a:endParaRPr lang="en-US" sz="1800" dirty="0"/>
          </a:p>
        </p:txBody>
      </p:sp>
      <p:pic>
        <p:nvPicPr>
          <p:cNvPr id="19" name="Image 1" descr="mantelpiece 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269" y="1702156"/>
            <a:ext cx="610362" cy="610362"/>
          </a:xfrm>
          <a:prstGeom prst="rect">
            <a:avLst/>
          </a:prstGeom>
        </p:spPr>
      </p:pic>
      <p:pic>
        <p:nvPicPr>
          <p:cNvPr id="20" name="Image 2" descr="framed pic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728" y="1783537"/>
            <a:ext cx="773125" cy="773125"/>
          </a:xfrm>
          <a:prstGeom prst="rect">
            <a:avLst/>
          </a:prstGeom>
        </p:spPr>
      </p:pic>
      <p:pic>
        <p:nvPicPr>
          <p:cNvPr id="21" name="Image 3" descr="desktop compu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642" y="2760116"/>
            <a:ext cx="813816" cy="813816"/>
          </a:xfrm>
          <a:prstGeom prst="rect">
            <a:avLst/>
          </a:prstGeom>
        </p:spPr>
      </p:pic>
      <p:pic>
        <p:nvPicPr>
          <p:cNvPr id="22" name="Image 4" descr="hot bever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6" y="3167024"/>
            <a:ext cx="406908" cy="406908"/>
          </a:xfrm>
          <a:prstGeom prst="rect">
            <a:avLst/>
          </a:prstGeom>
        </p:spPr>
      </p:pic>
      <p:pic>
        <p:nvPicPr>
          <p:cNvPr id="23" name="Image 5" descr="potted pla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7268" y="2841498"/>
            <a:ext cx="732434" cy="73243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042517" y="3533242"/>
            <a:ext cx="4103919" cy="203454"/>
          </a:xfrm>
          <a:prstGeom prst="roundRect">
            <a:avLst>
              <a:gd name="adj" fmla="val 13483"/>
            </a:avLst>
          </a:prstGeom>
          <a:solidFill>
            <a:srgbClr val="D5DC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4208892" y="3736696"/>
            <a:ext cx="3771168" cy="1342796"/>
          </a:xfrm>
          <a:prstGeom prst="roundRect">
            <a:avLst>
              <a:gd name="adj" fmla="val 2724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4208892" y="4021531"/>
            <a:ext cx="3771168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ONTHAAL</a:t>
            </a:r>
            <a:endParaRPr lang="en-US" sz="1600" dirty="0"/>
          </a:p>
        </p:txBody>
      </p:sp>
      <p:pic>
        <p:nvPicPr>
          <p:cNvPr id="27" name="Image 6" descr="woman office wor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807" y="2800807"/>
            <a:ext cx="2278685" cy="2278685"/>
          </a:xfrm>
          <a:prstGeom prst="rect">
            <a:avLst/>
          </a:prstGeom>
        </p:spPr>
      </p:pic>
      <p:pic>
        <p:nvPicPr>
          <p:cNvPr id="28" name="Image 7" descr="man office work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2460" y="2800807"/>
            <a:ext cx="2278685" cy="2278685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1783080" y="1645920"/>
            <a:ext cx="2697480" cy="77724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1874520" y="1645920"/>
            <a:ext cx="25146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chemeClr val="tx1"/>
                </a:solidFill>
              </a:rPr>
              <a:t>Goedemorgen!</a:t>
            </a:r>
            <a:endParaRPr lang="en-US" sz="2100" dirty="0"/>
          </a:p>
        </p:txBody>
      </p:sp>
      <p:sp>
        <p:nvSpPr>
          <p:cNvPr id="31" name="Shape 20"/>
          <p:cNvSpPr/>
          <p:nvPr/>
        </p:nvSpPr>
        <p:spPr>
          <a:xfrm flipH="1">
            <a:off x="7772400" y="1645920"/>
            <a:ext cx="2697480" cy="77724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7863840" y="1645920"/>
            <a:ext cx="25146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chemeClr val="tx1"/>
                </a:solidFill>
              </a:rPr>
              <a:t>Goedemorgen!</a:t>
            </a:r>
            <a:endParaRPr lang="en-US" sz="2100" dirty="0"/>
          </a:p>
        </p:txBody>
      </p:sp>
      <p:sp>
        <p:nvSpPr>
          <p:cNvPr id="33" name="Shape 22"/>
          <p:cNvSpPr/>
          <p:nvPr/>
        </p:nvSpPr>
        <p:spPr>
          <a:xfrm>
            <a:off x="914400" y="4983480"/>
            <a:ext cx="137160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3"/>
          <p:cNvSpPr txBox="1"/>
          <p:nvPr/>
        </p:nvSpPr>
        <p:spPr>
          <a:xfrm>
            <a:off x="914400" y="4983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 · Sofie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9902952" y="498348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9902952" y="4983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 · Tom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548640" y="5623560"/>
            <a:ext cx="2670048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658368" y="57058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658368" y="5705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pic>
        <p:nvPicPr>
          <p:cNvPr id="40" name="Image 8" descr="waving han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432" y="5678424"/>
            <a:ext cx="457200" cy="4572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737360" y="562356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Saluer</a:t>
            </a:r>
            <a:endParaRPr lang="en-US" sz="1600" dirty="0"/>
          </a:p>
        </p:txBody>
      </p:sp>
      <p:sp>
        <p:nvSpPr>
          <p:cNvPr id="42" name="Shape 30"/>
          <p:cNvSpPr/>
          <p:nvPr/>
        </p:nvSpPr>
        <p:spPr>
          <a:xfrm>
            <a:off x="3355848" y="5623560"/>
            <a:ext cx="2670048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3465576" y="57058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2"/>
          <p:cNvSpPr txBox="1"/>
          <p:nvPr/>
        </p:nvSpPr>
        <p:spPr>
          <a:xfrm>
            <a:off x="3465576" y="5705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pic>
        <p:nvPicPr>
          <p:cNvPr id="45" name="Image 9" descr="input latin uppercas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640" y="5678424"/>
            <a:ext cx="457200" cy="4572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544568" y="562356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Épeler</a:t>
            </a:r>
            <a:endParaRPr lang="en-US" sz="1600" dirty="0"/>
          </a:p>
        </p:txBody>
      </p:sp>
      <p:sp>
        <p:nvSpPr>
          <p:cNvPr id="47" name="Shape 34"/>
          <p:cNvSpPr/>
          <p:nvPr/>
        </p:nvSpPr>
        <p:spPr>
          <a:xfrm>
            <a:off x="6163056" y="5623560"/>
            <a:ext cx="2670048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5"/>
          <p:cNvSpPr/>
          <p:nvPr/>
        </p:nvSpPr>
        <p:spPr>
          <a:xfrm>
            <a:off x="6272784" y="57058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6272784" y="5705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pic>
        <p:nvPicPr>
          <p:cNvPr id="50" name="Image 10" descr="input number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48" y="5678424"/>
            <a:ext cx="457200" cy="45720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7351776" y="562356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Compter</a:t>
            </a:r>
            <a:endParaRPr lang="en-US" sz="1600" dirty="0"/>
          </a:p>
        </p:txBody>
      </p:sp>
      <p:sp>
        <p:nvSpPr>
          <p:cNvPr id="52" name="Shape 38"/>
          <p:cNvSpPr/>
          <p:nvPr/>
        </p:nvSpPr>
        <p:spPr>
          <a:xfrm>
            <a:off x="8970264" y="5623560"/>
            <a:ext cx="2670048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9079992" y="57058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9079992" y="5705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pic>
        <p:nvPicPr>
          <p:cNvPr id="55" name="Image 11" descr="sparkl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92056" y="5678424"/>
            <a:ext cx="457200" cy="4572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10158984" y="562356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Remercier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boîte à outils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OUTILS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670048" cy="32461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2670048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463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SALUER</a:t>
            </a:r>
            <a:endParaRPr lang="en-US" sz="1600" dirty="0"/>
          </a:p>
        </p:txBody>
      </p:sp>
      <p:pic>
        <p:nvPicPr>
          <p:cNvPr id="8" name="Image 0" descr="waving h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103120"/>
            <a:ext cx="23957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Goedemorgen!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Hallo! · Dag!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Ik ben … En jij?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Tot straks!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355848" y="1463040"/>
            <a:ext cx="2670048" cy="32461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55848" y="1463040"/>
            <a:ext cx="2670048" cy="548640"/>
          </a:xfrm>
          <a:prstGeom prst="roundRect">
            <a:avLst>
              <a:gd name="adj" fmla="val 20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995928" y="1463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ÉPELER</a:t>
            </a:r>
            <a:endParaRPr lang="en-US" sz="1600" dirty="0"/>
          </a:p>
        </p:txBody>
      </p:sp>
      <p:pic>
        <p:nvPicPr>
          <p:cNvPr id="13" name="Image 1" descr="input latin upper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508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93008" y="2103120"/>
            <a:ext cx="23957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rgbClr val="6E4A9E"/>
                </a:solidFill>
              </a:rPr>
              <a:t>Hoe spel je dat?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rgbClr val="6E4A9E"/>
                </a:solidFill>
              </a:rPr>
              <a:t>T – O – M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rgbClr val="6E4A9E"/>
                </a:solidFill>
              </a:rPr>
              <a:t>Tom of Toon?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163056" y="1463040"/>
            <a:ext cx="2670048" cy="32461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63056" y="1463040"/>
            <a:ext cx="2670048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03136" y="1463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COMPTER</a:t>
            </a:r>
            <a:endParaRPr lang="en-US" sz="1600" dirty="0"/>
          </a:p>
        </p:txBody>
      </p:sp>
      <p:pic>
        <p:nvPicPr>
          <p:cNvPr id="18" name="Image 2" descr="input numb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5087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0216" y="2103120"/>
            <a:ext cx="23957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24 · vierentwintig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58 · achtenvijftig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73 · drieënzeventig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8970264" y="1463040"/>
            <a:ext cx="2670048" cy="32461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970264" y="1463040"/>
            <a:ext cx="2670048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610344" y="1463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RÉAGIR</a:t>
            </a:r>
            <a:endParaRPr lang="en-US" sz="1600" dirty="0"/>
          </a:p>
        </p:txBody>
      </p:sp>
      <p:pic>
        <p:nvPicPr>
          <p:cNvPr id="23" name="Image 3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150876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07424" y="2103120"/>
            <a:ext cx="23957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Dat is mooi!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Bedankt!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548640" y="4846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" y="4846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Court ou long ?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2788920" y="48463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Tom</a:t>
            </a:r>
            <a:r>
              <a:rPr lang="en-US" sz="1500" dirty="0">
                <a:solidFill>
                  <a:schemeClr val="tx1"/>
                </a:solidFill>
              </a:rPr>
              <a:t> (o court) ≠ </a:t>
            </a:r>
            <a:r>
              <a:rPr lang="en-US" sz="1500" b="1" i="1" dirty="0">
                <a:solidFill>
                  <a:schemeClr val="tx1"/>
                </a:solidFill>
              </a:rPr>
              <a:t>Toon</a:t>
            </a:r>
            <a:r>
              <a:rPr lang="en-US" sz="1500" dirty="0">
                <a:solidFill>
                  <a:schemeClr val="tx1"/>
                </a:solidFill>
              </a:rPr>
              <a:t> (oo long) · </a:t>
            </a:r>
            <a:r>
              <a:rPr lang="en-US" sz="1500" b="1" i="1" dirty="0">
                <a:solidFill>
                  <a:schemeClr val="tx1"/>
                </a:solidFill>
              </a:rPr>
              <a:t>Dan</a:t>
            </a:r>
            <a:r>
              <a:rPr lang="en-US" sz="1500" dirty="0">
                <a:solidFill>
                  <a:schemeClr val="tx1"/>
                </a:solidFill>
              </a:rPr>
              <a:t> ≠ </a:t>
            </a:r>
            <a:r>
              <a:rPr lang="en-US" sz="1500" b="1" i="1" dirty="0">
                <a:solidFill>
                  <a:schemeClr val="tx1"/>
                </a:solidFill>
              </a:rPr>
              <a:t>Daan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548640" y="5303520"/>
            <a:ext cx="210312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48640" y="5303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Les nombres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2788920" y="53035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l’unité d’abord : </a:t>
            </a:r>
            <a:r>
              <a:rPr lang="en-US" sz="1500" b="1" i="1" dirty="0">
                <a:solidFill>
                  <a:schemeClr val="tx1"/>
                </a:solidFill>
              </a:rPr>
              <a:t>vier-en-twintig</a:t>
            </a:r>
            <a:r>
              <a:rPr lang="en-US" sz="1500" dirty="0">
                <a:solidFill>
                  <a:schemeClr val="tx1"/>
                </a:solidFill>
              </a:rPr>
              <a:t> = 4 + 20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548640" y="57607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48640" y="5760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Lettres pièges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27889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e</a:t>
            </a:r>
            <a:r>
              <a:rPr lang="en-US" sz="1500" dirty="0">
                <a:solidFill>
                  <a:schemeClr val="tx1"/>
                </a:solidFill>
              </a:rPr>
              <a:t> [é] · </a:t>
            </a:r>
            <a:r>
              <a:rPr lang="en-US" sz="1500" i="1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 [i] · </a:t>
            </a:r>
            <a:r>
              <a:rPr lang="en-US" sz="1500" i="1" dirty="0">
                <a:solidFill>
                  <a:schemeClr val="tx1"/>
                </a:solidFill>
              </a:rPr>
              <a:t>u</a:t>
            </a:r>
            <a:r>
              <a:rPr lang="en-US" sz="1500" dirty="0">
                <a:solidFill>
                  <a:schemeClr val="tx1"/>
                </a:solidFill>
              </a:rPr>
              <a:t> [u] · </a:t>
            </a:r>
            <a:r>
              <a:rPr lang="en-US" sz="1500" i="1" dirty="0">
                <a:solidFill>
                  <a:schemeClr val="tx1"/>
                </a:solidFill>
              </a:rPr>
              <a:t>g</a:t>
            </a:r>
            <a:r>
              <a:rPr lang="en-US" sz="1500" dirty="0">
                <a:solidFill>
                  <a:schemeClr val="tx1"/>
                </a:solidFill>
              </a:rPr>
              <a:t> [ché] · </a:t>
            </a:r>
            <a:r>
              <a:rPr lang="en-US" sz="1500" i="1" dirty="0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[yé] · </a:t>
            </a:r>
            <a:r>
              <a:rPr lang="en-US" sz="1500" i="1" dirty="0">
                <a:solidFill>
                  <a:schemeClr val="tx1"/>
                </a:solidFill>
              </a:rPr>
              <a:t>w</a:t>
            </a:r>
            <a:r>
              <a:rPr lang="en-US" sz="1500" dirty="0">
                <a:solidFill>
                  <a:schemeClr val="tx1"/>
                </a:solidFill>
              </a:rPr>
              <a:t> [wé] · </a:t>
            </a:r>
            <a:r>
              <a:rPr lang="en-US" sz="1500" i="1" dirty="0">
                <a:solidFill>
                  <a:schemeClr val="tx1"/>
                </a:solidFill>
              </a:rPr>
              <a:t>ij</a:t>
            </a:r>
            <a:r>
              <a:rPr lang="en-US" sz="1500" dirty="0">
                <a:solidFill>
                  <a:schemeClr val="tx1"/>
                </a:solidFill>
              </a:rPr>
              <a:t> [ei]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dialogue modèle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288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MODÈLE</a:t>
            </a:r>
            <a:endParaRPr lang="en-US" sz="1200" dirty="0"/>
          </a:p>
        </p:txBody>
      </p:sp>
      <p:pic>
        <p:nvPicPr>
          <p:cNvPr id="5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· Sofie</a:t>
            </a:r>
            <a:endParaRPr lang="en-US" sz="1300" dirty="0"/>
          </a:p>
        </p:txBody>
      </p:sp>
      <p:pic>
        <p:nvPicPr>
          <p:cNvPr id="7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1508760"/>
            <a:ext cx="1371600" cy="1371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268712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B · Tom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2148840" y="1481328"/>
            <a:ext cx="2204801" cy="402336"/>
          </a:xfrm>
          <a:prstGeom prst="roundRect">
            <a:avLst>
              <a:gd name="adj" fmla="val 45455"/>
            </a:avLst>
          </a:prstGeom>
          <a:solidFill>
            <a:srgbClr val="EAF2FB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2286000" y="1481328"/>
            <a:ext cx="19304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Goedemorgen!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828800" y="148132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835311" y="1920240"/>
            <a:ext cx="2204801" cy="402336"/>
          </a:xfrm>
          <a:prstGeom prst="roundRect">
            <a:avLst>
              <a:gd name="adj" fmla="val 45455"/>
            </a:avLst>
          </a:prstGeom>
          <a:solidFill>
            <a:srgbClr val="F1ECF7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972471" y="1920240"/>
            <a:ext cx="19304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Goedemorgen!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0085832" y="1920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B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2148840" y="2359152"/>
            <a:ext cx="3296046" cy="402336"/>
          </a:xfrm>
          <a:prstGeom prst="roundRect">
            <a:avLst>
              <a:gd name="adj" fmla="val 45455"/>
            </a:avLst>
          </a:prstGeom>
          <a:solidFill>
            <a:srgbClr val="EAF2FB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286000" y="2359152"/>
            <a:ext cx="30217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Sofie. En jij?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23591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956560" y="2798064"/>
            <a:ext cx="2083552" cy="402336"/>
          </a:xfrm>
          <a:prstGeom prst="roundRect">
            <a:avLst>
              <a:gd name="adj" fmla="val 45455"/>
            </a:avLst>
          </a:prstGeom>
          <a:solidFill>
            <a:srgbClr val="F1ECF7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093720" y="2798064"/>
            <a:ext cx="180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Tom.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0085832" y="27980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B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2148840" y="3236976"/>
            <a:ext cx="4266042" cy="402336"/>
          </a:xfrm>
          <a:prstGeom prst="roundRect">
            <a:avLst>
              <a:gd name="adj" fmla="val 45455"/>
            </a:avLst>
          </a:prstGeom>
          <a:solidFill>
            <a:srgbClr val="EAF2FB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286000" y="3236976"/>
            <a:ext cx="39917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Tom of Toon? </a:t>
            </a:r>
            <a:r>
              <a:rPr lang="en-US" sz="1700" b="1" i="1" dirty="0">
                <a:solidFill>
                  <a:schemeClr val="tx1"/>
                </a:solidFill>
              </a:rPr>
              <a:t>Hoe spel je dat?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1828800" y="323697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077810" y="3675888"/>
            <a:ext cx="1962302" cy="402336"/>
          </a:xfrm>
          <a:prstGeom prst="roundRect">
            <a:avLst>
              <a:gd name="adj" fmla="val 45455"/>
            </a:avLst>
          </a:prstGeom>
          <a:solidFill>
            <a:srgbClr val="F1ECF7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14970" y="3675888"/>
            <a:ext cx="16879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 – O – M.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10085832" y="36758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B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2148840" y="4114800"/>
            <a:ext cx="5236037" cy="402336"/>
          </a:xfrm>
          <a:prstGeom prst="roundRect">
            <a:avLst>
              <a:gd name="adj" fmla="val 45455"/>
            </a:avLst>
          </a:prstGeom>
          <a:solidFill>
            <a:srgbClr val="EAF2FB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0" y="4114800"/>
            <a:ext cx="49617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Bedankt!</a:t>
            </a:r>
            <a:r>
              <a:rPr lang="en-US" sz="1700" i="1" dirty="0">
                <a:solidFill>
                  <a:schemeClr val="tx1"/>
                </a:solidFill>
              </a:rPr>
              <a:t> Hier is je badge: nummer </a:t>
            </a:r>
            <a:r>
              <a:rPr lang="en-US" sz="1700" b="1" i="1" dirty="0">
                <a:solidFill>
                  <a:schemeClr val="tx1"/>
                </a:solidFill>
              </a:rPr>
              <a:t>73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1828800" y="41148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895320" y="4553712"/>
            <a:ext cx="4144792" cy="402336"/>
          </a:xfrm>
          <a:prstGeom prst="roundRect">
            <a:avLst>
              <a:gd name="adj" fmla="val 45455"/>
            </a:avLst>
          </a:prstGeom>
          <a:solidFill>
            <a:srgbClr val="F1ECF7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032480" y="4553712"/>
            <a:ext cx="387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Drieënzeventig. </a:t>
            </a:r>
            <a:r>
              <a:rPr lang="en-US" sz="1700" b="1" i="1" dirty="0">
                <a:solidFill>
                  <a:schemeClr val="tx1"/>
                </a:solidFill>
              </a:rPr>
              <a:t>Dat is mooi!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10085832" y="45537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B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2148840" y="4992624"/>
            <a:ext cx="4872289" cy="402336"/>
          </a:xfrm>
          <a:prstGeom prst="roundRect">
            <a:avLst>
              <a:gd name="adj" fmla="val 45455"/>
            </a:avLst>
          </a:prstGeom>
          <a:solidFill>
            <a:srgbClr val="EAF2FB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2286000" y="4992624"/>
            <a:ext cx="459796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Je kantoor: nummer </a:t>
            </a:r>
            <a:r>
              <a:rPr lang="en-US" sz="1700" b="1" i="1" dirty="0">
                <a:solidFill>
                  <a:schemeClr val="tx1"/>
                </a:solidFill>
              </a:rPr>
              <a:t>24</a:t>
            </a:r>
            <a:r>
              <a:rPr lang="en-US" sz="1700" i="1" dirty="0">
                <a:solidFill>
                  <a:schemeClr val="tx1"/>
                </a:solidFill>
              </a:rPr>
              <a:t>. Tot straks!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1828800" y="499262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6986565" y="5431536"/>
            <a:ext cx="3053547" cy="402336"/>
          </a:xfrm>
          <a:prstGeom prst="roundRect">
            <a:avLst>
              <a:gd name="adj" fmla="val 45455"/>
            </a:avLst>
          </a:prstGeom>
          <a:solidFill>
            <a:srgbClr val="F1ECF7"/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123725" y="5431536"/>
            <a:ext cx="27792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Bedankt!</a:t>
            </a:r>
            <a:r>
              <a:rPr lang="en-US" sz="1700" i="1" dirty="0">
                <a:solidFill>
                  <a:schemeClr val="tx1"/>
                </a:solidFill>
              </a:rPr>
              <a:t> Dag Sofie!</a:t>
            </a:r>
            <a:endParaRPr lang="en-US" sz="1700" dirty="0"/>
          </a:p>
        </p:txBody>
      </p:sp>
      <p:sp>
        <p:nvSpPr>
          <p:cNvPr id="38" name="Text 33"/>
          <p:cNvSpPr txBox="1"/>
          <p:nvPr/>
        </p:nvSpPr>
        <p:spPr>
          <a:xfrm>
            <a:off x="10085832" y="54315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B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of</a:t>
            </a:r>
            <a:r>
              <a:rPr lang="en-US" sz="1200" i="1" dirty="0">
                <a:solidFill>
                  <a:schemeClr val="accent5"/>
                </a:solidFill>
              </a:rPr>
              <a:t> = ou · </a:t>
            </a:r>
            <a:r>
              <a:rPr lang="en-US" sz="1200" i="1" dirty="0">
                <a:solidFill>
                  <a:schemeClr val="accent5"/>
                </a:solidFill>
              </a:rPr>
              <a:t>Hier is je badge</a:t>
            </a:r>
            <a:r>
              <a:rPr lang="en-US" sz="1200" i="1" dirty="0">
                <a:solidFill>
                  <a:schemeClr val="accent5"/>
                </a:solidFill>
              </a:rPr>
              <a:t> = voici ton badge · </a:t>
            </a:r>
            <a:r>
              <a:rPr lang="en-US" sz="1200" i="1" dirty="0">
                <a:solidFill>
                  <a:schemeClr val="accent5"/>
                </a:solidFill>
              </a:rPr>
              <a:t>je kantoor</a:t>
            </a:r>
            <a:r>
              <a:rPr lang="en-US" sz="1200" i="1" dirty="0">
                <a:solidFill>
                  <a:schemeClr val="accent5"/>
                </a:solidFill>
              </a:rPr>
              <a:t> = ton bureau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vous ! Ronde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Premier jour chez Peeters &amp; Co. A accueille B à l’accueil : saluer, épeler, donner les numéros, remercier.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 — à l’accueil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Saluez. Demandez le prénom et faites-le épeler.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Donnez les 3 numéros de la fiche.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 — nouveau·elle collègue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Saluez. Prenez le prénom </a:t>
            </a:r>
            <a:r>
              <a:rPr lang="en-US" sz="1700" i="1" dirty="0">
                <a:solidFill>
                  <a:schemeClr val="tx1"/>
                </a:solidFill>
              </a:rPr>
              <a:t>Tom</a:t>
            </a:r>
            <a:r>
              <a:rPr lang="en-US" sz="1700" dirty="0">
                <a:solidFill>
                  <a:schemeClr val="tx1"/>
                </a:solidFill>
              </a:rPr>
              <a:t> ou </a:t>
            </a:r>
            <a:r>
              <a:rPr lang="en-US" sz="1700" i="1" dirty="0">
                <a:solidFill>
                  <a:schemeClr val="tx1"/>
                </a:solidFill>
              </a:rPr>
              <a:t>Toon</a:t>
            </a:r>
            <a:r>
              <a:rPr lang="en-US" sz="1700" dirty="0">
                <a:solidFill>
                  <a:schemeClr val="tx1"/>
                </a:solidFill>
              </a:rPr>
              <a:t> et épelez-le.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Répétez et notez les numéros. Remerciez !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Goedemorgen! · Ik ben … En jij? · Tom of Toon? · Hoe spel je dat? · Hier is je badge: nummer … · Je kantoor: nummer … · Je telefoon: nummer … · Dat is mooi! · Bedankt! · Tot straks!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591056"/>
            <a:ext cx="3566160" cy="4700016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591056"/>
            <a:ext cx="3566160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37192" y="1481328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B8C2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11312" y="15910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FICHE A · RONDE 1</a:t>
            </a:r>
            <a:endParaRPr lang="en-US" sz="1500" dirty="0"/>
          </a:p>
        </p:txBody>
      </p:sp>
      <p:pic>
        <p:nvPicPr>
          <p:cNvPr id="23" name="Image 0" descr="identification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2304288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88552" y="23042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</a:rPr>
              <a:t>PEETERS &amp; CO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302752" y="3054096"/>
            <a:ext cx="15544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Badge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857232" y="3054096"/>
            <a:ext cx="160020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73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8302752" y="4117848"/>
            <a:ext cx="15544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Kantoor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9857232" y="4117848"/>
            <a:ext cx="160020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24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8302752" y="5181600"/>
            <a:ext cx="15544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Telefoon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9857232" y="5181600"/>
            <a:ext cx="160020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58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Ronde 2 : échangez les rôles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66160" cy="365760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00200"/>
            <a:ext cx="3566160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0" y="1490472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B8C2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600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FICHE A · RONDE 2</a:t>
            </a:r>
            <a:endParaRPr lang="en-US" sz="1500" dirty="0"/>
          </a:p>
        </p:txBody>
      </p:sp>
      <p:pic>
        <p:nvPicPr>
          <p:cNvPr id="10" name="Image 0" descr="identification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13432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3134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</a:rPr>
              <a:t>PEETERS &amp; CO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063240"/>
            <a:ext cx="15544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Badge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331720" y="3063240"/>
            <a:ext cx="16002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91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779520"/>
            <a:ext cx="15544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Kantoor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331720" y="3779520"/>
            <a:ext cx="16002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47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495800"/>
            <a:ext cx="155448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Telefoon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331720" y="4495800"/>
            <a:ext cx="16002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36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4A9E"/>
                </a:solidFill>
              </a:rPr>
              <a:t>B prend le prénom </a:t>
            </a:r>
            <a:r>
              <a:rPr lang="en-US" sz="1400" b="1" i="1" dirty="0">
                <a:solidFill>
                  <a:srgbClr val="6E4A9E"/>
                </a:solidFill>
              </a:rPr>
              <a:t>Dan</a:t>
            </a:r>
            <a:r>
              <a:rPr lang="en-US" sz="1400" dirty="0">
                <a:solidFill>
                  <a:srgbClr val="6E4A9E"/>
                </a:solidFill>
              </a:rPr>
              <a:t> ou </a:t>
            </a:r>
            <a:r>
              <a:rPr lang="en-US" sz="1400" b="1" i="1" dirty="0">
                <a:solidFill>
                  <a:srgbClr val="6E4A9E"/>
                </a:solidFill>
              </a:rPr>
              <a:t>Daan</a:t>
            </a:r>
            <a:r>
              <a:rPr lang="en-US" sz="1400" dirty="0">
                <a:solidFill>
                  <a:srgbClr val="6E4A9E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343400" y="1600200"/>
            <a:ext cx="3566160" cy="365760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43400" y="1600200"/>
            <a:ext cx="3566160" cy="566928"/>
          </a:xfrm>
          <a:prstGeom prst="roundRect">
            <a:avLst>
              <a:gd name="adj" fmla="val 22581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806440" y="1490472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B8C2C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480560" y="1600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BADGE DE B · À REMPLIR</a:t>
            </a:r>
            <a:endParaRPr lang="en-US" sz="1500" dirty="0"/>
          </a:p>
        </p:txBody>
      </p:sp>
      <p:pic>
        <p:nvPicPr>
          <p:cNvPr id="23" name="Image 1" descr="identification 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313432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257800" y="23134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</a:rPr>
              <a:t>PEETERS &amp; CO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3063240"/>
            <a:ext cx="15544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Naam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126480" y="3450031"/>
            <a:ext cx="1554480" cy="914"/>
          </a:xfrm>
          <a:prstGeom prst="line">
            <a:avLst/>
          </a:prstGeom>
          <a:noFill/>
          <a:ln w="19050">
            <a:solidFill>
              <a:srgbClr val="B8C2CF"/>
            </a:solidFill>
            <a:prstDash val="dash"/>
          </a:ln>
        </p:spPr>
      </p:sp>
      <p:sp>
        <p:nvSpPr>
          <p:cNvPr id="27" name="Text 22"/>
          <p:cNvSpPr txBox="1"/>
          <p:nvPr/>
        </p:nvSpPr>
        <p:spPr>
          <a:xfrm>
            <a:off x="4572000" y="3600450"/>
            <a:ext cx="15544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Badge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126480" y="3987241"/>
            <a:ext cx="1554480" cy="914"/>
          </a:xfrm>
          <a:prstGeom prst="line">
            <a:avLst/>
          </a:prstGeom>
          <a:noFill/>
          <a:ln w="19050">
            <a:solidFill>
              <a:srgbClr val="B8C2CF"/>
            </a:solidFill>
            <a:prstDash val="dash"/>
          </a:ln>
        </p:spPr>
      </p:sp>
      <p:sp>
        <p:nvSpPr>
          <p:cNvPr id="29" name="Text 24"/>
          <p:cNvSpPr txBox="1"/>
          <p:nvPr/>
        </p:nvSpPr>
        <p:spPr>
          <a:xfrm>
            <a:off x="4572000" y="4137660"/>
            <a:ext cx="15544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Kantoor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126480" y="4524451"/>
            <a:ext cx="1554480" cy="914"/>
          </a:xfrm>
          <a:prstGeom prst="line">
            <a:avLst/>
          </a:prstGeom>
          <a:noFill/>
          <a:ln w="19050">
            <a:solidFill>
              <a:srgbClr val="B8C2CF"/>
            </a:solidFill>
            <a:prstDash val="dash"/>
          </a:ln>
        </p:spPr>
      </p:sp>
      <p:sp>
        <p:nvSpPr>
          <p:cNvPr id="31" name="Text 26"/>
          <p:cNvSpPr txBox="1"/>
          <p:nvPr/>
        </p:nvSpPr>
        <p:spPr>
          <a:xfrm>
            <a:off x="4572000" y="4674870"/>
            <a:ext cx="155448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Telefoon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6126480" y="5061661"/>
            <a:ext cx="1554480" cy="914"/>
          </a:xfrm>
          <a:prstGeom prst="line">
            <a:avLst/>
          </a:prstGeom>
          <a:noFill/>
          <a:ln w="19050">
            <a:solidFill>
              <a:srgbClr val="B8C2CF"/>
            </a:solidFill>
            <a:prstDash val="dash"/>
          </a:ln>
        </p:spPr>
      </p:sp>
      <p:sp>
        <p:nvSpPr>
          <p:cNvPr id="33" name="Text 28"/>
          <p:cNvSpPr txBox="1"/>
          <p:nvPr/>
        </p:nvSpPr>
        <p:spPr>
          <a:xfrm>
            <a:off x="434340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4A9E"/>
                </a:solidFill>
              </a:rPr>
              <a:t>B note le prénom et les numéros entendus.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8138160" y="160020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3210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chemeClr val="tx2"/>
                </a:solidFill>
              </a:rPr>
              <a:t>IK KAN…</a:t>
            </a:r>
            <a:r>
              <a:rPr lang="en-US" sz="1500" spc="100" kern="0" dirty="0">
                <a:solidFill>
                  <a:schemeClr val="tx2"/>
                </a:solidFill>
              </a:rPr>
              <a:t> (je peux…)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8321040" y="232257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2225">
            <a:solidFill>
              <a:srgbClr val="2E7D4F"/>
            </a:solidFill>
            <a:prstDash val="solid"/>
          </a:ln>
        </p:spPr>
      </p:sp>
      <p:pic>
        <p:nvPicPr>
          <p:cNvPr id="37" name="Image 2" descr="waving 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258568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372600" y="22128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saluer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Goedemorgen!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8321040" y="31912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2225">
            <a:solidFill>
              <a:srgbClr val="2E7D4F"/>
            </a:solidFill>
            <a:prstDash val="solid"/>
          </a:ln>
        </p:spPr>
      </p:sp>
      <p:pic>
        <p:nvPicPr>
          <p:cNvPr id="40" name="Image 3" descr="input latin upperc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3127248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372600" y="3081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épeler un prénom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Hoe spel je dat?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8321040" y="405993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2225">
            <a:solidFill>
              <a:srgbClr val="2E7D4F"/>
            </a:solidFill>
            <a:prstDash val="solid"/>
          </a:ln>
        </p:spPr>
      </p:sp>
      <p:pic>
        <p:nvPicPr>
          <p:cNvPr id="43" name="Image 4" descr="input numb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995928"/>
            <a:ext cx="502920" cy="50292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372600" y="39502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 et noter un nombre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73 · 24 · 58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8321040" y="492861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2225">
            <a:solidFill>
              <a:srgbClr val="2E7D4F"/>
            </a:solidFill>
            <a:prstDash val="solid"/>
          </a:ln>
        </p:spPr>
      </p:sp>
      <p:pic>
        <p:nvPicPr>
          <p:cNvPr id="46" name="Image 5" descr="spark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4864608"/>
            <a:ext cx="502920" cy="50292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9372600" y="48188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réagir, remercier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Dat is mooi! Bedankt!</a:t>
            </a:r>
            <a:endParaRPr lang="en-US" sz="1300" dirty="0"/>
          </a:p>
        </p:txBody>
      </p:sp>
      <p:sp>
        <p:nvSpPr>
          <p:cNvPr id="48" name="Shape 39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Défi</a:t>
            </a:r>
            <a:r>
              <a:rPr lang="en-US" sz="1500" dirty="0">
                <a:solidFill>
                  <a:schemeClr val="bg1"/>
                </a:solidFill>
              </a:rPr>
              <a:t> : ajoutez un compliment au bureau : </a:t>
            </a:r>
            <a:r>
              <a:rPr lang="en-US" sz="1500" i="1" dirty="0">
                <a:solidFill>
                  <a:schemeClr val="bg1"/>
                </a:solidFill>
              </a:rPr>
              <a:t>Dat is mooi!</a:t>
            </a:r>
            <a:r>
              <a:rPr lang="en-US" sz="1500" dirty="0">
                <a:solidFill>
                  <a:schemeClr val="bg1"/>
                </a:solidFill>
              </a:rPr>
              <a:t> · et dites au revoir : </a:t>
            </a:r>
            <a:r>
              <a:rPr lang="en-US" sz="1500" i="1" dirty="0">
                <a:solidFill>
                  <a:schemeClr val="bg1"/>
                </a:solidFill>
              </a:rPr>
              <a:t>Tot straks!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Goedemorgen, collega! — Jeu de rôle (A1, après la 2e séance)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2026-10-06T17:53:50Z</dcterms:created>
  <dcterms:modified xsi:type="dcterms:W3CDTF">2026-10-06T17:53:50Z</dcterms:modified>
</cp:coreProperties>
</file>