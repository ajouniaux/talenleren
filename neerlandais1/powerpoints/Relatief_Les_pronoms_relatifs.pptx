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9a4b9c4-59ef-10b2-b578-68188097a5c3}">
          <p14:sldIdLst>
            <p14:sldId id="256"/>
          </p14:sldIdLst>
        </p14:section>
        <p14:section name="Découvrir" id="{e4ed5962-74f3-5814-eb05-90569417fa11}">
          <p14:sldIdLst>
            <p14:sldId id="257"/>
            <p14:sldId id="258"/>
            <p14:sldId id="259"/>
          </p14:sldIdLst>
        </p14:section>
        <p14:section name="Die ou dat" id="{0961c75e-c1d8-6393-785f-ac2a84b0843f}">
          <p14:sldIdLst>
            <p14:sldId id="260"/>
            <p14:sldId id="261"/>
          </p14:sldIdLst>
        </p14:section>
        <p14:section name="La place" id="{c241cc57-2847-d7a3-5899-968be6a1d622}">
          <p14:sldIdLst>
            <p14:sldId id="262"/>
            <p14:sldId id="263"/>
            <p14:sldId id="264"/>
            <p14:sldId id="265"/>
          </p14:sldIdLst>
        </p14:section>
        <p14:section name="Wat et wie" id="{d9a58c90-6066-773a-224a-5e9e7a175de2}">
          <p14:sldIdLst>
            <p14:sldId id="266"/>
            <p14:sldId id="267"/>
            <p14:sldId id="268"/>
          </p14:sldIdLst>
        </p14:section>
        <p14:section name="Avec une préposition" id="{9c064a73-2766-833c-e571-226b38ea5ed6}">
          <p14:sldIdLst>
            <p14:sldId id="269"/>
            <p14:sldId id="270"/>
            <p14:sldId id="271"/>
            <p14:sldId id="272"/>
          </p14:sldIdLst>
        </p14:section>
        <p14:section name="Traduire" id="{c63391dd-6993-ebd6-e75e-78be0106f98b}">
          <p14:sldIdLst>
            <p14:sldId id="273"/>
            <p14:sldId id="274"/>
            <p14:sldId id="275"/>
            <p14:sldId id="276"/>
          </p14:sldIdLst>
        </p14:section>
        <p14:section name="Synthèse" id="{8021e135-489a-8613-2afc-ba90fa520f85}">
          <p14:sldIdLst>
            <p14:sldId id="277"/>
            <p14:sldId id="278"/>
          </p14:sldIdLst>
        </p14:section>
        <p14:section name="Oefeningen" id="{5fa320bd-0c10-e1a3-232f-42143c366f0f}">
          <p14:sldIdLst>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Lst>
        </p14:section>
        <p14:section name="Clôture" id="{91a2b8b0-dbf0-69b0-a026-4d63e733898c}">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un petit mot relie une information à un nom.
Demandez : « Comment dit-on la collègue qui est assise à côté de moi ? » Rappel du M22 : die pour un mot de, dat pour un mot het. Aujourd'hui, on va plus loin : wat, wie, waarmee, la place de la relative, dont et où.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Les relatives servent à préciser (« le client qui a appelé »), à relier deux idées sans répéter le nom et à définir un mot qu'on ne connaît pas (Het is iemand die…, exercice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trois gestes de la relative : remplacer le nom, placer le relatif en tête, envoyer le verbe à la fin.
Faites d'abord fusionner les phrases à l'oral, sans règle. Dans le 2e exemple, le nom répété est complément (het rapport = ce que Sofie a écrit) : dat remonte quand même en tête de la relative. heeft geschreven ou geschreven heeft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les trois pièces : l'antécédent, le relatif, le verbe à la fin.
Le relatif suit directement son nom (sauf avec une préposition : de collega met wie…). Les apprenant·es qui parlent anglais suppriment parfois le relatif : en néerlandais, comme en français, il est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die ou dat selon l'article du nom (rappel du M22).
Les mêmes mots que les démonstratifs (M20) : die / dat suivent de / het. En cas de doute sur l'article, le dictionnaire tranche ; les diminutifs (-je, -tje, -pje) sont toujours het. het meisje dat… : c'est le mot qui décide, pas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néerlandais ne distingue pas qui (sujet) et que (complément).
Avec un pronom, l'ordre lève le doute : die me helpt (il m'aide, me est complément) · die ik help (je l'aide, ik est sujet). Avec deux noms, seul le contexte (ou l'accord du verbe : de collega die de klanten helpen = que les clients aident) permet de trancher.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tous les verbes de la relative à la fin, y compris le verbe séparable recollé.
C'est la règle de omdat, dat, als (M9). Le verbe séparable se recolle comme après omdat : Hij staat vroeg op → de collega die vroeg opstaat. Avec un modal et un infinitif, le modal précède : die ik moet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Insérer une relative après le sujet ; gérer la rencontre des deux verbes.
La virgule entre les deux verbes n'est pas obligatoire mais elle aide à lire (Taaladvies la conseille). Faites lire à voix haute : une petite pause après la relative.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une relative après le participe ou l'infinitif final (extraposition), comme le font les locuteurs natifs.
Les deux versions sont correctes ; la version « sautée » est la plus naturelle dès que la relative est longue. Elle est très fréquente à l'oral comme à l'écrit. Le relatif reste lié à son nom : de collega …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la relative qui choisit (sans virgules) de la relative qui ajoute une information (entre virgules).
Comme en français (« Les collègues qui habitent Gand… » / « Les collègues, qui habitent Gand, … »). À l'oral, la parenthèse se reconnaît aux pauses. C'est la virgule avant die qui fait la différence. La virgule après la relative (… wonen, komen) est la virgule « verbe, verbe » de la diapo 8 : on la met dans les deux cas, elle ne change pas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wat après alles, iets, niets, veel, weinig, het enige, het eerste et un superlatif.
Taaladvies : après alles, iets, niets, veel, weinig et après un adjectif employé seul (het enige, het mooiste), wat est le plus courant ; dat se rencontre aussi après iets, niets et un superlatif. Pour l'examen : wat. Avec un vrai nom, retour à die / dat : het enige boek dat ik heb.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wat pour reprendre une idée entière (« ce qui », « ce que »).
Comparez : De lift, die niet werkt, … (die = l'ascenseur) et De lift werkt niet, wat lastig is (wat = le fait que l'ascenseur ne marche pas). Le français dit « ce qui / ce que » : le néerlandais dit toujours wat.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wie et wat sans antécédent (« celui qui », « ce que »).
Wie … , betaalt : la relative occupe la 1re place, donc la principale commence par son verbe (« verbe, verbe », comme à la diapo 8). Dans les règlements : Wie rookt, betaalt een boete. Wie singulier : le verbe reste au singulier (Wie wil…). Le 4e exemple est, pour les grammairien·nes, une question indirecte : il se construit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préposition + wie (personne) ou waar + préposition (chose).
À l'oral, on entend aussi waar- pour une personne (de collega waarmee ik werk) : c'est accepté dans la langue familière, mais à l'écrit, met wie est la règle sûre. Le relatif reste après le nom, la préposition passe devant : de collega met wie… (le français fait pareil : « avec qui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waar + préposition et connaître les deux changements (met → mee, tot → toe).
C'est le tableau de conversion du M23 (er, daar, waar + préposition) : on ne met jamais une préposition devant het, dat, wat pour une chose. waarom est relatif après de reden ; ailleurs, c'est l'adverbe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Séparer waar et la préposition, comme à l'oral.
Même mécanisme qu'avec er (M23) : Ik wacht er al een uur op. Avec deux verbes : het project waar ik niet aan heb gedacht (ou gedacht heb). On ne sépare pas wie : de collega met wie ik werk reste en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relative à partir d'un verbe à préposition fixe (M23).
Le français « attendre » et « chercher » n'ont pas de préposition : c'est la principale source d'erreur (~~de bus die ik wacht~~). Avec zoeken, sans préposition, on peut aussi dire het dossier dat ik zoek (chercher un objet précis).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 où » : waar pour un lieu, dat ou waarop / waarin pour un moment.
de dag dat ik begon : ici, dat ne s'accorde pas avec de dag ; il veut dire « où, quand ». de dag die… existe, mais au sens de « le jour qui… » (de dag die alles veranderde). waarop (jour, moment) et waarin (année, période) sont un peu plus soutenus. Dans le récit, on entend aussi toen : in de tijd toen ik in Gent woonde.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 dont » en passant par le verbe néerlandais et sa préposition.
« Dont » = « de qui / duquel » en français ; en néerlandais, la préposition dépend du verbe : avoir besoin de → nodig hebben (aucune préposition !), parler de → praten over, être fier de → trots zijn op. wiens (homme, mot het) et wier (femme, pluriel) sont rares et réservés à l'écrit soutenu ; à l'oral : van wie.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Rassembler toutes les traductions dans un seul tableau.
Faites photographier ce tableau : il sert pour les exercices 9 et 10. Cachez la colonne « néerlandais » et faites-la retrouver à partir des exemples.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fréquentes des francophones.
Faites justifier chaque correction avec l'arbre de la diapo 22. Erreur fréquente aussi : ~~de bus die ik wacht~~ → de bus waarop ik wacht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relatif en trois questions.
Faites parcourir l'arbre à voix haute pour trois phrases du tableau des pièges. L'arbre est aussi l'outil de correction des exercices 6, 7 et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 quand, exemple, traduction.
Faites photographier la diapo. Les couleurs sont celles de toutes les diapos et de tous les corrigés.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exercices (du plus simple au plus difficile).
Séance 1 : exercices 1 à 5 · séance 2 : 6 à 8 · séance 3 : 9 à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die ou dat selon le nom.
Faites dire l'article à voix haute avant de choisir : « het rapport → dat ». N° 3 et 7 : pluriel, donc die, même si le singulier est het (het rapport → de rapporten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die ou dat selon le nom.
Faites dire l'article à voix haute avant de choisir : « het rapport → dat ». N° 3 et 7 : pluriel, donc die, même si le singulier est het (het rapport → de rapporten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deux phrases avec die / dat et envoyer le verbe à la fin.
N° 2 et 6 : gevraagd hebt / hebt gevraagd, hebben gestuurd / gestuurd hebben : les deux ordres sont corrects. N° 2 : le nom répété est complément, dat remonte en tête de la relative. N° 5 : le point d'interrogation reste à la fin de la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deux phrases avec die / dat et envoyer le verbe à la fin.
N° 2 et 6 : gevraagd hebt / hebt gevraagd, hebben gestuurd / gestuurd hebben : les deux ordres sont corrects. N° 2 : le nom répété est complément, dat remonte en tête de la relative. N° 5 : le point d'interrogation reste à la fin de la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qui et que : seul le nom décide.
het bureau = le bureau (le meuble) ; het kantoor = le bureau (la pièce, l'entreprise). N° 5 : me (complément) montre que die est le sujet ; n° 6 : ik est le sujet, die est le complément.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qui et que : seul le nom décide.
het bureau = le bureau (le meuble) ; het kantoor = le bureau (la pièce, l'entreprise). N° 5 : me (complément) montre que die est le sujet ; n° 6 : ik est le sujet, die est le complément.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Insérer une relative après le sujet ; « verbe, verbe ».
Faites entourer les deux verbes qui se touchent. N° 4 : sans virgules autour de la relative, seuls les clients qui paient en ligne ont la réduction (diapo 10). N° 5 : besproken hebben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Insérer une relative après le sujet ; « verbe, verbe ».
Faites entourer les deux verbes qui se touchent. N° 4 : sans virgules autour de la relative, seuls les clients qui paient en ligne ont la réduction (diapo 10). N° 5 : besproken hebben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sens d'une relative avec ou sans virgules.
Lisez les phrases à voix haute avec les pauses : la parenthèse s'entend. Les virgules après thuiswerken, woont, hebben (n° 1, 3, 5) sont les virgules « verbe, verbe » : elles ne changent pas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le sens d'une relative avec ou sans virgules.
Lisez les phrases à voix haute avec les pauses : la parenthèse s'entend. Les virgules après thuiswerken, woont, hebben (n° 1, 3, 5) sont les virgules « verbe, verbe » : elles ne changent pas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die, dat et wat.
N° 5 : wat reprend toute la phrase (diapo 12). N° 9 : le proverbe, sans antécédent (« ce que », diapo 13). N° 4 et 8 : il y a un nom het → dat. Faites utiliser l'arbre de la diapo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die, dat et wat.
N° 5 : wat reprend toute la phrase (diapo 12). N° 9 : le proverbe, sans antécédent (« ce que », diapo 13). N° 4 et 8 : il y a un nom het → dat. Faites utiliser l'arbre de la diapo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préposition + wie ou waar + préposition.
N° 4 : het hebben over = parler de. N° 3, 5, 8 : la pince est aussi correcte (waar ik elke dag op wacht, waar ze aan denkt, waar ik voor werk). N° 1 : samenwerken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préposition + wie ou waar + préposition.
N° 4 : het hebben over = parler de. N° 3, 5, 8 : la pince est aussi correcte (waar ik elke dag op wacht, waar ze aan denkt, waar ik voor werk). N° 1 : samenwerken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d'une forme à l'autre : waarmee ⇄ waar … mee.
N° 4 : la préposition se place juste avant le verbe, après al een uur. Faites lire les deux versions à voix haute : la pince sonne plus « parlée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d'une forme à l'autre : waarmee ⇄ waar … mee.
N° 4 : la préposition se place juste avant le verbe, après al een uur. Faites lire les deux versions à voix haute : la pince sonne plus « parlée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dont et où en partant du verbe néerlandais.
N° 2 et 6 : begonnen ben, verhuisd zijn (auxiliaire zijn, M15) ; aussi ik begon, we verhuisden (imperfectum). N° 3 : nodig hebben n'a pas de préposition. N° 4 : aussi waarover pour une chose (het project waarover ik praat). N° 7 : très écrit : wier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dont et où en partant du verbe néerlandais.
N° 2 et 6 : begonnen ben, verhuisd zijn (auxiliaire zijn, M15) ; aussi ik begon, we verhuisden (imperfectum). N° 3 : nodig hebben n'a pas de préposition. N° 4 : aussi waarover pour une chose (het project waarover ik praat). N° 7 : très écrit : wier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cinq erreurs de relatifs dans un e-mail.
Faites nommer la règle de chaque erreur (diapos 5, 7, 14, 18, 12). Correct dans le texte : De printer die …, is (verbe, verbe) et De klant met wie …, wil.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cinq erreurs de relatifs dans un e-mail.
Faites nommer la règle de chaque erreur (diapos 5, 7, 14, 18, 12). Correct dans le texte : De printer die …, is (verbe, verbe) et De klant met wie …, wil.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un mot avec une relative, sans le nommer.
Exemples : de receptionist : Het is iemand die de bezoekers ontvangt. · de printer : Het is een machine die documenten afdrukt. · de refter : Het is een plek waar we samen eten. · de badge : Het is iets waarmee je de deur opent. · de stagiair : Het is een student die een paar maanden bij ons werkt. · de deadline : Het is de dag waarop je iets moet indienen. · het wachtwoord : Het is iets wat je niet mag vergeten. · de vergaderzaal : Het is een zaal waar we vergaderen. 1 point par mot deviné ; −1 si le mot est prononcé.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décrire et identifier des personnes avec des relatives variées.
Exigez trois relatifs différents par description (die / dat, préposition + wie, waar-). Variante écrite : chaque binôme écrit la légende de la photo (Nummer 1 is Sofie, die…), avec des virgules (des noms propres).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meisje dat aan de balie werkt (mot het)
2. de collega met wie ik werk (préposition + personne)
3. alles wat je zegt (alles → wat)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Les pronoms relatifs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Les pronoms relatifs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RL_P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rgbClr val="6B7686"/>
                </a:solidFill>
              </a:rPr>
              <a:t>Néerlandais · A2–B1 · Les pronoms relatifs</a:t>
            </a:r>
            <a:endParaRPr lang="en-US" sz="1000" dirty="0"/>
          </a:p>
        </p:txBody>
      </p:sp>
      <p:sp>
        <p:nvSpPr>
          <p:cNvPr id="3" name="Text 1"/>
          <p:cNvSpPr/>
          <p:nvPr>
            <p:ph idx="101" type="title" hasCustomPrompt="1"/>
          </p:nvPr>
        </p:nvSpPr>
        <p:spPr>
          <a:xfrm>
            <a:off x="1371600" y="548640"/>
            <a:ext cx="9445752" cy="731520"/>
          </a:xfrm>
          <a:prstGeom prst="rect">
            <a:avLst/>
          </a:prstGeom>
          <a:noFill/>
          <a:ln/>
        </p:spPr>
        <p:txBody>
          <a:bodyPr wrap="square" rtlCol="0"/>
          <a:lstStyle>
            <a:lvl1pPr algn="ctr" indent="0" marL="0">
              <a:buNone/>
              <a:defRPr lang="en-US" sz="3000" b="1" dirty="0">
                <a:solidFill>
                  <a:srgbClr val="17375E"/>
                </a:solidFill>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L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rgbClr val="C9D4E2"/>
                </a:solidFill>
              </a:rPr>
              <a:t>Néerlandais · A2–B1 · Les pronoms relatifs</a:t>
            </a:r>
            <a:endParaRPr lang="en-US" sz="1000" dirty="0"/>
          </a:p>
        </p:txBody>
      </p:sp>
      <p:sp>
        <p:nvSpPr>
          <p:cNvPr id="3" name="Text 1"/>
          <p:cNvSpPr/>
          <p:nvPr>
            <p:ph idx="101" type="title" hasCustomPrompt="1"/>
          </p:nvPr>
        </p:nvSpPr>
        <p:spPr>
          <a:xfrm>
            <a:off x="1371600" y="548640"/>
            <a:ext cx="9445752" cy="731520"/>
          </a:xfrm>
          <a:prstGeom prst="rect">
            <a:avLst/>
          </a:prstGeom>
          <a:noFill/>
          <a:ln/>
        </p:spPr>
        <p:txBody>
          <a:bodyPr wrap="square" rtlCol="0"/>
          <a:lstStyle>
            <a:lvl1pPr algn="ctr" indent="0" marL="0">
              <a:buNone/>
              <a:defRPr lang="en-US" sz="3000" b="1" dirty="0">
                <a:solidFill>
                  <a:srgbClr val="FFFFFF"/>
                </a:solidFill>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4E2"/>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slideLayout" Target="../slideLayouts/slideLayout5.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5.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slideLayout" Target="../slideLayouts/slideLayout5.xml"/><Relationship Id="rId10"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image" Target="../media/image-46-7.png"/><Relationship Id="rId8" Type="http://schemas.openxmlformats.org/officeDocument/2006/relationships/image" Target="../media/image-46-8.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image" Target="../media/image-46-11.png"/><Relationship Id="rId12" Type="http://schemas.openxmlformats.org/officeDocument/2006/relationships/image" Target="../media/image-46-12.png"/><Relationship Id="rId13" Type="http://schemas.openxmlformats.org/officeDocument/2006/relationships/slideLayout" Target="../slideLayouts/slideLayout5.xml"/><Relationship Id="rId1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image" Target="../media/image-47-7.png"/><Relationship Id="rId8" Type="http://schemas.openxmlformats.org/officeDocument/2006/relationships/image" Target="../media/image-47-8.png"/><Relationship Id="rId9" Type="http://schemas.openxmlformats.org/officeDocument/2006/relationships/image" Target="../media/image-47-9.png"/><Relationship Id="rId10" Type="http://schemas.openxmlformats.org/officeDocument/2006/relationships/slideLayout" Target="../slideLayouts/slideLayout5.xml"/><Relationship Id="rId11"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Die, dat,</a:t>
            </a:r>
            <a:endParaRPr lang="en-US" sz="4200" dirty="0"/>
          </a:p>
          <a:p>
            <a:pPr algn="l" indent="0" marL="0">
              <a:buNone/>
            </a:pPr>
            <a:r>
              <a:rPr lang="en-US" sz="4200" b="1" dirty="0">
                <a:solidFill>
                  <a:schemeClr val="bg1"/>
                </a:solidFill>
              </a:rPr>
              <a:t>wat, waar…</a:t>
            </a:r>
            <a:endParaRPr lang="en-US" sz="4200" dirty="0"/>
          </a:p>
        </p:txBody>
      </p:sp>
      <p:sp>
        <p:nvSpPr>
          <p:cNvPr id="3"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buNone/>
            </a:pPr>
            <a:r>
              <a:rPr lang="en-US" sz="2000" i="1" dirty="0">
                <a:solidFill>
                  <a:schemeClr val="bg2"/>
                </a:solidFill>
              </a:rPr>
              <a:t>Les pronoms relatifs : relier une information à un nom</a:t>
            </a:r>
            <a:endParaRPr lang="en-US" sz="2000" dirty="0"/>
          </a:p>
          <a:p>
            <a:pPr algn="l" indent="0" marL="0">
              <a:buNone/>
            </a:pPr>
            <a:r>
              <a:rPr lang="en-US" sz="1000" dirty="0">
                <a:solidFill>
                  <a:schemeClr val="bg2"/>
                </a:solidFill>
              </a:rPr>
              <a:t> </a:t>
            </a:r>
            <a:endParaRPr lang="en-US" sz="2000" dirty="0"/>
          </a:p>
          <a:p>
            <a:pPr algn="l" indent="0" marL="0">
              <a:buNone/>
            </a:pPr>
            <a:r>
              <a:rPr lang="en-US" sz="2000" b="1" dirty="0">
                <a:solidFill>
                  <a:srgbClr val="FFFFFF"/>
                </a:solidFill>
              </a:rPr>
              <a:t>die · dat · wat · wie · waar + préposition</a:t>
            </a:r>
            <a:endParaRPr lang="en-US" sz="2000" dirty="0"/>
          </a:p>
        </p:txBody>
      </p:sp>
      <p:sp>
        <p:nvSpPr>
          <p:cNvPr id="4" name="Shape 2"/>
          <p:cNvSpPr/>
          <p:nvPr/>
        </p:nvSpPr>
        <p:spPr>
          <a:xfrm>
            <a:off x="548640" y="640080"/>
            <a:ext cx="2514600" cy="384048"/>
          </a:xfrm>
          <a:prstGeom prst="roundRect">
            <a:avLst>
              <a:gd name="adj" fmla="val 14286"/>
            </a:avLst>
          </a:prstGeom>
          <a:solidFill>
            <a:srgbClr val="D9700F"/>
          </a:solidFill>
          <a:ln w="12700">
            <a:solidFill>
              <a:srgbClr val="FFFFFF">
                <a:alpha val="0"/>
              </a:srgbClr>
            </a:solidFill>
            <a:prstDash val="solid"/>
          </a:ln>
        </p:spPr>
      </p:sp>
      <p:sp>
        <p:nvSpPr>
          <p:cNvPr id="5" name="Text 3"/>
          <p:cNvSpPr txBox="1"/>
          <p:nvPr/>
        </p:nvSpPr>
        <p:spPr>
          <a:xfrm>
            <a:off x="548640" y="640080"/>
            <a:ext cx="2514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COMPLÉMENT · A2–B1</a:t>
            </a:r>
            <a:endParaRPr lang="en-US" sz="1300" dirty="0"/>
          </a:p>
        </p:txBody>
      </p:sp>
      <p:sp>
        <p:nvSpPr>
          <p:cNvPr id="7" name="Shape 4"/>
          <p:cNvSpPr/>
          <p:nvPr/>
        </p:nvSpPr>
        <p:spPr>
          <a:xfrm>
            <a:off x="6492240" y="1188720"/>
            <a:ext cx="5120640" cy="4114800"/>
          </a:xfrm>
          <a:prstGeom prst="roundRect">
            <a:avLst>
              <a:gd name="adj" fmla="val 3111"/>
            </a:avLst>
          </a:prstGeom>
          <a:solidFill>
            <a:srgbClr val="FFFFFF"/>
          </a:solidFill>
          <a:ln w="12700">
            <a:solidFill>
              <a:srgbClr val="FFFFFF">
                <a:alpha val="0"/>
              </a:srgbClr>
            </a:solidFill>
            <a:prstDash val="solid"/>
          </a:ln>
        </p:spPr>
      </p:sp>
      <p:sp>
        <p:nvSpPr>
          <p:cNvPr id="8" name="Text 5"/>
          <p:cNvSpPr txBox="1"/>
          <p:nvPr/>
        </p:nvSpPr>
        <p:spPr>
          <a:xfrm>
            <a:off x="6830568" y="1783080"/>
            <a:ext cx="1368742" cy="548640"/>
          </a:xfrm>
          <a:prstGeom prst="rect">
            <a:avLst/>
          </a:prstGeom>
          <a:noFill/>
          <a:ln/>
        </p:spPr>
        <p:txBody>
          <a:bodyPr wrap="square" lIns="0" tIns="0" rIns="0" bIns="0" rtlCol="0" anchor="ctr"/>
          <a:lstStyle/>
          <a:p>
            <a:pPr algn="ctr" indent="0" marL="0">
              <a:buNone/>
            </a:pPr>
            <a:r>
              <a:rPr lang="en-US" sz="2300" b="1" i="1" dirty="0">
                <a:solidFill>
                  <a:srgbClr val="17375E"/>
                </a:solidFill>
                <a:latin typeface="Calibri" pitchFamily="34" charset="0"/>
                <a:ea typeface="Calibri" pitchFamily="34" charset="-122"/>
                <a:cs typeface="Calibri" pitchFamily="34" charset="-120"/>
              </a:rPr>
              <a:t>de collega</a:t>
            </a:r>
            <a:endParaRPr lang="en-US" sz="2300" dirty="0"/>
          </a:p>
        </p:txBody>
      </p:sp>
      <p:sp>
        <p:nvSpPr>
          <p:cNvPr id="9" name="Text 6"/>
          <p:cNvSpPr txBox="1"/>
          <p:nvPr/>
        </p:nvSpPr>
        <p:spPr>
          <a:xfrm>
            <a:off x="8152028" y="1783080"/>
            <a:ext cx="521945" cy="548640"/>
          </a:xfrm>
          <a:prstGeom prst="rect">
            <a:avLst/>
          </a:prstGeom>
          <a:noFill/>
          <a:ln/>
        </p:spPr>
        <p:txBody>
          <a:bodyPr wrap="square" lIns="0" tIns="0" rIns="0" bIns="0" rtlCol="0" anchor="ctr"/>
          <a:lstStyle/>
          <a:p>
            <a:pPr algn="ctr" indent="0" marL="0">
              <a:buNone/>
            </a:pPr>
            <a:r>
              <a:rPr lang="en-US" sz="2300" b="1" i="1" dirty="0">
                <a:solidFill>
                  <a:srgbClr val="17375E"/>
                </a:solidFill>
                <a:latin typeface="Calibri" pitchFamily="34" charset="0"/>
                <a:ea typeface="Calibri" pitchFamily="34" charset="-122"/>
                <a:cs typeface="Calibri" pitchFamily="34" charset="-120"/>
              </a:rPr>
              <a:t>die</a:t>
            </a:r>
            <a:endParaRPr lang="en-US" sz="2300" dirty="0"/>
          </a:p>
        </p:txBody>
      </p:sp>
      <p:sp>
        <p:nvSpPr>
          <p:cNvPr id="10" name="Text 7"/>
          <p:cNvSpPr txBox="1"/>
          <p:nvPr/>
        </p:nvSpPr>
        <p:spPr>
          <a:xfrm>
            <a:off x="8626691" y="1783080"/>
            <a:ext cx="1582852" cy="548640"/>
          </a:xfrm>
          <a:prstGeom prst="rect">
            <a:avLst/>
          </a:prstGeom>
          <a:noFill/>
          <a:ln/>
        </p:spPr>
        <p:txBody>
          <a:bodyPr wrap="square" lIns="0" tIns="0" rIns="0" bIns="0" rtlCol="0" anchor="ctr"/>
          <a:lstStyle/>
          <a:p>
            <a:pPr algn="ctr" indent="0" marL="0">
              <a:buNone/>
            </a:pPr>
            <a:r>
              <a:rPr lang="en-US" sz="2300" i="1" dirty="0">
                <a:solidFill>
                  <a:srgbClr val="1B2333"/>
                </a:solidFill>
                <a:latin typeface="Calibri" pitchFamily="34" charset="0"/>
                <a:ea typeface="Calibri" pitchFamily="34" charset="-122"/>
                <a:cs typeface="Calibri" pitchFamily="34" charset="-120"/>
              </a:rPr>
              <a:t>naast me zit</a:t>
            </a:r>
            <a:endParaRPr lang="en-US" sz="2300" dirty="0"/>
          </a:p>
        </p:txBody>
      </p:sp>
      <p:sp>
        <p:nvSpPr>
          <p:cNvPr id="11" name="Shape 8"/>
          <p:cNvSpPr/>
          <p:nvPr/>
        </p:nvSpPr>
        <p:spPr>
          <a:xfrm>
            <a:off x="6903720" y="2295144"/>
            <a:ext cx="1222439" cy="914"/>
          </a:xfrm>
          <a:prstGeom prst="line">
            <a:avLst/>
          </a:prstGeom>
          <a:noFill/>
          <a:ln w="28575">
            <a:solidFill>
              <a:srgbClr val="17375E"/>
            </a:solidFill>
            <a:prstDash val="solid"/>
          </a:ln>
        </p:spPr>
      </p:sp>
      <p:sp>
        <p:nvSpPr>
          <p:cNvPr id="12" name="Shape 9"/>
          <p:cNvSpPr/>
          <p:nvPr/>
        </p:nvSpPr>
        <p:spPr>
          <a:xfrm>
            <a:off x="7514939" y="1554480"/>
            <a:ext cx="898061" cy="640080"/>
          </a:xfrm>
          <a:prstGeom prst="arc">
            <a:avLst>
              <a:gd name="adj1" fmla="val 10800000"/>
              <a:gd name="adj2" fmla="val 21600000"/>
            </a:avLst>
          </a:prstGeom>
          <a:solidFill>
            <a:srgbClr val="FFFFFF">
              <a:alpha val="0"/>
            </a:srgbClr>
          </a:solidFill>
          <a:ln w="25400">
            <a:solidFill>
              <a:srgbClr val="17375E"/>
            </a:solidFill>
            <a:prstDash val="solid"/>
            <a:headEnd type="triangle"/>
          </a:ln>
        </p:spPr>
      </p:sp>
      <p:sp>
        <p:nvSpPr>
          <p:cNvPr id="13" name="Text 10"/>
          <p:cNvSpPr txBox="1"/>
          <p:nvPr/>
        </p:nvSpPr>
        <p:spPr>
          <a:xfrm>
            <a:off x="6903720" y="2350008"/>
            <a:ext cx="4480560" cy="256032"/>
          </a:xfrm>
          <a:prstGeom prst="rect">
            <a:avLst/>
          </a:prstGeom>
          <a:noFill/>
          <a:ln/>
        </p:spPr>
        <p:txBody>
          <a:bodyPr wrap="square" lIns="0" tIns="0" rIns="0" bIns="0" rtlCol="0" anchor="ctr"/>
          <a:lstStyle/>
          <a:p>
            <a:pPr algn="l" indent="0" marL="0">
              <a:buNone/>
            </a:pPr>
            <a:r>
              <a:rPr lang="en-US" sz="1000" b="1" spc="150" kern="0" dirty="0">
                <a:solidFill>
                  <a:srgbClr val="17375E"/>
                </a:solidFill>
                <a:latin typeface="Calibri" pitchFamily="34" charset="0"/>
                <a:ea typeface="Calibri" pitchFamily="34" charset="-122"/>
                <a:cs typeface="Calibri" pitchFamily="34" charset="-120"/>
              </a:rPr>
              <a:t>MOT DE → DIE</a:t>
            </a:r>
            <a:endParaRPr lang="en-US" sz="1000" dirty="0"/>
          </a:p>
        </p:txBody>
      </p:sp>
      <p:sp>
        <p:nvSpPr>
          <p:cNvPr id="14" name="Text 11"/>
          <p:cNvSpPr txBox="1"/>
          <p:nvPr/>
        </p:nvSpPr>
        <p:spPr>
          <a:xfrm>
            <a:off x="6830568" y="2971800"/>
            <a:ext cx="1541374" cy="548640"/>
          </a:xfrm>
          <a:prstGeom prst="rect">
            <a:avLst/>
          </a:prstGeom>
          <a:noFill/>
          <a:ln/>
        </p:spPr>
        <p:txBody>
          <a:bodyPr wrap="square" lIns="0" tIns="0" rIns="0" bIns="0" rtlCol="0" anchor="ctr"/>
          <a:lstStyle/>
          <a:p>
            <a:pPr algn="ctr" indent="0" marL="0">
              <a:buNone/>
            </a:pPr>
            <a:r>
              <a:rPr lang="en-US" sz="2300" b="1" i="1" dirty="0">
                <a:solidFill>
                  <a:srgbClr val="D9700F"/>
                </a:solidFill>
                <a:latin typeface="Calibri" pitchFamily="34" charset="0"/>
                <a:ea typeface="Calibri" pitchFamily="34" charset="-122"/>
                <a:cs typeface="Calibri" pitchFamily="34" charset="-120"/>
              </a:rPr>
              <a:t>het rapport</a:t>
            </a:r>
            <a:endParaRPr lang="en-US" sz="2300" dirty="0"/>
          </a:p>
        </p:txBody>
      </p:sp>
      <p:sp>
        <p:nvSpPr>
          <p:cNvPr id="15" name="Text 12"/>
          <p:cNvSpPr txBox="1"/>
          <p:nvPr/>
        </p:nvSpPr>
        <p:spPr>
          <a:xfrm>
            <a:off x="8324660" y="2971800"/>
            <a:ext cx="548818" cy="548640"/>
          </a:xfrm>
          <a:prstGeom prst="rect">
            <a:avLst/>
          </a:prstGeom>
          <a:noFill/>
          <a:ln/>
        </p:spPr>
        <p:txBody>
          <a:bodyPr wrap="square" lIns="0" tIns="0" rIns="0" bIns="0" rtlCol="0" anchor="ctr"/>
          <a:lstStyle/>
          <a:p>
            <a:pPr algn="ctr" indent="0" marL="0">
              <a:buNone/>
            </a:pPr>
            <a:r>
              <a:rPr lang="en-US" sz="2300" b="1" i="1" dirty="0">
                <a:solidFill>
                  <a:srgbClr val="D9700F"/>
                </a:solidFill>
                <a:latin typeface="Calibri" pitchFamily="34" charset="0"/>
                <a:ea typeface="Calibri" pitchFamily="34" charset="-122"/>
                <a:cs typeface="Calibri" pitchFamily="34" charset="-120"/>
              </a:rPr>
              <a:t>dat</a:t>
            </a:r>
            <a:endParaRPr lang="en-US" sz="2300" dirty="0"/>
          </a:p>
        </p:txBody>
      </p:sp>
      <p:sp>
        <p:nvSpPr>
          <p:cNvPr id="16" name="Text 13"/>
          <p:cNvSpPr txBox="1"/>
          <p:nvPr/>
        </p:nvSpPr>
        <p:spPr>
          <a:xfrm>
            <a:off x="8826195" y="2971800"/>
            <a:ext cx="1131557" cy="548640"/>
          </a:xfrm>
          <a:prstGeom prst="rect">
            <a:avLst/>
          </a:prstGeom>
          <a:noFill/>
          <a:ln/>
        </p:spPr>
        <p:txBody>
          <a:bodyPr wrap="square" lIns="0" tIns="0" rIns="0" bIns="0" rtlCol="0" anchor="ctr"/>
          <a:lstStyle/>
          <a:p>
            <a:pPr algn="ctr" indent="0" marL="0">
              <a:buNone/>
            </a:pPr>
            <a:r>
              <a:rPr lang="en-US" sz="2300" i="1" dirty="0">
                <a:solidFill>
                  <a:srgbClr val="1B2333"/>
                </a:solidFill>
                <a:latin typeface="Calibri" pitchFamily="34" charset="0"/>
                <a:ea typeface="Calibri" pitchFamily="34" charset="-122"/>
                <a:cs typeface="Calibri" pitchFamily="34" charset="-120"/>
              </a:rPr>
              <a:t>ik schrijf</a:t>
            </a:r>
            <a:endParaRPr lang="en-US" sz="2300" dirty="0"/>
          </a:p>
        </p:txBody>
      </p:sp>
      <p:sp>
        <p:nvSpPr>
          <p:cNvPr id="17" name="Shape 14"/>
          <p:cNvSpPr/>
          <p:nvPr/>
        </p:nvSpPr>
        <p:spPr>
          <a:xfrm>
            <a:off x="6903720" y="3483864"/>
            <a:ext cx="1395070" cy="914"/>
          </a:xfrm>
          <a:prstGeom prst="line">
            <a:avLst/>
          </a:prstGeom>
          <a:noFill/>
          <a:ln w="28575">
            <a:solidFill>
              <a:srgbClr val="D9700F"/>
            </a:solidFill>
            <a:prstDash val="solid"/>
          </a:ln>
        </p:spPr>
      </p:sp>
      <p:sp>
        <p:nvSpPr>
          <p:cNvPr id="18" name="Shape 15"/>
          <p:cNvSpPr/>
          <p:nvPr/>
        </p:nvSpPr>
        <p:spPr>
          <a:xfrm>
            <a:off x="7601255" y="2743200"/>
            <a:ext cx="997814" cy="640080"/>
          </a:xfrm>
          <a:prstGeom prst="arc">
            <a:avLst>
              <a:gd name="adj1" fmla="val 10800000"/>
              <a:gd name="adj2" fmla="val 21600000"/>
            </a:avLst>
          </a:prstGeom>
          <a:solidFill>
            <a:srgbClr val="FFFFFF">
              <a:alpha val="0"/>
            </a:srgbClr>
          </a:solidFill>
          <a:ln w="25400">
            <a:solidFill>
              <a:srgbClr val="D9700F"/>
            </a:solidFill>
            <a:prstDash val="solid"/>
            <a:headEnd type="triangle"/>
          </a:ln>
        </p:spPr>
      </p:sp>
      <p:sp>
        <p:nvSpPr>
          <p:cNvPr id="19" name="Text 16"/>
          <p:cNvSpPr txBox="1"/>
          <p:nvPr/>
        </p:nvSpPr>
        <p:spPr>
          <a:xfrm>
            <a:off x="6903720" y="3538728"/>
            <a:ext cx="4480560" cy="256032"/>
          </a:xfrm>
          <a:prstGeom prst="rect">
            <a:avLst/>
          </a:prstGeom>
          <a:noFill/>
          <a:ln/>
        </p:spPr>
        <p:txBody>
          <a:bodyPr wrap="square" lIns="0" tIns="0" rIns="0" bIns="0" rtlCol="0" anchor="ctr"/>
          <a:lstStyle/>
          <a:p>
            <a:pPr algn="l" indent="0" marL="0">
              <a:buNone/>
            </a:pPr>
            <a:r>
              <a:rPr lang="en-US" sz="1000" b="1" spc="150" kern="0" dirty="0">
                <a:solidFill>
                  <a:srgbClr val="D9700F"/>
                </a:solidFill>
                <a:latin typeface="Calibri" pitchFamily="34" charset="0"/>
                <a:ea typeface="Calibri" pitchFamily="34" charset="-122"/>
                <a:cs typeface="Calibri" pitchFamily="34" charset="-120"/>
              </a:rPr>
              <a:t>MOT HET → DAT</a:t>
            </a:r>
            <a:endParaRPr lang="en-US" sz="1000" dirty="0"/>
          </a:p>
        </p:txBody>
      </p:sp>
      <p:sp>
        <p:nvSpPr>
          <p:cNvPr id="20" name="Text 17"/>
          <p:cNvSpPr txBox="1"/>
          <p:nvPr/>
        </p:nvSpPr>
        <p:spPr>
          <a:xfrm>
            <a:off x="6830568" y="4160520"/>
            <a:ext cx="976744" cy="548640"/>
          </a:xfrm>
          <a:prstGeom prst="rect">
            <a:avLst/>
          </a:prstGeom>
          <a:noFill/>
          <a:ln/>
        </p:spPr>
        <p:txBody>
          <a:bodyPr wrap="square" lIns="0" tIns="0" rIns="0" bIns="0" rtlCol="0" anchor="ctr"/>
          <a:lstStyle/>
          <a:p>
            <a:pPr algn="ctr" indent="0" marL="0">
              <a:buNone/>
            </a:pPr>
            <a:r>
              <a:rPr lang="en-US" sz="2300" b="1" i="1" dirty="0">
                <a:solidFill>
                  <a:srgbClr val="6E4A9E"/>
                </a:solidFill>
                <a:latin typeface="Calibri" pitchFamily="34" charset="0"/>
                <a:ea typeface="Calibri" pitchFamily="34" charset="-122"/>
                <a:cs typeface="Calibri" pitchFamily="34" charset="-120"/>
              </a:rPr>
              <a:t>de pen</a:t>
            </a:r>
            <a:endParaRPr lang="en-US" sz="2300" dirty="0"/>
          </a:p>
        </p:txBody>
      </p:sp>
      <p:sp>
        <p:nvSpPr>
          <p:cNvPr id="21" name="Text 18"/>
          <p:cNvSpPr txBox="1"/>
          <p:nvPr/>
        </p:nvSpPr>
        <p:spPr>
          <a:xfrm>
            <a:off x="7760030" y="4160520"/>
            <a:ext cx="1287539" cy="548640"/>
          </a:xfrm>
          <a:prstGeom prst="rect">
            <a:avLst/>
          </a:prstGeom>
          <a:noFill/>
          <a:ln/>
        </p:spPr>
        <p:txBody>
          <a:bodyPr wrap="square" lIns="0" tIns="0" rIns="0" bIns="0" rtlCol="0" anchor="ctr"/>
          <a:lstStyle/>
          <a:p>
            <a:pPr algn="ctr" indent="0" marL="0">
              <a:buNone/>
            </a:pPr>
            <a:r>
              <a:rPr lang="en-US" sz="2300" b="1" i="1" dirty="0">
                <a:solidFill>
                  <a:srgbClr val="6E4A9E"/>
                </a:solidFill>
                <a:latin typeface="Calibri" pitchFamily="34" charset="0"/>
                <a:ea typeface="Calibri" pitchFamily="34" charset="-122"/>
                <a:cs typeface="Calibri" pitchFamily="34" charset="-120"/>
              </a:rPr>
              <a:t>waarmee</a:t>
            </a:r>
            <a:endParaRPr lang="en-US" sz="2300" dirty="0"/>
          </a:p>
        </p:txBody>
      </p:sp>
      <p:sp>
        <p:nvSpPr>
          <p:cNvPr id="22" name="Text 19"/>
          <p:cNvSpPr txBox="1"/>
          <p:nvPr/>
        </p:nvSpPr>
        <p:spPr>
          <a:xfrm>
            <a:off x="9000287" y="4160520"/>
            <a:ext cx="1087450" cy="548640"/>
          </a:xfrm>
          <a:prstGeom prst="rect">
            <a:avLst/>
          </a:prstGeom>
          <a:noFill/>
          <a:ln/>
        </p:spPr>
        <p:txBody>
          <a:bodyPr wrap="square" lIns="0" tIns="0" rIns="0" bIns="0" rtlCol="0" anchor="ctr"/>
          <a:lstStyle/>
          <a:p>
            <a:pPr algn="ctr" indent="0" marL="0">
              <a:buNone/>
            </a:pPr>
            <a:r>
              <a:rPr lang="en-US" sz="2300" i="1" dirty="0">
                <a:solidFill>
                  <a:srgbClr val="1B2333"/>
                </a:solidFill>
                <a:latin typeface="Calibri" pitchFamily="34" charset="0"/>
                <a:ea typeface="Calibri" pitchFamily="34" charset="-122"/>
                <a:cs typeface="Calibri" pitchFamily="34" charset="-120"/>
              </a:rPr>
              <a:t>ik teken</a:t>
            </a:r>
            <a:endParaRPr lang="en-US" sz="2300" dirty="0"/>
          </a:p>
        </p:txBody>
      </p:sp>
      <p:sp>
        <p:nvSpPr>
          <p:cNvPr id="23" name="Shape 20"/>
          <p:cNvSpPr/>
          <p:nvPr/>
        </p:nvSpPr>
        <p:spPr>
          <a:xfrm>
            <a:off x="6903720" y="4672584"/>
            <a:ext cx="830440" cy="914"/>
          </a:xfrm>
          <a:prstGeom prst="line">
            <a:avLst/>
          </a:prstGeom>
          <a:noFill/>
          <a:ln w="28575">
            <a:solidFill>
              <a:srgbClr val="6E4A9E"/>
            </a:solidFill>
            <a:prstDash val="solid"/>
          </a:ln>
        </p:spPr>
      </p:sp>
      <p:sp>
        <p:nvSpPr>
          <p:cNvPr id="24" name="Shape 21"/>
          <p:cNvSpPr/>
          <p:nvPr/>
        </p:nvSpPr>
        <p:spPr>
          <a:xfrm>
            <a:off x="7318940" y="3931920"/>
            <a:ext cx="1084859" cy="640080"/>
          </a:xfrm>
          <a:prstGeom prst="arc">
            <a:avLst>
              <a:gd name="adj1" fmla="val 10800000"/>
              <a:gd name="adj2" fmla="val 21600000"/>
            </a:avLst>
          </a:prstGeom>
          <a:solidFill>
            <a:srgbClr val="FFFFFF">
              <a:alpha val="0"/>
            </a:srgbClr>
          </a:solidFill>
          <a:ln w="25400">
            <a:solidFill>
              <a:srgbClr val="6E4A9E"/>
            </a:solidFill>
            <a:prstDash val="solid"/>
            <a:headEnd type="triangle"/>
          </a:ln>
        </p:spPr>
      </p:sp>
      <p:sp>
        <p:nvSpPr>
          <p:cNvPr id="25" name="Text 22"/>
          <p:cNvSpPr txBox="1"/>
          <p:nvPr/>
        </p:nvSpPr>
        <p:spPr>
          <a:xfrm>
            <a:off x="6903720" y="4727448"/>
            <a:ext cx="4480560" cy="256032"/>
          </a:xfrm>
          <a:prstGeom prst="rect">
            <a:avLst/>
          </a:prstGeom>
          <a:noFill/>
          <a:ln/>
        </p:spPr>
        <p:txBody>
          <a:bodyPr wrap="square" lIns="0" tIns="0" rIns="0" bIns="0" rtlCol="0" anchor="ctr"/>
          <a:lstStyle/>
          <a:p>
            <a:pPr algn="l" indent="0" marL="0">
              <a:buNone/>
            </a:pPr>
            <a:r>
              <a:rPr lang="en-US" sz="1000" b="1" spc="150" kern="0" dirty="0">
                <a:solidFill>
                  <a:srgbClr val="6E4A9E"/>
                </a:solidFill>
                <a:latin typeface="Calibri" pitchFamily="34" charset="0"/>
                <a:ea typeface="Calibri" pitchFamily="34" charset="-122"/>
                <a:cs typeface="Calibri" pitchFamily="34" charset="-120"/>
              </a:rPr>
              <a:t>UNE CHOSE + MET → WAARMEE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Missie van vandaag</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MISSIE</a:t>
            </a:r>
            <a:endParaRPr lang="en-US" sz="1100" dirty="0"/>
          </a:p>
        </p:txBody>
      </p:sp>
      <p:sp>
        <p:nvSpPr>
          <p:cNvPr id="5" name="Shape 2"/>
          <p:cNvSpPr/>
          <p:nvPr/>
        </p:nvSpPr>
        <p:spPr>
          <a:xfrm>
            <a:off x="2276856" y="2093976"/>
            <a:ext cx="1024128" cy="1024128"/>
          </a:xfrm>
          <a:prstGeom prst="ellipse">
            <a:avLst/>
          </a:prstGeom>
          <a:solidFill>
            <a:srgbClr val="E6ECF3"/>
          </a:solidFill>
          <a:ln w="12700">
            <a:solidFill>
              <a:srgbClr val="FFFFFF">
                <a:alpha val="0"/>
              </a:srgbClr>
            </a:solidFill>
            <a:prstDash val="solid"/>
          </a:ln>
        </p:spPr>
      </p:sp>
      <p:pic>
        <p:nvPicPr>
          <p:cNvPr id="6" name="Image 0" descr="CodeBranch">    </p:cNvPr>
          <p:cNvPicPr>
            <a:picLocks noChangeAspect="1"/>
          </p:cNvPicPr>
          <p:nvPr/>
        </p:nvPicPr>
        <p:blipFill>
          <a:blip r:embed="rId1"/>
          <a:stretch>
            <a:fillRect/>
          </a:stretch>
        </p:blipFill>
        <p:spPr>
          <a:xfrm>
            <a:off x="2551176" y="2368296"/>
            <a:ext cx="475488" cy="475488"/>
          </a:xfrm>
          <a:prstGeom prst="rect">
            <a:avLst/>
          </a:prstGeom>
        </p:spPr>
      </p:pic>
      <p:sp>
        <p:nvSpPr>
          <p:cNvPr id="7" name="Text 3"/>
          <p:cNvSpPr txBox="1"/>
          <p:nvPr/>
        </p:nvSpPr>
        <p:spPr>
          <a:xfrm>
            <a:off x="1325880" y="3337560"/>
            <a:ext cx="2926080" cy="457200"/>
          </a:xfrm>
          <a:prstGeom prst="rect">
            <a:avLst/>
          </a:prstGeom>
          <a:noFill/>
          <a:ln/>
        </p:spPr>
        <p:txBody>
          <a:bodyPr wrap="square" lIns="0" tIns="0" rIns="0" bIns="0" rtlCol="0" anchor="ctr"/>
          <a:lstStyle/>
          <a:p>
            <a:pPr algn="ctr" indent="0" marL="0">
              <a:buNone/>
            </a:pPr>
            <a:r>
              <a:rPr lang="en-US" sz="2200" b="1" dirty="0">
                <a:solidFill>
                  <a:srgbClr val="17375E"/>
                </a:solidFill>
                <a:latin typeface="Calibri" pitchFamily="34" charset="0"/>
                <a:ea typeface="Calibri" pitchFamily="34" charset="-122"/>
                <a:cs typeface="Calibri" pitchFamily="34" charset="-120"/>
              </a:rPr>
              <a:t>Choisir</a:t>
            </a:r>
            <a:endParaRPr lang="en-US" sz="2200" dirty="0"/>
          </a:p>
        </p:txBody>
      </p:sp>
      <p:sp>
        <p:nvSpPr>
          <p:cNvPr id="8" name="Text 4"/>
          <p:cNvSpPr txBox="1"/>
          <p:nvPr/>
        </p:nvSpPr>
        <p:spPr>
          <a:xfrm>
            <a:off x="1508760" y="3794760"/>
            <a:ext cx="2560320" cy="822960"/>
          </a:xfrm>
          <a:prstGeom prst="rect">
            <a:avLst/>
          </a:prstGeom>
          <a:noFill/>
          <a:ln/>
        </p:spPr>
        <p:txBody>
          <a:bodyPr wrap="square" lIns="0" tIns="0" rIns="0" bIns="0" rtlCol="0" anchor="t"/>
          <a:lstStyle/>
          <a:p>
            <a:pPr algn="ctr" indent="0" marL="0">
              <a:buNone/>
            </a:pPr>
            <a:r>
              <a:rPr lang="en-US" sz="1600" dirty="0">
                <a:solidFill>
                  <a:srgbClr val="6B7686"/>
                </a:solidFill>
                <a:latin typeface="Calibri" pitchFamily="34" charset="0"/>
                <a:ea typeface="Calibri" pitchFamily="34" charset="-122"/>
                <a:cs typeface="Calibri" pitchFamily="34" charset="-120"/>
              </a:rPr>
              <a:t>le bon relatif : </a:t>
            </a:r>
            <a:r>
              <a:rPr lang="en-US" sz="1600" i="1" dirty="0">
                <a:solidFill>
                  <a:srgbClr val="6B7686"/>
                </a:solidFill>
                <a:latin typeface="Calibri" pitchFamily="34" charset="0"/>
                <a:ea typeface="Calibri" pitchFamily="34" charset="-122"/>
                <a:cs typeface="Calibri" pitchFamily="34" charset="-120"/>
              </a:rPr>
              <a:t>die, dat, wat, wie, waar-</a:t>
            </a:r>
            <a:endParaRPr lang="en-US" sz="1600" dirty="0"/>
          </a:p>
        </p:txBody>
      </p:sp>
      <p:sp>
        <p:nvSpPr>
          <p:cNvPr id="9" name="Shape 5"/>
          <p:cNvSpPr/>
          <p:nvPr/>
        </p:nvSpPr>
        <p:spPr>
          <a:xfrm>
            <a:off x="5614416" y="2093976"/>
            <a:ext cx="1024128" cy="1024128"/>
          </a:xfrm>
          <a:prstGeom prst="ellipse">
            <a:avLst/>
          </a:prstGeom>
          <a:solidFill>
            <a:srgbClr val="FBEDEB"/>
          </a:solidFill>
          <a:ln w="12700">
            <a:solidFill>
              <a:srgbClr val="FFFFFF">
                <a:alpha val="0"/>
              </a:srgbClr>
            </a:solidFill>
            <a:prstDash val="solid"/>
          </a:ln>
        </p:spPr>
      </p:sp>
      <p:pic>
        <p:nvPicPr>
          <p:cNvPr id="10" name="Image 1" descr="Link">    </p:cNvPr>
          <p:cNvPicPr>
            <a:picLocks noChangeAspect="1"/>
          </p:cNvPicPr>
          <p:nvPr/>
        </p:nvPicPr>
        <p:blipFill>
          <a:blip r:embed="rId2"/>
          <a:stretch>
            <a:fillRect/>
          </a:stretch>
        </p:blipFill>
        <p:spPr>
          <a:xfrm>
            <a:off x="5888736" y="2368296"/>
            <a:ext cx="475488" cy="475488"/>
          </a:xfrm>
          <a:prstGeom prst="rect">
            <a:avLst/>
          </a:prstGeom>
        </p:spPr>
      </p:pic>
      <p:sp>
        <p:nvSpPr>
          <p:cNvPr id="11" name="Text 6"/>
          <p:cNvSpPr txBox="1"/>
          <p:nvPr/>
        </p:nvSpPr>
        <p:spPr>
          <a:xfrm>
            <a:off x="4663440" y="3337560"/>
            <a:ext cx="2926080" cy="457200"/>
          </a:xfrm>
          <a:prstGeom prst="rect">
            <a:avLst/>
          </a:prstGeom>
          <a:noFill/>
          <a:ln/>
        </p:spPr>
        <p:txBody>
          <a:bodyPr wrap="square" lIns="0" tIns="0" rIns="0" bIns="0" rtlCol="0" anchor="ctr"/>
          <a:lstStyle/>
          <a:p>
            <a:pPr algn="ctr" indent="0" marL="0">
              <a:buNone/>
            </a:pPr>
            <a:r>
              <a:rPr lang="en-US" sz="2200" b="1" dirty="0">
                <a:solidFill>
                  <a:srgbClr val="B83227"/>
                </a:solidFill>
                <a:latin typeface="Calibri" pitchFamily="34" charset="0"/>
                <a:ea typeface="Calibri" pitchFamily="34" charset="-122"/>
                <a:cs typeface="Calibri" pitchFamily="34" charset="-120"/>
              </a:rPr>
              <a:t>Construire</a:t>
            </a:r>
            <a:endParaRPr lang="en-US" sz="2200" dirty="0"/>
          </a:p>
        </p:txBody>
      </p:sp>
      <p:sp>
        <p:nvSpPr>
          <p:cNvPr id="12" name="Text 7"/>
          <p:cNvSpPr txBox="1"/>
          <p:nvPr/>
        </p:nvSpPr>
        <p:spPr>
          <a:xfrm>
            <a:off x="4846320" y="3794760"/>
            <a:ext cx="2560320" cy="822960"/>
          </a:xfrm>
          <a:prstGeom prst="rect">
            <a:avLst/>
          </a:prstGeom>
          <a:noFill/>
          <a:ln/>
        </p:spPr>
        <p:txBody>
          <a:bodyPr wrap="square" lIns="0" tIns="0" rIns="0" bIns="0" rtlCol="0" anchor="t"/>
          <a:lstStyle/>
          <a:p>
            <a:pPr algn="ctr" indent="0" marL="0">
              <a:buNone/>
            </a:pPr>
            <a:r>
              <a:rPr lang="en-US" sz="1600" dirty="0">
                <a:solidFill>
                  <a:srgbClr val="6B7686"/>
                </a:solidFill>
                <a:latin typeface="Calibri" pitchFamily="34" charset="0"/>
                <a:ea typeface="Calibri" pitchFamily="34" charset="-122"/>
                <a:cs typeface="Calibri" pitchFamily="34" charset="-120"/>
              </a:rPr>
              <a:t>la relative : le verbe à la fin, la bonne place, les virgules</a:t>
            </a:r>
            <a:endParaRPr lang="en-US" sz="1600" dirty="0"/>
          </a:p>
        </p:txBody>
      </p:sp>
      <p:sp>
        <p:nvSpPr>
          <p:cNvPr id="13" name="Shape 8"/>
          <p:cNvSpPr/>
          <p:nvPr/>
        </p:nvSpPr>
        <p:spPr>
          <a:xfrm>
            <a:off x="8951976" y="2093976"/>
            <a:ext cx="1024128" cy="1024128"/>
          </a:xfrm>
          <a:prstGeom prst="ellipse">
            <a:avLst/>
          </a:prstGeom>
          <a:solidFill>
            <a:srgbClr val="F1ECF7"/>
          </a:solidFill>
          <a:ln w="12700">
            <a:solidFill>
              <a:srgbClr val="FFFFFF">
                <a:alpha val="0"/>
              </a:srgbClr>
            </a:solidFill>
            <a:prstDash val="solid"/>
          </a:ln>
        </p:spPr>
      </p:sp>
      <p:pic>
        <p:nvPicPr>
          <p:cNvPr id="14" name="Image 2" descr="Language">    </p:cNvPr>
          <p:cNvPicPr>
            <a:picLocks noChangeAspect="1"/>
          </p:cNvPicPr>
          <p:nvPr/>
        </p:nvPicPr>
        <p:blipFill>
          <a:blip r:embed="rId3"/>
          <a:stretch>
            <a:fillRect/>
          </a:stretch>
        </p:blipFill>
        <p:spPr>
          <a:xfrm>
            <a:off x="9226296" y="2368296"/>
            <a:ext cx="475488" cy="475488"/>
          </a:xfrm>
          <a:prstGeom prst="rect">
            <a:avLst/>
          </a:prstGeom>
        </p:spPr>
      </p:pic>
      <p:sp>
        <p:nvSpPr>
          <p:cNvPr id="15" name="Text 9"/>
          <p:cNvSpPr txBox="1"/>
          <p:nvPr/>
        </p:nvSpPr>
        <p:spPr>
          <a:xfrm>
            <a:off x="8001000" y="3337560"/>
            <a:ext cx="2926080" cy="457200"/>
          </a:xfrm>
          <a:prstGeom prst="rect">
            <a:avLst/>
          </a:prstGeom>
          <a:noFill/>
          <a:ln/>
        </p:spPr>
        <p:txBody>
          <a:bodyPr wrap="square" lIns="0" tIns="0" rIns="0" bIns="0" rtlCol="0" anchor="ctr"/>
          <a:lstStyle/>
          <a:p>
            <a:pPr algn="ctr" indent="0" marL="0">
              <a:buNone/>
            </a:pPr>
            <a:r>
              <a:rPr lang="en-US" sz="2200" b="1" dirty="0">
                <a:solidFill>
                  <a:srgbClr val="6E4A9E"/>
                </a:solidFill>
                <a:latin typeface="Calibri" pitchFamily="34" charset="0"/>
                <a:ea typeface="Calibri" pitchFamily="34" charset="-122"/>
                <a:cs typeface="Calibri" pitchFamily="34" charset="-120"/>
              </a:rPr>
              <a:t>Traduire</a:t>
            </a:r>
            <a:endParaRPr lang="en-US" sz="2200" dirty="0"/>
          </a:p>
        </p:txBody>
      </p:sp>
      <p:sp>
        <p:nvSpPr>
          <p:cNvPr id="16" name="Text 10"/>
          <p:cNvSpPr txBox="1"/>
          <p:nvPr/>
        </p:nvSpPr>
        <p:spPr>
          <a:xfrm>
            <a:off x="8183880" y="3794760"/>
            <a:ext cx="2560320" cy="822960"/>
          </a:xfrm>
          <a:prstGeom prst="rect">
            <a:avLst/>
          </a:prstGeom>
          <a:noFill/>
          <a:ln/>
        </p:spPr>
        <p:txBody>
          <a:bodyPr wrap="square" lIns="0" tIns="0" rIns="0" bIns="0" rtlCol="0" anchor="t"/>
          <a:lstStyle/>
          <a:p>
            <a:pPr algn="ctr" indent="0" marL="0">
              <a:buNone/>
            </a:pPr>
            <a:r>
              <a:rPr lang="en-US" sz="1600" i="1" dirty="0">
                <a:solidFill>
                  <a:srgbClr val="6B7686"/>
                </a:solidFill>
                <a:latin typeface="Calibri" pitchFamily="34" charset="0"/>
                <a:ea typeface="Calibri" pitchFamily="34" charset="-122"/>
                <a:cs typeface="Calibri" pitchFamily="34" charset="-120"/>
              </a:rPr>
              <a:t>qui, que, dont, où, ce qui, ce que</a:t>
            </a:r>
            <a:r>
              <a:rPr lang="en-US" sz="1600" dirty="0">
                <a:solidFill>
                  <a:srgbClr val="6B7686"/>
                </a:solidFill>
                <a:latin typeface="Calibri" pitchFamily="34" charset="0"/>
                <a:ea typeface="Calibri" pitchFamily="34" charset="-122"/>
                <a:cs typeface="Calibri" pitchFamily="34" charset="-120"/>
              </a:rPr>
              <a:t>… sans calquer le français</a:t>
            </a:r>
            <a:endParaRPr lang="en-US" sz="1600" dirty="0"/>
          </a:p>
        </p:txBody>
      </p:sp>
      <p:sp>
        <p:nvSpPr>
          <p:cNvPr id="17" name="Text 11"/>
          <p:cNvSpPr txBox="1"/>
          <p:nvPr/>
        </p:nvSpPr>
        <p:spPr>
          <a:xfrm>
            <a:off x="822960" y="525780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Une relative = une information en plus sur un nom, dans la même phrase.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Deux phrases, une phrase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ÉCHAUFFEMENT</a:t>
            </a:r>
            <a:endParaRPr lang="en-US" sz="1100" dirty="0"/>
          </a:p>
        </p:txBody>
      </p:sp>
      <p:sp>
        <p:nvSpPr>
          <p:cNvPr id="5" name="Shape 2"/>
          <p:cNvSpPr/>
          <p:nvPr/>
        </p:nvSpPr>
        <p:spPr>
          <a:xfrm>
            <a:off x="3011856" y="1508760"/>
            <a:ext cx="2282393" cy="475488"/>
          </a:xfrm>
          <a:prstGeom prst="roundRect">
            <a:avLst>
              <a:gd name="adj" fmla="val 50000"/>
            </a:avLst>
          </a:prstGeom>
          <a:solidFill>
            <a:srgbClr val="F4F6F9"/>
          </a:solidFill>
          <a:ln w="12700">
            <a:solidFill>
              <a:srgbClr val="FFFFFF">
                <a:alpha val="0"/>
              </a:srgbClr>
            </a:solidFill>
            <a:prstDash val="solid"/>
          </a:ln>
        </p:spPr>
      </p:sp>
      <p:sp>
        <p:nvSpPr>
          <p:cNvPr id="6" name="Text 3"/>
          <p:cNvSpPr txBox="1"/>
          <p:nvPr/>
        </p:nvSpPr>
        <p:spPr>
          <a:xfrm>
            <a:off x="3011856" y="1508760"/>
            <a:ext cx="2282393" cy="475488"/>
          </a:xfrm>
          <a:prstGeom prst="rect">
            <a:avLst/>
          </a:prstGeom>
          <a:noFill/>
          <a:ln/>
        </p:spPr>
        <p:txBody>
          <a:bodyPr wrap="square" lIns="0" tIns="0" rIns="0" bIns="0" rtlCol="0" anchor="ctr"/>
          <a:lstStyle/>
          <a:p>
            <a:pPr algn="ctr" indent="0" marL="0">
              <a:buNone/>
            </a:pPr>
            <a:r>
              <a:rPr lang="en-US" sz="1900" i="1" dirty="0">
                <a:solidFill>
                  <a:srgbClr val="6B7686"/>
                </a:solidFill>
                <a:latin typeface="Calibri" pitchFamily="34" charset="0"/>
                <a:ea typeface="Calibri" pitchFamily="34" charset="-122"/>
                <a:cs typeface="Calibri" pitchFamily="34" charset="-120"/>
              </a:rPr>
              <a:t>Ik heb een collega.</a:t>
            </a:r>
            <a:endParaRPr lang="en-US" sz="1900" dirty="0"/>
          </a:p>
        </p:txBody>
      </p:sp>
      <p:sp>
        <p:nvSpPr>
          <p:cNvPr id="7" name="Text 4"/>
          <p:cNvSpPr txBox="1"/>
          <p:nvPr/>
        </p:nvSpPr>
        <p:spPr>
          <a:xfrm>
            <a:off x="5294249" y="1508760"/>
            <a:ext cx="640080" cy="475488"/>
          </a:xfrm>
          <a:prstGeom prst="rect">
            <a:avLst/>
          </a:prstGeom>
          <a:noFill/>
          <a:ln/>
        </p:spPr>
        <p:txBody>
          <a:bodyPr wrap="square" lIns="0" tIns="0" rIns="0" bIns="0" rtlCol="0" anchor="ctr"/>
          <a:lstStyle/>
          <a:p>
            <a:pPr algn="ctr" indent="0" marL="0">
              <a:buNone/>
            </a:pPr>
            <a:r>
              <a:rPr lang="en-US" sz="2000" b="1" dirty="0">
                <a:solidFill>
                  <a:srgbClr val="6B7686"/>
                </a:solidFill>
                <a:latin typeface="Calibri" pitchFamily="34" charset="0"/>
                <a:ea typeface="Calibri" pitchFamily="34" charset="-122"/>
                <a:cs typeface="Calibri" pitchFamily="34" charset="-120"/>
              </a:rPr>
              <a:t>+</a:t>
            </a:r>
            <a:endParaRPr lang="en-US" sz="2000" dirty="0"/>
          </a:p>
        </p:txBody>
      </p:sp>
      <p:sp>
        <p:nvSpPr>
          <p:cNvPr id="8" name="Shape 5"/>
          <p:cNvSpPr/>
          <p:nvPr/>
        </p:nvSpPr>
        <p:spPr>
          <a:xfrm>
            <a:off x="5934329" y="1508760"/>
            <a:ext cx="3242767" cy="475488"/>
          </a:xfrm>
          <a:prstGeom prst="roundRect">
            <a:avLst>
              <a:gd name="adj" fmla="val 50000"/>
            </a:avLst>
          </a:prstGeom>
          <a:solidFill>
            <a:srgbClr val="F4F6F9"/>
          </a:solidFill>
          <a:ln w="12700">
            <a:solidFill>
              <a:srgbClr val="FFFFFF">
                <a:alpha val="0"/>
              </a:srgbClr>
            </a:solidFill>
            <a:prstDash val="solid"/>
          </a:ln>
        </p:spPr>
      </p:sp>
      <p:sp>
        <p:nvSpPr>
          <p:cNvPr id="9" name="Text 6"/>
          <p:cNvSpPr txBox="1"/>
          <p:nvPr/>
        </p:nvSpPr>
        <p:spPr>
          <a:xfrm>
            <a:off x="5934329" y="1508760"/>
            <a:ext cx="3242767" cy="475488"/>
          </a:xfrm>
          <a:prstGeom prst="rect">
            <a:avLst/>
          </a:prstGeom>
          <a:noFill/>
          <a:ln/>
        </p:spPr>
        <p:txBody>
          <a:bodyPr wrap="square" lIns="0" tIns="0" rIns="0" bIns="0" rtlCol="0" anchor="ctr"/>
          <a:lstStyle/>
          <a:p>
            <a:pPr algn="ctr" indent="0" marL="0">
              <a:buNone/>
            </a:pPr>
            <a:r>
              <a:rPr lang="en-US" sz="1900" i="1" strike="sngStrike" dirty="0">
                <a:solidFill>
                  <a:srgbClr val="B5473C"/>
                </a:solidFill>
                <a:latin typeface="Calibri" pitchFamily="34" charset="0"/>
                <a:ea typeface="Calibri" pitchFamily="34" charset="-122"/>
                <a:cs typeface="Calibri" pitchFamily="34" charset="-120"/>
              </a:rPr>
              <a:t>De collega</a:t>
            </a:r>
            <a:r>
              <a:rPr lang="en-US" sz="1900" i="1" dirty="0">
                <a:solidFill>
                  <a:srgbClr val="6B7686"/>
                </a:solidFill>
                <a:latin typeface="Calibri" pitchFamily="34" charset="0"/>
                <a:ea typeface="Calibri" pitchFamily="34" charset="-122"/>
                <a:cs typeface="Calibri" pitchFamily="34" charset="-120"/>
              </a:rPr>
              <a:t> </a:t>
            </a:r>
            <a:r>
              <a:rPr lang="en-US" sz="1900" b="1" i="1" dirty="0">
                <a:solidFill>
                  <a:srgbClr val="B83227"/>
                </a:solidFill>
                <a:latin typeface="Calibri" pitchFamily="34" charset="0"/>
                <a:ea typeface="Calibri" pitchFamily="34" charset="-122"/>
                <a:cs typeface="Calibri" pitchFamily="34" charset="-120"/>
              </a:rPr>
              <a:t>spreekt</a:t>
            </a:r>
            <a:r>
              <a:rPr lang="en-US" sz="1900" i="1" dirty="0">
                <a:solidFill>
                  <a:srgbClr val="6B7686"/>
                </a:solidFill>
                <a:latin typeface="Calibri" pitchFamily="34" charset="0"/>
                <a:ea typeface="Calibri" pitchFamily="34" charset="-122"/>
                <a:cs typeface="Calibri" pitchFamily="34" charset="-120"/>
              </a:rPr>
              <a:t> vijf talen.</a:t>
            </a:r>
            <a:endParaRPr lang="en-US" sz="1900" dirty="0"/>
          </a:p>
        </p:txBody>
      </p:sp>
      <p:sp>
        <p:nvSpPr>
          <p:cNvPr id="10" name="Shape 7"/>
          <p:cNvSpPr/>
          <p:nvPr/>
        </p:nvSpPr>
        <p:spPr>
          <a:xfrm>
            <a:off x="6094476" y="2057400"/>
            <a:ext cx="914" cy="256032"/>
          </a:xfrm>
          <a:prstGeom prst="line">
            <a:avLst/>
          </a:prstGeom>
          <a:noFill/>
          <a:ln w="19050">
            <a:solidFill>
              <a:srgbClr val="6B7686"/>
            </a:solidFill>
            <a:prstDash val="solid"/>
            <a:tailEnd type="triangle"/>
          </a:ln>
        </p:spPr>
      </p:sp>
      <p:sp>
        <p:nvSpPr>
          <p:cNvPr id="11" name="Text 8"/>
          <p:cNvSpPr txBox="1"/>
          <p:nvPr/>
        </p:nvSpPr>
        <p:spPr>
          <a:xfrm>
            <a:off x="3366865" y="2441448"/>
            <a:ext cx="934021" cy="548640"/>
          </a:xfrm>
          <a:prstGeom prst="rect">
            <a:avLst/>
          </a:prstGeom>
          <a:noFill/>
          <a:ln/>
        </p:spPr>
        <p:txBody>
          <a:bodyPr wrap="square" lIns="0" tIns="0" rIns="0" bIns="0" rtlCol="0" anchor="ctr"/>
          <a:lstStyle/>
          <a:p>
            <a:pPr algn="ctr" indent="0" marL="0">
              <a:buNone/>
            </a:pPr>
            <a:r>
              <a:rPr lang="en-US" sz="2500" i="1" dirty="0">
                <a:solidFill>
                  <a:srgbClr val="1B2333"/>
                </a:solidFill>
                <a:latin typeface="Calibri" pitchFamily="34" charset="0"/>
                <a:ea typeface="Calibri" pitchFamily="34" charset="-122"/>
                <a:cs typeface="Calibri" pitchFamily="34" charset="-120"/>
              </a:rPr>
              <a:t>Ik heb</a:t>
            </a:r>
            <a:endParaRPr lang="en-US" sz="2500" dirty="0"/>
          </a:p>
        </p:txBody>
      </p:sp>
      <p:sp>
        <p:nvSpPr>
          <p:cNvPr id="12" name="Text 9"/>
          <p:cNvSpPr txBox="1"/>
          <p:nvPr/>
        </p:nvSpPr>
        <p:spPr>
          <a:xfrm>
            <a:off x="4262215" y="2441448"/>
            <a:ext cx="1634744" cy="548640"/>
          </a:xfrm>
          <a:prstGeom prst="rect">
            <a:avLst/>
          </a:prstGeom>
          <a:noFill/>
          <a:ln/>
        </p:spPr>
        <p:txBody>
          <a:bodyPr wrap="square" lIns="0" tIns="0" rIns="0" bIns="0" rtlCol="0" anchor="ctr"/>
          <a:lstStyle/>
          <a:p>
            <a:pPr algn="ctr" indent="0" marL="0">
              <a:buNone/>
            </a:pPr>
            <a:r>
              <a:rPr lang="en-US" sz="2500" b="1" i="1" dirty="0">
                <a:solidFill>
                  <a:srgbClr val="17375E"/>
                </a:solidFill>
                <a:latin typeface="Calibri" pitchFamily="34" charset="0"/>
                <a:ea typeface="Calibri" pitchFamily="34" charset="-122"/>
                <a:cs typeface="Calibri" pitchFamily="34" charset="-120"/>
              </a:rPr>
              <a:t>een collega</a:t>
            </a:r>
            <a:endParaRPr lang="en-US" sz="2500" dirty="0"/>
          </a:p>
        </p:txBody>
      </p:sp>
      <p:sp>
        <p:nvSpPr>
          <p:cNvPr id="13" name="Text 10"/>
          <p:cNvSpPr txBox="1"/>
          <p:nvPr/>
        </p:nvSpPr>
        <p:spPr>
          <a:xfrm>
            <a:off x="5858288" y="2441448"/>
            <a:ext cx="554609" cy="548640"/>
          </a:xfrm>
          <a:prstGeom prst="rect">
            <a:avLst/>
          </a:prstGeom>
          <a:noFill/>
          <a:ln/>
        </p:spPr>
        <p:txBody>
          <a:bodyPr wrap="square" lIns="0" tIns="0" rIns="0" bIns="0" rtlCol="0" anchor="ctr"/>
          <a:lstStyle/>
          <a:p>
            <a:pPr algn="ctr" indent="0" marL="0">
              <a:buNone/>
            </a:pPr>
            <a:r>
              <a:rPr lang="en-US" sz="2500" b="1" i="1" dirty="0">
                <a:solidFill>
                  <a:srgbClr val="17375E"/>
                </a:solidFill>
                <a:latin typeface="Calibri" pitchFamily="34" charset="0"/>
                <a:ea typeface="Calibri" pitchFamily="34" charset="-122"/>
                <a:cs typeface="Calibri" pitchFamily="34" charset="-120"/>
              </a:rPr>
              <a:t>die</a:t>
            </a:r>
            <a:endParaRPr lang="en-US" sz="2500" dirty="0"/>
          </a:p>
        </p:txBody>
      </p:sp>
      <p:sp>
        <p:nvSpPr>
          <p:cNvPr id="14" name="Text 11"/>
          <p:cNvSpPr txBox="1"/>
          <p:nvPr/>
        </p:nvSpPr>
        <p:spPr>
          <a:xfrm>
            <a:off x="6374225" y="2441448"/>
            <a:ext cx="1263587" cy="548640"/>
          </a:xfrm>
          <a:prstGeom prst="rect">
            <a:avLst/>
          </a:prstGeom>
          <a:noFill/>
          <a:ln/>
        </p:spPr>
        <p:txBody>
          <a:bodyPr wrap="square" lIns="0" tIns="0" rIns="0" bIns="0" rtlCol="0" anchor="ctr"/>
          <a:lstStyle/>
          <a:p>
            <a:pPr algn="ctr" indent="0" marL="0">
              <a:buNone/>
            </a:pPr>
            <a:r>
              <a:rPr lang="en-US" sz="2500" i="1" dirty="0">
                <a:solidFill>
                  <a:srgbClr val="1B2333"/>
                </a:solidFill>
                <a:latin typeface="Calibri" pitchFamily="34" charset="0"/>
                <a:ea typeface="Calibri" pitchFamily="34" charset="-122"/>
                <a:cs typeface="Calibri" pitchFamily="34" charset="-120"/>
              </a:rPr>
              <a:t>vijf talen</a:t>
            </a:r>
            <a:endParaRPr lang="en-US" sz="2500" dirty="0"/>
          </a:p>
        </p:txBody>
      </p:sp>
      <p:sp>
        <p:nvSpPr>
          <p:cNvPr id="15" name="Text 12"/>
          <p:cNvSpPr txBox="1"/>
          <p:nvPr/>
        </p:nvSpPr>
        <p:spPr>
          <a:xfrm>
            <a:off x="7599140" y="2441448"/>
            <a:ext cx="1222947" cy="548640"/>
          </a:xfrm>
          <a:prstGeom prst="rect">
            <a:avLst/>
          </a:prstGeom>
          <a:noFill/>
          <a:ln/>
        </p:spPr>
        <p:txBody>
          <a:bodyPr wrap="square" lIns="0" tIns="0" rIns="0" bIns="0" rtlCol="0" anchor="ctr"/>
          <a:lstStyle/>
          <a:p>
            <a:pPr algn="ctr" indent="0" marL="0">
              <a:buNone/>
            </a:pPr>
            <a:r>
              <a:rPr lang="en-US" sz="2500" b="1" i="1" dirty="0">
                <a:solidFill>
                  <a:srgbClr val="B83227"/>
                </a:solidFill>
                <a:latin typeface="Calibri" pitchFamily="34" charset="0"/>
                <a:ea typeface="Calibri" pitchFamily="34" charset="-122"/>
                <a:cs typeface="Calibri" pitchFamily="34" charset="-120"/>
              </a:rPr>
              <a:t>spreekt.</a:t>
            </a:r>
            <a:endParaRPr lang="en-US" sz="2500" dirty="0"/>
          </a:p>
        </p:txBody>
      </p:sp>
      <p:sp>
        <p:nvSpPr>
          <p:cNvPr id="16" name="Shape 13"/>
          <p:cNvSpPr/>
          <p:nvPr/>
        </p:nvSpPr>
        <p:spPr>
          <a:xfrm>
            <a:off x="4335367" y="2953512"/>
            <a:ext cx="1488440" cy="914"/>
          </a:xfrm>
          <a:prstGeom prst="line">
            <a:avLst/>
          </a:prstGeom>
          <a:noFill/>
          <a:ln w="28575">
            <a:solidFill>
              <a:srgbClr val="17375E"/>
            </a:solidFill>
            <a:prstDash val="solid"/>
          </a:ln>
        </p:spPr>
      </p:sp>
      <p:sp>
        <p:nvSpPr>
          <p:cNvPr id="17" name="Shape 14"/>
          <p:cNvSpPr/>
          <p:nvPr/>
        </p:nvSpPr>
        <p:spPr>
          <a:xfrm>
            <a:off x="5079587" y="2212848"/>
            <a:ext cx="1056005" cy="640080"/>
          </a:xfrm>
          <a:prstGeom prst="arc">
            <a:avLst>
              <a:gd name="adj1" fmla="val 10800000"/>
              <a:gd name="adj2" fmla="val 21600000"/>
            </a:avLst>
          </a:prstGeom>
          <a:solidFill>
            <a:srgbClr val="FFFFFF">
              <a:alpha val="0"/>
            </a:srgbClr>
          </a:solidFill>
          <a:ln w="25400">
            <a:solidFill>
              <a:srgbClr val="17375E"/>
            </a:solidFill>
            <a:prstDash val="solid"/>
            <a:headEnd type="triangle"/>
          </a:ln>
        </p:spPr>
      </p:sp>
      <p:sp>
        <p:nvSpPr>
          <p:cNvPr id="18" name="Shape 15"/>
          <p:cNvSpPr/>
          <p:nvPr/>
        </p:nvSpPr>
        <p:spPr>
          <a:xfrm>
            <a:off x="5980144" y="3063240"/>
            <a:ext cx="310896" cy="310896"/>
          </a:xfrm>
          <a:prstGeom prst="ellipse">
            <a:avLst/>
          </a:prstGeom>
          <a:solidFill>
            <a:srgbClr val="17375E"/>
          </a:solidFill>
          <a:ln w="12700">
            <a:solidFill>
              <a:srgbClr val="FFFFFF">
                <a:alpha val="0"/>
              </a:srgbClr>
            </a:solidFill>
            <a:prstDash val="solid"/>
          </a:ln>
        </p:spPr>
      </p:sp>
      <p:sp>
        <p:nvSpPr>
          <p:cNvPr id="19" name="Text 16"/>
          <p:cNvSpPr txBox="1"/>
          <p:nvPr/>
        </p:nvSpPr>
        <p:spPr>
          <a:xfrm>
            <a:off x="5980144" y="30632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Shape 17"/>
          <p:cNvSpPr/>
          <p:nvPr/>
        </p:nvSpPr>
        <p:spPr>
          <a:xfrm>
            <a:off x="8055166" y="3063240"/>
            <a:ext cx="310896" cy="310896"/>
          </a:xfrm>
          <a:prstGeom prst="ellipse">
            <a:avLst/>
          </a:prstGeom>
          <a:solidFill>
            <a:srgbClr val="B83227"/>
          </a:solidFill>
          <a:ln w="12700">
            <a:solidFill>
              <a:srgbClr val="FFFFFF">
                <a:alpha val="0"/>
              </a:srgbClr>
            </a:solidFill>
            <a:prstDash val="solid"/>
          </a:ln>
        </p:spPr>
      </p:sp>
      <p:sp>
        <p:nvSpPr>
          <p:cNvPr id="21" name="Text 18"/>
          <p:cNvSpPr txBox="1"/>
          <p:nvPr/>
        </p:nvSpPr>
        <p:spPr>
          <a:xfrm>
            <a:off x="8055166" y="30632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Shape 19"/>
          <p:cNvSpPr/>
          <p:nvPr/>
        </p:nvSpPr>
        <p:spPr>
          <a:xfrm>
            <a:off x="2635066" y="3520440"/>
            <a:ext cx="2315451" cy="475488"/>
          </a:xfrm>
          <a:prstGeom prst="roundRect">
            <a:avLst>
              <a:gd name="adj" fmla="val 50000"/>
            </a:avLst>
          </a:prstGeom>
          <a:solidFill>
            <a:srgbClr val="F4F6F9"/>
          </a:solidFill>
          <a:ln w="12700">
            <a:solidFill>
              <a:srgbClr val="FFFFFF">
                <a:alpha val="0"/>
              </a:srgbClr>
            </a:solidFill>
            <a:prstDash val="solid"/>
          </a:ln>
        </p:spPr>
      </p:sp>
      <p:sp>
        <p:nvSpPr>
          <p:cNvPr id="23" name="Text 20"/>
          <p:cNvSpPr txBox="1"/>
          <p:nvPr/>
        </p:nvSpPr>
        <p:spPr>
          <a:xfrm>
            <a:off x="2635066" y="3520440"/>
            <a:ext cx="2315451" cy="475488"/>
          </a:xfrm>
          <a:prstGeom prst="rect">
            <a:avLst/>
          </a:prstGeom>
          <a:noFill/>
          <a:ln/>
        </p:spPr>
        <p:txBody>
          <a:bodyPr wrap="square" lIns="0" tIns="0" rIns="0" bIns="0" rtlCol="0" anchor="ctr"/>
          <a:lstStyle/>
          <a:p>
            <a:pPr algn="ctr" indent="0" marL="0">
              <a:buNone/>
            </a:pPr>
            <a:r>
              <a:rPr lang="en-US" sz="1900" i="1" dirty="0">
                <a:solidFill>
                  <a:srgbClr val="6B7686"/>
                </a:solidFill>
                <a:latin typeface="Calibri" pitchFamily="34" charset="0"/>
                <a:ea typeface="Calibri" pitchFamily="34" charset="-122"/>
                <a:cs typeface="Calibri" pitchFamily="34" charset="-120"/>
              </a:rPr>
              <a:t>Ik lees het rapport.</a:t>
            </a:r>
            <a:endParaRPr lang="en-US" sz="1900" dirty="0"/>
          </a:p>
        </p:txBody>
      </p:sp>
      <p:sp>
        <p:nvSpPr>
          <p:cNvPr id="24" name="Text 21"/>
          <p:cNvSpPr txBox="1"/>
          <p:nvPr/>
        </p:nvSpPr>
        <p:spPr>
          <a:xfrm>
            <a:off x="4950517" y="3520440"/>
            <a:ext cx="640080" cy="475488"/>
          </a:xfrm>
          <a:prstGeom prst="rect">
            <a:avLst/>
          </a:prstGeom>
          <a:noFill/>
          <a:ln/>
        </p:spPr>
        <p:txBody>
          <a:bodyPr wrap="square" lIns="0" tIns="0" rIns="0" bIns="0" rtlCol="0" anchor="ctr"/>
          <a:lstStyle/>
          <a:p>
            <a:pPr algn="ctr" indent="0" marL="0">
              <a:buNone/>
            </a:pPr>
            <a:r>
              <a:rPr lang="en-US" sz="2000" b="1" dirty="0">
                <a:solidFill>
                  <a:srgbClr val="6B7686"/>
                </a:solidFill>
                <a:latin typeface="Calibri" pitchFamily="34" charset="0"/>
                <a:ea typeface="Calibri" pitchFamily="34" charset="-122"/>
                <a:cs typeface="Calibri" pitchFamily="34" charset="-120"/>
              </a:rPr>
              <a:t>+</a:t>
            </a:r>
            <a:endParaRPr lang="en-US" sz="2000" dirty="0"/>
          </a:p>
        </p:txBody>
      </p:sp>
      <p:sp>
        <p:nvSpPr>
          <p:cNvPr id="25" name="Shape 22"/>
          <p:cNvSpPr/>
          <p:nvPr/>
        </p:nvSpPr>
        <p:spPr>
          <a:xfrm>
            <a:off x="5590597" y="3520440"/>
            <a:ext cx="3963289" cy="475488"/>
          </a:xfrm>
          <a:prstGeom prst="roundRect">
            <a:avLst>
              <a:gd name="adj" fmla="val 50000"/>
            </a:avLst>
          </a:prstGeom>
          <a:solidFill>
            <a:srgbClr val="F4F6F9"/>
          </a:solidFill>
          <a:ln w="12700">
            <a:solidFill>
              <a:srgbClr val="FFFFFF">
                <a:alpha val="0"/>
              </a:srgbClr>
            </a:solidFill>
            <a:prstDash val="solid"/>
          </a:ln>
        </p:spPr>
      </p:sp>
      <p:sp>
        <p:nvSpPr>
          <p:cNvPr id="26" name="Text 23"/>
          <p:cNvSpPr txBox="1"/>
          <p:nvPr/>
        </p:nvSpPr>
        <p:spPr>
          <a:xfrm>
            <a:off x="5590597" y="3520440"/>
            <a:ext cx="3963289" cy="475488"/>
          </a:xfrm>
          <a:prstGeom prst="rect">
            <a:avLst/>
          </a:prstGeom>
          <a:noFill/>
          <a:ln/>
        </p:spPr>
        <p:txBody>
          <a:bodyPr wrap="square" lIns="0" tIns="0" rIns="0" bIns="0" rtlCol="0" anchor="ctr"/>
          <a:lstStyle/>
          <a:p>
            <a:pPr algn="ctr" indent="0" marL="0">
              <a:buNone/>
            </a:pPr>
            <a:r>
              <a:rPr lang="en-US" sz="1900" i="1" dirty="0">
                <a:solidFill>
                  <a:srgbClr val="6B7686"/>
                </a:solidFill>
                <a:latin typeface="Calibri" pitchFamily="34" charset="0"/>
                <a:ea typeface="Calibri" pitchFamily="34" charset="-122"/>
                <a:cs typeface="Calibri" pitchFamily="34" charset="-120"/>
              </a:rPr>
              <a:t>Sofie </a:t>
            </a:r>
            <a:r>
              <a:rPr lang="en-US" sz="1900" b="1" i="1" dirty="0">
                <a:solidFill>
                  <a:srgbClr val="B83227"/>
                </a:solidFill>
                <a:latin typeface="Calibri" pitchFamily="34" charset="0"/>
                <a:ea typeface="Calibri" pitchFamily="34" charset="-122"/>
                <a:cs typeface="Calibri" pitchFamily="34" charset="-120"/>
              </a:rPr>
              <a:t>heeft</a:t>
            </a:r>
            <a:r>
              <a:rPr lang="en-US" sz="1900" i="1" dirty="0">
                <a:solidFill>
                  <a:srgbClr val="6B7686"/>
                </a:solidFill>
                <a:latin typeface="Calibri" pitchFamily="34" charset="0"/>
                <a:ea typeface="Calibri" pitchFamily="34" charset="-122"/>
                <a:cs typeface="Calibri" pitchFamily="34" charset="-120"/>
              </a:rPr>
              <a:t> </a:t>
            </a:r>
            <a:r>
              <a:rPr lang="en-US" sz="1900" i="1" strike="sngStrike" dirty="0">
                <a:solidFill>
                  <a:srgbClr val="B5473C"/>
                </a:solidFill>
                <a:latin typeface="Calibri" pitchFamily="34" charset="0"/>
                <a:ea typeface="Calibri" pitchFamily="34" charset="-122"/>
                <a:cs typeface="Calibri" pitchFamily="34" charset="-120"/>
              </a:rPr>
              <a:t>het rapport</a:t>
            </a:r>
            <a:r>
              <a:rPr lang="en-US" sz="1900" i="1" dirty="0">
                <a:solidFill>
                  <a:srgbClr val="6B7686"/>
                </a:solidFill>
                <a:latin typeface="Calibri" pitchFamily="34" charset="0"/>
                <a:ea typeface="Calibri" pitchFamily="34" charset="-122"/>
                <a:cs typeface="Calibri" pitchFamily="34" charset="-120"/>
              </a:rPr>
              <a:t> </a:t>
            </a:r>
            <a:r>
              <a:rPr lang="en-US" sz="1900" b="1" i="1" dirty="0">
                <a:solidFill>
                  <a:srgbClr val="B83227"/>
                </a:solidFill>
                <a:latin typeface="Calibri" pitchFamily="34" charset="0"/>
                <a:ea typeface="Calibri" pitchFamily="34" charset="-122"/>
                <a:cs typeface="Calibri" pitchFamily="34" charset="-120"/>
              </a:rPr>
              <a:t>geschreven</a:t>
            </a:r>
            <a:r>
              <a:rPr lang="en-US" sz="1900" i="1" dirty="0">
                <a:solidFill>
                  <a:srgbClr val="6B7686"/>
                </a:solidFill>
                <a:latin typeface="Calibri" pitchFamily="34" charset="0"/>
                <a:ea typeface="Calibri" pitchFamily="34" charset="-122"/>
                <a:cs typeface="Calibri" pitchFamily="34" charset="-120"/>
              </a:rPr>
              <a:t>.</a:t>
            </a:r>
            <a:endParaRPr lang="en-US" sz="1900" dirty="0"/>
          </a:p>
        </p:txBody>
      </p:sp>
      <p:sp>
        <p:nvSpPr>
          <p:cNvPr id="27" name="Shape 24"/>
          <p:cNvSpPr/>
          <p:nvPr/>
        </p:nvSpPr>
        <p:spPr>
          <a:xfrm>
            <a:off x="6094476" y="4069080"/>
            <a:ext cx="914" cy="256032"/>
          </a:xfrm>
          <a:prstGeom prst="line">
            <a:avLst/>
          </a:prstGeom>
          <a:noFill/>
          <a:ln w="19050">
            <a:solidFill>
              <a:srgbClr val="6B7686"/>
            </a:solidFill>
            <a:prstDash val="solid"/>
            <a:tailEnd type="triangle"/>
          </a:ln>
        </p:spPr>
      </p:sp>
      <p:sp>
        <p:nvSpPr>
          <p:cNvPr id="28" name="Text 25"/>
          <p:cNvSpPr txBox="1"/>
          <p:nvPr/>
        </p:nvSpPr>
        <p:spPr>
          <a:xfrm>
            <a:off x="2928874" y="4453128"/>
            <a:ext cx="955929" cy="548640"/>
          </a:xfrm>
          <a:prstGeom prst="rect">
            <a:avLst/>
          </a:prstGeom>
          <a:noFill/>
          <a:ln/>
        </p:spPr>
        <p:txBody>
          <a:bodyPr wrap="square" lIns="0" tIns="0" rIns="0" bIns="0" rtlCol="0" anchor="ctr"/>
          <a:lstStyle/>
          <a:p>
            <a:pPr algn="ctr" indent="0" marL="0">
              <a:buNone/>
            </a:pPr>
            <a:r>
              <a:rPr lang="en-US" sz="2500" i="1" dirty="0">
                <a:solidFill>
                  <a:srgbClr val="1B2333"/>
                </a:solidFill>
                <a:latin typeface="Calibri" pitchFamily="34" charset="0"/>
                <a:ea typeface="Calibri" pitchFamily="34" charset="-122"/>
                <a:cs typeface="Calibri" pitchFamily="34" charset="-120"/>
              </a:rPr>
              <a:t>Ik lees</a:t>
            </a:r>
            <a:endParaRPr lang="en-US" sz="2500" dirty="0"/>
          </a:p>
        </p:txBody>
      </p:sp>
      <p:sp>
        <p:nvSpPr>
          <p:cNvPr id="29" name="Text 26"/>
          <p:cNvSpPr txBox="1"/>
          <p:nvPr/>
        </p:nvSpPr>
        <p:spPr>
          <a:xfrm>
            <a:off x="3846131" y="4453128"/>
            <a:ext cx="1662684" cy="548640"/>
          </a:xfrm>
          <a:prstGeom prst="rect">
            <a:avLst/>
          </a:prstGeom>
          <a:noFill/>
          <a:ln/>
        </p:spPr>
        <p:txBody>
          <a:bodyPr wrap="square" lIns="0" tIns="0" rIns="0" bIns="0" rtlCol="0" anchor="ctr"/>
          <a:lstStyle/>
          <a:p>
            <a:pPr algn="ctr" indent="0" marL="0">
              <a:buNone/>
            </a:pPr>
            <a:r>
              <a:rPr lang="en-US" sz="2500" b="1" i="1" dirty="0">
                <a:solidFill>
                  <a:srgbClr val="D9700F"/>
                </a:solidFill>
                <a:latin typeface="Calibri" pitchFamily="34" charset="0"/>
                <a:ea typeface="Calibri" pitchFamily="34" charset="-122"/>
                <a:cs typeface="Calibri" pitchFamily="34" charset="-120"/>
              </a:rPr>
              <a:t>het rapport</a:t>
            </a:r>
            <a:endParaRPr lang="en-US" sz="2500" dirty="0"/>
          </a:p>
        </p:txBody>
      </p:sp>
      <p:sp>
        <p:nvSpPr>
          <p:cNvPr id="30" name="Text 27"/>
          <p:cNvSpPr txBox="1"/>
          <p:nvPr/>
        </p:nvSpPr>
        <p:spPr>
          <a:xfrm>
            <a:off x="5470144" y="4453128"/>
            <a:ext cx="583819" cy="548640"/>
          </a:xfrm>
          <a:prstGeom prst="rect">
            <a:avLst/>
          </a:prstGeom>
          <a:noFill/>
          <a:ln/>
        </p:spPr>
        <p:txBody>
          <a:bodyPr wrap="square" lIns="0" tIns="0" rIns="0" bIns="0" rtlCol="0" anchor="ctr"/>
          <a:lstStyle/>
          <a:p>
            <a:pPr algn="ctr" indent="0" marL="0">
              <a:buNone/>
            </a:pPr>
            <a:r>
              <a:rPr lang="en-US" sz="2500" b="1" i="1" dirty="0">
                <a:solidFill>
                  <a:srgbClr val="D9700F"/>
                </a:solidFill>
                <a:latin typeface="Calibri" pitchFamily="34" charset="0"/>
                <a:ea typeface="Calibri" pitchFamily="34" charset="-122"/>
                <a:cs typeface="Calibri" pitchFamily="34" charset="-120"/>
              </a:rPr>
              <a:t>dat</a:t>
            </a:r>
            <a:endParaRPr lang="en-US" sz="2500" dirty="0"/>
          </a:p>
        </p:txBody>
      </p:sp>
      <p:sp>
        <p:nvSpPr>
          <p:cNvPr id="31" name="Text 28"/>
          <p:cNvSpPr txBox="1"/>
          <p:nvPr/>
        </p:nvSpPr>
        <p:spPr>
          <a:xfrm>
            <a:off x="6015291" y="4453128"/>
            <a:ext cx="787337" cy="548640"/>
          </a:xfrm>
          <a:prstGeom prst="rect">
            <a:avLst/>
          </a:prstGeom>
          <a:noFill/>
          <a:ln/>
        </p:spPr>
        <p:txBody>
          <a:bodyPr wrap="square" lIns="0" tIns="0" rIns="0" bIns="0" rtlCol="0" anchor="ctr"/>
          <a:lstStyle/>
          <a:p>
            <a:pPr algn="ctr" indent="0" marL="0">
              <a:buNone/>
            </a:pPr>
            <a:r>
              <a:rPr lang="en-US" sz="2500" i="1" dirty="0">
                <a:solidFill>
                  <a:srgbClr val="1B2333"/>
                </a:solidFill>
                <a:latin typeface="Calibri" pitchFamily="34" charset="0"/>
                <a:ea typeface="Calibri" pitchFamily="34" charset="-122"/>
                <a:cs typeface="Calibri" pitchFamily="34" charset="-120"/>
              </a:rPr>
              <a:t>Sofie</a:t>
            </a:r>
            <a:endParaRPr lang="en-US" sz="2500" dirty="0"/>
          </a:p>
        </p:txBody>
      </p:sp>
      <p:sp>
        <p:nvSpPr>
          <p:cNvPr id="32" name="Text 29"/>
          <p:cNvSpPr txBox="1"/>
          <p:nvPr/>
        </p:nvSpPr>
        <p:spPr>
          <a:xfrm>
            <a:off x="6763956" y="4453128"/>
            <a:ext cx="2496122" cy="548640"/>
          </a:xfrm>
          <a:prstGeom prst="rect">
            <a:avLst/>
          </a:prstGeom>
          <a:noFill/>
          <a:ln/>
        </p:spPr>
        <p:txBody>
          <a:bodyPr wrap="square" lIns="0" tIns="0" rIns="0" bIns="0" rtlCol="0" anchor="ctr"/>
          <a:lstStyle/>
          <a:p>
            <a:pPr algn="ctr" indent="0" marL="0">
              <a:buNone/>
            </a:pPr>
            <a:r>
              <a:rPr lang="en-US" sz="2500" b="1" i="1" dirty="0">
                <a:solidFill>
                  <a:srgbClr val="B83227"/>
                </a:solidFill>
                <a:latin typeface="Calibri" pitchFamily="34" charset="0"/>
                <a:ea typeface="Calibri" pitchFamily="34" charset="-122"/>
                <a:cs typeface="Calibri" pitchFamily="34" charset="-120"/>
              </a:rPr>
              <a:t>heeft geschreven.</a:t>
            </a:r>
            <a:endParaRPr lang="en-US" sz="2500" dirty="0"/>
          </a:p>
        </p:txBody>
      </p:sp>
      <p:sp>
        <p:nvSpPr>
          <p:cNvPr id="33" name="Shape 30"/>
          <p:cNvSpPr/>
          <p:nvPr/>
        </p:nvSpPr>
        <p:spPr>
          <a:xfrm>
            <a:off x="3919283" y="4965192"/>
            <a:ext cx="1516380" cy="914"/>
          </a:xfrm>
          <a:prstGeom prst="line">
            <a:avLst/>
          </a:prstGeom>
          <a:noFill/>
          <a:ln w="28575">
            <a:solidFill>
              <a:srgbClr val="D9700F"/>
            </a:solidFill>
            <a:prstDash val="solid"/>
          </a:ln>
        </p:spPr>
      </p:sp>
      <p:sp>
        <p:nvSpPr>
          <p:cNvPr id="34" name="Shape 31"/>
          <p:cNvSpPr/>
          <p:nvPr/>
        </p:nvSpPr>
        <p:spPr>
          <a:xfrm>
            <a:off x="4677474" y="4224528"/>
            <a:ext cx="1084580" cy="640080"/>
          </a:xfrm>
          <a:prstGeom prst="arc">
            <a:avLst>
              <a:gd name="adj1" fmla="val 10800000"/>
              <a:gd name="adj2" fmla="val 21600000"/>
            </a:avLst>
          </a:prstGeom>
          <a:solidFill>
            <a:srgbClr val="FFFFFF">
              <a:alpha val="0"/>
            </a:srgbClr>
          </a:solidFill>
          <a:ln w="25400">
            <a:solidFill>
              <a:srgbClr val="D9700F"/>
            </a:solidFill>
            <a:prstDash val="solid"/>
            <a:headEnd type="triangle"/>
          </a:ln>
        </p:spPr>
      </p:sp>
      <p:sp>
        <p:nvSpPr>
          <p:cNvPr id="35" name="Shape 32"/>
          <p:cNvSpPr/>
          <p:nvPr/>
        </p:nvSpPr>
        <p:spPr>
          <a:xfrm>
            <a:off x="5423725" y="5074920"/>
            <a:ext cx="310896" cy="310896"/>
          </a:xfrm>
          <a:prstGeom prst="ellipse">
            <a:avLst/>
          </a:prstGeom>
          <a:solidFill>
            <a:srgbClr val="D9700F"/>
          </a:solidFill>
          <a:ln w="12700">
            <a:solidFill>
              <a:srgbClr val="FFFFFF">
                <a:alpha val="0"/>
              </a:srgbClr>
            </a:solidFill>
            <a:prstDash val="solid"/>
          </a:ln>
        </p:spPr>
      </p:sp>
      <p:sp>
        <p:nvSpPr>
          <p:cNvPr id="36" name="Text 33"/>
          <p:cNvSpPr txBox="1"/>
          <p:nvPr/>
        </p:nvSpPr>
        <p:spPr>
          <a:xfrm>
            <a:off x="5423725" y="50749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7" name="Shape 34"/>
          <p:cNvSpPr/>
          <p:nvPr/>
        </p:nvSpPr>
        <p:spPr>
          <a:xfrm>
            <a:off x="5789486" y="5074920"/>
            <a:ext cx="310896" cy="310896"/>
          </a:xfrm>
          <a:prstGeom prst="ellipse">
            <a:avLst/>
          </a:prstGeom>
          <a:solidFill>
            <a:srgbClr val="D9700F"/>
          </a:solidFill>
          <a:ln w="12700">
            <a:solidFill>
              <a:srgbClr val="FFFFFF">
                <a:alpha val="0"/>
              </a:srgbClr>
            </a:solidFill>
            <a:prstDash val="solid"/>
          </a:ln>
        </p:spPr>
      </p:sp>
      <p:sp>
        <p:nvSpPr>
          <p:cNvPr id="38" name="Text 35"/>
          <p:cNvSpPr txBox="1"/>
          <p:nvPr/>
        </p:nvSpPr>
        <p:spPr>
          <a:xfrm>
            <a:off x="5789486" y="50749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9" name="Shape 36"/>
          <p:cNvSpPr/>
          <p:nvPr/>
        </p:nvSpPr>
        <p:spPr>
          <a:xfrm>
            <a:off x="7856569" y="5074920"/>
            <a:ext cx="310896" cy="310896"/>
          </a:xfrm>
          <a:prstGeom prst="ellipse">
            <a:avLst/>
          </a:prstGeom>
          <a:solidFill>
            <a:srgbClr val="B83227"/>
          </a:solidFill>
          <a:ln w="12700">
            <a:solidFill>
              <a:srgbClr val="FFFFFF">
                <a:alpha val="0"/>
              </a:srgbClr>
            </a:solidFill>
            <a:prstDash val="solid"/>
          </a:ln>
        </p:spPr>
      </p:sp>
      <p:sp>
        <p:nvSpPr>
          <p:cNvPr id="40" name="Text 37"/>
          <p:cNvSpPr txBox="1"/>
          <p:nvPr/>
        </p:nvSpPr>
        <p:spPr>
          <a:xfrm>
            <a:off x="7856569" y="50749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Shape 38"/>
          <p:cNvSpPr/>
          <p:nvPr/>
        </p:nvSpPr>
        <p:spPr>
          <a:xfrm>
            <a:off x="1097280" y="5669280"/>
            <a:ext cx="365760" cy="365760"/>
          </a:xfrm>
          <a:prstGeom prst="ellipse">
            <a:avLst/>
          </a:prstGeom>
          <a:solidFill>
            <a:srgbClr val="17375E"/>
          </a:solidFill>
          <a:ln w="12700">
            <a:solidFill>
              <a:srgbClr val="FFFFFF">
                <a:alpha val="0"/>
              </a:srgbClr>
            </a:solidFill>
            <a:prstDash val="solid"/>
          </a:ln>
        </p:spPr>
      </p:sp>
      <p:sp>
        <p:nvSpPr>
          <p:cNvPr id="42" name="Text 39"/>
          <p:cNvSpPr txBox="1"/>
          <p:nvPr/>
        </p:nvSpPr>
        <p:spPr>
          <a:xfrm>
            <a:off x="1097280" y="56692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3" name="Text 40"/>
          <p:cNvSpPr txBox="1"/>
          <p:nvPr/>
        </p:nvSpPr>
        <p:spPr>
          <a:xfrm>
            <a:off x="1572768" y="5669280"/>
            <a:ext cx="3017520" cy="365760"/>
          </a:xfrm>
          <a:prstGeom prst="rect">
            <a:avLst/>
          </a:prstGeom>
          <a:noFill/>
          <a:ln/>
        </p:spPr>
        <p:txBody>
          <a:bodyPr wrap="square" lIns="0" tIns="0" rIns="0" bIns="0" rtlCol="0" anchor="ctr"/>
          <a:lstStyle/>
          <a:p>
            <a:pPr algn="l" indent="0" marL="0">
              <a:buNone/>
            </a:pPr>
            <a:r>
              <a:rPr lang="en-US" sz="1500" dirty="0">
                <a:solidFill>
                  <a:srgbClr val="1B2333"/>
                </a:solidFill>
                <a:latin typeface="Calibri" pitchFamily="34" charset="0"/>
                <a:ea typeface="Calibri" pitchFamily="34" charset="-122"/>
                <a:cs typeface="Calibri" pitchFamily="34" charset="-120"/>
              </a:rPr>
              <a:t>le nom répété → </a:t>
            </a:r>
            <a:r>
              <a:rPr lang="en-US" sz="1500" i="1" dirty="0">
                <a:solidFill>
                  <a:srgbClr val="1B2333"/>
                </a:solidFill>
                <a:latin typeface="Calibri" pitchFamily="34" charset="0"/>
                <a:ea typeface="Calibri" pitchFamily="34" charset="-122"/>
                <a:cs typeface="Calibri" pitchFamily="34" charset="-120"/>
              </a:rPr>
              <a:t>die / dat</a:t>
            </a:r>
            <a:endParaRPr lang="en-US" sz="1500" dirty="0"/>
          </a:p>
        </p:txBody>
      </p:sp>
      <p:sp>
        <p:nvSpPr>
          <p:cNvPr id="44" name="Shape 41"/>
          <p:cNvSpPr/>
          <p:nvPr/>
        </p:nvSpPr>
        <p:spPr>
          <a:xfrm>
            <a:off x="4526280" y="5669280"/>
            <a:ext cx="365760" cy="365760"/>
          </a:xfrm>
          <a:prstGeom prst="ellipse">
            <a:avLst/>
          </a:prstGeom>
          <a:solidFill>
            <a:srgbClr val="17375E"/>
          </a:solidFill>
          <a:ln w="12700">
            <a:solidFill>
              <a:srgbClr val="FFFFFF">
                <a:alpha val="0"/>
              </a:srgbClr>
            </a:solidFill>
            <a:prstDash val="solid"/>
          </a:ln>
        </p:spPr>
      </p:sp>
      <p:sp>
        <p:nvSpPr>
          <p:cNvPr id="45" name="Text 42"/>
          <p:cNvSpPr txBox="1"/>
          <p:nvPr/>
        </p:nvSpPr>
        <p:spPr>
          <a:xfrm>
            <a:off x="4526280" y="56692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6" name="Text 43"/>
          <p:cNvSpPr txBox="1"/>
          <p:nvPr/>
        </p:nvSpPr>
        <p:spPr>
          <a:xfrm>
            <a:off x="5001768" y="5669280"/>
            <a:ext cx="3017520" cy="365760"/>
          </a:xfrm>
          <a:prstGeom prst="rect">
            <a:avLst/>
          </a:prstGeom>
          <a:noFill/>
          <a:ln/>
        </p:spPr>
        <p:txBody>
          <a:bodyPr wrap="square" lIns="0" tIns="0" rIns="0" bIns="0" rtlCol="0" anchor="ctr"/>
          <a:lstStyle/>
          <a:p>
            <a:pPr algn="l" indent="0" marL="0">
              <a:buNone/>
            </a:pPr>
            <a:r>
              <a:rPr lang="en-US" sz="1500" dirty="0">
                <a:solidFill>
                  <a:srgbClr val="1B2333"/>
                </a:solidFill>
                <a:latin typeface="Calibri" pitchFamily="34" charset="0"/>
                <a:ea typeface="Calibri" pitchFamily="34" charset="-122"/>
                <a:cs typeface="Calibri" pitchFamily="34" charset="-120"/>
              </a:rPr>
              <a:t>le relatif en tête de la relative</a:t>
            </a:r>
            <a:endParaRPr lang="en-US" sz="1500" dirty="0"/>
          </a:p>
        </p:txBody>
      </p:sp>
      <p:sp>
        <p:nvSpPr>
          <p:cNvPr id="47" name="Shape 44"/>
          <p:cNvSpPr/>
          <p:nvPr/>
        </p:nvSpPr>
        <p:spPr>
          <a:xfrm>
            <a:off x="7955280" y="5669280"/>
            <a:ext cx="365760" cy="365760"/>
          </a:xfrm>
          <a:prstGeom prst="ellipse">
            <a:avLst/>
          </a:prstGeom>
          <a:solidFill>
            <a:srgbClr val="B83227"/>
          </a:solidFill>
          <a:ln w="12700">
            <a:solidFill>
              <a:srgbClr val="FFFFFF">
                <a:alpha val="0"/>
              </a:srgbClr>
            </a:solidFill>
            <a:prstDash val="solid"/>
          </a:ln>
        </p:spPr>
      </p:sp>
      <p:sp>
        <p:nvSpPr>
          <p:cNvPr id="48" name="Text 45"/>
          <p:cNvSpPr txBox="1"/>
          <p:nvPr/>
        </p:nvSpPr>
        <p:spPr>
          <a:xfrm>
            <a:off x="7955280" y="56692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430768" y="5669280"/>
            <a:ext cx="3017520" cy="365760"/>
          </a:xfrm>
          <a:prstGeom prst="rect">
            <a:avLst/>
          </a:prstGeom>
          <a:noFill/>
          <a:ln/>
        </p:spPr>
        <p:txBody>
          <a:bodyPr wrap="square" lIns="0" tIns="0" rIns="0" bIns="0" rtlCol="0" anchor="ctr"/>
          <a:lstStyle/>
          <a:p>
            <a:pPr algn="l" indent="0" marL="0">
              <a:buNone/>
            </a:pPr>
            <a:r>
              <a:rPr lang="en-US" sz="1500" dirty="0">
                <a:solidFill>
                  <a:srgbClr val="1B2333"/>
                </a:solidFill>
                <a:latin typeface="Calibri" pitchFamily="34" charset="0"/>
                <a:ea typeface="Calibri" pitchFamily="34" charset="-122"/>
                <a:cs typeface="Calibri" pitchFamily="34" charset="-120"/>
              </a:rPr>
              <a:t>le verbe à la fin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L’anatomie d’une relative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LE PRINCIPE</a:t>
            </a:r>
            <a:endParaRPr lang="en-US" sz="1100" dirty="0"/>
          </a:p>
        </p:txBody>
      </p:sp>
      <p:sp>
        <p:nvSpPr>
          <p:cNvPr id="5" name="Text 2"/>
          <p:cNvSpPr txBox="1"/>
          <p:nvPr/>
        </p:nvSpPr>
        <p:spPr>
          <a:xfrm>
            <a:off x="2757119" y="1874520"/>
            <a:ext cx="1287475" cy="640080"/>
          </a:xfrm>
          <a:prstGeom prst="rect">
            <a:avLst/>
          </a:prstGeom>
          <a:noFill/>
          <a:ln/>
        </p:spPr>
        <p:txBody>
          <a:bodyPr wrap="square" lIns="0" tIns="0" rIns="0" bIns="0" rtlCol="0" anchor="ctr"/>
          <a:lstStyle/>
          <a:p>
            <a:pPr algn="ctr" indent="0" marL="0">
              <a:buNone/>
            </a:pPr>
            <a:r>
              <a:rPr lang="en-US" sz="3200" i="1" dirty="0">
                <a:solidFill>
                  <a:srgbClr val="1B2333"/>
                </a:solidFill>
                <a:latin typeface="Calibri" pitchFamily="34" charset="0"/>
                <a:ea typeface="Calibri" pitchFamily="34" charset="-122"/>
                <a:cs typeface="Calibri" pitchFamily="34" charset="-120"/>
              </a:rPr>
              <a:t>Ik zoek</a:t>
            </a:r>
            <a:endParaRPr lang="en-US" sz="3200" dirty="0"/>
          </a:p>
        </p:txBody>
      </p:sp>
      <p:sp>
        <p:nvSpPr>
          <p:cNvPr id="6" name="Text 3"/>
          <p:cNvSpPr txBox="1"/>
          <p:nvPr/>
        </p:nvSpPr>
        <p:spPr>
          <a:xfrm>
            <a:off x="4036060" y="1874520"/>
            <a:ext cx="1847088" cy="640080"/>
          </a:xfrm>
          <a:prstGeom prst="rect">
            <a:avLst/>
          </a:prstGeom>
          <a:noFill/>
          <a:ln/>
        </p:spPr>
        <p:txBody>
          <a:bodyPr wrap="square" lIns="0" tIns="0" rIns="0" bIns="0" rtlCol="0" anchor="ctr"/>
          <a:lstStyle/>
          <a:p>
            <a:pPr algn="ctr" indent="0" marL="0">
              <a:buNone/>
            </a:pPr>
            <a:r>
              <a:rPr lang="en-US" sz="3200" b="1" i="1" dirty="0">
                <a:solidFill>
                  <a:srgbClr val="17375E"/>
                </a:solidFill>
                <a:latin typeface="Calibri" pitchFamily="34" charset="0"/>
                <a:ea typeface="Calibri" pitchFamily="34" charset="-122"/>
                <a:cs typeface="Calibri" pitchFamily="34" charset="-120"/>
              </a:rPr>
              <a:t>de collega</a:t>
            </a:r>
            <a:endParaRPr lang="en-US" sz="3200" dirty="0"/>
          </a:p>
        </p:txBody>
      </p:sp>
      <p:sp>
        <p:nvSpPr>
          <p:cNvPr id="7" name="Text 4"/>
          <p:cNvSpPr txBox="1"/>
          <p:nvPr/>
        </p:nvSpPr>
        <p:spPr>
          <a:xfrm>
            <a:off x="5874614" y="1874520"/>
            <a:ext cx="668934" cy="640080"/>
          </a:xfrm>
          <a:prstGeom prst="rect">
            <a:avLst/>
          </a:prstGeom>
          <a:noFill/>
          <a:ln/>
        </p:spPr>
        <p:txBody>
          <a:bodyPr wrap="square" lIns="0" tIns="0" rIns="0" bIns="0" rtlCol="0" anchor="ctr"/>
          <a:lstStyle/>
          <a:p>
            <a:pPr algn="ctr" indent="0" marL="0">
              <a:buNone/>
            </a:pPr>
            <a:r>
              <a:rPr lang="en-US" sz="3200" b="1" i="1" dirty="0">
                <a:solidFill>
                  <a:srgbClr val="17375E"/>
                </a:solidFill>
                <a:latin typeface="Calibri" pitchFamily="34" charset="0"/>
                <a:ea typeface="Calibri" pitchFamily="34" charset="-122"/>
                <a:cs typeface="Calibri" pitchFamily="34" charset="-120"/>
              </a:rPr>
              <a:t>die</a:t>
            </a:r>
            <a:endParaRPr lang="en-US" sz="3200" dirty="0"/>
          </a:p>
        </p:txBody>
      </p:sp>
      <p:sp>
        <p:nvSpPr>
          <p:cNvPr id="8" name="Text 5"/>
          <p:cNvSpPr txBox="1"/>
          <p:nvPr/>
        </p:nvSpPr>
        <p:spPr>
          <a:xfrm>
            <a:off x="6535014" y="1874520"/>
            <a:ext cx="1754022" cy="640080"/>
          </a:xfrm>
          <a:prstGeom prst="rect">
            <a:avLst/>
          </a:prstGeom>
          <a:noFill/>
          <a:ln/>
        </p:spPr>
        <p:txBody>
          <a:bodyPr wrap="square" lIns="0" tIns="0" rIns="0" bIns="0" rtlCol="0" anchor="ctr"/>
          <a:lstStyle/>
          <a:p>
            <a:pPr algn="ctr" indent="0" marL="0">
              <a:buNone/>
            </a:pPr>
            <a:r>
              <a:rPr lang="en-US" sz="3200" i="1" dirty="0">
                <a:solidFill>
                  <a:srgbClr val="1B2333"/>
                </a:solidFill>
                <a:latin typeface="Calibri" pitchFamily="34" charset="0"/>
                <a:ea typeface="Calibri" pitchFamily="34" charset="-122"/>
                <a:cs typeface="Calibri" pitchFamily="34" charset="-120"/>
              </a:rPr>
              <a:t>de sleutel</a:t>
            </a:r>
            <a:endParaRPr lang="en-US" sz="3200" dirty="0"/>
          </a:p>
        </p:txBody>
      </p:sp>
      <p:sp>
        <p:nvSpPr>
          <p:cNvPr id="9" name="Text 6"/>
          <p:cNvSpPr txBox="1"/>
          <p:nvPr/>
        </p:nvSpPr>
        <p:spPr>
          <a:xfrm>
            <a:off x="8280502" y="1874520"/>
            <a:ext cx="1151331" cy="640080"/>
          </a:xfrm>
          <a:prstGeom prst="rect">
            <a:avLst/>
          </a:prstGeom>
          <a:noFill/>
          <a:ln/>
        </p:spPr>
        <p:txBody>
          <a:bodyPr wrap="square" lIns="0" tIns="0" rIns="0" bIns="0" rtlCol="0" anchor="ctr"/>
          <a:lstStyle/>
          <a:p>
            <a:pPr algn="ctr" indent="0" marL="0">
              <a:buNone/>
            </a:pPr>
            <a:r>
              <a:rPr lang="en-US" sz="3200" b="1" i="1" dirty="0">
                <a:solidFill>
                  <a:srgbClr val="B83227"/>
                </a:solidFill>
                <a:latin typeface="Calibri" pitchFamily="34" charset="0"/>
                <a:ea typeface="Calibri" pitchFamily="34" charset="-122"/>
                <a:cs typeface="Calibri" pitchFamily="34" charset="-120"/>
              </a:rPr>
              <a:t>heeft.</a:t>
            </a:r>
            <a:endParaRPr lang="en-US" sz="3200" dirty="0"/>
          </a:p>
        </p:txBody>
      </p:sp>
      <p:sp>
        <p:nvSpPr>
          <p:cNvPr id="10" name="Shape 7"/>
          <p:cNvSpPr/>
          <p:nvPr/>
        </p:nvSpPr>
        <p:spPr>
          <a:xfrm>
            <a:off x="4109212" y="2478024"/>
            <a:ext cx="1700784" cy="914"/>
          </a:xfrm>
          <a:prstGeom prst="line">
            <a:avLst/>
          </a:prstGeom>
          <a:noFill/>
          <a:ln w="31750">
            <a:solidFill>
              <a:srgbClr val="17375E"/>
            </a:solidFill>
            <a:prstDash val="solid"/>
          </a:ln>
        </p:spPr>
      </p:sp>
      <p:sp>
        <p:nvSpPr>
          <p:cNvPr id="11" name="Shape 8"/>
          <p:cNvSpPr/>
          <p:nvPr/>
        </p:nvSpPr>
        <p:spPr>
          <a:xfrm>
            <a:off x="4959604" y="1645920"/>
            <a:ext cx="1249477" cy="640080"/>
          </a:xfrm>
          <a:prstGeom prst="arc">
            <a:avLst>
              <a:gd name="adj1" fmla="val 10800000"/>
              <a:gd name="adj2" fmla="val 21600000"/>
            </a:avLst>
          </a:prstGeom>
          <a:solidFill>
            <a:srgbClr val="FFFFFF">
              <a:alpha val="0"/>
            </a:srgbClr>
          </a:solidFill>
          <a:ln w="28575">
            <a:solidFill>
              <a:srgbClr val="17375E"/>
            </a:solidFill>
            <a:prstDash val="solid"/>
            <a:headEnd type="triangle"/>
          </a:ln>
        </p:spPr>
      </p:sp>
      <p:sp>
        <p:nvSpPr>
          <p:cNvPr id="12" name="Text 9"/>
          <p:cNvSpPr txBox="1"/>
          <p:nvPr/>
        </p:nvSpPr>
        <p:spPr>
          <a:xfrm>
            <a:off x="4959604" y="1417320"/>
            <a:ext cx="1249477" cy="274320"/>
          </a:xfrm>
          <a:prstGeom prst="rect">
            <a:avLst/>
          </a:prstGeom>
          <a:noFill/>
          <a:ln/>
        </p:spPr>
        <p:txBody>
          <a:bodyPr wrap="square" lIns="0" tIns="0" rIns="0" bIns="0" rtlCol="0" anchor="ctr"/>
          <a:lstStyle/>
          <a:p>
            <a:pPr algn="ctr" indent="0" marL="0">
              <a:buNone/>
            </a:pPr>
            <a:r>
              <a:rPr lang="en-US" sz="1200" i="1" dirty="0">
                <a:solidFill>
                  <a:srgbClr val="6B7686"/>
                </a:solidFill>
                <a:latin typeface="Calibri" pitchFamily="34" charset="0"/>
                <a:ea typeface="Calibri" pitchFamily="34" charset="-122"/>
                <a:cs typeface="Calibri" pitchFamily="34" charset="-120"/>
              </a:rPr>
              <a:t>renvoie à</a:t>
            </a:r>
            <a:endParaRPr lang="en-US" sz="1200" dirty="0"/>
          </a:p>
        </p:txBody>
      </p:sp>
      <p:sp>
        <p:nvSpPr>
          <p:cNvPr id="13" name="Text 10"/>
          <p:cNvSpPr txBox="1"/>
          <p:nvPr/>
        </p:nvSpPr>
        <p:spPr>
          <a:xfrm>
            <a:off x="3770884" y="2606040"/>
            <a:ext cx="2377440" cy="256032"/>
          </a:xfrm>
          <a:prstGeom prst="rect">
            <a:avLst/>
          </a:prstGeom>
          <a:noFill/>
          <a:ln/>
        </p:spPr>
        <p:txBody>
          <a:bodyPr wrap="square" lIns="0" tIns="0" rIns="0" bIns="0" rtlCol="0" anchor="ctr"/>
          <a:lstStyle/>
          <a:p>
            <a:pPr algn="ctr" indent="0" marL="0">
              <a:buNone/>
            </a:pPr>
            <a:r>
              <a:rPr lang="en-US" sz="1050" b="1" spc="150" kern="0" dirty="0">
                <a:solidFill>
                  <a:srgbClr val="17375E"/>
                </a:solidFill>
                <a:latin typeface="Calibri" pitchFamily="34" charset="0"/>
                <a:ea typeface="Calibri" pitchFamily="34" charset="-122"/>
                <a:cs typeface="Calibri" pitchFamily="34" charset="-120"/>
              </a:rPr>
              <a:t>L’ANTÉCÉDENT</a:t>
            </a:r>
            <a:endParaRPr lang="en-US" sz="1050" dirty="0"/>
          </a:p>
        </p:txBody>
      </p:sp>
      <p:sp>
        <p:nvSpPr>
          <p:cNvPr id="14" name="Text 11"/>
          <p:cNvSpPr txBox="1"/>
          <p:nvPr/>
        </p:nvSpPr>
        <p:spPr>
          <a:xfrm>
            <a:off x="5294681" y="2606040"/>
            <a:ext cx="1828800" cy="256032"/>
          </a:xfrm>
          <a:prstGeom prst="rect">
            <a:avLst/>
          </a:prstGeom>
          <a:noFill/>
          <a:ln/>
        </p:spPr>
        <p:txBody>
          <a:bodyPr wrap="square" lIns="0" tIns="0" rIns="0" bIns="0" rtlCol="0" anchor="ctr"/>
          <a:lstStyle/>
          <a:p>
            <a:pPr algn="ctr" indent="0" marL="0">
              <a:buNone/>
            </a:pPr>
            <a:r>
              <a:rPr lang="en-US" sz="1050" b="1" spc="150" kern="0" dirty="0">
                <a:solidFill>
                  <a:srgbClr val="17375E"/>
                </a:solidFill>
                <a:latin typeface="Calibri" pitchFamily="34" charset="0"/>
                <a:ea typeface="Calibri" pitchFamily="34" charset="-122"/>
                <a:cs typeface="Calibri" pitchFamily="34" charset="-120"/>
              </a:rPr>
              <a:t>LE RELATIF</a:t>
            </a:r>
            <a:endParaRPr lang="en-US" sz="1050" dirty="0"/>
          </a:p>
        </p:txBody>
      </p:sp>
      <p:sp>
        <p:nvSpPr>
          <p:cNvPr id="15" name="Text 12"/>
          <p:cNvSpPr txBox="1"/>
          <p:nvPr/>
        </p:nvSpPr>
        <p:spPr>
          <a:xfrm>
            <a:off x="7667447" y="2606040"/>
            <a:ext cx="2377440" cy="256032"/>
          </a:xfrm>
          <a:prstGeom prst="rect">
            <a:avLst/>
          </a:prstGeom>
          <a:noFill/>
          <a:ln/>
        </p:spPr>
        <p:txBody>
          <a:bodyPr wrap="square" lIns="0" tIns="0" rIns="0" bIns="0" rtlCol="0" anchor="ctr"/>
          <a:lstStyle/>
          <a:p>
            <a:pPr algn="ctr" indent="0" marL="0">
              <a:buNone/>
            </a:pPr>
            <a:r>
              <a:rPr lang="en-US" sz="1050" b="1" spc="150" kern="0" dirty="0">
                <a:solidFill>
                  <a:srgbClr val="B83227"/>
                </a:solidFill>
                <a:latin typeface="Calibri" pitchFamily="34" charset="0"/>
                <a:ea typeface="Calibri" pitchFamily="34" charset="-122"/>
                <a:cs typeface="Calibri" pitchFamily="34" charset="-120"/>
              </a:rPr>
              <a:t>LE VERBE À LA FIN</a:t>
            </a:r>
            <a:endParaRPr lang="en-US" sz="1050" dirty="0"/>
          </a:p>
        </p:txBody>
      </p:sp>
      <p:sp>
        <p:nvSpPr>
          <p:cNvPr id="16" name="Shape 13"/>
          <p:cNvSpPr/>
          <p:nvPr/>
        </p:nvSpPr>
        <p:spPr>
          <a:xfrm>
            <a:off x="5947766" y="3035808"/>
            <a:ext cx="3410915" cy="914"/>
          </a:xfrm>
          <a:prstGeom prst="line">
            <a:avLst/>
          </a:prstGeom>
          <a:noFill/>
          <a:ln w="19050">
            <a:solidFill>
              <a:srgbClr val="6B7686"/>
            </a:solidFill>
            <a:prstDash val="solid"/>
          </a:ln>
        </p:spPr>
      </p:sp>
      <p:sp>
        <p:nvSpPr>
          <p:cNvPr id="17" name="Shape 14"/>
          <p:cNvSpPr/>
          <p:nvPr/>
        </p:nvSpPr>
        <p:spPr>
          <a:xfrm flipV="1">
            <a:off x="5947766" y="2926080"/>
            <a:ext cx="914" cy="109728"/>
          </a:xfrm>
          <a:prstGeom prst="line">
            <a:avLst/>
          </a:prstGeom>
          <a:noFill/>
          <a:ln w="19050">
            <a:solidFill>
              <a:srgbClr val="6B7686"/>
            </a:solidFill>
            <a:prstDash val="solid"/>
          </a:ln>
        </p:spPr>
      </p:sp>
      <p:sp>
        <p:nvSpPr>
          <p:cNvPr id="18" name="Shape 15"/>
          <p:cNvSpPr/>
          <p:nvPr/>
        </p:nvSpPr>
        <p:spPr>
          <a:xfrm flipV="1">
            <a:off x="9358681" y="2926080"/>
            <a:ext cx="914" cy="109728"/>
          </a:xfrm>
          <a:prstGeom prst="line">
            <a:avLst/>
          </a:prstGeom>
          <a:noFill/>
          <a:ln w="19050">
            <a:solidFill>
              <a:srgbClr val="6B7686"/>
            </a:solidFill>
            <a:prstDash val="solid"/>
          </a:ln>
        </p:spPr>
      </p:sp>
      <p:sp>
        <p:nvSpPr>
          <p:cNvPr id="19" name="Text 16"/>
          <p:cNvSpPr txBox="1"/>
          <p:nvPr/>
        </p:nvSpPr>
        <p:spPr>
          <a:xfrm>
            <a:off x="5490566" y="3072384"/>
            <a:ext cx="4325315" cy="292608"/>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la relative : une subordonnée, le « wagon » du M9</a:t>
            </a:r>
            <a:endParaRPr lang="en-US" sz="1300" dirty="0"/>
          </a:p>
        </p:txBody>
      </p:sp>
      <p:sp>
        <p:nvSpPr>
          <p:cNvPr id="20" name="Shape 17"/>
          <p:cNvSpPr/>
          <p:nvPr/>
        </p:nvSpPr>
        <p:spPr>
          <a:xfrm>
            <a:off x="4310691" y="3611880"/>
            <a:ext cx="3567570" cy="566928"/>
          </a:xfrm>
          <a:prstGeom prst="roundRect">
            <a:avLst>
              <a:gd name="adj" fmla="val 50000"/>
            </a:avLst>
          </a:prstGeom>
          <a:solidFill>
            <a:srgbClr val="EEF2F7"/>
          </a:solidFill>
          <a:ln w="12700">
            <a:solidFill>
              <a:srgbClr val="FFFFFF">
                <a:alpha val="0"/>
              </a:srgbClr>
            </a:solidFill>
            <a:prstDash val="solid"/>
          </a:ln>
        </p:spPr>
      </p:sp>
      <p:sp>
        <p:nvSpPr>
          <p:cNvPr id="21" name="Text 18"/>
          <p:cNvSpPr txBox="1"/>
          <p:nvPr/>
        </p:nvSpPr>
        <p:spPr>
          <a:xfrm>
            <a:off x="4310691" y="3611880"/>
            <a:ext cx="3567570" cy="566928"/>
          </a:xfrm>
          <a:prstGeom prst="rect">
            <a:avLst/>
          </a:prstGeom>
          <a:noFill/>
          <a:ln/>
        </p:spPr>
        <p:txBody>
          <a:bodyPr wrap="square" lIns="0" tIns="0" rIns="0" bIns="0" rtlCol="0" anchor="ctr"/>
          <a:lstStyle/>
          <a:p>
            <a:pPr algn="ctr" indent="0" marL="0">
              <a:buNone/>
            </a:pPr>
            <a:r>
              <a:rPr lang="en-US" sz="2100" b="1" dirty="0">
                <a:solidFill>
                  <a:srgbClr val="17375E"/>
                </a:solidFill>
                <a:latin typeface="Calibri" pitchFamily="34" charset="0"/>
                <a:ea typeface="Calibri" pitchFamily="34" charset="-122"/>
                <a:cs typeface="Calibri" pitchFamily="34" charset="-120"/>
              </a:rPr>
              <a:t>nom ← </a:t>
            </a:r>
            <a:r>
              <a:rPr lang="en-US" sz="2100" b="1" dirty="0">
                <a:solidFill>
                  <a:srgbClr val="17375E"/>
                </a:solidFill>
                <a:latin typeface="Calibri" pitchFamily="34" charset="0"/>
                <a:ea typeface="Calibri" pitchFamily="34" charset="-122"/>
                <a:cs typeface="Calibri" pitchFamily="34" charset="-120"/>
              </a:rPr>
              <a:t>relatif</a:t>
            </a:r>
            <a:r>
              <a:rPr lang="en-US" sz="2100" b="1" dirty="0">
                <a:solidFill>
                  <a:srgbClr val="17375E"/>
                </a:solidFill>
                <a:latin typeface="Calibri" pitchFamily="34" charset="0"/>
                <a:ea typeface="Calibri" pitchFamily="34" charset="-122"/>
                <a:cs typeface="Calibri" pitchFamily="34" charset="-120"/>
              </a:rPr>
              <a:t> + … + </a:t>
            </a:r>
            <a:r>
              <a:rPr lang="en-US" sz="2100" b="1" dirty="0">
                <a:solidFill>
                  <a:srgbClr val="B83227"/>
                </a:solidFill>
                <a:latin typeface="Calibri" pitchFamily="34" charset="0"/>
                <a:ea typeface="Calibri" pitchFamily="34" charset="-122"/>
                <a:cs typeface="Calibri" pitchFamily="34" charset="-120"/>
              </a:rPr>
              <a:t>verbe</a:t>
            </a:r>
            <a:endParaRPr lang="en-US" sz="2100" dirty="0"/>
          </a:p>
        </p:txBody>
      </p:sp>
      <p:sp>
        <p:nvSpPr>
          <p:cNvPr id="22" name="Shape 19"/>
          <p:cNvSpPr/>
          <p:nvPr/>
        </p:nvSpPr>
        <p:spPr>
          <a:xfrm>
            <a:off x="822960" y="4617720"/>
            <a:ext cx="5138928" cy="914400"/>
          </a:xfrm>
          <a:prstGeom prst="roundRect">
            <a:avLst>
              <a:gd name="adj" fmla="val 10000"/>
            </a:avLst>
          </a:prstGeom>
          <a:solidFill>
            <a:srgbClr val="E8F4EC"/>
          </a:solidFill>
          <a:ln w="12700">
            <a:solidFill>
              <a:srgbClr val="FFFFFF">
                <a:alpha val="0"/>
              </a:srgbClr>
            </a:solidFill>
            <a:prstDash val="solid"/>
          </a:ln>
        </p:spPr>
      </p:sp>
      <p:sp>
        <p:nvSpPr>
          <p:cNvPr id="23" name="Shape 20"/>
          <p:cNvSpPr/>
          <p:nvPr/>
        </p:nvSpPr>
        <p:spPr>
          <a:xfrm>
            <a:off x="996696" y="4791456"/>
            <a:ext cx="310896" cy="310896"/>
          </a:xfrm>
          <a:prstGeom prst="ellipse">
            <a:avLst/>
          </a:prstGeom>
          <a:solidFill>
            <a:srgbClr val="2E7D4F"/>
          </a:solidFill>
          <a:ln w="12700">
            <a:solidFill>
              <a:srgbClr val="FFFFFF">
                <a:alpha val="0"/>
              </a:srgbClr>
            </a:solidFill>
            <a:prstDash val="solid"/>
          </a:ln>
        </p:spPr>
      </p:sp>
      <p:sp>
        <p:nvSpPr>
          <p:cNvPr id="24" name="Text 21"/>
          <p:cNvSpPr txBox="1"/>
          <p:nvPr/>
        </p:nvSpPr>
        <p:spPr>
          <a:xfrm>
            <a:off x="996696"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2"/>
          <p:cNvSpPr txBox="1"/>
          <p:nvPr/>
        </p:nvSpPr>
        <p:spPr>
          <a:xfrm>
            <a:off x="1444752" y="472744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26" name="Text 23"/>
          <p:cNvSpPr txBox="1"/>
          <p:nvPr/>
        </p:nvSpPr>
        <p:spPr>
          <a:xfrm>
            <a:off x="1444752" y="502005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la relative est une subordonnée : le verbe conjugué va </a:t>
            </a:r>
            <a:r>
              <a:rPr lang="en-US" sz="1400" b="1" dirty="0">
                <a:solidFill>
                  <a:srgbClr val="1B2333"/>
                </a:solidFill>
                <a:latin typeface="Calibri" pitchFamily="34" charset="0"/>
                <a:ea typeface="Calibri" pitchFamily="34" charset="-122"/>
                <a:cs typeface="Calibri" pitchFamily="34" charset="-120"/>
              </a:rPr>
              <a:t>à la fin</a:t>
            </a:r>
            <a:endParaRPr lang="en-US" sz="1400" dirty="0"/>
          </a:p>
        </p:txBody>
      </p:sp>
      <p:sp>
        <p:nvSpPr>
          <p:cNvPr id="27" name="Shape 24"/>
          <p:cNvSpPr/>
          <p:nvPr/>
        </p:nvSpPr>
        <p:spPr>
          <a:xfrm>
            <a:off x="6236208" y="4617720"/>
            <a:ext cx="5138928" cy="914400"/>
          </a:xfrm>
          <a:prstGeom prst="roundRect">
            <a:avLst>
              <a:gd name="adj" fmla="val 10000"/>
            </a:avLst>
          </a:prstGeom>
          <a:solidFill>
            <a:srgbClr val="FBEDEB"/>
          </a:solidFill>
          <a:ln w="12700">
            <a:solidFill>
              <a:srgbClr val="FFFFFF">
                <a:alpha val="0"/>
              </a:srgbClr>
            </a:solidFill>
            <a:prstDash val="solid"/>
          </a:ln>
        </p:spPr>
      </p:sp>
      <p:sp>
        <p:nvSpPr>
          <p:cNvPr id="28" name="Shape 25"/>
          <p:cNvSpPr/>
          <p:nvPr/>
        </p:nvSpPr>
        <p:spPr>
          <a:xfrm>
            <a:off x="6409944" y="4791456"/>
            <a:ext cx="310896" cy="310896"/>
          </a:xfrm>
          <a:prstGeom prst="ellipse">
            <a:avLst/>
          </a:prstGeom>
          <a:solidFill>
            <a:srgbClr val="B83227"/>
          </a:solidFill>
          <a:ln w="12700">
            <a:solidFill>
              <a:srgbClr val="FFFFFF">
                <a:alpha val="0"/>
              </a:srgbClr>
            </a:solidFill>
            <a:prstDash val="solid"/>
          </a:ln>
        </p:spPr>
      </p:sp>
      <p:sp>
        <p:nvSpPr>
          <p:cNvPr id="29" name="Text 26"/>
          <p:cNvSpPr txBox="1"/>
          <p:nvPr/>
        </p:nvSpPr>
        <p:spPr>
          <a:xfrm>
            <a:off x="6409944"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6858000" y="472744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Jamais sans relatif</a:t>
            </a:r>
            <a:endParaRPr lang="en-US" sz="1300" dirty="0"/>
          </a:p>
        </p:txBody>
      </p:sp>
      <p:sp>
        <p:nvSpPr>
          <p:cNvPr id="31" name="Text 28"/>
          <p:cNvSpPr txBox="1"/>
          <p:nvPr/>
        </p:nvSpPr>
        <p:spPr>
          <a:xfrm>
            <a:off x="6858000" y="5020056"/>
            <a:ext cx="4361688" cy="438912"/>
          </a:xfrm>
          <a:prstGeom prst="rect">
            <a:avLst/>
          </a:prstGeom>
          <a:noFill/>
          <a:ln/>
        </p:spPr>
        <p:txBody>
          <a:bodyPr wrap="square" lIns="0" tIns="0" rIns="0" bIns="0" rtlCol="0" anchor="t"/>
          <a:lstStyle/>
          <a:p>
            <a:pPr algn="l" indent="0" marL="0">
              <a:spcAft>
                <a:spcPts val="200"/>
              </a:spcAft>
              <a:buNone/>
            </a:pPr>
            <a:r>
              <a:rPr lang="en-US" sz="1400" i="1" strike="sngStrike" dirty="0">
                <a:solidFill>
                  <a:srgbClr val="B5473C"/>
                </a:solidFill>
                <a:latin typeface="Calibri" pitchFamily="34" charset="0"/>
                <a:ea typeface="Calibri" pitchFamily="34" charset="-122"/>
                <a:cs typeface="Calibri" pitchFamily="34" charset="-120"/>
              </a:rPr>
              <a:t>de collega ik zoek</a:t>
            </a:r>
            <a:r>
              <a:rPr lang="en-US" sz="1400" dirty="0">
                <a:solidFill>
                  <a:srgbClr val="1B2333"/>
                </a:solidFill>
                <a:latin typeface="Calibri" pitchFamily="34" charset="0"/>
                <a:ea typeface="Calibri" pitchFamily="34" charset="-122"/>
                <a:cs typeface="Calibri" pitchFamily="34" charset="-120"/>
              </a:rPr>
              <a:t> (anglais) → </a:t>
            </a:r>
            <a:r>
              <a:rPr lang="en-US" sz="1400" i="1" dirty="0">
                <a:solidFill>
                  <a:srgbClr val="1B2333"/>
                </a:solidFill>
                <a:latin typeface="Calibri" pitchFamily="34" charset="0"/>
                <a:ea typeface="Calibri" pitchFamily="34" charset="-122"/>
                <a:cs typeface="Calibri" pitchFamily="34" charset="-120"/>
              </a:rPr>
              <a:t>de collega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ik zoek</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L’aiguillage : die ou dat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DIE</a:t>
            </a:r>
            <a:r>
              <a:rPr lang="en-US" sz="1100" b="1" spc="300" kern="0" dirty="0">
                <a:solidFill>
                  <a:srgbClr val="17375E"/>
                </a:solidFill>
                <a:latin typeface="Calibri" pitchFamily="34" charset="0"/>
                <a:ea typeface="Calibri" pitchFamily="34" charset="-122"/>
                <a:cs typeface="Calibri" pitchFamily="34" charset="-120"/>
              </a:rPr>
              <a:t> · </a:t>
            </a:r>
            <a:r>
              <a:rPr lang="en-US" sz="1100" b="1" spc="300" kern="0" dirty="0">
                <a:solidFill>
                  <a:srgbClr val="D9700F"/>
                </a:solidFill>
                <a:latin typeface="Calibri" pitchFamily="34" charset="0"/>
                <a:ea typeface="Calibri" pitchFamily="34" charset="-122"/>
                <a:cs typeface="Calibri" pitchFamily="34" charset="-120"/>
              </a:rPr>
              <a:t>DAT</a:t>
            </a:r>
            <a:endParaRPr lang="en-US" sz="1100" dirty="0"/>
          </a:p>
        </p:txBody>
      </p:sp>
      <p:sp>
        <p:nvSpPr>
          <p:cNvPr id="5" name="Shape 2"/>
          <p:cNvSpPr/>
          <p:nvPr/>
        </p:nvSpPr>
        <p:spPr>
          <a:xfrm>
            <a:off x="868680" y="1600200"/>
            <a:ext cx="2103120" cy="548640"/>
          </a:xfrm>
          <a:prstGeom prst="roundRect">
            <a:avLst>
              <a:gd name="adj" fmla="val 50000"/>
            </a:avLst>
          </a:prstGeom>
          <a:solidFill>
            <a:srgbClr val="E6ECF3"/>
          </a:solidFill>
          <a:ln w="12700">
            <a:solidFill>
              <a:srgbClr val="FFFFFF">
                <a:alpha val="0"/>
              </a:srgbClr>
            </a:solidFill>
            <a:prstDash val="solid"/>
          </a:ln>
        </p:spPr>
      </p:sp>
      <p:sp>
        <p:nvSpPr>
          <p:cNvPr id="6" name="Text 3"/>
          <p:cNvSpPr txBox="1"/>
          <p:nvPr/>
        </p:nvSpPr>
        <p:spPr>
          <a:xfrm>
            <a:off x="868680" y="1600200"/>
            <a:ext cx="2103120" cy="548640"/>
          </a:xfrm>
          <a:prstGeom prst="rect">
            <a:avLst/>
          </a:prstGeom>
          <a:noFill/>
          <a:ln/>
        </p:spPr>
        <p:txBody>
          <a:bodyPr wrap="square" lIns="0" tIns="0" rIns="0" bIns="0" rtlCol="0" anchor="ctr"/>
          <a:lstStyle/>
          <a:p>
            <a:pPr algn="ctr" indent="0" marL="0">
              <a:buNone/>
            </a:pPr>
            <a:r>
              <a:rPr lang="en-US" sz="1800" b="1" dirty="0">
                <a:solidFill>
                  <a:srgbClr val="17375E"/>
                </a:solidFill>
                <a:latin typeface="Calibri" pitchFamily="34" charset="0"/>
                <a:ea typeface="Calibri" pitchFamily="34" charset="-122"/>
                <a:cs typeface="Calibri" pitchFamily="34" charset="-120"/>
              </a:rPr>
              <a:t>mot </a:t>
            </a:r>
            <a:r>
              <a:rPr lang="en-US" sz="1800" b="1" i="1" dirty="0">
                <a:solidFill>
                  <a:srgbClr val="17375E"/>
                </a:solidFill>
                <a:latin typeface="Calibri" pitchFamily="34" charset="0"/>
                <a:ea typeface="Calibri" pitchFamily="34" charset="-122"/>
                <a:cs typeface="Calibri" pitchFamily="34" charset="-120"/>
              </a:rPr>
              <a:t>de</a:t>
            </a:r>
            <a:endParaRPr lang="en-US" sz="1800" dirty="0"/>
          </a:p>
        </p:txBody>
      </p:sp>
      <p:sp>
        <p:nvSpPr>
          <p:cNvPr id="7" name="Shape 4"/>
          <p:cNvSpPr/>
          <p:nvPr/>
        </p:nvSpPr>
        <p:spPr>
          <a:xfrm>
            <a:off x="3017520" y="1874520"/>
            <a:ext cx="1188501" cy="224852"/>
          </a:xfrm>
          <a:prstGeom prst="line">
            <a:avLst/>
          </a:prstGeom>
          <a:noFill/>
          <a:ln w="44450">
            <a:solidFill>
              <a:srgbClr val="17375E"/>
            </a:solidFill>
            <a:prstDash val="solid"/>
            <a:tailEnd type="triangle"/>
          </a:ln>
        </p:spPr>
      </p:sp>
      <p:sp>
        <p:nvSpPr>
          <p:cNvPr id="8" name="Shape 5"/>
          <p:cNvSpPr/>
          <p:nvPr/>
        </p:nvSpPr>
        <p:spPr>
          <a:xfrm>
            <a:off x="868680" y="2514600"/>
            <a:ext cx="2103120" cy="548640"/>
          </a:xfrm>
          <a:prstGeom prst="roundRect">
            <a:avLst>
              <a:gd name="adj" fmla="val 50000"/>
            </a:avLst>
          </a:prstGeom>
          <a:solidFill>
            <a:srgbClr val="E6ECF3"/>
          </a:solidFill>
          <a:ln w="12700">
            <a:solidFill>
              <a:srgbClr val="FFFFFF">
                <a:alpha val="0"/>
              </a:srgbClr>
            </a:solidFill>
            <a:prstDash val="solid"/>
          </a:ln>
        </p:spPr>
      </p:sp>
      <p:sp>
        <p:nvSpPr>
          <p:cNvPr id="9" name="Text 6"/>
          <p:cNvSpPr txBox="1"/>
          <p:nvPr/>
        </p:nvSpPr>
        <p:spPr>
          <a:xfrm>
            <a:off x="868680" y="2514600"/>
            <a:ext cx="2103120" cy="548640"/>
          </a:xfrm>
          <a:prstGeom prst="rect">
            <a:avLst/>
          </a:prstGeom>
          <a:noFill/>
          <a:ln/>
        </p:spPr>
        <p:txBody>
          <a:bodyPr wrap="square" lIns="0" tIns="0" rIns="0" bIns="0" rtlCol="0" anchor="ctr"/>
          <a:lstStyle/>
          <a:p>
            <a:pPr algn="ctr" indent="0" marL="0">
              <a:buNone/>
            </a:pPr>
            <a:r>
              <a:rPr lang="en-US" sz="1800" b="1" dirty="0">
                <a:solidFill>
                  <a:srgbClr val="17375E"/>
                </a:solidFill>
                <a:latin typeface="Calibri" pitchFamily="34" charset="0"/>
                <a:ea typeface="Calibri" pitchFamily="34" charset="-122"/>
                <a:cs typeface="Calibri" pitchFamily="34" charset="-120"/>
              </a:rPr>
              <a:t>pluriel</a:t>
            </a:r>
            <a:endParaRPr lang="en-US" sz="1800" dirty="0"/>
          </a:p>
        </p:txBody>
      </p:sp>
      <p:sp>
        <p:nvSpPr>
          <p:cNvPr id="10" name="Shape 7"/>
          <p:cNvSpPr/>
          <p:nvPr/>
        </p:nvSpPr>
        <p:spPr>
          <a:xfrm flipV="1">
            <a:off x="3017520" y="2364302"/>
            <a:ext cx="1208528" cy="424618"/>
          </a:xfrm>
          <a:prstGeom prst="line">
            <a:avLst/>
          </a:prstGeom>
          <a:noFill/>
          <a:ln w="44450">
            <a:solidFill>
              <a:srgbClr val="17375E"/>
            </a:solidFill>
            <a:prstDash val="solid"/>
            <a:tailEnd type="triangle"/>
          </a:ln>
        </p:spPr>
      </p:sp>
      <p:sp>
        <p:nvSpPr>
          <p:cNvPr id="11" name="Shape 8"/>
          <p:cNvSpPr/>
          <p:nvPr/>
        </p:nvSpPr>
        <p:spPr>
          <a:xfrm>
            <a:off x="868680" y="3703320"/>
            <a:ext cx="2103120" cy="548640"/>
          </a:xfrm>
          <a:prstGeom prst="roundRect">
            <a:avLst>
              <a:gd name="adj" fmla="val 50000"/>
            </a:avLst>
          </a:prstGeom>
          <a:solidFill>
            <a:srgbClr val="FDF1E6"/>
          </a:solidFill>
          <a:ln w="12700">
            <a:solidFill>
              <a:srgbClr val="FFFFFF">
                <a:alpha val="0"/>
              </a:srgbClr>
            </a:solidFill>
            <a:prstDash val="solid"/>
          </a:ln>
        </p:spPr>
      </p:sp>
      <p:sp>
        <p:nvSpPr>
          <p:cNvPr id="12" name="Text 9"/>
          <p:cNvSpPr txBox="1"/>
          <p:nvPr/>
        </p:nvSpPr>
        <p:spPr>
          <a:xfrm>
            <a:off x="868680" y="3703320"/>
            <a:ext cx="2103120" cy="548640"/>
          </a:xfrm>
          <a:prstGeom prst="rect">
            <a:avLst/>
          </a:prstGeom>
          <a:noFill/>
          <a:ln/>
        </p:spPr>
        <p:txBody>
          <a:bodyPr wrap="square" lIns="0" tIns="0" rIns="0" bIns="0" rtlCol="0" anchor="ctr"/>
          <a:lstStyle/>
          <a:p>
            <a:pPr algn="ctr" indent="0" marL="0">
              <a:buNone/>
            </a:pPr>
            <a:r>
              <a:rPr lang="en-US" sz="1800" b="1" dirty="0">
                <a:solidFill>
                  <a:srgbClr val="D9700F"/>
                </a:solidFill>
                <a:latin typeface="Calibri" pitchFamily="34" charset="0"/>
                <a:ea typeface="Calibri" pitchFamily="34" charset="-122"/>
                <a:cs typeface="Calibri" pitchFamily="34" charset="-120"/>
              </a:rPr>
              <a:t>mot </a:t>
            </a:r>
            <a:r>
              <a:rPr lang="en-US" sz="1800" b="1" i="1" dirty="0">
                <a:solidFill>
                  <a:srgbClr val="D9700F"/>
                </a:solidFill>
                <a:latin typeface="Calibri" pitchFamily="34" charset="0"/>
                <a:ea typeface="Calibri" pitchFamily="34" charset="-122"/>
                <a:cs typeface="Calibri" pitchFamily="34" charset="-120"/>
              </a:rPr>
              <a:t>het</a:t>
            </a:r>
            <a:endParaRPr lang="en-US" sz="1800" dirty="0"/>
          </a:p>
        </p:txBody>
      </p:sp>
      <p:sp>
        <p:nvSpPr>
          <p:cNvPr id="13" name="Shape 10"/>
          <p:cNvSpPr/>
          <p:nvPr/>
        </p:nvSpPr>
        <p:spPr>
          <a:xfrm>
            <a:off x="3017520" y="3977640"/>
            <a:ext cx="1179576" cy="914"/>
          </a:xfrm>
          <a:prstGeom prst="line">
            <a:avLst/>
          </a:prstGeom>
          <a:noFill/>
          <a:ln w="44450">
            <a:solidFill>
              <a:srgbClr val="D9700F"/>
            </a:solidFill>
            <a:prstDash val="solid"/>
            <a:tailEnd type="triangle"/>
          </a:ln>
        </p:spPr>
      </p:sp>
      <p:sp>
        <p:nvSpPr>
          <p:cNvPr id="14" name="Shape 11"/>
          <p:cNvSpPr/>
          <p:nvPr/>
        </p:nvSpPr>
        <p:spPr>
          <a:xfrm>
            <a:off x="4251960" y="1737360"/>
            <a:ext cx="914400" cy="914400"/>
          </a:xfrm>
          <a:prstGeom prst="ellipse">
            <a:avLst/>
          </a:prstGeom>
          <a:solidFill>
            <a:srgbClr val="17375E"/>
          </a:solidFill>
          <a:ln w="12700">
            <a:solidFill>
              <a:srgbClr val="FFFFFF">
                <a:alpha val="0"/>
              </a:srgbClr>
            </a:solidFill>
            <a:prstDash val="solid"/>
          </a:ln>
        </p:spPr>
      </p:sp>
      <p:sp>
        <p:nvSpPr>
          <p:cNvPr id="15" name="Text 12"/>
          <p:cNvSpPr txBox="1"/>
          <p:nvPr/>
        </p:nvSpPr>
        <p:spPr>
          <a:xfrm>
            <a:off x="4251960" y="1965960"/>
            <a:ext cx="9144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die</a:t>
            </a:r>
            <a:endParaRPr lang="en-US" sz="2000" dirty="0"/>
          </a:p>
        </p:txBody>
      </p:sp>
      <p:sp>
        <p:nvSpPr>
          <p:cNvPr id="16" name="Shape 13"/>
          <p:cNvSpPr/>
          <p:nvPr/>
        </p:nvSpPr>
        <p:spPr>
          <a:xfrm>
            <a:off x="4251960" y="3520440"/>
            <a:ext cx="914400" cy="914400"/>
          </a:xfrm>
          <a:prstGeom prst="ellipse">
            <a:avLst/>
          </a:prstGeom>
          <a:solidFill>
            <a:srgbClr val="D9700F"/>
          </a:solidFill>
          <a:ln w="12700">
            <a:solidFill>
              <a:srgbClr val="FFFFFF">
                <a:alpha val="0"/>
              </a:srgbClr>
            </a:solidFill>
            <a:prstDash val="solid"/>
          </a:ln>
        </p:spPr>
      </p:sp>
      <p:sp>
        <p:nvSpPr>
          <p:cNvPr id="17" name="Text 14"/>
          <p:cNvSpPr txBox="1"/>
          <p:nvPr/>
        </p:nvSpPr>
        <p:spPr>
          <a:xfrm>
            <a:off x="4251960" y="3749040"/>
            <a:ext cx="9144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dat</a:t>
            </a:r>
            <a:endParaRPr lang="en-US" sz="2000" dirty="0"/>
          </a:p>
        </p:txBody>
      </p:sp>
      <p:sp>
        <p:nvSpPr>
          <p:cNvPr id="18" name="Shape 15"/>
          <p:cNvSpPr/>
          <p:nvPr/>
        </p:nvSpPr>
        <p:spPr>
          <a:xfrm>
            <a:off x="5257800" y="1874520"/>
            <a:ext cx="548640" cy="914"/>
          </a:xfrm>
          <a:prstGeom prst="line">
            <a:avLst/>
          </a:prstGeom>
          <a:noFill/>
          <a:ln w="15875">
            <a:solidFill>
              <a:srgbClr val="DDE3EA"/>
            </a:solidFill>
            <a:prstDash val="solid"/>
          </a:ln>
        </p:spPr>
      </p:sp>
      <p:sp>
        <p:nvSpPr>
          <p:cNvPr id="19" name="Text 16"/>
          <p:cNvSpPr txBox="1"/>
          <p:nvPr/>
        </p:nvSpPr>
        <p:spPr>
          <a:xfrm>
            <a:off x="5916168" y="1600200"/>
            <a:ext cx="1087882" cy="548640"/>
          </a:xfrm>
          <a:prstGeom prst="rect">
            <a:avLst/>
          </a:prstGeom>
          <a:noFill/>
          <a:ln/>
        </p:spPr>
        <p:txBody>
          <a:bodyPr wrap="square" lIns="0" tIns="0" rIns="0" bIns="0" rtlCol="0" anchor="ctr"/>
          <a:lstStyle/>
          <a:p>
            <a:pPr algn="ctr" indent="0" marL="0">
              <a:buNone/>
            </a:pPr>
            <a:r>
              <a:rPr lang="en-US" sz="2200" b="1" i="1" dirty="0">
                <a:solidFill>
                  <a:srgbClr val="17375E"/>
                </a:solidFill>
                <a:latin typeface="Calibri" pitchFamily="34" charset="0"/>
                <a:ea typeface="Calibri" pitchFamily="34" charset="-122"/>
                <a:cs typeface="Calibri" pitchFamily="34" charset="-120"/>
              </a:rPr>
              <a:t>de klant</a:t>
            </a:r>
            <a:endParaRPr lang="en-US" sz="2200" dirty="0"/>
          </a:p>
        </p:txBody>
      </p:sp>
      <p:sp>
        <p:nvSpPr>
          <p:cNvPr id="20" name="Text 17"/>
          <p:cNvSpPr txBox="1"/>
          <p:nvPr/>
        </p:nvSpPr>
        <p:spPr>
          <a:xfrm>
            <a:off x="6952463" y="1600200"/>
            <a:ext cx="505612" cy="548640"/>
          </a:xfrm>
          <a:prstGeom prst="rect">
            <a:avLst/>
          </a:prstGeom>
          <a:noFill/>
          <a:ln/>
        </p:spPr>
        <p:txBody>
          <a:bodyPr wrap="square" lIns="0" tIns="0" rIns="0" bIns="0" rtlCol="0" anchor="ctr"/>
          <a:lstStyle/>
          <a:p>
            <a:pPr algn="ctr" indent="0" marL="0">
              <a:buNone/>
            </a:pPr>
            <a:r>
              <a:rPr lang="en-US" sz="2200" b="1" i="1" dirty="0">
                <a:solidFill>
                  <a:srgbClr val="17375E"/>
                </a:solidFill>
                <a:latin typeface="Calibri" pitchFamily="34" charset="0"/>
                <a:ea typeface="Calibri" pitchFamily="34" charset="-122"/>
                <a:cs typeface="Calibri" pitchFamily="34" charset="-120"/>
              </a:rPr>
              <a:t>die</a:t>
            </a:r>
            <a:endParaRPr lang="en-US" sz="2200" dirty="0"/>
          </a:p>
        </p:txBody>
      </p:sp>
      <p:sp>
        <p:nvSpPr>
          <p:cNvPr id="21" name="Text 18"/>
          <p:cNvSpPr txBox="1"/>
          <p:nvPr/>
        </p:nvSpPr>
        <p:spPr>
          <a:xfrm>
            <a:off x="7406488" y="1600200"/>
            <a:ext cx="589991" cy="548640"/>
          </a:xfrm>
          <a:prstGeom prst="rect">
            <a:avLst/>
          </a:prstGeom>
          <a:noFill/>
          <a:ln/>
        </p:spPr>
        <p:txBody>
          <a:bodyPr wrap="square" lIns="0" tIns="0" rIns="0" bIns="0" rtlCol="0" anchor="ctr"/>
          <a:lstStyle/>
          <a:p>
            <a:pPr algn="ctr" indent="0" marL="0">
              <a:buNone/>
            </a:pPr>
            <a:r>
              <a:rPr lang="en-US" sz="2200" i="1" dirty="0">
                <a:solidFill>
                  <a:srgbClr val="1B2333"/>
                </a:solidFill>
                <a:latin typeface="Calibri" pitchFamily="34" charset="0"/>
                <a:ea typeface="Calibri" pitchFamily="34" charset="-122"/>
                <a:cs typeface="Calibri" pitchFamily="34" charset="-120"/>
              </a:rPr>
              <a:t>belt</a:t>
            </a:r>
            <a:endParaRPr lang="en-US" sz="2200" dirty="0"/>
          </a:p>
        </p:txBody>
      </p:sp>
      <p:sp>
        <p:nvSpPr>
          <p:cNvPr id="22" name="Shape 19"/>
          <p:cNvSpPr/>
          <p:nvPr/>
        </p:nvSpPr>
        <p:spPr>
          <a:xfrm>
            <a:off x="5989320" y="2112264"/>
            <a:ext cx="941578" cy="914"/>
          </a:xfrm>
          <a:prstGeom prst="line">
            <a:avLst/>
          </a:prstGeom>
          <a:noFill/>
          <a:ln w="28575">
            <a:solidFill>
              <a:srgbClr val="17375E"/>
            </a:solidFill>
            <a:prstDash val="solid"/>
          </a:ln>
        </p:spPr>
      </p:sp>
      <p:sp>
        <p:nvSpPr>
          <p:cNvPr id="23" name="Shape 20"/>
          <p:cNvSpPr/>
          <p:nvPr/>
        </p:nvSpPr>
        <p:spPr>
          <a:xfrm>
            <a:off x="6460109" y="1371600"/>
            <a:ext cx="745160" cy="640080"/>
          </a:xfrm>
          <a:prstGeom prst="arc">
            <a:avLst>
              <a:gd name="adj1" fmla="val 10800000"/>
              <a:gd name="adj2" fmla="val 21600000"/>
            </a:avLst>
          </a:prstGeom>
          <a:solidFill>
            <a:srgbClr val="FFFFFF">
              <a:alpha val="0"/>
            </a:srgbClr>
          </a:solidFill>
          <a:ln w="22225">
            <a:solidFill>
              <a:srgbClr val="17375E"/>
            </a:solidFill>
            <a:prstDash val="solid"/>
            <a:headEnd type="triangle"/>
          </a:ln>
        </p:spPr>
      </p:sp>
      <p:sp>
        <p:nvSpPr>
          <p:cNvPr id="24" name="Shape 21"/>
          <p:cNvSpPr/>
          <p:nvPr/>
        </p:nvSpPr>
        <p:spPr>
          <a:xfrm>
            <a:off x="5257800" y="2788920"/>
            <a:ext cx="548640" cy="914"/>
          </a:xfrm>
          <a:prstGeom prst="line">
            <a:avLst/>
          </a:prstGeom>
          <a:noFill/>
          <a:ln w="15875">
            <a:solidFill>
              <a:srgbClr val="DDE3EA"/>
            </a:solidFill>
            <a:prstDash val="solid"/>
          </a:ln>
        </p:spPr>
      </p:sp>
      <p:sp>
        <p:nvSpPr>
          <p:cNvPr id="25" name="Text 22"/>
          <p:cNvSpPr txBox="1"/>
          <p:nvPr/>
        </p:nvSpPr>
        <p:spPr>
          <a:xfrm>
            <a:off x="5916168" y="2514600"/>
            <a:ext cx="1674343" cy="548640"/>
          </a:xfrm>
          <a:prstGeom prst="rect">
            <a:avLst/>
          </a:prstGeom>
          <a:noFill/>
          <a:ln/>
        </p:spPr>
        <p:txBody>
          <a:bodyPr wrap="square" lIns="0" tIns="0" rIns="0" bIns="0" rtlCol="0" anchor="ctr"/>
          <a:lstStyle/>
          <a:p>
            <a:pPr algn="ctr" indent="0" marL="0">
              <a:buNone/>
            </a:pPr>
            <a:r>
              <a:rPr lang="en-US" sz="2200" b="1" i="1" dirty="0">
                <a:solidFill>
                  <a:srgbClr val="17375E"/>
                </a:solidFill>
                <a:latin typeface="Calibri" pitchFamily="34" charset="0"/>
                <a:ea typeface="Calibri" pitchFamily="34" charset="-122"/>
                <a:cs typeface="Calibri" pitchFamily="34" charset="-120"/>
              </a:rPr>
              <a:t>de rapporten</a:t>
            </a:r>
            <a:endParaRPr lang="en-US" sz="2200" dirty="0"/>
          </a:p>
        </p:txBody>
      </p:sp>
      <p:sp>
        <p:nvSpPr>
          <p:cNvPr id="26" name="Text 23"/>
          <p:cNvSpPr txBox="1"/>
          <p:nvPr/>
        </p:nvSpPr>
        <p:spPr>
          <a:xfrm>
            <a:off x="7538923" y="2514600"/>
            <a:ext cx="505612" cy="548640"/>
          </a:xfrm>
          <a:prstGeom prst="rect">
            <a:avLst/>
          </a:prstGeom>
          <a:noFill/>
          <a:ln/>
        </p:spPr>
        <p:txBody>
          <a:bodyPr wrap="square" lIns="0" tIns="0" rIns="0" bIns="0" rtlCol="0" anchor="ctr"/>
          <a:lstStyle/>
          <a:p>
            <a:pPr algn="ctr" indent="0" marL="0">
              <a:buNone/>
            </a:pPr>
            <a:r>
              <a:rPr lang="en-US" sz="2200" b="1" i="1" dirty="0">
                <a:solidFill>
                  <a:srgbClr val="17375E"/>
                </a:solidFill>
                <a:latin typeface="Calibri" pitchFamily="34" charset="0"/>
                <a:ea typeface="Calibri" pitchFamily="34" charset="-122"/>
                <a:cs typeface="Calibri" pitchFamily="34" charset="-120"/>
              </a:rPr>
              <a:t>die</a:t>
            </a:r>
            <a:endParaRPr lang="en-US" sz="2200" dirty="0"/>
          </a:p>
        </p:txBody>
      </p:sp>
      <p:sp>
        <p:nvSpPr>
          <p:cNvPr id="27" name="Text 24"/>
          <p:cNvSpPr txBox="1"/>
          <p:nvPr/>
        </p:nvSpPr>
        <p:spPr>
          <a:xfrm>
            <a:off x="7992948" y="2514600"/>
            <a:ext cx="1154100" cy="548640"/>
          </a:xfrm>
          <a:prstGeom prst="rect">
            <a:avLst/>
          </a:prstGeom>
          <a:noFill/>
          <a:ln/>
        </p:spPr>
        <p:txBody>
          <a:bodyPr wrap="square" lIns="0" tIns="0" rIns="0" bIns="0" rtlCol="0" anchor="ctr"/>
          <a:lstStyle/>
          <a:p>
            <a:pPr algn="ctr" indent="0" marL="0">
              <a:buNone/>
            </a:pPr>
            <a:r>
              <a:rPr lang="en-US" sz="2200" i="1" dirty="0">
                <a:solidFill>
                  <a:srgbClr val="1B2333"/>
                </a:solidFill>
                <a:latin typeface="Calibri" pitchFamily="34" charset="0"/>
                <a:ea typeface="Calibri" pitchFamily="34" charset="-122"/>
                <a:cs typeface="Calibri" pitchFamily="34" charset="-120"/>
              </a:rPr>
              <a:t>klaar zijn</a:t>
            </a:r>
            <a:endParaRPr lang="en-US" sz="2200" dirty="0"/>
          </a:p>
        </p:txBody>
      </p:sp>
      <p:sp>
        <p:nvSpPr>
          <p:cNvPr id="28" name="Shape 25"/>
          <p:cNvSpPr/>
          <p:nvPr/>
        </p:nvSpPr>
        <p:spPr>
          <a:xfrm>
            <a:off x="5989320" y="3026664"/>
            <a:ext cx="1528039" cy="914"/>
          </a:xfrm>
          <a:prstGeom prst="line">
            <a:avLst/>
          </a:prstGeom>
          <a:noFill/>
          <a:ln w="28575">
            <a:solidFill>
              <a:srgbClr val="17375E"/>
            </a:solidFill>
            <a:prstDash val="solid"/>
          </a:ln>
        </p:spPr>
      </p:sp>
      <p:sp>
        <p:nvSpPr>
          <p:cNvPr id="29" name="Shape 26"/>
          <p:cNvSpPr/>
          <p:nvPr/>
        </p:nvSpPr>
        <p:spPr>
          <a:xfrm>
            <a:off x="6753339" y="2286000"/>
            <a:ext cx="1038390" cy="640080"/>
          </a:xfrm>
          <a:prstGeom prst="arc">
            <a:avLst>
              <a:gd name="adj1" fmla="val 10800000"/>
              <a:gd name="adj2" fmla="val 21600000"/>
            </a:avLst>
          </a:prstGeom>
          <a:solidFill>
            <a:srgbClr val="FFFFFF">
              <a:alpha val="0"/>
            </a:srgbClr>
          </a:solidFill>
          <a:ln w="22225">
            <a:solidFill>
              <a:srgbClr val="17375E"/>
            </a:solidFill>
            <a:prstDash val="solid"/>
            <a:headEnd type="triangle"/>
          </a:ln>
        </p:spPr>
      </p:sp>
      <p:sp>
        <p:nvSpPr>
          <p:cNvPr id="30" name="Shape 27"/>
          <p:cNvSpPr/>
          <p:nvPr/>
        </p:nvSpPr>
        <p:spPr>
          <a:xfrm>
            <a:off x="5257800" y="3977640"/>
            <a:ext cx="548640" cy="914"/>
          </a:xfrm>
          <a:prstGeom prst="line">
            <a:avLst/>
          </a:prstGeom>
          <a:noFill/>
          <a:ln w="15875">
            <a:solidFill>
              <a:srgbClr val="DDE3EA"/>
            </a:solidFill>
            <a:prstDash val="solid"/>
          </a:ln>
        </p:spPr>
      </p:sp>
      <p:sp>
        <p:nvSpPr>
          <p:cNvPr id="31" name="Text 28"/>
          <p:cNvSpPr txBox="1"/>
          <p:nvPr/>
        </p:nvSpPr>
        <p:spPr>
          <a:xfrm>
            <a:off x="5916168" y="3703320"/>
            <a:ext cx="1480718" cy="548640"/>
          </a:xfrm>
          <a:prstGeom prst="rect">
            <a:avLst/>
          </a:prstGeom>
          <a:noFill/>
          <a:ln/>
        </p:spPr>
        <p:txBody>
          <a:bodyPr wrap="square" lIns="0" tIns="0" rIns="0" bIns="0" rtlCol="0" anchor="ctr"/>
          <a:lstStyle/>
          <a:p>
            <a:pPr algn="ctr" indent="0" marL="0">
              <a:buNone/>
            </a:pPr>
            <a:r>
              <a:rPr lang="en-US" sz="2200" b="1" i="1" dirty="0">
                <a:solidFill>
                  <a:srgbClr val="D9700F"/>
                </a:solidFill>
                <a:latin typeface="Calibri" pitchFamily="34" charset="0"/>
                <a:ea typeface="Calibri" pitchFamily="34" charset="-122"/>
                <a:cs typeface="Calibri" pitchFamily="34" charset="-120"/>
              </a:rPr>
              <a:t>het rapport</a:t>
            </a:r>
            <a:endParaRPr lang="en-US" sz="2200" dirty="0"/>
          </a:p>
        </p:txBody>
      </p:sp>
      <p:sp>
        <p:nvSpPr>
          <p:cNvPr id="32" name="Text 29"/>
          <p:cNvSpPr txBox="1"/>
          <p:nvPr/>
        </p:nvSpPr>
        <p:spPr>
          <a:xfrm>
            <a:off x="7345299" y="3703320"/>
            <a:ext cx="531317" cy="548640"/>
          </a:xfrm>
          <a:prstGeom prst="rect">
            <a:avLst/>
          </a:prstGeom>
          <a:noFill/>
          <a:ln/>
        </p:spPr>
        <p:txBody>
          <a:bodyPr wrap="square" lIns="0" tIns="0" rIns="0" bIns="0" rtlCol="0" anchor="ctr"/>
          <a:lstStyle/>
          <a:p>
            <a:pPr algn="ctr" indent="0" marL="0">
              <a:buNone/>
            </a:pPr>
            <a:r>
              <a:rPr lang="en-US" sz="2200" b="1" i="1" dirty="0">
                <a:solidFill>
                  <a:srgbClr val="D9700F"/>
                </a:solidFill>
                <a:latin typeface="Calibri" pitchFamily="34" charset="0"/>
                <a:ea typeface="Calibri" pitchFamily="34" charset="-122"/>
                <a:cs typeface="Calibri" pitchFamily="34" charset="-120"/>
              </a:rPr>
              <a:t>dat</a:t>
            </a:r>
            <a:endParaRPr lang="en-US" sz="2200" dirty="0"/>
          </a:p>
        </p:txBody>
      </p:sp>
      <p:sp>
        <p:nvSpPr>
          <p:cNvPr id="33" name="Text 30"/>
          <p:cNvSpPr txBox="1"/>
          <p:nvPr/>
        </p:nvSpPr>
        <p:spPr>
          <a:xfrm>
            <a:off x="7825029" y="3703320"/>
            <a:ext cx="939521" cy="548640"/>
          </a:xfrm>
          <a:prstGeom prst="rect">
            <a:avLst/>
          </a:prstGeom>
          <a:noFill/>
          <a:ln/>
        </p:spPr>
        <p:txBody>
          <a:bodyPr wrap="square" lIns="0" tIns="0" rIns="0" bIns="0" rtlCol="0" anchor="ctr"/>
          <a:lstStyle/>
          <a:p>
            <a:pPr algn="ctr" indent="0" marL="0">
              <a:buNone/>
            </a:pPr>
            <a:r>
              <a:rPr lang="en-US" sz="2200" i="1" dirty="0">
                <a:solidFill>
                  <a:srgbClr val="1B2333"/>
                </a:solidFill>
                <a:latin typeface="Calibri" pitchFamily="34" charset="0"/>
                <a:ea typeface="Calibri" pitchFamily="34" charset="-122"/>
                <a:cs typeface="Calibri" pitchFamily="34" charset="-120"/>
              </a:rPr>
              <a:t>klaar is</a:t>
            </a:r>
            <a:endParaRPr lang="en-US" sz="2200" dirty="0"/>
          </a:p>
        </p:txBody>
      </p:sp>
      <p:sp>
        <p:nvSpPr>
          <p:cNvPr id="34" name="Shape 31"/>
          <p:cNvSpPr/>
          <p:nvPr/>
        </p:nvSpPr>
        <p:spPr>
          <a:xfrm>
            <a:off x="5989320" y="4215384"/>
            <a:ext cx="1334414" cy="914"/>
          </a:xfrm>
          <a:prstGeom prst="line">
            <a:avLst/>
          </a:prstGeom>
          <a:noFill/>
          <a:ln w="28575">
            <a:solidFill>
              <a:srgbClr val="D9700F"/>
            </a:solidFill>
            <a:prstDash val="solid"/>
          </a:ln>
        </p:spPr>
      </p:sp>
      <p:sp>
        <p:nvSpPr>
          <p:cNvPr id="35" name="Shape 32"/>
          <p:cNvSpPr/>
          <p:nvPr/>
        </p:nvSpPr>
        <p:spPr>
          <a:xfrm>
            <a:off x="6656527" y="3474720"/>
            <a:ext cx="954430" cy="640080"/>
          </a:xfrm>
          <a:prstGeom prst="arc">
            <a:avLst>
              <a:gd name="adj1" fmla="val 10800000"/>
              <a:gd name="adj2" fmla="val 21600000"/>
            </a:avLst>
          </a:prstGeom>
          <a:solidFill>
            <a:srgbClr val="FFFFFF">
              <a:alpha val="0"/>
            </a:srgbClr>
          </a:solidFill>
          <a:ln w="22225">
            <a:solidFill>
              <a:srgbClr val="D9700F"/>
            </a:solidFill>
            <a:prstDash val="solid"/>
            <a:headEnd type="triangle"/>
          </a:ln>
        </p:spPr>
      </p:sp>
      <p:sp>
        <p:nvSpPr>
          <p:cNvPr id="36" name="Shape 33"/>
          <p:cNvSpPr/>
          <p:nvPr/>
        </p:nvSpPr>
        <p:spPr>
          <a:xfrm>
            <a:off x="822960" y="4846320"/>
            <a:ext cx="5138928" cy="914400"/>
          </a:xfrm>
          <a:prstGeom prst="roundRect">
            <a:avLst>
              <a:gd name="adj" fmla="val 10000"/>
            </a:avLst>
          </a:prstGeom>
          <a:solidFill>
            <a:srgbClr val="E8F4EC"/>
          </a:solidFill>
          <a:ln w="12700">
            <a:solidFill>
              <a:srgbClr val="FFFFFF">
                <a:alpha val="0"/>
              </a:srgbClr>
            </a:solidFill>
            <a:prstDash val="solid"/>
          </a:ln>
        </p:spPr>
      </p:sp>
      <p:sp>
        <p:nvSpPr>
          <p:cNvPr id="37" name="Shape 34"/>
          <p:cNvSpPr/>
          <p:nvPr/>
        </p:nvSpPr>
        <p:spPr>
          <a:xfrm>
            <a:off x="996696" y="5020056"/>
            <a:ext cx="310896" cy="310896"/>
          </a:xfrm>
          <a:prstGeom prst="ellipse">
            <a:avLst/>
          </a:prstGeom>
          <a:solidFill>
            <a:srgbClr val="2E7D4F"/>
          </a:solidFill>
          <a:ln w="12700">
            <a:solidFill>
              <a:srgbClr val="FFFFFF">
                <a:alpha val="0"/>
              </a:srgbClr>
            </a:solidFill>
            <a:prstDash val="solid"/>
          </a:ln>
        </p:spPr>
      </p:sp>
      <p:sp>
        <p:nvSpPr>
          <p:cNvPr id="38" name="Text 35"/>
          <p:cNvSpPr txBox="1"/>
          <p:nvPr/>
        </p:nvSpPr>
        <p:spPr>
          <a:xfrm>
            <a:off x="996696" y="5020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9" name="Text 36"/>
          <p:cNvSpPr txBox="1"/>
          <p:nvPr/>
        </p:nvSpPr>
        <p:spPr>
          <a:xfrm>
            <a:off x="1444752" y="495604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40" name="Text 37"/>
          <p:cNvSpPr txBox="1"/>
          <p:nvPr/>
        </p:nvSpPr>
        <p:spPr>
          <a:xfrm>
            <a:off x="1444752" y="524865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l’article du nom décide : </a:t>
            </a:r>
            <a:r>
              <a:rPr lang="en-US" sz="1400" i="1" dirty="0">
                <a:solidFill>
                  <a:srgbClr val="1B2333"/>
                </a:solidFill>
                <a:latin typeface="Calibri" pitchFamily="34" charset="0"/>
                <a:ea typeface="Calibri" pitchFamily="34" charset="-122"/>
                <a:cs typeface="Calibri" pitchFamily="34" charset="-120"/>
              </a:rPr>
              <a:t>de</a:t>
            </a:r>
            <a:r>
              <a:rPr lang="en-US" sz="1400" dirty="0">
                <a:solidFill>
                  <a:srgbClr val="1B2333"/>
                </a:solidFill>
                <a:latin typeface="Calibri" pitchFamily="34" charset="0"/>
                <a:ea typeface="Calibri" pitchFamily="34" charset="-122"/>
                <a:cs typeface="Calibri" pitchFamily="34" charset="-120"/>
              </a:rPr>
              <a:t> → </a:t>
            </a:r>
            <a:r>
              <a:rPr lang="en-US" sz="1400" b="1" i="1" dirty="0">
                <a:solidFill>
                  <a:srgbClr val="17375E"/>
                </a:solidFill>
                <a:latin typeface="Calibri" pitchFamily="34" charset="0"/>
                <a:ea typeface="Calibri" pitchFamily="34" charset="-122"/>
                <a:cs typeface="Calibri" pitchFamily="34" charset="-120"/>
              </a:rPr>
              <a:t>die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het</a:t>
            </a:r>
            <a:r>
              <a:rPr lang="en-US" sz="1400" dirty="0">
                <a:solidFill>
                  <a:srgbClr val="1B2333"/>
                </a:solidFill>
                <a:latin typeface="Calibri" pitchFamily="34" charset="0"/>
                <a:ea typeface="Calibri" pitchFamily="34" charset="-122"/>
                <a:cs typeface="Calibri" pitchFamily="34" charset="-120"/>
              </a:rPr>
              <a:t> → </a:t>
            </a:r>
            <a:r>
              <a:rPr lang="en-US" sz="1400" b="1" i="1" dirty="0">
                <a:solidFill>
                  <a:srgbClr val="D9700F"/>
                </a:solidFill>
                <a:latin typeface="Calibri" pitchFamily="34" charset="0"/>
                <a:ea typeface="Calibri" pitchFamily="34" charset="-122"/>
                <a:cs typeface="Calibri" pitchFamily="34" charset="-120"/>
              </a:rPr>
              <a:t>dat</a:t>
            </a:r>
            <a:r>
              <a:rPr lang="en-US" sz="1400" dirty="0">
                <a:solidFill>
                  <a:srgbClr val="1B2333"/>
                </a:solidFill>
                <a:latin typeface="Calibri" pitchFamily="34" charset="0"/>
                <a:ea typeface="Calibri" pitchFamily="34" charset="-122"/>
                <a:cs typeface="Calibri" pitchFamily="34" charset="-120"/>
              </a:rPr>
              <a:t> · pluriel → toujours </a:t>
            </a:r>
            <a:r>
              <a:rPr lang="en-US" sz="1400" b="1" i="1" dirty="0">
                <a:solidFill>
                  <a:srgbClr val="17375E"/>
                </a:solidFill>
                <a:latin typeface="Calibri" pitchFamily="34" charset="0"/>
                <a:ea typeface="Calibri" pitchFamily="34" charset="-122"/>
                <a:cs typeface="Calibri" pitchFamily="34" charset="-120"/>
              </a:rPr>
              <a:t>die</a:t>
            </a:r>
            <a:endParaRPr lang="en-US" sz="1400" dirty="0"/>
          </a:p>
        </p:txBody>
      </p:sp>
      <p:sp>
        <p:nvSpPr>
          <p:cNvPr id="41" name="Shape 38"/>
          <p:cNvSpPr/>
          <p:nvPr/>
        </p:nvSpPr>
        <p:spPr>
          <a:xfrm>
            <a:off x="6236208" y="4846320"/>
            <a:ext cx="5138928" cy="914400"/>
          </a:xfrm>
          <a:prstGeom prst="roundRect">
            <a:avLst>
              <a:gd name="adj" fmla="val 10000"/>
            </a:avLst>
          </a:prstGeom>
          <a:solidFill>
            <a:srgbClr val="FBEDEB"/>
          </a:solidFill>
          <a:ln w="12700">
            <a:solidFill>
              <a:srgbClr val="FFFFFF">
                <a:alpha val="0"/>
              </a:srgbClr>
            </a:solidFill>
            <a:prstDash val="solid"/>
          </a:ln>
        </p:spPr>
      </p:sp>
      <p:sp>
        <p:nvSpPr>
          <p:cNvPr id="42" name="Shape 39"/>
          <p:cNvSpPr/>
          <p:nvPr/>
        </p:nvSpPr>
        <p:spPr>
          <a:xfrm>
            <a:off x="6409944" y="5020056"/>
            <a:ext cx="310896" cy="310896"/>
          </a:xfrm>
          <a:prstGeom prst="ellipse">
            <a:avLst/>
          </a:prstGeom>
          <a:solidFill>
            <a:srgbClr val="B83227"/>
          </a:solidFill>
          <a:ln w="12700">
            <a:solidFill>
              <a:srgbClr val="FFFFFF">
                <a:alpha val="0"/>
              </a:srgbClr>
            </a:solidFill>
            <a:prstDash val="solid"/>
          </a:ln>
        </p:spPr>
      </p:sp>
      <p:sp>
        <p:nvSpPr>
          <p:cNvPr id="43" name="Text 40"/>
          <p:cNvSpPr txBox="1"/>
          <p:nvPr/>
        </p:nvSpPr>
        <p:spPr>
          <a:xfrm>
            <a:off x="6409944" y="5020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4" name="Text 41"/>
          <p:cNvSpPr txBox="1"/>
          <p:nvPr/>
        </p:nvSpPr>
        <p:spPr>
          <a:xfrm>
            <a:off x="6858000" y="495604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Attention</a:t>
            </a:r>
            <a:endParaRPr lang="en-US" sz="1300" dirty="0"/>
          </a:p>
        </p:txBody>
      </p:sp>
      <p:sp>
        <p:nvSpPr>
          <p:cNvPr id="45" name="Text 42"/>
          <p:cNvSpPr txBox="1"/>
          <p:nvPr/>
        </p:nvSpPr>
        <p:spPr>
          <a:xfrm>
            <a:off x="6858000" y="524865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het meisje </a:t>
            </a:r>
            <a:r>
              <a:rPr lang="en-US" sz="1400" b="1" i="1" dirty="0">
                <a:solidFill>
                  <a:srgbClr val="D9700F"/>
                </a:solidFill>
                <a:latin typeface="Calibri" pitchFamily="34" charset="0"/>
                <a:ea typeface="Calibri" pitchFamily="34" charset="-122"/>
                <a:cs typeface="Calibri" pitchFamily="34" charset="-120"/>
              </a:rPr>
              <a:t>dat</a:t>
            </a:r>
            <a:r>
              <a:rPr lang="en-US" sz="1400" i="1" dirty="0">
                <a:solidFill>
                  <a:srgbClr val="1B2333"/>
                </a:solidFill>
                <a:latin typeface="Calibri" pitchFamily="34" charset="0"/>
                <a:ea typeface="Calibri" pitchFamily="34" charset="-122"/>
                <a:cs typeface="Calibri" pitchFamily="34" charset="-120"/>
              </a:rPr>
              <a:t>… · het kind </a:t>
            </a:r>
            <a:r>
              <a:rPr lang="en-US" sz="1400" b="1" i="1" dirty="0">
                <a:solidFill>
                  <a:srgbClr val="D9700F"/>
                </a:solidFill>
                <a:latin typeface="Calibri" pitchFamily="34" charset="0"/>
                <a:ea typeface="Calibri" pitchFamily="34" charset="-122"/>
                <a:cs typeface="Calibri" pitchFamily="34" charset="-120"/>
              </a:rPr>
              <a:t>dat</a:t>
            </a:r>
            <a:r>
              <a:rPr lang="en-US" sz="1400" i="1" dirty="0">
                <a:solidFill>
                  <a:srgbClr val="1B2333"/>
                </a:solidFill>
                <a:latin typeface="Calibri" pitchFamily="34" charset="0"/>
                <a:ea typeface="Calibri" pitchFamily="34" charset="-122"/>
                <a:cs typeface="Calibri" pitchFamily="34" charset="-120"/>
              </a:rPr>
              <a:t>… · het kopje </a:t>
            </a:r>
            <a:r>
              <a:rPr lang="en-US" sz="1400" b="1" i="1" dirty="0">
                <a:solidFill>
                  <a:srgbClr val="D9700F"/>
                </a:solidFill>
                <a:latin typeface="Calibri" pitchFamily="34" charset="0"/>
                <a:ea typeface="Calibri" pitchFamily="34" charset="-122"/>
                <a:cs typeface="Calibri" pitchFamily="34" charset="-120"/>
              </a:rPr>
              <a:t>dat</a:t>
            </a:r>
            <a:r>
              <a:rPr lang="en-US" sz="1400" i="1" dirty="0">
                <a:solidFill>
                  <a:srgbClr val="1B2333"/>
                </a:solidFill>
                <a:latin typeface="Calibri" pitchFamily="34" charset="0"/>
                <a:ea typeface="Calibri" pitchFamily="34" charset="-122"/>
                <a:cs typeface="Calibri" pitchFamily="34" charset="-120"/>
              </a:rPr>
              <a:t>…</a:t>
            </a:r>
            <a:r>
              <a:rPr lang="en-US" sz="1400" dirty="0">
                <a:solidFill>
                  <a:srgbClr val="1B2333"/>
                </a:solidFill>
                <a:latin typeface="Calibri" pitchFamily="34" charset="0"/>
                <a:ea typeface="Calibri" pitchFamily="34" charset="-122"/>
                <a:cs typeface="Calibri" pitchFamily="34" charset="-120"/>
              </a:rPr>
              <a:t> (</a:t>
            </a:r>
            <a:r>
              <a:rPr lang="en-US" sz="1400" i="1" dirty="0">
                <a:solidFill>
                  <a:srgbClr val="1B2333"/>
                </a:solidFill>
                <a:latin typeface="Calibri" pitchFamily="34" charset="0"/>
                <a:ea typeface="Calibri" pitchFamily="34" charset="-122"/>
                <a:cs typeface="Calibri" pitchFamily="34" charset="-120"/>
              </a:rPr>
              <a:t>-je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het</a:t>
            </a:r>
            <a:r>
              <a:rPr lang="en-US" sz="1400" dirty="0">
                <a:solidFill>
                  <a:srgbClr val="1B2333"/>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Qui ou que ? Peu importe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B83227"/>
                </a:solidFill>
                <a:latin typeface="Calibri" pitchFamily="34" charset="0"/>
                <a:ea typeface="Calibri" pitchFamily="34" charset="-122"/>
                <a:cs typeface="Calibri" pitchFamily="34" charset="-120"/>
              </a:rPr>
              <a:t>PIÈGE FR ≠ NL</a:t>
            </a:r>
            <a:endParaRPr lang="en-US" sz="1100" dirty="0"/>
          </a:p>
        </p:txBody>
      </p:sp>
      <p:sp>
        <p:nvSpPr>
          <p:cNvPr id="5" name="Shape 2"/>
          <p:cNvSpPr/>
          <p:nvPr/>
        </p:nvSpPr>
        <p:spPr>
          <a:xfrm>
            <a:off x="868680" y="1783080"/>
            <a:ext cx="1554480" cy="548640"/>
          </a:xfrm>
          <a:prstGeom prst="roundRect">
            <a:avLst>
              <a:gd name="adj" fmla="val 13333"/>
            </a:avLst>
          </a:prstGeom>
          <a:solidFill>
            <a:srgbClr val="F4F6F9"/>
          </a:solidFill>
          <a:ln w="12700">
            <a:solidFill>
              <a:srgbClr val="C3CBD6"/>
            </a:solidFill>
            <a:prstDash val="solid"/>
          </a:ln>
        </p:spPr>
      </p:sp>
      <p:sp>
        <p:nvSpPr>
          <p:cNvPr id="6" name="Text 3"/>
          <p:cNvSpPr txBox="1"/>
          <p:nvPr/>
        </p:nvSpPr>
        <p:spPr>
          <a:xfrm>
            <a:off x="868680" y="1783080"/>
            <a:ext cx="1554480" cy="548640"/>
          </a:xfrm>
          <a:prstGeom prst="rect">
            <a:avLst/>
          </a:prstGeom>
          <a:noFill/>
          <a:ln/>
        </p:spPr>
        <p:txBody>
          <a:bodyPr wrap="square" lIns="0" tIns="0" rIns="0" bIns="0" rtlCol="0" anchor="ctr"/>
          <a:lstStyle/>
          <a:p>
            <a:pPr algn="ctr" indent="0" marL="0">
              <a:buNone/>
            </a:pPr>
            <a:r>
              <a:rPr lang="en-US" sz="2200" b="1" i="1" dirty="0">
                <a:solidFill>
                  <a:srgbClr val="6B7686"/>
                </a:solidFill>
                <a:latin typeface="Calibri" pitchFamily="34" charset="0"/>
                <a:ea typeface="Calibri" pitchFamily="34" charset="-122"/>
                <a:cs typeface="Calibri" pitchFamily="34" charset="-120"/>
              </a:rPr>
              <a:t>qui</a:t>
            </a:r>
            <a:endParaRPr lang="en-US" sz="2200" dirty="0"/>
          </a:p>
        </p:txBody>
      </p:sp>
      <p:sp>
        <p:nvSpPr>
          <p:cNvPr id="7" name="Text 4"/>
          <p:cNvSpPr txBox="1"/>
          <p:nvPr/>
        </p:nvSpPr>
        <p:spPr>
          <a:xfrm>
            <a:off x="685800" y="2368296"/>
            <a:ext cx="1920240" cy="256032"/>
          </a:xfrm>
          <a:prstGeom prst="rect">
            <a:avLst/>
          </a:prstGeom>
          <a:noFill/>
          <a:ln/>
        </p:spPr>
        <p:txBody>
          <a:bodyPr wrap="square" lIns="0" tIns="0" rIns="0" bIns="0" rtlCol="0" anchor="ctr"/>
          <a:lstStyle/>
          <a:p>
            <a:pPr algn="ctr" indent="0" marL="0">
              <a:buNone/>
            </a:pPr>
            <a:r>
              <a:rPr lang="en-US" sz="950" b="1" spc="150" kern="0" dirty="0">
                <a:solidFill>
                  <a:srgbClr val="6B7686"/>
                </a:solidFill>
                <a:latin typeface="Calibri" pitchFamily="34" charset="0"/>
                <a:ea typeface="Calibri" pitchFamily="34" charset="-122"/>
                <a:cs typeface="Calibri" pitchFamily="34" charset="-120"/>
              </a:rPr>
              <a:t>SUJET</a:t>
            </a:r>
            <a:endParaRPr lang="en-US" sz="950" dirty="0"/>
          </a:p>
        </p:txBody>
      </p:sp>
      <p:sp>
        <p:nvSpPr>
          <p:cNvPr id="8" name="Shape 5"/>
          <p:cNvSpPr/>
          <p:nvPr/>
        </p:nvSpPr>
        <p:spPr>
          <a:xfrm>
            <a:off x="2468880" y="2057400"/>
            <a:ext cx="731520" cy="667512"/>
          </a:xfrm>
          <a:prstGeom prst="line">
            <a:avLst/>
          </a:prstGeom>
          <a:noFill/>
          <a:ln w="19050">
            <a:solidFill>
              <a:srgbClr val="6B7686"/>
            </a:solidFill>
            <a:prstDash val="solid"/>
            <a:tailEnd type="triangle"/>
          </a:ln>
        </p:spPr>
      </p:sp>
      <p:sp>
        <p:nvSpPr>
          <p:cNvPr id="9" name="Shape 6"/>
          <p:cNvSpPr/>
          <p:nvPr/>
        </p:nvSpPr>
        <p:spPr>
          <a:xfrm>
            <a:off x="868680" y="3154680"/>
            <a:ext cx="1554480" cy="548640"/>
          </a:xfrm>
          <a:prstGeom prst="roundRect">
            <a:avLst>
              <a:gd name="adj" fmla="val 13333"/>
            </a:avLst>
          </a:prstGeom>
          <a:solidFill>
            <a:srgbClr val="F4F6F9"/>
          </a:solidFill>
          <a:ln w="12700">
            <a:solidFill>
              <a:srgbClr val="C3CBD6"/>
            </a:solidFill>
            <a:prstDash val="solid"/>
          </a:ln>
        </p:spPr>
      </p:sp>
      <p:sp>
        <p:nvSpPr>
          <p:cNvPr id="10" name="Text 7"/>
          <p:cNvSpPr txBox="1"/>
          <p:nvPr/>
        </p:nvSpPr>
        <p:spPr>
          <a:xfrm>
            <a:off x="868680" y="3154680"/>
            <a:ext cx="1554480" cy="548640"/>
          </a:xfrm>
          <a:prstGeom prst="rect">
            <a:avLst/>
          </a:prstGeom>
          <a:noFill/>
          <a:ln/>
        </p:spPr>
        <p:txBody>
          <a:bodyPr wrap="square" lIns="0" tIns="0" rIns="0" bIns="0" rtlCol="0" anchor="ctr"/>
          <a:lstStyle/>
          <a:p>
            <a:pPr algn="ctr" indent="0" marL="0">
              <a:buNone/>
            </a:pPr>
            <a:r>
              <a:rPr lang="en-US" sz="2200" b="1" i="1" dirty="0">
                <a:solidFill>
                  <a:srgbClr val="6B7686"/>
                </a:solidFill>
                <a:latin typeface="Calibri" pitchFamily="34" charset="0"/>
                <a:ea typeface="Calibri" pitchFamily="34" charset="-122"/>
                <a:cs typeface="Calibri" pitchFamily="34" charset="-120"/>
              </a:rPr>
              <a:t>que</a:t>
            </a:r>
            <a:endParaRPr lang="en-US" sz="2200" dirty="0"/>
          </a:p>
        </p:txBody>
      </p:sp>
      <p:sp>
        <p:nvSpPr>
          <p:cNvPr id="11" name="Text 8"/>
          <p:cNvSpPr txBox="1"/>
          <p:nvPr/>
        </p:nvSpPr>
        <p:spPr>
          <a:xfrm>
            <a:off x="685800" y="3739896"/>
            <a:ext cx="1920240" cy="256032"/>
          </a:xfrm>
          <a:prstGeom prst="rect">
            <a:avLst/>
          </a:prstGeom>
          <a:noFill/>
          <a:ln/>
        </p:spPr>
        <p:txBody>
          <a:bodyPr wrap="square" lIns="0" tIns="0" rIns="0" bIns="0" rtlCol="0" anchor="ctr"/>
          <a:lstStyle/>
          <a:p>
            <a:pPr algn="ctr" indent="0" marL="0">
              <a:buNone/>
            </a:pPr>
            <a:r>
              <a:rPr lang="en-US" sz="950" b="1" spc="150" kern="0" dirty="0">
                <a:solidFill>
                  <a:srgbClr val="6B7686"/>
                </a:solidFill>
                <a:latin typeface="Calibri" pitchFamily="34" charset="0"/>
                <a:ea typeface="Calibri" pitchFamily="34" charset="-122"/>
                <a:cs typeface="Calibri" pitchFamily="34" charset="-120"/>
              </a:rPr>
              <a:t>COMPLÉMENT</a:t>
            </a:r>
            <a:endParaRPr lang="en-US" sz="950" dirty="0"/>
          </a:p>
        </p:txBody>
      </p:sp>
      <p:sp>
        <p:nvSpPr>
          <p:cNvPr id="12" name="Shape 9"/>
          <p:cNvSpPr/>
          <p:nvPr/>
        </p:nvSpPr>
        <p:spPr>
          <a:xfrm flipV="1">
            <a:off x="2468880" y="2724912"/>
            <a:ext cx="731520" cy="704088"/>
          </a:xfrm>
          <a:prstGeom prst="line">
            <a:avLst/>
          </a:prstGeom>
          <a:noFill/>
          <a:ln w="19050">
            <a:solidFill>
              <a:srgbClr val="6B7686"/>
            </a:solidFill>
            <a:prstDash val="solid"/>
            <a:tailEnd type="triangle"/>
          </a:ln>
        </p:spPr>
      </p:sp>
      <p:sp>
        <p:nvSpPr>
          <p:cNvPr id="13" name="Shape 10"/>
          <p:cNvSpPr/>
          <p:nvPr/>
        </p:nvSpPr>
        <p:spPr>
          <a:xfrm>
            <a:off x="3246120" y="2377440"/>
            <a:ext cx="1600200" cy="694944"/>
          </a:xfrm>
          <a:prstGeom prst="roundRect">
            <a:avLst>
              <a:gd name="adj" fmla="val 10526"/>
            </a:avLst>
          </a:prstGeom>
          <a:solidFill>
            <a:srgbClr val="E6ECF3"/>
          </a:solidFill>
          <a:ln w="12700">
            <a:solidFill>
              <a:srgbClr val="FFFFFF">
                <a:alpha val="0"/>
              </a:srgbClr>
            </a:solidFill>
            <a:prstDash val="solid"/>
          </a:ln>
        </p:spPr>
      </p:sp>
      <p:sp>
        <p:nvSpPr>
          <p:cNvPr id="14" name="Text 11"/>
          <p:cNvSpPr txBox="1"/>
          <p:nvPr/>
        </p:nvSpPr>
        <p:spPr>
          <a:xfrm>
            <a:off x="3246120" y="2377440"/>
            <a:ext cx="1600200" cy="694944"/>
          </a:xfrm>
          <a:prstGeom prst="rect">
            <a:avLst/>
          </a:prstGeom>
          <a:noFill/>
          <a:ln/>
        </p:spPr>
        <p:txBody>
          <a:bodyPr wrap="square" lIns="0" tIns="0" rIns="0" bIns="0" rtlCol="0" anchor="ctr"/>
          <a:lstStyle/>
          <a:p>
            <a:pPr algn="ctr" indent="0" marL="0">
              <a:buNone/>
            </a:pPr>
            <a:r>
              <a:rPr lang="en-US" sz="2100" b="1" i="1" dirty="0">
                <a:solidFill>
                  <a:srgbClr val="17375E"/>
                </a:solidFill>
                <a:latin typeface="Calibri" pitchFamily="34" charset="0"/>
                <a:ea typeface="Calibri" pitchFamily="34" charset="-122"/>
                <a:cs typeface="Calibri" pitchFamily="34" charset="-120"/>
              </a:rPr>
              <a:t>die</a:t>
            </a:r>
            <a:r>
              <a:rPr lang="en-US" sz="2100" b="1" i="1" dirty="0">
                <a:solidFill>
                  <a:srgbClr val="1B2333"/>
                </a:solidFill>
                <a:latin typeface="Calibri" pitchFamily="34" charset="0"/>
                <a:ea typeface="Calibri" pitchFamily="34" charset="-122"/>
                <a:cs typeface="Calibri" pitchFamily="34" charset="-120"/>
              </a:rPr>
              <a:t> / </a:t>
            </a:r>
            <a:r>
              <a:rPr lang="en-US" sz="2100" b="1" i="1" dirty="0">
                <a:solidFill>
                  <a:srgbClr val="D9700F"/>
                </a:solidFill>
                <a:latin typeface="Calibri" pitchFamily="34" charset="0"/>
                <a:ea typeface="Calibri" pitchFamily="34" charset="-122"/>
                <a:cs typeface="Calibri" pitchFamily="34" charset="-120"/>
              </a:rPr>
              <a:t>dat</a:t>
            </a:r>
            <a:endParaRPr lang="en-US" sz="2100" dirty="0"/>
          </a:p>
        </p:txBody>
      </p:sp>
      <p:sp>
        <p:nvSpPr>
          <p:cNvPr id="15" name="Text 12"/>
          <p:cNvSpPr txBox="1"/>
          <p:nvPr/>
        </p:nvSpPr>
        <p:spPr>
          <a:xfrm>
            <a:off x="2971800" y="3108960"/>
            <a:ext cx="2148840" cy="256032"/>
          </a:xfrm>
          <a:prstGeom prst="rect">
            <a:avLst/>
          </a:prstGeom>
          <a:noFill/>
          <a:ln/>
        </p:spPr>
        <p:txBody>
          <a:bodyPr wrap="square" lIns="0" tIns="0" rIns="0" bIns="0" rtlCol="0" anchor="ctr"/>
          <a:lstStyle/>
          <a:p>
            <a:pPr algn="ctr" indent="0" marL="0">
              <a:buNone/>
            </a:pPr>
            <a:r>
              <a:rPr lang="en-US" sz="950" b="1" spc="150" kern="0" dirty="0">
                <a:solidFill>
                  <a:srgbClr val="17375E"/>
                </a:solidFill>
                <a:latin typeface="Calibri" pitchFamily="34" charset="0"/>
                <a:ea typeface="Calibri" pitchFamily="34" charset="-122"/>
                <a:cs typeface="Calibri" pitchFamily="34" charset="-120"/>
              </a:rPr>
              <a:t>SELON LE NOM</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394960" y="1600200"/>
          <a:ext cx="5971032" cy="914400"/>
        </p:xfrm>
        <a:graphic>
          <a:graphicData uri="http://schemas.openxmlformats.org/drawingml/2006/table">
            <a:tbl>
              <a:tblPr/>
              <a:tblGrid>
                <a:gridCol w="2743200"/>
                <a:gridCol w="3227832"/>
              </a:tblGrid>
              <a:tr h="512064">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le collègue </a:t>
                      </a:r>
                      <a:r>
                        <a:rPr lang="en-US" sz="1650" b="1" dirty="0">
                          <a:solidFill>
                            <a:srgbClr val="8A94A3"/>
                          </a:solidFill>
                          <a:latin typeface="Calibri" pitchFamily="34" charset="0"/>
                          <a:ea typeface="Calibri" pitchFamily="34" charset="-122"/>
                          <a:cs typeface="Calibri" pitchFamily="34" charset="-120"/>
                        </a:rPr>
                        <a:t>qui</a:t>
                      </a:r>
                      <a:r>
                        <a:rPr lang="en-US" sz="1650" dirty="0">
                          <a:solidFill>
                            <a:srgbClr val="1B2333"/>
                          </a:solidFill>
                          <a:latin typeface="Calibri" pitchFamily="34" charset="0"/>
                          <a:ea typeface="Calibri" pitchFamily="34" charset="-122"/>
                          <a:cs typeface="Calibri" pitchFamily="34" charset="-120"/>
                        </a:rPr>
                        <a:t> m’aide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me helpt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le collègue </a:t>
                      </a:r>
                      <a:r>
                        <a:rPr lang="en-US" sz="1650" b="1" dirty="0">
                          <a:solidFill>
                            <a:srgbClr val="8A94A3"/>
                          </a:solidFill>
                          <a:latin typeface="Calibri" pitchFamily="34" charset="0"/>
                          <a:ea typeface="Calibri" pitchFamily="34" charset="-122"/>
                          <a:cs typeface="Calibri" pitchFamily="34" charset="-120"/>
                        </a:rPr>
                        <a:t>que</a:t>
                      </a:r>
                      <a:r>
                        <a:rPr lang="en-US" sz="1650" dirty="0">
                          <a:solidFill>
                            <a:srgbClr val="1B2333"/>
                          </a:solidFill>
                          <a:latin typeface="Calibri" pitchFamily="34" charset="0"/>
                          <a:ea typeface="Calibri" pitchFamily="34" charset="-122"/>
                          <a:cs typeface="Calibri" pitchFamily="34" charset="-120"/>
                        </a:rPr>
                        <a:t> j’aide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ik help</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le rapport </a:t>
                      </a:r>
                      <a:r>
                        <a:rPr lang="en-US" sz="1650" b="1" dirty="0">
                          <a:solidFill>
                            <a:srgbClr val="8A94A3"/>
                          </a:solidFill>
                          <a:latin typeface="Calibri" pitchFamily="34" charset="0"/>
                          <a:ea typeface="Calibri" pitchFamily="34" charset="-122"/>
                          <a:cs typeface="Calibri" pitchFamily="34" charset="-120"/>
                        </a:rPr>
                        <a:t>qui</a:t>
                      </a:r>
                      <a:r>
                        <a:rPr lang="en-US" sz="1650" dirty="0">
                          <a:solidFill>
                            <a:srgbClr val="1B2333"/>
                          </a:solidFill>
                          <a:latin typeface="Calibri" pitchFamily="34" charset="0"/>
                          <a:ea typeface="Calibri" pitchFamily="34" charset="-122"/>
                          <a:cs typeface="Calibri" pitchFamily="34" charset="-120"/>
                        </a:rPr>
                        <a:t> est prêt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rapport </a:t>
                      </a:r>
                      <a:r>
                        <a:rPr lang="en-US" sz="1650" b="1" i="1" dirty="0">
                          <a:solidFill>
                            <a:srgbClr val="D9700F"/>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klaar 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le rapport </a:t>
                      </a:r>
                      <a:r>
                        <a:rPr lang="en-US" sz="1650" b="1" dirty="0">
                          <a:solidFill>
                            <a:srgbClr val="8A94A3"/>
                          </a:solidFill>
                          <a:latin typeface="Calibri" pitchFamily="34" charset="0"/>
                          <a:ea typeface="Calibri" pitchFamily="34" charset="-122"/>
                          <a:cs typeface="Calibri" pitchFamily="34" charset="-120"/>
                        </a:rPr>
                        <a:t>que</a:t>
                      </a:r>
                      <a:r>
                        <a:rPr lang="en-US" sz="1650" dirty="0">
                          <a:solidFill>
                            <a:srgbClr val="1B2333"/>
                          </a:solidFill>
                          <a:latin typeface="Calibri" pitchFamily="34" charset="0"/>
                          <a:ea typeface="Calibri" pitchFamily="34" charset="-122"/>
                          <a:cs typeface="Calibri" pitchFamily="34" charset="-120"/>
                        </a:rPr>
                        <a:t> je lis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rapport </a:t>
                      </a:r>
                      <a:r>
                        <a:rPr lang="en-US" sz="1650" b="1" i="1" dirty="0">
                          <a:solidFill>
                            <a:srgbClr val="D9700F"/>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ik lees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7" name="Shape 13"/>
          <p:cNvSpPr/>
          <p:nvPr/>
        </p:nvSpPr>
        <p:spPr>
          <a:xfrm>
            <a:off x="822960" y="4480560"/>
            <a:ext cx="5138928" cy="960120"/>
          </a:xfrm>
          <a:prstGeom prst="roundRect">
            <a:avLst>
              <a:gd name="adj" fmla="val 9524"/>
            </a:avLst>
          </a:prstGeom>
          <a:solidFill>
            <a:srgbClr val="E8F4EC"/>
          </a:solidFill>
          <a:ln w="12700">
            <a:solidFill>
              <a:srgbClr val="FFFFFF">
                <a:alpha val="0"/>
              </a:srgbClr>
            </a:solidFill>
            <a:prstDash val="solid"/>
          </a:ln>
        </p:spPr>
      </p:sp>
      <p:sp>
        <p:nvSpPr>
          <p:cNvPr id="18" name="Shape 14"/>
          <p:cNvSpPr/>
          <p:nvPr/>
        </p:nvSpPr>
        <p:spPr>
          <a:xfrm>
            <a:off x="996696" y="4654296"/>
            <a:ext cx="310896" cy="310896"/>
          </a:xfrm>
          <a:prstGeom prst="ellipse">
            <a:avLst/>
          </a:prstGeom>
          <a:solidFill>
            <a:srgbClr val="2E7D4F"/>
          </a:solidFill>
          <a:ln w="12700">
            <a:solidFill>
              <a:srgbClr val="FFFFFF">
                <a:alpha val="0"/>
              </a:srgbClr>
            </a:solidFill>
            <a:prstDash val="solid"/>
          </a:ln>
        </p:spPr>
      </p:sp>
      <p:sp>
        <p:nvSpPr>
          <p:cNvPr id="19" name="Text 15"/>
          <p:cNvSpPr txBox="1"/>
          <p:nvPr/>
        </p:nvSpPr>
        <p:spPr>
          <a:xfrm>
            <a:off x="996696" y="46542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0" name="Text 16"/>
          <p:cNvSpPr txBox="1"/>
          <p:nvPr/>
        </p:nvSpPr>
        <p:spPr>
          <a:xfrm>
            <a:off x="1444752" y="459028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21" name="Text 17"/>
          <p:cNvSpPr txBox="1"/>
          <p:nvPr/>
        </p:nvSpPr>
        <p:spPr>
          <a:xfrm>
            <a:off x="1444752" y="4882896"/>
            <a:ext cx="4361688" cy="48463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le français regarde la </a:t>
            </a:r>
            <a:r>
              <a:rPr lang="en-US" sz="1400" b="1" dirty="0">
                <a:solidFill>
                  <a:srgbClr val="1B2333"/>
                </a:solidFill>
                <a:latin typeface="Calibri" pitchFamily="34" charset="0"/>
                <a:ea typeface="Calibri" pitchFamily="34" charset="-122"/>
                <a:cs typeface="Calibri" pitchFamily="34" charset="-120"/>
              </a:rPr>
              <a:t>fonction</a:t>
            </a:r>
            <a:r>
              <a:rPr lang="en-US" sz="1400" dirty="0">
                <a:solidFill>
                  <a:srgbClr val="1B2333"/>
                </a:solidFill>
                <a:latin typeface="Calibri" pitchFamily="34" charset="0"/>
                <a:ea typeface="Calibri" pitchFamily="34" charset="-122"/>
                <a:cs typeface="Calibri" pitchFamily="34" charset="-120"/>
              </a:rPr>
              <a:t> (</a:t>
            </a:r>
            <a:r>
              <a:rPr lang="en-US" sz="1400" i="1" dirty="0">
                <a:solidFill>
                  <a:srgbClr val="1B2333"/>
                </a:solidFill>
                <a:latin typeface="Calibri" pitchFamily="34" charset="0"/>
                <a:ea typeface="Calibri" pitchFamily="34" charset="-122"/>
                <a:cs typeface="Calibri" pitchFamily="34" charset="-120"/>
              </a:rPr>
              <a:t>qui / que</a:t>
            </a:r>
            <a:r>
              <a:rPr lang="en-US" sz="1400" dirty="0">
                <a:solidFill>
                  <a:srgbClr val="1B2333"/>
                </a:solidFill>
                <a:latin typeface="Calibri" pitchFamily="34" charset="0"/>
                <a:ea typeface="Calibri" pitchFamily="34" charset="-122"/>
                <a:cs typeface="Calibri" pitchFamily="34" charset="-120"/>
              </a:rPr>
              <a:t>) ; le néerlandais regarde le </a:t>
            </a:r>
            <a:r>
              <a:rPr lang="en-US" sz="1400" b="1" dirty="0">
                <a:solidFill>
                  <a:srgbClr val="1B2333"/>
                </a:solidFill>
                <a:latin typeface="Calibri" pitchFamily="34" charset="0"/>
                <a:ea typeface="Calibri" pitchFamily="34" charset="-122"/>
                <a:cs typeface="Calibri" pitchFamily="34" charset="-120"/>
              </a:rPr>
              <a:t>nom</a:t>
            </a:r>
            <a:r>
              <a:rPr lang="en-US" sz="1400" dirty="0">
                <a:solidFill>
                  <a:srgbClr val="1B2333"/>
                </a:solidFill>
                <a:latin typeface="Calibri" pitchFamily="34" charset="0"/>
                <a:ea typeface="Calibri" pitchFamily="34" charset="-122"/>
                <a:cs typeface="Calibri" pitchFamily="34" charset="-120"/>
              </a:rPr>
              <a:t>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 </a:t>
            </a:r>
            <a:r>
              <a:rPr lang="en-US" sz="1400" b="1" i="1" dirty="0">
                <a:solidFill>
                  <a:srgbClr val="D9700F"/>
                </a:solidFill>
                <a:latin typeface="Calibri" pitchFamily="34" charset="0"/>
                <a:ea typeface="Calibri" pitchFamily="34" charset="-122"/>
                <a:cs typeface="Calibri" pitchFamily="34" charset="-120"/>
              </a:rPr>
              <a:t>dat</a:t>
            </a:r>
            <a:r>
              <a:rPr lang="en-US" sz="1400" dirty="0">
                <a:solidFill>
                  <a:srgbClr val="1B2333"/>
                </a:solidFill>
                <a:latin typeface="Calibri" pitchFamily="34" charset="0"/>
                <a:ea typeface="Calibri" pitchFamily="34" charset="-122"/>
                <a:cs typeface="Calibri" pitchFamily="34" charset="-120"/>
              </a:rPr>
              <a:t>)</a:t>
            </a:r>
            <a:endParaRPr lang="en-US" sz="1400" dirty="0"/>
          </a:p>
        </p:txBody>
      </p:sp>
      <p:sp>
        <p:nvSpPr>
          <p:cNvPr id="22" name="Shape 18"/>
          <p:cNvSpPr/>
          <p:nvPr/>
        </p:nvSpPr>
        <p:spPr>
          <a:xfrm>
            <a:off x="6236208" y="4480560"/>
            <a:ext cx="5138928" cy="960120"/>
          </a:xfrm>
          <a:prstGeom prst="roundRect">
            <a:avLst>
              <a:gd name="adj" fmla="val 9524"/>
            </a:avLst>
          </a:prstGeom>
          <a:solidFill>
            <a:srgbClr val="FBEDEB"/>
          </a:solidFill>
          <a:ln w="12700">
            <a:solidFill>
              <a:srgbClr val="FFFFFF">
                <a:alpha val="0"/>
              </a:srgbClr>
            </a:solidFill>
            <a:prstDash val="solid"/>
          </a:ln>
        </p:spPr>
      </p:sp>
      <p:sp>
        <p:nvSpPr>
          <p:cNvPr id="23" name="Shape 19"/>
          <p:cNvSpPr/>
          <p:nvPr/>
        </p:nvSpPr>
        <p:spPr>
          <a:xfrm>
            <a:off x="6409944" y="4654296"/>
            <a:ext cx="310896" cy="310896"/>
          </a:xfrm>
          <a:prstGeom prst="ellipse">
            <a:avLst/>
          </a:prstGeom>
          <a:solidFill>
            <a:srgbClr val="B83227"/>
          </a:solidFill>
          <a:ln w="12700">
            <a:solidFill>
              <a:srgbClr val="FFFFFF">
                <a:alpha val="0"/>
              </a:srgbClr>
            </a:solidFill>
            <a:prstDash val="solid"/>
          </a:ln>
        </p:spPr>
      </p:sp>
      <p:sp>
        <p:nvSpPr>
          <p:cNvPr id="24" name="Text 20"/>
          <p:cNvSpPr txBox="1"/>
          <p:nvPr/>
        </p:nvSpPr>
        <p:spPr>
          <a:xfrm>
            <a:off x="6409944" y="46542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1"/>
          <p:cNvSpPr txBox="1"/>
          <p:nvPr/>
        </p:nvSpPr>
        <p:spPr>
          <a:xfrm>
            <a:off x="6858000" y="459028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Qui fait quoi ?</a:t>
            </a:r>
            <a:endParaRPr lang="en-US" sz="1300" dirty="0"/>
          </a:p>
        </p:txBody>
      </p:sp>
      <p:sp>
        <p:nvSpPr>
          <p:cNvPr id="26" name="Text 22"/>
          <p:cNvSpPr txBox="1"/>
          <p:nvPr/>
        </p:nvSpPr>
        <p:spPr>
          <a:xfrm>
            <a:off x="6858000" y="4882896"/>
            <a:ext cx="4361688" cy="48463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de collega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Sofie helpt</a:t>
            </a:r>
            <a:r>
              <a:rPr lang="en-US" sz="1400" dirty="0">
                <a:solidFill>
                  <a:srgbClr val="1B2333"/>
                </a:solidFill>
                <a:latin typeface="Calibri" pitchFamily="34" charset="0"/>
                <a:ea typeface="Calibri" pitchFamily="34" charset="-122"/>
                <a:cs typeface="Calibri" pitchFamily="34" charset="-120"/>
              </a:rPr>
              <a:t> = qui aide Sofie… ou que Sofie aide : le contexte décide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verbe va à la fin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LA PLACE</a:t>
            </a:r>
            <a:endParaRPr lang="en-US" sz="1100" dirty="0"/>
          </a:p>
        </p:txBody>
      </p:sp>
      <p:sp>
        <p:nvSpPr>
          <p:cNvPr id="5" name="Shape 2"/>
          <p:cNvSpPr/>
          <p:nvPr/>
        </p:nvSpPr>
        <p:spPr>
          <a:xfrm>
            <a:off x="1417320" y="1554480"/>
            <a:ext cx="3931920" cy="749808"/>
          </a:xfrm>
          <a:prstGeom prst="roundRect">
            <a:avLst>
              <a:gd name="adj" fmla="val 14634"/>
            </a:avLst>
          </a:prstGeom>
          <a:solidFill>
            <a:srgbClr val="17375E"/>
          </a:solidFill>
          <a:ln w="12700">
            <a:solidFill>
              <a:srgbClr val="FFFFFF">
                <a:alpha val="0"/>
              </a:srgbClr>
            </a:solidFill>
            <a:prstDash val="solid"/>
          </a:ln>
        </p:spPr>
      </p:sp>
      <p:sp>
        <p:nvSpPr>
          <p:cNvPr id="6" name="Shape 3"/>
          <p:cNvSpPr/>
          <p:nvPr/>
        </p:nvSpPr>
        <p:spPr>
          <a:xfrm>
            <a:off x="1143000" y="1783080"/>
            <a:ext cx="320040" cy="365760"/>
          </a:xfrm>
          <a:prstGeom prst="roundRect">
            <a:avLst>
              <a:gd name="adj" fmla="val 14286"/>
            </a:avLst>
          </a:prstGeom>
          <a:solidFill>
            <a:srgbClr val="17375E"/>
          </a:solidFill>
          <a:ln w="12700">
            <a:solidFill>
              <a:srgbClr val="FFFFFF">
                <a:alpha val="0"/>
              </a:srgbClr>
            </a:solidFill>
            <a:prstDash val="solid"/>
          </a:ln>
        </p:spPr>
      </p:sp>
      <p:sp>
        <p:nvSpPr>
          <p:cNvPr id="7" name="Text 4"/>
          <p:cNvSpPr txBox="1"/>
          <p:nvPr/>
        </p:nvSpPr>
        <p:spPr>
          <a:xfrm>
            <a:off x="1417320" y="1554480"/>
            <a:ext cx="3931920" cy="749808"/>
          </a:xfrm>
          <a:prstGeom prst="rect">
            <a:avLst/>
          </a:prstGeom>
          <a:noFill/>
          <a:ln/>
        </p:spPr>
        <p:txBody>
          <a:bodyPr wrap="square" lIns="0" tIns="0" rIns="0" bIns="0"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Ik zoek </a:t>
            </a:r>
            <a:r>
              <a:rPr lang="en-US" sz="2200" b="1" i="1" dirty="0">
                <a:solidFill>
                  <a:srgbClr val="FFFFFF"/>
                </a:solidFill>
                <a:latin typeface="Calibri" pitchFamily="34" charset="0"/>
                <a:ea typeface="Calibri" pitchFamily="34" charset="-122"/>
                <a:cs typeface="Calibri" pitchFamily="34" charset="-120"/>
              </a:rPr>
              <a:t>de collega</a:t>
            </a:r>
            <a:endParaRPr lang="en-US" sz="2200" dirty="0"/>
          </a:p>
        </p:txBody>
      </p:sp>
      <p:sp>
        <p:nvSpPr>
          <p:cNvPr id="8" name="Shape 5"/>
          <p:cNvSpPr/>
          <p:nvPr/>
        </p:nvSpPr>
        <p:spPr>
          <a:xfrm>
            <a:off x="1618488" y="2276856"/>
            <a:ext cx="237744" cy="237744"/>
          </a:xfrm>
          <a:prstGeom prst="ellipse">
            <a:avLst/>
          </a:prstGeom>
          <a:solidFill>
            <a:srgbClr val="9AA6B5"/>
          </a:solidFill>
          <a:ln w="12700">
            <a:solidFill>
              <a:srgbClr val="FFFFFF">
                <a:alpha val="0"/>
              </a:srgbClr>
            </a:solidFill>
            <a:prstDash val="solid"/>
          </a:ln>
        </p:spPr>
      </p:sp>
      <p:sp>
        <p:nvSpPr>
          <p:cNvPr id="9" name="Shape 6"/>
          <p:cNvSpPr/>
          <p:nvPr/>
        </p:nvSpPr>
        <p:spPr>
          <a:xfrm>
            <a:off x="4910328" y="2276856"/>
            <a:ext cx="237744" cy="237744"/>
          </a:xfrm>
          <a:prstGeom prst="ellipse">
            <a:avLst/>
          </a:prstGeom>
          <a:solidFill>
            <a:srgbClr val="9AA6B5"/>
          </a:solidFill>
          <a:ln w="12700">
            <a:solidFill>
              <a:srgbClr val="FFFFFF">
                <a:alpha val="0"/>
              </a:srgbClr>
            </a:solidFill>
            <a:prstDash val="solid"/>
          </a:ln>
        </p:spPr>
      </p:sp>
      <p:sp>
        <p:nvSpPr>
          <p:cNvPr id="10" name="Shape 7"/>
          <p:cNvSpPr/>
          <p:nvPr/>
        </p:nvSpPr>
        <p:spPr>
          <a:xfrm>
            <a:off x="5349240" y="1929384"/>
            <a:ext cx="365760" cy="914"/>
          </a:xfrm>
          <a:prstGeom prst="line">
            <a:avLst/>
          </a:prstGeom>
          <a:noFill/>
          <a:ln w="38100">
            <a:solidFill>
              <a:srgbClr val="9AA6B5"/>
            </a:solidFill>
            <a:prstDash val="solid"/>
          </a:ln>
        </p:spPr>
      </p:sp>
      <p:sp>
        <p:nvSpPr>
          <p:cNvPr id="11" name="Shape 8"/>
          <p:cNvSpPr/>
          <p:nvPr/>
        </p:nvSpPr>
        <p:spPr>
          <a:xfrm>
            <a:off x="5715000" y="1554480"/>
            <a:ext cx="5029200" cy="749808"/>
          </a:xfrm>
          <a:prstGeom prst="roundRect">
            <a:avLst>
              <a:gd name="adj" fmla="val 14634"/>
            </a:avLst>
          </a:prstGeom>
          <a:solidFill>
            <a:srgbClr val="E6ECF3"/>
          </a:solidFill>
          <a:ln w="15875">
            <a:solidFill>
              <a:srgbClr val="17375E"/>
            </a:solidFill>
            <a:prstDash val="solid"/>
          </a:ln>
        </p:spPr>
      </p:sp>
      <p:sp>
        <p:nvSpPr>
          <p:cNvPr id="12" name="Text 9"/>
          <p:cNvSpPr txBox="1"/>
          <p:nvPr/>
        </p:nvSpPr>
        <p:spPr>
          <a:xfrm>
            <a:off x="5715000" y="1554480"/>
            <a:ext cx="5029200" cy="749808"/>
          </a:xfrm>
          <a:prstGeom prst="rect">
            <a:avLst/>
          </a:prstGeom>
          <a:noFill/>
          <a:ln/>
        </p:spPr>
        <p:txBody>
          <a:bodyPr wrap="square" lIns="0" tIns="0" rIns="0" bIns="0" rtlCol="0" anchor="ctr"/>
          <a:lstStyle/>
          <a:p>
            <a:pPr algn="ctr" indent="0" marL="0">
              <a:buNone/>
            </a:pPr>
            <a:r>
              <a:rPr lang="en-US" sz="2200" b="1" i="1" dirty="0">
                <a:solidFill>
                  <a:srgbClr val="17375E"/>
                </a:solidFill>
                <a:latin typeface="Calibri" pitchFamily="34" charset="0"/>
                <a:ea typeface="Calibri" pitchFamily="34" charset="-122"/>
                <a:cs typeface="Calibri" pitchFamily="34" charset="-120"/>
              </a:rPr>
              <a:t>die</a:t>
            </a:r>
            <a:r>
              <a:rPr lang="en-US" sz="2200" i="1" dirty="0">
                <a:solidFill>
                  <a:srgbClr val="1B2333"/>
                </a:solidFill>
                <a:latin typeface="Calibri" pitchFamily="34" charset="0"/>
                <a:ea typeface="Calibri" pitchFamily="34" charset="-122"/>
                <a:cs typeface="Calibri" pitchFamily="34" charset="-120"/>
              </a:rPr>
              <a:t> de sleutel </a:t>
            </a:r>
            <a:r>
              <a:rPr lang="en-US" sz="2200" b="1" i="1" dirty="0">
                <a:solidFill>
                  <a:srgbClr val="B83227"/>
                </a:solidFill>
                <a:latin typeface="Calibri" pitchFamily="34" charset="0"/>
                <a:ea typeface="Calibri" pitchFamily="34" charset="-122"/>
                <a:cs typeface="Calibri" pitchFamily="34" charset="-120"/>
              </a:rPr>
              <a:t>heeft</a:t>
            </a:r>
            <a:endParaRPr lang="en-US" sz="2200" dirty="0"/>
          </a:p>
        </p:txBody>
      </p:sp>
      <p:sp>
        <p:nvSpPr>
          <p:cNvPr id="13" name="Shape 10"/>
          <p:cNvSpPr/>
          <p:nvPr/>
        </p:nvSpPr>
        <p:spPr>
          <a:xfrm>
            <a:off x="5916168" y="2276856"/>
            <a:ext cx="237744" cy="237744"/>
          </a:xfrm>
          <a:prstGeom prst="ellipse">
            <a:avLst/>
          </a:prstGeom>
          <a:solidFill>
            <a:srgbClr val="9AA6B5"/>
          </a:solidFill>
          <a:ln w="12700">
            <a:solidFill>
              <a:srgbClr val="FFFFFF">
                <a:alpha val="0"/>
              </a:srgbClr>
            </a:solidFill>
            <a:prstDash val="solid"/>
          </a:ln>
        </p:spPr>
      </p:sp>
      <p:sp>
        <p:nvSpPr>
          <p:cNvPr id="14" name="Shape 11"/>
          <p:cNvSpPr/>
          <p:nvPr/>
        </p:nvSpPr>
        <p:spPr>
          <a:xfrm>
            <a:off x="10305288" y="2276856"/>
            <a:ext cx="237744" cy="237744"/>
          </a:xfrm>
          <a:prstGeom prst="ellipse">
            <a:avLst/>
          </a:prstGeom>
          <a:solidFill>
            <a:srgbClr val="9AA6B5"/>
          </a:solidFill>
          <a:ln w="12700">
            <a:solidFill>
              <a:srgbClr val="FFFFFF">
                <a:alpha val="0"/>
              </a:srgbClr>
            </a:solidFill>
            <a:prstDash val="solid"/>
          </a:ln>
        </p:spPr>
      </p:sp>
      <p:sp>
        <p:nvSpPr>
          <p:cNvPr id="15" name="Text 12"/>
          <p:cNvSpPr txBox="1"/>
          <p:nvPr/>
        </p:nvSpPr>
        <p:spPr>
          <a:xfrm>
            <a:off x="1417320" y="1261872"/>
            <a:ext cx="3931920" cy="256032"/>
          </a:xfrm>
          <a:prstGeom prst="rect">
            <a:avLst/>
          </a:prstGeom>
          <a:noFill/>
          <a:ln/>
        </p:spPr>
        <p:txBody>
          <a:bodyPr wrap="square" lIns="0" tIns="0" rIns="0" bIns="0" rtlCol="0" anchor="ctr"/>
          <a:lstStyle/>
          <a:p>
            <a:pPr algn="ctr" indent="0" marL="0">
              <a:buNone/>
            </a:pPr>
            <a:r>
              <a:rPr lang="en-US" sz="950" b="1" spc="150" kern="0" dirty="0">
                <a:solidFill>
                  <a:srgbClr val="6B7686"/>
                </a:solidFill>
                <a:latin typeface="Calibri" pitchFamily="34" charset="0"/>
                <a:ea typeface="Calibri" pitchFamily="34" charset="-122"/>
                <a:cs typeface="Calibri" pitchFamily="34" charset="-120"/>
              </a:rPr>
              <a:t>LA PRINCIPALE</a:t>
            </a:r>
            <a:endParaRPr lang="en-US" sz="950" dirty="0"/>
          </a:p>
        </p:txBody>
      </p:sp>
      <p:sp>
        <p:nvSpPr>
          <p:cNvPr id="16" name="Text 13"/>
          <p:cNvSpPr txBox="1"/>
          <p:nvPr/>
        </p:nvSpPr>
        <p:spPr>
          <a:xfrm>
            <a:off x="5715000" y="1261872"/>
            <a:ext cx="5029200" cy="256032"/>
          </a:xfrm>
          <a:prstGeom prst="rect">
            <a:avLst/>
          </a:prstGeom>
          <a:noFill/>
          <a:ln/>
        </p:spPr>
        <p:txBody>
          <a:bodyPr wrap="square" lIns="0" tIns="0" rIns="0" bIns="0" rtlCol="0" anchor="ctr"/>
          <a:lstStyle/>
          <a:p>
            <a:pPr algn="ctr" indent="0" marL="0">
              <a:buNone/>
            </a:pPr>
            <a:r>
              <a:rPr lang="en-US" sz="950" b="1" spc="150" kern="0" dirty="0">
                <a:solidFill>
                  <a:srgbClr val="6B7686"/>
                </a:solidFill>
                <a:latin typeface="Calibri" pitchFamily="34" charset="0"/>
                <a:ea typeface="Calibri" pitchFamily="34" charset="-122"/>
                <a:cs typeface="Calibri" pitchFamily="34" charset="-120"/>
              </a:rPr>
              <a:t>LE WAGON : LA RELATIVE</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293876" y="2743200"/>
          <a:ext cx="9601200" cy="914400"/>
        </p:xfrm>
        <a:graphic>
          <a:graphicData uri="http://schemas.openxmlformats.org/drawingml/2006/table">
            <a:tbl>
              <a:tblPr/>
              <a:tblGrid>
                <a:gridCol w="5486400"/>
                <a:gridCol w="4114800"/>
              </a:tblGrid>
              <a:tr h="438912">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LA RELATIVE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À LA FIN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38912">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de sleutel </a:t>
                      </a:r>
                      <a:r>
                        <a:rPr lang="en-US" sz="1650" b="1" i="1" dirty="0">
                          <a:solidFill>
                            <a:srgbClr val="B83227"/>
                          </a:solidFill>
                          <a:latin typeface="Calibri" pitchFamily="34" charset="0"/>
                          <a:ea typeface="Calibri" pitchFamily="34" charset="-122"/>
                          <a:cs typeface="Calibri" pitchFamily="34" charset="-120"/>
                        </a:rPr>
                        <a:t>heeft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un verbe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klant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ik morgen </a:t>
                      </a:r>
                      <a:r>
                        <a:rPr lang="en-US" sz="1650" b="1" i="1" dirty="0">
                          <a:solidFill>
                            <a:srgbClr val="B83227"/>
                          </a:solidFill>
                          <a:latin typeface="Calibri" pitchFamily="34" charset="0"/>
                          <a:ea typeface="Calibri" pitchFamily="34" charset="-122"/>
                          <a:cs typeface="Calibri" pitchFamily="34" charset="-120"/>
                        </a:rPr>
                        <a:t>moet bellen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verbe + infinitif</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dossier </a:t>
                      </a:r>
                      <a:r>
                        <a:rPr lang="en-US" sz="1650" b="1" i="1" dirty="0">
                          <a:solidFill>
                            <a:srgbClr val="D9700F"/>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ik gisteren </a:t>
                      </a:r>
                      <a:r>
                        <a:rPr lang="en-US" sz="1650" b="1" i="1" dirty="0">
                          <a:solidFill>
                            <a:srgbClr val="B83227"/>
                          </a:solidFill>
                          <a:latin typeface="Calibri" pitchFamily="34" charset="0"/>
                          <a:ea typeface="Calibri" pitchFamily="34" charset="-122"/>
                          <a:cs typeface="Calibri" pitchFamily="34" charset="-120"/>
                        </a:rPr>
                        <a:t>heb gelezen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auxiliaire + participe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altijd vroeg </a:t>
                      </a:r>
                      <a:r>
                        <a:rPr lang="en-US" sz="1650" b="1" i="1" dirty="0">
                          <a:solidFill>
                            <a:srgbClr val="B83227"/>
                          </a:solidFill>
                          <a:latin typeface="Calibri" pitchFamily="34" charset="0"/>
                          <a:ea typeface="Calibri" pitchFamily="34" charset="-122"/>
                          <a:cs typeface="Calibri" pitchFamily="34" charset="-120"/>
                        </a:rPr>
                        <a:t>opstaat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le verbe séparable se recolle (M11)</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5120640"/>
            <a:ext cx="5138928" cy="868680"/>
          </a:xfrm>
          <a:prstGeom prst="roundRect">
            <a:avLst>
              <a:gd name="adj" fmla="val 10526"/>
            </a:avLst>
          </a:prstGeom>
          <a:solidFill>
            <a:srgbClr val="E8F4EC"/>
          </a:solidFill>
          <a:ln w="12700">
            <a:solidFill>
              <a:srgbClr val="FFFFFF">
                <a:alpha val="0"/>
              </a:srgbClr>
            </a:solidFill>
            <a:prstDash val="solid"/>
          </a:ln>
        </p:spPr>
      </p:sp>
      <p:sp>
        <p:nvSpPr>
          <p:cNvPr id="19" name="Shape 15"/>
          <p:cNvSpPr/>
          <p:nvPr/>
        </p:nvSpPr>
        <p:spPr>
          <a:xfrm>
            <a:off x="996696" y="5294376"/>
            <a:ext cx="310896" cy="310896"/>
          </a:xfrm>
          <a:prstGeom prst="ellipse">
            <a:avLst/>
          </a:prstGeom>
          <a:solidFill>
            <a:srgbClr val="2E7D4F"/>
          </a:solidFill>
          <a:ln w="12700">
            <a:solidFill>
              <a:srgbClr val="FFFFFF">
                <a:alpha val="0"/>
              </a:srgbClr>
            </a:solidFill>
            <a:prstDash val="solid"/>
          </a:ln>
        </p:spPr>
      </p:sp>
      <p:sp>
        <p:nvSpPr>
          <p:cNvPr id="20" name="Text 16"/>
          <p:cNvSpPr txBox="1"/>
          <p:nvPr/>
        </p:nvSpPr>
        <p:spPr>
          <a:xfrm>
            <a:off x="996696"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523036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22" name="Text 18"/>
          <p:cNvSpPr txBox="1"/>
          <p:nvPr/>
        </p:nvSpPr>
        <p:spPr>
          <a:xfrm>
            <a:off x="1444752" y="5522976"/>
            <a:ext cx="4361688" cy="393192"/>
          </a:xfrm>
          <a:prstGeom prst="rect">
            <a:avLst/>
          </a:prstGeom>
          <a:noFill/>
          <a:ln/>
        </p:spPr>
        <p:txBody>
          <a:bodyPr wrap="square" lIns="0" tIns="0" rIns="0" bIns="0" rtlCol="0" anchor="t"/>
          <a:lstStyle/>
          <a:p>
            <a:pPr algn="l" indent="0" marL="0">
              <a:spcAft>
                <a:spcPts val="200"/>
              </a:spcAft>
              <a:buNone/>
            </a:pPr>
            <a:r>
              <a:rPr lang="en-US" sz="1400" b="1" dirty="0">
                <a:solidFill>
                  <a:srgbClr val="1B2333"/>
                </a:solidFill>
                <a:latin typeface="Calibri" pitchFamily="34" charset="0"/>
                <a:ea typeface="Calibri" pitchFamily="34" charset="-122"/>
                <a:cs typeface="Calibri" pitchFamily="34" charset="-120"/>
              </a:rPr>
              <a:t>tous</a:t>
            </a:r>
            <a:r>
              <a:rPr lang="en-US" sz="1400" dirty="0">
                <a:solidFill>
                  <a:srgbClr val="1B2333"/>
                </a:solidFill>
                <a:latin typeface="Calibri" pitchFamily="34" charset="0"/>
                <a:ea typeface="Calibri" pitchFamily="34" charset="-122"/>
                <a:cs typeface="Calibri" pitchFamily="34" charset="-120"/>
              </a:rPr>
              <a:t> les verbes au bout de la relative : </a:t>
            </a:r>
            <a:r>
              <a:rPr lang="en-US" sz="1400" b="1" i="1" dirty="0">
                <a:solidFill>
                  <a:srgbClr val="B83227"/>
                </a:solidFill>
                <a:latin typeface="Calibri" pitchFamily="34" charset="0"/>
                <a:ea typeface="Calibri" pitchFamily="34" charset="-122"/>
                <a:cs typeface="Calibri" pitchFamily="34" charset="-120"/>
              </a:rPr>
              <a:t>moet bellen</a:t>
            </a:r>
            <a:r>
              <a:rPr lang="en-US" sz="1400" i="1" dirty="0">
                <a:solidFill>
                  <a:srgbClr val="1B2333"/>
                </a:solidFill>
                <a:latin typeface="Calibri" pitchFamily="34" charset="0"/>
                <a:ea typeface="Calibri" pitchFamily="34" charset="-122"/>
                <a:cs typeface="Calibri" pitchFamily="34" charset="-120"/>
              </a:rPr>
              <a:t>, </a:t>
            </a:r>
            <a:r>
              <a:rPr lang="en-US" sz="1400" b="1" i="1" dirty="0">
                <a:solidFill>
                  <a:srgbClr val="B83227"/>
                </a:solidFill>
                <a:latin typeface="Calibri" pitchFamily="34" charset="0"/>
                <a:ea typeface="Calibri" pitchFamily="34" charset="-122"/>
                <a:cs typeface="Calibri" pitchFamily="34" charset="-120"/>
              </a:rPr>
              <a:t>heb gelezen</a:t>
            </a:r>
            <a:endParaRPr lang="en-US" sz="1400" dirty="0"/>
          </a:p>
        </p:txBody>
      </p:sp>
      <p:sp>
        <p:nvSpPr>
          <p:cNvPr id="23" name="Shape 19"/>
          <p:cNvSpPr/>
          <p:nvPr/>
        </p:nvSpPr>
        <p:spPr>
          <a:xfrm>
            <a:off x="6236208" y="5120640"/>
            <a:ext cx="5138928" cy="868680"/>
          </a:xfrm>
          <a:prstGeom prst="roundRect">
            <a:avLst>
              <a:gd name="adj" fmla="val 10526"/>
            </a:avLst>
          </a:prstGeom>
          <a:solidFill>
            <a:srgbClr val="EAF2FB"/>
          </a:solidFill>
          <a:ln w="12700">
            <a:solidFill>
              <a:srgbClr val="FFFFFF">
                <a:alpha val="0"/>
              </a:srgbClr>
            </a:solidFill>
            <a:prstDash val="solid"/>
          </a:ln>
        </p:spPr>
      </p:sp>
      <p:sp>
        <p:nvSpPr>
          <p:cNvPr id="24" name="Shape 20"/>
          <p:cNvSpPr/>
          <p:nvPr/>
        </p:nvSpPr>
        <p:spPr>
          <a:xfrm>
            <a:off x="6409944" y="5294376"/>
            <a:ext cx="310896" cy="310896"/>
          </a:xfrm>
          <a:prstGeom prst="ellipse">
            <a:avLst/>
          </a:prstGeom>
          <a:solidFill>
            <a:srgbClr val="2A6FB0"/>
          </a:solidFill>
          <a:ln w="12700">
            <a:solidFill>
              <a:srgbClr val="FFFFFF">
                <a:alpha val="0"/>
              </a:srgbClr>
            </a:solidFill>
            <a:prstDash val="solid"/>
          </a:ln>
        </p:spPr>
      </p:sp>
      <p:sp>
        <p:nvSpPr>
          <p:cNvPr id="25" name="Text 21"/>
          <p:cNvSpPr txBox="1"/>
          <p:nvPr/>
        </p:nvSpPr>
        <p:spPr>
          <a:xfrm>
            <a:off x="6409944"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5230368"/>
            <a:ext cx="4361688" cy="292608"/>
          </a:xfrm>
          <a:prstGeom prst="rect">
            <a:avLst/>
          </a:prstGeom>
          <a:noFill/>
          <a:ln/>
        </p:spPr>
        <p:txBody>
          <a:bodyPr wrap="square" lIns="0" tIns="0" rIns="0" bIns="0" rtlCol="0" anchor="ctr"/>
          <a:lstStyle/>
          <a:p>
            <a:pPr algn="l" indent="0" marL="0">
              <a:buNone/>
            </a:pPr>
            <a:r>
              <a:rPr lang="en-US" sz="1300" b="1" dirty="0">
                <a:solidFill>
                  <a:srgbClr val="2A6FB0"/>
                </a:solidFill>
                <a:latin typeface="Calibri" pitchFamily="34" charset="0"/>
                <a:ea typeface="Calibri" pitchFamily="34" charset="-122"/>
                <a:cs typeface="Calibri" pitchFamily="34" charset="-120"/>
              </a:rPr>
              <a:t>Deux ordres</a:t>
            </a:r>
            <a:endParaRPr lang="en-US" sz="1300" dirty="0"/>
          </a:p>
        </p:txBody>
      </p:sp>
      <p:sp>
        <p:nvSpPr>
          <p:cNvPr id="27" name="Text 23"/>
          <p:cNvSpPr txBox="1"/>
          <p:nvPr/>
        </p:nvSpPr>
        <p:spPr>
          <a:xfrm>
            <a:off x="6858000" y="5522976"/>
            <a:ext cx="4361688" cy="393192"/>
          </a:xfrm>
          <a:prstGeom prst="rect">
            <a:avLst/>
          </a:prstGeom>
          <a:noFill/>
          <a:ln/>
        </p:spPr>
        <p:txBody>
          <a:bodyPr wrap="square" lIns="0" tIns="0" rIns="0" bIns="0" rtlCol="0" anchor="t"/>
          <a:lstStyle/>
          <a:p>
            <a:pPr algn="l" indent="0" marL="0">
              <a:spcAft>
                <a:spcPts val="200"/>
              </a:spcAft>
              <a:buNone/>
            </a:pPr>
            <a:r>
              <a:rPr lang="en-US" sz="1400" b="1" i="1" dirty="0">
                <a:solidFill>
                  <a:srgbClr val="B83227"/>
                </a:solidFill>
                <a:latin typeface="Calibri" pitchFamily="34" charset="0"/>
                <a:ea typeface="Calibri" pitchFamily="34" charset="-122"/>
                <a:cs typeface="Calibri" pitchFamily="34" charset="-120"/>
              </a:rPr>
              <a:t>heb gelezen</a:t>
            </a:r>
            <a:r>
              <a:rPr lang="en-US" sz="1400" dirty="0">
                <a:solidFill>
                  <a:srgbClr val="1B2333"/>
                </a:solidFill>
                <a:latin typeface="Calibri" pitchFamily="34" charset="0"/>
                <a:ea typeface="Calibri" pitchFamily="34" charset="-122"/>
                <a:cs typeface="Calibri" pitchFamily="34" charset="-120"/>
              </a:rPr>
              <a:t> = </a:t>
            </a:r>
            <a:r>
              <a:rPr lang="en-US" sz="1400" b="1" i="1" dirty="0">
                <a:solidFill>
                  <a:srgbClr val="B83227"/>
                </a:solidFill>
                <a:latin typeface="Calibri" pitchFamily="34" charset="0"/>
                <a:ea typeface="Calibri" pitchFamily="34" charset="-122"/>
                <a:cs typeface="Calibri" pitchFamily="34" charset="-120"/>
              </a:rPr>
              <a:t>gelezen heb</a:t>
            </a:r>
            <a:r>
              <a:rPr lang="en-US" sz="1400" dirty="0">
                <a:solidFill>
                  <a:srgbClr val="1B2333"/>
                </a:solidFill>
                <a:latin typeface="Calibri" pitchFamily="34" charset="0"/>
                <a:ea typeface="Calibri" pitchFamily="34" charset="-122"/>
                <a:cs typeface="Calibri" pitchFamily="34" charset="-120"/>
              </a:rPr>
              <a:t> : les deux sont corrects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relative au milieu : verbe, verbe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LA PLACE</a:t>
            </a:r>
            <a:endParaRPr lang="en-US" sz="1100" dirty="0"/>
          </a:p>
        </p:txBody>
      </p:sp>
      <p:sp>
        <p:nvSpPr>
          <p:cNvPr id="5" name="Shape 2"/>
          <p:cNvSpPr/>
          <p:nvPr/>
        </p:nvSpPr>
        <p:spPr>
          <a:xfrm>
            <a:off x="2391283" y="2011680"/>
            <a:ext cx="1789748" cy="640080"/>
          </a:xfrm>
          <a:prstGeom prst="roundRect">
            <a:avLst>
              <a:gd name="adj" fmla="val 14286"/>
            </a:avLst>
          </a:prstGeom>
          <a:solidFill>
            <a:srgbClr val="FFFFFF"/>
          </a:solidFill>
          <a:ln w="19050">
            <a:solidFill>
              <a:srgbClr val="17375E"/>
            </a:solidFill>
            <a:prstDash val="solid"/>
          </a:ln>
        </p:spPr>
      </p:sp>
      <p:sp>
        <p:nvSpPr>
          <p:cNvPr id="6" name="Text 3"/>
          <p:cNvSpPr txBox="1"/>
          <p:nvPr/>
        </p:nvSpPr>
        <p:spPr>
          <a:xfrm>
            <a:off x="2391283" y="2011680"/>
            <a:ext cx="1789748" cy="640080"/>
          </a:xfrm>
          <a:prstGeom prst="rect">
            <a:avLst/>
          </a:prstGeom>
          <a:noFill/>
          <a:ln/>
        </p:spPr>
        <p:txBody>
          <a:bodyPr wrap="square" lIns="0" tIns="0" rIns="0" bIns="0" rtlCol="0" anchor="ctr"/>
          <a:lstStyle/>
          <a:p>
            <a:pPr algn="ctr" indent="0" marL="0">
              <a:buNone/>
            </a:pPr>
            <a:r>
              <a:rPr lang="en-US" sz="2500" i="1" dirty="0">
                <a:solidFill>
                  <a:srgbClr val="1B2333"/>
                </a:solidFill>
                <a:latin typeface="Calibri" pitchFamily="34" charset="0"/>
                <a:ea typeface="Calibri" pitchFamily="34" charset="-122"/>
                <a:cs typeface="Calibri" pitchFamily="34" charset="-120"/>
              </a:rPr>
              <a:t>De collega</a:t>
            </a:r>
            <a:endParaRPr lang="en-US" sz="2500" dirty="0"/>
          </a:p>
        </p:txBody>
      </p:sp>
      <p:sp>
        <p:nvSpPr>
          <p:cNvPr id="7" name="Shape 4"/>
          <p:cNvSpPr/>
          <p:nvPr/>
        </p:nvSpPr>
        <p:spPr>
          <a:xfrm>
            <a:off x="4290759" y="1847088"/>
            <a:ext cx="2679065" cy="640080"/>
          </a:xfrm>
          <a:prstGeom prst="roundRect">
            <a:avLst>
              <a:gd name="adj" fmla="val 14286"/>
            </a:avLst>
          </a:prstGeom>
          <a:solidFill>
            <a:srgbClr val="E6ECF3"/>
          </a:solidFill>
          <a:ln w="12700">
            <a:solidFill>
              <a:srgbClr val="FFFFFF">
                <a:alpha val="0"/>
              </a:srgbClr>
            </a:solidFill>
            <a:prstDash val="solid"/>
          </a:ln>
          <a:effectLst>
            <a:outerShdw sx="100000" sy="100000" kx="0" ky="0" algn="bl" rotWithShape="0" blurRad="76200" dist="25400" dir="5400000">
              <a:srgbClr val="1B2430">
                <a:alpha val="10000"/>
              </a:srgbClr>
            </a:outerShdw>
          </a:effectLst>
        </p:spPr>
      </p:sp>
      <p:sp>
        <p:nvSpPr>
          <p:cNvPr id="8" name="Text 5"/>
          <p:cNvSpPr txBox="1"/>
          <p:nvPr/>
        </p:nvSpPr>
        <p:spPr>
          <a:xfrm>
            <a:off x="4290759" y="1847088"/>
            <a:ext cx="2679065" cy="640080"/>
          </a:xfrm>
          <a:prstGeom prst="rect">
            <a:avLst/>
          </a:prstGeom>
          <a:noFill/>
          <a:ln/>
        </p:spPr>
        <p:txBody>
          <a:bodyPr wrap="square" lIns="0" tIns="0" rIns="0" bIns="0" rtlCol="0" anchor="ctr"/>
          <a:lstStyle/>
          <a:p>
            <a:pPr algn="ctr" indent="0" marL="0">
              <a:buNone/>
            </a:pPr>
            <a:r>
              <a:rPr lang="en-US" sz="2500" b="1" i="1" dirty="0">
                <a:solidFill>
                  <a:srgbClr val="17375E"/>
                </a:solidFill>
                <a:latin typeface="Calibri" pitchFamily="34" charset="0"/>
                <a:ea typeface="Calibri" pitchFamily="34" charset="-122"/>
                <a:cs typeface="Calibri" pitchFamily="34" charset="-120"/>
              </a:rPr>
              <a:t>die</a:t>
            </a:r>
            <a:r>
              <a:rPr lang="en-US" sz="2500" i="1" dirty="0">
                <a:solidFill>
                  <a:srgbClr val="1B2333"/>
                </a:solidFill>
                <a:latin typeface="Calibri" pitchFamily="34" charset="0"/>
                <a:ea typeface="Calibri" pitchFamily="34" charset="-122"/>
                <a:cs typeface="Calibri" pitchFamily="34" charset="-120"/>
              </a:rPr>
              <a:t> naast me </a:t>
            </a:r>
            <a:r>
              <a:rPr lang="en-US" sz="2500" b="1" i="1" dirty="0">
                <a:solidFill>
                  <a:srgbClr val="B83227"/>
                </a:solidFill>
                <a:latin typeface="Calibri" pitchFamily="34" charset="0"/>
                <a:ea typeface="Calibri" pitchFamily="34" charset="-122"/>
                <a:cs typeface="Calibri" pitchFamily="34" charset="-120"/>
              </a:rPr>
              <a:t>zit</a:t>
            </a:r>
            <a:r>
              <a:rPr lang="en-US" sz="2500" i="1" dirty="0">
                <a:solidFill>
                  <a:srgbClr val="1B2333"/>
                </a:solidFill>
                <a:latin typeface="Calibri" pitchFamily="34" charset="0"/>
                <a:ea typeface="Calibri" pitchFamily="34" charset="-122"/>
                <a:cs typeface="Calibri" pitchFamily="34" charset="-120"/>
              </a:rPr>
              <a:t>,</a:t>
            </a:r>
            <a:endParaRPr lang="en-US" sz="2500" dirty="0"/>
          </a:p>
        </p:txBody>
      </p:sp>
      <p:sp>
        <p:nvSpPr>
          <p:cNvPr id="9" name="Shape 6"/>
          <p:cNvSpPr/>
          <p:nvPr/>
        </p:nvSpPr>
        <p:spPr>
          <a:xfrm>
            <a:off x="7079552" y="2011680"/>
            <a:ext cx="2718118" cy="640080"/>
          </a:xfrm>
          <a:prstGeom prst="roundRect">
            <a:avLst>
              <a:gd name="adj" fmla="val 14286"/>
            </a:avLst>
          </a:prstGeom>
          <a:solidFill>
            <a:srgbClr val="FFFFFF"/>
          </a:solidFill>
          <a:ln w="19050">
            <a:solidFill>
              <a:srgbClr val="17375E"/>
            </a:solidFill>
            <a:prstDash val="solid"/>
          </a:ln>
        </p:spPr>
      </p:sp>
      <p:sp>
        <p:nvSpPr>
          <p:cNvPr id="10" name="Text 7"/>
          <p:cNvSpPr txBox="1"/>
          <p:nvPr/>
        </p:nvSpPr>
        <p:spPr>
          <a:xfrm>
            <a:off x="7079552" y="2011680"/>
            <a:ext cx="2718118" cy="640080"/>
          </a:xfrm>
          <a:prstGeom prst="rect">
            <a:avLst/>
          </a:prstGeom>
          <a:noFill/>
          <a:ln/>
        </p:spPr>
        <p:txBody>
          <a:bodyPr wrap="square" lIns="0" tIns="0" rIns="0" bIns="0" rtlCol="0" anchor="ctr"/>
          <a:lstStyle/>
          <a:p>
            <a:pPr algn="ctr" indent="0" marL="0">
              <a:buNone/>
            </a:pPr>
            <a:r>
              <a:rPr lang="en-US" sz="2500" b="1" i="1" dirty="0">
                <a:solidFill>
                  <a:srgbClr val="B83227"/>
                </a:solidFill>
                <a:latin typeface="Calibri" pitchFamily="34" charset="0"/>
                <a:ea typeface="Calibri" pitchFamily="34" charset="-122"/>
                <a:cs typeface="Calibri" pitchFamily="34" charset="-120"/>
              </a:rPr>
              <a:t>spreekt</a:t>
            </a:r>
            <a:r>
              <a:rPr lang="en-US" sz="2500" i="1" dirty="0">
                <a:solidFill>
                  <a:srgbClr val="1B2333"/>
                </a:solidFill>
                <a:latin typeface="Calibri" pitchFamily="34" charset="0"/>
                <a:ea typeface="Calibri" pitchFamily="34" charset="-122"/>
                <a:cs typeface="Calibri" pitchFamily="34" charset="-120"/>
              </a:rPr>
              <a:t> vijf talen.</a:t>
            </a:r>
            <a:endParaRPr lang="en-US" sz="2500" dirty="0"/>
          </a:p>
        </p:txBody>
      </p:sp>
      <p:sp>
        <p:nvSpPr>
          <p:cNvPr id="11" name="Shape 8"/>
          <p:cNvSpPr/>
          <p:nvPr/>
        </p:nvSpPr>
        <p:spPr>
          <a:xfrm>
            <a:off x="3286157" y="1536192"/>
            <a:ext cx="5152454" cy="768096"/>
          </a:xfrm>
          <a:prstGeom prst="arc">
            <a:avLst>
              <a:gd name="adj1" fmla="val 10800000"/>
              <a:gd name="adj2" fmla="val 21600000"/>
            </a:avLst>
          </a:prstGeom>
          <a:solidFill>
            <a:srgbClr val="FFFFFF">
              <a:alpha val="0"/>
            </a:srgbClr>
          </a:solidFill>
          <a:ln w="19050">
            <a:solidFill>
              <a:srgbClr val="9AA6B5"/>
            </a:solidFill>
            <a:prstDash val="solid"/>
          </a:ln>
        </p:spPr>
      </p:sp>
      <p:sp>
        <p:nvSpPr>
          <p:cNvPr id="12" name="Text 9"/>
          <p:cNvSpPr txBox="1"/>
          <p:nvPr/>
        </p:nvSpPr>
        <p:spPr>
          <a:xfrm>
            <a:off x="4265676" y="1261872"/>
            <a:ext cx="3657600" cy="256032"/>
          </a:xfrm>
          <a:prstGeom prst="rect">
            <a:avLst/>
          </a:prstGeom>
          <a:noFill/>
          <a:ln/>
        </p:spPr>
        <p:txBody>
          <a:bodyPr wrap="square" lIns="0" tIns="0" rIns="0" bIns="0" rtlCol="0" anchor="ctr"/>
          <a:lstStyle/>
          <a:p>
            <a:pPr algn="ctr" indent="0" marL="0">
              <a:buNone/>
            </a:pPr>
            <a:r>
              <a:rPr lang="en-US" sz="950" b="1" spc="150" kern="0" dirty="0">
                <a:solidFill>
                  <a:srgbClr val="6B7686"/>
                </a:solidFill>
                <a:latin typeface="Calibri" pitchFamily="34" charset="0"/>
                <a:ea typeface="Calibri" pitchFamily="34" charset="-122"/>
                <a:cs typeface="Calibri" pitchFamily="34" charset="-120"/>
              </a:rPr>
              <a:t>LA PRINCIPALE CONTINUE</a:t>
            </a:r>
            <a:endParaRPr lang="en-US" sz="950" dirty="0"/>
          </a:p>
        </p:txBody>
      </p:sp>
      <p:sp>
        <p:nvSpPr>
          <p:cNvPr id="13" name="Text 10"/>
          <p:cNvSpPr txBox="1"/>
          <p:nvPr/>
        </p:nvSpPr>
        <p:spPr>
          <a:xfrm>
            <a:off x="5872544" y="2724912"/>
            <a:ext cx="2194560" cy="274320"/>
          </a:xfrm>
          <a:prstGeom prst="rect">
            <a:avLst/>
          </a:prstGeom>
          <a:noFill/>
          <a:ln/>
        </p:spPr>
        <p:txBody>
          <a:bodyPr wrap="square" lIns="0" tIns="0" rIns="0" bIns="0" rtlCol="0" anchor="ctr"/>
          <a:lstStyle/>
          <a:p>
            <a:pPr algn="ctr" indent="0" marL="0">
              <a:buNone/>
            </a:pPr>
            <a:r>
              <a:rPr lang="en-US" sz="1100" b="1" spc="150" kern="0" dirty="0">
                <a:solidFill>
                  <a:srgbClr val="B83227"/>
                </a:solidFill>
                <a:latin typeface="Calibri" pitchFamily="34" charset="0"/>
                <a:ea typeface="Calibri" pitchFamily="34" charset="-122"/>
                <a:cs typeface="Calibri" pitchFamily="34" charset="-120"/>
              </a:rPr>
              <a:t>VERBE, VERBE</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751076" y="3154680"/>
          <a:ext cx="8686800" cy="914400"/>
        </p:xfrm>
        <a:graphic>
          <a:graphicData uri="http://schemas.openxmlformats.org/drawingml/2006/table">
            <a:tbl>
              <a:tblPr/>
              <a:tblGrid>
                <a:gridCol w="8686800"/>
              </a:tblGrid>
              <a:tr h="42062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EXEMPLES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rapport </a:t>
                      </a:r>
                      <a:r>
                        <a:rPr lang="en-US" sz="1700" b="1" i="1" dirty="0">
                          <a:solidFill>
                            <a:srgbClr val="D9700F"/>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Sofie </a:t>
                      </a:r>
                      <a:r>
                        <a:rPr lang="en-US" sz="1700" b="1" i="1" dirty="0">
                          <a:solidFill>
                            <a:srgbClr val="B83227"/>
                          </a:solidFill>
                          <a:latin typeface="Calibri" pitchFamily="34" charset="0"/>
                          <a:ea typeface="Calibri" pitchFamily="34" charset="-122"/>
                          <a:cs typeface="Calibri" pitchFamily="34" charset="-120"/>
                        </a:rPr>
                        <a:t>schrijft</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B83227"/>
                          </a:solidFill>
                          <a:latin typeface="Calibri" pitchFamily="34" charset="0"/>
                          <a:ea typeface="Calibri" pitchFamily="34" charset="-122"/>
                          <a:cs typeface="Calibri" pitchFamily="34" charset="-120"/>
                        </a:rPr>
                        <a:t>is</a:t>
                      </a:r>
                      <a:r>
                        <a:rPr lang="en-US" sz="1700" i="1" dirty="0">
                          <a:solidFill>
                            <a:srgbClr val="1B2333"/>
                          </a:solidFill>
                          <a:latin typeface="Calibri" pitchFamily="34" charset="0"/>
                          <a:ea typeface="Calibri" pitchFamily="34" charset="-122"/>
                          <a:cs typeface="Calibri" pitchFamily="34" charset="-120"/>
                        </a:rPr>
                        <a:t> bijna klaar.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klanten </a:t>
                      </a:r>
                      <a:r>
                        <a:rPr lang="en-US" sz="1700" b="1" i="1" dirty="0">
                          <a:solidFill>
                            <a:srgbClr val="17375E"/>
                          </a:solidFill>
                          <a:latin typeface="Calibri" pitchFamily="34" charset="0"/>
                          <a:ea typeface="Calibri" pitchFamily="34" charset="-122"/>
                          <a:cs typeface="Calibri" pitchFamily="34" charset="-120"/>
                        </a:rPr>
                        <a:t>die</a:t>
                      </a:r>
                      <a:r>
                        <a:rPr lang="en-US" sz="1700" i="1" dirty="0">
                          <a:solidFill>
                            <a:srgbClr val="1B2333"/>
                          </a:solidFill>
                          <a:latin typeface="Calibri" pitchFamily="34" charset="0"/>
                          <a:ea typeface="Calibri" pitchFamily="34" charset="-122"/>
                          <a:cs typeface="Calibri" pitchFamily="34" charset="-120"/>
                        </a:rPr>
                        <a:t> gebeld </a:t>
                      </a:r>
                      <a:r>
                        <a:rPr lang="en-US" sz="1700" b="1" i="1" dirty="0">
                          <a:solidFill>
                            <a:srgbClr val="B83227"/>
                          </a:solidFill>
                          <a:latin typeface="Calibri" pitchFamily="34" charset="0"/>
                          <a:ea typeface="Calibri" pitchFamily="34" charset="-122"/>
                          <a:cs typeface="Calibri" pitchFamily="34" charset="-120"/>
                        </a:rPr>
                        <a:t>hebben</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B83227"/>
                          </a:solidFill>
                          <a:latin typeface="Calibri" pitchFamily="34" charset="0"/>
                          <a:ea typeface="Calibri" pitchFamily="34" charset="-122"/>
                          <a:cs typeface="Calibri" pitchFamily="34" charset="-120"/>
                        </a:rPr>
                        <a:t>krijgen</a:t>
                      </a:r>
                      <a:r>
                        <a:rPr lang="en-US" sz="1700" i="1" dirty="0">
                          <a:solidFill>
                            <a:srgbClr val="1B2333"/>
                          </a:solidFill>
                          <a:latin typeface="Calibri" pitchFamily="34" charset="0"/>
                          <a:ea typeface="Calibri" pitchFamily="34" charset="-122"/>
                          <a:cs typeface="Calibri" pitchFamily="34" charset="-120"/>
                        </a:rPr>
                        <a:t> een antwoord.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printer </a:t>
                      </a:r>
                      <a:r>
                        <a:rPr lang="en-US" sz="1700" b="1" i="1" dirty="0">
                          <a:solidFill>
                            <a:srgbClr val="17375E"/>
                          </a:solidFill>
                          <a:latin typeface="Calibri" pitchFamily="34" charset="0"/>
                          <a:ea typeface="Calibri" pitchFamily="34" charset="-122"/>
                          <a:cs typeface="Calibri" pitchFamily="34" charset="-120"/>
                        </a:rPr>
                        <a:t>die</a:t>
                      </a:r>
                      <a:r>
                        <a:rPr lang="en-US" sz="1700" i="1" dirty="0">
                          <a:solidFill>
                            <a:srgbClr val="1B2333"/>
                          </a:solidFill>
                          <a:latin typeface="Calibri" pitchFamily="34" charset="0"/>
                          <a:ea typeface="Calibri" pitchFamily="34" charset="-122"/>
                          <a:cs typeface="Calibri" pitchFamily="34" charset="-120"/>
                        </a:rPr>
                        <a:t> op de eerste verdieping </a:t>
                      </a:r>
                      <a:r>
                        <a:rPr lang="en-US" sz="1700" b="1" i="1" dirty="0">
                          <a:solidFill>
                            <a:srgbClr val="B83227"/>
                          </a:solidFill>
                          <a:latin typeface="Calibri" pitchFamily="34" charset="0"/>
                          <a:ea typeface="Calibri" pitchFamily="34" charset="-122"/>
                          <a:cs typeface="Calibri" pitchFamily="34" charset="-120"/>
                        </a:rPr>
                        <a:t>staat</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B83227"/>
                          </a:solidFill>
                          <a:latin typeface="Calibri" pitchFamily="34" charset="0"/>
                          <a:ea typeface="Calibri" pitchFamily="34" charset="-122"/>
                          <a:cs typeface="Calibri" pitchFamily="34" charset="-120"/>
                        </a:rPr>
                        <a:t>werkt</a:t>
                      </a:r>
                      <a:r>
                        <a:rPr lang="en-US" sz="1700" i="1" dirty="0">
                          <a:solidFill>
                            <a:srgbClr val="1B2333"/>
                          </a:solidFill>
                          <a:latin typeface="Calibri" pitchFamily="34" charset="0"/>
                          <a:ea typeface="Calibri" pitchFamily="34" charset="-122"/>
                          <a:cs typeface="Calibri" pitchFamily="34" charset="-120"/>
                        </a:rPr>
                        <a:t> niet.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5" name="Shape 11"/>
          <p:cNvSpPr/>
          <p:nvPr/>
        </p:nvSpPr>
        <p:spPr>
          <a:xfrm>
            <a:off x="822960" y="5074920"/>
            <a:ext cx="5138928" cy="914400"/>
          </a:xfrm>
          <a:prstGeom prst="roundRect">
            <a:avLst>
              <a:gd name="adj" fmla="val 10000"/>
            </a:avLst>
          </a:prstGeom>
          <a:solidFill>
            <a:srgbClr val="E8F4EC"/>
          </a:solidFill>
          <a:ln w="12700">
            <a:solidFill>
              <a:srgbClr val="FFFFFF">
                <a:alpha val="0"/>
              </a:srgbClr>
            </a:solidFill>
            <a:prstDash val="solid"/>
          </a:ln>
        </p:spPr>
      </p:sp>
      <p:sp>
        <p:nvSpPr>
          <p:cNvPr id="16" name="Shape 12"/>
          <p:cNvSpPr/>
          <p:nvPr/>
        </p:nvSpPr>
        <p:spPr>
          <a:xfrm>
            <a:off x="996696" y="5248656"/>
            <a:ext cx="310896" cy="310896"/>
          </a:xfrm>
          <a:prstGeom prst="ellipse">
            <a:avLst/>
          </a:prstGeom>
          <a:solidFill>
            <a:srgbClr val="2E7D4F"/>
          </a:solidFill>
          <a:ln w="12700">
            <a:solidFill>
              <a:srgbClr val="FFFFFF">
                <a:alpha val="0"/>
              </a:srgbClr>
            </a:solidFill>
            <a:prstDash val="solid"/>
          </a:ln>
        </p:spPr>
      </p:sp>
      <p:sp>
        <p:nvSpPr>
          <p:cNvPr id="17" name="Text 13"/>
          <p:cNvSpPr txBox="1"/>
          <p:nvPr/>
        </p:nvSpPr>
        <p:spPr>
          <a:xfrm>
            <a:off x="996696" y="52486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4"/>
          <p:cNvSpPr txBox="1"/>
          <p:nvPr/>
        </p:nvSpPr>
        <p:spPr>
          <a:xfrm>
            <a:off x="1444752" y="518464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Verbe, verbe</a:t>
            </a:r>
            <a:endParaRPr lang="en-US" sz="1300" dirty="0"/>
          </a:p>
        </p:txBody>
      </p:sp>
      <p:sp>
        <p:nvSpPr>
          <p:cNvPr id="19" name="Text 15"/>
          <p:cNvSpPr txBox="1"/>
          <p:nvPr/>
        </p:nvSpPr>
        <p:spPr>
          <a:xfrm>
            <a:off x="1444752" y="547725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le verbe de la relative, puis celui de la principale ; une virgule entre les deux</a:t>
            </a:r>
            <a:endParaRPr lang="en-US" sz="1400" dirty="0"/>
          </a:p>
        </p:txBody>
      </p:sp>
      <p:sp>
        <p:nvSpPr>
          <p:cNvPr id="20" name="Shape 16"/>
          <p:cNvSpPr/>
          <p:nvPr/>
        </p:nvSpPr>
        <p:spPr>
          <a:xfrm>
            <a:off x="6236208" y="5074920"/>
            <a:ext cx="5138928" cy="914400"/>
          </a:xfrm>
          <a:prstGeom prst="roundRect">
            <a:avLst>
              <a:gd name="adj" fmla="val 10000"/>
            </a:avLst>
          </a:prstGeom>
          <a:solidFill>
            <a:srgbClr val="FBEDEB"/>
          </a:solidFill>
          <a:ln w="12700">
            <a:solidFill>
              <a:srgbClr val="FFFFFF">
                <a:alpha val="0"/>
              </a:srgbClr>
            </a:solidFill>
            <a:prstDash val="solid"/>
          </a:ln>
        </p:spPr>
      </p:sp>
      <p:sp>
        <p:nvSpPr>
          <p:cNvPr id="21" name="Shape 17"/>
          <p:cNvSpPr/>
          <p:nvPr/>
        </p:nvSpPr>
        <p:spPr>
          <a:xfrm>
            <a:off x="6409944" y="5248656"/>
            <a:ext cx="310896" cy="310896"/>
          </a:xfrm>
          <a:prstGeom prst="ellipse">
            <a:avLst/>
          </a:prstGeom>
          <a:solidFill>
            <a:srgbClr val="B83227"/>
          </a:solidFill>
          <a:ln w="12700">
            <a:solidFill>
              <a:srgbClr val="FFFFFF">
                <a:alpha val="0"/>
              </a:srgbClr>
            </a:solidFill>
            <a:prstDash val="solid"/>
          </a:ln>
        </p:spPr>
      </p:sp>
      <p:sp>
        <p:nvSpPr>
          <p:cNvPr id="22" name="Text 18"/>
          <p:cNvSpPr txBox="1"/>
          <p:nvPr/>
        </p:nvSpPr>
        <p:spPr>
          <a:xfrm>
            <a:off x="6409944" y="52486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3" name="Text 19"/>
          <p:cNvSpPr txBox="1"/>
          <p:nvPr/>
        </p:nvSpPr>
        <p:spPr>
          <a:xfrm>
            <a:off x="6858000" y="518464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Pas trop long</a:t>
            </a:r>
            <a:endParaRPr lang="en-US" sz="1300" dirty="0"/>
          </a:p>
        </p:txBody>
      </p:sp>
      <p:sp>
        <p:nvSpPr>
          <p:cNvPr id="24" name="Text 20"/>
          <p:cNvSpPr txBox="1"/>
          <p:nvPr/>
        </p:nvSpPr>
        <p:spPr>
          <a:xfrm>
            <a:off x="6858000" y="547725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une relative courte au milieu ; une relative longue, plutôt </a:t>
            </a:r>
            <a:r>
              <a:rPr lang="en-US" sz="1400" b="1" dirty="0">
                <a:solidFill>
                  <a:srgbClr val="1B2333"/>
                </a:solidFill>
                <a:latin typeface="Calibri" pitchFamily="34" charset="0"/>
                <a:ea typeface="Calibri" pitchFamily="34" charset="-122"/>
                <a:cs typeface="Calibri" pitchFamily="34" charset="-120"/>
              </a:rPr>
              <a:t>à la fin</a:t>
            </a:r>
            <a:r>
              <a:rPr lang="en-US" sz="1400" dirty="0">
                <a:solidFill>
                  <a:srgbClr val="1B2333"/>
                </a:solidFill>
                <a:latin typeface="Calibri" pitchFamily="34" charset="0"/>
                <a:ea typeface="Calibri" pitchFamily="34" charset="-122"/>
                <a:cs typeface="Calibri" pitchFamily="34" charset="-120"/>
              </a:rPr>
              <a:t> (diapo suivante)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saut : la relative après le verbe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LA PLACE · B1</a:t>
            </a:r>
            <a:endParaRPr lang="en-US" sz="1100" dirty="0"/>
          </a:p>
        </p:txBody>
      </p:sp>
      <p:sp>
        <p:nvSpPr>
          <p:cNvPr id="5" name="Text 2"/>
          <p:cNvSpPr txBox="1"/>
          <p:nvPr/>
        </p:nvSpPr>
        <p:spPr>
          <a:xfrm>
            <a:off x="3123375" y="1600200"/>
            <a:ext cx="871004" cy="548640"/>
          </a:xfrm>
          <a:prstGeom prst="rect">
            <a:avLst/>
          </a:prstGeom>
          <a:noFill/>
          <a:ln/>
        </p:spPr>
        <p:txBody>
          <a:bodyPr wrap="square" lIns="0" tIns="0" rIns="0" bIns="0" rtlCol="0" anchor="ctr"/>
          <a:lstStyle/>
          <a:p>
            <a:pPr algn="ctr" indent="0" marL="0">
              <a:buNone/>
            </a:pPr>
            <a:r>
              <a:rPr lang="en-US" sz="2300" i="1" dirty="0">
                <a:solidFill>
                  <a:srgbClr val="1B2333"/>
                </a:solidFill>
                <a:latin typeface="Calibri" pitchFamily="34" charset="0"/>
                <a:ea typeface="Calibri" pitchFamily="34" charset="-122"/>
                <a:cs typeface="Calibri" pitchFamily="34" charset="-120"/>
              </a:rPr>
              <a:t>Ik heb</a:t>
            </a:r>
            <a:endParaRPr lang="en-US" sz="2300" dirty="0"/>
          </a:p>
        </p:txBody>
      </p:sp>
      <p:sp>
        <p:nvSpPr>
          <p:cNvPr id="6" name="Text 3"/>
          <p:cNvSpPr txBox="1"/>
          <p:nvPr/>
        </p:nvSpPr>
        <p:spPr>
          <a:xfrm>
            <a:off x="3947097" y="1600200"/>
            <a:ext cx="1368742" cy="548640"/>
          </a:xfrm>
          <a:prstGeom prst="rect">
            <a:avLst/>
          </a:prstGeom>
          <a:noFill/>
          <a:ln/>
        </p:spPr>
        <p:txBody>
          <a:bodyPr wrap="square" lIns="0" tIns="0" rIns="0" bIns="0" rtlCol="0" anchor="ctr"/>
          <a:lstStyle/>
          <a:p>
            <a:pPr algn="ctr" indent="0" marL="0">
              <a:buNone/>
            </a:pPr>
            <a:r>
              <a:rPr lang="en-US" sz="2300" b="1" i="1" dirty="0">
                <a:solidFill>
                  <a:srgbClr val="17375E"/>
                </a:solidFill>
                <a:latin typeface="Calibri" pitchFamily="34" charset="0"/>
                <a:ea typeface="Calibri" pitchFamily="34" charset="-122"/>
                <a:cs typeface="Calibri" pitchFamily="34" charset="-120"/>
              </a:rPr>
              <a:t>de collega</a:t>
            </a:r>
            <a:endParaRPr lang="en-US" sz="2300" dirty="0"/>
          </a:p>
        </p:txBody>
      </p:sp>
      <p:sp>
        <p:nvSpPr>
          <p:cNvPr id="7" name="Text 4"/>
          <p:cNvSpPr txBox="1"/>
          <p:nvPr/>
        </p:nvSpPr>
        <p:spPr>
          <a:xfrm>
            <a:off x="8027784" y="1600200"/>
            <a:ext cx="1037793" cy="548640"/>
          </a:xfrm>
          <a:prstGeom prst="rect">
            <a:avLst/>
          </a:prstGeom>
          <a:noFill/>
          <a:ln/>
        </p:spPr>
        <p:txBody>
          <a:bodyPr wrap="square" lIns="0" tIns="0" rIns="0" bIns="0" rtlCol="0" anchor="ctr"/>
          <a:lstStyle/>
          <a:p>
            <a:pPr algn="ctr" indent="0" marL="0">
              <a:buNone/>
            </a:pPr>
            <a:r>
              <a:rPr lang="en-US" sz="2300" b="1" i="1" dirty="0">
                <a:solidFill>
                  <a:srgbClr val="B83227"/>
                </a:solidFill>
                <a:latin typeface="Calibri" pitchFamily="34" charset="0"/>
                <a:ea typeface="Calibri" pitchFamily="34" charset="-122"/>
                <a:cs typeface="Calibri" pitchFamily="34" charset="-120"/>
              </a:rPr>
              <a:t>gebeld</a:t>
            </a:r>
            <a:r>
              <a:rPr lang="en-US" sz="2300" i="1" dirty="0">
                <a:solidFill>
                  <a:srgbClr val="1B2333"/>
                </a:solidFill>
                <a:latin typeface="Calibri" pitchFamily="34" charset="0"/>
                <a:ea typeface="Calibri" pitchFamily="34" charset="-122"/>
                <a:cs typeface="Calibri" pitchFamily="34" charset="-120"/>
              </a:rPr>
              <a:t>.</a:t>
            </a:r>
            <a:endParaRPr lang="en-US" sz="2300" dirty="0"/>
          </a:p>
        </p:txBody>
      </p:sp>
      <p:sp>
        <p:nvSpPr>
          <p:cNvPr id="8" name="Shape 5"/>
          <p:cNvSpPr/>
          <p:nvPr/>
        </p:nvSpPr>
        <p:spPr>
          <a:xfrm>
            <a:off x="5341709" y="1600200"/>
            <a:ext cx="2660206" cy="548640"/>
          </a:xfrm>
          <a:prstGeom prst="roundRect">
            <a:avLst>
              <a:gd name="adj" fmla="val 16667"/>
            </a:avLst>
          </a:prstGeom>
          <a:solidFill>
            <a:srgbClr val="F4F6F9"/>
          </a:solidFill>
          <a:ln w="12700">
            <a:solidFill>
              <a:srgbClr val="C3CBD6"/>
            </a:solidFill>
            <a:prstDash val="dash"/>
          </a:ln>
        </p:spPr>
      </p:sp>
      <p:sp>
        <p:nvSpPr>
          <p:cNvPr id="9" name="Text 6"/>
          <p:cNvSpPr txBox="1"/>
          <p:nvPr/>
        </p:nvSpPr>
        <p:spPr>
          <a:xfrm>
            <a:off x="5341709" y="1600200"/>
            <a:ext cx="2660206" cy="548640"/>
          </a:xfrm>
          <a:prstGeom prst="rect">
            <a:avLst/>
          </a:prstGeom>
          <a:noFill/>
          <a:ln/>
        </p:spPr>
        <p:txBody>
          <a:bodyPr wrap="square" lIns="0" tIns="0" rIns="0" bIns="0" rtlCol="0" anchor="ctr"/>
          <a:lstStyle/>
          <a:p>
            <a:pPr algn="ctr" indent="0" marL="0">
              <a:buNone/>
            </a:pPr>
            <a:r>
              <a:rPr lang="en-US" sz="2300" b="1" i="1" dirty="0">
                <a:solidFill>
                  <a:srgbClr val="17375E"/>
                </a:solidFill>
                <a:latin typeface="Calibri" pitchFamily="34" charset="0"/>
                <a:ea typeface="Calibri" pitchFamily="34" charset="-122"/>
                <a:cs typeface="Calibri" pitchFamily="34" charset="-120"/>
              </a:rPr>
              <a:t>die</a:t>
            </a:r>
            <a:r>
              <a:rPr lang="en-US" sz="2300" i="1" dirty="0">
                <a:solidFill>
                  <a:srgbClr val="6B7686"/>
                </a:solidFill>
                <a:latin typeface="Calibri" pitchFamily="34" charset="0"/>
                <a:ea typeface="Calibri" pitchFamily="34" charset="-122"/>
                <a:cs typeface="Calibri" pitchFamily="34" charset="-120"/>
              </a:rPr>
              <a:t> de sleutel heeft</a:t>
            </a:r>
            <a:endParaRPr lang="en-US" sz="2300" dirty="0"/>
          </a:p>
        </p:txBody>
      </p:sp>
      <p:sp>
        <p:nvSpPr>
          <p:cNvPr id="10" name="Shape 7"/>
          <p:cNvSpPr/>
          <p:nvPr/>
        </p:nvSpPr>
        <p:spPr>
          <a:xfrm>
            <a:off x="4020249" y="2112264"/>
            <a:ext cx="1222439" cy="914"/>
          </a:xfrm>
          <a:prstGeom prst="line">
            <a:avLst/>
          </a:prstGeom>
          <a:noFill/>
          <a:ln w="28575">
            <a:solidFill>
              <a:srgbClr val="17375E"/>
            </a:solidFill>
            <a:prstDash val="solid"/>
          </a:ln>
        </p:spPr>
      </p:sp>
      <p:sp>
        <p:nvSpPr>
          <p:cNvPr id="11" name="Text 8"/>
          <p:cNvSpPr txBox="1"/>
          <p:nvPr/>
        </p:nvSpPr>
        <p:spPr>
          <a:xfrm>
            <a:off x="9221026" y="1618488"/>
            <a:ext cx="2743200" cy="512064"/>
          </a:xfrm>
          <a:prstGeom prst="rect">
            <a:avLst/>
          </a:prstGeom>
          <a:noFill/>
          <a:ln/>
        </p:spPr>
        <p:txBody>
          <a:bodyPr wrap="square" lIns="0" tIns="0" rIns="0" bIns="0" rtlCol="0" anchor="ctr"/>
          <a:lstStyle/>
          <a:p>
            <a:pPr algn="l" indent="0" marL="0">
              <a:buNone/>
            </a:pPr>
            <a:r>
              <a:rPr lang="en-US" sz="950" b="1" spc="150" kern="0" dirty="0">
                <a:solidFill>
                  <a:srgbClr val="6B7686"/>
                </a:solidFill>
                <a:latin typeface="Calibri" pitchFamily="34" charset="0"/>
                <a:ea typeface="Calibri" pitchFamily="34" charset="-122"/>
                <a:cs typeface="Calibri" pitchFamily="34" charset="-120"/>
              </a:rPr>
              <a:t>LOURD :</a:t>
            </a:r>
            <a:endParaRPr lang="en-US" sz="950" dirty="0"/>
          </a:p>
          <a:p>
            <a:pPr algn="l" indent="0" marL="0">
              <a:buNone/>
            </a:pPr>
            <a:r>
              <a:rPr lang="en-US" sz="950" b="1" spc="150" kern="0" dirty="0">
                <a:solidFill>
                  <a:srgbClr val="6B7686"/>
                </a:solidFill>
                <a:latin typeface="Calibri" pitchFamily="34" charset="0"/>
                <a:ea typeface="Calibri" pitchFamily="34" charset="-122"/>
                <a:cs typeface="Calibri" pitchFamily="34" charset="-120"/>
              </a:rPr>
              <a:t>LE PARTICIPE ARRIVE TROP TARD</a:t>
            </a:r>
            <a:endParaRPr lang="en-US" sz="950" dirty="0"/>
          </a:p>
        </p:txBody>
      </p:sp>
      <p:sp>
        <p:nvSpPr>
          <p:cNvPr id="12" name="Shape 9"/>
          <p:cNvSpPr/>
          <p:nvPr/>
        </p:nvSpPr>
        <p:spPr>
          <a:xfrm>
            <a:off x="6341135" y="2926080"/>
            <a:ext cx="2568765" cy="548640"/>
          </a:xfrm>
          <a:prstGeom prst="roundRect">
            <a:avLst>
              <a:gd name="adj" fmla="val 16667"/>
            </a:avLst>
          </a:prstGeom>
          <a:solidFill>
            <a:srgbClr val="E6ECF3"/>
          </a:solidFill>
          <a:ln w="12700">
            <a:solidFill>
              <a:srgbClr val="FFFFFF">
                <a:alpha val="0"/>
              </a:srgbClr>
            </a:solidFill>
            <a:prstDash val="solid"/>
          </a:ln>
        </p:spPr>
      </p:sp>
      <p:sp>
        <p:nvSpPr>
          <p:cNvPr id="13" name="Text 10"/>
          <p:cNvSpPr txBox="1"/>
          <p:nvPr/>
        </p:nvSpPr>
        <p:spPr>
          <a:xfrm>
            <a:off x="3343059" y="2926080"/>
            <a:ext cx="871004" cy="548640"/>
          </a:xfrm>
          <a:prstGeom prst="rect">
            <a:avLst/>
          </a:prstGeom>
          <a:noFill/>
          <a:ln/>
        </p:spPr>
        <p:txBody>
          <a:bodyPr wrap="square" lIns="0" tIns="0" rIns="0" bIns="0" rtlCol="0" anchor="ctr"/>
          <a:lstStyle/>
          <a:p>
            <a:pPr algn="ctr" indent="0" marL="0">
              <a:buNone/>
            </a:pPr>
            <a:r>
              <a:rPr lang="en-US" sz="2300" i="1" dirty="0">
                <a:solidFill>
                  <a:srgbClr val="1B2333"/>
                </a:solidFill>
                <a:latin typeface="Calibri" pitchFamily="34" charset="0"/>
                <a:ea typeface="Calibri" pitchFamily="34" charset="-122"/>
                <a:cs typeface="Calibri" pitchFamily="34" charset="-120"/>
              </a:rPr>
              <a:t>Ik heb</a:t>
            </a:r>
            <a:endParaRPr lang="en-US" sz="2300" dirty="0"/>
          </a:p>
        </p:txBody>
      </p:sp>
      <p:sp>
        <p:nvSpPr>
          <p:cNvPr id="14" name="Text 11"/>
          <p:cNvSpPr txBox="1"/>
          <p:nvPr/>
        </p:nvSpPr>
        <p:spPr>
          <a:xfrm>
            <a:off x="4166781" y="2926080"/>
            <a:ext cx="1368742" cy="548640"/>
          </a:xfrm>
          <a:prstGeom prst="rect">
            <a:avLst/>
          </a:prstGeom>
          <a:noFill/>
          <a:ln/>
        </p:spPr>
        <p:txBody>
          <a:bodyPr wrap="square" lIns="0" tIns="0" rIns="0" bIns="0" rtlCol="0" anchor="ctr"/>
          <a:lstStyle/>
          <a:p>
            <a:pPr algn="ctr" indent="0" marL="0">
              <a:buNone/>
            </a:pPr>
            <a:r>
              <a:rPr lang="en-US" sz="2300" b="1" i="1" dirty="0">
                <a:solidFill>
                  <a:srgbClr val="17375E"/>
                </a:solidFill>
                <a:latin typeface="Calibri" pitchFamily="34" charset="0"/>
                <a:ea typeface="Calibri" pitchFamily="34" charset="-122"/>
                <a:cs typeface="Calibri" pitchFamily="34" charset="-120"/>
              </a:rPr>
              <a:t>de collega</a:t>
            </a:r>
            <a:endParaRPr lang="en-US" sz="2300" dirty="0"/>
          </a:p>
        </p:txBody>
      </p:sp>
      <p:sp>
        <p:nvSpPr>
          <p:cNvPr id="15" name="Text 12"/>
          <p:cNvSpPr txBox="1"/>
          <p:nvPr/>
        </p:nvSpPr>
        <p:spPr>
          <a:xfrm>
            <a:off x="5488242" y="2926080"/>
            <a:ext cx="964184" cy="548640"/>
          </a:xfrm>
          <a:prstGeom prst="rect">
            <a:avLst/>
          </a:prstGeom>
          <a:noFill/>
          <a:ln/>
        </p:spPr>
        <p:txBody>
          <a:bodyPr wrap="square" lIns="0" tIns="0" rIns="0" bIns="0" rtlCol="0" anchor="ctr"/>
          <a:lstStyle/>
          <a:p>
            <a:pPr algn="ctr" indent="0" marL="0">
              <a:buNone/>
            </a:pPr>
            <a:r>
              <a:rPr lang="en-US" sz="2300" b="1" i="1" dirty="0">
                <a:solidFill>
                  <a:srgbClr val="B83227"/>
                </a:solidFill>
                <a:latin typeface="Calibri" pitchFamily="34" charset="0"/>
                <a:ea typeface="Calibri" pitchFamily="34" charset="-122"/>
                <a:cs typeface="Calibri" pitchFamily="34" charset="-120"/>
              </a:rPr>
              <a:t>gebeld</a:t>
            </a:r>
            <a:endParaRPr lang="en-US" sz="2300" dirty="0"/>
          </a:p>
        </p:txBody>
      </p:sp>
      <p:sp>
        <p:nvSpPr>
          <p:cNvPr id="16" name="Text 13"/>
          <p:cNvSpPr txBox="1"/>
          <p:nvPr/>
        </p:nvSpPr>
        <p:spPr>
          <a:xfrm>
            <a:off x="6405143" y="2926080"/>
            <a:ext cx="2440750" cy="548640"/>
          </a:xfrm>
          <a:prstGeom prst="rect">
            <a:avLst/>
          </a:prstGeom>
          <a:noFill/>
          <a:ln/>
        </p:spPr>
        <p:txBody>
          <a:bodyPr wrap="square" lIns="0" tIns="0" rIns="0" bIns="0" rtlCol="0" anchor="ctr"/>
          <a:lstStyle/>
          <a:p>
            <a:pPr algn="ctr" indent="0" marL="0">
              <a:buNone/>
            </a:pPr>
            <a:r>
              <a:rPr lang="en-US" sz="2300" b="1" i="1" dirty="0">
                <a:solidFill>
                  <a:srgbClr val="17375E"/>
                </a:solidFill>
                <a:latin typeface="Calibri" pitchFamily="34" charset="0"/>
                <a:ea typeface="Calibri" pitchFamily="34" charset="-122"/>
                <a:cs typeface="Calibri" pitchFamily="34" charset="-120"/>
              </a:rPr>
              <a:t>die</a:t>
            </a:r>
            <a:r>
              <a:rPr lang="en-US" sz="2300" i="1" dirty="0">
                <a:solidFill>
                  <a:srgbClr val="1B2333"/>
                </a:solidFill>
                <a:latin typeface="Calibri" pitchFamily="34" charset="0"/>
                <a:ea typeface="Calibri" pitchFamily="34" charset="-122"/>
                <a:cs typeface="Calibri" pitchFamily="34" charset="-120"/>
              </a:rPr>
              <a:t> de sleutel heeft</a:t>
            </a:r>
            <a:endParaRPr lang="en-US" sz="2300" dirty="0"/>
          </a:p>
        </p:txBody>
      </p:sp>
      <p:sp>
        <p:nvSpPr>
          <p:cNvPr id="17" name="Shape 14"/>
          <p:cNvSpPr/>
          <p:nvPr/>
        </p:nvSpPr>
        <p:spPr>
          <a:xfrm>
            <a:off x="4239933" y="3438144"/>
            <a:ext cx="1222439" cy="914"/>
          </a:xfrm>
          <a:prstGeom prst="line">
            <a:avLst/>
          </a:prstGeom>
          <a:noFill/>
          <a:ln w="28575">
            <a:solidFill>
              <a:srgbClr val="17375E"/>
            </a:solidFill>
            <a:prstDash val="solid"/>
          </a:ln>
        </p:spPr>
      </p:sp>
      <p:sp>
        <p:nvSpPr>
          <p:cNvPr id="18" name="Shape 15"/>
          <p:cNvSpPr/>
          <p:nvPr/>
        </p:nvSpPr>
        <p:spPr>
          <a:xfrm>
            <a:off x="4851152" y="2697480"/>
            <a:ext cx="1901463" cy="640080"/>
          </a:xfrm>
          <a:prstGeom prst="arc">
            <a:avLst>
              <a:gd name="adj1" fmla="val 10800000"/>
              <a:gd name="adj2" fmla="val 21600000"/>
            </a:avLst>
          </a:prstGeom>
          <a:solidFill>
            <a:srgbClr val="FFFFFF">
              <a:alpha val="0"/>
            </a:srgbClr>
          </a:solidFill>
          <a:ln w="22225">
            <a:solidFill>
              <a:srgbClr val="17375E"/>
            </a:solidFill>
            <a:prstDash val="solid"/>
            <a:headEnd type="triangle"/>
          </a:ln>
        </p:spPr>
      </p:sp>
      <p:sp>
        <p:nvSpPr>
          <p:cNvPr id="19" name="Shape 16"/>
          <p:cNvSpPr/>
          <p:nvPr/>
        </p:nvSpPr>
        <p:spPr>
          <a:xfrm>
            <a:off x="6671812" y="2185416"/>
            <a:ext cx="1502346" cy="704088"/>
          </a:xfrm>
          <a:prstGeom prst="line">
            <a:avLst/>
          </a:prstGeom>
          <a:noFill/>
          <a:ln w="25400">
            <a:solidFill>
              <a:srgbClr val="17375E"/>
            </a:solidFill>
            <a:prstDash val="dash"/>
            <a:tailEnd type="triangle"/>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751076" y="3657600"/>
          <a:ext cx="8686800" cy="914400"/>
        </p:xfrm>
        <a:graphic>
          <a:graphicData uri="http://schemas.openxmlformats.org/drawingml/2006/table">
            <a:tbl>
              <a:tblPr/>
              <a:tblGrid>
                <a:gridCol w="8686800"/>
              </a:tblGrid>
              <a:tr h="38404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EXEMPLES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38404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We hebben een klant </a:t>
                      </a:r>
                      <a:r>
                        <a:rPr lang="en-US" sz="1650" b="1" i="1" dirty="0">
                          <a:solidFill>
                            <a:srgbClr val="B83227"/>
                          </a:solidFill>
                          <a:latin typeface="Calibri" pitchFamily="34" charset="0"/>
                          <a:ea typeface="Calibri" pitchFamily="34" charset="-122"/>
                          <a:cs typeface="Calibri" pitchFamily="34" charset="-120"/>
                        </a:rPr>
                        <a:t>gevonden</a:t>
                      </a:r>
                      <a:r>
                        <a:rPr lang="en-US" sz="1650" i="1" dirty="0">
                          <a:solidFill>
                            <a:srgbClr val="1B2333"/>
                          </a:solidFill>
                          <a:latin typeface="Calibri" pitchFamily="34" charset="0"/>
                          <a:ea typeface="Calibri" pitchFamily="34" charset="-122"/>
                          <a:cs typeface="Calibri" pitchFamily="34" charset="-120"/>
                        </a:rPr>
                        <a:t>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het project wil betalen.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8404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Wil je het rapport </a:t>
                      </a:r>
                      <a:r>
                        <a:rPr lang="en-US" sz="1650" b="1" i="1" dirty="0">
                          <a:solidFill>
                            <a:srgbClr val="B83227"/>
                          </a:solidFill>
                          <a:latin typeface="Calibri" pitchFamily="34" charset="0"/>
                          <a:ea typeface="Calibri" pitchFamily="34" charset="-122"/>
                          <a:cs typeface="Calibri" pitchFamily="34" charset="-120"/>
                        </a:rPr>
                        <a:t>lezen</a:t>
                      </a:r>
                      <a:r>
                        <a:rPr lang="en-US" sz="1650" i="1" dirty="0">
                          <a:solidFill>
                            <a:srgbClr val="1B2333"/>
                          </a:solidFill>
                          <a:latin typeface="Calibri" pitchFamily="34" charset="0"/>
                          <a:ea typeface="Calibri" pitchFamily="34" charset="-122"/>
                          <a:cs typeface="Calibri" pitchFamily="34" charset="-120"/>
                        </a:rPr>
                        <a:t> </a:t>
                      </a:r>
                      <a:r>
                        <a:rPr lang="en-US" sz="1650" b="1" i="1" dirty="0">
                          <a:solidFill>
                            <a:srgbClr val="D9700F"/>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ik geschreven heb?</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8404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Ze heeft een collega </a:t>
                      </a:r>
                      <a:r>
                        <a:rPr lang="en-US" sz="1650" b="1" i="1" dirty="0">
                          <a:solidFill>
                            <a:srgbClr val="B83227"/>
                          </a:solidFill>
                          <a:latin typeface="Calibri" pitchFamily="34" charset="0"/>
                          <a:ea typeface="Calibri" pitchFamily="34" charset="-122"/>
                          <a:cs typeface="Calibri" pitchFamily="34" charset="-120"/>
                        </a:rPr>
                        <a:t>gebeld</a:t>
                      </a:r>
                      <a:r>
                        <a:rPr lang="en-US" sz="1650" i="1" dirty="0">
                          <a:solidFill>
                            <a:srgbClr val="1B2333"/>
                          </a:solidFill>
                          <a:latin typeface="Calibri" pitchFamily="34" charset="0"/>
                          <a:ea typeface="Calibri" pitchFamily="34" charset="-122"/>
                          <a:cs typeface="Calibri" pitchFamily="34" charset="-120"/>
                        </a:rPr>
                        <a:t> </a:t>
                      </a:r>
                      <a:r>
                        <a:rPr lang="en-US" sz="1650" b="1" i="1" dirty="0">
                          <a:solidFill>
                            <a:srgbClr val="17375E"/>
                          </a:solidFill>
                          <a:latin typeface="Calibri" pitchFamily="34" charset="0"/>
                          <a:ea typeface="Calibri" pitchFamily="34" charset="-122"/>
                          <a:cs typeface="Calibri" pitchFamily="34" charset="-120"/>
                        </a:rPr>
                        <a:t>die</a:t>
                      </a:r>
                      <a:r>
                        <a:rPr lang="en-US" sz="1650" i="1" dirty="0">
                          <a:solidFill>
                            <a:srgbClr val="1B2333"/>
                          </a:solidFill>
                          <a:latin typeface="Calibri" pitchFamily="34" charset="0"/>
                          <a:ea typeface="Calibri" pitchFamily="34" charset="-122"/>
                          <a:cs typeface="Calibri" pitchFamily="34" charset="-120"/>
                        </a:rPr>
                        <a:t> Frans spreekt.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1" name="Shape 17"/>
          <p:cNvSpPr/>
          <p:nvPr/>
        </p:nvSpPr>
        <p:spPr>
          <a:xfrm>
            <a:off x="822960" y="5349240"/>
            <a:ext cx="5138928" cy="822960"/>
          </a:xfrm>
          <a:prstGeom prst="roundRect">
            <a:avLst>
              <a:gd name="adj" fmla="val 11111"/>
            </a:avLst>
          </a:prstGeom>
          <a:solidFill>
            <a:srgbClr val="E8F4EC"/>
          </a:solidFill>
          <a:ln w="12700">
            <a:solidFill>
              <a:srgbClr val="FFFFFF">
                <a:alpha val="0"/>
              </a:srgbClr>
            </a:solidFill>
            <a:prstDash val="solid"/>
          </a:ln>
        </p:spPr>
      </p:sp>
      <p:sp>
        <p:nvSpPr>
          <p:cNvPr id="22" name="Shape 18"/>
          <p:cNvSpPr/>
          <p:nvPr/>
        </p:nvSpPr>
        <p:spPr>
          <a:xfrm>
            <a:off x="996696" y="5522976"/>
            <a:ext cx="310896" cy="310896"/>
          </a:xfrm>
          <a:prstGeom prst="ellipse">
            <a:avLst/>
          </a:prstGeom>
          <a:solidFill>
            <a:srgbClr val="2E7D4F"/>
          </a:solidFill>
          <a:ln w="12700">
            <a:solidFill>
              <a:srgbClr val="FFFFFF">
                <a:alpha val="0"/>
              </a:srgbClr>
            </a:solidFill>
            <a:prstDash val="solid"/>
          </a:ln>
        </p:spPr>
      </p:sp>
      <p:sp>
        <p:nvSpPr>
          <p:cNvPr id="23" name="Text 19"/>
          <p:cNvSpPr txBox="1"/>
          <p:nvPr/>
        </p:nvSpPr>
        <p:spPr>
          <a:xfrm>
            <a:off x="996696" y="55229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0"/>
          <p:cNvSpPr txBox="1"/>
          <p:nvPr/>
        </p:nvSpPr>
        <p:spPr>
          <a:xfrm>
            <a:off x="1444752" y="545896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25" name="Text 21"/>
          <p:cNvSpPr txBox="1"/>
          <p:nvPr/>
        </p:nvSpPr>
        <p:spPr>
          <a:xfrm>
            <a:off x="1444752" y="5751576"/>
            <a:ext cx="4361688" cy="34747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la relative peut suivre le participe ou l’infinitif de la fin : la phrase reste légère</a:t>
            </a:r>
            <a:endParaRPr lang="en-US" sz="1400" dirty="0"/>
          </a:p>
        </p:txBody>
      </p:sp>
      <p:sp>
        <p:nvSpPr>
          <p:cNvPr id="26" name="Shape 22"/>
          <p:cNvSpPr/>
          <p:nvPr/>
        </p:nvSpPr>
        <p:spPr>
          <a:xfrm>
            <a:off x="6236208" y="5349240"/>
            <a:ext cx="5138928" cy="822960"/>
          </a:xfrm>
          <a:prstGeom prst="roundRect">
            <a:avLst>
              <a:gd name="adj" fmla="val 11111"/>
            </a:avLst>
          </a:prstGeom>
          <a:solidFill>
            <a:srgbClr val="FBEDEB"/>
          </a:solidFill>
          <a:ln w="12700">
            <a:solidFill>
              <a:srgbClr val="FFFFFF">
                <a:alpha val="0"/>
              </a:srgbClr>
            </a:solidFill>
            <a:prstDash val="solid"/>
          </a:ln>
        </p:spPr>
      </p:sp>
      <p:sp>
        <p:nvSpPr>
          <p:cNvPr id="27" name="Shape 23"/>
          <p:cNvSpPr/>
          <p:nvPr/>
        </p:nvSpPr>
        <p:spPr>
          <a:xfrm>
            <a:off x="6409944" y="5522976"/>
            <a:ext cx="310896" cy="310896"/>
          </a:xfrm>
          <a:prstGeom prst="ellipse">
            <a:avLst/>
          </a:prstGeom>
          <a:solidFill>
            <a:srgbClr val="B83227"/>
          </a:solidFill>
          <a:ln w="12700">
            <a:solidFill>
              <a:srgbClr val="FFFFFF">
                <a:alpha val="0"/>
              </a:srgbClr>
            </a:solidFill>
            <a:prstDash val="solid"/>
          </a:ln>
        </p:spPr>
      </p:sp>
      <p:sp>
        <p:nvSpPr>
          <p:cNvPr id="28" name="Text 24"/>
          <p:cNvSpPr txBox="1"/>
          <p:nvPr/>
        </p:nvSpPr>
        <p:spPr>
          <a:xfrm>
            <a:off x="6409944" y="55229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9" name="Text 25"/>
          <p:cNvSpPr txBox="1"/>
          <p:nvPr/>
        </p:nvSpPr>
        <p:spPr>
          <a:xfrm>
            <a:off x="6858000" y="545896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Attention</a:t>
            </a:r>
            <a:endParaRPr lang="en-US" sz="1300" dirty="0"/>
          </a:p>
        </p:txBody>
      </p:sp>
      <p:sp>
        <p:nvSpPr>
          <p:cNvPr id="30" name="Text 26"/>
          <p:cNvSpPr txBox="1"/>
          <p:nvPr/>
        </p:nvSpPr>
        <p:spPr>
          <a:xfrm>
            <a:off x="6858000" y="5751576"/>
            <a:ext cx="4361688" cy="34747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pas d’autre nom entre les deux qui crée une confusion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Avec ou sans virgules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LA PONCTUATION</a:t>
            </a:r>
            <a:endParaRPr lang="en-US" sz="1100" dirty="0"/>
          </a:p>
        </p:txBody>
      </p:sp>
      <p:sp>
        <p:nvSpPr>
          <p:cNvPr id="5" name="Text 2"/>
          <p:cNvSpPr txBox="1"/>
          <p:nvPr/>
        </p:nvSpPr>
        <p:spPr>
          <a:xfrm>
            <a:off x="822960" y="1554480"/>
            <a:ext cx="3017520" cy="256032"/>
          </a:xfrm>
          <a:prstGeom prst="rect">
            <a:avLst/>
          </a:prstGeom>
          <a:noFill/>
          <a:ln/>
        </p:spPr>
        <p:txBody>
          <a:bodyPr wrap="square" lIns="0" tIns="0" rIns="0" bIns="0" rtlCol="0" anchor="ctr"/>
          <a:lstStyle/>
          <a:p>
            <a:pPr algn="l" indent="0" marL="0">
              <a:buNone/>
            </a:pPr>
            <a:r>
              <a:rPr lang="en-US" sz="1050" b="1" spc="150" kern="0" dirty="0">
                <a:solidFill>
                  <a:srgbClr val="17375E"/>
                </a:solidFill>
                <a:latin typeface="Calibri" pitchFamily="34" charset="0"/>
                <a:ea typeface="Calibri" pitchFamily="34" charset="-122"/>
                <a:cs typeface="Calibri" pitchFamily="34" charset="-120"/>
              </a:rPr>
              <a:t>PAS DE VIRGULE AVANT </a:t>
            </a:r>
            <a:r>
              <a:rPr lang="en-US" sz="1050" b="1" i="1" spc="150" kern="0" dirty="0">
                <a:solidFill>
                  <a:srgbClr val="17375E"/>
                </a:solidFill>
                <a:latin typeface="Calibri" pitchFamily="34" charset="0"/>
                <a:ea typeface="Calibri" pitchFamily="34" charset="-122"/>
                <a:cs typeface="Calibri" pitchFamily="34" charset="-120"/>
              </a:rPr>
              <a:t>die</a:t>
            </a:r>
            <a:endParaRPr lang="en-US" sz="1050" dirty="0"/>
          </a:p>
        </p:txBody>
      </p:sp>
      <p:sp>
        <p:nvSpPr>
          <p:cNvPr id="6" name="Text 3"/>
          <p:cNvSpPr txBox="1"/>
          <p:nvPr/>
        </p:nvSpPr>
        <p:spPr>
          <a:xfrm>
            <a:off x="822960" y="1874520"/>
            <a:ext cx="3017520" cy="548640"/>
          </a:xfrm>
          <a:prstGeom prst="rect">
            <a:avLst/>
          </a:prstGeom>
          <a:noFill/>
          <a:ln/>
        </p:spPr>
        <p:txBody>
          <a:bodyPr wrap="square" lIns="0" tIns="0" rIns="0" bIns="0" rtlCol="0" anchor="t"/>
          <a:lstStyle/>
          <a:p>
            <a:pPr algn="l" indent="0" marL="0">
              <a:buNone/>
            </a:pPr>
            <a:r>
              <a:rPr lang="en-US" sz="1500" dirty="0">
                <a:solidFill>
                  <a:srgbClr val="1B2333"/>
                </a:solidFill>
                <a:latin typeface="Calibri" pitchFamily="34" charset="0"/>
                <a:ea typeface="Calibri" pitchFamily="34" charset="-122"/>
                <a:cs typeface="Calibri" pitchFamily="34" charset="-120"/>
              </a:rPr>
              <a:t>le filtre : la relative </a:t>
            </a:r>
            <a:r>
              <a:rPr lang="en-US" sz="1500" b="1" dirty="0">
                <a:solidFill>
                  <a:srgbClr val="1B2333"/>
                </a:solidFill>
                <a:latin typeface="Calibri" pitchFamily="34" charset="0"/>
                <a:ea typeface="Calibri" pitchFamily="34" charset="-122"/>
                <a:cs typeface="Calibri" pitchFamily="34" charset="-120"/>
              </a:rPr>
              <a:t>choisit</a:t>
            </a:r>
            <a:endParaRPr lang="en-US" sz="1500" dirty="0"/>
          </a:p>
        </p:txBody>
      </p:sp>
      <p:sp>
        <p:nvSpPr>
          <p:cNvPr id="7" name="Text 4"/>
          <p:cNvSpPr txBox="1"/>
          <p:nvPr/>
        </p:nvSpPr>
        <p:spPr>
          <a:xfrm>
            <a:off x="822960" y="2423160"/>
            <a:ext cx="3017520" cy="320040"/>
          </a:xfrm>
          <a:prstGeom prst="rect">
            <a:avLst/>
          </a:prstGeom>
          <a:noFill/>
          <a:ln/>
        </p:spPr>
        <p:txBody>
          <a:bodyPr wrap="square" lIns="0" tIns="0" rIns="0" bIns="0" rtlCol="0" anchor="ctr"/>
          <a:lstStyle/>
          <a:p>
            <a:pPr algn="l" indent="0" marL="0">
              <a:buNone/>
            </a:pPr>
            <a:r>
              <a:rPr lang="en-US" sz="1400" dirty="0">
                <a:solidFill>
                  <a:srgbClr val="6B7686"/>
                </a:solidFill>
                <a:latin typeface="Calibri" pitchFamily="34" charset="0"/>
                <a:ea typeface="Calibri" pitchFamily="34" charset="-122"/>
                <a:cs typeface="Calibri" pitchFamily="34" charset="-120"/>
              </a:rPr>
              <a:t>→ </a:t>
            </a:r>
            <a:r>
              <a:rPr lang="en-US" sz="1400" i="1" dirty="0">
                <a:solidFill>
                  <a:srgbClr val="6B7686"/>
                </a:solidFill>
                <a:latin typeface="Calibri" pitchFamily="34" charset="0"/>
                <a:ea typeface="Calibri" pitchFamily="34" charset="-122"/>
                <a:cs typeface="Calibri" pitchFamily="34" charset="-120"/>
              </a:rPr>
              <a:t>seulement ceux de Gand</a:t>
            </a:r>
            <a:endParaRPr lang="en-US" sz="1400" dirty="0"/>
          </a:p>
        </p:txBody>
      </p:sp>
      <p:sp>
        <p:nvSpPr>
          <p:cNvPr id="8" name="Text 5"/>
          <p:cNvSpPr txBox="1"/>
          <p:nvPr/>
        </p:nvSpPr>
        <p:spPr>
          <a:xfrm>
            <a:off x="4023360" y="1508760"/>
            <a:ext cx="7342632" cy="457200"/>
          </a:xfrm>
          <a:prstGeom prst="rect">
            <a:avLst/>
          </a:prstGeom>
          <a:noFill/>
          <a:ln/>
        </p:spPr>
        <p:txBody>
          <a:bodyPr wrap="square" lIns="0" tIns="0" rIns="0" bIns="0" rtlCol="0" anchor="ctr"/>
          <a:lstStyle/>
          <a:p>
            <a:pPr algn="ctr" indent="0" marL="0">
              <a:buNone/>
            </a:pPr>
            <a:r>
              <a:rPr lang="en-US" sz="1900" i="1" dirty="0">
                <a:solidFill>
                  <a:srgbClr val="1B2333"/>
                </a:solidFill>
                <a:latin typeface="Calibri" pitchFamily="34" charset="0"/>
                <a:ea typeface="Calibri" pitchFamily="34" charset="-122"/>
                <a:cs typeface="Calibri" pitchFamily="34" charset="-120"/>
              </a:rPr>
              <a:t>Mijn collega’s </a:t>
            </a:r>
            <a:r>
              <a:rPr lang="en-US" sz="1900" b="1" i="1" dirty="0">
                <a:solidFill>
                  <a:srgbClr val="17375E"/>
                </a:solidFill>
                <a:latin typeface="Calibri" pitchFamily="34" charset="0"/>
                <a:ea typeface="Calibri" pitchFamily="34" charset="-122"/>
                <a:cs typeface="Calibri" pitchFamily="34" charset="-120"/>
              </a:rPr>
              <a:t>die</a:t>
            </a:r>
            <a:r>
              <a:rPr lang="en-US" sz="1900" i="1" dirty="0">
                <a:solidFill>
                  <a:srgbClr val="1B2333"/>
                </a:solidFill>
                <a:latin typeface="Calibri" pitchFamily="34" charset="0"/>
                <a:ea typeface="Calibri" pitchFamily="34" charset="-122"/>
                <a:cs typeface="Calibri" pitchFamily="34" charset="-120"/>
              </a:rPr>
              <a:t> in Gent wonen, komen met de trein.</a:t>
            </a:r>
            <a:endParaRPr lang="en-US" sz="1900" dirty="0"/>
          </a:p>
        </p:txBody>
      </p:sp>
      <p:sp>
        <p:nvSpPr>
          <p:cNvPr id="9" name="Shape 6"/>
          <p:cNvSpPr/>
          <p:nvPr/>
        </p:nvSpPr>
        <p:spPr>
          <a:xfrm>
            <a:off x="4507992" y="2112264"/>
            <a:ext cx="768096" cy="768096"/>
          </a:xfrm>
          <a:prstGeom prst="ellipse">
            <a:avLst/>
          </a:prstGeom>
          <a:solidFill>
            <a:srgbClr val="E6ECF3"/>
          </a:solidFill>
          <a:ln w="12700">
            <a:solidFill>
              <a:srgbClr val="FFFFFF">
                <a:alpha val="0"/>
              </a:srgbClr>
            </a:solidFill>
            <a:prstDash val="solid"/>
          </a:ln>
        </p:spPr>
      </p:sp>
      <p:pic>
        <p:nvPicPr>
          <p:cNvPr id="10" name="Image 0" descr="woman office worker">    </p:cNvPr>
          <p:cNvPicPr>
            <a:picLocks noChangeAspect="1"/>
          </p:cNvPicPr>
          <p:nvPr/>
        </p:nvPicPr>
        <p:blipFill>
          <a:blip r:embed="rId1"/>
          <a:stretch>
            <a:fillRect/>
          </a:stretch>
        </p:blipFill>
        <p:spPr>
          <a:xfrm>
            <a:off x="4581144" y="2185416"/>
            <a:ext cx="621792" cy="621792"/>
          </a:xfrm>
          <a:prstGeom prst="rect">
            <a:avLst/>
          </a:prstGeom>
        </p:spPr>
      </p:pic>
      <p:pic>
        <p:nvPicPr>
          <p:cNvPr id="11" name="Image 1" descr="round pushpin">    </p:cNvPr>
          <p:cNvPicPr>
            <a:picLocks noChangeAspect="1"/>
          </p:cNvPicPr>
          <p:nvPr/>
        </p:nvPicPr>
        <p:blipFill>
          <a:blip r:embed="rId2"/>
          <a:stretch>
            <a:fillRect/>
          </a:stretch>
        </p:blipFill>
        <p:spPr>
          <a:xfrm>
            <a:off x="5056632" y="2075688"/>
            <a:ext cx="274320" cy="274320"/>
          </a:xfrm>
          <a:prstGeom prst="rect">
            <a:avLst/>
          </a:prstGeom>
        </p:spPr>
      </p:pic>
      <p:pic>
        <p:nvPicPr>
          <p:cNvPr id="12" name="Image 2" descr="man office worker">    </p:cNvPr>
          <p:cNvPicPr>
            <a:picLocks noChangeAspect="1"/>
          </p:cNvPicPr>
          <p:nvPr/>
        </p:nvPicPr>
        <p:blipFill>
          <a:blip r:embed="rId3">
            <a:alphaModFix amt="28000"/>
          </a:blip>
          <a:stretch>
            <a:fillRect/>
          </a:stretch>
        </p:blipFill>
        <p:spPr>
          <a:xfrm>
            <a:off x="5678424" y="2185416"/>
            <a:ext cx="621792" cy="621792"/>
          </a:xfrm>
          <a:prstGeom prst="rect">
            <a:avLst/>
          </a:prstGeom>
        </p:spPr>
      </p:pic>
      <p:sp>
        <p:nvSpPr>
          <p:cNvPr id="13" name="Shape 7"/>
          <p:cNvSpPr/>
          <p:nvPr/>
        </p:nvSpPr>
        <p:spPr>
          <a:xfrm>
            <a:off x="6702552" y="2112264"/>
            <a:ext cx="768096" cy="768096"/>
          </a:xfrm>
          <a:prstGeom prst="ellipse">
            <a:avLst/>
          </a:prstGeom>
          <a:solidFill>
            <a:srgbClr val="E6ECF3"/>
          </a:solidFill>
          <a:ln w="12700">
            <a:solidFill>
              <a:srgbClr val="FFFFFF">
                <a:alpha val="0"/>
              </a:srgbClr>
            </a:solidFill>
            <a:prstDash val="solid"/>
          </a:ln>
        </p:spPr>
      </p:sp>
      <p:pic>
        <p:nvPicPr>
          <p:cNvPr id="14" name="Image 3" descr="woman technologist">    </p:cNvPr>
          <p:cNvPicPr>
            <a:picLocks noChangeAspect="1"/>
          </p:cNvPicPr>
          <p:nvPr/>
        </p:nvPicPr>
        <p:blipFill>
          <a:blip r:embed="rId4"/>
          <a:stretch>
            <a:fillRect/>
          </a:stretch>
        </p:blipFill>
        <p:spPr>
          <a:xfrm>
            <a:off x="6775704" y="2185416"/>
            <a:ext cx="621792" cy="621792"/>
          </a:xfrm>
          <a:prstGeom prst="rect">
            <a:avLst/>
          </a:prstGeom>
        </p:spPr>
      </p:pic>
      <p:pic>
        <p:nvPicPr>
          <p:cNvPr id="15" name="Image 4" descr="round pushpin">    </p:cNvPr>
          <p:cNvPicPr>
            <a:picLocks noChangeAspect="1"/>
          </p:cNvPicPr>
          <p:nvPr/>
        </p:nvPicPr>
        <p:blipFill>
          <a:blip r:embed="rId5"/>
          <a:stretch>
            <a:fillRect/>
          </a:stretch>
        </p:blipFill>
        <p:spPr>
          <a:xfrm>
            <a:off x="7251192" y="2075688"/>
            <a:ext cx="274320" cy="274320"/>
          </a:xfrm>
          <a:prstGeom prst="rect">
            <a:avLst/>
          </a:prstGeom>
        </p:spPr>
      </p:pic>
      <p:sp>
        <p:nvSpPr>
          <p:cNvPr id="16" name="Shape 8"/>
          <p:cNvSpPr/>
          <p:nvPr/>
        </p:nvSpPr>
        <p:spPr>
          <a:xfrm>
            <a:off x="7799832" y="2112264"/>
            <a:ext cx="768096" cy="768096"/>
          </a:xfrm>
          <a:prstGeom prst="ellipse">
            <a:avLst/>
          </a:prstGeom>
          <a:solidFill>
            <a:srgbClr val="E6ECF3"/>
          </a:solidFill>
          <a:ln w="12700">
            <a:solidFill>
              <a:srgbClr val="FFFFFF">
                <a:alpha val="0"/>
              </a:srgbClr>
            </a:solidFill>
            <a:prstDash val="solid"/>
          </a:ln>
        </p:spPr>
      </p:sp>
      <p:pic>
        <p:nvPicPr>
          <p:cNvPr id="17" name="Image 5" descr="man technologist">    </p:cNvPr>
          <p:cNvPicPr>
            <a:picLocks noChangeAspect="1"/>
          </p:cNvPicPr>
          <p:nvPr/>
        </p:nvPicPr>
        <p:blipFill>
          <a:blip r:embed="rId6"/>
          <a:stretch>
            <a:fillRect/>
          </a:stretch>
        </p:blipFill>
        <p:spPr>
          <a:xfrm>
            <a:off x="7872984" y="2185416"/>
            <a:ext cx="621792" cy="621792"/>
          </a:xfrm>
          <a:prstGeom prst="rect">
            <a:avLst/>
          </a:prstGeom>
        </p:spPr>
      </p:pic>
      <p:pic>
        <p:nvPicPr>
          <p:cNvPr id="18" name="Image 6" descr="round pushpin">    </p:cNvPr>
          <p:cNvPicPr>
            <a:picLocks noChangeAspect="1"/>
          </p:cNvPicPr>
          <p:nvPr/>
        </p:nvPicPr>
        <p:blipFill>
          <a:blip r:embed="rId7"/>
          <a:stretch>
            <a:fillRect/>
          </a:stretch>
        </p:blipFill>
        <p:spPr>
          <a:xfrm>
            <a:off x="8348472" y="2075688"/>
            <a:ext cx="274320" cy="274320"/>
          </a:xfrm>
          <a:prstGeom prst="rect">
            <a:avLst/>
          </a:prstGeom>
        </p:spPr>
      </p:pic>
      <p:pic>
        <p:nvPicPr>
          <p:cNvPr id="19" name="Image 7" descr="woman office worker">    </p:cNvPr>
          <p:cNvPicPr>
            <a:picLocks noChangeAspect="1"/>
          </p:cNvPicPr>
          <p:nvPr/>
        </p:nvPicPr>
        <p:blipFill>
          <a:blip r:embed="rId8">
            <a:alphaModFix amt="28000"/>
          </a:blip>
          <a:stretch>
            <a:fillRect/>
          </a:stretch>
        </p:blipFill>
        <p:spPr>
          <a:xfrm>
            <a:off x="8970264" y="2185416"/>
            <a:ext cx="621792" cy="621792"/>
          </a:xfrm>
          <a:prstGeom prst="rect">
            <a:avLst/>
          </a:prstGeom>
        </p:spPr>
      </p:pic>
      <p:pic>
        <p:nvPicPr>
          <p:cNvPr id="20" name="Image 8" descr="man office worker">    </p:cNvPr>
          <p:cNvPicPr>
            <a:picLocks noChangeAspect="1"/>
          </p:cNvPicPr>
          <p:nvPr/>
        </p:nvPicPr>
        <p:blipFill>
          <a:blip r:embed="rId9">
            <a:alphaModFix amt="28000"/>
          </a:blip>
          <a:stretch>
            <a:fillRect/>
          </a:stretch>
        </p:blipFill>
        <p:spPr>
          <a:xfrm>
            <a:off x="10067544" y="2185416"/>
            <a:ext cx="621792" cy="621792"/>
          </a:xfrm>
          <a:prstGeom prst="rect">
            <a:avLst/>
          </a:prstGeom>
        </p:spPr>
      </p:pic>
      <p:sp>
        <p:nvSpPr>
          <p:cNvPr id="21" name="Text 9"/>
          <p:cNvSpPr txBox="1"/>
          <p:nvPr/>
        </p:nvSpPr>
        <p:spPr>
          <a:xfrm>
            <a:off x="822960" y="3200400"/>
            <a:ext cx="3017520" cy="256032"/>
          </a:xfrm>
          <a:prstGeom prst="rect">
            <a:avLst/>
          </a:prstGeom>
          <a:noFill/>
          <a:ln/>
        </p:spPr>
        <p:txBody>
          <a:bodyPr wrap="square" lIns="0" tIns="0" rIns="0" bIns="0" rtlCol="0" anchor="ctr"/>
          <a:lstStyle/>
          <a:p>
            <a:pPr algn="l" indent="0" marL="0">
              <a:buNone/>
            </a:pPr>
            <a:r>
              <a:rPr lang="en-US" sz="1050" b="1" spc="150" kern="0" dirty="0">
                <a:solidFill>
                  <a:srgbClr val="17375E"/>
                </a:solidFill>
                <a:latin typeface="Calibri" pitchFamily="34" charset="0"/>
                <a:ea typeface="Calibri" pitchFamily="34" charset="-122"/>
                <a:cs typeface="Calibri" pitchFamily="34" charset="-120"/>
              </a:rPr>
              <a:t>ENTRE VIRGULES</a:t>
            </a:r>
            <a:endParaRPr lang="en-US" sz="1050" dirty="0"/>
          </a:p>
        </p:txBody>
      </p:sp>
      <p:sp>
        <p:nvSpPr>
          <p:cNvPr id="22" name="Text 10"/>
          <p:cNvSpPr txBox="1"/>
          <p:nvPr/>
        </p:nvSpPr>
        <p:spPr>
          <a:xfrm>
            <a:off x="822960" y="3520440"/>
            <a:ext cx="3017520" cy="548640"/>
          </a:xfrm>
          <a:prstGeom prst="rect">
            <a:avLst/>
          </a:prstGeom>
          <a:noFill/>
          <a:ln/>
        </p:spPr>
        <p:txBody>
          <a:bodyPr wrap="square" lIns="0" tIns="0" rIns="0" bIns="0" rtlCol="0" anchor="t"/>
          <a:lstStyle/>
          <a:p>
            <a:pPr algn="l" indent="0" marL="0">
              <a:buNone/>
            </a:pPr>
            <a:r>
              <a:rPr lang="en-US" sz="1500" dirty="0">
                <a:solidFill>
                  <a:srgbClr val="1B2333"/>
                </a:solidFill>
                <a:latin typeface="Calibri" pitchFamily="34" charset="0"/>
                <a:ea typeface="Calibri" pitchFamily="34" charset="-122"/>
                <a:cs typeface="Calibri" pitchFamily="34" charset="-120"/>
              </a:rPr>
              <a:t>la parenthèse : une information </a:t>
            </a:r>
            <a:r>
              <a:rPr lang="en-US" sz="1500" b="1" dirty="0">
                <a:solidFill>
                  <a:srgbClr val="1B2333"/>
                </a:solidFill>
                <a:latin typeface="Calibri" pitchFamily="34" charset="0"/>
                <a:ea typeface="Calibri" pitchFamily="34" charset="-122"/>
                <a:cs typeface="Calibri" pitchFamily="34" charset="-120"/>
              </a:rPr>
              <a:t>en plus</a:t>
            </a:r>
            <a:endParaRPr lang="en-US" sz="1500" dirty="0"/>
          </a:p>
        </p:txBody>
      </p:sp>
      <p:sp>
        <p:nvSpPr>
          <p:cNvPr id="23" name="Text 11"/>
          <p:cNvSpPr txBox="1"/>
          <p:nvPr/>
        </p:nvSpPr>
        <p:spPr>
          <a:xfrm>
            <a:off x="822960" y="4069080"/>
            <a:ext cx="3017520" cy="320040"/>
          </a:xfrm>
          <a:prstGeom prst="rect">
            <a:avLst/>
          </a:prstGeom>
          <a:noFill/>
          <a:ln/>
        </p:spPr>
        <p:txBody>
          <a:bodyPr wrap="square" lIns="0" tIns="0" rIns="0" bIns="0" rtlCol="0" anchor="ctr"/>
          <a:lstStyle/>
          <a:p>
            <a:pPr algn="l" indent="0" marL="0">
              <a:buNone/>
            </a:pPr>
            <a:r>
              <a:rPr lang="en-US" sz="1400" dirty="0">
                <a:solidFill>
                  <a:srgbClr val="6B7686"/>
                </a:solidFill>
                <a:latin typeface="Calibri" pitchFamily="34" charset="0"/>
                <a:ea typeface="Calibri" pitchFamily="34" charset="-122"/>
                <a:cs typeface="Calibri" pitchFamily="34" charset="-120"/>
              </a:rPr>
              <a:t>→ </a:t>
            </a:r>
            <a:r>
              <a:rPr lang="en-US" sz="1400" i="1" dirty="0">
                <a:solidFill>
                  <a:srgbClr val="6B7686"/>
                </a:solidFill>
                <a:latin typeface="Calibri" pitchFamily="34" charset="0"/>
                <a:ea typeface="Calibri" pitchFamily="34" charset="-122"/>
                <a:cs typeface="Calibri" pitchFamily="34" charset="-120"/>
              </a:rPr>
              <a:t>tous (et tous habitent Gand)</a:t>
            </a:r>
            <a:endParaRPr lang="en-US" sz="1400" dirty="0"/>
          </a:p>
        </p:txBody>
      </p:sp>
      <p:sp>
        <p:nvSpPr>
          <p:cNvPr id="24" name="Text 12"/>
          <p:cNvSpPr txBox="1"/>
          <p:nvPr/>
        </p:nvSpPr>
        <p:spPr>
          <a:xfrm>
            <a:off x="4023360" y="3154680"/>
            <a:ext cx="7342632" cy="457200"/>
          </a:xfrm>
          <a:prstGeom prst="rect">
            <a:avLst/>
          </a:prstGeom>
          <a:noFill/>
          <a:ln/>
        </p:spPr>
        <p:txBody>
          <a:bodyPr wrap="square" lIns="0" tIns="0" rIns="0" bIns="0" rtlCol="0" anchor="ctr"/>
          <a:lstStyle/>
          <a:p>
            <a:pPr algn="ctr" indent="0" marL="0">
              <a:buNone/>
            </a:pPr>
            <a:r>
              <a:rPr lang="en-US" sz="1900" i="1" dirty="0">
                <a:solidFill>
                  <a:srgbClr val="1B2333"/>
                </a:solidFill>
                <a:latin typeface="Calibri" pitchFamily="34" charset="0"/>
                <a:ea typeface="Calibri" pitchFamily="34" charset="-122"/>
                <a:cs typeface="Calibri" pitchFamily="34" charset="-120"/>
              </a:rPr>
              <a:t>Mijn collega’s</a:t>
            </a:r>
            <a:r>
              <a:rPr lang="en-US" sz="1900" b="1" i="1" dirty="0">
                <a:solidFill>
                  <a:srgbClr val="17375E"/>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a:t>
            </a:r>
            <a:r>
              <a:rPr lang="en-US" sz="1900" b="1" i="1" dirty="0">
                <a:solidFill>
                  <a:srgbClr val="17375E"/>
                </a:solidFill>
                <a:latin typeface="Calibri" pitchFamily="34" charset="0"/>
                <a:ea typeface="Calibri" pitchFamily="34" charset="-122"/>
                <a:cs typeface="Calibri" pitchFamily="34" charset="-120"/>
              </a:rPr>
              <a:t>die</a:t>
            </a:r>
            <a:r>
              <a:rPr lang="en-US" sz="1900" i="1" dirty="0">
                <a:solidFill>
                  <a:srgbClr val="1B2333"/>
                </a:solidFill>
                <a:latin typeface="Calibri" pitchFamily="34" charset="0"/>
                <a:ea typeface="Calibri" pitchFamily="34" charset="-122"/>
                <a:cs typeface="Calibri" pitchFamily="34" charset="-120"/>
              </a:rPr>
              <a:t> in Gent wonen</a:t>
            </a:r>
            <a:r>
              <a:rPr lang="en-US" sz="1900" b="1" i="1" dirty="0">
                <a:solidFill>
                  <a:srgbClr val="17375E"/>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komen met de trein.</a:t>
            </a:r>
            <a:endParaRPr lang="en-US" sz="1900" dirty="0"/>
          </a:p>
        </p:txBody>
      </p:sp>
      <p:sp>
        <p:nvSpPr>
          <p:cNvPr id="25" name="Shape 13"/>
          <p:cNvSpPr/>
          <p:nvPr/>
        </p:nvSpPr>
        <p:spPr>
          <a:xfrm>
            <a:off x="4507992" y="3758184"/>
            <a:ext cx="768096" cy="768096"/>
          </a:xfrm>
          <a:prstGeom prst="ellipse">
            <a:avLst/>
          </a:prstGeom>
          <a:solidFill>
            <a:srgbClr val="E6ECF3"/>
          </a:solidFill>
          <a:ln w="12700">
            <a:solidFill>
              <a:srgbClr val="FFFFFF">
                <a:alpha val="0"/>
              </a:srgbClr>
            </a:solidFill>
            <a:prstDash val="solid"/>
          </a:ln>
        </p:spPr>
      </p:sp>
      <p:pic>
        <p:nvPicPr>
          <p:cNvPr id="26" name="Image 9" descr="woman office worker">    </p:cNvPr>
          <p:cNvPicPr>
            <a:picLocks noChangeAspect="1"/>
          </p:cNvPicPr>
          <p:nvPr/>
        </p:nvPicPr>
        <p:blipFill>
          <a:blip r:embed="rId10"/>
          <a:stretch>
            <a:fillRect/>
          </a:stretch>
        </p:blipFill>
        <p:spPr>
          <a:xfrm>
            <a:off x="4581144" y="3831336"/>
            <a:ext cx="621792" cy="621792"/>
          </a:xfrm>
          <a:prstGeom prst="rect">
            <a:avLst/>
          </a:prstGeom>
        </p:spPr>
      </p:pic>
      <p:sp>
        <p:nvSpPr>
          <p:cNvPr id="27" name="Shape 14"/>
          <p:cNvSpPr/>
          <p:nvPr/>
        </p:nvSpPr>
        <p:spPr>
          <a:xfrm>
            <a:off x="5605272" y="3758184"/>
            <a:ext cx="768096" cy="768096"/>
          </a:xfrm>
          <a:prstGeom prst="ellipse">
            <a:avLst/>
          </a:prstGeom>
          <a:solidFill>
            <a:srgbClr val="E6ECF3"/>
          </a:solidFill>
          <a:ln w="12700">
            <a:solidFill>
              <a:srgbClr val="FFFFFF">
                <a:alpha val="0"/>
              </a:srgbClr>
            </a:solidFill>
            <a:prstDash val="solid"/>
          </a:ln>
        </p:spPr>
      </p:sp>
      <p:pic>
        <p:nvPicPr>
          <p:cNvPr id="28" name="Image 10" descr="man office worker">    </p:cNvPr>
          <p:cNvPicPr>
            <a:picLocks noChangeAspect="1"/>
          </p:cNvPicPr>
          <p:nvPr/>
        </p:nvPicPr>
        <p:blipFill>
          <a:blip r:embed="rId11"/>
          <a:stretch>
            <a:fillRect/>
          </a:stretch>
        </p:blipFill>
        <p:spPr>
          <a:xfrm>
            <a:off x="5678424" y="3831336"/>
            <a:ext cx="621792" cy="621792"/>
          </a:xfrm>
          <a:prstGeom prst="rect">
            <a:avLst/>
          </a:prstGeom>
        </p:spPr>
      </p:pic>
      <p:sp>
        <p:nvSpPr>
          <p:cNvPr id="29" name="Shape 15"/>
          <p:cNvSpPr/>
          <p:nvPr/>
        </p:nvSpPr>
        <p:spPr>
          <a:xfrm>
            <a:off x="6702552" y="3758184"/>
            <a:ext cx="768096" cy="768096"/>
          </a:xfrm>
          <a:prstGeom prst="ellipse">
            <a:avLst/>
          </a:prstGeom>
          <a:solidFill>
            <a:srgbClr val="E6ECF3"/>
          </a:solidFill>
          <a:ln w="12700">
            <a:solidFill>
              <a:srgbClr val="FFFFFF">
                <a:alpha val="0"/>
              </a:srgbClr>
            </a:solidFill>
            <a:prstDash val="solid"/>
          </a:ln>
        </p:spPr>
      </p:sp>
      <p:pic>
        <p:nvPicPr>
          <p:cNvPr id="30" name="Image 11" descr="woman technologist">    </p:cNvPr>
          <p:cNvPicPr>
            <a:picLocks noChangeAspect="1"/>
          </p:cNvPicPr>
          <p:nvPr/>
        </p:nvPicPr>
        <p:blipFill>
          <a:blip r:embed="rId12"/>
          <a:stretch>
            <a:fillRect/>
          </a:stretch>
        </p:blipFill>
        <p:spPr>
          <a:xfrm>
            <a:off x="6775704" y="3831336"/>
            <a:ext cx="621792" cy="621792"/>
          </a:xfrm>
          <a:prstGeom prst="rect">
            <a:avLst/>
          </a:prstGeom>
        </p:spPr>
      </p:pic>
      <p:sp>
        <p:nvSpPr>
          <p:cNvPr id="31" name="Shape 16"/>
          <p:cNvSpPr/>
          <p:nvPr/>
        </p:nvSpPr>
        <p:spPr>
          <a:xfrm>
            <a:off x="7799832" y="3758184"/>
            <a:ext cx="768096" cy="768096"/>
          </a:xfrm>
          <a:prstGeom prst="ellipse">
            <a:avLst/>
          </a:prstGeom>
          <a:solidFill>
            <a:srgbClr val="E6ECF3"/>
          </a:solidFill>
          <a:ln w="12700">
            <a:solidFill>
              <a:srgbClr val="FFFFFF">
                <a:alpha val="0"/>
              </a:srgbClr>
            </a:solidFill>
            <a:prstDash val="solid"/>
          </a:ln>
        </p:spPr>
      </p:sp>
      <p:pic>
        <p:nvPicPr>
          <p:cNvPr id="32" name="Image 12" descr="man technologist">    </p:cNvPr>
          <p:cNvPicPr>
            <a:picLocks noChangeAspect="1"/>
          </p:cNvPicPr>
          <p:nvPr/>
        </p:nvPicPr>
        <p:blipFill>
          <a:blip r:embed="rId13"/>
          <a:stretch>
            <a:fillRect/>
          </a:stretch>
        </p:blipFill>
        <p:spPr>
          <a:xfrm>
            <a:off x="7872984" y="3831336"/>
            <a:ext cx="621792" cy="621792"/>
          </a:xfrm>
          <a:prstGeom prst="rect">
            <a:avLst/>
          </a:prstGeom>
        </p:spPr>
      </p:pic>
      <p:sp>
        <p:nvSpPr>
          <p:cNvPr id="33" name="Shape 17"/>
          <p:cNvSpPr/>
          <p:nvPr/>
        </p:nvSpPr>
        <p:spPr>
          <a:xfrm>
            <a:off x="8897112" y="3758184"/>
            <a:ext cx="768096" cy="768096"/>
          </a:xfrm>
          <a:prstGeom prst="ellipse">
            <a:avLst/>
          </a:prstGeom>
          <a:solidFill>
            <a:srgbClr val="E6ECF3"/>
          </a:solidFill>
          <a:ln w="12700">
            <a:solidFill>
              <a:srgbClr val="FFFFFF">
                <a:alpha val="0"/>
              </a:srgbClr>
            </a:solidFill>
            <a:prstDash val="solid"/>
          </a:ln>
        </p:spPr>
      </p:sp>
      <p:pic>
        <p:nvPicPr>
          <p:cNvPr id="34" name="Image 13" descr="woman office worker">    </p:cNvPr>
          <p:cNvPicPr>
            <a:picLocks noChangeAspect="1"/>
          </p:cNvPicPr>
          <p:nvPr/>
        </p:nvPicPr>
        <p:blipFill>
          <a:blip r:embed="rId14"/>
          <a:stretch>
            <a:fillRect/>
          </a:stretch>
        </p:blipFill>
        <p:spPr>
          <a:xfrm>
            <a:off x="8970264" y="3831336"/>
            <a:ext cx="621792" cy="621792"/>
          </a:xfrm>
          <a:prstGeom prst="rect">
            <a:avLst/>
          </a:prstGeom>
        </p:spPr>
      </p:pic>
      <p:sp>
        <p:nvSpPr>
          <p:cNvPr id="35" name="Shape 18"/>
          <p:cNvSpPr/>
          <p:nvPr/>
        </p:nvSpPr>
        <p:spPr>
          <a:xfrm>
            <a:off x="9994392" y="3758184"/>
            <a:ext cx="768096" cy="768096"/>
          </a:xfrm>
          <a:prstGeom prst="ellipse">
            <a:avLst/>
          </a:prstGeom>
          <a:solidFill>
            <a:srgbClr val="E6ECF3"/>
          </a:solidFill>
          <a:ln w="12700">
            <a:solidFill>
              <a:srgbClr val="FFFFFF">
                <a:alpha val="0"/>
              </a:srgbClr>
            </a:solidFill>
            <a:prstDash val="solid"/>
          </a:ln>
        </p:spPr>
      </p:sp>
      <p:pic>
        <p:nvPicPr>
          <p:cNvPr id="36" name="Image 14" descr="man office worker">    </p:cNvPr>
          <p:cNvPicPr>
            <a:picLocks noChangeAspect="1"/>
          </p:cNvPicPr>
          <p:nvPr/>
        </p:nvPicPr>
        <p:blipFill>
          <a:blip r:embed="rId15"/>
          <a:stretch>
            <a:fillRect/>
          </a:stretch>
        </p:blipFill>
        <p:spPr>
          <a:xfrm>
            <a:off x="10067544" y="3831336"/>
            <a:ext cx="621792" cy="621792"/>
          </a:xfrm>
          <a:prstGeom prst="rect">
            <a:avLst/>
          </a:prstGeom>
        </p:spPr>
      </p:pic>
      <p:pic>
        <p:nvPicPr>
          <p:cNvPr id="37" name="Image 15" descr="round pushpin">    </p:cNvPr>
          <p:cNvPicPr>
            <a:picLocks noChangeAspect="1"/>
          </p:cNvPicPr>
          <p:nvPr/>
        </p:nvPicPr>
        <p:blipFill>
          <a:blip r:embed="rId16"/>
          <a:stretch>
            <a:fillRect/>
          </a:stretch>
        </p:blipFill>
        <p:spPr>
          <a:xfrm>
            <a:off x="9646920" y="2807208"/>
            <a:ext cx="237744" cy="237744"/>
          </a:xfrm>
          <a:prstGeom prst="rect">
            <a:avLst/>
          </a:prstGeom>
        </p:spPr>
      </p:pic>
      <p:sp>
        <p:nvSpPr>
          <p:cNvPr id="38" name="Text 19"/>
          <p:cNvSpPr txBox="1"/>
          <p:nvPr/>
        </p:nvSpPr>
        <p:spPr>
          <a:xfrm>
            <a:off x="9921240" y="2788920"/>
            <a:ext cx="1463040" cy="274320"/>
          </a:xfrm>
          <a:prstGeom prst="rect">
            <a:avLst/>
          </a:prstGeom>
          <a:noFill/>
          <a:ln/>
        </p:spPr>
        <p:txBody>
          <a:bodyPr wrap="square" lIns="0" tIns="0" rIns="0" bIns="0" rtlCol="0" anchor="ctr"/>
          <a:lstStyle/>
          <a:p>
            <a:pPr algn="l" indent="0" marL="0">
              <a:buNone/>
            </a:pPr>
            <a:r>
              <a:rPr lang="en-US" sz="1100" i="1" dirty="0">
                <a:solidFill>
                  <a:srgbClr val="6B7686"/>
                </a:solidFill>
                <a:latin typeface="Calibri" pitchFamily="34" charset="0"/>
                <a:ea typeface="Calibri" pitchFamily="34" charset="-122"/>
                <a:cs typeface="Calibri" pitchFamily="34" charset="-120"/>
              </a:rPr>
              <a:t>= habite Gand</a:t>
            </a:r>
            <a:endParaRPr lang="en-US" sz="1100" dirty="0"/>
          </a:p>
        </p:txBody>
      </p:sp>
      <p:sp>
        <p:nvSpPr>
          <p:cNvPr id="39" name="Shape 20"/>
          <p:cNvSpPr/>
          <p:nvPr/>
        </p:nvSpPr>
        <p:spPr>
          <a:xfrm>
            <a:off x="822960" y="4983480"/>
            <a:ext cx="5138928" cy="914400"/>
          </a:xfrm>
          <a:prstGeom prst="roundRect">
            <a:avLst>
              <a:gd name="adj" fmla="val 10000"/>
            </a:avLst>
          </a:prstGeom>
          <a:solidFill>
            <a:srgbClr val="E8F4EC"/>
          </a:solidFill>
          <a:ln w="12700">
            <a:solidFill>
              <a:srgbClr val="FFFFFF">
                <a:alpha val="0"/>
              </a:srgbClr>
            </a:solidFill>
            <a:prstDash val="solid"/>
          </a:ln>
        </p:spPr>
      </p:sp>
      <p:sp>
        <p:nvSpPr>
          <p:cNvPr id="40" name="Shape 21"/>
          <p:cNvSpPr/>
          <p:nvPr/>
        </p:nvSpPr>
        <p:spPr>
          <a:xfrm>
            <a:off x="996696" y="5157216"/>
            <a:ext cx="310896" cy="310896"/>
          </a:xfrm>
          <a:prstGeom prst="ellipse">
            <a:avLst/>
          </a:prstGeom>
          <a:solidFill>
            <a:srgbClr val="2E7D4F"/>
          </a:solidFill>
          <a:ln w="12700">
            <a:solidFill>
              <a:srgbClr val="FFFFFF">
                <a:alpha val="0"/>
              </a:srgbClr>
            </a:solidFill>
            <a:prstDash val="solid"/>
          </a:ln>
        </p:spPr>
      </p:sp>
      <p:sp>
        <p:nvSpPr>
          <p:cNvPr id="41" name="Text 22"/>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2" name="Text 23"/>
          <p:cNvSpPr txBox="1"/>
          <p:nvPr/>
        </p:nvSpPr>
        <p:spPr>
          <a:xfrm>
            <a:off x="1444752" y="509320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43" name="Text 24"/>
          <p:cNvSpPr txBox="1"/>
          <p:nvPr/>
        </p:nvSpPr>
        <p:spPr>
          <a:xfrm>
            <a:off x="1444752" y="538581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pas de virgule avant le relatif = on </a:t>
            </a:r>
            <a:r>
              <a:rPr lang="en-US" sz="1400" b="1" dirty="0">
                <a:solidFill>
                  <a:srgbClr val="1B2333"/>
                </a:solidFill>
                <a:latin typeface="Calibri" pitchFamily="34" charset="0"/>
                <a:ea typeface="Calibri" pitchFamily="34" charset="-122"/>
                <a:cs typeface="Calibri" pitchFamily="34" charset="-120"/>
              </a:rPr>
              <a:t>choisit</a:t>
            </a:r>
            <a:r>
              <a:rPr lang="en-US" sz="1400" dirty="0">
                <a:solidFill>
                  <a:srgbClr val="1B2333"/>
                </a:solidFill>
                <a:latin typeface="Calibri" pitchFamily="34" charset="0"/>
                <a:ea typeface="Calibri" pitchFamily="34" charset="-122"/>
                <a:cs typeface="Calibri" pitchFamily="34" charset="-120"/>
              </a:rPr>
              <a:t> · entre virgules = une information </a:t>
            </a:r>
            <a:r>
              <a:rPr lang="en-US" sz="1400" b="1" dirty="0">
                <a:solidFill>
                  <a:srgbClr val="1B2333"/>
                </a:solidFill>
                <a:latin typeface="Calibri" pitchFamily="34" charset="0"/>
                <a:ea typeface="Calibri" pitchFamily="34" charset="-122"/>
                <a:cs typeface="Calibri" pitchFamily="34" charset="-120"/>
              </a:rPr>
              <a:t>en plus</a:t>
            </a:r>
            <a:endParaRPr lang="en-US" sz="1400" dirty="0"/>
          </a:p>
        </p:txBody>
      </p:sp>
      <p:sp>
        <p:nvSpPr>
          <p:cNvPr id="44" name="Shape 25"/>
          <p:cNvSpPr/>
          <p:nvPr/>
        </p:nvSpPr>
        <p:spPr>
          <a:xfrm>
            <a:off x="6236208" y="4983480"/>
            <a:ext cx="5138928" cy="914400"/>
          </a:xfrm>
          <a:prstGeom prst="roundRect">
            <a:avLst>
              <a:gd name="adj" fmla="val 10000"/>
            </a:avLst>
          </a:prstGeom>
          <a:solidFill>
            <a:srgbClr val="EAF2FB"/>
          </a:solidFill>
          <a:ln w="12700">
            <a:solidFill>
              <a:srgbClr val="FFFFFF">
                <a:alpha val="0"/>
              </a:srgbClr>
            </a:solidFill>
            <a:prstDash val="solid"/>
          </a:ln>
        </p:spPr>
      </p:sp>
      <p:sp>
        <p:nvSpPr>
          <p:cNvPr id="45" name="Shape 26"/>
          <p:cNvSpPr/>
          <p:nvPr/>
        </p:nvSpPr>
        <p:spPr>
          <a:xfrm>
            <a:off x="6409944" y="5157216"/>
            <a:ext cx="310896" cy="310896"/>
          </a:xfrm>
          <a:prstGeom prst="ellipse">
            <a:avLst/>
          </a:prstGeom>
          <a:solidFill>
            <a:srgbClr val="2A6FB0"/>
          </a:solidFill>
          <a:ln w="12700">
            <a:solidFill>
              <a:srgbClr val="FFFFFF">
                <a:alpha val="0"/>
              </a:srgbClr>
            </a:solidFill>
            <a:prstDash val="solid"/>
          </a:ln>
        </p:spPr>
      </p:sp>
      <p:sp>
        <p:nvSpPr>
          <p:cNvPr id="46" name="Text 27"/>
          <p:cNvSpPr txBox="1"/>
          <p:nvPr/>
        </p:nvSpPr>
        <p:spPr>
          <a:xfrm>
            <a:off x="6409944"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7" name="Text 28"/>
          <p:cNvSpPr txBox="1"/>
          <p:nvPr/>
        </p:nvSpPr>
        <p:spPr>
          <a:xfrm>
            <a:off x="6858000" y="5093208"/>
            <a:ext cx="4361688" cy="292608"/>
          </a:xfrm>
          <a:prstGeom prst="rect">
            <a:avLst/>
          </a:prstGeom>
          <a:noFill/>
          <a:ln/>
        </p:spPr>
        <p:txBody>
          <a:bodyPr wrap="square" lIns="0" tIns="0" rIns="0" bIns="0" rtlCol="0" anchor="ctr"/>
          <a:lstStyle/>
          <a:p>
            <a:pPr algn="l" indent="0" marL="0">
              <a:buNone/>
            </a:pPr>
            <a:r>
              <a:rPr lang="en-US" sz="1300" b="1" dirty="0">
                <a:solidFill>
                  <a:srgbClr val="2A6FB0"/>
                </a:solidFill>
                <a:latin typeface="Calibri" pitchFamily="34" charset="0"/>
                <a:ea typeface="Calibri" pitchFamily="34" charset="-122"/>
                <a:cs typeface="Calibri" pitchFamily="34" charset="-120"/>
              </a:rPr>
              <a:t>Un nom propre</a:t>
            </a:r>
            <a:endParaRPr lang="en-US" sz="1300" dirty="0"/>
          </a:p>
        </p:txBody>
      </p:sp>
      <p:sp>
        <p:nvSpPr>
          <p:cNvPr id="48" name="Text 29"/>
          <p:cNvSpPr txBox="1"/>
          <p:nvPr/>
        </p:nvSpPr>
        <p:spPr>
          <a:xfrm>
            <a:off x="6858000" y="538581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toujours entre virgules : </a:t>
            </a:r>
            <a:r>
              <a:rPr lang="en-US" sz="1400" i="1" dirty="0">
                <a:solidFill>
                  <a:srgbClr val="1B2333"/>
                </a:solidFill>
                <a:latin typeface="Calibri" pitchFamily="34" charset="0"/>
                <a:ea typeface="Calibri" pitchFamily="34" charset="-122"/>
                <a:cs typeface="Calibri" pitchFamily="34" charset="-120"/>
              </a:rPr>
              <a:t>Sofie,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in Gent woont, komt met de trein.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wat : quand il n’y a pas de nom</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WAT</a:t>
            </a:r>
            <a:endParaRPr lang="en-US" sz="1100" dirty="0"/>
          </a:p>
        </p:txBody>
      </p:sp>
      <p:sp>
        <p:nvSpPr>
          <p:cNvPr id="5" name="Shape 2"/>
          <p:cNvSpPr/>
          <p:nvPr/>
        </p:nvSpPr>
        <p:spPr>
          <a:xfrm>
            <a:off x="1759039" y="1463040"/>
            <a:ext cx="760425" cy="420624"/>
          </a:xfrm>
          <a:prstGeom prst="roundRect">
            <a:avLst>
              <a:gd name="adj" fmla="val 50000"/>
            </a:avLst>
          </a:prstGeom>
          <a:solidFill>
            <a:srgbClr val="F4F6F9"/>
          </a:solidFill>
          <a:ln w="12700">
            <a:solidFill>
              <a:srgbClr val="FFFFFF">
                <a:alpha val="0"/>
              </a:srgbClr>
            </a:solidFill>
            <a:prstDash val="solid"/>
          </a:ln>
        </p:spPr>
      </p:sp>
      <p:sp>
        <p:nvSpPr>
          <p:cNvPr id="6" name="Text 3"/>
          <p:cNvSpPr txBox="1"/>
          <p:nvPr/>
        </p:nvSpPr>
        <p:spPr>
          <a:xfrm>
            <a:off x="1759039" y="1463040"/>
            <a:ext cx="760425"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alles</a:t>
            </a:r>
            <a:endParaRPr lang="en-US" sz="1700" dirty="0"/>
          </a:p>
        </p:txBody>
      </p:sp>
      <p:sp>
        <p:nvSpPr>
          <p:cNvPr id="7" name="Shape 4"/>
          <p:cNvSpPr/>
          <p:nvPr/>
        </p:nvSpPr>
        <p:spPr>
          <a:xfrm>
            <a:off x="2139251" y="1920240"/>
            <a:ext cx="3551466" cy="697898"/>
          </a:xfrm>
          <a:prstGeom prst="line">
            <a:avLst/>
          </a:prstGeom>
          <a:noFill/>
          <a:ln w="19050">
            <a:solidFill>
              <a:srgbClr val="2E7D4F"/>
            </a:solidFill>
            <a:prstDash val="solid"/>
            <a:tailEnd type="triangle"/>
          </a:ln>
        </p:spPr>
      </p:sp>
      <p:sp>
        <p:nvSpPr>
          <p:cNvPr id="8" name="Shape 5"/>
          <p:cNvSpPr/>
          <p:nvPr/>
        </p:nvSpPr>
        <p:spPr>
          <a:xfrm>
            <a:off x="2647480" y="1463040"/>
            <a:ext cx="679679" cy="420624"/>
          </a:xfrm>
          <a:prstGeom prst="roundRect">
            <a:avLst>
              <a:gd name="adj" fmla="val 50000"/>
            </a:avLst>
          </a:prstGeom>
          <a:solidFill>
            <a:srgbClr val="F4F6F9"/>
          </a:solidFill>
          <a:ln w="12700">
            <a:solidFill>
              <a:srgbClr val="FFFFFF">
                <a:alpha val="0"/>
              </a:srgbClr>
            </a:solidFill>
            <a:prstDash val="solid"/>
          </a:ln>
        </p:spPr>
      </p:sp>
      <p:sp>
        <p:nvSpPr>
          <p:cNvPr id="9" name="Text 6"/>
          <p:cNvSpPr txBox="1"/>
          <p:nvPr/>
        </p:nvSpPr>
        <p:spPr>
          <a:xfrm>
            <a:off x="2647480" y="1463040"/>
            <a:ext cx="679679"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iets</a:t>
            </a:r>
            <a:endParaRPr lang="en-US" sz="1700" dirty="0"/>
          </a:p>
        </p:txBody>
      </p:sp>
      <p:sp>
        <p:nvSpPr>
          <p:cNvPr id="10" name="Shape 7"/>
          <p:cNvSpPr/>
          <p:nvPr/>
        </p:nvSpPr>
        <p:spPr>
          <a:xfrm>
            <a:off x="2987319" y="1920240"/>
            <a:ext cx="2707976" cy="677387"/>
          </a:xfrm>
          <a:prstGeom prst="line">
            <a:avLst/>
          </a:prstGeom>
          <a:noFill/>
          <a:ln w="19050">
            <a:solidFill>
              <a:srgbClr val="2E7D4F"/>
            </a:solidFill>
            <a:prstDash val="solid"/>
            <a:tailEnd type="triangle"/>
          </a:ln>
        </p:spPr>
      </p:sp>
      <p:sp>
        <p:nvSpPr>
          <p:cNvPr id="11" name="Shape 8"/>
          <p:cNvSpPr/>
          <p:nvPr/>
        </p:nvSpPr>
        <p:spPr>
          <a:xfrm>
            <a:off x="3455175" y="1463040"/>
            <a:ext cx="793026" cy="420624"/>
          </a:xfrm>
          <a:prstGeom prst="roundRect">
            <a:avLst>
              <a:gd name="adj" fmla="val 50000"/>
            </a:avLst>
          </a:prstGeom>
          <a:solidFill>
            <a:srgbClr val="F4F6F9"/>
          </a:solidFill>
          <a:ln w="12700">
            <a:solidFill>
              <a:srgbClr val="FFFFFF">
                <a:alpha val="0"/>
              </a:srgbClr>
            </a:solidFill>
            <a:prstDash val="solid"/>
          </a:ln>
        </p:spPr>
      </p:sp>
      <p:sp>
        <p:nvSpPr>
          <p:cNvPr id="12" name="Text 9"/>
          <p:cNvSpPr txBox="1"/>
          <p:nvPr/>
        </p:nvSpPr>
        <p:spPr>
          <a:xfrm>
            <a:off x="3455175" y="1463040"/>
            <a:ext cx="793026"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niets</a:t>
            </a:r>
            <a:endParaRPr lang="en-US" sz="1700" dirty="0"/>
          </a:p>
        </p:txBody>
      </p:sp>
      <p:sp>
        <p:nvSpPr>
          <p:cNvPr id="13" name="Shape 10"/>
          <p:cNvSpPr/>
          <p:nvPr/>
        </p:nvSpPr>
        <p:spPr>
          <a:xfrm>
            <a:off x="3851688" y="1920240"/>
            <a:ext cx="1853993" cy="642503"/>
          </a:xfrm>
          <a:prstGeom prst="line">
            <a:avLst/>
          </a:prstGeom>
          <a:noFill/>
          <a:ln w="19050">
            <a:solidFill>
              <a:srgbClr val="2E7D4F"/>
            </a:solidFill>
            <a:prstDash val="solid"/>
            <a:tailEnd type="triangle"/>
          </a:ln>
        </p:spPr>
      </p:sp>
      <p:sp>
        <p:nvSpPr>
          <p:cNvPr id="14" name="Shape 11"/>
          <p:cNvSpPr/>
          <p:nvPr/>
        </p:nvSpPr>
        <p:spPr>
          <a:xfrm>
            <a:off x="4376217" y="1463040"/>
            <a:ext cx="728040" cy="420624"/>
          </a:xfrm>
          <a:prstGeom prst="roundRect">
            <a:avLst>
              <a:gd name="adj" fmla="val 50000"/>
            </a:avLst>
          </a:prstGeom>
          <a:solidFill>
            <a:srgbClr val="F4F6F9"/>
          </a:solidFill>
          <a:ln w="12700">
            <a:solidFill>
              <a:srgbClr val="FFFFFF">
                <a:alpha val="0"/>
              </a:srgbClr>
            </a:solidFill>
            <a:prstDash val="solid"/>
          </a:ln>
        </p:spPr>
      </p:sp>
      <p:sp>
        <p:nvSpPr>
          <p:cNvPr id="15" name="Text 12"/>
          <p:cNvSpPr txBox="1"/>
          <p:nvPr/>
        </p:nvSpPr>
        <p:spPr>
          <a:xfrm>
            <a:off x="4376217" y="1463040"/>
            <a:ext cx="728040"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veel</a:t>
            </a:r>
            <a:endParaRPr lang="en-US" sz="1700" dirty="0"/>
          </a:p>
        </p:txBody>
      </p:sp>
      <p:sp>
        <p:nvSpPr>
          <p:cNvPr id="16" name="Shape 13"/>
          <p:cNvSpPr/>
          <p:nvPr/>
        </p:nvSpPr>
        <p:spPr>
          <a:xfrm>
            <a:off x="4740237" y="1920240"/>
            <a:ext cx="997360" cy="572416"/>
          </a:xfrm>
          <a:prstGeom prst="line">
            <a:avLst/>
          </a:prstGeom>
          <a:noFill/>
          <a:ln w="19050">
            <a:solidFill>
              <a:srgbClr val="2E7D4F"/>
            </a:solidFill>
            <a:prstDash val="solid"/>
            <a:tailEnd type="triangle"/>
          </a:ln>
        </p:spPr>
      </p:sp>
      <p:sp>
        <p:nvSpPr>
          <p:cNvPr id="17" name="Shape 14"/>
          <p:cNvSpPr/>
          <p:nvPr/>
        </p:nvSpPr>
        <p:spPr>
          <a:xfrm>
            <a:off x="5232273" y="1463040"/>
            <a:ext cx="941997" cy="420624"/>
          </a:xfrm>
          <a:prstGeom prst="roundRect">
            <a:avLst>
              <a:gd name="adj" fmla="val 50000"/>
            </a:avLst>
          </a:prstGeom>
          <a:solidFill>
            <a:srgbClr val="F4F6F9"/>
          </a:solidFill>
          <a:ln w="12700">
            <a:solidFill>
              <a:srgbClr val="FFFFFF">
                <a:alpha val="0"/>
              </a:srgbClr>
            </a:solidFill>
            <a:prstDash val="solid"/>
          </a:ln>
        </p:spPr>
      </p:sp>
      <p:sp>
        <p:nvSpPr>
          <p:cNvPr id="18" name="Text 15"/>
          <p:cNvSpPr txBox="1"/>
          <p:nvPr/>
        </p:nvSpPr>
        <p:spPr>
          <a:xfrm>
            <a:off x="5232273" y="1463040"/>
            <a:ext cx="941997"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weinig</a:t>
            </a:r>
            <a:endParaRPr lang="en-US" sz="1700" dirty="0"/>
          </a:p>
        </p:txBody>
      </p:sp>
      <p:sp>
        <p:nvSpPr>
          <p:cNvPr id="19" name="Shape 16"/>
          <p:cNvSpPr/>
          <p:nvPr/>
        </p:nvSpPr>
        <p:spPr>
          <a:xfrm>
            <a:off x="5703272" y="1920240"/>
            <a:ext cx="206208" cy="409691"/>
          </a:xfrm>
          <a:prstGeom prst="line">
            <a:avLst/>
          </a:prstGeom>
          <a:noFill/>
          <a:ln w="19050">
            <a:solidFill>
              <a:srgbClr val="2E7D4F"/>
            </a:solidFill>
            <a:prstDash val="solid"/>
            <a:tailEnd type="triangle"/>
          </a:ln>
        </p:spPr>
      </p:sp>
      <p:sp>
        <p:nvSpPr>
          <p:cNvPr id="20" name="Shape 17"/>
          <p:cNvSpPr/>
          <p:nvPr/>
        </p:nvSpPr>
        <p:spPr>
          <a:xfrm>
            <a:off x="6302286" y="1463040"/>
            <a:ext cx="1187475" cy="420624"/>
          </a:xfrm>
          <a:prstGeom prst="roundRect">
            <a:avLst>
              <a:gd name="adj" fmla="val 50000"/>
            </a:avLst>
          </a:prstGeom>
          <a:solidFill>
            <a:srgbClr val="F4F6F9"/>
          </a:solidFill>
          <a:ln w="12700">
            <a:solidFill>
              <a:srgbClr val="FFFFFF">
                <a:alpha val="0"/>
              </a:srgbClr>
            </a:solidFill>
            <a:prstDash val="solid"/>
          </a:ln>
        </p:spPr>
      </p:sp>
      <p:sp>
        <p:nvSpPr>
          <p:cNvPr id="21" name="Text 18"/>
          <p:cNvSpPr txBox="1"/>
          <p:nvPr/>
        </p:nvSpPr>
        <p:spPr>
          <a:xfrm>
            <a:off x="6302286" y="1463040"/>
            <a:ext cx="1187475"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het enige</a:t>
            </a:r>
            <a:endParaRPr lang="en-US" sz="1700" dirty="0"/>
          </a:p>
        </p:txBody>
      </p:sp>
      <p:sp>
        <p:nvSpPr>
          <p:cNvPr id="22" name="Shape 19"/>
          <p:cNvSpPr/>
          <p:nvPr/>
        </p:nvSpPr>
        <p:spPr>
          <a:xfrm flipH="1">
            <a:off x="6389881" y="1920240"/>
            <a:ext cx="506143" cy="490793"/>
          </a:xfrm>
          <a:prstGeom prst="line">
            <a:avLst/>
          </a:prstGeom>
          <a:noFill/>
          <a:ln w="19050">
            <a:solidFill>
              <a:srgbClr val="2E7D4F"/>
            </a:solidFill>
            <a:prstDash val="solid"/>
            <a:tailEnd type="triangle"/>
          </a:ln>
        </p:spPr>
      </p:sp>
      <p:sp>
        <p:nvSpPr>
          <p:cNvPr id="23" name="Shape 20"/>
          <p:cNvSpPr/>
          <p:nvPr/>
        </p:nvSpPr>
        <p:spPr>
          <a:xfrm>
            <a:off x="7617777" y="1463040"/>
            <a:ext cx="1262393" cy="420624"/>
          </a:xfrm>
          <a:prstGeom prst="roundRect">
            <a:avLst>
              <a:gd name="adj" fmla="val 50000"/>
            </a:avLst>
          </a:prstGeom>
          <a:solidFill>
            <a:srgbClr val="F4F6F9"/>
          </a:solidFill>
          <a:ln w="12700">
            <a:solidFill>
              <a:srgbClr val="FFFFFF">
                <a:alpha val="0"/>
              </a:srgbClr>
            </a:solidFill>
            <a:prstDash val="solid"/>
          </a:ln>
        </p:spPr>
      </p:sp>
      <p:sp>
        <p:nvSpPr>
          <p:cNvPr id="24" name="Text 21"/>
          <p:cNvSpPr txBox="1"/>
          <p:nvPr/>
        </p:nvSpPr>
        <p:spPr>
          <a:xfrm>
            <a:off x="7617777" y="1463040"/>
            <a:ext cx="1262393"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het eerste</a:t>
            </a:r>
            <a:endParaRPr lang="en-US" sz="1700" dirty="0"/>
          </a:p>
        </p:txBody>
      </p:sp>
      <p:sp>
        <p:nvSpPr>
          <p:cNvPr id="25" name="Shape 22"/>
          <p:cNvSpPr/>
          <p:nvPr/>
        </p:nvSpPr>
        <p:spPr>
          <a:xfrm flipH="1">
            <a:off x="6481539" y="1920240"/>
            <a:ext cx="1767434" cy="637606"/>
          </a:xfrm>
          <a:prstGeom prst="line">
            <a:avLst/>
          </a:prstGeom>
          <a:noFill/>
          <a:ln w="19050">
            <a:solidFill>
              <a:srgbClr val="2E7D4F"/>
            </a:solidFill>
            <a:prstDash val="solid"/>
            <a:tailEnd type="triangle"/>
          </a:ln>
        </p:spPr>
      </p:sp>
      <p:sp>
        <p:nvSpPr>
          <p:cNvPr id="26" name="Shape 23"/>
          <p:cNvSpPr/>
          <p:nvPr/>
        </p:nvSpPr>
        <p:spPr>
          <a:xfrm>
            <a:off x="9008186" y="1463040"/>
            <a:ext cx="1421727" cy="420624"/>
          </a:xfrm>
          <a:prstGeom prst="roundRect">
            <a:avLst>
              <a:gd name="adj" fmla="val 50000"/>
            </a:avLst>
          </a:prstGeom>
          <a:solidFill>
            <a:srgbClr val="F4F6F9"/>
          </a:solidFill>
          <a:ln w="12700">
            <a:solidFill>
              <a:srgbClr val="FFFFFF">
                <a:alpha val="0"/>
              </a:srgbClr>
            </a:solidFill>
            <a:prstDash val="solid"/>
          </a:ln>
        </p:spPr>
      </p:sp>
      <p:sp>
        <p:nvSpPr>
          <p:cNvPr id="27" name="Text 24"/>
          <p:cNvSpPr txBox="1"/>
          <p:nvPr/>
        </p:nvSpPr>
        <p:spPr>
          <a:xfrm>
            <a:off x="9008186" y="1463040"/>
            <a:ext cx="1421727" cy="420624"/>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het mooiste</a:t>
            </a:r>
            <a:endParaRPr lang="en-US" sz="1700" dirty="0"/>
          </a:p>
        </p:txBody>
      </p:sp>
      <p:sp>
        <p:nvSpPr>
          <p:cNvPr id="28" name="Shape 25"/>
          <p:cNvSpPr/>
          <p:nvPr/>
        </p:nvSpPr>
        <p:spPr>
          <a:xfrm flipH="1">
            <a:off x="6496810" y="1920240"/>
            <a:ext cx="3222240" cy="690965"/>
          </a:xfrm>
          <a:prstGeom prst="line">
            <a:avLst/>
          </a:prstGeom>
          <a:noFill/>
          <a:ln w="19050">
            <a:solidFill>
              <a:srgbClr val="2E7D4F"/>
            </a:solidFill>
            <a:prstDash val="solid"/>
            <a:tailEnd type="triangle"/>
          </a:ln>
        </p:spPr>
      </p:sp>
      <p:sp>
        <p:nvSpPr>
          <p:cNvPr id="29" name="Shape 26"/>
          <p:cNvSpPr/>
          <p:nvPr/>
        </p:nvSpPr>
        <p:spPr>
          <a:xfrm>
            <a:off x="5728716" y="2331720"/>
            <a:ext cx="731520" cy="731520"/>
          </a:xfrm>
          <a:prstGeom prst="ellipse">
            <a:avLst/>
          </a:prstGeom>
          <a:solidFill>
            <a:srgbClr val="2E7D4F"/>
          </a:solidFill>
          <a:ln w="12700">
            <a:solidFill>
              <a:srgbClr val="FFFFFF">
                <a:alpha val="0"/>
              </a:srgbClr>
            </a:solidFill>
            <a:prstDash val="solid"/>
          </a:ln>
        </p:spPr>
      </p:sp>
      <p:sp>
        <p:nvSpPr>
          <p:cNvPr id="30" name="Text 27"/>
          <p:cNvSpPr txBox="1"/>
          <p:nvPr/>
        </p:nvSpPr>
        <p:spPr>
          <a:xfrm>
            <a:off x="5728716" y="2468880"/>
            <a:ext cx="73152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wat</a:t>
            </a:r>
            <a:endParaRPr lang="en-US" sz="1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22960" y="3246120"/>
          <a:ext cx="10543032" cy="914400"/>
        </p:xfrm>
        <a:graphic>
          <a:graphicData uri="http://schemas.openxmlformats.org/drawingml/2006/table">
            <a:tbl>
              <a:tblPr/>
              <a:tblGrid>
                <a:gridCol w="5029200"/>
                <a:gridCol w="5513832"/>
              </a:tblGrid>
              <a:tr h="393192">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393192">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Alles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je zegt, klopt.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Tout ce que tu dis est juste.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93192">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Is er iets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kan doen?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Y a-t-il quelque chose que je puisse faire ?</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93192">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Dat is het enige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weet.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C’est la seule chose que je sache.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93192">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mooiste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ooit gezien heb.</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La plus belle chose que j’aie jamais vue.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32" name="Shape 28"/>
          <p:cNvSpPr/>
          <p:nvPr/>
        </p:nvSpPr>
        <p:spPr>
          <a:xfrm>
            <a:off x="822960" y="5349240"/>
            <a:ext cx="5138928" cy="841248"/>
          </a:xfrm>
          <a:prstGeom prst="roundRect">
            <a:avLst>
              <a:gd name="adj" fmla="val 10870"/>
            </a:avLst>
          </a:prstGeom>
          <a:solidFill>
            <a:srgbClr val="E8F4EC"/>
          </a:solidFill>
          <a:ln w="12700">
            <a:solidFill>
              <a:srgbClr val="FFFFFF">
                <a:alpha val="0"/>
              </a:srgbClr>
            </a:solidFill>
            <a:prstDash val="solid"/>
          </a:ln>
        </p:spPr>
      </p:sp>
      <p:sp>
        <p:nvSpPr>
          <p:cNvPr id="33" name="Shape 29"/>
          <p:cNvSpPr/>
          <p:nvPr/>
        </p:nvSpPr>
        <p:spPr>
          <a:xfrm>
            <a:off x="996696" y="5522976"/>
            <a:ext cx="310896" cy="310896"/>
          </a:xfrm>
          <a:prstGeom prst="ellipse">
            <a:avLst/>
          </a:prstGeom>
          <a:solidFill>
            <a:srgbClr val="2E7D4F"/>
          </a:solidFill>
          <a:ln w="12700">
            <a:solidFill>
              <a:srgbClr val="FFFFFF">
                <a:alpha val="0"/>
              </a:srgbClr>
            </a:solidFill>
            <a:prstDash val="solid"/>
          </a:ln>
        </p:spPr>
      </p:sp>
      <p:sp>
        <p:nvSpPr>
          <p:cNvPr id="34" name="Text 30"/>
          <p:cNvSpPr txBox="1"/>
          <p:nvPr/>
        </p:nvSpPr>
        <p:spPr>
          <a:xfrm>
            <a:off x="996696" y="55229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5" name="Text 31"/>
          <p:cNvSpPr txBox="1"/>
          <p:nvPr/>
        </p:nvSpPr>
        <p:spPr>
          <a:xfrm>
            <a:off x="1444752" y="545896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36" name="Text 32"/>
          <p:cNvSpPr txBox="1"/>
          <p:nvPr/>
        </p:nvSpPr>
        <p:spPr>
          <a:xfrm>
            <a:off x="1444752" y="5751576"/>
            <a:ext cx="4361688" cy="365760"/>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pas de nom, mais un mot « chose » → </a:t>
            </a:r>
            <a:r>
              <a:rPr lang="en-US" sz="1400" b="1" i="1" dirty="0">
                <a:solidFill>
                  <a:srgbClr val="2E7D4F"/>
                </a:solidFill>
                <a:latin typeface="Calibri" pitchFamily="34" charset="0"/>
                <a:ea typeface="Calibri" pitchFamily="34" charset="-122"/>
                <a:cs typeface="Calibri" pitchFamily="34" charset="-120"/>
              </a:rPr>
              <a:t>wat</a:t>
            </a:r>
            <a:endParaRPr lang="en-US" sz="1400" dirty="0"/>
          </a:p>
        </p:txBody>
      </p:sp>
      <p:sp>
        <p:nvSpPr>
          <p:cNvPr id="37" name="Shape 33"/>
          <p:cNvSpPr/>
          <p:nvPr/>
        </p:nvSpPr>
        <p:spPr>
          <a:xfrm>
            <a:off x="6236208" y="5349240"/>
            <a:ext cx="5138928" cy="841248"/>
          </a:xfrm>
          <a:prstGeom prst="roundRect">
            <a:avLst>
              <a:gd name="adj" fmla="val 10870"/>
            </a:avLst>
          </a:prstGeom>
          <a:solidFill>
            <a:srgbClr val="FBEDEB"/>
          </a:solidFill>
          <a:ln w="12700">
            <a:solidFill>
              <a:srgbClr val="FFFFFF">
                <a:alpha val="0"/>
              </a:srgbClr>
            </a:solidFill>
            <a:prstDash val="solid"/>
          </a:ln>
        </p:spPr>
      </p:sp>
      <p:sp>
        <p:nvSpPr>
          <p:cNvPr id="38" name="Shape 34"/>
          <p:cNvSpPr/>
          <p:nvPr/>
        </p:nvSpPr>
        <p:spPr>
          <a:xfrm>
            <a:off x="6409944" y="5522976"/>
            <a:ext cx="310896" cy="310896"/>
          </a:xfrm>
          <a:prstGeom prst="ellipse">
            <a:avLst/>
          </a:prstGeom>
          <a:solidFill>
            <a:srgbClr val="B83227"/>
          </a:solidFill>
          <a:ln w="12700">
            <a:solidFill>
              <a:srgbClr val="FFFFFF">
                <a:alpha val="0"/>
              </a:srgbClr>
            </a:solidFill>
            <a:prstDash val="solid"/>
          </a:ln>
        </p:spPr>
      </p:sp>
      <p:sp>
        <p:nvSpPr>
          <p:cNvPr id="39" name="Text 35"/>
          <p:cNvSpPr txBox="1"/>
          <p:nvPr/>
        </p:nvSpPr>
        <p:spPr>
          <a:xfrm>
            <a:off x="6409944" y="55229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0" name="Text 36"/>
          <p:cNvSpPr txBox="1"/>
          <p:nvPr/>
        </p:nvSpPr>
        <p:spPr>
          <a:xfrm>
            <a:off x="6858000" y="545896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À l’oral</a:t>
            </a:r>
            <a:endParaRPr lang="en-US" sz="1300" dirty="0"/>
          </a:p>
        </p:txBody>
      </p:sp>
      <p:sp>
        <p:nvSpPr>
          <p:cNvPr id="41" name="Text 37"/>
          <p:cNvSpPr txBox="1"/>
          <p:nvPr/>
        </p:nvSpPr>
        <p:spPr>
          <a:xfrm>
            <a:off x="6858000" y="5751576"/>
            <a:ext cx="4361688" cy="365760"/>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on entend aussi </a:t>
            </a:r>
            <a:r>
              <a:rPr lang="en-US" sz="1400" i="1" dirty="0">
                <a:solidFill>
                  <a:srgbClr val="1B2333"/>
                </a:solidFill>
                <a:latin typeface="Calibri" pitchFamily="34" charset="0"/>
                <a:ea typeface="Calibri" pitchFamily="34" charset="-122"/>
                <a:cs typeface="Calibri" pitchFamily="34" charset="-120"/>
              </a:rPr>
              <a:t>iets dat, niets dat</a:t>
            </a:r>
            <a:r>
              <a:rPr lang="en-US" sz="1400" dirty="0">
                <a:solidFill>
                  <a:srgbClr val="1B2333"/>
                </a:solidFill>
                <a:latin typeface="Calibri" pitchFamily="34" charset="0"/>
                <a:ea typeface="Calibri" pitchFamily="34" charset="-122"/>
                <a:cs typeface="Calibri" pitchFamily="34" charset="-120"/>
              </a:rPr>
              <a:t> (surtout en Belgique) ; </a:t>
            </a:r>
            <a:r>
              <a:rPr lang="en-US" sz="1400" b="1" i="1" dirty="0">
                <a:solidFill>
                  <a:srgbClr val="2E7D4F"/>
                </a:solidFill>
                <a:latin typeface="Calibri" pitchFamily="34" charset="0"/>
                <a:ea typeface="Calibri" pitchFamily="34" charset="-122"/>
                <a:cs typeface="Calibri" pitchFamily="34" charset="-120"/>
              </a:rPr>
              <a:t>wat</a:t>
            </a:r>
            <a:r>
              <a:rPr lang="en-US" sz="1400" dirty="0">
                <a:solidFill>
                  <a:srgbClr val="1B2333"/>
                </a:solidFill>
                <a:latin typeface="Calibri" pitchFamily="34" charset="0"/>
                <a:ea typeface="Calibri" pitchFamily="34" charset="-122"/>
                <a:cs typeface="Calibri" pitchFamily="34" charset="-120"/>
              </a:rPr>
              <a:t> est toujours juste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wat reprend toute une phrase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WAT</a:t>
            </a:r>
            <a:endParaRPr lang="en-US" sz="1100" dirty="0"/>
          </a:p>
        </p:txBody>
      </p:sp>
      <p:sp>
        <p:nvSpPr>
          <p:cNvPr id="5" name="Text 2"/>
          <p:cNvSpPr txBox="1"/>
          <p:nvPr/>
        </p:nvSpPr>
        <p:spPr>
          <a:xfrm>
            <a:off x="2791054" y="1691640"/>
            <a:ext cx="3259938" cy="621792"/>
          </a:xfrm>
          <a:prstGeom prst="rect">
            <a:avLst/>
          </a:prstGeom>
          <a:noFill/>
          <a:ln/>
        </p:spPr>
        <p:txBody>
          <a:bodyPr wrap="square" lIns="0" tIns="0" rIns="0" bIns="0" rtlCol="0" anchor="ctr"/>
          <a:lstStyle/>
          <a:p>
            <a:pPr algn="ctr" indent="0" marL="0">
              <a:buNone/>
            </a:pPr>
            <a:r>
              <a:rPr lang="en-US" sz="2800" i="1" dirty="0">
                <a:solidFill>
                  <a:srgbClr val="1B2333"/>
                </a:solidFill>
                <a:latin typeface="Calibri" pitchFamily="34" charset="0"/>
                <a:ea typeface="Calibri" pitchFamily="34" charset="-122"/>
                <a:cs typeface="Calibri" pitchFamily="34" charset="-120"/>
              </a:rPr>
              <a:t>Hij komt altijd te laat,</a:t>
            </a:r>
            <a:endParaRPr lang="en-US" sz="2800" dirty="0"/>
          </a:p>
        </p:txBody>
      </p:sp>
      <p:sp>
        <p:nvSpPr>
          <p:cNvPr id="6" name="Text 3"/>
          <p:cNvSpPr txBox="1"/>
          <p:nvPr/>
        </p:nvSpPr>
        <p:spPr>
          <a:xfrm>
            <a:off x="6025236" y="1691640"/>
            <a:ext cx="710286" cy="621792"/>
          </a:xfrm>
          <a:prstGeom prst="rect">
            <a:avLst/>
          </a:prstGeom>
          <a:noFill/>
          <a:ln/>
        </p:spPr>
        <p:txBody>
          <a:bodyPr wrap="square" lIns="0" tIns="0" rIns="0" bIns="0" rtlCol="0" anchor="ctr"/>
          <a:lstStyle/>
          <a:p>
            <a:pPr algn="ctr" indent="0" marL="0">
              <a:buNone/>
            </a:pPr>
            <a:r>
              <a:rPr lang="en-US" sz="2800" b="1" i="1" dirty="0">
                <a:solidFill>
                  <a:srgbClr val="2E7D4F"/>
                </a:solidFill>
                <a:latin typeface="Calibri" pitchFamily="34" charset="0"/>
                <a:ea typeface="Calibri" pitchFamily="34" charset="-122"/>
                <a:cs typeface="Calibri" pitchFamily="34" charset="-120"/>
              </a:rPr>
              <a:t>wat</a:t>
            </a:r>
            <a:endParaRPr lang="en-US" sz="2800" dirty="0"/>
          </a:p>
        </p:txBody>
      </p:sp>
      <p:sp>
        <p:nvSpPr>
          <p:cNvPr id="7" name="Text 4"/>
          <p:cNvSpPr txBox="1"/>
          <p:nvPr/>
        </p:nvSpPr>
        <p:spPr>
          <a:xfrm>
            <a:off x="6709766" y="1691640"/>
            <a:ext cx="2688133" cy="621792"/>
          </a:xfrm>
          <a:prstGeom prst="rect">
            <a:avLst/>
          </a:prstGeom>
          <a:noFill/>
          <a:ln/>
        </p:spPr>
        <p:txBody>
          <a:bodyPr wrap="square" lIns="0" tIns="0" rIns="0" bIns="0" rtlCol="0" anchor="ctr"/>
          <a:lstStyle/>
          <a:p>
            <a:pPr algn="ctr" indent="0" marL="0">
              <a:buNone/>
            </a:pPr>
            <a:r>
              <a:rPr lang="en-US" sz="2800" i="1" dirty="0">
                <a:solidFill>
                  <a:srgbClr val="1B2333"/>
                </a:solidFill>
                <a:latin typeface="Calibri" pitchFamily="34" charset="0"/>
                <a:ea typeface="Calibri" pitchFamily="34" charset="-122"/>
                <a:cs typeface="Calibri" pitchFamily="34" charset="-120"/>
              </a:rPr>
              <a:t>ik vervelend vind.</a:t>
            </a:r>
            <a:endParaRPr lang="en-US" sz="2800" dirty="0"/>
          </a:p>
        </p:txBody>
      </p:sp>
      <p:sp>
        <p:nvSpPr>
          <p:cNvPr id="8" name="Shape 5"/>
          <p:cNvSpPr/>
          <p:nvPr/>
        </p:nvSpPr>
        <p:spPr>
          <a:xfrm>
            <a:off x="2864206" y="2377440"/>
            <a:ext cx="3022194" cy="914"/>
          </a:xfrm>
          <a:prstGeom prst="line">
            <a:avLst/>
          </a:prstGeom>
          <a:noFill/>
          <a:ln w="25400">
            <a:solidFill>
              <a:srgbClr val="2E7D4F"/>
            </a:solidFill>
            <a:prstDash val="solid"/>
          </a:ln>
        </p:spPr>
      </p:sp>
      <p:sp>
        <p:nvSpPr>
          <p:cNvPr id="9" name="Shape 6"/>
          <p:cNvSpPr/>
          <p:nvPr/>
        </p:nvSpPr>
        <p:spPr>
          <a:xfrm flipV="1">
            <a:off x="2864206" y="2267712"/>
            <a:ext cx="914" cy="109728"/>
          </a:xfrm>
          <a:prstGeom prst="line">
            <a:avLst/>
          </a:prstGeom>
          <a:noFill/>
          <a:ln w="25400">
            <a:solidFill>
              <a:srgbClr val="2E7D4F"/>
            </a:solidFill>
            <a:prstDash val="solid"/>
          </a:ln>
        </p:spPr>
      </p:sp>
      <p:sp>
        <p:nvSpPr>
          <p:cNvPr id="10" name="Shape 7"/>
          <p:cNvSpPr/>
          <p:nvPr/>
        </p:nvSpPr>
        <p:spPr>
          <a:xfrm flipV="1">
            <a:off x="5886399" y="2267712"/>
            <a:ext cx="914" cy="109728"/>
          </a:xfrm>
          <a:prstGeom prst="line">
            <a:avLst/>
          </a:prstGeom>
          <a:noFill/>
          <a:ln w="25400">
            <a:solidFill>
              <a:srgbClr val="2E7D4F"/>
            </a:solidFill>
            <a:prstDash val="solid"/>
          </a:ln>
        </p:spPr>
      </p:sp>
      <p:sp>
        <p:nvSpPr>
          <p:cNvPr id="11" name="Shape 8"/>
          <p:cNvSpPr/>
          <p:nvPr/>
        </p:nvSpPr>
        <p:spPr>
          <a:xfrm>
            <a:off x="4421022" y="2057400"/>
            <a:ext cx="1959356" cy="640080"/>
          </a:xfrm>
          <a:prstGeom prst="arc">
            <a:avLst>
              <a:gd name="adj1" fmla="val 0"/>
              <a:gd name="adj2" fmla="val 10800000"/>
            </a:avLst>
          </a:prstGeom>
          <a:solidFill>
            <a:srgbClr val="FFFFFF">
              <a:alpha val="0"/>
            </a:srgbClr>
          </a:solidFill>
          <a:ln w="25400">
            <a:solidFill>
              <a:srgbClr val="2E7D4F"/>
            </a:solidFill>
            <a:prstDash val="solid"/>
            <a:headEnd type="triangle"/>
          </a:ln>
        </p:spPr>
      </p:sp>
      <p:sp>
        <p:nvSpPr>
          <p:cNvPr id="12" name="Text 9"/>
          <p:cNvSpPr txBox="1"/>
          <p:nvPr/>
        </p:nvSpPr>
        <p:spPr>
          <a:xfrm>
            <a:off x="822960" y="2788920"/>
            <a:ext cx="10543032" cy="320040"/>
          </a:xfrm>
          <a:prstGeom prst="rect">
            <a:avLst/>
          </a:prstGeom>
          <a:noFill/>
          <a:ln/>
        </p:spPr>
        <p:txBody>
          <a:bodyPr wrap="square" lIns="0" tIns="0" rIns="0" bIns="0" rtlCol="0" anchor="ctr"/>
          <a:lstStyle/>
          <a:p>
            <a:pPr algn="ctr" indent="0" marL="0">
              <a:buNone/>
            </a:pPr>
            <a:r>
              <a:rPr lang="en-US" sz="1500" i="1" dirty="0">
                <a:solidFill>
                  <a:srgbClr val="6B7686"/>
                </a:solidFill>
                <a:latin typeface="Calibri" pitchFamily="34" charset="0"/>
                <a:ea typeface="Calibri" pitchFamily="34" charset="-122"/>
                <a:cs typeface="Calibri" pitchFamily="34" charset="-120"/>
              </a:rPr>
              <a:t>…, ce que je trouve agaçant.</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3291840"/>
          <a:ext cx="10543032" cy="914400"/>
        </p:xfrm>
        <a:graphic>
          <a:graphicData uri="http://schemas.openxmlformats.org/drawingml/2006/table">
            <a:tbl>
              <a:tblPr/>
              <a:tblGrid>
                <a:gridCol w="6035040"/>
                <a:gridCol w="4507992"/>
              </a:tblGrid>
              <a:tr h="420624">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Ze heeft de job gekregen, </a:t>
                      </a:r>
                      <a:r>
                        <a:rPr lang="en-US" sz="1650" b="1" i="1" dirty="0">
                          <a:solidFill>
                            <a:srgbClr val="2E7D4F"/>
                          </a:solidFill>
                          <a:latin typeface="Calibri" pitchFamily="34" charset="0"/>
                          <a:ea typeface="Calibri" pitchFamily="34" charset="-122"/>
                          <a:cs typeface="Calibri" pitchFamily="34" charset="-120"/>
                        </a:rPr>
                        <a:t>wat</a:t>
                      </a:r>
                      <a:r>
                        <a:rPr lang="en-US" sz="1650" i="1" dirty="0">
                          <a:solidFill>
                            <a:srgbClr val="1B2333"/>
                          </a:solidFill>
                          <a:latin typeface="Calibri" pitchFamily="34" charset="0"/>
                          <a:ea typeface="Calibri" pitchFamily="34" charset="-122"/>
                          <a:cs typeface="Calibri" pitchFamily="34" charset="-120"/>
                        </a:rPr>
                        <a:t> niemand verwachtte.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 ce que personne n’attendait.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lift werkt niet, </a:t>
                      </a:r>
                      <a:r>
                        <a:rPr lang="en-US" sz="1650" b="1" i="1" dirty="0">
                          <a:solidFill>
                            <a:srgbClr val="2E7D4F"/>
                          </a:solidFill>
                          <a:latin typeface="Calibri" pitchFamily="34" charset="0"/>
                          <a:ea typeface="Calibri" pitchFamily="34" charset="-122"/>
                          <a:cs typeface="Calibri" pitchFamily="34" charset="-120"/>
                        </a:rPr>
                        <a:t>wat</a:t>
                      </a:r>
                      <a:r>
                        <a:rPr lang="en-US" sz="1650" i="1" dirty="0">
                          <a:solidFill>
                            <a:srgbClr val="1B2333"/>
                          </a:solidFill>
                          <a:latin typeface="Calibri" pitchFamily="34" charset="0"/>
                          <a:ea typeface="Calibri" pitchFamily="34" charset="-122"/>
                          <a:cs typeface="Calibri" pitchFamily="34" charset="-120"/>
                        </a:rPr>
                        <a:t> erg lastig 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 ce qui est très embêtant.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werken vrijdag thuis, </a:t>
                      </a:r>
                      <a:r>
                        <a:rPr lang="en-US" sz="1650" b="1" i="1" dirty="0">
                          <a:solidFill>
                            <a:srgbClr val="2E7D4F"/>
                          </a:solidFill>
                          <a:latin typeface="Calibri" pitchFamily="34" charset="0"/>
                          <a:ea typeface="Calibri" pitchFamily="34" charset="-122"/>
                          <a:cs typeface="Calibri" pitchFamily="34" charset="-120"/>
                        </a:rPr>
                        <a:t>wat</a:t>
                      </a:r>
                      <a:r>
                        <a:rPr lang="en-US" sz="1650" i="1" dirty="0">
                          <a:solidFill>
                            <a:srgbClr val="1B2333"/>
                          </a:solidFill>
                          <a:latin typeface="Calibri" pitchFamily="34" charset="0"/>
                          <a:ea typeface="Calibri" pitchFamily="34" charset="-122"/>
                          <a:cs typeface="Calibri" pitchFamily="34" charset="-120"/>
                        </a:rPr>
                        <a:t> ik fijn vind.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dirty="0">
                          <a:solidFill>
                            <a:srgbClr val="1B2333"/>
                          </a:solidFill>
                          <a:latin typeface="Calibri" pitchFamily="34" charset="0"/>
                          <a:ea typeface="Calibri" pitchFamily="34" charset="-122"/>
                          <a:cs typeface="Calibri" pitchFamily="34" charset="-120"/>
                        </a:rPr>
                        <a:t>…, ce que je trouve agréable.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4" name="Shape 10"/>
          <p:cNvSpPr/>
          <p:nvPr/>
        </p:nvSpPr>
        <p:spPr>
          <a:xfrm>
            <a:off x="822960" y="5120640"/>
            <a:ext cx="5138928" cy="868680"/>
          </a:xfrm>
          <a:prstGeom prst="roundRect">
            <a:avLst>
              <a:gd name="adj" fmla="val 10526"/>
            </a:avLst>
          </a:prstGeom>
          <a:solidFill>
            <a:srgbClr val="E8F4EC"/>
          </a:solidFill>
          <a:ln w="12700">
            <a:solidFill>
              <a:srgbClr val="FFFFFF">
                <a:alpha val="0"/>
              </a:srgbClr>
            </a:solidFill>
            <a:prstDash val="solid"/>
          </a:ln>
        </p:spPr>
      </p:sp>
      <p:sp>
        <p:nvSpPr>
          <p:cNvPr id="15" name="Shape 11"/>
          <p:cNvSpPr/>
          <p:nvPr/>
        </p:nvSpPr>
        <p:spPr>
          <a:xfrm>
            <a:off x="996696" y="5294376"/>
            <a:ext cx="310896" cy="310896"/>
          </a:xfrm>
          <a:prstGeom prst="ellipse">
            <a:avLst/>
          </a:prstGeom>
          <a:solidFill>
            <a:srgbClr val="2E7D4F"/>
          </a:solidFill>
          <a:ln w="12700">
            <a:solidFill>
              <a:srgbClr val="FFFFFF">
                <a:alpha val="0"/>
              </a:srgbClr>
            </a:solidFill>
            <a:prstDash val="solid"/>
          </a:ln>
        </p:spPr>
      </p:sp>
      <p:sp>
        <p:nvSpPr>
          <p:cNvPr id="16" name="Text 12"/>
          <p:cNvSpPr txBox="1"/>
          <p:nvPr/>
        </p:nvSpPr>
        <p:spPr>
          <a:xfrm>
            <a:off x="996696"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3"/>
          <p:cNvSpPr txBox="1"/>
          <p:nvPr/>
        </p:nvSpPr>
        <p:spPr>
          <a:xfrm>
            <a:off x="1444752" y="523036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18" name="Text 14"/>
          <p:cNvSpPr txBox="1"/>
          <p:nvPr/>
        </p:nvSpPr>
        <p:spPr>
          <a:xfrm>
            <a:off x="1444752" y="5522976"/>
            <a:ext cx="4361688" cy="39319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après une virgule, </a:t>
            </a:r>
            <a:r>
              <a:rPr lang="en-US" sz="1400" b="1" i="1" dirty="0">
                <a:solidFill>
                  <a:srgbClr val="2E7D4F"/>
                </a:solidFill>
                <a:latin typeface="Calibri" pitchFamily="34" charset="0"/>
                <a:ea typeface="Calibri" pitchFamily="34" charset="-122"/>
                <a:cs typeface="Calibri" pitchFamily="34" charset="-120"/>
              </a:rPr>
              <a:t>wat</a:t>
            </a:r>
            <a:r>
              <a:rPr lang="en-US" sz="1400" dirty="0">
                <a:solidFill>
                  <a:srgbClr val="1B2333"/>
                </a:solidFill>
                <a:latin typeface="Calibri" pitchFamily="34" charset="0"/>
                <a:ea typeface="Calibri" pitchFamily="34" charset="-122"/>
                <a:cs typeface="Calibri" pitchFamily="34" charset="-120"/>
              </a:rPr>
              <a:t> reprend </a:t>
            </a:r>
            <a:r>
              <a:rPr lang="en-US" sz="1400" b="1" dirty="0">
                <a:solidFill>
                  <a:srgbClr val="1B2333"/>
                </a:solidFill>
                <a:latin typeface="Calibri" pitchFamily="34" charset="0"/>
                <a:ea typeface="Calibri" pitchFamily="34" charset="-122"/>
                <a:cs typeface="Calibri" pitchFamily="34" charset="-120"/>
              </a:rPr>
              <a:t>toute l’idée</a:t>
            </a:r>
            <a:r>
              <a:rPr lang="en-US" sz="1400" dirty="0">
                <a:solidFill>
                  <a:srgbClr val="1B2333"/>
                </a:solidFill>
                <a:latin typeface="Calibri" pitchFamily="34" charset="0"/>
                <a:ea typeface="Calibri" pitchFamily="34" charset="-122"/>
                <a:cs typeface="Calibri" pitchFamily="34" charset="-120"/>
              </a:rPr>
              <a:t> qui précède</a:t>
            </a:r>
            <a:endParaRPr lang="en-US" sz="1400" dirty="0"/>
          </a:p>
        </p:txBody>
      </p:sp>
      <p:sp>
        <p:nvSpPr>
          <p:cNvPr id="19" name="Shape 15"/>
          <p:cNvSpPr/>
          <p:nvPr/>
        </p:nvSpPr>
        <p:spPr>
          <a:xfrm>
            <a:off x="6236208" y="5120640"/>
            <a:ext cx="5138928" cy="868680"/>
          </a:xfrm>
          <a:prstGeom prst="roundRect">
            <a:avLst>
              <a:gd name="adj" fmla="val 10526"/>
            </a:avLst>
          </a:prstGeom>
          <a:solidFill>
            <a:srgbClr val="FBEDEB"/>
          </a:solidFill>
          <a:ln w="12700">
            <a:solidFill>
              <a:srgbClr val="FFFFFF">
                <a:alpha val="0"/>
              </a:srgbClr>
            </a:solidFill>
            <a:prstDash val="solid"/>
          </a:ln>
        </p:spPr>
      </p:sp>
      <p:sp>
        <p:nvSpPr>
          <p:cNvPr id="20" name="Shape 16"/>
          <p:cNvSpPr/>
          <p:nvPr/>
        </p:nvSpPr>
        <p:spPr>
          <a:xfrm>
            <a:off x="6409944" y="5294376"/>
            <a:ext cx="310896" cy="310896"/>
          </a:xfrm>
          <a:prstGeom prst="ellipse">
            <a:avLst/>
          </a:prstGeom>
          <a:solidFill>
            <a:srgbClr val="B83227"/>
          </a:solidFill>
          <a:ln w="12700">
            <a:solidFill>
              <a:srgbClr val="FFFFFF">
                <a:alpha val="0"/>
              </a:srgbClr>
            </a:solidFill>
            <a:prstDash val="solid"/>
          </a:ln>
        </p:spPr>
      </p:sp>
      <p:sp>
        <p:nvSpPr>
          <p:cNvPr id="21" name="Text 17"/>
          <p:cNvSpPr txBox="1"/>
          <p:nvPr/>
        </p:nvSpPr>
        <p:spPr>
          <a:xfrm>
            <a:off x="6409944"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18"/>
          <p:cNvSpPr txBox="1"/>
          <p:nvPr/>
        </p:nvSpPr>
        <p:spPr>
          <a:xfrm>
            <a:off x="6858000" y="523036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Attention</a:t>
            </a:r>
            <a:endParaRPr lang="en-US" sz="1300" dirty="0"/>
          </a:p>
        </p:txBody>
      </p:sp>
      <p:sp>
        <p:nvSpPr>
          <p:cNvPr id="23" name="Text 19"/>
          <p:cNvSpPr txBox="1"/>
          <p:nvPr/>
        </p:nvSpPr>
        <p:spPr>
          <a:xfrm>
            <a:off x="6858000" y="5522976"/>
            <a:ext cx="4361688" cy="393192"/>
          </a:xfrm>
          <a:prstGeom prst="rect">
            <a:avLst/>
          </a:prstGeom>
          <a:noFill/>
          <a:ln/>
        </p:spPr>
        <p:txBody>
          <a:bodyPr wrap="square" lIns="0" tIns="0" rIns="0" bIns="0" rtlCol="0" anchor="t"/>
          <a:lstStyle/>
          <a:p>
            <a:pPr algn="l" indent="0" marL="0">
              <a:spcAft>
                <a:spcPts val="200"/>
              </a:spcAft>
              <a:buNone/>
            </a:pPr>
            <a:r>
              <a:rPr lang="en-US" sz="1400" i="1" strike="sngStrike" dirty="0">
                <a:solidFill>
                  <a:srgbClr val="B5473C"/>
                </a:solidFill>
                <a:latin typeface="Calibri" pitchFamily="34" charset="0"/>
                <a:ea typeface="Calibri" pitchFamily="34" charset="-122"/>
                <a:cs typeface="Calibri" pitchFamily="34" charset="-120"/>
              </a:rPr>
              <a:t>…, dat erg lastig is</a:t>
            </a:r>
            <a:r>
              <a:rPr lang="en-US" sz="1400" dirty="0">
                <a:solidFill>
                  <a:srgbClr val="1B2333"/>
                </a:solidFill>
                <a:latin typeface="Calibri" pitchFamily="34" charset="0"/>
                <a:ea typeface="Calibri" pitchFamily="34" charset="-122"/>
                <a:cs typeface="Calibri" pitchFamily="34" charset="-120"/>
              </a:rPr>
              <a:t> → </a:t>
            </a:r>
            <a:r>
              <a:rPr lang="en-US" sz="1400" b="1" i="1" dirty="0">
                <a:solidFill>
                  <a:srgbClr val="2E7D4F"/>
                </a:solidFill>
                <a:latin typeface="Calibri" pitchFamily="34" charset="0"/>
                <a:ea typeface="Calibri" pitchFamily="34" charset="-122"/>
                <a:cs typeface="Calibri" pitchFamily="34" charset="-120"/>
              </a:rPr>
              <a:t>wat</a:t>
            </a:r>
            <a:r>
              <a:rPr lang="en-US" sz="1400" dirty="0">
                <a:solidFill>
                  <a:srgbClr val="1B2333"/>
                </a:solidFill>
                <a:latin typeface="Calibri" pitchFamily="34" charset="0"/>
                <a:ea typeface="Calibri" pitchFamily="34" charset="-122"/>
                <a:cs typeface="Calibri" pitchFamily="34" charset="-120"/>
              </a:rPr>
              <a:t> : il n’y a pas de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Sans nom : wie = celui qui, wat = ce que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B4236A"/>
                </a:solidFill>
                <a:latin typeface="Calibri" pitchFamily="34" charset="0"/>
                <a:ea typeface="Calibri" pitchFamily="34" charset="-122"/>
                <a:cs typeface="Calibri" pitchFamily="34" charset="-120"/>
              </a:rPr>
              <a:t>WIE</a:t>
            </a:r>
            <a:r>
              <a:rPr lang="en-US" sz="1100" b="1" spc="300" kern="0" dirty="0">
                <a:solidFill>
                  <a:srgbClr val="17375E"/>
                </a:solidFill>
                <a:latin typeface="Calibri" pitchFamily="34" charset="0"/>
                <a:ea typeface="Calibri" pitchFamily="34" charset="-122"/>
                <a:cs typeface="Calibri" pitchFamily="34" charset="-120"/>
              </a:rPr>
              <a:t> · </a:t>
            </a:r>
            <a:r>
              <a:rPr lang="en-US" sz="1100" b="1" spc="300" kern="0" dirty="0">
                <a:solidFill>
                  <a:srgbClr val="2E7D4F"/>
                </a:solidFill>
                <a:latin typeface="Calibri" pitchFamily="34" charset="0"/>
                <a:ea typeface="Calibri" pitchFamily="34" charset="-122"/>
                <a:cs typeface="Calibri" pitchFamily="34" charset="-120"/>
              </a:rPr>
              <a:t>WAT</a:t>
            </a:r>
            <a:endParaRPr lang="en-US" sz="1100" dirty="0"/>
          </a:p>
        </p:txBody>
      </p:sp>
      <p:sp>
        <p:nvSpPr>
          <p:cNvPr id="5" name="Shape 2"/>
          <p:cNvSpPr/>
          <p:nvPr/>
        </p:nvSpPr>
        <p:spPr>
          <a:xfrm>
            <a:off x="685800" y="1536192"/>
            <a:ext cx="1051560" cy="1051560"/>
          </a:xfrm>
          <a:prstGeom prst="roundRect">
            <a:avLst>
              <a:gd name="adj" fmla="val 8696"/>
            </a:avLst>
          </a:prstGeom>
          <a:solidFill>
            <a:srgbClr val="FFFFFF"/>
          </a:solidFill>
          <a:ln w="12700">
            <a:solidFill>
              <a:srgbClr val="B8C2CF"/>
            </a:solidFill>
            <a:prstDash val="dash"/>
          </a:ln>
        </p:spPr>
      </p:sp>
      <p:pic>
        <p:nvPicPr>
          <p:cNvPr id="6" name="Image 0" descr="person raising hand">    </p:cNvPr>
          <p:cNvPicPr>
            <a:picLocks noChangeAspect="1"/>
          </p:cNvPicPr>
          <p:nvPr/>
        </p:nvPicPr>
        <p:blipFill>
          <a:blip r:embed="rId1"/>
          <a:stretch>
            <a:fillRect/>
          </a:stretch>
        </p:blipFill>
        <p:spPr>
          <a:xfrm>
            <a:off x="850392" y="1700784"/>
            <a:ext cx="731520" cy="731520"/>
          </a:xfrm>
          <a:prstGeom prst="rect">
            <a:avLst/>
          </a:prstGeom>
        </p:spPr>
      </p:pic>
      <p:sp>
        <p:nvSpPr>
          <p:cNvPr id="7" name="Text 3"/>
          <p:cNvSpPr txBox="1"/>
          <p:nvPr/>
        </p:nvSpPr>
        <p:spPr>
          <a:xfrm>
            <a:off x="137160" y="2633472"/>
            <a:ext cx="2148840" cy="256032"/>
          </a:xfrm>
          <a:prstGeom prst="rect">
            <a:avLst/>
          </a:prstGeom>
          <a:noFill/>
          <a:ln/>
        </p:spPr>
        <p:txBody>
          <a:bodyPr wrap="square" lIns="0" tIns="0" rIns="0" bIns="0" rtlCol="0" anchor="ctr"/>
          <a:lstStyle/>
          <a:p>
            <a:pPr algn="ctr" indent="0" marL="0">
              <a:buNone/>
            </a:pPr>
            <a:r>
              <a:rPr lang="en-US" sz="900" b="1" spc="150" kern="0" dirty="0">
                <a:solidFill>
                  <a:srgbClr val="6B7686"/>
                </a:solidFill>
                <a:latin typeface="Calibri" pitchFamily="34" charset="0"/>
                <a:ea typeface="Calibri" pitchFamily="34" charset="-122"/>
                <a:cs typeface="Calibri" pitchFamily="34" charset="-120"/>
              </a:rPr>
              <a:t>PAS DE NOM · UNE PERSONNE</a:t>
            </a:r>
            <a:endParaRPr lang="en-US" sz="900" dirty="0"/>
          </a:p>
        </p:txBody>
      </p:sp>
      <p:sp>
        <p:nvSpPr>
          <p:cNvPr id="8" name="Shape 4"/>
          <p:cNvSpPr/>
          <p:nvPr/>
        </p:nvSpPr>
        <p:spPr>
          <a:xfrm>
            <a:off x="1828800" y="2057400"/>
            <a:ext cx="640080" cy="914"/>
          </a:xfrm>
          <a:prstGeom prst="line">
            <a:avLst/>
          </a:prstGeom>
          <a:noFill/>
          <a:ln w="25400">
            <a:solidFill>
              <a:srgbClr val="B4236A"/>
            </a:solidFill>
            <a:prstDash val="solid"/>
            <a:tailEnd type="triangle"/>
          </a:ln>
        </p:spPr>
      </p:sp>
      <p:sp>
        <p:nvSpPr>
          <p:cNvPr id="9" name="Shape 5"/>
          <p:cNvSpPr/>
          <p:nvPr/>
        </p:nvSpPr>
        <p:spPr>
          <a:xfrm>
            <a:off x="2514600" y="1645920"/>
            <a:ext cx="822960" cy="822960"/>
          </a:xfrm>
          <a:prstGeom prst="ellipse">
            <a:avLst/>
          </a:prstGeom>
          <a:solidFill>
            <a:srgbClr val="B4236A"/>
          </a:solidFill>
          <a:ln w="12700">
            <a:solidFill>
              <a:srgbClr val="FFFFFF">
                <a:alpha val="0"/>
              </a:srgbClr>
            </a:solidFill>
            <a:prstDash val="solid"/>
          </a:ln>
        </p:spPr>
      </p:sp>
      <p:sp>
        <p:nvSpPr>
          <p:cNvPr id="10" name="Text 6"/>
          <p:cNvSpPr txBox="1"/>
          <p:nvPr/>
        </p:nvSpPr>
        <p:spPr>
          <a:xfrm>
            <a:off x="2514600" y="1828800"/>
            <a:ext cx="8229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wie</a:t>
            </a:r>
            <a:endParaRPr lang="en-US" sz="2000" dirty="0"/>
          </a:p>
        </p:txBody>
      </p:sp>
      <p:sp>
        <p:nvSpPr>
          <p:cNvPr id="11" name="Text 7"/>
          <p:cNvSpPr txBox="1"/>
          <p:nvPr/>
        </p:nvSpPr>
        <p:spPr>
          <a:xfrm>
            <a:off x="3447288" y="1828800"/>
            <a:ext cx="2194560" cy="457200"/>
          </a:xfrm>
          <a:prstGeom prst="rect">
            <a:avLst/>
          </a:prstGeom>
          <a:noFill/>
          <a:ln/>
        </p:spPr>
        <p:txBody>
          <a:bodyPr wrap="square" lIns="0" tIns="0" rIns="0" bIns="0" rtlCol="0" anchor="ctr"/>
          <a:lstStyle/>
          <a:p>
            <a:pPr algn="l" indent="0" marL="0">
              <a:buNone/>
            </a:pPr>
            <a:r>
              <a:rPr lang="en-US" sz="1700" dirty="0">
                <a:solidFill>
                  <a:srgbClr val="B4236A"/>
                </a:solidFill>
                <a:latin typeface="Calibri" pitchFamily="34" charset="0"/>
                <a:ea typeface="Calibri" pitchFamily="34" charset="-122"/>
                <a:cs typeface="Calibri" pitchFamily="34" charset="-120"/>
              </a:rPr>
              <a:t>= </a:t>
            </a:r>
            <a:r>
              <a:rPr lang="en-US" sz="1700" i="1" dirty="0">
                <a:solidFill>
                  <a:srgbClr val="B4236A"/>
                </a:solidFill>
                <a:latin typeface="Calibri" pitchFamily="34" charset="0"/>
                <a:ea typeface="Calibri" pitchFamily="34" charset="-122"/>
                <a:cs typeface="Calibri" pitchFamily="34" charset="-120"/>
              </a:rPr>
              <a:t>celui / celle qui…</a:t>
            </a:r>
            <a:endParaRPr lang="en-US" sz="1700" dirty="0"/>
          </a:p>
        </p:txBody>
      </p:sp>
      <p:sp>
        <p:nvSpPr>
          <p:cNvPr id="12" name="Shape 8"/>
          <p:cNvSpPr/>
          <p:nvPr/>
        </p:nvSpPr>
        <p:spPr>
          <a:xfrm>
            <a:off x="6720840" y="1536192"/>
            <a:ext cx="1051560" cy="1051560"/>
          </a:xfrm>
          <a:prstGeom prst="roundRect">
            <a:avLst>
              <a:gd name="adj" fmla="val 8696"/>
            </a:avLst>
          </a:prstGeom>
          <a:solidFill>
            <a:srgbClr val="FFFFFF"/>
          </a:solidFill>
          <a:ln w="12700">
            <a:solidFill>
              <a:srgbClr val="B8C2CF"/>
            </a:solidFill>
            <a:prstDash val="dash"/>
          </a:ln>
        </p:spPr>
      </p:sp>
      <p:pic>
        <p:nvPicPr>
          <p:cNvPr id="13" name="Image 1" descr="package">    </p:cNvPr>
          <p:cNvPicPr>
            <a:picLocks noChangeAspect="1"/>
          </p:cNvPicPr>
          <p:nvPr/>
        </p:nvPicPr>
        <p:blipFill>
          <a:blip r:embed="rId2"/>
          <a:stretch>
            <a:fillRect/>
          </a:stretch>
        </p:blipFill>
        <p:spPr>
          <a:xfrm>
            <a:off x="6885432" y="1700784"/>
            <a:ext cx="731520" cy="731520"/>
          </a:xfrm>
          <a:prstGeom prst="rect">
            <a:avLst/>
          </a:prstGeom>
        </p:spPr>
      </p:pic>
      <p:sp>
        <p:nvSpPr>
          <p:cNvPr id="14" name="Text 9"/>
          <p:cNvSpPr txBox="1"/>
          <p:nvPr/>
        </p:nvSpPr>
        <p:spPr>
          <a:xfrm>
            <a:off x="6172200" y="2633472"/>
            <a:ext cx="2148840" cy="256032"/>
          </a:xfrm>
          <a:prstGeom prst="rect">
            <a:avLst/>
          </a:prstGeom>
          <a:noFill/>
          <a:ln/>
        </p:spPr>
        <p:txBody>
          <a:bodyPr wrap="square" lIns="0" tIns="0" rIns="0" bIns="0" rtlCol="0" anchor="ctr"/>
          <a:lstStyle/>
          <a:p>
            <a:pPr algn="ctr" indent="0" marL="0">
              <a:buNone/>
            </a:pPr>
            <a:r>
              <a:rPr lang="en-US" sz="900" b="1" spc="150" kern="0" dirty="0">
                <a:solidFill>
                  <a:srgbClr val="6B7686"/>
                </a:solidFill>
                <a:latin typeface="Calibri" pitchFamily="34" charset="0"/>
                <a:ea typeface="Calibri" pitchFamily="34" charset="-122"/>
                <a:cs typeface="Calibri" pitchFamily="34" charset="-120"/>
              </a:rPr>
              <a:t>PAS DE NOM · UNE CHOSE</a:t>
            </a:r>
            <a:endParaRPr lang="en-US" sz="900" dirty="0"/>
          </a:p>
        </p:txBody>
      </p:sp>
      <p:sp>
        <p:nvSpPr>
          <p:cNvPr id="15" name="Shape 10"/>
          <p:cNvSpPr/>
          <p:nvPr/>
        </p:nvSpPr>
        <p:spPr>
          <a:xfrm>
            <a:off x="7863840" y="2057400"/>
            <a:ext cx="640080" cy="914"/>
          </a:xfrm>
          <a:prstGeom prst="line">
            <a:avLst/>
          </a:prstGeom>
          <a:noFill/>
          <a:ln w="25400">
            <a:solidFill>
              <a:srgbClr val="2E7D4F"/>
            </a:solidFill>
            <a:prstDash val="solid"/>
            <a:tailEnd type="triangle"/>
          </a:ln>
        </p:spPr>
      </p:sp>
      <p:sp>
        <p:nvSpPr>
          <p:cNvPr id="16" name="Shape 11"/>
          <p:cNvSpPr/>
          <p:nvPr/>
        </p:nvSpPr>
        <p:spPr>
          <a:xfrm>
            <a:off x="8549640" y="1645920"/>
            <a:ext cx="822960" cy="822960"/>
          </a:xfrm>
          <a:prstGeom prst="ellipse">
            <a:avLst/>
          </a:prstGeom>
          <a:solidFill>
            <a:srgbClr val="2E7D4F"/>
          </a:solidFill>
          <a:ln w="12700">
            <a:solidFill>
              <a:srgbClr val="FFFFFF">
                <a:alpha val="0"/>
              </a:srgbClr>
            </a:solidFill>
            <a:prstDash val="solid"/>
          </a:ln>
        </p:spPr>
      </p:sp>
      <p:sp>
        <p:nvSpPr>
          <p:cNvPr id="17" name="Text 12"/>
          <p:cNvSpPr txBox="1"/>
          <p:nvPr/>
        </p:nvSpPr>
        <p:spPr>
          <a:xfrm>
            <a:off x="8549640" y="1828800"/>
            <a:ext cx="8229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wat</a:t>
            </a:r>
            <a:endParaRPr lang="en-US" sz="2000" dirty="0"/>
          </a:p>
        </p:txBody>
      </p:sp>
      <p:sp>
        <p:nvSpPr>
          <p:cNvPr id="18" name="Text 13"/>
          <p:cNvSpPr txBox="1"/>
          <p:nvPr/>
        </p:nvSpPr>
        <p:spPr>
          <a:xfrm>
            <a:off x="9482328" y="1828800"/>
            <a:ext cx="2194560" cy="457200"/>
          </a:xfrm>
          <a:prstGeom prst="rect">
            <a:avLst/>
          </a:prstGeom>
          <a:noFill/>
          <a:ln/>
        </p:spPr>
        <p:txBody>
          <a:bodyPr wrap="square" lIns="0" tIns="0" rIns="0" bIns="0" rtlCol="0" anchor="ctr"/>
          <a:lstStyle/>
          <a:p>
            <a:pPr algn="l" indent="0" marL="0">
              <a:buNone/>
            </a:pPr>
            <a:r>
              <a:rPr lang="en-US" sz="1700" dirty="0">
                <a:solidFill>
                  <a:srgbClr val="2E7D4F"/>
                </a:solidFill>
                <a:latin typeface="Calibri" pitchFamily="34" charset="0"/>
                <a:ea typeface="Calibri" pitchFamily="34" charset="-122"/>
                <a:cs typeface="Calibri" pitchFamily="34" charset="-120"/>
              </a:rPr>
              <a:t>= </a:t>
            </a:r>
            <a:r>
              <a:rPr lang="en-US" sz="1700" i="1" dirty="0">
                <a:solidFill>
                  <a:srgbClr val="2E7D4F"/>
                </a:solidFill>
                <a:latin typeface="Calibri" pitchFamily="34" charset="0"/>
                <a:ea typeface="Calibri" pitchFamily="34" charset="-122"/>
                <a:cs typeface="Calibri" pitchFamily="34" charset="-120"/>
              </a:rPr>
              <a:t>ce qui, ce que…</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10543032" cy="914400"/>
        </p:xfrm>
        <a:graphic>
          <a:graphicData uri="http://schemas.openxmlformats.org/drawingml/2006/table">
            <a:tbl>
              <a:tblPr/>
              <a:tblGrid>
                <a:gridCol w="5120640"/>
                <a:gridCol w="5422392"/>
              </a:tblGrid>
              <a:tr h="402336">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02336">
                <a:tc>
                  <a:txBody>
                    <a:bodyPr/>
                    <a:lstStyle/>
                    <a:p>
                      <a:pPr algn="l" indent="0" marL="0">
                        <a:buNone/>
                      </a:pPr>
                      <a:r>
                        <a:rPr lang="en-US" sz="1600" b="1" i="1" dirty="0">
                          <a:solidFill>
                            <a:srgbClr val="B4236A"/>
                          </a:solidFill>
                          <a:latin typeface="Calibri" pitchFamily="34" charset="0"/>
                          <a:ea typeface="Calibri" pitchFamily="34" charset="-122"/>
                          <a:cs typeface="Calibri" pitchFamily="34" charset="-120"/>
                        </a:rPr>
                        <a:t>Wie</a:t>
                      </a:r>
                      <a:r>
                        <a:rPr lang="en-US" sz="1600" i="1" dirty="0">
                          <a:solidFill>
                            <a:srgbClr val="1B2333"/>
                          </a:solidFill>
                          <a:latin typeface="Calibri" pitchFamily="34" charset="0"/>
                          <a:ea typeface="Calibri" pitchFamily="34" charset="-122"/>
                          <a:cs typeface="Calibri" pitchFamily="34" charset="-120"/>
                        </a:rPr>
                        <a:t> te laat </a:t>
                      </a:r>
                      <a:r>
                        <a:rPr lang="en-US" sz="1600" b="1" i="1" dirty="0">
                          <a:solidFill>
                            <a:srgbClr val="B83227"/>
                          </a:solidFill>
                          <a:latin typeface="Calibri" pitchFamily="34" charset="0"/>
                          <a:ea typeface="Calibri" pitchFamily="34" charset="-122"/>
                          <a:cs typeface="Calibri" pitchFamily="34" charset="-120"/>
                        </a:rPr>
                        <a:t>komt</a:t>
                      </a:r>
                      <a:r>
                        <a:rPr lang="en-US" sz="1600" i="1" dirty="0">
                          <a:solidFill>
                            <a:srgbClr val="1B2333"/>
                          </a:solidFill>
                          <a:latin typeface="Calibri" pitchFamily="34" charset="0"/>
                          <a:ea typeface="Calibri" pitchFamily="34" charset="-122"/>
                          <a:cs typeface="Calibri" pitchFamily="34" charset="-120"/>
                        </a:rPr>
                        <a:t>, </a:t>
                      </a:r>
                      <a:r>
                        <a:rPr lang="en-US" sz="1600" b="1" i="1" dirty="0">
                          <a:solidFill>
                            <a:srgbClr val="B83227"/>
                          </a:solidFill>
                          <a:latin typeface="Calibri" pitchFamily="34" charset="0"/>
                          <a:ea typeface="Calibri" pitchFamily="34" charset="-122"/>
                          <a:cs typeface="Calibri" pitchFamily="34" charset="-120"/>
                        </a:rPr>
                        <a:t>betaalt</a:t>
                      </a:r>
                      <a:r>
                        <a:rPr lang="en-US" sz="1600" i="1" dirty="0">
                          <a:solidFill>
                            <a:srgbClr val="1B2333"/>
                          </a:solidFill>
                          <a:latin typeface="Calibri" pitchFamily="34" charset="0"/>
                          <a:ea typeface="Calibri" pitchFamily="34" charset="-122"/>
                          <a:cs typeface="Calibri" pitchFamily="34" charset="-120"/>
                        </a:rPr>
                        <a:t> de koffie.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Celui qui arrive en retard paie le café.</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02336">
                <a:tc>
                  <a:txBody>
                    <a:bodyPr/>
                    <a:lstStyle/>
                    <a:p>
                      <a:pPr algn="l" indent="0" marL="0">
                        <a:buNone/>
                      </a:pPr>
                      <a:r>
                        <a:rPr lang="en-US" sz="1600" b="1" i="1" dirty="0">
                          <a:solidFill>
                            <a:srgbClr val="B4236A"/>
                          </a:solidFill>
                          <a:latin typeface="Calibri" pitchFamily="34" charset="0"/>
                          <a:ea typeface="Calibri" pitchFamily="34" charset="-122"/>
                          <a:cs typeface="Calibri" pitchFamily="34" charset="-120"/>
                        </a:rPr>
                        <a:t>Wie</a:t>
                      </a:r>
                      <a:r>
                        <a:rPr lang="en-US" sz="1600" i="1" dirty="0">
                          <a:solidFill>
                            <a:srgbClr val="1B2333"/>
                          </a:solidFill>
                          <a:latin typeface="Calibri" pitchFamily="34" charset="0"/>
                          <a:ea typeface="Calibri" pitchFamily="34" charset="-122"/>
                          <a:cs typeface="Calibri" pitchFamily="34" charset="-120"/>
                        </a:rPr>
                        <a:t> wil meedoen, kan zich inschrijven.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Ceux qui veulent participer peuvent s’inscrire.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02336">
                <a:tc>
                  <a:txBody>
                    <a:bodyPr/>
                    <a:lstStyle/>
                    <a:p>
                      <a:pPr algn="l" indent="0" marL="0">
                        <a:buNone/>
                      </a:pP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je zegt, is niet waar.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Ce que tu dis n’est pas vrai.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02336">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Ik begrijp niet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hij bedoelt.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Je ne comprends pas ce qu’il veut dire.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0" name="Shape 14"/>
          <p:cNvSpPr/>
          <p:nvPr/>
        </p:nvSpPr>
        <p:spPr>
          <a:xfrm>
            <a:off x="822960" y="5166360"/>
            <a:ext cx="5138928" cy="868680"/>
          </a:xfrm>
          <a:prstGeom prst="roundRect">
            <a:avLst>
              <a:gd name="adj" fmla="val 10526"/>
            </a:avLst>
          </a:prstGeom>
          <a:solidFill>
            <a:srgbClr val="E8F4EC"/>
          </a:solidFill>
          <a:ln w="12700">
            <a:solidFill>
              <a:srgbClr val="FFFFFF">
                <a:alpha val="0"/>
              </a:srgbClr>
            </a:solidFill>
            <a:prstDash val="solid"/>
          </a:ln>
        </p:spPr>
      </p:sp>
      <p:sp>
        <p:nvSpPr>
          <p:cNvPr id="21" name="Shape 15"/>
          <p:cNvSpPr/>
          <p:nvPr/>
        </p:nvSpPr>
        <p:spPr>
          <a:xfrm>
            <a:off x="996696" y="5340096"/>
            <a:ext cx="310896" cy="310896"/>
          </a:xfrm>
          <a:prstGeom prst="ellipse">
            <a:avLst/>
          </a:prstGeom>
          <a:solidFill>
            <a:srgbClr val="2E7D4F"/>
          </a:solidFill>
          <a:ln w="12700">
            <a:solidFill>
              <a:srgbClr val="FFFFFF">
                <a:alpha val="0"/>
              </a:srgbClr>
            </a:solidFill>
            <a:prstDash val="solid"/>
          </a:ln>
        </p:spPr>
      </p:sp>
      <p:sp>
        <p:nvSpPr>
          <p:cNvPr id="22" name="Text 16"/>
          <p:cNvSpPr txBox="1"/>
          <p:nvPr/>
        </p:nvSpPr>
        <p:spPr>
          <a:xfrm>
            <a:off x="996696" y="53400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3" name="Text 17"/>
          <p:cNvSpPr txBox="1"/>
          <p:nvPr/>
        </p:nvSpPr>
        <p:spPr>
          <a:xfrm>
            <a:off x="1444752" y="527608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24" name="Text 18"/>
          <p:cNvSpPr txBox="1"/>
          <p:nvPr/>
        </p:nvSpPr>
        <p:spPr>
          <a:xfrm>
            <a:off x="1444752" y="5568696"/>
            <a:ext cx="4361688" cy="39319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pas de nom : une personne → </a:t>
            </a:r>
            <a:r>
              <a:rPr lang="en-US" sz="1400" b="1" i="1" dirty="0">
                <a:solidFill>
                  <a:srgbClr val="B4236A"/>
                </a:solidFill>
                <a:latin typeface="Calibri" pitchFamily="34" charset="0"/>
                <a:ea typeface="Calibri" pitchFamily="34" charset="-122"/>
                <a:cs typeface="Calibri" pitchFamily="34" charset="-120"/>
              </a:rPr>
              <a:t>wie</a:t>
            </a:r>
            <a:r>
              <a:rPr lang="en-US" sz="1400" dirty="0">
                <a:solidFill>
                  <a:srgbClr val="1B2333"/>
                </a:solidFill>
                <a:latin typeface="Calibri" pitchFamily="34" charset="0"/>
                <a:ea typeface="Calibri" pitchFamily="34" charset="-122"/>
                <a:cs typeface="Calibri" pitchFamily="34" charset="-120"/>
              </a:rPr>
              <a:t> · une chose → </a:t>
            </a:r>
            <a:r>
              <a:rPr lang="en-US" sz="1400" b="1" i="1" dirty="0">
                <a:solidFill>
                  <a:srgbClr val="2E7D4F"/>
                </a:solidFill>
                <a:latin typeface="Calibri" pitchFamily="34" charset="0"/>
                <a:ea typeface="Calibri" pitchFamily="34" charset="-122"/>
                <a:cs typeface="Calibri" pitchFamily="34" charset="-120"/>
              </a:rPr>
              <a:t>wat</a:t>
            </a:r>
            <a:endParaRPr lang="en-US" sz="1400" dirty="0"/>
          </a:p>
        </p:txBody>
      </p:sp>
      <p:sp>
        <p:nvSpPr>
          <p:cNvPr id="25" name="Shape 19"/>
          <p:cNvSpPr/>
          <p:nvPr/>
        </p:nvSpPr>
        <p:spPr>
          <a:xfrm>
            <a:off x="6236208" y="5166360"/>
            <a:ext cx="5138928" cy="868680"/>
          </a:xfrm>
          <a:prstGeom prst="roundRect">
            <a:avLst>
              <a:gd name="adj" fmla="val 10526"/>
            </a:avLst>
          </a:prstGeom>
          <a:solidFill>
            <a:srgbClr val="EAF2FB"/>
          </a:solidFill>
          <a:ln w="12700">
            <a:solidFill>
              <a:srgbClr val="FFFFFF">
                <a:alpha val="0"/>
              </a:srgbClr>
            </a:solidFill>
            <a:prstDash val="solid"/>
          </a:ln>
        </p:spPr>
      </p:sp>
      <p:sp>
        <p:nvSpPr>
          <p:cNvPr id="26" name="Shape 20"/>
          <p:cNvSpPr/>
          <p:nvPr/>
        </p:nvSpPr>
        <p:spPr>
          <a:xfrm>
            <a:off x="6409944" y="5340096"/>
            <a:ext cx="310896" cy="310896"/>
          </a:xfrm>
          <a:prstGeom prst="ellipse">
            <a:avLst/>
          </a:prstGeom>
          <a:solidFill>
            <a:srgbClr val="2A6FB0"/>
          </a:solidFill>
          <a:ln w="12700">
            <a:solidFill>
              <a:srgbClr val="FFFFFF">
                <a:alpha val="0"/>
              </a:srgbClr>
            </a:solidFill>
            <a:prstDash val="solid"/>
          </a:ln>
        </p:spPr>
      </p:sp>
      <p:sp>
        <p:nvSpPr>
          <p:cNvPr id="27" name="Text 21"/>
          <p:cNvSpPr txBox="1"/>
          <p:nvPr/>
        </p:nvSpPr>
        <p:spPr>
          <a:xfrm>
            <a:off x="6409944" y="53400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8" name="Text 22"/>
          <p:cNvSpPr txBox="1"/>
          <p:nvPr/>
        </p:nvSpPr>
        <p:spPr>
          <a:xfrm>
            <a:off x="6858000" y="5276088"/>
            <a:ext cx="4361688" cy="292608"/>
          </a:xfrm>
          <a:prstGeom prst="rect">
            <a:avLst/>
          </a:prstGeom>
          <a:noFill/>
          <a:ln/>
        </p:spPr>
        <p:txBody>
          <a:bodyPr wrap="square" lIns="0" tIns="0" rIns="0" bIns="0" rtlCol="0" anchor="ctr"/>
          <a:lstStyle/>
          <a:p>
            <a:pPr algn="l" indent="0" marL="0">
              <a:buNone/>
            </a:pPr>
            <a:r>
              <a:rPr lang="en-US" sz="1300" b="1" dirty="0">
                <a:solidFill>
                  <a:srgbClr val="2A6FB0"/>
                </a:solidFill>
                <a:latin typeface="Calibri" pitchFamily="34" charset="0"/>
                <a:ea typeface="Calibri" pitchFamily="34" charset="-122"/>
                <a:cs typeface="Calibri" pitchFamily="34" charset="-120"/>
              </a:rPr>
              <a:t>Plus formel</a:t>
            </a:r>
            <a:endParaRPr lang="en-US" sz="1300" dirty="0"/>
          </a:p>
        </p:txBody>
      </p:sp>
      <p:sp>
        <p:nvSpPr>
          <p:cNvPr id="29" name="Text 23"/>
          <p:cNvSpPr txBox="1"/>
          <p:nvPr/>
        </p:nvSpPr>
        <p:spPr>
          <a:xfrm>
            <a:off x="6858000" y="5568696"/>
            <a:ext cx="4361688"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degene </a:t>
            </a:r>
            <a:r>
              <a:rPr lang="en-US" sz="1400" b="1" i="1" dirty="0">
                <a:solidFill>
                  <a:srgbClr val="17375E"/>
                </a:solidFill>
                <a:latin typeface="Calibri" pitchFamily="34" charset="0"/>
                <a:ea typeface="Calibri" pitchFamily="34" charset="-122"/>
                <a:cs typeface="Calibri" pitchFamily="34" charset="-120"/>
              </a:rPr>
              <a:t>die</a:t>
            </a:r>
            <a:r>
              <a:rPr lang="en-US" sz="1400" dirty="0">
                <a:solidFill>
                  <a:srgbClr val="1B2333"/>
                </a:solidFill>
                <a:latin typeface="Calibri" pitchFamily="34" charset="0"/>
                <a:ea typeface="Calibri" pitchFamily="34" charset="-122"/>
                <a:cs typeface="Calibri" pitchFamily="34" charset="-120"/>
              </a:rPr>
              <a:t> (celui / celle qui) · </a:t>
            </a:r>
            <a:r>
              <a:rPr lang="en-US" sz="1400" i="1" dirty="0">
                <a:solidFill>
                  <a:srgbClr val="1B2333"/>
                </a:solidFill>
                <a:latin typeface="Calibri" pitchFamily="34" charset="0"/>
                <a:ea typeface="Calibri" pitchFamily="34" charset="-122"/>
                <a:cs typeface="Calibri" pitchFamily="34" charset="-120"/>
              </a:rPr>
              <a:t>diegenen </a:t>
            </a:r>
            <a:r>
              <a:rPr lang="en-US" sz="1400" b="1" i="1" dirty="0">
                <a:solidFill>
                  <a:srgbClr val="17375E"/>
                </a:solidFill>
                <a:latin typeface="Calibri" pitchFamily="34" charset="0"/>
                <a:ea typeface="Calibri" pitchFamily="34" charset="-122"/>
                <a:cs typeface="Calibri" pitchFamily="34" charset="-120"/>
              </a:rPr>
              <a:t>die</a:t>
            </a:r>
            <a:r>
              <a:rPr lang="en-US" sz="1400" dirty="0">
                <a:solidFill>
                  <a:srgbClr val="1B2333"/>
                </a:solidFill>
                <a:latin typeface="Calibri" pitchFamily="34" charset="0"/>
                <a:ea typeface="Calibri" pitchFamily="34" charset="-122"/>
                <a:cs typeface="Calibri" pitchFamily="34" charset="-120"/>
              </a:rPr>
              <a:t> (ceux qui) · </a:t>
            </a:r>
            <a:r>
              <a:rPr lang="en-US" sz="1400" i="1" dirty="0">
                <a:solidFill>
                  <a:srgbClr val="1B2333"/>
                </a:solidFill>
                <a:latin typeface="Calibri" pitchFamily="34" charset="0"/>
                <a:ea typeface="Calibri" pitchFamily="34" charset="-122"/>
                <a:cs typeface="Calibri" pitchFamily="34" charset="-120"/>
              </a:rPr>
              <a:t>datgene </a:t>
            </a:r>
            <a:r>
              <a:rPr lang="en-US" sz="1400" b="1" i="1" dirty="0">
                <a:solidFill>
                  <a:srgbClr val="2E7D4F"/>
                </a:solidFill>
                <a:latin typeface="Calibri" pitchFamily="34" charset="0"/>
                <a:ea typeface="Calibri" pitchFamily="34" charset="-122"/>
                <a:cs typeface="Calibri" pitchFamily="34" charset="-120"/>
              </a:rPr>
              <a:t>wat</a:t>
            </a:r>
            <a:r>
              <a:rPr lang="en-US" sz="1400" dirty="0">
                <a:solidFill>
                  <a:srgbClr val="1B2333"/>
                </a:solidFill>
                <a:latin typeface="Calibri" pitchFamily="34" charset="0"/>
                <a:ea typeface="Calibri" pitchFamily="34" charset="-122"/>
                <a:cs typeface="Calibri" pitchFamily="34" charset="-120"/>
              </a:rPr>
              <a:t> (ce que)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Avec une préposition : personne ou chose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B4236A"/>
                </a:solidFill>
                <a:latin typeface="Calibri" pitchFamily="34" charset="0"/>
                <a:ea typeface="Calibri" pitchFamily="34" charset="-122"/>
                <a:cs typeface="Calibri" pitchFamily="34" charset="-120"/>
              </a:rPr>
              <a:t>WIE</a:t>
            </a:r>
            <a:r>
              <a:rPr lang="en-US" sz="1100" b="1" spc="300" kern="0" dirty="0">
                <a:solidFill>
                  <a:srgbClr val="17375E"/>
                </a:solidFill>
                <a:latin typeface="Calibri" pitchFamily="34" charset="0"/>
                <a:ea typeface="Calibri" pitchFamily="34" charset="-122"/>
                <a:cs typeface="Calibri" pitchFamily="34" charset="-120"/>
              </a:rPr>
              <a:t> · </a:t>
            </a:r>
            <a:r>
              <a:rPr lang="en-US" sz="1100" b="1" spc="300" kern="0" dirty="0">
                <a:solidFill>
                  <a:srgbClr val="6E4A9E"/>
                </a:solidFill>
                <a:latin typeface="Calibri" pitchFamily="34" charset="0"/>
                <a:ea typeface="Calibri" pitchFamily="34" charset="-122"/>
                <a:cs typeface="Calibri" pitchFamily="34" charset="-120"/>
              </a:rPr>
              <a:t>WAAR</a:t>
            </a:r>
            <a:endParaRPr lang="en-US" sz="1100" dirty="0"/>
          </a:p>
        </p:txBody>
      </p:sp>
      <p:sp>
        <p:nvSpPr>
          <p:cNvPr id="5" name="Shape 2"/>
          <p:cNvSpPr/>
          <p:nvPr/>
        </p:nvSpPr>
        <p:spPr>
          <a:xfrm>
            <a:off x="4114800" y="1463040"/>
            <a:ext cx="3959352" cy="475488"/>
          </a:xfrm>
          <a:prstGeom prst="roundRect">
            <a:avLst>
              <a:gd name="adj" fmla="val 50000"/>
            </a:avLst>
          </a:prstGeom>
          <a:solidFill>
            <a:srgbClr val="FFFFFF"/>
          </a:solidFill>
          <a:ln w="15875">
            <a:solidFill>
              <a:srgbClr val="17375E"/>
            </a:solidFill>
            <a:prstDash val="solid"/>
          </a:ln>
        </p:spPr>
      </p:sp>
      <p:sp>
        <p:nvSpPr>
          <p:cNvPr id="6" name="Text 3"/>
          <p:cNvSpPr txBox="1"/>
          <p:nvPr/>
        </p:nvSpPr>
        <p:spPr>
          <a:xfrm>
            <a:off x="4114800" y="1463040"/>
            <a:ext cx="3959352" cy="475488"/>
          </a:xfrm>
          <a:prstGeom prst="rect">
            <a:avLst/>
          </a:prstGeom>
          <a:noFill/>
          <a:ln/>
        </p:spPr>
        <p:txBody>
          <a:bodyPr wrap="square" lIns="0" tIns="0" rIns="0" bIns="0" rtlCol="0" anchor="ctr"/>
          <a:lstStyle/>
          <a:p>
            <a:pPr algn="ctr" indent="0" marL="0">
              <a:buNone/>
            </a:pPr>
            <a:r>
              <a:rPr lang="en-US" sz="1700" b="1" dirty="0">
                <a:solidFill>
                  <a:srgbClr val="17375E"/>
                </a:solidFill>
                <a:latin typeface="Calibri" pitchFamily="34" charset="0"/>
                <a:ea typeface="Calibri" pitchFamily="34" charset="-122"/>
                <a:cs typeface="Calibri" pitchFamily="34" charset="-120"/>
              </a:rPr>
              <a:t>préposition + relatif ?</a:t>
            </a:r>
            <a:endParaRPr lang="en-US" sz="1700" dirty="0"/>
          </a:p>
        </p:txBody>
      </p:sp>
      <p:sp>
        <p:nvSpPr>
          <p:cNvPr id="7" name="Shape 4"/>
          <p:cNvSpPr/>
          <p:nvPr/>
        </p:nvSpPr>
        <p:spPr>
          <a:xfrm flipH="1">
            <a:off x="3017520" y="1938528"/>
            <a:ext cx="1979676" cy="365760"/>
          </a:xfrm>
          <a:prstGeom prst="line">
            <a:avLst/>
          </a:prstGeom>
          <a:noFill/>
          <a:ln w="22225">
            <a:solidFill>
              <a:srgbClr val="B4236A"/>
            </a:solidFill>
            <a:prstDash val="solid"/>
            <a:tailEnd type="triangle"/>
          </a:ln>
        </p:spPr>
      </p:sp>
      <p:pic>
        <p:nvPicPr>
          <p:cNvPr id="8" name="Image 0" descr="woman office worker">    </p:cNvPr>
          <p:cNvPicPr>
            <a:picLocks noChangeAspect="1"/>
          </p:cNvPicPr>
          <p:nvPr/>
        </p:nvPicPr>
        <p:blipFill>
          <a:blip r:embed="rId1"/>
          <a:stretch>
            <a:fillRect/>
          </a:stretch>
        </p:blipFill>
        <p:spPr>
          <a:xfrm>
            <a:off x="1417320" y="2331720"/>
            <a:ext cx="566928" cy="566928"/>
          </a:xfrm>
          <a:prstGeom prst="rect">
            <a:avLst/>
          </a:prstGeom>
        </p:spPr>
      </p:pic>
      <p:sp>
        <p:nvSpPr>
          <p:cNvPr id="9" name="Text 5"/>
          <p:cNvSpPr txBox="1"/>
          <p:nvPr/>
        </p:nvSpPr>
        <p:spPr>
          <a:xfrm>
            <a:off x="2057400" y="2377440"/>
            <a:ext cx="2194560" cy="256032"/>
          </a:xfrm>
          <a:prstGeom prst="rect">
            <a:avLst/>
          </a:prstGeom>
          <a:noFill/>
          <a:ln/>
        </p:spPr>
        <p:txBody>
          <a:bodyPr wrap="square" lIns="0" tIns="0" rIns="0" bIns="0" rtlCol="0" anchor="ctr"/>
          <a:lstStyle/>
          <a:p>
            <a:pPr algn="l" indent="0" marL="0">
              <a:buNone/>
            </a:pPr>
            <a:r>
              <a:rPr lang="en-US" sz="1000" b="1" spc="150" kern="0" dirty="0">
                <a:solidFill>
                  <a:srgbClr val="B4236A"/>
                </a:solidFill>
                <a:latin typeface="Calibri" pitchFamily="34" charset="0"/>
                <a:ea typeface="Calibri" pitchFamily="34" charset="-122"/>
                <a:cs typeface="Calibri" pitchFamily="34" charset="-120"/>
              </a:rPr>
              <a:t>UNE PERSONNE</a:t>
            </a:r>
            <a:endParaRPr lang="en-US" sz="1000" dirty="0"/>
          </a:p>
        </p:txBody>
      </p:sp>
      <p:sp>
        <p:nvSpPr>
          <p:cNvPr id="10" name="Text 6"/>
          <p:cNvSpPr txBox="1"/>
          <p:nvPr/>
        </p:nvSpPr>
        <p:spPr>
          <a:xfrm>
            <a:off x="2057400" y="2615184"/>
            <a:ext cx="2743200" cy="310896"/>
          </a:xfrm>
          <a:prstGeom prst="rect">
            <a:avLst/>
          </a:prstGeom>
          <a:noFill/>
          <a:ln/>
        </p:spPr>
        <p:txBody>
          <a:bodyPr wrap="square" lIns="0" tIns="0" rIns="0" bIns="0" rtlCol="0" anchor="ctr"/>
          <a:lstStyle/>
          <a:p>
            <a:pPr algn="l" indent="0" marL="0">
              <a:buNone/>
            </a:pPr>
            <a:r>
              <a:rPr lang="en-US" sz="1600" b="1" dirty="0">
                <a:solidFill>
                  <a:srgbClr val="B4236A"/>
                </a:solidFill>
                <a:latin typeface="Calibri" pitchFamily="34" charset="0"/>
                <a:ea typeface="Calibri" pitchFamily="34" charset="-122"/>
                <a:cs typeface="Calibri" pitchFamily="34" charset="-120"/>
              </a:rPr>
              <a:t>préposition + wie</a:t>
            </a:r>
            <a:endParaRPr lang="en-US" sz="1600" dirty="0"/>
          </a:p>
        </p:txBody>
      </p:sp>
      <p:sp>
        <p:nvSpPr>
          <p:cNvPr id="11" name="Text 7"/>
          <p:cNvSpPr txBox="1"/>
          <p:nvPr/>
        </p:nvSpPr>
        <p:spPr>
          <a:xfrm>
            <a:off x="640080" y="2999232"/>
            <a:ext cx="4754880" cy="365760"/>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de collega </a:t>
            </a:r>
            <a:r>
              <a:rPr lang="en-US" sz="1700" b="1" i="1" dirty="0">
                <a:solidFill>
                  <a:srgbClr val="B4236A"/>
                </a:solidFill>
                <a:latin typeface="Calibri" pitchFamily="34" charset="0"/>
                <a:ea typeface="Calibri" pitchFamily="34" charset="-122"/>
                <a:cs typeface="Calibri" pitchFamily="34" charset="-120"/>
              </a:rPr>
              <a:t>met wie</a:t>
            </a:r>
            <a:r>
              <a:rPr lang="en-US" sz="1700" i="1" dirty="0">
                <a:solidFill>
                  <a:srgbClr val="1B2333"/>
                </a:solidFill>
                <a:latin typeface="Calibri" pitchFamily="34" charset="0"/>
                <a:ea typeface="Calibri" pitchFamily="34" charset="-122"/>
                <a:cs typeface="Calibri" pitchFamily="34" charset="-120"/>
              </a:rPr>
              <a:t> ik werk</a:t>
            </a:r>
            <a:endParaRPr lang="en-US" sz="1700" dirty="0"/>
          </a:p>
        </p:txBody>
      </p:sp>
      <p:sp>
        <p:nvSpPr>
          <p:cNvPr id="12" name="Shape 8"/>
          <p:cNvSpPr/>
          <p:nvPr/>
        </p:nvSpPr>
        <p:spPr>
          <a:xfrm>
            <a:off x="7191756" y="1938528"/>
            <a:ext cx="1979676" cy="365760"/>
          </a:xfrm>
          <a:prstGeom prst="line">
            <a:avLst/>
          </a:prstGeom>
          <a:noFill/>
          <a:ln w="22225">
            <a:solidFill>
              <a:srgbClr val="6E4A9E"/>
            </a:solidFill>
            <a:prstDash val="solid"/>
            <a:tailEnd type="triangle"/>
          </a:ln>
        </p:spPr>
      </p:sp>
      <p:pic>
        <p:nvPicPr>
          <p:cNvPr id="13" name="Image 1" descr="laptop">    </p:cNvPr>
          <p:cNvPicPr>
            <a:picLocks noChangeAspect="1"/>
          </p:cNvPicPr>
          <p:nvPr/>
        </p:nvPicPr>
        <p:blipFill>
          <a:blip r:embed="rId2"/>
          <a:stretch>
            <a:fillRect/>
          </a:stretch>
        </p:blipFill>
        <p:spPr>
          <a:xfrm>
            <a:off x="7571232" y="2331720"/>
            <a:ext cx="566928" cy="566928"/>
          </a:xfrm>
          <a:prstGeom prst="rect">
            <a:avLst/>
          </a:prstGeom>
        </p:spPr>
      </p:pic>
      <p:sp>
        <p:nvSpPr>
          <p:cNvPr id="14" name="Text 9"/>
          <p:cNvSpPr txBox="1"/>
          <p:nvPr/>
        </p:nvSpPr>
        <p:spPr>
          <a:xfrm>
            <a:off x="8211312" y="2377440"/>
            <a:ext cx="2194560" cy="256032"/>
          </a:xfrm>
          <a:prstGeom prst="rect">
            <a:avLst/>
          </a:prstGeom>
          <a:noFill/>
          <a:ln/>
        </p:spPr>
        <p:txBody>
          <a:bodyPr wrap="square" lIns="0" tIns="0" rIns="0" bIns="0" rtlCol="0" anchor="ctr"/>
          <a:lstStyle/>
          <a:p>
            <a:pPr algn="l" indent="0" marL="0">
              <a:buNone/>
            </a:pPr>
            <a:r>
              <a:rPr lang="en-US" sz="1000" b="1" spc="150" kern="0" dirty="0">
                <a:solidFill>
                  <a:srgbClr val="6E4A9E"/>
                </a:solidFill>
                <a:latin typeface="Calibri" pitchFamily="34" charset="0"/>
                <a:ea typeface="Calibri" pitchFamily="34" charset="-122"/>
                <a:cs typeface="Calibri" pitchFamily="34" charset="-120"/>
              </a:rPr>
              <a:t>UNE CHOSE</a:t>
            </a:r>
            <a:endParaRPr lang="en-US" sz="1000" dirty="0"/>
          </a:p>
        </p:txBody>
      </p:sp>
      <p:sp>
        <p:nvSpPr>
          <p:cNvPr id="15" name="Text 10"/>
          <p:cNvSpPr txBox="1"/>
          <p:nvPr/>
        </p:nvSpPr>
        <p:spPr>
          <a:xfrm>
            <a:off x="8211312" y="2615184"/>
            <a:ext cx="2743200" cy="310896"/>
          </a:xfrm>
          <a:prstGeom prst="rect">
            <a:avLst/>
          </a:prstGeom>
          <a:noFill/>
          <a:ln/>
        </p:spPr>
        <p:txBody>
          <a:bodyPr wrap="square" lIns="0" tIns="0" rIns="0" bIns="0" rtlCol="0" anchor="ctr"/>
          <a:lstStyle/>
          <a:p>
            <a:pPr algn="l" indent="0" marL="0">
              <a:buNone/>
            </a:pPr>
            <a:r>
              <a:rPr lang="en-US" sz="1600" b="1" dirty="0">
                <a:solidFill>
                  <a:srgbClr val="6E4A9E"/>
                </a:solidFill>
                <a:latin typeface="Calibri" pitchFamily="34" charset="0"/>
                <a:ea typeface="Calibri" pitchFamily="34" charset="-122"/>
                <a:cs typeface="Calibri" pitchFamily="34" charset="-120"/>
              </a:rPr>
              <a:t>waar + préposition</a:t>
            </a:r>
            <a:endParaRPr lang="en-US" sz="1600" dirty="0"/>
          </a:p>
        </p:txBody>
      </p:sp>
      <p:sp>
        <p:nvSpPr>
          <p:cNvPr id="16" name="Text 11"/>
          <p:cNvSpPr txBox="1"/>
          <p:nvPr/>
        </p:nvSpPr>
        <p:spPr>
          <a:xfrm>
            <a:off x="6793992" y="2999232"/>
            <a:ext cx="4754880" cy="365760"/>
          </a:xfrm>
          <a:prstGeom prst="rect">
            <a:avLst/>
          </a:prstGeom>
          <a:noFill/>
          <a:ln/>
        </p:spPr>
        <p:txBody>
          <a:bodyPr wrap="square" lIns="0" tIns="0" rIns="0" bIns="0" rtlCol="0" anchor="ctr"/>
          <a:lstStyle/>
          <a:p>
            <a:pPr algn="ctr" indent="0" marL="0">
              <a:buNone/>
            </a:pPr>
            <a:r>
              <a:rPr lang="en-US" sz="1700" i="1" dirty="0">
                <a:solidFill>
                  <a:srgbClr val="1B2333"/>
                </a:solidFill>
                <a:latin typeface="Calibri" pitchFamily="34" charset="0"/>
                <a:ea typeface="Calibri" pitchFamily="34" charset="-122"/>
                <a:cs typeface="Calibri" pitchFamily="34" charset="-120"/>
              </a:rPr>
              <a:t>de laptop </a:t>
            </a:r>
            <a:r>
              <a:rPr lang="en-US" sz="1700" b="1" i="1" dirty="0">
                <a:solidFill>
                  <a:srgbClr val="6E4A9E"/>
                </a:solidFill>
                <a:latin typeface="Calibri" pitchFamily="34" charset="0"/>
                <a:ea typeface="Calibri" pitchFamily="34" charset="-122"/>
                <a:cs typeface="Calibri" pitchFamily="34" charset="-120"/>
              </a:rPr>
              <a:t>waarmee</a:t>
            </a:r>
            <a:r>
              <a:rPr lang="en-US" sz="1700" i="1" dirty="0">
                <a:solidFill>
                  <a:srgbClr val="1B2333"/>
                </a:solidFill>
                <a:latin typeface="Calibri" pitchFamily="34" charset="0"/>
                <a:ea typeface="Calibri" pitchFamily="34" charset="-122"/>
                <a:cs typeface="Calibri" pitchFamily="34" charset="-120"/>
              </a:rPr>
              <a:t> ik werk</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293876" y="3520440"/>
          <a:ext cx="9601200" cy="914400"/>
        </p:xfrm>
        <a:graphic>
          <a:graphicData uri="http://schemas.openxmlformats.org/drawingml/2006/table">
            <a:tbl>
              <a:tblPr/>
              <a:tblGrid>
                <a:gridCol w="4800600"/>
                <a:gridCol w="4800600"/>
              </a:tblGrid>
              <a:tr h="393192">
                <a:tc>
                  <a:txBody>
                    <a:bodyPr/>
                    <a:lstStyle/>
                    <a:p>
                      <a:pPr algn="ctr" indent="0" marL="0">
                        <a:buNone/>
                      </a:pPr>
                      <a:r>
                        <a:rPr lang="en-US" sz="1150" b="1" spc="200" kern="0" dirty="0">
                          <a:solidFill>
                            <a:srgbClr val="B4236A"/>
                          </a:solidFill>
                          <a:latin typeface="Calibri" pitchFamily="34" charset="0"/>
                          <a:ea typeface="Calibri" pitchFamily="34" charset="-122"/>
                          <a:cs typeface="Calibri" pitchFamily="34" charset="-120"/>
                        </a:rPr>
                        <a:t>UNE PERSONNE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6E4A9E"/>
                          </a:solidFill>
                          <a:latin typeface="Calibri" pitchFamily="34" charset="0"/>
                          <a:ea typeface="Calibri" pitchFamily="34" charset="-122"/>
                          <a:cs typeface="Calibri" pitchFamily="34" charset="-120"/>
                        </a:rPr>
                        <a:t>UNE CHOSE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393192">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klant </a:t>
                      </a:r>
                      <a:r>
                        <a:rPr lang="en-US" sz="1700" b="1" i="1" dirty="0">
                          <a:solidFill>
                            <a:srgbClr val="B4236A"/>
                          </a:solidFill>
                          <a:latin typeface="Calibri" pitchFamily="34" charset="0"/>
                          <a:ea typeface="Calibri" pitchFamily="34" charset="-122"/>
                          <a:cs typeface="Calibri" pitchFamily="34" charset="-120"/>
                        </a:rPr>
                        <a:t>op wie</a:t>
                      </a:r>
                      <a:r>
                        <a:rPr lang="en-US" sz="1700" i="1" dirty="0">
                          <a:solidFill>
                            <a:srgbClr val="1B2333"/>
                          </a:solidFill>
                          <a:latin typeface="Calibri" pitchFamily="34" charset="0"/>
                          <a:ea typeface="Calibri" pitchFamily="34" charset="-122"/>
                          <a:cs typeface="Calibri" pitchFamily="34" charset="-120"/>
                        </a:rPr>
                        <a:t> ik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bus </a:t>
                      </a:r>
                      <a:r>
                        <a:rPr lang="en-US" sz="1700" b="1" i="1" dirty="0">
                          <a:solidFill>
                            <a:srgbClr val="6E4A9E"/>
                          </a:solidFill>
                          <a:latin typeface="Calibri" pitchFamily="34" charset="0"/>
                          <a:ea typeface="Calibri" pitchFamily="34" charset="-122"/>
                          <a:cs typeface="Calibri" pitchFamily="34" charset="-120"/>
                        </a:rPr>
                        <a:t>waarop</a:t>
                      </a:r>
                      <a:r>
                        <a:rPr lang="en-US" sz="1700" i="1" dirty="0">
                          <a:solidFill>
                            <a:srgbClr val="1B2333"/>
                          </a:solidFill>
                          <a:latin typeface="Calibri" pitchFamily="34" charset="0"/>
                          <a:ea typeface="Calibri" pitchFamily="34" charset="-122"/>
                          <a:cs typeface="Calibri" pitchFamily="34" charset="-120"/>
                        </a:rPr>
                        <a:t> ik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93192">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man </a:t>
                      </a:r>
                      <a:r>
                        <a:rPr lang="en-US" sz="1700" b="1" i="1" dirty="0">
                          <a:solidFill>
                            <a:srgbClr val="B4236A"/>
                          </a:solidFill>
                          <a:latin typeface="Calibri" pitchFamily="34" charset="0"/>
                          <a:ea typeface="Calibri" pitchFamily="34" charset="-122"/>
                          <a:cs typeface="Calibri" pitchFamily="34" charset="-120"/>
                        </a:rPr>
                        <a:t>aan wie</a:t>
                      </a:r>
                      <a:r>
                        <a:rPr lang="en-US" sz="1700" i="1" dirty="0">
                          <a:solidFill>
                            <a:srgbClr val="1B2333"/>
                          </a:solidFill>
                          <a:latin typeface="Calibri" pitchFamily="34" charset="0"/>
                          <a:ea typeface="Calibri" pitchFamily="34" charset="-122"/>
                          <a:cs typeface="Calibri" pitchFamily="34" charset="-120"/>
                        </a:rPr>
                        <a:t> ik denk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project </a:t>
                      </a:r>
                      <a:r>
                        <a:rPr lang="en-US" sz="1700" b="1" i="1" dirty="0">
                          <a:solidFill>
                            <a:srgbClr val="6E4A9E"/>
                          </a:solidFill>
                          <a:latin typeface="Calibri" pitchFamily="34" charset="0"/>
                          <a:ea typeface="Calibri" pitchFamily="34" charset="-122"/>
                          <a:cs typeface="Calibri" pitchFamily="34" charset="-120"/>
                        </a:rPr>
                        <a:t>waaraan</a:t>
                      </a:r>
                      <a:r>
                        <a:rPr lang="en-US" sz="1700" i="1" dirty="0">
                          <a:solidFill>
                            <a:srgbClr val="1B2333"/>
                          </a:solidFill>
                          <a:latin typeface="Calibri" pitchFamily="34" charset="0"/>
                          <a:ea typeface="Calibri" pitchFamily="34" charset="-122"/>
                          <a:cs typeface="Calibri" pitchFamily="34" charset="-120"/>
                        </a:rPr>
                        <a:t> ik denk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93192">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vriendin </a:t>
                      </a:r>
                      <a:r>
                        <a:rPr lang="en-US" sz="1700" b="1" i="1" dirty="0">
                          <a:solidFill>
                            <a:srgbClr val="B4236A"/>
                          </a:solidFill>
                          <a:latin typeface="Calibri" pitchFamily="34" charset="0"/>
                          <a:ea typeface="Calibri" pitchFamily="34" charset="-122"/>
                          <a:cs typeface="Calibri" pitchFamily="34" charset="-120"/>
                        </a:rPr>
                        <a:t>over wie</a:t>
                      </a:r>
                      <a:r>
                        <a:rPr lang="en-US" sz="1700" i="1" dirty="0">
                          <a:solidFill>
                            <a:srgbClr val="1B2333"/>
                          </a:solidFill>
                          <a:latin typeface="Calibri" pitchFamily="34" charset="0"/>
                          <a:ea typeface="Calibri" pitchFamily="34" charset="-122"/>
                          <a:cs typeface="Calibri" pitchFamily="34" charset="-120"/>
                        </a:rPr>
                        <a:t> ik praat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boek </a:t>
                      </a:r>
                      <a:r>
                        <a:rPr lang="en-US" sz="1700" b="1" i="1" dirty="0">
                          <a:solidFill>
                            <a:srgbClr val="6E4A9E"/>
                          </a:solidFill>
                          <a:latin typeface="Calibri" pitchFamily="34" charset="0"/>
                          <a:ea typeface="Calibri" pitchFamily="34" charset="-122"/>
                          <a:cs typeface="Calibri" pitchFamily="34" charset="-120"/>
                        </a:rPr>
                        <a:t>waarover</a:t>
                      </a:r>
                      <a:r>
                        <a:rPr lang="en-US" sz="1700" i="1" dirty="0">
                          <a:solidFill>
                            <a:srgbClr val="1B2333"/>
                          </a:solidFill>
                          <a:latin typeface="Calibri" pitchFamily="34" charset="0"/>
                          <a:ea typeface="Calibri" pitchFamily="34" charset="-122"/>
                          <a:cs typeface="Calibri" pitchFamily="34" charset="-120"/>
                        </a:rPr>
                        <a:t> ik praat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2"/>
          <p:cNvSpPr/>
          <p:nvPr/>
        </p:nvSpPr>
        <p:spPr>
          <a:xfrm>
            <a:off x="822960" y="5257800"/>
            <a:ext cx="5138928" cy="841248"/>
          </a:xfrm>
          <a:prstGeom prst="roundRect">
            <a:avLst>
              <a:gd name="adj" fmla="val 10870"/>
            </a:avLst>
          </a:prstGeom>
          <a:solidFill>
            <a:srgbClr val="E8F4EC"/>
          </a:solidFill>
          <a:ln w="12700">
            <a:solidFill>
              <a:srgbClr val="FFFFFF">
                <a:alpha val="0"/>
              </a:srgbClr>
            </a:solidFill>
            <a:prstDash val="solid"/>
          </a:ln>
        </p:spPr>
      </p:sp>
      <p:sp>
        <p:nvSpPr>
          <p:cNvPr id="19" name="Shape 13"/>
          <p:cNvSpPr/>
          <p:nvPr/>
        </p:nvSpPr>
        <p:spPr>
          <a:xfrm>
            <a:off x="996696" y="5431536"/>
            <a:ext cx="310896" cy="310896"/>
          </a:xfrm>
          <a:prstGeom prst="ellipse">
            <a:avLst/>
          </a:prstGeom>
          <a:solidFill>
            <a:srgbClr val="2E7D4F"/>
          </a:solidFill>
          <a:ln w="12700">
            <a:solidFill>
              <a:srgbClr val="FFFFFF">
                <a:alpha val="0"/>
              </a:srgbClr>
            </a:solidFill>
            <a:prstDash val="solid"/>
          </a:ln>
        </p:spPr>
      </p:sp>
      <p:sp>
        <p:nvSpPr>
          <p:cNvPr id="20" name="Text 14"/>
          <p:cNvSpPr txBox="1"/>
          <p:nvPr/>
        </p:nvSpPr>
        <p:spPr>
          <a:xfrm>
            <a:off x="996696" y="54315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5"/>
          <p:cNvSpPr txBox="1"/>
          <p:nvPr/>
        </p:nvSpPr>
        <p:spPr>
          <a:xfrm>
            <a:off x="1444752" y="536752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22" name="Text 16"/>
          <p:cNvSpPr txBox="1"/>
          <p:nvPr/>
        </p:nvSpPr>
        <p:spPr>
          <a:xfrm>
            <a:off x="1444752" y="5660136"/>
            <a:ext cx="4361688" cy="365760"/>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personne : préposition + </a:t>
            </a:r>
            <a:r>
              <a:rPr lang="en-US" sz="1400" b="1" i="1" dirty="0">
                <a:solidFill>
                  <a:srgbClr val="B4236A"/>
                </a:solidFill>
                <a:latin typeface="Calibri" pitchFamily="34" charset="0"/>
                <a:ea typeface="Calibri" pitchFamily="34" charset="-122"/>
                <a:cs typeface="Calibri" pitchFamily="34" charset="-120"/>
              </a:rPr>
              <a:t>wie</a:t>
            </a:r>
            <a:r>
              <a:rPr lang="en-US" sz="1400" dirty="0">
                <a:solidFill>
                  <a:srgbClr val="1B2333"/>
                </a:solidFill>
                <a:latin typeface="Calibri" pitchFamily="34" charset="0"/>
                <a:ea typeface="Calibri" pitchFamily="34" charset="-122"/>
                <a:cs typeface="Calibri" pitchFamily="34" charset="-120"/>
              </a:rPr>
              <a:t> · chose : </a:t>
            </a:r>
            <a:r>
              <a:rPr lang="en-US" sz="1400" b="1" i="1" dirty="0">
                <a:solidFill>
                  <a:srgbClr val="6E4A9E"/>
                </a:solidFill>
                <a:latin typeface="Calibri" pitchFamily="34" charset="0"/>
                <a:ea typeface="Calibri" pitchFamily="34" charset="-122"/>
                <a:cs typeface="Calibri" pitchFamily="34" charset="-120"/>
              </a:rPr>
              <a:t>waar</a:t>
            </a:r>
            <a:r>
              <a:rPr lang="en-US" sz="1400" dirty="0">
                <a:solidFill>
                  <a:srgbClr val="1B2333"/>
                </a:solidFill>
                <a:latin typeface="Calibri" pitchFamily="34" charset="0"/>
                <a:ea typeface="Calibri" pitchFamily="34" charset="-122"/>
                <a:cs typeface="Calibri" pitchFamily="34" charset="-120"/>
              </a:rPr>
              <a:t> + préposition, en un mot</a:t>
            </a:r>
            <a:endParaRPr lang="en-US" sz="1400" dirty="0"/>
          </a:p>
        </p:txBody>
      </p:sp>
      <p:sp>
        <p:nvSpPr>
          <p:cNvPr id="23" name="Shape 17"/>
          <p:cNvSpPr/>
          <p:nvPr/>
        </p:nvSpPr>
        <p:spPr>
          <a:xfrm>
            <a:off x="6236208" y="5257800"/>
            <a:ext cx="5138928" cy="841248"/>
          </a:xfrm>
          <a:prstGeom prst="roundRect">
            <a:avLst>
              <a:gd name="adj" fmla="val 10870"/>
            </a:avLst>
          </a:prstGeom>
          <a:solidFill>
            <a:srgbClr val="FBEDEB"/>
          </a:solidFill>
          <a:ln w="12700">
            <a:solidFill>
              <a:srgbClr val="FFFFFF">
                <a:alpha val="0"/>
              </a:srgbClr>
            </a:solidFill>
            <a:prstDash val="solid"/>
          </a:ln>
        </p:spPr>
      </p:sp>
      <p:sp>
        <p:nvSpPr>
          <p:cNvPr id="24" name="Shape 18"/>
          <p:cNvSpPr/>
          <p:nvPr/>
        </p:nvSpPr>
        <p:spPr>
          <a:xfrm>
            <a:off x="6409944" y="5431536"/>
            <a:ext cx="310896" cy="310896"/>
          </a:xfrm>
          <a:prstGeom prst="ellipse">
            <a:avLst/>
          </a:prstGeom>
          <a:solidFill>
            <a:srgbClr val="B83227"/>
          </a:solidFill>
          <a:ln w="12700">
            <a:solidFill>
              <a:srgbClr val="FFFFFF">
                <a:alpha val="0"/>
              </a:srgbClr>
            </a:solidFill>
            <a:prstDash val="solid"/>
          </a:ln>
        </p:spPr>
      </p:sp>
      <p:sp>
        <p:nvSpPr>
          <p:cNvPr id="25" name="Text 19"/>
          <p:cNvSpPr txBox="1"/>
          <p:nvPr/>
        </p:nvSpPr>
        <p:spPr>
          <a:xfrm>
            <a:off x="6409944" y="54315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0"/>
          <p:cNvSpPr txBox="1"/>
          <p:nvPr/>
        </p:nvSpPr>
        <p:spPr>
          <a:xfrm>
            <a:off x="6858000" y="536752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Jamais</a:t>
            </a:r>
            <a:endParaRPr lang="en-US" sz="1300" dirty="0"/>
          </a:p>
        </p:txBody>
      </p:sp>
      <p:sp>
        <p:nvSpPr>
          <p:cNvPr id="27" name="Text 21"/>
          <p:cNvSpPr txBox="1"/>
          <p:nvPr/>
        </p:nvSpPr>
        <p:spPr>
          <a:xfrm>
            <a:off x="6858000" y="5660136"/>
            <a:ext cx="4361688" cy="365760"/>
          </a:xfrm>
          <a:prstGeom prst="rect">
            <a:avLst/>
          </a:prstGeom>
          <a:noFill/>
          <a:ln/>
        </p:spPr>
        <p:txBody>
          <a:bodyPr wrap="square" lIns="0" tIns="0" rIns="0" bIns="0" rtlCol="0" anchor="t"/>
          <a:lstStyle/>
          <a:p>
            <a:pPr algn="l" indent="0" marL="0">
              <a:spcAft>
                <a:spcPts val="200"/>
              </a:spcAft>
              <a:buNone/>
            </a:pPr>
            <a:r>
              <a:rPr lang="en-US" sz="1400" i="1" strike="sngStrike" dirty="0">
                <a:solidFill>
                  <a:srgbClr val="B5473C"/>
                </a:solidFill>
                <a:latin typeface="Calibri" pitchFamily="34" charset="0"/>
                <a:ea typeface="Calibri" pitchFamily="34" charset="-122"/>
                <a:cs typeface="Calibri" pitchFamily="34" charset="-120"/>
              </a:rPr>
              <a:t>met wat</a:t>
            </a:r>
            <a:r>
              <a:rPr lang="en-US" sz="1400" dirty="0">
                <a:solidFill>
                  <a:srgbClr val="1B2333"/>
                </a:solidFill>
                <a:latin typeface="Calibri" pitchFamily="34" charset="0"/>
                <a:ea typeface="Calibri" pitchFamily="34" charset="-122"/>
                <a:cs typeface="Calibri" pitchFamily="34" charset="-120"/>
              </a:rPr>
              <a:t> · </a:t>
            </a:r>
            <a:r>
              <a:rPr lang="en-US" sz="1400" i="1" strike="sngStrike" dirty="0">
                <a:solidFill>
                  <a:srgbClr val="B5473C"/>
                </a:solidFill>
                <a:latin typeface="Calibri" pitchFamily="34" charset="0"/>
                <a:ea typeface="Calibri" pitchFamily="34" charset="-122"/>
                <a:cs typeface="Calibri" pitchFamily="34" charset="-120"/>
              </a:rPr>
              <a:t>met die</a:t>
            </a:r>
            <a:r>
              <a:rPr lang="en-US" sz="1400" dirty="0">
                <a:solidFill>
                  <a:srgbClr val="1B2333"/>
                </a:solidFill>
                <a:latin typeface="Calibri" pitchFamily="34" charset="0"/>
                <a:ea typeface="Calibri" pitchFamily="34" charset="-122"/>
                <a:cs typeface="Calibri" pitchFamily="34" charset="-120"/>
              </a:rPr>
              <a:t> · </a:t>
            </a:r>
            <a:r>
              <a:rPr lang="en-US" sz="1400" i="1" strike="sngStrike" dirty="0">
                <a:solidFill>
                  <a:srgbClr val="B5473C"/>
                </a:solidFill>
                <a:latin typeface="Calibri" pitchFamily="34" charset="0"/>
                <a:ea typeface="Calibri" pitchFamily="34" charset="-122"/>
                <a:cs typeface="Calibri" pitchFamily="34" charset="-120"/>
              </a:rPr>
              <a:t>met dat</a:t>
            </a:r>
            <a:r>
              <a:rPr lang="en-US" sz="1400" dirty="0">
                <a:solidFill>
                  <a:srgbClr val="1B2333"/>
                </a:solidFill>
                <a:latin typeface="Calibri" pitchFamily="34" charset="0"/>
                <a:ea typeface="Calibri" pitchFamily="34" charset="-122"/>
                <a:cs typeface="Calibri" pitchFamily="34" charset="-120"/>
              </a:rPr>
              <a:t> pour une chose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fusion : waar + préposition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6E4A9E"/>
                </a:solidFill>
                <a:latin typeface="Calibri" pitchFamily="34" charset="0"/>
                <a:ea typeface="Calibri" pitchFamily="34" charset="-122"/>
                <a:cs typeface="Calibri" pitchFamily="34" charset="-120"/>
              </a:rPr>
              <a:t>WAAR</a:t>
            </a:r>
            <a:r>
              <a:rPr lang="en-US" sz="1100" b="1" spc="300" kern="0" dirty="0">
                <a:solidFill>
                  <a:srgbClr val="17375E"/>
                </a:solidFill>
                <a:latin typeface="Calibri" pitchFamily="34" charset="0"/>
                <a:ea typeface="Calibri" pitchFamily="34" charset="-122"/>
                <a:cs typeface="Calibri" pitchFamily="34" charset="-120"/>
              </a:rPr>
              <a:t> + PRÉPOSITION</a:t>
            </a:r>
            <a:endParaRPr lang="en-US" sz="1100" dirty="0"/>
          </a:p>
        </p:txBody>
      </p:sp>
      <p:sp>
        <p:nvSpPr>
          <p:cNvPr id="5" name="Shape 2"/>
          <p:cNvSpPr/>
          <p:nvPr/>
        </p:nvSpPr>
        <p:spPr>
          <a:xfrm>
            <a:off x="2034375" y="1481328"/>
            <a:ext cx="921842" cy="566928"/>
          </a:xfrm>
          <a:prstGeom prst="roundRect">
            <a:avLst>
              <a:gd name="adj" fmla="val 12903"/>
            </a:avLst>
          </a:prstGeom>
          <a:solidFill>
            <a:srgbClr val="F4F6F9"/>
          </a:solidFill>
          <a:ln w="12700">
            <a:solidFill>
              <a:srgbClr val="C3CBD6"/>
            </a:solidFill>
            <a:prstDash val="solid"/>
          </a:ln>
        </p:spPr>
      </p:sp>
      <p:sp>
        <p:nvSpPr>
          <p:cNvPr id="6" name="Text 3"/>
          <p:cNvSpPr txBox="1"/>
          <p:nvPr/>
        </p:nvSpPr>
        <p:spPr>
          <a:xfrm>
            <a:off x="2034375" y="1481328"/>
            <a:ext cx="921842" cy="566928"/>
          </a:xfrm>
          <a:prstGeom prst="rect">
            <a:avLst/>
          </a:prstGeom>
          <a:noFill/>
          <a:ln/>
        </p:spPr>
        <p:txBody>
          <a:bodyPr wrap="square" lIns="0" tIns="0" rIns="0" bIns="0" rtlCol="0" anchor="ctr"/>
          <a:lstStyle/>
          <a:p>
            <a:pPr algn="ctr" indent="0" marL="0">
              <a:buNone/>
            </a:pPr>
            <a:r>
              <a:rPr lang="en-US" sz="2200" i="1" strike="sngStrike" dirty="0">
                <a:solidFill>
                  <a:srgbClr val="B5473C"/>
                </a:solidFill>
                <a:latin typeface="Calibri" pitchFamily="34" charset="0"/>
                <a:ea typeface="Calibri" pitchFamily="34" charset="-122"/>
                <a:cs typeface="Calibri" pitchFamily="34" charset="-120"/>
              </a:rPr>
              <a:t>met</a:t>
            </a:r>
            <a:endParaRPr lang="en-US" sz="2200" dirty="0"/>
          </a:p>
        </p:txBody>
      </p:sp>
      <p:sp>
        <p:nvSpPr>
          <p:cNvPr id="7" name="Text 4"/>
          <p:cNvSpPr txBox="1"/>
          <p:nvPr/>
        </p:nvSpPr>
        <p:spPr>
          <a:xfrm>
            <a:off x="3047657" y="1481328"/>
            <a:ext cx="502920" cy="566928"/>
          </a:xfrm>
          <a:prstGeom prst="rect">
            <a:avLst/>
          </a:prstGeom>
          <a:noFill/>
          <a:ln/>
        </p:spPr>
        <p:txBody>
          <a:bodyPr wrap="square" lIns="0" tIns="0" rIns="0" bIns="0" rtlCol="0" anchor="ctr"/>
          <a:lstStyle/>
          <a:p>
            <a:pPr algn="ctr" indent="0" marL="0">
              <a:buNone/>
            </a:pPr>
            <a:r>
              <a:rPr lang="en-US" sz="2200" b="1" dirty="0">
                <a:solidFill>
                  <a:srgbClr val="6B768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3642017" y="1481328"/>
            <a:ext cx="900328" cy="566928"/>
          </a:xfrm>
          <a:prstGeom prst="roundRect">
            <a:avLst>
              <a:gd name="adj" fmla="val 12903"/>
            </a:avLst>
          </a:prstGeom>
          <a:solidFill>
            <a:srgbClr val="F4F6F9"/>
          </a:solidFill>
          <a:ln w="12700">
            <a:solidFill>
              <a:srgbClr val="C3CBD6"/>
            </a:solidFill>
            <a:prstDash val="solid"/>
          </a:ln>
        </p:spPr>
      </p:sp>
      <p:sp>
        <p:nvSpPr>
          <p:cNvPr id="9" name="Text 6"/>
          <p:cNvSpPr txBox="1"/>
          <p:nvPr/>
        </p:nvSpPr>
        <p:spPr>
          <a:xfrm>
            <a:off x="3642017" y="1481328"/>
            <a:ext cx="900328" cy="566928"/>
          </a:xfrm>
          <a:prstGeom prst="rect">
            <a:avLst/>
          </a:prstGeom>
          <a:noFill/>
          <a:ln/>
        </p:spPr>
        <p:txBody>
          <a:bodyPr wrap="square" lIns="0" tIns="0" rIns="0" bIns="0" rtlCol="0" anchor="ctr"/>
          <a:lstStyle/>
          <a:p>
            <a:pPr algn="ctr" indent="0" marL="0">
              <a:buNone/>
            </a:pPr>
            <a:r>
              <a:rPr lang="en-US" sz="2200" i="1" strike="sngStrike" dirty="0">
                <a:solidFill>
                  <a:srgbClr val="B5473C"/>
                </a:solidFill>
                <a:latin typeface="Calibri" pitchFamily="34" charset="0"/>
                <a:ea typeface="Calibri" pitchFamily="34" charset="-122"/>
                <a:cs typeface="Calibri" pitchFamily="34" charset="-120"/>
              </a:rPr>
              <a:t>wat</a:t>
            </a:r>
            <a:endParaRPr lang="en-US" sz="2200" dirty="0"/>
          </a:p>
        </p:txBody>
      </p:sp>
      <p:sp>
        <p:nvSpPr>
          <p:cNvPr id="10" name="Text 7"/>
          <p:cNvSpPr txBox="1"/>
          <p:nvPr/>
        </p:nvSpPr>
        <p:spPr>
          <a:xfrm>
            <a:off x="4633786" y="1481328"/>
            <a:ext cx="502920" cy="566928"/>
          </a:xfrm>
          <a:prstGeom prst="rect">
            <a:avLst/>
          </a:prstGeom>
          <a:noFill/>
          <a:ln/>
        </p:spPr>
        <p:txBody>
          <a:bodyPr wrap="square" lIns="0" tIns="0" rIns="0" bIns="0" rtlCol="0" anchor="ctr"/>
          <a:lstStyle/>
          <a:p>
            <a:pPr algn="ctr" indent="0" marL="0">
              <a:buNone/>
            </a:pPr>
            <a:r>
              <a:rPr lang="en-US" sz="2200" b="1" dirty="0">
                <a:solidFill>
                  <a:srgbClr val="6B7686"/>
                </a:solidFill>
                <a:latin typeface="Calibri" pitchFamily="34" charset="0"/>
                <a:ea typeface="Calibri" pitchFamily="34" charset="-122"/>
                <a:cs typeface="Calibri" pitchFamily="34" charset="-120"/>
              </a:rPr>
              <a:t>→</a:t>
            </a:r>
            <a:endParaRPr lang="en-US" sz="2200" dirty="0"/>
          </a:p>
        </p:txBody>
      </p:sp>
      <p:sp>
        <p:nvSpPr>
          <p:cNvPr id="11" name="Shape 8"/>
          <p:cNvSpPr/>
          <p:nvPr/>
        </p:nvSpPr>
        <p:spPr>
          <a:xfrm>
            <a:off x="5228146" y="1481328"/>
            <a:ext cx="1040587" cy="566928"/>
          </a:xfrm>
          <a:prstGeom prst="roundRect">
            <a:avLst>
              <a:gd name="adj" fmla="val 12903"/>
            </a:avLst>
          </a:prstGeom>
          <a:solidFill>
            <a:srgbClr val="6E4A9E"/>
          </a:solidFill>
          <a:ln w="12700">
            <a:solidFill>
              <a:srgbClr val="FFFFFF">
                <a:alpha val="0"/>
              </a:srgbClr>
            </a:solidFill>
            <a:prstDash val="solid"/>
          </a:ln>
        </p:spPr>
      </p:sp>
      <p:sp>
        <p:nvSpPr>
          <p:cNvPr id="12" name="Text 9"/>
          <p:cNvSpPr txBox="1"/>
          <p:nvPr/>
        </p:nvSpPr>
        <p:spPr>
          <a:xfrm>
            <a:off x="5228146" y="1481328"/>
            <a:ext cx="1040587" cy="566928"/>
          </a:xfrm>
          <a:prstGeom prst="rect">
            <a:avLst/>
          </a:prstGeom>
          <a:noFill/>
          <a:ln/>
        </p:spPr>
        <p:txBody>
          <a:bodyPr wrap="square" lIns="0" tIns="0" rIns="0" bIns="0" rtlCol="0" anchor="ctr"/>
          <a:lstStyle/>
          <a:p>
            <a:pPr algn="ctr" indent="0" marL="0">
              <a:buNone/>
            </a:pPr>
            <a:r>
              <a:rPr lang="en-US" sz="2200" b="1" i="1" dirty="0">
                <a:solidFill>
                  <a:srgbClr val="FFFFFF"/>
                </a:solidFill>
                <a:latin typeface="Calibri" pitchFamily="34" charset="0"/>
                <a:ea typeface="Calibri" pitchFamily="34" charset="-122"/>
                <a:cs typeface="Calibri" pitchFamily="34" charset="-120"/>
              </a:rPr>
              <a:t>waar</a:t>
            </a:r>
            <a:endParaRPr lang="en-US" sz="2200" dirty="0"/>
          </a:p>
        </p:txBody>
      </p:sp>
      <p:sp>
        <p:nvSpPr>
          <p:cNvPr id="13" name="Text 10"/>
          <p:cNvSpPr txBox="1"/>
          <p:nvPr/>
        </p:nvSpPr>
        <p:spPr>
          <a:xfrm>
            <a:off x="6360173" y="1481328"/>
            <a:ext cx="502920" cy="566928"/>
          </a:xfrm>
          <a:prstGeom prst="rect">
            <a:avLst/>
          </a:prstGeom>
          <a:noFill/>
          <a:ln/>
        </p:spPr>
        <p:txBody>
          <a:bodyPr wrap="square" lIns="0" tIns="0" rIns="0" bIns="0" rtlCol="0" anchor="ctr"/>
          <a:lstStyle/>
          <a:p>
            <a:pPr algn="ctr" indent="0" marL="0">
              <a:buNone/>
            </a:pPr>
            <a:r>
              <a:rPr lang="en-US" sz="2200" b="1" dirty="0">
                <a:solidFill>
                  <a:srgbClr val="6B7686"/>
                </a:solidFill>
                <a:latin typeface="Calibri" pitchFamily="34" charset="0"/>
                <a:ea typeface="Calibri" pitchFamily="34" charset="-122"/>
                <a:cs typeface="Calibri" pitchFamily="34" charset="-120"/>
              </a:rPr>
              <a:t>+</a:t>
            </a:r>
            <a:endParaRPr lang="en-US" sz="2200" dirty="0"/>
          </a:p>
        </p:txBody>
      </p:sp>
      <p:sp>
        <p:nvSpPr>
          <p:cNvPr id="14" name="Shape 11"/>
          <p:cNvSpPr/>
          <p:nvPr/>
        </p:nvSpPr>
        <p:spPr>
          <a:xfrm>
            <a:off x="6954533" y="1481328"/>
            <a:ext cx="965429" cy="566928"/>
          </a:xfrm>
          <a:prstGeom prst="roundRect">
            <a:avLst>
              <a:gd name="adj" fmla="val 12903"/>
            </a:avLst>
          </a:prstGeom>
          <a:solidFill>
            <a:srgbClr val="6E4A9E"/>
          </a:solidFill>
          <a:ln w="12700">
            <a:solidFill>
              <a:srgbClr val="FFFFFF">
                <a:alpha val="0"/>
              </a:srgbClr>
            </a:solidFill>
            <a:prstDash val="solid"/>
          </a:ln>
        </p:spPr>
      </p:sp>
      <p:sp>
        <p:nvSpPr>
          <p:cNvPr id="15" name="Text 12"/>
          <p:cNvSpPr txBox="1"/>
          <p:nvPr/>
        </p:nvSpPr>
        <p:spPr>
          <a:xfrm>
            <a:off x="6954533" y="1481328"/>
            <a:ext cx="965429" cy="566928"/>
          </a:xfrm>
          <a:prstGeom prst="rect">
            <a:avLst/>
          </a:prstGeom>
          <a:noFill/>
          <a:ln/>
        </p:spPr>
        <p:txBody>
          <a:bodyPr wrap="square" lIns="0" tIns="0" rIns="0" bIns="0" rtlCol="0" anchor="ctr"/>
          <a:lstStyle/>
          <a:p>
            <a:pPr algn="ctr" indent="0" marL="0">
              <a:buNone/>
            </a:pPr>
            <a:r>
              <a:rPr lang="en-US" sz="2200" b="1" i="1" dirty="0">
                <a:solidFill>
                  <a:srgbClr val="FFFFFF"/>
                </a:solidFill>
                <a:latin typeface="Calibri" pitchFamily="34" charset="0"/>
                <a:ea typeface="Calibri" pitchFamily="34" charset="-122"/>
                <a:cs typeface="Calibri" pitchFamily="34" charset="-120"/>
              </a:rPr>
              <a:t>mee</a:t>
            </a:r>
            <a:endParaRPr lang="en-US" sz="2200" dirty="0"/>
          </a:p>
        </p:txBody>
      </p:sp>
      <p:sp>
        <p:nvSpPr>
          <p:cNvPr id="16" name="Text 13"/>
          <p:cNvSpPr txBox="1"/>
          <p:nvPr/>
        </p:nvSpPr>
        <p:spPr>
          <a:xfrm>
            <a:off x="8011401" y="1481328"/>
            <a:ext cx="502920" cy="566928"/>
          </a:xfrm>
          <a:prstGeom prst="rect">
            <a:avLst/>
          </a:prstGeom>
          <a:noFill/>
          <a:ln/>
        </p:spPr>
        <p:txBody>
          <a:bodyPr wrap="square" lIns="0" tIns="0" rIns="0" bIns="0" rtlCol="0" anchor="ctr"/>
          <a:lstStyle/>
          <a:p>
            <a:pPr algn="ctr" indent="0" marL="0">
              <a:buNone/>
            </a:pPr>
            <a:r>
              <a:rPr lang="en-US" sz="2200" b="1" dirty="0">
                <a:solidFill>
                  <a:srgbClr val="6B7686"/>
                </a:solidFill>
                <a:latin typeface="Calibri" pitchFamily="34" charset="0"/>
                <a:ea typeface="Calibri" pitchFamily="34" charset="-122"/>
                <a:cs typeface="Calibri" pitchFamily="34" charset="-120"/>
              </a:rPr>
              <a:t>=</a:t>
            </a:r>
            <a:endParaRPr lang="en-US" sz="2200" dirty="0"/>
          </a:p>
        </p:txBody>
      </p:sp>
      <p:sp>
        <p:nvSpPr>
          <p:cNvPr id="17" name="Shape 14"/>
          <p:cNvSpPr/>
          <p:nvPr/>
        </p:nvSpPr>
        <p:spPr>
          <a:xfrm>
            <a:off x="8605761" y="1481328"/>
            <a:ext cx="1548816" cy="566928"/>
          </a:xfrm>
          <a:prstGeom prst="roundRect">
            <a:avLst>
              <a:gd name="adj" fmla="val 12903"/>
            </a:avLst>
          </a:prstGeom>
          <a:solidFill>
            <a:srgbClr val="F1ECF7"/>
          </a:solidFill>
          <a:ln w="19050">
            <a:solidFill>
              <a:srgbClr val="6E4A9E"/>
            </a:solidFill>
            <a:prstDash val="solid"/>
          </a:ln>
        </p:spPr>
      </p:sp>
      <p:sp>
        <p:nvSpPr>
          <p:cNvPr id="18" name="Text 15"/>
          <p:cNvSpPr txBox="1"/>
          <p:nvPr/>
        </p:nvSpPr>
        <p:spPr>
          <a:xfrm>
            <a:off x="8605761" y="1481328"/>
            <a:ext cx="1548816" cy="566928"/>
          </a:xfrm>
          <a:prstGeom prst="rect">
            <a:avLst/>
          </a:prstGeom>
          <a:noFill/>
          <a:ln/>
        </p:spPr>
        <p:txBody>
          <a:bodyPr wrap="square" lIns="0" tIns="0" rIns="0" bIns="0" rtlCol="0" anchor="ctr"/>
          <a:lstStyle/>
          <a:p>
            <a:pPr algn="ctr" indent="0" marL="0">
              <a:buNone/>
            </a:pPr>
            <a:r>
              <a:rPr lang="en-US" sz="2200" b="1" i="1" dirty="0">
                <a:solidFill>
                  <a:srgbClr val="6E4A9E"/>
                </a:solidFill>
                <a:latin typeface="Calibri" pitchFamily="34" charset="0"/>
                <a:ea typeface="Calibri" pitchFamily="34" charset="-122"/>
                <a:cs typeface="Calibri" pitchFamily="34" charset="-120"/>
              </a:rPr>
              <a:t>waarmee</a:t>
            </a:r>
            <a:endParaRPr lang="en-US" sz="2200" dirty="0"/>
          </a:p>
        </p:txBody>
      </p:sp>
      <p:sp>
        <p:nvSpPr>
          <p:cNvPr id="19" name="Shape 16"/>
          <p:cNvSpPr/>
          <p:nvPr/>
        </p:nvSpPr>
        <p:spPr>
          <a:xfrm>
            <a:off x="1010412" y="2468880"/>
            <a:ext cx="1572768" cy="822960"/>
          </a:xfrm>
          <a:prstGeom prst="roundRect">
            <a:avLst>
              <a:gd name="adj" fmla="val 11111"/>
            </a:avLst>
          </a:prstGeom>
          <a:solidFill>
            <a:srgbClr val="FBEDEB"/>
          </a:solidFill>
          <a:ln w="15875">
            <a:solidFill>
              <a:srgbClr val="B83227"/>
            </a:solidFill>
            <a:prstDash val="solid"/>
          </a:ln>
        </p:spPr>
      </p:sp>
      <p:sp>
        <p:nvSpPr>
          <p:cNvPr id="20" name="Text 17"/>
          <p:cNvSpPr txBox="1"/>
          <p:nvPr/>
        </p:nvSpPr>
        <p:spPr>
          <a:xfrm>
            <a:off x="1010412" y="253288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met</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21" name="Text 18"/>
          <p:cNvSpPr txBox="1"/>
          <p:nvPr/>
        </p:nvSpPr>
        <p:spPr>
          <a:xfrm>
            <a:off x="1010412" y="279806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B83227"/>
                </a:solidFill>
                <a:latin typeface="Calibri" pitchFamily="34" charset="0"/>
                <a:ea typeface="Calibri" pitchFamily="34" charset="-122"/>
                <a:cs typeface="Calibri" pitchFamily="34" charset="-120"/>
              </a:rPr>
              <a:t>mee</a:t>
            </a:r>
            <a:endParaRPr lang="en-US" sz="1900" dirty="0"/>
          </a:p>
        </p:txBody>
      </p:sp>
      <p:sp>
        <p:nvSpPr>
          <p:cNvPr id="22" name="Shape 19"/>
          <p:cNvSpPr/>
          <p:nvPr/>
        </p:nvSpPr>
        <p:spPr>
          <a:xfrm>
            <a:off x="2729484" y="2468880"/>
            <a:ext cx="1572768" cy="822960"/>
          </a:xfrm>
          <a:prstGeom prst="roundRect">
            <a:avLst>
              <a:gd name="adj" fmla="val 11111"/>
            </a:avLst>
          </a:prstGeom>
          <a:solidFill>
            <a:srgbClr val="FBEDEB"/>
          </a:solidFill>
          <a:ln w="15875">
            <a:solidFill>
              <a:srgbClr val="B83227"/>
            </a:solidFill>
            <a:prstDash val="solid"/>
          </a:ln>
        </p:spPr>
      </p:sp>
      <p:sp>
        <p:nvSpPr>
          <p:cNvPr id="23" name="Text 20"/>
          <p:cNvSpPr txBox="1"/>
          <p:nvPr/>
        </p:nvSpPr>
        <p:spPr>
          <a:xfrm>
            <a:off x="2729484" y="253288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tot</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24" name="Text 21"/>
          <p:cNvSpPr txBox="1"/>
          <p:nvPr/>
        </p:nvSpPr>
        <p:spPr>
          <a:xfrm>
            <a:off x="2729484" y="279806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B83227"/>
                </a:solidFill>
                <a:latin typeface="Calibri" pitchFamily="34" charset="0"/>
                <a:ea typeface="Calibri" pitchFamily="34" charset="-122"/>
                <a:cs typeface="Calibri" pitchFamily="34" charset="-120"/>
              </a:rPr>
              <a:t>toe</a:t>
            </a:r>
            <a:endParaRPr lang="en-US" sz="1900" dirty="0"/>
          </a:p>
        </p:txBody>
      </p:sp>
      <p:sp>
        <p:nvSpPr>
          <p:cNvPr id="25" name="Shape 22"/>
          <p:cNvSpPr/>
          <p:nvPr/>
        </p:nvSpPr>
        <p:spPr>
          <a:xfrm>
            <a:off x="4448556" y="2468880"/>
            <a:ext cx="1572768" cy="822960"/>
          </a:xfrm>
          <a:prstGeom prst="roundRect">
            <a:avLst>
              <a:gd name="adj" fmla="val 11111"/>
            </a:avLst>
          </a:prstGeom>
          <a:solidFill>
            <a:srgbClr val="F1ECF7"/>
          </a:solidFill>
          <a:ln w="12700">
            <a:solidFill>
              <a:srgbClr val="FFFFFF">
                <a:alpha val="0"/>
              </a:srgbClr>
            </a:solidFill>
            <a:prstDash val="solid"/>
          </a:ln>
        </p:spPr>
      </p:sp>
      <p:sp>
        <p:nvSpPr>
          <p:cNvPr id="26" name="Text 23"/>
          <p:cNvSpPr txBox="1"/>
          <p:nvPr/>
        </p:nvSpPr>
        <p:spPr>
          <a:xfrm>
            <a:off x="4448556" y="253288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op</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27" name="Text 24"/>
          <p:cNvSpPr txBox="1"/>
          <p:nvPr/>
        </p:nvSpPr>
        <p:spPr>
          <a:xfrm>
            <a:off x="4448556" y="279806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op</a:t>
            </a:r>
            <a:endParaRPr lang="en-US" sz="1900" dirty="0"/>
          </a:p>
        </p:txBody>
      </p:sp>
      <p:sp>
        <p:nvSpPr>
          <p:cNvPr id="28" name="Shape 25"/>
          <p:cNvSpPr/>
          <p:nvPr/>
        </p:nvSpPr>
        <p:spPr>
          <a:xfrm>
            <a:off x="6167628" y="2468880"/>
            <a:ext cx="1572768" cy="822960"/>
          </a:xfrm>
          <a:prstGeom prst="roundRect">
            <a:avLst>
              <a:gd name="adj" fmla="val 11111"/>
            </a:avLst>
          </a:prstGeom>
          <a:solidFill>
            <a:srgbClr val="F1ECF7"/>
          </a:solidFill>
          <a:ln w="12700">
            <a:solidFill>
              <a:srgbClr val="FFFFFF">
                <a:alpha val="0"/>
              </a:srgbClr>
            </a:solidFill>
            <a:prstDash val="solid"/>
          </a:ln>
        </p:spPr>
      </p:sp>
      <p:sp>
        <p:nvSpPr>
          <p:cNvPr id="29" name="Text 26"/>
          <p:cNvSpPr txBox="1"/>
          <p:nvPr/>
        </p:nvSpPr>
        <p:spPr>
          <a:xfrm>
            <a:off x="6167628" y="253288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aan</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30" name="Text 27"/>
          <p:cNvSpPr txBox="1"/>
          <p:nvPr/>
        </p:nvSpPr>
        <p:spPr>
          <a:xfrm>
            <a:off x="6167628" y="279806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aan</a:t>
            </a:r>
            <a:endParaRPr lang="en-US" sz="1900" dirty="0"/>
          </a:p>
        </p:txBody>
      </p:sp>
      <p:sp>
        <p:nvSpPr>
          <p:cNvPr id="31" name="Shape 28"/>
          <p:cNvSpPr/>
          <p:nvPr/>
        </p:nvSpPr>
        <p:spPr>
          <a:xfrm>
            <a:off x="7886700" y="2468880"/>
            <a:ext cx="1572768" cy="822960"/>
          </a:xfrm>
          <a:prstGeom prst="roundRect">
            <a:avLst>
              <a:gd name="adj" fmla="val 11111"/>
            </a:avLst>
          </a:prstGeom>
          <a:solidFill>
            <a:srgbClr val="F1ECF7"/>
          </a:solidFill>
          <a:ln w="12700">
            <a:solidFill>
              <a:srgbClr val="FFFFFF">
                <a:alpha val="0"/>
              </a:srgbClr>
            </a:solidFill>
            <a:prstDash val="solid"/>
          </a:ln>
        </p:spPr>
      </p:sp>
      <p:sp>
        <p:nvSpPr>
          <p:cNvPr id="32" name="Text 29"/>
          <p:cNvSpPr txBox="1"/>
          <p:nvPr/>
        </p:nvSpPr>
        <p:spPr>
          <a:xfrm>
            <a:off x="7886700" y="253288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over</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33" name="Text 30"/>
          <p:cNvSpPr txBox="1"/>
          <p:nvPr/>
        </p:nvSpPr>
        <p:spPr>
          <a:xfrm>
            <a:off x="7886700" y="279806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over</a:t>
            </a:r>
            <a:endParaRPr lang="en-US" sz="1900" dirty="0"/>
          </a:p>
        </p:txBody>
      </p:sp>
      <p:sp>
        <p:nvSpPr>
          <p:cNvPr id="34" name="Shape 31"/>
          <p:cNvSpPr/>
          <p:nvPr/>
        </p:nvSpPr>
        <p:spPr>
          <a:xfrm>
            <a:off x="9605772" y="2468880"/>
            <a:ext cx="1572768" cy="822960"/>
          </a:xfrm>
          <a:prstGeom prst="roundRect">
            <a:avLst>
              <a:gd name="adj" fmla="val 11111"/>
            </a:avLst>
          </a:prstGeom>
          <a:solidFill>
            <a:srgbClr val="F1ECF7"/>
          </a:solidFill>
          <a:ln w="12700">
            <a:solidFill>
              <a:srgbClr val="FFFFFF">
                <a:alpha val="0"/>
              </a:srgbClr>
            </a:solidFill>
            <a:prstDash val="solid"/>
          </a:ln>
        </p:spPr>
      </p:sp>
      <p:sp>
        <p:nvSpPr>
          <p:cNvPr id="35" name="Text 32"/>
          <p:cNvSpPr txBox="1"/>
          <p:nvPr/>
        </p:nvSpPr>
        <p:spPr>
          <a:xfrm>
            <a:off x="9605772" y="253288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van</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36" name="Text 33"/>
          <p:cNvSpPr txBox="1"/>
          <p:nvPr/>
        </p:nvSpPr>
        <p:spPr>
          <a:xfrm>
            <a:off x="9605772" y="279806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van</a:t>
            </a:r>
            <a:endParaRPr lang="en-US" sz="1900" dirty="0"/>
          </a:p>
        </p:txBody>
      </p:sp>
      <p:sp>
        <p:nvSpPr>
          <p:cNvPr id="37" name="Shape 34"/>
          <p:cNvSpPr/>
          <p:nvPr/>
        </p:nvSpPr>
        <p:spPr>
          <a:xfrm>
            <a:off x="1010412" y="3474720"/>
            <a:ext cx="1572768" cy="822960"/>
          </a:xfrm>
          <a:prstGeom prst="roundRect">
            <a:avLst>
              <a:gd name="adj" fmla="val 11111"/>
            </a:avLst>
          </a:prstGeom>
          <a:solidFill>
            <a:srgbClr val="F1ECF7"/>
          </a:solidFill>
          <a:ln w="12700">
            <a:solidFill>
              <a:srgbClr val="FFFFFF">
                <a:alpha val="0"/>
              </a:srgbClr>
            </a:solidFill>
            <a:prstDash val="solid"/>
          </a:ln>
        </p:spPr>
      </p:sp>
      <p:sp>
        <p:nvSpPr>
          <p:cNvPr id="38" name="Text 35"/>
          <p:cNvSpPr txBox="1"/>
          <p:nvPr/>
        </p:nvSpPr>
        <p:spPr>
          <a:xfrm>
            <a:off x="1010412" y="353872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voor</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39" name="Text 36"/>
          <p:cNvSpPr txBox="1"/>
          <p:nvPr/>
        </p:nvSpPr>
        <p:spPr>
          <a:xfrm>
            <a:off x="1010412" y="380390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voor</a:t>
            </a:r>
            <a:endParaRPr lang="en-US" sz="1900" dirty="0"/>
          </a:p>
        </p:txBody>
      </p:sp>
      <p:sp>
        <p:nvSpPr>
          <p:cNvPr id="40" name="Shape 37"/>
          <p:cNvSpPr/>
          <p:nvPr/>
        </p:nvSpPr>
        <p:spPr>
          <a:xfrm>
            <a:off x="2729484" y="3474720"/>
            <a:ext cx="1572768" cy="822960"/>
          </a:xfrm>
          <a:prstGeom prst="roundRect">
            <a:avLst>
              <a:gd name="adj" fmla="val 11111"/>
            </a:avLst>
          </a:prstGeom>
          <a:solidFill>
            <a:srgbClr val="F1ECF7"/>
          </a:solidFill>
          <a:ln w="12700">
            <a:solidFill>
              <a:srgbClr val="FFFFFF">
                <a:alpha val="0"/>
              </a:srgbClr>
            </a:solidFill>
            <a:prstDash val="solid"/>
          </a:ln>
        </p:spPr>
      </p:sp>
      <p:sp>
        <p:nvSpPr>
          <p:cNvPr id="41" name="Text 38"/>
          <p:cNvSpPr txBox="1"/>
          <p:nvPr/>
        </p:nvSpPr>
        <p:spPr>
          <a:xfrm>
            <a:off x="2729484" y="353872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in</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42" name="Text 39"/>
          <p:cNvSpPr txBox="1"/>
          <p:nvPr/>
        </p:nvSpPr>
        <p:spPr>
          <a:xfrm>
            <a:off x="2729484" y="380390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in</a:t>
            </a:r>
            <a:endParaRPr lang="en-US" sz="1900" dirty="0"/>
          </a:p>
        </p:txBody>
      </p:sp>
      <p:sp>
        <p:nvSpPr>
          <p:cNvPr id="43" name="Shape 40"/>
          <p:cNvSpPr/>
          <p:nvPr/>
        </p:nvSpPr>
        <p:spPr>
          <a:xfrm>
            <a:off x="4448556" y="3474720"/>
            <a:ext cx="1572768" cy="822960"/>
          </a:xfrm>
          <a:prstGeom prst="roundRect">
            <a:avLst>
              <a:gd name="adj" fmla="val 11111"/>
            </a:avLst>
          </a:prstGeom>
          <a:solidFill>
            <a:srgbClr val="F1ECF7"/>
          </a:solidFill>
          <a:ln w="12700">
            <a:solidFill>
              <a:srgbClr val="FFFFFF">
                <a:alpha val="0"/>
              </a:srgbClr>
            </a:solidFill>
            <a:prstDash val="solid"/>
          </a:ln>
        </p:spPr>
      </p:sp>
      <p:sp>
        <p:nvSpPr>
          <p:cNvPr id="44" name="Text 41"/>
          <p:cNvSpPr txBox="1"/>
          <p:nvPr/>
        </p:nvSpPr>
        <p:spPr>
          <a:xfrm>
            <a:off x="4448556" y="353872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naar</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45" name="Text 42"/>
          <p:cNvSpPr txBox="1"/>
          <p:nvPr/>
        </p:nvSpPr>
        <p:spPr>
          <a:xfrm>
            <a:off x="4448556" y="380390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naar</a:t>
            </a:r>
            <a:endParaRPr lang="en-US" sz="1900" dirty="0"/>
          </a:p>
        </p:txBody>
      </p:sp>
      <p:sp>
        <p:nvSpPr>
          <p:cNvPr id="46" name="Shape 43"/>
          <p:cNvSpPr/>
          <p:nvPr/>
        </p:nvSpPr>
        <p:spPr>
          <a:xfrm>
            <a:off x="6167628" y="3474720"/>
            <a:ext cx="1572768" cy="822960"/>
          </a:xfrm>
          <a:prstGeom prst="roundRect">
            <a:avLst>
              <a:gd name="adj" fmla="val 11111"/>
            </a:avLst>
          </a:prstGeom>
          <a:solidFill>
            <a:srgbClr val="F1ECF7"/>
          </a:solidFill>
          <a:ln w="12700">
            <a:solidFill>
              <a:srgbClr val="FFFFFF">
                <a:alpha val="0"/>
              </a:srgbClr>
            </a:solidFill>
            <a:prstDash val="solid"/>
          </a:ln>
        </p:spPr>
      </p:sp>
      <p:sp>
        <p:nvSpPr>
          <p:cNvPr id="47" name="Text 44"/>
          <p:cNvSpPr txBox="1"/>
          <p:nvPr/>
        </p:nvSpPr>
        <p:spPr>
          <a:xfrm>
            <a:off x="6167628" y="353872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uit</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48" name="Text 45"/>
          <p:cNvSpPr txBox="1"/>
          <p:nvPr/>
        </p:nvSpPr>
        <p:spPr>
          <a:xfrm>
            <a:off x="6167628" y="380390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uit</a:t>
            </a:r>
            <a:endParaRPr lang="en-US" sz="1900" dirty="0"/>
          </a:p>
        </p:txBody>
      </p:sp>
      <p:sp>
        <p:nvSpPr>
          <p:cNvPr id="49" name="Shape 46"/>
          <p:cNvSpPr/>
          <p:nvPr/>
        </p:nvSpPr>
        <p:spPr>
          <a:xfrm>
            <a:off x="7886700" y="3474720"/>
            <a:ext cx="1572768" cy="822960"/>
          </a:xfrm>
          <a:prstGeom prst="roundRect">
            <a:avLst>
              <a:gd name="adj" fmla="val 11111"/>
            </a:avLst>
          </a:prstGeom>
          <a:solidFill>
            <a:srgbClr val="F1ECF7"/>
          </a:solidFill>
          <a:ln w="12700">
            <a:solidFill>
              <a:srgbClr val="FFFFFF">
                <a:alpha val="0"/>
              </a:srgbClr>
            </a:solidFill>
            <a:prstDash val="solid"/>
          </a:ln>
        </p:spPr>
      </p:sp>
      <p:sp>
        <p:nvSpPr>
          <p:cNvPr id="50" name="Text 47"/>
          <p:cNvSpPr txBox="1"/>
          <p:nvPr/>
        </p:nvSpPr>
        <p:spPr>
          <a:xfrm>
            <a:off x="7886700" y="353872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bij</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51" name="Text 48"/>
          <p:cNvSpPr txBox="1"/>
          <p:nvPr/>
        </p:nvSpPr>
        <p:spPr>
          <a:xfrm>
            <a:off x="7886700" y="380390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bij</a:t>
            </a:r>
            <a:endParaRPr lang="en-US" sz="1900" dirty="0"/>
          </a:p>
        </p:txBody>
      </p:sp>
      <p:sp>
        <p:nvSpPr>
          <p:cNvPr id="52" name="Shape 49"/>
          <p:cNvSpPr/>
          <p:nvPr/>
        </p:nvSpPr>
        <p:spPr>
          <a:xfrm>
            <a:off x="9605772" y="3474720"/>
            <a:ext cx="1572768" cy="822960"/>
          </a:xfrm>
          <a:prstGeom prst="roundRect">
            <a:avLst>
              <a:gd name="adj" fmla="val 11111"/>
            </a:avLst>
          </a:prstGeom>
          <a:solidFill>
            <a:srgbClr val="F1ECF7"/>
          </a:solidFill>
          <a:ln w="12700">
            <a:solidFill>
              <a:srgbClr val="FFFFFF">
                <a:alpha val="0"/>
              </a:srgbClr>
            </a:solidFill>
            <a:prstDash val="solid"/>
          </a:ln>
        </p:spPr>
      </p:sp>
      <p:sp>
        <p:nvSpPr>
          <p:cNvPr id="53" name="Text 50"/>
          <p:cNvSpPr txBox="1"/>
          <p:nvPr/>
        </p:nvSpPr>
        <p:spPr>
          <a:xfrm>
            <a:off x="9605772" y="3538728"/>
            <a:ext cx="1572768" cy="27432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om</a:t>
            </a:r>
            <a:r>
              <a:rPr lang="en-US" sz="1300" dirty="0">
                <a:solidFill>
                  <a:srgbClr val="6B7686"/>
                </a:solidFill>
                <a:latin typeface="Calibri" pitchFamily="34" charset="0"/>
                <a:ea typeface="Calibri" pitchFamily="34" charset="-122"/>
                <a:cs typeface="Calibri" pitchFamily="34" charset="-120"/>
              </a:rPr>
              <a:t> →</a:t>
            </a:r>
            <a:endParaRPr lang="en-US" sz="1300" dirty="0"/>
          </a:p>
        </p:txBody>
      </p:sp>
      <p:sp>
        <p:nvSpPr>
          <p:cNvPr id="54" name="Text 51"/>
          <p:cNvSpPr txBox="1"/>
          <p:nvPr/>
        </p:nvSpPr>
        <p:spPr>
          <a:xfrm>
            <a:off x="9605772" y="3803904"/>
            <a:ext cx="1572768" cy="411480"/>
          </a:xfrm>
          <a:prstGeom prst="rect">
            <a:avLst/>
          </a:prstGeom>
          <a:noFill/>
          <a:ln/>
        </p:spPr>
        <p:txBody>
          <a:bodyPr wrap="square" lIns="0" tIns="0" rIns="0" bIns="0" rtlCol="0" anchor="ctr"/>
          <a:lstStyle/>
          <a:p>
            <a:pPr algn="ctr" indent="0" marL="0">
              <a:buNone/>
            </a:pPr>
            <a:r>
              <a:rPr lang="en-US" sz="1900" i="1" dirty="0">
                <a:solidFill>
                  <a:srgbClr val="6E4A9E"/>
                </a:solidFill>
                <a:latin typeface="Calibri" pitchFamily="34" charset="0"/>
                <a:ea typeface="Calibri" pitchFamily="34" charset="-122"/>
                <a:cs typeface="Calibri" pitchFamily="34" charset="-120"/>
              </a:rPr>
              <a:t>waar</a:t>
            </a:r>
            <a:r>
              <a:rPr lang="en-US" sz="1900" b="1" i="1" dirty="0">
                <a:solidFill>
                  <a:srgbClr val="6E4A9E"/>
                </a:solidFill>
                <a:latin typeface="Calibri" pitchFamily="34" charset="0"/>
                <a:ea typeface="Calibri" pitchFamily="34" charset="-122"/>
                <a:cs typeface="Calibri" pitchFamily="34" charset="-120"/>
              </a:rPr>
              <a:t>om</a:t>
            </a:r>
            <a:endParaRPr lang="en-US" sz="1900" dirty="0"/>
          </a:p>
        </p:txBody>
      </p:sp>
      <p:sp>
        <p:nvSpPr>
          <p:cNvPr id="55" name="Shape 52"/>
          <p:cNvSpPr/>
          <p:nvPr/>
        </p:nvSpPr>
        <p:spPr>
          <a:xfrm>
            <a:off x="822960" y="4709160"/>
            <a:ext cx="5138928" cy="914400"/>
          </a:xfrm>
          <a:prstGeom prst="roundRect">
            <a:avLst>
              <a:gd name="adj" fmla="val 10000"/>
            </a:avLst>
          </a:prstGeom>
          <a:solidFill>
            <a:srgbClr val="FBEDEB"/>
          </a:solidFill>
          <a:ln w="12700">
            <a:solidFill>
              <a:srgbClr val="FFFFFF">
                <a:alpha val="0"/>
              </a:srgbClr>
            </a:solidFill>
            <a:prstDash val="solid"/>
          </a:ln>
        </p:spPr>
      </p:sp>
      <p:sp>
        <p:nvSpPr>
          <p:cNvPr id="56" name="Shape 53"/>
          <p:cNvSpPr/>
          <p:nvPr/>
        </p:nvSpPr>
        <p:spPr>
          <a:xfrm>
            <a:off x="996696" y="4882896"/>
            <a:ext cx="310896" cy="310896"/>
          </a:xfrm>
          <a:prstGeom prst="ellipse">
            <a:avLst/>
          </a:prstGeom>
          <a:solidFill>
            <a:srgbClr val="B83227"/>
          </a:solidFill>
          <a:ln w="12700">
            <a:solidFill>
              <a:srgbClr val="FFFFFF">
                <a:alpha val="0"/>
              </a:srgbClr>
            </a:solidFill>
            <a:prstDash val="solid"/>
          </a:ln>
        </p:spPr>
      </p:sp>
      <p:sp>
        <p:nvSpPr>
          <p:cNvPr id="57" name="Text 54"/>
          <p:cNvSpPr txBox="1"/>
          <p:nvPr/>
        </p:nvSpPr>
        <p:spPr>
          <a:xfrm>
            <a:off x="996696" y="4882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58" name="Text 55"/>
          <p:cNvSpPr txBox="1"/>
          <p:nvPr/>
        </p:nvSpPr>
        <p:spPr>
          <a:xfrm>
            <a:off x="1444752" y="481888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Deux changements</a:t>
            </a:r>
            <a:endParaRPr lang="en-US" sz="1300" dirty="0"/>
          </a:p>
        </p:txBody>
      </p:sp>
      <p:sp>
        <p:nvSpPr>
          <p:cNvPr id="59" name="Text 56"/>
          <p:cNvSpPr txBox="1"/>
          <p:nvPr/>
        </p:nvSpPr>
        <p:spPr>
          <a:xfrm>
            <a:off x="1444752" y="511149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met</a:t>
            </a:r>
            <a:r>
              <a:rPr lang="en-US" sz="1400" dirty="0">
                <a:solidFill>
                  <a:srgbClr val="1B2333"/>
                </a:solidFill>
                <a:latin typeface="Calibri" pitchFamily="34" charset="0"/>
                <a:ea typeface="Calibri" pitchFamily="34" charset="-122"/>
                <a:cs typeface="Calibri" pitchFamily="34" charset="-120"/>
              </a:rPr>
              <a:t> → </a:t>
            </a:r>
            <a:r>
              <a:rPr lang="en-US" sz="1400" b="1" i="1" dirty="0">
                <a:solidFill>
                  <a:srgbClr val="6E4A9E"/>
                </a:solidFill>
                <a:latin typeface="Calibri" pitchFamily="34" charset="0"/>
                <a:ea typeface="Calibri" pitchFamily="34" charset="-122"/>
                <a:cs typeface="Calibri" pitchFamily="34" charset="-120"/>
              </a:rPr>
              <a:t>waar</a:t>
            </a:r>
            <a:r>
              <a:rPr lang="en-US" sz="1400" b="1" i="1" dirty="0">
                <a:solidFill>
                  <a:srgbClr val="B83227"/>
                </a:solidFill>
                <a:latin typeface="Calibri" pitchFamily="34" charset="0"/>
                <a:ea typeface="Calibri" pitchFamily="34" charset="-122"/>
                <a:cs typeface="Calibri" pitchFamily="34" charset="-120"/>
              </a:rPr>
              <a:t>mee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tot</a:t>
            </a:r>
            <a:r>
              <a:rPr lang="en-US" sz="1400" dirty="0">
                <a:solidFill>
                  <a:srgbClr val="1B2333"/>
                </a:solidFill>
                <a:latin typeface="Calibri" pitchFamily="34" charset="0"/>
                <a:ea typeface="Calibri" pitchFamily="34" charset="-122"/>
                <a:cs typeface="Calibri" pitchFamily="34" charset="-120"/>
              </a:rPr>
              <a:t> → </a:t>
            </a:r>
            <a:r>
              <a:rPr lang="en-US" sz="1400" b="1" i="1" dirty="0">
                <a:solidFill>
                  <a:srgbClr val="6E4A9E"/>
                </a:solidFill>
                <a:latin typeface="Calibri" pitchFamily="34" charset="0"/>
                <a:ea typeface="Calibri" pitchFamily="34" charset="-122"/>
                <a:cs typeface="Calibri" pitchFamily="34" charset="-120"/>
              </a:rPr>
              <a:t>waar</a:t>
            </a:r>
            <a:r>
              <a:rPr lang="en-US" sz="1400" b="1" i="1" dirty="0">
                <a:solidFill>
                  <a:srgbClr val="B83227"/>
                </a:solidFill>
                <a:latin typeface="Calibri" pitchFamily="34" charset="0"/>
                <a:ea typeface="Calibri" pitchFamily="34" charset="-122"/>
                <a:cs typeface="Calibri" pitchFamily="34" charset="-120"/>
              </a:rPr>
              <a:t>toe</a:t>
            </a:r>
            <a:endParaRPr lang="en-US" sz="1400" dirty="0"/>
          </a:p>
        </p:txBody>
      </p:sp>
      <p:sp>
        <p:nvSpPr>
          <p:cNvPr id="60" name="Shape 57"/>
          <p:cNvSpPr/>
          <p:nvPr/>
        </p:nvSpPr>
        <p:spPr>
          <a:xfrm>
            <a:off x="6236208" y="4709160"/>
            <a:ext cx="5138928" cy="914400"/>
          </a:xfrm>
          <a:prstGeom prst="roundRect">
            <a:avLst>
              <a:gd name="adj" fmla="val 10000"/>
            </a:avLst>
          </a:prstGeom>
          <a:solidFill>
            <a:srgbClr val="EAF2FB"/>
          </a:solidFill>
          <a:ln w="12700">
            <a:solidFill>
              <a:srgbClr val="FFFFFF">
                <a:alpha val="0"/>
              </a:srgbClr>
            </a:solidFill>
            <a:prstDash val="solid"/>
          </a:ln>
        </p:spPr>
      </p:sp>
      <p:sp>
        <p:nvSpPr>
          <p:cNvPr id="61" name="Shape 58"/>
          <p:cNvSpPr/>
          <p:nvPr/>
        </p:nvSpPr>
        <p:spPr>
          <a:xfrm>
            <a:off x="6409944" y="4882896"/>
            <a:ext cx="310896" cy="310896"/>
          </a:xfrm>
          <a:prstGeom prst="ellipse">
            <a:avLst/>
          </a:prstGeom>
          <a:solidFill>
            <a:srgbClr val="2A6FB0"/>
          </a:solidFill>
          <a:ln w="12700">
            <a:solidFill>
              <a:srgbClr val="FFFFFF">
                <a:alpha val="0"/>
              </a:srgbClr>
            </a:solidFill>
            <a:prstDash val="solid"/>
          </a:ln>
        </p:spPr>
      </p:sp>
      <p:sp>
        <p:nvSpPr>
          <p:cNvPr id="62" name="Text 59"/>
          <p:cNvSpPr txBox="1"/>
          <p:nvPr/>
        </p:nvSpPr>
        <p:spPr>
          <a:xfrm>
            <a:off x="6409944" y="4882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63" name="Text 60"/>
          <p:cNvSpPr txBox="1"/>
          <p:nvPr/>
        </p:nvSpPr>
        <p:spPr>
          <a:xfrm>
            <a:off x="6858000" y="4818888"/>
            <a:ext cx="4361688" cy="292608"/>
          </a:xfrm>
          <a:prstGeom prst="rect">
            <a:avLst/>
          </a:prstGeom>
          <a:noFill/>
          <a:ln/>
        </p:spPr>
        <p:txBody>
          <a:bodyPr wrap="square" lIns="0" tIns="0" rIns="0" bIns="0" rtlCol="0" anchor="ctr"/>
          <a:lstStyle/>
          <a:p>
            <a:pPr algn="l" indent="0" marL="0">
              <a:buNone/>
            </a:pPr>
            <a:r>
              <a:rPr lang="en-US" sz="1300" b="1" dirty="0">
                <a:solidFill>
                  <a:srgbClr val="2A6FB0"/>
                </a:solidFill>
                <a:latin typeface="Calibri" pitchFamily="34" charset="0"/>
                <a:ea typeface="Calibri" pitchFamily="34" charset="-122"/>
                <a:cs typeface="Calibri" pitchFamily="34" charset="-120"/>
              </a:rPr>
              <a:t>waarom</a:t>
            </a:r>
            <a:endParaRPr lang="en-US" sz="1300" dirty="0"/>
          </a:p>
        </p:txBody>
      </p:sp>
      <p:sp>
        <p:nvSpPr>
          <p:cNvPr id="64" name="Text 61"/>
          <p:cNvSpPr txBox="1"/>
          <p:nvPr/>
        </p:nvSpPr>
        <p:spPr>
          <a:xfrm>
            <a:off x="6858000" y="511149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 pourquoi », mais aussi « la raison pour laquelle » : </a:t>
            </a:r>
            <a:r>
              <a:rPr lang="en-US" sz="1400" i="1" dirty="0">
                <a:solidFill>
                  <a:srgbClr val="1B2333"/>
                </a:solidFill>
                <a:latin typeface="Calibri" pitchFamily="34" charset="0"/>
                <a:ea typeface="Calibri" pitchFamily="34" charset="-122"/>
                <a:cs typeface="Calibri" pitchFamily="34" charset="-120"/>
              </a:rPr>
              <a:t>de reden </a:t>
            </a:r>
            <a:r>
              <a:rPr lang="en-US" sz="1400" b="1" i="1" dirty="0">
                <a:solidFill>
                  <a:srgbClr val="6E4A9E"/>
                </a:solidFill>
                <a:latin typeface="Calibri" pitchFamily="34" charset="0"/>
                <a:ea typeface="Calibri" pitchFamily="34" charset="-122"/>
                <a:cs typeface="Calibri" pitchFamily="34" charset="-120"/>
              </a:rPr>
              <a:t>waarom</a:t>
            </a:r>
            <a:r>
              <a:rPr lang="en-US" sz="1400" i="1" dirty="0">
                <a:solidFill>
                  <a:srgbClr val="1B2333"/>
                </a:solidFill>
                <a:latin typeface="Calibri" pitchFamily="34" charset="0"/>
                <a:ea typeface="Calibri" pitchFamily="34" charset="-122"/>
                <a:cs typeface="Calibri" pitchFamily="34" charset="-120"/>
              </a:rPr>
              <a:t> hij vertrekt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pince : waar … mee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6E4A9E"/>
                </a:solidFill>
                <a:latin typeface="Calibri" pitchFamily="34" charset="0"/>
                <a:ea typeface="Calibri" pitchFamily="34" charset="-122"/>
                <a:cs typeface="Calibri" pitchFamily="34" charset="-120"/>
              </a:rPr>
              <a:t>WAAR</a:t>
            </a:r>
            <a:r>
              <a:rPr lang="en-US" sz="1100" b="1" spc="300" kern="0" dirty="0">
                <a:solidFill>
                  <a:srgbClr val="17375E"/>
                </a:solidFill>
                <a:latin typeface="Calibri" pitchFamily="34" charset="0"/>
                <a:ea typeface="Calibri" pitchFamily="34" charset="-122"/>
                <a:cs typeface="Calibri" pitchFamily="34" charset="-120"/>
              </a:rPr>
              <a:t> + PRÉPOSITION</a:t>
            </a:r>
            <a:endParaRPr lang="en-US" sz="1100" dirty="0"/>
          </a:p>
        </p:txBody>
      </p:sp>
      <p:sp>
        <p:nvSpPr>
          <p:cNvPr id="5" name="Text 2"/>
          <p:cNvSpPr txBox="1"/>
          <p:nvPr/>
        </p:nvSpPr>
        <p:spPr>
          <a:xfrm>
            <a:off x="2038541" y="1874520"/>
            <a:ext cx="1121169" cy="603504"/>
          </a:xfrm>
          <a:prstGeom prst="rect">
            <a:avLst/>
          </a:prstGeom>
          <a:noFill/>
          <a:ln/>
        </p:spPr>
        <p:txBody>
          <a:bodyPr wrap="square" lIns="0" tIns="0" rIns="0" bIns="0" rtlCol="0" anchor="ctr"/>
          <a:lstStyle/>
          <a:p>
            <a:pPr algn="ctr" indent="0" marL="0">
              <a:buNone/>
            </a:pPr>
            <a:r>
              <a:rPr lang="en-US" sz="2700" b="1" i="1" dirty="0">
                <a:solidFill>
                  <a:srgbClr val="6E4A9E"/>
                </a:solidFill>
                <a:latin typeface="Calibri" pitchFamily="34" charset="0"/>
                <a:ea typeface="Calibri" pitchFamily="34" charset="-122"/>
                <a:cs typeface="Calibri" pitchFamily="34" charset="-120"/>
              </a:rPr>
              <a:t>de pen</a:t>
            </a:r>
            <a:endParaRPr lang="en-US" sz="2700" dirty="0"/>
          </a:p>
        </p:txBody>
      </p:sp>
      <p:sp>
        <p:nvSpPr>
          <p:cNvPr id="6" name="Text 3"/>
          <p:cNvSpPr txBox="1"/>
          <p:nvPr/>
        </p:nvSpPr>
        <p:spPr>
          <a:xfrm>
            <a:off x="3129648" y="1874520"/>
            <a:ext cx="1486014" cy="603504"/>
          </a:xfrm>
          <a:prstGeom prst="rect">
            <a:avLst/>
          </a:prstGeom>
          <a:noFill/>
          <a:ln/>
        </p:spPr>
        <p:txBody>
          <a:bodyPr wrap="square" lIns="0" tIns="0" rIns="0" bIns="0" rtlCol="0" anchor="ctr"/>
          <a:lstStyle/>
          <a:p>
            <a:pPr algn="ctr" indent="0" marL="0">
              <a:buNone/>
            </a:pPr>
            <a:r>
              <a:rPr lang="en-US" sz="2700" b="1" i="1" dirty="0">
                <a:solidFill>
                  <a:srgbClr val="6E4A9E"/>
                </a:solidFill>
                <a:latin typeface="Calibri" pitchFamily="34" charset="0"/>
                <a:ea typeface="Calibri" pitchFamily="34" charset="-122"/>
                <a:cs typeface="Calibri" pitchFamily="34" charset="-120"/>
              </a:rPr>
              <a:t>waarmee</a:t>
            </a:r>
            <a:endParaRPr lang="en-US" sz="2700" dirty="0"/>
          </a:p>
        </p:txBody>
      </p:sp>
      <p:sp>
        <p:nvSpPr>
          <p:cNvPr id="7" name="Text 4"/>
          <p:cNvSpPr txBox="1"/>
          <p:nvPr/>
        </p:nvSpPr>
        <p:spPr>
          <a:xfrm>
            <a:off x="4585602" y="1874520"/>
            <a:ext cx="1302906" cy="603504"/>
          </a:xfrm>
          <a:prstGeom prst="rect">
            <a:avLst/>
          </a:prstGeom>
          <a:noFill/>
          <a:ln/>
        </p:spPr>
        <p:txBody>
          <a:bodyPr wrap="square" lIns="0" tIns="0" rIns="0" bIns="0" rtlCol="0" anchor="ctr"/>
          <a:lstStyle/>
          <a:p>
            <a:pPr algn="ctr" indent="0" marL="0">
              <a:buNone/>
            </a:pPr>
            <a:r>
              <a:rPr lang="en-US" sz="2700" i="1" dirty="0">
                <a:solidFill>
                  <a:srgbClr val="1B2333"/>
                </a:solidFill>
                <a:latin typeface="Calibri" pitchFamily="34" charset="0"/>
                <a:ea typeface="Calibri" pitchFamily="34" charset="-122"/>
                <a:cs typeface="Calibri" pitchFamily="34" charset="-120"/>
              </a:rPr>
              <a:t>ik schrijf</a:t>
            </a:r>
            <a:endParaRPr lang="en-US" sz="2700" dirty="0"/>
          </a:p>
        </p:txBody>
      </p:sp>
      <p:sp>
        <p:nvSpPr>
          <p:cNvPr id="8" name="Text 5"/>
          <p:cNvSpPr txBox="1"/>
          <p:nvPr/>
        </p:nvSpPr>
        <p:spPr>
          <a:xfrm>
            <a:off x="5858446" y="1874520"/>
            <a:ext cx="317068" cy="603504"/>
          </a:xfrm>
          <a:prstGeom prst="rect">
            <a:avLst/>
          </a:prstGeom>
          <a:noFill/>
          <a:ln/>
        </p:spPr>
        <p:txBody>
          <a:bodyPr wrap="square" lIns="0" tIns="0" rIns="0" bIns="0" rtlCol="0" anchor="ctr"/>
          <a:lstStyle/>
          <a:p>
            <a:pPr algn="ctr" indent="0" marL="0">
              <a:buNone/>
            </a:pPr>
            <a:r>
              <a:rPr lang="en-US" sz="2700" i="1" dirty="0">
                <a:solidFill>
                  <a:srgbClr val="1B2333"/>
                </a:solidFill>
                <a:latin typeface="Calibri" pitchFamily="34" charset="0"/>
                <a:ea typeface="Calibri" pitchFamily="34" charset="-122"/>
                <a:cs typeface="Calibri" pitchFamily="34" charset="-120"/>
              </a:rPr>
              <a:t>=</a:t>
            </a:r>
            <a:endParaRPr lang="en-US" sz="2700" dirty="0"/>
          </a:p>
        </p:txBody>
      </p:sp>
      <p:sp>
        <p:nvSpPr>
          <p:cNvPr id="9" name="Text 6"/>
          <p:cNvSpPr txBox="1"/>
          <p:nvPr/>
        </p:nvSpPr>
        <p:spPr>
          <a:xfrm>
            <a:off x="6145454" y="1874520"/>
            <a:ext cx="1121169" cy="603504"/>
          </a:xfrm>
          <a:prstGeom prst="rect">
            <a:avLst/>
          </a:prstGeom>
          <a:noFill/>
          <a:ln/>
        </p:spPr>
        <p:txBody>
          <a:bodyPr wrap="square" lIns="0" tIns="0" rIns="0" bIns="0" rtlCol="0" anchor="ctr"/>
          <a:lstStyle/>
          <a:p>
            <a:pPr algn="ctr" indent="0" marL="0">
              <a:buNone/>
            </a:pPr>
            <a:r>
              <a:rPr lang="en-US" sz="2700" b="1" i="1" dirty="0">
                <a:solidFill>
                  <a:srgbClr val="6E4A9E"/>
                </a:solidFill>
                <a:latin typeface="Calibri" pitchFamily="34" charset="0"/>
                <a:ea typeface="Calibri" pitchFamily="34" charset="-122"/>
                <a:cs typeface="Calibri" pitchFamily="34" charset="-120"/>
              </a:rPr>
              <a:t>de pen</a:t>
            </a:r>
            <a:endParaRPr lang="en-US" sz="2700" dirty="0"/>
          </a:p>
        </p:txBody>
      </p:sp>
      <p:sp>
        <p:nvSpPr>
          <p:cNvPr id="10" name="Text 7"/>
          <p:cNvSpPr txBox="1"/>
          <p:nvPr/>
        </p:nvSpPr>
        <p:spPr>
          <a:xfrm>
            <a:off x="7236562" y="1874520"/>
            <a:ext cx="862279" cy="603504"/>
          </a:xfrm>
          <a:prstGeom prst="rect">
            <a:avLst/>
          </a:prstGeom>
          <a:noFill/>
          <a:ln/>
        </p:spPr>
        <p:txBody>
          <a:bodyPr wrap="square" lIns="0" tIns="0" rIns="0" bIns="0" rtlCol="0" anchor="ctr"/>
          <a:lstStyle/>
          <a:p>
            <a:pPr algn="ctr" indent="0" marL="0">
              <a:buNone/>
            </a:pPr>
            <a:r>
              <a:rPr lang="en-US" sz="2700" b="1" i="1" dirty="0">
                <a:solidFill>
                  <a:srgbClr val="6E4A9E"/>
                </a:solidFill>
                <a:latin typeface="Calibri" pitchFamily="34" charset="0"/>
                <a:ea typeface="Calibri" pitchFamily="34" charset="-122"/>
                <a:cs typeface="Calibri" pitchFamily="34" charset="-120"/>
              </a:rPr>
              <a:t>waar</a:t>
            </a:r>
            <a:endParaRPr lang="en-US" sz="2700" dirty="0"/>
          </a:p>
        </p:txBody>
      </p:sp>
      <p:sp>
        <p:nvSpPr>
          <p:cNvPr id="11" name="Text 8"/>
          <p:cNvSpPr txBox="1"/>
          <p:nvPr/>
        </p:nvSpPr>
        <p:spPr>
          <a:xfrm>
            <a:off x="8068780" y="1874520"/>
            <a:ext cx="381191" cy="603504"/>
          </a:xfrm>
          <a:prstGeom prst="rect">
            <a:avLst/>
          </a:prstGeom>
          <a:noFill/>
          <a:ln/>
        </p:spPr>
        <p:txBody>
          <a:bodyPr wrap="square" lIns="0" tIns="0" rIns="0" bIns="0" rtlCol="0" anchor="ctr"/>
          <a:lstStyle/>
          <a:p>
            <a:pPr algn="ctr" indent="0" marL="0">
              <a:buNone/>
            </a:pPr>
            <a:r>
              <a:rPr lang="en-US" sz="2700" i="1" dirty="0">
                <a:solidFill>
                  <a:srgbClr val="1B2333"/>
                </a:solidFill>
                <a:latin typeface="Calibri" pitchFamily="34" charset="0"/>
                <a:ea typeface="Calibri" pitchFamily="34" charset="-122"/>
                <a:cs typeface="Calibri" pitchFamily="34" charset="-120"/>
              </a:rPr>
              <a:t>ik</a:t>
            </a:r>
            <a:endParaRPr lang="en-US" sz="2700" dirty="0"/>
          </a:p>
        </p:txBody>
      </p:sp>
      <p:sp>
        <p:nvSpPr>
          <p:cNvPr id="12" name="Text 9"/>
          <p:cNvSpPr txBox="1"/>
          <p:nvPr/>
        </p:nvSpPr>
        <p:spPr>
          <a:xfrm>
            <a:off x="8419910" y="1874520"/>
            <a:ext cx="770039" cy="603504"/>
          </a:xfrm>
          <a:prstGeom prst="rect">
            <a:avLst/>
          </a:prstGeom>
          <a:noFill/>
          <a:ln/>
        </p:spPr>
        <p:txBody>
          <a:bodyPr wrap="square" lIns="0" tIns="0" rIns="0" bIns="0" rtlCol="0" anchor="ctr"/>
          <a:lstStyle/>
          <a:p>
            <a:pPr algn="ctr" indent="0" marL="0">
              <a:buNone/>
            </a:pPr>
            <a:r>
              <a:rPr lang="en-US" sz="2700" b="1" i="1" dirty="0">
                <a:solidFill>
                  <a:srgbClr val="6E4A9E"/>
                </a:solidFill>
                <a:latin typeface="Calibri" pitchFamily="34" charset="0"/>
                <a:ea typeface="Calibri" pitchFamily="34" charset="-122"/>
                <a:cs typeface="Calibri" pitchFamily="34" charset="-120"/>
              </a:rPr>
              <a:t>mee</a:t>
            </a:r>
            <a:endParaRPr lang="en-US" sz="2700" dirty="0"/>
          </a:p>
        </p:txBody>
      </p:sp>
      <p:sp>
        <p:nvSpPr>
          <p:cNvPr id="13" name="Text 10"/>
          <p:cNvSpPr txBox="1"/>
          <p:nvPr/>
        </p:nvSpPr>
        <p:spPr>
          <a:xfrm>
            <a:off x="9159888" y="1874520"/>
            <a:ext cx="990524" cy="603504"/>
          </a:xfrm>
          <a:prstGeom prst="rect">
            <a:avLst/>
          </a:prstGeom>
          <a:noFill/>
          <a:ln/>
        </p:spPr>
        <p:txBody>
          <a:bodyPr wrap="square" lIns="0" tIns="0" rIns="0" bIns="0" rtlCol="0" anchor="ctr"/>
          <a:lstStyle/>
          <a:p>
            <a:pPr algn="ctr" indent="0" marL="0">
              <a:buNone/>
            </a:pPr>
            <a:r>
              <a:rPr lang="en-US" sz="2700" i="1" dirty="0">
                <a:solidFill>
                  <a:srgbClr val="1B2333"/>
                </a:solidFill>
                <a:latin typeface="Calibri" pitchFamily="34" charset="0"/>
                <a:ea typeface="Calibri" pitchFamily="34" charset="-122"/>
                <a:cs typeface="Calibri" pitchFamily="34" charset="-120"/>
              </a:rPr>
              <a:t>schrijf</a:t>
            </a:r>
            <a:endParaRPr lang="en-US" sz="2700" dirty="0"/>
          </a:p>
        </p:txBody>
      </p:sp>
      <p:sp>
        <p:nvSpPr>
          <p:cNvPr id="14" name="Shape 11"/>
          <p:cNvSpPr/>
          <p:nvPr/>
        </p:nvSpPr>
        <p:spPr>
          <a:xfrm>
            <a:off x="2111693" y="2441448"/>
            <a:ext cx="974865" cy="914"/>
          </a:xfrm>
          <a:prstGeom prst="line">
            <a:avLst/>
          </a:prstGeom>
          <a:noFill/>
          <a:ln w="28575">
            <a:solidFill>
              <a:srgbClr val="6E4A9E"/>
            </a:solidFill>
            <a:prstDash val="solid"/>
          </a:ln>
        </p:spPr>
      </p:sp>
      <p:sp>
        <p:nvSpPr>
          <p:cNvPr id="15" name="Shape 12"/>
          <p:cNvSpPr/>
          <p:nvPr/>
        </p:nvSpPr>
        <p:spPr>
          <a:xfrm>
            <a:off x="6218606" y="2441448"/>
            <a:ext cx="974865" cy="914"/>
          </a:xfrm>
          <a:prstGeom prst="line">
            <a:avLst/>
          </a:prstGeom>
          <a:noFill/>
          <a:ln w="28575">
            <a:solidFill>
              <a:srgbClr val="6E4A9E"/>
            </a:solidFill>
            <a:prstDash val="solid"/>
          </a:ln>
        </p:spPr>
      </p:sp>
      <p:sp>
        <p:nvSpPr>
          <p:cNvPr id="16" name="Shape 13"/>
          <p:cNvSpPr/>
          <p:nvPr/>
        </p:nvSpPr>
        <p:spPr>
          <a:xfrm>
            <a:off x="2599125" y="1645920"/>
            <a:ext cx="1273531" cy="640080"/>
          </a:xfrm>
          <a:prstGeom prst="arc">
            <a:avLst>
              <a:gd name="adj1" fmla="val 10800000"/>
              <a:gd name="adj2" fmla="val 21600000"/>
            </a:avLst>
          </a:prstGeom>
          <a:solidFill>
            <a:srgbClr val="FFFFFF">
              <a:alpha val="0"/>
            </a:srgbClr>
          </a:solidFill>
          <a:ln w="22225">
            <a:solidFill>
              <a:srgbClr val="6E4A9E"/>
            </a:solidFill>
            <a:prstDash val="solid"/>
            <a:headEnd type="triangle"/>
          </a:ln>
        </p:spPr>
      </p:sp>
      <p:sp>
        <p:nvSpPr>
          <p:cNvPr id="17" name="Shape 14"/>
          <p:cNvSpPr/>
          <p:nvPr/>
        </p:nvSpPr>
        <p:spPr>
          <a:xfrm>
            <a:off x="6706038" y="1645920"/>
            <a:ext cx="961663" cy="640080"/>
          </a:xfrm>
          <a:prstGeom prst="arc">
            <a:avLst>
              <a:gd name="adj1" fmla="val 10800000"/>
              <a:gd name="adj2" fmla="val 21600000"/>
            </a:avLst>
          </a:prstGeom>
          <a:solidFill>
            <a:srgbClr val="FFFFFF">
              <a:alpha val="0"/>
            </a:srgbClr>
          </a:solidFill>
          <a:ln w="22225">
            <a:solidFill>
              <a:srgbClr val="6E4A9E"/>
            </a:solidFill>
            <a:prstDash val="solid"/>
            <a:headEnd type="triangle"/>
          </a:ln>
        </p:spPr>
      </p:sp>
      <p:sp>
        <p:nvSpPr>
          <p:cNvPr id="18" name="Shape 15"/>
          <p:cNvSpPr/>
          <p:nvPr/>
        </p:nvSpPr>
        <p:spPr>
          <a:xfrm>
            <a:off x="7667701" y="2203704"/>
            <a:ext cx="1137228" cy="566928"/>
          </a:xfrm>
          <a:prstGeom prst="arc">
            <a:avLst>
              <a:gd name="adj1" fmla="val 0"/>
              <a:gd name="adj2" fmla="val 10800000"/>
            </a:avLst>
          </a:prstGeom>
          <a:solidFill>
            <a:srgbClr val="FFFFFF">
              <a:alpha val="0"/>
            </a:srgbClr>
          </a:solidFill>
          <a:ln w="31750">
            <a:solidFill>
              <a:srgbClr val="6E4A9E"/>
            </a:solidFill>
            <a:prstDash val="solid"/>
          </a:ln>
        </p:spPr>
      </p:sp>
      <p:sp>
        <p:nvSpPr>
          <p:cNvPr id="19" name="Text 16"/>
          <p:cNvSpPr txBox="1"/>
          <p:nvPr/>
        </p:nvSpPr>
        <p:spPr>
          <a:xfrm>
            <a:off x="2111693" y="2852928"/>
            <a:ext cx="3703663" cy="256032"/>
          </a:xfrm>
          <a:prstGeom prst="rect">
            <a:avLst/>
          </a:prstGeom>
          <a:noFill/>
          <a:ln/>
        </p:spPr>
        <p:txBody>
          <a:bodyPr wrap="square" lIns="0" tIns="0" rIns="0" bIns="0" rtlCol="0" anchor="ctr"/>
          <a:lstStyle/>
          <a:p>
            <a:pPr algn="ctr" indent="0" marL="0">
              <a:buNone/>
            </a:pPr>
            <a:r>
              <a:rPr lang="en-US" sz="1000" b="1" spc="150" kern="0" dirty="0">
                <a:solidFill>
                  <a:srgbClr val="6B7686"/>
                </a:solidFill>
                <a:latin typeface="Calibri" pitchFamily="34" charset="0"/>
                <a:ea typeface="Calibri" pitchFamily="34" charset="-122"/>
                <a:cs typeface="Calibri" pitchFamily="34" charset="-120"/>
              </a:rPr>
              <a:t>EN UN MOT</a:t>
            </a:r>
            <a:endParaRPr lang="en-US" sz="1000" dirty="0"/>
          </a:p>
        </p:txBody>
      </p:sp>
      <p:sp>
        <p:nvSpPr>
          <p:cNvPr id="20" name="Text 17"/>
          <p:cNvSpPr txBox="1"/>
          <p:nvPr/>
        </p:nvSpPr>
        <p:spPr>
          <a:xfrm>
            <a:off x="6218606" y="2852928"/>
            <a:ext cx="3858654" cy="256032"/>
          </a:xfrm>
          <a:prstGeom prst="rect">
            <a:avLst/>
          </a:prstGeom>
          <a:noFill/>
          <a:ln/>
        </p:spPr>
        <p:txBody>
          <a:bodyPr wrap="square" lIns="0" tIns="0" rIns="0" bIns="0" rtlCol="0" anchor="ctr"/>
          <a:lstStyle/>
          <a:p>
            <a:pPr algn="ctr" indent="0" marL="0">
              <a:buNone/>
            </a:pPr>
            <a:r>
              <a:rPr lang="en-US" sz="1000" b="1" spc="150" kern="0" dirty="0">
                <a:solidFill>
                  <a:srgbClr val="6E4A9E"/>
                </a:solidFill>
                <a:latin typeface="Calibri" pitchFamily="34" charset="0"/>
                <a:ea typeface="Calibri" pitchFamily="34" charset="-122"/>
                <a:cs typeface="Calibri" pitchFamily="34" charset="-120"/>
              </a:rPr>
              <a:t>LA PINCE</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293876" y="3291840"/>
          <a:ext cx="9601200" cy="914400"/>
        </p:xfrm>
        <a:graphic>
          <a:graphicData uri="http://schemas.openxmlformats.org/drawingml/2006/table">
            <a:tbl>
              <a:tblPr/>
              <a:tblGrid>
                <a:gridCol w="4800600"/>
                <a:gridCol w="4800600"/>
              </a:tblGrid>
              <a:tr h="42062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EN UN MOT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LA PINCE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project </a:t>
                      </a:r>
                      <a:r>
                        <a:rPr lang="en-US" sz="1700" b="1" i="1" dirty="0">
                          <a:solidFill>
                            <a:srgbClr val="6E4A9E"/>
                          </a:solidFill>
                          <a:latin typeface="Calibri" pitchFamily="34" charset="0"/>
                          <a:ea typeface="Calibri" pitchFamily="34" charset="-122"/>
                          <a:cs typeface="Calibri" pitchFamily="34" charset="-120"/>
                        </a:rPr>
                        <a:t>waaraan</a:t>
                      </a:r>
                      <a:r>
                        <a:rPr lang="en-US" sz="1700" i="1" dirty="0">
                          <a:solidFill>
                            <a:srgbClr val="1B2333"/>
                          </a:solidFill>
                          <a:latin typeface="Calibri" pitchFamily="34" charset="0"/>
                          <a:ea typeface="Calibri" pitchFamily="34" charset="-122"/>
                          <a:cs typeface="Calibri" pitchFamily="34" charset="-120"/>
                        </a:rPr>
                        <a:t> ik werk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project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ik </a:t>
                      </a:r>
                      <a:r>
                        <a:rPr lang="en-US" sz="1700" b="1" i="1" dirty="0">
                          <a:solidFill>
                            <a:srgbClr val="6E4A9E"/>
                          </a:solidFill>
                          <a:latin typeface="Calibri" pitchFamily="34" charset="0"/>
                          <a:ea typeface="Calibri" pitchFamily="34" charset="-122"/>
                          <a:cs typeface="Calibri" pitchFamily="34" charset="-120"/>
                        </a:rPr>
                        <a:t>aan</a:t>
                      </a:r>
                      <a:r>
                        <a:rPr lang="en-US" sz="1700" i="1" dirty="0">
                          <a:solidFill>
                            <a:srgbClr val="1B2333"/>
                          </a:solidFill>
                          <a:latin typeface="Calibri" pitchFamily="34" charset="0"/>
                          <a:ea typeface="Calibri" pitchFamily="34" charset="-122"/>
                          <a:cs typeface="Calibri" pitchFamily="34" charset="-120"/>
                        </a:rPr>
                        <a:t> werk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bus </a:t>
                      </a:r>
                      <a:r>
                        <a:rPr lang="en-US" sz="1700" b="1" i="1" dirty="0">
                          <a:solidFill>
                            <a:srgbClr val="6E4A9E"/>
                          </a:solidFill>
                          <a:latin typeface="Calibri" pitchFamily="34" charset="0"/>
                          <a:ea typeface="Calibri" pitchFamily="34" charset="-122"/>
                          <a:cs typeface="Calibri" pitchFamily="34" charset="-120"/>
                        </a:rPr>
                        <a:t>waarop</a:t>
                      </a:r>
                      <a:r>
                        <a:rPr lang="en-US" sz="1700" i="1" dirty="0">
                          <a:solidFill>
                            <a:srgbClr val="1B2333"/>
                          </a:solidFill>
                          <a:latin typeface="Calibri" pitchFamily="34" charset="0"/>
                          <a:ea typeface="Calibri" pitchFamily="34" charset="-122"/>
                          <a:cs typeface="Calibri" pitchFamily="34" charset="-120"/>
                        </a:rPr>
                        <a:t> ik al een uur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bus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ik al een uur </a:t>
                      </a:r>
                      <a:r>
                        <a:rPr lang="en-US" sz="1700" b="1" i="1" dirty="0">
                          <a:solidFill>
                            <a:srgbClr val="6E4A9E"/>
                          </a:solidFill>
                          <a:latin typeface="Calibri" pitchFamily="34" charset="0"/>
                          <a:ea typeface="Calibri" pitchFamily="34" charset="-122"/>
                          <a:cs typeface="Calibri" pitchFamily="34" charset="-120"/>
                        </a:rPr>
                        <a:t>op</a:t>
                      </a:r>
                      <a:r>
                        <a:rPr lang="en-US" sz="1700" i="1" dirty="0">
                          <a:solidFill>
                            <a:srgbClr val="1B2333"/>
                          </a:solidFill>
                          <a:latin typeface="Calibri" pitchFamily="34" charset="0"/>
                          <a:ea typeface="Calibri" pitchFamily="34" charset="-122"/>
                          <a:cs typeface="Calibri" pitchFamily="34" charset="-120"/>
                        </a:rPr>
                        <a:t>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dossier </a:t>
                      </a:r>
                      <a:r>
                        <a:rPr lang="en-US" sz="1700" b="1" i="1" dirty="0">
                          <a:solidFill>
                            <a:srgbClr val="6E4A9E"/>
                          </a:solidFill>
                          <a:latin typeface="Calibri" pitchFamily="34" charset="0"/>
                          <a:ea typeface="Calibri" pitchFamily="34" charset="-122"/>
                          <a:cs typeface="Calibri" pitchFamily="34" charset="-120"/>
                        </a:rPr>
                        <a:t>waarnaar</a:t>
                      </a:r>
                      <a:r>
                        <a:rPr lang="en-US" sz="1700" i="1" dirty="0">
                          <a:solidFill>
                            <a:srgbClr val="1B2333"/>
                          </a:solidFill>
                          <a:latin typeface="Calibri" pitchFamily="34" charset="0"/>
                          <a:ea typeface="Calibri" pitchFamily="34" charset="-122"/>
                          <a:cs typeface="Calibri" pitchFamily="34" charset="-120"/>
                        </a:rPr>
                        <a:t> je zoekt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dossier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je </a:t>
                      </a:r>
                      <a:r>
                        <a:rPr lang="en-US" sz="1700" b="1" i="1" dirty="0">
                          <a:solidFill>
                            <a:srgbClr val="6E4A9E"/>
                          </a:solidFill>
                          <a:latin typeface="Calibri" pitchFamily="34" charset="0"/>
                          <a:ea typeface="Calibri" pitchFamily="34" charset="-122"/>
                          <a:cs typeface="Calibri" pitchFamily="34" charset="-120"/>
                        </a:rPr>
                        <a:t>naar</a:t>
                      </a:r>
                      <a:r>
                        <a:rPr lang="en-US" sz="1700" i="1" dirty="0">
                          <a:solidFill>
                            <a:srgbClr val="1B2333"/>
                          </a:solidFill>
                          <a:latin typeface="Calibri" pitchFamily="34" charset="0"/>
                          <a:ea typeface="Calibri" pitchFamily="34" charset="-122"/>
                          <a:cs typeface="Calibri" pitchFamily="34" charset="-120"/>
                        </a:rPr>
                        <a:t> zoekt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2" name="Shape 18"/>
          <p:cNvSpPr/>
          <p:nvPr/>
        </p:nvSpPr>
        <p:spPr>
          <a:xfrm>
            <a:off x="822960" y="5120640"/>
            <a:ext cx="5138928" cy="868680"/>
          </a:xfrm>
          <a:prstGeom prst="roundRect">
            <a:avLst>
              <a:gd name="adj" fmla="val 10526"/>
            </a:avLst>
          </a:prstGeom>
          <a:solidFill>
            <a:srgbClr val="E8F4EC"/>
          </a:solidFill>
          <a:ln w="12700">
            <a:solidFill>
              <a:srgbClr val="FFFFFF">
                <a:alpha val="0"/>
              </a:srgbClr>
            </a:solidFill>
            <a:prstDash val="solid"/>
          </a:ln>
        </p:spPr>
      </p:sp>
      <p:sp>
        <p:nvSpPr>
          <p:cNvPr id="23" name="Shape 19"/>
          <p:cNvSpPr/>
          <p:nvPr/>
        </p:nvSpPr>
        <p:spPr>
          <a:xfrm>
            <a:off x="996696" y="5294376"/>
            <a:ext cx="310896" cy="310896"/>
          </a:xfrm>
          <a:prstGeom prst="ellipse">
            <a:avLst/>
          </a:prstGeom>
          <a:solidFill>
            <a:srgbClr val="2E7D4F"/>
          </a:solidFill>
          <a:ln w="12700">
            <a:solidFill>
              <a:srgbClr val="FFFFFF">
                <a:alpha val="0"/>
              </a:srgbClr>
            </a:solidFill>
            <a:prstDash val="solid"/>
          </a:ln>
        </p:spPr>
      </p:sp>
      <p:sp>
        <p:nvSpPr>
          <p:cNvPr id="24" name="Text 20"/>
          <p:cNvSpPr txBox="1"/>
          <p:nvPr/>
        </p:nvSpPr>
        <p:spPr>
          <a:xfrm>
            <a:off x="996696"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1"/>
          <p:cNvSpPr txBox="1"/>
          <p:nvPr/>
        </p:nvSpPr>
        <p:spPr>
          <a:xfrm>
            <a:off x="1444752" y="523036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Les deux sont justes</a:t>
            </a:r>
            <a:endParaRPr lang="en-US" sz="1300" dirty="0"/>
          </a:p>
        </p:txBody>
      </p:sp>
      <p:sp>
        <p:nvSpPr>
          <p:cNvPr id="26" name="Text 22"/>
          <p:cNvSpPr txBox="1"/>
          <p:nvPr/>
        </p:nvSpPr>
        <p:spPr>
          <a:xfrm>
            <a:off x="1444752" y="5522976"/>
            <a:ext cx="4361688" cy="39319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à l’oral, la pince est la plus fréquente</a:t>
            </a:r>
            <a:endParaRPr lang="en-US" sz="1400" dirty="0"/>
          </a:p>
        </p:txBody>
      </p:sp>
      <p:sp>
        <p:nvSpPr>
          <p:cNvPr id="27" name="Shape 23"/>
          <p:cNvSpPr/>
          <p:nvPr/>
        </p:nvSpPr>
        <p:spPr>
          <a:xfrm>
            <a:off x="6236208" y="5120640"/>
            <a:ext cx="5138928" cy="868680"/>
          </a:xfrm>
          <a:prstGeom prst="roundRect">
            <a:avLst>
              <a:gd name="adj" fmla="val 10526"/>
            </a:avLst>
          </a:prstGeom>
          <a:solidFill>
            <a:srgbClr val="FBEDEB"/>
          </a:solidFill>
          <a:ln w="12700">
            <a:solidFill>
              <a:srgbClr val="FFFFFF">
                <a:alpha val="0"/>
              </a:srgbClr>
            </a:solidFill>
            <a:prstDash val="solid"/>
          </a:ln>
        </p:spPr>
      </p:sp>
      <p:sp>
        <p:nvSpPr>
          <p:cNvPr id="28" name="Shape 24"/>
          <p:cNvSpPr/>
          <p:nvPr/>
        </p:nvSpPr>
        <p:spPr>
          <a:xfrm>
            <a:off x="6409944" y="5294376"/>
            <a:ext cx="310896" cy="310896"/>
          </a:xfrm>
          <a:prstGeom prst="ellipse">
            <a:avLst/>
          </a:prstGeom>
          <a:solidFill>
            <a:srgbClr val="B83227"/>
          </a:solidFill>
          <a:ln w="12700">
            <a:solidFill>
              <a:srgbClr val="FFFFFF">
                <a:alpha val="0"/>
              </a:srgbClr>
            </a:solidFill>
            <a:prstDash val="solid"/>
          </a:ln>
        </p:spPr>
      </p:sp>
      <p:sp>
        <p:nvSpPr>
          <p:cNvPr id="29" name="Text 25"/>
          <p:cNvSpPr txBox="1"/>
          <p:nvPr/>
        </p:nvSpPr>
        <p:spPr>
          <a:xfrm>
            <a:off x="6409944"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6"/>
          <p:cNvSpPr txBox="1"/>
          <p:nvPr/>
        </p:nvSpPr>
        <p:spPr>
          <a:xfrm>
            <a:off x="6858000" y="523036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Sa place</a:t>
            </a:r>
            <a:endParaRPr lang="en-US" sz="1300" dirty="0"/>
          </a:p>
        </p:txBody>
      </p:sp>
      <p:sp>
        <p:nvSpPr>
          <p:cNvPr id="31" name="Text 27"/>
          <p:cNvSpPr txBox="1"/>
          <p:nvPr/>
        </p:nvSpPr>
        <p:spPr>
          <a:xfrm>
            <a:off x="6858000" y="5522976"/>
            <a:ext cx="4361688" cy="39319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la préposition va juste avant les verbes de la fin : </a:t>
            </a:r>
            <a:r>
              <a:rPr lang="en-US" sz="1400" i="1" dirty="0">
                <a:solidFill>
                  <a:srgbClr val="1B2333"/>
                </a:solidFill>
                <a:latin typeface="Calibri" pitchFamily="34" charset="0"/>
                <a:ea typeface="Calibri" pitchFamily="34" charset="-122"/>
                <a:cs typeface="Calibri" pitchFamily="34" charset="-120"/>
              </a:rPr>
              <a:t>waar ik al een uur </a:t>
            </a:r>
            <a:r>
              <a:rPr lang="en-US" sz="1400" b="1" i="1" dirty="0">
                <a:solidFill>
                  <a:srgbClr val="6E4A9E"/>
                </a:solidFill>
                <a:latin typeface="Calibri" pitchFamily="34" charset="0"/>
                <a:ea typeface="Calibri" pitchFamily="34" charset="-122"/>
                <a:cs typeface="Calibri" pitchFamily="34" charset="-120"/>
              </a:rPr>
              <a:t>op</a:t>
            </a:r>
            <a:r>
              <a:rPr lang="en-US" sz="1400" i="1" dirty="0">
                <a:solidFill>
                  <a:srgbClr val="1B2333"/>
                </a:solidFill>
                <a:latin typeface="Calibri" pitchFamily="34" charset="0"/>
                <a:ea typeface="Calibri" pitchFamily="34" charset="-122"/>
                <a:cs typeface="Calibri" pitchFamily="34" charset="-120"/>
              </a:rPr>
              <a:t> wacht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verbes à préposition fixe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B4236A"/>
                </a:solidFill>
                <a:latin typeface="Calibri" pitchFamily="34" charset="0"/>
                <a:ea typeface="Calibri" pitchFamily="34" charset="-122"/>
                <a:cs typeface="Calibri" pitchFamily="34" charset="-120"/>
              </a:rPr>
              <a:t>WIE</a:t>
            </a:r>
            <a:r>
              <a:rPr lang="en-US" sz="1100" b="1" spc="300" kern="0" dirty="0">
                <a:solidFill>
                  <a:srgbClr val="17375E"/>
                </a:solidFill>
                <a:latin typeface="Calibri" pitchFamily="34" charset="0"/>
                <a:ea typeface="Calibri" pitchFamily="34" charset="-122"/>
                <a:cs typeface="Calibri" pitchFamily="34" charset="-120"/>
              </a:rPr>
              <a:t> · </a:t>
            </a:r>
            <a:r>
              <a:rPr lang="en-US" sz="1100" b="1" spc="300" kern="0" dirty="0">
                <a:solidFill>
                  <a:srgbClr val="6E4A9E"/>
                </a:solidFill>
                <a:latin typeface="Calibri" pitchFamily="34" charset="0"/>
                <a:ea typeface="Calibri" pitchFamily="34" charset="-122"/>
                <a:cs typeface="Calibri" pitchFamily="34" charset="-120"/>
              </a:rPr>
              <a:t>WAAR</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43032" cy="914400"/>
        </p:xfrm>
        <a:graphic>
          <a:graphicData uri="http://schemas.openxmlformats.org/drawingml/2006/table">
            <a:tbl>
              <a:tblPr/>
              <a:tblGrid>
                <a:gridCol w="2651760"/>
                <a:gridCol w="4023360"/>
                <a:gridCol w="3867912"/>
              </a:tblGrid>
              <a:tr h="42976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VERBE + PRÉPOSITION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B4236A"/>
                          </a:solidFill>
                          <a:latin typeface="Calibri" pitchFamily="34" charset="0"/>
                          <a:ea typeface="Calibri" pitchFamily="34" charset="-122"/>
                          <a:cs typeface="Calibri" pitchFamily="34" charset="-120"/>
                        </a:rPr>
                        <a:t>UNE PERSONNE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6E4A9E"/>
                          </a:solidFill>
                          <a:latin typeface="Calibri" pitchFamily="34" charset="0"/>
                          <a:ea typeface="Calibri" pitchFamily="34" charset="-122"/>
                          <a:cs typeface="Calibri" pitchFamily="34" charset="-120"/>
                        </a:rPr>
                        <a:t>UNE CHOSE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9768">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wachten </a:t>
                      </a:r>
                      <a:r>
                        <a:rPr lang="en-US" sz="1650" b="1" i="1" dirty="0">
                          <a:solidFill>
                            <a:srgbClr val="1B2333"/>
                          </a:solidFill>
                          <a:latin typeface="Calibri" pitchFamily="34" charset="0"/>
                          <a:ea typeface="Calibri" pitchFamily="34" charset="-122"/>
                          <a:cs typeface="Calibri" pitchFamily="34" charset="-120"/>
                        </a:rPr>
                        <a:t>op</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klant </a:t>
                      </a:r>
                      <a:r>
                        <a:rPr lang="en-US" sz="1650" b="1" i="1" dirty="0">
                          <a:solidFill>
                            <a:srgbClr val="B4236A"/>
                          </a:solidFill>
                          <a:latin typeface="Calibri" pitchFamily="34" charset="0"/>
                          <a:ea typeface="Calibri" pitchFamily="34" charset="-122"/>
                          <a:cs typeface="Calibri" pitchFamily="34" charset="-120"/>
                        </a:rPr>
                        <a:t>op wie</a:t>
                      </a:r>
                      <a:r>
                        <a:rPr lang="en-US" sz="1650" i="1" dirty="0">
                          <a:solidFill>
                            <a:srgbClr val="1B2333"/>
                          </a:solidFill>
                          <a:latin typeface="Calibri" pitchFamily="34" charset="0"/>
                          <a:ea typeface="Calibri" pitchFamily="34" charset="-122"/>
                          <a:cs typeface="Calibri" pitchFamily="34" charset="-120"/>
                        </a:rPr>
                        <a:t> ik wacht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bus </a:t>
                      </a:r>
                      <a:r>
                        <a:rPr lang="en-US" sz="1650" b="1" i="1" dirty="0">
                          <a:solidFill>
                            <a:srgbClr val="6E4A9E"/>
                          </a:solidFill>
                          <a:latin typeface="Calibri" pitchFamily="34" charset="0"/>
                          <a:ea typeface="Calibri" pitchFamily="34" charset="-122"/>
                          <a:cs typeface="Calibri" pitchFamily="34" charset="-120"/>
                        </a:rPr>
                        <a:t>waarop</a:t>
                      </a:r>
                      <a:r>
                        <a:rPr lang="en-US" sz="1650" i="1" dirty="0">
                          <a:solidFill>
                            <a:srgbClr val="1B2333"/>
                          </a:solidFill>
                          <a:latin typeface="Calibri" pitchFamily="34" charset="0"/>
                          <a:ea typeface="Calibri" pitchFamily="34" charset="-122"/>
                          <a:cs typeface="Calibri" pitchFamily="34" charset="-120"/>
                        </a:rPr>
                        <a:t> ik wacht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denken </a:t>
                      </a:r>
                      <a:r>
                        <a:rPr lang="en-US" sz="1650" b="1" i="1" dirty="0">
                          <a:solidFill>
                            <a:srgbClr val="1B2333"/>
                          </a:solidFill>
                          <a:latin typeface="Calibri" pitchFamily="34" charset="0"/>
                          <a:ea typeface="Calibri" pitchFamily="34" charset="-122"/>
                          <a:cs typeface="Calibri" pitchFamily="34" charset="-120"/>
                        </a:rPr>
                        <a:t>aan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B4236A"/>
                          </a:solidFill>
                          <a:latin typeface="Calibri" pitchFamily="34" charset="0"/>
                          <a:ea typeface="Calibri" pitchFamily="34" charset="-122"/>
                          <a:cs typeface="Calibri" pitchFamily="34" charset="-120"/>
                        </a:rPr>
                        <a:t>aan wie</a:t>
                      </a:r>
                      <a:r>
                        <a:rPr lang="en-US" sz="1650" i="1" dirty="0">
                          <a:solidFill>
                            <a:srgbClr val="1B2333"/>
                          </a:solidFill>
                          <a:latin typeface="Calibri" pitchFamily="34" charset="0"/>
                          <a:ea typeface="Calibri" pitchFamily="34" charset="-122"/>
                          <a:cs typeface="Calibri" pitchFamily="34" charset="-120"/>
                        </a:rPr>
                        <a:t> ik denk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deadline </a:t>
                      </a:r>
                      <a:r>
                        <a:rPr lang="en-US" sz="1650" b="1" i="1" dirty="0">
                          <a:solidFill>
                            <a:srgbClr val="6E4A9E"/>
                          </a:solidFill>
                          <a:latin typeface="Calibri" pitchFamily="34" charset="0"/>
                          <a:ea typeface="Calibri" pitchFamily="34" charset="-122"/>
                          <a:cs typeface="Calibri" pitchFamily="34" charset="-120"/>
                        </a:rPr>
                        <a:t>waaraan</a:t>
                      </a:r>
                      <a:r>
                        <a:rPr lang="en-US" sz="1650" i="1" dirty="0">
                          <a:solidFill>
                            <a:srgbClr val="1B2333"/>
                          </a:solidFill>
                          <a:latin typeface="Calibri" pitchFamily="34" charset="0"/>
                          <a:ea typeface="Calibri" pitchFamily="34" charset="-122"/>
                          <a:cs typeface="Calibri" pitchFamily="34" charset="-120"/>
                        </a:rPr>
                        <a:t> ik denk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praten </a:t>
                      </a:r>
                      <a:r>
                        <a:rPr lang="en-US" sz="1650" b="1" i="1" dirty="0">
                          <a:solidFill>
                            <a:srgbClr val="1B2333"/>
                          </a:solidFill>
                          <a:latin typeface="Calibri" pitchFamily="34" charset="0"/>
                          <a:ea typeface="Calibri" pitchFamily="34" charset="-122"/>
                          <a:cs typeface="Calibri" pitchFamily="34" charset="-120"/>
                        </a:rPr>
                        <a:t>over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manager </a:t>
                      </a:r>
                      <a:r>
                        <a:rPr lang="en-US" sz="1650" b="1" i="1" dirty="0">
                          <a:solidFill>
                            <a:srgbClr val="B4236A"/>
                          </a:solidFill>
                          <a:latin typeface="Calibri" pitchFamily="34" charset="0"/>
                          <a:ea typeface="Calibri" pitchFamily="34" charset="-122"/>
                          <a:cs typeface="Calibri" pitchFamily="34" charset="-120"/>
                        </a:rPr>
                        <a:t>over wie</a:t>
                      </a:r>
                      <a:r>
                        <a:rPr lang="en-US" sz="1650" i="1" dirty="0">
                          <a:solidFill>
                            <a:srgbClr val="1B2333"/>
                          </a:solidFill>
                          <a:latin typeface="Calibri" pitchFamily="34" charset="0"/>
                          <a:ea typeface="Calibri" pitchFamily="34" charset="-122"/>
                          <a:cs typeface="Calibri" pitchFamily="34" charset="-120"/>
                        </a:rPr>
                        <a:t> we praten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plan </a:t>
                      </a:r>
                      <a:r>
                        <a:rPr lang="en-US" sz="1650" b="1" i="1" dirty="0">
                          <a:solidFill>
                            <a:srgbClr val="6E4A9E"/>
                          </a:solidFill>
                          <a:latin typeface="Calibri" pitchFamily="34" charset="0"/>
                          <a:ea typeface="Calibri" pitchFamily="34" charset="-122"/>
                          <a:cs typeface="Calibri" pitchFamily="34" charset="-120"/>
                        </a:rPr>
                        <a:t>waarover</a:t>
                      </a:r>
                      <a:r>
                        <a:rPr lang="en-US" sz="1650" i="1" dirty="0">
                          <a:solidFill>
                            <a:srgbClr val="1B2333"/>
                          </a:solidFill>
                          <a:latin typeface="Calibri" pitchFamily="34" charset="0"/>
                          <a:ea typeface="Calibri" pitchFamily="34" charset="-122"/>
                          <a:cs typeface="Calibri" pitchFamily="34" charset="-120"/>
                        </a:rPr>
                        <a:t> we praten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rekenen </a:t>
                      </a:r>
                      <a:r>
                        <a:rPr lang="en-US" sz="1650" b="1" i="1" dirty="0">
                          <a:solidFill>
                            <a:srgbClr val="1B2333"/>
                          </a:solidFill>
                          <a:latin typeface="Calibri" pitchFamily="34" charset="0"/>
                          <a:ea typeface="Calibri" pitchFamily="34" charset="-122"/>
                          <a:cs typeface="Calibri" pitchFamily="34" charset="-120"/>
                        </a:rPr>
                        <a:t>op</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collega’s </a:t>
                      </a:r>
                      <a:r>
                        <a:rPr lang="en-US" sz="1650" b="1" i="1" dirty="0">
                          <a:solidFill>
                            <a:srgbClr val="B4236A"/>
                          </a:solidFill>
                          <a:latin typeface="Calibri" pitchFamily="34" charset="0"/>
                          <a:ea typeface="Calibri" pitchFamily="34" charset="-122"/>
                          <a:cs typeface="Calibri" pitchFamily="34" charset="-120"/>
                        </a:rPr>
                        <a:t>op wie</a:t>
                      </a:r>
                      <a:r>
                        <a:rPr lang="en-US" sz="1650" i="1" dirty="0">
                          <a:solidFill>
                            <a:srgbClr val="1B2333"/>
                          </a:solidFill>
                          <a:latin typeface="Calibri" pitchFamily="34" charset="0"/>
                          <a:ea typeface="Calibri" pitchFamily="34" charset="-122"/>
                          <a:cs typeface="Calibri" pitchFamily="34" charset="-120"/>
                        </a:rPr>
                        <a:t> ik reken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hulp </a:t>
                      </a:r>
                      <a:r>
                        <a:rPr lang="en-US" sz="1650" b="1" i="1" dirty="0">
                          <a:solidFill>
                            <a:srgbClr val="6E4A9E"/>
                          </a:solidFill>
                          <a:latin typeface="Calibri" pitchFamily="34" charset="0"/>
                          <a:ea typeface="Calibri" pitchFamily="34" charset="-122"/>
                          <a:cs typeface="Calibri" pitchFamily="34" charset="-120"/>
                        </a:rPr>
                        <a:t>waarop</a:t>
                      </a:r>
                      <a:r>
                        <a:rPr lang="en-US" sz="1650" i="1" dirty="0">
                          <a:solidFill>
                            <a:srgbClr val="1B2333"/>
                          </a:solidFill>
                          <a:latin typeface="Calibri" pitchFamily="34" charset="0"/>
                          <a:ea typeface="Calibri" pitchFamily="34" charset="-122"/>
                          <a:cs typeface="Calibri" pitchFamily="34" charset="-120"/>
                        </a:rPr>
                        <a:t> ik reken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zorgen </a:t>
                      </a:r>
                      <a:r>
                        <a:rPr lang="en-US" sz="1650" b="1" i="1" dirty="0">
                          <a:solidFill>
                            <a:srgbClr val="1B2333"/>
                          </a:solidFill>
                          <a:latin typeface="Calibri" pitchFamily="34" charset="0"/>
                          <a:ea typeface="Calibri" pitchFamily="34" charset="-122"/>
                          <a:cs typeface="Calibri" pitchFamily="34" charset="-120"/>
                        </a:rPr>
                        <a:t>voor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kinderen </a:t>
                      </a:r>
                      <a:r>
                        <a:rPr lang="en-US" sz="1650" b="1" i="1" dirty="0">
                          <a:solidFill>
                            <a:srgbClr val="B4236A"/>
                          </a:solidFill>
                          <a:latin typeface="Calibri" pitchFamily="34" charset="0"/>
                          <a:ea typeface="Calibri" pitchFamily="34" charset="-122"/>
                          <a:cs typeface="Calibri" pitchFamily="34" charset="-120"/>
                        </a:rPr>
                        <a:t>voor wie</a:t>
                      </a:r>
                      <a:r>
                        <a:rPr lang="en-US" sz="1650" i="1" dirty="0">
                          <a:solidFill>
                            <a:srgbClr val="1B2333"/>
                          </a:solidFill>
                          <a:latin typeface="Calibri" pitchFamily="34" charset="0"/>
                          <a:ea typeface="Calibri" pitchFamily="34" charset="-122"/>
                          <a:cs typeface="Calibri" pitchFamily="34" charset="-120"/>
                        </a:rPr>
                        <a:t> ik zorg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planten </a:t>
                      </a:r>
                      <a:r>
                        <a:rPr lang="en-US" sz="1650" b="1" i="1" dirty="0">
                          <a:solidFill>
                            <a:srgbClr val="6E4A9E"/>
                          </a:solidFill>
                          <a:latin typeface="Calibri" pitchFamily="34" charset="0"/>
                          <a:ea typeface="Calibri" pitchFamily="34" charset="-122"/>
                          <a:cs typeface="Calibri" pitchFamily="34" charset="-120"/>
                        </a:rPr>
                        <a:t>waarvoor</a:t>
                      </a:r>
                      <a:r>
                        <a:rPr lang="en-US" sz="1650" i="1" dirty="0">
                          <a:solidFill>
                            <a:srgbClr val="1B2333"/>
                          </a:solidFill>
                          <a:latin typeface="Calibri" pitchFamily="34" charset="0"/>
                          <a:ea typeface="Calibri" pitchFamily="34" charset="-122"/>
                          <a:cs typeface="Calibri" pitchFamily="34" charset="-120"/>
                        </a:rPr>
                        <a:t> ik zorg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zoeken </a:t>
                      </a:r>
                      <a:r>
                        <a:rPr lang="en-US" sz="1650" b="1" i="1" dirty="0">
                          <a:solidFill>
                            <a:srgbClr val="1B2333"/>
                          </a:solidFill>
                          <a:latin typeface="Calibri" pitchFamily="34" charset="0"/>
                          <a:ea typeface="Calibri" pitchFamily="34" charset="-122"/>
                          <a:cs typeface="Calibri" pitchFamily="34" charset="-120"/>
                        </a:rPr>
                        <a:t>naar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kandidaat </a:t>
                      </a:r>
                      <a:r>
                        <a:rPr lang="en-US" sz="1650" b="1" i="1" dirty="0">
                          <a:solidFill>
                            <a:srgbClr val="B4236A"/>
                          </a:solidFill>
                          <a:latin typeface="Calibri" pitchFamily="34" charset="0"/>
                          <a:ea typeface="Calibri" pitchFamily="34" charset="-122"/>
                          <a:cs typeface="Calibri" pitchFamily="34" charset="-120"/>
                        </a:rPr>
                        <a:t>naar wie</a:t>
                      </a:r>
                      <a:r>
                        <a:rPr lang="en-US" sz="1650" i="1" dirty="0">
                          <a:solidFill>
                            <a:srgbClr val="1B2333"/>
                          </a:solidFill>
                          <a:latin typeface="Calibri" pitchFamily="34" charset="0"/>
                          <a:ea typeface="Calibri" pitchFamily="34" charset="-122"/>
                          <a:cs typeface="Calibri" pitchFamily="34" charset="-120"/>
                        </a:rPr>
                        <a:t> we zoeken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dossier </a:t>
                      </a:r>
                      <a:r>
                        <a:rPr lang="en-US" sz="1650" b="1" i="1" dirty="0">
                          <a:solidFill>
                            <a:srgbClr val="6E4A9E"/>
                          </a:solidFill>
                          <a:latin typeface="Calibri" pitchFamily="34" charset="0"/>
                          <a:ea typeface="Calibri" pitchFamily="34" charset="-122"/>
                          <a:cs typeface="Calibri" pitchFamily="34" charset="-120"/>
                        </a:rPr>
                        <a:t>waarnaar</a:t>
                      </a:r>
                      <a:r>
                        <a:rPr lang="en-US" sz="1650" i="1" dirty="0">
                          <a:solidFill>
                            <a:srgbClr val="1B2333"/>
                          </a:solidFill>
                          <a:latin typeface="Calibri" pitchFamily="34" charset="0"/>
                          <a:ea typeface="Calibri" pitchFamily="34" charset="-122"/>
                          <a:cs typeface="Calibri" pitchFamily="34" charset="-120"/>
                        </a:rPr>
                        <a:t> ik zoek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2"/>
          <p:cNvSpPr/>
          <p:nvPr/>
        </p:nvSpPr>
        <p:spPr>
          <a:xfrm>
            <a:off x="822960" y="4754880"/>
            <a:ext cx="5138928" cy="914400"/>
          </a:xfrm>
          <a:prstGeom prst="roundRect">
            <a:avLst>
              <a:gd name="adj" fmla="val 10000"/>
            </a:avLst>
          </a:prstGeom>
          <a:solidFill>
            <a:srgbClr val="E8F4EC"/>
          </a:solidFill>
          <a:ln w="12700">
            <a:solidFill>
              <a:srgbClr val="FFFFFF">
                <a:alpha val="0"/>
              </a:srgbClr>
            </a:solidFill>
            <a:prstDash val="solid"/>
          </a:ln>
        </p:spPr>
      </p:sp>
      <p:sp>
        <p:nvSpPr>
          <p:cNvPr id="7" name="Shape 3"/>
          <p:cNvSpPr/>
          <p:nvPr/>
        </p:nvSpPr>
        <p:spPr>
          <a:xfrm>
            <a:off x="996696" y="4928616"/>
            <a:ext cx="310896" cy="310896"/>
          </a:xfrm>
          <a:prstGeom prst="ellipse">
            <a:avLst/>
          </a:prstGeom>
          <a:solidFill>
            <a:srgbClr val="2E7D4F"/>
          </a:solidFill>
          <a:ln w="12700">
            <a:solidFill>
              <a:srgbClr val="FFFFFF">
                <a:alpha val="0"/>
              </a:srgbClr>
            </a:solidFill>
            <a:prstDash val="solid"/>
          </a:ln>
        </p:spPr>
      </p:sp>
      <p:sp>
        <p:nvSpPr>
          <p:cNvPr id="8" name="Text 4"/>
          <p:cNvSpPr txBox="1"/>
          <p:nvPr/>
        </p:nvSpPr>
        <p:spPr>
          <a:xfrm>
            <a:off x="996696" y="4928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5"/>
          <p:cNvSpPr txBox="1"/>
          <p:nvPr/>
        </p:nvSpPr>
        <p:spPr>
          <a:xfrm>
            <a:off x="1444752" y="486460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règle</a:t>
            </a:r>
            <a:endParaRPr lang="en-US" sz="1300" dirty="0"/>
          </a:p>
        </p:txBody>
      </p:sp>
      <p:sp>
        <p:nvSpPr>
          <p:cNvPr id="10" name="Text 6"/>
          <p:cNvSpPr txBox="1"/>
          <p:nvPr/>
        </p:nvSpPr>
        <p:spPr>
          <a:xfrm>
            <a:off x="1444752" y="515721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apprenez le verbe </a:t>
            </a:r>
            <a:r>
              <a:rPr lang="en-US" sz="1400" b="1" dirty="0">
                <a:solidFill>
                  <a:srgbClr val="1B2333"/>
                </a:solidFill>
                <a:latin typeface="Calibri" pitchFamily="34" charset="0"/>
                <a:ea typeface="Calibri" pitchFamily="34" charset="-122"/>
                <a:cs typeface="Calibri" pitchFamily="34" charset="-120"/>
              </a:rPr>
              <a:t>avec</a:t>
            </a:r>
            <a:r>
              <a:rPr lang="en-US" sz="1400" dirty="0">
                <a:solidFill>
                  <a:srgbClr val="1B2333"/>
                </a:solidFill>
                <a:latin typeface="Calibri" pitchFamily="34" charset="0"/>
                <a:ea typeface="Calibri" pitchFamily="34" charset="-122"/>
                <a:cs typeface="Calibri" pitchFamily="34" charset="-120"/>
              </a:rPr>
              <a:t> sa préposition : elle passe devant le relatif</a:t>
            </a:r>
            <a:endParaRPr lang="en-US" sz="1400" dirty="0"/>
          </a:p>
        </p:txBody>
      </p:sp>
      <p:sp>
        <p:nvSpPr>
          <p:cNvPr id="11" name="Shape 7"/>
          <p:cNvSpPr/>
          <p:nvPr/>
        </p:nvSpPr>
        <p:spPr>
          <a:xfrm>
            <a:off x="6236208" y="4754880"/>
            <a:ext cx="5138928" cy="914400"/>
          </a:xfrm>
          <a:prstGeom prst="roundRect">
            <a:avLst>
              <a:gd name="adj" fmla="val 10000"/>
            </a:avLst>
          </a:prstGeom>
          <a:solidFill>
            <a:srgbClr val="FBEDEB"/>
          </a:solidFill>
          <a:ln w="12700">
            <a:solidFill>
              <a:srgbClr val="FFFFFF">
                <a:alpha val="0"/>
              </a:srgbClr>
            </a:solidFill>
            <a:prstDash val="solid"/>
          </a:ln>
        </p:spPr>
      </p:sp>
      <p:sp>
        <p:nvSpPr>
          <p:cNvPr id="12" name="Shape 8"/>
          <p:cNvSpPr/>
          <p:nvPr/>
        </p:nvSpPr>
        <p:spPr>
          <a:xfrm>
            <a:off x="6409944" y="4928616"/>
            <a:ext cx="310896" cy="310896"/>
          </a:xfrm>
          <a:prstGeom prst="ellipse">
            <a:avLst/>
          </a:prstGeom>
          <a:solidFill>
            <a:srgbClr val="B83227"/>
          </a:solidFill>
          <a:ln w="12700">
            <a:solidFill>
              <a:srgbClr val="FFFFFF">
                <a:alpha val="0"/>
              </a:srgbClr>
            </a:solidFill>
            <a:prstDash val="solid"/>
          </a:ln>
        </p:spPr>
      </p:sp>
      <p:sp>
        <p:nvSpPr>
          <p:cNvPr id="13" name="Text 9"/>
          <p:cNvSpPr txBox="1"/>
          <p:nvPr/>
        </p:nvSpPr>
        <p:spPr>
          <a:xfrm>
            <a:off x="6409944" y="4928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0"/>
          <p:cNvSpPr txBox="1"/>
          <p:nvPr/>
        </p:nvSpPr>
        <p:spPr>
          <a:xfrm>
            <a:off x="6858000" y="4864608"/>
            <a:ext cx="4361688"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français</a:t>
            </a:r>
            <a:endParaRPr lang="en-US" sz="1300" dirty="0"/>
          </a:p>
        </p:txBody>
      </p:sp>
      <p:sp>
        <p:nvSpPr>
          <p:cNvPr id="15" name="Text 11"/>
          <p:cNvSpPr txBox="1"/>
          <p:nvPr/>
        </p:nvSpPr>
        <p:spPr>
          <a:xfrm>
            <a:off x="6858000" y="515721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attendre</a:t>
            </a:r>
            <a:r>
              <a:rPr lang="en-US" sz="1400" dirty="0">
                <a:solidFill>
                  <a:srgbClr val="1B2333"/>
                </a:solidFill>
                <a:latin typeface="Calibri" pitchFamily="34" charset="0"/>
                <a:ea typeface="Calibri" pitchFamily="34" charset="-122"/>
                <a:cs typeface="Calibri" pitchFamily="34" charset="-120"/>
              </a:rPr>
              <a:t> quelqu’un → </a:t>
            </a:r>
            <a:r>
              <a:rPr lang="en-US" sz="1400" i="1" dirty="0">
                <a:solidFill>
                  <a:srgbClr val="1B2333"/>
                </a:solidFill>
                <a:latin typeface="Calibri" pitchFamily="34" charset="0"/>
                <a:ea typeface="Calibri" pitchFamily="34" charset="-122"/>
                <a:cs typeface="Calibri" pitchFamily="34" charset="-120"/>
              </a:rPr>
              <a:t>wachten </a:t>
            </a:r>
            <a:r>
              <a:rPr lang="en-US" sz="1400" b="1" i="1" dirty="0">
                <a:solidFill>
                  <a:srgbClr val="1B2333"/>
                </a:solidFill>
                <a:latin typeface="Calibri" pitchFamily="34" charset="0"/>
                <a:ea typeface="Calibri" pitchFamily="34" charset="-122"/>
                <a:cs typeface="Calibri" pitchFamily="34" charset="-120"/>
              </a:rPr>
              <a:t>op</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chercher</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zoeken </a:t>
            </a:r>
            <a:r>
              <a:rPr lang="en-US" sz="1400" b="1" i="1" dirty="0">
                <a:solidFill>
                  <a:srgbClr val="1B2333"/>
                </a:solidFill>
                <a:latin typeface="Calibri" pitchFamily="34" charset="0"/>
                <a:ea typeface="Calibri" pitchFamily="34" charset="-122"/>
                <a:cs typeface="Calibri" pitchFamily="34" charset="-120"/>
              </a:rPr>
              <a:t>naar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 où » : le lieu ou le temps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TRADUIRE « OÙ »</a:t>
            </a:r>
            <a:endParaRPr lang="en-US" sz="1100" dirty="0"/>
          </a:p>
        </p:txBody>
      </p:sp>
      <p:sp>
        <p:nvSpPr>
          <p:cNvPr id="5" name="Shape 2"/>
          <p:cNvSpPr/>
          <p:nvPr/>
        </p:nvSpPr>
        <p:spPr>
          <a:xfrm>
            <a:off x="822960" y="1463040"/>
            <a:ext cx="5120640" cy="3154680"/>
          </a:xfrm>
          <a:prstGeom prst="roundRect">
            <a:avLst>
              <a:gd name="adj" fmla="val 3478"/>
            </a:avLst>
          </a:prstGeom>
          <a:solidFill>
            <a:srgbClr val="F1ECF7"/>
          </a:solidFill>
          <a:ln w="12700">
            <a:solidFill>
              <a:srgbClr val="FFFFFF">
                <a:alpha val="0"/>
              </a:srgbClr>
            </a:solidFill>
            <a:prstDash val="solid"/>
          </a:ln>
        </p:spPr>
      </p:sp>
      <p:pic>
        <p:nvPicPr>
          <p:cNvPr id="6" name="Image 0" descr="round pushpin">    </p:cNvPr>
          <p:cNvPicPr>
            <a:picLocks noChangeAspect="1"/>
          </p:cNvPicPr>
          <p:nvPr/>
        </p:nvPicPr>
        <p:blipFill>
          <a:blip r:embed="rId1"/>
          <a:stretch>
            <a:fillRect/>
          </a:stretch>
        </p:blipFill>
        <p:spPr>
          <a:xfrm>
            <a:off x="1097280" y="1627632"/>
            <a:ext cx="566928" cy="566928"/>
          </a:xfrm>
          <a:prstGeom prst="rect">
            <a:avLst/>
          </a:prstGeom>
        </p:spPr>
      </p:pic>
      <p:sp>
        <p:nvSpPr>
          <p:cNvPr id="7" name="Text 3"/>
          <p:cNvSpPr txBox="1"/>
          <p:nvPr/>
        </p:nvSpPr>
        <p:spPr>
          <a:xfrm>
            <a:off x="1783080" y="1645920"/>
            <a:ext cx="2286000" cy="256032"/>
          </a:xfrm>
          <a:prstGeom prst="rect">
            <a:avLst/>
          </a:prstGeom>
          <a:noFill/>
          <a:ln/>
        </p:spPr>
        <p:txBody>
          <a:bodyPr wrap="square" lIns="0" tIns="0" rIns="0" bIns="0" rtlCol="0" anchor="ctr"/>
          <a:lstStyle/>
          <a:p>
            <a:pPr algn="l" indent="0" marL="0">
              <a:buNone/>
            </a:pPr>
            <a:r>
              <a:rPr lang="en-US" sz="1100" b="1" spc="150" kern="0" dirty="0">
                <a:solidFill>
                  <a:srgbClr val="6E4A9E"/>
                </a:solidFill>
                <a:latin typeface="Calibri" pitchFamily="34" charset="0"/>
                <a:ea typeface="Calibri" pitchFamily="34" charset="-122"/>
                <a:cs typeface="Calibri" pitchFamily="34" charset="-120"/>
              </a:rPr>
              <a:t>LE LIEU</a:t>
            </a:r>
            <a:endParaRPr lang="en-US" sz="1100" dirty="0"/>
          </a:p>
        </p:txBody>
      </p:sp>
      <p:sp>
        <p:nvSpPr>
          <p:cNvPr id="8" name="Text 4"/>
          <p:cNvSpPr txBox="1"/>
          <p:nvPr/>
        </p:nvSpPr>
        <p:spPr>
          <a:xfrm>
            <a:off x="1783080" y="1883664"/>
            <a:ext cx="4023360" cy="329184"/>
          </a:xfrm>
          <a:prstGeom prst="rect">
            <a:avLst/>
          </a:prstGeom>
          <a:noFill/>
          <a:ln/>
        </p:spPr>
        <p:txBody>
          <a:bodyPr wrap="square" lIns="0" tIns="0" rIns="0" bIns="0" rtlCol="0" anchor="ctr"/>
          <a:lstStyle/>
          <a:p>
            <a:pPr algn="l" indent="0" marL="0">
              <a:buNone/>
            </a:pPr>
            <a:r>
              <a:rPr lang="en-US" sz="1700" b="1" dirty="0">
                <a:solidFill>
                  <a:srgbClr val="6E4A9E"/>
                </a:solidFill>
                <a:latin typeface="Calibri" pitchFamily="34" charset="0"/>
                <a:ea typeface="Calibri" pitchFamily="34" charset="-122"/>
                <a:cs typeface="Calibri" pitchFamily="34" charset="-120"/>
              </a:rPr>
              <a:t>waar</a:t>
            </a:r>
            <a:r>
              <a:rPr lang="en-US" sz="1700" dirty="0">
                <a:solidFill>
                  <a:srgbClr val="1B2333"/>
                </a:solidFill>
                <a:latin typeface="Calibri" pitchFamily="34" charset="0"/>
                <a:ea typeface="Calibri" pitchFamily="34" charset="-122"/>
                <a:cs typeface="Calibri" pitchFamily="34" charset="-120"/>
              </a:rPr>
              <a:t> · </a:t>
            </a:r>
            <a:r>
              <a:rPr lang="en-US" sz="1700" b="1" dirty="0">
                <a:solidFill>
                  <a:srgbClr val="6E4A9E"/>
                </a:solidFill>
                <a:latin typeface="Calibri" pitchFamily="34" charset="0"/>
                <a:ea typeface="Calibri" pitchFamily="34" charset="-122"/>
                <a:cs typeface="Calibri" pitchFamily="34" charset="-120"/>
              </a:rPr>
              <a:t>waarin</a:t>
            </a:r>
            <a:r>
              <a:rPr lang="en-US" sz="1700" dirty="0">
                <a:solidFill>
                  <a:srgbClr val="1B2333"/>
                </a:solidFill>
                <a:latin typeface="Calibri" pitchFamily="34" charset="0"/>
                <a:ea typeface="Calibri" pitchFamily="34" charset="-122"/>
                <a:cs typeface="Calibri" pitchFamily="34" charset="-120"/>
              </a:rPr>
              <a:t> · </a:t>
            </a:r>
            <a:r>
              <a:rPr lang="en-US" sz="1700" b="1" dirty="0">
                <a:solidFill>
                  <a:srgbClr val="6E4A9E"/>
                </a:solidFill>
                <a:latin typeface="Calibri" pitchFamily="34" charset="0"/>
                <a:ea typeface="Calibri" pitchFamily="34" charset="-122"/>
                <a:cs typeface="Calibri" pitchFamily="34" charset="-120"/>
              </a:rPr>
              <a:t>waarop</a:t>
            </a:r>
            <a:endParaRPr lang="en-US" sz="1700" dirty="0"/>
          </a:p>
        </p:txBody>
      </p:sp>
      <p:sp>
        <p:nvSpPr>
          <p:cNvPr id="9" name="Shape 5"/>
          <p:cNvSpPr/>
          <p:nvPr/>
        </p:nvSpPr>
        <p:spPr>
          <a:xfrm>
            <a:off x="1097280" y="2395728"/>
            <a:ext cx="4572000" cy="914"/>
          </a:xfrm>
          <a:prstGeom prst="line">
            <a:avLst/>
          </a:prstGeom>
          <a:noFill/>
          <a:ln w="19050">
            <a:solidFill>
              <a:srgbClr val="FFFFFF"/>
            </a:solidFill>
            <a:prstDash val="solid"/>
          </a:ln>
        </p:spPr>
      </p:sp>
      <p:sp>
        <p:nvSpPr>
          <p:cNvPr id="10" name="Text 6"/>
          <p:cNvSpPr txBox="1"/>
          <p:nvPr/>
        </p:nvSpPr>
        <p:spPr>
          <a:xfrm>
            <a:off x="1097280" y="2542032"/>
            <a:ext cx="4572000" cy="502920"/>
          </a:xfrm>
          <a:prstGeom prst="rect">
            <a:avLst/>
          </a:prstGeom>
          <a:noFill/>
          <a:ln/>
        </p:spPr>
        <p:txBody>
          <a:bodyPr wrap="square" lIns="0" tIns="0" rIns="0" bIns="0" rtlCol="0" anchor="ctr"/>
          <a:lstStyle/>
          <a:p>
            <a:pPr algn="l" indent="0" marL="0">
              <a:buNone/>
            </a:pPr>
            <a:r>
              <a:rPr lang="en-US" sz="1800" i="1" dirty="0">
                <a:solidFill>
                  <a:srgbClr val="1B2333"/>
                </a:solidFill>
                <a:latin typeface="Calibri" pitchFamily="34" charset="0"/>
                <a:ea typeface="Calibri" pitchFamily="34" charset="-122"/>
                <a:cs typeface="Calibri" pitchFamily="34" charset="-120"/>
              </a:rPr>
              <a:t>het kantoor </a:t>
            </a:r>
            <a:r>
              <a:rPr lang="en-US" sz="1800" b="1" i="1" dirty="0">
                <a:solidFill>
                  <a:srgbClr val="6E4A9E"/>
                </a:solidFill>
                <a:latin typeface="Calibri" pitchFamily="34" charset="0"/>
                <a:ea typeface="Calibri" pitchFamily="34" charset="-122"/>
                <a:cs typeface="Calibri" pitchFamily="34" charset="-120"/>
              </a:rPr>
              <a:t>waar</a:t>
            </a:r>
            <a:r>
              <a:rPr lang="en-US" sz="1800" i="1" dirty="0">
                <a:solidFill>
                  <a:srgbClr val="1B2333"/>
                </a:solidFill>
                <a:latin typeface="Calibri" pitchFamily="34" charset="0"/>
                <a:ea typeface="Calibri" pitchFamily="34" charset="-122"/>
                <a:cs typeface="Calibri" pitchFamily="34" charset="-120"/>
              </a:rPr>
              <a:t> ik werk</a:t>
            </a:r>
            <a:endParaRPr lang="en-US" sz="1800" dirty="0"/>
          </a:p>
        </p:txBody>
      </p:sp>
      <p:sp>
        <p:nvSpPr>
          <p:cNvPr id="11" name="Text 7"/>
          <p:cNvSpPr txBox="1"/>
          <p:nvPr/>
        </p:nvSpPr>
        <p:spPr>
          <a:xfrm>
            <a:off x="1097280" y="3182112"/>
            <a:ext cx="4572000" cy="502920"/>
          </a:xfrm>
          <a:prstGeom prst="rect">
            <a:avLst/>
          </a:prstGeom>
          <a:noFill/>
          <a:ln/>
        </p:spPr>
        <p:txBody>
          <a:bodyPr wrap="square" lIns="0" tIns="0" rIns="0" bIns="0" rtlCol="0" anchor="ctr"/>
          <a:lstStyle/>
          <a:p>
            <a:pPr algn="l" indent="0" marL="0">
              <a:buNone/>
            </a:pPr>
            <a:r>
              <a:rPr lang="en-US" sz="1800" i="1" dirty="0">
                <a:solidFill>
                  <a:srgbClr val="1B2333"/>
                </a:solidFill>
                <a:latin typeface="Calibri" pitchFamily="34" charset="0"/>
                <a:ea typeface="Calibri" pitchFamily="34" charset="-122"/>
                <a:cs typeface="Calibri" pitchFamily="34" charset="-120"/>
              </a:rPr>
              <a:t>de stad </a:t>
            </a:r>
            <a:r>
              <a:rPr lang="en-US" sz="1800" b="1" i="1" dirty="0">
                <a:solidFill>
                  <a:srgbClr val="6E4A9E"/>
                </a:solidFill>
                <a:latin typeface="Calibri" pitchFamily="34" charset="0"/>
                <a:ea typeface="Calibri" pitchFamily="34" charset="-122"/>
                <a:cs typeface="Calibri" pitchFamily="34" charset="-120"/>
              </a:rPr>
              <a:t>waar</a:t>
            </a:r>
            <a:r>
              <a:rPr lang="en-US" sz="1800" i="1" dirty="0">
                <a:solidFill>
                  <a:srgbClr val="1B2333"/>
                </a:solidFill>
                <a:latin typeface="Calibri" pitchFamily="34" charset="0"/>
                <a:ea typeface="Calibri" pitchFamily="34" charset="-122"/>
                <a:cs typeface="Calibri" pitchFamily="34" charset="-120"/>
              </a:rPr>
              <a:t> ze woont</a:t>
            </a:r>
            <a:endParaRPr lang="en-US" sz="1800" dirty="0"/>
          </a:p>
        </p:txBody>
      </p:sp>
      <p:sp>
        <p:nvSpPr>
          <p:cNvPr id="12" name="Text 8"/>
          <p:cNvSpPr txBox="1"/>
          <p:nvPr/>
        </p:nvSpPr>
        <p:spPr>
          <a:xfrm>
            <a:off x="1097280" y="3822192"/>
            <a:ext cx="4572000" cy="502920"/>
          </a:xfrm>
          <a:prstGeom prst="rect">
            <a:avLst/>
          </a:prstGeom>
          <a:noFill/>
          <a:ln/>
        </p:spPr>
        <p:txBody>
          <a:bodyPr wrap="square" lIns="0" tIns="0" rIns="0" bIns="0" rtlCol="0" anchor="ctr"/>
          <a:lstStyle/>
          <a:p>
            <a:pPr algn="l" indent="0" marL="0">
              <a:buNone/>
            </a:pPr>
            <a:r>
              <a:rPr lang="en-US" sz="1800" i="1" dirty="0">
                <a:solidFill>
                  <a:srgbClr val="1B2333"/>
                </a:solidFill>
                <a:latin typeface="Calibri" pitchFamily="34" charset="0"/>
                <a:ea typeface="Calibri" pitchFamily="34" charset="-122"/>
                <a:cs typeface="Calibri" pitchFamily="34" charset="-120"/>
              </a:rPr>
              <a:t>de zaal </a:t>
            </a:r>
            <a:r>
              <a:rPr lang="en-US" sz="1800" b="1" i="1" dirty="0">
                <a:solidFill>
                  <a:srgbClr val="6E4A9E"/>
                </a:solidFill>
                <a:latin typeface="Calibri" pitchFamily="34" charset="0"/>
                <a:ea typeface="Calibri" pitchFamily="34" charset="-122"/>
                <a:cs typeface="Calibri" pitchFamily="34" charset="-120"/>
              </a:rPr>
              <a:t>waarin</a:t>
            </a:r>
            <a:r>
              <a:rPr lang="en-US" sz="1800" i="1" dirty="0">
                <a:solidFill>
                  <a:srgbClr val="1B2333"/>
                </a:solidFill>
                <a:latin typeface="Calibri" pitchFamily="34" charset="0"/>
                <a:ea typeface="Calibri" pitchFamily="34" charset="-122"/>
                <a:cs typeface="Calibri" pitchFamily="34" charset="-120"/>
              </a:rPr>
              <a:t> we vergaderen</a:t>
            </a:r>
            <a:endParaRPr lang="en-US" sz="1800" dirty="0"/>
          </a:p>
        </p:txBody>
      </p:sp>
      <p:sp>
        <p:nvSpPr>
          <p:cNvPr id="13" name="Shape 9"/>
          <p:cNvSpPr/>
          <p:nvPr/>
        </p:nvSpPr>
        <p:spPr>
          <a:xfrm>
            <a:off x="6245352" y="1463040"/>
            <a:ext cx="5120640" cy="3154680"/>
          </a:xfrm>
          <a:prstGeom prst="roundRect">
            <a:avLst>
              <a:gd name="adj" fmla="val 3478"/>
            </a:avLst>
          </a:prstGeom>
          <a:solidFill>
            <a:srgbClr val="EAF2FB"/>
          </a:solidFill>
          <a:ln w="12700">
            <a:solidFill>
              <a:srgbClr val="FFFFFF">
                <a:alpha val="0"/>
              </a:srgbClr>
            </a:solidFill>
            <a:prstDash val="solid"/>
          </a:ln>
        </p:spPr>
      </p:sp>
      <p:pic>
        <p:nvPicPr>
          <p:cNvPr id="14" name="Image 1" descr="spiral calendar">    </p:cNvPr>
          <p:cNvPicPr>
            <a:picLocks noChangeAspect="1"/>
          </p:cNvPicPr>
          <p:nvPr/>
        </p:nvPicPr>
        <p:blipFill>
          <a:blip r:embed="rId2"/>
          <a:stretch>
            <a:fillRect/>
          </a:stretch>
        </p:blipFill>
        <p:spPr>
          <a:xfrm>
            <a:off x="6519672" y="1627632"/>
            <a:ext cx="566928" cy="566928"/>
          </a:xfrm>
          <a:prstGeom prst="rect">
            <a:avLst/>
          </a:prstGeom>
        </p:spPr>
      </p:pic>
      <p:sp>
        <p:nvSpPr>
          <p:cNvPr id="15" name="Text 10"/>
          <p:cNvSpPr txBox="1"/>
          <p:nvPr/>
        </p:nvSpPr>
        <p:spPr>
          <a:xfrm>
            <a:off x="7205472" y="1645920"/>
            <a:ext cx="2286000" cy="256032"/>
          </a:xfrm>
          <a:prstGeom prst="rect">
            <a:avLst/>
          </a:prstGeom>
          <a:noFill/>
          <a:ln/>
        </p:spPr>
        <p:txBody>
          <a:bodyPr wrap="square" lIns="0" tIns="0" rIns="0" bIns="0" rtlCol="0" anchor="ctr"/>
          <a:lstStyle/>
          <a:p>
            <a:pPr algn="l" indent="0" marL="0">
              <a:buNone/>
            </a:pPr>
            <a:r>
              <a:rPr lang="en-US" sz="1100" b="1" spc="150" kern="0" dirty="0">
                <a:solidFill>
                  <a:srgbClr val="2A6FB0"/>
                </a:solidFill>
                <a:latin typeface="Calibri" pitchFamily="34" charset="0"/>
                <a:ea typeface="Calibri" pitchFamily="34" charset="-122"/>
                <a:cs typeface="Calibri" pitchFamily="34" charset="-120"/>
              </a:rPr>
              <a:t>LE TEMPS</a:t>
            </a:r>
            <a:endParaRPr lang="en-US" sz="1100" dirty="0"/>
          </a:p>
        </p:txBody>
      </p:sp>
      <p:sp>
        <p:nvSpPr>
          <p:cNvPr id="16" name="Text 11"/>
          <p:cNvSpPr txBox="1"/>
          <p:nvPr/>
        </p:nvSpPr>
        <p:spPr>
          <a:xfrm>
            <a:off x="7205472" y="1883664"/>
            <a:ext cx="4023360" cy="329184"/>
          </a:xfrm>
          <a:prstGeom prst="rect">
            <a:avLst/>
          </a:prstGeom>
          <a:noFill/>
          <a:ln/>
        </p:spPr>
        <p:txBody>
          <a:bodyPr wrap="square" lIns="0" tIns="0" rIns="0" bIns="0" rtlCol="0" anchor="ctr"/>
          <a:lstStyle/>
          <a:p>
            <a:pPr algn="l" indent="0" marL="0">
              <a:buNone/>
            </a:pPr>
            <a:r>
              <a:rPr lang="en-US" sz="1700" b="1" dirty="0">
                <a:solidFill>
                  <a:srgbClr val="2A6FB0"/>
                </a:solidFill>
                <a:latin typeface="Calibri" pitchFamily="34" charset="0"/>
                <a:ea typeface="Calibri" pitchFamily="34" charset="-122"/>
                <a:cs typeface="Calibri" pitchFamily="34" charset="-120"/>
              </a:rPr>
              <a:t>dat</a:t>
            </a:r>
            <a:r>
              <a:rPr lang="en-US" sz="1700" dirty="0">
                <a:solidFill>
                  <a:srgbClr val="1B2333"/>
                </a:solidFill>
                <a:latin typeface="Calibri" pitchFamily="34" charset="0"/>
                <a:ea typeface="Calibri" pitchFamily="34" charset="-122"/>
                <a:cs typeface="Calibri" pitchFamily="34" charset="-120"/>
              </a:rPr>
              <a:t> · </a:t>
            </a:r>
            <a:r>
              <a:rPr lang="en-US" sz="1700" b="1" dirty="0">
                <a:solidFill>
                  <a:srgbClr val="2A6FB0"/>
                </a:solidFill>
                <a:latin typeface="Calibri" pitchFamily="34" charset="0"/>
                <a:ea typeface="Calibri" pitchFamily="34" charset="-122"/>
                <a:cs typeface="Calibri" pitchFamily="34" charset="-120"/>
              </a:rPr>
              <a:t>waarop</a:t>
            </a:r>
            <a:r>
              <a:rPr lang="en-US" sz="1700" dirty="0">
                <a:solidFill>
                  <a:srgbClr val="1B2333"/>
                </a:solidFill>
                <a:latin typeface="Calibri" pitchFamily="34" charset="0"/>
                <a:ea typeface="Calibri" pitchFamily="34" charset="-122"/>
                <a:cs typeface="Calibri" pitchFamily="34" charset="-120"/>
              </a:rPr>
              <a:t> · </a:t>
            </a:r>
            <a:r>
              <a:rPr lang="en-US" sz="1700" b="1" dirty="0">
                <a:solidFill>
                  <a:srgbClr val="2A6FB0"/>
                </a:solidFill>
                <a:latin typeface="Calibri" pitchFamily="34" charset="0"/>
                <a:ea typeface="Calibri" pitchFamily="34" charset="-122"/>
                <a:cs typeface="Calibri" pitchFamily="34" charset="-120"/>
              </a:rPr>
              <a:t>waarin</a:t>
            </a:r>
            <a:endParaRPr lang="en-US" sz="1700" dirty="0"/>
          </a:p>
        </p:txBody>
      </p:sp>
      <p:sp>
        <p:nvSpPr>
          <p:cNvPr id="17" name="Shape 12"/>
          <p:cNvSpPr/>
          <p:nvPr/>
        </p:nvSpPr>
        <p:spPr>
          <a:xfrm>
            <a:off x="6519672" y="2395728"/>
            <a:ext cx="4572000" cy="914"/>
          </a:xfrm>
          <a:prstGeom prst="line">
            <a:avLst/>
          </a:prstGeom>
          <a:noFill/>
          <a:ln w="19050">
            <a:solidFill>
              <a:srgbClr val="FFFFFF"/>
            </a:solidFill>
            <a:prstDash val="solid"/>
          </a:ln>
        </p:spPr>
      </p:sp>
      <p:sp>
        <p:nvSpPr>
          <p:cNvPr id="18" name="Text 13"/>
          <p:cNvSpPr txBox="1"/>
          <p:nvPr/>
        </p:nvSpPr>
        <p:spPr>
          <a:xfrm>
            <a:off x="6519672" y="2542032"/>
            <a:ext cx="4572000" cy="502920"/>
          </a:xfrm>
          <a:prstGeom prst="rect">
            <a:avLst/>
          </a:prstGeom>
          <a:noFill/>
          <a:ln/>
        </p:spPr>
        <p:txBody>
          <a:bodyPr wrap="square" lIns="0" tIns="0" rIns="0" bIns="0" rtlCol="0" anchor="ctr"/>
          <a:lstStyle/>
          <a:p>
            <a:pPr algn="l" indent="0" marL="0">
              <a:buNone/>
            </a:pPr>
            <a:r>
              <a:rPr lang="en-US" sz="1800" i="1" dirty="0">
                <a:solidFill>
                  <a:srgbClr val="1B2333"/>
                </a:solidFill>
                <a:latin typeface="Calibri" pitchFamily="34" charset="0"/>
                <a:ea typeface="Calibri" pitchFamily="34" charset="-122"/>
                <a:cs typeface="Calibri" pitchFamily="34" charset="-120"/>
              </a:rPr>
              <a:t>de dag </a:t>
            </a:r>
            <a:r>
              <a:rPr lang="en-US" sz="1800" b="1" i="1" dirty="0">
                <a:solidFill>
                  <a:srgbClr val="2A6FB0"/>
                </a:solidFill>
                <a:latin typeface="Calibri" pitchFamily="34" charset="0"/>
                <a:ea typeface="Calibri" pitchFamily="34" charset="-122"/>
                <a:cs typeface="Calibri" pitchFamily="34" charset="-120"/>
              </a:rPr>
              <a:t>dat</a:t>
            </a:r>
            <a:r>
              <a:rPr lang="en-US" sz="1800" i="1" dirty="0">
                <a:solidFill>
                  <a:srgbClr val="1B2333"/>
                </a:solidFill>
                <a:latin typeface="Calibri" pitchFamily="34" charset="0"/>
                <a:ea typeface="Calibri" pitchFamily="34" charset="-122"/>
                <a:cs typeface="Calibri" pitchFamily="34" charset="-120"/>
              </a:rPr>
              <a:t> (</a:t>
            </a:r>
            <a:r>
              <a:rPr lang="en-US" sz="1800" b="1" i="1" dirty="0">
                <a:solidFill>
                  <a:srgbClr val="2A6FB0"/>
                </a:solidFill>
                <a:latin typeface="Calibri" pitchFamily="34" charset="0"/>
                <a:ea typeface="Calibri" pitchFamily="34" charset="-122"/>
                <a:cs typeface="Calibri" pitchFamily="34" charset="-120"/>
              </a:rPr>
              <a:t>waarop</a:t>
            </a:r>
            <a:r>
              <a:rPr lang="en-US" sz="1800" i="1" dirty="0">
                <a:solidFill>
                  <a:srgbClr val="1B2333"/>
                </a:solidFill>
                <a:latin typeface="Calibri" pitchFamily="34" charset="0"/>
                <a:ea typeface="Calibri" pitchFamily="34" charset="-122"/>
                <a:cs typeface="Calibri" pitchFamily="34" charset="-120"/>
              </a:rPr>
              <a:t>) ik begon</a:t>
            </a:r>
            <a:endParaRPr lang="en-US" sz="1800" dirty="0"/>
          </a:p>
        </p:txBody>
      </p:sp>
      <p:sp>
        <p:nvSpPr>
          <p:cNvPr id="19" name="Text 14"/>
          <p:cNvSpPr txBox="1"/>
          <p:nvPr/>
        </p:nvSpPr>
        <p:spPr>
          <a:xfrm>
            <a:off x="6519672" y="3182112"/>
            <a:ext cx="4572000" cy="502920"/>
          </a:xfrm>
          <a:prstGeom prst="rect">
            <a:avLst/>
          </a:prstGeom>
          <a:noFill/>
          <a:ln/>
        </p:spPr>
        <p:txBody>
          <a:bodyPr wrap="square" lIns="0" tIns="0" rIns="0" bIns="0" rtlCol="0" anchor="ctr"/>
          <a:lstStyle/>
          <a:p>
            <a:pPr algn="l" indent="0" marL="0">
              <a:buNone/>
            </a:pPr>
            <a:r>
              <a:rPr lang="en-US" sz="1800" i="1" dirty="0">
                <a:solidFill>
                  <a:srgbClr val="1B2333"/>
                </a:solidFill>
                <a:latin typeface="Calibri" pitchFamily="34" charset="0"/>
                <a:ea typeface="Calibri" pitchFamily="34" charset="-122"/>
                <a:cs typeface="Calibri" pitchFamily="34" charset="-120"/>
              </a:rPr>
              <a:t>het moment </a:t>
            </a:r>
            <a:r>
              <a:rPr lang="en-US" sz="1800" b="1" i="1" dirty="0">
                <a:solidFill>
                  <a:srgbClr val="2A6FB0"/>
                </a:solidFill>
                <a:latin typeface="Calibri" pitchFamily="34" charset="0"/>
                <a:ea typeface="Calibri" pitchFamily="34" charset="-122"/>
                <a:cs typeface="Calibri" pitchFamily="34" charset="-120"/>
              </a:rPr>
              <a:t>dat</a:t>
            </a:r>
            <a:r>
              <a:rPr lang="en-US" sz="1800" i="1" dirty="0">
                <a:solidFill>
                  <a:srgbClr val="1B2333"/>
                </a:solidFill>
                <a:latin typeface="Calibri" pitchFamily="34" charset="0"/>
                <a:ea typeface="Calibri" pitchFamily="34" charset="-122"/>
                <a:cs typeface="Calibri" pitchFamily="34" charset="-120"/>
              </a:rPr>
              <a:t> (</a:t>
            </a:r>
            <a:r>
              <a:rPr lang="en-US" sz="1800" b="1" i="1" dirty="0">
                <a:solidFill>
                  <a:srgbClr val="2A6FB0"/>
                </a:solidFill>
                <a:latin typeface="Calibri" pitchFamily="34" charset="0"/>
                <a:ea typeface="Calibri" pitchFamily="34" charset="-122"/>
                <a:cs typeface="Calibri" pitchFamily="34" charset="-120"/>
              </a:rPr>
              <a:t>waarop</a:t>
            </a:r>
            <a:r>
              <a:rPr lang="en-US" sz="1800" i="1" dirty="0">
                <a:solidFill>
                  <a:srgbClr val="1B2333"/>
                </a:solidFill>
                <a:latin typeface="Calibri" pitchFamily="34" charset="0"/>
                <a:ea typeface="Calibri" pitchFamily="34" charset="-122"/>
                <a:cs typeface="Calibri" pitchFamily="34" charset="-120"/>
              </a:rPr>
              <a:t>) hij binnenkwam</a:t>
            </a:r>
            <a:endParaRPr lang="en-US" sz="1800" dirty="0"/>
          </a:p>
        </p:txBody>
      </p:sp>
      <p:sp>
        <p:nvSpPr>
          <p:cNvPr id="20" name="Text 15"/>
          <p:cNvSpPr txBox="1"/>
          <p:nvPr/>
        </p:nvSpPr>
        <p:spPr>
          <a:xfrm>
            <a:off x="6519672" y="3822192"/>
            <a:ext cx="4572000" cy="502920"/>
          </a:xfrm>
          <a:prstGeom prst="rect">
            <a:avLst/>
          </a:prstGeom>
          <a:noFill/>
          <a:ln/>
        </p:spPr>
        <p:txBody>
          <a:bodyPr wrap="square" lIns="0" tIns="0" rIns="0" bIns="0" rtlCol="0" anchor="ctr"/>
          <a:lstStyle/>
          <a:p>
            <a:pPr algn="l" indent="0" marL="0">
              <a:buNone/>
            </a:pPr>
            <a:r>
              <a:rPr lang="en-US" sz="1800" i="1" dirty="0">
                <a:solidFill>
                  <a:srgbClr val="1B2333"/>
                </a:solidFill>
                <a:latin typeface="Calibri" pitchFamily="34" charset="0"/>
                <a:ea typeface="Calibri" pitchFamily="34" charset="-122"/>
                <a:cs typeface="Calibri" pitchFamily="34" charset="-120"/>
              </a:rPr>
              <a:t>het jaar </a:t>
            </a:r>
            <a:r>
              <a:rPr lang="en-US" sz="1800" b="1" i="1" dirty="0">
                <a:solidFill>
                  <a:srgbClr val="2A6FB0"/>
                </a:solidFill>
                <a:latin typeface="Calibri" pitchFamily="34" charset="0"/>
                <a:ea typeface="Calibri" pitchFamily="34" charset="-122"/>
                <a:cs typeface="Calibri" pitchFamily="34" charset="-120"/>
              </a:rPr>
              <a:t>dat</a:t>
            </a:r>
            <a:r>
              <a:rPr lang="en-US" sz="1800" i="1" dirty="0">
                <a:solidFill>
                  <a:srgbClr val="1B2333"/>
                </a:solidFill>
                <a:latin typeface="Calibri" pitchFamily="34" charset="0"/>
                <a:ea typeface="Calibri" pitchFamily="34" charset="-122"/>
                <a:cs typeface="Calibri" pitchFamily="34" charset="-120"/>
              </a:rPr>
              <a:t> (</a:t>
            </a:r>
            <a:r>
              <a:rPr lang="en-US" sz="1800" b="1" i="1" dirty="0">
                <a:solidFill>
                  <a:srgbClr val="2A6FB0"/>
                </a:solidFill>
                <a:latin typeface="Calibri" pitchFamily="34" charset="0"/>
                <a:ea typeface="Calibri" pitchFamily="34" charset="-122"/>
                <a:cs typeface="Calibri" pitchFamily="34" charset="-120"/>
              </a:rPr>
              <a:t>waarin</a:t>
            </a:r>
            <a:r>
              <a:rPr lang="en-US" sz="1800" i="1" dirty="0">
                <a:solidFill>
                  <a:srgbClr val="1B2333"/>
                </a:solidFill>
                <a:latin typeface="Calibri" pitchFamily="34" charset="0"/>
                <a:ea typeface="Calibri" pitchFamily="34" charset="-122"/>
                <a:cs typeface="Calibri" pitchFamily="34" charset="-120"/>
              </a:rPr>
              <a:t>) we verhuisden</a:t>
            </a:r>
            <a:endParaRPr lang="en-US" sz="1800" dirty="0"/>
          </a:p>
        </p:txBody>
      </p:sp>
      <p:sp>
        <p:nvSpPr>
          <p:cNvPr id="21" name="Shape 16"/>
          <p:cNvSpPr/>
          <p:nvPr/>
        </p:nvSpPr>
        <p:spPr>
          <a:xfrm>
            <a:off x="1293876" y="4892040"/>
            <a:ext cx="9601200" cy="914400"/>
          </a:xfrm>
          <a:prstGeom prst="roundRect">
            <a:avLst>
              <a:gd name="adj" fmla="val 10000"/>
            </a:avLst>
          </a:prstGeom>
          <a:solidFill>
            <a:srgbClr val="FBEDEB"/>
          </a:solidFill>
          <a:ln w="12700">
            <a:solidFill>
              <a:srgbClr val="FFFFFF">
                <a:alpha val="0"/>
              </a:srgbClr>
            </a:solidFill>
            <a:prstDash val="solid"/>
          </a:ln>
        </p:spPr>
      </p:sp>
      <p:sp>
        <p:nvSpPr>
          <p:cNvPr id="22" name="Shape 17"/>
          <p:cNvSpPr/>
          <p:nvPr/>
        </p:nvSpPr>
        <p:spPr>
          <a:xfrm>
            <a:off x="1467612" y="5065776"/>
            <a:ext cx="310896" cy="310896"/>
          </a:xfrm>
          <a:prstGeom prst="ellipse">
            <a:avLst/>
          </a:prstGeom>
          <a:solidFill>
            <a:srgbClr val="B83227"/>
          </a:solidFill>
          <a:ln w="12700">
            <a:solidFill>
              <a:srgbClr val="FFFFFF">
                <a:alpha val="0"/>
              </a:srgbClr>
            </a:solidFill>
            <a:prstDash val="solid"/>
          </a:ln>
        </p:spPr>
      </p:sp>
      <p:sp>
        <p:nvSpPr>
          <p:cNvPr id="23" name="Text 18"/>
          <p:cNvSpPr txBox="1"/>
          <p:nvPr/>
        </p:nvSpPr>
        <p:spPr>
          <a:xfrm>
            <a:off x="1467612" y="50657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19"/>
          <p:cNvSpPr txBox="1"/>
          <p:nvPr/>
        </p:nvSpPr>
        <p:spPr>
          <a:xfrm>
            <a:off x="1915668" y="5001768"/>
            <a:ext cx="8823960" cy="292608"/>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Attention</a:t>
            </a:r>
            <a:endParaRPr lang="en-US" sz="1300" dirty="0"/>
          </a:p>
        </p:txBody>
      </p:sp>
      <p:sp>
        <p:nvSpPr>
          <p:cNvPr id="25" name="Text 20"/>
          <p:cNvSpPr txBox="1"/>
          <p:nvPr/>
        </p:nvSpPr>
        <p:spPr>
          <a:xfrm>
            <a:off x="1915668" y="5294376"/>
            <a:ext cx="8823960" cy="438912"/>
          </a:xfrm>
          <a:prstGeom prst="rect">
            <a:avLst/>
          </a:prstGeom>
          <a:noFill/>
          <a:ln/>
        </p:spPr>
        <p:txBody>
          <a:bodyPr wrap="square" lIns="0" tIns="0" rIns="0" bIns="0" rtlCol="0" anchor="t"/>
          <a:lstStyle/>
          <a:p>
            <a:pPr algn="l" indent="0" marL="0">
              <a:spcAft>
                <a:spcPts val="200"/>
              </a:spcAft>
              <a:buNone/>
            </a:pPr>
            <a:r>
              <a:rPr lang="en-US" sz="1400" i="1" strike="sngStrike" dirty="0">
                <a:solidFill>
                  <a:srgbClr val="B5473C"/>
                </a:solidFill>
                <a:latin typeface="Calibri" pitchFamily="34" charset="0"/>
                <a:ea typeface="Calibri" pitchFamily="34" charset="-122"/>
                <a:cs typeface="Calibri" pitchFamily="34" charset="-120"/>
              </a:rPr>
              <a:t>de dag waar</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waar</a:t>
            </a:r>
            <a:r>
              <a:rPr lang="en-US" sz="1400" dirty="0">
                <a:solidFill>
                  <a:srgbClr val="1B2333"/>
                </a:solidFill>
                <a:latin typeface="Calibri" pitchFamily="34" charset="0"/>
                <a:ea typeface="Calibri" pitchFamily="34" charset="-122"/>
                <a:cs typeface="Calibri" pitchFamily="34" charset="-120"/>
              </a:rPr>
              <a:t> = le lieu · </a:t>
            </a:r>
            <a:r>
              <a:rPr lang="en-US" sz="1400" i="1" dirty="0">
                <a:solidFill>
                  <a:srgbClr val="1B2333"/>
                </a:solidFill>
                <a:latin typeface="Calibri" pitchFamily="34" charset="0"/>
                <a:ea typeface="Calibri" pitchFamily="34" charset="-122"/>
                <a:cs typeface="Calibri" pitchFamily="34" charset="-120"/>
              </a:rPr>
              <a:t>de dag </a:t>
            </a:r>
            <a:r>
              <a:rPr lang="en-US" sz="1400" b="1" i="1" dirty="0">
                <a:solidFill>
                  <a:srgbClr val="2A6FB0"/>
                </a:solidFill>
                <a:latin typeface="Calibri" pitchFamily="34" charset="0"/>
                <a:ea typeface="Calibri" pitchFamily="34" charset="-122"/>
                <a:cs typeface="Calibri" pitchFamily="34" charset="-120"/>
              </a:rPr>
              <a:t>dat</a:t>
            </a:r>
            <a:r>
              <a:rPr lang="en-US" sz="1400" dirty="0">
                <a:solidFill>
                  <a:srgbClr val="1B2333"/>
                </a:solidFill>
                <a:latin typeface="Calibri" pitchFamily="34" charset="0"/>
                <a:ea typeface="Calibri" pitchFamily="34" charset="-122"/>
                <a:cs typeface="Calibri" pitchFamily="34" charset="-120"/>
              </a:rPr>
              <a:t> : ce </a:t>
            </a:r>
            <a:r>
              <a:rPr lang="en-US" sz="1400" i="1" dirty="0">
                <a:solidFill>
                  <a:srgbClr val="1B2333"/>
                </a:solidFill>
                <a:latin typeface="Calibri" pitchFamily="34" charset="0"/>
                <a:ea typeface="Calibri" pitchFamily="34" charset="-122"/>
                <a:cs typeface="Calibri" pitchFamily="34" charset="-120"/>
              </a:rPr>
              <a:t>dat</a:t>
            </a:r>
            <a:r>
              <a:rPr lang="en-US" sz="1400" dirty="0">
                <a:solidFill>
                  <a:srgbClr val="1B2333"/>
                </a:solidFill>
                <a:latin typeface="Calibri" pitchFamily="34" charset="0"/>
                <a:ea typeface="Calibri" pitchFamily="34" charset="-122"/>
                <a:cs typeface="Calibri" pitchFamily="34" charset="-120"/>
              </a:rPr>
              <a:t> ne change pas (</a:t>
            </a:r>
            <a:r>
              <a:rPr lang="en-US" sz="1400" i="1" strike="sngStrike" dirty="0">
                <a:solidFill>
                  <a:srgbClr val="B5473C"/>
                </a:solidFill>
                <a:latin typeface="Calibri" pitchFamily="34" charset="0"/>
                <a:ea typeface="Calibri" pitchFamily="34" charset="-122"/>
                <a:cs typeface="Calibri" pitchFamily="34" charset="-120"/>
              </a:rPr>
              <a:t>de dag die</a:t>
            </a:r>
            <a:r>
              <a:rPr lang="en-US" sz="1400" dirty="0">
                <a:solidFill>
                  <a:srgbClr val="1B2333"/>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 dont » : partir du verbe néerlandais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TRADUIRE « DONT »</a:t>
            </a:r>
            <a:endParaRPr lang="en-US" sz="1100" dirty="0"/>
          </a:p>
        </p:txBody>
      </p:sp>
      <p:sp>
        <p:nvSpPr>
          <p:cNvPr id="5" name="Shape 2"/>
          <p:cNvSpPr/>
          <p:nvPr/>
        </p:nvSpPr>
        <p:spPr>
          <a:xfrm>
            <a:off x="5180076" y="1463040"/>
            <a:ext cx="1828800" cy="457200"/>
          </a:xfrm>
          <a:prstGeom prst="roundRect">
            <a:avLst>
              <a:gd name="adj" fmla="val 50000"/>
            </a:avLst>
          </a:prstGeom>
          <a:solidFill>
            <a:srgbClr val="FFFFFF"/>
          </a:solidFill>
          <a:ln w="15875">
            <a:solidFill>
              <a:srgbClr val="B8C2CF"/>
            </a:solidFill>
            <a:prstDash val="solid"/>
          </a:ln>
        </p:spPr>
      </p:sp>
      <p:sp>
        <p:nvSpPr>
          <p:cNvPr id="6" name="Text 3"/>
          <p:cNvSpPr txBox="1"/>
          <p:nvPr/>
        </p:nvSpPr>
        <p:spPr>
          <a:xfrm>
            <a:off x="5180076" y="1463040"/>
            <a:ext cx="1828800" cy="457200"/>
          </a:xfrm>
          <a:prstGeom prst="rect">
            <a:avLst/>
          </a:prstGeom>
          <a:noFill/>
          <a:ln/>
        </p:spPr>
        <p:txBody>
          <a:bodyPr wrap="square" lIns="0" tIns="0" rIns="0" bIns="0" rtlCol="0" anchor="ctr"/>
          <a:lstStyle/>
          <a:p>
            <a:pPr algn="ctr" indent="0" marL="0">
              <a:buNone/>
            </a:pPr>
            <a:r>
              <a:rPr lang="en-US" sz="2000" b="1" i="1" dirty="0">
                <a:solidFill>
                  <a:srgbClr val="6B7686"/>
                </a:solidFill>
                <a:latin typeface="Calibri" pitchFamily="34" charset="0"/>
                <a:ea typeface="Calibri" pitchFamily="34" charset="-122"/>
                <a:cs typeface="Calibri" pitchFamily="34" charset="-120"/>
              </a:rPr>
              <a:t>« dont »</a:t>
            </a:r>
            <a:endParaRPr lang="en-US" sz="2000" dirty="0"/>
          </a:p>
        </p:txBody>
      </p:sp>
      <p:sp>
        <p:nvSpPr>
          <p:cNvPr id="7" name="Shape 4"/>
          <p:cNvSpPr/>
          <p:nvPr/>
        </p:nvSpPr>
        <p:spPr>
          <a:xfrm flipH="1">
            <a:off x="2075688" y="1920240"/>
            <a:ext cx="4018788" cy="365760"/>
          </a:xfrm>
          <a:prstGeom prst="line">
            <a:avLst/>
          </a:prstGeom>
          <a:noFill/>
          <a:ln w="15875">
            <a:solidFill>
              <a:srgbClr val="B8C2CF"/>
            </a:solidFill>
            <a:prstDash val="solid"/>
            <a:tailEnd type="triangle"/>
          </a:ln>
        </p:spPr>
      </p:sp>
      <p:sp>
        <p:nvSpPr>
          <p:cNvPr id="8" name="Shape 5"/>
          <p:cNvSpPr/>
          <p:nvPr/>
        </p:nvSpPr>
        <p:spPr>
          <a:xfrm>
            <a:off x="818388" y="2331720"/>
            <a:ext cx="2514600" cy="2514600"/>
          </a:xfrm>
          <a:prstGeom prst="roundRect">
            <a:avLst>
              <a:gd name="adj" fmla="val 3636"/>
            </a:avLst>
          </a:prstGeom>
          <a:solidFill>
            <a:srgbClr val="F4F6F9"/>
          </a:solidFill>
          <a:ln w="12700">
            <a:solidFill>
              <a:srgbClr val="FFFFFF">
                <a:alpha val="0"/>
              </a:srgbClr>
            </a:solidFill>
            <a:prstDash val="solid"/>
          </a:ln>
        </p:spPr>
      </p:sp>
      <p:sp>
        <p:nvSpPr>
          <p:cNvPr id="9" name="Text 6"/>
          <p:cNvSpPr txBox="1"/>
          <p:nvPr/>
        </p:nvSpPr>
        <p:spPr>
          <a:xfrm>
            <a:off x="818388" y="2395728"/>
            <a:ext cx="2514600" cy="365760"/>
          </a:xfrm>
          <a:prstGeom prst="rect">
            <a:avLst/>
          </a:prstGeom>
          <a:noFill/>
          <a:ln/>
        </p:spPr>
        <p:txBody>
          <a:bodyPr wrap="square" lIns="0" tIns="0" rIns="0" bIns="0" rtlCol="0" anchor="ctr"/>
          <a:lstStyle/>
          <a:p>
            <a:pPr algn="ctr" indent="0" marL="0">
              <a:buNone/>
            </a:pPr>
            <a:r>
              <a:rPr lang="en-US" sz="1500" i="1" dirty="0">
                <a:solidFill>
                  <a:srgbClr val="6B7686"/>
                </a:solidFill>
                <a:latin typeface="Calibri" pitchFamily="34" charset="0"/>
                <a:ea typeface="Calibri" pitchFamily="34" charset="-122"/>
                <a:cs typeface="Calibri" pitchFamily="34" charset="-120"/>
              </a:rPr>
              <a:t>avoir besoin de</a:t>
            </a:r>
            <a:endParaRPr lang="en-US" sz="1500" dirty="0"/>
          </a:p>
        </p:txBody>
      </p:sp>
      <p:sp>
        <p:nvSpPr>
          <p:cNvPr id="10" name="Text 7"/>
          <p:cNvSpPr txBox="1"/>
          <p:nvPr/>
        </p:nvSpPr>
        <p:spPr>
          <a:xfrm>
            <a:off x="818388" y="2724912"/>
            <a:ext cx="2514600" cy="274320"/>
          </a:xfrm>
          <a:prstGeom prst="rect">
            <a:avLst/>
          </a:prstGeom>
          <a:noFill/>
          <a:ln/>
        </p:spPr>
        <p:txBody>
          <a:bodyPr wrap="square" lIns="0" tIns="0" rIns="0" bIns="0" rtlCol="0" anchor="ctr"/>
          <a:lstStyle/>
          <a:p>
            <a:pPr algn="ctr" indent="0" marL="0">
              <a:buNone/>
            </a:pPr>
            <a:r>
              <a:rPr lang="en-US" sz="1400" dirty="0">
                <a:solidFill>
                  <a:srgbClr val="6B7686"/>
                </a:solidFill>
                <a:latin typeface="Calibri" pitchFamily="34" charset="0"/>
                <a:ea typeface="Calibri" pitchFamily="34" charset="-122"/>
                <a:cs typeface="Calibri" pitchFamily="34" charset="-120"/>
              </a:rPr>
              <a:t>↓</a:t>
            </a:r>
            <a:endParaRPr lang="en-US" sz="1400" dirty="0"/>
          </a:p>
        </p:txBody>
      </p:sp>
      <p:sp>
        <p:nvSpPr>
          <p:cNvPr id="11" name="Text 8"/>
          <p:cNvSpPr txBox="1"/>
          <p:nvPr/>
        </p:nvSpPr>
        <p:spPr>
          <a:xfrm>
            <a:off x="818388" y="2971800"/>
            <a:ext cx="2514600" cy="365760"/>
          </a:xfrm>
          <a:prstGeom prst="rect">
            <a:avLst/>
          </a:prstGeom>
          <a:noFill/>
          <a:ln/>
        </p:spPr>
        <p:txBody>
          <a:bodyPr wrap="square" lIns="0" tIns="0" rIns="0" bIns="0" rtlCol="0" anchor="ctr"/>
          <a:lstStyle/>
          <a:p>
            <a:pPr algn="ctr" indent="0" marL="0">
              <a:buNone/>
            </a:pPr>
            <a:r>
              <a:rPr lang="en-US" sz="1800" i="1" dirty="0">
                <a:solidFill>
                  <a:srgbClr val="17375E"/>
                </a:solidFill>
                <a:latin typeface="Calibri" pitchFamily="34" charset="0"/>
                <a:ea typeface="Calibri" pitchFamily="34" charset="-122"/>
                <a:cs typeface="Calibri" pitchFamily="34" charset="-120"/>
              </a:rPr>
              <a:t>nodig hebben</a:t>
            </a:r>
            <a:endParaRPr lang="en-US" sz="1800" dirty="0"/>
          </a:p>
        </p:txBody>
      </p:sp>
      <p:sp>
        <p:nvSpPr>
          <p:cNvPr id="12" name="Text 9"/>
          <p:cNvSpPr txBox="1"/>
          <p:nvPr/>
        </p:nvSpPr>
        <p:spPr>
          <a:xfrm>
            <a:off x="818388" y="3383280"/>
            <a:ext cx="2514600" cy="256032"/>
          </a:xfrm>
          <a:prstGeom prst="rect">
            <a:avLst/>
          </a:prstGeom>
          <a:noFill/>
          <a:ln/>
        </p:spPr>
        <p:txBody>
          <a:bodyPr wrap="square" lIns="0" tIns="0" rIns="0" bIns="0" rtlCol="0" anchor="ctr"/>
          <a:lstStyle/>
          <a:p>
            <a:pPr algn="ctr" indent="0" marL="0">
              <a:buNone/>
            </a:pPr>
            <a:r>
              <a:rPr lang="en-US" sz="900" b="1" spc="150" kern="0" dirty="0">
                <a:solidFill>
                  <a:srgbClr val="6B7686"/>
                </a:solidFill>
                <a:latin typeface="Calibri" pitchFamily="34" charset="0"/>
                <a:ea typeface="Calibri" pitchFamily="34" charset="-122"/>
                <a:cs typeface="Calibri" pitchFamily="34" charset="-120"/>
              </a:rPr>
              <a:t>PAS DE PRÉPOSITION</a:t>
            </a:r>
            <a:endParaRPr lang="en-US" sz="900" dirty="0"/>
          </a:p>
        </p:txBody>
      </p:sp>
      <p:sp>
        <p:nvSpPr>
          <p:cNvPr id="13" name="Text 10"/>
          <p:cNvSpPr txBox="1"/>
          <p:nvPr/>
        </p:nvSpPr>
        <p:spPr>
          <a:xfrm>
            <a:off x="818388" y="3639312"/>
            <a:ext cx="2514600" cy="365760"/>
          </a:xfrm>
          <a:prstGeom prst="rect">
            <a:avLst/>
          </a:prstGeom>
          <a:noFill/>
          <a:ln/>
        </p:spPr>
        <p:txBody>
          <a:bodyPr wrap="square" lIns="0" tIns="0" rIns="0" bIns="0" rtlCol="0" anchor="ctr"/>
          <a:lstStyle/>
          <a:p>
            <a:pPr algn="ctr" indent="0" marL="0">
              <a:buNone/>
            </a:pPr>
            <a:r>
              <a:rPr lang="en-US" sz="1700" b="1" i="1" dirty="0">
                <a:solidFill>
                  <a:srgbClr val="D9700F"/>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 </a:t>
            </a:r>
            <a:r>
              <a:rPr lang="en-US" sz="1700" b="1" i="1" dirty="0">
                <a:solidFill>
                  <a:srgbClr val="17375E"/>
                </a:solidFill>
                <a:latin typeface="Calibri" pitchFamily="34" charset="0"/>
                <a:ea typeface="Calibri" pitchFamily="34" charset="-122"/>
                <a:cs typeface="Calibri" pitchFamily="34" charset="-120"/>
              </a:rPr>
              <a:t>die</a:t>
            </a:r>
            <a:endParaRPr lang="en-US" sz="1700" dirty="0"/>
          </a:p>
        </p:txBody>
      </p:sp>
      <p:sp>
        <p:nvSpPr>
          <p:cNvPr id="14" name="Text 11"/>
          <p:cNvSpPr txBox="1"/>
          <p:nvPr/>
        </p:nvSpPr>
        <p:spPr>
          <a:xfrm>
            <a:off x="928116" y="4041648"/>
            <a:ext cx="2295144" cy="731520"/>
          </a:xfrm>
          <a:prstGeom prst="rect">
            <a:avLst/>
          </a:prstGeom>
          <a:noFill/>
          <a:ln/>
        </p:spPr>
        <p:txBody>
          <a:bodyPr wrap="square" lIns="0" tIns="0" rIns="0" bIns="0" rtlCol="0" anchor="t"/>
          <a:lstStyle/>
          <a:p>
            <a:pPr algn="ctr" indent="0" marL="0">
              <a:buNone/>
            </a:pPr>
            <a:r>
              <a:rPr lang="en-US" sz="1400" i="1" dirty="0">
                <a:solidFill>
                  <a:srgbClr val="1B2333"/>
                </a:solidFill>
                <a:latin typeface="Calibri" pitchFamily="34" charset="0"/>
                <a:ea typeface="Calibri" pitchFamily="34" charset="-122"/>
                <a:cs typeface="Calibri" pitchFamily="34" charset="-120"/>
              </a:rPr>
              <a:t>het dossier </a:t>
            </a:r>
            <a:r>
              <a:rPr lang="en-US" sz="1400" b="1" i="1" dirty="0">
                <a:solidFill>
                  <a:srgbClr val="D9700F"/>
                </a:solidFill>
                <a:latin typeface="Calibri" pitchFamily="34" charset="0"/>
                <a:ea typeface="Calibri" pitchFamily="34" charset="-122"/>
                <a:cs typeface="Calibri" pitchFamily="34" charset="-120"/>
              </a:rPr>
              <a:t>dat</a:t>
            </a:r>
            <a:r>
              <a:rPr lang="en-US" sz="1400" i="1" dirty="0">
                <a:solidFill>
                  <a:srgbClr val="1B2333"/>
                </a:solidFill>
                <a:latin typeface="Calibri" pitchFamily="34" charset="0"/>
                <a:ea typeface="Calibri" pitchFamily="34" charset="-122"/>
                <a:cs typeface="Calibri" pitchFamily="34" charset="-120"/>
              </a:rPr>
              <a:t> ik nodig heb</a:t>
            </a:r>
            <a:endParaRPr lang="en-US" sz="1400" dirty="0"/>
          </a:p>
        </p:txBody>
      </p:sp>
      <p:sp>
        <p:nvSpPr>
          <p:cNvPr id="15" name="Shape 12"/>
          <p:cNvSpPr/>
          <p:nvPr/>
        </p:nvSpPr>
        <p:spPr>
          <a:xfrm flipH="1">
            <a:off x="4754880" y="1920240"/>
            <a:ext cx="1339596" cy="365760"/>
          </a:xfrm>
          <a:prstGeom prst="line">
            <a:avLst/>
          </a:prstGeom>
          <a:noFill/>
          <a:ln w="15875">
            <a:solidFill>
              <a:srgbClr val="B8C2CF"/>
            </a:solidFill>
            <a:prstDash val="solid"/>
            <a:tailEnd type="triangle"/>
          </a:ln>
        </p:spPr>
      </p:sp>
      <p:sp>
        <p:nvSpPr>
          <p:cNvPr id="16" name="Shape 13"/>
          <p:cNvSpPr/>
          <p:nvPr/>
        </p:nvSpPr>
        <p:spPr>
          <a:xfrm>
            <a:off x="3497580" y="2331720"/>
            <a:ext cx="2514600" cy="2514600"/>
          </a:xfrm>
          <a:prstGeom prst="roundRect">
            <a:avLst>
              <a:gd name="adj" fmla="val 3636"/>
            </a:avLst>
          </a:prstGeom>
          <a:solidFill>
            <a:srgbClr val="F4F6F9"/>
          </a:solidFill>
          <a:ln w="12700">
            <a:solidFill>
              <a:srgbClr val="FFFFFF">
                <a:alpha val="0"/>
              </a:srgbClr>
            </a:solidFill>
            <a:prstDash val="solid"/>
          </a:ln>
        </p:spPr>
      </p:sp>
      <p:sp>
        <p:nvSpPr>
          <p:cNvPr id="17" name="Text 14"/>
          <p:cNvSpPr txBox="1"/>
          <p:nvPr/>
        </p:nvSpPr>
        <p:spPr>
          <a:xfrm>
            <a:off x="3497580" y="2395728"/>
            <a:ext cx="2514600" cy="365760"/>
          </a:xfrm>
          <a:prstGeom prst="rect">
            <a:avLst/>
          </a:prstGeom>
          <a:noFill/>
          <a:ln/>
        </p:spPr>
        <p:txBody>
          <a:bodyPr wrap="square" lIns="0" tIns="0" rIns="0" bIns="0" rtlCol="0" anchor="ctr"/>
          <a:lstStyle/>
          <a:p>
            <a:pPr algn="ctr" indent="0" marL="0">
              <a:buNone/>
            </a:pPr>
            <a:r>
              <a:rPr lang="en-US" sz="1500" i="1" dirty="0">
                <a:solidFill>
                  <a:srgbClr val="6B7686"/>
                </a:solidFill>
                <a:latin typeface="Calibri" pitchFamily="34" charset="0"/>
                <a:ea typeface="Calibri" pitchFamily="34" charset="-122"/>
                <a:cs typeface="Calibri" pitchFamily="34" charset="-120"/>
              </a:rPr>
              <a:t>parler de</a:t>
            </a:r>
            <a:endParaRPr lang="en-US" sz="1500" dirty="0"/>
          </a:p>
        </p:txBody>
      </p:sp>
      <p:sp>
        <p:nvSpPr>
          <p:cNvPr id="18" name="Text 15"/>
          <p:cNvSpPr txBox="1"/>
          <p:nvPr/>
        </p:nvSpPr>
        <p:spPr>
          <a:xfrm>
            <a:off x="3497580" y="2724912"/>
            <a:ext cx="2514600" cy="274320"/>
          </a:xfrm>
          <a:prstGeom prst="rect">
            <a:avLst/>
          </a:prstGeom>
          <a:noFill/>
          <a:ln/>
        </p:spPr>
        <p:txBody>
          <a:bodyPr wrap="square" lIns="0" tIns="0" rIns="0" bIns="0" rtlCol="0" anchor="ctr"/>
          <a:lstStyle/>
          <a:p>
            <a:pPr algn="ctr" indent="0" marL="0">
              <a:buNone/>
            </a:pPr>
            <a:r>
              <a:rPr lang="en-US" sz="1400" dirty="0">
                <a:solidFill>
                  <a:srgbClr val="6B7686"/>
                </a:solidFill>
                <a:latin typeface="Calibri" pitchFamily="34" charset="0"/>
                <a:ea typeface="Calibri" pitchFamily="34" charset="-122"/>
                <a:cs typeface="Calibri" pitchFamily="34" charset="-120"/>
              </a:rPr>
              <a:t>↓</a:t>
            </a:r>
            <a:endParaRPr lang="en-US" sz="1400" dirty="0"/>
          </a:p>
        </p:txBody>
      </p:sp>
      <p:sp>
        <p:nvSpPr>
          <p:cNvPr id="19" name="Text 16"/>
          <p:cNvSpPr txBox="1"/>
          <p:nvPr/>
        </p:nvSpPr>
        <p:spPr>
          <a:xfrm>
            <a:off x="3497580" y="2971800"/>
            <a:ext cx="2514600" cy="365760"/>
          </a:xfrm>
          <a:prstGeom prst="rect">
            <a:avLst/>
          </a:prstGeom>
          <a:noFill/>
          <a:ln/>
        </p:spPr>
        <p:txBody>
          <a:bodyPr wrap="square" lIns="0" tIns="0" rIns="0" bIns="0" rtlCol="0" anchor="ctr"/>
          <a:lstStyle/>
          <a:p>
            <a:pPr algn="ctr" indent="0" marL="0">
              <a:buNone/>
            </a:pPr>
            <a:r>
              <a:rPr lang="en-US" sz="1800" i="1" dirty="0">
                <a:solidFill>
                  <a:srgbClr val="17375E"/>
                </a:solidFill>
                <a:latin typeface="Calibri" pitchFamily="34" charset="0"/>
                <a:ea typeface="Calibri" pitchFamily="34" charset="-122"/>
                <a:cs typeface="Calibri" pitchFamily="34" charset="-120"/>
              </a:rPr>
              <a:t>praten </a:t>
            </a:r>
            <a:r>
              <a:rPr lang="en-US" sz="1800" b="1" i="1" dirty="0">
                <a:solidFill>
                  <a:srgbClr val="17375E"/>
                </a:solidFill>
                <a:latin typeface="Calibri" pitchFamily="34" charset="0"/>
                <a:ea typeface="Calibri" pitchFamily="34" charset="-122"/>
                <a:cs typeface="Calibri" pitchFamily="34" charset="-120"/>
              </a:rPr>
              <a:t>over</a:t>
            </a:r>
            <a:endParaRPr lang="en-US" sz="1800" dirty="0"/>
          </a:p>
        </p:txBody>
      </p:sp>
      <p:sp>
        <p:nvSpPr>
          <p:cNvPr id="20" name="Text 17"/>
          <p:cNvSpPr txBox="1"/>
          <p:nvPr/>
        </p:nvSpPr>
        <p:spPr>
          <a:xfrm>
            <a:off x="3497580" y="3383280"/>
            <a:ext cx="2514600" cy="256032"/>
          </a:xfrm>
          <a:prstGeom prst="rect">
            <a:avLst/>
          </a:prstGeom>
          <a:noFill/>
          <a:ln/>
        </p:spPr>
        <p:txBody>
          <a:bodyPr wrap="square" lIns="0" tIns="0" rIns="0" bIns="0" rtlCol="0" anchor="ctr"/>
          <a:lstStyle/>
          <a:p>
            <a:pPr algn="ctr" indent="0" marL="0">
              <a:buNone/>
            </a:pPr>
            <a:r>
              <a:rPr lang="en-US" sz="900" b="1" spc="150" kern="0" dirty="0">
                <a:solidFill>
                  <a:srgbClr val="6B7686"/>
                </a:solidFill>
                <a:latin typeface="Calibri" pitchFamily="34" charset="0"/>
                <a:ea typeface="Calibri" pitchFamily="34" charset="-122"/>
                <a:cs typeface="Calibri" pitchFamily="34" charset="-120"/>
              </a:rPr>
              <a:t>PERSONNE · CHOSE</a:t>
            </a:r>
            <a:endParaRPr lang="en-US" sz="900" dirty="0"/>
          </a:p>
        </p:txBody>
      </p:sp>
      <p:sp>
        <p:nvSpPr>
          <p:cNvPr id="21" name="Text 18"/>
          <p:cNvSpPr txBox="1"/>
          <p:nvPr/>
        </p:nvSpPr>
        <p:spPr>
          <a:xfrm>
            <a:off x="3497580" y="3639312"/>
            <a:ext cx="2514600" cy="365760"/>
          </a:xfrm>
          <a:prstGeom prst="rect">
            <a:avLst/>
          </a:prstGeom>
          <a:noFill/>
          <a:ln/>
        </p:spPr>
        <p:txBody>
          <a:bodyPr wrap="square" lIns="0" tIns="0" rIns="0" bIns="0" rtlCol="0" anchor="ctr"/>
          <a:lstStyle/>
          <a:p>
            <a:pPr algn="ctr" indent="0" marL="0">
              <a:buNone/>
            </a:pPr>
            <a:r>
              <a:rPr lang="en-US" sz="1700" b="1" i="1" dirty="0">
                <a:solidFill>
                  <a:srgbClr val="B4236A"/>
                </a:solidFill>
                <a:latin typeface="Calibri" pitchFamily="34" charset="0"/>
                <a:ea typeface="Calibri" pitchFamily="34" charset="-122"/>
                <a:cs typeface="Calibri" pitchFamily="34" charset="-120"/>
              </a:rPr>
              <a:t>over wie</a:t>
            </a:r>
            <a:r>
              <a:rPr lang="en-US" sz="1700" i="1" dirty="0">
                <a:solidFill>
                  <a:srgbClr val="1B2333"/>
                </a:solidFill>
                <a:latin typeface="Calibri" pitchFamily="34" charset="0"/>
                <a:ea typeface="Calibri" pitchFamily="34" charset="-122"/>
                <a:cs typeface="Calibri" pitchFamily="34" charset="-120"/>
              </a:rPr>
              <a:t> · </a:t>
            </a:r>
            <a:r>
              <a:rPr lang="en-US" sz="1700" b="1" i="1" dirty="0">
                <a:solidFill>
                  <a:srgbClr val="6E4A9E"/>
                </a:solidFill>
                <a:latin typeface="Calibri" pitchFamily="34" charset="0"/>
                <a:ea typeface="Calibri" pitchFamily="34" charset="-122"/>
                <a:cs typeface="Calibri" pitchFamily="34" charset="-120"/>
              </a:rPr>
              <a:t>waarover</a:t>
            </a:r>
            <a:endParaRPr lang="en-US" sz="1700" dirty="0"/>
          </a:p>
        </p:txBody>
      </p:sp>
      <p:sp>
        <p:nvSpPr>
          <p:cNvPr id="22" name="Text 19"/>
          <p:cNvSpPr txBox="1"/>
          <p:nvPr/>
        </p:nvSpPr>
        <p:spPr>
          <a:xfrm>
            <a:off x="3607308" y="4041648"/>
            <a:ext cx="2295144" cy="731520"/>
          </a:xfrm>
          <a:prstGeom prst="rect">
            <a:avLst/>
          </a:prstGeom>
          <a:noFill/>
          <a:ln/>
        </p:spPr>
        <p:txBody>
          <a:bodyPr wrap="square" lIns="0" tIns="0" rIns="0" bIns="0" rtlCol="0" anchor="t"/>
          <a:lstStyle/>
          <a:p>
            <a:pPr algn="ctr" indent="0" marL="0">
              <a:buNone/>
            </a:pPr>
            <a:r>
              <a:rPr lang="en-US" sz="1400" i="1" dirty="0">
                <a:solidFill>
                  <a:srgbClr val="1B2333"/>
                </a:solidFill>
                <a:latin typeface="Calibri" pitchFamily="34" charset="0"/>
                <a:ea typeface="Calibri" pitchFamily="34" charset="-122"/>
                <a:cs typeface="Calibri" pitchFamily="34" charset="-120"/>
              </a:rPr>
              <a:t>de collega </a:t>
            </a:r>
            <a:r>
              <a:rPr lang="en-US" sz="1400" b="1" i="1" dirty="0">
                <a:solidFill>
                  <a:srgbClr val="B4236A"/>
                </a:solidFill>
                <a:latin typeface="Calibri" pitchFamily="34" charset="0"/>
                <a:ea typeface="Calibri" pitchFamily="34" charset="-122"/>
                <a:cs typeface="Calibri" pitchFamily="34" charset="-120"/>
              </a:rPr>
              <a:t>over wie</a:t>
            </a:r>
            <a:r>
              <a:rPr lang="en-US" sz="1400" i="1" dirty="0">
                <a:solidFill>
                  <a:srgbClr val="1B2333"/>
                </a:solidFill>
                <a:latin typeface="Calibri" pitchFamily="34" charset="0"/>
                <a:ea typeface="Calibri" pitchFamily="34" charset="-122"/>
                <a:cs typeface="Calibri" pitchFamily="34" charset="-120"/>
              </a:rPr>
              <a:t> ik praat</a:t>
            </a:r>
            <a:endParaRPr lang="en-US" sz="1400" dirty="0"/>
          </a:p>
        </p:txBody>
      </p:sp>
      <p:sp>
        <p:nvSpPr>
          <p:cNvPr id="23" name="Shape 20"/>
          <p:cNvSpPr/>
          <p:nvPr/>
        </p:nvSpPr>
        <p:spPr>
          <a:xfrm>
            <a:off x="6094476" y="1920240"/>
            <a:ext cx="1339596" cy="365760"/>
          </a:xfrm>
          <a:prstGeom prst="line">
            <a:avLst/>
          </a:prstGeom>
          <a:noFill/>
          <a:ln w="15875">
            <a:solidFill>
              <a:srgbClr val="B8C2CF"/>
            </a:solidFill>
            <a:prstDash val="solid"/>
            <a:tailEnd type="triangle"/>
          </a:ln>
        </p:spPr>
      </p:sp>
      <p:sp>
        <p:nvSpPr>
          <p:cNvPr id="24" name="Shape 21"/>
          <p:cNvSpPr/>
          <p:nvPr/>
        </p:nvSpPr>
        <p:spPr>
          <a:xfrm>
            <a:off x="6176772" y="2331720"/>
            <a:ext cx="2514600" cy="2514600"/>
          </a:xfrm>
          <a:prstGeom prst="roundRect">
            <a:avLst>
              <a:gd name="adj" fmla="val 3636"/>
            </a:avLst>
          </a:prstGeom>
          <a:solidFill>
            <a:srgbClr val="F4F6F9"/>
          </a:solidFill>
          <a:ln w="12700">
            <a:solidFill>
              <a:srgbClr val="FFFFFF">
                <a:alpha val="0"/>
              </a:srgbClr>
            </a:solidFill>
            <a:prstDash val="solid"/>
          </a:ln>
        </p:spPr>
      </p:sp>
      <p:sp>
        <p:nvSpPr>
          <p:cNvPr id="25" name="Text 22"/>
          <p:cNvSpPr txBox="1"/>
          <p:nvPr/>
        </p:nvSpPr>
        <p:spPr>
          <a:xfrm>
            <a:off x="6176772" y="2395728"/>
            <a:ext cx="2514600" cy="365760"/>
          </a:xfrm>
          <a:prstGeom prst="rect">
            <a:avLst/>
          </a:prstGeom>
          <a:noFill/>
          <a:ln/>
        </p:spPr>
        <p:txBody>
          <a:bodyPr wrap="square" lIns="0" tIns="0" rIns="0" bIns="0" rtlCol="0" anchor="ctr"/>
          <a:lstStyle/>
          <a:p>
            <a:pPr algn="ctr" indent="0" marL="0">
              <a:buNone/>
            </a:pPr>
            <a:r>
              <a:rPr lang="en-US" sz="1500" i="1" dirty="0">
                <a:solidFill>
                  <a:srgbClr val="6B7686"/>
                </a:solidFill>
                <a:latin typeface="Calibri" pitchFamily="34" charset="0"/>
                <a:ea typeface="Calibri" pitchFamily="34" charset="-122"/>
                <a:cs typeface="Calibri" pitchFamily="34" charset="-120"/>
              </a:rPr>
              <a:t>être fier·e de</a:t>
            </a:r>
            <a:endParaRPr lang="en-US" sz="1500" dirty="0"/>
          </a:p>
        </p:txBody>
      </p:sp>
      <p:sp>
        <p:nvSpPr>
          <p:cNvPr id="26" name="Text 23"/>
          <p:cNvSpPr txBox="1"/>
          <p:nvPr/>
        </p:nvSpPr>
        <p:spPr>
          <a:xfrm>
            <a:off x="6176772" y="2724912"/>
            <a:ext cx="2514600" cy="274320"/>
          </a:xfrm>
          <a:prstGeom prst="rect">
            <a:avLst/>
          </a:prstGeom>
          <a:noFill/>
          <a:ln/>
        </p:spPr>
        <p:txBody>
          <a:bodyPr wrap="square" lIns="0" tIns="0" rIns="0" bIns="0" rtlCol="0" anchor="ctr"/>
          <a:lstStyle/>
          <a:p>
            <a:pPr algn="ctr" indent="0" marL="0">
              <a:buNone/>
            </a:pPr>
            <a:r>
              <a:rPr lang="en-US" sz="1400" dirty="0">
                <a:solidFill>
                  <a:srgbClr val="6B7686"/>
                </a:solidFill>
                <a:latin typeface="Calibri" pitchFamily="34" charset="0"/>
                <a:ea typeface="Calibri" pitchFamily="34" charset="-122"/>
                <a:cs typeface="Calibri" pitchFamily="34" charset="-120"/>
              </a:rPr>
              <a:t>↓</a:t>
            </a:r>
            <a:endParaRPr lang="en-US" sz="1400" dirty="0"/>
          </a:p>
        </p:txBody>
      </p:sp>
      <p:sp>
        <p:nvSpPr>
          <p:cNvPr id="27" name="Text 24"/>
          <p:cNvSpPr txBox="1"/>
          <p:nvPr/>
        </p:nvSpPr>
        <p:spPr>
          <a:xfrm>
            <a:off x="6176772" y="2971800"/>
            <a:ext cx="2514600" cy="365760"/>
          </a:xfrm>
          <a:prstGeom prst="rect">
            <a:avLst/>
          </a:prstGeom>
          <a:noFill/>
          <a:ln/>
        </p:spPr>
        <p:txBody>
          <a:bodyPr wrap="square" lIns="0" tIns="0" rIns="0" bIns="0" rtlCol="0" anchor="ctr"/>
          <a:lstStyle/>
          <a:p>
            <a:pPr algn="ctr" indent="0" marL="0">
              <a:buNone/>
            </a:pPr>
            <a:r>
              <a:rPr lang="en-US" sz="1800" i="1" dirty="0">
                <a:solidFill>
                  <a:srgbClr val="17375E"/>
                </a:solidFill>
                <a:latin typeface="Calibri" pitchFamily="34" charset="0"/>
                <a:ea typeface="Calibri" pitchFamily="34" charset="-122"/>
                <a:cs typeface="Calibri" pitchFamily="34" charset="-120"/>
              </a:rPr>
              <a:t>trots zijn </a:t>
            </a:r>
            <a:r>
              <a:rPr lang="en-US" sz="1800" b="1" i="1" dirty="0">
                <a:solidFill>
                  <a:srgbClr val="17375E"/>
                </a:solidFill>
                <a:latin typeface="Calibri" pitchFamily="34" charset="0"/>
                <a:ea typeface="Calibri" pitchFamily="34" charset="-122"/>
                <a:cs typeface="Calibri" pitchFamily="34" charset="-120"/>
              </a:rPr>
              <a:t>op</a:t>
            </a:r>
            <a:endParaRPr lang="en-US" sz="1800" dirty="0"/>
          </a:p>
        </p:txBody>
      </p:sp>
      <p:sp>
        <p:nvSpPr>
          <p:cNvPr id="28" name="Text 25"/>
          <p:cNvSpPr txBox="1"/>
          <p:nvPr/>
        </p:nvSpPr>
        <p:spPr>
          <a:xfrm>
            <a:off x="6176772" y="3383280"/>
            <a:ext cx="2514600" cy="256032"/>
          </a:xfrm>
          <a:prstGeom prst="rect">
            <a:avLst/>
          </a:prstGeom>
          <a:noFill/>
          <a:ln/>
        </p:spPr>
        <p:txBody>
          <a:bodyPr wrap="square" lIns="0" tIns="0" rIns="0" bIns="0" rtlCol="0" anchor="ctr"/>
          <a:lstStyle/>
          <a:p>
            <a:pPr algn="ctr" indent="0" marL="0">
              <a:buNone/>
            </a:pPr>
            <a:r>
              <a:rPr lang="en-US" sz="900" b="1" spc="150" kern="0" dirty="0">
                <a:solidFill>
                  <a:srgbClr val="6B7686"/>
                </a:solidFill>
                <a:latin typeface="Calibri" pitchFamily="34" charset="0"/>
                <a:ea typeface="Calibri" pitchFamily="34" charset="-122"/>
                <a:cs typeface="Calibri" pitchFamily="34" charset="-120"/>
              </a:rPr>
              <a:t>PERSONNE · CHOSE</a:t>
            </a:r>
            <a:endParaRPr lang="en-US" sz="900" dirty="0"/>
          </a:p>
        </p:txBody>
      </p:sp>
      <p:sp>
        <p:nvSpPr>
          <p:cNvPr id="29" name="Text 26"/>
          <p:cNvSpPr txBox="1"/>
          <p:nvPr/>
        </p:nvSpPr>
        <p:spPr>
          <a:xfrm>
            <a:off x="6176772" y="3639312"/>
            <a:ext cx="2514600" cy="365760"/>
          </a:xfrm>
          <a:prstGeom prst="rect">
            <a:avLst/>
          </a:prstGeom>
          <a:noFill/>
          <a:ln/>
        </p:spPr>
        <p:txBody>
          <a:bodyPr wrap="square" lIns="0" tIns="0" rIns="0" bIns="0" rtlCol="0" anchor="ctr"/>
          <a:lstStyle/>
          <a:p>
            <a:pPr algn="ctr" indent="0" marL="0">
              <a:buNone/>
            </a:pPr>
            <a:r>
              <a:rPr lang="en-US" sz="1700" b="1" i="1" dirty="0">
                <a:solidFill>
                  <a:srgbClr val="B4236A"/>
                </a:solidFill>
                <a:latin typeface="Calibri" pitchFamily="34" charset="0"/>
                <a:ea typeface="Calibri" pitchFamily="34" charset="-122"/>
                <a:cs typeface="Calibri" pitchFamily="34" charset="-120"/>
              </a:rPr>
              <a:t>op wie</a:t>
            </a:r>
            <a:r>
              <a:rPr lang="en-US" sz="1700" i="1" dirty="0">
                <a:solidFill>
                  <a:srgbClr val="1B2333"/>
                </a:solidFill>
                <a:latin typeface="Calibri" pitchFamily="34" charset="0"/>
                <a:ea typeface="Calibri" pitchFamily="34" charset="-122"/>
                <a:cs typeface="Calibri" pitchFamily="34" charset="-120"/>
              </a:rPr>
              <a:t> · </a:t>
            </a:r>
            <a:r>
              <a:rPr lang="en-US" sz="1700" b="1" i="1" dirty="0">
                <a:solidFill>
                  <a:srgbClr val="6E4A9E"/>
                </a:solidFill>
                <a:latin typeface="Calibri" pitchFamily="34" charset="0"/>
                <a:ea typeface="Calibri" pitchFamily="34" charset="-122"/>
                <a:cs typeface="Calibri" pitchFamily="34" charset="-120"/>
              </a:rPr>
              <a:t>waarop</a:t>
            </a:r>
            <a:endParaRPr lang="en-US" sz="1700" dirty="0"/>
          </a:p>
        </p:txBody>
      </p:sp>
      <p:sp>
        <p:nvSpPr>
          <p:cNvPr id="30" name="Text 27"/>
          <p:cNvSpPr txBox="1"/>
          <p:nvPr/>
        </p:nvSpPr>
        <p:spPr>
          <a:xfrm>
            <a:off x="6286500" y="4041648"/>
            <a:ext cx="2295144" cy="731520"/>
          </a:xfrm>
          <a:prstGeom prst="rect">
            <a:avLst/>
          </a:prstGeom>
          <a:noFill/>
          <a:ln/>
        </p:spPr>
        <p:txBody>
          <a:bodyPr wrap="square" lIns="0" tIns="0" rIns="0" bIns="0" rtlCol="0" anchor="t"/>
          <a:lstStyle/>
          <a:p>
            <a:pPr algn="ctr" indent="0" marL="0">
              <a:buNone/>
            </a:pPr>
            <a:r>
              <a:rPr lang="en-US" sz="1400" i="1" dirty="0">
                <a:solidFill>
                  <a:srgbClr val="1B2333"/>
                </a:solidFill>
                <a:latin typeface="Calibri" pitchFamily="34" charset="0"/>
                <a:ea typeface="Calibri" pitchFamily="34" charset="-122"/>
                <a:cs typeface="Calibri" pitchFamily="34" charset="-120"/>
              </a:rPr>
              <a:t>het team </a:t>
            </a:r>
            <a:r>
              <a:rPr lang="en-US" sz="1400" b="1" i="1" dirty="0">
                <a:solidFill>
                  <a:srgbClr val="6E4A9E"/>
                </a:solidFill>
                <a:latin typeface="Calibri" pitchFamily="34" charset="0"/>
                <a:ea typeface="Calibri" pitchFamily="34" charset="-122"/>
                <a:cs typeface="Calibri" pitchFamily="34" charset="-120"/>
              </a:rPr>
              <a:t>waarop</a:t>
            </a:r>
            <a:r>
              <a:rPr lang="en-US" sz="1400" i="1" dirty="0">
                <a:solidFill>
                  <a:srgbClr val="1B2333"/>
                </a:solidFill>
                <a:latin typeface="Calibri" pitchFamily="34" charset="0"/>
                <a:ea typeface="Calibri" pitchFamily="34" charset="-122"/>
                <a:cs typeface="Calibri" pitchFamily="34" charset="-120"/>
              </a:rPr>
              <a:t> ik trots ben</a:t>
            </a:r>
            <a:endParaRPr lang="en-US" sz="1400" dirty="0"/>
          </a:p>
        </p:txBody>
      </p:sp>
      <p:sp>
        <p:nvSpPr>
          <p:cNvPr id="31" name="Shape 28"/>
          <p:cNvSpPr/>
          <p:nvPr/>
        </p:nvSpPr>
        <p:spPr>
          <a:xfrm>
            <a:off x="6094476" y="1920240"/>
            <a:ext cx="4018788" cy="365760"/>
          </a:xfrm>
          <a:prstGeom prst="line">
            <a:avLst/>
          </a:prstGeom>
          <a:noFill/>
          <a:ln w="15875">
            <a:solidFill>
              <a:srgbClr val="B8C2CF"/>
            </a:solidFill>
            <a:prstDash val="solid"/>
            <a:tailEnd type="triangle"/>
          </a:ln>
        </p:spPr>
      </p:sp>
      <p:sp>
        <p:nvSpPr>
          <p:cNvPr id="32" name="Shape 29"/>
          <p:cNvSpPr/>
          <p:nvPr/>
        </p:nvSpPr>
        <p:spPr>
          <a:xfrm>
            <a:off x="8855964" y="2331720"/>
            <a:ext cx="2514600" cy="2514600"/>
          </a:xfrm>
          <a:prstGeom prst="roundRect">
            <a:avLst>
              <a:gd name="adj" fmla="val 3636"/>
            </a:avLst>
          </a:prstGeom>
          <a:solidFill>
            <a:srgbClr val="F4F6F9"/>
          </a:solidFill>
          <a:ln w="12700">
            <a:solidFill>
              <a:srgbClr val="FFFFFF">
                <a:alpha val="0"/>
              </a:srgbClr>
            </a:solidFill>
            <a:prstDash val="solid"/>
          </a:ln>
        </p:spPr>
      </p:sp>
      <p:sp>
        <p:nvSpPr>
          <p:cNvPr id="33" name="Text 30"/>
          <p:cNvSpPr txBox="1"/>
          <p:nvPr/>
        </p:nvSpPr>
        <p:spPr>
          <a:xfrm>
            <a:off x="8855964" y="2395728"/>
            <a:ext cx="2514600" cy="365760"/>
          </a:xfrm>
          <a:prstGeom prst="rect">
            <a:avLst/>
          </a:prstGeom>
          <a:noFill/>
          <a:ln/>
        </p:spPr>
        <p:txBody>
          <a:bodyPr wrap="square" lIns="0" tIns="0" rIns="0" bIns="0" rtlCol="0" anchor="ctr"/>
          <a:lstStyle/>
          <a:p>
            <a:pPr algn="ctr" indent="0" marL="0">
              <a:buNone/>
            </a:pPr>
            <a:r>
              <a:rPr lang="en-US" sz="1500" i="1" dirty="0">
                <a:solidFill>
                  <a:srgbClr val="6B7686"/>
                </a:solidFill>
                <a:latin typeface="Calibri" pitchFamily="34" charset="0"/>
                <a:ea typeface="Calibri" pitchFamily="34" charset="-122"/>
                <a:cs typeface="Calibri" pitchFamily="34" charset="-120"/>
              </a:rPr>
              <a:t>la possession</a:t>
            </a:r>
            <a:endParaRPr lang="en-US" sz="1500" dirty="0"/>
          </a:p>
        </p:txBody>
      </p:sp>
      <p:sp>
        <p:nvSpPr>
          <p:cNvPr id="34" name="Text 31"/>
          <p:cNvSpPr txBox="1"/>
          <p:nvPr/>
        </p:nvSpPr>
        <p:spPr>
          <a:xfrm>
            <a:off x="8855964" y="2724912"/>
            <a:ext cx="2514600" cy="274320"/>
          </a:xfrm>
          <a:prstGeom prst="rect">
            <a:avLst/>
          </a:prstGeom>
          <a:noFill/>
          <a:ln/>
        </p:spPr>
        <p:txBody>
          <a:bodyPr wrap="square" lIns="0" tIns="0" rIns="0" bIns="0" rtlCol="0" anchor="ctr"/>
          <a:lstStyle/>
          <a:p>
            <a:pPr algn="ctr" indent="0" marL="0">
              <a:buNone/>
            </a:pPr>
            <a:r>
              <a:rPr lang="en-US" sz="1400" dirty="0">
                <a:solidFill>
                  <a:srgbClr val="6B7686"/>
                </a:solidFill>
                <a:latin typeface="Calibri" pitchFamily="34" charset="0"/>
                <a:ea typeface="Calibri" pitchFamily="34" charset="-122"/>
                <a:cs typeface="Calibri" pitchFamily="34" charset="-120"/>
              </a:rPr>
              <a:t>↓</a:t>
            </a:r>
            <a:endParaRPr lang="en-US" sz="1400" dirty="0"/>
          </a:p>
        </p:txBody>
      </p:sp>
      <p:sp>
        <p:nvSpPr>
          <p:cNvPr id="35" name="Text 32"/>
          <p:cNvSpPr txBox="1"/>
          <p:nvPr/>
        </p:nvSpPr>
        <p:spPr>
          <a:xfrm>
            <a:off x="8855964" y="2971800"/>
            <a:ext cx="2514600" cy="365760"/>
          </a:xfrm>
          <a:prstGeom prst="rect">
            <a:avLst/>
          </a:prstGeom>
          <a:noFill/>
          <a:ln/>
        </p:spPr>
        <p:txBody>
          <a:bodyPr wrap="square" lIns="0" tIns="0" rIns="0" bIns="0" rtlCol="0" anchor="ctr"/>
          <a:lstStyle/>
          <a:p>
            <a:pPr algn="ctr" indent="0" marL="0">
              <a:buNone/>
            </a:pPr>
            <a:r>
              <a:rPr lang="en-US" sz="1800" b="1" i="1" dirty="0">
                <a:solidFill>
                  <a:srgbClr val="17375E"/>
                </a:solidFill>
                <a:latin typeface="Calibri" pitchFamily="34" charset="0"/>
                <a:ea typeface="Calibri" pitchFamily="34" charset="-122"/>
                <a:cs typeface="Calibri" pitchFamily="34" charset="-120"/>
              </a:rPr>
              <a:t>van</a:t>
            </a:r>
            <a:endParaRPr lang="en-US" sz="1800" dirty="0"/>
          </a:p>
        </p:txBody>
      </p:sp>
      <p:sp>
        <p:nvSpPr>
          <p:cNvPr id="36" name="Text 33"/>
          <p:cNvSpPr txBox="1"/>
          <p:nvPr/>
        </p:nvSpPr>
        <p:spPr>
          <a:xfrm>
            <a:off x="8855964" y="3383280"/>
            <a:ext cx="2514600" cy="256032"/>
          </a:xfrm>
          <a:prstGeom prst="rect">
            <a:avLst/>
          </a:prstGeom>
          <a:noFill/>
          <a:ln/>
        </p:spPr>
        <p:txBody>
          <a:bodyPr wrap="square" lIns="0" tIns="0" rIns="0" bIns="0" rtlCol="0" anchor="ctr"/>
          <a:lstStyle/>
          <a:p>
            <a:pPr algn="ctr" indent="0" marL="0">
              <a:buNone/>
            </a:pPr>
            <a:r>
              <a:rPr lang="en-US" sz="900" b="1" spc="150" kern="0" dirty="0">
                <a:solidFill>
                  <a:srgbClr val="6B7686"/>
                </a:solidFill>
                <a:latin typeface="Calibri" pitchFamily="34" charset="0"/>
                <a:ea typeface="Calibri" pitchFamily="34" charset="-122"/>
                <a:cs typeface="Calibri" pitchFamily="34" charset="-120"/>
              </a:rPr>
              <a:t>PERSONNE · CHOSE</a:t>
            </a:r>
            <a:endParaRPr lang="en-US" sz="900" dirty="0"/>
          </a:p>
        </p:txBody>
      </p:sp>
      <p:sp>
        <p:nvSpPr>
          <p:cNvPr id="37" name="Text 34"/>
          <p:cNvSpPr txBox="1"/>
          <p:nvPr/>
        </p:nvSpPr>
        <p:spPr>
          <a:xfrm>
            <a:off x="8855964" y="3639312"/>
            <a:ext cx="2514600" cy="365760"/>
          </a:xfrm>
          <a:prstGeom prst="rect">
            <a:avLst/>
          </a:prstGeom>
          <a:noFill/>
          <a:ln/>
        </p:spPr>
        <p:txBody>
          <a:bodyPr wrap="square" lIns="0" tIns="0" rIns="0" bIns="0" rtlCol="0" anchor="ctr"/>
          <a:lstStyle/>
          <a:p>
            <a:pPr algn="ctr" indent="0" marL="0">
              <a:buNone/>
            </a:pPr>
            <a:r>
              <a:rPr lang="en-US" sz="1700" b="1" i="1" dirty="0">
                <a:solidFill>
                  <a:srgbClr val="B4236A"/>
                </a:solidFill>
                <a:latin typeface="Calibri" pitchFamily="34" charset="0"/>
                <a:ea typeface="Calibri" pitchFamily="34" charset="-122"/>
                <a:cs typeface="Calibri" pitchFamily="34" charset="-120"/>
              </a:rPr>
              <a:t>van wie</a:t>
            </a:r>
            <a:r>
              <a:rPr lang="en-US" sz="1700" i="1" dirty="0">
                <a:solidFill>
                  <a:srgbClr val="1B2333"/>
                </a:solidFill>
                <a:latin typeface="Calibri" pitchFamily="34" charset="0"/>
                <a:ea typeface="Calibri" pitchFamily="34" charset="-122"/>
                <a:cs typeface="Calibri" pitchFamily="34" charset="-120"/>
              </a:rPr>
              <a:t> · </a:t>
            </a:r>
            <a:r>
              <a:rPr lang="en-US" sz="1700" b="1" i="1" dirty="0">
                <a:solidFill>
                  <a:srgbClr val="6E4A9E"/>
                </a:solidFill>
                <a:latin typeface="Calibri" pitchFamily="34" charset="0"/>
                <a:ea typeface="Calibri" pitchFamily="34" charset="-122"/>
                <a:cs typeface="Calibri" pitchFamily="34" charset="-120"/>
              </a:rPr>
              <a:t>waarvan</a:t>
            </a:r>
            <a:endParaRPr lang="en-US" sz="1700" dirty="0"/>
          </a:p>
        </p:txBody>
      </p:sp>
      <p:sp>
        <p:nvSpPr>
          <p:cNvPr id="38" name="Text 35"/>
          <p:cNvSpPr txBox="1"/>
          <p:nvPr/>
        </p:nvSpPr>
        <p:spPr>
          <a:xfrm>
            <a:off x="8965692" y="4041648"/>
            <a:ext cx="2295144" cy="731520"/>
          </a:xfrm>
          <a:prstGeom prst="rect">
            <a:avLst/>
          </a:prstGeom>
          <a:noFill/>
          <a:ln/>
        </p:spPr>
        <p:txBody>
          <a:bodyPr wrap="square" lIns="0" tIns="0" rIns="0" bIns="0" rtlCol="0" anchor="t"/>
          <a:lstStyle/>
          <a:p>
            <a:pPr algn="ctr" indent="0" marL="0">
              <a:buNone/>
            </a:pPr>
            <a:r>
              <a:rPr lang="en-US" sz="1400" i="1" dirty="0">
                <a:solidFill>
                  <a:srgbClr val="1B2333"/>
                </a:solidFill>
                <a:latin typeface="Calibri" pitchFamily="34" charset="0"/>
                <a:ea typeface="Calibri" pitchFamily="34" charset="-122"/>
                <a:cs typeface="Calibri" pitchFamily="34" charset="-120"/>
              </a:rPr>
              <a:t>de collega </a:t>
            </a:r>
            <a:r>
              <a:rPr lang="en-US" sz="1400" b="1" i="1" dirty="0">
                <a:solidFill>
                  <a:srgbClr val="B4236A"/>
                </a:solidFill>
                <a:latin typeface="Calibri" pitchFamily="34" charset="0"/>
                <a:ea typeface="Calibri" pitchFamily="34" charset="-122"/>
                <a:cs typeface="Calibri" pitchFamily="34" charset="-120"/>
              </a:rPr>
              <a:t>van wie</a:t>
            </a:r>
            <a:r>
              <a:rPr lang="en-US" sz="1400" i="1" dirty="0">
                <a:solidFill>
                  <a:srgbClr val="1B2333"/>
                </a:solidFill>
                <a:latin typeface="Calibri" pitchFamily="34" charset="0"/>
                <a:ea typeface="Calibri" pitchFamily="34" charset="-122"/>
                <a:cs typeface="Calibri" pitchFamily="34" charset="-120"/>
              </a:rPr>
              <a:t> de auto kapot is</a:t>
            </a:r>
            <a:endParaRPr lang="en-US" sz="1400" dirty="0"/>
          </a:p>
        </p:txBody>
      </p:sp>
      <p:sp>
        <p:nvSpPr>
          <p:cNvPr id="39" name="Shape 36"/>
          <p:cNvSpPr/>
          <p:nvPr/>
        </p:nvSpPr>
        <p:spPr>
          <a:xfrm>
            <a:off x="822960" y="5074920"/>
            <a:ext cx="5138928" cy="914400"/>
          </a:xfrm>
          <a:prstGeom prst="roundRect">
            <a:avLst>
              <a:gd name="adj" fmla="val 10000"/>
            </a:avLst>
          </a:prstGeom>
          <a:solidFill>
            <a:srgbClr val="E8F4EC"/>
          </a:solidFill>
          <a:ln w="12700">
            <a:solidFill>
              <a:srgbClr val="FFFFFF">
                <a:alpha val="0"/>
              </a:srgbClr>
            </a:solidFill>
            <a:prstDash val="solid"/>
          </a:ln>
        </p:spPr>
      </p:sp>
      <p:sp>
        <p:nvSpPr>
          <p:cNvPr id="40" name="Shape 37"/>
          <p:cNvSpPr/>
          <p:nvPr/>
        </p:nvSpPr>
        <p:spPr>
          <a:xfrm>
            <a:off x="996696" y="5248656"/>
            <a:ext cx="310896" cy="310896"/>
          </a:xfrm>
          <a:prstGeom prst="ellipse">
            <a:avLst/>
          </a:prstGeom>
          <a:solidFill>
            <a:srgbClr val="2E7D4F"/>
          </a:solidFill>
          <a:ln w="12700">
            <a:solidFill>
              <a:srgbClr val="FFFFFF">
                <a:alpha val="0"/>
              </a:srgbClr>
            </a:solidFill>
            <a:prstDash val="solid"/>
          </a:ln>
        </p:spPr>
      </p:sp>
      <p:sp>
        <p:nvSpPr>
          <p:cNvPr id="41" name="Text 38"/>
          <p:cNvSpPr txBox="1"/>
          <p:nvPr/>
        </p:nvSpPr>
        <p:spPr>
          <a:xfrm>
            <a:off x="996696" y="52486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2" name="Text 39"/>
          <p:cNvSpPr txBox="1"/>
          <p:nvPr/>
        </p:nvSpPr>
        <p:spPr>
          <a:xfrm>
            <a:off x="1444752" y="5184648"/>
            <a:ext cx="4361688" cy="292608"/>
          </a:xfrm>
          <a:prstGeom prst="rect">
            <a:avLst/>
          </a:prstGeom>
          <a:noFill/>
          <a:ln/>
        </p:spPr>
        <p:txBody>
          <a:bodyPr wrap="square" lIns="0" tIns="0" rIns="0" bIns="0" rtlCol="0" anchor="ctr"/>
          <a:lstStyle/>
          <a:p>
            <a:pPr algn="l" indent="0" marL="0">
              <a:buNone/>
            </a:pPr>
            <a:r>
              <a:rPr lang="en-US" sz="1300" b="1" dirty="0">
                <a:solidFill>
                  <a:srgbClr val="2E7D4F"/>
                </a:solidFill>
                <a:latin typeface="Calibri" pitchFamily="34" charset="0"/>
                <a:ea typeface="Calibri" pitchFamily="34" charset="-122"/>
                <a:cs typeface="Calibri" pitchFamily="34" charset="-120"/>
              </a:rPr>
              <a:t>La méthode</a:t>
            </a:r>
            <a:endParaRPr lang="en-US" sz="1300" dirty="0"/>
          </a:p>
        </p:txBody>
      </p:sp>
      <p:sp>
        <p:nvSpPr>
          <p:cNvPr id="43" name="Text 40"/>
          <p:cNvSpPr txBox="1"/>
          <p:nvPr/>
        </p:nvSpPr>
        <p:spPr>
          <a:xfrm>
            <a:off x="1444752" y="547725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1. le verbe néerlandais · 2. sa préposition · 3. personne ou chose</a:t>
            </a:r>
            <a:endParaRPr lang="en-US" sz="1400" dirty="0"/>
          </a:p>
        </p:txBody>
      </p:sp>
      <p:sp>
        <p:nvSpPr>
          <p:cNvPr id="44" name="Shape 41"/>
          <p:cNvSpPr/>
          <p:nvPr/>
        </p:nvSpPr>
        <p:spPr>
          <a:xfrm>
            <a:off x="6236208" y="5074920"/>
            <a:ext cx="5138928" cy="914400"/>
          </a:xfrm>
          <a:prstGeom prst="roundRect">
            <a:avLst>
              <a:gd name="adj" fmla="val 10000"/>
            </a:avLst>
          </a:prstGeom>
          <a:solidFill>
            <a:srgbClr val="EAF2FB"/>
          </a:solidFill>
          <a:ln w="12700">
            <a:solidFill>
              <a:srgbClr val="FFFFFF">
                <a:alpha val="0"/>
              </a:srgbClr>
            </a:solidFill>
            <a:prstDash val="solid"/>
          </a:ln>
        </p:spPr>
      </p:sp>
      <p:sp>
        <p:nvSpPr>
          <p:cNvPr id="45" name="Shape 42"/>
          <p:cNvSpPr/>
          <p:nvPr/>
        </p:nvSpPr>
        <p:spPr>
          <a:xfrm>
            <a:off x="6409944" y="5248656"/>
            <a:ext cx="310896" cy="310896"/>
          </a:xfrm>
          <a:prstGeom prst="ellipse">
            <a:avLst/>
          </a:prstGeom>
          <a:solidFill>
            <a:srgbClr val="2A6FB0"/>
          </a:solidFill>
          <a:ln w="12700">
            <a:solidFill>
              <a:srgbClr val="FFFFFF">
                <a:alpha val="0"/>
              </a:srgbClr>
            </a:solidFill>
            <a:prstDash val="solid"/>
          </a:ln>
        </p:spPr>
      </p:sp>
      <p:sp>
        <p:nvSpPr>
          <p:cNvPr id="46" name="Text 43"/>
          <p:cNvSpPr txBox="1"/>
          <p:nvPr/>
        </p:nvSpPr>
        <p:spPr>
          <a:xfrm>
            <a:off x="6409944" y="52486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7" name="Text 44"/>
          <p:cNvSpPr txBox="1"/>
          <p:nvPr/>
        </p:nvSpPr>
        <p:spPr>
          <a:xfrm>
            <a:off x="6858000" y="5184648"/>
            <a:ext cx="4361688" cy="292608"/>
          </a:xfrm>
          <a:prstGeom prst="rect">
            <a:avLst/>
          </a:prstGeom>
          <a:noFill/>
          <a:ln/>
        </p:spPr>
        <p:txBody>
          <a:bodyPr wrap="square" lIns="0" tIns="0" rIns="0" bIns="0" rtlCol="0" anchor="ctr"/>
          <a:lstStyle/>
          <a:p>
            <a:pPr algn="l" indent="0" marL="0">
              <a:buNone/>
            </a:pPr>
            <a:r>
              <a:rPr lang="en-US" sz="1300" b="1" dirty="0">
                <a:solidFill>
                  <a:srgbClr val="2A6FB0"/>
                </a:solidFill>
                <a:latin typeface="Calibri" pitchFamily="34" charset="0"/>
                <a:ea typeface="Calibri" pitchFamily="34" charset="-122"/>
                <a:cs typeface="Calibri" pitchFamily="34" charset="-120"/>
              </a:rPr>
              <a:t>Très écrit</a:t>
            </a:r>
            <a:endParaRPr lang="en-US" sz="1300" dirty="0"/>
          </a:p>
        </p:txBody>
      </p:sp>
      <p:sp>
        <p:nvSpPr>
          <p:cNvPr id="48" name="Text 45"/>
          <p:cNvSpPr txBox="1"/>
          <p:nvPr/>
        </p:nvSpPr>
        <p:spPr>
          <a:xfrm>
            <a:off x="6858000" y="547725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de man </a:t>
            </a:r>
            <a:r>
              <a:rPr lang="en-US" sz="1400" b="1" i="1" dirty="0">
                <a:solidFill>
                  <a:srgbClr val="1B2333"/>
                </a:solidFill>
                <a:latin typeface="Calibri" pitchFamily="34" charset="0"/>
                <a:ea typeface="Calibri" pitchFamily="34" charset="-122"/>
                <a:cs typeface="Calibri" pitchFamily="34" charset="-120"/>
              </a:rPr>
              <a:t>wiens</a:t>
            </a:r>
            <a:r>
              <a:rPr lang="en-US" sz="1400" i="1" dirty="0">
                <a:solidFill>
                  <a:srgbClr val="1B2333"/>
                </a:solidFill>
                <a:latin typeface="Calibri" pitchFamily="34" charset="0"/>
                <a:ea typeface="Calibri" pitchFamily="34" charset="-122"/>
                <a:cs typeface="Calibri" pitchFamily="34" charset="-120"/>
              </a:rPr>
              <a:t> auto… · de vrouw </a:t>
            </a:r>
            <a:r>
              <a:rPr lang="en-US" sz="1400" b="1" i="1" dirty="0">
                <a:solidFill>
                  <a:srgbClr val="1B2333"/>
                </a:solidFill>
                <a:latin typeface="Calibri" pitchFamily="34" charset="0"/>
                <a:ea typeface="Calibri" pitchFamily="34" charset="-122"/>
                <a:cs typeface="Calibri" pitchFamily="34" charset="-120"/>
              </a:rPr>
              <a:t>wier</a:t>
            </a:r>
            <a:r>
              <a:rPr lang="en-US" sz="1400" i="1" dirty="0">
                <a:solidFill>
                  <a:srgbClr val="1B2333"/>
                </a:solidFill>
                <a:latin typeface="Calibri" pitchFamily="34" charset="0"/>
                <a:ea typeface="Calibri" pitchFamily="34" charset="-122"/>
                <a:cs typeface="Calibri" pitchFamily="34" charset="-120"/>
              </a:rPr>
              <a:t> auto…</a:t>
            </a:r>
            <a:r>
              <a:rPr lang="en-US" sz="1400" dirty="0">
                <a:solidFill>
                  <a:srgbClr val="1B2333"/>
                </a:solidFill>
                <a:latin typeface="Calibri" pitchFamily="34" charset="0"/>
                <a:ea typeface="Calibri" pitchFamily="34" charset="-122"/>
                <a:cs typeface="Calibri" pitchFamily="34" charset="-120"/>
              </a:rPr>
              <a:t> (à l’oral : </a:t>
            </a:r>
            <a:r>
              <a:rPr lang="en-US" sz="1400" b="1" i="1" dirty="0">
                <a:solidFill>
                  <a:srgbClr val="B4236A"/>
                </a:solidFill>
                <a:latin typeface="Calibri" pitchFamily="34" charset="0"/>
                <a:ea typeface="Calibri" pitchFamily="34" charset="-122"/>
                <a:cs typeface="Calibri" pitchFamily="34" charset="-120"/>
              </a:rPr>
              <a:t>van wie</a:t>
            </a:r>
            <a:r>
              <a:rPr lang="en-US" sz="1400" dirty="0">
                <a:solidFill>
                  <a:srgbClr val="1B2333"/>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carte FR → NL</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LA CARTE</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43032" cy="914400"/>
        </p:xfrm>
        <a:graphic>
          <a:graphicData uri="http://schemas.openxmlformats.org/drawingml/2006/table">
            <a:tbl>
              <a:tblPr/>
              <a:tblGrid>
                <a:gridCol w="3429000"/>
                <a:gridCol w="3017520"/>
                <a:gridCol w="4096512"/>
              </a:tblGrid>
              <a:tr h="41148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qui, que (nom </a:t>
                      </a:r>
                      <a:r>
                        <a:rPr lang="en-US" sz="1600" i="1" dirty="0">
                          <a:solidFill>
                            <a:srgbClr val="1B2333"/>
                          </a:solidFill>
                          <a:latin typeface="Calibri" pitchFamily="34" charset="0"/>
                          <a:ea typeface="Calibri" pitchFamily="34" charset="-122"/>
                          <a:cs typeface="Calibri" pitchFamily="34" charset="-120"/>
                        </a:rPr>
                        <a:t>de</a:t>
                      </a:r>
                      <a:r>
                        <a:rPr lang="en-US" sz="1600" dirty="0">
                          <a:solidFill>
                            <a:srgbClr val="1B2333"/>
                          </a:solidFill>
                          <a:latin typeface="Calibri" pitchFamily="34" charset="0"/>
                          <a:ea typeface="Calibri" pitchFamily="34" charset="-122"/>
                          <a:cs typeface="Calibri" pitchFamily="34" charset="-120"/>
                        </a:rPr>
                        <a:t>, pluriel)</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7375E"/>
                          </a:solidFill>
                          <a:latin typeface="Calibri" pitchFamily="34" charset="0"/>
                          <a:ea typeface="Calibri" pitchFamily="34" charset="-122"/>
                          <a:cs typeface="Calibri" pitchFamily="34" charset="-120"/>
                        </a:rPr>
                        <a:t>die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klant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belt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qui, que (nom </a:t>
                      </a:r>
                      <a:r>
                        <a:rPr lang="en-US" sz="1600" i="1" dirty="0">
                          <a:solidFill>
                            <a:srgbClr val="1B2333"/>
                          </a:solidFill>
                          <a:latin typeface="Calibri" pitchFamily="34" charset="0"/>
                          <a:ea typeface="Calibri" pitchFamily="34" charset="-122"/>
                          <a:cs typeface="Calibri" pitchFamily="34" charset="-120"/>
                        </a:rPr>
                        <a:t>het</a:t>
                      </a:r>
                      <a:r>
                        <a:rPr lang="en-US" sz="1600" dirty="0">
                          <a:solidFill>
                            <a:srgbClr val="1B233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D9700F"/>
                          </a:solidFill>
                          <a:latin typeface="Calibri" pitchFamily="34" charset="0"/>
                          <a:ea typeface="Calibri" pitchFamily="34" charset="-122"/>
                          <a:cs typeface="Calibri" pitchFamily="34" charset="-120"/>
                        </a:rPr>
                        <a:t>dat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rapport </a:t>
                      </a:r>
                      <a:r>
                        <a:rPr lang="en-US" sz="1600" b="1" i="1" dirty="0">
                          <a:solidFill>
                            <a:srgbClr val="D9700F"/>
                          </a:solidFill>
                          <a:latin typeface="Calibri" pitchFamily="34" charset="0"/>
                          <a:ea typeface="Calibri" pitchFamily="34" charset="-122"/>
                          <a:cs typeface="Calibri" pitchFamily="34" charset="-120"/>
                        </a:rPr>
                        <a:t>dat</a:t>
                      </a:r>
                      <a:r>
                        <a:rPr lang="en-US" sz="1600" i="1" dirty="0">
                          <a:solidFill>
                            <a:srgbClr val="1B2333"/>
                          </a:solidFill>
                          <a:latin typeface="Calibri" pitchFamily="34" charset="0"/>
                          <a:ea typeface="Calibri" pitchFamily="34" charset="-122"/>
                          <a:cs typeface="Calibri" pitchFamily="34" charset="-120"/>
                        </a:rPr>
                        <a:t> ik lees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ce qui, ce que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E7D4F"/>
                          </a:solidFill>
                          <a:latin typeface="Calibri" pitchFamily="34" charset="0"/>
                          <a:ea typeface="Calibri" pitchFamily="34" charset="-122"/>
                          <a:cs typeface="Calibri" pitchFamily="34" charset="-120"/>
                        </a:rPr>
                        <a:t>wat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je zegt, klopt.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tout ce que, quelque chose que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alles</a:t>
                      </a:r>
                      <a:r>
                        <a:rPr lang="en-US" sz="1600" dirty="0">
                          <a:solidFill>
                            <a:srgbClr val="1B2333"/>
                          </a:solidFill>
                          <a:latin typeface="Calibri" pitchFamily="34" charset="0"/>
                          <a:ea typeface="Calibri" pitchFamily="34" charset="-122"/>
                          <a:cs typeface="Calibri" pitchFamily="34" charset="-120"/>
                        </a:rPr>
                        <a:t> </a:t>
                      </a:r>
                      <a:r>
                        <a:rPr lang="en-US" sz="1600" b="1" dirty="0">
                          <a:solidFill>
                            <a:srgbClr val="2E7D4F"/>
                          </a:solidFill>
                          <a:latin typeface="Calibri" pitchFamily="34" charset="0"/>
                          <a:ea typeface="Calibri" pitchFamily="34" charset="-122"/>
                          <a:cs typeface="Calibri" pitchFamily="34" charset="-120"/>
                        </a:rPr>
                        <a:t>wat</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iets</a:t>
                      </a:r>
                      <a:r>
                        <a:rPr lang="en-US" sz="1600" dirty="0">
                          <a:solidFill>
                            <a:srgbClr val="1B2333"/>
                          </a:solidFill>
                          <a:latin typeface="Calibri" pitchFamily="34" charset="0"/>
                          <a:ea typeface="Calibri" pitchFamily="34" charset="-122"/>
                          <a:cs typeface="Calibri" pitchFamily="34" charset="-120"/>
                        </a:rPr>
                        <a:t> </a:t>
                      </a:r>
                      <a:r>
                        <a:rPr lang="en-US" sz="1600" b="1" dirty="0">
                          <a:solidFill>
                            <a:srgbClr val="2E7D4F"/>
                          </a:solidFill>
                          <a:latin typeface="Calibri" pitchFamily="34" charset="0"/>
                          <a:ea typeface="Calibri" pitchFamily="34" charset="-122"/>
                          <a:cs typeface="Calibri" pitchFamily="34" charset="-120"/>
                        </a:rPr>
                        <a:t>wat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alles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je nodig hebt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celui qui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B4236A"/>
                          </a:solidFill>
                          <a:latin typeface="Calibri" pitchFamily="34" charset="0"/>
                          <a:ea typeface="Calibri" pitchFamily="34" charset="-122"/>
                          <a:cs typeface="Calibri" pitchFamily="34" charset="-120"/>
                        </a:rPr>
                        <a:t>wie</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degene</a:t>
                      </a:r>
                      <a:r>
                        <a:rPr lang="en-US" sz="1600" dirty="0">
                          <a:solidFill>
                            <a:srgbClr val="1B2333"/>
                          </a:solidFill>
                          <a:latin typeface="Calibri" pitchFamily="34" charset="0"/>
                          <a:ea typeface="Calibri" pitchFamily="34" charset="-122"/>
                          <a:cs typeface="Calibri" pitchFamily="34" charset="-120"/>
                        </a:rPr>
                        <a:t> </a:t>
                      </a:r>
                      <a:r>
                        <a:rPr lang="en-US" sz="1600" b="1" dirty="0">
                          <a:solidFill>
                            <a:srgbClr val="17375E"/>
                          </a:solidFill>
                          <a:latin typeface="Calibri" pitchFamily="34" charset="0"/>
                          <a:ea typeface="Calibri" pitchFamily="34" charset="-122"/>
                          <a:cs typeface="Calibri" pitchFamily="34" charset="-120"/>
                        </a:rPr>
                        <a:t>die</a:t>
                      </a:r>
                      <a:r>
                        <a:rPr lang="en-US" sz="1600" dirty="0">
                          <a:solidFill>
                            <a:srgbClr val="1B233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i="1" dirty="0">
                          <a:solidFill>
                            <a:srgbClr val="B4236A"/>
                          </a:solidFill>
                          <a:latin typeface="Calibri" pitchFamily="34" charset="0"/>
                          <a:ea typeface="Calibri" pitchFamily="34" charset="-122"/>
                          <a:cs typeface="Calibri" pitchFamily="34" charset="-120"/>
                        </a:rPr>
                        <a:t>Wie</a:t>
                      </a:r>
                      <a:r>
                        <a:rPr lang="en-US" sz="1600" i="1" dirty="0">
                          <a:solidFill>
                            <a:srgbClr val="1B2333"/>
                          </a:solidFill>
                          <a:latin typeface="Calibri" pitchFamily="34" charset="0"/>
                          <a:ea typeface="Calibri" pitchFamily="34" charset="-122"/>
                          <a:cs typeface="Calibri" pitchFamily="34" charset="-120"/>
                        </a:rPr>
                        <a:t> wil, mag gaan.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préposition + qui (personne)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préposition + </a:t>
                      </a:r>
                      <a:r>
                        <a:rPr lang="en-US" sz="1600" b="1" dirty="0">
                          <a:solidFill>
                            <a:srgbClr val="B4236A"/>
                          </a:solidFill>
                          <a:latin typeface="Calibri" pitchFamily="34" charset="0"/>
                          <a:ea typeface="Calibri" pitchFamily="34" charset="-122"/>
                          <a:cs typeface="Calibri" pitchFamily="34" charset="-120"/>
                        </a:rPr>
                        <a:t>wie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collega </a:t>
                      </a:r>
                      <a:r>
                        <a:rPr lang="en-US" sz="1600" b="1" i="1" dirty="0">
                          <a:solidFill>
                            <a:srgbClr val="B4236A"/>
                          </a:solidFill>
                          <a:latin typeface="Calibri" pitchFamily="34" charset="0"/>
                          <a:ea typeface="Calibri" pitchFamily="34" charset="-122"/>
                          <a:cs typeface="Calibri" pitchFamily="34" charset="-120"/>
                        </a:rPr>
                        <a:t>met wie</a:t>
                      </a:r>
                      <a:r>
                        <a:rPr lang="en-US" sz="1600" i="1" dirty="0">
                          <a:solidFill>
                            <a:srgbClr val="1B2333"/>
                          </a:solidFill>
                          <a:latin typeface="Calibri" pitchFamily="34" charset="0"/>
                          <a:ea typeface="Calibri" pitchFamily="34" charset="-122"/>
                          <a:cs typeface="Calibri" pitchFamily="34" charset="-120"/>
                        </a:rPr>
                        <a:t> ik 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préposition + lequel (chose)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6E4A9E"/>
                          </a:solidFill>
                          <a:latin typeface="Calibri" pitchFamily="34" charset="0"/>
                          <a:ea typeface="Calibri" pitchFamily="34" charset="-122"/>
                          <a:cs typeface="Calibri" pitchFamily="34" charset="-120"/>
                        </a:rPr>
                        <a:t>waar</a:t>
                      </a:r>
                      <a:r>
                        <a:rPr lang="en-US" sz="1600" dirty="0">
                          <a:solidFill>
                            <a:srgbClr val="1B2333"/>
                          </a:solidFill>
                          <a:latin typeface="Calibri" pitchFamily="34" charset="0"/>
                          <a:ea typeface="Calibri" pitchFamily="34" charset="-122"/>
                          <a:cs typeface="Calibri" pitchFamily="34" charset="-120"/>
                        </a:rPr>
                        <a:t> + préposition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pen </a:t>
                      </a:r>
                      <a:r>
                        <a:rPr lang="en-US" sz="1600" b="1" i="1" dirty="0">
                          <a:solidFill>
                            <a:srgbClr val="6E4A9E"/>
                          </a:solidFill>
                          <a:latin typeface="Calibri" pitchFamily="34" charset="0"/>
                          <a:ea typeface="Calibri" pitchFamily="34" charset="-122"/>
                          <a:cs typeface="Calibri" pitchFamily="34" charset="-120"/>
                        </a:rPr>
                        <a:t>waarmee</a:t>
                      </a:r>
                      <a:r>
                        <a:rPr lang="en-US" sz="1600" i="1" dirty="0">
                          <a:solidFill>
                            <a:srgbClr val="1B2333"/>
                          </a:solidFill>
                          <a:latin typeface="Calibri" pitchFamily="34" charset="0"/>
                          <a:ea typeface="Calibri" pitchFamily="34" charset="-122"/>
                          <a:cs typeface="Calibri" pitchFamily="34" charset="-120"/>
                        </a:rPr>
                        <a:t> ik schrijf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où (lieu)</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6E4A9E"/>
                          </a:solidFill>
                          <a:latin typeface="Calibri" pitchFamily="34" charset="0"/>
                          <a:ea typeface="Calibri" pitchFamily="34" charset="-122"/>
                          <a:cs typeface="Calibri" pitchFamily="34" charset="-120"/>
                        </a:rPr>
                        <a:t>waar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kantoor </a:t>
                      </a:r>
                      <a:r>
                        <a:rPr lang="en-US" sz="1600" b="1" i="1" dirty="0">
                          <a:solidFill>
                            <a:srgbClr val="6E4A9E"/>
                          </a:solidFill>
                          <a:latin typeface="Calibri" pitchFamily="34" charset="0"/>
                          <a:ea typeface="Calibri" pitchFamily="34" charset="-122"/>
                          <a:cs typeface="Calibri" pitchFamily="34" charset="-120"/>
                        </a:rPr>
                        <a:t>waar</a:t>
                      </a:r>
                      <a:r>
                        <a:rPr lang="en-US" sz="1600" i="1" dirty="0">
                          <a:solidFill>
                            <a:srgbClr val="1B2333"/>
                          </a:solidFill>
                          <a:latin typeface="Calibri" pitchFamily="34" charset="0"/>
                          <a:ea typeface="Calibri" pitchFamily="34" charset="-122"/>
                          <a:cs typeface="Calibri" pitchFamily="34" charset="-120"/>
                        </a:rPr>
                        <a:t> ik 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où (temps)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6FB0"/>
                          </a:solidFill>
                          <a:latin typeface="Calibri" pitchFamily="34" charset="0"/>
                          <a:ea typeface="Calibri" pitchFamily="34" charset="-122"/>
                          <a:cs typeface="Calibri" pitchFamily="34" charset="-120"/>
                        </a:rPr>
                        <a:t>dat</a:t>
                      </a:r>
                      <a:r>
                        <a:rPr lang="en-US" sz="1600" dirty="0">
                          <a:solidFill>
                            <a:srgbClr val="1B2333"/>
                          </a:solidFill>
                          <a:latin typeface="Calibri" pitchFamily="34" charset="0"/>
                          <a:ea typeface="Calibri" pitchFamily="34" charset="-122"/>
                          <a:cs typeface="Calibri" pitchFamily="34" charset="-120"/>
                        </a:rPr>
                        <a:t>, </a:t>
                      </a:r>
                      <a:r>
                        <a:rPr lang="en-US" sz="1600" b="1" dirty="0">
                          <a:solidFill>
                            <a:srgbClr val="2A6FB0"/>
                          </a:solidFill>
                          <a:latin typeface="Calibri" pitchFamily="34" charset="0"/>
                          <a:ea typeface="Calibri" pitchFamily="34" charset="-122"/>
                          <a:cs typeface="Calibri" pitchFamily="34" charset="-120"/>
                        </a:rPr>
                        <a:t>waarop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dag </a:t>
                      </a:r>
                      <a:r>
                        <a:rPr lang="en-US" sz="1600" b="1" i="1" dirty="0">
                          <a:solidFill>
                            <a:srgbClr val="2A6FB0"/>
                          </a:solidFill>
                          <a:latin typeface="Calibri" pitchFamily="34" charset="0"/>
                          <a:ea typeface="Calibri" pitchFamily="34" charset="-122"/>
                          <a:cs typeface="Calibri" pitchFamily="34" charset="-120"/>
                        </a:rPr>
                        <a:t>dat</a:t>
                      </a:r>
                      <a:r>
                        <a:rPr lang="en-US" sz="1600" i="1" dirty="0">
                          <a:solidFill>
                            <a:srgbClr val="1B2333"/>
                          </a:solidFill>
                          <a:latin typeface="Calibri" pitchFamily="34" charset="0"/>
                          <a:ea typeface="Calibri" pitchFamily="34" charset="-122"/>
                          <a:cs typeface="Calibri" pitchFamily="34" charset="-120"/>
                        </a:rPr>
                        <a:t> ik begon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11480">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dont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selon le 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dossier </a:t>
                      </a:r>
                      <a:r>
                        <a:rPr lang="en-US" sz="1600" b="1" i="1" dirty="0">
                          <a:solidFill>
                            <a:srgbClr val="D9700F"/>
                          </a:solidFill>
                          <a:latin typeface="Calibri" pitchFamily="34" charset="0"/>
                          <a:ea typeface="Calibri" pitchFamily="34" charset="-122"/>
                          <a:cs typeface="Calibri" pitchFamily="34" charset="-120"/>
                        </a:rPr>
                        <a:t>dat</a:t>
                      </a:r>
                      <a:r>
                        <a:rPr lang="en-US" sz="1600" i="1" dirty="0">
                          <a:solidFill>
                            <a:srgbClr val="1B2333"/>
                          </a:solidFill>
                          <a:latin typeface="Calibri" pitchFamily="34" charset="0"/>
                          <a:ea typeface="Calibri" pitchFamily="34" charset="-122"/>
                          <a:cs typeface="Calibri" pitchFamily="34" charset="-120"/>
                        </a:rPr>
                        <a:t> ik nodig heb</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pic>
        <p:nvPicPr>
          <p:cNvPr id="6" name="Image 0" descr="Camera">    </p:cNvPr>
          <p:cNvPicPr>
            <a:picLocks noChangeAspect="1"/>
          </p:cNvPicPr>
          <p:nvPr/>
        </p:nvPicPr>
        <p:blipFill>
          <a:blip r:embed="rId1"/>
          <a:stretch>
            <a:fillRect/>
          </a:stretch>
        </p:blipFill>
        <p:spPr>
          <a:xfrm>
            <a:off x="11247120" y="274320"/>
            <a:ext cx="292608" cy="29260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Sept pièges à éviter</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B83227"/>
                </a:solidFill>
                <a:latin typeface="Calibri" pitchFamily="34" charset="0"/>
                <a:ea typeface="Calibri" pitchFamily="34" charset="-122"/>
                <a:cs typeface="Calibri" pitchFamily="34" charset="-120"/>
              </a:rPr>
              <a:t>PIÈGES</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554480"/>
          <a:ext cx="10543032" cy="914400"/>
        </p:xfrm>
        <a:graphic>
          <a:graphicData uri="http://schemas.openxmlformats.org/drawingml/2006/table">
            <a:tbl>
              <a:tblPr/>
              <a:tblGrid>
                <a:gridCol w="3017520"/>
                <a:gridCol w="3749040"/>
                <a:gridCol w="3776472"/>
              </a:tblGrid>
              <a:tr h="512064">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LE PIÈGE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trike="sngStrike" spc="200" kern="0" dirty="0">
                          <a:solidFill>
                            <a:srgbClr val="B5473C"/>
                          </a:solidFill>
                          <a:latin typeface="Calibri" pitchFamily="34" charset="0"/>
                          <a:ea typeface="Calibri" pitchFamily="34" charset="-122"/>
                          <a:cs typeface="Calibri" pitchFamily="34" charset="-120"/>
                        </a:rPr>
                        <a:t>FAUX</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JUSTE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le mot </a:t>
                      </a:r>
                      <a:r>
                        <a:rPr lang="en-US" sz="1700" i="1" dirty="0">
                          <a:solidFill>
                            <a:srgbClr val="1B2333"/>
                          </a:solidFill>
                          <a:latin typeface="Calibri" pitchFamily="34" charset="0"/>
                          <a:ea typeface="Calibri" pitchFamily="34" charset="-122"/>
                          <a:cs typeface="Calibri" pitchFamily="34" charset="-120"/>
                        </a:rPr>
                        <a:t>het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het meisje die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meisje </a:t>
                      </a:r>
                      <a:r>
                        <a:rPr lang="en-US" sz="1700" b="1" i="1" dirty="0">
                          <a:solidFill>
                            <a:srgbClr val="D9700F"/>
                          </a:solidFill>
                          <a:latin typeface="Calibri" pitchFamily="34" charset="0"/>
                          <a:ea typeface="Calibri" pitchFamily="34" charset="-122"/>
                          <a:cs typeface="Calibri" pitchFamily="34" charset="-120"/>
                        </a:rPr>
                        <a:t>dat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la place du verbe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die heeft de sleutel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17375E"/>
                          </a:solidFill>
                          <a:latin typeface="Calibri" pitchFamily="34" charset="0"/>
                          <a:ea typeface="Calibri" pitchFamily="34" charset="-122"/>
                          <a:cs typeface="Calibri" pitchFamily="34" charset="-120"/>
                        </a:rPr>
                        <a:t>die</a:t>
                      </a:r>
                      <a:r>
                        <a:rPr lang="en-US" sz="1700" i="1" dirty="0">
                          <a:solidFill>
                            <a:srgbClr val="1B2333"/>
                          </a:solidFill>
                          <a:latin typeface="Calibri" pitchFamily="34" charset="0"/>
                          <a:ea typeface="Calibri" pitchFamily="34" charset="-122"/>
                          <a:cs typeface="Calibri" pitchFamily="34" charset="-120"/>
                        </a:rPr>
                        <a:t> de sleutel </a:t>
                      </a:r>
                      <a:r>
                        <a:rPr lang="en-US" sz="1700" b="1" i="1" dirty="0">
                          <a:solidFill>
                            <a:srgbClr val="B83227"/>
                          </a:solidFill>
                          <a:latin typeface="Calibri" pitchFamily="34" charset="0"/>
                          <a:ea typeface="Calibri" pitchFamily="34" charset="-122"/>
                          <a:cs typeface="Calibri" pitchFamily="34" charset="-120"/>
                        </a:rPr>
                        <a:t>heeft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une phrase entière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 dat ik jammer vind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2E7D4F"/>
                          </a:solidFill>
                          <a:latin typeface="Calibri" pitchFamily="34" charset="0"/>
                          <a:ea typeface="Calibri" pitchFamily="34" charset="-122"/>
                          <a:cs typeface="Calibri" pitchFamily="34" charset="-120"/>
                        </a:rPr>
                        <a:t>wat</a:t>
                      </a:r>
                      <a:r>
                        <a:rPr lang="en-US" sz="1700" i="1" dirty="0">
                          <a:solidFill>
                            <a:srgbClr val="1B2333"/>
                          </a:solidFill>
                          <a:latin typeface="Calibri" pitchFamily="34" charset="0"/>
                          <a:ea typeface="Calibri" pitchFamily="34" charset="-122"/>
                          <a:cs typeface="Calibri" pitchFamily="34" charset="-120"/>
                        </a:rPr>
                        <a:t> ik jammer vind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alles, iets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alles die je zegt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alles </a:t>
                      </a:r>
                      <a:r>
                        <a:rPr lang="en-US" sz="1700" b="1" i="1" dirty="0">
                          <a:solidFill>
                            <a:srgbClr val="2E7D4F"/>
                          </a:solidFill>
                          <a:latin typeface="Calibri" pitchFamily="34" charset="0"/>
                          <a:ea typeface="Calibri" pitchFamily="34" charset="-122"/>
                          <a:cs typeface="Calibri" pitchFamily="34" charset="-120"/>
                        </a:rPr>
                        <a:t>wat</a:t>
                      </a:r>
                      <a:r>
                        <a:rPr lang="en-US" sz="1700" i="1" dirty="0">
                          <a:solidFill>
                            <a:srgbClr val="1B2333"/>
                          </a:solidFill>
                          <a:latin typeface="Calibri" pitchFamily="34" charset="0"/>
                          <a:ea typeface="Calibri" pitchFamily="34" charset="-122"/>
                          <a:cs typeface="Calibri" pitchFamily="34" charset="-120"/>
                        </a:rPr>
                        <a:t> je zegt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préposition + chose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de pen met wat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pen </a:t>
                      </a:r>
                      <a:r>
                        <a:rPr lang="en-US" sz="1700" b="1" i="1" dirty="0">
                          <a:solidFill>
                            <a:srgbClr val="6E4A9E"/>
                          </a:solidFill>
                          <a:latin typeface="Calibri" pitchFamily="34" charset="0"/>
                          <a:ea typeface="Calibri" pitchFamily="34" charset="-122"/>
                          <a:cs typeface="Calibri" pitchFamily="34" charset="-120"/>
                        </a:rPr>
                        <a:t>waarmee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le temps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de dag waar ik begon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dag </a:t>
                      </a:r>
                      <a:r>
                        <a:rPr lang="en-US" sz="1700" b="1" i="1" dirty="0">
                          <a:solidFill>
                            <a:srgbClr val="2A6FB0"/>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ik begon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l’oubli (anglais)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het boek ik lees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boek </a:t>
                      </a:r>
                      <a:r>
                        <a:rPr lang="en-US" sz="1700" b="1" i="1" dirty="0">
                          <a:solidFill>
                            <a:srgbClr val="D9700F"/>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ik lees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L’arbre de décision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LA SYNTHÈSE</a:t>
            </a:r>
            <a:endParaRPr lang="en-US" sz="1100" dirty="0"/>
          </a:p>
        </p:txBody>
      </p:sp>
      <p:sp>
        <p:nvSpPr>
          <p:cNvPr id="5" name="Shape 2"/>
          <p:cNvSpPr/>
          <p:nvPr/>
        </p:nvSpPr>
        <p:spPr>
          <a:xfrm>
            <a:off x="3945636" y="1453896"/>
            <a:ext cx="4297680" cy="475488"/>
          </a:xfrm>
          <a:prstGeom prst="roundRect">
            <a:avLst>
              <a:gd name="adj" fmla="val 50000"/>
            </a:avLst>
          </a:prstGeom>
          <a:solidFill>
            <a:srgbClr val="FFFFFF"/>
          </a:solidFill>
          <a:ln w="15875">
            <a:solidFill>
              <a:srgbClr val="17375E"/>
            </a:solidFill>
            <a:prstDash val="solid"/>
          </a:ln>
        </p:spPr>
      </p:sp>
      <p:sp>
        <p:nvSpPr>
          <p:cNvPr id="6" name="Text 3"/>
          <p:cNvSpPr txBox="1"/>
          <p:nvPr/>
        </p:nvSpPr>
        <p:spPr>
          <a:xfrm>
            <a:off x="3945636" y="1453896"/>
            <a:ext cx="4297680" cy="475488"/>
          </a:xfrm>
          <a:prstGeom prst="rect">
            <a:avLst/>
          </a:prstGeom>
          <a:noFill/>
          <a:ln/>
        </p:spPr>
        <p:txBody>
          <a:bodyPr wrap="square" lIns="0" tIns="0" rIns="0" bIns="0" rtlCol="0" anchor="ctr"/>
          <a:lstStyle/>
          <a:p>
            <a:pPr algn="ctr" indent="0" marL="0">
              <a:buNone/>
            </a:pPr>
            <a:r>
              <a:rPr lang="en-US" sz="1550" b="1" dirty="0">
                <a:solidFill>
                  <a:srgbClr val="17375E"/>
                </a:solidFill>
                <a:latin typeface="Calibri" pitchFamily="34" charset="0"/>
                <a:ea typeface="Calibri" pitchFamily="34" charset="-122"/>
                <a:cs typeface="Calibri" pitchFamily="34" charset="-120"/>
              </a:rPr>
              <a:t>① Une préposition devant le relatif ?</a:t>
            </a:r>
            <a:endParaRPr lang="en-US" sz="1550" dirty="0"/>
          </a:p>
        </p:txBody>
      </p:sp>
      <p:sp>
        <p:nvSpPr>
          <p:cNvPr id="7" name="Shape 4"/>
          <p:cNvSpPr/>
          <p:nvPr/>
        </p:nvSpPr>
        <p:spPr>
          <a:xfrm>
            <a:off x="7635240" y="2551176"/>
            <a:ext cx="3200400" cy="475488"/>
          </a:xfrm>
          <a:prstGeom prst="roundRect">
            <a:avLst>
              <a:gd name="adj" fmla="val 50000"/>
            </a:avLst>
          </a:prstGeom>
          <a:solidFill>
            <a:srgbClr val="FFFFFF"/>
          </a:solidFill>
          <a:ln w="15875">
            <a:solidFill>
              <a:srgbClr val="17375E"/>
            </a:solidFill>
            <a:prstDash val="solid"/>
          </a:ln>
        </p:spPr>
      </p:sp>
      <p:sp>
        <p:nvSpPr>
          <p:cNvPr id="8" name="Text 5"/>
          <p:cNvSpPr txBox="1"/>
          <p:nvPr/>
        </p:nvSpPr>
        <p:spPr>
          <a:xfrm>
            <a:off x="7635240" y="2551176"/>
            <a:ext cx="3200400" cy="475488"/>
          </a:xfrm>
          <a:prstGeom prst="rect">
            <a:avLst/>
          </a:prstGeom>
          <a:noFill/>
          <a:ln/>
        </p:spPr>
        <p:txBody>
          <a:bodyPr wrap="square" lIns="0" tIns="0" rIns="0" bIns="0" rtlCol="0" anchor="ctr"/>
          <a:lstStyle/>
          <a:p>
            <a:pPr algn="ctr" indent="0" marL="0">
              <a:buNone/>
            </a:pPr>
            <a:r>
              <a:rPr lang="en-US" sz="1550" b="1" dirty="0">
                <a:solidFill>
                  <a:srgbClr val="17375E"/>
                </a:solidFill>
                <a:latin typeface="Calibri" pitchFamily="34" charset="0"/>
                <a:ea typeface="Calibri" pitchFamily="34" charset="-122"/>
                <a:cs typeface="Calibri" pitchFamily="34" charset="-120"/>
              </a:rPr>
              <a:t>Une personne ou une chose ?</a:t>
            </a:r>
            <a:endParaRPr lang="en-US" sz="1550" dirty="0"/>
          </a:p>
        </p:txBody>
      </p:sp>
      <p:sp>
        <p:nvSpPr>
          <p:cNvPr id="9" name="Shape 6"/>
          <p:cNvSpPr/>
          <p:nvPr/>
        </p:nvSpPr>
        <p:spPr>
          <a:xfrm>
            <a:off x="7680960" y="1929384"/>
            <a:ext cx="1188720" cy="621792"/>
          </a:xfrm>
          <a:prstGeom prst="line">
            <a:avLst/>
          </a:prstGeom>
          <a:noFill/>
          <a:ln w="19050">
            <a:solidFill>
              <a:srgbClr val="9AA6B5"/>
            </a:solidFill>
            <a:prstDash val="solid"/>
            <a:tailEnd type="triangle"/>
          </a:ln>
        </p:spPr>
      </p:sp>
      <p:sp>
        <p:nvSpPr>
          <p:cNvPr id="10" name="Text 7"/>
          <p:cNvSpPr txBox="1"/>
          <p:nvPr/>
        </p:nvSpPr>
        <p:spPr>
          <a:xfrm>
            <a:off x="8458200" y="2057400"/>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oui</a:t>
            </a:r>
            <a:endParaRPr lang="en-US" sz="1150" dirty="0"/>
          </a:p>
        </p:txBody>
      </p:sp>
      <p:sp>
        <p:nvSpPr>
          <p:cNvPr id="11" name="Shape 8"/>
          <p:cNvSpPr/>
          <p:nvPr/>
        </p:nvSpPr>
        <p:spPr>
          <a:xfrm>
            <a:off x="7566660" y="3758184"/>
            <a:ext cx="1417320" cy="438912"/>
          </a:xfrm>
          <a:prstGeom prst="roundRect">
            <a:avLst>
              <a:gd name="adj" fmla="val 50000"/>
            </a:avLst>
          </a:prstGeom>
          <a:solidFill>
            <a:srgbClr val="B4236A"/>
          </a:solidFill>
          <a:ln w="12700">
            <a:solidFill>
              <a:srgbClr val="FFFFFF">
                <a:alpha val="0"/>
              </a:srgbClr>
            </a:solidFill>
            <a:prstDash val="solid"/>
          </a:ln>
        </p:spPr>
      </p:sp>
      <p:sp>
        <p:nvSpPr>
          <p:cNvPr id="12" name="Text 9"/>
          <p:cNvSpPr txBox="1"/>
          <p:nvPr/>
        </p:nvSpPr>
        <p:spPr>
          <a:xfrm>
            <a:off x="7566660" y="3758184"/>
            <a:ext cx="1417320" cy="438912"/>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met wie</a:t>
            </a:r>
            <a:endParaRPr lang="en-US" sz="1700" dirty="0"/>
          </a:p>
        </p:txBody>
      </p:sp>
      <p:sp>
        <p:nvSpPr>
          <p:cNvPr id="13" name="Text 10"/>
          <p:cNvSpPr txBox="1"/>
          <p:nvPr/>
        </p:nvSpPr>
        <p:spPr>
          <a:xfrm>
            <a:off x="7315200" y="4251960"/>
            <a:ext cx="1920240" cy="457200"/>
          </a:xfrm>
          <a:prstGeom prst="rect">
            <a:avLst/>
          </a:prstGeom>
          <a:noFill/>
          <a:ln/>
        </p:spPr>
        <p:txBody>
          <a:bodyPr wrap="square" lIns="0" tIns="0" rIns="0" bIns="0" rtlCol="0" anchor="t"/>
          <a:lstStyle/>
          <a:p>
            <a:pPr algn="ctr" indent="0" marL="0">
              <a:buNone/>
            </a:pPr>
            <a:r>
              <a:rPr lang="en-US" sz="1200" i="1" dirty="0">
                <a:solidFill>
                  <a:srgbClr val="1B2333"/>
                </a:solidFill>
                <a:latin typeface="Calibri" pitchFamily="34" charset="0"/>
                <a:ea typeface="Calibri" pitchFamily="34" charset="-122"/>
                <a:cs typeface="Calibri" pitchFamily="34" charset="-120"/>
              </a:rPr>
              <a:t>de collega </a:t>
            </a:r>
            <a:r>
              <a:rPr lang="en-US" sz="1200" b="1" i="1" dirty="0">
                <a:solidFill>
                  <a:srgbClr val="B4236A"/>
                </a:solidFill>
                <a:latin typeface="Calibri" pitchFamily="34" charset="0"/>
                <a:ea typeface="Calibri" pitchFamily="34" charset="-122"/>
                <a:cs typeface="Calibri" pitchFamily="34" charset="-120"/>
              </a:rPr>
              <a:t>met wie</a:t>
            </a:r>
            <a:r>
              <a:rPr lang="en-US" sz="1200" i="1" dirty="0">
                <a:solidFill>
                  <a:srgbClr val="1B2333"/>
                </a:solidFill>
                <a:latin typeface="Calibri" pitchFamily="34" charset="0"/>
                <a:ea typeface="Calibri" pitchFamily="34" charset="-122"/>
                <a:cs typeface="Calibri" pitchFamily="34" charset="-120"/>
              </a:rPr>
              <a:t> ik werk</a:t>
            </a:r>
            <a:endParaRPr lang="en-US" sz="1200" dirty="0"/>
          </a:p>
        </p:txBody>
      </p:sp>
      <p:sp>
        <p:nvSpPr>
          <p:cNvPr id="14" name="Shape 11"/>
          <p:cNvSpPr/>
          <p:nvPr/>
        </p:nvSpPr>
        <p:spPr>
          <a:xfrm>
            <a:off x="9532620" y="3758184"/>
            <a:ext cx="1417320" cy="438912"/>
          </a:xfrm>
          <a:prstGeom prst="roundRect">
            <a:avLst>
              <a:gd name="adj" fmla="val 50000"/>
            </a:avLst>
          </a:prstGeom>
          <a:solidFill>
            <a:srgbClr val="6E4A9E"/>
          </a:solidFill>
          <a:ln w="12700">
            <a:solidFill>
              <a:srgbClr val="FFFFFF">
                <a:alpha val="0"/>
              </a:srgbClr>
            </a:solidFill>
            <a:prstDash val="solid"/>
          </a:ln>
        </p:spPr>
      </p:sp>
      <p:sp>
        <p:nvSpPr>
          <p:cNvPr id="15" name="Text 12"/>
          <p:cNvSpPr txBox="1"/>
          <p:nvPr/>
        </p:nvSpPr>
        <p:spPr>
          <a:xfrm>
            <a:off x="9532620" y="3758184"/>
            <a:ext cx="1417320" cy="438912"/>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waarmee</a:t>
            </a:r>
            <a:endParaRPr lang="en-US" sz="1700" dirty="0"/>
          </a:p>
        </p:txBody>
      </p:sp>
      <p:sp>
        <p:nvSpPr>
          <p:cNvPr id="16" name="Text 13"/>
          <p:cNvSpPr txBox="1"/>
          <p:nvPr/>
        </p:nvSpPr>
        <p:spPr>
          <a:xfrm>
            <a:off x="9281160" y="4251960"/>
            <a:ext cx="1920240" cy="457200"/>
          </a:xfrm>
          <a:prstGeom prst="rect">
            <a:avLst/>
          </a:prstGeom>
          <a:noFill/>
          <a:ln/>
        </p:spPr>
        <p:txBody>
          <a:bodyPr wrap="square" lIns="0" tIns="0" rIns="0" bIns="0" rtlCol="0" anchor="t"/>
          <a:lstStyle/>
          <a:p>
            <a:pPr algn="ctr" indent="0" marL="0">
              <a:buNone/>
            </a:pPr>
            <a:r>
              <a:rPr lang="en-US" sz="1200" i="1" dirty="0">
                <a:solidFill>
                  <a:srgbClr val="1B2333"/>
                </a:solidFill>
                <a:latin typeface="Calibri" pitchFamily="34" charset="0"/>
                <a:ea typeface="Calibri" pitchFamily="34" charset="-122"/>
                <a:cs typeface="Calibri" pitchFamily="34" charset="-120"/>
              </a:rPr>
              <a:t>de pen </a:t>
            </a:r>
            <a:r>
              <a:rPr lang="en-US" sz="1200" b="1" i="1" dirty="0">
                <a:solidFill>
                  <a:srgbClr val="6E4A9E"/>
                </a:solidFill>
                <a:latin typeface="Calibri" pitchFamily="34" charset="0"/>
                <a:ea typeface="Calibri" pitchFamily="34" charset="-122"/>
                <a:cs typeface="Calibri" pitchFamily="34" charset="-120"/>
              </a:rPr>
              <a:t>waarmee</a:t>
            </a:r>
            <a:r>
              <a:rPr lang="en-US" sz="1200" i="1" dirty="0">
                <a:solidFill>
                  <a:srgbClr val="1B2333"/>
                </a:solidFill>
                <a:latin typeface="Calibri" pitchFamily="34" charset="0"/>
                <a:ea typeface="Calibri" pitchFamily="34" charset="-122"/>
                <a:cs typeface="Calibri" pitchFamily="34" charset="-120"/>
              </a:rPr>
              <a:t> ik schrijf</a:t>
            </a:r>
            <a:endParaRPr lang="en-US" sz="1200" dirty="0"/>
          </a:p>
        </p:txBody>
      </p:sp>
      <p:sp>
        <p:nvSpPr>
          <p:cNvPr id="17" name="Shape 14"/>
          <p:cNvSpPr/>
          <p:nvPr/>
        </p:nvSpPr>
        <p:spPr>
          <a:xfrm flipH="1">
            <a:off x="8366760" y="3026664"/>
            <a:ext cx="411480" cy="713232"/>
          </a:xfrm>
          <a:prstGeom prst="line">
            <a:avLst/>
          </a:prstGeom>
          <a:noFill/>
          <a:ln w="19050">
            <a:solidFill>
              <a:srgbClr val="9AA6B5"/>
            </a:solidFill>
            <a:prstDash val="solid"/>
            <a:tailEnd type="triangle"/>
          </a:ln>
        </p:spPr>
      </p:sp>
      <p:sp>
        <p:nvSpPr>
          <p:cNvPr id="18" name="Text 15"/>
          <p:cNvSpPr txBox="1"/>
          <p:nvPr/>
        </p:nvSpPr>
        <p:spPr>
          <a:xfrm>
            <a:off x="7680960" y="3246120"/>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personne</a:t>
            </a:r>
            <a:endParaRPr lang="en-US" sz="1150" dirty="0"/>
          </a:p>
        </p:txBody>
      </p:sp>
      <p:sp>
        <p:nvSpPr>
          <p:cNvPr id="19" name="Shape 16"/>
          <p:cNvSpPr/>
          <p:nvPr/>
        </p:nvSpPr>
        <p:spPr>
          <a:xfrm>
            <a:off x="9692640" y="3026664"/>
            <a:ext cx="457200" cy="713232"/>
          </a:xfrm>
          <a:prstGeom prst="line">
            <a:avLst/>
          </a:prstGeom>
          <a:noFill/>
          <a:ln w="19050">
            <a:solidFill>
              <a:srgbClr val="9AA6B5"/>
            </a:solidFill>
            <a:prstDash val="solid"/>
            <a:tailEnd type="triangle"/>
          </a:ln>
        </p:spPr>
      </p:sp>
      <p:sp>
        <p:nvSpPr>
          <p:cNvPr id="20" name="Text 17"/>
          <p:cNvSpPr txBox="1"/>
          <p:nvPr/>
        </p:nvSpPr>
        <p:spPr>
          <a:xfrm>
            <a:off x="10012680" y="3246120"/>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chose</a:t>
            </a:r>
            <a:endParaRPr lang="en-US" sz="1150" dirty="0"/>
          </a:p>
        </p:txBody>
      </p:sp>
      <p:sp>
        <p:nvSpPr>
          <p:cNvPr id="21" name="Shape 18"/>
          <p:cNvSpPr/>
          <p:nvPr/>
        </p:nvSpPr>
        <p:spPr>
          <a:xfrm>
            <a:off x="1920240" y="2551176"/>
            <a:ext cx="3017520" cy="475488"/>
          </a:xfrm>
          <a:prstGeom prst="roundRect">
            <a:avLst>
              <a:gd name="adj" fmla="val 50000"/>
            </a:avLst>
          </a:prstGeom>
          <a:solidFill>
            <a:srgbClr val="FFFFFF"/>
          </a:solidFill>
          <a:ln w="15875">
            <a:solidFill>
              <a:srgbClr val="17375E"/>
            </a:solidFill>
            <a:prstDash val="solid"/>
          </a:ln>
        </p:spPr>
      </p:sp>
      <p:sp>
        <p:nvSpPr>
          <p:cNvPr id="22" name="Text 19"/>
          <p:cNvSpPr txBox="1"/>
          <p:nvPr/>
        </p:nvSpPr>
        <p:spPr>
          <a:xfrm>
            <a:off x="1920240" y="2551176"/>
            <a:ext cx="3017520" cy="475488"/>
          </a:xfrm>
          <a:prstGeom prst="rect">
            <a:avLst/>
          </a:prstGeom>
          <a:noFill/>
          <a:ln/>
        </p:spPr>
        <p:txBody>
          <a:bodyPr wrap="square" lIns="0" tIns="0" rIns="0" bIns="0" rtlCol="0" anchor="ctr"/>
          <a:lstStyle/>
          <a:p>
            <a:pPr algn="ctr" indent="0" marL="0">
              <a:buNone/>
            </a:pPr>
            <a:r>
              <a:rPr lang="en-US" sz="1550" b="1" dirty="0">
                <a:solidFill>
                  <a:srgbClr val="17375E"/>
                </a:solidFill>
                <a:latin typeface="Calibri" pitchFamily="34" charset="0"/>
                <a:ea typeface="Calibri" pitchFamily="34" charset="-122"/>
                <a:cs typeface="Calibri" pitchFamily="34" charset="-120"/>
              </a:rPr>
              <a:t>② Un nom juste avant ?</a:t>
            </a:r>
            <a:endParaRPr lang="en-US" sz="1550" dirty="0"/>
          </a:p>
        </p:txBody>
      </p:sp>
      <p:sp>
        <p:nvSpPr>
          <p:cNvPr id="23" name="Shape 20"/>
          <p:cNvSpPr/>
          <p:nvPr/>
        </p:nvSpPr>
        <p:spPr>
          <a:xfrm flipH="1">
            <a:off x="3611880" y="1929384"/>
            <a:ext cx="868680" cy="621792"/>
          </a:xfrm>
          <a:prstGeom prst="line">
            <a:avLst/>
          </a:prstGeom>
          <a:noFill/>
          <a:ln w="19050">
            <a:solidFill>
              <a:srgbClr val="9AA6B5"/>
            </a:solidFill>
            <a:prstDash val="solid"/>
            <a:tailEnd type="triangle"/>
          </a:ln>
        </p:spPr>
      </p:sp>
      <p:sp>
        <p:nvSpPr>
          <p:cNvPr id="24" name="Text 21"/>
          <p:cNvSpPr txBox="1"/>
          <p:nvPr/>
        </p:nvSpPr>
        <p:spPr>
          <a:xfrm>
            <a:off x="3474720" y="2057400"/>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non</a:t>
            </a:r>
            <a:endParaRPr lang="en-US" sz="1150" dirty="0"/>
          </a:p>
        </p:txBody>
      </p:sp>
      <p:sp>
        <p:nvSpPr>
          <p:cNvPr id="25" name="Shape 22"/>
          <p:cNvSpPr/>
          <p:nvPr/>
        </p:nvSpPr>
        <p:spPr>
          <a:xfrm>
            <a:off x="640080" y="3739896"/>
            <a:ext cx="2468880" cy="475488"/>
          </a:xfrm>
          <a:prstGeom prst="roundRect">
            <a:avLst>
              <a:gd name="adj" fmla="val 50000"/>
            </a:avLst>
          </a:prstGeom>
          <a:solidFill>
            <a:srgbClr val="FFFFFF"/>
          </a:solidFill>
          <a:ln w="15875">
            <a:solidFill>
              <a:srgbClr val="17375E"/>
            </a:solidFill>
            <a:prstDash val="solid"/>
          </a:ln>
        </p:spPr>
      </p:sp>
      <p:sp>
        <p:nvSpPr>
          <p:cNvPr id="26" name="Text 23"/>
          <p:cNvSpPr txBox="1"/>
          <p:nvPr/>
        </p:nvSpPr>
        <p:spPr>
          <a:xfrm>
            <a:off x="640080" y="3739896"/>
            <a:ext cx="2468880" cy="475488"/>
          </a:xfrm>
          <a:prstGeom prst="rect">
            <a:avLst/>
          </a:prstGeom>
          <a:noFill/>
          <a:ln/>
        </p:spPr>
        <p:txBody>
          <a:bodyPr wrap="square" lIns="0" tIns="0" rIns="0" bIns="0" rtlCol="0" anchor="ctr"/>
          <a:lstStyle/>
          <a:p>
            <a:pPr algn="ctr" indent="0" marL="0">
              <a:buNone/>
            </a:pPr>
            <a:r>
              <a:rPr lang="en-US" sz="1550" b="1" dirty="0">
                <a:solidFill>
                  <a:srgbClr val="17375E"/>
                </a:solidFill>
                <a:latin typeface="Calibri" pitchFamily="34" charset="0"/>
                <a:ea typeface="Calibri" pitchFamily="34" charset="-122"/>
                <a:cs typeface="Calibri" pitchFamily="34" charset="-120"/>
              </a:rPr>
              <a:t>③ de, het, pluriel ?</a:t>
            </a:r>
            <a:endParaRPr lang="en-US" sz="1550" dirty="0"/>
          </a:p>
        </p:txBody>
      </p:sp>
      <p:sp>
        <p:nvSpPr>
          <p:cNvPr id="27" name="Shape 24"/>
          <p:cNvSpPr/>
          <p:nvPr/>
        </p:nvSpPr>
        <p:spPr>
          <a:xfrm>
            <a:off x="3909060" y="3739896"/>
            <a:ext cx="2331720" cy="475488"/>
          </a:xfrm>
          <a:prstGeom prst="roundRect">
            <a:avLst>
              <a:gd name="adj" fmla="val 50000"/>
            </a:avLst>
          </a:prstGeom>
          <a:solidFill>
            <a:srgbClr val="FFFFFF"/>
          </a:solidFill>
          <a:ln w="15875">
            <a:solidFill>
              <a:srgbClr val="17375E"/>
            </a:solidFill>
            <a:prstDash val="solid"/>
          </a:ln>
        </p:spPr>
      </p:sp>
      <p:sp>
        <p:nvSpPr>
          <p:cNvPr id="28" name="Text 25"/>
          <p:cNvSpPr txBox="1"/>
          <p:nvPr/>
        </p:nvSpPr>
        <p:spPr>
          <a:xfrm>
            <a:off x="3909060" y="3739896"/>
            <a:ext cx="2331720" cy="475488"/>
          </a:xfrm>
          <a:prstGeom prst="rect">
            <a:avLst/>
          </a:prstGeom>
          <a:noFill/>
          <a:ln/>
        </p:spPr>
        <p:txBody>
          <a:bodyPr wrap="square" lIns="0" tIns="0" rIns="0" bIns="0" rtlCol="0" anchor="ctr"/>
          <a:lstStyle/>
          <a:p>
            <a:pPr algn="ctr" indent="0" marL="0">
              <a:buNone/>
            </a:pPr>
            <a:r>
              <a:rPr lang="en-US" sz="1550" b="1" dirty="0">
                <a:solidFill>
                  <a:srgbClr val="17375E"/>
                </a:solidFill>
                <a:latin typeface="Calibri" pitchFamily="34" charset="0"/>
                <a:ea typeface="Calibri" pitchFamily="34" charset="-122"/>
                <a:cs typeface="Calibri" pitchFamily="34" charset="-120"/>
              </a:rPr>
              <a:t>personne ou chose ?</a:t>
            </a:r>
            <a:endParaRPr lang="en-US" sz="1550" dirty="0"/>
          </a:p>
        </p:txBody>
      </p:sp>
      <p:sp>
        <p:nvSpPr>
          <p:cNvPr id="29" name="Shape 26"/>
          <p:cNvSpPr/>
          <p:nvPr/>
        </p:nvSpPr>
        <p:spPr>
          <a:xfrm flipH="1">
            <a:off x="2148840" y="3026664"/>
            <a:ext cx="868680" cy="713232"/>
          </a:xfrm>
          <a:prstGeom prst="line">
            <a:avLst/>
          </a:prstGeom>
          <a:noFill/>
          <a:ln w="19050">
            <a:solidFill>
              <a:srgbClr val="9AA6B5"/>
            </a:solidFill>
            <a:prstDash val="solid"/>
            <a:tailEnd type="triangle"/>
          </a:ln>
        </p:spPr>
      </p:sp>
      <p:sp>
        <p:nvSpPr>
          <p:cNvPr id="30" name="Text 27"/>
          <p:cNvSpPr txBox="1"/>
          <p:nvPr/>
        </p:nvSpPr>
        <p:spPr>
          <a:xfrm>
            <a:off x="1691640" y="3246120"/>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oui</a:t>
            </a:r>
            <a:endParaRPr lang="en-US" sz="1150" dirty="0"/>
          </a:p>
        </p:txBody>
      </p:sp>
      <p:sp>
        <p:nvSpPr>
          <p:cNvPr id="31" name="Shape 28"/>
          <p:cNvSpPr/>
          <p:nvPr/>
        </p:nvSpPr>
        <p:spPr>
          <a:xfrm>
            <a:off x="3840480" y="3026664"/>
            <a:ext cx="960120" cy="713232"/>
          </a:xfrm>
          <a:prstGeom prst="line">
            <a:avLst/>
          </a:prstGeom>
          <a:noFill/>
          <a:ln w="19050">
            <a:solidFill>
              <a:srgbClr val="9AA6B5"/>
            </a:solidFill>
            <a:prstDash val="solid"/>
            <a:tailEnd type="triangle"/>
          </a:ln>
        </p:spPr>
      </p:sp>
      <p:sp>
        <p:nvSpPr>
          <p:cNvPr id="32" name="Text 29"/>
          <p:cNvSpPr txBox="1"/>
          <p:nvPr/>
        </p:nvSpPr>
        <p:spPr>
          <a:xfrm>
            <a:off x="4572000" y="3246120"/>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non</a:t>
            </a:r>
            <a:endParaRPr lang="en-US" sz="1150" dirty="0"/>
          </a:p>
        </p:txBody>
      </p:sp>
      <p:sp>
        <p:nvSpPr>
          <p:cNvPr id="33" name="Text 30"/>
          <p:cNvSpPr txBox="1"/>
          <p:nvPr/>
        </p:nvSpPr>
        <p:spPr>
          <a:xfrm>
            <a:off x="6355080" y="3703320"/>
            <a:ext cx="1143000" cy="594360"/>
          </a:xfrm>
          <a:prstGeom prst="rect">
            <a:avLst/>
          </a:prstGeom>
          <a:noFill/>
          <a:ln/>
        </p:spPr>
        <p:txBody>
          <a:bodyPr wrap="square" lIns="0" tIns="0" rIns="0" bIns="0" rtlCol="0" anchor="ctr"/>
          <a:lstStyle/>
          <a:p>
            <a:pPr algn="l" indent="0" marL="0">
              <a:buNone/>
            </a:pPr>
            <a:r>
              <a:rPr lang="en-US" sz="1000" i="1" dirty="0">
                <a:solidFill>
                  <a:srgbClr val="6B7686"/>
                </a:solidFill>
                <a:latin typeface="Calibri" pitchFamily="34" charset="0"/>
                <a:ea typeface="Calibri" pitchFamily="34" charset="-122"/>
                <a:cs typeface="Calibri" pitchFamily="34" charset="-120"/>
              </a:rPr>
              <a:t>aussi après alles, iets, niets, un superlatif, une phrase</a:t>
            </a:r>
            <a:endParaRPr lang="en-US" sz="1000" dirty="0"/>
          </a:p>
        </p:txBody>
      </p:sp>
      <p:sp>
        <p:nvSpPr>
          <p:cNvPr id="34" name="Shape 31"/>
          <p:cNvSpPr/>
          <p:nvPr/>
        </p:nvSpPr>
        <p:spPr>
          <a:xfrm>
            <a:off x="388620" y="4901184"/>
            <a:ext cx="1417320" cy="438912"/>
          </a:xfrm>
          <a:prstGeom prst="roundRect">
            <a:avLst>
              <a:gd name="adj" fmla="val 50000"/>
            </a:avLst>
          </a:prstGeom>
          <a:solidFill>
            <a:srgbClr val="17375E"/>
          </a:solidFill>
          <a:ln w="12700">
            <a:solidFill>
              <a:srgbClr val="FFFFFF">
                <a:alpha val="0"/>
              </a:srgbClr>
            </a:solidFill>
            <a:prstDash val="solid"/>
          </a:ln>
        </p:spPr>
      </p:sp>
      <p:sp>
        <p:nvSpPr>
          <p:cNvPr id="35" name="Text 32"/>
          <p:cNvSpPr txBox="1"/>
          <p:nvPr/>
        </p:nvSpPr>
        <p:spPr>
          <a:xfrm>
            <a:off x="388620" y="4901184"/>
            <a:ext cx="1417320" cy="438912"/>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die</a:t>
            </a:r>
            <a:endParaRPr lang="en-US" sz="1700" dirty="0"/>
          </a:p>
        </p:txBody>
      </p:sp>
      <p:sp>
        <p:nvSpPr>
          <p:cNvPr id="36" name="Text 33"/>
          <p:cNvSpPr txBox="1"/>
          <p:nvPr/>
        </p:nvSpPr>
        <p:spPr>
          <a:xfrm>
            <a:off x="137160" y="5394960"/>
            <a:ext cx="1920240" cy="457200"/>
          </a:xfrm>
          <a:prstGeom prst="rect">
            <a:avLst/>
          </a:prstGeom>
          <a:noFill/>
          <a:ln/>
        </p:spPr>
        <p:txBody>
          <a:bodyPr wrap="square" lIns="0" tIns="0" rIns="0" bIns="0" rtlCol="0" anchor="t"/>
          <a:lstStyle/>
          <a:p>
            <a:pPr algn="ctr" indent="0" marL="0">
              <a:buNone/>
            </a:pPr>
            <a:r>
              <a:rPr lang="en-US" sz="1200" i="1" dirty="0">
                <a:solidFill>
                  <a:srgbClr val="1B2333"/>
                </a:solidFill>
                <a:latin typeface="Calibri" pitchFamily="34" charset="0"/>
                <a:ea typeface="Calibri" pitchFamily="34" charset="-122"/>
                <a:cs typeface="Calibri" pitchFamily="34" charset="-120"/>
              </a:rPr>
              <a:t>de klant </a:t>
            </a:r>
            <a:r>
              <a:rPr lang="en-US" sz="1200" b="1" i="1" dirty="0">
                <a:solidFill>
                  <a:srgbClr val="17375E"/>
                </a:solidFill>
                <a:latin typeface="Calibri" pitchFamily="34" charset="0"/>
                <a:ea typeface="Calibri" pitchFamily="34" charset="-122"/>
                <a:cs typeface="Calibri" pitchFamily="34" charset="-120"/>
              </a:rPr>
              <a:t>die</a:t>
            </a:r>
            <a:r>
              <a:rPr lang="en-US" sz="1200" i="1" dirty="0">
                <a:solidFill>
                  <a:srgbClr val="1B2333"/>
                </a:solidFill>
                <a:latin typeface="Calibri" pitchFamily="34" charset="0"/>
                <a:ea typeface="Calibri" pitchFamily="34" charset="-122"/>
                <a:cs typeface="Calibri" pitchFamily="34" charset="-120"/>
              </a:rPr>
              <a:t> belt</a:t>
            </a:r>
            <a:endParaRPr lang="en-US" sz="1200" dirty="0"/>
          </a:p>
        </p:txBody>
      </p:sp>
      <p:sp>
        <p:nvSpPr>
          <p:cNvPr id="37" name="Shape 34"/>
          <p:cNvSpPr/>
          <p:nvPr/>
        </p:nvSpPr>
        <p:spPr>
          <a:xfrm>
            <a:off x="1943100" y="4901184"/>
            <a:ext cx="1417320" cy="438912"/>
          </a:xfrm>
          <a:prstGeom prst="roundRect">
            <a:avLst>
              <a:gd name="adj" fmla="val 50000"/>
            </a:avLst>
          </a:prstGeom>
          <a:solidFill>
            <a:srgbClr val="D9700F"/>
          </a:solidFill>
          <a:ln w="12700">
            <a:solidFill>
              <a:srgbClr val="FFFFFF">
                <a:alpha val="0"/>
              </a:srgbClr>
            </a:solidFill>
            <a:prstDash val="solid"/>
          </a:ln>
        </p:spPr>
      </p:sp>
      <p:sp>
        <p:nvSpPr>
          <p:cNvPr id="38" name="Text 35"/>
          <p:cNvSpPr txBox="1"/>
          <p:nvPr/>
        </p:nvSpPr>
        <p:spPr>
          <a:xfrm>
            <a:off x="1943100" y="4901184"/>
            <a:ext cx="1417320" cy="438912"/>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dat</a:t>
            </a:r>
            <a:endParaRPr lang="en-US" sz="1700" dirty="0"/>
          </a:p>
        </p:txBody>
      </p:sp>
      <p:sp>
        <p:nvSpPr>
          <p:cNvPr id="39" name="Text 36"/>
          <p:cNvSpPr txBox="1"/>
          <p:nvPr/>
        </p:nvSpPr>
        <p:spPr>
          <a:xfrm>
            <a:off x="1691640" y="5394960"/>
            <a:ext cx="1920240" cy="457200"/>
          </a:xfrm>
          <a:prstGeom prst="rect">
            <a:avLst/>
          </a:prstGeom>
          <a:noFill/>
          <a:ln/>
        </p:spPr>
        <p:txBody>
          <a:bodyPr wrap="square" lIns="0" tIns="0" rIns="0" bIns="0" rtlCol="0" anchor="t"/>
          <a:lstStyle/>
          <a:p>
            <a:pPr algn="ctr" indent="0" marL="0">
              <a:buNone/>
            </a:pPr>
            <a:r>
              <a:rPr lang="en-US" sz="1200" i="1" dirty="0">
                <a:solidFill>
                  <a:srgbClr val="1B2333"/>
                </a:solidFill>
                <a:latin typeface="Calibri" pitchFamily="34" charset="0"/>
                <a:ea typeface="Calibri" pitchFamily="34" charset="-122"/>
                <a:cs typeface="Calibri" pitchFamily="34" charset="-120"/>
              </a:rPr>
              <a:t>het rapport </a:t>
            </a:r>
            <a:r>
              <a:rPr lang="en-US" sz="1200" b="1" i="1" dirty="0">
                <a:solidFill>
                  <a:srgbClr val="D9700F"/>
                </a:solidFill>
                <a:latin typeface="Calibri" pitchFamily="34" charset="0"/>
                <a:ea typeface="Calibri" pitchFamily="34" charset="-122"/>
                <a:cs typeface="Calibri" pitchFamily="34" charset="-120"/>
              </a:rPr>
              <a:t>dat</a:t>
            </a:r>
            <a:r>
              <a:rPr lang="en-US" sz="1200" i="1" dirty="0">
                <a:solidFill>
                  <a:srgbClr val="1B2333"/>
                </a:solidFill>
                <a:latin typeface="Calibri" pitchFamily="34" charset="0"/>
                <a:ea typeface="Calibri" pitchFamily="34" charset="-122"/>
                <a:cs typeface="Calibri" pitchFamily="34" charset="-120"/>
              </a:rPr>
              <a:t> ik lees</a:t>
            </a:r>
            <a:endParaRPr lang="en-US" sz="1200" dirty="0"/>
          </a:p>
        </p:txBody>
      </p:sp>
      <p:sp>
        <p:nvSpPr>
          <p:cNvPr id="40" name="Shape 37"/>
          <p:cNvSpPr/>
          <p:nvPr/>
        </p:nvSpPr>
        <p:spPr>
          <a:xfrm flipH="1">
            <a:off x="1188720" y="4215384"/>
            <a:ext cx="411480" cy="667512"/>
          </a:xfrm>
          <a:prstGeom prst="line">
            <a:avLst/>
          </a:prstGeom>
          <a:noFill/>
          <a:ln w="19050">
            <a:solidFill>
              <a:srgbClr val="9AA6B5"/>
            </a:solidFill>
            <a:prstDash val="solid"/>
            <a:tailEnd type="triangle"/>
          </a:ln>
        </p:spPr>
      </p:sp>
      <p:sp>
        <p:nvSpPr>
          <p:cNvPr id="41" name="Text 38"/>
          <p:cNvSpPr txBox="1"/>
          <p:nvPr/>
        </p:nvSpPr>
        <p:spPr>
          <a:xfrm>
            <a:off x="502920" y="4407408"/>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de, pl.</a:t>
            </a:r>
            <a:endParaRPr lang="en-US" sz="1150" dirty="0"/>
          </a:p>
        </p:txBody>
      </p:sp>
      <p:sp>
        <p:nvSpPr>
          <p:cNvPr id="42" name="Shape 39"/>
          <p:cNvSpPr/>
          <p:nvPr/>
        </p:nvSpPr>
        <p:spPr>
          <a:xfrm>
            <a:off x="2148840" y="4215384"/>
            <a:ext cx="411480" cy="667512"/>
          </a:xfrm>
          <a:prstGeom prst="line">
            <a:avLst/>
          </a:prstGeom>
          <a:noFill/>
          <a:ln w="19050">
            <a:solidFill>
              <a:srgbClr val="9AA6B5"/>
            </a:solidFill>
            <a:prstDash val="solid"/>
            <a:tailEnd type="triangle"/>
          </a:ln>
        </p:spPr>
      </p:sp>
      <p:sp>
        <p:nvSpPr>
          <p:cNvPr id="43" name="Text 40"/>
          <p:cNvSpPr txBox="1"/>
          <p:nvPr/>
        </p:nvSpPr>
        <p:spPr>
          <a:xfrm>
            <a:off x="2514600" y="4407408"/>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het</a:t>
            </a:r>
            <a:endParaRPr lang="en-US" sz="1150" dirty="0"/>
          </a:p>
        </p:txBody>
      </p:sp>
      <p:sp>
        <p:nvSpPr>
          <p:cNvPr id="44" name="Shape 41"/>
          <p:cNvSpPr/>
          <p:nvPr/>
        </p:nvSpPr>
        <p:spPr>
          <a:xfrm>
            <a:off x="3634740" y="4901184"/>
            <a:ext cx="1417320" cy="438912"/>
          </a:xfrm>
          <a:prstGeom prst="roundRect">
            <a:avLst>
              <a:gd name="adj" fmla="val 50000"/>
            </a:avLst>
          </a:prstGeom>
          <a:solidFill>
            <a:srgbClr val="B4236A"/>
          </a:solidFill>
          <a:ln w="12700">
            <a:solidFill>
              <a:srgbClr val="FFFFFF">
                <a:alpha val="0"/>
              </a:srgbClr>
            </a:solidFill>
            <a:prstDash val="solid"/>
          </a:ln>
        </p:spPr>
      </p:sp>
      <p:sp>
        <p:nvSpPr>
          <p:cNvPr id="45" name="Text 42"/>
          <p:cNvSpPr txBox="1"/>
          <p:nvPr/>
        </p:nvSpPr>
        <p:spPr>
          <a:xfrm>
            <a:off x="3634740" y="4901184"/>
            <a:ext cx="1417320" cy="438912"/>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wie</a:t>
            </a:r>
            <a:endParaRPr lang="en-US" sz="1700" dirty="0"/>
          </a:p>
        </p:txBody>
      </p:sp>
      <p:sp>
        <p:nvSpPr>
          <p:cNvPr id="46" name="Text 43"/>
          <p:cNvSpPr txBox="1"/>
          <p:nvPr/>
        </p:nvSpPr>
        <p:spPr>
          <a:xfrm>
            <a:off x="3383280" y="5394960"/>
            <a:ext cx="1920240" cy="457200"/>
          </a:xfrm>
          <a:prstGeom prst="rect">
            <a:avLst/>
          </a:prstGeom>
          <a:noFill/>
          <a:ln/>
        </p:spPr>
        <p:txBody>
          <a:bodyPr wrap="square" lIns="0" tIns="0" rIns="0" bIns="0" rtlCol="0" anchor="t"/>
          <a:lstStyle/>
          <a:p>
            <a:pPr algn="ctr" indent="0" marL="0">
              <a:buNone/>
            </a:pPr>
            <a:r>
              <a:rPr lang="en-US" sz="1200" b="1" i="1" dirty="0">
                <a:solidFill>
                  <a:srgbClr val="B4236A"/>
                </a:solidFill>
                <a:latin typeface="Calibri" pitchFamily="34" charset="0"/>
                <a:ea typeface="Calibri" pitchFamily="34" charset="-122"/>
                <a:cs typeface="Calibri" pitchFamily="34" charset="-120"/>
              </a:rPr>
              <a:t>Wie</a:t>
            </a:r>
            <a:r>
              <a:rPr lang="en-US" sz="1200" i="1" dirty="0">
                <a:solidFill>
                  <a:srgbClr val="1B2333"/>
                </a:solidFill>
                <a:latin typeface="Calibri" pitchFamily="34" charset="0"/>
                <a:ea typeface="Calibri" pitchFamily="34" charset="-122"/>
                <a:cs typeface="Calibri" pitchFamily="34" charset="-120"/>
              </a:rPr>
              <a:t> wil, mag gaan.</a:t>
            </a:r>
            <a:endParaRPr lang="en-US" sz="1200" dirty="0"/>
          </a:p>
        </p:txBody>
      </p:sp>
      <p:sp>
        <p:nvSpPr>
          <p:cNvPr id="47" name="Shape 44"/>
          <p:cNvSpPr/>
          <p:nvPr/>
        </p:nvSpPr>
        <p:spPr>
          <a:xfrm>
            <a:off x="5143500" y="4901184"/>
            <a:ext cx="1417320" cy="438912"/>
          </a:xfrm>
          <a:prstGeom prst="roundRect">
            <a:avLst>
              <a:gd name="adj" fmla="val 50000"/>
            </a:avLst>
          </a:prstGeom>
          <a:solidFill>
            <a:srgbClr val="2E7D4F"/>
          </a:solidFill>
          <a:ln w="12700">
            <a:solidFill>
              <a:srgbClr val="FFFFFF">
                <a:alpha val="0"/>
              </a:srgbClr>
            </a:solidFill>
            <a:prstDash val="solid"/>
          </a:ln>
        </p:spPr>
      </p:sp>
      <p:sp>
        <p:nvSpPr>
          <p:cNvPr id="48" name="Text 45"/>
          <p:cNvSpPr txBox="1"/>
          <p:nvPr/>
        </p:nvSpPr>
        <p:spPr>
          <a:xfrm>
            <a:off x="5143500" y="4901184"/>
            <a:ext cx="1417320" cy="438912"/>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wat</a:t>
            </a:r>
            <a:endParaRPr lang="en-US" sz="1700" dirty="0"/>
          </a:p>
        </p:txBody>
      </p:sp>
      <p:sp>
        <p:nvSpPr>
          <p:cNvPr id="49" name="Text 46"/>
          <p:cNvSpPr txBox="1"/>
          <p:nvPr/>
        </p:nvSpPr>
        <p:spPr>
          <a:xfrm>
            <a:off x="4892040" y="5394960"/>
            <a:ext cx="1920240" cy="457200"/>
          </a:xfrm>
          <a:prstGeom prst="rect">
            <a:avLst/>
          </a:prstGeom>
          <a:noFill/>
          <a:ln/>
        </p:spPr>
        <p:txBody>
          <a:bodyPr wrap="square" lIns="0" tIns="0" rIns="0" bIns="0" rtlCol="0" anchor="t"/>
          <a:lstStyle/>
          <a:p>
            <a:pPr algn="ctr" indent="0" marL="0">
              <a:buNone/>
            </a:pPr>
            <a:r>
              <a:rPr lang="en-US" sz="1200" i="1" dirty="0">
                <a:solidFill>
                  <a:srgbClr val="1B2333"/>
                </a:solidFill>
                <a:latin typeface="Calibri" pitchFamily="34" charset="0"/>
                <a:ea typeface="Calibri" pitchFamily="34" charset="-122"/>
                <a:cs typeface="Calibri" pitchFamily="34" charset="-120"/>
              </a:rPr>
              <a:t>alles </a:t>
            </a:r>
            <a:r>
              <a:rPr lang="en-US" sz="1200" b="1" i="1" dirty="0">
                <a:solidFill>
                  <a:srgbClr val="2E7D4F"/>
                </a:solidFill>
                <a:latin typeface="Calibri" pitchFamily="34" charset="0"/>
                <a:ea typeface="Calibri" pitchFamily="34" charset="-122"/>
                <a:cs typeface="Calibri" pitchFamily="34" charset="-120"/>
              </a:rPr>
              <a:t>wat</a:t>
            </a:r>
            <a:r>
              <a:rPr lang="en-US" sz="1200" i="1" dirty="0">
                <a:solidFill>
                  <a:srgbClr val="1B2333"/>
                </a:solidFill>
                <a:latin typeface="Calibri" pitchFamily="34" charset="0"/>
                <a:ea typeface="Calibri" pitchFamily="34" charset="-122"/>
                <a:cs typeface="Calibri" pitchFamily="34" charset="-120"/>
              </a:rPr>
              <a:t> je zegt</a:t>
            </a:r>
            <a:endParaRPr lang="en-US" sz="1200" dirty="0"/>
          </a:p>
        </p:txBody>
      </p:sp>
      <p:sp>
        <p:nvSpPr>
          <p:cNvPr id="50" name="Shape 47"/>
          <p:cNvSpPr/>
          <p:nvPr/>
        </p:nvSpPr>
        <p:spPr>
          <a:xfrm flipH="1">
            <a:off x="4434840" y="4215384"/>
            <a:ext cx="365760" cy="667512"/>
          </a:xfrm>
          <a:prstGeom prst="line">
            <a:avLst/>
          </a:prstGeom>
          <a:noFill/>
          <a:ln w="19050">
            <a:solidFill>
              <a:srgbClr val="9AA6B5"/>
            </a:solidFill>
            <a:prstDash val="solid"/>
            <a:tailEnd type="triangle"/>
          </a:ln>
        </p:spPr>
      </p:sp>
      <p:sp>
        <p:nvSpPr>
          <p:cNvPr id="51" name="Text 48"/>
          <p:cNvSpPr txBox="1"/>
          <p:nvPr/>
        </p:nvSpPr>
        <p:spPr>
          <a:xfrm>
            <a:off x="3611880" y="4407408"/>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pers.</a:t>
            </a:r>
            <a:endParaRPr lang="en-US" sz="1150" dirty="0"/>
          </a:p>
        </p:txBody>
      </p:sp>
      <p:sp>
        <p:nvSpPr>
          <p:cNvPr id="52" name="Shape 49"/>
          <p:cNvSpPr/>
          <p:nvPr/>
        </p:nvSpPr>
        <p:spPr>
          <a:xfrm>
            <a:off x="5349240" y="4215384"/>
            <a:ext cx="411480" cy="667512"/>
          </a:xfrm>
          <a:prstGeom prst="line">
            <a:avLst/>
          </a:prstGeom>
          <a:noFill/>
          <a:ln w="19050">
            <a:solidFill>
              <a:srgbClr val="9AA6B5"/>
            </a:solidFill>
            <a:prstDash val="solid"/>
            <a:tailEnd type="triangle"/>
          </a:ln>
        </p:spPr>
      </p:sp>
      <p:sp>
        <p:nvSpPr>
          <p:cNvPr id="53" name="Text 50"/>
          <p:cNvSpPr txBox="1"/>
          <p:nvPr/>
        </p:nvSpPr>
        <p:spPr>
          <a:xfrm>
            <a:off x="5623560" y="4407408"/>
            <a:ext cx="1097280" cy="237744"/>
          </a:xfrm>
          <a:prstGeom prst="rect">
            <a:avLst/>
          </a:prstGeom>
          <a:noFill/>
          <a:ln/>
        </p:spPr>
        <p:txBody>
          <a:bodyPr wrap="square" lIns="0" tIns="0" rIns="0" bIns="0" rtlCol="0" anchor="ctr"/>
          <a:lstStyle/>
          <a:p>
            <a:pPr algn="ctr" indent="0" marL="0">
              <a:buNone/>
            </a:pPr>
            <a:r>
              <a:rPr lang="en-US" sz="1150" i="1" dirty="0">
                <a:solidFill>
                  <a:srgbClr val="6B7686"/>
                </a:solidFill>
                <a:latin typeface="Calibri" pitchFamily="34" charset="0"/>
                <a:ea typeface="Calibri" pitchFamily="34" charset="-122"/>
                <a:cs typeface="Calibri" pitchFamily="34" charset="-120"/>
              </a:rPr>
              <a:t>chose</a:t>
            </a:r>
            <a:endParaRPr lang="en-US" sz="1150" dirty="0"/>
          </a:p>
        </p:txBody>
      </p:sp>
      <p:sp>
        <p:nvSpPr>
          <p:cNvPr id="54" name="Shape 51"/>
          <p:cNvSpPr/>
          <p:nvPr/>
        </p:nvSpPr>
        <p:spPr>
          <a:xfrm>
            <a:off x="7315200" y="4892040"/>
            <a:ext cx="4023360" cy="868680"/>
          </a:xfrm>
          <a:prstGeom prst="roundRect">
            <a:avLst>
              <a:gd name="adj" fmla="val 10526"/>
            </a:avLst>
          </a:prstGeom>
          <a:solidFill>
            <a:srgbClr val="FBEDEB"/>
          </a:solidFill>
          <a:ln w="12700">
            <a:solidFill>
              <a:srgbClr val="FFFFFF">
                <a:alpha val="0"/>
              </a:srgbClr>
            </a:solidFill>
            <a:prstDash val="solid"/>
          </a:ln>
        </p:spPr>
      </p:sp>
      <p:sp>
        <p:nvSpPr>
          <p:cNvPr id="55" name="Text 52"/>
          <p:cNvSpPr txBox="1"/>
          <p:nvPr/>
        </p:nvSpPr>
        <p:spPr>
          <a:xfrm>
            <a:off x="7498080" y="4937760"/>
            <a:ext cx="3657600" cy="777240"/>
          </a:xfrm>
          <a:prstGeom prst="rect">
            <a:avLst/>
          </a:prstGeom>
          <a:noFill/>
          <a:ln/>
        </p:spPr>
        <p:txBody>
          <a:bodyPr wrap="square" lIns="0" tIns="0" rIns="0" bIns="0" rtlCol="0" anchor="ctr"/>
          <a:lstStyle/>
          <a:p>
            <a:pPr algn="ctr" indent="0" marL="0">
              <a:buNone/>
            </a:pPr>
            <a:r>
              <a:rPr lang="en-US" sz="1500" b="1" dirty="0">
                <a:solidFill>
                  <a:srgbClr val="1B2333"/>
                </a:solidFill>
                <a:latin typeface="Calibri" pitchFamily="34" charset="0"/>
                <a:ea typeface="Calibri" pitchFamily="34" charset="-122"/>
                <a:cs typeface="Calibri" pitchFamily="34" charset="-120"/>
              </a:rPr>
              <a:t>Et toujours :</a:t>
            </a:r>
            <a:endParaRPr lang="en-US" sz="1500" dirty="0"/>
          </a:p>
          <a:p>
            <a:pPr algn="ctr" indent="0" marL="0">
              <a:buNone/>
            </a:pPr>
            <a:r>
              <a:rPr lang="en-US" sz="1500" dirty="0">
                <a:solidFill>
                  <a:srgbClr val="1B2333"/>
                </a:solidFill>
                <a:latin typeface="Calibri" pitchFamily="34" charset="0"/>
                <a:ea typeface="Calibri" pitchFamily="34" charset="-122"/>
                <a:cs typeface="Calibri" pitchFamily="34" charset="-120"/>
              </a:rPr>
              <a:t>tous les </a:t>
            </a:r>
            <a:r>
              <a:rPr lang="en-US" sz="1500" b="1" dirty="0">
                <a:solidFill>
                  <a:srgbClr val="B83227"/>
                </a:solidFill>
                <a:latin typeface="Calibri" pitchFamily="34" charset="0"/>
                <a:ea typeface="Calibri" pitchFamily="34" charset="-122"/>
                <a:cs typeface="Calibri" pitchFamily="34" charset="-120"/>
              </a:rPr>
              <a:t>verbes</a:t>
            </a:r>
            <a:r>
              <a:rPr lang="en-US" sz="1500" dirty="0">
                <a:solidFill>
                  <a:srgbClr val="1B2333"/>
                </a:solidFill>
                <a:latin typeface="Calibri" pitchFamily="34" charset="0"/>
                <a:ea typeface="Calibri" pitchFamily="34" charset="-122"/>
                <a:cs typeface="Calibri" pitchFamily="34" charset="-120"/>
              </a:rPr>
              <a:t> à la fin de la relative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Cinq relatifs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À RETENIR</a:t>
            </a:r>
            <a:endParaRPr lang="en-US" sz="1100" dirty="0"/>
          </a:p>
        </p:txBody>
      </p:sp>
      <p:sp>
        <p:nvSpPr>
          <p:cNvPr id="5" name="Shape 2"/>
          <p:cNvSpPr/>
          <p:nvPr/>
        </p:nvSpPr>
        <p:spPr>
          <a:xfrm>
            <a:off x="2595067" y="1463040"/>
            <a:ext cx="1280160" cy="457200"/>
          </a:xfrm>
          <a:prstGeom prst="roundRect">
            <a:avLst>
              <a:gd name="adj" fmla="val 50000"/>
            </a:avLst>
          </a:prstGeom>
          <a:solidFill>
            <a:srgbClr val="17375E"/>
          </a:solidFill>
          <a:ln w="12700">
            <a:solidFill>
              <a:srgbClr val="FFFFFF">
                <a:alpha val="0"/>
              </a:srgbClr>
            </a:solidFill>
            <a:prstDash val="solid"/>
          </a:ln>
        </p:spPr>
      </p:sp>
      <p:sp>
        <p:nvSpPr>
          <p:cNvPr id="6" name="Text 3"/>
          <p:cNvSpPr txBox="1"/>
          <p:nvPr/>
        </p:nvSpPr>
        <p:spPr>
          <a:xfrm>
            <a:off x="2595067" y="1463040"/>
            <a:ext cx="1280160" cy="457200"/>
          </a:xfrm>
          <a:prstGeom prst="rect">
            <a:avLst/>
          </a:prstGeom>
          <a:noFill/>
          <a:ln/>
        </p:spPr>
        <p:txBody>
          <a:bodyPr wrap="square" lIns="0" tIns="0" rIns="0" bIns="0" rtlCol="0" anchor="ctr"/>
          <a:lstStyle/>
          <a:p>
            <a:pPr algn="ctr" indent="0" marL="0">
              <a:buNone/>
            </a:pPr>
            <a:r>
              <a:rPr lang="en-US" sz="2000" b="1" i="1" dirty="0">
                <a:solidFill>
                  <a:srgbClr val="FFFFFF"/>
                </a:solidFill>
                <a:latin typeface="Calibri" pitchFamily="34" charset="0"/>
                <a:ea typeface="Calibri" pitchFamily="34" charset="-122"/>
                <a:cs typeface="Calibri" pitchFamily="34" charset="-120"/>
              </a:rPr>
              <a:t>die</a:t>
            </a:r>
            <a:endParaRPr lang="en-US" sz="2000" dirty="0"/>
          </a:p>
        </p:txBody>
      </p:sp>
      <p:sp>
        <p:nvSpPr>
          <p:cNvPr id="7" name="Shape 4"/>
          <p:cNvSpPr/>
          <p:nvPr/>
        </p:nvSpPr>
        <p:spPr>
          <a:xfrm>
            <a:off x="4401922" y="1463040"/>
            <a:ext cx="1280160" cy="457200"/>
          </a:xfrm>
          <a:prstGeom prst="roundRect">
            <a:avLst>
              <a:gd name="adj" fmla="val 50000"/>
            </a:avLst>
          </a:prstGeom>
          <a:solidFill>
            <a:srgbClr val="D9700F"/>
          </a:solidFill>
          <a:ln w="12700">
            <a:solidFill>
              <a:srgbClr val="FFFFFF">
                <a:alpha val="0"/>
              </a:srgbClr>
            </a:solidFill>
            <a:prstDash val="solid"/>
          </a:ln>
        </p:spPr>
      </p:sp>
      <p:sp>
        <p:nvSpPr>
          <p:cNvPr id="8" name="Text 5"/>
          <p:cNvSpPr txBox="1"/>
          <p:nvPr/>
        </p:nvSpPr>
        <p:spPr>
          <a:xfrm>
            <a:off x="4401922" y="1463040"/>
            <a:ext cx="1280160" cy="457200"/>
          </a:xfrm>
          <a:prstGeom prst="rect">
            <a:avLst/>
          </a:prstGeom>
          <a:noFill/>
          <a:ln/>
        </p:spPr>
        <p:txBody>
          <a:bodyPr wrap="square" lIns="0" tIns="0" rIns="0" bIns="0" rtlCol="0" anchor="ctr"/>
          <a:lstStyle/>
          <a:p>
            <a:pPr algn="ctr" indent="0" marL="0">
              <a:buNone/>
            </a:pPr>
            <a:r>
              <a:rPr lang="en-US" sz="2000" b="1" i="1" dirty="0">
                <a:solidFill>
                  <a:srgbClr val="FFFFFF"/>
                </a:solidFill>
                <a:latin typeface="Calibri" pitchFamily="34" charset="0"/>
                <a:ea typeface="Calibri" pitchFamily="34" charset="-122"/>
                <a:cs typeface="Calibri" pitchFamily="34" charset="-120"/>
              </a:rPr>
              <a:t>dat</a:t>
            </a:r>
            <a:endParaRPr lang="en-US" sz="2000" dirty="0"/>
          </a:p>
        </p:txBody>
      </p:sp>
      <p:sp>
        <p:nvSpPr>
          <p:cNvPr id="9" name="Shape 6"/>
          <p:cNvSpPr/>
          <p:nvPr/>
        </p:nvSpPr>
        <p:spPr>
          <a:xfrm>
            <a:off x="6208776" y="1463040"/>
            <a:ext cx="1280160" cy="457200"/>
          </a:xfrm>
          <a:prstGeom prst="roundRect">
            <a:avLst>
              <a:gd name="adj" fmla="val 50000"/>
            </a:avLst>
          </a:prstGeom>
          <a:solidFill>
            <a:srgbClr val="2E7D4F"/>
          </a:solidFill>
          <a:ln w="12700">
            <a:solidFill>
              <a:srgbClr val="FFFFFF">
                <a:alpha val="0"/>
              </a:srgbClr>
            </a:solidFill>
            <a:prstDash val="solid"/>
          </a:ln>
        </p:spPr>
      </p:sp>
      <p:sp>
        <p:nvSpPr>
          <p:cNvPr id="10" name="Text 7"/>
          <p:cNvSpPr txBox="1"/>
          <p:nvPr/>
        </p:nvSpPr>
        <p:spPr>
          <a:xfrm>
            <a:off x="6208776" y="1463040"/>
            <a:ext cx="1280160" cy="457200"/>
          </a:xfrm>
          <a:prstGeom prst="rect">
            <a:avLst/>
          </a:prstGeom>
          <a:noFill/>
          <a:ln/>
        </p:spPr>
        <p:txBody>
          <a:bodyPr wrap="square" lIns="0" tIns="0" rIns="0" bIns="0" rtlCol="0" anchor="ctr"/>
          <a:lstStyle/>
          <a:p>
            <a:pPr algn="ctr" indent="0" marL="0">
              <a:buNone/>
            </a:pPr>
            <a:r>
              <a:rPr lang="en-US" sz="2000" b="1" i="1" dirty="0">
                <a:solidFill>
                  <a:srgbClr val="FFFFFF"/>
                </a:solidFill>
                <a:latin typeface="Calibri" pitchFamily="34" charset="0"/>
                <a:ea typeface="Calibri" pitchFamily="34" charset="-122"/>
                <a:cs typeface="Calibri" pitchFamily="34" charset="-120"/>
              </a:rPr>
              <a:t>wat</a:t>
            </a:r>
            <a:endParaRPr lang="en-US" sz="2000" dirty="0"/>
          </a:p>
        </p:txBody>
      </p:sp>
      <p:sp>
        <p:nvSpPr>
          <p:cNvPr id="11" name="Shape 8"/>
          <p:cNvSpPr/>
          <p:nvPr/>
        </p:nvSpPr>
        <p:spPr>
          <a:xfrm>
            <a:off x="8015630" y="1463040"/>
            <a:ext cx="1280160" cy="457200"/>
          </a:xfrm>
          <a:prstGeom prst="roundRect">
            <a:avLst>
              <a:gd name="adj" fmla="val 50000"/>
            </a:avLst>
          </a:prstGeom>
          <a:solidFill>
            <a:srgbClr val="B4236A"/>
          </a:solidFill>
          <a:ln w="12700">
            <a:solidFill>
              <a:srgbClr val="FFFFFF">
                <a:alpha val="0"/>
              </a:srgbClr>
            </a:solidFill>
            <a:prstDash val="solid"/>
          </a:ln>
        </p:spPr>
      </p:sp>
      <p:sp>
        <p:nvSpPr>
          <p:cNvPr id="12" name="Text 9"/>
          <p:cNvSpPr txBox="1"/>
          <p:nvPr/>
        </p:nvSpPr>
        <p:spPr>
          <a:xfrm>
            <a:off x="8015630" y="1463040"/>
            <a:ext cx="1280160" cy="457200"/>
          </a:xfrm>
          <a:prstGeom prst="rect">
            <a:avLst/>
          </a:prstGeom>
          <a:noFill/>
          <a:ln/>
        </p:spPr>
        <p:txBody>
          <a:bodyPr wrap="square" lIns="0" tIns="0" rIns="0" bIns="0" rtlCol="0" anchor="ctr"/>
          <a:lstStyle/>
          <a:p>
            <a:pPr algn="ctr" indent="0" marL="0">
              <a:buNone/>
            </a:pPr>
            <a:r>
              <a:rPr lang="en-US" sz="2000" b="1" i="1" dirty="0">
                <a:solidFill>
                  <a:srgbClr val="FFFFFF"/>
                </a:solidFill>
                <a:latin typeface="Calibri" pitchFamily="34" charset="0"/>
                <a:ea typeface="Calibri" pitchFamily="34" charset="-122"/>
                <a:cs typeface="Calibri" pitchFamily="34" charset="-120"/>
              </a:rPr>
              <a:t>wie</a:t>
            </a:r>
            <a:endParaRPr lang="en-US" sz="2000" dirty="0"/>
          </a:p>
        </p:txBody>
      </p:sp>
      <p:sp>
        <p:nvSpPr>
          <p:cNvPr id="13" name="Shape 10"/>
          <p:cNvSpPr/>
          <p:nvPr/>
        </p:nvSpPr>
        <p:spPr>
          <a:xfrm>
            <a:off x="9822485" y="1463040"/>
            <a:ext cx="1280160" cy="457200"/>
          </a:xfrm>
          <a:prstGeom prst="roundRect">
            <a:avLst>
              <a:gd name="adj" fmla="val 50000"/>
            </a:avLst>
          </a:prstGeom>
          <a:solidFill>
            <a:srgbClr val="6E4A9E"/>
          </a:solidFill>
          <a:ln w="12700">
            <a:solidFill>
              <a:srgbClr val="FFFFFF">
                <a:alpha val="0"/>
              </a:srgbClr>
            </a:solidFill>
            <a:prstDash val="solid"/>
          </a:ln>
        </p:spPr>
      </p:sp>
      <p:sp>
        <p:nvSpPr>
          <p:cNvPr id="14" name="Text 11"/>
          <p:cNvSpPr txBox="1"/>
          <p:nvPr/>
        </p:nvSpPr>
        <p:spPr>
          <a:xfrm>
            <a:off x="9822485" y="1463040"/>
            <a:ext cx="1280160" cy="457200"/>
          </a:xfrm>
          <a:prstGeom prst="rect">
            <a:avLst/>
          </a:prstGeom>
          <a:noFill/>
          <a:ln/>
        </p:spPr>
        <p:txBody>
          <a:bodyPr wrap="square" lIns="0" tIns="0" rIns="0" bIns="0" rtlCol="0" anchor="ctr"/>
          <a:lstStyle/>
          <a:p>
            <a:pPr algn="ctr" indent="0" marL="0">
              <a:buNone/>
            </a:pPr>
            <a:r>
              <a:rPr lang="en-US" sz="2000" b="1" i="1" dirty="0">
                <a:solidFill>
                  <a:srgbClr val="FFFFFF"/>
                </a:solidFill>
                <a:latin typeface="Calibri" pitchFamily="34" charset="0"/>
                <a:ea typeface="Calibri" pitchFamily="34" charset="-122"/>
                <a:cs typeface="Calibri" pitchFamily="34" charset="-120"/>
              </a:rPr>
              <a:t>waar-</a:t>
            </a:r>
            <a:endParaRPr lang="en-US" sz="2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10543032" cy="914400"/>
        </p:xfrm>
        <a:graphic>
          <a:graphicData uri="http://schemas.openxmlformats.org/drawingml/2006/table">
            <a:tbl>
              <a:tblPr/>
              <a:tblGrid>
                <a:gridCol w="1508760"/>
                <a:gridCol w="1806854"/>
                <a:gridCol w="1806854"/>
                <a:gridCol w="1806854"/>
                <a:gridCol w="1806854"/>
                <a:gridCol w="1806854"/>
              </a:tblGrid>
              <a:tr h="1051560">
                <a:tc>
                  <a:txBody>
                    <a:bodyPr/>
                    <a:lstStyle/>
                    <a:p>
                      <a:pPr algn="l" indent="0" marL="0">
                        <a:buNone/>
                      </a:pPr>
                      <a:r>
                        <a:rPr lang="en-US" sz="1500" b="1" dirty="0">
                          <a:solidFill>
                            <a:srgbClr val="1B2333"/>
                          </a:solidFill>
                          <a:latin typeface="Calibri" pitchFamily="34" charset="0"/>
                          <a:ea typeface="Calibri" pitchFamily="34" charset="-122"/>
                          <a:cs typeface="Calibri" pitchFamily="34" charset="-120"/>
                        </a:rPr>
                        <a:t>Quand ?</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nom </a:t>
                      </a:r>
                      <a:r>
                        <a:rPr lang="en-US" sz="1500" i="1" dirty="0">
                          <a:solidFill>
                            <a:srgbClr val="1B2333"/>
                          </a:solidFill>
                          <a:latin typeface="Calibri" pitchFamily="34" charset="0"/>
                          <a:ea typeface="Calibri" pitchFamily="34" charset="-122"/>
                          <a:cs typeface="Calibri" pitchFamily="34" charset="-120"/>
                        </a:rPr>
                        <a:t>de</a:t>
                      </a:r>
                      <a:r>
                        <a:rPr lang="en-US" sz="1500" dirty="0">
                          <a:solidFill>
                            <a:srgbClr val="1B2333"/>
                          </a:solidFill>
                          <a:latin typeface="Calibri" pitchFamily="34" charset="0"/>
                          <a:ea typeface="Calibri" pitchFamily="34" charset="-122"/>
                          <a:cs typeface="Calibri" pitchFamily="34" charset="-120"/>
                        </a:rPr>
                        <a:t>, pluriel</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nom </a:t>
                      </a:r>
                      <a:r>
                        <a:rPr lang="en-US" sz="1500" i="1" dirty="0">
                          <a:solidFill>
                            <a:srgbClr val="1B2333"/>
                          </a:solidFill>
                          <a:latin typeface="Calibri" pitchFamily="34" charset="0"/>
                          <a:ea typeface="Calibri" pitchFamily="34" charset="-122"/>
                          <a:cs typeface="Calibri" pitchFamily="34" charset="-120"/>
                        </a:rPr>
                        <a:t>het</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i="1" dirty="0">
                          <a:solidFill>
                            <a:srgbClr val="1B2333"/>
                          </a:solidFill>
                          <a:latin typeface="Calibri" pitchFamily="34" charset="0"/>
                          <a:ea typeface="Calibri" pitchFamily="34" charset="-122"/>
                          <a:cs typeface="Calibri" pitchFamily="34" charset="-120"/>
                        </a:rPr>
                        <a:t>alles, iets</a:t>
                      </a:r>
                      <a:r>
                        <a:rPr lang="en-US" sz="1500" dirty="0">
                          <a:solidFill>
                            <a:srgbClr val="1B2333"/>
                          </a:solidFill>
                          <a:latin typeface="Calibri" pitchFamily="34" charset="0"/>
                          <a:ea typeface="Calibri" pitchFamily="34" charset="-122"/>
                          <a:cs typeface="Calibri" pitchFamily="34" charset="-120"/>
                        </a:rPr>
                        <a:t>, superlatif, une phrase, sans nom</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préposition + personne, sans nom</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préposition + chose, le lieu</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l" indent="0" marL="0">
                        <a:buNone/>
                      </a:pPr>
                      <a:r>
                        <a:rPr lang="en-US" sz="1500" b="1" dirty="0">
                          <a:solidFill>
                            <a:srgbClr val="1B2333"/>
                          </a:solidFill>
                          <a:latin typeface="Calibri" pitchFamily="34" charset="0"/>
                          <a:ea typeface="Calibri" pitchFamily="34" charset="-122"/>
                          <a:cs typeface="Calibri" pitchFamily="34" charset="-120"/>
                        </a:rPr>
                        <a:t>Exemple</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i="1" dirty="0">
                          <a:solidFill>
                            <a:srgbClr val="1B2333"/>
                          </a:solidFill>
                          <a:latin typeface="Calibri" pitchFamily="34" charset="0"/>
                          <a:ea typeface="Calibri" pitchFamily="34" charset="-122"/>
                          <a:cs typeface="Calibri" pitchFamily="34" charset="-120"/>
                        </a:rPr>
                        <a:t>de klant </a:t>
                      </a:r>
                      <a:r>
                        <a:rPr lang="en-US" sz="1500" b="1" i="1" dirty="0">
                          <a:solidFill>
                            <a:srgbClr val="17375E"/>
                          </a:solidFill>
                          <a:latin typeface="Calibri" pitchFamily="34" charset="0"/>
                          <a:ea typeface="Calibri" pitchFamily="34" charset="-122"/>
                          <a:cs typeface="Calibri" pitchFamily="34" charset="-120"/>
                        </a:rPr>
                        <a:t>die</a:t>
                      </a:r>
                      <a:r>
                        <a:rPr lang="en-US" sz="1500" i="1" dirty="0">
                          <a:solidFill>
                            <a:srgbClr val="1B2333"/>
                          </a:solidFill>
                          <a:latin typeface="Calibri" pitchFamily="34" charset="0"/>
                          <a:ea typeface="Calibri" pitchFamily="34" charset="-122"/>
                          <a:cs typeface="Calibri" pitchFamily="34" charset="-120"/>
                        </a:rPr>
                        <a:t> belt</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i="1" dirty="0">
                          <a:solidFill>
                            <a:srgbClr val="1B2333"/>
                          </a:solidFill>
                          <a:latin typeface="Calibri" pitchFamily="34" charset="0"/>
                          <a:ea typeface="Calibri" pitchFamily="34" charset="-122"/>
                          <a:cs typeface="Calibri" pitchFamily="34" charset="-120"/>
                        </a:rPr>
                        <a:t>het rapport </a:t>
                      </a:r>
                      <a:r>
                        <a:rPr lang="en-US" sz="1500" b="1" i="1" dirty="0">
                          <a:solidFill>
                            <a:srgbClr val="D9700F"/>
                          </a:solidFill>
                          <a:latin typeface="Calibri" pitchFamily="34" charset="0"/>
                          <a:ea typeface="Calibri" pitchFamily="34" charset="-122"/>
                          <a:cs typeface="Calibri" pitchFamily="34" charset="-120"/>
                        </a:rPr>
                        <a:t>dat</a:t>
                      </a:r>
                      <a:r>
                        <a:rPr lang="en-US" sz="1500" i="1" dirty="0">
                          <a:solidFill>
                            <a:srgbClr val="1B2333"/>
                          </a:solidFill>
                          <a:latin typeface="Calibri" pitchFamily="34" charset="0"/>
                          <a:ea typeface="Calibri" pitchFamily="34" charset="-122"/>
                          <a:cs typeface="Calibri" pitchFamily="34" charset="-120"/>
                        </a:rPr>
                        <a:t> ik lees</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i="1" dirty="0">
                          <a:solidFill>
                            <a:srgbClr val="1B2333"/>
                          </a:solidFill>
                          <a:latin typeface="Calibri" pitchFamily="34" charset="0"/>
                          <a:ea typeface="Calibri" pitchFamily="34" charset="-122"/>
                          <a:cs typeface="Calibri" pitchFamily="34" charset="-120"/>
                        </a:rPr>
                        <a:t>alles </a:t>
                      </a:r>
                      <a:r>
                        <a:rPr lang="en-US" sz="1500" b="1" i="1" dirty="0">
                          <a:solidFill>
                            <a:srgbClr val="2E7D4F"/>
                          </a:solidFill>
                          <a:latin typeface="Calibri" pitchFamily="34" charset="0"/>
                          <a:ea typeface="Calibri" pitchFamily="34" charset="-122"/>
                          <a:cs typeface="Calibri" pitchFamily="34" charset="-120"/>
                        </a:rPr>
                        <a:t>wat</a:t>
                      </a:r>
                      <a:r>
                        <a:rPr lang="en-US" sz="1500" i="1" dirty="0">
                          <a:solidFill>
                            <a:srgbClr val="1B2333"/>
                          </a:solidFill>
                          <a:latin typeface="Calibri" pitchFamily="34" charset="0"/>
                          <a:ea typeface="Calibri" pitchFamily="34" charset="-122"/>
                          <a:cs typeface="Calibri" pitchFamily="34" charset="-120"/>
                        </a:rPr>
                        <a:t> je zegt</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b="1" i="1" dirty="0">
                          <a:solidFill>
                            <a:srgbClr val="B4236A"/>
                          </a:solidFill>
                          <a:latin typeface="Calibri" pitchFamily="34" charset="0"/>
                          <a:ea typeface="Calibri" pitchFamily="34" charset="-122"/>
                          <a:cs typeface="Calibri" pitchFamily="34" charset="-120"/>
                        </a:rPr>
                        <a:t>met wie</a:t>
                      </a:r>
                      <a:r>
                        <a:rPr lang="en-US" sz="1500" i="1" dirty="0">
                          <a:solidFill>
                            <a:srgbClr val="1B2333"/>
                          </a:solidFill>
                          <a:latin typeface="Calibri" pitchFamily="34" charset="0"/>
                          <a:ea typeface="Calibri" pitchFamily="34" charset="-122"/>
                          <a:cs typeface="Calibri" pitchFamily="34" charset="-120"/>
                        </a:rPr>
                        <a:t> ik werk</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00" b="1" i="1" dirty="0">
                          <a:solidFill>
                            <a:srgbClr val="6E4A9E"/>
                          </a:solidFill>
                          <a:latin typeface="Calibri" pitchFamily="34" charset="0"/>
                          <a:ea typeface="Calibri" pitchFamily="34" charset="-122"/>
                          <a:cs typeface="Calibri" pitchFamily="34" charset="-120"/>
                        </a:rPr>
                        <a:t>waarmee</a:t>
                      </a:r>
                      <a:r>
                        <a:rPr lang="en-US" sz="1500" i="1" dirty="0">
                          <a:solidFill>
                            <a:srgbClr val="1B2333"/>
                          </a:solidFill>
                          <a:latin typeface="Calibri" pitchFamily="34" charset="0"/>
                          <a:ea typeface="Calibri" pitchFamily="34" charset="-122"/>
                          <a:cs typeface="Calibri" pitchFamily="34" charset="-120"/>
                        </a:rPr>
                        <a:t> ik schrijf</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640080">
                <a:tc>
                  <a:txBody>
                    <a:bodyPr/>
                    <a:lstStyle/>
                    <a:p>
                      <a:pPr algn="l" indent="0" marL="0">
                        <a:buNone/>
                      </a:pPr>
                      <a:r>
                        <a:rPr lang="en-US" sz="1500" b="1" dirty="0">
                          <a:solidFill>
                            <a:srgbClr val="1B2333"/>
                          </a:solidFill>
                          <a:latin typeface="Calibri" pitchFamily="34" charset="0"/>
                          <a:ea typeface="Calibri" pitchFamily="34" charset="-122"/>
                          <a:cs typeface="Calibri" pitchFamily="34" charset="-120"/>
                        </a:rPr>
                        <a:t>Français</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qui, que</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qui, que</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ce qui, ce que</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(avec) qui, celui qui</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00" dirty="0">
                          <a:solidFill>
                            <a:srgbClr val="1B2333"/>
                          </a:solidFill>
                          <a:latin typeface="Calibri" pitchFamily="34" charset="0"/>
                          <a:ea typeface="Calibri" pitchFamily="34" charset="-122"/>
                          <a:cs typeface="Calibri" pitchFamily="34" charset="-120"/>
                        </a:rPr>
                        <a:t>avec lequel, où</a:t>
                      </a:r>
                      <a:endParaRPr lang="en-US" sz="15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2"/>
          <p:cNvSpPr txBox="1"/>
          <p:nvPr/>
        </p:nvSpPr>
        <p:spPr>
          <a:xfrm>
            <a:off x="822960" y="512064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Et toujours : tous les </a:t>
            </a:r>
            <a:r>
              <a:rPr lang="en-US" sz="1600" b="1" i="1" dirty="0">
                <a:solidFill>
                  <a:srgbClr val="B83227"/>
                </a:solidFill>
                <a:latin typeface="Calibri" pitchFamily="34" charset="0"/>
                <a:ea typeface="Calibri" pitchFamily="34" charset="-122"/>
                <a:cs typeface="Calibri" pitchFamily="34" charset="-120"/>
              </a:rPr>
              <a:t>verbes</a:t>
            </a:r>
            <a:r>
              <a:rPr lang="en-US" sz="1600" i="1" dirty="0">
                <a:solidFill>
                  <a:srgbClr val="17375E"/>
                </a:solidFill>
                <a:latin typeface="Calibri" pitchFamily="34" charset="0"/>
                <a:ea typeface="Calibri" pitchFamily="34" charset="-122"/>
                <a:cs typeface="Calibri" pitchFamily="34" charset="-120"/>
              </a:rPr>
              <a:t> à la fin de la relative.</a:t>
            </a:r>
            <a:endParaRPr lang="en-US" sz="1600" dirty="0"/>
          </a:p>
        </p:txBody>
      </p:sp>
      <p:pic>
        <p:nvPicPr>
          <p:cNvPr id="17" name="Image 0" descr="Camera">    </p:cNvPr>
          <p:cNvPicPr>
            <a:picLocks noChangeAspect="1"/>
          </p:cNvPicPr>
          <p:nvPr/>
        </p:nvPicPr>
        <p:blipFill>
          <a:blip r:embed="rId1"/>
          <a:stretch>
            <a:fillRect/>
          </a:stretch>
        </p:blipFill>
        <p:spPr>
          <a:xfrm>
            <a:off x="11247120" y="274320"/>
            <a:ext cx="292608" cy="29260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FFFFFF"/>
                </a:solidFill>
              </a:rPr>
              <a:t>Oefeningen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F2B36B"/>
                </a:solidFill>
                <a:latin typeface="Calibri" pitchFamily="34" charset="0"/>
                <a:ea typeface="Calibri" pitchFamily="34" charset="-122"/>
                <a:cs typeface="Calibri" pitchFamily="34" charset="-120"/>
              </a:rPr>
              <a:t>JIJ NU !</a:t>
            </a:r>
            <a:endParaRPr lang="en-US" sz="1100" dirty="0"/>
          </a:p>
        </p:txBody>
      </p:sp>
      <p:sp>
        <p:nvSpPr>
          <p:cNvPr id="5" name="Shape 2"/>
          <p:cNvSpPr/>
          <p:nvPr/>
        </p:nvSpPr>
        <p:spPr>
          <a:xfrm>
            <a:off x="1193292" y="1920240"/>
            <a:ext cx="1481328" cy="1417320"/>
          </a:xfrm>
          <a:prstGeom prst="roundRect">
            <a:avLst>
              <a:gd name="adj" fmla="val 6452"/>
            </a:avLst>
          </a:prstGeom>
          <a:solidFill>
            <a:srgbClr val="23466F"/>
          </a:solidFill>
          <a:ln w="12700">
            <a:solidFill>
              <a:srgbClr val="FFFFFF">
                <a:alpha val="0"/>
              </a:srgbClr>
            </a:solidFill>
            <a:prstDash val="solid"/>
          </a:ln>
        </p:spPr>
      </p:sp>
      <p:sp>
        <p:nvSpPr>
          <p:cNvPr id="6" name="Text 3"/>
          <p:cNvSpPr txBox="1"/>
          <p:nvPr/>
        </p:nvSpPr>
        <p:spPr>
          <a:xfrm>
            <a:off x="1330452" y="202996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330452" y="246888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Die of dat ?</a:t>
            </a:r>
            <a:endParaRPr lang="en-US" sz="1350" dirty="0"/>
          </a:p>
        </p:txBody>
      </p:sp>
      <p:sp>
        <p:nvSpPr>
          <p:cNvPr id="8" name="Text 5"/>
          <p:cNvSpPr txBox="1"/>
          <p:nvPr/>
        </p:nvSpPr>
        <p:spPr>
          <a:xfrm>
            <a:off x="1330452" y="299923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9" name="Shape 6"/>
          <p:cNvSpPr/>
          <p:nvPr/>
        </p:nvSpPr>
        <p:spPr>
          <a:xfrm>
            <a:off x="2857500" y="1920240"/>
            <a:ext cx="1481328" cy="1417320"/>
          </a:xfrm>
          <a:prstGeom prst="roundRect">
            <a:avLst>
              <a:gd name="adj" fmla="val 6452"/>
            </a:avLst>
          </a:prstGeom>
          <a:solidFill>
            <a:srgbClr val="23466F"/>
          </a:solidFill>
          <a:ln w="12700">
            <a:solidFill>
              <a:srgbClr val="FFFFFF">
                <a:alpha val="0"/>
              </a:srgbClr>
            </a:solidFill>
            <a:prstDash val="solid"/>
          </a:ln>
        </p:spPr>
      </p:sp>
      <p:sp>
        <p:nvSpPr>
          <p:cNvPr id="10" name="Text 7"/>
          <p:cNvSpPr txBox="1"/>
          <p:nvPr/>
        </p:nvSpPr>
        <p:spPr>
          <a:xfrm>
            <a:off x="2994660" y="202996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2</a:t>
            </a:r>
            <a:endParaRPr lang="en-US" sz="2000" dirty="0"/>
          </a:p>
        </p:txBody>
      </p:sp>
      <p:sp>
        <p:nvSpPr>
          <p:cNvPr id="11" name="Text 8"/>
          <p:cNvSpPr txBox="1"/>
          <p:nvPr/>
        </p:nvSpPr>
        <p:spPr>
          <a:xfrm>
            <a:off x="2994660" y="246888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Une seule phrase</a:t>
            </a:r>
            <a:endParaRPr lang="en-US" sz="1350" dirty="0"/>
          </a:p>
        </p:txBody>
      </p:sp>
      <p:sp>
        <p:nvSpPr>
          <p:cNvPr id="12" name="Text 9"/>
          <p:cNvSpPr txBox="1"/>
          <p:nvPr/>
        </p:nvSpPr>
        <p:spPr>
          <a:xfrm>
            <a:off x="2994660" y="299923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13" name="Shape 10"/>
          <p:cNvSpPr/>
          <p:nvPr/>
        </p:nvSpPr>
        <p:spPr>
          <a:xfrm>
            <a:off x="4521708" y="1920240"/>
            <a:ext cx="1481328" cy="1417320"/>
          </a:xfrm>
          <a:prstGeom prst="roundRect">
            <a:avLst>
              <a:gd name="adj" fmla="val 6452"/>
            </a:avLst>
          </a:prstGeom>
          <a:solidFill>
            <a:srgbClr val="23466F"/>
          </a:solidFill>
          <a:ln w="12700">
            <a:solidFill>
              <a:srgbClr val="FFFFFF">
                <a:alpha val="0"/>
              </a:srgbClr>
            </a:solidFill>
            <a:prstDash val="solid"/>
          </a:ln>
        </p:spPr>
      </p:sp>
      <p:sp>
        <p:nvSpPr>
          <p:cNvPr id="14" name="Text 11"/>
          <p:cNvSpPr txBox="1"/>
          <p:nvPr/>
        </p:nvSpPr>
        <p:spPr>
          <a:xfrm>
            <a:off x="4658868" y="202996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4658868" y="246888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Qui ou que ?</a:t>
            </a:r>
            <a:endParaRPr lang="en-US" sz="1350" dirty="0"/>
          </a:p>
        </p:txBody>
      </p:sp>
      <p:sp>
        <p:nvSpPr>
          <p:cNvPr id="16" name="Text 13"/>
          <p:cNvSpPr txBox="1"/>
          <p:nvPr/>
        </p:nvSpPr>
        <p:spPr>
          <a:xfrm>
            <a:off x="4658868" y="299923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17" name="Shape 14"/>
          <p:cNvSpPr/>
          <p:nvPr/>
        </p:nvSpPr>
        <p:spPr>
          <a:xfrm>
            <a:off x="6185916" y="1920240"/>
            <a:ext cx="1481328" cy="1417320"/>
          </a:xfrm>
          <a:prstGeom prst="roundRect">
            <a:avLst>
              <a:gd name="adj" fmla="val 6452"/>
            </a:avLst>
          </a:prstGeom>
          <a:solidFill>
            <a:srgbClr val="23466F"/>
          </a:solidFill>
          <a:ln w="12700">
            <a:solidFill>
              <a:srgbClr val="FFFFFF">
                <a:alpha val="0"/>
              </a:srgbClr>
            </a:solidFill>
            <a:prstDash val="solid"/>
          </a:ln>
        </p:spPr>
      </p:sp>
      <p:sp>
        <p:nvSpPr>
          <p:cNvPr id="18" name="Text 15"/>
          <p:cNvSpPr txBox="1"/>
          <p:nvPr/>
        </p:nvSpPr>
        <p:spPr>
          <a:xfrm>
            <a:off x="6323076" y="202996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6323076" y="246888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Au milieu</a:t>
            </a:r>
            <a:endParaRPr lang="en-US" sz="1350" dirty="0"/>
          </a:p>
        </p:txBody>
      </p:sp>
      <p:sp>
        <p:nvSpPr>
          <p:cNvPr id="20" name="Text 17"/>
          <p:cNvSpPr txBox="1"/>
          <p:nvPr/>
        </p:nvSpPr>
        <p:spPr>
          <a:xfrm>
            <a:off x="6323076" y="299923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21" name="Shape 18"/>
          <p:cNvSpPr/>
          <p:nvPr/>
        </p:nvSpPr>
        <p:spPr>
          <a:xfrm>
            <a:off x="7850124" y="1920240"/>
            <a:ext cx="1481328" cy="1417320"/>
          </a:xfrm>
          <a:prstGeom prst="roundRect">
            <a:avLst>
              <a:gd name="adj" fmla="val 6452"/>
            </a:avLst>
          </a:prstGeom>
          <a:solidFill>
            <a:srgbClr val="23466F"/>
          </a:solidFill>
          <a:ln w="12700">
            <a:solidFill>
              <a:srgbClr val="FFFFFF">
                <a:alpha val="0"/>
              </a:srgbClr>
            </a:solidFill>
            <a:prstDash val="solid"/>
          </a:ln>
        </p:spPr>
      </p:sp>
      <p:sp>
        <p:nvSpPr>
          <p:cNvPr id="22" name="Text 19"/>
          <p:cNvSpPr txBox="1"/>
          <p:nvPr/>
        </p:nvSpPr>
        <p:spPr>
          <a:xfrm>
            <a:off x="7987284" y="202996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5</a:t>
            </a:r>
            <a:endParaRPr lang="en-US" sz="2000" dirty="0"/>
          </a:p>
        </p:txBody>
      </p:sp>
      <p:sp>
        <p:nvSpPr>
          <p:cNvPr id="23" name="Text 20"/>
          <p:cNvSpPr txBox="1"/>
          <p:nvPr/>
        </p:nvSpPr>
        <p:spPr>
          <a:xfrm>
            <a:off x="7987284" y="246888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Virgules</a:t>
            </a:r>
            <a:endParaRPr lang="en-US" sz="1350" dirty="0"/>
          </a:p>
        </p:txBody>
      </p:sp>
      <p:sp>
        <p:nvSpPr>
          <p:cNvPr id="24" name="Text 21"/>
          <p:cNvSpPr txBox="1"/>
          <p:nvPr/>
        </p:nvSpPr>
        <p:spPr>
          <a:xfrm>
            <a:off x="7987284" y="299923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9514332" y="1920240"/>
            <a:ext cx="1481328" cy="1417320"/>
          </a:xfrm>
          <a:prstGeom prst="roundRect">
            <a:avLst>
              <a:gd name="adj" fmla="val 6452"/>
            </a:avLst>
          </a:prstGeom>
          <a:solidFill>
            <a:srgbClr val="23466F"/>
          </a:solidFill>
          <a:ln w="12700">
            <a:solidFill>
              <a:srgbClr val="FFFFFF">
                <a:alpha val="0"/>
              </a:srgbClr>
            </a:solidFill>
            <a:prstDash val="solid"/>
          </a:ln>
        </p:spPr>
      </p:sp>
      <p:sp>
        <p:nvSpPr>
          <p:cNvPr id="26" name="Text 23"/>
          <p:cNvSpPr txBox="1"/>
          <p:nvPr/>
        </p:nvSpPr>
        <p:spPr>
          <a:xfrm>
            <a:off x="9651492" y="202996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6</a:t>
            </a:r>
            <a:endParaRPr lang="en-US" sz="2000" dirty="0"/>
          </a:p>
        </p:txBody>
      </p:sp>
      <p:sp>
        <p:nvSpPr>
          <p:cNvPr id="27" name="Text 24"/>
          <p:cNvSpPr txBox="1"/>
          <p:nvPr/>
        </p:nvSpPr>
        <p:spPr>
          <a:xfrm>
            <a:off x="9651492" y="246888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die, dat ou wat ?</a:t>
            </a:r>
            <a:endParaRPr lang="en-US" sz="1350" dirty="0"/>
          </a:p>
        </p:txBody>
      </p:sp>
      <p:sp>
        <p:nvSpPr>
          <p:cNvPr id="28" name="Text 25"/>
          <p:cNvSpPr txBox="1"/>
          <p:nvPr/>
        </p:nvSpPr>
        <p:spPr>
          <a:xfrm>
            <a:off x="9651492" y="299923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29" name="Shape 26"/>
          <p:cNvSpPr/>
          <p:nvPr/>
        </p:nvSpPr>
        <p:spPr>
          <a:xfrm>
            <a:off x="1193292" y="3611880"/>
            <a:ext cx="1481328" cy="1417320"/>
          </a:xfrm>
          <a:prstGeom prst="roundRect">
            <a:avLst>
              <a:gd name="adj" fmla="val 6452"/>
            </a:avLst>
          </a:prstGeom>
          <a:solidFill>
            <a:srgbClr val="23466F"/>
          </a:solidFill>
          <a:ln w="12700">
            <a:solidFill>
              <a:srgbClr val="FFFFFF">
                <a:alpha val="0"/>
              </a:srgbClr>
            </a:solidFill>
            <a:prstDash val="solid"/>
          </a:ln>
        </p:spPr>
      </p:sp>
      <p:sp>
        <p:nvSpPr>
          <p:cNvPr id="30" name="Text 27"/>
          <p:cNvSpPr txBox="1"/>
          <p:nvPr/>
        </p:nvSpPr>
        <p:spPr>
          <a:xfrm>
            <a:off x="1330452" y="372160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7</a:t>
            </a:r>
            <a:endParaRPr lang="en-US" sz="2000" dirty="0"/>
          </a:p>
        </p:txBody>
      </p:sp>
      <p:sp>
        <p:nvSpPr>
          <p:cNvPr id="31" name="Text 28"/>
          <p:cNvSpPr txBox="1"/>
          <p:nvPr/>
        </p:nvSpPr>
        <p:spPr>
          <a:xfrm>
            <a:off x="1330452" y="416052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wie ou waar- ?</a:t>
            </a:r>
            <a:endParaRPr lang="en-US" sz="1350" dirty="0"/>
          </a:p>
        </p:txBody>
      </p:sp>
      <p:sp>
        <p:nvSpPr>
          <p:cNvPr id="32" name="Text 29"/>
          <p:cNvSpPr txBox="1"/>
          <p:nvPr/>
        </p:nvSpPr>
        <p:spPr>
          <a:xfrm>
            <a:off x="1330452" y="469087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2857500" y="3611880"/>
            <a:ext cx="1481328" cy="1417320"/>
          </a:xfrm>
          <a:prstGeom prst="roundRect">
            <a:avLst>
              <a:gd name="adj" fmla="val 6452"/>
            </a:avLst>
          </a:prstGeom>
          <a:solidFill>
            <a:srgbClr val="23466F"/>
          </a:solidFill>
          <a:ln w="12700">
            <a:solidFill>
              <a:srgbClr val="FFFFFF">
                <a:alpha val="0"/>
              </a:srgbClr>
            </a:solidFill>
            <a:prstDash val="solid"/>
          </a:ln>
        </p:spPr>
      </p:sp>
      <p:sp>
        <p:nvSpPr>
          <p:cNvPr id="34" name="Text 31"/>
          <p:cNvSpPr txBox="1"/>
          <p:nvPr/>
        </p:nvSpPr>
        <p:spPr>
          <a:xfrm>
            <a:off x="2994660" y="372160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8</a:t>
            </a:r>
            <a:endParaRPr lang="en-US" sz="2000" dirty="0"/>
          </a:p>
        </p:txBody>
      </p:sp>
      <p:sp>
        <p:nvSpPr>
          <p:cNvPr id="35" name="Text 32"/>
          <p:cNvSpPr txBox="1"/>
          <p:nvPr/>
        </p:nvSpPr>
        <p:spPr>
          <a:xfrm>
            <a:off x="2994660" y="416052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La pince</a:t>
            </a:r>
            <a:endParaRPr lang="en-US" sz="1350" dirty="0"/>
          </a:p>
        </p:txBody>
      </p:sp>
      <p:sp>
        <p:nvSpPr>
          <p:cNvPr id="36" name="Text 33"/>
          <p:cNvSpPr txBox="1"/>
          <p:nvPr/>
        </p:nvSpPr>
        <p:spPr>
          <a:xfrm>
            <a:off x="2994660" y="469087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37" name="Shape 34"/>
          <p:cNvSpPr/>
          <p:nvPr/>
        </p:nvSpPr>
        <p:spPr>
          <a:xfrm>
            <a:off x="4521708" y="3611880"/>
            <a:ext cx="1481328" cy="1417320"/>
          </a:xfrm>
          <a:prstGeom prst="roundRect">
            <a:avLst>
              <a:gd name="adj" fmla="val 6452"/>
            </a:avLst>
          </a:prstGeom>
          <a:solidFill>
            <a:srgbClr val="23466F"/>
          </a:solidFill>
          <a:ln w="12700">
            <a:solidFill>
              <a:srgbClr val="FFFFFF">
                <a:alpha val="0"/>
              </a:srgbClr>
            </a:solidFill>
            <a:prstDash val="solid"/>
          </a:ln>
        </p:spPr>
      </p:sp>
      <p:sp>
        <p:nvSpPr>
          <p:cNvPr id="38" name="Text 35"/>
          <p:cNvSpPr txBox="1"/>
          <p:nvPr/>
        </p:nvSpPr>
        <p:spPr>
          <a:xfrm>
            <a:off x="4658868" y="372160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9</a:t>
            </a:r>
            <a:endParaRPr lang="en-US" sz="2000" dirty="0"/>
          </a:p>
        </p:txBody>
      </p:sp>
      <p:sp>
        <p:nvSpPr>
          <p:cNvPr id="39" name="Text 36"/>
          <p:cNvSpPr txBox="1"/>
          <p:nvPr/>
        </p:nvSpPr>
        <p:spPr>
          <a:xfrm>
            <a:off x="4658868" y="416052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Dont et où</a:t>
            </a:r>
            <a:endParaRPr lang="en-US" sz="1350" dirty="0"/>
          </a:p>
        </p:txBody>
      </p:sp>
      <p:sp>
        <p:nvSpPr>
          <p:cNvPr id="40" name="Text 37"/>
          <p:cNvSpPr txBox="1"/>
          <p:nvPr/>
        </p:nvSpPr>
        <p:spPr>
          <a:xfrm>
            <a:off x="4658868" y="469087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6185916" y="3611880"/>
            <a:ext cx="1481328" cy="1417320"/>
          </a:xfrm>
          <a:prstGeom prst="roundRect">
            <a:avLst>
              <a:gd name="adj" fmla="val 6452"/>
            </a:avLst>
          </a:prstGeom>
          <a:solidFill>
            <a:srgbClr val="23466F"/>
          </a:solidFill>
          <a:ln w="12700">
            <a:solidFill>
              <a:srgbClr val="FFFFFF">
                <a:alpha val="0"/>
              </a:srgbClr>
            </a:solidFill>
            <a:prstDash val="solid"/>
          </a:ln>
        </p:spPr>
      </p:sp>
      <p:sp>
        <p:nvSpPr>
          <p:cNvPr id="42" name="Text 39"/>
          <p:cNvSpPr txBox="1"/>
          <p:nvPr/>
        </p:nvSpPr>
        <p:spPr>
          <a:xfrm>
            <a:off x="6323076" y="372160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10</a:t>
            </a:r>
            <a:endParaRPr lang="en-US" sz="2000" dirty="0"/>
          </a:p>
        </p:txBody>
      </p:sp>
      <p:sp>
        <p:nvSpPr>
          <p:cNvPr id="43" name="Text 40"/>
          <p:cNvSpPr txBox="1"/>
          <p:nvPr/>
        </p:nvSpPr>
        <p:spPr>
          <a:xfrm>
            <a:off x="6323076" y="416052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Le détective</a:t>
            </a:r>
            <a:endParaRPr lang="en-US" sz="1350" dirty="0"/>
          </a:p>
        </p:txBody>
      </p:sp>
      <p:sp>
        <p:nvSpPr>
          <p:cNvPr id="44" name="Text 41"/>
          <p:cNvSpPr txBox="1"/>
          <p:nvPr/>
        </p:nvSpPr>
        <p:spPr>
          <a:xfrm>
            <a:off x="6323076" y="469087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45" name="Shape 42"/>
          <p:cNvSpPr/>
          <p:nvPr/>
        </p:nvSpPr>
        <p:spPr>
          <a:xfrm>
            <a:off x="7850124" y="3611880"/>
            <a:ext cx="1481328" cy="1417320"/>
          </a:xfrm>
          <a:prstGeom prst="roundRect">
            <a:avLst>
              <a:gd name="adj" fmla="val 6452"/>
            </a:avLst>
          </a:prstGeom>
          <a:solidFill>
            <a:srgbClr val="23466F"/>
          </a:solidFill>
          <a:ln w="12700">
            <a:solidFill>
              <a:srgbClr val="FFFFFF">
                <a:alpha val="0"/>
              </a:srgbClr>
            </a:solidFill>
            <a:prstDash val="solid"/>
          </a:ln>
        </p:spPr>
      </p:sp>
      <p:sp>
        <p:nvSpPr>
          <p:cNvPr id="46" name="Text 43"/>
          <p:cNvSpPr txBox="1"/>
          <p:nvPr/>
        </p:nvSpPr>
        <p:spPr>
          <a:xfrm>
            <a:off x="7987284" y="372160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11</a:t>
            </a:r>
            <a:endParaRPr lang="en-US" sz="2000" dirty="0"/>
          </a:p>
        </p:txBody>
      </p:sp>
      <p:sp>
        <p:nvSpPr>
          <p:cNvPr id="47" name="Text 44"/>
          <p:cNvSpPr txBox="1"/>
          <p:nvPr/>
        </p:nvSpPr>
        <p:spPr>
          <a:xfrm>
            <a:off x="7987284" y="416052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Taboe !</a:t>
            </a:r>
            <a:endParaRPr lang="en-US" sz="1350" dirty="0"/>
          </a:p>
        </p:txBody>
      </p:sp>
      <p:sp>
        <p:nvSpPr>
          <p:cNvPr id="48" name="Text 45"/>
          <p:cNvSpPr txBox="1"/>
          <p:nvPr/>
        </p:nvSpPr>
        <p:spPr>
          <a:xfrm>
            <a:off x="7987284" y="469087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49" name="Shape 46"/>
          <p:cNvSpPr/>
          <p:nvPr/>
        </p:nvSpPr>
        <p:spPr>
          <a:xfrm>
            <a:off x="9514332" y="3611880"/>
            <a:ext cx="1481328" cy="1417320"/>
          </a:xfrm>
          <a:prstGeom prst="roundRect">
            <a:avLst>
              <a:gd name="adj" fmla="val 6452"/>
            </a:avLst>
          </a:prstGeom>
          <a:solidFill>
            <a:srgbClr val="23466F"/>
          </a:solidFill>
          <a:ln w="12700">
            <a:solidFill>
              <a:srgbClr val="FFFFFF">
                <a:alpha val="0"/>
              </a:srgbClr>
            </a:solidFill>
            <a:prstDash val="solid"/>
          </a:ln>
        </p:spPr>
      </p:sp>
      <p:sp>
        <p:nvSpPr>
          <p:cNvPr id="50" name="Text 47"/>
          <p:cNvSpPr txBox="1"/>
          <p:nvPr/>
        </p:nvSpPr>
        <p:spPr>
          <a:xfrm>
            <a:off x="9651492" y="3721608"/>
            <a:ext cx="548640" cy="411480"/>
          </a:xfrm>
          <a:prstGeom prst="rect">
            <a:avLst/>
          </a:prstGeom>
          <a:noFill/>
          <a:ln/>
        </p:spPr>
        <p:txBody>
          <a:bodyPr wrap="square" lIns="0" tIns="0" rIns="0" bIns="0" rtlCol="0" anchor="ctr"/>
          <a:lstStyle/>
          <a:p>
            <a:pPr algn="l" indent="0" marL="0">
              <a:buNone/>
            </a:pPr>
            <a:r>
              <a:rPr lang="en-US" sz="2000" b="1" dirty="0">
                <a:solidFill>
                  <a:srgbClr val="F0A04B"/>
                </a:solidFill>
                <a:latin typeface="Calibri" pitchFamily="34" charset="0"/>
                <a:ea typeface="Calibri" pitchFamily="34" charset="-122"/>
                <a:cs typeface="Calibri" pitchFamily="34" charset="-120"/>
              </a:rPr>
              <a:t>12</a:t>
            </a:r>
            <a:endParaRPr lang="en-US" sz="2000" dirty="0"/>
          </a:p>
        </p:txBody>
      </p:sp>
      <p:sp>
        <p:nvSpPr>
          <p:cNvPr id="51" name="Text 48"/>
          <p:cNvSpPr txBox="1"/>
          <p:nvPr/>
        </p:nvSpPr>
        <p:spPr>
          <a:xfrm>
            <a:off x="9651492" y="4160520"/>
            <a:ext cx="1207008"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La photo d’équipe</a:t>
            </a:r>
            <a:endParaRPr lang="en-US" sz="1350" dirty="0"/>
          </a:p>
        </p:txBody>
      </p:sp>
      <p:sp>
        <p:nvSpPr>
          <p:cNvPr id="52" name="Text 49"/>
          <p:cNvSpPr txBox="1"/>
          <p:nvPr/>
        </p:nvSpPr>
        <p:spPr>
          <a:xfrm>
            <a:off x="9651492" y="4690872"/>
            <a:ext cx="1207008" cy="256032"/>
          </a:xfrm>
          <a:prstGeom prst="rect">
            <a:avLst/>
          </a:prstGeom>
          <a:noFill/>
          <a:ln/>
        </p:spPr>
        <p:txBody>
          <a:bodyPr wrap="square" lIns="0" tIns="0" rIns="0" bIns="0" rtlCol="0" anchor="ctr"/>
          <a:lstStyle/>
          <a:p>
            <a:pPr algn="l" indent="0" marL="0">
              <a:buNone/>
            </a:pPr>
            <a:r>
              <a:rPr lang="en-US" sz="1100" dirty="0">
                <a:solidFill>
                  <a:srgbClr val="F0A04B"/>
                </a:solidFill>
                <a:latin typeface="Calibri" pitchFamily="34" charset="0"/>
                <a:ea typeface="Calibri" pitchFamily="34" charset="-122"/>
                <a:cs typeface="Calibri" pitchFamily="34" charset="-120"/>
              </a:rPr>
              <a: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4E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die of dat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die ou dat. Regardez d’abord l’article du nom.</a:t>
            </a:r>
            <a:endParaRPr lang="en-US" sz="15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10543032" cy="914400"/>
        </p:xfrm>
        <a:graphic>
          <a:graphicData uri="http://schemas.openxmlformats.org/drawingml/2006/table">
            <a:tbl>
              <a:tblPr/>
              <a:tblGrid>
                <a:gridCol w="3794760"/>
                <a:gridCol w="3291840"/>
                <a:gridCol w="3456432"/>
              </a:tblGrid>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klant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belt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2</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rapport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klaar 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3</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rapporten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klaar zijn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4</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meisje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aan de balie werkt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5</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printer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niet werkt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6</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kantoor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we huren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7</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collega’s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thuiswerken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8</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kopje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op tafel staat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9</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stagiair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morgen begint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10</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team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het project leidt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11</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mensen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ik ken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12</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bedrijf </a:t>
                      </a:r>
                      <a:r>
                        <a:rPr lang="en-US" sz="1750" dirty="0">
                          <a:solidFill>
                            <a:srgbClr val="B8C2CF"/>
                          </a:solidFill>
                          <a:latin typeface="Calibri" pitchFamily="34" charset="0"/>
                          <a:ea typeface="Calibri" pitchFamily="34" charset="-122"/>
                          <a:cs typeface="Calibri" pitchFamily="34" charset="-120"/>
                        </a:rPr>
                        <a:t>········</a:t>
                      </a:r>
                      <a:r>
                        <a:rPr lang="en-US" sz="1750" i="1" dirty="0">
                          <a:solidFill>
                            <a:srgbClr val="1B2333"/>
                          </a:solidFill>
                          <a:latin typeface="Calibri" pitchFamily="34" charset="0"/>
                          <a:ea typeface="Calibri" pitchFamily="34" charset="-122"/>
                          <a:cs typeface="Calibri" pitchFamily="34" charset="-120"/>
                        </a:rPr>
                        <a:t> ik bel</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die of dat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die ou dat. Regardez d’abord l’article du nom.</a:t>
            </a:r>
            <a:endParaRPr lang="en-US" sz="15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10543032" cy="914400"/>
        </p:xfrm>
        <a:graphic>
          <a:graphicData uri="http://schemas.openxmlformats.org/drawingml/2006/table">
            <a:tbl>
              <a:tblPr/>
              <a:tblGrid>
                <a:gridCol w="3794760"/>
                <a:gridCol w="3291840"/>
                <a:gridCol w="3456432"/>
              </a:tblGrid>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klant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belt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2</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rapport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klaar 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3</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rapporten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klaar zijn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4</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meisje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aan de balie werkt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5</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printer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niet werkt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6</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kantoor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we huren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7</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collega’s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thuiswerken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8</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kopje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op tafel staat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9</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stagiair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morgen begint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10</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team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het project leidt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11</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de mensen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ik ken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12</a:t>
                      </a:r>
                      <a:r>
                        <a:rPr lang="en-US" sz="1750" dirty="0">
                          <a:solidFill>
                            <a:srgbClr val="1B2333"/>
                          </a:solidFill>
                          <a:latin typeface="Calibri" pitchFamily="34" charset="0"/>
                          <a:ea typeface="Calibri" pitchFamily="34" charset="-122"/>
                          <a:cs typeface="Calibri" pitchFamily="34" charset="-120"/>
                        </a:rPr>
                        <a:t>  </a:t>
                      </a:r>
                      <a:r>
                        <a:rPr lang="en-US" sz="1750" i="1" dirty="0">
                          <a:solidFill>
                            <a:srgbClr val="1B2333"/>
                          </a:solidFill>
                          <a:latin typeface="Calibri" pitchFamily="34" charset="0"/>
                          <a:ea typeface="Calibri" pitchFamily="34" charset="-122"/>
                          <a:cs typeface="Calibri" pitchFamily="34" charset="-120"/>
                        </a:rPr>
                        <a:t>het bedrijf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ik bel</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het meisje, het kopje</a:t>
            </a:r>
            <a:r>
              <a:rPr lang="en-US" sz="1300" i="1" dirty="0">
                <a:solidFill>
                  <a:srgbClr val="6B7686"/>
                </a:solidFill>
                <a:latin typeface="Calibri" pitchFamily="34" charset="0"/>
                <a:ea typeface="Calibri" pitchFamily="34" charset="-122"/>
                <a:cs typeface="Calibri" pitchFamily="34" charset="-120"/>
              </a:rPr>
              <a:t> (</a:t>
            </a:r>
            <a:r>
              <a:rPr lang="en-US" sz="1300" i="1" dirty="0">
                <a:solidFill>
                  <a:srgbClr val="6B7686"/>
                </a:solidFill>
                <a:latin typeface="Calibri" pitchFamily="34" charset="0"/>
                <a:ea typeface="Calibri" pitchFamily="34" charset="-122"/>
                <a:cs typeface="Calibri" pitchFamily="34" charset="-120"/>
              </a:rPr>
              <a:t>-je</a:t>
            </a:r>
            <a:r>
              <a:rPr lang="en-US" sz="1300" i="1" dirty="0">
                <a:solidFill>
                  <a:srgbClr val="6B7686"/>
                </a:solidFill>
                <a:latin typeface="Calibri" pitchFamily="34" charset="0"/>
                <a:ea typeface="Calibri" pitchFamily="34" charset="-122"/>
                <a:cs typeface="Calibri" pitchFamily="34" charset="-120"/>
              </a:rPr>
              <a:t>) : mots </a:t>
            </a:r>
            <a:r>
              <a:rPr lang="en-US" sz="1300" i="1" dirty="0">
                <a:solidFill>
                  <a:srgbClr val="6B7686"/>
                </a:solidFill>
                <a:latin typeface="Calibri" pitchFamily="34" charset="0"/>
                <a:ea typeface="Calibri" pitchFamily="34" charset="-122"/>
                <a:cs typeface="Calibri" pitchFamily="34" charset="-120"/>
              </a:rPr>
              <a:t>het</a:t>
            </a:r>
            <a:r>
              <a:rPr lang="en-US" sz="1300" i="1" dirty="0">
                <a:solidFill>
                  <a:srgbClr val="6B7686"/>
                </a:solidFill>
                <a:latin typeface="Calibri" pitchFamily="34" charset="0"/>
                <a:ea typeface="Calibri" pitchFamily="34" charset="-122"/>
                <a:cs typeface="Calibri" pitchFamily="34" charset="-120"/>
              </a:rPr>
              <a:t> → </a:t>
            </a:r>
            <a:r>
              <a:rPr lang="en-US" sz="1300" b="1" i="1" dirty="0">
                <a:solidFill>
                  <a:srgbClr val="D9700F"/>
                </a:solidFill>
                <a:latin typeface="Calibri" pitchFamily="34" charset="0"/>
                <a:ea typeface="Calibri" pitchFamily="34" charset="-122"/>
                <a:cs typeface="Calibri" pitchFamily="34" charset="-120"/>
              </a:rPr>
              <a:t>dat</a:t>
            </a:r>
            <a:r>
              <a:rPr lang="en-US" sz="1300" i="1" dirty="0">
                <a:solidFill>
                  <a:srgbClr val="6B7686"/>
                </a:solidFill>
                <a:latin typeface="Calibri" pitchFamily="34" charset="0"/>
                <a:ea typeface="Calibri" pitchFamily="34" charset="-122"/>
                <a:cs typeface="Calibri" pitchFamily="34" charset="-120"/>
              </a:rPr>
              <a:t> · pluriel → toujours </a:t>
            </a:r>
            <a:r>
              <a:rPr lang="en-US" sz="1300" b="1" i="1" dirty="0">
                <a:solidFill>
                  <a:srgbClr val="17375E"/>
                </a:solidFill>
                <a:latin typeface="Calibri" pitchFamily="34" charset="0"/>
                <a:ea typeface="Calibri" pitchFamily="34" charset="-122"/>
                <a:cs typeface="Calibri" pitchFamily="34" charset="-120"/>
              </a:rPr>
              <a:t>die</a:t>
            </a:r>
            <a:r>
              <a:rPr lang="en-US" sz="1300" i="1" dirty="0">
                <a:solidFill>
                  <a:srgbClr val="6B7686"/>
                </a:solidFill>
                <a:latin typeface="Calibri" pitchFamily="34" charset="0"/>
                <a:ea typeface="Calibri" pitchFamily="34" charset="-122"/>
                <a:cs typeface="Calibri" pitchFamily="34" charset="-120"/>
              </a:rPr>
              <a:t> (</a:t>
            </a:r>
            <a:r>
              <a:rPr lang="en-US" sz="1300" i="1" dirty="0">
                <a:solidFill>
                  <a:srgbClr val="6B7686"/>
                </a:solidFill>
                <a:latin typeface="Calibri" pitchFamily="34" charset="0"/>
                <a:ea typeface="Calibri" pitchFamily="34" charset="-122"/>
                <a:cs typeface="Calibri" pitchFamily="34" charset="-120"/>
              </a:rPr>
              <a:t>het rapport → de rapporten </a:t>
            </a:r>
            <a:r>
              <a:rPr lang="en-US" sz="1300" b="1" i="1" dirty="0">
                <a:solidFill>
                  <a:srgbClr val="17375E"/>
                </a:solidFill>
                <a:latin typeface="Calibri" pitchFamily="34" charset="0"/>
                <a:ea typeface="Calibri" pitchFamily="34" charset="-122"/>
                <a:cs typeface="Calibri" pitchFamily="34" charset="-120"/>
              </a:rPr>
              <a:t>die</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Une seule phrase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2</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Reliez les deux phrases avec die ou dat. Attention au verbe !</a:t>
            </a:r>
            <a:endParaRPr lang="en-US" sz="15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983480"/>
                <a:gridCol w="555955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DEUX PHRASES</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UNE SEULE PHRASE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1</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Ik heb een collega. Hij spreekt vijf talen.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2</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Hier is het rapport. Je hebt het rapport gevraagd.</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3</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We zoeken een stagiair. Hij spreekt goed Frans.</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4</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Dat is de printer. Hij is altijd kapot.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5</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Ken je het restaurant? Het ligt naast het station.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6</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Ik bel de klanten. Ze hebben een klacht gestuurd.</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Une seule phrase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2</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Reliez les deux phrases avec die ou dat. Attention au verbe !</a:t>
            </a:r>
            <a:endParaRPr lang="en-US" sz="15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983480"/>
                <a:gridCol w="555955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DEUX PHRASES</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UNE SEULE PHRASE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1</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Ik heb een collega. Hij spreekt vijf talen.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Ik heb een collega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vijf talen </a:t>
                      </a:r>
                      <a:r>
                        <a:rPr lang="en-US" sz="1550" b="1" i="1" dirty="0">
                          <a:solidFill>
                            <a:srgbClr val="B83227"/>
                          </a:solidFill>
                          <a:latin typeface="Calibri" pitchFamily="34" charset="0"/>
                          <a:ea typeface="Calibri" pitchFamily="34" charset="-122"/>
                          <a:cs typeface="Calibri" pitchFamily="34" charset="-120"/>
                        </a:rPr>
                        <a:t>spreekt</a:t>
                      </a:r>
                      <a:r>
                        <a:rPr lang="en-US" sz="1550" i="1" dirty="0">
                          <a:solidFill>
                            <a:srgbClr val="1B2333"/>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2</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Hier is het rapport. Je hebt het rapport gevraagd.</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Hier is het rapport </a:t>
                      </a:r>
                      <a:r>
                        <a:rPr lang="en-US" sz="1550" b="1" i="1" dirty="0">
                          <a:solidFill>
                            <a:srgbClr val="D9700F"/>
                          </a:solidFill>
                          <a:latin typeface="Calibri" pitchFamily="34" charset="0"/>
                          <a:ea typeface="Calibri" pitchFamily="34" charset="-122"/>
                          <a:cs typeface="Calibri" pitchFamily="34" charset="-120"/>
                        </a:rPr>
                        <a:t>dat</a:t>
                      </a:r>
                      <a:r>
                        <a:rPr lang="en-US" sz="1550" i="1" dirty="0">
                          <a:solidFill>
                            <a:srgbClr val="1B2333"/>
                          </a:solidFill>
                          <a:latin typeface="Calibri" pitchFamily="34" charset="0"/>
                          <a:ea typeface="Calibri" pitchFamily="34" charset="-122"/>
                          <a:cs typeface="Calibri" pitchFamily="34" charset="-120"/>
                        </a:rPr>
                        <a:t> je gevraagd </a:t>
                      </a:r>
                      <a:r>
                        <a:rPr lang="en-US" sz="1550" b="1" i="1" dirty="0">
                          <a:solidFill>
                            <a:srgbClr val="B83227"/>
                          </a:solidFill>
                          <a:latin typeface="Calibri" pitchFamily="34" charset="0"/>
                          <a:ea typeface="Calibri" pitchFamily="34" charset="-122"/>
                          <a:cs typeface="Calibri" pitchFamily="34" charset="-120"/>
                        </a:rPr>
                        <a:t>hebt</a:t>
                      </a:r>
                      <a:r>
                        <a:rPr lang="en-US" sz="1550" i="1" dirty="0">
                          <a:solidFill>
                            <a:srgbClr val="1B2333"/>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3</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We zoeken een stagiair. Hij spreekt goed Frans.</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We zoeken een stagiair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goed Frans </a:t>
                      </a:r>
                      <a:r>
                        <a:rPr lang="en-US" sz="1550" b="1" i="1" dirty="0">
                          <a:solidFill>
                            <a:srgbClr val="B83227"/>
                          </a:solidFill>
                          <a:latin typeface="Calibri" pitchFamily="34" charset="0"/>
                          <a:ea typeface="Calibri" pitchFamily="34" charset="-122"/>
                          <a:cs typeface="Calibri" pitchFamily="34" charset="-120"/>
                        </a:rPr>
                        <a:t>spreekt</a:t>
                      </a:r>
                      <a:r>
                        <a:rPr lang="en-US" sz="1550" i="1" dirty="0">
                          <a:solidFill>
                            <a:srgbClr val="1B2333"/>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4</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Dat is de printer. Hij is altijd kapot.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Dat is de printer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altijd kapot </a:t>
                      </a:r>
                      <a:r>
                        <a:rPr lang="en-US" sz="1550" b="1" i="1" dirty="0">
                          <a:solidFill>
                            <a:srgbClr val="B83227"/>
                          </a:solidFill>
                          <a:latin typeface="Calibri" pitchFamily="34" charset="0"/>
                          <a:ea typeface="Calibri" pitchFamily="34" charset="-122"/>
                          <a:cs typeface="Calibri" pitchFamily="34" charset="-120"/>
                        </a:rPr>
                        <a:t>is</a:t>
                      </a:r>
                      <a:r>
                        <a:rPr lang="en-US" sz="1550" i="1" dirty="0">
                          <a:solidFill>
                            <a:srgbClr val="1B2333"/>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5</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Ken je het restaurant? Het ligt naast het station.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Ken je het restaurant </a:t>
                      </a:r>
                      <a:r>
                        <a:rPr lang="en-US" sz="1550" b="1" i="1" dirty="0">
                          <a:solidFill>
                            <a:srgbClr val="D9700F"/>
                          </a:solidFill>
                          <a:latin typeface="Calibri" pitchFamily="34" charset="0"/>
                          <a:ea typeface="Calibri" pitchFamily="34" charset="-122"/>
                          <a:cs typeface="Calibri" pitchFamily="34" charset="-120"/>
                        </a:rPr>
                        <a:t>dat</a:t>
                      </a:r>
                      <a:r>
                        <a:rPr lang="en-US" sz="1550" i="1" dirty="0">
                          <a:solidFill>
                            <a:srgbClr val="1B2333"/>
                          </a:solidFill>
                          <a:latin typeface="Calibri" pitchFamily="34" charset="0"/>
                          <a:ea typeface="Calibri" pitchFamily="34" charset="-122"/>
                          <a:cs typeface="Calibri" pitchFamily="34" charset="-120"/>
                        </a:rPr>
                        <a:t> naast het station </a:t>
                      </a:r>
                      <a:r>
                        <a:rPr lang="en-US" sz="1550" b="1" i="1" dirty="0">
                          <a:solidFill>
                            <a:srgbClr val="B83227"/>
                          </a:solidFill>
                          <a:latin typeface="Calibri" pitchFamily="34" charset="0"/>
                          <a:ea typeface="Calibri" pitchFamily="34" charset="-122"/>
                          <a:cs typeface="Calibri" pitchFamily="34" charset="-120"/>
                        </a:rPr>
                        <a:t>ligt</a:t>
                      </a:r>
                      <a:r>
                        <a:rPr lang="en-US" sz="1550" i="1" dirty="0">
                          <a:solidFill>
                            <a:srgbClr val="1B2333"/>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6</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Ik bel de klanten. Ze hebben een klacht gestuurd.</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Ik bel de klanten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een klacht </a:t>
                      </a:r>
                      <a:r>
                        <a:rPr lang="en-US" sz="1550" b="1" i="1" dirty="0">
                          <a:solidFill>
                            <a:srgbClr val="B83227"/>
                          </a:solidFill>
                          <a:latin typeface="Calibri" pitchFamily="34" charset="0"/>
                          <a:ea typeface="Calibri" pitchFamily="34" charset="-122"/>
                          <a:cs typeface="Calibri" pitchFamily="34" charset="-120"/>
                        </a:rPr>
                        <a:t>hebben gestuurd</a:t>
                      </a:r>
                      <a:r>
                        <a:rPr lang="en-US" sz="1550" i="1" dirty="0">
                          <a:solidFill>
                            <a:srgbClr val="1B2333"/>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2 et 6 : </a:t>
            </a:r>
            <a:r>
              <a:rPr lang="en-US" sz="1300" i="1" dirty="0">
                <a:solidFill>
                  <a:srgbClr val="6B7686"/>
                </a:solidFill>
                <a:latin typeface="Calibri" pitchFamily="34" charset="0"/>
                <a:ea typeface="Calibri" pitchFamily="34" charset="-122"/>
                <a:cs typeface="Calibri" pitchFamily="34" charset="-120"/>
              </a:rPr>
              <a:t>gevraagd hebt</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hebt gevraagd</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hebben gestuurd</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gestuurd hebben</a:t>
            </a:r>
            <a:r>
              <a:rPr lang="en-US" sz="1300" i="1" dirty="0">
                <a:solidFill>
                  <a:srgbClr val="6B7686"/>
                </a:solidFill>
                <a:latin typeface="Calibri" pitchFamily="34" charset="0"/>
                <a:ea typeface="Calibri" pitchFamily="34" charset="-122"/>
                <a:cs typeface="Calibri" pitchFamily="34" charset="-120"/>
              </a:rPr>
              <a:t> : les deux ordres sont corrects.</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Qui ou que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3</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Traduisez. Le français change… et le néerlandais ?</a:t>
            </a:r>
            <a:endParaRPr lang="en-US" sz="15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522476" y="1783080"/>
          <a:ext cx="9144000" cy="914400"/>
        </p:xfrm>
        <a:graphic>
          <a:graphicData uri="http://schemas.openxmlformats.org/drawingml/2006/table">
            <a:tbl>
              <a:tblPr/>
              <a:tblGrid>
                <a:gridCol w="4572000"/>
                <a:gridCol w="4572000"/>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a:t>
                      </a:r>
                      <a:r>
                        <a:rPr lang="en-US" sz="1750" dirty="0">
                          <a:solidFill>
                            <a:srgbClr val="1B2333"/>
                          </a:solidFill>
                          <a:latin typeface="Calibri" pitchFamily="34" charset="0"/>
                          <a:ea typeface="Calibri" pitchFamily="34" charset="-122"/>
                          <a:cs typeface="Calibri" pitchFamily="34" charset="-120"/>
                        </a:rPr>
                        <a:t>  le client </a:t>
                      </a:r>
                      <a:r>
                        <a:rPr lang="en-US" sz="1750" b="1" dirty="0">
                          <a:solidFill>
                            <a:srgbClr val="1B2333"/>
                          </a:solidFill>
                          <a:latin typeface="Calibri" pitchFamily="34" charset="0"/>
                          <a:ea typeface="Calibri" pitchFamily="34" charset="-122"/>
                          <a:cs typeface="Calibri" pitchFamily="34" charset="-120"/>
                        </a:rPr>
                        <a:t>qui</a:t>
                      </a:r>
                      <a:r>
                        <a:rPr lang="en-US" sz="1750" dirty="0">
                          <a:solidFill>
                            <a:srgbClr val="1B2333"/>
                          </a:solidFill>
                          <a:latin typeface="Calibri" pitchFamily="34" charset="0"/>
                          <a:ea typeface="Calibri" pitchFamily="34" charset="-122"/>
                          <a:cs typeface="Calibri" pitchFamily="34" charset="-120"/>
                        </a:rPr>
                        <a:t> appelle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2</a:t>
                      </a:r>
                      <a:r>
                        <a:rPr lang="en-US" sz="1750" dirty="0">
                          <a:solidFill>
                            <a:srgbClr val="1B2333"/>
                          </a:solidFill>
                          <a:latin typeface="Calibri" pitchFamily="34" charset="0"/>
                          <a:ea typeface="Calibri" pitchFamily="34" charset="-122"/>
                          <a:cs typeface="Calibri" pitchFamily="34" charset="-120"/>
                        </a:rPr>
                        <a:t>  le client </a:t>
                      </a:r>
                      <a:r>
                        <a:rPr lang="en-US" sz="1750" b="1" dirty="0">
                          <a:solidFill>
                            <a:srgbClr val="1B2333"/>
                          </a:solidFill>
                          <a:latin typeface="Calibri" pitchFamily="34" charset="0"/>
                          <a:ea typeface="Calibri" pitchFamily="34" charset="-122"/>
                          <a:cs typeface="Calibri" pitchFamily="34" charset="-120"/>
                        </a:rPr>
                        <a:t>que</a:t>
                      </a:r>
                      <a:r>
                        <a:rPr lang="en-US" sz="1750" dirty="0">
                          <a:solidFill>
                            <a:srgbClr val="1B2333"/>
                          </a:solidFill>
                          <a:latin typeface="Calibri" pitchFamily="34" charset="0"/>
                          <a:ea typeface="Calibri" pitchFamily="34" charset="-122"/>
                          <a:cs typeface="Calibri" pitchFamily="34" charset="-120"/>
                        </a:rPr>
                        <a:t> j’appelle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3</a:t>
                      </a:r>
                      <a:r>
                        <a:rPr lang="en-US" sz="1750" dirty="0">
                          <a:solidFill>
                            <a:srgbClr val="1B2333"/>
                          </a:solidFill>
                          <a:latin typeface="Calibri" pitchFamily="34" charset="0"/>
                          <a:ea typeface="Calibri" pitchFamily="34" charset="-122"/>
                          <a:cs typeface="Calibri" pitchFamily="34" charset="-120"/>
                        </a:rPr>
                        <a:t>  le bureau </a:t>
                      </a:r>
                      <a:r>
                        <a:rPr lang="en-US" sz="1750" b="1" dirty="0">
                          <a:solidFill>
                            <a:srgbClr val="1B2333"/>
                          </a:solidFill>
                          <a:latin typeface="Calibri" pitchFamily="34" charset="0"/>
                          <a:ea typeface="Calibri" pitchFamily="34" charset="-122"/>
                          <a:cs typeface="Calibri" pitchFamily="34" charset="-120"/>
                        </a:rPr>
                        <a:t>qui</a:t>
                      </a:r>
                      <a:r>
                        <a:rPr lang="en-US" sz="1750" dirty="0">
                          <a:solidFill>
                            <a:srgbClr val="1B2333"/>
                          </a:solidFill>
                          <a:latin typeface="Calibri" pitchFamily="34" charset="0"/>
                          <a:ea typeface="Calibri" pitchFamily="34" charset="-122"/>
                          <a:cs typeface="Calibri" pitchFamily="34" charset="-120"/>
                        </a:rPr>
                        <a:t> est libre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4</a:t>
                      </a:r>
                      <a:r>
                        <a:rPr lang="en-US" sz="1750" dirty="0">
                          <a:solidFill>
                            <a:srgbClr val="1B2333"/>
                          </a:solidFill>
                          <a:latin typeface="Calibri" pitchFamily="34" charset="0"/>
                          <a:ea typeface="Calibri" pitchFamily="34" charset="-122"/>
                          <a:cs typeface="Calibri" pitchFamily="34" charset="-120"/>
                        </a:rPr>
                        <a:t>  le bureau </a:t>
                      </a:r>
                      <a:r>
                        <a:rPr lang="en-US" sz="1750" b="1" dirty="0">
                          <a:solidFill>
                            <a:srgbClr val="1B2333"/>
                          </a:solidFill>
                          <a:latin typeface="Calibri" pitchFamily="34" charset="0"/>
                          <a:ea typeface="Calibri" pitchFamily="34" charset="-122"/>
                          <a:cs typeface="Calibri" pitchFamily="34" charset="-120"/>
                        </a:rPr>
                        <a:t>que</a:t>
                      </a:r>
                      <a:r>
                        <a:rPr lang="en-US" sz="1750" dirty="0">
                          <a:solidFill>
                            <a:srgbClr val="1B2333"/>
                          </a:solidFill>
                          <a:latin typeface="Calibri" pitchFamily="34" charset="0"/>
                          <a:ea typeface="Calibri" pitchFamily="34" charset="-122"/>
                          <a:cs typeface="Calibri" pitchFamily="34" charset="-120"/>
                        </a:rPr>
                        <a:t> je réserve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5</a:t>
                      </a:r>
                      <a:r>
                        <a:rPr lang="en-US" sz="1750" dirty="0">
                          <a:solidFill>
                            <a:srgbClr val="1B2333"/>
                          </a:solidFill>
                          <a:latin typeface="Calibri" pitchFamily="34" charset="0"/>
                          <a:ea typeface="Calibri" pitchFamily="34" charset="-122"/>
                          <a:cs typeface="Calibri" pitchFamily="34" charset="-120"/>
                        </a:rPr>
                        <a:t>  les collègues </a:t>
                      </a:r>
                      <a:r>
                        <a:rPr lang="en-US" sz="1750" b="1" dirty="0">
                          <a:solidFill>
                            <a:srgbClr val="1B2333"/>
                          </a:solidFill>
                          <a:latin typeface="Calibri" pitchFamily="34" charset="0"/>
                          <a:ea typeface="Calibri" pitchFamily="34" charset="-122"/>
                          <a:cs typeface="Calibri" pitchFamily="34" charset="-120"/>
                        </a:rPr>
                        <a:t>qui</a:t>
                      </a:r>
                      <a:r>
                        <a:rPr lang="en-US" sz="1750" dirty="0">
                          <a:solidFill>
                            <a:srgbClr val="1B2333"/>
                          </a:solidFill>
                          <a:latin typeface="Calibri" pitchFamily="34" charset="0"/>
                          <a:ea typeface="Calibri" pitchFamily="34" charset="-122"/>
                          <a:cs typeface="Calibri" pitchFamily="34" charset="-120"/>
                        </a:rPr>
                        <a:t> m’aident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6</a:t>
                      </a:r>
                      <a:r>
                        <a:rPr lang="en-US" sz="1750" dirty="0">
                          <a:solidFill>
                            <a:srgbClr val="1B2333"/>
                          </a:solidFill>
                          <a:latin typeface="Calibri" pitchFamily="34" charset="0"/>
                          <a:ea typeface="Calibri" pitchFamily="34" charset="-122"/>
                          <a:cs typeface="Calibri" pitchFamily="34" charset="-120"/>
                        </a:rPr>
                        <a:t>  les collègues </a:t>
                      </a:r>
                      <a:r>
                        <a:rPr lang="en-US" sz="1750" b="1" dirty="0">
                          <a:solidFill>
                            <a:srgbClr val="1B2333"/>
                          </a:solidFill>
                          <a:latin typeface="Calibri" pitchFamily="34" charset="0"/>
                          <a:ea typeface="Calibri" pitchFamily="34" charset="-122"/>
                          <a:cs typeface="Calibri" pitchFamily="34" charset="-120"/>
                        </a:rPr>
                        <a:t>que</a:t>
                      </a:r>
                      <a:r>
                        <a:rPr lang="en-US" sz="1750" dirty="0">
                          <a:solidFill>
                            <a:srgbClr val="1B2333"/>
                          </a:solidFill>
                          <a:latin typeface="Calibri" pitchFamily="34" charset="0"/>
                          <a:ea typeface="Calibri" pitchFamily="34" charset="-122"/>
                          <a:cs typeface="Calibri" pitchFamily="34" charset="-120"/>
                        </a:rPr>
                        <a:t> j’aide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r>
                        <a:rPr lang="en-US" sz="1750" dirty="0">
                          <a:solidFill>
                            <a:srgbClr val="B8C2CF"/>
                          </a:solidFill>
                          <a:latin typeface="Calibri" pitchFamily="34" charset="0"/>
                          <a:ea typeface="Calibri" pitchFamily="34" charset="-122"/>
                          <a:cs typeface="Calibri" pitchFamily="34" charset="-120"/>
                        </a:rPr>
                        <a: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Qui ou que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3</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Traduisez. Le français change… et le néerlandais ?</a:t>
            </a:r>
            <a:endParaRPr lang="en-US" sz="15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522476" y="1783080"/>
          <a:ext cx="9144000" cy="914400"/>
        </p:xfrm>
        <a:graphic>
          <a:graphicData uri="http://schemas.openxmlformats.org/drawingml/2006/table">
            <a:tbl>
              <a:tblPr/>
              <a:tblGrid>
                <a:gridCol w="4572000"/>
                <a:gridCol w="4572000"/>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1</a:t>
                      </a:r>
                      <a:r>
                        <a:rPr lang="en-US" sz="1750" dirty="0">
                          <a:solidFill>
                            <a:srgbClr val="1B2333"/>
                          </a:solidFill>
                          <a:latin typeface="Calibri" pitchFamily="34" charset="0"/>
                          <a:ea typeface="Calibri" pitchFamily="34" charset="-122"/>
                          <a:cs typeface="Calibri" pitchFamily="34" charset="-120"/>
                        </a:rPr>
                        <a:t>  le client </a:t>
                      </a:r>
                      <a:r>
                        <a:rPr lang="en-US" sz="1750" b="1" dirty="0">
                          <a:solidFill>
                            <a:srgbClr val="1B2333"/>
                          </a:solidFill>
                          <a:latin typeface="Calibri" pitchFamily="34" charset="0"/>
                          <a:ea typeface="Calibri" pitchFamily="34" charset="-122"/>
                          <a:cs typeface="Calibri" pitchFamily="34" charset="-120"/>
                        </a:rPr>
                        <a:t>qui</a:t>
                      </a:r>
                      <a:r>
                        <a:rPr lang="en-US" sz="1750" dirty="0">
                          <a:solidFill>
                            <a:srgbClr val="1B2333"/>
                          </a:solidFill>
                          <a:latin typeface="Calibri" pitchFamily="34" charset="0"/>
                          <a:ea typeface="Calibri" pitchFamily="34" charset="-122"/>
                          <a:cs typeface="Calibri" pitchFamily="34" charset="-120"/>
                        </a:rPr>
                        <a:t> appelle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i="1" dirty="0">
                          <a:solidFill>
                            <a:srgbClr val="1B2333"/>
                          </a:solidFill>
                          <a:latin typeface="Calibri" pitchFamily="34" charset="0"/>
                          <a:ea typeface="Calibri" pitchFamily="34" charset="-122"/>
                          <a:cs typeface="Calibri" pitchFamily="34" charset="-120"/>
                        </a:rPr>
                        <a:t>de klant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belt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2</a:t>
                      </a:r>
                      <a:r>
                        <a:rPr lang="en-US" sz="1750" dirty="0">
                          <a:solidFill>
                            <a:srgbClr val="1B2333"/>
                          </a:solidFill>
                          <a:latin typeface="Calibri" pitchFamily="34" charset="0"/>
                          <a:ea typeface="Calibri" pitchFamily="34" charset="-122"/>
                          <a:cs typeface="Calibri" pitchFamily="34" charset="-120"/>
                        </a:rPr>
                        <a:t>  le client </a:t>
                      </a:r>
                      <a:r>
                        <a:rPr lang="en-US" sz="1750" b="1" dirty="0">
                          <a:solidFill>
                            <a:srgbClr val="1B2333"/>
                          </a:solidFill>
                          <a:latin typeface="Calibri" pitchFamily="34" charset="0"/>
                          <a:ea typeface="Calibri" pitchFamily="34" charset="-122"/>
                          <a:cs typeface="Calibri" pitchFamily="34" charset="-120"/>
                        </a:rPr>
                        <a:t>que</a:t>
                      </a:r>
                      <a:r>
                        <a:rPr lang="en-US" sz="1750" dirty="0">
                          <a:solidFill>
                            <a:srgbClr val="1B2333"/>
                          </a:solidFill>
                          <a:latin typeface="Calibri" pitchFamily="34" charset="0"/>
                          <a:ea typeface="Calibri" pitchFamily="34" charset="-122"/>
                          <a:cs typeface="Calibri" pitchFamily="34" charset="-120"/>
                        </a:rPr>
                        <a:t> j’appelle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i="1" dirty="0">
                          <a:solidFill>
                            <a:srgbClr val="1B2333"/>
                          </a:solidFill>
                          <a:latin typeface="Calibri" pitchFamily="34" charset="0"/>
                          <a:ea typeface="Calibri" pitchFamily="34" charset="-122"/>
                          <a:cs typeface="Calibri" pitchFamily="34" charset="-120"/>
                        </a:rPr>
                        <a:t>de klant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ik bel</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3</a:t>
                      </a:r>
                      <a:r>
                        <a:rPr lang="en-US" sz="1750" dirty="0">
                          <a:solidFill>
                            <a:srgbClr val="1B2333"/>
                          </a:solidFill>
                          <a:latin typeface="Calibri" pitchFamily="34" charset="0"/>
                          <a:ea typeface="Calibri" pitchFamily="34" charset="-122"/>
                          <a:cs typeface="Calibri" pitchFamily="34" charset="-120"/>
                        </a:rPr>
                        <a:t>  le bureau </a:t>
                      </a:r>
                      <a:r>
                        <a:rPr lang="en-US" sz="1750" b="1" dirty="0">
                          <a:solidFill>
                            <a:srgbClr val="1B2333"/>
                          </a:solidFill>
                          <a:latin typeface="Calibri" pitchFamily="34" charset="0"/>
                          <a:ea typeface="Calibri" pitchFamily="34" charset="-122"/>
                          <a:cs typeface="Calibri" pitchFamily="34" charset="-120"/>
                        </a:rPr>
                        <a:t>qui</a:t>
                      </a:r>
                      <a:r>
                        <a:rPr lang="en-US" sz="1750" dirty="0">
                          <a:solidFill>
                            <a:srgbClr val="1B2333"/>
                          </a:solidFill>
                          <a:latin typeface="Calibri" pitchFamily="34" charset="0"/>
                          <a:ea typeface="Calibri" pitchFamily="34" charset="-122"/>
                          <a:cs typeface="Calibri" pitchFamily="34" charset="-120"/>
                        </a:rPr>
                        <a:t> est libre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i="1" dirty="0">
                          <a:solidFill>
                            <a:srgbClr val="1B2333"/>
                          </a:solidFill>
                          <a:latin typeface="Calibri" pitchFamily="34" charset="0"/>
                          <a:ea typeface="Calibri" pitchFamily="34" charset="-122"/>
                          <a:cs typeface="Calibri" pitchFamily="34" charset="-120"/>
                        </a:rPr>
                        <a:t>het bureau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vrij is</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4</a:t>
                      </a:r>
                      <a:r>
                        <a:rPr lang="en-US" sz="1750" dirty="0">
                          <a:solidFill>
                            <a:srgbClr val="1B2333"/>
                          </a:solidFill>
                          <a:latin typeface="Calibri" pitchFamily="34" charset="0"/>
                          <a:ea typeface="Calibri" pitchFamily="34" charset="-122"/>
                          <a:cs typeface="Calibri" pitchFamily="34" charset="-120"/>
                        </a:rPr>
                        <a:t>  le bureau </a:t>
                      </a:r>
                      <a:r>
                        <a:rPr lang="en-US" sz="1750" b="1" dirty="0">
                          <a:solidFill>
                            <a:srgbClr val="1B2333"/>
                          </a:solidFill>
                          <a:latin typeface="Calibri" pitchFamily="34" charset="0"/>
                          <a:ea typeface="Calibri" pitchFamily="34" charset="-122"/>
                          <a:cs typeface="Calibri" pitchFamily="34" charset="-120"/>
                        </a:rPr>
                        <a:t>que</a:t>
                      </a:r>
                      <a:r>
                        <a:rPr lang="en-US" sz="1750" dirty="0">
                          <a:solidFill>
                            <a:srgbClr val="1B2333"/>
                          </a:solidFill>
                          <a:latin typeface="Calibri" pitchFamily="34" charset="0"/>
                          <a:ea typeface="Calibri" pitchFamily="34" charset="-122"/>
                          <a:cs typeface="Calibri" pitchFamily="34" charset="-120"/>
                        </a:rPr>
                        <a:t> je réserve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i="1" dirty="0">
                          <a:solidFill>
                            <a:srgbClr val="1B2333"/>
                          </a:solidFill>
                          <a:latin typeface="Calibri" pitchFamily="34" charset="0"/>
                          <a:ea typeface="Calibri" pitchFamily="34" charset="-122"/>
                          <a:cs typeface="Calibri" pitchFamily="34" charset="-120"/>
                        </a:rPr>
                        <a:t>het bureau </a:t>
                      </a:r>
                      <a:r>
                        <a:rPr lang="en-US" sz="1750" b="1" i="1" dirty="0">
                          <a:solidFill>
                            <a:srgbClr val="D9700F"/>
                          </a:solidFill>
                          <a:latin typeface="Calibri" pitchFamily="34" charset="0"/>
                          <a:ea typeface="Calibri" pitchFamily="34" charset="-122"/>
                          <a:cs typeface="Calibri" pitchFamily="34" charset="-120"/>
                        </a:rPr>
                        <a:t>dat</a:t>
                      </a:r>
                      <a:r>
                        <a:rPr lang="en-US" sz="1750" i="1" dirty="0">
                          <a:solidFill>
                            <a:srgbClr val="1B2333"/>
                          </a:solidFill>
                          <a:latin typeface="Calibri" pitchFamily="34" charset="0"/>
                          <a:ea typeface="Calibri" pitchFamily="34" charset="-122"/>
                          <a:cs typeface="Calibri" pitchFamily="34" charset="-120"/>
                        </a:rPr>
                        <a:t> ik reserveer</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5</a:t>
                      </a:r>
                      <a:r>
                        <a:rPr lang="en-US" sz="1750" dirty="0">
                          <a:solidFill>
                            <a:srgbClr val="1B2333"/>
                          </a:solidFill>
                          <a:latin typeface="Calibri" pitchFamily="34" charset="0"/>
                          <a:ea typeface="Calibri" pitchFamily="34" charset="-122"/>
                          <a:cs typeface="Calibri" pitchFamily="34" charset="-120"/>
                        </a:rPr>
                        <a:t>  les collègues </a:t>
                      </a:r>
                      <a:r>
                        <a:rPr lang="en-US" sz="1750" b="1" dirty="0">
                          <a:solidFill>
                            <a:srgbClr val="1B2333"/>
                          </a:solidFill>
                          <a:latin typeface="Calibri" pitchFamily="34" charset="0"/>
                          <a:ea typeface="Calibri" pitchFamily="34" charset="-122"/>
                          <a:cs typeface="Calibri" pitchFamily="34" charset="-120"/>
                        </a:rPr>
                        <a:t>qui</a:t>
                      </a:r>
                      <a:r>
                        <a:rPr lang="en-US" sz="1750" dirty="0">
                          <a:solidFill>
                            <a:srgbClr val="1B2333"/>
                          </a:solidFill>
                          <a:latin typeface="Calibri" pitchFamily="34" charset="0"/>
                          <a:ea typeface="Calibri" pitchFamily="34" charset="-122"/>
                          <a:cs typeface="Calibri" pitchFamily="34" charset="-120"/>
                        </a:rPr>
                        <a:t> m’aident</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50" i="1" dirty="0">
                          <a:solidFill>
                            <a:srgbClr val="1B2333"/>
                          </a:solidFill>
                          <a:latin typeface="Calibri" pitchFamily="34" charset="0"/>
                          <a:ea typeface="Calibri" pitchFamily="34" charset="-122"/>
                          <a:cs typeface="Calibri" pitchFamily="34" charset="-120"/>
                        </a:rPr>
                        <a:t>de collega’s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me helpen</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50" b="1" dirty="0">
                          <a:solidFill>
                            <a:srgbClr val="1B2333"/>
                          </a:solidFill>
                          <a:latin typeface="Calibri" pitchFamily="34" charset="0"/>
                          <a:ea typeface="Calibri" pitchFamily="34" charset="-122"/>
                          <a:cs typeface="Calibri" pitchFamily="34" charset="-120"/>
                        </a:rPr>
                        <a:t>6</a:t>
                      </a:r>
                      <a:r>
                        <a:rPr lang="en-US" sz="1750" dirty="0">
                          <a:solidFill>
                            <a:srgbClr val="1B2333"/>
                          </a:solidFill>
                          <a:latin typeface="Calibri" pitchFamily="34" charset="0"/>
                          <a:ea typeface="Calibri" pitchFamily="34" charset="-122"/>
                          <a:cs typeface="Calibri" pitchFamily="34" charset="-120"/>
                        </a:rPr>
                        <a:t>  les collègues </a:t>
                      </a:r>
                      <a:r>
                        <a:rPr lang="en-US" sz="1750" b="1" dirty="0">
                          <a:solidFill>
                            <a:srgbClr val="1B2333"/>
                          </a:solidFill>
                          <a:latin typeface="Calibri" pitchFamily="34" charset="0"/>
                          <a:ea typeface="Calibri" pitchFamily="34" charset="-122"/>
                          <a:cs typeface="Calibri" pitchFamily="34" charset="-120"/>
                        </a:rPr>
                        <a:t>que</a:t>
                      </a:r>
                      <a:r>
                        <a:rPr lang="en-US" sz="1750" dirty="0">
                          <a:solidFill>
                            <a:srgbClr val="1B2333"/>
                          </a:solidFill>
                          <a:latin typeface="Calibri" pitchFamily="34" charset="0"/>
                          <a:ea typeface="Calibri" pitchFamily="34" charset="-122"/>
                          <a:cs typeface="Calibri" pitchFamily="34" charset="-120"/>
                        </a:rPr>
                        <a:t> j’aide</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50" i="1" dirty="0">
                          <a:solidFill>
                            <a:srgbClr val="1B2333"/>
                          </a:solidFill>
                          <a:latin typeface="Calibri" pitchFamily="34" charset="0"/>
                          <a:ea typeface="Calibri" pitchFamily="34" charset="-122"/>
                          <a:cs typeface="Calibri" pitchFamily="34" charset="-120"/>
                        </a:rPr>
                        <a:t>de collega’s </a:t>
                      </a:r>
                      <a:r>
                        <a:rPr lang="en-US" sz="1750" b="1" i="1" dirty="0">
                          <a:solidFill>
                            <a:srgbClr val="17375E"/>
                          </a:solidFill>
                          <a:latin typeface="Calibri" pitchFamily="34" charset="0"/>
                          <a:ea typeface="Calibri" pitchFamily="34" charset="-122"/>
                          <a:cs typeface="Calibri" pitchFamily="34" charset="-120"/>
                        </a:rPr>
                        <a:t>die</a:t>
                      </a:r>
                      <a:r>
                        <a:rPr lang="en-US" sz="1750" i="1" dirty="0">
                          <a:solidFill>
                            <a:srgbClr val="1B2333"/>
                          </a:solidFill>
                          <a:latin typeface="Calibri" pitchFamily="34" charset="0"/>
                          <a:ea typeface="Calibri" pitchFamily="34" charset="-122"/>
                          <a:cs typeface="Calibri" pitchFamily="34" charset="-120"/>
                        </a:rPr>
                        <a:t> ik help</a:t>
                      </a:r>
                      <a:endParaRPr lang="en-US" sz="17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Le français change (</a:t>
            </a:r>
            <a:r>
              <a:rPr lang="en-US" sz="1300" i="1" dirty="0">
                <a:solidFill>
                  <a:srgbClr val="6B7686"/>
                </a:solidFill>
                <a:latin typeface="Calibri" pitchFamily="34" charset="0"/>
                <a:ea typeface="Calibri" pitchFamily="34" charset="-122"/>
                <a:cs typeface="Calibri" pitchFamily="34" charset="-120"/>
              </a:rPr>
              <a:t>qui / que</a:t>
            </a:r>
            <a:r>
              <a:rPr lang="en-US" sz="1300" i="1" dirty="0">
                <a:solidFill>
                  <a:srgbClr val="6B7686"/>
                </a:solidFill>
                <a:latin typeface="Calibri" pitchFamily="34" charset="0"/>
                <a:ea typeface="Calibri" pitchFamily="34" charset="-122"/>
                <a:cs typeface="Calibri" pitchFamily="34" charset="-120"/>
              </a:rPr>
              <a:t>), le néerlandais non : seul le nom décide.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relative au milieu</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4</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Ajoutez l’information entre parenthèses au milieu de la phrase : verbe, verbe !</a:t>
            </a:r>
            <a:endParaRPr lang="en-US" sz="15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206240"/>
                <a:gridCol w="6336792"/>
              </a:tblGrid>
              <a:tr h="41148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LA PHRASE + L’INFORMATION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UNE SEULE PHRASE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1</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De collega spreekt vijf talen.</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(Ze zit naast me.)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2</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Het rapport is bijna klaar.</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(Sofie schrijft het.)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3</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De printer werkt niet.</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(Hij staat op de eerste verdieping.)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4</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De klanten krijgen een korting.</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(Ze betalen online.)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5</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Het project begint in mei.</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(We hebben het gisteren besproken.)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relative au milieu</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4</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Ajoutez l’information entre parenthèses au milieu de la phrase : verbe, verbe !</a:t>
            </a:r>
            <a:endParaRPr lang="en-US" sz="15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206240"/>
                <a:gridCol w="6336792"/>
              </a:tblGrid>
              <a:tr h="41148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LA PHRASE + L’INFORMATION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UNE SEULE PHRASE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1</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De collega spreekt vijf talen.</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(Ze zit naast me.)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collega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naast me </a:t>
                      </a:r>
                      <a:r>
                        <a:rPr lang="en-US" sz="1550" b="1" i="1" dirty="0">
                          <a:solidFill>
                            <a:srgbClr val="B83227"/>
                          </a:solidFill>
                          <a:latin typeface="Calibri" pitchFamily="34" charset="0"/>
                          <a:ea typeface="Calibri" pitchFamily="34" charset="-122"/>
                          <a:cs typeface="Calibri" pitchFamily="34" charset="-120"/>
                        </a:rPr>
                        <a:t>zit</a:t>
                      </a:r>
                      <a:r>
                        <a:rPr lang="en-US" sz="1550" i="1" dirty="0">
                          <a:solidFill>
                            <a:srgbClr val="1B2333"/>
                          </a:solidFill>
                          <a:latin typeface="Calibri" pitchFamily="34" charset="0"/>
                          <a:ea typeface="Calibri" pitchFamily="34" charset="-122"/>
                          <a:cs typeface="Calibri" pitchFamily="34" charset="-120"/>
                        </a:rPr>
                        <a:t>, </a:t>
                      </a:r>
                      <a:r>
                        <a:rPr lang="en-US" sz="1550" b="1" i="1" dirty="0">
                          <a:solidFill>
                            <a:srgbClr val="B83227"/>
                          </a:solidFill>
                          <a:latin typeface="Calibri" pitchFamily="34" charset="0"/>
                          <a:ea typeface="Calibri" pitchFamily="34" charset="-122"/>
                          <a:cs typeface="Calibri" pitchFamily="34" charset="-120"/>
                        </a:rPr>
                        <a:t>spreekt</a:t>
                      </a:r>
                      <a:r>
                        <a:rPr lang="en-US" sz="1550" i="1" dirty="0">
                          <a:solidFill>
                            <a:srgbClr val="1B2333"/>
                          </a:solidFill>
                          <a:latin typeface="Calibri" pitchFamily="34" charset="0"/>
                          <a:ea typeface="Calibri" pitchFamily="34" charset="-122"/>
                          <a:cs typeface="Calibri" pitchFamily="34" charset="-120"/>
                        </a:rPr>
                        <a:t> vijf talen.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2</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Het rapport is bijna klaar.</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(Sofie schrijft het.)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rapport </a:t>
                      </a:r>
                      <a:r>
                        <a:rPr lang="en-US" sz="1550" b="1" i="1" dirty="0">
                          <a:solidFill>
                            <a:srgbClr val="D9700F"/>
                          </a:solidFill>
                          <a:latin typeface="Calibri" pitchFamily="34" charset="0"/>
                          <a:ea typeface="Calibri" pitchFamily="34" charset="-122"/>
                          <a:cs typeface="Calibri" pitchFamily="34" charset="-120"/>
                        </a:rPr>
                        <a:t>dat</a:t>
                      </a:r>
                      <a:r>
                        <a:rPr lang="en-US" sz="1550" i="1" dirty="0">
                          <a:solidFill>
                            <a:srgbClr val="1B2333"/>
                          </a:solidFill>
                          <a:latin typeface="Calibri" pitchFamily="34" charset="0"/>
                          <a:ea typeface="Calibri" pitchFamily="34" charset="-122"/>
                          <a:cs typeface="Calibri" pitchFamily="34" charset="-120"/>
                        </a:rPr>
                        <a:t> Sofie </a:t>
                      </a:r>
                      <a:r>
                        <a:rPr lang="en-US" sz="1550" b="1" i="1" dirty="0">
                          <a:solidFill>
                            <a:srgbClr val="B83227"/>
                          </a:solidFill>
                          <a:latin typeface="Calibri" pitchFamily="34" charset="0"/>
                          <a:ea typeface="Calibri" pitchFamily="34" charset="-122"/>
                          <a:cs typeface="Calibri" pitchFamily="34" charset="-120"/>
                        </a:rPr>
                        <a:t>schrijft</a:t>
                      </a:r>
                      <a:r>
                        <a:rPr lang="en-US" sz="1550" i="1" dirty="0">
                          <a:solidFill>
                            <a:srgbClr val="1B2333"/>
                          </a:solidFill>
                          <a:latin typeface="Calibri" pitchFamily="34" charset="0"/>
                          <a:ea typeface="Calibri" pitchFamily="34" charset="-122"/>
                          <a:cs typeface="Calibri" pitchFamily="34" charset="-120"/>
                        </a:rPr>
                        <a:t>, </a:t>
                      </a:r>
                      <a:r>
                        <a:rPr lang="en-US" sz="1550" b="1" i="1" dirty="0">
                          <a:solidFill>
                            <a:srgbClr val="B83227"/>
                          </a:solidFill>
                          <a:latin typeface="Calibri" pitchFamily="34" charset="0"/>
                          <a:ea typeface="Calibri" pitchFamily="34" charset="-122"/>
                          <a:cs typeface="Calibri" pitchFamily="34" charset="-120"/>
                        </a:rPr>
                        <a:t>is</a:t>
                      </a:r>
                      <a:r>
                        <a:rPr lang="en-US" sz="1550" i="1" dirty="0">
                          <a:solidFill>
                            <a:srgbClr val="1B2333"/>
                          </a:solidFill>
                          <a:latin typeface="Calibri" pitchFamily="34" charset="0"/>
                          <a:ea typeface="Calibri" pitchFamily="34" charset="-122"/>
                          <a:cs typeface="Calibri" pitchFamily="34" charset="-120"/>
                        </a:rPr>
                        <a:t> bijna klaar.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3</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De printer werkt niet.</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(Hij staat op de eerste verdieping.)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printer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op de eerste verdieping </a:t>
                      </a:r>
                      <a:r>
                        <a:rPr lang="en-US" sz="1550" b="1" i="1" dirty="0">
                          <a:solidFill>
                            <a:srgbClr val="B83227"/>
                          </a:solidFill>
                          <a:latin typeface="Calibri" pitchFamily="34" charset="0"/>
                          <a:ea typeface="Calibri" pitchFamily="34" charset="-122"/>
                          <a:cs typeface="Calibri" pitchFamily="34" charset="-120"/>
                        </a:rPr>
                        <a:t>staat</a:t>
                      </a:r>
                      <a:r>
                        <a:rPr lang="en-US" sz="1550" i="1" dirty="0">
                          <a:solidFill>
                            <a:srgbClr val="1B2333"/>
                          </a:solidFill>
                          <a:latin typeface="Calibri" pitchFamily="34" charset="0"/>
                          <a:ea typeface="Calibri" pitchFamily="34" charset="-122"/>
                          <a:cs typeface="Calibri" pitchFamily="34" charset="-120"/>
                        </a:rPr>
                        <a:t>, </a:t>
                      </a:r>
                      <a:r>
                        <a:rPr lang="en-US" sz="1550" b="1" i="1" dirty="0">
                          <a:solidFill>
                            <a:srgbClr val="B83227"/>
                          </a:solidFill>
                          <a:latin typeface="Calibri" pitchFamily="34" charset="0"/>
                          <a:ea typeface="Calibri" pitchFamily="34" charset="-122"/>
                          <a:cs typeface="Calibri" pitchFamily="34" charset="-120"/>
                        </a:rPr>
                        <a:t>werkt</a:t>
                      </a:r>
                      <a:r>
                        <a:rPr lang="en-US" sz="1550" i="1" dirty="0">
                          <a:solidFill>
                            <a:srgbClr val="1B2333"/>
                          </a:solidFill>
                          <a:latin typeface="Calibri" pitchFamily="34" charset="0"/>
                          <a:ea typeface="Calibri" pitchFamily="34" charset="-122"/>
                          <a:cs typeface="Calibri" pitchFamily="34" charset="-120"/>
                        </a:rPr>
                        <a:t> niet.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4</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De klanten krijgen een korting.</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(Ze betalen online.)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klanten </a:t>
                      </a:r>
                      <a:r>
                        <a:rPr lang="en-US" sz="1550" b="1" i="1" dirty="0">
                          <a:solidFill>
                            <a:srgbClr val="17375E"/>
                          </a:solidFill>
                          <a:latin typeface="Calibri" pitchFamily="34" charset="0"/>
                          <a:ea typeface="Calibri" pitchFamily="34" charset="-122"/>
                          <a:cs typeface="Calibri" pitchFamily="34" charset="-120"/>
                        </a:rPr>
                        <a:t>die</a:t>
                      </a:r>
                      <a:r>
                        <a:rPr lang="en-US" sz="1550" i="1" dirty="0">
                          <a:solidFill>
                            <a:srgbClr val="1B2333"/>
                          </a:solidFill>
                          <a:latin typeface="Calibri" pitchFamily="34" charset="0"/>
                          <a:ea typeface="Calibri" pitchFamily="34" charset="-122"/>
                          <a:cs typeface="Calibri" pitchFamily="34" charset="-120"/>
                        </a:rPr>
                        <a:t> online </a:t>
                      </a:r>
                      <a:r>
                        <a:rPr lang="en-US" sz="1550" b="1" i="1" dirty="0">
                          <a:solidFill>
                            <a:srgbClr val="B83227"/>
                          </a:solidFill>
                          <a:latin typeface="Calibri" pitchFamily="34" charset="0"/>
                          <a:ea typeface="Calibri" pitchFamily="34" charset="-122"/>
                          <a:cs typeface="Calibri" pitchFamily="34" charset="-120"/>
                        </a:rPr>
                        <a:t>betalen</a:t>
                      </a:r>
                      <a:r>
                        <a:rPr lang="en-US" sz="1550" i="1" dirty="0">
                          <a:solidFill>
                            <a:srgbClr val="1B2333"/>
                          </a:solidFill>
                          <a:latin typeface="Calibri" pitchFamily="34" charset="0"/>
                          <a:ea typeface="Calibri" pitchFamily="34" charset="-122"/>
                          <a:cs typeface="Calibri" pitchFamily="34" charset="-120"/>
                        </a:rPr>
                        <a:t>, </a:t>
                      </a:r>
                      <a:r>
                        <a:rPr lang="en-US" sz="1550" b="1" i="1" dirty="0">
                          <a:solidFill>
                            <a:srgbClr val="B83227"/>
                          </a:solidFill>
                          <a:latin typeface="Calibri" pitchFamily="34" charset="0"/>
                          <a:ea typeface="Calibri" pitchFamily="34" charset="-122"/>
                          <a:cs typeface="Calibri" pitchFamily="34" charset="-120"/>
                        </a:rPr>
                        <a:t>krijgen</a:t>
                      </a:r>
                      <a:r>
                        <a:rPr lang="en-US" sz="1550" i="1" dirty="0">
                          <a:solidFill>
                            <a:srgbClr val="1B2333"/>
                          </a:solidFill>
                          <a:latin typeface="Calibri" pitchFamily="34" charset="0"/>
                          <a:ea typeface="Calibri" pitchFamily="34" charset="-122"/>
                          <a:cs typeface="Calibri" pitchFamily="34" charset="-120"/>
                        </a:rPr>
                        <a:t> een korting.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l" indent="0" marL="0">
                        <a:buNone/>
                      </a:pPr>
                      <a:r>
                        <a:rPr lang="en-US" sz="1550" b="1" dirty="0">
                          <a:solidFill>
                            <a:srgbClr val="1B2333"/>
                          </a:solidFill>
                          <a:latin typeface="Calibri" pitchFamily="34" charset="0"/>
                          <a:ea typeface="Calibri" pitchFamily="34" charset="-122"/>
                          <a:cs typeface="Calibri" pitchFamily="34" charset="-120"/>
                        </a:rPr>
                        <a:t>5</a:t>
                      </a:r>
                      <a:r>
                        <a:rPr lang="en-US" sz="1550" dirty="0">
                          <a:solidFill>
                            <a:srgbClr val="1B2333"/>
                          </a:solidFill>
                          <a:latin typeface="Calibri" pitchFamily="34" charset="0"/>
                          <a:ea typeface="Calibri" pitchFamily="34" charset="-122"/>
                          <a:cs typeface="Calibri" pitchFamily="34" charset="-120"/>
                        </a:rPr>
                        <a:t>  </a:t>
                      </a:r>
                      <a:r>
                        <a:rPr lang="en-US" sz="1550" i="1" dirty="0">
                          <a:solidFill>
                            <a:srgbClr val="1B2333"/>
                          </a:solidFill>
                          <a:latin typeface="Calibri" pitchFamily="34" charset="0"/>
                          <a:ea typeface="Calibri" pitchFamily="34" charset="-122"/>
                          <a:cs typeface="Calibri" pitchFamily="34" charset="-120"/>
                        </a:rPr>
                        <a:t>Het project begint in mei.</a:t>
                      </a:r>
                      <a:endParaRPr lang="en-US" sz="1550" dirty="0">
                        <a:latin typeface="Calibri" charset="0"/>
                        <a:ea typeface="Calibri" charset="0"/>
                        <a:cs typeface="Calibri" charset="0"/>
                      </a:endParaRPr>
                    </a:p>
                    <a:p>
                      <a:pPr algn="l" indent="0" marL="0">
                        <a:buNone/>
                      </a:pPr>
                      <a:r>
                        <a:rPr lang="en-US" sz="1550" i="1" dirty="0">
                          <a:solidFill>
                            <a:srgbClr val="8A94A3"/>
                          </a:solidFill>
                          <a:latin typeface="Calibri" pitchFamily="34" charset="0"/>
                          <a:ea typeface="Calibri" pitchFamily="34" charset="-122"/>
                          <a:cs typeface="Calibri" pitchFamily="34" charset="-120"/>
                        </a:rPr>
                        <a:t>(We hebben het gisteren besproken.)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project </a:t>
                      </a:r>
                      <a:r>
                        <a:rPr lang="en-US" sz="1550" b="1" i="1" dirty="0">
                          <a:solidFill>
                            <a:srgbClr val="D9700F"/>
                          </a:solidFill>
                          <a:latin typeface="Calibri" pitchFamily="34" charset="0"/>
                          <a:ea typeface="Calibri" pitchFamily="34" charset="-122"/>
                          <a:cs typeface="Calibri" pitchFamily="34" charset="-120"/>
                        </a:rPr>
                        <a:t>dat</a:t>
                      </a:r>
                      <a:r>
                        <a:rPr lang="en-US" sz="1550" i="1" dirty="0">
                          <a:solidFill>
                            <a:srgbClr val="1B2333"/>
                          </a:solidFill>
                          <a:latin typeface="Calibri" pitchFamily="34" charset="0"/>
                          <a:ea typeface="Calibri" pitchFamily="34" charset="-122"/>
                          <a:cs typeface="Calibri" pitchFamily="34" charset="-120"/>
                        </a:rPr>
                        <a:t> we gisteren </a:t>
                      </a:r>
                      <a:r>
                        <a:rPr lang="en-US" sz="1550" b="1" i="1" dirty="0">
                          <a:solidFill>
                            <a:srgbClr val="B83227"/>
                          </a:solidFill>
                          <a:latin typeface="Calibri" pitchFamily="34" charset="0"/>
                          <a:ea typeface="Calibri" pitchFamily="34" charset="-122"/>
                          <a:cs typeface="Calibri" pitchFamily="34" charset="-120"/>
                        </a:rPr>
                        <a:t>hebben besproken</a:t>
                      </a:r>
                      <a:r>
                        <a:rPr lang="en-US" sz="1550" i="1" dirty="0">
                          <a:solidFill>
                            <a:srgbClr val="1B2333"/>
                          </a:solidFill>
                          <a:latin typeface="Calibri" pitchFamily="34" charset="0"/>
                          <a:ea typeface="Calibri" pitchFamily="34" charset="-122"/>
                          <a:cs typeface="Calibri" pitchFamily="34" charset="-120"/>
                        </a:rPr>
                        <a:t>, </a:t>
                      </a:r>
                      <a:r>
                        <a:rPr lang="en-US" sz="1550" b="1" i="1" dirty="0">
                          <a:solidFill>
                            <a:srgbClr val="B83227"/>
                          </a:solidFill>
                          <a:latin typeface="Calibri" pitchFamily="34" charset="0"/>
                          <a:ea typeface="Calibri" pitchFamily="34" charset="-122"/>
                          <a:cs typeface="Calibri" pitchFamily="34" charset="-120"/>
                        </a:rPr>
                        <a:t>begint</a:t>
                      </a:r>
                      <a:r>
                        <a:rPr lang="en-US" sz="1550" i="1" dirty="0">
                          <a:solidFill>
                            <a:srgbClr val="1B2333"/>
                          </a:solidFill>
                          <a:latin typeface="Calibri" pitchFamily="34" charset="0"/>
                          <a:ea typeface="Calibri" pitchFamily="34" charset="-122"/>
                          <a:cs typeface="Calibri" pitchFamily="34" charset="-120"/>
                        </a:rPr>
                        <a:t> in mei.</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4 : sans virgule avant </a:t>
            </a:r>
            <a:r>
              <a:rPr lang="en-US" sz="1300" b="1" i="1" dirty="0">
                <a:solidFill>
                  <a:srgbClr val="17375E"/>
                </a:solidFill>
                <a:latin typeface="Calibri" pitchFamily="34" charset="0"/>
                <a:ea typeface="Calibri" pitchFamily="34" charset="-122"/>
                <a:cs typeface="Calibri" pitchFamily="34" charset="-120"/>
              </a:rPr>
              <a:t>die</a:t>
            </a:r>
            <a:r>
              <a:rPr lang="en-US" sz="1300" i="1" dirty="0">
                <a:solidFill>
                  <a:srgbClr val="6B7686"/>
                </a:solidFill>
                <a:latin typeface="Calibri" pitchFamily="34" charset="0"/>
                <a:ea typeface="Calibri" pitchFamily="34" charset="-122"/>
                <a:cs typeface="Calibri" pitchFamily="34" charset="-120"/>
              </a:rPr>
              <a:t>, seuls les clients qui paient en ligne ont la réduction · n° 5 : </a:t>
            </a:r>
            <a:r>
              <a:rPr lang="en-US" sz="1300" i="1" dirty="0">
                <a:solidFill>
                  <a:srgbClr val="6B7686"/>
                </a:solidFill>
                <a:latin typeface="Calibri" pitchFamily="34" charset="0"/>
                <a:ea typeface="Calibri" pitchFamily="34" charset="-122"/>
                <a:cs typeface="Calibri" pitchFamily="34" charset="-120"/>
              </a:rPr>
              <a:t>besproken hebben</a:t>
            </a:r>
            <a:r>
              <a:rPr lang="en-US" sz="1300" i="1" dirty="0">
                <a:solidFill>
                  <a:srgbClr val="6B7686"/>
                </a:solidFill>
                <a:latin typeface="Calibri" pitchFamily="34" charset="0"/>
                <a:ea typeface="Calibri" pitchFamily="34" charset="-122"/>
                <a:cs typeface="Calibri" pitchFamily="34" charset="-120"/>
              </a:rPr>
              <a:t> est aussi correct.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Avec ou sans virgules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5</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Qui est concerné ? Tous, ou seulement certains ?</a:t>
            </a:r>
            <a:endParaRPr lang="en-US" sz="15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6035040"/>
                <a:gridCol w="450799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LA 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LE SENS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1</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 collega’s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thuiswerken, krijgen een laptop.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B8C2C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2</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 collega’s,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thuiswerken, krijgen een laptop.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B8C2C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3</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Mijn zus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in Brussel woont, komt morgen.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B8C2C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4</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Mijn zus,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in Brussel woont, komt morgen.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B8C2C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5</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 treinen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vertraging hebben, staan op het bord.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B8C2C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6</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Sofie,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net terug is uit Gent, geeft de presentatie.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B8C2C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Avec ou sans virgules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5</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Qui est concerné ? Tous, ou seulement certains ?</a:t>
            </a:r>
            <a:endParaRPr lang="en-US" sz="15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6035040"/>
                <a:gridCol w="450799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LA 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LE SENS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1</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 collega’s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thuiswerken, krijgen een laptop.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A6FB0"/>
                          </a:solidFill>
                          <a:latin typeface="Calibri" pitchFamily="34" charset="0"/>
                          <a:ea typeface="Calibri" pitchFamily="34" charset="-122"/>
                          <a:cs typeface="Calibri" pitchFamily="34" charset="-120"/>
                        </a:rPr>
                        <a:t>seulement ceux qui travaillent à domicile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2</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 collega’s,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thuiswerken, krijgen een laptop.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A6FB0"/>
                          </a:solidFill>
                          <a:latin typeface="Calibri" pitchFamily="34" charset="0"/>
                          <a:ea typeface="Calibri" pitchFamily="34" charset="-122"/>
                          <a:cs typeface="Calibri" pitchFamily="34" charset="-120"/>
                        </a:rPr>
                        <a:t>tous (et tous travaillent à domicile)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3</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Mijn zus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in Brussel woont, komt morgen.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A6FB0"/>
                          </a:solidFill>
                          <a:latin typeface="Calibri" pitchFamily="34" charset="0"/>
                          <a:ea typeface="Calibri" pitchFamily="34" charset="-122"/>
                          <a:cs typeface="Calibri" pitchFamily="34" charset="-120"/>
                        </a:rPr>
                        <a:t>j’ai plusieurs sœurs : celle de Bruxelles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4</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Mijn zus,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in Brussel woont, komt morgen.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A6FB0"/>
                          </a:solidFill>
                          <a:latin typeface="Calibri" pitchFamily="34" charset="0"/>
                          <a:ea typeface="Calibri" pitchFamily="34" charset="-122"/>
                          <a:cs typeface="Calibri" pitchFamily="34" charset="-120"/>
                        </a:rPr>
                        <a:t>j’ai une sœur ; elle habite Bruxelles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5</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De treinen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vertraging hebben, staan op het bord.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2A6FB0"/>
                          </a:solidFill>
                          <a:latin typeface="Calibri" pitchFamily="34" charset="0"/>
                          <a:ea typeface="Calibri" pitchFamily="34" charset="-122"/>
                          <a:cs typeface="Calibri" pitchFamily="34" charset="-120"/>
                        </a:rPr>
                        <a:t>seulement les trains en retard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6</a:t>
                      </a:r>
                      <a:r>
                        <a:rPr lang="en-US" sz="1600" dirty="0">
                          <a:solidFill>
                            <a:srgbClr val="1B2333"/>
                          </a:solidFill>
                          <a:latin typeface="Calibri" pitchFamily="34" charset="0"/>
                          <a:ea typeface="Calibri" pitchFamily="34" charset="-122"/>
                          <a:cs typeface="Calibri" pitchFamily="34" charset="-120"/>
                        </a:rPr>
                        <a:t>  </a:t>
                      </a:r>
                      <a:r>
                        <a:rPr lang="en-US" sz="1600" i="1" dirty="0">
                          <a:solidFill>
                            <a:srgbClr val="1B2333"/>
                          </a:solidFill>
                          <a:latin typeface="Calibri" pitchFamily="34" charset="0"/>
                          <a:ea typeface="Calibri" pitchFamily="34" charset="-122"/>
                          <a:cs typeface="Calibri" pitchFamily="34" charset="-120"/>
                        </a:rPr>
                        <a:t>Sofie,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net terug is uit Gent, geeft de presentatie.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2A6FB0"/>
                          </a:solidFill>
                          <a:latin typeface="Calibri" pitchFamily="34" charset="0"/>
                          <a:ea typeface="Calibri" pitchFamily="34" charset="-122"/>
                          <a:cs typeface="Calibri" pitchFamily="34" charset="-120"/>
                        </a:rPr>
                        <a:t>une information en plus (nom propre)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La virgule </a:t>
            </a:r>
            <a:r>
              <a:rPr lang="en-US" sz="1300" b="1" i="1" dirty="0">
                <a:solidFill>
                  <a:srgbClr val="6B7686"/>
                </a:solidFill>
                <a:latin typeface="Calibri" pitchFamily="34" charset="0"/>
                <a:ea typeface="Calibri" pitchFamily="34" charset="-122"/>
                <a:cs typeface="Calibri" pitchFamily="34" charset="-120"/>
              </a:rPr>
              <a:t>avant</a:t>
            </a:r>
            <a:r>
              <a:rPr lang="en-US" sz="1300" i="1" dirty="0">
                <a:solidFill>
                  <a:srgbClr val="6B7686"/>
                </a:solidFill>
                <a:latin typeface="Calibri" pitchFamily="34" charset="0"/>
                <a:ea typeface="Calibri" pitchFamily="34" charset="-122"/>
                <a:cs typeface="Calibri" pitchFamily="34" charset="-120"/>
              </a:rPr>
              <a:t> </a:t>
            </a:r>
            <a:r>
              <a:rPr lang="en-US" sz="1300" b="1" i="1" dirty="0">
                <a:solidFill>
                  <a:srgbClr val="17375E"/>
                </a:solidFill>
                <a:latin typeface="Calibri" pitchFamily="34" charset="0"/>
                <a:ea typeface="Calibri" pitchFamily="34" charset="-122"/>
                <a:cs typeface="Calibri" pitchFamily="34" charset="-120"/>
              </a:rPr>
              <a:t>die</a:t>
            </a:r>
            <a:r>
              <a:rPr lang="en-US" sz="1300" i="1" dirty="0">
                <a:solidFill>
                  <a:srgbClr val="6B7686"/>
                </a:solidFill>
                <a:latin typeface="Calibri" pitchFamily="34" charset="0"/>
                <a:ea typeface="Calibri" pitchFamily="34" charset="-122"/>
                <a:cs typeface="Calibri" pitchFamily="34" charset="-120"/>
              </a:rPr>
              <a:t> fait la différence · la virgule après la relative (</a:t>
            </a:r>
            <a:r>
              <a:rPr lang="en-US" sz="1300" i="1" dirty="0">
                <a:solidFill>
                  <a:srgbClr val="6B7686"/>
                </a:solidFill>
                <a:latin typeface="Calibri" pitchFamily="34" charset="0"/>
                <a:ea typeface="Calibri" pitchFamily="34" charset="-122"/>
                <a:cs typeface="Calibri" pitchFamily="34" charset="-120"/>
              </a:rPr>
              <a:t>thuiswerken, krijgen</a:t>
            </a:r>
            <a:r>
              <a:rPr lang="en-US" sz="1300" i="1" dirty="0">
                <a:solidFill>
                  <a:srgbClr val="6B7686"/>
                </a:solidFill>
                <a:latin typeface="Calibri" pitchFamily="34" charset="0"/>
                <a:ea typeface="Calibri" pitchFamily="34" charset="-122"/>
                <a:cs typeface="Calibri" pitchFamily="34" charset="-120"/>
              </a:rPr>
              <a:t>) est la virgule « verbe, verbe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die, dat ou wat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6</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die, dat ou wat. Utilisez l’arbre de décision !</a:t>
            </a:r>
            <a:endParaRPr lang="en-US" sz="15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5166360" cy="914400"/>
        </p:xfrm>
        <a:graphic>
          <a:graphicData uri="http://schemas.openxmlformats.org/drawingml/2006/table">
            <a:tbl>
              <a:tblPr/>
              <a:tblGrid>
                <a:gridCol w="411480"/>
                <a:gridCol w="4754880"/>
              </a:tblGrid>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Alles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je zegt, klopt.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Is er iets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voor je kan doen?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Dat is het enige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weet.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rapport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je stuurde, is perfect.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Hij komt altijd te laat,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vervelend vind.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6199632" y="1874520"/>
          <a:ext cx="5166360" cy="914400"/>
        </p:xfrm>
        <a:graphic>
          <a:graphicData uri="http://schemas.openxmlformats.org/drawingml/2006/table">
            <a:tbl>
              <a:tblPr/>
              <a:tblGrid>
                <a:gridCol w="411480"/>
                <a:gridCol w="4754880"/>
              </a:tblGrid>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vergadering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om 10 uur begint, duurt lang.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Er is niets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hij niet kan.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nieuwe kantoor,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in het centrum ligt, is mooi.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Stel niet uit tot morgen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je vandaag kunt doen.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Dat is het mooiste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ooit gezien heb.</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die, dat ou wat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6</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die, dat ou wat. Utilisez l’arbre de décision !</a:t>
            </a:r>
            <a:endParaRPr lang="en-US" sz="15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5166360" cy="914400"/>
        </p:xfrm>
        <a:graphic>
          <a:graphicData uri="http://schemas.openxmlformats.org/drawingml/2006/table">
            <a:tbl>
              <a:tblPr/>
              <a:tblGrid>
                <a:gridCol w="411480"/>
                <a:gridCol w="4754880"/>
              </a:tblGrid>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Alles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je zegt, klopt.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Is er iets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voor je kan doen?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Dat is het enige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weet.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rapport </a:t>
                      </a:r>
                      <a:r>
                        <a:rPr lang="en-US" sz="1600" b="1" i="1" dirty="0">
                          <a:solidFill>
                            <a:srgbClr val="D9700F"/>
                          </a:solidFill>
                          <a:latin typeface="Calibri" pitchFamily="34" charset="0"/>
                          <a:ea typeface="Calibri" pitchFamily="34" charset="-122"/>
                          <a:cs typeface="Calibri" pitchFamily="34" charset="-120"/>
                        </a:rPr>
                        <a:t>dat</a:t>
                      </a:r>
                      <a:r>
                        <a:rPr lang="en-US" sz="1600" i="1" dirty="0">
                          <a:solidFill>
                            <a:srgbClr val="1B2333"/>
                          </a:solidFill>
                          <a:latin typeface="Calibri" pitchFamily="34" charset="0"/>
                          <a:ea typeface="Calibri" pitchFamily="34" charset="-122"/>
                          <a:cs typeface="Calibri" pitchFamily="34" charset="-120"/>
                        </a:rPr>
                        <a:t> je stuurde, is perfect.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Hij komt altijd te laat,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vervelend vind.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199632" y="1874520"/>
          <a:ext cx="5166360" cy="914400"/>
        </p:xfrm>
        <a:graphic>
          <a:graphicData uri="http://schemas.openxmlformats.org/drawingml/2006/table">
            <a:tbl>
              <a:tblPr/>
              <a:tblGrid>
                <a:gridCol w="411480"/>
                <a:gridCol w="4754880"/>
              </a:tblGrid>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vergadering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 om 10 uur begint, duurt lang.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Er is niets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hij niet kan.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nieuwe kantoor, </a:t>
                      </a:r>
                      <a:r>
                        <a:rPr lang="en-US" sz="1600" b="1" i="1" dirty="0">
                          <a:solidFill>
                            <a:srgbClr val="D9700F"/>
                          </a:solidFill>
                          <a:latin typeface="Calibri" pitchFamily="34" charset="0"/>
                          <a:ea typeface="Calibri" pitchFamily="34" charset="-122"/>
                          <a:cs typeface="Calibri" pitchFamily="34" charset="-120"/>
                        </a:rPr>
                        <a:t>dat</a:t>
                      </a:r>
                      <a:r>
                        <a:rPr lang="en-US" sz="1600" i="1" dirty="0">
                          <a:solidFill>
                            <a:srgbClr val="1B2333"/>
                          </a:solidFill>
                          <a:latin typeface="Calibri" pitchFamily="34" charset="0"/>
                          <a:ea typeface="Calibri" pitchFamily="34" charset="-122"/>
                          <a:cs typeface="Calibri" pitchFamily="34" charset="-120"/>
                        </a:rPr>
                        <a:t> in het centrum ligt, is mooi.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Stel niet uit tot morgen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je vandaag kunt doen.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3152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Dat is het mooiste </a:t>
                      </a:r>
                      <a:r>
                        <a:rPr lang="en-US" sz="1600" b="1" i="1" dirty="0">
                          <a:solidFill>
                            <a:srgbClr val="2E7D4F"/>
                          </a:solidFill>
                          <a:latin typeface="Calibri" pitchFamily="34" charset="0"/>
                          <a:ea typeface="Calibri" pitchFamily="34" charset="-122"/>
                          <a:cs typeface="Calibri" pitchFamily="34" charset="-120"/>
                        </a:rPr>
                        <a:t>wat</a:t>
                      </a:r>
                      <a:r>
                        <a:rPr lang="en-US" sz="1600" i="1" dirty="0">
                          <a:solidFill>
                            <a:srgbClr val="1B2333"/>
                          </a:solidFill>
                          <a:latin typeface="Calibri" pitchFamily="34" charset="0"/>
                          <a:ea typeface="Calibri" pitchFamily="34" charset="-122"/>
                          <a:cs typeface="Calibri" pitchFamily="34" charset="-120"/>
                        </a:rPr>
                        <a:t> ik ooit gezien heb.</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2, 7 et 10 : on entend aussi </a:t>
            </a:r>
            <a:r>
              <a:rPr lang="en-US" sz="1300" i="1" dirty="0">
                <a:solidFill>
                  <a:srgbClr val="6B7686"/>
                </a:solidFill>
                <a:latin typeface="Calibri" pitchFamily="34" charset="0"/>
                <a:ea typeface="Calibri" pitchFamily="34" charset="-122"/>
                <a:cs typeface="Calibri" pitchFamily="34" charset="-120"/>
              </a:rPr>
              <a:t>dat</a:t>
            </a:r>
            <a:r>
              <a:rPr lang="en-US" sz="1300" i="1" dirty="0">
                <a:solidFill>
                  <a:srgbClr val="6B7686"/>
                </a:solidFill>
                <a:latin typeface="Calibri" pitchFamily="34" charset="0"/>
                <a:ea typeface="Calibri" pitchFamily="34" charset="-122"/>
                <a:cs typeface="Calibri" pitchFamily="34" charset="-120"/>
              </a:rPr>
              <a:t> ; </a:t>
            </a:r>
            <a:r>
              <a:rPr lang="en-US" sz="1300" b="1" i="1" dirty="0">
                <a:solidFill>
                  <a:srgbClr val="2E7D4F"/>
                </a:solidFill>
                <a:latin typeface="Calibri" pitchFamily="34" charset="0"/>
                <a:ea typeface="Calibri" pitchFamily="34" charset="-122"/>
                <a:cs typeface="Calibri" pitchFamily="34" charset="-120"/>
              </a:rPr>
              <a:t>wat</a:t>
            </a:r>
            <a:r>
              <a:rPr lang="en-US" sz="1300" i="1" dirty="0">
                <a:solidFill>
                  <a:srgbClr val="6B7686"/>
                </a:solidFill>
                <a:latin typeface="Calibri" pitchFamily="34" charset="0"/>
                <a:ea typeface="Calibri" pitchFamily="34" charset="-122"/>
                <a:cs typeface="Calibri" pitchFamily="34" charset="-120"/>
              </a:rPr>
              <a:t> est toujours juste · n° 5 : toute la phrase · n° 9 : sans nom (« ce que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Avec une préposition : wie ou waar-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7</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la préposition donnée : préposition + wie (personne) ou waar + préposition (chose).</a:t>
            </a:r>
            <a:endParaRPr lang="en-US" sz="15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5166360" cy="914400"/>
        </p:xfrm>
        <a:graphic>
          <a:graphicData uri="http://schemas.openxmlformats.org/drawingml/2006/table">
            <a:tbl>
              <a:tblPr/>
              <a:tblGrid>
                <a:gridCol w="411480"/>
                <a:gridCol w="3931920"/>
                <a:gridCol w="822960"/>
              </a:tblGrid>
              <a:tr h="384048">
                <a:tc>
                  <a:txBody>
                    <a:bodyPr/>
                    <a:lstStyle/>
                    <a:p>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PRÉP.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collega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samenwerk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met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laptop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met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bus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elke dag wacht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klant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we het gisteren hadden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over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99632" y="1874520"/>
          <a:ext cx="5166360" cy="914400"/>
        </p:xfrm>
        <a:graphic>
          <a:graphicData uri="http://schemas.openxmlformats.org/drawingml/2006/table">
            <a:tbl>
              <a:tblPr/>
              <a:tblGrid>
                <a:gridCol w="411480"/>
                <a:gridCol w="3931920"/>
                <a:gridCol w="822960"/>
              </a:tblGrid>
              <a:tr h="384048">
                <a:tc>
                  <a:txBody>
                    <a:bodyPr/>
                    <a:lstStyle/>
                    <a:p>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PRÉP.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project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ze denkt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aan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manager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je het formulier geeft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aan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reden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hij vertrekt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bedrijf </a:t>
                      </a:r>
                      <a:r>
                        <a:rPr lang="en-US" sz="1600" dirty="0">
                          <a:solidFill>
                            <a:srgbClr val="B8C2CF"/>
                          </a:solidFill>
                          <a:latin typeface="Calibri" pitchFamily="34" charset="0"/>
                          <a:ea typeface="Calibri" pitchFamily="34" charset="-122"/>
                          <a:cs typeface="Calibri" pitchFamily="34" charset="-120"/>
                        </a:rPr>
                        <a:t>···········</a:t>
                      </a:r>
                      <a:r>
                        <a:rPr lang="en-US" sz="1600" i="1" dirty="0">
                          <a:solidFill>
                            <a:srgbClr val="1B2333"/>
                          </a:solidFill>
                          <a:latin typeface="Calibri" pitchFamily="34" charset="0"/>
                          <a:ea typeface="Calibri" pitchFamily="34" charset="-122"/>
                          <a:cs typeface="Calibri" pitchFamily="34" charset="-120"/>
                        </a:rPr>
                        <a:t> ik 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voor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Avec une préposition : wie ou waar-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7</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la préposition donnée : préposition + wie (personne) ou waar + préposition (chose).</a:t>
            </a:r>
            <a:endParaRPr lang="en-US" sz="15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5166360" cy="914400"/>
        </p:xfrm>
        <a:graphic>
          <a:graphicData uri="http://schemas.openxmlformats.org/drawingml/2006/table">
            <a:tbl>
              <a:tblPr/>
              <a:tblGrid>
                <a:gridCol w="411480"/>
                <a:gridCol w="3931920"/>
                <a:gridCol w="822960"/>
              </a:tblGrid>
              <a:tr h="384048">
                <a:tc>
                  <a:txBody>
                    <a:bodyPr/>
                    <a:lstStyle/>
                    <a:p>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PRÉP.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collega </a:t>
                      </a:r>
                      <a:r>
                        <a:rPr lang="en-US" sz="1600" b="1" i="1" dirty="0">
                          <a:solidFill>
                            <a:srgbClr val="B4236A"/>
                          </a:solidFill>
                          <a:latin typeface="Calibri" pitchFamily="34" charset="0"/>
                          <a:ea typeface="Calibri" pitchFamily="34" charset="-122"/>
                          <a:cs typeface="Calibri" pitchFamily="34" charset="-120"/>
                        </a:rPr>
                        <a:t>met wie</a:t>
                      </a:r>
                      <a:r>
                        <a:rPr lang="en-US" sz="1600" i="1" dirty="0">
                          <a:solidFill>
                            <a:srgbClr val="1B2333"/>
                          </a:solidFill>
                          <a:latin typeface="Calibri" pitchFamily="34" charset="0"/>
                          <a:ea typeface="Calibri" pitchFamily="34" charset="-122"/>
                          <a:cs typeface="Calibri" pitchFamily="34" charset="-120"/>
                        </a:rPr>
                        <a:t> ik samenwerk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met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laptop </a:t>
                      </a:r>
                      <a:r>
                        <a:rPr lang="en-US" sz="1600" b="1" i="1" dirty="0">
                          <a:solidFill>
                            <a:srgbClr val="6E4A9E"/>
                          </a:solidFill>
                          <a:latin typeface="Calibri" pitchFamily="34" charset="0"/>
                          <a:ea typeface="Calibri" pitchFamily="34" charset="-122"/>
                          <a:cs typeface="Calibri" pitchFamily="34" charset="-120"/>
                        </a:rPr>
                        <a:t>waarmee</a:t>
                      </a:r>
                      <a:r>
                        <a:rPr lang="en-US" sz="1600" i="1" dirty="0">
                          <a:solidFill>
                            <a:srgbClr val="1B2333"/>
                          </a:solidFill>
                          <a:latin typeface="Calibri" pitchFamily="34" charset="0"/>
                          <a:ea typeface="Calibri" pitchFamily="34" charset="-122"/>
                          <a:cs typeface="Calibri" pitchFamily="34" charset="-120"/>
                        </a:rPr>
                        <a:t> ik 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met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bus </a:t>
                      </a:r>
                      <a:r>
                        <a:rPr lang="en-US" sz="1600" b="1" i="1" dirty="0">
                          <a:solidFill>
                            <a:srgbClr val="6E4A9E"/>
                          </a:solidFill>
                          <a:latin typeface="Calibri" pitchFamily="34" charset="0"/>
                          <a:ea typeface="Calibri" pitchFamily="34" charset="-122"/>
                          <a:cs typeface="Calibri" pitchFamily="34" charset="-120"/>
                        </a:rPr>
                        <a:t>waarop</a:t>
                      </a:r>
                      <a:r>
                        <a:rPr lang="en-US" sz="1600" i="1" dirty="0">
                          <a:solidFill>
                            <a:srgbClr val="1B2333"/>
                          </a:solidFill>
                          <a:latin typeface="Calibri" pitchFamily="34" charset="0"/>
                          <a:ea typeface="Calibri" pitchFamily="34" charset="-122"/>
                          <a:cs typeface="Calibri" pitchFamily="34" charset="-120"/>
                        </a:rPr>
                        <a:t> ik elke dag wacht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op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klant </a:t>
                      </a:r>
                      <a:r>
                        <a:rPr lang="en-US" sz="1600" b="1" i="1" dirty="0">
                          <a:solidFill>
                            <a:srgbClr val="B4236A"/>
                          </a:solidFill>
                          <a:latin typeface="Calibri" pitchFamily="34" charset="0"/>
                          <a:ea typeface="Calibri" pitchFamily="34" charset="-122"/>
                          <a:cs typeface="Calibri" pitchFamily="34" charset="-120"/>
                        </a:rPr>
                        <a:t>over wie</a:t>
                      </a:r>
                      <a:r>
                        <a:rPr lang="en-US" sz="1600" i="1" dirty="0">
                          <a:solidFill>
                            <a:srgbClr val="1B2333"/>
                          </a:solidFill>
                          <a:latin typeface="Calibri" pitchFamily="34" charset="0"/>
                          <a:ea typeface="Calibri" pitchFamily="34" charset="-122"/>
                          <a:cs typeface="Calibri" pitchFamily="34" charset="-120"/>
                        </a:rPr>
                        <a:t> we het gisteren hadden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over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199632" y="1874520"/>
          <a:ext cx="5166360" cy="914400"/>
        </p:xfrm>
        <a:graphic>
          <a:graphicData uri="http://schemas.openxmlformats.org/drawingml/2006/table">
            <a:tbl>
              <a:tblPr/>
              <a:tblGrid>
                <a:gridCol w="411480"/>
                <a:gridCol w="3931920"/>
                <a:gridCol w="822960"/>
              </a:tblGrid>
              <a:tr h="384048">
                <a:tc>
                  <a:txBody>
                    <a:bodyPr/>
                    <a:lstStyle/>
                    <a:p>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PRÉP.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project </a:t>
                      </a:r>
                      <a:r>
                        <a:rPr lang="en-US" sz="1600" b="1" i="1" dirty="0">
                          <a:solidFill>
                            <a:srgbClr val="6E4A9E"/>
                          </a:solidFill>
                          <a:latin typeface="Calibri" pitchFamily="34" charset="0"/>
                          <a:ea typeface="Calibri" pitchFamily="34" charset="-122"/>
                          <a:cs typeface="Calibri" pitchFamily="34" charset="-120"/>
                        </a:rPr>
                        <a:t>waaraan</a:t>
                      </a:r>
                      <a:r>
                        <a:rPr lang="en-US" sz="1600" i="1" dirty="0">
                          <a:solidFill>
                            <a:srgbClr val="1B2333"/>
                          </a:solidFill>
                          <a:latin typeface="Calibri" pitchFamily="34" charset="0"/>
                          <a:ea typeface="Calibri" pitchFamily="34" charset="-122"/>
                          <a:cs typeface="Calibri" pitchFamily="34" charset="-120"/>
                        </a:rPr>
                        <a:t> ze denkt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aan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manager </a:t>
                      </a:r>
                      <a:r>
                        <a:rPr lang="en-US" sz="1600" b="1" i="1" dirty="0">
                          <a:solidFill>
                            <a:srgbClr val="B4236A"/>
                          </a:solidFill>
                          <a:latin typeface="Calibri" pitchFamily="34" charset="0"/>
                          <a:ea typeface="Calibri" pitchFamily="34" charset="-122"/>
                          <a:cs typeface="Calibri" pitchFamily="34" charset="-120"/>
                        </a:rPr>
                        <a:t>aan wie</a:t>
                      </a:r>
                      <a:r>
                        <a:rPr lang="en-US" sz="1600" i="1" dirty="0">
                          <a:solidFill>
                            <a:srgbClr val="1B2333"/>
                          </a:solidFill>
                          <a:latin typeface="Calibri" pitchFamily="34" charset="0"/>
                          <a:ea typeface="Calibri" pitchFamily="34" charset="-122"/>
                          <a:cs typeface="Calibri" pitchFamily="34" charset="-120"/>
                        </a:rPr>
                        <a:t> je het formulier geeft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aan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reden </a:t>
                      </a:r>
                      <a:r>
                        <a:rPr lang="en-US" sz="1600" b="1" i="1" dirty="0">
                          <a:solidFill>
                            <a:srgbClr val="6E4A9E"/>
                          </a:solidFill>
                          <a:latin typeface="Calibri" pitchFamily="34" charset="0"/>
                          <a:ea typeface="Calibri" pitchFamily="34" charset="-122"/>
                          <a:cs typeface="Calibri" pitchFamily="34" charset="-120"/>
                        </a:rPr>
                        <a:t>waarom</a:t>
                      </a:r>
                      <a:r>
                        <a:rPr lang="en-US" sz="1600" i="1" dirty="0">
                          <a:solidFill>
                            <a:srgbClr val="1B2333"/>
                          </a:solidFill>
                          <a:latin typeface="Calibri" pitchFamily="34" charset="0"/>
                          <a:ea typeface="Calibri" pitchFamily="34" charset="-122"/>
                          <a:cs typeface="Calibri" pitchFamily="34" charset="-120"/>
                        </a:rPr>
                        <a:t> hij vertrekt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77240">
                <a:tc>
                  <a:txBody>
                    <a:bodyPr/>
                    <a:lstStyle/>
                    <a:p>
                      <a:pPr algn="ctr" indent="0" marL="0">
                        <a:buNone/>
                      </a:pPr>
                      <a:r>
                        <a:rPr lang="en-US" sz="1600" b="1" dirty="0">
                          <a:solidFill>
                            <a:srgbClr val="1B2333"/>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bedrijf </a:t>
                      </a:r>
                      <a:r>
                        <a:rPr lang="en-US" sz="1600" b="1" i="1" dirty="0">
                          <a:solidFill>
                            <a:srgbClr val="6E4A9E"/>
                          </a:solidFill>
                          <a:latin typeface="Calibri" pitchFamily="34" charset="0"/>
                          <a:ea typeface="Calibri" pitchFamily="34" charset="-122"/>
                          <a:cs typeface="Calibri" pitchFamily="34" charset="-120"/>
                        </a:rPr>
                        <a:t>waarvoor</a:t>
                      </a:r>
                      <a:r>
                        <a:rPr lang="en-US" sz="1600" i="1" dirty="0">
                          <a:solidFill>
                            <a:srgbClr val="1B2333"/>
                          </a:solidFill>
                          <a:latin typeface="Calibri" pitchFamily="34" charset="0"/>
                          <a:ea typeface="Calibri" pitchFamily="34" charset="-122"/>
                          <a:cs typeface="Calibri" pitchFamily="34" charset="-120"/>
                        </a:rPr>
                        <a:t> ik werk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8A94A3"/>
                          </a:solidFill>
                          <a:latin typeface="Calibri" pitchFamily="34" charset="0"/>
                          <a:ea typeface="Calibri" pitchFamily="34" charset="-122"/>
                          <a:cs typeface="Calibri" pitchFamily="34" charset="-120"/>
                        </a:rPr>
                        <a:t>voor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3, 5 et 8 : la pince est aussi correcte (</a:t>
            </a:r>
            <a:r>
              <a:rPr lang="en-US" sz="1300" b="1" i="1" dirty="0">
                <a:solidFill>
                  <a:srgbClr val="6E4A9E"/>
                </a:solidFill>
                <a:latin typeface="Calibri" pitchFamily="34" charset="0"/>
                <a:ea typeface="Calibri" pitchFamily="34" charset="-122"/>
                <a:cs typeface="Calibri" pitchFamily="34" charset="-120"/>
              </a:rPr>
              <a:t>waar</a:t>
            </a:r>
            <a:r>
              <a:rPr lang="en-US" sz="1300" i="1" dirty="0">
                <a:solidFill>
                  <a:srgbClr val="6B7686"/>
                </a:solidFill>
                <a:latin typeface="Calibri" pitchFamily="34" charset="0"/>
                <a:ea typeface="Calibri" pitchFamily="34" charset="-122"/>
                <a:cs typeface="Calibri" pitchFamily="34" charset="-120"/>
              </a:rPr>
              <a:t> ik elke dag </a:t>
            </a:r>
            <a:r>
              <a:rPr lang="en-US" sz="1300" b="1" i="1" dirty="0">
                <a:solidFill>
                  <a:srgbClr val="6E4A9E"/>
                </a:solidFill>
                <a:latin typeface="Calibri" pitchFamily="34" charset="0"/>
                <a:ea typeface="Calibri" pitchFamily="34" charset="-122"/>
                <a:cs typeface="Calibri" pitchFamily="34" charset="-120"/>
              </a:rPr>
              <a:t>op</a:t>
            </a:r>
            <a:r>
              <a:rPr lang="en-US" sz="1300" i="1" dirty="0">
                <a:solidFill>
                  <a:srgbClr val="6B7686"/>
                </a:solidFill>
                <a:latin typeface="Calibri" pitchFamily="34" charset="0"/>
                <a:ea typeface="Calibri" pitchFamily="34" charset="-122"/>
                <a:cs typeface="Calibri" pitchFamily="34" charset="-120"/>
              </a:rPr>
              <a:t> wacht</a:t>
            </a:r>
            <a:r>
              <a:rPr lang="en-US" sz="1300" i="1" dirty="0">
                <a:solidFill>
                  <a:srgbClr val="6B7686"/>
                </a:solidFill>
                <a:latin typeface="Calibri" pitchFamily="34" charset="0"/>
                <a:ea typeface="Calibri" pitchFamily="34" charset="-122"/>
                <a:cs typeface="Calibri" pitchFamily="34" charset="-120"/>
              </a:rPr>
              <a:t>) · n° 4 : </a:t>
            </a:r>
            <a:r>
              <a:rPr lang="en-US" sz="1300" i="1" dirty="0">
                <a:solidFill>
                  <a:srgbClr val="6B7686"/>
                </a:solidFill>
                <a:latin typeface="Calibri" pitchFamily="34" charset="0"/>
                <a:ea typeface="Calibri" pitchFamily="34" charset="-122"/>
                <a:cs typeface="Calibri" pitchFamily="34" charset="-120"/>
              </a:rPr>
              <a:t>het hebben over</a:t>
            </a:r>
            <a:r>
              <a:rPr lang="en-US" sz="1300" i="1" dirty="0">
                <a:solidFill>
                  <a:srgbClr val="6B7686"/>
                </a:solidFill>
                <a:latin typeface="Calibri" pitchFamily="34" charset="0"/>
                <a:ea typeface="Calibri" pitchFamily="34" charset="-122"/>
                <a:cs typeface="Calibri" pitchFamily="34" charset="-120"/>
              </a:rPr>
              <a:t> = parler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pince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8</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Passez d’une forme à l’autre : en un mot ⇄ avec la pince.</a:t>
            </a:r>
            <a:endParaRPr lang="en-US" sz="15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5029200"/>
                <a:gridCol w="551383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EN UN MOT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AVEC LA PINCE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1</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pen </a:t>
                      </a:r>
                      <a:r>
                        <a:rPr lang="en-US" sz="1700" b="1" i="1" dirty="0">
                          <a:solidFill>
                            <a:srgbClr val="6E4A9E"/>
                          </a:solidFill>
                          <a:latin typeface="Calibri" pitchFamily="34" charset="0"/>
                          <a:ea typeface="Calibri" pitchFamily="34" charset="-122"/>
                          <a:cs typeface="Calibri" pitchFamily="34" charset="-120"/>
                        </a:rPr>
                        <a:t>waarmee</a:t>
                      </a:r>
                      <a:r>
                        <a:rPr lang="en-US" sz="1700" i="1" dirty="0">
                          <a:solidFill>
                            <a:srgbClr val="1B2333"/>
                          </a:solidFill>
                          <a:latin typeface="Calibri" pitchFamily="34" charset="0"/>
                          <a:ea typeface="Calibri" pitchFamily="34" charset="-122"/>
                          <a:cs typeface="Calibri" pitchFamily="34" charset="-120"/>
                        </a:rPr>
                        <a:t> ik schrijf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2</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het project </a:t>
                      </a:r>
                      <a:r>
                        <a:rPr lang="en-US" sz="1700" b="1" i="1" dirty="0">
                          <a:solidFill>
                            <a:srgbClr val="6E4A9E"/>
                          </a:solidFill>
                          <a:latin typeface="Calibri" pitchFamily="34" charset="0"/>
                          <a:ea typeface="Calibri" pitchFamily="34" charset="-122"/>
                          <a:cs typeface="Calibri" pitchFamily="34" charset="-120"/>
                        </a:rPr>
                        <a:t>waaraan</a:t>
                      </a:r>
                      <a:r>
                        <a:rPr lang="en-US" sz="1700" i="1" dirty="0">
                          <a:solidFill>
                            <a:srgbClr val="1B2333"/>
                          </a:solidFill>
                          <a:latin typeface="Calibri" pitchFamily="34" charset="0"/>
                          <a:ea typeface="Calibri" pitchFamily="34" charset="-122"/>
                          <a:cs typeface="Calibri" pitchFamily="34" charset="-120"/>
                        </a:rPr>
                        <a:t> we werken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3</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vergadering </a:t>
                      </a:r>
                      <a:r>
                        <a:rPr lang="en-US" sz="1700" b="1" i="1" dirty="0">
                          <a:solidFill>
                            <a:srgbClr val="6E4A9E"/>
                          </a:solidFill>
                          <a:latin typeface="Calibri" pitchFamily="34" charset="0"/>
                          <a:ea typeface="Calibri" pitchFamily="34" charset="-122"/>
                          <a:cs typeface="Calibri" pitchFamily="34" charset="-120"/>
                        </a:rPr>
                        <a:t>waarover</a:t>
                      </a:r>
                      <a:r>
                        <a:rPr lang="en-US" sz="1700" i="1" dirty="0">
                          <a:solidFill>
                            <a:srgbClr val="1B2333"/>
                          </a:solidFill>
                          <a:latin typeface="Calibri" pitchFamily="34" charset="0"/>
                          <a:ea typeface="Calibri" pitchFamily="34" charset="-122"/>
                          <a:cs typeface="Calibri" pitchFamily="34" charset="-120"/>
                        </a:rPr>
                        <a:t> hij praat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4</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bus </a:t>
                      </a:r>
                      <a:r>
                        <a:rPr lang="en-US" sz="1700" b="1" i="1" dirty="0">
                          <a:solidFill>
                            <a:srgbClr val="6E4A9E"/>
                          </a:solidFill>
                          <a:latin typeface="Calibri" pitchFamily="34" charset="0"/>
                          <a:ea typeface="Calibri" pitchFamily="34" charset="-122"/>
                          <a:cs typeface="Calibri" pitchFamily="34" charset="-120"/>
                        </a:rPr>
                        <a:t>waarop</a:t>
                      </a:r>
                      <a:r>
                        <a:rPr lang="en-US" sz="1700" i="1" dirty="0">
                          <a:solidFill>
                            <a:srgbClr val="1B2333"/>
                          </a:solidFill>
                          <a:latin typeface="Calibri" pitchFamily="34" charset="0"/>
                          <a:ea typeface="Calibri" pitchFamily="34" charset="-122"/>
                          <a:cs typeface="Calibri" pitchFamily="34" charset="-120"/>
                        </a:rPr>
                        <a:t> ik al een uur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5</a:t>
                      </a:r>
                      <a:r>
                        <a:rPr lang="en-US" sz="1700" dirty="0">
                          <a:solidFill>
                            <a:srgbClr val="1B2333"/>
                          </a:solidFill>
                          <a:latin typeface="Calibri" pitchFamily="34" charset="0"/>
                          <a:ea typeface="Calibri" pitchFamily="34" charset="-122"/>
                          <a:cs typeface="Calibri" pitchFamily="34" charset="-120"/>
                        </a:rPr>
                        <a:t>  </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documenten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je </a:t>
                      </a:r>
                      <a:r>
                        <a:rPr lang="en-US" sz="1700" b="1" i="1" dirty="0">
                          <a:solidFill>
                            <a:srgbClr val="6E4A9E"/>
                          </a:solidFill>
                          <a:latin typeface="Calibri" pitchFamily="34" charset="0"/>
                          <a:ea typeface="Calibri" pitchFamily="34" charset="-122"/>
                          <a:cs typeface="Calibri" pitchFamily="34" charset="-120"/>
                        </a:rPr>
                        <a:t>naar</a:t>
                      </a:r>
                      <a:r>
                        <a:rPr lang="en-US" sz="1700" i="1" dirty="0">
                          <a:solidFill>
                            <a:srgbClr val="1B2333"/>
                          </a:solidFill>
                          <a:latin typeface="Calibri" pitchFamily="34" charset="0"/>
                          <a:ea typeface="Calibri" pitchFamily="34" charset="-122"/>
                          <a:cs typeface="Calibri" pitchFamily="34" charset="-120"/>
                        </a:rPr>
                        <a:t> zoekt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6</a:t>
                      </a:r>
                      <a:r>
                        <a:rPr lang="en-US" sz="1700" dirty="0">
                          <a:solidFill>
                            <a:srgbClr val="1B2333"/>
                          </a:solidFill>
                          <a:latin typeface="Calibri" pitchFamily="34" charset="0"/>
                          <a:ea typeface="Calibri" pitchFamily="34" charset="-122"/>
                          <a:cs typeface="Calibri" pitchFamily="34" charset="-120"/>
                        </a:rPr>
                        <a:t>  </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het bedrijf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ik </a:t>
                      </a:r>
                      <a:r>
                        <a:rPr lang="en-US" sz="1700" b="1" i="1" dirty="0">
                          <a:solidFill>
                            <a:srgbClr val="6E4A9E"/>
                          </a:solidFill>
                          <a:latin typeface="Calibri" pitchFamily="34" charset="0"/>
                          <a:ea typeface="Calibri" pitchFamily="34" charset="-122"/>
                          <a:cs typeface="Calibri" pitchFamily="34" charset="-120"/>
                        </a:rPr>
                        <a:t>voor</a:t>
                      </a:r>
                      <a:r>
                        <a:rPr lang="en-US" sz="1700" i="1" dirty="0">
                          <a:solidFill>
                            <a:srgbClr val="1B2333"/>
                          </a:solidFill>
                          <a:latin typeface="Calibri" pitchFamily="34" charset="0"/>
                          <a:ea typeface="Calibri" pitchFamily="34" charset="-122"/>
                          <a:cs typeface="Calibri" pitchFamily="34" charset="-120"/>
                        </a:rPr>
                        <a:t> werk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pince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8</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Passez d’une forme à l’autre : en un mot ⇄ avec la pince.</a:t>
            </a:r>
            <a:endParaRPr lang="en-US" sz="15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5029200"/>
                <a:gridCol w="551383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EN UN MOT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AVEC LA PINCE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1</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pen </a:t>
                      </a:r>
                      <a:r>
                        <a:rPr lang="en-US" sz="1700" b="1" i="1" dirty="0">
                          <a:solidFill>
                            <a:srgbClr val="6E4A9E"/>
                          </a:solidFill>
                          <a:latin typeface="Calibri" pitchFamily="34" charset="0"/>
                          <a:ea typeface="Calibri" pitchFamily="34" charset="-122"/>
                          <a:cs typeface="Calibri" pitchFamily="34" charset="-120"/>
                        </a:rPr>
                        <a:t>waarmee</a:t>
                      </a:r>
                      <a:r>
                        <a:rPr lang="en-US" sz="1700" i="1" dirty="0">
                          <a:solidFill>
                            <a:srgbClr val="1B2333"/>
                          </a:solidFill>
                          <a:latin typeface="Calibri" pitchFamily="34" charset="0"/>
                          <a:ea typeface="Calibri" pitchFamily="34" charset="-122"/>
                          <a:cs typeface="Calibri" pitchFamily="34" charset="-120"/>
                        </a:rPr>
                        <a:t> ik schrijf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pen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ik </a:t>
                      </a:r>
                      <a:r>
                        <a:rPr lang="en-US" sz="1700" b="1" i="1" dirty="0">
                          <a:solidFill>
                            <a:srgbClr val="6E4A9E"/>
                          </a:solidFill>
                          <a:latin typeface="Calibri" pitchFamily="34" charset="0"/>
                          <a:ea typeface="Calibri" pitchFamily="34" charset="-122"/>
                          <a:cs typeface="Calibri" pitchFamily="34" charset="-120"/>
                        </a:rPr>
                        <a:t>mee</a:t>
                      </a:r>
                      <a:r>
                        <a:rPr lang="en-US" sz="1700" i="1" dirty="0">
                          <a:solidFill>
                            <a:srgbClr val="1B2333"/>
                          </a:solidFill>
                          <a:latin typeface="Calibri" pitchFamily="34" charset="0"/>
                          <a:ea typeface="Calibri" pitchFamily="34" charset="-122"/>
                          <a:cs typeface="Calibri" pitchFamily="34" charset="-120"/>
                        </a:rPr>
                        <a:t> schrijf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2</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het project </a:t>
                      </a:r>
                      <a:r>
                        <a:rPr lang="en-US" sz="1700" b="1" i="1" dirty="0">
                          <a:solidFill>
                            <a:srgbClr val="6E4A9E"/>
                          </a:solidFill>
                          <a:latin typeface="Calibri" pitchFamily="34" charset="0"/>
                          <a:ea typeface="Calibri" pitchFamily="34" charset="-122"/>
                          <a:cs typeface="Calibri" pitchFamily="34" charset="-120"/>
                        </a:rPr>
                        <a:t>waaraan</a:t>
                      </a:r>
                      <a:r>
                        <a:rPr lang="en-US" sz="1700" i="1" dirty="0">
                          <a:solidFill>
                            <a:srgbClr val="1B2333"/>
                          </a:solidFill>
                          <a:latin typeface="Calibri" pitchFamily="34" charset="0"/>
                          <a:ea typeface="Calibri" pitchFamily="34" charset="-122"/>
                          <a:cs typeface="Calibri" pitchFamily="34" charset="-120"/>
                        </a:rPr>
                        <a:t> we werken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het project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we </a:t>
                      </a:r>
                      <a:r>
                        <a:rPr lang="en-US" sz="1700" b="1" i="1" dirty="0">
                          <a:solidFill>
                            <a:srgbClr val="6E4A9E"/>
                          </a:solidFill>
                          <a:latin typeface="Calibri" pitchFamily="34" charset="0"/>
                          <a:ea typeface="Calibri" pitchFamily="34" charset="-122"/>
                          <a:cs typeface="Calibri" pitchFamily="34" charset="-120"/>
                        </a:rPr>
                        <a:t>aan</a:t>
                      </a:r>
                      <a:r>
                        <a:rPr lang="en-US" sz="1700" i="1" dirty="0">
                          <a:solidFill>
                            <a:srgbClr val="1B2333"/>
                          </a:solidFill>
                          <a:latin typeface="Calibri" pitchFamily="34" charset="0"/>
                          <a:ea typeface="Calibri" pitchFamily="34" charset="-122"/>
                          <a:cs typeface="Calibri" pitchFamily="34" charset="-120"/>
                        </a:rPr>
                        <a:t> werken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3</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vergadering </a:t>
                      </a:r>
                      <a:r>
                        <a:rPr lang="en-US" sz="1700" b="1" i="1" dirty="0">
                          <a:solidFill>
                            <a:srgbClr val="6E4A9E"/>
                          </a:solidFill>
                          <a:latin typeface="Calibri" pitchFamily="34" charset="0"/>
                          <a:ea typeface="Calibri" pitchFamily="34" charset="-122"/>
                          <a:cs typeface="Calibri" pitchFamily="34" charset="-120"/>
                        </a:rPr>
                        <a:t>waarover</a:t>
                      </a:r>
                      <a:r>
                        <a:rPr lang="en-US" sz="1700" i="1" dirty="0">
                          <a:solidFill>
                            <a:srgbClr val="1B2333"/>
                          </a:solidFill>
                          <a:latin typeface="Calibri" pitchFamily="34" charset="0"/>
                          <a:ea typeface="Calibri" pitchFamily="34" charset="-122"/>
                          <a:cs typeface="Calibri" pitchFamily="34" charset="-120"/>
                        </a:rPr>
                        <a:t> hij praat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vergadering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hij </a:t>
                      </a:r>
                      <a:r>
                        <a:rPr lang="en-US" sz="1700" b="1" i="1" dirty="0">
                          <a:solidFill>
                            <a:srgbClr val="6E4A9E"/>
                          </a:solidFill>
                          <a:latin typeface="Calibri" pitchFamily="34" charset="0"/>
                          <a:ea typeface="Calibri" pitchFamily="34" charset="-122"/>
                          <a:cs typeface="Calibri" pitchFamily="34" charset="-120"/>
                        </a:rPr>
                        <a:t>over</a:t>
                      </a:r>
                      <a:r>
                        <a:rPr lang="en-US" sz="1700" i="1" dirty="0">
                          <a:solidFill>
                            <a:srgbClr val="1B2333"/>
                          </a:solidFill>
                          <a:latin typeface="Calibri" pitchFamily="34" charset="0"/>
                          <a:ea typeface="Calibri" pitchFamily="34" charset="-122"/>
                          <a:cs typeface="Calibri" pitchFamily="34" charset="-120"/>
                        </a:rPr>
                        <a:t> praat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4</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bus </a:t>
                      </a:r>
                      <a:r>
                        <a:rPr lang="en-US" sz="1700" b="1" i="1" dirty="0">
                          <a:solidFill>
                            <a:srgbClr val="6E4A9E"/>
                          </a:solidFill>
                          <a:latin typeface="Calibri" pitchFamily="34" charset="0"/>
                          <a:ea typeface="Calibri" pitchFamily="34" charset="-122"/>
                          <a:cs typeface="Calibri" pitchFamily="34" charset="-120"/>
                        </a:rPr>
                        <a:t>waarop</a:t>
                      </a:r>
                      <a:r>
                        <a:rPr lang="en-US" sz="1700" i="1" dirty="0">
                          <a:solidFill>
                            <a:srgbClr val="1B2333"/>
                          </a:solidFill>
                          <a:latin typeface="Calibri" pitchFamily="34" charset="0"/>
                          <a:ea typeface="Calibri" pitchFamily="34" charset="-122"/>
                          <a:cs typeface="Calibri" pitchFamily="34" charset="-120"/>
                        </a:rPr>
                        <a:t> ik al een uur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bus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ik al een uur </a:t>
                      </a:r>
                      <a:r>
                        <a:rPr lang="en-US" sz="1700" b="1" i="1" dirty="0">
                          <a:solidFill>
                            <a:srgbClr val="6E4A9E"/>
                          </a:solidFill>
                          <a:latin typeface="Calibri" pitchFamily="34" charset="0"/>
                          <a:ea typeface="Calibri" pitchFamily="34" charset="-122"/>
                          <a:cs typeface="Calibri" pitchFamily="34" charset="-120"/>
                        </a:rPr>
                        <a:t>op</a:t>
                      </a:r>
                      <a:r>
                        <a:rPr lang="en-US" sz="1700" i="1" dirty="0">
                          <a:solidFill>
                            <a:srgbClr val="1B2333"/>
                          </a:solidFill>
                          <a:latin typeface="Calibri" pitchFamily="34" charset="0"/>
                          <a:ea typeface="Calibri" pitchFamily="34" charset="-122"/>
                          <a:cs typeface="Calibri" pitchFamily="34" charset="-120"/>
                        </a:rPr>
                        <a:t> wacht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5</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de documenten </a:t>
                      </a:r>
                      <a:r>
                        <a:rPr lang="en-US" sz="1700" b="1" i="1" dirty="0">
                          <a:solidFill>
                            <a:srgbClr val="6E4A9E"/>
                          </a:solidFill>
                          <a:latin typeface="Calibri" pitchFamily="34" charset="0"/>
                          <a:ea typeface="Calibri" pitchFamily="34" charset="-122"/>
                          <a:cs typeface="Calibri" pitchFamily="34" charset="-120"/>
                        </a:rPr>
                        <a:t>waarnaar</a:t>
                      </a:r>
                      <a:r>
                        <a:rPr lang="en-US" sz="1700" i="1" dirty="0">
                          <a:solidFill>
                            <a:srgbClr val="1B2333"/>
                          </a:solidFill>
                          <a:latin typeface="Calibri" pitchFamily="34" charset="0"/>
                          <a:ea typeface="Calibri" pitchFamily="34" charset="-122"/>
                          <a:cs typeface="Calibri" pitchFamily="34" charset="-120"/>
                        </a:rPr>
                        <a:t> je zoekt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documenten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je </a:t>
                      </a:r>
                      <a:r>
                        <a:rPr lang="en-US" sz="1700" b="1" i="1" dirty="0">
                          <a:solidFill>
                            <a:srgbClr val="6E4A9E"/>
                          </a:solidFill>
                          <a:latin typeface="Calibri" pitchFamily="34" charset="0"/>
                          <a:ea typeface="Calibri" pitchFamily="34" charset="-122"/>
                          <a:cs typeface="Calibri" pitchFamily="34" charset="-120"/>
                        </a:rPr>
                        <a:t>naar</a:t>
                      </a:r>
                      <a:r>
                        <a:rPr lang="en-US" sz="1700" i="1" dirty="0">
                          <a:solidFill>
                            <a:srgbClr val="1B2333"/>
                          </a:solidFill>
                          <a:latin typeface="Calibri" pitchFamily="34" charset="0"/>
                          <a:ea typeface="Calibri" pitchFamily="34" charset="-122"/>
                          <a:cs typeface="Calibri" pitchFamily="34" charset="-120"/>
                        </a:rPr>
                        <a:t> zoekt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1B2333"/>
                          </a:solidFill>
                          <a:latin typeface="Calibri" pitchFamily="34" charset="0"/>
                          <a:ea typeface="Calibri" pitchFamily="34" charset="-122"/>
                          <a:cs typeface="Calibri" pitchFamily="34" charset="-120"/>
                        </a:rPr>
                        <a:t>6</a:t>
                      </a:r>
                      <a:r>
                        <a:rPr lang="en-US" sz="1700" dirty="0">
                          <a:solidFill>
                            <a:srgbClr val="1B2333"/>
                          </a:solidFill>
                          <a:latin typeface="Calibri" pitchFamily="34" charset="0"/>
                          <a:ea typeface="Calibri" pitchFamily="34" charset="-122"/>
                          <a:cs typeface="Calibri" pitchFamily="34" charset="-120"/>
                        </a:rPr>
                        <a:t>  </a:t>
                      </a:r>
                      <a:r>
                        <a:rPr lang="en-US" sz="1700" i="1" dirty="0">
                          <a:solidFill>
                            <a:srgbClr val="1B2333"/>
                          </a:solidFill>
                          <a:latin typeface="Calibri" pitchFamily="34" charset="0"/>
                          <a:ea typeface="Calibri" pitchFamily="34" charset="-122"/>
                          <a:cs typeface="Calibri" pitchFamily="34" charset="-120"/>
                        </a:rPr>
                        <a:t>het bedrijf </a:t>
                      </a:r>
                      <a:r>
                        <a:rPr lang="en-US" sz="1700" b="1" i="1" dirty="0">
                          <a:solidFill>
                            <a:srgbClr val="6E4A9E"/>
                          </a:solidFill>
                          <a:latin typeface="Calibri" pitchFamily="34" charset="0"/>
                          <a:ea typeface="Calibri" pitchFamily="34" charset="-122"/>
                          <a:cs typeface="Calibri" pitchFamily="34" charset="-120"/>
                        </a:rPr>
                        <a:t>waarvoor</a:t>
                      </a:r>
                      <a:r>
                        <a:rPr lang="en-US" sz="1700" i="1" dirty="0">
                          <a:solidFill>
                            <a:srgbClr val="1B2333"/>
                          </a:solidFill>
                          <a:latin typeface="Calibri" pitchFamily="34" charset="0"/>
                          <a:ea typeface="Calibri" pitchFamily="34" charset="-122"/>
                          <a:cs typeface="Calibri" pitchFamily="34" charset="-120"/>
                        </a:rPr>
                        <a:t> ik werk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het bedrijf </a:t>
                      </a:r>
                      <a:r>
                        <a:rPr lang="en-US" sz="1700" b="1" i="1" dirty="0">
                          <a:solidFill>
                            <a:srgbClr val="6E4A9E"/>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ik </a:t>
                      </a:r>
                      <a:r>
                        <a:rPr lang="en-US" sz="1700" b="1" i="1" dirty="0">
                          <a:solidFill>
                            <a:srgbClr val="6E4A9E"/>
                          </a:solidFill>
                          <a:latin typeface="Calibri" pitchFamily="34" charset="0"/>
                          <a:ea typeface="Calibri" pitchFamily="34" charset="-122"/>
                          <a:cs typeface="Calibri" pitchFamily="34" charset="-120"/>
                        </a:rPr>
                        <a:t>voor</a:t>
                      </a:r>
                      <a:r>
                        <a:rPr lang="en-US" sz="1700" i="1" dirty="0">
                          <a:solidFill>
                            <a:srgbClr val="1B2333"/>
                          </a:solidFill>
                          <a:latin typeface="Calibri" pitchFamily="34" charset="0"/>
                          <a:ea typeface="Calibri" pitchFamily="34" charset="-122"/>
                          <a:cs typeface="Calibri" pitchFamily="34" charset="-120"/>
                        </a:rPr>
                        <a:t> werk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4 : la préposition se place juste avant le verbe, après </a:t>
            </a:r>
            <a:r>
              <a:rPr lang="en-US" sz="1300" i="1" dirty="0">
                <a:solidFill>
                  <a:srgbClr val="6B7686"/>
                </a:solidFill>
                <a:latin typeface="Calibri" pitchFamily="34" charset="0"/>
                <a:ea typeface="Calibri" pitchFamily="34" charset="-122"/>
                <a:cs typeface="Calibri" pitchFamily="34" charset="-120"/>
              </a:rPr>
              <a:t>al een uur</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Traduire « dont » et « où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9</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Traduisez. Pour « dont », cherchez d’abord le verbe néerlandais !</a:t>
            </a:r>
            <a:endParaRPr lang="en-US" sz="15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846320"/>
                <a:gridCol w="5696712"/>
              </a:tblGrid>
              <a:tr h="438912">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1</a:t>
                      </a:r>
                      <a:r>
                        <a:rPr lang="en-US" sz="1650" dirty="0">
                          <a:solidFill>
                            <a:srgbClr val="1B2333"/>
                          </a:solidFill>
                          <a:latin typeface="Calibri" pitchFamily="34" charset="0"/>
                          <a:ea typeface="Calibri" pitchFamily="34" charset="-122"/>
                          <a:cs typeface="Calibri" pitchFamily="34" charset="-120"/>
                        </a:rPr>
                        <a:t>  le bureau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je travaille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2</a:t>
                      </a:r>
                      <a:r>
                        <a:rPr lang="en-US" sz="1650" dirty="0">
                          <a:solidFill>
                            <a:srgbClr val="1B2333"/>
                          </a:solidFill>
                          <a:latin typeface="Calibri" pitchFamily="34" charset="0"/>
                          <a:ea typeface="Calibri" pitchFamily="34" charset="-122"/>
                          <a:cs typeface="Calibri" pitchFamily="34" charset="-120"/>
                        </a:rPr>
                        <a:t>  le jour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j’ai commencé</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3</a:t>
                      </a:r>
                      <a:r>
                        <a:rPr lang="en-US" sz="1650" dirty="0">
                          <a:solidFill>
                            <a:srgbClr val="1B2333"/>
                          </a:solidFill>
                          <a:latin typeface="Calibri" pitchFamily="34" charset="0"/>
                          <a:ea typeface="Calibri" pitchFamily="34" charset="-122"/>
                          <a:cs typeface="Calibri" pitchFamily="34" charset="-120"/>
                        </a:rPr>
                        <a:t>  le dossier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j’ai besoin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4</a:t>
                      </a:r>
                      <a:r>
                        <a:rPr lang="en-US" sz="1650" dirty="0">
                          <a:solidFill>
                            <a:srgbClr val="1B2333"/>
                          </a:solidFill>
                          <a:latin typeface="Calibri" pitchFamily="34" charset="0"/>
                          <a:ea typeface="Calibri" pitchFamily="34" charset="-122"/>
                          <a:cs typeface="Calibri" pitchFamily="34" charset="-120"/>
                        </a:rPr>
                        <a:t>  le collègue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je parle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5</a:t>
                      </a:r>
                      <a:r>
                        <a:rPr lang="en-US" sz="1650" dirty="0">
                          <a:solidFill>
                            <a:srgbClr val="1B2333"/>
                          </a:solidFill>
                          <a:latin typeface="Calibri" pitchFamily="34" charset="0"/>
                          <a:ea typeface="Calibri" pitchFamily="34" charset="-122"/>
                          <a:cs typeface="Calibri" pitchFamily="34" charset="-120"/>
                        </a:rPr>
                        <a:t>  le projet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je suis fier·e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6</a:t>
                      </a:r>
                      <a:r>
                        <a:rPr lang="en-US" sz="1650" dirty="0">
                          <a:solidFill>
                            <a:srgbClr val="1B2333"/>
                          </a:solidFill>
                          <a:latin typeface="Calibri" pitchFamily="34" charset="0"/>
                          <a:ea typeface="Calibri" pitchFamily="34" charset="-122"/>
                          <a:cs typeface="Calibri" pitchFamily="34" charset="-120"/>
                        </a:rPr>
                        <a:t>  l’année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nous avons déménagé</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7</a:t>
                      </a:r>
                      <a:r>
                        <a:rPr lang="en-US" sz="1650" dirty="0">
                          <a:solidFill>
                            <a:srgbClr val="1B2333"/>
                          </a:solidFill>
                          <a:latin typeface="Calibri" pitchFamily="34" charset="0"/>
                          <a:ea typeface="Calibri" pitchFamily="34" charset="-122"/>
                          <a:cs typeface="Calibri" pitchFamily="34" charset="-120"/>
                        </a:rPr>
                        <a:t>  la collègue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la voiture est en panne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8</a:t>
                      </a:r>
                      <a:r>
                        <a:rPr lang="en-US" sz="1650" dirty="0">
                          <a:solidFill>
                            <a:srgbClr val="1B2333"/>
                          </a:solidFill>
                          <a:latin typeface="Calibri" pitchFamily="34" charset="0"/>
                          <a:ea typeface="Calibri" pitchFamily="34" charset="-122"/>
                          <a:cs typeface="Calibri" pitchFamily="34" charset="-120"/>
                        </a:rPr>
                        <a:t>  la salle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nous nous réunissons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r>
                        <a:rPr lang="en-US" sz="1650" dirty="0">
                          <a:solidFill>
                            <a:srgbClr val="B8C2CF"/>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Traduire « dont » et « où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9</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Traduisez. Pour « dont », cherchez d’abord le verbe néerlandais !</a:t>
            </a:r>
            <a:endParaRPr lang="en-US" sz="15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846320"/>
                <a:gridCol w="5696712"/>
              </a:tblGrid>
              <a:tr h="438912">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1</a:t>
                      </a:r>
                      <a:r>
                        <a:rPr lang="en-US" sz="1650" dirty="0">
                          <a:solidFill>
                            <a:srgbClr val="1B2333"/>
                          </a:solidFill>
                          <a:latin typeface="Calibri" pitchFamily="34" charset="0"/>
                          <a:ea typeface="Calibri" pitchFamily="34" charset="-122"/>
                          <a:cs typeface="Calibri" pitchFamily="34" charset="-120"/>
                        </a:rPr>
                        <a:t>  le bureau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je travaille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kantoor </a:t>
                      </a:r>
                      <a:r>
                        <a:rPr lang="en-US" sz="1650" b="1" i="1" dirty="0">
                          <a:solidFill>
                            <a:srgbClr val="6E4A9E"/>
                          </a:solidFill>
                          <a:latin typeface="Calibri" pitchFamily="34" charset="0"/>
                          <a:ea typeface="Calibri" pitchFamily="34" charset="-122"/>
                          <a:cs typeface="Calibri" pitchFamily="34" charset="-120"/>
                        </a:rPr>
                        <a:t>waar</a:t>
                      </a:r>
                      <a:r>
                        <a:rPr lang="en-US" sz="1650" i="1" dirty="0">
                          <a:solidFill>
                            <a:srgbClr val="1B2333"/>
                          </a:solidFill>
                          <a:latin typeface="Calibri" pitchFamily="34" charset="0"/>
                          <a:ea typeface="Calibri" pitchFamily="34" charset="-122"/>
                          <a:cs typeface="Calibri" pitchFamily="34" charset="-120"/>
                        </a:rPr>
                        <a:t> ik werk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2</a:t>
                      </a:r>
                      <a:r>
                        <a:rPr lang="en-US" sz="1650" dirty="0">
                          <a:solidFill>
                            <a:srgbClr val="1B2333"/>
                          </a:solidFill>
                          <a:latin typeface="Calibri" pitchFamily="34" charset="0"/>
                          <a:ea typeface="Calibri" pitchFamily="34" charset="-122"/>
                          <a:cs typeface="Calibri" pitchFamily="34" charset="-120"/>
                        </a:rPr>
                        <a:t>  le jour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j’ai commencé</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dag </a:t>
                      </a:r>
                      <a:r>
                        <a:rPr lang="en-US" sz="1650" b="1" i="1" dirty="0">
                          <a:solidFill>
                            <a:srgbClr val="2A6FB0"/>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a:t>
                      </a:r>
                      <a:r>
                        <a:rPr lang="en-US" sz="1650" b="1" i="1" dirty="0">
                          <a:solidFill>
                            <a:srgbClr val="2A6FB0"/>
                          </a:solidFill>
                          <a:latin typeface="Calibri" pitchFamily="34" charset="0"/>
                          <a:ea typeface="Calibri" pitchFamily="34" charset="-122"/>
                          <a:cs typeface="Calibri" pitchFamily="34" charset="-120"/>
                        </a:rPr>
                        <a:t>waarop</a:t>
                      </a:r>
                      <a:r>
                        <a:rPr lang="en-US" sz="1650" i="1" dirty="0">
                          <a:solidFill>
                            <a:srgbClr val="1B2333"/>
                          </a:solidFill>
                          <a:latin typeface="Calibri" pitchFamily="34" charset="0"/>
                          <a:ea typeface="Calibri" pitchFamily="34" charset="-122"/>
                          <a:cs typeface="Calibri" pitchFamily="34" charset="-120"/>
                        </a:rPr>
                        <a:t>) ik begonnen ben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3</a:t>
                      </a:r>
                      <a:r>
                        <a:rPr lang="en-US" sz="1650" dirty="0">
                          <a:solidFill>
                            <a:srgbClr val="1B2333"/>
                          </a:solidFill>
                          <a:latin typeface="Calibri" pitchFamily="34" charset="0"/>
                          <a:ea typeface="Calibri" pitchFamily="34" charset="-122"/>
                          <a:cs typeface="Calibri" pitchFamily="34" charset="-120"/>
                        </a:rPr>
                        <a:t>  le dossier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j’ai besoin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dossier </a:t>
                      </a:r>
                      <a:r>
                        <a:rPr lang="en-US" sz="1650" b="1" i="1" dirty="0">
                          <a:solidFill>
                            <a:srgbClr val="D9700F"/>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ik nodig heb</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4</a:t>
                      </a:r>
                      <a:r>
                        <a:rPr lang="en-US" sz="1650" dirty="0">
                          <a:solidFill>
                            <a:srgbClr val="1B2333"/>
                          </a:solidFill>
                          <a:latin typeface="Calibri" pitchFamily="34" charset="0"/>
                          <a:ea typeface="Calibri" pitchFamily="34" charset="-122"/>
                          <a:cs typeface="Calibri" pitchFamily="34" charset="-120"/>
                        </a:rPr>
                        <a:t>  le collègue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je parle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B4236A"/>
                          </a:solidFill>
                          <a:latin typeface="Calibri" pitchFamily="34" charset="0"/>
                          <a:ea typeface="Calibri" pitchFamily="34" charset="-122"/>
                          <a:cs typeface="Calibri" pitchFamily="34" charset="-120"/>
                        </a:rPr>
                        <a:t>over wie</a:t>
                      </a:r>
                      <a:r>
                        <a:rPr lang="en-US" sz="1650" i="1" dirty="0">
                          <a:solidFill>
                            <a:srgbClr val="1B2333"/>
                          </a:solidFill>
                          <a:latin typeface="Calibri" pitchFamily="34" charset="0"/>
                          <a:ea typeface="Calibri" pitchFamily="34" charset="-122"/>
                          <a:cs typeface="Calibri" pitchFamily="34" charset="-120"/>
                        </a:rPr>
                        <a:t> ik praat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5</a:t>
                      </a:r>
                      <a:r>
                        <a:rPr lang="en-US" sz="1650" dirty="0">
                          <a:solidFill>
                            <a:srgbClr val="1B2333"/>
                          </a:solidFill>
                          <a:latin typeface="Calibri" pitchFamily="34" charset="0"/>
                          <a:ea typeface="Calibri" pitchFamily="34" charset="-122"/>
                          <a:cs typeface="Calibri" pitchFamily="34" charset="-120"/>
                        </a:rPr>
                        <a:t>  le projet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je suis fier·e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project </a:t>
                      </a:r>
                      <a:r>
                        <a:rPr lang="en-US" sz="1650" b="1" i="1" dirty="0">
                          <a:solidFill>
                            <a:srgbClr val="6E4A9E"/>
                          </a:solidFill>
                          <a:latin typeface="Calibri" pitchFamily="34" charset="0"/>
                          <a:ea typeface="Calibri" pitchFamily="34" charset="-122"/>
                          <a:cs typeface="Calibri" pitchFamily="34" charset="-120"/>
                        </a:rPr>
                        <a:t>waarop</a:t>
                      </a:r>
                      <a:r>
                        <a:rPr lang="en-US" sz="1650" i="1" dirty="0">
                          <a:solidFill>
                            <a:srgbClr val="1B2333"/>
                          </a:solidFill>
                          <a:latin typeface="Calibri" pitchFamily="34" charset="0"/>
                          <a:ea typeface="Calibri" pitchFamily="34" charset="-122"/>
                          <a:cs typeface="Calibri" pitchFamily="34" charset="-120"/>
                        </a:rPr>
                        <a:t> ik trots ben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6</a:t>
                      </a:r>
                      <a:r>
                        <a:rPr lang="en-US" sz="1650" dirty="0">
                          <a:solidFill>
                            <a:srgbClr val="1B2333"/>
                          </a:solidFill>
                          <a:latin typeface="Calibri" pitchFamily="34" charset="0"/>
                          <a:ea typeface="Calibri" pitchFamily="34" charset="-122"/>
                          <a:cs typeface="Calibri" pitchFamily="34" charset="-120"/>
                        </a:rPr>
                        <a:t>  l’année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nous avons déménagé</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jaar </a:t>
                      </a:r>
                      <a:r>
                        <a:rPr lang="en-US" sz="1650" b="1" i="1" dirty="0">
                          <a:solidFill>
                            <a:srgbClr val="2A6FB0"/>
                          </a:solidFill>
                          <a:latin typeface="Calibri" pitchFamily="34" charset="0"/>
                          <a:ea typeface="Calibri" pitchFamily="34" charset="-122"/>
                          <a:cs typeface="Calibri" pitchFamily="34" charset="-120"/>
                        </a:rPr>
                        <a:t>dat</a:t>
                      </a:r>
                      <a:r>
                        <a:rPr lang="en-US" sz="1650" i="1" dirty="0">
                          <a:solidFill>
                            <a:srgbClr val="1B2333"/>
                          </a:solidFill>
                          <a:latin typeface="Calibri" pitchFamily="34" charset="0"/>
                          <a:ea typeface="Calibri" pitchFamily="34" charset="-122"/>
                          <a:cs typeface="Calibri" pitchFamily="34" charset="-120"/>
                        </a:rPr>
                        <a:t> (</a:t>
                      </a:r>
                      <a:r>
                        <a:rPr lang="en-US" sz="1650" b="1" i="1" dirty="0">
                          <a:solidFill>
                            <a:srgbClr val="2A6FB0"/>
                          </a:solidFill>
                          <a:latin typeface="Calibri" pitchFamily="34" charset="0"/>
                          <a:ea typeface="Calibri" pitchFamily="34" charset="-122"/>
                          <a:cs typeface="Calibri" pitchFamily="34" charset="-120"/>
                        </a:rPr>
                        <a:t>waarin</a:t>
                      </a:r>
                      <a:r>
                        <a:rPr lang="en-US" sz="1650" i="1" dirty="0">
                          <a:solidFill>
                            <a:srgbClr val="1B2333"/>
                          </a:solidFill>
                          <a:latin typeface="Calibri" pitchFamily="34" charset="0"/>
                          <a:ea typeface="Calibri" pitchFamily="34" charset="-122"/>
                          <a:cs typeface="Calibri" pitchFamily="34" charset="-120"/>
                        </a:rPr>
                        <a:t>) we verhuisd zijn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7</a:t>
                      </a:r>
                      <a:r>
                        <a:rPr lang="en-US" sz="1650" dirty="0">
                          <a:solidFill>
                            <a:srgbClr val="1B2333"/>
                          </a:solidFill>
                          <a:latin typeface="Calibri" pitchFamily="34" charset="0"/>
                          <a:ea typeface="Calibri" pitchFamily="34" charset="-122"/>
                          <a:cs typeface="Calibri" pitchFamily="34" charset="-120"/>
                        </a:rPr>
                        <a:t>  la collègue </a:t>
                      </a:r>
                      <a:r>
                        <a:rPr lang="en-US" sz="1650" b="1" dirty="0">
                          <a:solidFill>
                            <a:srgbClr val="1B2333"/>
                          </a:solidFill>
                          <a:latin typeface="Calibri" pitchFamily="34" charset="0"/>
                          <a:ea typeface="Calibri" pitchFamily="34" charset="-122"/>
                          <a:cs typeface="Calibri" pitchFamily="34" charset="-120"/>
                        </a:rPr>
                        <a:t>dont</a:t>
                      </a:r>
                      <a:r>
                        <a:rPr lang="en-US" sz="1650" dirty="0">
                          <a:solidFill>
                            <a:srgbClr val="1B2333"/>
                          </a:solidFill>
                          <a:latin typeface="Calibri" pitchFamily="34" charset="0"/>
                          <a:ea typeface="Calibri" pitchFamily="34" charset="-122"/>
                          <a:cs typeface="Calibri" pitchFamily="34" charset="-120"/>
                        </a:rPr>
                        <a:t> la voiture est en panne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collega </a:t>
                      </a:r>
                      <a:r>
                        <a:rPr lang="en-US" sz="1650" b="1" i="1" dirty="0">
                          <a:solidFill>
                            <a:srgbClr val="B4236A"/>
                          </a:solidFill>
                          <a:latin typeface="Calibri" pitchFamily="34" charset="0"/>
                          <a:ea typeface="Calibri" pitchFamily="34" charset="-122"/>
                          <a:cs typeface="Calibri" pitchFamily="34" charset="-120"/>
                        </a:rPr>
                        <a:t>van wie</a:t>
                      </a:r>
                      <a:r>
                        <a:rPr lang="en-US" sz="1650" i="1" dirty="0">
                          <a:solidFill>
                            <a:srgbClr val="1B2333"/>
                          </a:solidFill>
                          <a:latin typeface="Calibri" pitchFamily="34" charset="0"/>
                          <a:ea typeface="Calibri" pitchFamily="34" charset="-122"/>
                          <a:cs typeface="Calibri" pitchFamily="34" charset="-120"/>
                        </a:rPr>
                        <a:t> de auto kapot is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l" indent="0" marL="0">
                        <a:buNone/>
                      </a:pPr>
                      <a:r>
                        <a:rPr lang="en-US" sz="1650" b="1" dirty="0">
                          <a:solidFill>
                            <a:srgbClr val="1B2333"/>
                          </a:solidFill>
                          <a:latin typeface="Calibri" pitchFamily="34" charset="0"/>
                          <a:ea typeface="Calibri" pitchFamily="34" charset="-122"/>
                          <a:cs typeface="Calibri" pitchFamily="34" charset="-120"/>
                        </a:rPr>
                        <a:t>8</a:t>
                      </a:r>
                      <a:r>
                        <a:rPr lang="en-US" sz="1650" dirty="0">
                          <a:solidFill>
                            <a:srgbClr val="1B2333"/>
                          </a:solidFill>
                          <a:latin typeface="Calibri" pitchFamily="34" charset="0"/>
                          <a:ea typeface="Calibri" pitchFamily="34" charset="-122"/>
                          <a:cs typeface="Calibri" pitchFamily="34" charset="-120"/>
                        </a:rPr>
                        <a:t>  la salle </a:t>
                      </a:r>
                      <a:r>
                        <a:rPr lang="en-US" sz="1650" b="1" dirty="0">
                          <a:solidFill>
                            <a:srgbClr val="1B2333"/>
                          </a:solidFill>
                          <a:latin typeface="Calibri" pitchFamily="34" charset="0"/>
                          <a:ea typeface="Calibri" pitchFamily="34" charset="-122"/>
                          <a:cs typeface="Calibri" pitchFamily="34" charset="-120"/>
                        </a:rPr>
                        <a:t>où</a:t>
                      </a:r>
                      <a:r>
                        <a:rPr lang="en-US" sz="1650" dirty="0">
                          <a:solidFill>
                            <a:srgbClr val="1B2333"/>
                          </a:solidFill>
                          <a:latin typeface="Calibri" pitchFamily="34" charset="0"/>
                          <a:ea typeface="Calibri" pitchFamily="34" charset="-122"/>
                          <a:cs typeface="Calibri" pitchFamily="34" charset="-120"/>
                        </a:rPr>
                        <a:t> nous nous réunissons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zaal </a:t>
                      </a:r>
                      <a:r>
                        <a:rPr lang="en-US" sz="1650" b="1" i="1" dirty="0">
                          <a:solidFill>
                            <a:srgbClr val="6E4A9E"/>
                          </a:solidFill>
                          <a:latin typeface="Calibri" pitchFamily="34" charset="0"/>
                          <a:ea typeface="Calibri" pitchFamily="34" charset="-122"/>
                          <a:cs typeface="Calibri" pitchFamily="34" charset="-120"/>
                        </a:rPr>
                        <a:t>waar</a:t>
                      </a:r>
                      <a:r>
                        <a:rPr lang="en-US" sz="1650" i="1" dirty="0">
                          <a:solidFill>
                            <a:srgbClr val="1B2333"/>
                          </a:solidFill>
                          <a:latin typeface="Calibri" pitchFamily="34" charset="0"/>
                          <a:ea typeface="Calibri" pitchFamily="34" charset="-122"/>
                          <a:cs typeface="Calibri" pitchFamily="34" charset="-120"/>
                        </a:rPr>
                        <a:t> (</a:t>
                      </a:r>
                      <a:r>
                        <a:rPr lang="en-US" sz="1650" b="1" i="1" dirty="0">
                          <a:solidFill>
                            <a:srgbClr val="6E4A9E"/>
                          </a:solidFill>
                          <a:latin typeface="Calibri" pitchFamily="34" charset="0"/>
                          <a:ea typeface="Calibri" pitchFamily="34" charset="-122"/>
                          <a:cs typeface="Calibri" pitchFamily="34" charset="-120"/>
                        </a:rPr>
                        <a:t>waarin</a:t>
                      </a:r>
                      <a:r>
                        <a:rPr lang="en-US" sz="1650" i="1" dirty="0">
                          <a:solidFill>
                            <a:srgbClr val="1B2333"/>
                          </a:solidFill>
                          <a:latin typeface="Calibri" pitchFamily="34" charset="0"/>
                          <a:ea typeface="Calibri" pitchFamily="34" charset="-122"/>
                          <a:cs typeface="Calibri" pitchFamily="34" charset="-120"/>
                        </a:rPr>
                        <a:t>) we vergaderen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3 : </a:t>
            </a:r>
            <a:r>
              <a:rPr lang="en-US" sz="1300" i="1" dirty="0">
                <a:solidFill>
                  <a:srgbClr val="6B7686"/>
                </a:solidFill>
                <a:latin typeface="Calibri" pitchFamily="34" charset="0"/>
                <a:ea typeface="Calibri" pitchFamily="34" charset="-122"/>
                <a:cs typeface="Calibri" pitchFamily="34" charset="-120"/>
              </a:rPr>
              <a:t>nodig hebben</a:t>
            </a:r>
            <a:r>
              <a:rPr lang="en-US" sz="1300" i="1" dirty="0">
                <a:solidFill>
                  <a:srgbClr val="6B7686"/>
                </a:solidFill>
                <a:latin typeface="Calibri" pitchFamily="34" charset="0"/>
                <a:ea typeface="Calibri" pitchFamily="34" charset="-122"/>
                <a:cs typeface="Calibri" pitchFamily="34" charset="-120"/>
              </a:rPr>
              <a:t>, sans préposition · n° 4 : </a:t>
            </a:r>
            <a:r>
              <a:rPr lang="en-US" sz="1300" i="1" dirty="0">
                <a:solidFill>
                  <a:srgbClr val="6B7686"/>
                </a:solidFill>
                <a:latin typeface="Calibri" pitchFamily="34" charset="0"/>
                <a:ea typeface="Calibri" pitchFamily="34" charset="-122"/>
                <a:cs typeface="Calibri" pitchFamily="34" charset="-120"/>
              </a:rPr>
              <a:t>praten over</a:t>
            </a:r>
            <a:r>
              <a:rPr lang="en-US" sz="1300" i="1" dirty="0">
                <a:solidFill>
                  <a:srgbClr val="6B7686"/>
                </a:solidFill>
                <a:latin typeface="Calibri" pitchFamily="34" charset="0"/>
                <a:ea typeface="Calibri" pitchFamily="34" charset="-122"/>
                <a:cs typeface="Calibri" pitchFamily="34" charset="-120"/>
              </a:rPr>
              <a:t> · n° 5 : </a:t>
            </a:r>
            <a:r>
              <a:rPr lang="en-US" sz="1300" i="1" dirty="0">
                <a:solidFill>
                  <a:srgbClr val="6B7686"/>
                </a:solidFill>
                <a:latin typeface="Calibri" pitchFamily="34" charset="0"/>
                <a:ea typeface="Calibri" pitchFamily="34" charset="-122"/>
                <a:cs typeface="Calibri" pitchFamily="34" charset="-120"/>
              </a:rPr>
              <a:t>trots zijn op</a:t>
            </a:r>
            <a:r>
              <a:rPr lang="en-US" sz="1300" i="1" dirty="0">
                <a:solidFill>
                  <a:srgbClr val="6B7686"/>
                </a:solidFill>
                <a:latin typeface="Calibri" pitchFamily="34" charset="0"/>
                <a:ea typeface="Calibri" pitchFamily="34" charset="-122"/>
                <a:cs typeface="Calibri" pitchFamily="34" charset="-120"/>
              </a:rPr>
              <a:t> · n° 2 et 6 : aussi </a:t>
            </a:r>
            <a:r>
              <a:rPr lang="en-US" sz="1300" i="1" dirty="0">
                <a:solidFill>
                  <a:srgbClr val="6B7686"/>
                </a:solidFill>
                <a:latin typeface="Calibri" pitchFamily="34" charset="0"/>
                <a:ea typeface="Calibri" pitchFamily="34" charset="-122"/>
                <a:cs typeface="Calibri" pitchFamily="34" charset="-120"/>
              </a:rPr>
              <a:t>ik begon, we verhuisden</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détective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10</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Karim écrit à Lotte. Trouvez les 5 erreurs de relatifs.</a:t>
            </a:r>
            <a:endParaRPr lang="en-US" sz="1550" dirty="0"/>
          </a:p>
        </p:txBody>
      </p:sp>
      <p:sp>
        <p:nvSpPr>
          <p:cNvPr id="7" name="Shape 4"/>
          <p:cNvSpPr/>
          <p:nvPr/>
        </p:nvSpPr>
        <p:spPr>
          <a:xfrm>
            <a:off x="1463040" y="1874520"/>
            <a:ext cx="9262872" cy="3931920"/>
          </a:xfrm>
          <a:prstGeom prst="roundRect">
            <a:avLst>
              <a:gd name="adj" fmla="val 1395"/>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sp>
        <p:nvSpPr>
          <p:cNvPr id="8" name="Text 5"/>
          <p:cNvSpPr txBox="1"/>
          <p:nvPr/>
        </p:nvSpPr>
        <p:spPr>
          <a:xfrm>
            <a:off x="1783080" y="1965960"/>
            <a:ext cx="8686800" cy="365760"/>
          </a:xfrm>
          <a:prstGeom prst="rect">
            <a:avLst/>
          </a:prstGeom>
          <a:noFill/>
          <a:ln/>
        </p:spPr>
        <p:txBody>
          <a:bodyPr wrap="square" lIns="0" tIns="0" rIns="0" bIns="0" rtlCol="0" anchor="ctr"/>
          <a:lstStyle/>
          <a:p>
            <a:pPr algn="l" indent="0" marL="0">
              <a:buNone/>
            </a:pPr>
            <a:r>
              <a:rPr lang="en-US" sz="1200" spc="100" kern="0" dirty="0">
                <a:solidFill>
                  <a:srgbClr val="6B7686"/>
                </a:solidFill>
                <a:latin typeface="Calibri" pitchFamily="34" charset="0"/>
                <a:ea typeface="Calibri" pitchFamily="34" charset="-122"/>
                <a:cs typeface="Calibri" pitchFamily="34" charset="-120"/>
              </a:rPr>
              <a:t>Van: Karim Benali · Aan: Lotte Maes · Onderwerp: nieuws van kantoor</a:t>
            </a:r>
            <a:endParaRPr lang="en-US" sz="1200" dirty="0"/>
          </a:p>
        </p:txBody>
      </p:sp>
      <p:sp>
        <p:nvSpPr>
          <p:cNvPr id="9" name="Shape 6"/>
          <p:cNvSpPr/>
          <p:nvPr/>
        </p:nvSpPr>
        <p:spPr>
          <a:xfrm>
            <a:off x="1783080" y="2377440"/>
            <a:ext cx="8622792" cy="914"/>
          </a:xfrm>
          <a:prstGeom prst="line">
            <a:avLst/>
          </a:prstGeom>
          <a:noFill/>
          <a:ln w="12700">
            <a:solidFill>
              <a:srgbClr val="DDE3EA"/>
            </a:solidFill>
            <a:prstDash val="solid"/>
          </a:ln>
        </p:spPr>
      </p:sp>
      <p:sp>
        <p:nvSpPr>
          <p:cNvPr id="10" name="Text 7"/>
          <p:cNvSpPr txBox="1"/>
          <p:nvPr/>
        </p:nvSpPr>
        <p:spPr>
          <a:xfrm>
            <a:off x="1783080" y="2514600"/>
            <a:ext cx="8641080" cy="3200400"/>
          </a:xfrm>
          <a:prstGeom prst="rect">
            <a:avLst/>
          </a:prstGeom>
          <a:noFill/>
          <a:ln/>
        </p:spPr>
        <p:txBody>
          <a:bodyPr wrap="square" lIns="0" tIns="0" rIns="0" bIns="0" rtlCol="0" anchor="t"/>
          <a:lstStyle/>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Beste Lotte,</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Bedankt voor het rapport die je gisteren hebt gestuurd. De printer die staat op de tweede verdieping, is nog altijd kapot. De klant met wat ik vorige week vergaderd heb, wil het contract tekenen. Vrijdag is de dag waar we de nieuwe stagiair ontmoeten. O ja, de lift werkt nog altijd niet, dat erg lastig is.</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Groetjes,</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Karim</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détective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2E7D4F"/>
                </a:solidFill>
                <a:latin typeface="Calibri" pitchFamily="34" charset="0"/>
                <a:ea typeface="Calibri" pitchFamily="34" charset="-122"/>
                <a:cs typeface="Calibri" pitchFamily="34" charset="-120"/>
              </a:rPr>
              <a:t>✓ CORRECTIE · EXERCICE 10</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Karim écrit à Lotte. Trouvez les 5 erreurs de relatifs.</a:t>
            </a:r>
            <a:endParaRPr lang="en-US" sz="1550" dirty="0"/>
          </a:p>
        </p:txBody>
      </p:sp>
      <p:sp>
        <p:nvSpPr>
          <p:cNvPr id="7" name="Shape 4"/>
          <p:cNvSpPr/>
          <p:nvPr/>
        </p:nvSpPr>
        <p:spPr>
          <a:xfrm>
            <a:off x="1463040" y="1874520"/>
            <a:ext cx="9262872" cy="3931920"/>
          </a:xfrm>
          <a:prstGeom prst="roundRect">
            <a:avLst>
              <a:gd name="adj" fmla="val 1395"/>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sp>
        <p:nvSpPr>
          <p:cNvPr id="8" name="Text 5"/>
          <p:cNvSpPr txBox="1"/>
          <p:nvPr/>
        </p:nvSpPr>
        <p:spPr>
          <a:xfrm>
            <a:off x="1783080" y="1965960"/>
            <a:ext cx="8686800" cy="365760"/>
          </a:xfrm>
          <a:prstGeom prst="rect">
            <a:avLst/>
          </a:prstGeom>
          <a:noFill/>
          <a:ln/>
        </p:spPr>
        <p:txBody>
          <a:bodyPr wrap="square" lIns="0" tIns="0" rIns="0" bIns="0" rtlCol="0" anchor="ctr"/>
          <a:lstStyle/>
          <a:p>
            <a:pPr algn="l" indent="0" marL="0">
              <a:buNone/>
            </a:pPr>
            <a:r>
              <a:rPr lang="en-US" sz="1200" spc="100" kern="0" dirty="0">
                <a:solidFill>
                  <a:srgbClr val="6B7686"/>
                </a:solidFill>
                <a:latin typeface="Calibri" pitchFamily="34" charset="0"/>
                <a:ea typeface="Calibri" pitchFamily="34" charset="-122"/>
                <a:cs typeface="Calibri" pitchFamily="34" charset="-120"/>
              </a:rPr>
              <a:t>Van: Karim Benali · Aan: Lotte Maes · Onderwerp: nieuws van kantoor</a:t>
            </a:r>
            <a:endParaRPr lang="en-US" sz="1200" dirty="0"/>
          </a:p>
        </p:txBody>
      </p:sp>
      <p:sp>
        <p:nvSpPr>
          <p:cNvPr id="9" name="Shape 6"/>
          <p:cNvSpPr/>
          <p:nvPr/>
        </p:nvSpPr>
        <p:spPr>
          <a:xfrm>
            <a:off x="1783080" y="2377440"/>
            <a:ext cx="8622792" cy="914"/>
          </a:xfrm>
          <a:prstGeom prst="line">
            <a:avLst/>
          </a:prstGeom>
          <a:noFill/>
          <a:ln w="12700">
            <a:solidFill>
              <a:srgbClr val="DDE3EA"/>
            </a:solidFill>
            <a:prstDash val="solid"/>
          </a:ln>
        </p:spPr>
      </p:sp>
      <p:sp>
        <p:nvSpPr>
          <p:cNvPr id="10" name="Text 7"/>
          <p:cNvSpPr txBox="1"/>
          <p:nvPr/>
        </p:nvSpPr>
        <p:spPr>
          <a:xfrm>
            <a:off x="1783080" y="2514600"/>
            <a:ext cx="8641080" cy="3200400"/>
          </a:xfrm>
          <a:prstGeom prst="rect">
            <a:avLst/>
          </a:prstGeom>
          <a:noFill/>
          <a:ln/>
        </p:spPr>
        <p:txBody>
          <a:bodyPr wrap="square" lIns="0" tIns="0" rIns="0" bIns="0" rtlCol="0" anchor="t"/>
          <a:lstStyle/>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Beste Lotte,</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Bedankt voor het rapport </a:t>
            </a:r>
            <a:r>
              <a:rPr lang="en-US" sz="1700" i="1" strike="sngStrike" dirty="0">
                <a:solidFill>
                  <a:srgbClr val="B5473C"/>
                </a:solidFill>
                <a:latin typeface="Calibri" pitchFamily="34" charset="0"/>
                <a:ea typeface="Calibri" pitchFamily="34" charset="-122"/>
                <a:cs typeface="Calibri" pitchFamily="34" charset="-120"/>
              </a:rPr>
              <a:t>die</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D9700F"/>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je gisteren hebt gestuurd. De printer </a:t>
            </a:r>
            <a:r>
              <a:rPr lang="en-US" sz="1700" i="1" strike="sngStrike" dirty="0">
                <a:solidFill>
                  <a:srgbClr val="B5473C"/>
                </a:solidFill>
                <a:latin typeface="Calibri" pitchFamily="34" charset="0"/>
                <a:ea typeface="Calibri" pitchFamily="34" charset="-122"/>
                <a:cs typeface="Calibri" pitchFamily="34" charset="-120"/>
              </a:rPr>
              <a:t>die staat op de tweede verdieping</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17375E"/>
                </a:solidFill>
                <a:latin typeface="Calibri" pitchFamily="34" charset="0"/>
                <a:ea typeface="Calibri" pitchFamily="34" charset="-122"/>
                <a:cs typeface="Calibri" pitchFamily="34" charset="-120"/>
              </a:rPr>
              <a:t>die</a:t>
            </a:r>
            <a:r>
              <a:rPr lang="en-US" sz="1700" i="1" dirty="0">
                <a:solidFill>
                  <a:srgbClr val="1B2333"/>
                </a:solidFill>
                <a:latin typeface="Calibri" pitchFamily="34" charset="0"/>
                <a:ea typeface="Calibri" pitchFamily="34" charset="-122"/>
                <a:cs typeface="Calibri" pitchFamily="34" charset="-120"/>
              </a:rPr>
              <a:t> op de tweede verdieping </a:t>
            </a:r>
            <a:r>
              <a:rPr lang="en-US" sz="1700" b="1" i="1" dirty="0">
                <a:solidFill>
                  <a:srgbClr val="B83227"/>
                </a:solidFill>
                <a:latin typeface="Calibri" pitchFamily="34" charset="0"/>
                <a:ea typeface="Calibri" pitchFamily="34" charset="-122"/>
                <a:cs typeface="Calibri" pitchFamily="34" charset="-120"/>
              </a:rPr>
              <a:t>staat</a:t>
            </a:r>
            <a:r>
              <a:rPr lang="en-US" sz="1700" i="1" dirty="0">
                <a:solidFill>
                  <a:srgbClr val="1B2333"/>
                </a:solidFill>
                <a:latin typeface="Calibri" pitchFamily="34" charset="0"/>
                <a:ea typeface="Calibri" pitchFamily="34" charset="-122"/>
                <a:cs typeface="Calibri" pitchFamily="34" charset="-120"/>
              </a:rPr>
              <a:t>, is nog altijd kapot. De klant </a:t>
            </a:r>
            <a:r>
              <a:rPr lang="en-US" sz="1700" i="1" strike="sngStrike" dirty="0">
                <a:solidFill>
                  <a:srgbClr val="B5473C"/>
                </a:solidFill>
                <a:latin typeface="Calibri" pitchFamily="34" charset="0"/>
                <a:ea typeface="Calibri" pitchFamily="34" charset="-122"/>
                <a:cs typeface="Calibri" pitchFamily="34" charset="-120"/>
              </a:rPr>
              <a:t>met wat</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B4236A"/>
                </a:solidFill>
                <a:latin typeface="Calibri" pitchFamily="34" charset="0"/>
                <a:ea typeface="Calibri" pitchFamily="34" charset="-122"/>
                <a:cs typeface="Calibri" pitchFamily="34" charset="-120"/>
              </a:rPr>
              <a:t>met wie</a:t>
            </a:r>
            <a:r>
              <a:rPr lang="en-US" sz="1700" i="1" dirty="0">
                <a:solidFill>
                  <a:srgbClr val="1B2333"/>
                </a:solidFill>
                <a:latin typeface="Calibri" pitchFamily="34" charset="0"/>
                <a:ea typeface="Calibri" pitchFamily="34" charset="-122"/>
                <a:cs typeface="Calibri" pitchFamily="34" charset="-120"/>
              </a:rPr>
              <a:t> ik vorige week vergaderd heb, wil het contract tekenen. Vrijdag is de dag </a:t>
            </a:r>
            <a:r>
              <a:rPr lang="en-US" sz="1700" i="1" strike="sngStrike" dirty="0">
                <a:solidFill>
                  <a:srgbClr val="B5473C"/>
                </a:solidFill>
                <a:latin typeface="Calibri" pitchFamily="34" charset="0"/>
                <a:ea typeface="Calibri" pitchFamily="34" charset="-122"/>
                <a:cs typeface="Calibri" pitchFamily="34" charset="-120"/>
              </a:rPr>
              <a:t>waar</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2A6FB0"/>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we de nieuwe stagiair ontmoeten. O ja, de lift werkt nog altijd niet, </a:t>
            </a:r>
            <a:r>
              <a:rPr lang="en-US" sz="1700" i="1" strike="sngStrike" dirty="0">
                <a:solidFill>
                  <a:srgbClr val="B5473C"/>
                </a:solidFill>
                <a:latin typeface="Calibri" pitchFamily="34" charset="0"/>
                <a:ea typeface="Calibri" pitchFamily="34" charset="-122"/>
                <a:cs typeface="Calibri" pitchFamily="34" charset="-120"/>
              </a:rPr>
              <a:t>dat</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2E7D4F"/>
                </a:solidFill>
                <a:latin typeface="Calibri" pitchFamily="34" charset="0"/>
                <a:ea typeface="Calibri" pitchFamily="34" charset="-122"/>
                <a:cs typeface="Calibri" pitchFamily="34" charset="-120"/>
              </a:rPr>
              <a:t>wat</a:t>
            </a:r>
            <a:r>
              <a:rPr lang="en-US" sz="1700" i="1" dirty="0">
                <a:solidFill>
                  <a:srgbClr val="1B2333"/>
                </a:solidFill>
                <a:latin typeface="Calibri" pitchFamily="34" charset="0"/>
                <a:ea typeface="Calibri" pitchFamily="34" charset="-122"/>
                <a:cs typeface="Calibri" pitchFamily="34" charset="-120"/>
              </a:rPr>
              <a:t> erg lastig is.</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Groetjes,</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Karim</a:t>
            </a:r>
            <a:endParaRPr lang="en-US" sz="1700" dirty="0"/>
          </a:p>
        </p:txBody>
      </p:sp>
      <p:sp>
        <p:nvSpPr>
          <p:cNvPr id="11" name="Text 8"/>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Les règles : diapos 5 (</a:t>
            </a:r>
            <a:r>
              <a:rPr lang="en-US" sz="1300" i="1" dirty="0">
                <a:solidFill>
                  <a:srgbClr val="6B7686"/>
                </a:solidFill>
                <a:latin typeface="Calibri" pitchFamily="34" charset="0"/>
                <a:ea typeface="Calibri" pitchFamily="34" charset="-122"/>
                <a:cs typeface="Calibri" pitchFamily="34" charset="-120"/>
              </a:rPr>
              <a:t>het</a:t>
            </a:r>
            <a:r>
              <a:rPr lang="en-US" sz="1300" i="1" dirty="0">
                <a:solidFill>
                  <a:srgbClr val="6B7686"/>
                </a:solidFill>
                <a:latin typeface="Calibri" pitchFamily="34" charset="0"/>
                <a:ea typeface="Calibri" pitchFamily="34" charset="-122"/>
                <a:cs typeface="Calibri" pitchFamily="34" charset="-120"/>
              </a:rPr>
              <a:t>), 7 (le verbe), 14 (personne), 18 (le temps : aussi </a:t>
            </a:r>
            <a:r>
              <a:rPr lang="en-US" sz="1300" b="1" i="1" dirty="0">
                <a:solidFill>
                  <a:srgbClr val="2A6FB0"/>
                </a:solidFill>
                <a:latin typeface="Calibri" pitchFamily="34" charset="0"/>
                <a:ea typeface="Calibri" pitchFamily="34" charset="-122"/>
                <a:cs typeface="Calibri" pitchFamily="34" charset="-120"/>
              </a:rPr>
              <a:t>waarop</a:t>
            </a:r>
            <a:r>
              <a:rPr lang="en-US" sz="1300" i="1" dirty="0">
                <a:solidFill>
                  <a:srgbClr val="6B7686"/>
                </a:solidFill>
                <a:latin typeface="Calibri" pitchFamily="34" charset="0"/>
                <a:ea typeface="Calibri" pitchFamily="34" charset="-122"/>
                <a:cs typeface="Calibri" pitchFamily="34" charset="-120"/>
              </a:rPr>
              <a:t>), 12 (toute la phrase).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Taboe ! Définissez sans nommer</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D9700F"/>
                </a:solidFill>
                <a:latin typeface="Calibri" pitchFamily="34" charset="0"/>
                <a:ea typeface="Calibri" pitchFamily="34" charset="-122"/>
                <a:cs typeface="Calibri" pitchFamily="34" charset="-120"/>
              </a:rPr>
              <a:t>JIJ NU ! · EXERCICE 11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Par deux : A tire une carte et la définit avec une relative ; B devine. 1 minute par carte.</a:t>
            </a:r>
            <a:endParaRPr lang="en-US" sz="1550" dirty="0"/>
          </a:p>
        </p:txBody>
      </p:sp>
      <p:sp>
        <p:nvSpPr>
          <p:cNvPr id="7" name="Shape 4"/>
          <p:cNvSpPr/>
          <p:nvPr/>
        </p:nvSpPr>
        <p:spPr>
          <a:xfrm>
            <a:off x="909828" y="1828800"/>
            <a:ext cx="2468880" cy="457200"/>
          </a:xfrm>
          <a:prstGeom prst="roundRect">
            <a:avLst>
              <a:gd name="adj" fmla="val 50000"/>
            </a:avLst>
          </a:prstGeom>
          <a:solidFill>
            <a:srgbClr val="E6ECF3"/>
          </a:solidFill>
          <a:ln w="12700">
            <a:solidFill>
              <a:srgbClr val="FFFFFF">
                <a:alpha val="0"/>
              </a:srgbClr>
            </a:solidFill>
            <a:prstDash val="solid"/>
          </a:ln>
        </p:spPr>
      </p:sp>
      <p:sp>
        <p:nvSpPr>
          <p:cNvPr id="8" name="Text 5"/>
          <p:cNvSpPr txBox="1"/>
          <p:nvPr/>
        </p:nvSpPr>
        <p:spPr>
          <a:xfrm>
            <a:off x="909828" y="1828800"/>
            <a:ext cx="2468880" cy="457200"/>
          </a:xfrm>
          <a:prstGeom prst="rect">
            <a:avLst/>
          </a:prstGeom>
          <a:noFill/>
          <a:ln/>
        </p:spPr>
        <p:txBody>
          <a:bodyPr wrap="square" lIns="0" tIns="0" rIns="0" bIns="0" rtlCol="0" anchor="ctr"/>
          <a:lstStyle/>
          <a:p>
            <a:pPr algn="ctr" indent="0" marL="0">
              <a:buNone/>
            </a:pPr>
            <a:r>
              <a:rPr lang="en-US" sz="1600" i="1" dirty="0">
                <a:solidFill>
                  <a:srgbClr val="1B2333"/>
                </a:solidFill>
                <a:latin typeface="Calibri" pitchFamily="34" charset="0"/>
                <a:ea typeface="Calibri" pitchFamily="34" charset="-122"/>
                <a:cs typeface="Calibri" pitchFamily="34" charset="-120"/>
              </a:rPr>
              <a:t>Het is iemand </a:t>
            </a:r>
            <a:r>
              <a:rPr lang="en-US" sz="1600" b="1" i="1" dirty="0">
                <a:solidFill>
                  <a:srgbClr val="17375E"/>
                </a:solidFill>
                <a:latin typeface="Calibri" pitchFamily="34" charset="0"/>
                <a:ea typeface="Calibri" pitchFamily="34" charset="-122"/>
                <a:cs typeface="Calibri" pitchFamily="34" charset="-120"/>
              </a:rPr>
              <a:t>die</a:t>
            </a:r>
            <a:r>
              <a:rPr lang="en-US" sz="1600" i="1" dirty="0">
                <a:solidFill>
                  <a:srgbClr val="1B2333"/>
                </a:solidFill>
                <a:latin typeface="Calibri" pitchFamily="34" charset="0"/>
                <a:ea typeface="Calibri" pitchFamily="34" charset="-122"/>
                <a:cs typeface="Calibri" pitchFamily="34" charset="-120"/>
              </a:rPr>
              <a:t>…</a:t>
            </a:r>
            <a:endParaRPr lang="en-US" sz="1600" dirty="0"/>
          </a:p>
        </p:txBody>
      </p:sp>
      <p:sp>
        <p:nvSpPr>
          <p:cNvPr id="9" name="Shape 6"/>
          <p:cNvSpPr/>
          <p:nvPr/>
        </p:nvSpPr>
        <p:spPr>
          <a:xfrm>
            <a:off x="3543300" y="1828800"/>
            <a:ext cx="2468880" cy="457200"/>
          </a:xfrm>
          <a:prstGeom prst="roundRect">
            <a:avLst>
              <a:gd name="adj" fmla="val 50000"/>
            </a:avLst>
          </a:prstGeom>
          <a:solidFill>
            <a:srgbClr val="F1ECF7"/>
          </a:solidFill>
          <a:ln w="12700">
            <a:solidFill>
              <a:srgbClr val="FFFFFF">
                <a:alpha val="0"/>
              </a:srgbClr>
            </a:solidFill>
            <a:prstDash val="solid"/>
          </a:ln>
        </p:spPr>
      </p:sp>
      <p:sp>
        <p:nvSpPr>
          <p:cNvPr id="10" name="Text 7"/>
          <p:cNvSpPr txBox="1"/>
          <p:nvPr/>
        </p:nvSpPr>
        <p:spPr>
          <a:xfrm>
            <a:off x="3543300" y="1828800"/>
            <a:ext cx="2468880" cy="457200"/>
          </a:xfrm>
          <a:prstGeom prst="rect">
            <a:avLst/>
          </a:prstGeom>
          <a:noFill/>
          <a:ln/>
        </p:spPr>
        <p:txBody>
          <a:bodyPr wrap="square" lIns="0" tIns="0" rIns="0" bIns="0" rtlCol="0" anchor="ctr"/>
          <a:lstStyle/>
          <a:p>
            <a:pPr algn="ctr" indent="0" marL="0">
              <a:buNone/>
            </a:pPr>
            <a:r>
              <a:rPr lang="en-US" sz="1600" i="1" dirty="0">
                <a:solidFill>
                  <a:srgbClr val="1B2333"/>
                </a:solidFill>
                <a:latin typeface="Calibri" pitchFamily="34" charset="0"/>
                <a:ea typeface="Calibri" pitchFamily="34" charset="-122"/>
                <a:cs typeface="Calibri" pitchFamily="34" charset="-120"/>
              </a:rPr>
              <a:t>Het is iets </a:t>
            </a:r>
            <a:r>
              <a:rPr lang="en-US" sz="1600" b="1" i="1" dirty="0">
                <a:solidFill>
                  <a:srgbClr val="6E4A9E"/>
                </a:solidFill>
                <a:latin typeface="Calibri" pitchFamily="34" charset="0"/>
                <a:ea typeface="Calibri" pitchFamily="34" charset="-122"/>
                <a:cs typeface="Calibri" pitchFamily="34" charset="-120"/>
              </a:rPr>
              <a:t>waarmee</a:t>
            </a:r>
            <a:r>
              <a:rPr lang="en-US" sz="1600" i="1" dirty="0">
                <a:solidFill>
                  <a:srgbClr val="1B2333"/>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6176772" y="1828800"/>
            <a:ext cx="2468880" cy="457200"/>
          </a:xfrm>
          <a:prstGeom prst="roundRect">
            <a:avLst>
              <a:gd name="adj" fmla="val 50000"/>
            </a:avLst>
          </a:prstGeom>
          <a:solidFill>
            <a:srgbClr val="F1ECF7"/>
          </a:solidFill>
          <a:ln w="12700">
            <a:solidFill>
              <a:srgbClr val="FFFFFF">
                <a:alpha val="0"/>
              </a:srgbClr>
            </a:solidFill>
            <a:prstDash val="solid"/>
          </a:ln>
        </p:spPr>
      </p:sp>
      <p:sp>
        <p:nvSpPr>
          <p:cNvPr id="12" name="Text 9"/>
          <p:cNvSpPr txBox="1"/>
          <p:nvPr/>
        </p:nvSpPr>
        <p:spPr>
          <a:xfrm>
            <a:off x="6176772" y="1828800"/>
            <a:ext cx="2468880" cy="457200"/>
          </a:xfrm>
          <a:prstGeom prst="rect">
            <a:avLst/>
          </a:prstGeom>
          <a:noFill/>
          <a:ln/>
        </p:spPr>
        <p:txBody>
          <a:bodyPr wrap="square" lIns="0" tIns="0" rIns="0" bIns="0" rtlCol="0" anchor="ctr"/>
          <a:lstStyle/>
          <a:p>
            <a:pPr algn="ctr" indent="0" marL="0">
              <a:buNone/>
            </a:pPr>
            <a:r>
              <a:rPr lang="en-US" sz="1600" i="1" dirty="0">
                <a:solidFill>
                  <a:srgbClr val="1B2333"/>
                </a:solidFill>
                <a:latin typeface="Calibri" pitchFamily="34" charset="0"/>
                <a:ea typeface="Calibri" pitchFamily="34" charset="-122"/>
                <a:cs typeface="Calibri" pitchFamily="34" charset="-120"/>
              </a:rPr>
              <a:t>Het is een plek </a:t>
            </a:r>
            <a:r>
              <a:rPr lang="en-US" sz="1600" b="1" i="1" dirty="0">
                <a:solidFill>
                  <a:srgbClr val="6E4A9E"/>
                </a:solidFill>
                <a:latin typeface="Calibri" pitchFamily="34" charset="0"/>
                <a:ea typeface="Calibri" pitchFamily="34" charset="-122"/>
                <a:cs typeface="Calibri" pitchFamily="34" charset="-120"/>
              </a:rPr>
              <a:t>waar</a:t>
            </a:r>
            <a:r>
              <a:rPr lang="en-US" sz="1600" i="1" dirty="0">
                <a:solidFill>
                  <a:srgbClr val="1B2333"/>
                </a:solidFill>
                <a:latin typeface="Calibri" pitchFamily="34" charset="0"/>
                <a:ea typeface="Calibri" pitchFamily="34" charset="-122"/>
                <a:cs typeface="Calibri" pitchFamily="34" charset="-120"/>
              </a:rPr>
              <a:t>…</a:t>
            </a:r>
            <a:endParaRPr lang="en-US" sz="1600" dirty="0"/>
          </a:p>
        </p:txBody>
      </p:sp>
      <p:sp>
        <p:nvSpPr>
          <p:cNvPr id="13" name="Shape 10"/>
          <p:cNvSpPr/>
          <p:nvPr/>
        </p:nvSpPr>
        <p:spPr>
          <a:xfrm>
            <a:off x="8810244" y="1828800"/>
            <a:ext cx="2468880" cy="457200"/>
          </a:xfrm>
          <a:prstGeom prst="roundRect">
            <a:avLst>
              <a:gd name="adj" fmla="val 50000"/>
            </a:avLst>
          </a:prstGeom>
          <a:solidFill>
            <a:srgbClr val="EAF2FB"/>
          </a:solidFill>
          <a:ln w="12700">
            <a:solidFill>
              <a:srgbClr val="FFFFFF">
                <a:alpha val="0"/>
              </a:srgbClr>
            </a:solidFill>
            <a:prstDash val="solid"/>
          </a:ln>
        </p:spPr>
      </p:sp>
      <p:sp>
        <p:nvSpPr>
          <p:cNvPr id="14" name="Text 11"/>
          <p:cNvSpPr txBox="1"/>
          <p:nvPr/>
        </p:nvSpPr>
        <p:spPr>
          <a:xfrm>
            <a:off x="8810244" y="1828800"/>
            <a:ext cx="2468880" cy="457200"/>
          </a:xfrm>
          <a:prstGeom prst="rect">
            <a:avLst/>
          </a:prstGeom>
          <a:noFill/>
          <a:ln/>
        </p:spPr>
        <p:txBody>
          <a:bodyPr wrap="square" lIns="0" tIns="0" rIns="0" bIns="0" rtlCol="0" anchor="ctr"/>
          <a:lstStyle/>
          <a:p>
            <a:pPr algn="ctr" indent="0" marL="0">
              <a:buNone/>
            </a:pPr>
            <a:r>
              <a:rPr lang="en-US" sz="1600" i="1" dirty="0">
                <a:solidFill>
                  <a:srgbClr val="1B2333"/>
                </a:solidFill>
                <a:latin typeface="Calibri" pitchFamily="34" charset="0"/>
                <a:ea typeface="Calibri" pitchFamily="34" charset="-122"/>
                <a:cs typeface="Calibri" pitchFamily="34" charset="-120"/>
              </a:rPr>
              <a:t>Het is de dag </a:t>
            </a:r>
            <a:r>
              <a:rPr lang="en-US" sz="1600" b="1" i="1" dirty="0">
                <a:solidFill>
                  <a:srgbClr val="2A6FB0"/>
                </a:solidFill>
                <a:latin typeface="Calibri" pitchFamily="34" charset="0"/>
                <a:ea typeface="Calibri" pitchFamily="34" charset="-122"/>
                <a:cs typeface="Calibri" pitchFamily="34" charset="-120"/>
              </a:rPr>
              <a:t>waarop</a:t>
            </a:r>
            <a:r>
              <a:rPr lang="en-US" sz="1600" i="1" dirty="0">
                <a:solidFill>
                  <a:srgbClr val="1B2333"/>
                </a:solidFill>
                <a:latin typeface="Calibri" pitchFamily="34" charset="0"/>
                <a:ea typeface="Calibri" pitchFamily="34" charset="-122"/>
                <a:cs typeface="Calibri" pitchFamily="34" charset="-120"/>
              </a:rPr>
              <a:t>…</a:t>
            </a:r>
            <a:endParaRPr lang="en-US" sz="1600" dirty="0"/>
          </a:p>
        </p:txBody>
      </p:sp>
      <p:sp>
        <p:nvSpPr>
          <p:cNvPr id="15" name="Shape 12"/>
          <p:cNvSpPr/>
          <p:nvPr/>
        </p:nvSpPr>
        <p:spPr>
          <a:xfrm>
            <a:off x="818388" y="26060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16" name="Image 0" descr="woman office worker">    </p:cNvPr>
          <p:cNvPicPr>
            <a:picLocks noChangeAspect="1"/>
          </p:cNvPicPr>
          <p:nvPr/>
        </p:nvPicPr>
        <p:blipFill>
          <a:blip r:embed="rId1"/>
          <a:stretch>
            <a:fillRect/>
          </a:stretch>
        </p:blipFill>
        <p:spPr>
          <a:xfrm>
            <a:off x="955548" y="2971800"/>
            <a:ext cx="640080" cy="640080"/>
          </a:xfrm>
          <a:prstGeom prst="rect">
            <a:avLst/>
          </a:prstGeom>
        </p:spPr>
      </p:pic>
      <p:sp>
        <p:nvSpPr>
          <p:cNvPr id="17" name="Text 13"/>
          <p:cNvSpPr txBox="1"/>
          <p:nvPr/>
        </p:nvSpPr>
        <p:spPr>
          <a:xfrm>
            <a:off x="1687068" y="26060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receptionist</a:t>
            </a:r>
            <a:endParaRPr lang="en-US" sz="1500" dirty="0"/>
          </a:p>
        </p:txBody>
      </p:sp>
      <p:sp>
        <p:nvSpPr>
          <p:cNvPr id="18" name="Shape 14"/>
          <p:cNvSpPr/>
          <p:nvPr/>
        </p:nvSpPr>
        <p:spPr>
          <a:xfrm>
            <a:off x="3497580" y="26060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19" name="Image 1" descr="printer">    </p:cNvPr>
          <p:cNvPicPr>
            <a:picLocks noChangeAspect="1"/>
          </p:cNvPicPr>
          <p:nvPr/>
        </p:nvPicPr>
        <p:blipFill>
          <a:blip r:embed="rId2"/>
          <a:stretch>
            <a:fillRect/>
          </a:stretch>
        </p:blipFill>
        <p:spPr>
          <a:xfrm>
            <a:off x="3634740" y="2971800"/>
            <a:ext cx="640080" cy="640080"/>
          </a:xfrm>
          <a:prstGeom prst="rect">
            <a:avLst/>
          </a:prstGeom>
        </p:spPr>
      </p:pic>
      <p:sp>
        <p:nvSpPr>
          <p:cNvPr id="20" name="Text 15"/>
          <p:cNvSpPr txBox="1"/>
          <p:nvPr/>
        </p:nvSpPr>
        <p:spPr>
          <a:xfrm>
            <a:off x="4366260" y="26060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printer</a:t>
            </a:r>
            <a:endParaRPr lang="en-US" sz="1500" dirty="0"/>
          </a:p>
        </p:txBody>
      </p:sp>
      <p:sp>
        <p:nvSpPr>
          <p:cNvPr id="21" name="Shape 16"/>
          <p:cNvSpPr/>
          <p:nvPr/>
        </p:nvSpPr>
        <p:spPr>
          <a:xfrm>
            <a:off x="6176772" y="26060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22" name="Image 2" descr="fork and knife with plate">    </p:cNvPr>
          <p:cNvPicPr>
            <a:picLocks noChangeAspect="1"/>
          </p:cNvPicPr>
          <p:nvPr/>
        </p:nvPicPr>
        <p:blipFill>
          <a:blip r:embed="rId3"/>
          <a:stretch>
            <a:fillRect/>
          </a:stretch>
        </p:blipFill>
        <p:spPr>
          <a:xfrm>
            <a:off x="6313932" y="2971800"/>
            <a:ext cx="640080" cy="640080"/>
          </a:xfrm>
          <a:prstGeom prst="rect">
            <a:avLst/>
          </a:prstGeom>
        </p:spPr>
      </p:pic>
      <p:sp>
        <p:nvSpPr>
          <p:cNvPr id="23" name="Text 17"/>
          <p:cNvSpPr txBox="1"/>
          <p:nvPr/>
        </p:nvSpPr>
        <p:spPr>
          <a:xfrm>
            <a:off x="7045452" y="26060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refter</a:t>
            </a:r>
            <a:endParaRPr lang="en-US" sz="1500" dirty="0"/>
          </a:p>
        </p:txBody>
      </p:sp>
      <p:sp>
        <p:nvSpPr>
          <p:cNvPr id="24" name="Shape 18"/>
          <p:cNvSpPr/>
          <p:nvPr/>
        </p:nvSpPr>
        <p:spPr>
          <a:xfrm>
            <a:off x="8855964" y="26060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25" name="Image 3" descr="identification card">    </p:cNvPr>
          <p:cNvPicPr>
            <a:picLocks noChangeAspect="1"/>
          </p:cNvPicPr>
          <p:nvPr/>
        </p:nvPicPr>
        <p:blipFill>
          <a:blip r:embed="rId4"/>
          <a:stretch>
            <a:fillRect/>
          </a:stretch>
        </p:blipFill>
        <p:spPr>
          <a:xfrm>
            <a:off x="8993124" y="2971800"/>
            <a:ext cx="640080" cy="640080"/>
          </a:xfrm>
          <a:prstGeom prst="rect">
            <a:avLst/>
          </a:prstGeom>
        </p:spPr>
      </p:pic>
      <p:sp>
        <p:nvSpPr>
          <p:cNvPr id="26" name="Text 19"/>
          <p:cNvSpPr txBox="1"/>
          <p:nvPr/>
        </p:nvSpPr>
        <p:spPr>
          <a:xfrm>
            <a:off x="9724644" y="26060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badge</a:t>
            </a:r>
            <a:endParaRPr lang="en-US" sz="1500" dirty="0"/>
          </a:p>
        </p:txBody>
      </p:sp>
      <p:sp>
        <p:nvSpPr>
          <p:cNvPr id="27" name="Shape 20"/>
          <p:cNvSpPr/>
          <p:nvPr/>
        </p:nvSpPr>
        <p:spPr>
          <a:xfrm>
            <a:off x="818388" y="42062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28" name="Image 4" descr="backpack">    </p:cNvPr>
          <p:cNvPicPr>
            <a:picLocks noChangeAspect="1"/>
          </p:cNvPicPr>
          <p:nvPr/>
        </p:nvPicPr>
        <p:blipFill>
          <a:blip r:embed="rId5"/>
          <a:stretch>
            <a:fillRect/>
          </a:stretch>
        </p:blipFill>
        <p:spPr>
          <a:xfrm>
            <a:off x="955548" y="4572000"/>
            <a:ext cx="640080" cy="640080"/>
          </a:xfrm>
          <a:prstGeom prst="rect">
            <a:avLst/>
          </a:prstGeom>
        </p:spPr>
      </p:pic>
      <p:sp>
        <p:nvSpPr>
          <p:cNvPr id="29" name="Text 21"/>
          <p:cNvSpPr txBox="1"/>
          <p:nvPr/>
        </p:nvSpPr>
        <p:spPr>
          <a:xfrm>
            <a:off x="1687068" y="42062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stagiair</a:t>
            </a:r>
            <a:endParaRPr lang="en-US" sz="1500" dirty="0"/>
          </a:p>
        </p:txBody>
      </p:sp>
      <p:sp>
        <p:nvSpPr>
          <p:cNvPr id="30" name="Shape 22"/>
          <p:cNvSpPr/>
          <p:nvPr/>
        </p:nvSpPr>
        <p:spPr>
          <a:xfrm>
            <a:off x="3497580" y="42062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31" name="Image 5" descr="spiral calendar">    </p:cNvPr>
          <p:cNvPicPr>
            <a:picLocks noChangeAspect="1"/>
          </p:cNvPicPr>
          <p:nvPr/>
        </p:nvPicPr>
        <p:blipFill>
          <a:blip r:embed="rId6"/>
          <a:stretch>
            <a:fillRect/>
          </a:stretch>
        </p:blipFill>
        <p:spPr>
          <a:xfrm>
            <a:off x="3634740" y="4572000"/>
            <a:ext cx="640080" cy="640080"/>
          </a:xfrm>
          <a:prstGeom prst="rect">
            <a:avLst/>
          </a:prstGeom>
        </p:spPr>
      </p:pic>
      <p:sp>
        <p:nvSpPr>
          <p:cNvPr id="32" name="Text 23"/>
          <p:cNvSpPr txBox="1"/>
          <p:nvPr/>
        </p:nvSpPr>
        <p:spPr>
          <a:xfrm>
            <a:off x="4366260" y="42062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deadline</a:t>
            </a:r>
            <a:endParaRPr lang="en-US" sz="1500" dirty="0"/>
          </a:p>
        </p:txBody>
      </p:sp>
      <p:sp>
        <p:nvSpPr>
          <p:cNvPr id="33" name="Shape 24"/>
          <p:cNvSpPr/>
          <p:nvPr/>
        </p:nvSpPr>
        <p:spPr>
          <a:xfrm>
            <a:off x="6176772" y="42062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34" name="Image 6" descr="key">    </p:cNvPr>
          <p:cNvPicPr>
            <a:picLocks noChangeAspect="1"/>
          </p:cNvPicPr>
          <p:nvPr/>
        </p:nvPicPr>
        <p:blipFill>
          <a:blip r:embed="rId7"/>
          <a:stretch>
            <a:fillRect/>
          </a:stretch>
        </p:blipFill>
        <p:spPr>
          <a:xfrm>
            <a:off x="6313932" y="4572000"/>
            <a:ext cx="640080" cy="640080"/>
          </a:xfrm>
          <a:prstGeom prst="rect">
            <a:avLst/>
          </a:prstGeom>
        </p:spPr>
      </p:pic>
      <p:sp>
        <p:nvSpPr>
          <p:cNvPr id="35" name="Text 25"/>
          <p:cNvSpPr txBox="1"/>
          <p:nvPr/>
        </p:nvSpPr>
        <p:spPr>
          <a:xfrm>
            <a:off x="7045452" y="4206240"/>
            <a:ext cx="1600200" cy="1371600"/>
          </a:xfrm>
          <a:prstGeom prst="rect">
            <a:avLst/>
          </a:prstGeom>
          <a:noFill/>
          <a:ln/>
        </p:spPr>
        <p:txBody>
          <a:bodyPr wrap="square" lIns="0" tIns="0" rIns="0" bIns="0" rtlCol="0" anchor="ctr"/>
          <a:lstStyle/>
          <a:p>
            <a:pPr algn="l" indent="0" marL="0">
              <a:buNone/>
            </a:pPr>
            <a:r>
              <a:rPr lang="en-US" sz="1500" b="1" i="1" dirty="0">
                <a:solidFill>
                  <a:srgbClr val="D9700F"/>
                </a:solidFill>
                <a:latin typeface="Calibri" pitchFamily="34" charset="0"/>
                <a:ea typeface="Calibri" pitchFamily="34" charset="-122"/>
                <a:cs typeface="Calibri" pitchFamily="34" charset="-120"/>
              </a:rPr>
              <a:t>het</a:t>
            </a:r>
            <a:r>
              <a:rPr lang="en-US" sz="1500" b="1" i="1" dirty="0">
                <a:solidFill>
                  <a:srgbClr val="17375E"/>
                </a:solidFill>
                <a:latin typeface="Calibri" pitchFamily="34" charset="0"/>
                <a:ea typeface="Calibri" pitchFamily="34" charset="-122"/>
                <a:cs typeface="Calibri" pitchFamily="34" charset="-120"/>
              </a:rPr>
              <a:t> wachtwoord</a:t>
            </a:r>
            <a:endParaRPr lang="en-US" sz="1500" dirty="0"/>
          </a:p>
        </p:txBody>
      </p:sp>
      <p:sp>
        <p:nvSpPr>
          <p:cNvPr id="36" name="Shape 26"/>
          <p:cNvSpPr/>
          <p:nvPr/>
        </p:nvSpPr>
        <p:spPr>
          <a:xfrm>
            <a:off x="8855964" y="4206240"/>
            <a:ext cx="2514600" cy="1371600"/>
          </a:xfrm>
          <a:prstGeom prst="roundRect">
            <a:avLst>
              <a:gd name="adj" fmla="val 8000"/>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pic>
        <p:nvPicPr>
          <p:cNvPr id="37" name="Image 7" descr="chair">    </p:cNvPr>
          <p:cNvPicPr>
            <a:picLocks noChangeAspect="1"/>
          </p:cNvPicPr>
          <p:nvPr/>
        </p:nvPicPr>
        <p:blipFill>
          <a:blip r:embed="rId8"/>
          <a:stretch>
            <a:fillRect/>
          </a:stretch>
        </p:blipFill>
        <p:spPr>
          <a:xfrm>
            <a:off x="8993124" y="4572000"/>
            <a:ext cx="640080" cy="640080"/>
          </a:xfrm>
          <a:prstGeom prst="rect">
            <a:avLst/>
          </a:prstGeom>
        </p:spPr>
      </p:pic>
      <p:sp>
        <p:nvSpPr>
          <p:cNvPr id="38" name="Text 27"/>
          <p:cNvSpPr txBox="1"/>
          <p:nvPr/>
        </p:nvSpPr>
        <p:spPr>
          <a:xfrm>
            <a:off x="9724644" y="4206240"/>
            <a:ext cx="1600200" cy="1371600"/>
          </a:xfrm>
          <a:prstGeom prst="rect">
            <a:avLst/>
          </a:prstGeom>
          <a:noFill/>
          <a:ln/>
        </p:spPr>
        <p:txBody>
          <a:bodyPr wrap="square" lIns="0" tIns="0" rIns="0" bIns="0" rtlCol="0" anchor="ctr"/>
          <a:lstStyle/>
          <a:p>
            <a:pPr algn="l" indent="0" marL="0">
              <a:buNone/>
            </a:pPr>
            <a:r>
              <a:rPr lang="en-US" sz="1500" b="1" i="1" dirty="0">
                <a:solidFill>
                  <a:srgbClr val="17375E"/>
                </a:solidFill>
                <a:latin typeface="Calibri" pitchFamily="34" charset="0"/>
                <a:ea typeface="Calibri" pitchFamily="34" charset="-122"/>
                <a:cs typeface="Calibri" pitchFamily="34" charset="-120"/>
              </a:rPr>
              <a:t>de</a:t>
            </a:r>
            <a:r>
              <a:rPr lang="en-US" sz="1500" b="1" i="1" dirty="0">
                <a:solidFill>
                  <a:srgbClr val="17375E"/>
                </a:solidFill>
                <a:latin typeface="Calibri" pitchFamily="34" charset="0"/>
                <a:ea typeface="Calibri" pitchFamily="34" charset="-122"/>
                <a:cs typeface="Calibri" pitchFamily="34" charset="-120"/>
              </a:rPr>
              <a:t> vergaderzaal</a:t>
            </a:r>
            <a:endParaRPr lang="en-US" sz="1500" dirty="0"/>
          </a:p>
        </p:txBody>
      </p:sp>
      <p:sp>
        <p:nvSpPr>
          <p:cNvPr id="39" name="Text 28"/>
          <p:cNvSpPr txBox="1"/>
          <p:nvPr/>
        </p:nvSpPr>
        <p:spPr>
          <a:xfrm>
            <a:off x="822960" y="5852160"/>
            <a:ext cx="10543032" cy="320040"/>
          </a:xfrm>
          <a:prstGeom prst="rect">
            <a:avLst/>
          </a:prstGeom>
          <a:noFill/>
          <a:ln/>
        </p:spPr>
        <p:txBody>
          <a:bodyPr wrap="square" lIns="0" tIns="0" rIns="0" bIns="0" rtlCol="0" anchor="ctr"/>
          <a:lstStyle/>
          <a:p>
            <a:pPr algn="ctr" indent="0" marL="0">
              <a:buNone/>
            </a:pPr>
            <a:r>
              <a:rPr lang="en-US" sz="1400" b="1" dirty="0">
                <a:solidFill>
                  <a:srgbClr val="6B7686"/>
                </a:solidFill>
                <a:latin typeface="Calibri" pitchFamily="34" charset="0"/>
                <a:ea typeface="Calibri" pitchFamily="34" charset="-122"/>
                <a:cs typeface="Calibri" pitchFamily="34" charset="-120"/>
              </a:rPr>
              <a:t>1 point</a:t>
            </a:r>
            <a:r>
              <a:rPr lang="en-US" sz="1400" dirty="0">
                <a:solidFill>
                  <a:srgbClr val="6B7686"/>
                </a:solidFill>
                <a:latin typeface="Calibri" pitchFamily="34" charset="0"/>
                <a:ea typeface="Calibri" pitchFamily="34" charset="-122"/>
                <a:cs typeface="Calibri" pitchFamily="34" charset="-120"/>
              </a:rPr>
              <a:t> par mot deviné · </a:t>
            </a:r>
            <a:r>
              <a:rPr lang="en-US" sz="1400" b="1" dirty="0">
                <a:solidFill>
                  <a:srgbClr val="6B7686"/>
                </a:solidFill>
                <a:latin typeface="Calibri" pitchFamily="34" charset="0"/>
                <a:ea typeface="Calibri" pitchFamily="34" charset="-122"/>
                <a:cs typeface="Calibri" pitchFamily="34" charset="-120"/>
              </a:rPr>
              <a:t>−1</a:t>
            </a:r>
            <a:r>
              <a:rPr lang="en-US" sz="1400" dirty="0">
                <a:solidFill>
                  <a:srgbClr val="6B7686"/>
                </a:solidFill>
                <a:latin typeface="Calibri" pitchFamily="34" charset="0"/>
                <a:ea typeface="Calibri" pitchFamily="34" charset="-122"/>
                <a:cs typeface="Calibri" pitchFamily="34" charset="-120"/>
              </a:rPr>
              <a:t> si le mot de la carte est prononcé</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photo d’équipe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6E4A9E"/>
                </a:solidFill>
                <a:latin typeface="Calibri" pitchFamily="34" charset="0"/>
                <a:ea typeface="Calibri" pitchFamily="34" charset="-122"/>
                <a:cs typeface="Calibri" pitchFamily="34" charset="-120"/>
              </a:rPr>
              <a:t>MISE EN SITUATION · EXERCICE 12</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D9700F"/>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Qui est qui chez Peeters &amp; Co ? A décrit une personne en trois relatives ; B devine.</a:t>
            </a:r>
            <a:endParaRPr lang="en-US" sz="1550" dirty="0"/>
          </a:p>
        </p:txBody>
      </p:sp>
      <p:sp>
        <p:nvSpPr>
          <p:cNvPr id="7" name="Shape 4"/>
          <p:cNvSpPr/>
          <p:nvPr/>
        </p:nvSpPr>
        <p:spPr>
          <a:xfrm>
            <a:off x="822960" y="1828800"/>
            <a:ext cx="5943600" cy="4160520"/>
          </a:xfrm>
          <a:prstGeom prst="roundRect">
            <a:avLst>
              <a:gd name="adj" fmla="val 1319"/>
            </a:avLst>
          </a:prstGeom>
          <a:solidFill>
            <a:srgbClr val="FFFFFF"/>
          </a:solidFill>
          <a:ln w="12700">
            <a:solidFill>
              <a:srgbClr val="C3CBD6"/>
            </a:solidFill>
            <a:prstDash val="solid"/>
          </a:ln>
          <a:effectLst>
            <a:outerShdw sx="100000" sy="100000" kx="0" ky="0" algn="bl" rotWithShape="0" blurRad="76200" dist="25400" dir="5400000">
              <a:srgbClr val="1B2430">
                <a:alpha val="10000"/>
              </a:srgbClr>
            </a:outerShdw>
          </a:effectLst>
        </p:spPr>
      </p:sp>
      <p:sp>
        <p:nvSpPr>
          <p:cNvPr id="8" name="Shape 5"/>
          <p:cNvSpPr/>
          <p:nvPr/>
        </p:nvSpPr>
        <p:spPr>
          <a:xfrm>
            <a:off x="987552" y="1993392"/>
            <a:ext cx="5614416" cy="3831336"/>
          </a:xfrm>
          <a:prstGeom prst="roundRect">
            <a:avLst>
              <a:gd name="adj" fmla="val 477"/>
            </a:avLst>
          </a:prstGeom>
          <a:solidFill>
            <a:srgbClr val="EEF3F8"/>
          </a:solidFill>
          <a:ln w="12700">
            <a:solidFill>
              <a:srgbClr val="FFFFFF">
                <a:alpha val="0"/>
              </a:srgbClr>
            </a:solidFill>
            <a:prstDash val="solid"/>
          </a:ln>
        </p:spPr>
      </p:sp>
      <p:pic>
        <p:nvPicPr>
          <p:cNvPr id="9" name="Image 0" descr="woman office worker">    </p:cNvPr>
          <p:cNvPicPr>
            <a:picLocks noChangeAspect="1"/>
          </p:cNvPicPr>
          <p:nvPr/>
        </p:nvPicPr>
        <p:blipFill>
          <a:blip r:embed="rId1"/>
          <a:stretch>
            <a:fillRect/>
          </a:stretch>
        </p:blipFill>
        <p:spPr>
          <a:xfrm>
            <a:off x="1280160" y="2286000"/>
            <a:ext cx="1051560" cy="1051560"/>
          </a:xfrm>
          <a:prstGeom prst="rect">
            <a:avLst/>
          </a:prstGeom>
        </p:spPr>
      </p:pic>
      <p:pic>
        <p:nvPicPr>
          <p:cNvPr id="10" name="Image 1" descr="hot beverage">    </p:cNvPr>
          <p:cNvPicPr>
            <a:picLocks noChangeAspect="1"/>
          </p:cNvPicPr>
          <p:nvPr/>
        </p:nvPicPr>
        <p:blipFill>
          <a:blip r:embed="rId2"/>
          <a:stretch>
            <a:fillRect/>
          </a:stretch>
        </p:blipFill>
        <p:spPr>
          <a:xfrm>
            <a:off x="2240280" y="2880360"/>
            <a:ext cx="502920" cy="502920"/>
          </a:xfrm>
          <a:prstGeom prst="rect">
            <a:avLst/>
          </a:prstGeom>
        </p:spPr>
      </p:pic>
      <p:sp>
        <p:nvSpPr>
          <p:cNvPr id="11" name="Shape 6"/>
          <p:cNvSpPr/>
          <p:nvPr/>
        </p:nvSpPr>
        <p:spPr>
          <a:xfrm>
            <a:off x="1216152" y="2130552"/>
            <a:ext cx="347472" cy="347472"/>
          </a:xfrm>
          <a:prstGeom prst="ellipse">
            <a:avLst/>
          </a:prstGeom>
          <a:solidFill>
            <a:srgbClr val="17375E"/>
          </a:solidFill>
          <a:ln w="12700">
            <a:solidFill>
              <a:srgbClr val="FFFFFF">
                <a:alpha val="0"/>
              </a:srgbClr>
            </a:solidFill>
            <a:prstDash val="solid"/>
          </a:ln>
        </p:spPr>
      </p:sp>
      <p:sp>
        <p:nvSpPr>
          <p:cNvPr id="12" name="Text 7"/>
          <p:cNvSpPr txBox="1"/>
          <p:nvPr/>
        </p:nvSpPr>
        <p:spPr>
          <a:xfrm>
            <a:off x="1216152" y="2130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pic>
        <p:nvPicPr>
          <p:cNvPr id="13" name="Image 2" descr="man office worker">    </p:cNvPr>
          <p:cNvPicPr>
            <a:picLocks noChangeAspect="1"/>
          </p:cNvPicPr>
          <p:nvPr/>
        </p:nvPicPr>
        <p:blipFill>
          <a:blip r:embed="rId3"/>
          <a:stretch>
            <a:fillRect/>
          </a:stretch>
        </p:blipFill>
        <p:spPr>
          <a:xfrm>
            <a:off x="3063240" y="2286000"/>
            <a:ext cx="1051560" cy="1051560"/>
          </a:xfrm>
          <a:prstGeom prst="rect">
            <a:avLst/>
          </a:prstGeom>
        </p:spPr>
      </p:pic>
      <p:pic>
        <p:nvPicPr>
          <p:cNvPr id="14" name="Image 3" descr="laptop">    </p:cNvPr>
          <p:cNvPicPr>
            <a:picLocks noChangeAspect="1"/>
          </p:cNvPicPr>
          <p:nvPr/>
        </p:nvPicPr>
        <p:blipFill>
          <a:blip r:embed="rId4"/>
          <a:stretch>
            <a:fillRect/>
          </a:stretch>
        </p:blipFill>
        <p:spPr>
          <a:xfrm>
            <a:off x="4023360" y="2880360"/>
            <a:ext cx="502920" cy="502920"/>
          </a:xfrm>
          <a:prstGeom prst="rect">
            <a:avLst/>
          </a:prstGeom>
        </p:spPr>
      </p:pic>
      <p:sp>
        <p:nvSpPr>
          <p:cNvPr id="15" name="Shape 8"/>
          <p:cNvSpPr/>
          <p:nvPr/>
        </p:nvSpPr>
        <p:spPr>
          <a:xfrm>
            <a:off x="2999232" y="2130552"/>
            <a:ext cx="347472" cy="347472"/>
          </a:xfrm>
          <a:prstGeom prst="ellipse">
            <a:avLst/>
          </a:prstGeom>
          <a:solidFill>
            <a:srgbClr val="17375E"/>
          </a:solidFill>
          <a:ln w="12700">
            <a:solidFill>
              <a:srgbClr val="FFFFFF">
                <a:alpha val="0"/>
              </a:srgbClr>
            </a:solidFill>
            <a:prstDash val="solid"/>
          </a:ln>
        </p:spPr>
      </p:sp>
      <p:sp>
        <p:nvSpPr>
          <p:cNvPr id="16" name="Text 9"/>
          <p:cNvSpPr txBox="1"/>
          <p:nvPr/>
        </p:nvSpPr>
        <p:spPr>
          <a:xfrm>
            <a:off x="2999232" y="2130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pic>
        <p:nvPicPr>
          <p:cNvPr id="17" name="Image 4" descr="woman technologist">    </p:cNvPr>
          <p:cNvPicPr>
            <a:picLocks noChangeAspect="1"/>
          </p:cNvPicPr>
          <p:nvPr/>
        </p:nvPicPr>
        <p:blipFill>
          <a:blip r:embed="rId5"/>
          <a:stretch>
            <a:fillRect/>
          </a:stretch>
        </p:blipFill>
        <p:spPr>
          <a:xfrm>
            <a:off x="4846320" y="2286000"/>
            <a:ext cx="1051560" cy="1051560"/>
          </a:xfrm>
          <a:prstGeom prst="rect">
            <a:avLst/>
          </a:prstGeom>
        </p:spPr>
      </p:pic>
      <p:pic>
        <p:nvPicPr>
          <p:cNvPr id="18" name="Image 5" descr="telephone receiver">    </p:cNvPr>
          <p:cNvPicPr>
            <a:picLocks noChangeAspect="1"/>
          </p:cNvPicPr>
          <p:nvPr/>
        </p:nvPicPr>
        <p:blipFill>
          <a:blip r:embed="rId6"/>
          <a:stretch>
            <a:fillRect/>
          </a:stretch>
        </p:blipFill>
        <p:spPr>
          <a:xfrm>
            <a:off x="5806440" y="2880360"/>
            <a:ext cx="502920" cy="502920"/>
          </a:xfrm>
          <a:prstGeom prst="rect">
            <a:avLst/>
          </a:prstGeom>
        </p:spPr>
      </p:pic>
      <p:sp>
        <p:nvSpPr>
          <p:cNvPr id="19" name="Shape 10"/>
          <p:cNvSpPr/>
          <p:nvPr/>
        </p:nvSpPr>
        <p:spPr>
          <a:xfrm>
            <a:off x="4782312" y="2130552"/>
            <a:ext cx="347472" cy="347472"/>
          </a:xfrm>
          <a:prstGeom prst="ellipse">
            <a:avLst/>
          </a:prstGeom>
          <a:solidFill>
            <a:srgbClr val="17375E"/>
          </a:solidFill>
          <a:ln w="12700">
            <a:solidFill>
              <a:srgbClr val="FFFFFF">
                <a:alpha val="0"/>
              </a:srgbClr>
            </a:solidFill>
            <a:prstDash val="solid"/>
          </a:ln>
        </p:spPr>
      </p:sp>
      <p:sp>
        <p:nvSpPr>
          <p:cNvPr id="20" name="Text 11"/>
          <p:cNvSpPr txBox="1"/>
          <p:nvPr/>
        </p:nvSpPr>
        <p:spPr>
          <a:xfrm>
            <a:off x="4782312" y="2130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pic>
        <p:nvPicPr>
          <p:cNvPr id="21" name="Image 6" descr="man technologist">    </p:cNvPr>
          <p:cNvPicPr>
            <a:picLocks noChangeAspect="1"/>
          </p:cNvPicPr>
          <p:nvPr/>
        </p:nvPicPr>
        <p:blipFill>
          <a:blip r:embed="rId7"/>
          <a:stretch>
            <a:fillRect/>
          </a:stretch>
        </p:blipFill>
        <p:spPr>
          <a:xfrm>
            <a:off x="1280160" y="4114800"/>
            <a:ext cx="1051560" cy="1051560"/>
          </a:xfrm>
          <a:prstGeom prst="rect">
            <a:avLst/>
          </a:prstGeom>
        </p:spPr>
      </p:pic>
      <p:pic>
        <p:nvPicPr>
          <p:cNvPr id="22" name="Image 7" descr="potted plant">    </p:cNvPr>
          <p:cNvPicPr>
            <a:picLocks noChangeAspect="1"/>
          </p:cNvPicPr>
          <p:nvPr/>
        </p:nvPicPr>
        <p:blipFill>
          <a:blip r:embed="rId8"/>
          <a:stretch>
            <a:fillRect/>
          </a:stretch>
        </p:blipFill>
        <p:spPr>
          <a:xfrm>
            <a:off x="2240280" y="4709160"/>
            <a:ext cx="502920" cy="502920"/>
          </a:xfrm>
          <a:prstGeom prst="rect">
            <a:avLst/>
          </a:prstGeom>
        </p:spPr>
      </p:pic>
      <p:sp>
        <p:nvSpPr>
          <p:cNvPr id="23" name="Shape 12"/>
          <p:cNvSpPr/>
          <p:nvPr/>
        </p:nvSpPr>
        <p:spPr>
          <a:xfrm>
            <a:off x="1216152" y="3959352"/>
            <a:ext cx="347472" cy="347472"/>
          </a:xfrm>
          <a:prstGeom prst="ellipse">
            <a:avLst/>
          </a:prstGeom>
          <a:solidFill>
            <a:srgbClr val="17375E"/>
          </a:solidFill>
          <a:ln w="12700">
            <a:solidFill>
              <a:srgbClr val="FFFFFF">
                <a:alpha val="0"/>
              </a:srgbClr>
            </a:solidFill>
            <a:prstDash val="solid"/>
          </a:ln>
        </p:spPr>
      </p:sp>
      <p:sp>
        <p:nvSpPr>
          <p:cNvPr id="24" name="Text 13"/>
          <p:cNvSpPr txBox="1"/>
          <p:nvPr/>
        </p:nvSpPr>
        <p:spPr>
          <a:xfrm>
            <a:off x="1216152" y="39593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pic>
        <p:nvPicPr>
          <p:cNvPr id="25" name="Image 8" descr="woman cook">    </p:cNvPr>
          <p:cNvPicPr>
            <a:picLocks noChangeAspect="1"/>
          </p:cNvPicPr>
          <p:nvPr/>
        </p:nvPicPr>
        <p:blipFill>
          <a:blip r:embed="rId9"/>
          <a:stretch>
            <a:fillRect/>
          </a:stretch>
        </p:blipFill>
        <p:spPr>
          <a:xfrm>
            <a:off x="3063240" y="4114800"/>
            <a:ext cx="1051560" cy="1051560"/>
          </a:xfrm>
          <a:prstGeom prst="rect">
            <a:avLst/>
          </a:prstGeom>
        </p:spPr>
      </p:pic>
      <p:pic>
        <p:nvPicPr>
          <p:cNvPr id="26" name="Image 9" descr="bicycle">    </p:cNvPr>
          <p:cNvPicPr>
            <a:picLocks noChangeAspect="1"/>
          </p:cNvPicPr>
          <p:nvPr/>
        </p:nvPicPr>
        <p:blipFill>
          <a:blip r:embed="rId10"/>
          <a:stretch>
            <a:fillRect/>
          </a:stretch>
        </p:blipFill>
        <p:spPr>
          <a:xfrm>
            <a:off x="4023360" y="4709160"/>
            <a:ext cx="502920" cy="502920"/>
          </a:xfrm>
          <a:prstGeom prst="rect">
            <a:avLst/>
          </a:prstGeom>
        </p:spPr>
      </p:pic>
      <p:sp>
        <p:nvSpPr>
          <p:cNvPr id="27" name="Shape 14"/>
          <p:cNvSpPr/>
          <p:nvPr/>
        </p:nvSpPr>
        <p:spPr>
          <a:xfrm>
            <a:off x="2999232" y="3959352"/>
            <a:ext cx="347472" cy="347472"/>
          </a:xfrm>
          <a:prstGeom prst="ellipse">
            <a:avLst/>
          </a:prstGeom>
          <a:solidFill>
            <a:srgbClr val="17375E"/>
          </a:solidFill>
          <a:ln w="12700">
            <a:solidFill>
              <a:srgbClr val="FFFFFF">
                <a:alpha val="0"/>
              </a:srgbClr>
            </a:solidFill>
            <a:prstDash val="solid"/>
          </a:ln>
        </p:spPr>
      </p:sp>
      <p:sp>
        <p:nvSpPr>
          <p:cNvPr id="28" name="Text 15"/>
          <p:cNvSpPr txBox="1"/>
          <p:nvPr/>
        </p:nvSpPr>
        <p:spPr>
          <a:xfrm>
            <a:off x="2999232" y="39593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pic>
        <p:nvPicPr>
          <p:cNvPr id="29" name="Image 10" descr="man mechanic">    </p:cNvPr>
          <p:cNvPicPr>
            <a:picLocks noChangeAspect="1"/>
          </p:cNvPicPr>
          <p:nvPr/>
        </p:nvPicPr>
        <p:blipFill>
          <a:blip r:embed="rId11"/>
          <a:stretch>
            <a:fillRect/>
          </a:stretch>
        </p:blipFill>
        <p:spPr>
          <a:xfrm>
            <a:off x="4846320" y="4114800"/>
            <a:ext cx="1051560" cy="1051560"/>
          </a:xfrm>
          <a:prstGeom prst="rect">
            <a:avLst/>
          </a:prstGeom>
        </p:spPr>
      </p:pic>
      <p:pic>
        <p:nvPicPr>
          <p:cNvPr id="30" name="Image 11" descr="file folder">    </p:cNvPr>
          <p:cNvPicPr>
            <a:picLocks noChangeAspect="1"/>
          </p:cNvPicPr>
          <p:nvPr/>
        </p:nvPicPr>
        <p:blipFill>
          <a:blip r:embed="rId12"/>
          <a:stretch>
            <a:fillRect/>
          </a:stretch>
        </p:blipFill>
        <p:spPr>
          <a:xfrm>
            <a:off x="5806440" y="4709160"/>
            <a:ext cx="502920" cy="502920"/>
          </a:xfrm>
          <a:prstGeom prst="rect">
            <a:avLst/>
          </a:prstGeom>
        </p:spPr>
      </p:pic>
      <p:sp>
        <p:nvSpPr>
          <p:cNvPr id="31" name="Shape 16"/>
          <p:cNvSpPr/>
          <p:nvPr/>
        </p:nvSpPr>
        <p:spPr>
          <a:xfrm>
            <a:off x="4782312" y="3959352"/>
            <a:ext cx="347472" cy="347472"/>
          </a:xfrm>
          <a:prstGeom prst="ellipse">
            <a:avLst/>
          </a:prstGeom>
          <a:solidFill>
            <a:srgbClr val="17375E"/>
          </a:solidFill>
          <a:ln w="12700">
            <a:solidFill>
              <a:srgbClr val="FFFFFF">
                <a:alpha val="0"/>
              </a:srgbClr>
            </a:solidFill>
            <a:prstDash val="solid"/>
          </a:ln>
        </p:spPr>
      </p:sp>
      <p:sp>
        <p:nvSpPr>
          <p:cNvPr id="32" name="Text 17"/>
          <p:cNvSpPr txBox="1"/>
          <p:nvPr/>
        </p:nvSpPr>
        <p:spPr>
          <a:xfrm>
            <a:off x="4782312" y="39593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Shape 18"/>
          <p:cNvSpPr/>
          <p:nvPr/>
        </p:nvSpPr>
        <p:spPr>
          <a:xfrm>
            <a:off x="7040880" y="1828800"/>
            <a:ext cx="4325112" cy="1024128"/>
          </a:xfrm>
          <a:prstGeom prst="roundRect">
            <a:avLst>
              <a:gd name="adj" fmla="val 8929"/>
            </a:avLst>
          </a:prstGeom>
          <a:solidFill>
            <a:srgbClr val="F1ECF7"/>
          </a:solidFill>
          <a:ln w="12700">
            <a:solidFill>
              <a:srgbClr val="FFFFFF">
                <a:alpha val="0"/>
              </a:srgbClr>
            </a:solidFill>
            <a:prstDash val="solid"/>
          </a:ln>
        </p:spPr>
      </p:sp>
      <p:sp>
        <p:nvSpPr>
          <p:cNvPr id="34" name="Shape 19"/>
          <p:cNvSpPr/>
          <p:nvPr/>
        </p:nvSpPr>
        <p:spPr>
          <a:xfrm>
            <a:off x="7196328" y="2084832"/>
            <a:ext cx="512064" cy="512064"/>
          </a:xfrm>
          <a:prstGeom prst="ellipse">
            <a:avLst/>
          </a:prstGeom>
          <a:solidFill>
            <a:srgbClr val="6E4A9E"/>
          </a:solidFill>
          <a:ln w="12700">
            <a:solidFill>
              <a:srgbClr val="FFFFFF">
                <a:alpha val="0"/>
              </a:srgbClr>
            </a:solidFill>
            <a:prstDash val="solid"/>
          </a:ln>
        </p:spPr>
      </p:sp>
      <p:sp>
        <p:nvSpPr>
          <p:cNvPr id="35" name="Text 20"/>
          <p:cNvSpPr txBox="1"/>
          <p:nvPr/>
        </p:nvSpPr>
        <p:spPr>
          <a:xfrm>
            <a:off x="7196328" y="2084832"/>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a:t>
            </a:r>
            <a:endParaRPr lang="en-US" sz="1700" dirty="0"/>
          </a:p>
        </p:txBody>
      </p:sp>
      <p:sp>
        <p:nvSpPr>
          <p:cNvPr id="36" name="Text 21"/>
          <p:cNvSpPr txBox="1"/>
          <p:nvPr/>
        </p:nvSpPr>
        <p:spPr>
          <a:xfrm>
            <a:off x="7863840" y="1920240"/>
            <a:ext cx="3383280" cy="310896"/>
          </a:xfrm>
          <a:prstGeom prst="rect">
            <a:avLst/>
          </a:prstGeom>
          <a:noFill/>
          <a:ln/>
        </p:spPr>
        <p:txBody>
          <a:bodyPr wrap="square" lIns="0" tIns="0" rIns="0" bIns="0" rtlCol="0" anchor="ctr"/>
          <a:lstStyle/>
          <a:p>
            <a:pPr algn="l" indent="0" marL="0">
              <a:buNone/>
            </a:pPr>
            <a:r>
              <a:rPr lang="en-US" sz="1500" b="1" dirty="0">
                <a:solidFill>
                  <a:srgbClr val="6E4A9E"/>
                </a:solidFill>
                <a:latin typeface="Calibri" pitchFamily="34" charset="0"/>
                <a:ea typeface="Calibri" pitchFamily="34" charset="-122"/>
                <a:cs typeface="Calibri" pitchFamily="34" charset="-120"/>
              </a:rPr>
              <a:t>Je décris</a:t>
            </a:r>
            <a:endParaRPr lang="en-US" sz="1500" dirty="0"/>
          </a:p>
        </p:txBody>
      </p:sp>
      <p:sp>
        <p:nvSpPr>
          <p:cNvPr id="37" name="Text 22"/>
          <p:cNvSpPr txBox="1"/>
          <p:nvPr/>
        </p:nvSpPr>
        <p:spPr>
          <a:xfrm>
            <a:off x="7863840" y="2231136"/>
            <a:ext cx="3429000" cy="585216"/>
          </a:xfrm>
          <a:prstGeom prst="rect">
            <a:avLst/>
          </a:prstGeom>
          <a:noFill/>
          <a:ln/>
        </p:spPr>
        <p:txBody>
          <a:bodyPr wrap="square" lIns="0" tIns="0" rIns="0" bIns="0" rtlCol="0" anchor="t"/>
          <a:lstStyle/>
          <a:p>
            <a:pPr algn="l" indent="0" marL="0">
              <a:buNone/>
            </a:pPr>
            <a:r>
              <a:rPr lang="en-US" sz="1400" i="1" dirty="0">
                <a:solidFill>
                  <a:srgbClr val="1B2333"/>
                </a:solidFill>
                <a:latin typeface="Calibri" pitchFamily="34" charset="0"/>
                <a:ea typeface="Calibri" pitchFamily="34" charset="-122"/>
                <a:cs typeface="Calibri" pitchFamily="34" charset="-120"/>
              </a:rPr>
              <a:t>Ik zoek de collega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 </a:t>
            </a:r>
            <a:r>
              <a:rPr lang="en-US" sz="1400" b="1" i="1" dirty="0">
                <a:solidFill>
                  <a:srgbClr val="B4236A"/>
                </a:solidFill>
                <a:latin typeface="Calibri" pitchFamily="34" charset="0"/>
                <a:ea typeface="Calibri" pitchFamily="34" charset="-122"/>
                <a:cs typeface="Calibri" pitchFamily="34" charset="-120"/>
              </a:rPr>
              <a:t>met wie</a:t>
            </a:r>
            <a:r>
              <a:rPr lang="en-US" sz="1400" i="1" dirty="0">
                <a:solidFill>
                  <a:srgbClr val="1B2333"/>
                </a:solidFill>
                <a:latin typeface="Calibri" pitchFamily="34" charset="0"/>
                <a:ea typeface="Calibri" pitchFamily="34" charset="-122"/>
                <a:cs typeface="Calibri" pitchFamily="34" charset="-120"/>
              </a:rPr>
              <a:t>… · </a:t>
            </a:r>
            <a:r>
              <a:rPr lang="en-US" sz="1400" b="1" i="1" dirty="0">
                <a:solidFill>
                  <a:srgbClr val="B4236A"/>
                </a:solidFill>
                <a:latin typeface="Calibri" pitchFamily="34" charset="0"/>
                <a:ea typeface="Calibri" pitchFamily="34" charset="-122"/>
                <a:cs typeface="Calibri" pitchFamily="34" charset="-120"/>
              </a:rPr>
              <a:t>naast wie</a:t>
            </a:r>
            <a:r>
              <a:rPr lang="en-US" sz="1400" i="1" dirty="0">
                <a:solidFill>
                  <a:srgbClr val="1B2333"/>
                </a:solidFill>
                <a:latin typeface="Calibri" pitchFamily="34" charset="0"/>
                <a:ea typeface="Calibri" pitchFamily="34" charset="-122"/>
                <a:cs typeface="Calibri" pitchFamily="34" charset="-120"/>
              </a:rPr>
              <a:t>…</a:t>
            </a:r>
            <a:endParaRPr lang="en-US" sz="1400" dirty="0"/>
          </a:p>
        </p:txBody>
      </p:sp>
      <p:sp>
        <p:nvSpPr>
          <p:cNvPr id="38" name="Shape 23"/>
          <p:cNvSpPr/>
          <p:nvPr/>
        </p:nvSpPr>
        <p:spPr>
          <a:xfrm>
            <a:off x="7040880" y="3017520"/>
            <a:ext cx="4325112" cy="1024128"/>
          </a:xfrm>
          <a:prstGeom prst="roundRect">
            <a:avLst>
              <a:gd name="adj" fmla="val 8929"/>
            </a:avLst>
          </a:prstGeom>
          <a:solidFill>
            <a:srgbClr val="EAF2FB"/>
          </a:solidFill>
          <a:ln w="12700">
            <a:solidFill>
              <a:srgbClr val="FFFFFF">
                <a:alpha val="0"/>
              </a:srgbClr>
            </a:solidFill>
            <a:prstDash val="solid"/>
          </a:ln>
        </p:spPr>
      </p:sp>
      <p:sp>
        <p:nvSpPr>
          <p:cNvPr id="39" name="Shape 24"/>
          <p:cNvSpPr/>
          <p:nvPr/>
        </p:nvSpPr>
        <p:spPr>
          <a:xfrm>
            <a:off x="7196328" y="3273552"/>
            <a:ext cx="512064" cy="512064"/>
          </a:xfrm>
          <a:prstGeom prst="ellipse">
            <a:avLst/>
          </a:prstGeom>
          <a:solidFill>
            <a:srgbClr val="2A6FB0"/>
          </a:solidFill>
          <a:ln w="12700">
            <a:solidFill>
              <a:srgbClr val="FFFFFF">
                <a:alpha val="0"/>
              </a:srgbClr>
            </a:solidFill>
            <a:prstDash val="solid"/>
          </a:ln>
        </p:spPr>
      </p:sp>
      <p:sp>
        <p:nvSpPr>
          <p:cNvPr id="40" name="Text 25"/>
          <p:cNvSpPr txBox="1"/>
          <p:nvPr/>
        </p:nvSpPr>
        <p:spPr>
          <a:xfrm>
            <a:off x="7196328" y="3273552"/>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a:t>
            </a:r>
            <a:endParaRPr lang="en-US" sz="1700" dirty="0"/>
          </a:p>
        </p:txBody>
      </p:sp>
      <p:sp>
        <p:nvSpPr>
          <p:cNvPr id="41" name="Text 26"/>
          <p:cNvSpPr txBox="1"/>
          <p:nvPr/>
        </p:nvSpPr>
        <p:spPr>
          <a:xfrm>
            <a:off x="7863840" y="3108960"/>
            <a:ext cx="3383280" cy="310896"/>
          </a:xfrm>
          <a:prstGeom prst="rect">
            <a:avLst/>
          </a:prstGeom>
          <a:noFill/>
          <a:ln/>
        </p:spPr>
        <p:txBody>
          <a:bodyPr wrap="square" lIns="0" tIns="0" rIns="0" bIns="0" rtlCol="0" anchor="ctr"/>
          <a:lstStyle/>
          <a:p>
            <a:pPr algn="l" indent="0" marL="0">
              <a:buNone/>
            </a:pPr>
            <a:r>
              <a:rPr lang="en-US" sz="1500" b="1" dirty="0">
                <a:solidFill>
                  <a:srgbClr val="2A6FB0"/>
                </a:solidFill>
                <a:latin typeface="Calibri" pitchFamily="34" charset="0"/>
                <a:ea typeface="Calibri" pitchFamily="34" charset="-122"/>
                <a:cs typeface="Calibri" pitchFamily="34" charset="-120"/>
              </a:rPr>
              <a:t>Je devine</a:t>
            </a:r>
            <a:endParaRPr lang="en-US" sz="1500" dirty="0"/>
          </a:p>
        </p:txBody>
      </p:sp>
      <p:sp>
        <p:nvSpPr>
          <p:cNvPr id="42" name="Text 27"/>
          <p:cNvSpPr txBox="1"/>
          <p:nvPr/>
        </p:nvSpPr>
        <p:spPr>
          <a:xfrm>
            <a:off x="7863840" y="3419856"/>
            <a:ext cx="3429000" cy="585216"/>
          </a:xfrm>
          <a:prstGeom prst="rect">
            <a:avLst/>
          </a:prstGeom>
          <a:noFill/>
          <a:ln/>
        </p:spPr>
        <p:txBody>
          <a:bodyPr wrap="square" lIns="0" tIns="0" rIns="0" bIns="0" rtlCol="0" anchor="t"/>
          <a:lstStyle/>
          <a:p>
            <a:pPr algn="l" indent="0" marL="0">
              <a:buNone/>
            </a:pPr>
            <a:r>
              <a:rPr lang="en-US" sz="1400" i="1" dirty="0">
                <a:solidFill>
                  <a:srgbClr val="1B2333"/>
                </a:solidFill>
                <a:latin typeface="Calibri" pitchFamily="34" charset="0"/>
                <a:ea typeface="Calibri" pitchFamily="34" charset="-122"/>
                <a:cs typeface="Calibri" pitchFamily="34" charset="-120"/>
              </a:rPr>
              <a:t>Is het de collega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een koffie drinkt?</a:t>
            </a:r>
            <a:r>
              <a:rPr lang="en-US" sz="1400" dirty="0">
                <a:solidFill>
                  <a:srgbClr val="1B2333"/>
                </a:solidFill>
                <a:latin typeface="Calibri" pitchFamily="34" charset="0"/>
                <a:ea typeface="Calibri" pitchFamily="34" charset="-122"/>
                <a:cs typeface="Calibri" pitchFamily="34" charset="-120"/>
              </a:rPr>
              <a:t> Puis on échange.</a:t>
            </a:r>
            <a:endParaRPr lang="en-US" sz="1400" dirty="0"/>
          </a:p>
        </p:txBody>
      </p:sp>
      <p:sp>
        <p:nvSpPr>
          <p:cNvPr id="43" name="Text 28"/>
          <p:cNvSpPr txBox="1"/>
          <p:nvPr/>
        </p:nvSpPr>
        <p:spPr>
          <a:xfrm>
            <a:off x="7040880" y="4315968"/>
            <a:ext cx="4325112" cy="274320"/>
          </a:xfrm>
          <a:prstGeom prst="rect">
            <a:avLst/>
          </a:prstGeom>
          <a:noFill/>
          <a:ln/>
        </p:spPr>
        <p:txBody>
          <a:bodyPr wrap="square" lIns="0" tIns="0" rIns="0" bIns="0" rtlCol="0" anchor="ctr"/>
          <a:lstStyle/>
          <a:p>
            <a:pPr algn="l" indent="0" marL="0">
              <a:buNone/>
            </a:pPr>
            <a:r>
              <a:rPr lang="en-US" sz="1100" b="1" spc="200" kern="0" dirty="0">
                <a:solidFill>
                  <a:srgbClr val="17375E"/>
                </a:solidFill>
                <a:latin typeface="Calibri" pitchFamily="34" charset="0"/>
                <a:ea typeface="Calibri" pitchFamily="34" charset="-122"/>
                <a:cs typeface="Calibri" pitchFamily="34" charset="-120"/>
              </a:rPr>
              <a:t>BANQUE DE RELATIVES</a:t>
            </a:r>
            <a:endParaRPr lang="en-US" sz="1100" dirty="0"/>
          </a:p>
        </p:txBody>
      </p:sp>
      <p:sp>
        <p:nvSpPr>
          <p:cNvPr id="44" name="Text 29"/>
          <p:cNvSpPr txBox="1"/>
          <p:nvPr/>
        </p:nvSpPr>
        <p:spPr>
          <a:xfrm>
            <a:off x="7040880" y="4617720"/>
            <a:ext cx="4325112" cy="1371600"/>
          </a:xfrm>
          <a:prstGeom prst="rect">
            <a:avLst/>
          </a:prstGeom>
          <a:noFill/>
          <a:ln/>
        </p:spPr>
        <p:txBody>
          <a:bodyPr wrap="square" lIns="0" tIns="0" rIns="0" bIns="0" rtlCol="0" anchor="t"/>
          <a:lstStyle/>
          <a:p>
            <a:pPr algn="l" indent="0" marL="0">
              <a:buNone/>
            </a:pPr>
            <a:r>
              <a:rPr lang="en-US" sz="1400"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een koffie drinkt · </a:t>
            </a:r>
            <a:r>
              <a:rPr lang="en-US" sz="1400"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aan de telefoon is · </a:t>
            </a:r>
            <a:r>
              <a:rPr lang="en-US" sz="1400"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met de fiets komt · </a:t>
            </a:r>
            <a:r>
              <a:rPr lang="en-US" sz="1400"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naast de plant staat · </a:t>
            </a:r>
            <a:r>
              <a:rPr lang="en-US" sz="1400" i="1" dirty="0">
                <a:solidFill>
                  <a:srgbClr val="B4236A"/>
                </a:solidFill>
                <a:latin typeface="Calibri" pitchFamily="34" charset="0"/>
                <a:ea typeface="Calibri" pitchFamily="34" charset="-122"/>
                <a:cs typeface="Calibri" pitchFamily="34" charset="-120"/>
              </a:rPr>
              <a:t>met wie</a:t>
            </a:r>
            <a:r>
              <a:rPr lang="en-US" sz="1400" i="1" dirty="0">
                <a:solidFill>
                  <a:srgbClr val="1B2333"/>
                </a:solidFill>
                <a:latin typeface="Calibri" pitchFamily="34" charset="0"/>
                <a:ea typeface="Calibri" pitchFamily="34" charset="-122"/>
                <a:cs typeface="Calibri" pitchFamily="34" charset="-120"/>
              </a:rPr>
              <a:t> ik lunch · </a:t>
            </a:r>
            <a:r>
              <a:rPr lang="en-US" sz="1400" i="1" dirty="0">
                <a:solidFill>
                  <a:srgbClr val="B4236A"/>
                </a:solidFill>
                <a:latin typeface="Calibri" pitchFamily="34" charset="0"/>
                <a:ea typeface="Calibri" pitchFamily="34" charset="-122"/>
                <a:cs typeface="Calibri" pitchFamily="34" charset="-120"/>
              </a:rPr>
              <a:t>naast wie</a:t>
            </a:r>
            <a:r>
              <a:rPr lang="en-US" sz="1400" i="1" dirty="0">
                <a:solidFill>
                  <a:srgbClr val="1B2333"/>
                </a:solidFill>
                <a:latin typeface="Calibri" pitchFamily="34" charset="0"/>
                <a:ea typeface="Calibri" pitchFamily="34" charset="-122"/>
                <a:cs typeface="Calibri" pitchFamily="34" charset="-120"/>
              </a:rPr>
              <a:t> ik zit · </a:t>
            </a:r>
            <a:r>
              <a:rPr lang="en-US" sz="1400" i="1" dirty="0">
                <a:solidFill>
                  <a:srgbClr val="6E4A9E"/>
                </a:solidFill>
                <a:latin typeface="Calibri" pitchFamily="34" charset="0"/>
                <a:ea typeface="Calibri" pitchFamily="34" charset="-122"/>
                <a:cs typeface="Calibri" pitchFamily="34" charset="-120"/>
              </a:rPr>
              <a:t>waarmee</a:t>
            </a:r>
            <a:r>
              <a:rPr lang="en-US" sz="1400" i="1" dirty="0">
                <a:solidFill>
                  <a:srgbClr val="1B2333"/>
                </a:solidFill>
                <a:latin typeface="Calibri" pitchFamily="34" charset="0"/>
                <a:ea typeface="Calibri" pitchFamily="34" charset="-122"/>
                <a:cs typeface="Calibri" pitchFamily="34" charset="-120"/>
              </a:rPr>
              <a:t> hij werkt · </a:t>
            </a:r>
            <a:r>
              <a:rPr lang="en-US" sz="1400" i="1" dirty="0">
                <a:solidFill>
                  <a:srgbClr val="2E7D4F"/>
                </a:solidFill>
                <a:latin typeface="Calibri" pitchFamily="34" charset="0"/>
                <a:ea typeface="Calibri" pitchFamily="34" charset="-122"/>
                <a:cs typeface="Calibri" pitchFamily="34" charset="-120"/>
              </a:rPr>
              <a:t>wat</a:t>
            </a:r>
            <a:r>
              <a:rPr lang="en-US" sz="1400" i="1" dirty="0">
                <a:solidFill>
                  <a:srgbClr val="1B2333"/>
                </a:solidFill>
                <a:latin typeface="Calibri" pitchFamily="34" charset="0"/>
                <a:ea typeface="Calibri" pitchFamily="34" charset="-122"/>
                <a:cs typeface="Calibri" pitchFamily="34" charset="-120"/>
              </a:rPr>
              <a:t> ik grappig vind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Ticket de sortie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TICKET DE SORTIE</a:t>
            </a:r>
            <a:endParaRPr lang="en-US" sz="1100" dirty="0"/>
          </a:p>
        </p:txBody>
      </p:sp>
      <p:sp>
        <p:nvSpPr>
          <p:cNvPr id="5" name="Shape 2"/>
          <p:cNvSpPr/>
          <p:nvPr/>
        </p:nvSpPr>
        <p:spPr>
          <a:xfrm>
            <a:off x="978408" y="1728216"/>
            <a:ext cx="512064" cy="512064"/>
          </a:xfrm>
          <a:prstGeom prst="ellipse">
            <a:avLst/>
          </a:prstGeom>
          <a:solidFill>
            <a:srgbClr val="D9700F"/>
          </a:solidFill>
          <a:ln w="12700">
            <a:solidFill>
              <a:srgbClr val="FFFFFF">
                <a:alpha val="0"/>
              </a:srgbClr>
            </a:solidFill>
            <a:prstDash val="solid"/>
          </a:ln>
        </p:spPr>
      </p:sp>
      <p:sp>
        <p:nvSpPr>
          <p:cNvPr id="6" name="Text 3"/>
          <p:cNvSpPr txBox="1"/>
          <p:nvPr/>
        </p:nvSpPr>
        <p:spPr>
          <a:xfrm>
            <a:off x="978408" y="1728216"/>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4"/>
          <p:cNvSpPr txBox="1"/>
          <p:nvPr/>
        </p:nvSpPr>
        <p:spPr>
          <a:xfrm>
            <a:off x="1691640" y="1600200"/>
            <a:ext cx="4937760" cy="768096"/>
          </a:xfrm>
          <a:prstGeom prst="rect">
            <a:avLst/>
          </a:prstGeom>
          <a:noFill/>
          <a:ln/>
        </p:spPr>
        <p:txBody>
          <a:bodyPr wrap="square" lIns="0" tIns="0" rIns="0" bIns="0" rtlCol="0" anchor="ctr"/>
          <a:lstStyle/>
          <a:p>
            <a:pPr algn="l" indent="0" marL="0">
              <a:buNone/>
            </a:pPr>
            <a:r>
              <a:rPr lang="en-US" sz="1800" dirty="0">
                <a:solidFill>
                  <a:srgbClr val="1B2333"/>
                </a:solidFill>
                <a:latin typeface="Calibri" pitchFamily="34" charset="0"/>
                <a:ea typeface="Calibri" pitchFamily="34" charset="-122"/>
                <a:cs typeface="Calibri" pitchFamily="34" charset="-120"/>
              </a:rPr>
              <a:t>Complétez : </a:t>
            </a:r>
            <a:r>
              <a:rPr lang="en-US" sz="1800" i="1" dirty="0">
                <a:solidFill>
                  <a:srgbClr val="1B2333"/>
                </a:solidFill>
                <a:latin typeface="Calibri" pitchFamily="34" charset="0"/>
                <a:ea typeface="Calibri" pitchFamily="34" charset="-122"/>
                <a:cs typeface="Calibri" pitchFamily="34" charset="-120"/>
              </a:rPr>
              <a:t>het meisje … aan de balie werkt</a:t>
            </a:r>
            <a:endParaRPr lang="en-US" sz="1800" dirty="0"/>
          </a:p>
        </p:txBody>
      </p:sp>
      <p:sp>
        <p:nvSpPr>
          <p:cNvPr id="8" name="Shape 5"/>
          <p:cNvSpPr/>
          <p:nvPr/>
        </p:nvSpPr>
        <p:spPr>
          <a:xfrm>
            <a:off x="978408" y="2734056"/>
            <a:ext cx="512064" cy="512064"/>
          </a:xfrm>
          <a:prstGeom prst="ellipse">
            <a:avLst/>
          </a:prstGeom>
          <a:solidFill>
            <a:srgbClr val="D9700F"/>
          </a:solidFill>
          <a:ln w="12700">
            <a:solidFill>
              <a:srgbClr val="FFFFFF">
                <a:alpha val="0"/>
              </a:srgbClr>
            </a:solidFill>
            <a:prstDash val="solid"/>
          </a:ln>
        </p:spPr>
      </p:sp>
      <p:sp>
        <p:nvSpPr>
          <p:cNvPr id="9" name="Text 6"/>
          <p:cNvSpPr txBox="1"/>
          <p:nvPr/>
        </p:nvSpPr>
        <p:spPr>
          <a:xfrm>
            <a:off x="978408" y="2734056"/>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0" name="Text 7"/>
          <p:cNvSpPr txBox="1"/>
          <p:nvPr/>
        </p:nvSpPr>
        <p:spPr>
          <a:xfrm>
            <a:off x="1691640" y="2606040"/>
            <a:ext cx="4937760" cy="768096"/>
          </a:xfrm>
          <a:prstGeom prst="rect">
            <a:avLst/>
          </a:prstGeom>
          <a:noFill/>
          <a:ln/>
        </p:spPr>
        <p:txBody>
          <a:bodyPr wrap="square" lIns="0" tIns="0" rIns="0" bIns="0" rtlCol="0" anchor="ctr"/>
          <a:lstStyle/>
          <a:p>
            <a:pPr algn="l" indent="0" marL="0">
              <a:buNone/>
            </a:pPr>
            <a:r>
              <a:rPr lang="en-US" sz="1800" dirty="0">
                <a:solidFill>
                  <a:srgbClr val="1B2333"/>
                </a:solidFill>
                <a:latin typeface="Calibri" pitchFamily="34" charset="0"/>
                <a:ea typeface="Calibri" pitchFamily="34" charset="-122"/>
                <a:cs typeface="Calibri" pitchFamily="34" charset="-120"/>
              </a:rPr>
              <a:t>Traduisez : </a:t>
            </a:r>
            <a:r>
              <a:rPr lang="en-US" sz="1800" i="1" dirty="0">
                <a:solidFill>
                  <a:srgbClr val="1B2333"/>
                </a:solidFill>
                <a:latin typeface="Calibri" pitchFamily="34" charset="0"/>
                <a:ea typeface="Calibri" pitchFamily="34" charset="-122"/>
                <a:cs typeface="Calibri" pitchFamily="34" charset="-120"/>
              </a:rPr>
              <a:t>la collègue avec qui je travaille</a:t>
            </a:r>
            <a:endParaRPr lang="en-US" sz="1800" dirty="0"/>
          </a:p>
        </p:txBody>
      </p:sp>
      <p:sp>
        <p:nvSpPr>
          <p:cNvPr id="11" name="Shape 8"/>
          <p:cNvSpPr/>
          <p:nvPr/>
        </p:nvSpPr>
        <p:spPr>
          <a:xfrm>
            <a:off x="978408" y="3739896"/>
            <a:ext cx="512064" cy="512064"/>
          </a:xfrm>
          <a:prstGeom prst="ellipse">
            <a:avLst/>
          </a:prstGeom>
          <a:solidFill>
            <a:srgbClr val="D9700F"/>
          </a:solidFill>
          <a:ln w="12700">
            <a:solidFill>
              <a:srgbClr val="FFFFFF">
                <a:alpha val="0"/>
              </a:srgbClr>
            </a:solidFill>
            <a:prstDash val="solid"/>
          </a:ln>
        </p:spPr>
      </p:sp>
      <p:sp>
        <p:nvSpPr>
          <p:cNvPr id="12" name="Text 9"/>
          <p:cNvSpPr txBox="1"/>
          <p:nvPr/>
        </p:nvSpPr>
        <p:spPr>
          <a:xfrm>
            <a:off x="978408" y="3739896"/>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3" name="Text 10"/>
          <p:cNvSpPr txBox="1"/>
          <p:nvPr/>
        </p:nvSpPr>
        <p:spPr>
          <a:xfrm>
            <a:off x="1691640" y="3611880"/>
            <a:ext cx="4937760" cy="768096"/>
          </a:xfrm>
          <a:prstGeom prst="rect">
            <a:avLst/>
          </a:prstGeom>
          <a:noFill/>
          <a:ln/>
        </p:spPr>
        <p:txBody>
          <a:bodyPr wrap="square" lIns="0" tIns="0" rIns="0" bIns="0" rtlCol="0" anchor="ctr"/>
          <a:lstStyle/>
          <a:p>
            <a:pPr algn="l" indent="0" marL="0">
              <a:buNone/>
            </a:pPr>
            <a:r>
              <a:rPr lang="en-US" sz="1800" dirty="0">
                <a:solidFill>
                  <a:srgbClr val="1B2333"/>
                </a:solidFill>
                <a:latin typeface="Calibri" pitchFamily="34" charset="0"/>
                <a:ea typeface="Calibri" pitchFamily="34" charset="-122"/>
                <a:cs typeface="Calibri" pitchFamily="34" charset="-120"/>
              </a:rPr>
              <a:t>Traduisez : </a:t>
            </a:r>
            <a:r>
              <a:rPr lang="en-US" sz="1800" i="1" dirty="0">
                <a:solidFill>
                  <a:srgbClr val="1B2333"/>
                </a:solidFill>
                <a:latin typeface="Calibri" pitchFamily="34" charset="0"/>
                <a:ea typeface="Calibri" pitchFamily="34" charset="-122"/>
                <a:cs typeface="Calibri" pitchFamily="34" charset="-120"/>
              </a:rPr>
              <a:t>tout ce que tu dis</a:t>
            </a:r>
            <a:endParaRPr lang="en-US" sz="18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949440" y="1600200"/>
          <a:ext cx="4416552" cy="914400"/>
        </p:xfrm>
        <a:graphic>
          <a:graphicData uri="http://schemas.openxmlformats.org/drawingml/2006/table">
            <a:tbl>
              <a:tblPr/>
              <a:tblGrid>
                <a:gridCol w="1920240"/>
                <a:gridCol w="832104"/>
                <a:gridCol w="832104"/>
                <a:gridCol w="832104"/>
              </a:tblGrid>
              <a:tr h="411480">
                <a:tc gridSpan="4">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JE SAIS…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c hMerge="1">
                  <a:tcPr/>
                </a:tc>
                <a:tc hMerge="1">
                  <a:tcPr/>
                </a:tc>
              </a:tr>
              <a:tr h="713232">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choisir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13232">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construire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13232">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traduire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pic>
        <p:nvPicPr>
          <p:cNvPr id="15" name="Image 0" descr="RegFrown">    </p:cNvPr>
          <p:cNvPicPr>
            <a:picLocks noChangeAspect="1"/>
          </p:cNvPicPr>
          <p:nvPr/>
        </p:nvPicPr>
        <p:blipFill>
          <a:blip r:embed="rId1"/>
          <a:stretch>
            <a:fillRect/>
          </a:stretch>
        </p:blipFill>
        <p:spPr>
          <a:xfrm>
            <a:off x="9089136" y="2176272"/>
            <a:ext cx="384048" cy="384048"/>
          </a:xfrm>
          <a:prstGeom prst="rect">
            <a:avLst/>
          </a:prstGeom>
        </p:spPr>
      </p:pic>
      <p:pic>
        <p:nvPicPr>
          <p:cNvPr id="16" name="Image 1" descr="RegMeh">    </p:cNvPr>
          <p:cNvPicPr>
            <a:picLocks noChangeAspect="1"/>
          </p:cNvPicPr>
          <p:nvPr/>
        </p:nvPicPr>
        <p:blipFill>
          <a:blip r:embed="rId2"/>
          <a:stretch>
            <a:fillRect/>
          </a:stretch>
        </p:blipFill>
        <p:spPr>
          <a:xfrm>
            <a:off x="9921240" y="2176272"/>
            <a:ext cx="384048" cy="384048"/>
          </a:xfrm>
          <a:prstGeom prst="rect">
            <a:avLst/>
          </a:prstGeom>
        </p:spPr>
      </p:pic>
      <p:pic>
        <p:nvPicPr>
          <p:cNvPr id="17" name="Image 2" descr="RegSmile">    </p:cNvPr>
          <p:cNvPicPr>
            <a:picLocks noChangeAspect="1"/>
          </p:cNvPicPr>
          <p:nvPr/>
        </p:nvPicPr>
        <p:blipFill>
          <a:blip r:embed="rId3"/>
          <a:stretch>
            <a:fillRect/>
          </a:stretch>
        </p:blipFill>
        <p:spPr>
          <a:xfrm>
            <a:off x="10753344" y="2176272"/>
            <a:ext cx="384048" cy="384048"/>
          </a:xfrm>
          <a:prstGeom prst="rect">
            <a:avLst/>
          </a:prstGeom>
        </p:spPr>
      </p:pic>
      <p:pic>
        <p:nvPicPr>
          <p:cNvPr id="18" name="Image 3" descr="RegFrown">    </p:cNvPr>
          <p:cNvPicPr>
            <a:picLocks noChangeAspect="1"/>
          </p:cNvPicPr>
          <p:nvPr/>
        </p:nvPicPr>
        <p:blipFill>
          <a:blip r:embed="rId4"/>
          <a:stretch>
            <a:fillRect/>
          </a:stretch>
        </p:blipFill>
        <p:spPr>
          <a:xfrm>
            <a:off x="9089136" y="2889504"/>
            <a:ext cx="384048" cy="384048"/>
          </a:xfrm>
          <a:prstGeom prst="rect">
            <a:avLst/>
          </a:prstGeom>
        </p:spPr>
      </p:pic>
      <p:pic>
        <p:nvPicPr>
          <p:cNvPr id="19" name="Image 4" descr="RegMeh">    </p:cNvPr>
          <p:cNvPicPr>
            <a:picLocks noChangeAspect="1"/>
          </p:cNvPicPr>
          <p:nvPr/>
        </p:nvPicPr>
        <p:blipFill>
          <a:blip r:embed="rId5"/>
          <a:stretch>
            <a:fillRect/>
          </a:stretch>
        </p:blipFill>
        <p:spPr>
          <a:xfrm>
            <a:off x="9921240" y="2889504"/>
            <a:ext cx="384048" cy="384048"/>
          </a:xfrm>
          <a:prstGeom prst="rect">
            <a:avLst/>
          </a:prstGeom>
        </p:spPr>
      </p:pic>
      <p:pic>
        <p:nvPicPr>
          <p:cNvPr id="20" name="Image 5" descr="RegSmile">    </p:cNvPr>
          <p:cNvPicPr>
            <a:picLocks noChangeAspect="1"/>
          </p:cNvPicPr>
          <p:nvPr/>
        </p:nvPicPr>
        <p:blipFill>
          <a:blip r:embed="rId6"/>
          <a:stretch>
            <a:fillRect/>
          </a:stretch>
        </p:blipFill>
        <p:spPr>
          <a:xfrm>
            <a:off x="10753344" y="2889504"/>
            <a:ext cx="384048" cy="384048"/>
          </a:xfrm>
          <a:prstGeom prst="rect">
            <a:avLst/>
          </a:prstGeom>
        </p:spPr>
      </p:pic>
      <p:pic>
        <p:nvPicPr>
          <p:cNvPr id="21" name="Image 6" descr="RegFrown">    </p:cNvPr>
          <p:cNvPicPr>
            <a:picLocks noChangeAspect="1"/>
          </p:cNvPicPr>
          <p:nvPr/>
        </p:nvPicPr>
        <p:blipFill>
          <a:blip r:embed="rId7"/>
          <a:stretch>
            <a:fillRect/>
          </a:stretch>
        </p:blipFill>
        <p:spPr>
          <a:xfrm>
            <a:off x="9089136" y="3602736"/>
            <a:ext cx="384048" cy="384048"/>
          </a:xfrm>
          <a:prstGeom prst="rect">
            <a:avLst/>
          </a:prstGeom>
        </p:spPr>
      </p:pic>
      <p:pic>
        <p:nvPicPr>
          <p:cNvPr id="22" name="Image 7" descr="RegMeh">    </p:cNvPr>
          <p:cNvPicPr>
            <a:picLocks noChangeAspect="1"/>
          </p:cNvPicPr>
          <p:nvPr/>
        </p:nvPicPr>
        <p:blipFill>
          <a:blip r:embed="rId8"/>
          <a:stretch>
            <a:fillRect/>
          </a:stretch>
        </p:blipFill>
        <p:spPr>
          <a:xfrm>
            <a:off x="9921240" y="3602736"/>
            <a:ext cx="384048" cy="384048"/>
          </a:xfrm>
          <a:prstGeom prst="rect">
            <a:avLst/>
          </a:prstGeom>
        </p:spPr>
      </p:pic>
      <p:pic>
        <p:nvPicPr>
          <p:cNvPr id="23" name="Image 8" descr="RegSmile">    </p:cNvPr>
          <p:cNvPicPr>
            <a:picLocks noChangeAspect="1"/>
          </p:cNvPicPr>
          <p:nvPr/>
        </p:nvPicPr>
        <p:blipFill>
          <a:blip r:embed="rId9"/>
          <a:stretch>
            <a:fillRect/>
          </a:stretch>
        </p:blipFill>
        <p:spPr>
          <a:xfrm>
            <a:off x="10753344" y="3602736"/>
            <a:ext cx="384048" cy="384048"/>
          </a:xfrm>
          <a:prstGeom prst="rect">
            <a:avLst/>
          </a:prstGeom>
        </p:spPr>
      </p:pic>
      <p:sp>
        <p:nvSpPr>
          <p:cNvPr id="24" name="Shape 11"/>
          <p:cNvSpPr/>
          <p:nvPr/>
        </p:nvSpPr>
        <p:spPr>
          <a:xfrm>
            <a:off x="822960" y="4983480"/>
            <a:ext cx="10543032" cy="914400"/>
          </a:xfrm>
          <a:prstGeom prst="roundRect">
            <a:avLst>
              <a:gd name="adj" fmla="val 10000"/>
            </a:avLst>
          </a:prstGeom>
          <a:solidFill>
            <a:srgbClr val="EAF2FB"/>
          </a:solidFill>
          <a:ln w="12700">
            <a:solidFill>
              <a:srgbClr val="FFFFFF">
                <a:alpha val="0"/>
              </a:srgbClr>
            </a:solidFill>
            <a:prstDash val="solid"/>
          </a:ln>
        </p:spPr>
      </p:sp>
      <p:sp>
        <p:nvSpPr>
          <p:cNvPr id="25" name="Shape 12"/>
          <p:cNvSpPr/>
          <p:nvPr/>
        </p:nvSpPr>
        <p:spPr>
          <a:xfrm>
            <a:off x="996696" y="5157216"/>
            <a:ext cx="310896" cy="310896"/>
          </a:xfrm>
          <a:prstGeom prst="ellipse">
            <a:avLst/>
          </a:prstGeom>
          <a:solidFill>
            <a:srgbClr val="2A6FB0"/>
          </a:solidFill>
          <a:ln w="12700">
            <a:solidFill>
              <a:srgbClr val="FFFFFF">
                <a:alpha val="0"/>
              </a:srgbClr>
            </a:solidFill>
            <a:prstDash val="solid"/>
          </a:ln>
        </p:spPr>
      </p:sp>
      <p:sp>
        <p:nvSpPr>
          <p:cNvPr id="26" name="Text 13"/>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7" name="Text 14"/>
          <p:cNvSpPr txBox="1"/>
          <p:nvPr/>
        </p:nvSpPr>
        <p:spPr>
          <a:xfrm>
            <a:off x="1444752" y="5093208"/>
            <a:ext cx="9765792" cy="292608"/>
          </a:xfrm>
          <a:prstGeom prst="rect">
            <a:avLst/>
          </a:prstGeom>
          <a:noFill/>
          <a:ln/>
        </p:spPr>
        <p:txBody>
          <a:bodyPr wrap="square" lIns="0" tIns="0" rIns="0" bIns="0" rtlCol="0" anchor="ctr"/>
          <a:lstStyle/>
          <a:p>
            <a:pPr algn="l" indent="0" marL="0">
              <a:buNone/>
            </a:pPr>
            <a:r>
              <a:rPr lang="en-US" sz="1300" b="1" dirty="0">
                <a:solidFill>
                  <a:srgbClr val="2A6FB0"/>
                </a:solidFill>
                <a:latin typeface="Calibri" pitchFamily="34" charset="0"/>
                <a:ea typeface="Calibri" pitchFamily="34" charset="-122"/>
                <a:cs typeface="Calibri" pitchFamily="34" charset="-120"/>
              </a:rPr>
              <a:t>Défi de la semaine</a:t>
            </a:r>
            <a:endParaRPr lang="en-US" sz="1300" dirty="0"/>
          </a:p>
        </p:txBody>
      </p:sp>
      <p:sp>
        <p:nvSpPr>
          <p:cNvPr id="28" name="Text 15"/>
          <p:cNvSpPr txBox="1"/>
          <p:nvPr/>
        </p:nvSpPr>
        <p:spPr>
          <a:xfrm>
            <a:off x="1444752" y="5385816"/>
            <a:ext cx="9765792"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définissez trois mots de votre métier avec une relative : </a:t>
            </a:r>
            <a:r>
              <a:rPr lang="en-US" sz="1400" i="1" dirty="0">
                <a:solidFill>
                  <a:srgbClr val="1B2333"/>
                </a:solidFill>
                <a:latin typeface="Calibri" pitchFamily="34" charset="0"/>
                <a:ea typeface="Calibri" pitchFamily="34" charset="-122"/>
                <a:cs typeface="Calibri" pitchFamily="34" charset="-120"/>
              </a:rPr>
              <a:t>Het is iemand </a:t>
            </a:r>
            <a:r>
              <a:rPr lang="en-US" sz="1400" b="1" i="1" dirty="0">
                <a:solidFill>
                  <a:srgbClr val="17375E"/>
                </a:solidFill>
                <a:latin typeface="Calibri" pitchFamily="34" charset="0"/>
                <a:ea typeface="Calibri" pitchFamily="34" charset="-122"/>
                <a:cs typeface="Calibri" pitchFamily="34" charset="-120"/>
              </a:rPr>
              <a:t>die</a:t>
            </a:r>
            <a:r>
              <a:rPr lang="en-US" sz="1400" i="1" dirty="0">
                <a:solidFill>
                  <a:srgbClr val="1B2333"/>
                </a:solidFill>
                <a:latin typeface="Calibri" pitchFamily="34" charset="0"/>
                <a:ea typeface="Calibri" pitchFamily="34" charset="-122"/>
                <a:cs typeface="Calibri" pitchFamily="34" charset="-120"/>
              </a:rPr>
              <a:t>… · iets </a:t>
            </a:r>
            <a:r>
              <a:rPr lang="en-US" sz="1400" b="1" i="1" dirty="0">
                <a:solidFill>
                  <a:srgbClr val="6E4A9E"/>
                </a:solidFill>
                <a:latin typeface="Calibri" pitchFamily="34" charset="0"/>
                <a:ea typeface="Calibri" pitchFamily="34" charset="-122"/>
                <a:cs typeface="Calibri" pitchFamily="34" charset="-120"/>
              </a:rPr>
              <a:t>waarmee</a:t>
            </a:r>
            <a:r>
              <a:rPr lang="en-US" sz="1400" i="1" dirty="0">
                <a:solidFill>
                  <a:srgbClr val="1B2333"/>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dat, wat, waar… — Les pronoms relatifs : relier une information à un nom</dc:title>
  <dc:subject>Néerlandais 1 — Langue en situation, en milieu professionnel</dc:subject>
  <dc:creator>A. Jouniaux</dc:creator>
  <cp:lastModifiedBy>A. Jouniaux</cp:lastModifiedBy>
  <cp:revision>1</cp:revision>
  <dcterms:created xsi:type="dcterms:W3CDTF">2026-10-14T08:08:47Z</dcterms:created>
  <dcterms:modified xsi:type="dcterms:W3CDTF">2026-10-14T08:08:47Z</dcterms:modified>
</cp:coreProperties>
</file>