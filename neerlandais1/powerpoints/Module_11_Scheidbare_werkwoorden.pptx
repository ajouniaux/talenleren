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9d2d6012-c8aa-43d4-8f0f-be559dc2b668}">
          <p14:sldIdLst>
            <p14:sldId id="256"/>
          </p14:sldIdLst>
        </p14:section>
        <p14:section name="Découvrir" id="{69f219c2-492c-67a8-e71a-8ac674eec616}">
          <p14:sldIdLst>
            <p14:sldId id="257"/>
            <p14:sldId id="258"/>
          </p14:sldIdLst>
        </p14:section>
        <p14:section name="Comprendre" id="{8cf03167-cc4f-48b1-7cff-22cea7b25b69}">
          <p14:sldIdLst>
            <p14:sldId id="259"/>
            <p14:sldId id="260"/>
            <p14:sldId id="261"/>
            <p14:sldId id="262"/>
            <p14:sldId id="263"/>
            <p14:sldId id="264"/>
            <p14:sldId id="265"/>
            <p14:sldId id="266"/>
            <p14:sldId id="267"/>
          </p14:sldIdLst>
        </p14:section>
        <p14:section name="JIJ NU ! — Oefeningen" id="{709fbe07-f85d-0754-1222-efcbec5562aa}">
          <p14:sldIdLst>
            <p14:sldId id="268"/>
            <p14:sldId id="269"/>
            <p14:sldId id="270"/>
            <p14:sldId id="271"/>
            <p14:sldId id="272"/>
            <p14:sldId id="273"/>
            <p14:sldId id="274"/>
            <p14:sldId id="275"/>
            <p14:sldId id="276"/>
            <p14:sldId id="277"/>
            <p14:sldId id="278"/>
            <p14:sldId id="279"/>
            <p14:sldId id="280"/>
          </p14:sldIdLst>
        </p14:section>
        <p14:section name="Clôture" id="{67f40666-4113-7847-5eb3-848d10ae194d}">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 un verbe qui se coupe en deux.
Question d'entrée : « Où est passé le op ? » Rappelez le M3 (Ik bel de klant op) : ce module va au bout de ce phénomène.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verbes sont partout au bureau : inloggen, opbellen, afspreken, meenemen. Sans eux, impossible de décrire sa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séparation à partir du dictionnaire et d'une phrase.
Le point médian du dictionnaire (op·staan) signale un verbe séparable. Laissez les apprenants formuler la règle : « le petit mot part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composition particule + verbe (archive diapos 2–3).
La particule change souvent le sens : staan (être debout) / opstaan (se lever) ; gaan (aller) / weggaan (partir). On apprend donc le verbe entier. paardrijden est un cas particulier (Ik rijd paard) : à reconnaître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en case ⑥ au présent (archive diapo 5, standardisée).
C'est la pince du M3. La particule est la mâchoire droite. Faites le geste de la pince avec la main pendant la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10 particules utiles et leur « idée » de base.
L'« idée » de la particule aide souvent (in = vers l'intérieur, uit = vers l'extérieur, terug = retour), mais pas toujours (afspreken = fixer un rendez-vous). invullen (un formulaire) vient du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familles (archive diapo 4) avec deux tests fiables.
Les inséparables se conjuguent comme des verbes simples : ils ne bougent jamais. Les doublets (doorlopen, voorkomen, overkomen) de l'archive sont réservés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les deux erreurs typiques des francophones.
La 2e erreur vient de l'anglais (I call up the client) ou de la confusion avec une préposition. Le complément se glisse entre les deux morceaux.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Savoir quand le verbe reste entier.
Image : la particule veut toujours être au bout. Si le verbe est déjà au bout, elle reste avec lui. Teaser du M15 : au passé composé, le ge se glisse au milieu (opgestaan).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verbes à particule dans les questions et à l'impératif.
L'impératif = le radical en tête (Kom!), la particule reste au bout. binnenkomen (entrer) et dichtdoen (fermer) sont très fréquents. Ajoutez alstublieft pour la politesse (M8). L'impératif est approfondi au M16.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la journée de travail (archive « Een dag op het werk »).
zich aankleden (s'habiller) est aussi réfléchi : Ik kleed me aan. ontbijten et vertrekken sont des pièges : ils ressemblent à des séparables mais commencent par ont- et ver-. bijwonen (assister à) vient de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sert de référence pendant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l'impératif des verbes à particule par le corps (pause active).
Simon zegt = « Jacques a dit ». opsteken (lever la main), rondkijken (regarder autour), zich omdraaien (se retourner), neerleggen (poser) sont à comprendre, pas à produire.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à l'oral un récit structuré (frise de la diapo 11 comme modèle).
Ensuite, chacun présente la journée de son partenaire à la 3e personne : Ahmed staat om 6 uur op… Corrigez surtout la place de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Inséparable (ver-).
2. Ik neem mijn laptop mee.
3. Ik moet om 6 uur opstaan.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slideLayout" Target="../slideLayouts/slideLayout2.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Scheidbare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à particule</a:t>
            </a:r>
            <a:endParaRPr lang="en-US" sz="2000" dirty="0"/>
          </a:p>
          <a:p>
            <a:pPr algn="l" indent="0" marL="0">
              <a:buNone/>
            </a:pPr>
            <a:r>
              <a:rPr lang="en-US" sz="2000" b="1" dirty="0">
                <a:solidFill>
                  <a:srgbClr val="FFFFFF"/>
                </a:solidFill>
              </a:rPr>
              <a:t>opstaan → Ik sta om 7 uur op.</a:t>
            </a:r>
            <a:endParaRPr lang="en-US" sz="2000" dirty="0"/>
          </a:p>
        </p:txBody>
      </p:sp>
      <p:pic>
        <p:nvPicPr>
          <p:cNvPr id="5" name="Image 0" descr="alarm clock">    </p:cNvPr>
          <p:cNvPicPr>
            <a:picLocks noChangeAspect="1"/>
          </p:cNvPicPr>
          <p:nvPr/>
        </p:nvPicPr>
        <p:blipFill>
          <a:blip r:embed="rId1"/>
          <a:stretch>
            <a:fillRect/>
          </a:stretch>
        </p:blipFill>
        <p:spPr>
          <a:xfrm>
            <a:off x="9966960" y="1097280"/>
            <a:ext cx="1463040" cy="1463040"/>
          </a:xfrm>
          <a:prstGeom prst="rect">
            <a:avLst/>
          </a:prstGeom>
        </p:spPr>
      </p:pic>
      <p:sp>
        <p:nvSpPr>
          <p:cNvPr id="6" name="Shape 3"/>
          <p:cNvSpPr/>
          <p:nvPr/>
        </p:nvSpPr>
        <p:spPr>
          <a:xfrm>
            <a:off x="6583680" y="1828800"/>
            <a:ext cx="1234440" cy="1097280"/>
          </a:xfrm>
          <a:prstGeom prst="roundRect">
            <a:avLst>
              <a:gd name="adj" fmla="val 6667"/>
            </a:avLst>
          </a:prstGeom>
          <a:solidFill>
            <a:srgbClr val="FFFFFF"/>
          </a:solidFill>
          <a:ln w="50800">
            <a:solidFill>
              <a:srgbClr val="D9700F"/>
            </a:solidFill>
            <a:prstDash val="solid"/>
          </a:ln>
        </p:spPr>
      </p:sp>
      <p:sp>
        <p:nvSpPr>
          <p:cNvPr id="7" name="Text 4"/>
          <p:cNvSpPr txBox="1"/>
          <p:nvPr/>
        </p:nvSpPr>
        <p:spPr>
          <a:xfrm>
            <a:off x="6583680" y="1828800"/>
            <a:ext cx="1234440" cy="1097280"/>
          </a:xfrm>
          <a:prstGeom prst="rect">
            <a:avLst/>
          </a:prstGeom>
          <a:noFill/>
          <a:ln/>
        </p:spPr>
        <p:txBody>
          <a:bodyPr wrap="square" lIns="0" tIns="0" rIns="0" bIns="0" rtlCol="0" anchor="ctr"/>
          <a:lstStyle/>
          <a:p>
            <a:pPr algn="ctr" indent="0" marL="0">
              <a:buNone/>
            </a:pPr>
            <a:r>
              <a:rPr lang="en-US" sz="3600" b="1" dirty="0">
                <a:solidFill>
                  <a:schemeClr val="accent1"/>
                </a:solidFill>
                <a:latin typeface="+mj-lt" pitchFamily="34" charset="0"/>
                <a:ea typeface="+mj-lt" pitchFamily="34" charset="-122"/>
                <a:cs typeface="+mj-lt" pitchFamily="34" charset="-120"/>
              </a:rPr>
              <a:t>OP</a:t>
            </a:r>
            <a:endParaRPr lang="en-US" sz="3600" dirty="0"/>
          </a:p>
        </p:txBody>
      </p:sp>
      <p:sp>
        <p:nvSpPr>
          <p:cNvPr id="8" name="Shape 5"/>
          <p:cNvSpPr/>
          <p:nvPr/>
        </p:nvSpPr>
        <p:spPr>
          <a:xfrm>
            <a:off x="8001000" y="1828800"/>
            <a:ext cx="1828800" cy="1097280"/>
          </a:xfrm>
          <a:prstGeom prst="roundRect">
            <a:avLst>
              <a:gd name="adj" fmla="val 6667"/>
            </a:avLst>
          </a:prstGeom>
          <a:solidFill>
            <a:srgbClr val="FFFFFF"/>
          </a:solidFill>
          <a:ln w="50800">
            <a:solidFill>
              <a:srgbClr val="B83227"/>
            </a:solidFill>
            <a:prstDash val="solid"/>
          </a:ln>
        </p:spPr>
      </p:sp>
      <p:sp>
        <p:nvSpPr>
          <p:cNvPr id="9" name="Text 6"/>
          <p:cNvSpPr txBox="1"/>
          <p:nvPr/>
        </p:nvSpPr>
        <p:spPr>
          <a:xfrm>
            <a:off x="8001000" y="1828800"/>
            <a:ext cx="1828800" cy="1097280"/>
          </a:xfrm>
          <a:prstGeom prst="rect">
            <a:avLst/>
          </a:prstGeom>
          <a:noFill/>
          <a:ln/>
        </p:spPr>
        <p:txBody>
          <a:bodyPr wrap="square" lIns="0" tIns="0" rIns="0" bIns="0" rtlCol="0" anchor="ctr"/>
          <a:lstStyle/>
          <a:p>
            <a:pPr algn="ctr" indent="0" marL="0">
              <a:buNone/>
            </a:pPr>
            <a:r>
              <a:rPr lang="en-US" sz="3400" b="1" dirty="0">
                <a:solidFill>
                  <a:schemeClr val="accent6"/>
                </a:solidFill>
                <a:latin typeface="+mj-lt" pitchFamily="34" charset="0"/>
                <a:ea typeface="+mj-lt" pitchFamily="34" charset="-122"/>
                <a:cs typeface="+mj-lt" pitchFamily="34" charset="-120"/>
              </a:rPr>
              <a:t>STAAN</a:t>
            </a:r>
            <a:endParaRPr lang="en-US" sz="3400" dirty="0"/>
          </a:p>
        </p:txBody>
      </p:sp>
      <p:pic>
        <p:nvPicPr>
          <p:cNvPr id="10" name="Image 1" descr="scissors">    </p:cNvPr>
          <p:cNvPicPr>
            <a:picLocks noChangeAspect="1"/>
          </p:cNvPicPr>
          <p:nvPr/>
        </p:nvPicPr>
        <p:blipFill>
          <a:blip r:embed="rId2"/>
          <a:stretch>
            <a:fillRect/>
          </a:stretch>
        </p:blipFill>
        <p:spPr>
          <a:xfrm>
            <a:off x="7498080" y="2971800"/>
            <a:ext cx="640080" cy="640080"/>
          </a:xfrm>
          <a:prstGeom prst="rect">
            <a:avLst/>
          </a:prstGeom>
        </p:spPr>
      </p:pic>
      <p:sp>
        <p:nvSpPr>
          <p:cNvPr id="11" name="Shape 7"/>
          <p:cNvSpPr/>
          <p:nvPr/>
        </p:nvSpPr>
        <p:spPr>
          <a:xfrm>
            <a:off x="6355080" y="3977640"/>
            <a:ext cx="5303520" cy="1005840"/>
          </a:xfrm>
          <a:prstGeom prst="roundRect">
            <a:avLst>
              <a:gd name="adj" fmla="val 13636"/>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355080" y="3977640"/>
            <a:ext cx="5303520" cy="100584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Ik </a:t>
            </a:r>
            <a:r>
              <a:rPr lang="en-US" sz="2800" b="1" dirty="0">
                <a:solidFill>
                  <a:schemeClr val="accent6"/>
                </a:solidFill>
                <a:latin typeface="+mj-lt" pitchFamily="34" charset="0"/>
                <a:ea typeface="+mj-lt" pitchFamily="34" charset="-122"/>
                <a:cs typeface="+mj-lt" pitchFamily="34" charset="-120"/>
              </a:rPr>
              <a:t>sta</a:t>
            </a:r>
            <a:r>
              <a:rPr lang="en-US" sz="2800" dirty="0">
                <a:solidFill>
                  <a:schemeClr val="tx1"/>
                </a:solidFill>
                <a:latin typeface="+mj-lt" pitchFamily="34" charset="0"/>
                <a:ea typeface="+mj-lt" pitchFamily="34" charset="-122"/>
                <a:cs typeface="+mj-lt" pitchFamily="34" charset="-120"/>
              </a:rPr>
              <a:t> om 7 uur </a:t>
            </a:r>
            <a:r>
              <a:rPr lang="en-US" sz="2800" b="1" dirty="0">
                <a:solidFill>
                  <a:schemeClr val="accent1"/>
                </a:solidFill>
                <a:latin typeface="+mj-lt" pitchFamily="34" charset="0"/>
                <a:ea typeface="+mj-lt" pitchFamily="34" charset="-122"/>
                <a:cs typeface="+mj-lt" pitchFamily="34" charset="-120"/>
              </a:rPr>
              <a:t>op</a:t>
            </a:r>
            <a:r>
              <a:rPr lang="en-US" sz="2800" dirty="0">
                <a:solidFill>
                  <a:schemeClr val="tx1"/>
                </a:solidFill>
                <a:latin typeface="+mj-lt" pitchFamily="34" charset="0"/>
                <a:ea typeface="+mj-lt" pitchFamily="34" charset="-122"/>
                <a:cs typeface="+mj-lt" pitchFamily="34" charset="-120"/>
              </a:rPr>
              <a:t>.</a:t>
            </a:r>
            <a:endParaRPr lang="en-US" sz="2800" dirty="0"/>
          </a:p>
        </p:txBody>
      </p:sp>
      <p:sp>
        <p:nvSpPr>
          <p:cNvPr id="13" name="Shape 9"/>
          <p:cNvSpPr/>
          <p:nvPr/>
        </p:nvSpPr>
        <p:spPr>
          <a:xfrm>
            <a:off x="7196328" y="2971800"/>
            <a:ext cx="3090672" cy="960120"/>
          </a:xfrm>
          <a:prstGeom prst="line">
            <a:avLst/>
          </a:prstGeom>
          <a:noFill/>
          <a:ln w="31750">
            <a:solidFill>
              <a:srgbClr val="F6C27E"/>
            </a:solidFill>
            <a:prstDash val="dash"/>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Reconnaître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si un verbe se coupe (</a:t>
            </a:r>
            <a:r>
              <a:rPr lang="en-US" sz="2000" i="1" dirty="0">
                <a:solidFill>
                  <a:schemeClr val="tx1"/>
                </a:solidFill>
              </a:rPr>
              <a:t>opstaan</a:t>
            </a:r>
            <a:r>
              <a:rPr lang="en-US" sz="2000" dirty="0">
                <a:solidFill>
                  <a:schemeClr val="tx1"/>
                </a:solidFill>
              </a:rPr>
              <a:t>) ou non (</a:t>
            </a:r>
            <a:r>
              <a:rPr lang="en-US" sz="2000" i="1" dirty="0">
                <a:solidFill>
                  <a:schemeClr val="tx1"/>
                </a:solidFill>
              </a:rPr>
              <a:t>vergeten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Arrow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Placer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 particule </a:t>
            </a:r>
            <a:r>
              <a:rPr lang="en-US" sz="2000" b="1" dirty="0">
                <a:solidFill>
                  <a:schemeClr val="tx1"/>
                </a:solidFill>
              </a:rPr>
              <a:t>au bout</a:t>
            </a:r>
            <a:r>
              <a:rPr lang="en-US" sz="2000" dirty="0">
                <a:solidFill>
                  <a:schemeClr val="tx1"/>
                </a:solidFill>
              </a:rPr>
              <a:t>… ou je la laisse </a:t>
            </a:r>
            <a:r>
              <a:rPr lang="en-US" sz="2000" b="1" dirty="0">
                <a:solidFill>
                  <a:schemeClr val="tx1"/>
                </a:solidFill>
              </a:rPr>
              <a:t>collée</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lock">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ma journée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bureau, ces verbes sont partout : </a:t>
            </a:r>
            <a:r>
              <a:rPr lang="en-US" sz="1700" i="1" dirty="0">
                <a:solidFill>
                  <a:schemeClr val="tx1"/>
                </a:solidFill>
              </a:rPr>
              <a:t>inloggen, opbellen, afspreken, meenemen</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passé le « op »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4023360" cy="4709160"/>
          </a:xfrm>
          <a:prstGeom prst="roundRect">
            <a:avLst>
              <a:gd name="adj" fmla="val 1818"/>
            </a:avLst>
          </a:prstGeom>
          <a:solidFill>
            <a:srgbClr val="FFFDF5"/>
          </a:solidFill>
          <a:ln w="15875">
            <a:solidFill>
              <a:srgbClr val="C9B98A"/>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731520" y="1691640"/>
            <a:ext cx="640080" cy="640080"/>
          </a:xfrm>
          <a:prstGeom prst="rect">
            <a:avLst/>
          </a:prstGeom>
        </p:spPr>
      </p:pic>
      <p:sp>
        <p:nvSpPr>
          <p:cNvPr id="7" name="Text 3"/>
          <p:cNvSpPr txBox="1"/>
          <p:nvPr/>
        </p:nvSpPr>
        <p:spPr>
          <a:xfrm>
            <a:off x="1463040" y="1737360"/>
            <a:ext cx="2926080" cy="548640"/>
          </a:xfrm>
          <a:prstGeom prst="rect">
            <a:avLst/>
          </a:prstGeom>
          <a:noFill/>
          <a:ln/>
        </p:spPr>
        <p:txBody>
          <a:bodyPr wrap="square" lIns="0" tIns="0" rIns="0" bIns="0" rtlCol="0" anchor="ctr"/>
          <a:lstStyle/>
          <a:p>
            <a:pPr algn="l" indent="0" marL="0">
              <a:buNone/>
            </a:pPr>
            <a:r>
              <a:rPr lang="en-US" sz="1400" b="1" spc="200" kern="0" dirty="0">
                <a:solidFill>
                  <a:schemeClr val="accent5"/>
                </a:solidFill>
              </a:rPr>
              <a:t>DICTIONNAIRE</a:t>
            </a:r>
            <a:endParaRPr lang="en-US" sz="1400" dirty="0"/>
          </a:p>
        </p:txBody>
      </p:sp>
      <p:sp>
        <p:nvSpPr>
          <p:cNvPr id="8" name="Text 4"/>
          <p:cNvSpPr txBox="1"/>
          <p:nvPr/>
        </p:nvSpPr>
        <p:spPr>
          <a:xfrm>
            <a:off x="822960" y="251460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op</a:t>
            </a:r>
            <a:r>
              <a:rPr lang="en-US" sz="2600" b="1" dirty="0">
                <a:solidFill>
                  <a:schemeClr val="tx1"/>
                </a:solidFill>
                <a:latin typeface="+mj-lt" pitchFamily="34" charset="0"/>
                <a:ea typeface="+mj-lt" pitchFamily="34" charset="-122"/>
                <a:cs typeface="+mj-lt" pitchFamily="34" charset="-120"/>
              </a:rPr>
              <a:t>·staan</a:t>
            </a:r>
            <a:endParaRPr lang="en-US" sz="2600" dirty="0"/>
          </a:p>
        </p:txBody>
      </p:sp>
      <p:sp>
        <p:nvSpPr>
          <p:cNvPr id="9" name="Text 5"/>
          <p:cNvSpPr txBox="1"/>
          <p:nvPr/>
        </p:nvSpPr>
        <p:spPr>
          <a:xfrm>
            <a:off x="822960" y="306324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lever</a:t>
            </a:r>
            <a:endParaRPr lang="en-US" sz="1500" dirty="0"/>
          </a:p>
        </p:txBody>
      </p:sp>
      <p:sp>
        <p:nvSpPr>
          <p:cNvPr id="10" name="Shape 6"/>
          <p:cNvSpPr/>
          <p:nvPr/>
        </p:nvSpPr>
        <p:spPr>
          <a:xfrm>
            <a:off x="822960" y="3566160"/>
            <a:ext cx="3474720" cy="914"/>
          </a:xfrm>
          <a:prstGeom prst="line">
            <a:avLst/>
          </a:prstGeom>
          <a:noFill/>
          <a:ln w="12700">
            <a:solidFill>
              <a:srgbClr val="E5DCC0"/>
            </a:solidFill>
            <a:prstDash val="solid"/>
          </a:ln>
        </p:spPr>
      </p:sp>
      <p:sp>
        <p:nvSpPr>
          <p:cNvPr id="11" name="Text 7"/>
          <p:cNvSpPr txBox="1"/>
          <p:nvPr/>
        </p:nvSpPr>
        <p:spPr>
          <a:xfrm>
            <a:off x="822960" y="370332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mee</a:t>
            </a:r>
            <a:r>
              <a:rPr lang="en-US" sz="2600" b="1" dirty="0">
                <a:solidFill>
                  <a:schemeClr val="tx1"/>
                </a:solidFill>
                <a:latin typeface="+mj-lt" pitchFamily="34" charset="0"/>
                <a:ea typeface="+mj-lt" pitchFamily="34" charset="-122"/>
                <a:cs typeface="+mj-lt" pitchFamily="34" charset="-120"/>
              </a:rPr>
              <a:t>·nemen</a:t>
            </a:r>
            <a:endParaRPr lang="en-US" sz="2600" dirty="0"/>
          </a:p>
        </p:txBody>
      </p:sp>
      <p:sp>
        <p:nvSpPr>
          <p:cNvPr id="12" name="Text 8"/>
          <p:cNvSpPr txBox="1"/>
          <p:nvPr/>
        </p:nvSpPr>
        <p:spPr>
          <a:xfrm>
            <a:off x="822960" y="425196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emporter</a:t>
            </a:r>
            <a:endParaRPr lang="en-US" sz="1500" dirty="0"/>
          </a:p>
        </p:txBody>
      </p:sp>
      <p:sp>
        <p:nvSpPr>
          <p:cNvPr id="13" name="Shape 9"/>
          <p:cNvSpPr/>
          <p:nvPr/>
        </p:nvSpPr>
        <p:spPr>
          <a:xfrm>
            <a:off x="822960" y="4754880"/>
            <a:ext cx="3474720" cy="914"/>
          </a:xfrm>
          <a:prstGeom prst="line">
            <a:avLst/>
          </a:prstGeom>
          <a:noFill/>
          <a:ln w="12700">
            <a:solidFill>
              <a:srgbClr val="E5DCC0"/>
            </a:solidFill>
            <a:prstDash val="solid"/>
          </a:ln>
        </p:spPr>
      </p:sp>
      <p:sp>
        <p:nvSpPr>
          <p:cNvPr id="14" name="Text 10"/>
          <p:cNvSpPr txBox="1"/>
          <p:nvPr/>
        </p:nvSpPr>
        <p:spPr>
          <a:xfrm>
            <a:off x="822960" y="489204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in</a:t>
            </a:r>
            <a:r>
              <a:rPr lang="en-US" sz="2600" b="1" dirty="0">
                <a:solidFill>
                  <a:schemeClr val="tx1"/>
                </a:solidFill>
                <a:latin typeface="+mj-lt" pitchFamily="34" charset="0"/>
                <a:ea typeface="+mj-lt" pitchFamily="34" charset="-122"/>
                <a:cs typeface="+mj-lt" pitchFamily="34" charset="-120"/>
              </a:rPr>
              <a:t>·loggen</a:t>
            </a:r>
            <a:endParaRPr lang="en-US" sz="2600" dirty="0"/>
          </a:p>
        </p:txBody>
      </p:sp>
      <p:sp>
        <p:nvSpPr>
          <p:cNvPr id="15" name="Text 11"/>
          <p:cNvSpPr txBox="1"/>
          <p:nvPr/>
        </p:nvSpPr>
        <p:spPr>
          <a:xfrm>
            <a:off x="822960" y="544068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connecter</a:t>
            </a:r>
            <a:endParaRPr lang="en-US" sz="1500" dirty="0"/>
          </a:p>
        </p:txBody>
      </p:sp>
      <p:sp>
        <p:nvSpPr>
          <p:cNvPr id="16" name="Shape 12"/>
          <p:cNvSpPr/>
          <p:nvPr/>
        </p:nvSpPr>
        <p:spPr>
          <a:xfrm>
            <a:off x="4846320" y="160020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7" name="Image 1" descr="alarm clock">    </p:cNvPr>
          <p:cNvPicPr>
            <a:picLocks noChangeAspect="1"/>
          </p:cNvPicPr>
          <p:nvPr/>
        </p:nvPicPr>
        <p:blipFill>
          <a:blip r:embed="rId2"/>
          <a:stretch>
            <a:fillRect/>
          </a:stretch>
        </p:blipFill>
        <p:spPr>
          <a:xfrm>
            <a:off x="4983480" y="1783080"/>
            <a:ext cx="640080" cy="640080"/>
          </a:xfrm>
          <a:prstGeom prst="rect">
            <a:avLst/>
          </a:prstGeom>
        </p:spPr>
      </p:pic>
      <p:sp>
        <p:nvSpPr>
          <p:cNvPr id="18" name="Text 13"/>
          <p:cNvSpPr txBox="1"/>
          <p:nvPr/>
        </p:nvSpPr>
        <p:spPr>
          <a:xfrm>
            <a:off x="5806440" y="160020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9" name="Shape 14"/>
          <p:cNvSpPr/>
          <p:nvPr/>
        </p:nvSpPr>
        <p:spPr>
          <a:xfrm>
            <a:off x="4846320" y="278892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0" name="Image 2" descr="laptop">    </p:cNvPr>
          <p:cNvPicPr>
            <a:picLocks noChangeAspect="1"/>
          </p:cNvPicPr>
          <p:nvPr/>
        </p:nvPicPr>
        <p:blipFill>
          <a:blip r:embed="rId3"/>
          <a:stretch>
            <a:fillRect/>
          </a:stretch>
        </p:blipFill>
        <p:spPr>
          <a:xfrm>
            <a:off x="4983480" y="2971800"/>
            <a:ext cx="640080" cy="640080"/>
          </a:xfrm>
          <a:prstGeom prst="rect">
            <a:avLst/>
          </a:prstGeom>
        </p:spPr>
      </p:pic>
      <p:sp>
        <p:nvSpPr>
          <p:cNvPr id="21" name="Text 15"/>
          <p:cNvSpPr txBox="1"/>
          <p:nvPr/>
        </p:nvSpPr>
        <p:spPr>
          <a:xfrm>
            <a:off x="5806440" y="278892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Karim </a:t>
            </a:r>
            <a:r>
              <a:rPr lang="en-US" sz="2400" b="1" i="1" dirty="0">
                <a:solidFill>
                  <a:schemeClr val="accent6"/>
                </a:solidFill>
              </a:rPr>
              <a:t>neemt</a:t>
            </a:r>
            <a:r>
              <a:rPr lang="en-US" sz="2400" i="1" dirty="0">
                <a:solidFill>
                  <a:schemeClr val="tx1"/>
                </a:solidFill>
              </a:rPr>
              <a:t> zijn laptop </a:t>
            </a:r>
            <a:r>
              <a:rPr lang="en-US" sz="2400" b="1" i="1" dirty="0">
                <a:solidFill>
                  <a:schemeClr val="accent1"/>
                </a:solidFill>
              </a:rPr>
              <a:t>mee</a:t>
            </a:r>
            <a:r>
              <a:rPr lang="en-US" sz="2400" i="1" dirty="0">
                <a:solidFill>
                  <a:schemeClr val="tx1"/>
                </a:solidFill>
              </a:rPr>
              <a:t>.</a:t>
            </a:r>
            <a:endParaRPr lang="en-US" sz="2400" dirty="0"/>
          </a:p>
        </p:txBody>
      </p:sp>
      <p:sp>
        <p:nvSpPr>
          <p:cNvPr id="22" name="Shape 16"/>
          <p:cNvSpPr/>
          <p:nvPr/>
        </p:nvSpPr>
        <p:spPr>
          <a:xfrm>
            <a:off x="4846320" y="397764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3" descr="woman office worker">    </p:cNvPr>
          <p:cNvPicPr>
            <a:picLocks noChangeAspect="1"/>
          </p:cNvPicPr>
          <p:nvPr/>
        </p:nvPicPr>
        <p:blipFill>
          <a:blip r:embed="rId4"/>
          <a:stretch>
            <a:fillRect/>
          </a:stretch>
        </p:blipFill>
        <p:spPr>
          <a:xfrm>
            <a:off x="4983480" y="4160520"/>
            <a:ext cx="640080" cy="640080"/>
          </a:xfrm>
          <a:prstGeom prst="rect">
            <a:avLst/>
          </a:prstGeom>
        </p:spPr>
      </p:pic>
      <p:sp>
        <p:nvSpPr>
          <p:cNvPr id="24" name="Text 17"/>
          <p:cNvSpPr txBox="1"/>
          <p:nvPr/>
        </p:nvSpPr>
        <p:spPr>
          <a:xfrm>
            <a:off x="5806440" y="397764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Sofie </a:t>
            </a:r>
            <a:r>
              <a:rPr lang="en-US" sz="2400" b="1" i="1" dirty="0">
                <a:solidFill>
                  <a:schemeClr val="accent6"/>
                </a:solidFill>
              </a:rPr>
              <a:t>logt</a:t>
            </a:r>
            <a:r>
              <a:rPr lang="en-US" sz="2400" i="1" dirty="0">
                <a:solidFill>
                  <a:schemeClr val="tx1"/>
                </a:solidFill>
              </a:rPr>
              <a:t> om 9 uur </a:t>
            </a:r>
            <a:r>
              <a:rPr lang="en-US" sz="2400" b="1" i="1" dirty="0">
                <a:solidFill>
                  <a:schemeClr val="accent1"/>
                </a:solidFill>
              </a:rPr>
              <a:t>in</a:t>
            </a:r>
            <a:r>
              <a:rPr lang="en-US" sz="2400" i="1" dirty="0">
                <a:solidFill>
                  <a:schemeClr val="tx1"/>
                </a:solidFill>
              </a:rPr>
              <a:t>.</a:t>
            </a:r>
            <a:endParaRPr lang="en-US" sz="2400" dirty="0"/>
          </a:p>
        </p:txBody>
      </p:sp>
      <p:sp>
        <p:nvSpPr>
          <p:cNvPr id="25" name="Shape 18"/>
          <p:cNvSpPr/>
          <p:nvPr/>
        </p:nvSpPr>
        <p:spPr>
          <a:xfrm>
            <a:off x="4846320" y="5257800"/>
            <a:ext cx="6793992" cy="1005840"/>
          </a:xfrm>
          <a:prstGeom prst="roundRect">
            <a:avLst>
              <a:gd name="adj" fmla="val 7273"/>
            </a:avLst>
          </a:prstGeom>
          <a:solidFill>
            <a:schemeClr val="accent1">
              <a:alpha val="15000"/>
            </a:schemeClr>
          </a:solidFill>
          <a:ln w="15875">
            <a:solidFill>
              <a:srgbClr val="D9700F"/>
            </a:solidFill>
            <a:prstDash val="solid"/>
          </a:ln>
        </p:spPr>
      </p:sp>
      <p:pic>
        <p:nvPicPr>
          <p:cNvPr id="26" name="Image 4" descr="thinking face">    </p:cNvPr>
          <p:cNvPicPr>
            <a:picLocks noChangeAspect="1"/>
          </p:cNvPicPr>
          <p:nvPr/>
        </p:nvPicPr>
        <p:blipFill>
          <a:blip r:embed="rId5"/>
          <a:stretch>
            <a:fillRect/>
          </a:stretch>
        </p:blipFill>
        <p:spPr>
          <a:xfrm>
            <a:off x="4983480" y="5394960"/>
            <a:ext cx="731520" cy="731520"/>
          </a:xfrm>
          <a:prstGeom prst="rect">
            <a:avLst/>
          </a:prstGeom>
        </p:spPr>
      </p:pic>
      <p:sp>
        <p:nvSpPr>
          <p:cNvPr id="27" name="Text 19"/>
          <p:cNvSpPr txBox="1"/>
          <p:nvPr/>
        </p:nvSpPr>
        <p:spPr>
          <a:xfrm>
            <a:off x="5852160" y="5257800"/>
            <a:ext cx="5669280" cy="1005840"/>
          </a:xfrm>
          <a:prstGeom prst="rect">
            <a:avLst/>
          </a:prstGeom>
          <a:noFill/>
          <a:ln/>
        </p:spPr>
        <p:txBody>
          <a:bodyPr wrap="square" lIns="0" tIns="0" rIns="0" bIns="0" rtlCol="0" anchor="ctr"/>
          <a:lstStyle/>
          <a:p>
            <a:pPr algn="l" indent="0" marL="0">
              <a:buNone/>
            </a:pPr>
            <a:r>
              <a:rPr lang="en-US" sz="2000" b="1" dirty="0">
                <a:solidFill>
                  <a:schemeClr val="tx1"/>
                </a:solidFill>
              </a:rPr>
              <a:t>Que remarquez-vous ? Où va le petit mot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en deux morceaux</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6" name="Text 3"/>
          <p:cNvSpPr txBox="1"/>
          <p:nvPr/>
        </p:nvSpPr>
        <p:spPr>
          <a:xfrm>
            <a:off x="54864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schoon</a:t>
            </a:r>
            <a:endParaRPr lang="en-US" sz="2400" dirty="0"/>
          </a:p>
        </p:txBody>
      </p:sp>
      <p:sp>
        <p:nvSpPr>
          <p:cNvPr id="7" name="Text 4"/>
          <p:cNvSpPr txBox="1"/>
          <p:nvPr/>
        </p:nvSpPr>
        <p:spPr>
          <a:xfrm>
            <a:off x="210312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8" name="Shape 5"/>
          <p:cNvSpPr/>
          <p:nvPr/>
        </p:nvSpPr>
        <p:spPr>
          <a:xfrm>
            <a:off x="251460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9" name="Text 6"/>
          <p:cNvSpPr txBox="1"/>
          <p:nvPr/>
        </p:nvSpPr>
        <p:spPr>
          <a:xfrm>
            <a:off x="251460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maken</a:t>
            </a:r>
            <a:endParaRPr lang="en-US" sz="2400" dirty="0"/>
          </a:p>
        </p:txBody>
      </p:sp>
      <p:pic>
        <p:nvPicPr>
          <p:cNvPr id="10" name="Image 0" descr="broom">    </p:cNvPr>
          <p:cNvPicPr>
            <a:picLocks noChangeAspect="1"/>
          </p:cNvPicPr>
          <p:nvPr/>
        </p:nvPicPr>
        <p:blipFill>
          <a:blip r:embed="rId1"/>
          <a:stretch>
            <a:fillRect/>
          </a:stretch>
        </p:blipFill>
        <p:spPr>
          <a:xfrm>
            <a:off x="4251960" y="1645920"/>
            <a:ext cx="777240" cy="777240"/>
          </a:xfrm>
          <a:prstGeom prst="rect">
            <a:avLst/>
          </a:prstGeom>
        </p:spPr>
      </p:pic>
      <p:sp>
        <p:nvSpPr>
          <p:cNvPr id="11" name="Text 7"/>
          <p:cNvSpPr txBox="1"/>
          <p:nvPr/>
        </p:nvSpPr>
        <p:spPr>
          <a:xfrm>
            <a:off x="54864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schoonmaken</a:t>
            </a:r>
            <a:r>
              <a:rPr lang="en-US" sz="1800" dirty="0">
                <a:solidFill>
                  <a:schemeClr val="tx2"/>
                </a:solidFill>
              </a:rPr>
              <a:t> (nettoyer)</a:t>
            </a:r>
            <a:endParaRPr lang="en-US" sz="1800" dirty="0"/>
          </a:p>
        </p:txBody>
      </p:sp>
      <p:sp>
        <p:nvSpPr>
          <p:cNvPr id="12" name="Shape 8"/>
          <p:cNvSpPr/>
          <p:nvPr/>
        </p:nvSpPr>
        <p:spPr>
          <a:xfrm>
            <a:off x="621792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13" name="Text 9"/>
          <p:cNvSpPr txBox="1"/>
          <p:nvPr/>
        </p:nvSpPr>
        <p:spPr>
          <a:xfrm>
            <a:off x="621792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weg</a:t>
            </a:r>
            <a:endParaRPr lang="en-US" sz="2400" dirty="0"/>
          </a:p>
        </p:txBody>
      </p:sp>
      <p:sp>
        <p:nvSpPr>
          <p:cNvPr id="14" name="Text 10"/>
          <p:cNvSpPr txBox="1"/>
          <p:nvPr/>
        </p:nvSpPr>
        <p:spPr>
          <a:xfrm>
            <a:off x="777240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5" name="Shape 11"/>
          <p:cNvSpPr/>
          <p:nvPr/>
        </p:nvSpPr>
        <p:spPr>
          <a:xfrm>
            <a:off x="818388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16" name="Text 12"/>
          <p:cNvSpPr txBox="1"/>
          <p:nvPr/>
        </p:nvSpPr>
        <p:spPr>
          <a:xfrm>
            <a:off x="818388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gaan</a:t>
            </a:r>
            <a:endParaRPr lang="en-US" sz="2400" dirty="0"/>
          </a:p>
        </p:txBody>
      </p:sp>
      <p:pic>
        <p:nvPicPr>
          <p:cNvPr id="17" name="Image 1" descr="person walking">    </p:cNvPr>
          <p:cNvPicPr>
            <a:picLocks noChangeAspect="1"/>
          </p:cNvPicPr>
          <p:nvPr/>
        </p:nvPicPr>
        <p:blipFill>
          <a:blip r:embed="rId2"/>
          <a:stretch>
            <a:fillRect/>
          </a:stretch>
        </p:blipFill>
        <p:spPr>
          <a:xfrm>
            <a:off x="9921240" y="1645920"/>
            <a:ext cx="777240" cy="777240"/>
          </a:xfrm>
          <a:prstGeom prst="rect">
            <a:avLst/>
          </a:prstGeom>
        </p:spPr>
      </p:pic>
      <p:sp>
        <p:nvSpPr>
          <p:cNvPr id="18" name="Text 13"/>
          <p:cNvSpPr txBox="1"/>
          <p:nvPr/>
        </p:nvSpPr>
        <p:spPr>
          <a:xfrm>
            <a:off x="621792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weggaan</a:t>
            </a:r>
            <a:r>
              <a:rPr lang="en-US" sz="1800" dirty="0">
                <a:solidFill>
                  <a:schemeClr val="tx2"/>
                </a:solidFill>
              </a:rPr>
              <a:t> (partir)</a:t>
            </a:r>
            <a:endParaRPr lang="en-US" sz="1800" dirty="0"/>
          </a:p>
        </p:txBody>
      </p:sp>
      <p:sp>
        <p:nvSpPr>
          <p:cNvPr id="19" name="Text 14"/>
          <p:cNvSpPr txBox="1"/>
          <p:nvPr/>
        </p:nvSpPr>
        <p:spPr>
          <a:xfrm>
            <a:off x="548640" y="3154680"/>
            <a:ext cx="7315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LA PARTICULE PEUT ÊTRE…</a:t>
            </a:r>
            <a:endParaRPr lang="en-US" sz="1300" dirty="0"/>
          </a:p>
        </p:txBody>
      </p:sp>
      <p:sp>
        <p:nvSpPr>
          <p:cNvPr id="20" name="Shape 15"/>
          <p:cNvSpPr/>
          <p:nvPr/>
        </p:nvSpPr>
        <p:spPr>
          <a:xfrm>
            <a:off x="54864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2" descr="handshake">    </p:cNvPr>
          <p:cNvPicPr>
            <a:picLocks noChangeAspect="1"/>
          </p:cNvPicPr>
          <p:nvPr/>
        </p:nvPicPr>
        <p:blipFill>
          <a:blip r:embed="rId3"/>
          <a:stretch>
            <a:fillRect/>
          </a:stretch>
        </p:blipFill>
        <p:spPr>
          <a:xfrm>
            <a:off x="1417320" y="3703320"/>
            <a:ext cx="868680" cy="868680"/>
          </a:xfrm>
          <a:prstGeom prst="rect">
            <a:avLst/>
          </a:prstGeom>
        </p:spPr>
      </p:pic>
      <p:sp>
        <p:nvSpPr>
          <p:cNvPr id="22" name="Text 16"/>
          <p:cNvSpPr txBox="1"/>
          <p:nvPr/>
        </p:nvSpPr>
        <p:spPr>
          <a:xfrm>
            <a:off x="54864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samen</a:t>
            </a:r>
            <a:r>
              <a:rPr lang="en-US" sz="2200" b="1" i="1" dirty="0">
                <a:solidFill>
                  <a:schemeClr val="tx1"/>
                </a:solidFill>
                <a:latin typeface="+mj-lt" pitchFamily="34" charset="0"/>
                <a:ea typeface="+mj-lt" pitchFamily="34" charset="-122"/>
                <a:cs typeface="+mj-lt" pitchFamily="34" charset="-120"/>
              </a:rPr>
              <a:t>werken</a:t>
            </a:r>
            <a:endParaRPr lang="en-US" sz="2200" dirty="0"/>
          </a:p>
        </p:txBody>
      </p:sp>
      <p:sp>
        <p:nvSpPr>
          <p:cNvPr id="23" name="Text 17"/>
          <p:cNvSpPr txBox="1"/>
          <p:nvPr/>
        </p:nvSpPr>
        <p:spPr>
          <a:xfrm>
            <a:off x="54864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collaborer</a:t>
            </a:r>
            <a:endParaRPr lang="en-US" sz="1400" dirty="0"/>
          </a:p>
        </p:txBody>
      </p:sp>
      <p:sp>
        <p:nvSpPr>
          <p:cNvPr id="24" name="tag"/>
          <p:cNvSpPr/>
          <p:nvPr/>
        </p:nvSpPr>
        <p:spPr>
          <a:xfrm>
            <a:off x="1129284" y="5715000"/>
            <a:ext cx="144475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adverbe</a:t>
            </a:r>
            <a:endParaRPr lang="en-US" sz="1200" dirty="0"/>
          </a:p>
        </p:txBody>
      </p:sp>
      <p:sp>
        <p:nvSpPr>
          <p:cNvPr id="25" name="Shape 19"/>
          <p:cNvSpPr/>
          <p:nvPr/>
        </p:nvSpPr>
        <p:spPr>
          <a:xfrm>
            <a:off x="338328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3" descr="cookie">    </p:cNvPr>
          <p:cNvPicPr>
            <a:picLocks noChangeAspect="1"/>
          </p:cNvPicPr>
          <p:nvPr/>
        </p:nvPicPr>
        <p:blipFill>
          <a:blip r:embed="rId4"/>
          <a:stretch>
            <a:fillRect/>
          </a:stretch>
        </p:blipFill>
        <p:spPr>
          <a:xfrm>
            <a:off x="4251960" y="3703320"/>
            <a:ext cx="868680" cy="868680"/>
          </a:xfrm>
          <a:prstGeom prst="rect">
            <a:avLst/>
          </a:prstGeom>
        </p:spPr>
      </p:pic>
      <p:sp>
        <p:nvSpPr>
          <p:cNvPr id="27" name="Text 20"/>
          <p:cNvSpPr txBox="1"/>
          <p:nvPr/>
        </p:nvSpPr>
        <p:spPr>
          <a:xfrm>
            <a:off x="338328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a:t>
            </a:r>
            <a:r>
              <a:rPr lang="en-US" sz="2200" b="1" i="1" dirty="0">
                <a:solidFill>
                  <a:schemeClr val="tx1"/>
                </a:solidFill>
                <a:latin typeface="+mj-lt" pitchFamily="34" charset="0"/>
                <a:ea typeface="+mj-lt" pitchFamily="34" charset="-122"/>
                <a:cs typeface="+mj-lt" pitchFamily="34" charset="-120"/>
              </a:rPr>
              <a:t>eten</a:t>
            </a:r>
            <a:endParaRPr lang="en-US" sz="2200" dirty="0"/>
          </a:p>
        </p:txBody>
      </p:sp>
      <p:sp>
        <p:nvSpPr>
          <p:cNvPr id="28" name="Text 21"/>
          <p:cNvSpPr txBox="1"/>
          <p:nvPr/>
        </p:nvSpPr>
        <p:spPr>
          <a:xfrm>
            <a:off x="338328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manger tout</a:t>
            </a:r>
            <a:endParaRPr lang="en-US" sz="1400" dirty="0"/>
          </a:p>
        </p:txBody>
      </p:sp>
      <p:sp>
        <p:nvSpPr>
          <p:cNvPr id="29" name="tag"/>
          <p:cNvSpPr/>
          <p:nvPr/>
        </p:nvSpPr>
        <p:spPr>
          <a:xfrm>
            <a:off x="3694176" y="5715000"/>
            <a:ext cx="2093976"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une préposition</a:t>
            </a:r>
            <a:endParaRPr lang="en-US" sz="1200" dirty="0"/>
          </a:p>
        </p:txBody>
      </p:sp>
      <p:sp>
        <p:nvSpPr>
          <p:cNvPr id="30" name="Shape 23"/>
          <p:cNvSpPr/>
          <p:nvPr/>
        </p:nvSpPr>
        <p:spPr>
          <a:xfrm>
            <a:off x="621792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horse">    </p:cNvPr>
          <p:cNvPicPr>
            <a:picLocks noChangeAspect="1"/>
          </p:cNvPicPr>
          <p:nvPr/>
        </p:nvPicPr>
        <p:blipFill>
          <a:blip r:embed="rId5"/>
          <a:stretch>
            <a:fillRect/>
          </a:stretch>
        </p:blipFill>
        <p:spPr>
          <a:xfrm>
            <a:off x="7086600" y="3703320"/>
            <a:ext cx="868680" cy="868680"/>
          </a:xfrm>
          <a:prstGeom prst="rect">
            <a:avLst/>
          </a:prstGeom>
        </p:spPr>
      </p:pic>
      <p:sp>
        <p:nvSpPr>
          <p:cNvPr id="32" name="Text 24"/>
          <p:cNvSpPr txBox="1"/>
          <p:nvPr/>
        </p:nvSpPr>
        <p:spPr>
          <a:xfrm>
            <a:off x="621792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paard</a:t>
            </a:r>
            <a:r>
              <a:rPr lang="en-US" sz="2200" b="1" i="1" dirty="0">
                <a:solidFill>
                  <a:schemeClr val="tx1"/>
                </a:solidFill>
                <a:latin typeface="+mj-lt" pitchFamily="34" charset="0"/>
                <a:ea typeface="+mj-lt" pitchFamily="34" charset="-122"/>
                <a:cs typeface="+mj-lt" pitchFamily="34" charset="-120"/>
              </a:rPr>
              <a:t>rijden</a:t>
            </a:r>
            <a:endParaRPr lang="en-US" sz="2200" dirty="0"/>
          </a:p>
        </p:txBody>
      </p:sp>
      <p:sp>
        <p:nvSpPr>
          <p:cNvPr id="33" name="Text 25"/>
          <p:cNvSpPr txBox="1"/>
          <p:nvPr/>
        </p:nvSpPr>
        <p:spPr>
          <a:xfrm>
            <a:off x="621792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faire du cheval</a:t>
            </a:r>
            <a:endParaRPr lang="en-US" sz="1400" dirty="0"/>
          </a:p>
        </p:txBody>
      </p:sp>
      <p:sp>
        <p:nvSpPr>
          <p:cNvPr id="34" name="tag"/>
          <p:cNvSpPr/>
          <p:nvPr/>
        </p:nvSpPr>
        <p:spPr>
          <a:xfrm>
            <a:off x="7014362" y="5715000"/>
            <a:ext cx="101315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nom</a:t>
            </a:r>
            <a:endParaRPr lang="en-US" sz="1200" dirty="0"/>
          </a:p>
        </p:txBody>
      </p:sp>
      <p:sp>
        <p:nvSpPr>
          <p:cNvPr id="35" name="Shape 27"/>
          <p:cNvSpPr/>
          <p:nvPr/>
        </p:nvSpPr>
        <p:spPr>
          <a:xfrm>
            <a:off x="905256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5" descr="door">    </p:cNvPr>
          <p:cNvPicPr>
            <a:picLocks noChangeAspect="1"/>
          </p:cNvPicPr>
          <p:nvPr/>
        </p:nvPicPr>
        <p:blipFill>
          <a:blip r:embed="rId6"/>
          <a:stretch>
            <a:fillRect/>
          </a:stretch>
        </p:blipFill>
        <p:spPr>
          <a:xfrm>
            <a:off x="9921240" y="3703320"/>
            <a:ext cx="868680" cy="868680"/>
          </a:xfrm>
          <a:prstGeom prst="rect">
            <a:avLst/>
          </a:prstGeom>
        </p:spPr>
      </p:pic>
      <p:sp>
        <p:nvSpPr>
          <p:cNvPr id="37" name="Text 28"/>
          <p:cNvSpPr txBox="1"/>
          <p:nvPr/>
        </p:nvSpPr>
        <p:spPr>
          <a:xfrm>
            <a:off x="905256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open</a:t>
            </a:r>
            <a:r>
              <a:rPr lang="en-US" sz="2200" b="1" i="1" dirty="0">
                <a:solidFill>
                  <a:schemeClr val="tx1"/>
                </a:solidFill>
                <a:latin typeface="+mj-lt" pitchFamily="34" charset="0"/>
                <a:ea typeface="+mj-lt" pitchFamily="34" charset="-122"/>
                <a:cs typeface="+mj-lt" pitchFamily="34" charset="-120"/>
              </a:rPr>
              <a:t>doen</a:t>
            </a:r>
            <a:endParaRPr lang="en-US" sz="2200" dirty="0"/>
          </a:p>
        </p:txBody>
      </p:sp>
      <p:sp>
        <p:nvSpPr>
          <p:cNvPr id="38" name="Text 29"/>
          <p:cNvSpPr txBox="1"/>
          <p:nvPr/>
        </p:nvSpPr>
        <p:spPr>
          <a:xfrm>
            <a:off x="905256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ouvrir</a:t>
            </a:r>
            <a:endParaRPr lang="en-US" sz="1400" dirty="0"/>
          </a:p>
        </p:txBody>
      </p:sp>
      <p:sp>
        <p:nvSpPr>
          <p:cNvPr id="39" name="tag"/>
          <p:cNvSpPr/>
          <p:nvPr/>
        </p:nvSpPr>
        <p:spPr>
          <a:xfrm>
            <a:off x="9579254" y="5715000"/>
            <a:ext cx="1552651"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adjectif</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présent, la particule saute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931920" y="1554480"/>
            <a:ext cx="457200" cy="457200"/>
          </a:xfrm>
          <a:prstGeom prst="ellipse">
            <a:avLst/>
          </a:prstGeom>
          <a:solidFill>
            <a:schemeClr val="accent6"/>
          </a:solidFill>
          <a:ln w="12700">
            <a:solidFill>
              <a:srgbClr val="FFFFFF">
                <a:alpha val="0"/>
              </a:srgbClr>
            </a:solidFill>
            <a:prstDash val="solid"/>
          </a:ln>
        </p:spPr>
      </p:sp>
      <p:sp>
        <p:nvSpPr>
          <p:cNvPr id="6" name="Text 3"/>
          <p:cNvSpPr txBox="1"/>
          <p:nvPr/>
        </p:nvSpPr>
        <p:spPr>
          <a:xfrm>
            <a:off x="39319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Shape 4"/>
          <p:cNvSpPr/>
          <p:nvPr/>
        </p:nvSpPr>
        <p:spPr>
          <a:xfrm>
            <a:off x="10744200" y="1554480"/>
            <a:ext cx="457200" cy="457200"/>
          </a:xfrm>
          <a:prstGeom prst="ellipse">
            <a:avLst/>
          </a:prstGeom>
          <a:solidFill>
            <a:schemeClr val="accent1"/>
          </a:solidFill>
          <a:ln w="12700">
            <a:solidFill>
              <a:srgbClr val="FFFFFF">
                <a:alpha val="0"/>
              </a:srgbClr>
            </a:solidFill>
            <a:prstDash val="solid"/>
          </a:ln>
        </p:spPr>
      </p:sp>
      <p:sp>
        <p:nvSpPr>
          <p:cNvPr id="8" name="Text 5"/>
          <p:cNvSpPr txBox="1"/>
          <p:nvPr/>
        </p:nvSpPr>
        <p:spPr>
          <a:xfrm>
            <a:off x="1074420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9" name="Text 6"/>
          <p:cNvSpPr txBox="1"/>
          <p:nvPr/>
        </p:nvSpPr>
        <p:spPr>
          <a:xfrm>
            <a:off x="548640" y="214884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af</a:t>
            </a:r>
            <a:r>
              <a:rPr lang="en-US" sz="1800" b="1" i="1" dirty="0">
                <a:solidFill>
                  <a:schemeClr val="tx1"/>
                </a:solidFill>
              </a:rPr>
              <a:t>maken</a:t>
            </a:r>
            <a:endParaRPr lang="en-US" sz="1800" dirty="0"/>
          </a:p>
        </p:txBody>
      </p:sp>
      <p:sp>
        <p:nvSpPr>
          <p:cNvPr id="10" name="Shape 7"/>
          <p:cNvSpPr/>
          <p:nvPr/>
        </p:nvSpPr>
        <p:spPr>
          <a:xfrm>
            <a:off x="2468880" y="2194560"/>
            <a:ext cx="914400" cy="685800"/>
          </a:xfrm>
          <a:prstGeom prst="roundRect">
            <a:avLst>
              <a:gd name="adj" fmla="val 10667"/>
            </a:avLst>
          </a:prstGeom>
          <a:solidFill>
            <a:schemeClr val="bg1"/>
          </a:solidFill>
          <a:ln w="15875">
            <a:solidFill>
              <a:srgbClr val="D5DCE6"/>
            </a:solidFill>
            <a:prstDash val="solid"/>
          </a:ln>
        </p:spPr>
      </p:sp>
      <p:sp>
        <p:nvSpPr>
          <p:cNvPr id="11" name="Text 8"/>
          <p:cNvSpPr txBox="1"/>
          <p:nvPr/>
        </p:nvSpPr>
        <p:spPr>
          <a:xfrm>
            <a:off x="2468880" y="219456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9"/>
          <p:cNvSpPr/>
          <p:nvPr/>
        </p:nvSpPr>
        <p:spPr>
          <a:xfrm>
            <a:off x="3474720" y="2194560"/>
            <a:ext cx="1371600" cy="685800"/>
          </a:xfrm>
          <a:prstGeom prst="roundRect">
            <a:avLst>
              <a:gd name="adj" fmla="val 10667"/>
            </a:avLst>
          </a:prstGeom>
          <a:solidFill>
            <a:srgbClr val="FBEDEB"/>
          </a:solidFill>
          <a:ln w="31750">
            <a:solidFill>
              <a:srgbClr val="B83227"/>
            </a:solidFill>
            <a:prstDash val="solid"/>
          </a:ln>
        </p:spPr>
      </p:sp>
      <p:sp>
        <p:nvSpPr>
          <p:cNvPr id="13" name="Text 10"/>
          <p:cNvSpPr txBox="1"/>
          <p:nvPr/>
        </p:nvSpPr>
        <p:spPr>
          <a:xfrm>
            <a:off x="3474720" y="219456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maak</a:t>
            </a:r>
            <a:endParaRPr lang="en-US" sz="2200" dirty="0"/>
          </a:p>
        </p:txBody>
      </p:sp>
      <p:sp>
        <p:nvSpPr>
          <p:cNvPr id="14" name="Shape 11"/>
          <p:cNvSpPr/>
          <p:nvPr/>
        </p:nvSpPr>
        <p:spPr>
          <a:xfrm>
            <a:off x="4937760" y="2194560"/>
            <a:ext cx="5303520" cy="685800"/>
          </a:xfrm>
          <a:prstGeom prst="roundRect">
            <a:avLst>
              <a:gd name="adj" fmla="val 10667"/>
            </a:avLst>
          </a:prstGeom>
          <a:solidFill>
            <a:schemeClr val="bg1"/>
          </a:solidFill>
          <a:ln w="15875">
            <a:solidFill>
              <a:srgbClr val="D5DCE6"/>
            </a:solidFill>
            <a:prstDash val="solid"/>
          </a:ln>
        </p:spPr>
      </p:sp>
      <p:sp>
        <p:nvSpPr>
          <p:cNvPr id="15" name="Text 12"/>
          <p:cNvSpPr txBox="1"/>
          <p:nvPr/>
        </p:nvSpPr>
        <p:spPr>
          <a:xfrm>
            <a:off x="4937760" y="219456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mijn oefeningen</a:t>
            </a:r>
            <a:endParaRPr lang="en-US" sz="2200" dirty="0"/>
          </a:p>
        </p:txBody>
      </p:sp>
      <p:sp>
        <p:nvSpPr>
          <p:cNvPr id="16" name="Shape 13"/>
          <p:cNvSpPr/>
          <p:nvPr/>
        </p:nvSpPr>
        <p:spPr>
          <a:xfrm>
            <a:off x="10332720" y="2194560"/>
            <a:ext cx="1280160" cy="685800"/>
          </a:xfrm>
          <a:prstGeom prst="roundRect">
            <a:avLst>
              <a:gd name="adj" fmla="val 10667"/>
            </a:avLst>
          </a:prstGeom>
          <a:solidFill>
            <a:srgbClr val="FDF1E6"/>
          </a:solidFill>
          <a:ln w="25400">
            <a:solidFill>
              <a:srgbClr val="D9700F"/>
            </a:solidFill>
            <a:prstDash val="dash"/>
          </a:ln>
        </p:spPr>
      </p:sp>
      <p:sp>
        <p:nvSpPr>
          <p:cNvPr id="17" name="Text 14"/>
          <p:cNvSpPr txBox="1"/>
          <p:nvPr/>
        </p:nvSpPr>
        <p:spPr>
          <a:xfrm>
            <a:off x="10332720" y="219456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af.</a:t>
            </a:r>
            <a:endParaRPr lang="en-US" sz="2200" dirty="0"/>
          </a:p>
        </p:txBody>
      </p:sp>
      <p:sp>
        <p:nvSpPr>
          <p:cNvPr id="18" name="Text 15"/>
          <p:cNvSpPr txBox="1"/>
          <p:nvPr/>
        </p:nvSpPr>
        <p:spPr>
          <a:xfrm>
            <a:off x="5029200" y="289864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je termine mes exercices</a:t>
            </a:r>
            <a:endParaRPr lang="en-US" sz="1300" dirty="0"/>
          </a:p>
        </p:txBody>
      </p:sp>
      <p:sp>
        <p:nvSpPr>
          <p:cNvPr id="19" name="Text 16"/>
          <p:cNvSpPr txBox="1"/>
          <p:nvPr/>
        </p:nvSpPr>
        <p:spPr>
          <a:xfrm>
            <a:off x="548640" y="324612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op</a:t>
            </a:r>
            <a:r>
              <a:rPr lang="en-US" sz="1800" b="1" i="1" dirty="0">
                <a:solidFill>
                  <a:schemeClr val="tx1"/>
                </a:solidFill>
              </a:rPr>
              <a:t>bellen</a:t>
            </a:r>
            <a:endParaRPr lang="en-US" sz="1800" dirty="0"/>
          </a:p>
        </p:txBody>
      </p:sp>
      <p:sp>
        <p:nvSpPr>
          <p:cNvPr id="20" name="Shape 17"/>
          <p:cNvSpPr/>
          <p:nvPr/>
        </p:nvSpPr>
        <p:spPr>
          <a:xfrm>
            <a:off x="2468880" y="3291840"/>
            <a:ext cx="914400"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2468880" y="329184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22" name="Shape 19"/>
          <p:cNvSpPr/>
          <p:nvPr/>
        </p:nvSpPr>
        <p:spPr>
          <a:xfrm>
            <a:off x="3474720" y="3291840"/>
            <a:ext cx="1371600" cy="685800"/>
          </a:xfrm>
          <a:prstGeom prst="roundRect">
            <a:avLst>
              <a:gd name="adj" fmla="val 10667"/>
            </a:avLst>
          </a:prstGeom>
          <a:solidFill>
            <a:srgbClr val="FBEDEB"/>
          </a:solidFill>
          <a:ln w="31750">
            <a:solidFill>
              <a:srgbClr val="B83227"/>
            </a:solidFill>
            <a:prstDash val="solid"/>
          </a:ln>
        </p:spPr>
      </p:sp>
      <p:sp>
        <p:nvSpPr>
          <p:cNvPr id="23" name="Text 20"/>
          <p:cNvSpPr txBox="1"/>
          <p:nvPr/>
        </p:nvSpPr>
        <p:spPr>
          <a:xfrm>
            <a:off x="3474720" y="329184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belt</a:t>
            </a:r>
            <a:endParaRPr lang="en-US" sz="2200" dirty="0"/>
          </a:p>
        </p:txBody>
      </p:sp>
      <p:sp>
        <p:nvSpPr>
          <p:cNvPr id="24" name="Shape 21"/>
          <p:cNvSpPr/>
          <p:nvPr/>
        </p:nvSpPr>
        <p:spPr>
          <a:xfrm>
            <a:off x="4937760" y="3291840"/>
            <a:ext cx="5303520" cy="685800"/>
          </a:xfrm>
          <a:prstGeom prst="roundRect">
            <a:avLst>
              <a:gd name="adj" fmla="val 10667"/>
            </a:avLst>
          </a:prstGeom>
          <a:solidFill>
            <a:schemeClr val="bg1"/>
          </a:solidFill>
          <a:ln w="15875">
            <a:solidFill>
              <a:srgbClr val="D5DCE6"/>
            </a:solidFill>
            <a:prstDash val="solid"/>
          </a:ln>
        </p:spPr>
      </p:sp>
      <p:sp>
        <p:nvSpPr>
          <p:cNvPr id="25" name="Text 22"/>
          <p:cNvSpPr txBox="1"/>
          <p:nvPr/>
        </p:nvSpPr>
        <p:spPr>
          <a:xfrm>
            <a:off x="4937760" y="329184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de klant morgen</a:t>
            </a:r>
            <a:endParaRPr lang="en-US" sz="2200" dirty="0"/>
          </a:p>
        </p:txBody>
      </p:sp>
      <p:sp>
        <p:nvSpPr>
          <p:cNvPr id="26" name="Shape 23"/>
          <p:cNvSpPr/>
          <p:nvPr/>
        </p:nvSpPr>
        <p:spPr>
          <a:xfrm>
            <a:off x="10332720" y="3291840"/>
            <a:ext cx="1280160" cy="685800"/>
          </a:xfrm>
          <a:prstGeom prst="roundRect">
            <a:avLst>
              <a:gd name="adj" fmla="val 10667"/>
            </a:avLst>
          </a:prstGeom>
          <a:solidFill>
            <a:srgbClr val="FDF1E6"/>
          </a:solidFill>
          <a:ln w="25400">
            <a:solidFill>
              <a:srgbClr val="D9700F"/>
            </a:solidFill>
            <a:prstDash val="dash"/>
          </a:ln>
        </p:spPr>
      </p:sp>
      <p:sp>
        <p:nvSpPr>
          <p:cNvPr id="27" name="Text 24"/>
          <p:cNvSpPr txBox="1"/>
          <p:nvPr/>
        </p:nvSpPr>
        <p:spPr>
          <a:xfrm>
            <a:off x="10332720" y="329184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op.</a:t>
            </a:r>
            <a:endParaRPr lang="en-US" sz="2200" dirty="0"/>
          </a:p>
        </p:txBody>
      </p:sp>
      <p:sp>
        <p:nvSpPr>
          <p:cNvPr id="28" name="Text 25"/>
          <p:cNvSpPr txBox="1"/>
          <p:nvPr/>
        </p:nvSpPr>
        <p:spPr>
          <a:xfrm>
            <a:off x="5029200" y="399592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Sofie appelle le client demain</a:t>
            </a:r>
            <a:endParaRPr lang="en-US" sz="1300" dirty="0"/>
          </a:p>
        </p:txBody>
      </p:sp>
      <p:sp>
        <p:nvSpPr>
          <p:cNvPr id="29" name="Text 26"/>
          <p:cNvSpPr txBox="1"/>
          <p:nvPr/>
        </p:nvSpPr>
        <p:spPr>
          <a:xfrm>
            <a:off x="548640" y="434340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mee</a:t>
            </a:r>
            <a:r>
              <a:rPr lang="en-US" sz="1800" b="1" i="1" dirty="0">
                <a:solidFill>
                  <a:schemeClr val="tx1"/>
                </a:solidFill>
              </a:rPr>
              <a:t>nemen</a:t>
            </a:r>
            <a:endParaRPr lang="en-US" sz="1800" dirty="0"/>
          </a:p>
        </p:txBody>
      </p:sp>
      <p:sp>
        <p:nvSpPr>
          <p:cNvPr id="30" name="Shape 27"/>
          <p:cNvSpPr/>
          <p:nvPr/>
        </p:nvSpPr>
        <p:spPr>
          <a:xfrm>
            <a:off x="2468880" y="4389120"/>
            <a:ext cx="914400" cy="685800"/>
          </a:xfrm>
          <a:prstGeom prst="roundRect">
            <a:avLst>
              <a:gd name="adj" fmla="val 10667"/>
            </a:avLst>
          </a:prstGeom>
          <a:solidFill>
            <a:schemeClr val="bg1"/>
          </a:solidFill>
          <a:ln w="15875">
            <a:solidFill>
              <a:srgbClr val="D5DCE6"/>
            </a:solidFill>
            <a:prstDash val="solid"/>
          </a:ln>
        </p:spPr>
      </p:sp>
      <p:sp>
        <p:nvSpPr>
          <p:cNvPr id="31" name="Text 28"/>
          <p:cNvSpPr txBox="1"/>
          <p:nvPr/>
        </p:nvSpPr>
        <p:spPr>
          <a:xfrm>
            <a:off x="2468880" y="438912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We</a:t>
            </a:r>
            <a:endParaRPr lang="en-US" sz="2200" dirty="0"/>
          </a:p>
        </p:txBody>
      </p:sp>
      <p:sp>
        <p:nvSpPr>
          <p:cNvPr id="32" name="Shape 29"/>
          <p:cNvSpPr/>
          <p:nvPr/>
        </p:nvSpPr>
        <p:spPr>
          <a:xfrm>
            <a:off x="3474720" y="4389120"/>
            <a:ext cx="1371600" cy="685800"/>
          </a:xfrm>
          <a:prstGeom prst="roundRect">
            <a:avLst>
              <a:gd name="adj" fmla="val 10667"/>
            </a:avLst>
          </a:prstGeom>
          <a:solidFill>
            <a:srgbClr val="FBEDEB"/>
          </a:solidFill>
          <a:ln w="31750">
            <a:solidFill>
              <a:srgbClr val="B83227"/>
            </a:solidFill>
            <a:prstDash val="solid"/>
          </a:ln>
        </p:spPr>
      </p:sp>
      <p:sp>
        <p:nvSpPr>
          <p:cNvPr id="33" name="Text 30"/>
          <p:cNvSpPr txBox="1"/>
          <p:nvPr/>
        </p:nvSpPr>
        <p:spPr>
          <a:xfrm>
            <a:off x="3474720" y="438912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nemen</a:t>
            </a:r>
            <a:endParaRPr lang="en-US" sz="2200" dirty="0"/>
          </a:p>
        </p:txBody>
      </p:sp>
      <p:sp>
        <p:nvSpPr>
          <p:cNvPr id="34" name="Shape 31"/>
          <p:cNvSpPr/>
          <p:nvPr/>
        </p:nvSpPr>
        <p:spPr>
          <a:xfrm>
            <a:off x="4937760" y="4389120"/>
            <a:ext cx="5303520" cy="685800"/>
          </a:xfrm>
          <a:prstGeom prst="roundRect">
            <a:avLst>
              <a:gd name="adj" fmla="val 10667"/>
            </a:avLst>
          </a:prstGeom>
          <a:solidFill>
            <a:schemeClr val="bg1"/>
          </a:solidFill>
          <a:ln w="15875">
            <a:solidFill>
              <a:srgbClr val="D5DCE6"/>
            </a:solidFill>
            <a:prstDash val="solid"/>
          </a:ln>
        </p:spPr>
      </p:sp>
      <p:sp>
        <p:nvSpPr>
          <p:cNvPr id="35" name="Text 32"/>
          <p:cNvSpPr txBox="1"/>
          <p:nvPr/>
        </p:nvSpPr>
        <p:spPr>
          <a:xfrm>
            <a:off x="4937760" y="438912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een broodje</a:t>
            </a:r>
            <a:endParaRPr lang="en-US" sz="2200" dirty="0"/>
          </a:p>
        </p:txBody>
      </p:sp>
      <p:sp>
        <p:nvSpPr>
          <p:cNvPr id="36" name="Shape 33"/>
          <p:cNvSpPr/>
          <p:nvPr/>
        </p:nvSpPr>
        <p:spPr>
          <a:xfrm>
            <a:off x="10332720" y="4389120"/>
            <a:ext cx="1280160" cy="685800"/>
          </a:xfrm>
          <a:prstGeom prst="roundRect">
            <a:avLst>
              <a:gd name="adj" fmla="val 10667"/>
            </a:avLst>
          </a:prstGeom>
          <a:solidFill>
            <a:srgbClr val="FDF1E6"/>
          </a:solidFill>
          <a:ln w="25400">
            <a:solidFill>
              <a:srgbClr val="D9700F"/>
            </a:solidFill>
            <a:prstDash val="dash"/>
          </a:ln>
        </p:spPr>
      </p:sp>
      <p:sp>
        <p:nvSpPr>
          <p:cNvPr id="37" name="Text 34"/>
          <p:cNvSpPr txBox="1"/>
          <p:nvPr/>
        </p:nvSpPr>
        <p:spPr>
          <a:xfrm>
            <a:off x="10332720" y="438912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mee.</a:t>
            </a:r>
            <a:endParaRPr lang="en-US" sz="2200" dirty="0"/>
          </a:p>
        </p:txBody>
      </p:sp>
      <p:sp>
        <p:nvSpPr>
          <p:cNvPr id="38" name="Text 35"/>
          <p:cNvSpPr txBox="1"/>
          <p:nvPr/>
        </p:nvSpPr>
        <p:spPr>
          <a:xfrm>
            <a:off x="5029200" y="509320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nous emportons un sandwich</a:t>
            </a:r>
            <a:endParaRPr lang="en-US" sz="1300" dirty="0"/>
          </a:p>
        </p:txBody>
      </p:sp>
      <p:sp>
        <p:nvSpPr>
          <p:cNvPr id="39" name="Shape 3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40" name="Text 3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Règle : au présent, le verbe conjugué est en </a:t>
            </a:r>
            <a:r>
              <a:rPr lang="en-US" sz="1800" b="1" dirty="0">
                <a:solidFill>
                  <a:schemeClr val="bg1"/>
                </a:solidFill>
              </a:rPr>
              <a:t>②</a:t>
            </a:r>
            <a:r>
              <a:rPr lang="en-US" sz="1800" dirty="0">
                <a:solidFill>
                  <a:schemeClr val="bg1"/>
                </a:solidFill>
              </a:rPr>
              <a:t>, la particule va </a:t>
            </a:r>
            <a:r>
              <a:rPr lang="en-US" sz="1800" b="1" dirty="0">
                <a:solidFill>
                  <a:schemeClr val="bg1"/>
                </a:solidFill>
              </a:rPr>
              <a:t>au bout</a:t>
            </a:r>
            <a:r>
              <a:rPr lang="en-US" sz="1800" dirty="0">
                <a:solidFill>
                  <a:schemeClr val="bg1"/>
                </a:solidFill>
              </a:rPr>
              <a:t> (</a:t>
            </a:r>
            <a:r>
              <a:rPr lang="en-US" sz="1800" b="1" dirty="0">
                <a:solidFill>
                  <a:schemeClr val="bg1"/>
                </a:solidFill>
              </a:rPr>
              <a:t>⑥</a:t>
            </a:r>
            <a:r>
              <a:rPr lang="en-US" sz="1800" dirty="0">
                <a:solidFill>
                  <a:schemeClr val="bg1"/>
                </a:solidFill>
              </a:rPr>
              <a:t>) : c’est la pince du M3.</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particules les plus fréquentes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7" name="Text 4"/>
          <p:cNvSpPr txBox="1"/>
          <p:nvPr/>
        </p:nvSpPr>
        <p:spPr>
          <a:xfrm>
            <a:off x="54864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op</a:t>
            </a:r>
            <a:endParaRPr lang="en-US" sz="3400" dirty="0"/>
          </a:p>
        </p:txBody>
      </p:sp>
      <p:sp>
        <p:nvSpPr>
          <p:cNvPr id="8" name="Text 5"/>
          <p:cNvSpPr txBox="1"/>
          <p:nvPr/>
        </p:nvSpPr>
        <p:spPr>
          <a:xfrm>
            <a:off x="54864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9" name="Text 6"/>
          <p:cNvSpPr txBox="1"/>
          <p:nvPr/>
        </p:nvSpPr>
        <p:spPr>
          <a:xfrm>
            <a:off x="64008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opstaan · opbellen</a:t>
            </a:r>
            <a:endParaRPr lang="en-US" sz="1500" dirty="0"/>
          </a:p>
        </p:txBody>
      </p:sp>
      <p:sp>
        <p:nvSpPr>
          <p:cNvPr id="10" name="Shape 7"/>
          <p:cNvSpPr/>
          <p:nvPr/>
        </p:nvSpPr>
        <p:spPr>
          <a:xfrm>
            <a:off x="280355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2" name="Text 9"/>
          <p:cNvSpPr txBox="1"/>
          <p:nvPr/>
        </p:nvSpPr>
        <p:spPr>
          <a:xfrm>
            <a:off x="280355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af</a:t>
            </a:r>
            <a:endParaRPr lang="en-US" sz="3400" dirty="0"/>
          </a:p>
        </p:txBody>
      </p:sp>
      <p:sp>
        <p:nvSpPr>
          <p:cNvPr id="13" name="Text 10"/>
          <p:cNvSpPr txBox="1"/>
          <p:nvPr/>
        </p:nvSpPr>
        <p:spPr>
          <a:xfrm>
            <a:off x="280355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14" name="Text 11"/>
          <p:cNvSpPr txBox="1"/>
          <p:nvPr/>
        </p:nvSpPr>
        <p:spPr>
          <a:xfrm>
            <a:off x="289499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afmaken · afspreken</a:t>
            </a:r>
            <a:endParaRPr lang="en-US" sz="1500" dirty="0"/>
          </a:p>
        </p:txBody>
      </p:sp>
      <p:sp>
        <p:nvSpPr>
          <p:cNvPr id="15" name="Shape 12"/>
          <p:cNvSpPr/>
          <p:nvPr/>
        </p:nvSpPr>
        <p:spPr>
          <a:xfrm>
            <a:off x="505846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7" name="Text 14"/>
          <p:cNvSpPr txBox="1"/>
          <p:nvPr/>
        </p:nvSpPr>
        <p:spPr>
          <a:xfrm>
            <a:off x="505846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a:t>
            </a:r>
            <a:endParaRPr lang="en-US" sz="3400" dirty="0"/>
          </a:p>
        </p:txBody>
      </p:sp>
      <p:sp>
        <p:nvSpPr>
          <p:cNvPr id="18" name="Text 15"/>
          <p:cNvSpPr txBox="1"/>
          <p:nvPr/>
        </p:nvSpPr>
        <p:spPr>
          <a:xfrm>
            <a:off x="505846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19" name="Text 16"/>
          <p:cNvSpPr txBox="1"/>
          <p:nvPr/>
        </p:nvSpPr>
        <p:spPr>
          <a:xfrm>
            <a:off x="514990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inloggen · invullen</a:t>
            </a:r>
            <a:endParaRPr lang="en-US" sz="1500" dirty="0"/>
          </a:p>
        </p:txBody>
      </p:sp>
      <p:sp>
        <p:nvSpPr>
          <p:cNvPr id="20" name="Shape 17"/>
          <p:cNvSpPr/>
          <p:nvPr/>
        </p:nvSpPr>
        <p:spPr>
          <a:xfrm>
            <a:off x="731337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2" name="Text 19"/>
          <p:cNvSpPr txBox="1"/>
          <p:nvPr/>
        </p:nvSpPr>
        <p:spPr>
          <a:xfrm>
            <a:off x="731337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uit</a:t>
            </a:r>
            <a:endParaRPr lang="en-US" sz="3400" dirty="0"/>
          </a:p>
        </p:txBody>
      </p:sp>
      <p:sp>
        <p:nvSpPr>
          <p:cNvPr id="23" name="Text 20"/>
          <p:cNvSpPr txBox="1"/>
          <p:nvPr/>
        </p:nvSpPr>
        <p:spPr>
          <a:xfrm>
            <a:off x="731337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4" name="Text 21"/>
          <p:cNvSpPr txBox="1"/>
          <p:nvPr/>
        </p:nvSpPr>
        <p:spPr>
          <a:xfrm>
            <a:off x="740481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uitloggen · uitgaan</a:t>
            </a:r>
            <a:endParaRPr lang="en-US" sz="1500" dirty="0"/>
          </a:p>
        </p:txBody>
      </p:sp>
      <p:sp>
        <p:nvSpPr>
          <p:cNvPr id="25" name="Shape 22"/>
          <p:cNvSpPr/>
          <p:nvPr/>
        </p:nvSpPr>
        <p:spPr>
          <a:xfrm>
            <a:off x="9568282"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7" name="Text 24"/>
          <p:cNvSpPr txBox="1"/>
          <p:nvPr/>
        </p:nvSpPr>
        <p:spPr>
          <a:xfrm>
            <a:off x="9568282"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mee</a:t>
            </a:r>
            <a:endParaRPr lang="en-US" sz="3400" dirty="0"/>
          </a:p>
        </p:txBody>
      </p:sp>
      <p:sp>
        <p:nvSpPr>
          <p:cNvPr id="28" name="Text 25"/>
          <p:cNvSpPr txBox="1"/>
          <p:nvPr/>
        </p:nvSpPr>
        <p:spPr>
          <a:xfrm>
            <a:off x="9568282"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9" name="Text 26"/>
          <p:cNvSpPr txBox="1"/>
          <p:nvPr/>
        </p:nvSpPr>
        <p:spPr>
          <a:xfrm>
            <a:off x="9659722"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meenemen · meedoen</a:t>
            </a:r>
            <a:endParaRPr lang="en-US" sz="1500" dirty="0"/>
          </a:p>
        </p:txBody>
      </p:sp>
      <p:sp>
        <p:nvSpPr>
          <p:cNvPr id="30" name="Shape 27"/>
          <p:cNvSpPr/>
          <p:nvPr/>
        </p:nvSpPr>
        <p:spPr>
          <a:xfrm>
            <a:off x="54864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54864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2" name="Text 29"/>
          <p:cNvSpPr txBox="1"/>
          <p:nvPr/>
        </p:nvSpPr>
        <p:spPr>
          <a:xfrm>
            <a:off x="54864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weg</a:t>
            </a:r>
            <a:endParaRPr lang="en-US" sz="3400" dirty="0"/>
          </a:p>
        </p:txBody>
      </p:sp>
      <p:sp>
        <p:nvSpPr>
          <p:cNvPr id="33" name="Text 30"/>
          <p:cNvSpPr txBox="1"/>
          <p:nvPr/>
        </p:nvSpPr>
        <p:spPr>
          <a:xfrm>
            <a:off x="54864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4" name="Text 31"/>
          <p:cNvSpPr txBox="1"/>
          <p:nvPr/>
        </p:nvSpPr>
        <p:spPr>
          <a:xfrm>
            <a:off x="64008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weggaan</a:t>
            </a:r>
            <a:endParaRPr lang="en-US" sz="1500" dirty="0"/>
          </a:p>
        </p:txBody>
      </p:sp>
      <p:sp>
        <p:nvSpPr>
          <p:cNvPr id="35" name="Shape 32"/>
          <p:cNvSpPr/>
          <p:nvPr/>
        </p:nvSpPr>
        <p:spPr>
          <a:xfrm>
            <a:off x="280355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280355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7" name="Text 34"/>
          <p:cNvSpPr txBox="1"/>
          <p:nvPr/>
        </p:nvSpPr>
        <p:spPr>
          <a:xfrm>
            <a:off x="280355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terug</a:t>
            </a:r>
            <a:endParaRPr lang="en-US" sz="3400" dirty="0"/>
          </a:p>
        </p:txBody>
      </p:sp>
      <p:sp>
        <p:nvSpPr>
          <p:cNvPr id="38" name="Text 35"/>
          <p:cNvSpPr txBox="1"/>
          <p:nvPr/>
        </p:nvSpPr>
        <p:spPr>
          <a:xfrm>
            <a:off x="280355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9" name="Text 36"/>
          <p:cNvSpPr txBox="1"/>
          <p:nvPr/>
        </p:nvSpPr>
        <p:spPr>
          <a:xfrm>
            <a:off x="289499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terugbellen · terugkomen</a:t>
            </a:r>
            <a:endParaRPr lang="en-US" sz="1500" dirty="0"/>
          </a:p>
        </p:txBody>
      </p:sp>
      <p:sp>
        <p:nvSpPr>
          <p:cNvPr id="40" name="Shape 37"/>
          <p:cNvSpPr/>
          <p:nvPr/>
        </p:nvSpPr>
        <p:spPr>
          <a:xfrm>
            <a:off x="505846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05846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2" name="Text 39"/>
          <p:cNvSpPr txBox="1"/>
          <p:nvPr/>
        </p:nvSpPr>
        <p:spPr>
          <a:xfrm>
            <a:off x="505846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aan</a:t>
            </a:r>
            <a:endParaRPr lang="en-US" sz="3400" dirty="0"/>
          </a:p>
        </p:txBody>
      </p:sp>
      <p:sp>
        <p:nvSpPr>
          <p:cNvPr id="43" name="Text 40"/>
          <p:cNvSpPr txBox="1"/>
          <p:nvPr/>
        </p:nvSpPr>
        <p:spPr>
          <a:xfrm>
            <a:off x="505846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4" name="Text 41"/>
          <p:cNvSpPr txBox="1"/>
          <p:nvPr/>
        </p:nvSpPr>
        <p:spPr>
          <a:xfrm>
            <a:off x="514990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aankomen · aandoen</a:t>
            </a:r>
            <a:endParaRPr lang="en-US" sz="1500" dirty="0"/>
          </a:p>
        </p:txBody>
      </p:sp>
      <p:sp>
        <p:nvSpPr>
          <p:cNvPr id="45" name="Shape 42"/>
          <p:cNvSpPr/>
          <p:nvPr/>
        </p:nvSpPr>
        <p:spPr>
          <a:xfrm>
            <a:off x="731337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6" name="Shape 43"/>
          <p:cNvSpPr/>
          <p:nvPr/>
        </p:nvSpPr>
        <p:spPr>
          <a:xfrm>
            <a:off x="731337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7" name="Text 44"/>
          <p:cNvSpPr txBox="1"/>
          <p:nvPr/>
        </p:nvSpPr>
        <p:spPr>
          <a:xfrm>
            <a:off x="731337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door</a:t>
            </a:r>
            <a:endParaRPr lang="en-US" sz="3400" dirty="0"/>
          </a:p>
        </p:txBody>
      </p:sp>
      <p:sp>
        <p:nvSpPr>
          <p:cNvPr id="48" name="Text 45"/>
          <p:cNvSpPr txBox="1"/>
          <p:nvPr/>
        </p:nvSpPr>
        <p:spPr>
          <a:xfrm>
            <a:off x="731337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9" name="Text 46"/>
          <p:cNvSpPr txBox="1"/>
          <p:nvPr/>
        </p:nvSpPr>
        <p:spPr>
          <a:xfrm>
            <a:off x="740481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doorgeven</a:t>
            </a:r>
            <a:endParaRPr lang="en-US" sz="1500" dirty="0"/>
          </a:p>
        </p:txBody>
      </p:sp>
      <p:sp>
        <p:nvSpPr>
          <p:cNvPr id="50" name="Shape 47"/>
          <p:cNvSpPr/>
          <p:nvPr/>
        </p:nvSpPr>
        <p:spPr>
          <a:xfrm>
            <a:off x="9568282"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1" name="Shape 48"/>
          <p:cNvSpPr/>
          <p:nvPr/>
        </p:nvSpPr>
        <p:spPr>
          <a:xfrm>
            <a:off x="9568282"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52" name="Text 49"/>
          <p:cNvSpPr txBox="1"/>
          <p:nvPr/>
        </p:nvSpPr>
        <p:spPr>
          <a:xfrm>
            <a:off x="9568282"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samen</a:t>
            </a:r>
            <a:endParaRPr lang="en-US" sz="3400" dirty="0"/>
          </a:p>
        </p:txBody>
      </p:sp>
      <p:sp>
        <p:nvSpPr>
          <p:cNvPr id="53" name="Text 50"/>
          <p:cNvSpPr txBox="1"/>
          <p:nvPr/>
        </p:nvSpPr>
        <p:spPr>
          <a:xfrm>
            <a:off x="9568282"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54" name="Text 51"/>
          <p:cNvSpPr txBox="1"/>
          <p:nvPr/>
        </p:nvSpPr>
        <p:spPr>
          <a:xfrm>
            <a:off x="9659722"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samenwerken</a:t>
            </a:r>
            <a:endParaRPr lang="en-US" sz="1500" dirty="0"/>
          </a:p>
        </p:txBody>
      </p:sp>
      <p:sp>
        <p:nvSpPr>
          <p:cNvPr id="55" name="Text 52"/>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L’« idée » de la particule aide souvent… mais pas toujours : </a:t>
            </a:r>
            <a:r>
              <a:rPr lang="en-US" sz="1500" i="1" dirty="0">
                <a:solidFill>
                  <a:schemeClr val="accent5"/>
                </a:solidFill>
              </a:rPr>
              <a:t>afspreken</a:t>
            </a:r>
            <a:r>
              <a:rPr lang="en-US" sz="1500" i="1" dirty="0">
                <a:solidFill>
                  <a:schemeClr val="accent5"/>
                </a:solidFill>
              </a:rPr>
              <a:t> = fixer un rendez-vous.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Séparable ou inséparable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2514600"/>
          </a:xfrm>
          <a:prstGeom prst="roundRect">
            <a:avLst>
              <a:gd name="adj" fmla="val 290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Text 5"/>
          <p:cNvSpPr txBox="1"/>
          <p:nvPr/>
        </p:nvSpPr>
        <p:spPr>
          <a:xfrm>
            <a:off x="822960"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sta</a:t>
            </a:r>
            <a:r>
              <a:rPr lang="en-US" sz="2000" i="1" dirty="0">
                <a:solidFill>
                  <a:schemeClr val="tx1"/>
                </a:solidFill>
              </a:rPr>
              <a:t> </a:t>
            </a:r>
            <a:r>
              <a:rPr lang="en-US" sz="2000" b="1" i="1" dirty="0">
                <a:solidFill>
                  <a:schemeClr val="accent1"/>
                </a:solidFill>
              </a:rPr>
              <a:t>op</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neem</a:t>
            </a:r>
            <a:r>
              <a:rPr lang="en-US" sz="2000" i="1" dirty="0">
                <a:solidFill>
                  <a:schemeClr val="tx1"/>
                </a:solidFill>
              </a:rPr>
              <a:t> mijn laptop </a:t>
            </a:r>
            <a:r>
              <a:rPr lang="en-US" sz="2000" b="1" i="1" dirty="0">
                <a:solidFill>
                  <a:schemeClr val="accent1"/>
                </a:solidFill>
              </a:rPr>
              <a:t>mee</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log</a:t>
            </a:r>
            <a:r>
              <a:rPr lang="en-US" sz="2000" i="1" dirty="0">
                <a:solidFill>
                  <a:schemeClr val="tx1"/>
                </a:solidFill>
              </a:rPr>
              <a:t> om 9 uur </a:t>
            </a:r>
            <a:r>
              <a:rPr lang="en-US" sz="2000" b="1" i="1" dirty="0">
                <a:solidFill>
                  <a:schemeClr val="accent1"/>
                </a:solidFill>
              </a:rPr>
              <a:t>in</a:t>
            </a:r>
            <a:r>
              <a:rPr lang="en-US" sz="2000" i="1" dirty="0">
                <a:solidFill>
                  <a:schemeClr val="tx1"/>
                </a:solidFill>
              </a:rPr>
              <a:t>.</a:t>
            </a:r>
            <a:endParaRPr lang="en-US" sz="2000" dirty="0"/>
          </a:p>
        </p:txBody>
      </p:sp>
      <p:sp>
        <p:nvSpPr>
          <p:cNvPr id="10" name="Shape 6"/>
          <p:cNvSpPr/>
          <p:nvPr/>
        </p:nvSpPr>
        <p:spPr>
          <a:xfrm>
            <a:off x="6227064" y="1554480"/>
            <a:ext cx="5413248" cy="2514600"/>
          </a:xfrm>
          <a:prstGeom prst="roundRect">
            <a:avLst>
              <a:gd name="adj" fmla="val 2909"/>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12"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13" name="Text 8"/>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14" name="Text 9"/>
          <p:cNvSpPr txBox="1"/>
          <p:nvPr/>
        </p:nvSpPr>
        <p:spPr>
          <a:xfrm>
            <a:off x="6501384"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ontmoet</a:t>
            </a:r>
            <a:r>
              <a:rPr lang="en-US" sz="2000" i="1" dirty="0">
                <a:solidFill>
                  <a:schemeClr val="tx1"/>
                </a:solidFill>
              </a:rPr>
              <a:t> vandaag mijn directeur.</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vergeet</a:t>
            </a:r>
            <a:r>
              <a:rPr lang="en-US" sz="2000" i="1" dirty="0">
                <a:solidFill>
                  <a:schemeClr val="tx1"/>
                </a:solidFill>
              </a:rPr>
              <a:t> mijn badge.</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betaal</a:t>
            </a:r>
            <a:r>
              <a:rPr lang="en-US" sz="2000" i="1" dirty="0">
                <a:solidFill>
                  <a:schemeClr val="tx1"/>
                </a:solidFill>
              </a:rPr>
              <a:t> de rekening.</a:t>
            </a:r>
            <a:endParaRPr lang="en-US" sz="2000" dirty="0"/>
          </a:p>
        </p:txBody>
      </p:sp>
      <p:sp>
        <p:nvSpPr>
          <p:cNvPr id="15" name="Shape 10"/>
          <p:cNvSpPr/>
          <p:nvPr/>
        </p:nvSpPr>
        <p:spPr>
          <a:xfrm>
            <a:off x="548640" y="4251960"/>
            <a:ext cx="5413248" cy="2011680"/>
          </a:xfrm>
          <a:prstGeom prst="roundRect">
            <a:avLst>
              <a:gd name="adj" fmla="val 3636"/>
            </a:avLst>
          </a:prstGeom>
          <a:solidFill>
            <a:schemeClr val="tx2">
              <a:alpha val="10000"/>
            </a:schemeClr>
          </a:solidFill>
          <a:ln w="15875">
            <a:solidFill>
              <a:srgbClr val="17375E"/>
            </a:solidFill>
            <a:prstDash val="solid"/>
          </a:ln>
        </p:spPr>
      </p:sp>
      <p:sp>
        <p:nvSpPr>
          <p:cNvPr id="16" name="tag"/>
          <p:cNvSpPr/>
          <p:nvPr/>
        </p:nvSpPr>
        <p:spPr>
          <a:xfrm>
            <a:off x="731520" y="4389120"/>
            <a:ext cx="252557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TEST 1 · LE PRÉFIXE</a:t>
            </a:r>
            <a:endParaRPr lang="en-US" sz="1200" dirty="0"/>
          </a:p>
        </p:txBody>
      </p:sp>
      <p:sp>
        <p:nvSpPr>
          <p:cNvPr id="17" name="Text 12"/>
          <p:cNvSpPr txBox="1"/>
          <p:nvPr/>
        </p:nvSpPr>
        <p:spPr>
          <a:xfrm>
            <a:off x="777240" y="4800600"/>
            <a:ext cx="5029200" cy="1371600"/>
          </a:xfrm>
          <a:prstGeom prst="rect">
            <a:avLst/>
          </a:prstGeom>
          <a:noFill/>
          <a:ln/>
        </p:spPr>
        <p:txBody>
          <a:bodyPr wrap="square" lIns="0" tIns="0" rIns="0" bIns="0" rtlCol="0" anchor="ctr"/>
          <a:lstStyle/>
          <a:p>
            <a:pPr algn="l" indent="0" marL="0">
              <a:spcAft>
                <a:spcPts val="600"/>
              </a:spcAft>
              <a:buNone/>
            </a:pPr>
            <a:r>
              <a:rPr lang="en-US" sz="2000" b="1" dirty="0">
                <a:solidFill>
                  <a:schemeClr val="tx1"/>
                </a:solidFill>
              </a:rPr>
              <a:t>be- · ge- · ont- · ver- · er- · her-</a:t>
            </a:r>
            <a:endParaRPr lang="en-US" sz="2000" dirty="0"/>
          </a:p>
          <a:p>
            <a:pPr algn="l" indent="0" marL="0">
              <a:spcAft>
                <a:spcPts val="600"/>
              </a:spcAft>
              <a:buNone/>
            </a:pPr>
            <a:r>
              <a:rPr lang="en-US" sz="2000" dirty="0">
                <a:solidFill>
                  <a:schemeClr val="tx1"/>
                </a:solidFill>
              </a:rPr>
              <a:t>→ inséparable, un seul bloc</a:t>
            </a:r>
            <a:endParaRPr lang="en-US" sz="2000" dirty="0"/>
          </a:p>
        </p:txBody>
      </p:sp>
      <p:sp>
        <p:nvSpPr>
          <p:cNvPr id="18" name="Shape 13"/>
          <p:cNvSpPr/>
          <p:nvPr/>
        </p:nvSpPr>
        <p:spPr>
          <a:xfrm>
            <a:off x="6227064" y="4251960"/>
            <a:ext cx="5413248" cy="2011680"/>
          </a:xfrm>
          <a:prstGeom prst="roundRect">
            <a:avLst>
              <a:gd name="adj" fmla="val 3636"/>
            </a:avLst>
          </a:prstGeom>
          <a:solidFill>
            <a:schemeClr val="accent1">
              <a:alpha val="10000"/>
            </a:schemeClr>
          </a:solidFill>
          <a:ln w="15875">
            <a:solidFill>
              <a:srgbClr val="D9700F"/>
            </a:solidFill>
            <a:prstDash val="solid"/>
          </a:ln>
        </p:spPr>
      </p:sp>
      <p:sp>
        <p:nvSpPr>
          <p:cNvPr id="19" name="tag"/>
          <p:cNvSpPr/>
          <p:nvPr/>
        </p:nvSpPr>
        <p:spPr>
          <a:xfrm>
            <a:off x="6409944" y="4389120"/>
            <a:ext cx="230977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TEST 2 · L’ACCENT</a:t>
            </a:r>
            <a:endParaRPr lang="en-US" sz="1200" dirty="0"/>
          </a:p>
        </p:txBody>
      </p:sp>
      <p:sp>
        <p:nvSpPr>
          <p:cNvPr id="20" name="Text 15"/>
          <p:cNvSpPr txBox="1"/>
          <p:nvPr/>
        </p:nvSpPr>
        <p:spPr>
          <a:xfrm>
            <a:off x="6455664" y="4800600"/>
            <a:ext cx="5029200" cy="1371600"/>
          </a:xfrm>
          <a:prstGeom prst="rect">
            <a:avLst/>
          </a:prstGeom>
          <a:noFill/>
          <a:ln/>
        </p:spPr>
        <p:txBody>
          <a:bodyPr wrap="square" lIns="0" tIns="0" rIns="0" bIns="0" rtlCol="0" anchor="ctr"/>
          <a:lstStyle/>
          <a:p>
            <a:pPr algn="l" indent="0" marL="0">
              <a:spcAft>
                <a:spcPts val="800"/>
              </a:spcAft>
              <a:buNone/>
            </a:pPr>
            <a:r>
              <a:rPr lang="en-US" sz="1800" b="1" i="1" dirty="0">
                <a:solidFill>
                  <a:schemeClr val="tx1"/>
                </a:solidFill>
              </a:rPr>
              <a:t>ÓP</a:t>
            </a:r>
            <a:r>
              <a:rPr lang="en-US" sz="1800" i="1" dirty="0">
                <a:solidFill>
                  <a:schemeClr val="tx1"/>
                </a:solidFill>
              </a:rPr>
              <a:t>-staan</a:t>
            </a:r>
            <a:r>
              <a:rPr lang="en-US" sz="1800" dirty="0">
                <a:solidFill>
                  <a:schemeClr val="tx1"/>
                </a:solidFill>
              </a:rPr>
              <a:t> → accent sur la particule : </a:t>
            </a:r>
            <a:r>
              <a:rPr lang="en-US" sz="1800" b="1" dirty="0">
                <a:solidFill>
                  <a:schemeClr val="tx1"/>
                </a:solidFill>
              </a:rPr>
              <a:t>séparable</a:t>
            </a:r>
            <a:endParaRPr lang="en-US" sz="1800" dirty="0"/>
          </a:p>
          <a:p>
            <a:pPr algn="l" indent="0" marL="0">
              <a:spcAft>
                <a:spcPts val="800"/>
              </a:spcAft>
              <a:buNone/>
            </a:pPr>
            <a:r>
              <a:rPr lang="en-US" sz="1800" i="1" dirty="0">
                <a:solidFill>
                  <a:schemeClr val="tx1"/>
                </a:solidFill>
              </a:rPr>
              <a:t>ver-</a:t>
            </a:r>
            <a:r>
              <a:rPr lang="en-US" sz="1800" b="1" i="1" dirty="0">
                <a:solidFill>
                  <a:schemeClr val="tx1"/>
                </a:solidFill>
              </a:rPr>
              <a:t>GÉ</a:t>
            </a:r>
            <a:r>
              <a:rPr lang="en-US" sz="1800" i="1" dirty="0">
                <a:solidFill>
                  <a:schemeClr val="tx1"/>
                </a:solidFill>
              </a:rPr>
              <a:t>-ten</a:t>
            </a:r>
            <a:r>
              <a:rPr lang="en-US" sz="1800" dirty="0">
                <a:solidFill>
                  <a:schemeClr val="tx1"/>
                </a:solidFill>
              </a:rPr>
              <a:t> → accent sur le verbe : </a:t>
            </a:r>
            <a:r>
              <a:rPr lang="en-US" sz="1800" b="1" dirty="0">
                <a:solidFill>
                  <a:schemeClr val="tx1"/>
                </a:solidFill>
              </a:rPr>
              <a:t>inséparable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au présent, on ne colle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31520"/>
          </a:xfrm>
          <a:prstGeom prst="rect">
            <a:avLst/>
          </a:prstGeom>
          <a:noFill/>
          <a:ln/>
        </p:spPr>
        <p:txBody>
          <a:bodyPr wrap="square" lIns="0" tIns="0" rIns="0" bIns="0" rtlCol="0" anchor="ctr"/>
          <a:lstStyle/>
          <a:p>
            <a:pPr algn="l" indent="0" marL="0">
              <a:buNone/>
            </a:pPr>
            <a:r>
              <a:rPr lang="en-US" sz="2400" dirty="0">
                <a:solidFill>
                  <a:schemeClr val="tx1"/>
                </a:solidFill>
              </a:rPr>
              <a:t>« Je me lève à 7 h. » → </a:t>
            </a:r>
            <a:r>
              <a:rPr lang="en-US" sz="2400" i="1" strike="sngStrike" dirty="0">
                <a:solidFill>
                  <a:schemeClr val="accent6"/>
                </a:solidFill>
              </a:rPr>
              <a:t>Ik opsta om 7 uur.</a:t>
            </a:r>
            <a:endParaRPr lang="en-US" sz="2400" dirty="0"/>
          </a:p>
        </p:txBody>
      </p:sp>
      <p:pic>
        <p:nvPicPr>
          <p:cNvPr id="8" name="Image 0" descr="ArrowDown">    </p:cNvPr>
          <p:cNvPicPr>
            <a:picLocks noChangeAspect="1"/>
          </p:cNvPicPr>
          <p:nvPr/>
        </p:nvPicPr>
        <p:blipFill>
          <a:blip r:embed="rId1"/>
          <a:stretch>
            <a:fillRect/>
          </a:stretch>
        </p:blipFill>
        <p:spPr>
          <a:xfrm>
            <a:off x="822960" y="2770632"/>
            <a:ext cx="237744" cy="237744"/>
          </a:xfrm>
          <a:prstGeom prst="rect">
            <a:avLst/>
          </a:prstGeom>
        </p:spPr>
      </p:pic>
      <p:sp>
        <p:nvSpPr>
          <p:cNvPr id="9" name="Shape 5"/>
          <p:cNvSpPr/>
          <p:nvPr/>
        </p:nvSpPr>
        <p:spPr>
          <a:xfrm>
            <a:off x="777240" y="299923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0" name="Text 6"/>
          <p:cNvSpPr txBox="1"/>
          <p:nvPr/>
        </p:nvSpPr>
        <p:spPr>
          <a:xfrm>
            <a:off x="914400" y="2999232"/>
            <a:ext cx="10360152" cy="694944"/>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1" name="Shape 7"/>
          <p:cNvSpPr/>
          <p:nvPr/>
        </p:nvSpPr>
        <p:spPr>
          <a:xfrm>
            <a:off x="548640" y="397764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12" name="tag"/>
          <p:cNvSpPr/>
          <p:nvPr/>
        </p:nvSpPr>
        <p:spPr>
          <a:xfrm>
            <a:off x="731520" y="414223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3" name="Text 9"/>
          <p:cNvSpPr txBox="1"/>
          <p:nvPr/>
        </p:nvSpPr>
        <p:spPr>
          <a:xfrm>
            <a:off x="822960" y="4480560"/>
            <a:ext cx="10543032" cy="731520"/>
          </a:xfrm>
          <a:prstGeom prst="rect">
            <a:avLst/>
          </a:prstGeom>
          <a:noFill/>
          <a:ln/>
        </p:spPr>
        <p:txBody>
          <a:bodyPr wrap="square" lIns="0" tIns="0" rIns="0" bIns="0" rtlCol="0" anchor="ctr"/>
          <a:lstStyle/>
          <a:p>
            <a:pPr algn="l" indent="0" marL="0">
              <a:buNone/>
            </a:pPr>
            <a:r>
              <a:rPr lang="en-US" sz="2200" dirty="0">
                <a:solidFill>
                  <a:schemeClr val="tx1"/>
                </a:solidFill>
              </a:rPr>
              <a:t>« J’appelle le client. » → </a:t>
            </a:r>
            <a:r>
              <a:rPr lang="en-US" sz="2200" i="1" strike="sngStrike" dirty="0">
                <a:solidFill>
                  <a:schemeClr val="accent6"/>
                </a:solidFill>
              </a:rPr>
              <a:t>Ik bel op de klant.</a:t>
            </a:r>
            <a:endParaRPr lang="en-US" sz="2200" dirty="0"/>
          </a:p>
        </p:txBody>
      </p:sp>
      <p:pic>
        <p:nvPicPr>
          <p:cNvPr id="14" name="Image 1" descr="ArrowDown">    </p:cNvPr>
          <p:cNvPicPr>
            <a:picLocks noChangeAspect="1"/>
          </p:cNvPicPr>
          <p:nvPr/>
        </p:nvPicPr>
        <p:blipFill>
          <a:blip r:embed="rId2"/>
          <a:stretch>
            <a:fillRect/>
          </a:stretch>
        </p:blipFill>
        <p:spPr>
          <a:xfrm>
            <a:off x="822960" y="5193792"/>
            <a:ext cx="237744" cy="237744"/>
          </a:xfrm>
          <a:prstGeom prst="rect">
            <a:avLst/>
          </a:prstGeom>
        </p:spPr>
      </p:pic>
      <p:sp>
        <p:nvSpPr>
          <p:cNvPr id="15" name="Shape 10"/>
          <p:cNvSpPr/>
          <p:nvPr/>
        </p:nvSpPr>
        <p:spPr>
          <a:xfrm>
            <a:off x="777240" y="542239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6" name="Text 11"/>
          <p:cNvSpPr txBox="1"/>
          <p:nvPr/>
        </p:nvSpPr>
        <p:spPr>
          <a:xfrm>
            <a:off x="914400" y="5422392"/>
            <a:ext cx="10360152" cy="69494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accent6"/>
                </a:solidFill>
              </a:rPr>
              <a:t>bel</a:t>
            </a:r>
            <a:r>
              <a:rPr lang="en-US" sz="2200" i="1" dirty="0">
                <a:solidFill>
                  <a:schemeClr val="tx1"/>
                </a:solidFill>
              </a:rPr>
              <a:t> de klant </a:t>
            </a:r>
            <a:r>
              <a:rPr lang="en-US" sz="2200" b="1" i="1" dirty="0">
                <a:solidFill>
                  <a:schemeClr val="accent1"/>
                </a:solidFill>
              </a:rPr>
              <a:t>op</a:t>
            </a:r>
            <a:r>
              <a:rPr lang="en-US" sz="2200" i="1" dirty="0">
                <a:solidFill>
                  <a:schemeClr val="tx1"/>
                </a:solidFill>
              </a:rPr>
              <a:t>.</a:t>
            </a:r>
            <a:r>
              <a:rPr lang="en-US" sz="2200" dirty="0">
                <a:solidFill>
                  <a:schemeClr val="tx1"/>
                </a:solidFill>
              </a:rPr>
              <a:t>  — le complément se glisse </a:t>
            </a:r>
            <a:r>
              <a:rPr lang="en-US" sz="2200" b="1" dirty="0">
                <a:solidFill>
                  <a:schemeClr val="tx1"/>
                </a:solidFill>
              </a:rPr>
              <a:t>entre</a:t>
            </a:r>
            <a:r>
              <a:rPr lang="en-US" sz="2200" dirty="0">
                <a:solidFill>
                  <a:schemeClr val="tx1"/>
                </a:solidFill>
              </a:rPr>
              <a:t> les deux morceaux</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Quand la particule reste collée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606040" cy="777240"/>
          </a:xfrm>
          <a:prstGeom prst="roundRect">
            <a:avLst>
              <a:gd name="adj" fmla="val 9412"/>
            </a:avLst>
          </a:prstGeom>
          <a:solidFill>
            <a:schemeClr val="tx2"/>
          </a:solidFill>
          <a:ln w="12700">
            <a:solidFill>
              <a:srgbClr val="FFFFFF">
                <a:alpha val="0"/>
              </a:srgbClr>
            </a:solidFill>
            <a:prstDash val="solid"/>
          </a:ln>
        </p:spPr>
      </p:sp>
      <p:sp>
        <p:nvSpPr>
          <p:cNvPr id="6" name="Text 3"/>
          <p:cNvSpPr txBox="1"/>
          <p:nvPr/>
        </p:nvSpPr>
        <p:spPr>
          <a:xfrm>
            <a:off x="685800" y="164592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Modalité (M4, M12)</a:t>
            </a:r>
            <a:endParaRPr lang="en-US" sz="1600" dirty="0"/>
          </a:p>
        </p:txBody>
      </p:sp>
      <p:sp>
        <p:nvSpPr>
          <p:cNvPr id="7" name="Shape 4"/>
          <p:cNvSpPr/>
          <p:nvPr/>
        </p:nvSpPr>
        <p:spPr>
          <a:xfrm>
            <a:off x="3383280" y="1673352"/>
            <a:ext cx="606430" cy="731520"/>
          </a:xfrm>
          <a:prstGeom prst="roundRect">
            <a:avLst>
              <a:gd name="adj" fmla="val 12063"/>
            </a:avLst>
          </a:prstGeom>
          <a:solidFill>
            <a:schemeClr val="bg1"/>
          </a:solidFill>
          <a:ln w="15875">
            <a:solidFill>
              <a:srgbClr val="D5DCE6"/>
            </a:solidFill>
            <a:prstDash val="solid"/>
          </a:ln>
        </p:spPr>
      </p:sp>
      <p:sp>
        <p:nvSpPr>
          <p:cNvPr id="8" name="Text 5"/>
          <p:cNvSpPr txBox="1"/>
          <p:nvPr/>
        </p:nvSpPr>
        <p:spPr>
          <a:xfrm>
            <a:off x="3383280" y="167335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9" name="Shape 6"/>
          <p:cNvSpPr/>
          <p:nvPr/>
        </p:nvSpPr>
        <p:spPr>
          <a:xfrm>
            <a:off x="4081150" y="1673352"/>
            <a:ext cx="920252"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4081150" y="1673352"/>
            <a:ext cx="920252"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11" name="Shape 8"/>
          <p:cNvSpPr/>
          <p:nvPr/>
        </p:nvSpPr>
        <p:spPr>
          <a:xfrm>
            <a:off x="5092842" y="1673352"/>
            <a:ext cx="1547896" cy="731520"/>
          </a:xfrm>
          <a:prstGeom prst="roundRect">
            <a:avLst>
              <a:gd name="adj" fmla="val 10000"/>
            </a:avLst>
          </a:prstGeom>
          <a:solidFill>
            <a:schemeClr val="bg1"/>
          </a:solidFill>
          <a:ln w="15875">
            <a:solidFill>
              <a:srgbClr val="D5DCE6"/>
            </a:solidFill>
            <a:prstDash val="solid"/>
          </a:ln>
        </p:spPr>
      </p:sp>
      <p:sp>
        <p:nvSpPr>
          <p:cNvPr id="12" name="Text 9"/>
          <p:cNvSpPr txBox="1"/>
          <p:nvPr/>
        </p:nvSpPr>
        <p:spPr>
          <a:xfrm>
            <a:off x="5092842" y="167335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om 6 uur</a:t>
            </a:r>
            <a:endParaRPr lang="en-US" sz="2200" dirty="0"/>
          </a:p>
        </p:txBody>
      </p:sp>
      <p:sp>
        <p:nvSpPr>
          <p:cNvPr id="13" name="Shape 10"/>
          <p:cNvSpPr/>
          <p:nvPr/>
        </p:nvSpPr>
        <p:spPr>
          <a:xfrm>
            <a:off x="6732179" y="1673352"/>
            <a:ext cx="1547896" cy="731520"/>
          </a:xfrm>
          <a:prstGeom prst="roundRect">
            <a:avLst>
              <a:gd name="adj" fmla="val 10000"/>
            </a:avLst>
          </a:prstGeom>
          <a:solidFill>
            <a:srgbClr val="FDF1E6"/>
          </a:solidFill>
          <a:ln w="31750">
            <a:solidFill>
              <a:srgbClr val="D9700F"/>
            </a:solidFill>
            <a:prstDash val="solid"/>
          </a:ln>
        </p:spPr>
      </p:sp>
      <p:sp>
        <p:nvSpPr>
          <p:cNvPr id="14" name="Text 11"/>
          <p:cNvSpPr txBox="1"/>
          <p:nvPr/>
        </p:nvSpPr>
        <p:spPr>
          <a:xfrm>
            <a:off x="6732179" y="1673352"/>
            <a:ext cx="1547896"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opstaan.</a:t>
            </a:r>
            <a:endParaRPr lang="en-US" sz="2200" dirty="0"/>
          </a:p>
        </p:txBody>
      </p:sp>
      <p:pic>
        <p:nvPicPr>
          <p:cNvPr id="15" name="Image 0" descr="Link">    </p:cNvPr>
          <p:cNvPicPr>
            <a:picLocks noChangeAspect="1"/>
          </p:cNvPicPr>
          <p:nvPr/>
        </p:nvPicPr>
        <p:blipFill>
          <a:blip r:embed="rId1"/>
          <a:stretch>
            <a:fillRect/>
          </a:stretch>
        </p:blipFill>
        <p:spPr>
          <a:xfrm>
            <a:off x="8417235" y="1874520"/>
            <a:ext cx="329184" cy="329184"/>
          </a:xfrm>
          <a:prstGeom prst="rect">
            <a:avLst/>
          </a:prstGeom>
        </p:spPr>
      </p:pic>
      <p:sp>
        <p:nvSpPr>
          <p:cNvPr id="16" name="Shape 12"/>
          <p:cNvSpPr/>
          <p:nvPr/>
        </p:nvSpPr>
        <p:spPr>
          <a:xfrm>
            <a:off x="548640" y="2834640"/>
            <a:ext cx="2606040" cy="777240"/>
          </a:xfrm>
          <a:prstGeom prst="roundRect">
            <a:avLst>
              <a:gd name="adj" fmla="val 9412"/>
            </a:avLst>
          </a:prstGeom>
          <a:solidFill>
            <a:schemeClr val="tx2"/>
          </a:solidFill>
          <a:ln w="12700">
            <a:solidFill>
              <a:srgbClr val="FFFFFF">
                <a:alpha val="0"/>
              </a:srgbClr>
            </a:solidFill>
            <a:prstDash val="solid"/>
          </a:ln>
        </p:spPr>
      </p:sp>
      <p:sp>
        <p:nvSpPr>
          <p:cNvPr id="17" name="Text 13"/>
          <p:cNvSpPr txBox="1"/>
          <p:nvPr/>
        </p:nvSpPr>
        <p:spPr>
          <a:xfrm>
            <a:off x="685800" y="283464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Subordonnée (M9)</a:t>
            </a:r>
            <a:endParaRPr lang="en-US" sz="1600" dirty="0"/>
          </a:p>
        </p:txBody>
      </p:sp>
      <p:sp>
        <p:nvSpPr>
          <p:cNvPr id="18" name="Shape 14"/>
          <p:cNvSpPr/>
          <p:nvPr/>
        </p:nvSpPr>
        <p:spPr>
          <a:xfrm>
            <a:off x="3383280" y="2862072"/>
            <a:ext cx="1861718"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3383280" y="2862072"/>
            <a:ext cx="1861718" cy="731520"/>
          </a:xfrm>
          <a:prstGeom prst="rect">
            <a:avLst/>
          </a:prstGeom>
          <a:noFill/>
          <a:ln/>
        </p:spPr>
        <p:txBody>
          <a:bodyPr wrap="square" lIns="0" tIns="0" rIns="0" bIns="0" rtlCol="0" anchor="ctr"/>
          <a:lstStyle/>
          <a:p>
            <a:pPr algn="ctr" indent="0" marL="0">
              <a:buNone/>
            </a:pPr>
            <a:r>
              <a:rPr lang="en-US" sz="2200" dirty="0">
                <a:solidFill>
                  <a:schemeClr val="tx1"/>
                </a:solidFill>
              </a:rPr>
              <a:t>Ik ben moe</a:t>
            </a:r>
            <a:endParaRPr lang="en-US" sz="2200" dirty="0"/>
          </a:p>
        </p:txBody>
      </p:sp>
      <p:sp>
        <p:nvSpPr>
          <p:cNvPr id="20" name="Shape 16"/>
          <p:cNvSpPr/>
          <p:nvPr/>
        </p:nvSpPr>
        <p:spPr>
          <a:xfrm>
            <a:off x="5336438" y="2862072"/>
            <a:ext cx="1077163" cy="731520"/>
          </a:xfrm>
          <a:prstGeom prst="roundRect">
            <a:avLst>
              <a:gd name="adj" fmla="val 10000"/>
            </a:avLst>
          </a:prstGeom>
          <a:solidFill>
            <a:schemeClr val="bg1"/>
          </a:solidFill>
          <a:ln w="15875">
            <a:solidFill>
              <a:srgbClr val="D5DCE6"/>
            </a:solidFill>
            <a:prstDash val="solid"/>
          </a:ln>
        </p:spPr>
      </p:sp>
      <p:sp>
        <p:nvSpPr>
          <p:cNvPr id="21" name="Text 17"/>
          <p:cNvSpPr txBox="1"/>
          <p:nvPr/>
        </p:nvSpPr>
        <p:spPr>
          <a:xfrm>
            <a:off x="5336438" y="2862072"/>
            <a:ext cx="1077163" cy="731520"/>
          </a:xfrm>
          <a:prstGeom prst="rect">
            <a:avLst/>
          </a:prstGeom>
          <a:noFill/>
          <a:ln/>
        </p:spPr>
        <p:txBody>
          <a:bodyPr wrap="square" lIns="0" tIns="0" rIns="0" bIns="0" rtlCol="0" anchor="ctr"/>
          <a:lstStyle/>
          <a:p>
            <a:pPr algn="ctr" indent="0" marL="0">
              <a:buNone/>
            </a:pPr>
            <a:r>
              <a:rPr lang="en-US" sz="2200" dirty="0">
                <a:solidFill>
                  <a:schemeClr val="tx1"/>
                </a:solidFill>
              </a:rPr>
              <a:t>omdat</a:t>
            </a:r>
            <a:endParaRPr lang="en-US" sz="2200" dirty="0"/>
          </a:p>
        </p:txBody>
      </p:sp>
      <p:sp>
        <p:nvSpPr>
          <p:cNvPr id="22" name="Shape 18"/>
          <p:cNvSpPr/>
          <p:nvPr/>
        </p:nvSpPr>
        <p:spPr>
          <a:xfrm>
            <a:off x="6505042" y="2862072"/>
            <a:ext cx="2018629" cy="731520"/>
          </a:xfrm>
          <a:prstGeom prst="roundRect">
            <a:avLst>
              <a:gd name="adj" fmla="val 10000"/>
            </a:avLst>
          </a:prstGeom>
          <a:solidFill>
            <a:schemeClr val="bg1"/>
          </a:solidFill>
          <a:ln w="15875">
            <a:solidFill>
              <a:srgbClr val="D5DCE6"/>
            </a:solidFill>
            <a:prstDash val="solid"/>
          </a:ln>
        </p:spPr>
      </p:sp>
      <p:sp>
        <p:nvSpPr>
          <p:cNvPr id="23" name="Text 19"/>
          <p:cNvSpPr txBox="1"/>
          <p:nvPr/>
        </p:nvSpPr>
        <p:spPr>
          <a:xfrm>
            <a:off x="6505042" y="2862072"/>
            <a:ext cx="2018629" cy="731520"/>
          </a:xfrm>
          <a:prstGeom prst="rect">
            <a:avLst/>
          </a:prstGeom>
          <a:noFill/>
          <a:ln/>
        </p:spPr>
        <p:txBody>
          <a:bodyPr wrap="square" lIns="0" tIns="0" rIns="0" bIns="0" rtlCol="0" anchor="ctr"/>
          <a:lstStyle/>
          <a:p>
            <a:pPr algn="ctr" indent="0" marL="0">
              <a:buNone/>
            </a:pPr>
            <a:r>
              <a:rPr lang="en-US" sz="2200" dirty="0">
                <a:solidFill>
                  <a:schemeClr val="tx1"/>
                </a:solidFill>
              </a:rPr>
              <a:t>ik om 6 uur</a:t>
            </a:r>
            <a:endParaRPr lang="en-US" sz="2200" dirty="0"/>
          </a:p>
        </p:txBody>
      </p:sp>
      <p:sp>
        <p:nvSpPr>
          <p:cNvPr id="24" name="Shape 20"/>
          <p:cNvSpPr/>
          <p:nvPr/>
        </p:nvSpPr>
        <p:spPr>
          <a:xfrm>
            <a:off x="8615111" y="2862072"/>
            <a:ext cx="1234074" cy="731520"/>
          </a:xfrm>
          <a:prstGeom prst="roundRect">
            <a:avLst>
              <a:gd name="adj" fmla="val 10000"/>
            </a:avLst>
          </a:prstGeom>
          <a:solidFill>
            <a:srgbClr val="FDF1E6"/>
          </a:solidFill>
          <a:ln w="31750">
            <a:solidFill>
              <a:srgbClr val="D9700F"/>
            </a:solidFill>
            <a:prstDash val="solid"/>
          </a:ln>
        </p:spPr>
      </p:sp>
      <p:sp>
        <p:nvSpPr>
          <p:cNvPr id="25" name="Text 21"/>
          <p:cNvSpPr txBox="1"/>
          <p:nvPr/>
        </p:nvSpPr>
        <p:spPr>
          <a:xfrm>
            <a:off x="8615111" y="2862072"/>
            <a:ext cx="1234074"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t>
            </a:r>
            <a:endParaRPr lang="en-US" sz="2200" dirty="0"/>
          </a:p>
        </p:txBody>
      </p:sp>
      <p:pic>
        <p:nvPicPr>
          <p:cNvPr id="26" name="Image 1" descr="Link">    </p:cNvPr>
          <p:cNvPicPr>
            <a:picLocks noChangeAspect="1"/>
          </p:cNvPicPr>
          <p:nvPr/>
        </p:nvPicPr>
        <p:blipFill>
          <a:blip r:embed="rId2"/>
          <a:stretch>
            <a:fillRect/>
          </a:stretch>
        </p:blipFill>
        <p:spPr>
          <a:xfrm>
            <a:off x="9986345" y="3063240"/>
            <a:ext cx="329184" cy="329184"/>
          </a:xfrm>
          <a:prstGeom prst="rect">
            <a:avLst/>
          </a:prstGeom>
        </p:spPr>
      </p:pic>
      <p:sp>
        <p:nvSpPr>
          <p:cNvPr id="27" name="Shape 22"/>
          <p:cNvSpPr/>
          <p:nvPr/>
        </p:nvSpPr>
        <p:spPr>
          <a:xfrm>
            <a:off x="548640" y="4023360"/>
            <a:ext cx="2606040" cy="777240"/>
          </a:xfrm>
          <a:prstGeom prst="roundRect">
            <a:avLst>
              <a:gd name="adj" fmla="val 9412"/>
            </a:avLst>
          </a:prstGeom>
          <a:solidFill>
            <a:schemeClr val="tx2"/>
          </a:solidFill>
          <a:ln w="12700">
            <a:solidFill>
              <a:srgbClr val="FFFFFF">
                <a:alpha val="0"/>
              </a:srgbClr>
            </a:solidFill>
            <a:prstDash val="solid"/>
          </a:ln>
        </p:spPr>
      </p:sp>
      <p:sp>
        <p:nvSpPr>
          <p:cNvPr id="28" name="Text 23"/>
          <p:cNvSpPr txBox="1"/>
          <p:nvPr/>
        </p:nvSpPr>
        <p:spPr>
          <a:xfrm>
            <a:off x="685800" y="402336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Futur proche</a:t>
            </a:r>
            <a:endParaRPr lang="en-US" sz="1600" dirty="0"/>
          </a:p>
        </p:txBody>
      </p:sp>
      <p:sp>
        <p:nvSpPr>
          <p:cNvPr id="29" name="Shape 24"/>
          <p:cNvSpPr/>
          <p:nvPr/>
        </p:nvSpPr>
        <p:spPr>
          <a:xfrm>
            <a:off x="3383280" y="4050792"/>
            <a:ext cx="606430" cy="731520"/>
          </a:xfrm>
          <a:prstGeom prst="roundRect">
            <a:avLst>
              <a:gd name="adj" fmla="val 12063"/>
            </a:avLst>
          </a:prstGeom>
          <a:solidFill>
            <a:schemeClr val="bg1"/>
          </a:solidFill>
          <a:ln w="15875">
            <a:solidFill>
              <a:srgbClr val="D5DCE6"/>
            </a:solidFill>
            <a:prstDash val="solid"/>
          </a:ln>
        </p:spPr>
      </p:sp>
      <p:sp>
        <p:nvSpPr>
          <p:cNvPr id="30" name="Text 25"/>
          <p:cNvSpPr txBox="1"/>
          <p:nvPr/>
        </p:nvSpPr>
        <p:spPr>
          <a:xfrm>
            <a:off x="3383280" y="405079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6"/>
          <p:cNvSpPr/>
          <p:nvPr/>
        </p:nvSpPr>
        <p:spPr>
          <a:xfrm>
            <a:off x="4081150" y="4050792"/>
            <a:ext cx="606430" cy="731520"/>
          </a:xfrm>
          <a:prstGeom prst="roundRect">
            <a:avLst>
              <a:gd name="adj" fmla="val 12063"/>
            </a:avLst>
          </a:prstGeom>
          <a:solidFill>
            <a:srgbClr val="FBEDEB"/>
          </a:solidFill>
          <a:ln w="31750">
            <a:solidFill>
              <a:srgbClr val="B83227"/>
            </a:solidFill>
            <a:prstDash val="solid"/>
          </a:ln>
        </p:spPr>
      </p:sp>
      <p:sp>
        <p:nvSpPr>
          <p:cNvPr id="32" name="Text 27"/>
          <p:cNvSpPr txBox="1"/>
          <p:nvPr/>
        </p:nvSpPr>
        <p:spPr>
          <a:xfrm>
            <a:off x="4081150" y="4050792"/>
            <a:ext cx="606430" cy="731520"/>
          </a:xfrm>
          <a:prstGeom prst="rect">
            <a:avLst/>
          </a:prstGeom>
          <a:noFill/>
          <a:ln/>
        </p:spPr>
        <p:txBody>
          <a:bodyPr wrap="square" lIns="0" tIns="0" rIns="0" bIns="0" rtlCol="0" anchor="ctr"/>
          <a:lstStyle/>
          <a:p>
            <a:pPr algn="ctr" indent="0" marL="0">
              <a:buNone/>
            </a:pPr>
            <a:r>
              <a:rPr lang="en-US" sz="2200" b="1" dirty="0">
                <a:solidFill>
                  <a:schemeClr val="accent6"/>
                </a:solidFill>
              </a:rPr>
              <a:t>ga</a:t>
            </a:r>
            <a:endParaRPr lang="en-US" sz="2200" dirty="0"/>
          </a:p>
        </p:txBody>
      </p:sp>
      <p:sp>
        <p:nvSpPr>
          <p:cNvPr id="33" name="Shape 28"/>
          <p:cNvSpPr/>
          <p:nvPr/>
        </p:nvSpPr>
        <p:spPr>
          <a:xfrm>
            <a:off x="4779020" y="4050792"/>
            <a:ext cx="1547896" cy="731520"/>
          </a:xfrm>
          <a:prstGeom prst="roundRect">
            <a:avLst>
              <a:gd name="adj" fmla="val 10000"/>
            </a:avLst>
          </a:prstGeom>
          <a:solidFill>
            <a:schemeClr val="bg1"/>
          </a:solidFill>
          <a:ln w="15875">
            <a:solidFill>
              <a:srgbClr val="D5DCE6"/>
            </a:solidFill>
            <a:prstDash val="solid"/>
          </a:ln>
        </p:spPr>
      </p:sp>
      <p:sp>
        <p:nvSpPr>
          <p:cNvPr id="34" name="Text 29"/>
          <p:cNvSpPr txBox="1"/>
          <p:nvPr/>
        </p:nvSpPr>
        <p:spPr>
          <a:xfrm>
            <a:off x="4779020" y="405079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de klant</a:t>
            </a:r>
            <a:endParaRPr lang="en-US" sz="2200" dirty="0"/>
          </a:p>
        </p:txBody>
      </p:sp>
      <p:sp>
        <p:nvSpPr>
          <p:cNvPr id="35" name="Shape 30"/>
          <p:cNvSpPr/>
          <p:nvPr/>
        </p:nvSpPr>
        <p:spPr>
          <a:xfrm>
            <a:off x="6418356" y="4050792"/>
            <a:ext cx="1704807" cy="731520"/>
          </a:xfrm>
          <a:prstGeom prst="roundRect">
            <a:avLst>
              <a:gd name="adj" fmla="val 10000"/>
            </a:avLst>
          </a:prstGeom>
          <a:solidFill>
            <a:srgbClr val="FDF1E6"/>
          </a:solidFill>
          <a:ln w="31750">
            <a:solidFill>
              <a:srgbClr val="D9700F"/>
            </a:solidFill>
            <a:prstDash val="solid"/>
          </a:ln>
        </p:spPr>
      </p:sp>
      <p:sp>
        <p:nvSpPr>
          <p:cNvPr id="36" name="Text 31"/>
          <p:cNvSpPr txBox="1"/>
          <p:nvPr/>
        </p:nvSpPr>
        <p:spPr>
          <a:xfrm>
            <a:off x="6418356" y="4050792"/>
            <a:ext cx="1704807" cy="731520"/>
          </a:xfrm>
          <a:prstGeom prst="rect">
            <a:avLst/>
          </a:prstGeom>
          <a:noFill/>
          <a:ln/>
        </p:spPr>
        <p:txBody>
          <a:bodyPr wrap="square" lIns="0" tIns="0" rIns="0" bIns="0" rtlCol="0" anchor="ctr"/>
          <a:lstStyle/>
          <a:p>
            <a:pPr algn="ctr" indent="0" marL="0">
              <a:buNone/>
            </a:pPr>
            <a:r>
              <a:rPr lang="en-US" sz="2200" b="1" dirty="0">
                <a:solidFill>
                  <a:schemeClr val="accent6"/>
                </a:solidFill>
              </a:rPr>
              <a:t>opbellen.</a:t>
            </a:r>
            <a:endParaRPr lang="en-US" sz="2200" dirty="0"/>
          </a:p>
        </p:txBody>
      </p:sp>
      <p:pic>
        <p:nvPicPr>
          <p:cNvPr id="37" name="Image 2" descr="Link">    </p:cNvPr>
          <p:cNvPicPr>
            <a:picLocks noChangeAspect="1"/>
          </p:cNvPicPr>
          <p:nvPr/>
        </p:nvPicPr>
        <p:blipFill>
          <a:blip r:embed="rId3"/>
          <a:stretch>
            <a:fillRect/>
          </a:stretch>
        </p:blipFill>
        <p:spPr>
          <a:xfrm>
            <a:off x="8260324" y="4251960"/>
            <a:ext cx="329184" cy="329184"/>
          </a:xfrm>
          <a:prstGeom prst="rect">
            <a:avLst/>
          </a:prstGeom>
        </p:spPr>
      </p:pic>
      <p:sp>
        <p:nvSpPr>
          <p:cNvPr id="38" name="Shape 32"/>
          <p:cNvSpPr/>
          <p:nvPr/>
        </p:nvSpPr>
        <p:spPr>
          <a:xfrm>
            <a:off x="548640" y="5257800"/>
            <a:ext cx="11091672" cy="685800"/>
          </a:xfrm>
          <a:prstGeom prst="roundRect">
            <a:avLst>
              <a:gd name="adj" fmla="val 10667"/>
            </a:avLst>
          </a:prstGeom>
          <a:solidFill>
            <a:schemeClr val="accent1"/>
          </a:solidFill>
          <a:ln w="12700">
            <a:solidFill>
              <a:srgbClr val="FFFFFF">
                <a:alpha val="0"/>
              </a:srgbClr>
            </a:solidFill>
            <a:prstDash val="solid"/>
          </a:ln>
        </p:spPr>
      </p:sp>
      <p:sp>
        <p:nvSpPr>
          <p:cNvPr id="39" name="Text 33"/>
          <p:cNvSpPr txBox="1"/>
          <p:nvPr/>
        </p:nvSpPr>
        <p:spPr>
          <a:xfrm>
            <a:off x="822960" y="5257800"/>
            <a:ext cx="10607040" cy="685800"/>
          </a:xfrm>
          <a:prstGeom prst="rect">
            <a:avLst/>
          </a:prstGeom>
          <a:noFill/>
          <a:ln/>
        </p:spPr>
        <p:txBody>
          <a:bodyPr wrap="square" lIns="0" tIns="0" rIns="0" bIns="0" rtlCol="0" anchor="ctr"/>
          <a:lstStyle/>
          <a:p>
            <a:pPr algn="l" indent="0" marL="0">
              <a:buNone/>
            </a:pPr>
            <a:r>
              <a:rPr lang="en-US" sz="1800" dirty="0">
                <a:solidFill>
                  <a:schemeClr val="bg1"/>
                </a:solidFill>
              </a:rPr>
              <a:t>Règle : si la fin de la phrase est </a:t>
            </a:r>
            <a:r>
              <a:rPr lang="en-US" sz="1800" b="1" dirty="0">
                <a:solidFill>
                  <a:schemeClr val="bg1"/>
                </a:solidFill>
              </a:rPr>
              <a:t>déjà occupée par le verbe</a:t>
            </a:r>
            <a:r>
              <a:rPr lang="en-US" sz="1800" dirty="0">
                <a:solidFill>
                  <a:schemeClr val="bg1"/>
                </a:solidFill>
              </a:rPr>
              <a:t>, la particule reste </a:t>
            </a:r>
            <a:r>
              <a:rPr lang="en-US" sz="1800" b="1" dirty="0">
                <a:solidFill>
                  <a:schemeClr val="bg1"/>
                </a:solidFill>
              </a:rPr>
              <a:t>collée</a:t>
            </a:r>
            <a:r>
              <a:rPr lang="en-US" sz="1800" dirty="0">
                <a:solidFill>
                  <a:schemeClr val="bg1"/>
                </a:solidFill>
              </a:rPr>
              <a:t> (en un seul mot).</a:t>
            </a:r>
            <a:endParaRPr lang="en-US" sz="1800" dirty="0"/>
          </a:p>
        </p:txBody>
      </p:sp>
      <p:sp>
        <p:nvSpPr>
          <p:cNvPr id="40" name="Text 34"/>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Teaser M15 : au passé composé, le </a:t>
            </a:r>
            <a:r>
              <a:rPr lang="en-US" sz="1500" i="1" dirty="0">
                <a:solidFill>
                  <a:schemeClr val="accent5"/>
                </a:solidFill>
              </a:rPr>
              <a:t>ge</a:t>
            </a:r>
            <a:r>
              <a:rPr lang="en-US" sz="1500" i="1" dirty="0">
                <a:solidFill>
                  <a:schemeClr val="accent5"/>
                </a:solidFill>
              </a:rPr>
              <a:t> se glisse au milieu → </a:t>
            </a:r>
            <a:r>
              <a:rPr lang="en-US" sz="1500" i="1" dirty="0">
                <a:solidFill>
                  <a:schemeClr val="accent5"/>
                </a:solidFill>
              </a:rPr>
              <a:t>op</a:t>
            </a:r>
            <a:r>
              <a:rPr lang="en-US" sz="1500" b="1" i="1" dirty="0">
                <a:solidFill>
                  <a:schemeClr val="accent5"/>
                </a:solidFill>
              </a:rPr>
              <a:t>ge</a:t>
            </a:r>
            <a:r>
              <a:rPr lang="en-US" sz="1500" i="1" dirty="0">
                <a:solidFill>
                  <a:schemeClr val="accent5"/>
                </a:solidFill>
              </a:rPr>
              <a:t>staan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et ordres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530352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Shape 3"/>
          <p:cNvSpPr/>
          <p:nvPr/>
        </p:nvSpPr>
        <p:spPr>
          <a:xfrm>
            <a:off x="548640" y="196596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7" name="Text 4"/>
          <p:cNvSpPr txBox="1"/>
          <p:nvPr/>
        </p:nvSpPr>
        <p:spPr>
          <a:xfrm>
            <a:off x="713232" y="196596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Sta</a:t>
            </a:r>
            <a:r>
              <a:rPr lang="en-US" sz="2200" i="1" dirty="0">
                <a:solidFill>
                  <a:schemeClr val="tx1"/>
                </a:solidFill>
              </a:rPr>
              <a:t> je vroeg </a:t>
            </a:r>
            <a:r>
              <a:rPr lang="en-US" sz="2200" b="1" i="1" dirty="0">
                <a:solidFill>
                  <a:schemeClr val="accent1"/>
                </a:solidFill>
              </a:rPr>
              <a:t>op</a:t>
            </a:r>
            <a:r>
              <a:rPr lang="en-US" sz="2200" i="1" dirty="0">
                <a:solidFill>
                  <a:schemeClr val="tx1"/>
                </a:solidFill>
              </a:rPr>
              <a:t>?</a:t>
            </a:r>
            <a:endParaRPr lang="en-US" sz="2200" dirty="0"/>
          </a:p>
        </p:txBody>
      </p:sp>
      <p:sp>
        <p:nvSpPr>
          <p:cNvPr id="8" name="Shape 5"/>
          <p:cNvSpPr/>
          <p:nvPr/>
        </p:nvSpPr>
        <p:spPr>
          <a:xfrm>
            <a:off x="548640" y="315468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9" name="Text 6"/>
          <p:cNvSpPr txBox="1"/>
          <p:nvPr/>
        </p:nvSpPr>
        <p:spPr>
          <a:xfrm>
            <a:off x="713232" y="3154680"/>
            <a:ext cx="4974336" cy="960120"/>
          </a:xfrm>
          <a:prstGeom prst="rect">
            <a:avLst/>
          </a:prstGeom>
          <a:noFill/>
          <a:ln/>
        </p:spPr>
        <p:txBody>
          <a:bodyPr wrap="square" lIns="0" tIns="0" rIns="0" bIns="0" rtlCol="0" anchor="ctr"/>
          <a:lstStyle/>
          <a:p>
            <a:pPr algn="l" indent="0" marL="0">
              <a:buNone/>
            </a:pPr>
            <a:r>
              <a:rPr lang="en-US" sz="2200" i="1" dirty="0">
                <a:solidFill>
                  <a:schemeClr val="tx1"/>
                </a:solidFill>
              </a:rPr>
              <a:t>Hoe laat </a:t>
            </a:r>
            <a:r>
              <a:rPr lang="en-US" sz="2200" b="1" i="1" dirty="0">
                <a:solidFill>
                  <a:schemeClr val="accent6"/>
                </a:solidFill>
              </a:rPr>
              <a:t>log</a:t>
            </a:r>
            <a:r>
              <a:rPr lang="en-US" sz="2200" i="1" dirty="0">
                <a:solidFill>
                  <a:schemeClr val="tx1"/>
                </a:solidFill>
              </a:rPr>
              <a:t> je </a:t>
            </a:r>
            <a:r>
              <a:rPr lang="en-US" sz="2200" b="1" i="1" dirty="0">
                <a:solidFill>
                  <a:schemeClr val="accent1"/>
                </a:solidFill>
              </a:rPr>
              <a:t>in</a:t>
            </a:r>
            <a:r>
              <a:rPr lang="en-US" sz="2200" i="1" dirty="0">
                <a:solidFill>
                  <a:schemeClr val="tx1"/>
                </a:solidFill>
              </a:rPr>
              <a:t>?</a:t>
            </a:r>
            <a:endParaRPr lang="en-US" sz="2200" dirty="0"/>
          </a:p>
        </p:txBody>
      </p:sp>
      <p:sp>
        <p:nvSpPr>
          <p:cNvPr id="10" name="Shape 7"/>
          <p:cNvSpPr/>
          <p:nvPr/>
        </p:nvSpPr>
        <p:spPr>
          <a:xfrm>
            <a:off x="548640" y="434340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11" name="Text 8"/>
          <p:cNvSpPr txBox="1"/>
          <p:nvPr/>
        </p:nvSpPr>
        <p:spPr>
          <a:xfrm>
            <a:off x="713232" y="434340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Neem</a:t>
            </a:r>
            <a:r>
              <a:rPr lang="en-US" sz="2200" i="1" dirty="0">
                <a:solidFill>
                  <a:schemeClr val="tx1"/>
                </a:solidFill>
              </a:rPr>
              <a:t> je je laptop </a:t>
            </a:r>
            <a:r>
              <a:rPr lang="en-US" sz="2200" b="1" i="1" dirty="0">
                <a:solidFill>
                  <a:schemeClr val="accent1"/>
                </a:solidFill>
              </a:rPr>
              <a:t>mee</a:t>
            </a:r>
            <a:r>
              <a:rPr lang="en-US" sz="2200" i="1" dirty="0">
                <a:solidFill>
                  <a:schemeClr val="tx1"/>
                </a:solidFill>
              </a:rPr>
              <a:t>?</a:t>
            </a:r>
            <a:endParaRPr lang="en-US" sz="2200" dirty="0"/>
          </a:p>
        </p:txBody>
      </p:sp>
      <p:sp>
        <p:nvSpPr>
          <p:cNvPr id="12" name="Text 9"/>
          <p:cNvSpPr txBox="1"/>
          <p:nvPr/>
        </p:nvSpPr>
        <p:spPr>
          <a:xfrm>
            <a:off x="6217920" y="1554480"/>
            <a:ext cx="539496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ORDRES (IMPÉRATIF)</a:t>
            </a:r>
            <a:endParaRPr lang="en-US" sz="1300" dirty="0"/>
          </a:p>
        </p:txBody>
      </p:sp>
      <p:sp>
        <p:nvSpPr>
          <p:cNvPr id="13" name="Shape 10"/>
          <p:cNvSpPr/>
          <p:nvPr/>
        </p:nvSpPr>
        <p:spPr>
          <a:xfrm>
            <a:off x="6217920" y="1965960"/>
            <a:ext cx="5422392" cy="960120"/>
          </a:xfrm>
          <a:prstGeom prst="roundRect">
            <a:avLst>
              <a:gd name="adj" fmla="val 11429"/>
            </a:avLst>
          </a:prstGeom>
          <a:solidFill>
            <a:srgbClr val="FBEDEB"/>
          </a:solidFill>
          <a:ln w="19050">
            <a:solidFill>
              <a:srgbClr val="B83227"/>
            </a:solidFill>
            <a:prstDash val="solid"/>
          </a:ln>
        </p:spPr>
      </p:sp>
      <p:pic>
        <p:nvPicPr>
          <p:cNvPr id="14" name="Image 0" descr="door">    </p:cNvPr>
          <p:cNvPicPr>
            <a:picLocks noChangeAspect="1"/>
          </p:cNvPicPr>
          <p:nvPr/>
        </p:nvPicPr>
        <p:blipFill>
          <a:blip r:embed="rId1"/>
          <a:stretch>
            <a:fillRect/>
          </a:stretch>
        </p:blipFill>
        <p:spPr>
          <a:xfrm>
            <a:off x="6355080" y="2103120"/>
            <a:ext cx="685800" cy="685800"/>
          </a:xfrm>
          <a:prstGeom prst="rect">
            <a:avLst/>
          </a:prstGeom>
        </p:spPr>
      </p:pic>
      <p:sp>
        <p:nvSpPr>
          <p:cNvPr id="15" name="Text 11"/>
          <p:cNvSpPr txBox="1"/>
          <p:nvPr/>
        </p:nvSpPr>
        <p:spPr>
          <a:xfrm>
            <a:off x="7223760" y="196596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Kom</a:t>
            </a:r>
            <a:r>
              <a:rPr lang="en-US" sz="2200" i="1" dirty="0">
                <a:solidFill>
                  <a:schemeClr val="tx1"/>
                </a:solidFill>
              </a:rPr>
              <a:t> </a:t>
            </a:r>
            <a:r>
              <a:rPr lang="en-US" sz="2200" b="1" i="1" dirty="0">
                <a:solidFill>
                  <a:schemeClr val="accent1"/>
                </a:solidFill>
              </a:rPr>
              <a:t>binnen</a:t>
            </a:r>
            <a:r>
              <a:rPr lang="en-US" sz="2200" i="1" dirty="0">
                <a:solidFill>
                  <a:schemeClr val="tx1"/>
                </a:solidFill>
              </a:rPr>
              <a:t>!</a:t>
            </a:r>
            <a:endParaRPr lang="en-US" sz="2200" dirty="0"/>
          </a:p>
        </p:txBody>
      </p:sp>
      <p:sp>
        <p:nvSpPr>
          <p:cNvPr id="16" name="Shape 12"/>
          <p:cNvSpPr/>
          <p:nvPr/>
        </p:nvSpPr>
        <p:spPr>
          <a:xfrm>
            <a:off x="6217920" y="3154680"/>
            <a:ext cx="5422392" cy="960120"/>
          </a:xfrm>
          <a:prstGeom prst="roundRect">
            <a:avLst>
              <a:gd name="adj" fmla="val 11429"/>
            </a:avLst>
          </a:prstGeom>
          <a:solidFill>
            <a:srgbClr val="FBEDEB"/>
          </a:solidFill>
          <a:ln w="19050">
            <a:solidFill>
              <a:srgbClr val="B83227"/>
            </a:solidFill>
            <a:prstDash val="solid"/>
          </a:ln>
        </p:spPr>
      </p:sp>
      <p:pic>
        <p:nvPicPr>
          <p:cNvPr id="17" name="Image 1" descr="locked">    </p:cNvPr>
          <p:cNvPicPr>
            <a:picLocks noChangeAspect="1"/>
          </p:cNvPicPr>
          <p:nvPr/>
        </p:nvPicPr>
        <p:blipFill>
          <a:blip r:embed="rId2"/>
          <a:stretch>
            <a:fillRect/>
          </a:stretch>
        </p:blipFill>
        <p:spPr>
          <a:xfrm>
            <a:off x="6355080" y="3291840"/>
            <a:ext cx="685800" cy="685800"/>
          </a:xfrm>
          <a:prstGeom prst="rect">
            <a:avLst/>
          </a:prstGeom>
        </p:spPr>
      </p:pic>
      <p:sp>
        <p:nvSpPr>
          <p:cNvPr id="18" name="Text 13"/>
          <p:cNvSpPr txBox="1"/>
          <p:nvPr/>
        </p:nvSpPr>
        <p:spPr>
          <a:xfrm>
            <a:off x="7223760" y="315468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Doe</a:t>
            </a:r>
            <a:r>
              <a:rPr lang="en-US" sz="2200" i="1" dirty="0">
                <a:solidFill>
                  <a:schemeClr val="tx1"/>
                </a:solidFill>
              </a:rPr>
              <a:t> de deur </a:t>
            </a:r>
            <a:r>
              <a:rPr lang="en-US" sz="2200" b="1" i="1" dirty="0">
                <a:solidFill>
                  <a:schemeClr val="accent1"/>
                </a:solidFill>
              </a:rPr>
              <a:t>dicht</a:t>
            </a:r>
            <a:r>
              <a:rPr lang="en-US" sz="2200" i="1" dirty="0">
                <a:solidFill>
                  <a:schemeClr val="tx1"/>
                </a:solidFill>
              </a:rPr>
              <a:t>!</a:t>
            </a:r>
            <a:endParaRPr lang="en-US" sz="2200" dirty="0"/>
          </a:p>
        </p:txBody>
      </p:sp>
      <p:sp>
        <p:nvSpPr>
          <p:cNvPr id="19" name="Shape 14"/>
          <p:cNvSpPr/>
          <p:nvPr/>
        </p:nvSpPr>
        <p:spPr>
          <a:xfrm>
            <a:off x="6217920" y="4343400"/>
            <a:ext cx="5422392" cy="960120"/>
          </a:xfrm>
          <a:prstGeom prst="roundRect">
            <a:avLst>
              <a:gd name="adj" fmla="val 11429"/>
            </a:avLst>
          </a:prstGeom>
          <a:solidFill>
            <a:srgbClr val="FBEDEB"/>
          </a:solidFill>
          <a:ln w="19050">
            <a:solidFill>
              <a:srgbClr val="B83227"/>
            </a:solidFill>
            <a:prstDash val="solid"/>
          </a:ln>
        </p:spPr>
      </p:sp>
      <p:pic>
        <p:nvPicPr>
          <p:cNvPr id="20" name="Image 2" descr="telephone receiver">    </p:cNvPr>
          <p:cNvPicPr>
            <a:picLocks noChangeAspect="1"/>
          </p:cNvPicPr>
          <p:nvPr/>
        </p:nvPicPr>
        <p:blipFill>
          <a:blip r:embed="rId3"/>
          <a:stretch>
            <a:fillRect/>
          </a:stretch>
        </p:blipFill>
        <p:spPr>
          <a:xfrm>
            <a:off x="6355080" y="4480560"/>
            <a:ext cx="685800" cy="685800"/>
          </a:xfrm>
          <a:prstGeom prst="rect">
            <a:avLst/>
          </a:prstGeom>
        </p:spPr>
      </p:pic>
      <p:sp>
        <p:nvSpPr>
          <p:cNvPr id="21" name="Text 15"/>
          <p:cNvSpPr txBox="1"/>
          <p:nvPr/>
        </p:nvSpPr>
        <p:spPr>
          <a:xfrm>
            <a:off x="7223760" y="434340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Bel</a:t>
            </a:r>
            <a:r>
              <a:rPr lang="en-US" sz="2200" i="1" dirty="0">
                <a:solidFill>
                  <a:schemeClr val="tx1"/>
                </a:solidFill>
              </a:rPr>
              <a:t> me morgen </a:t>
            </a:r>
            <a:r>
              <a:rPr lang="en-US" sz="2200" b="1" i="1" dirty="0">
                <a:solidFill>
                  <a:schemeClr val="accent1"/>
                </a:solidFill>
              </a:rPr>
              <a:t>terug</a:t>
            </a:r>
            <a:r>
              <a:rPr lang="en-US" sz="2200" i="1" dirty="0">
                <a:solidFill>
                  <a:schemeClr val="tx1"/>
                </a:solidFill>
              </a:rPr>
              <a:t>!</a:t>
            </a:r>
            <a:endParaRPr lang="en-US" sz="2200" dirty="0"/>
          </a:p>
        </p:txBody>
      </p:sp>
      <p:sp>
        <p:nvSpPr>
          <p:cNvPr id="22" name="Shape 1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Impératif = le </a:t>
            </a:r>
            <a:r>
              <a:rPr lang="en-US" sz="1800" b="1" dirty="0">
                <a:solidFill>
                  <a:schemeClr val="bg1"/>
                </a:solidFill>
              </a:rPr>
              <a:t>radical</a:t>
            </a:r>
            <a:r>
              <a:rPr lang="en-US" sz="1800" dirty="0">
                <a:solidFill>
                  <a:schemeClr val="bg1"/>
                </a:solidFill>
              </a:rPr>
              <a:t> en tête, la particule reste au bout. + </a:t>
            </a:r>
            <a:r>
              <a:rPr lang="en-US" sz="1800" i="1" dirty="0">
                <a:solidFill>
                  <a:schemeClr val="bg1"/>
                </a:solidFill>
              </a:rPr>
              <a:t>alstublieft</a:t>
            </a:r>
            <a:r>
              <a:rPr lang="en-US" sz="1800" dirty="0">
                <a:solidFill>
                  <a:schemeClr val="bg1"/>
                </a:solidFill>
              </a:rPr>
              <a:t> pour la politesse (M8).</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journée au bureau</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874520"/>
            <a:ext cx="11091672" cy="914"/>
          </a:xfrm>
          <a:prstGeom prst="line">
            <a:avLst/>
          </a:prstGeom>
          <a:noFill/>
          <a:ln w="25400">
            <a:solidFill>
              <a:srgbClr val="4A5A70"/>
            </a:solidFill>
            <a:prstDash val="solid"/>
            <a:tailEnd type="triangle"/>
          </a:ln>
        </p:spPr>
      </p:sp>
      <p:sp>
        <p:nvSpPr>
          <p:cNvPr id="6" name="Shape 3"/>
          <p:cNvSpPr/>
          <p:nvPr/>
        </p:nvSpPr>
        <p:spPr>
          <a:xfrm>
            <a:off x="548640" y="4114800"/>
            <a:ext cx="11091672" cy="914"/>
          </a:xfrm>
          <a:prstGeom prst="line">
            <a:avLst/>
          </a:prstGeom>
          <a:noFill/>
          <a:ln w="25400">
            <a:solidFill>
              <a:srgbClr val="4A5A70"/>
            </a:solidFill>
            <a:prstDash val="solid"/>
            <a:tailEnd type="triangle"/>
          </a:ln>
        </p:spPr>
      </p:sp>
      <p:sp>
        <p:nvSpPr>
          <p:cNvPr id="7" name="Shape 4"/>
          <p:cNvSpPr/>
          <p:nvPr/>
        </p:nvSpPr>
        <p:spPr>
          <a:xfrm>
            <a:off x="1493215" y="1764792"/>
            <a:ext cx="219456" cy="219456"/>
          </a:xfrm>
          <a:prstGeom prst="ellipse">
            <a:avLst/>
          </a:prstGeom>
          <a:solidFill>
            <a:schemeClr val="accent1"/>
          </a:solidFill>
          <a:ln w="12700">
            <a:solidFill>
              <a:srgbClr val="FFFFFF">
                <a:alpha val="0"/>
              </a:srgbClr>
            </a:solidFill>
            <a:prstDash val="solid"/>
          </a:ln>
        </p:spPr>
      </p:sp>
      <p:sp>
        <p:nvSpPr>
          <p:cNvPr id="8" name="Text 5"/>
          <p:cNvSpPr txBox="1"/>
          <p:nvPr/>
        </p:nvSpPr>
        <p:spPr>
          <a:xfrm>
            <a:off x="548640"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9" name="Shape 6"/>
          <p:cNvSpPr/>
          <p:nvPr/>
        </p:nvSpPr>
        <p:spPr>
          <a:xfrm>
            <a:off x="548640"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0" descr="alarm clock">    </p:cNvPr>
          <p:cNvPicPr>
            <a:picLocks noChangeAspect="1"/>
          </p:cNvPicPr>
          <p:nvPr/>
        </p:nvPicPr>
        <p:blipFill>
          <a:blip r:embed="rId1"/>
          <a:stretch>
            <a:fillRect/>
          </a:stretch>
        </p:blipFill>
        <p:spPr>
          <a:xfrm>
            <a:off x="1282903" y="2194560"/>
            <a:ext cx="640080" cy="640080"/>
          </a:xfrm>
          <a:prstGeom prst="rect">
            <a:avLst/>
          </a:prstGeom>
        </p:spPr>
      </p:pic>
      <p:sp>
        <p:nvSpPr>
          <p:cNvPr id="11" name="Text 7"/>
          <p:cNvSpPr txBox="1"/>
          <p:nvPr/>
        </p:nvSpPr>
        <p:spPr>
          <a:xfrm>
            <a:off x="621792"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sta</a:t>
            </a:r>
            <a:r>
              <a:rPr lang="en-US" sz="1600" i="1" dirty="0">
                <a:solidFill>
                  <a:schemeClr val="tx1"/>
                </a:solidFill>
              </a:rPr>
              <a:t> </a:t>
            </a:r>
            <a:r>
              <a:rPr lang="en-US" sz="1600" b="1" i="1" dirty="0">
                <a:solidFill>
                  <a:schemeClr val="accent1"/>
                </a:solidFill>
              </a:rPr>
              <a:t>op</a:t>
            </a:r>
            <a:r>
              <a:rPr lang="en-US" sz="1600" i="1" dirty="0">
                <a:solidFill>
                  <a:schemeClr val="tx1"/>
                </a:solidFill>
              </a:rPr>
              <a:t>.</a:t>
            </a:r>
            <a:endParaRPr lang="en-US" sz="1600" dirty="0"/>
          </a:p>
        </p:txBody>
      </p:sp>
      <p:sp>
        <p:nvSpPr>
          <p:cNvPr id="12" name="Shape 8"/>
          <p:cNvSpPr/>
          <p:nvPr/>
        </p:nvSpPr>
        <p:spPr>
          <a:xfrm>
            <a:off x="3738982" y="1764792"/>
            <a:ext cx="219456" cy="219456"/>
          </a:xfrm>
          <a:prstGeom prst="ellipse">
            <a:avLst/>
          </a:prstGeom>
          <a:solidFill>
            <a:schemeClr val="accent1"/>
          </a:solidFill>
          <a:ln w="12700">
            <a:solidFill>
              <a:srgbClr val="FFFFFF">
                <a:alpha val="0"/>
              </a:srgbClr>
            </a:solidFill>
            <a:prstDash val="solid"/>
          </a:ln>
        </p:spPr>
      </p:sp>
      <p:sp>
        <p:nvSpPr>
          <p:cNvPr id="13" name="Text 9"/>
          <p:cNvSpPr txBox="1"/>
          <p:nvPr/>
        </p:nvSpPr>
        <p:spPr>
          <a:xfrm>
            <a:off x="27944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7.15</a:t>
            </a:r>
            <a:endParaRPr lang="en-US" sz="1300" dirty="0"/>
          </a:p>
        </p:txBody>
      </p:sp>
      <p:sp>
        <p:nvSpPr>
          <p:cNvPr id="14" name="Shape 10"/>
          <p:cNvSpPr/>
          <p:nvPr/>
        </p:nvSpPr>
        <p:spPr>
          <a:xfrm>
            <a:off x="27944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5" name="Image 1" descr="t shirt">    </p:cNvPr>
          <p:cNvPicPr>
            <a:picLocks noChangeAspect="1"/>
          </p:cNvPicPr>
          <p:nvPr/>
        </p:nvPicPr>
        <p:blipFill>
          <a:blip r:embed="rId2"/>
          <a:stretch>
            <a:fillRect/>
          </a:stretch>
        </p:blipFill>
        <p:spPr>
          <a:xfrm>
            <a:off x="3528670" y="2194560"/>
            <a:ext cx="640080" cy="640080"/>
          </a:xfrm>
          <a:prstGeom prst="rect">
            <a:avLst/>
          </a:prstGeom>
        </p:spPr>
      </p:pic>
      <p:sp>
        <p:nvSpPr>
          <p:cNvPr id="16" name="Text 11"/>
          <p:cNvSpPr txBox="1"/>
          <p:nvPr/>
        </p:nvSpPr>
        <p:spPr>
          <a:xfrm>
            <a:off x="28675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kleed</a:t>
            </a:r>
            <a:r>
              <a:rPr lang="en-US" sz="1600" i="1" dirty="0">
                <a:solidFill>
                  <a:schemeClr val="tx1"/>
                </a:solidFill>
              </a:rPr>
              <a:t> me </a:t>
            </a:r>
            <a:r>
              <a:rPr lang="en-US" sz="1600" b="1" i="1" dirty="0">
                <a:solidFill>
                  <a:schemeClr val="accent1"/>
                </a:solidFill>
              </a:rPr>
              <a:t>aan</a:t>
            </a:r>
            <a:r>
              <a:rPr lang="en-US" sz="1600" i="1" dirty="0">
                <a:solidFill>
                  <a:schemeClr val="tx1"/>
                </a:solidFill>
              </a:rPr>
              <a:t>.</a:t>
            </a:r>
            <a:endParaRPr lang="en-US" sz="1600" dirty="0"/>
          </a:p>
        </p:txBody>
      </p:sp>
      <p:sp>
        <p:nvSpPr>
          <p:cNvPr id="17" name="Shape 12"/>
          <p:cNvSpPr/>
          <p:nvPr/>
        </p:nvSpPr>
        <p:spPr>
          <a:xfrm>
            <a:off x="5984748" y="1764792"/>
            <a:ext cx="219456" cy="219456"/>
          </a:xfrm>
          <a:prstGeom prst="ellipse">
            <a:avLst/>
          </a:prstGeom>
          <a:solidFill>
            <a:schemeClr val="tx2"/>
          </a:solidFill>
          <a:ln w="12700">
            <a:solidFill>
              <a:srgbClr val="FFFFFF">
                <a:alpha val="0"/>
              </a:srgbClr>
            </a:solidFill>
            <a:prstDash val="solid"/>
          </a:ln>
        </p:spPr>
      </p:sp>
      <p:sp>
        <p:nvSpPr>
          <p:cNvPr id="18" name="Text 13"/>
          <p:cNvSpPr txBox="1"/>
          <p:nvPr/>
        </p:nvSpPr>
        <p:spPr>
          <a:xfrm>
            <a:off x="5040173"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7.30</a:t>
            </a:r>
            <a:endParaRPr lang="en-US" sz="1300" dirty="0"/>
          </a:p>
        </p:txBody>
      </p:sp>
      <p:sp>
        <p:nvSpPr>
          <p:cNvPr id="19" name="Shape 14"/>
          <p:cNvSpPr/>
          <p:nvPr/>
        </p:nvSpPr>
        <p:spPr>
          <a:xfrm>
            <a:off x="5040173"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0" name="Image 2" descr="croissant">    </p:cNvPr>
          <p:cNvPicPr>
            <a:picLocks noChangeAspect="1"/>
          </p:cNvPicPr>
          <p:nvPr/>
        </p:nvPicPr>
        <p:blipFill>
          <a:blip r:embed="rId3"/>
          <a:stretch>
            <a:fillRect/>
          </a:stretch>
        </p:blipFill>
        <p:spPr>
          <a:xfrm>
            <a:off x="5774436" y="2194560"/>
            <a:ext cx="640080" cy="640080"/>
          </a:xfrm>
          <a:prstGeom prst="rect">
            <a:avLst/>
          </a:prstGeom>
        </p:spPr>
      </p:pic>
      <p:sp>
        <p:nvSpPr>
          <p:cNvPr id="21" name="Text 15"/>
          <p:cNvSpPr txBox="1"/>
          <p:nvPr/>
        </p:nvSpPr>
        <p:spPr>
          <a:xfrm>
            <a:off x="5113325"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ontbijt</a:t>
            </a:r>
            <a:r>
              <a:rPr lang="en-US" sz="1600" i="1" dirty="0">
                <a:solidFill>
                  <a:schemeClr val="tx1"/>
                </a:solidFill>
              </a:rPr>
              <a:t>.</a:t>
            </a:r>
            <a:endParaRPr lang="en-US" sz="1600" dirty="0"/>
          </a:p>
        </p:txBody>
      </p:sp>
      <p:pic>
        <p:nvPicPr>
          <p:cNvPr id="22" name="Image 3" descr="Lock">    </p:cNvPr>
          <p:cNvPicPr>
            <a:picLocks noChangeAspect="1"/>
          </p:cNvPicPr>
          <p:nvPr/>
        </p:nvPicPr>
        <p:blipFill>
          <a:blip r:embed="rId4"/>
          <a:stretch>
            <a:fillRect/>
          </a:stretch>
        </p:blipFill>
        <p:spPr>
          <a:xfrm>
            <a:off x="6828739" y="2194560"/>
            <a:ext cx="219456" cy="219456"/>
          </a:xfrm>
          <a:prstGeom prst="rect">
            <a:avLst/>
          </a:prstGeom>
        </p:spPr>
      </p:pic>
      <p:sp>
        <p:nvSpPr>
          <p:cNvPr id="23" name="Shape 16"/>
          <p:cNvSpPr/>
          <p:nvPr/>
        </p:nvSpPr>
        <p:spPr>
          <a:xfrm>
            <a:off x="8230514" y="1764792"/>
            <a:ext cx="219456" cy="219456"/>
          </a:xfrm>
          <a:prstGeom prst="ellipse">
            <a:avLst/>
          </a:prstGeom>
          <a:solidFill>
            <a:schemeClr val="tx2"/>
          </a:solidFill>
          <a:ln w="12700">
            <a:solidFill>
              <a:srgbClr val="FFFFFF">
                <a:alpha val="0"/>
              </a:srgbClr>
            </a:solidFill>
            <a:prstDash val="solid"/>
          </a:ln>
        </p:spPr>
      </p:sp>
      <p:sp>
        <p:nvSpPr>
          <p:cNvPr id="24" name="Text 17"/>
          <p:cNvSpPr txBox="1"/>
          <p:nvPr/>
        </p:nvSpPr>
        <p:spPr>
          <a:xfrm>
            <a:off x="7285939"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8.00</a:t>
            </a:r>
            <a:endParaRPr lang="en-US" sz="1300" dirty="0"/>
          </a:p>
        </p:txBody>
      </p:sp>
      <p:sp>
        <p:nvSpPr>
          <p:cNvPr id="25" name="Shape 18"/>
          <p:cNvSpPr/>
          <p:nvPr/>
        </p:nvSpPr>
        <p:spPr>
          <a:xfrm>
            <a:off x="7285939"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6" name="Image 4" descr="automobile">    </p:cNvPr>
          <p:cNvPicPr>
            <a:picLocks noChangeAspect="1"/>
          </p:cNvPicPr>
          <p:nvPr/>
        </p:nvPicPr>
        <p:blipFill>
          <a:blip r:embed="rId5"/>
          <a:stretch>
            <a:fillRect/>
          </a:stretch>
        </p:blipFill>
        <p:spPr>
          <a:xfrm>
            <a:off x="8020202" y="2194560"/>
            <a:ext cx="640080" cy="640080"/>
          </a:xfrm>
          <a:prstGeom prst="rect">
            <a:avLst/>
          </a:prstGeom>
        </p:spPr>
      </p:pic>
      <p:sp>
        <p:nvSpPr>
          <p:cNvPr id="27" name="Text 19"/>
          <p:cNvSpPr txBox="1"/>
          <p:nvPr/>
        </p:nvSpPr>
        <p:spPr>
          <a:xfrm>
            <a:off x="7359091"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vertrek</a:t>
            </a:r>
            <a:r>
              <a:rPr lang="en-US" sz="1600" i="1" dirty="0">
                <a:solidFill>
                  <a:schemeClr val="tx1"/>
                </a:solidFill>
              </a:rPr>
              <a:t>.</a:t>
            </a:r>
            <a:endParaRPr lang="en-US" sz="1600" dirty="0"/>
          </a:p>
        </p:txBody>
      </p:sp>
      <p:pic>
        <p:nvPicPr>
          <p:cNvPr id="28" name="Image 5" descr="Lock">    </p:cNvPr>
          <p:cNvPicPr>
            <a:picLocks noChangeAspect="1"/>
          </p:cNvPicPr>
          <p:nvPr/>
        </p:nvPicPr>
        <p:blipFill>
          <a:blip r:embed="rId6"/>
          <a:stretch>
            <a:fillRect/>
          </a:stretch>
        </p:blipFill>
        <p:spPr>
          <a:xfrm>
            <a:off x="9074506" y="2194560"/>
            <a:ext cx="219456" cy="219456"/>
          </a:xfrm>
          <a:prstGeom prst="rect">
            <a:avLst/>
          </a:prstGeom>
        </p:spPr>
      </p:pic>
      <p:sp>
        <p:nvSpPr>
          <p:cNvPr id="29" name="Shape 20"/>
          <p:cNvSpPr/>
          <p:nvPr/>
        </p:nvSpPr>
        <p:spPr>
          <a:xfrm>
            <a:off x="10476281" y="1764792"/>
            <a:ext cx="219456" cy="219456"/>
          </a:xfrm>
          <a:prstGeom prst="ellipse">
            <a:avLst/>
          </a:prstGeom>
          <a:solidFill>
            <a:schemeClr val="accent1"/>
          </a:solidFill>
          <a:ln w="12700">
            <a:solidFill>
              <a:srgbClr val="FFFFFF">
                <a:alpha val="0"/>
              </a:srgbClr>
            </a:solidFill>
            <a:prstDash val="solid"/>
          </a:ln>
        </p:spPr>
      </p:sp>
      <p:sp>
        <p:nvSpPr>
          <p:cNvPr id="30" name="Text 21"/>
          <p:cNvSpPr txBox="1"/>
          <p:nvPr/>
        </p:nvSpPr>
        <p:spPr>
          <a:xfrm>
            <a:off x="95317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31" name="Shape 22"/>
          <p:cNvSpPr/>
          <p:nvPr/>
        </p:nvSpPr>
        <p:spPr>
          <a:xfrm>
            <a:off x="95317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2" name="Image 6" descr="laptop">    </p:cNvPr>
          <p:cNvPicPr>
            <a:picLocks noChangeAspect="1"/>
          </p:cNvPicPr>
          <p:nvPr/>
        </p:nvPicPr>
        <p:blipFill>
          <a:blip r:embed="rId7"/>
          <a:stretch>
            <a:fillRect/>
          </a:stretch>
        </p:blipFill>
        <p:spPr>
          <a:xfrm>
            <a:off x="10265969" y="2194560"/>
            <a:ext cx="640080" cy="640080"/>
          </a:xfrm>
          <a:prstGeom prst="rect">
            <a:avLst/>
          </a:prstGeom>
        </p:spPr>
      </p:pic>
      <p:sp>
        <p:nvSpPr>
          <p:cNvPr id="33" name="Text 23"/>
          <p:cNvSpPr txBox="1"/>
          <p:nvPr/>
        </p:nvSpPr>
        <p:spPr>
          <a:xfrm>
            <a:off x="96048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in</a:t>
            </a:r>
            <a:r>
              <a:rPr lang="en-US" sz="1600" i="1" dirty="0">
                <a:solidFill>
                  <a:schemeClr val="tx1"/>
                </a:solidFill>
              </a:rPr>
              <a:t>.</a:t>
            </a:r>
            <a:endParaRPr lang="en-US" sz="1600" dirty="0"/>
          </a:p>
        </p:txBody>
      </p:sp>
      <p:sp>
        <p:nvSpPr>
          <p:cNvPr id="34" name="Shape 24"/>
          <p:cNvSpPr/>
          <p:nvPr/>
        </p:nvSpPr>
        <p:spPr>
          <a:xfrm>
            <a:off x="1493215" y="4005072"/>
            <a:ext cx="219456" cy="219456"/>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548640"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10.00</a:t>
            </a:r>
            <a:endParaRPr lang="en-US" sz="1300" dirty="0"/>
          </a:p>
        </p:txBody>
      </p:sp>
      <p:sp>
        <p:nvSpPr>
          <p:cNvPr id="36" name="Shape 26"/>
          <p:cNvSpPr/>
          <p:nvPr/>
        </p:nvSpPr>
        <p:spPr>
          <a:xfrm>
            <a:off x="548640"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7" descr="busts in silhouette">    </p:cNvPr>
          <p:cNvPicPr>
            <a:picLocks noChangeAspect="1"/>
          </p:cNvPicPr>
          <p:nvPr/>
        </p:nvPicPr>
        <p:blipFill>
          <a:blip r:embed="rId8"/>
          <a:stretch>
            <a:fillRect/>
          </a:stretch>
        </p:blipFill>
        <p:spPr>
          <a:xfrm>
            <a:off x="1282903" y="4434840"/>
            <a:ext cx="640080" cy="640080"/>
          </a:xfrm>
          <a:prstGeom prst="rect">
            <a:avLst/>
          </a:prstGeom>
        </p:spPr>
      </p:pic>
      <p:sp>
        <p:nvSpPr>
          <p:cNvPr id="38" name="Text 27"/>
          <p:cNvSpPr txBox="1"/>
          <p:nvPr/>
        </p:nvSpPr>
        <p:spPr>
          <a:xfrm>
            <a:off x="621792"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woon</a:t>
            </a:r>
            <a:r>
              <a:rPr lang="en-US" sz="1600" i="1" dirty="0">
                <a:solidFill>
                  <a:schemeClr val="tx1"/>
                </a:solidFill>
              </a:rPr>
              <a:t> een vergadering </a:t>
            </a:r>
            <a:r>
              <a:rPr lang="en-US" sz="1600" b="1" i="1" dirty="0">
                <a:solidFill>
                  <a:schemeClr val="accent1"/>
                </a:solidFill>
              </a:rPr>
              <a:t>bij</a:t>
            </a:r>
            <a:r>
              <a:rPr lang="en-US" sz="1600" i="1" dirty="0">
                <a:solidFill>
                  <a:schemeClr val="tx1"/>
                </a:solidFill>
              </a:rPr>
              <a:t>.</a:t>
            </a:r>
            <a:endParaRPr lang="en-US" sz="1600" dirty="0"/>
          </a:p>
        </p:txBody>
      </p:sp>
      <p:sp>
        <p:nvSpPr>
          <p:cNvPr id="39" name="Shape 28"/>
          <p:cNvSpPr/>
          <p:nvPr/>
        </p:nvSpPr>
        <p:spPr>
          <a:xfrm>
            <a:off x="3738982" y="4005072"/>
            <a:ext cx="219456" cy="219456"/>
          </a:xfrm>
          <a:prstGeom prst="ellipse">
            <a:avLst/>
          </a:prstGeom>
          <a:solidFill>
            <a:schemeClr val="accent1"/>
          </a:solidFill>
          <a:ln w="12700">
            <a:solidFill>
              <a:srgbClr val="FFFFFF">
                <a:alpha val="0"/>
              </a:srgbClr>
            </a:solidFill>
            <a:prstDash val="solid"/>
          </a:ln>
        </p:spPr>
      </p:sp>
      <p:sp>
        <p:nvSpPr>
          <p:cNvPr id="40" name="Text 29"/>
          <p:cNvSpPr txBox="1"/>
          <p:nvPr/>
        </p:nvSpPr>
        <p:spPr>
          <a:xfrm>
            <a:off x="27944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41" name="Shape 30"/>
          <p:cNvSpPr/>
          <p:nvPr/>
        </p:nvSpPr>
        <p:spPr>
          <a:xfrm>
            <a:off x="27944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8" descr="sandwich">    </p:cNvPr>
          <p:cNvPicPr>
            <a:picLocks noChangeAspect="1"/>
          </p:cNvPicPr>
          <p:nvPr/>
        </p:nvPicPr>
        <p:blipFill>
          <a:blip r:embed="rId9"/>
          <a:stretch>
            <a:fillRect/>
          </a:stretch>
        </p:blipFill>
        <p:spPr>
          <a:xfrm>
            <a:off x="3528670" y="4434840"/>
            <a:ext cx="640080" cy="640080"/>
          </a:xfrm>
          <a:prstGeom prst="rect">
            <a:avLst/>
          </a:prstGeom>
        </p:spPr>
      </p:pic>
      <p:sp>
        <p:nvSpPr>
          <p:cNvPr id="43" name="Text 31"/>
          <p:cNvSpPr txBox="1"/>
          <p:nvPr/>
        </p:nvSpPr>
        <p:spPr>
          <a:xfrm>
            <a:off x="28675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neem</a:t>
            </a:r>
            <a:r>
              <a:rPr lang="en-US" sz="1600" i="1" dirty="0">
                <a:solidFill>
                  <a:schemeClr val="tx1"/>
                </a:solidFill>
              </a:rPr>
              <a:t> mijn lunch </a:t>
            </a:r>
            <a:r>
              <a:rPr lang="en-US" sz="1600" b="1" i="1" dirty="0">
                <a:solidFill>
                  <a:schemeClr val="accent1"/>
                </a:solidFill>
              </a:rPr>
              <a:t>mee</a:t>
            </a:r>
            <a:r>
              <a:rPr lang="en-US" sz="1600" i="1" dirty="0">
                <a:solidFill>
                  <a:schemeClr val="tx1"/>
                </a:solidFill>
              </a:rPr>
              <a:t>.</a:t>
            </a:r>
            <a:endParaRPr lang="en-US" sz="1600" dirty="0"/>
          </a:p>
        </p:txBody>
      </p:sp>
      <p:sp>
        <p:nvSpPr>
          <p:cNvPr id="44" name="Shape 32"/>
          <p:cNvSpPr/>
          <p:nvPr/>
        </p:nvSpPr>
        <p:spPr>
          <a:xfrm>
            <a:off x="5984748" y="4005072"/>
            <a:ext cx="219456" cy="219456"/>
          </a:xfrm>
          <a:prstGeom prst="ellipse">
            <a:avLst/>
          </a:prstGeom>
          <a:solidFill>
            <a:schemeClr val="accent1"/>
          </a:solidFill>
          <a:ln w="12700">
            <a:solidFill>
              <a:srgbClr val="FFFFFF">
                <a:alpha val="0"/>
              </a:srgbClr>
            </a:solidFill>
            <a:prstDash val="solid"/>
          </a:ln>
        </p:spPr>
      </p:sp>
      <p:sp>
        <p:nvSpPr>
          <p:cNvPr id="45" name="Text 33"/>
          <p:cNvSpPr txBox="1"/>
          <p:nvPr/>
        </p:nvSpPr>
        <p:spPr>
          <a:xfrm>
            <a:off x="5040173"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14.00</a:t>
            </a:r>
            <a:endParaRPr lang="en-US" sz="1300" dirty="0"/>
          </a:p>
        </p:txBody>
      </p:sp>
      <p:sp>
        <p:nvSpPr>
          <p:cNvPr id="46" name="Shape 34"/>
          <p:cNvSpPr/>
          <p:nvPr/>
        </p:nvSpPr>
        <p:spPr>
          <a:xfrm>
            <a:off x="5040173"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7" name="Image 9" descr="telephone receiver">    </p:cNvPr>
          <p:cNvPicPr>
            <a:picLocks noChangeAspect="1"/>
          </p:cNvPicPr>
          <p:nvPr/>
        </p:nvPicPr>
        <p:blipFill>
          <a:blip r:embed="rId10"/>
          <a:stretch>
            <a:fillRect/>
          </a:stretch>
        </p:blipFill>
        <p:spPr>
          <a:xfrm>
            <a:off x="5774436" y="4434840"/>
            <a:ext cx="640080" cy="640080"/>
          </a:xfrm>
          <a:prstGeom prst="rect">
            <a:avLst/>
          </a:prstGeom>
        </p:spPr>
      </p:pic>
      <p:sp>
        <p:nvSpPr>
          <p:cNvPr id="48" name="Text 35"/>
          <p:cNvSpPr txBox="1"/>
          <p:nvPr/>
        </p:nvSpPr>
        <p:spPr>
          <a:xfrm>
            <a:off x="5113325"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bel</a:t>
            </a:r>
            <a:r>
              <a:rPr lang="en-US" sz="1600" i="1" dirty="0">
                <a:solidFill>
                  <a:schemeClr val="tx1"/>
                </a:solidFill>
              </a:rPr>
              <a:t> klanten </a:t>
            </a:r>
            <a:r>
              <a:rPr lang="en-US" sz="1600" b="1" i="1" dirty="0">
                <a:solidFill>
                  <a:schemeClr val="accent1"/>
                </a:solidFill>
              </a:rPr>
              <a:t>op</a:t>
            </a:r>
            <a:r>
              <a:rPr lang="en-US" sz="1600" i="1" dirty="0">
                <a:solidFill>
                  <a:schemeClr val="tx1"/>
                </a:solidFill>
              </a:rPr>
              <a:t>.</a:t>
            </a:r>
            <a:endParaRPr lang="en-US" sz="1600" dirty="0"/>
          </a:p>
        </p:txBody>
      </p:sp>
      <p:sp>
        <p:nvSpPr>
          <p:cNvPr id="49" name="Shape 36"/>
          <p:cNvSpPr/>
          <p:nvPr/>
        </p:nvSpPr>
        <p:spPr>
          <a:xfrm>
            <a:off x="8230514" y="4005072"/>
            <a:ext cx="219456" cy="219456"/>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7285939"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17.30</a:t>
            </a:r>
            <a:endParaRPr lang="en-US" sz="1300" dirty="0"/>
          </a:p>
        </p:txBody>
      </p:sp>
      <p:sp>
        <p:nvSpPr>
          <p:cNvPr id="51" name="Shape 38"/>
          <p:cNvSpPr/>
          <p:nvPr/>
        </p:nvSpPr>
        <p:spPr>
          <a:xfrm>
            <a:off x="7285939"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2" name="Image 10" descr="laptop">    </p:cNvPr>
          <p:cNvPicPr>
            <a:picLocks noChangeAspect="1"/>
          </p:cNvPicPr>
          <p:nvPr/>
        </p:nvPicPr>
        <p:blipFill>
          <a:blip r:embed="rId11"/>
          <a:stretch>
            <a:fillRect/>
          </a:stretch>
        </p:blipFill>
        <p:spPr>
          <a:xfrm>
            <a:off x="8020202" y="4434840"/>
            <a:ext cx="640080" cy="640080"/>
          </a:xfrm>
          <a:prstGeom prst="rect">
            <a:avLst/>
          </a:prstGeom>
        </p:spPr>
      </p:pic>
      <p:sp>
        <p:nvSpPr>
          <p:cNvPr id="53" name="Text 39"/>
          <p:cNvSpPr txBox="1"/>
          <p:nvPr/>
        </p:nvSpPr>
        <p:spPr>
          <a:xfrm>
            <a:off x="7359091"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uit</a:t>
            </a:r>
            <a:r>
              <a:rPr lang="en-US" sz="1600" i="1" dirty="0">
                <a:solidFill>
                  <a:schemeClr val="tx1"/>
                </a:solidFill>
              </a:rPr>
              <a:t>.</a:t>
            </a:r>
            <a:endParaRPr lang="en-US" sz="1600" dirty="0"/>
          </a:p>
        </p:txBody>
      </p:sp>
      <p:sp>
        <p:nvSpPr>
          <p:cNvPr id="54" name="Shape 40"/>
          <p:cNvSpPr/>
          <p:nvPr/>
        </p:nvSpPr>
        <p:spPr>
          <a:xfrm>
            <a:off x="10476281" y="4005072"/>
            <a:ext cx="219456" cy="219456"/>
          </a:xfrm>
          <a:prstGeom prst="ellipse">
            <a:avLst/>
          </a:prstGeom>
          <a:solidFill>
            <a:schemeClr val="accent1"/>
          </a:solidFill>
          <a:ln w="12700">
            <a:solidFill>
              <a:srgbClr val="FFFFFF">
                <a:alpha val="0"/>
              </a:srgbClr>
            </a:solidFill>
            <a:prstDash val="solid"/>
          </a:ln>
        </p:spPr>
      </p:sp>
      <p:sp>
        <p:nvSpPr>
          <p:cNvPr id="55" name="Text 41"/>
          <p:cNvSpPr txBox="1"/>
          <p:nvPr/>
        </p:nvSpPr>
        <p:spPr>
          <a:xfrm>
            <a:off x="95317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56" name="Shape 42"/>
          <p:cNvSpPr/>
          <p:nvPr/>
        </p:nvSpPr>
        <p:spPr>
          <a:xfrm>
            <a:off x="95317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7" name="Image 11" descr="person walking">    </p:cNvPr>
          <p:cNvPicPr>
            <a:picLocks noChangeAspect="1"/>
          </p:cNvPicPr>
          <p:nvPr/>
        </p:nvPicPr>
        <p:blipFill>
          <a:blip r:embed="rId12"/>
          <a:stretch>
            <a:fillRect/>
          </a:stretch>
        </p:blipFill>
        <p:spPr>
          <a:xfrm>
            <a:off x="10265969" y="4434840"/>
            <a:ext cx="640080" cy="640080"/>
          </a:xfrm>
          <a:prstGeom prst="rect">
            <a:avLst/>
          </a:prstGeom>
        </p:spPr>
      </p:pic>
      <p:sp>
        <p:nvSpPr>
          <p:cNvPr id="58" name="Text 43"/>
          <p:cNvSpPr txBox="1"/>
          <p:nvPr/>
        </p:nvSpPr>
        <p:spPr>
          <a:xfrm>
            <a:off x="96048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ga</a:t>
            </a:r>
            <a:r>
              <a:rPr lang="en-US" sz="1600" i="1" dirty="0">
                <a:solidFill>
                  <a:schemeClr val="tx1"/>
                </a:solidFill>
              </a:rPr>
              <a:t> </a:t>
            </a:r>
            <a:r>
              <a:rPr lang="en-US" sz="1600" b="1" i="1" dirty="0">
                <a:solidFill>
                  <a:schemeClr val="accent1"/>
                </a:solidFill>
              </a:rPr>
              <a:t>weg</a:t>
            </a:r>
            <a:r>
              <a:rPr lang="en-US" sz="1600" i="1" dirty="0">
                <a:solidFill>
                  <a:schemeClr val="tx1"/>
                </a:solidFill>
              </a:rPr>
              <a:t>.</a:t>
            </a:r>
            <a:endParaRPr lang="en-US" sz="1600" dirty="0"/>
          </a:p>
        </p:txBody>
      </p:sp>
      <p:sp>
        <p:nvSpPr>
          <p:cNvPr id="59" name="Text 44"/>
          <p:cNvSpPr txBox="1"/>
          <p:nvPr/>
        </p:nvSpPr>
        <p:spPr>
          <a:xfrm>
            <a:off x="548640" y="6035040"/>
            <a:ext cx="11091672" cy="320040"/>
          </a:xfrm>
          <a:prstGeom prst="rect">
            <a:avLst/>
          </a:prstGeom>
          <a:noFill/>
          <a:ln/>
        </p:spPr>
        <p:txBody>
          <a:bodyPr wrap="square" lIns="0" tIns="0" rIns="0" bIns="0" rtlCol="0" anchor="t"/>
          <a:lstStyle/>
          <a:p>
            <a:pPr algn="ctr" indent="0" marL="0">
              <a:buNone/>
            </a:pPr>
            <a:r>
              <a:rPr lang="en-US" sz="1400" b="1" i="1" dirty="0">
                <a:solidFill>
                  <a:schemeClr val="accent1"/>
                </a:solidFill>
              </a:rPr>
              <a:t>orange</a:t>
            </a:r>
            <a:r>
              <a:rPr lang="en-US" sz="1400" i="1" dirty="0">
                <a:solidFill>
                  <a:schemeClr val="accent5"/>
                </a:solidFill>
              </a:rPr>
              <a:t> = séparable · </a:t>
            </a:r>
            <a:r>
              <a:rPr lang="en-US" sz="1400" b="1" i="1" dirty="0">
                <a:solidFill>
                  <a:schemeClr val="tx2"/>
                </a:solidFill>
              </a:rPr>
              <a:t>bleu nuit + cadenas</a:t>
            </a:r>
            <a:r>
              <a:rPr lang="en-US" sz="1400" i="1" dirty="0">
                <a:solidFill>
                  <a:schemeClr val="accent5"/>
                </a:solidFill>
              </a:rPr>
              <a:t> = inséparable (</a:t>
            </a:r>
            <a:r>
              <a:rPr lang="en-US" sz="1400" i="1" dirty="0">
                <a:solidFill>
                  <a:schemeClr val="accent5"/>
                </a:solidFill>
              </a:rPr>
              <a:t>ontbijten, vertrekken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verbe à particule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Commence par be-, ge-, ont-, ver-, er-, her- ?</a:t>
            </a:r>
            <a:endParaRPr lang="en-US" sz="1600" dirty="0"/>
          </a:p>
        </p:txBody>
      </p:sp>
      <p:sp>
        <p:nvSpPr>
          <p:cNvPr id="6" name="Shape 3"/>
          <p:cNvSpPr/>
          <p:nvPr/>
        </p:nvSpPr>
        <p:spPr>
          <a:xfrm>
            <a:off x="6236208" y="2167128"/>
            <a:ext cx="850392" cy="914"/>
          </a:xfrm>
          <a:prstGeom prst="line">
            <a:avLst/>
          </a:prstGeom>
          <a:noFill/>
          <a:ln w="25400">
            <a:solidFill>
              <a:srgbClr val="2E7D4F"/>
            </a:solidFill>
            <a:prstDash val="solid"/>
            <a:tailEnd type="triangle"/>
          </a:ln>
        </p:spPr>
      </p:sp>
      <p:sp>
        <p:nvSpPr>
          <p:cNvPr id="7" name="Text 4"/>
          <p:cNvSpPr txBox="1"/>
          <p:nvPr/>
        </p:nvSpPr>
        <p:spPr>
          <a:xfrm>
            <a:off x="6355080" y="178308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8" name="Shape 5"/>
          <p:cNvSpPr/>
          <p:nvPr/>
        </p:nvSpPr>
        <p:spPr>
          <a:xfrm>
            <a:off x="7132320" y="1691640"/>
            <a:ext cx="4507992" cy="960120"/>
          </a:xfrm>
          <a:prstGeom prst="roundRect">
            <a:avLst>
              <a:gd name="adj" fmla="val 7619"/>
            </a:avLst>
          </a:prstGeom>
          <a:solidFill>
            <a:schemeClr val="tx2"/>
          </a:solidFill>
          <a:ln w="12700">
            <a:solidFill>
              <a:srgbClr val="FFFFFF">
                <a:alpha val="0"/>
              </a:srgbClr>
            </a:solidFill>
            <a:prstDash val="solid"/>
          </a:ln>
        </p:spPr>
      </p:sp>
      <p:pic>
        <p:nvPicPr>
          <p:cNvPr id="9" name="Image 0" descr="Lock">    </p:cNvPr>
          <p:cNvPicPr>
            <a:picLocks noChangeAspect="1"/>
          </p:cNvPicPr>
          <p:nvPr/>
        </p:nvPicPr>
        <p:blipFill>
          <a:blip r:embed="rId1"/>
          <a:stretch>
            <a:fillRect/>
          </a:stretch>
        </p:blipFill>
        <p:spPr>
          <a:xfrm>
            <a:off x="7315200" y="1993392"/>
            <a:ext cx="347472" cy="347472"/>
          </a:xfrm>
          <a:prstGeom prst="rect">
            <a:avLst/>
          </a:prstGeom>
        </p:spPr>
      </p:pic>
      <p:sp>
        <p:nvSpPr>
          <p:cNvPr id="10" name="Text 6"/>
          <p:cNvSpPr txBox="1"/>
          <p:nvPr/>
        </p:nvSpPr>
        <p:spPr>
          <a:xfrm>
            <a:off x="7818120" y="169164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un seul bloc</a:t>
            </a:r>
            <a:r>
              <a:rPr lang="en-US" sz="1700" dirty="0">
                <a:solidFill>
                  <a:schemeClr val="bg1"/>
                </a:solidFill>
              </a:rPr>
              <a:t> : </a:t>
            </a:r>
            <a:r>
              <a:rPr lang="en-US" sz="1700" i="1" dirty="0">
                <a:solidFill>
                  <a:schemeClr val="bg1"/>
                </a:solidFill>
              </a:rPr>
              <a:t>Ik vergeet mijn badge.</a:t>
            </a:r>
            <a:endParaRPr lang="en-US" sz="1700" dirty="0"/>
          </a:p>
        </p:txBody>
      </p:sp>
      <p:sp>
        <p:nvSpPr>
          <p:cNvPr id="11" name="Shape 7"/>
          <p:cNvSpPr/>
          <p:nvPr/>
        </p:nvSpPr>
        <p:spPr>
          <a:xfrm>
            <a:off x="3383280" y="2761488"/>
            <a:ext cx="914" cy="393192"/>
          </a:xfrm>
          <a:prstGeom prst="line">
            <a:avLst/>
          </a:prstGeom>
          <a:noFill/>
          <a:ln w="22225">
            <a:solidFill>
              <a:srgbClr val="4A5A70"/>
            </a:solidFill>
            <a:prstDash val="solid"/>
            <a:tailEnd type="triangle"/>
          </a:ln>
        </p:spPr>
      </p:sp>
      <p:sp>
        <p:nvSpPr>
          <p:cNvPr id="12" name="Text 8"/>
          <p:cNvSpPr txBox="1"/>
          <p:nvPr/>
        </p:nvSpPr>
        <p:spPr>
          <a:xfrm>
            <a:off x="3474720" y="2788920"/>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3" name="Text 9"/>
          <p:cNvSpPr/>
          <p:nvPr/>
        </p:nvSpPr>
        <p:spPr>
          <a:xfrm>
            <a:off x="548640" y="315468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Un verbe occupe déjà la fin ? (modal, gaan, subordonnée)</a:t>
            </a:r>
            <a:endParaRPr lang="en-US" sz="1500" dirty="0"/>
          </a:p>
        </p:txBody>
      </p:sp>
      <p:sp>
        <p:nvSpPr>
          <p:cNvPr id="14" name="Shape 10"/>
          <p:cNvSpPr/>
          <p:nvPr/>
        </p:nvSpPr>
        <p:spPr>
          <a:xfrm>
            <a:off x="6236208" y="3721608"/>
            <a:ext cx="850392" cy="914"/>
          </a:xfrm>
          <a:prstGeom prst="line">
            <a:avLst/>
          </a:prstGeom>
          <a:noFill/>
          <a:ln w="25400">
            <a:solidFill>
              <a:srgbClr val="2E7D4F"/>
            </a:solidFill>
            <a:prstDash val="solid"/>
            <a:tailEnd type="triangle"/>
          </a:ln>
        </p:spPr>
      </p:sp>
      <p:sp>
        <p:nvSpPr>
          <p:cNvPr id="15" name="Text 11"/>
          <p:cNvSpPr txBox="1"/>
          <p:nvPr/>
        </p:nvSpPr>
        <p:spPr>
          <a:xfrm>
            <a:off x="6355080" y="333756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6" name="Shape 12"/>
          <p:cNvSpPr/>
          <p:nvPr/>
        </p:nvSpPr>
        <p:spPr>
          <a:xfrm>
            <a:off x="7132320" y="3246120"/>
            <a:ext cx="4507992" cy="960120"/>
          </a:xfrm>
          <a:prstGeom prst="roundRect">
            <a:avLst>
              <a:gd name="adj" fmla="val 7619"/>
            </a:avLst>
          </a:prstGeom>
          <a:solidFill>
            <a:schemeClr val="accent1"/>
          </a:solidFill>
          <a:ln w="12700">
            <a:solidFill>
              <a:srgbClr val="FFFFFF">
                <a:alpha val="0"/>
              </a:srgbClr>
            </a:solidFill>
            <a:prstDash val="solid"/>
          </a:ln>
        </p:spPr>
      </p:sp>
      <p:pic>
        <p:nvPicPr>
          <p:cNvPr id="17" name="Image 1" descr="Link">    </p:cNvPr>
          <p:cNvPicPr>
            <a:picLocks noChangeAspect="1"/>
          </p:cNvPicPr>
          <p:nvPr/>
        </p:nvPicPr>
        <p:blipFill>
          <a:blip r:embed="rId2"/>
          <a:stretch>
            <a:fillRect/>
          </a:stretch>
        </p:blipFill>
        <p:spPr>
          <a:xfrm>
            <a:off x="7315200" y="3547872"/>
            <a:ext cx="347472" cy="347472"/>
          </a:xfrm>
          <a:prstGeom prst="rect">
            <a:avLst/>
          </a:prstGeom>
        </p:spPr>
      </p:pic>
      <p:sp>
        <p:nvSpPr>
          <p:cNvPr id="18" name="Text 13"/>
          <p:cNvSpPr txBox="1"/>
          <p:nvPr/>
        </p:nvSpPr>
        <p:spPr>
          <a:xfrm>
            <a:off x="7818120" y="324612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collée</a:t>
            </a:r>
            <a:r>
              <a:rPr lang="en-US" sz="1700" dirty="0">
                <a:solidFill>
                  <a:schemeClr val="bg1"/>
                </a:solidFill>
              </a:rPr>
              <a:t> : </a:t>
            </a:r>
            <a:r>
              <a:rPr lang="en-US" sz="1700" i="1" dirty="0">
                <a:solidFill>
                  <a:schemeClr val="bg1"/>
                </a:solidFill>
              </a:rPr>
              <a:t>Ik moet om 7 uur opstaan.</a:t>
            </a:r>
            <a:endParaRPr lang="en-US" sz="1700" dirty="0"/>
          </a:p>
        </p:txBody>
      </p:sp>
      <p:sp>
        <p:nvSpPr>
          <p:cNvPr id="19" name="Shape 14"/>
          <p:cNvSpPr/>
          <p:nvPr/>
        </p:nvSpPr>
        <p:spPr>
          <a:xfrm>
            <a:off x="3383280" y="4315968"/>
            <a:ext cx="914" cy="438912"/>
          </a:xfrm>
          <a:prstGeom prst="line">
            <a:avLst/>
          </a:prstGeom>
          <a:noFill/>
          <a:ln w="22225">
            <a:solidFill>
              <a:srgbClr val="4A5A70"/>
            </a:solidFill>
            <a:prstDash val="solid"/>
            <a:tailEnd type="triangle"/>
          </a:ln>
        </p:spPr>
      </p:sp>
      <p:sp>
        <p:nvSpPr>
          <p:cNvPr id="20" name="Text 15"/>
          <p:cNvSpPr txBox="1"/>
          <p:nvPr/>
        </p:nvSpPr>
        <p:spPr>
          <a:xfrm>
            <a:off x="3474720" y="4361688"/>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21" name="Shape 16"/>
          <p:cNvSpPr/>
          <p:nvPr/>
        </p:nvSpPr>
        <p:spPr>
          <a:xfrm>
            <a:off x="548640" y="4754880"/>
            <a:ext cx="5669280" cy="1005840"/>
          </a:xfrm>
          <a:prstGeom prst="roundRect">
            <a:avLst>
              <a:gd name="adj" fmla="val 7273"/>
            </a:avLst>
          </a:prstGeom>
          <a:solidFill>
            <a:schemeClr val="accent3"/>
          </a:solidFill>
          <a:ln w="12700">
            <a:solidFill>
              <a:srgbClr val="FFFFFF">
                <a:alpha val="0"/>
              </a:srgbClr>
            </a:solidFill>
            <a:prstDash val="solid"/>
          </a:ln>
        </p:spPr>
      </p:sp>
      <p:pic>
        <p:nvPicPr>
          <p:cNvPr id="22" name="Image 2" descr="Cut">    </p:cNvPr>
          <p:cNvPicPr>
            <a:picLocks noChangeAspect="1"/>
          </p:cNvPicPr>
          <p:nvPr/>
        </p:nvPicPr>
        <p:blipFill>
          <a:blip r:embed="rId3"/>
          <a:stretch>
            <a:fillRect/>
          </a:stretch>
        </p:blipFill>
        <p:spPr>
          <a:xfrm>
            <a:off x="731520" y="5074920"/>
            <a:ext cx="347472" cy="347472"/>
          </a:xfrm>
          <a:prstGeom prst="rect">
            <a:avLst/>
          </a:prstGeom>
        </p:spPr>
      </p:pic>
      <p:sp>
        <p:nvSpPr>
          <p:cNvPr id="23" name="Text 17"/>
          <p:cNvSpPr txBox="1"/>
          <p:nvPr/>
        </p:nvSpPr>
        <p:spPr>
          <a:xfrm>
            <a:off x="1234440" y="4754880"/>
            <a:ext cx="4846320" cy="1005840"/>
          </a:xfrm>
          <a:prstGeom prst="rect">
            <a:avLst/>
          </a:prstGeom>
          <a:noFill/>
          <a:ln/>
        </p:spPr>
        <p:txBody>
          <a:bodyPr wrap="square" lIns="0" tIns="0" rIns="0" bIns="0" rtlCol="0" anchor="ctr"/>
          <a:lstStyle/>
          <a:p>
            <a:pPr algn="l" indent="0" marL="0">
              <a:buNone/>
            </a:pPr>
            <a:r>
              <a:rPr lang="en-US" sz="1800" b="1" dirty="0">
                <a:solidFill>
                  <a:schemeClr val="bg1"/>
                </a:solidFill>
              </a:rPr>
              <a:t>au bout</a:t>
            </a:r>
            <a:r>
              <a:rPr lang="en-US" sz="1800" dirty="0">
                <a:solidFill>
                  <a:schemeClr val="bg1"/>
                </a:solidFill>
              </a:rPr>
              <a:t> : </a:t>
            </a:r>
            <a:r>
              <a:rPr lang="en-US" sz="1800" i="1" dirty="0">
                <a:solidFill>
                  <a:schemeClr val="bg1"/>
                </a:solidFill>
              </a:rPr>
              <a:t>Ik sta om 7 uur op.</a:t>
            </a:r>
            <a:endParaRPr lang="en-US" sz="1800" dirty="0"/>
          </a:p>
        </p:txBody>
      </p:sp>
      <p:pic>
        <p:nvPicPr>
          <p:cNvPr id="24"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u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Ciseaux ou cadenas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Conjuguez</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nk">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modal</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PuzzlePiec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bonne particule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Child">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Simon zegt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ock">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journée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8" name="Shape 4"/>
          <p:cNvSpPr/>
          <p:nvPr/>
        </p:nvSpPr>
        <p:spPr>
          <a:xfrm>
            <a:off x="5486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opstaan</a:t>
            </a:r>
            <a:endParaRPr lang="en-US" sz="1800" dirty="0"/>
          </a:p>
        </p:txBody>
      </p:sp>
      <p:sp>
        <p:nvSpPr>
          <p:cNvPr id="10" name="Shape 6"/>
          <p:cNvSpPr/>
          <p:nvPr/>
        </p:nvSpPr>
        <p:spPr>
          <a:xfrm>
            <a:off x="242316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46888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vergeten</a:t>
            </a:r>
            <a:endParaRPr lang="en-US" sz="1800" dirty="0"/>
          </a:p>
        </p:txBody>
      </p:sp>
      <p:sp>
        <p:nvSpPr>
          <p:cNvPr id="12" name="Shape 8"/>
          <p:cNvSpPr/>
          <p:nvPr/>
        </p:nvSpPr>
        <p:spPr>
          <a:xfrm>
            <a:off x="429768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434340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meenemen</a:t>
            </a:r>
            <a:endParaRPr lang="en-US" sz="1800" dirty="0"/>
          </a:p>
        </p:txBody>
      </p:sp>
      <p:sp>
        <p:nvSpPr>
          <p:cNvPr id="14" name="Shape 10"/>
          <p:cNvSpPr/>
          <p:nvPr/>
        </p:nvSpPr>
        <p:spPr>
          <a:xfrm>
            <a:off x="617220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621792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betalen</a:t>
            </a:r>
            <a:endParaRPr lang="en-US" sz="1800" dirty="0"/>
          </a:p>
        </p:txBody>
      </p:sp>
      <p:sp>
        <p:nvSpPr>
          <p:cNvPr id="16" name="Shape 12"/>
          <p:cNvSpPr/>
          <p:nvPr/>
        </p:nvSpPr>
        <p:spPr>
          <a:xfrm>
            <a:off x="804672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809244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inloggen</a:t>
            </a:r>
            <a:endParaRPr lang="en-US" sz="1800" dirty="0"/>
          </a:p>
        </p:txBody>
      </p:sp>
      <p:sp>
        <p:nvSpPr>
          <p:cNvPr id="18" name="Shape 14"/>
          <p:cNvSpPr/>
          <p:nvPr/>
        </p:nvSpPr>
        <p:spPr>
          <a:xfrm>
            <a:off x="99212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9669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ontmoeten</a:t>
            </a:r>
            <a:endParaRPr lang="en-US" sz="1800" dirty="0"/>
          </a:p>
        </p:txBody>
      </p:sp>
      <p:sp>
        <p:nvSpPr>
          <p:cNvPr id="20" name="Shape 16"/>
          <p:cNvSpPr/>
          <p:nvPr/>
        </p:nvSpPr>
        <p:spPr>
          <a:xfrm>
            <a:off x="5486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943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terugbellen</a:t>
            </a:r>
            <a:endParaRPr lang="en-US" sz="1800" dirty="0"/>
          </a:p>
        </p:txBody>
      </p:sp>
      <p:sp>
        <p:nvSpPr>
          <p:cNvPr id="22" name="Shape 18"/>
          <p:cNvSpPr/>
          <p:nvPr/>
        </p:nvSpPr>
        <p:spPr>
          <a:xfrm>
            <a:off x="242316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46888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vertellen</a:t>
            </a:r>
            <a:endParaRPr lang="en-US" sz="1800" dirty="0"/>
          </a:p>
        </p:txBody>
      </p:sp>
      <p:sp>
        <p:nvSpPr>
          <p:cNvPr id="24" name="Shape 20"/>
          <p:cNvSpPr/>
          <p:nvPr/>
        </p:nvSpPr>
        <p:spPr>
          <a:xfrm>
            <a:off x="429768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434340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weggaan</a:t>
            </a:r>
            <a:endParaRPr lang="en-US" sz="1800" dirty="0"/>
          </a:p>
        </p:txBody>
      </p:sp>
      <p:sp>
        <p:nvSpPr>
          <p:cNvPr id="26" name="Shape 22"/>
          <p:cNvSpPr/>
          <p:nvPr/>
        </p:nvSpPr>
        <p:spPr>
          <a:xfrm>
            <a:off x="617220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621792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beginnen</a:t>
            </a:r>
            <a:endParaRPr lang="en-US" sz="1800" dirty="0"/>
          </a:p>
        </p:txBody>
      </p:sp>
      <p:sp>
        <p:nvSpPr>
          <p:cNvPr id="28" name="Shape 24"/>
          <p:cNvSpPr/>
          <p:nvPr/>
        </p:nvSpPr>
        <p:spPr>
          <a:xfrm>
            <a:off x="804672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809244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afspreken</a:t>
            </a:r>
            <a:endParaRPr lang="en-US" sz="1800" dirty="0"/>
          </a:p>
        </p:txBody>
      </p:sp>
      <p:sp>
        <p:nvSpPr>
          <p:cNvPr id="30" name="Shape 26"/>
          <p:cNvSpPr/>
          <p:nvPr/>
        </p:nvSpPr>
        <p:spPr>
          <a:xfrm>
            <a:off x="99212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9669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herhalen</a:t>
            </a:r>
            <a:endParaRPr lang="en-US" sz="1800" dirty="0"/>
          </a:p>
        </p:txBody>
      </p:sp>
      <p:sp>
        <p:nvSpPr>
          <p:cNvPr id="32" name="Shape 28"/>
          <p:cNvSpPr/>
          <p:nvPr/>
        </p:nvSpPr>
        <p:spPr>
          <a:xfrm>
            <a:off x="548640" y="3532632"/>
            <a:ext cx="5468112"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548640" y="3532632"/>
            <a:ext cx="5468112" cy="548640"/>
          </a:xfrm>
          <a:prstGeom prst="roundRect">
            <a:avLst>
              <a:gd name="adj" fmla="val 13333"/>
            </a:avLst>
          </a:prstGeom>
          <a:solidFill>
            <a:schemeClr val="accent1"/>
          </a:solidFill>
          <a:ln w="12700">
            <a:solidFill>
              <a:srgbClr val="FFFFFF">
                <a:alpha val="0"/>
              </a:srgbClr>
            </a:solidFill>
            <a:prstDash val="solid"/>
          </a:ln>
        </p:spPr>
      </p:sp>
      <p:pic>
        <p:nvPicPr>
          <p:cNvPr id="34" name="Image 1" descr="Cut">    </p:cNvPr>
          <p:cNvPicPr>
            <a:picLocks noChangeAspect="1"/>
          </p:cNvPicPr>
          <p:nvPr/>
        </p:nvPicPr>
        <p:blipFill>
          <a:blip r:embed="rId2"/>
          <a:stretch>
            <a:fillRect/>
          </a:stretch>
        </p:blipFill>
        <p:spPr>
          <a:xfrm>
            <a:off x="731520" y="3642360"/>
            <a:ext cx="329184" cy="329184"/>
          </a:xfrm>
          <a:prstGeom prst="rect">
            <a:avLst/>
          </a:prstGeom>
        </p:spPr>
      </p:pic>
      <p:sp>
        <p:nvSpPr>
          <p:cNvPr id="35" name="Text 30"/>
          <p:cNvSpPr txBox="1"/>
          <p:nvPr/>
        </p:nvSpPr>
        <p:spPr>
          <a:xfrm>
            <a:off x="54864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36" name="Shape 31"/>
          <p:cNvSpPr/>
          <p:nvPr/>
        </p:nvSpPr>
        <p:spPr>
          <a:xfrm>
            <a:off x="6172200" y="3532632"/>
            <a:ext cx="5468112" cy="2758440"/>
          </a:xfrm>
          <a:prstGeom prst="roundRect">
            <a:avLst>
              <a:gd name="adj" fmla="val 2652"/>
            </a:avLst>
          </a:prstGeom>
          <a:solidFill>
            <a:schemeClr val="tx2">
              <a:alpha val="10000"/>
            </a:schemeClr>
          </a:solidFill>
          <a:ln w="25400">
            <a:solidFill>
              <a:srgbClr val="17375E"/>
            </a:solidFill>
            <a:prstDash val="solid"/>
          </a:ln>
        </p:spPr>
      </p:sp>
      <p:sp>
        <p:nvSpPr>
          <p:cNvPr id="37" name="Shape 32"/>
          <p:cNvSpPr/>
          <p:nvPr/>
        </p:nvSpPr>
        <p:spPr>
          <a:xfrm>
            <a:off x="6172200" y="3532632"/>
            <a:ext cx="5468112" cy="548640"/>
          </a:xfrm>
          <a:prstGeom prst="roundRect">
            <a:avLst>
              <a:gd name="adj" fmla="val 13333"/>
            </a:avLst>
          </a:prstGeom>
          <a:solidFill>
            <a:schemeClr val="tx2"/>
          </a:solidFill>
          <a:ln w="12700">
            <a:solidFill>
              <a:srgbClr val="FFFFFF">
                <a:alpha val="0"/>
              </a:srgbClr>
            </a:solidFill>
            <a:prstDash val="solid"/>
          </a:ln>
        </p:spPr>
      </p:sp>
      <p:pic>
        <p:nvPicPr>
          <p:cNvPr id="38" name="Image 2" descr="Lock">    </p:cNvPr>
          <p:cNvPicPr>
            <a:picLocks noChangeAspect="1"/>
          </p:cNvPicPr>
          <p:nvPr/>
        </p:nvPicPr>
        <p:blipFill>
          <a:blip r:embed="rId3"/>
          <a:stretch>
            <a:fillRect/>
          </a:stretch>
        </p:blipFill>
        <p:spPr>
          <a:xfrm>
            <a:off x="6355080" y="3642360"/>
            <a:ext cx="329184" cy="329184"/>
          </a:xfrm>
          <a:prstGeom prst="rect">
            <a:avLst/>
          </a:prstGeom>
        </p:spPr>
      </p:pic>
      <p:sp>
        <p:nvSpPr>
          <p:cNvPr id="39" name="Text 33"/>
          <p:cNvSpPr txBox="1"/>
          <p:nvPr/>
        </p:nvSpPr>
        <p:spPr>
          <a:xfrm>
            <a:off x="617220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1">
              <a:alpha val="10000"/>
            </a:schemeClr>
          </a:solidFill>
          <a:ln w="25400">
            <a:solidFill>
              <a:srgbClr val="D9700F"/>
            </a:solidFill>
            <a:prstDash val="solid"/>
          </a:ln>
        </p:spPr>
      </p:sp>
      <p:sp>
        <p:nvSpPr>
          <p:cNvPr id="10" name="Shape 6"/>
          <p:cNvSpPr/>
          <p:nvPr/>
        </p:nvSpPr>
        <p:spPr>
          <a:xfrm>
            <a:off x="548640" y="2023872"/>
            <a:ext cx="5468112" cy="548640"/>
          </a:xfrm>
          <a:prstGeom prst="roundRect">
            <a:avLst>
              <a:gd name="adj" fmla="val 13333"/>
            </a:avLst>
          </a:prstGeom>
          <a:solidFill>
            <a:schemeClr val="accent1"/>
          </a:solidFill>
          <a:ln w="12700">
            <a:solidFill>
              <a:srgbClr val="FFFFFF">
                <a:alpha val="0"/>
              </a:srgbClr>
            </a:solidFill>
            <a:prstDash val="solid"/>
          </a:ln>
        </p:spPr>
      </p:sp>
      <p:pic>
        <p:nvPicPr>
          <p:cNvPr id="11" name="Image 1" descr="Cut">    </p:cNvPr>
          <p:cNvPicPr>
            <a:picLocks noChangeAspect="1"/>
          </p:cNvPicPr>
          <p:nvPr/>
        </p:nvPicPr>
        <p:blipFill>
          <a:blip r:embed="rId2"/>
          <a:stretch>
            <a:fillRect/>
          </a:stretch>
        </p:blipFill>
        <p:spPr>
          <a:xfrm>
            <a:off x="731520" y="2133600"/>
            <a:ext cx="329184" cy="329184"/>
          </a:xfrm>
          <a:prstGeom prst="rect">
            <a:avLst/>
          </a:prstGeom>
        </p:spPr>
      </p:pic>
      <p:sp>
        <p:nvSpPr>
          <p:cNvPr id="12" name="Text 7"/>
          <p:cNvSpPr txBox="1"/>
          <p:nvPr/>
        </p:nvSpPr>
        <p:spPr>
          <a:xfrm>
            <a:off x="54864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13" name="Text 8"/>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op</a:t>
            </a:r>
            <a:r>
              <a:rPr lang="en-US" sz="2400" b="1" i="1" dirty="0">
                <a:solidFill>
                  <a:schemeClr val="tx1"/>
                </a:solidFill>
              </a:rPr>
              <a:t>·staan</a:t>
            </a:r>
            <a:endParaRPr lang="en-US" sz="2400" dirty="0"/>
          </a:p>
        </p:txBody>
      </p:sp>
      <p:sp>
        <p:nvSpPr>
          <p:cNvPr id="14" name="Text 9"/>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mee</a:t>
            </a:r>
            <a:r>
              <a:rPr lang="en-US" sz="2400" b="1" i="1" dirty="0">
                <a:solidFill>
                  <a:schemeClr val="tx1"/>
                </a:solidFill>
              </a:rPr>
              <a:t>·nemen</a:t>
            </a:r>
            <a:endParaRPr lang="en-US" sz="2400" dirty="0"/>
          </a:p>
        </p:txBody>
      </p:sp>
      <p:sp>
        <p:nvSpPr>
          <p:cNvPr id="15" name="Text 10"/>
          <p:cNvSpPr txBox="1"/>
          <p:nvPr/>
        </p:nvSpPr>
        <p:spPr>
          <a:xfrm>
            <a:off x="82296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in</a:t>
            </a:r>
            <a:r>
              <a:rPr lang="en-US" sz="2400" b="1" i="1" dirty="0">
                <a:solidFill>
                  <a:schemeClr val="tx1"/>
                </a:solidFill>
              </a:rPr>
              <a:t>·loggen</a:t>
            </a:r>
            <a:endParaRPr lang="en-US" sz="2400" dirty="0"/>
          </a:p>
        </p:txBody>
      </p:sp>
      <p:sp>
        <p:nvSpPr>
          <p:cNvPr id="16" name="Text 11"/>
          <p:cNvSpPr txBox="1"/>
          <p:nvPr/>
        </p:nvSpPr>
        <p:spPr>
          <a:xfrm>
            <a:off x="338328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terug</a:t>
            </a:r>
            <a:r>
              <a:rPr lang="en-US" sz="2400" b="1" i="1" dirty="0">
                <a:solidFill>
                  <a:schemeClr val="tx1"/>
                </a:solidFill>
              </a:rPr>
              <a:t>·bellen</a:t>
            </a:r>
            <a:endParaRPr lang="en-US" sz="2400" dirty="0"/>
          </a:p>
        </p:txBody>
      </p:sp>
      <p:sp>
        <p:nvSpPr>
          <p:cNvPr id="17" name="Text 12"/>
          <p:cNvSpPr txBox="1"/>
          <p:nvPr/>
        </p:nvSpPr>
        <p:spPr>
          <a:xfrm>
            <a:off x="82296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weg</a:t>
            </a:r>
            <a:r>
              <a:rPr lang="en-US" sz="2400" b="1" i="1" dirty="0">
                <a:solidFill>
                  <a:schemeClr val="tx1"/>
                </a:solidFill>
              </a:rPr>
              <a:t>·gaan</a:t>
            </a:r>
            <a:endParaRPr lang="en-US" sz="2400" dirty="0"/>
          </a:p>
        </p:txBody>
      </p:sp>
      <p:sp>
        <p:nvSpPr>
          <p:cNvPr id="18" name="Text 13"/>
          <p:cNvSpPr txBox="1"/>
          <p:nvPr/>
        </p:nvSpPr>
        <p:spPr>
          <a:xfrm>
            <a:off x="338328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af</a:t>
            </a:r>
            <a:r>
              <a:rPr lang="en-US" sz="2400" b="1" i="1" dirty="0">
                <a:solidFill>
                  <a:schemeClr val="tx1"/>
                </a:solidFill>
              </a:rPr>
              <a:t>·spreken</a:t>
            </a:r>
            <a:endParaRPr lang="en-US" sz="2400" dirty="0"/>
          </a:p>
        </p:txBody>
      </p:sp>
      <p:sp>
        <p:nvSpPr>
          <p:cNvPr id="19" name="Shape 14"/>
          <p:cNvSpPr/>
          <p:nvPr/>
        </p:nvSpPr>
        <p:spPr>
          <a:xfrm>
            <a:off x="617220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20" name="Shape 15"/>
          <p:cNvSpPr/>
          <p:nvPr/>
        </p:nvSpPr>
        <p:spPr>
          <a:xfrm>
            <a:off x="6172200" y="2023872"/>
            <a:ext cx="5468112" cy="548640"/>
          </a:xfrm>
          <a:prstGeom prst="roundRect">
            <a:avLst>
              <a:gd name="adj" fmla="val 13333"/>
            </a:avLst>
          </a:prstGeom>
          <a:solidFill>
            <a:schemeClr val="tx2"/>
          </a:solidFill>
          <a:ln w="12700">
            <a:solidFill>
              <a:srgbClr val="FFFFFF">
                <a:alpha val="0"/>
              </a:srgbClr>
            </a:solidFill>
            <a:prstDash val="solid"/>
          </a:ln>
        </p:spPr>
      </p:sp>
      <p:pic>
        <p:nvPicPr>
          <p:cNvPr id="21" name="Image 2" descr="Lock">    </p:cNvPr>
          <p:cNvPicPr>
            <a:picLocks noChangeAspect="1"/>
          </p:cNvPicPr>
          <p:nvPr/>
        </p:nvPicPr>
        <p:blipFill>
          <a:blip r:embed="rId3"/>
          <a:stretch>
            <a:fillRect/>
          </a:stretch>
        </p:blipFill>
        <p:spPr>
          <a:xfrm>
            <a:off x="6355080" y="2133600"/>
            <a:ext cx="329184" cy="329184"/>
          </a:xfrm>
          <a:prstGeom prst="rect">
            <a:avLst/>
          </a:prstGeom>
        </p:spPr>
      </p:pic>
      <p:sp>
        <p:nvSpPr>
          <p:cNvPr id="22" name="Text 16"/>
          <p:cNvSpPr txBox="1"/>
          <p:nvPr/>
        </p:nvSpPr>
        <p:spPr>
          <a:xfrm>
            <a:off x="617220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3" name="Text 17"/>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vergeten</a:t>
            </a:r>
            <a:endParaRPr lang="en-US" sz="2400" dirty="0"/>
          </a:p>
        </p:txBody>
      </p:sp>
      <p:sp>
        <p:nvSpPr>
          <p:cNvPr id="24" name="Text 18"/>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betalen</a:t>
            </a:r>
            <a:endParaRPr lang="en-US" sz="2400" dirty="0"/>
          </a:p>
        </p:txBody>
      </p:sp>
      <p:sp>
        <p:nvSpPr>
          <p:cNvPr id="25" name="Text 19"/>
          <p:cNvSpPr txBox="1"/>
          <p:nvPr/>
        </p:nvSpPr>
        <p:spPr>
          <a:xfrm>
            <a:off x="644652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ontmoeten</a:t>
            </a:r>
            <a:endParaRPr lang="en-US" sz="2400" dirty="0"/>
          </a:p>
        </p:txBody>
      </p:sp>
      <p:sp>
        <p:nvSpPr>
          <p:cNvPr id="26" name="Text 20"/>
          <p:cNvSpPr txBox="1"/>
          <p:nvPr/>
        </p:nvSpPr>
        <p:spPr>
          <a:xfrm>
            <a:off x="900684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vertellen</a:t>
            </a:r>
            <a:endParaRPr lang="en-US" sz="2400" dirty="0"/>
          </a:p>
        </p:txBody>
      </p:sp>
      <p:sp>
        <p:nvSpPr>
          <p:cNvPr id="27" name="Text 21"/>
          <p:cNvSpPr txBox="1"/>
          <p:nvPr/>
        </p:nvSpPr>
        <p:spPr>
          <a:xfrm>
            <a:off x="644652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beginnen</a:t>
            </a:r>
            <a:endParaRPr lang="en-US" sz="2400" dirty="0"/>
          </a:p>
        </p:txBody>
      </p:sp>
      <p:sp>
        <p:nvSpPr>
          <p:cNvPr id="28" name="Text 22"/>
          <p:cNvSpPr txBox="1"/>
          <p:nvPr/>
        </p:nvSpPr>
        <p:spPr>
          <a:xfrm>
            <a:off x="900684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herhalen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8" name="Text 4"/>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dirty="0">
                <a:solidFill>
                  <a:schemeClr val="accent5"/>
                </a:solidFill>
              </a:rPr>
              <a:t>…………</a:t>
            </a:r>
            <a:r>
              <a:rPr lang="en-US" sz="2000" dirty="0">
                <a:solidFill>
                  <a:schemeClr val="tx1"/>
                </a:solidFill>
              </a:rPr>
              <a:t> om 7 uur </a:t>
            </a:r>
            <a:r>
              <a:rPr lang="en-US" sz="2000" dirty="0">
                <a:solidFill>
                  <a:schemeClr val="accent5"/>
                </a:solidFill>
              </a:rPr>
              <a:t>…………</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dirty="0">
                <a:solidFill>
                  <a:schemeClr val="accent5"/>
                </a:solidFill>
              </a:rPr>
              <a:t>…………</a:t>
            </a:r>
            <a:r>
              <a:rPr lang="en-US" sz="2000" dirty="0">
                <a:solidFill>
                  <a:schemeClr val="tx1"/>
                </a:solidFill>
              </a:rPr>
              <a:t> haar laptop </a:t>
            </a:r>
            <a:r>
              <a:rPr lang="en-US" sz="2000" dirty="0">
                <a:solidFill>
                  <a:schemeClr val="accent5"/>
                </a:solidFill>
              </a:rPr>
              <a:t>…………</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dirty="0">
                <a:solidFill>
                  <a:schemeClr val="accent5"/>
                </a:solidFill>
              </a:rPr>
              <a:t>…………</a:t>
            </a:r>
            <a:r>
              <a:rPr lang="en-US" sz="2000" dirty="0">
                <a:solidFill>
                  <a:schemeClr val="tx1"/>
                </a:solidFill>
              </a:rPr>
              <a:t> om 9 uur </a:t>
            </a:r>
            <a:r>
              <a:rPr lang="en-US" sz="2000" dirty="0">
                <a:solidFill>
                  <a:schemeClr val="accent5"/>
                </a:solidFill>
              </a:rPr>
              <a:t>…………</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dirty="0">
                <a:solidFill>
                  <a:schemeClr val="accent5"/>
                </a:solidFill>
              </a:rPr>
              <a:t>…………</a:t>
            </a:r>
            <a:r>
              <a:rPr lang="en-US" sz="2000" dirty="0">
                <a:solidFill>
                  <a:schemeClr val="tx1"/>
                </a:solidFill>
              </a:rPr>
              <a:t> de klant </a:t>
            </a:r>
            <a:r>
              <a:rPr lang="en-US" sz="2000" dirty="0">
                <a:solidFill>
                  <a:schemeClr val="accent5"/>
                </a:solidFill>
              </a:rPr>
              <a:t>…………</a:t>
            </a:r>
            <a:r>
              <a:rPr lang="en-US" sz="2000" dirty="0">
                <a:solidFill>
                  <a:schemeClr val="tx1"/>
                </a:solidFill>
              </a:rPr>
              <a:t>. </a:t>
            </a:r>
            <a:r>
              <a:rPr lang="en-US" sz="2000" i="1" dirty="0">
                <a:solidFill>
                  <a:schemeClr val="tx1"/>
                </a:solidFill>
              </a:rPr>
              <a:t>(opbellen)</a:t>
            </a:r>
            <a:endParaRPr lang="en-US" sz="2000" dirty="0"/>
          </a:p>
        </p:txBody>
      </p:sp>
      <p:sp>
        <p:nvSpPr>
          <p:cNvPr id="9" name="Text 5"/>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dirty="0">
                <a:solidFill>
                  <a:schemeClr val="accent5"/>
                </a:solidFill>
              </a:rPr>
              <a:t>…………</a:t>
            </a:r>
            <a:r>
              <a:rPr lang="en-US" sz="2000" dirty="0">
                <a:solidFill>
                  <a:schemeClr val="tx1"/>
                </a:solidFill>
              </a:rPr>
              <a:t> morgen </a:t>
            </a:r>
            <a:r>
              <a:rPr lang="en-US" sz="2000" dirty="0">
                <a:solidFill>
                  <a:schemeClr val="accent5"/>
                </a:solidFill>
              </a:rPr>
              <a:t>…………</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dirty="0">
                <a:solidFill>
                  <a:schemeClr val="accent5"/>
                </a:solidFill>
              </a:rPr>
              <a:t>…………</a:t>
            </a:r>
            <a:r>
              <a:rPr lang="en-US" sz="2000" dirty="0">
                <a:solidFill>
                  <a:schemeClr val="tx1"/>
                </a:solidFill>
              </a:rPr>
              <a:t> je </a:t>
            </a:r>
            <a:r>
              <a:rPr lang="en-US" sz="2000" dirty="0">
                <a:solidFill>
                  <a:schemeClr val="accent5"/>
                </a:solidFill>
              </a:rPr>
              <a:t>…………</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dirty="0">
                <a:solidFill>
                  <a:schemeClr val="accent5"/>
                </a:solidFill>
              </a:rPr>
              <a: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dirty="0">
                <a:solidFill>
                  <a:schemeClr val="accent5"/>
                </a:solidFill>
              </a:rPr>
              <a:t>…………</a:t>
            </a:r>
            <a:r>
              <a:rPr lang="en-US" sz="2000" dirty="0">
                <a:solidFill>
                  <a:schemeClr val="tx1"/>
                </a:solidFill>
              </a:rPr>
              <a:t> de deur </a:t>
            </a:r>
            <a:r>
              <a:rPr lang="en-US" sz="2000" dirty="0">
                <a:solidFill>
                  <a:schemeClr val="accent5"/>
                </a:solidFill>
              </a:rPr>
              <a: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9" name="Text 5"/>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b="1" dirty="0">
                <a:solidFill>
                  <a:schemeClr val="accent3"/>
                </a:solidFill>
              </a:rPr>
              <a:t>sta</a:t>
            </a:r>
            <a:r>
              <a:rPr lang="en-US" sz="2000" dirty="0">
                <a:solidFill>
                  <a:schemeClr val="tx1"/>
                </a:solidFill>
              </a:rPr>
              <a:t> om 7 uur </a:t>
            </a:r>
            <a:r>
              <a:rPr lang="en-US" sz="2000" b="1" dirty="0">
                <a:solidFill>
                  <a:schemeClr val="accent3"/>
                </a:solidFill>
              </a:rPr>
              <a:t>op</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b="1" dirty="0">
                <a:solidFill>
                  <a:schemeClr val="accent3"/>
                </a:solidFill>
              </a:rPr>
              <a:t>neemt</a:t>
            </a:r>
            <a:r>
              <a:rPr lang="en-US" sz="2000" dirty="0">
                <a:solidFill>
                  <a:schemeClr val="tx1"/>
                </a:solidFill>
              </a:rPr>
              <a:t> haar laptop </a:t>
            </a:r>
            <a:r>
              <a:rPr lang="en-US" sz="2000" b="1" dirty="0">
                <a:solidFill>
                  <a:schemeClr val="accent3"/>
                </a:solidFill>
              </a:rPr>
              <a:t>mee</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b="1" dirty="0">
                <a:solidFill>
                  <a:schemeClr val="accent3"/>
                </a:solidFill>
              </a:rPr>
              <a:t>loggen</a:t>
            </a:r>
            <a:r>
              <a:rPr lang="en-US" sz="2000" dirty="0">
                <a:solidFill>
                  <a:schemeClr val="tx1"/>
                </a:solidFill>
              </a:rPr>
              <a:t> om 9 uur </a:t>
            </a:r>
            <a:r>
              <a:rPr lang="en-US" sz="2000" b="1" dirty="0">
                <a:solidFill>
                  <a:schemeClr val="accent3"/>
                </a:solidFill>
              </a:rPr>
              <a:t>in</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b="1" dirty="0">
                <a:solidFill>
                  <a:schemeClr val="accent3"/>
                </a:solidFill>
              </a:rPr>
              <a:t>belt</a:t>
            </a:r>
            <a:r>
              <a:rPr lang="en-US" sz="2000" dirty="0">
                <a:solidFill>
                  <a:schemeClr val="tx1"/>
                </a:solidFill>
              </a:rPr>
              <a:t> de klant </a:t>
            </a:r>
            <a:r>
              <a:rPr lang="en-US" sz="2000" b="1" dirty="0">
                <a:solidFill>
                  <a:schemeClr val="accent3"/>
                </a:solidFill>
              </a:rPr>
              <a:t>op</a:t>
            </a:r>
            <a:r>
              <a:rPr lang="en-US" sz="2000" dirty="0">
                <a:solidFill>
                  <a:schemeClr val="tx1"/>
                </a:solidFill>
              </a:rPr>
              <a:t>. </a:t>
            </a:r>
            <a:r>
              <a:rPr lang="en-US" sz="2000" i="1" dirty="0">
                <a:solidFill>
                  <a:schemeClr val="tx1"/>
                </a:solidFill>
              </a:rPr>
              <a:t>(opbellen)</a:t>
            </a:r>
            <a:endParaRPr lang="en-US" sz="2000" dirty="0"/>
          </a:p>
        </p:txBody>
      </p:sp>
      <p:sp>
        <p:nvSpPr>
          <p:cNvPr id="10" name="Text 6"/>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b="1" dirty="0">
                <a:solidFill>
                  <a:schemeClr val="accent3"/>
                </a:solidFill>
              </a:rPr>
              <a:t>komen</a:t>
            </a:r>
            <a:r>
              <a:rPr lang="en-US" sz="2000" dirty="0">
                <a:solidFill>
                  <a:schemeClr val="tx1"/>
                </a:solidFill>
              </a:rPr>
              <a:t> morgen </a:t>
            </a:r>
            <a:r>
              <a:rPr lang="en-US" sz="2000" b="1" dirty="0">
                <a:solidFill>
                  <a:schemeClr val="accent3"/>
                </a:solidFill>
              </a:rPr>
              <a:t>terug</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b="1" dirty="0">
                <a:solidFill>
                  <a:schemeClr val="accent3"/>
                </a:solidFill>
              </a:rPr>
              <a:t>ga</a:t>
            </a:r>
            <a:r>
              <a:rPr lang="en-US" sz="2000" dirty="0">
                <a:solidFill>
                  <a:schemeClr val="tx1"/>
                </a:solidFill>
              </a:rPr>
              <a:t> je </a:t>
            </a:r>
            <a:r>
              <a:rPr lang="en-US" sz="2000" b="1" dirty="0">
                <a:solidFill>
                  <a:schemeClr val="accent3"/>
                </a:solidFill>
              </a:rPr>
              <a:t>weg</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b="1" dirty="0">
                <a:solidFill>
                  <a:schemeClr val="accent3"/>
                </a:solidFill>
              </a:rPr>
              <a:t>vergeet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b="1" dirty="0">
                <a:solidFill>
                  <a:schemeClr val="accent3"/>
                </a:solidFill>
              </a:rPr>
              <a:t>Doe</a:t>
            </a:r>
            <a:r>
              <a:rPr lang="en-US" sz="2000" dirty="0">
                <a:solidFill>
                  <a:schemeClr val="tx1"/>
                </a:solidFill>
              </a:rPr>
              <a:t> de deur </a:t>
            </a:r>
            <a:r>
              <a:rPr lang="en-US" sz="2000" b="1" dirty="0">
                <a:solidFill>
                  <a:schemeClr val="accent3"/>
                </a:solidFill>
              </a:rPr>
              <a:t>dicht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2" name="Shape 8"/>
          <p:cNvSpPr/>
          <p:nvPr/>
        </p:nvSpPr>
        <p:spPr>
          <a:xfrm>
            <a:off x="5303520" y="2295652"/>
            <a:ext cx="1143000" cy="914"/>
          </a:xfrm>
          <a:prstGeom prst="line">
            <a:avLst/>
          </a:prstGeom>
          <a:noFill/>
          <a:ln w="38100">
            <a:solidFill>
              <a:srgbClr val="D9700F"/>
            </a:solidFill>
            <a:prstDash val="solid"/>
            <a:tailEnd type="triangle"/>
          </a:ln>
        </p:spPr>
      </p:sp>
      <p:sp>
        <p:nvSpPr>
          <p:cNvPr id="13" name="Text 9"/>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4" name="Shape 10"/>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19" name="Shape 15"/>
          <p:cNvSpPr/>
          <p:nvPr/>
        </p:nvSpPr>
        <p:spPr>
          <a:xfrm>
            <a:off x="5303520" y="3022092"/>
            <a:ext cx="1143000" cy="914"/>
          </a:xfrm>
          <a:prstGeom prst="line">
            <a:avLst/>
          </a:prstGeom>
          <a:noFill/>
          <a:ln w="38100">
            <a:solidFill>
              <a:srgbClr val="D9700F"/>
            </a:solidFill>
            <a:prstDash val="solid"/>
            <a:tailEnd type="triangle"/>
          </a:ln>
        </p:spPr>
      </p:sp>
      <p:sp>
        <p:nvSpPr>
          <p:cNvPr id="20" name="Text 16"/>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1" name="Shape 17"/>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6" name="Shape 22"/>
          <p:cNvSpPr/>
          <p:nvPr/>
        </p:nvSpPr>
        <p:spPr>
          <a:xfrm>
            <a:off x="5303520" y="3748532"/>
            <a:ext cx="1143000" cy="914"/>
          </a:xfrm>
          <a:prstGeom prst="line">
            <a:avLst/>
          </a:prstGeom>
          <a:noFill/>
          <a:ln w="38100">
            <a:solidFill>
              <a:srgbClr val="D9700F"/>
            </a:solidFill>
            <a:prstDash val="solid"/>
            <a:tailEnd type="triangle"/>
          </a:ln>
        </p:spPr>
      </p:sp>
      <p:sp>
        <p:nvSpPr>
          <p:cNvPr id="27" name="Text 23"/>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28" name="Shape 24"/>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3" name="Shape 29"/>
          <p:cNvSpPr/>
          <p:nvPr/>
        </p:nvSpPr>
        <p:spPr>
          <a:xfrm>
            <a:off x="5303520" y="4474972"/>
            <a:ext cx="1143000" cy="914"/>
          </a:xfrm>
          <a:prstGeom prst="line">
            <a:avLst/>
          </a:prstGeom>
          <a:noFill/>
          <a:ln w="38100">
            <a:solidFill>
              <a:srgbClr val="D9700F"/>
            </a:solidFill>
            <a:prstDash val="solid"/>
            <a:tailEnd type="triangle"/>
          </a:ln>
        </p:spPr>
      </p:sp>
      <p:sp>
        <p:nvSpPr>
          <p:cNvPr id="34" name="Text 30"/>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5" name="Shape 31"/>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0" name="Shape 36"/>
          <p:cNvSpPr/>
          <p:nvPr/>
        </p:nvSpPr>
        <p:spPr>
          <a:xfrm>
            <a:off x="5303520" y="5201412"/>
            <a:ext cx="1143000" cy="914"/>
          </a:xfrm>
          <a:prstGeom prst="line">
            <a:avLst/>
          </a:prstGeom>
          <a:noFill/>
          <a:ln w="38100">
            <a:solidFill>
              <a:srgbClr val="D9700F"/>
            </a:solidFill>
            <a:prstDash val="solid"/>
            <a:tailEnd type="triangle"/>
          </a:ln>
        </p:spPr>
      </p:sp>
      <p:sp>
        <p:nvSpPr>
          <p:cNvPr id="41" name="Text 37"/>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2" name="Shape 38"/>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47" name="Shape 43"/>
          <p:cNvSpPr/>
          <p:nvPr/>
        </p:nvSpPr>
        <p:spPr>
          <a:xfrm>
            <a:off x="5303520" y="5927852"/>
            <a:ext cx="1143000" cy="914"/>
          </a:xfrm>
          <a:prstGeom prst="line">
            <a:avLst/>
          </a:prstGeom>
          <a:noFill/>
          <a:ln w="38100">
            <a:solidFill>
              <a:srgbClr val="D9700F"/>
            </a:solidFill>
            <a:prstDash val="solid"/>
            <a:tailEnd type="triangle"/>
          </a:ln>
        </p:spPr>
      </p:sp>
      <p:sp>
        <p:nvSpPr>
          <p:cNvPr id="48" name="Text 44"/>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49" name="Shape 45"/>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3" name="Shape 9"/>
          <p:cNvSpPr/>
          <p:nvPr/>
        </p:nvSpPr>
        <p:spPr>
          <a:xfrm>
            <a:off x="5303520" y="2295652"/>
            <a:ext cx="1143000" cy="914"/>
          </a:xfrm>
          <a:prstGeom prst="line">
            <a:avLst/>
          </a:prstGeom>
          <a:noFill/>
          <a:ln w="38100">
            <a:solidFill>
              <a:srgbClr val="D9700F"/>
            </a:solidFill>
            <a:prstDash val="solid"/>
            <a:tailEnd type="triangle"/>
          </a:ln>
        </p:spPr>
      </p:sp>
      <p:sp>
        <p:nvSpPr>
          <p:cNvPr id="14" name="Text 10"/>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5" name="Shape 11"/>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moet om 6 uur </a:t>
            </a:r>
            <a:r>
              <a:rPr lang="en-US" sz="1900" b="1" i="1" dirty="0">
                <a:solidFill>
                  <a:schemeClr val="accent1"/>
                </a:solidFill>
              </a:rPr>
              <a:t>op</a:t>
            </a:r>
            <a:r>
              <a:rPr lang="en-US" sz="1900" b="1" i="1" dirty="0">
                <a:solidFill>
                  <a:schemeClr val="tx1"/>
                </a:solidFill>
              </a:rPr>
              <a:t>staan</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21" name="Shape 17"/>
          <p:cNvSpPr/>
          <p:nvPr/>
        </p:nvSpPr>
        <p:spPr>
          <a:xfrm>
            <a:off x="5303520" y="3022092"/>
            <a:ext cx="1143000" cy="914"/>
          </a:xfrm>
          <a:prstGeom prst="line">
            <a:avLst/>
          </a:prstGeom>
          <a:noFill/>
          <a:ln w="38100">
            <a:solidFill>
              <a:srgbClr val="D9700F"/>
            </a:solidFill>
            <a:prstDash val="solid"/>
            <a:tailEnd type="triangle"/>
          </a:ln>
        </p:spPr>
      </p:sp>
      <p:sp>
        <p:nvSpPr>
          <p:cNvPr id="22" name="Text 18"/>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3" name="Shape 19"/>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Sofie wil de klant </a:t>
            </a:r>
            <a:r>
              <a:rPr lang="en-US" sz="1900" b="1" i="1" dirty="0">
                <a:solidFill>
                  <a:schemeClr val="accent1"/>
                </a:solidFill>
              </a:rPr>
              <a:t>op</a:t>
            </a:r>
            <a:r>
              <a:rPr lang="en-US" sz="1900" b="1" i="1" dirty="0">
                <a:solidFill>
                  <a:schemeClr val="tx1"/>
                </a:solidFill>
              </a:rPr>
              <a:t>bellen</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9" name="Shape 25"/>
          <p:cNvSpPr/>
          <p:nvPr/>
        </p:nvSpPr>
        <p:spPr>
          <a:xfrm>
            <a:off x="5303520" y="3748532"/>
            <a:ext cx="1143000" cy="914"/>
          </a:xfrm>
          <a:prstGeom prst="line">
            <a:avLst/>
          </a:prstGeom>
          <a:noFill/>
          <a:ln w="38100">
            <a:solidFill>
              <a:srgbClr val="D9700F"/>
            </a:solidFill>
            <a:prstDash val="solid"/>
            <a:tailEnd type="triangle"/>
          </a:ln>
        </p:spPr>
      </p:sp>
      <p:sp>
        <p:nvSpPr>
          <p:cNvPr id="30" name="Text 26"/>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31" name="Shape 27"/>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We kunnen thuis </a:t>
            </a:r>
            <a:r>
              <a:rPr lang="en-US" sz="1900" b="1" i="1" dirty="0">
                <a:solidFill>
                  <a:schemeClr val="accent1"/>
                </a:solidFill>
              </a:rPr>
              <a:t>in</a:t>
            </a:r>
            <a:r>
              <a:rPr lang="en-US" sz="1900" b="1" i="1" dirty="0">
                <a:solidFill>
                  <a:schemeClr val="tx1"/>
                </a:solidFill>
              </a:rPr>
              <a:t>loggen</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7" name="Shape 33"/>
          <p:cNvSpPr/>
          <p:nvPr/>
        </p:nvSpPr>
        <p:spPr>
          <a:xfrm>
            <a:off x="5303520" y="4474972"/>
            <a:ext cx="1143000" cy="914"/>
          </a:xfrm>
          <a:prstGeom prst="line">
            <a:avLst/>
          </a:prstGeom>
          <a:noFill/>
          <a:ln w="38100">
            <a:solidFill>
              <a:srgbClr val="D9700F"/>
            </a:solidFill>
            <a:prstDash val="solid"/>
            <a:tailEnd type="triangle"/>
          </a:ln>
        </p:spPr>
      </p:sp>
      <p:sp>
        <p:nvSpPr>
          <p:cNvPr id="38" name="Text 34"/>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9" name="Shape 35"/>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Je moet je badge </a:t>
            </a:r>
            <a:r>
              <a:rPr lang="en-US" sz="1900" b="1" i="1" dirty="0">
                <a:solidFill>
                  <a:schemeClr val="accent1"/>
                </a:solidFill>
              </a:rPr>
              <a:t>mee</a:t>
            </a:r>
            <a:r>
              <a:rPr lang="en-US" sz="1900" b="1" i="1" dirty="0">
                <a:solidFill>
                  <a:schemeClr val="tx1"/>
                </a:solidFill>
              </a:rPr>
              <a:t>nemen</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5" name="Shape 41"/>
          <p:cNvSpPr/>
          <p:nvPr/>
        </p:nvSpPr>
        <p:spPr>
          <a:xfrm>
            <a:off x="5303520" y="5201412"/>
            <a:ext cx="1143000" cy="914"/>
          </a:xfrm>
          <a:prstGeom prst="line">
            <a:avLst/>
          </a:prstGeom>
          <a:noFill/>
          <a:ln w="38100">
            <a:solidFill>
              <a:srgbClr val="D9700F"/>
            </a:solidFill>
            <a:prstDash val="solid"/>
            <a:tailEnd type="triangle"/>
          </a:ln>
        </p:spPr>
      </p:sp>
      <p:sp>
        <p:nvSpPr>
          <p:cNvPr id="46" name="Text 42"/>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7" name="Shape 43"/>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mag om 16 uur </a:t>
            </a:r>
            <a:r>
              <a:rPr lang="en-US" sz="1900" b="1" i="1" dirty="0">
                <a:solidFill>
                  <a:schemeClr val="accent1"/>
                </a:solidFill>
              </a:rPr>
              <a:t>weg</a:t>
            </a:r>
            <a:r>
              <a:rPr lang="en-US" sz="1900" b="1" i="1" dirty="0">
                <a:solidFill>
                  <a:schemeClr val="tx1"/>
                </a:solidFill>
              </a:rPr>
              <a:t>gaan</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53" name="Shape 49"/>
          <p:cNvSpPr/>
          <p:nvPr/>
        </p:nvSpPr>
        <p:spPr>
          <a:xfrm>
            <a:off x="5303520" y="5927852"/>
            <a:ext cx="1143000" cy="914"/>
          </a:xfrm>
          <a:prstGeom prst="line">
            <a:avLst/>
          </a:prstGeom>
          <a:noFill/>
          <a:ln w="38100">
            <a:solidFill>
              <a:srgbClr val="D9700F"/>
            </a:solidFill>
            <a:prstDash val="solid"/>
            <a:tailEnd type="triangle"/>
          </a:ln>
        </p:spPr>
      </p:sp>
      <p:sp>
        <p:nvSpPr>
          <p:cNvPr id="54" name="Text 50"/>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55" name="Shape 51"/>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Hij wil </a:t>
            </a:r>
            <a:r>
              <a:rPr lang="en-US" sz="1900" b="1" i="1" dirty="0">
                <a:solidFill>
                  <a:schemeClr val="accent1"/>
                </a:solidFill>
              </a:rPr>
              <a:t>mee</a:t>
            </a:r>
            <a:r>
              <a:rPr lang="en-US" sz="1900" b="1" i="1" dirty="0">
                <a:solidFill>
                  <a:schemeClr val="tx1"/>
                </a:solidFill>
              </a:rPr>
              <a:t>doen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8"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9" name="Text 4"/>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i="1" dirty="0">
                <a:solidFill>
                  <a:schemeClr val="accent5"/>
                </a:solidFill>
              </a:rPr>
              <a:t>…………</a:t>
            </a:r>
            <a:r>
              <a:rPr lang="en-US" sz="1700" i="1" dirty="0">
                <a:solidFill>
                  <a:schemeClr val="tx1"/>
                </a:solidFill>
              </a:rPr>
              <a:t>vullen?</a:t>
            </a:r>
            <a:endParaRPr lang="en-US" sz="1700" dirty="0"/>
          </a:p>
        </p:txBody>
      </p:sp>
      <p:pic>
        <p:nvPicPr>
          <p:cNvPr id="10"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1" name="Text 5"/>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i="1" dirty="0">
                <a:solidFill>
                  <a:schemeClr val="accent5"/>
                </a:solidFill>
              </a:rPr>
              <a:t>…………</a:t>
            </a:r>
            <a:r>
              <a:rPr lang="en-US" sz="1700" i="1" dirty="0">
                <a:solidFill>
                  <a:schemeClr val="tx1"/>
                </a:solidFill>
              </a:rPr>
              <a:t>.</a:t>
            </a:r>
            <a:endParaRPr lang="en-US" sz="1700" dirty="0"/>
          </a:p>
        </p:txBody>
      </p:sp>
      <p:pic>
        <p:nvPicPr>
          <p:cNvPr id="12"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3" name="Text 6"/>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i="1" dirty="0">
                <a:solidFill>
                  <a:schemeClr val="accent5"/>
                </a:solidFill>
              </a:rPr>
              <a:t>…………</a:t>
            </a:r>
            <a:r>
              <a:rPr lang="en-US" sz="1700" i="1" dirty="0">
                <a:solidFill>
                  <a:schemeClr val="tx1"/>
                </a:solidFill>
              </a:rPr>
              <a:t>!</a:t>
            </a:r>
            <a:endParaRPr lang="en-US" sz="1700" dirty="0"/>
          </a:p>
        </p:txBody>
      </p:sp>
      <p:pic>
        <p:nvPicPr>
          <p:cNvPr id="14"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5" name="Text 7"/>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i="1" dirty="0">
                <a:solidFill>
                  <a:schemeClr val="accent5"/>
                </a:solidFill>
              </a:rPr>
              <a:t>…………</a:t>
            </a:r>
            <a:r>
              <a:rPr lang="en-US" sz="1700" i="1" dirty="0">
                <a:solidFill>
                  <a:schemeClr val="tx1"/>
                </a:solidFill>
              </a:rPr>
              <a:t>, het is koud.</a:t>
            </a:r>
            <a:endParaRPr lang="en-US" sz="1700" dirty="0"/>
          </a:p>
        </p:txBody>
      </p:sp>
      <p:pic>
        <p:nvPicPr>
          <p:cNvPr id="16"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7" name="Text 8"/>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i="1" dirty="0">
                <a:solidFill>
                  <a:schemeClr val="accent5"/>
                </a:solidFill>
              </a:rPr>
              <a:t>…………</a:t>
            </a:r>
            <a:r>
              <a:rPr lang="en-US" sz="1700" i="1" dirty="0">
                <a:solidFill>
                  <a:schemeClr val="tx1"/>
                </a:solidFill>
              </a:rPr>
              <a:t>!</a:t>
            </a:r>
            <a:endParaRPr lang="en-US" sz="1700" dirty="0"/>
          </a:p>
        </p:txBody>
      </p:sp>
      <p:pic>
        <p:nvPicPr>
          <p:cNvPr id="18"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19" name="Text 9"/>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i="1" dirty="0">
                <a:solidFill>
                  <a:schemeClr val="accent5"/>
                </a:solidFill>
              </a:rPr>
              <a:t>…………</a:t>
            </a:r>
            <a:r>
              <a:rPr lang="en-US" sz="1700" i="1" dirty="0">
                <a:solidFill>
                  <a:schemeClr val="tx1"/>
                </a:solidFill>
              </a:rPr>
              <a:t>.</a:t>
            </a:r>
            <a:endParaRPr lang="en-US" sz="1700" dirty="0"/>
          </a:p>
        </p:txBody>
      </p:sp>
      <p:pic>
        <p:nvPicPr>
          <p:cNvPr id="20"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1" name="Text 10"/>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i="1" dirty="0">
                <a:solidFill>
                  <a:schemeClr val="accent5"/>
                </a:solidFill>
              </a:rPr>
              <a:t>…………</a:t>
            </a:r>
            <a:r>
              <a:rPr lang="en-US" sz="1700" i="1" dirty="0">
                <a:solidFill>
                  <a:schemeClr val="tx1"/>
                </a:solidFill>
              </a:rPr>
              <a:t> voor je weggaat!</a:t>
            </a:r>
            <a:endParaRPr lang="en-US" sz="1700" dirty="0"/>
          </a:p>
        </p:txBody>
      </p:sp>
      <p:pic>
        <p:nvPicPr>
          <p:cNvPr id="22"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3" name="Text 11"/>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i="1" dirty="0">
                <a:solidFill>
                  <a:schemeClr val="accent5"/>
                </a:solidFill>
              </a:rPr>
              <a:t>…………</a:t>
            </a:r>
            <a:r>
              <a:rPr lang="en-US" sz="1700" i="1" dirty="0">
                <a:solidFill>
                  <a:schemeClr val="tx1"/>
                </a:solidFill>
              </a:rPr>
              <a:t>, we zijn te laat.</a:t>
            </a:r>
            <a:endParaRPr lang="en-US" sz="1700" dirty="0"/>
          </a:p>
        </p:txBody>
      </p:sp>
      <p:sp>
        <p:nvSpPr>
          <p:cNvPr id="24" name="Shape 12"/>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5" name="Text 13"/>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6" name="Shape 14"/>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7" name="Text 15"/>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8" name="Shape 16"/>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9" name="Text 17"/>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0" name="Shape 18"/>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1" name="Text 19"/>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2" name="Shape 20"/>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3" name="Text 21"/>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4" name="Shape 22"/>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5" name="Text 23"/>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6" name="Shape 24"/>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7" name="Text 25"/>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8" name="Shape 26"/>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39" name="Text 27"/>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0" name="Shape 28"/>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1" name="Text 29"/>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9"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10" name="Text 5"/>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b="1" i="1" dirty="0">
                <a:solidFill>
                  <a:schemeClr val="accent3"/>
                </a:solidFill>
              </a:rPr>
              <a:t>in</a:t>
            </a:r>
            <a:r>
              <a:rPr lang="en-US" sz="1700" i="1" dirty="0">
                <a:solidFill>
                  <a:schemeClr val="tx1"/>
                </a:solidFill>
              </a:rPr>
              <a:t>vullen?</a:t>
            </a:r>
            <a:endParaRPr lang="en-US" sz="1700" dirty="0"/>
          </a:p>
        </p:txBody>
      </p:sp>
      <p:pic>
        <p:nvPicPr>
          <p:cNvPr id="11"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2" name="Text 6"/>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b="1" i="1" dirty="0">
                <a:solidFill>
                  <a:schemeClr val="accent3"/>
                </a:solidFill>
              </a:rPr>
              <a:t>terug</a:t>
            </a:r>
            <a:r>
              <a:rPr lang="en-US" sz="1700" i="1" dirty="0">
                <a:solidFill>
                  <a:schemeClr val="tx1"/>
                </a:solidFill>
              </a:rPr>
              <a:t>.</a:t>
            </a:r>
            <a:endParaRPr lang="en-US" sz="1700" dirty="0"/>
          </a:p>
        </p:txBody>
      </p:sp>
      <p:pic>
        <p:nvPicPr>
          <p:cNvPr id="13"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4" name="Text 7"/>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b="1" i="1" dirty="0">
                <a:solidFill>
                  <a:schemeClr val="accent3"/>
                </a:solidFill>
              </a:rPr>
              <a:t>mee</a:t>
            </a:r>
            <a:r>
              <a:rPr lang="en-US" sz="1700" i="1" dirty="0">
                <a:solidFill>
                  <a:schemeClr val="tx1"/>
                </a:solidFill>
              </a:rPr>
              <a:t>!</a:t>
            </a:r>
            <a:endParaRPr lang="en-US" sz="1700" dirty="0"/>
          </a:p>
        </p:txBody>
      </p:sp>
      <p:pic>
        <p:nvPicPr>
          <p:cNvPr id="15"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6" name="Text 8"/>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b="1" i="1" dirty="0">
                <a:solidFill>
                  <a:schemeClr val="accent3"/>
                </a:solidFill>
              </a:rPr>
              <a:t>dicht</a:t>
            </a:r>
            <a:r>
              <a:rPr lang="en-US" sz="1700" i="1" dirty="0">
                <a:solidFill>
                  <a:schemeClr val="tx1"/>
                </a:solidFill>
              </a:rPr>
              <a:t>, het is koud.</a:t>
            </a:r>
            <a:endParaRPr lang="en-US" sz="1700" dirty="0"/>
          </a:p>
        </p:txBody>
      </p:sp>
      <p:pic>
        <p:nvPicPr>
          <p:cNvPr id="17"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8" name="Text 9"/>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b="1" i="1" dirty="0">
                <a:solidFill>
                  <a:schemeClr val="accent3"/>
                </a:solidFill>
              </a:rPr>
              <a:t>aan</a:t>
            </a:r>
            <a:r>
              <a:rPr lang="en-US" sz="1700" i="1" dirty="0">
                <a:solidFill>
                  <a:schemeClr val="tx1"/>
                </a:solidFill>
              </a:rPr>
              <a:t>!</a:t>
            </a:r>
            <a:endParaRPr lang="en-US" sz="1700" dirty="0"/>
          </a:p>
        </p:txBody>
      </p:sp>
      <p:pic>
        <p:nvPicPr>
          <p:cNvPr id="19"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20" name="Text 10"/>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b="1" i="1" dirty="0">
                <a:solidFill>
                  <a:schemeClr val="accent3"/>
                </a:solidFill>
              </a:rPr>
              <a:t>op</a:t>
            </a:r>
            <a:r>
              <a:rPr lang="en-US" sz="1700" i="1" dirty="0">
                <a:solidFill>
                  <a:schemeClr val="tx1"/>
                </a:solidFill>
              </a:rPr>
              <a:t>.</a:t>
            </a:r>
            <a:endParaRPr lang="en-US" sz="1700" dirty="0"/>
          </a:p>
        </p:txBody>
      </p:sp>
      <p:pic>
        <p:nvPicPr>
          <p:cNvPr id="21"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2" name="Text 11"/>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b="1" i="1" dirty="0">
                <a:solidFill>
                  <a:schemeClr val="accent3"/>
                </a:solidFill>
              </a:rPr>
              <a:t>uit</a:t>
            </a:r>
            <a:r>
              <a:rPr lang="en-US" sz="1700" i="1" dirty="0">
                <a:solidFill>
                  <a:schemeClr val="tx1"/>
                </a:solidFill>
              </a:rPr>
              <a:t> voor je weggaat!</a:t>
            </a:r>
            <a:endParaRPr lang="en-US" sz="1700" dirty="0"/>
          </a:p>
        </p:txBody>
      </p:sp>
      <p:pic>
        <p:nvPicPr>
          <p:cNvPr id="23"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4" name="Text 12"/>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b="1" i="1" dirty="0">
                <a:solidFill>
                  <a:schemeClr val="accent3"/>
                </a:solidFill>
              </a:rPr>
              <a:t>weg</a:t>
            </a:r>
            <a:r>
              <a:rPr lang="en-US" sz="1700" i="1" dirty="0">
                <a:solidFill>
                  <a:schemeClr val="tx1"/>
                </a:solidFill>
              </a:rPr>
              <a:t>, we zijn te laat.</a:t>
            </a:r>
            <a:endParaRPr lang="en-US" sz="1700" dirty="0"/>
          </a:p>
        </p:txBody>
      </p:sp>
      <p:sp>
        <p:nvSpPr>
          <p:cNvPr id="25" name="Shape 13"/>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6" name="Text 14"/>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7" name="Shape 15"/>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8" name="Text 16"/>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9" name="Shape 17"/>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30" name="Text 18"/>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1" name="Shape 19"/>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2" name="Text 20"/>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3" name="Shape 21"/>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4" name="Text 22"/>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5" name="Shape 23"/>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6" name="Text 24"/>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7" name="Shape 25"/>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8" name="Text 26"/>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9" name="Shape 27"/>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0" name="Text 28"/>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1" name="Shape 29"/>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2" name="Text 30"/>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dirty="0">
                <a:solidFill>
                  <a:schemeClr val="tx1"/>
                </a:solidFill>
              </a:rPr>
              <a:t>Morgen ik opsta</a:t>
            </a:r>
            <a:r>
              <a:rPr lang="en-US" sz="2100" i="1" dirty="0">
                <a:solidFill>
                  <a:schemeClr val="tx1"/>
                </a:solidFill>
              </a:rPr>
              <a:t> om 6 uur</a:t>
            </a:r>
            <a:r>
              <a:rPr lang="en-US" sz="2100" i="1" dirty="0">
                <a:solidFill>
                  <a:schemeClr val="tx1"/>
                </a:solidFill>
              </a:rPr>
              <a:t>, want ik moet om 8 uur vertrekken. </a:t>
            </a:r>
            <a:r>
              <a:rPr lang="en-US" sz="2100" i="1" dirty="0">
                <a:solidFill>
                  <a:schemeClr val="tx1"/>
                </a:solidFill>
              </a:rPr>
              <a:t>Ik meeneem</a:t>
            </a:r>
            <a:r>
              <a:rPr lang="en-US" sz="2100" i="1" dirty="0">
                <a:solidFill>
                  <a:schemeClr val="tx1"/>
                </a:solidFill>
              </a:rPr>
              <a:t> de documenten</a:t>
            </a:r>
            <a:r>
              <a:rPr lang="en-US" sz="2100" i="1" dirty="0">
                <a:solidFill>
                  <a:schemeClr val="tx1"/>
                </a:solidFill>
              </a:rPr>
              <a:t>. Kun jij de klant </a:t>
            </a:r>
            <a:r>
              <a:rPr lang="en-US" sz="2100" i="1" dirty="0">
                <a:solidFill>
                  <a:schemeClr val="tx1"/>
                </a:solidFill>
              </a:rPr>
              <a:t>bellen op</a:t>
            </a:r>
            <a:r>
              <a:rPr lang="en-US" sz="2100" i="1" dirty="0">
                <a:solidFill>
                  <a:schemeClr val="tx1"/>
                </a:solidFill>
              </a:rPr>
              <a:t>? Ik log om 9 uur in. Ik kom om 15 uur terug en </a:t>
            </a:r>
            <a:r>
              <a:rPr lang="en-US" sz="2100" i="1" dirty="0">
                <a:solidFill>
                  <a:schemeClr val="tx1"/>
                </a:solidFill>
              </a:rPr>
              <a:t>dan ik moet</a:t>
            </a:r>
            <a:r>
              <a:rPr lang="en-US" sz="2100" i="1" dirty="0">
                <a:solidFill>
                  <a:schemeClr val="tx1"/>
                </a:solidFill>
              </a:rPr>
              <a:t> de vergadering voorbereiden. Groetjes, Karim</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3" name="Shape 8"/>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strike="sngStrike" dirty="0">
                <a:solidFill>
                  <a:schemeClr val="accent6"/>
                </a:solidFill>
              </a:rPr>
              <a:t>Morgen ik opsta</a:t>
            </a:r>
            <a:r>
              <a:rPr lang="en-US" sz="2100" b="1" i="1" dirty="0">
                <a:solidFill>
                  <a:schemeClr val="accent3"/>
                </a:solidFill>
              </a:rPr>
              <a:t> Morgen sta ik</a:t>
            </a:r>
            <a:r>
              <a:rPr lang="en-US" sz="2100" i="1" dirty="0">
                <a:solidFill>
                  <a:schemeClr val="tx1"/>
                </a:solidFill>
              </a:rPr>
              <a:t> om 6 uur</a:t>
            </a:r>
            <a:r>
              <a:rPr lang="en-US" sz="2100" b="1" i="1" dirty="0">
                <a:solidFill>
                  <a:schemeClr val="accent3"/>
                </a:solidFill>
              </a:rPr>
              <a:t> op</a:t>
            </a:r>
            <a:r>
              <a:rPr lang="en-US" sz="2100" i="1" dirty="0">
                <a:solidFill>
                  <a:schemeClr val="tx1"/>
                </a:solidFill>
              </a:rPr>
              <a:t>, want ik moet om 8 uur vertrekken. </a:t>
            </a:r>
            <a:r>
              <a:rPr lang="en-US" sz="2100" i="1" strike="sngStrike" dirty="0">
                <a:solidFill>
                  <a:schemeClr val="accent6"/>
                </a:solidFill>
              </a:rPr>
              <a:t>Ik meeneem</a:t>
            </a:r>
            <a:r>
              <a:rPr lang="en-US" sz="2100" b="1" i="1" dirty="0">
                <a:solidFill>
                  <a:schemeClr val="accent3"/>
                </a:solidFill>
              </a:rPr>
              <a:t> Ik neem</a:t>
            </a:r>
            <a:r>
              <a:rPr lang="en-US" sz="2100" i="1" dirty="0">
                <a:solidFill>
                  <a:schemeClr val="tx1"/>
                </a:solidFill>
              </a:rPr>
              <a:t> de documenten</a:t>
            </a:r>
            <a:r>
              <a:rPr lang="en-US" sz="2100" b="1" i="1" dirty="0">
                <a:solidFill>
                  <a:schemeClr val="accent3"/>
                </a:solidFill>
              </a:rPr>
              <a:t> mee</a:t>
            </a:r>
            <a:r>
              <a:rPr lang="en-US" sz="2100" i="1" dirty="0">
                <a:solidFill>
                  <a:schemeClr val="tx1"/>
                </a:solidFill>
              </a:rPr>
              <a:t>. Kun jij de klant </a:t>
            </a:r>
            <a:r>
              <a:rPr lang="en-US" sz="2100" i="1" strike="sngStrike" dirty="0">
                <a:solidFill>
                  <a:schemeClr val="accent6"/>
                </a:solidFill>
              </a:rPr>
              <a:t>bellen op</a:t>
            </a:r>
            <a:r>
              <a:rPr lang="en-US" sz="2100" b="1" i="1" dirty="0">
                <a:solidFill>
                  <a:schemeClr val="accent3"/>
                </a:solidFill>
              </a:rPr>
              <a:t> opbellen</a:t>
            </a:r>
            <a:r>
              <a:rPr lang="en-US" sz="2100" i="1" dirty="0">
                <a:solidFill>
                  <a:schemeClr val="tx1"/>
                </a:solidFill>
              </a:rPr>
              <a:t>? Ik log om 9 uur in. Ik kom om 15 uur terug en </a:t>
            </a:r>
            <a:r>
              <a:rPr lang="en-US" sz="2100" i="1" strike="sngStrike" dirty="0">
                <a:solidFill>
                  <a:schemeClr val="accent6"/>
                </a:solidFill>
              </a:rPr>
              <a:t>dan ik moet</a:t>
            </a:r>
            <a:r>
              <a:rPr lang="en-US" sz="2100" b="1" i="1" dirty="0">
                <a:solidFill>
                  <a:schemeClr val="accent3"/>
                </a:solidFill>
              </a:rPr>
              <a:t> dan moet ik</a:t>
            </a:r>
            <a:r>
              <a:rPr lang="en-US" sz="2100" i="1" dirty="0">
                <a:solidFill>
                  <a:schemeClr val="tx1"/>
                </a:solidFill>
              </a:rPr>
              <a:t> de vergadering voorbereiden. Groetjes, Karim</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4" name="Shape 9"/>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85851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Morgen sta ik… op</a:t>
            </a:r>
            <a:r>
              <a:rPr lang="en-US" sz="1400" i="1" dirty="0">
                <a:solidFill>
                  <a:schemeClr val="accent5"/>
                </a:solidFill>
              </a:rPr>
              <a:t> corrige 2 erreurs (inversion + particule). Leurres : </a:t>
            </a:r>
            <a:r>
              <a:rPr lang="en-US" sz="1400" i="1" dirty="0">
                <a:solidFill>
                  <a:schemeClr val="accent5"/>
                </a:solidFill>
              </a:rPr>
              <a:t>Ik log … in · Ik kom … terug</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Simon zegt…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man teacher">    </p:cNvPr>
          <p:cNvPicPr>
            <a:picLocks noChangeAspect="1"/>
          </p:cNvPicPr>
          <p:nvPr/>
        </p:nvPicPr>
        <p:blipFill>
          <a:blip r:embed="rId1"/>
          <a:stretch>
            <a:fillRect/>
          </a:stretch>
        </p:blipFill>
        <p:spPr>
          <a:xfrm>
            <a:off x="548640" y="1645920"/>
            <a:ext cx="2194560" cy="2194560"/>
          </a:xfrm>
          <a:prstGeom prst="rect">
            <a:avLst/>
          </a:prstGeom>
        </p:spPr>
      </p:pic>
      <p:sp>
        <p:nvSpPr>
          <p:cNvPr id="7" name="Shape 3"/>
          <p:cNvSpPr/>
          <p:nvPr/>
        </p:nvSpPr>
        <p:spPr>
          <a:xfrm>
            <a:off x="548640" y="4023360"/>
            <a:ext cx="2377440" cy="914400"/>
          </a:xfrm>
          <a:prstGeom prst="roundRect">
            <a:avLst>
              <a:gd name="adj" fmla="val 18000"/>
            </a:avLst>
          </a:prstGeom>
          <a:solidFill>
            <a:schemeClr val="accent1">
              <a:alpha val="12000"/>
            </a:schemeClr>
          </a:solidFill>
          <a:ln w="15875">
            <a:solidFill>
              <a:srgbClr val="D9700F"/>
            </a:solidFill>
            <a:prstDash val="solid"/>
          </a:ln>
        </p:spPr>
      </p:sp>
      <p:sp>
        <p:nvSpPr>
          <p:cNvPr id="8" name="Text 4"/>
          <p:cNvSpPr txBox="1"/>
          <p:nvPr/>
        </p:nvSpPr>
        <p:spPr>
          <a:xfrm>
            <a:off x="713232" y="4023360"/>
            <a:ext cx="2048256" cy="914400"/>
          </a:xfrm>
          <a:prstGeom prst="rect">
            <a:avLst/>
          </a:prstGeom>
          <a:noFill/>
          <a:ln/>
        </p:spPr>
        <p:txBody>
          <a:bodyPr wrap="square" lIns="0" tIns="0" rIns="0" bIns="0" rtlCol="0" anchor="ctr"/>
          <a:lstStyle/>
          <a:p>
            <a:pPr algn="l" indent="0" marL="0">
              <a:buNone/>
            </a:pPr>
            <a:r>
              <a:rPr lang="en-US" sz="1800" b="1" i="1" dirty="0">
                <a:solidFill>
                  <a:schemeClr val="tx1"/>
                </a:solidFill>
              </a:rPr>
              <a:t>Simon zegt</a:t>
            </a:r>
            <a:r>
              <a:rPr lang="en-US" sz="1800" i="1" dirty="0">
                <a:solidFill>
                  <a:schemeClr val="tx1"/>
                </a:solidFill>
              </a:rPr>
              <a:t>: sta op!</a:t>
            </a:r>
            <a:endParaRPr lang="en-US" sz="1800" dirty="0"/>
          </a:p>
        </p:txBody>
      </p:sp>
      <p:sp>
        <p:nvSpPr>
          <p:cNvPr id="9" name="Shape 5"/>
          <p:cNvSpPr/>
          <p:nvPr/>
        </p:nvSpPr>
        <p:spPr>
          <a:xfrm>
            <a:off x="3200400" y="1600200"/>
            <a:ext cx="3474720" cy="731520"/>
          </a:xfrm>
          <a:prstGeom prst="roundRect">
            <a:avLst>
              <a:gd name="adj" fmla="val 10000"/>
            </a:avLst>
          </a:prstGeom>
          <a:solidFill>
            <a:schemeClr val="bg2"/>
          </a:solidFill>
          <a:ln w="12700">
            <a:solidFill>
              <a:srgbClr val="D5DCE6"/>
            </a:solidFill>
            <a:prstDash val="solid"/>
          </a:ln>
        </p:spPr>
      </p:sp>
      <p:sp>
        <p:nvSpPr>
          <p:cNvPr id="10" name="Text 6"/>
          <p:cNvSpPr txBox="1"/>
          <p:nvPr/>
        </p:nvSpPr>
        <p:spPr>
          <a:xfrm>
            <a:off x="33832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Sta </a:t>
            </a:r>
            <a:r>
              <a:rPr lang="en-US" sz="2100" b="1" i="1" dirty="0">
                <a:solidFill>
                  <a:schemeClr val="accent1"/>
                </a:solidFill>
              </a:rPr>
              <a:t>op</a:t>
            </a:r>
            <a:r>
              <a:rPr lang="en-US" sz="2100" b="1" i="1" dirty="0">
                <a:solidFill>
                  <a:schemeClr val="tx1"/>
                </a:solidFill>
              </a:rPr>
              <a:t>!</a:t>
            </a:r>
            <a:endParaRPr lang="en-US" sz="2100" dirty="0"/>
          </a:p>
        </p:txBody>
      </p:sp>
      <p:sp>
        <p:nvSpPr>
          <p:cNvPr id="11" name="Shape 7"/>
          <p:cNvSpPr/>
          <p:nvPr/>
        </p:nvSpPr>
        <p:spPr>
          <a:xfrm>
            <a:off x="6858000" y="1600200"/>
            <a:ext cx="3474720" cy="731520"/>
          </a:xfrm>
          <a:prstGeom prst="roundRect">
            <a:avLst>
              <a:gd name="adj" fmla="val 10000"/>
            </a:avLst>
          </a:prstGeom>
          <a:solidFill>
            <a:schemeClr val="bg1"/>
          </a:solidFill>
          <a:ln w="12700">
            <a:solidFill>
              <a:srgbClr val="D5DCE6"/>
            </a:solidFill>
            <a:prstDash val="solid"/>
          </a:ln>
        </p:spPr>
      </p:sp>
      <p:sp>
        <p:nvSpPr>
          <p:cNvPr id="12" name="Text 8"/>
          <p:cNvSpPr txBox="1"/>
          <p:nvPr/>
        </p:nvSpPr>
        <p:spPr>
          <a:xfrm>
            <a:off x="70408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Ga zitten!</a:t>
            </a:r>
            <a:endParaRPr lang="en-US" sz="2100" dirty="0"/>
          </a:p>
        </p:txBody>
      </p:sp>
      <p:sp>
        <p:nvSpPr>
          <p:cNvPr id="13" name="Shape 9"/>
          <p:cNvSpPr/>
          <p:nvPr/>
        </p:nvSpPr>
        <p:spPr>
          <a:xfrm>
            <a:off x="3200400" y="2468880"/>
            <a:ext cx="3474720" cy="731520"/>
          </a:xfrm>
          <a:prstGeom prst="roundRect">
            <a:avLst>
              <a:gd name="adj" fmla="val 10000"/>
            </a:avLst>
          </a:prstGeom>
          <a:solidFill>
            <a:schemeClr val="bg1"/>
          </a:solidFill>
          <a:ln w="12700">
            <a:solidFill>
              <a:srgbClr val="D5DCE6"/>
            </a:solidFill>
            <a:prstDash val="solid"/>
          </a:ln>
        </p:spPr>
      </p:sp>
      <p:sp>
        <p:nvSpPr>
          <p:cNvPr id="14" name="Text 10"/>
          <p:cNvSpPr txBox="1"/>
          <p:nvPr/>
        </p:nvSpPr>
        <p:spPr>
          <a:xfrm>
            <a:off x="33832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dicht</a:t>
            </a:r>
            <a:r>
              <a:rPr lang="en-US" sz="2100" b="1" i="1" dirty="0">
                <a:solidFill>
                  <a:schemeClr val="tx1"/>
                </a:solidFill>
              </a:rPr>
              <a:t>!</a:t>
            </a:r>
            <a:endParaRPr lang="en-US" sz="2100" dirty="0"/>
          </a:p>
        </p:txBody>
      </p:sp>
      <p:sp>
        <p:nvSpPr>
          <p:cNvPr id="15" name="Shape 11"/>
          <p:cNvSpPr/>
          <p:nvPr/>
        </p:nvSpPr>
        <p:spPr>
          <a:xfrm>
            <a:off x="6858000" y="2468880"/>
            <a:ext cx="3474720" cy="731520"/>
          </a:xfrm>
          <a:prstGeom prst="roundRect">
            <a:avLst>
              <a:gd name="adj" fmla="val 10000"/>
            </a:avLst>
          </a:prstGeom>
          <a:solidFill>
            <a:schemeClr val="bg2"/>
          </a:solidFill>
          <a:ln w="12700">
            <a:solidFill>
              <a:srgbClr val="D5DCE6"/>
            </a:solidFill>
            <a:prstDash val="solid"/>
          </a:ln>
        </p:spPr>
      </p:sp>
      <p:sp>
        <p:nvSpPr>
          <p:cNvPr id="16" name="Text 12"/>
          <p:cNvSpPr txBox="1"/>
          <p:nvPr/>
        </p:nvSpPr>
        <p:spPr>
          <a:xfrm>
            <a:off x="70408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open</a:t>
            </a:r>
            <a:r>
              <a:rPr lang="en-US" sz="2100" b="1" i="1" dirty="0">
                <a:solidFill>
                  <a:schemeClr val="tx1"/>
                </a:solidFill>
              </a:rPr>
              <a:t>!</a:t>
            </a:r>
            <a:endParaRPr lang="en-US" sz="2100" dirty="0"/>
          </a:p>
        </p:txBody>
      </p:sp>
      <p:sp>
        <p:nvSpPr>
          <p:cNvPr id="17" name="Shape 13"/>
          <p:cNvSpPr/>
          <p:nvPr/>
        </p:nvSpPr>
        <p:spPr>
          <a:xfrm>
            <a:off x="3200400" y="3337560"/>
            <a:ext cx="3474720" cy="731520"/>
          </a:xfrm>
          <a:prstGeom prst="roundRect">
            <a:avLst>
              <a:gd name="adj" fmla="val 10000"/>
            </a:avLst>
          </a:prstGeom>
          <a:solidFill>
            <a:schemeClr val="bg2"/>
          </a:solidFill>
          <a:ln w="12700">
            <a:solidFill>
              <a:srgbClr val="D5DCE6"/>
            </a:solidFill>
            <a:prstDash val="solid"/>
          </a:ln>
        </p:spPr>
      </p:sp>
      <p:sp>
        <p:nvSpPr>
          <p:cNvPr id="18" name="Text 14"/>
          <p:cNvSpPr txBox="1"/>
          <p:nvPr/>
        </p:nvSpPr>
        <p:spPr>
          <a:xfrm>
            <a:off x="33832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Steek je hand </a:t>
            </a:r>
            <a:r>
              <a:rPr lang="en-US" sz="2100" b="1" i="1" dirty="0">
                <a:solidFill>
                  <a:schemeClr val="accent1"/>
                </a:solidFill>
              </a:rPr>
              <a:t>op</a:t>
            </a:r>
            <a:r>
              <a:rPr lang="en-US" sz="2100" b="1" i="1" dirty="0">
                <a:solidFill>
                  <a:schemeClr val="tx1"/>
                </a:solidFill>
              </a:rPr>
              <a:t>!</a:t>
            </a:r>
            <a:endParaRPr lang="en-US" sz="2100" dirty="0"/>
          </a:p>
        </p:txBody>
      </p:sp>
      <p:sp>
        <p:nvSpPr>
          <p:cNvPr id="19" name="Shape 15"/>
          <p:cNvSpPr/>
          <p:nvPr/>
        </p:nvSpPr>
        <p:spPr>
          <a:xfrm>
            <a:off x="6858000" y="3337560"/>
            <a:ext cx="3474720" cy="731520"/>
          </a:xfrm>
          <a:prstGeom prst="roundRect">
            <a:avLst>
              <a:gd name="adj" fmla="val 10000"/>
            </a:avLst>
          </a:prstGeom>
          <a:solidFill>
            <a:schemeClr val="bg1"/>
          </a:solidFill>
          <a:ln w="12700">
            <a:solidFill>
              <a:srgbClr val="D5DCE6"/>
            </a:solidFill>
            <a:prstDash val="solid"/>
          </a:ln>
        </p:spPr>
      </p:sp>
      <p:sp>
        <p:nvSpPr>
          <p:cNvPr id="20" name="Text 16"/>
          <p:cNvSpPr txBox="1"/>
          <p:nvPr/>
        </p:nvSpPr>
        <p:spPr>
          <a:xfrm>
            <a:off x="70408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Kijk </a:t>
            </a:r>
            <a:r>
              <a:rPr lang="en-US" sz="2100" b="1" i="1" dirty="0">
                <a:solidFill>
                  <a:schemeClr val="accent1"/>
                </a:solidFill>
              </a:rPr>
              <a:t>rond</a:t>
            </a:r>
            <a:r>
              <a:rPr lang="en-US" sz="2100" b="1" i="1" dirty="0">
                <a:solidFill>
                  <a:schemeClr val="tx1"/>
                </a:solidFill>
              </a:rPr>
              <a:t>!</a:t>
            </a:r>
            <a:endParaRPr lang="en-US" sz="2100" dirty="0"/>
          </a:p>
        </p:txBody>
      </p:sp>
      <p:sp>
        <p:nvSpPr>
          <p:cNvPr id="21" name="Shape 17"/>
          <p:cNvSpPr/>
          <p:nvPr/>
        </p:nvSpPr>
        <p:spPr>
          <a:xfrm>
            <a:off x="3200400" y="4206240"/>
            <a:ext cx="3474720" cy="731520"/>
          </a:xfrm>
          <a:prstGeom prst="roundRect">
            <a:avLst>
              <a:gd name="adj" fmla="val 10000"/>
            </a:avLst>
          </a:prstGeom>
          <a:solidFill>
            <a:schemeClr val="bg1"/>
          </a:solidFill>
          <a:ln w="12700">
            <a:solidFill>
              <a:srgbClr val="D5DCE6"/>
            </a:solidFill>
            <a:prstDash val="solid"/>
          </a:ln>
        </p:spPr>
      </p:sp>
      <p:sp>
        <p:nvSpPr>
          <p:cNvPr id="22" name="Text 18"/>
          <p:cNvSpPr txBox="1"/>
          <p:nvPr/>
        </p:nvSpPr>
        <p:spPr>
          <a:xfrm>
            <a:off x="33832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Draai je </a:t>
            </a:r>
            <a:r>
              <a:rPr lang="en-US" sz="2100" b="1" i="1" dirty="0">
                <a:solidFill>
                  <a:schemeClr val="accent1"/>
                </a:solidFill>
              </a:rPr>
              <a:t>om</a:t>
            </a:r>
            <a:r>
              <a:rPr lang="en-US" sz="2100" b="1" i="1" dirty="0">
                <a:solidFill>
                  <a:schemeClr val="tx1"/>
                </a:solidFill>
              </a:rPr>
              <a:t>!</a:t>
            </a:r>
            <a:endParaRPr lang="en-US" sz="2100" dirty="0"/>
          </a:p>
        </p:txBody>
      </p:sp>
      <p:sp>
        <p:nvSpPr>
          <p:cNvPr id="23" name="Shape 19"/>
          <p:cNvSpPr/>
          <p:nvPr/>
        </p:nvSpPr>
        <p:spPr>
          <a:xfrm>
            <a:off x="6858000" y="4206240"/>
            <a:ext cx="3474720" cy="731520"/>
          </a:xfrm>
          <a:prstGeom prst="roundRect">
            <a:avLst>
              <a:gd name="adj" fmla="val 10000"/>
            </a:avLst>
          </a:prstGeom>
          <a:solidFill>
            <a:schemeClr val="bg2"/>
          </a:solidFill>
          <a:ln w="12700">
            <a:solidFill>
              <a:srgbClr val="D5DCE6"/>
            </a:solidFill>
            <a:prstDash val="solid"/>
          </a:ln>
        </p:spPr>
      </p:sp>
      <p:sp>
        <p:nvSpPr>
          <p:cNvPr id="24" name="Text 20"/>
          <p:cNvSpPr txBox="1"/>
          <p:nvPr/>
        </p:nvSpPr>
        <p:spPr>
          <a:xfrm>
            <a:off x="70408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Leg je pen </a:t>
            </a:r>
            <a:r>
              <a:rPr lang="en-US" sz="2100" b="1" i="1" dirty="0">
                <a:solidFill>
                  <a:schemeClr val="accent1"/>
                </a:solidFill>
              </a:rPr>
              <a:t>neer</a:t>
            </a:r>
            <a:r>
              <a:rPr lang="en-US" sz="2100" b="1" i="1" dirty="0">
                <a:solidFill>
                  <a:schemeClr val="tx1"/>
                </a:solidFill>
              </a:rPr>
              <a:t>!</a:t>
            </a:r>
            <a:endParaRPr lang="en-US" sz="2100" dirty="0"/>
          </a:p>
        </p:txBody>
      </p:sp>
      <p:sp>
        <p:nvSpPr>
          <p:cNvPr id="25" name="Shape 21"/>
          <p:cNvSpPr/>
          <p:nvPr/>
        </p:nvSpPr>
        <p:spPr>
          <a:xfrm>
            <a:off x="3200400" y="5166360"/>
            <a:ext cx="8439912" cy="1097280"/>
          </a:xfrm>
          <a:prstGeom prst="roundRect">
            <a:avLst>
              <a:gd name="adj" fmla="val 6667"/>
            </a:avLst>
          </a:prstGeom>
          <a:solidFill>
            <a:schemeClr val="accent1">
              <a:alpha val="12000"/>
            </a:schemeClr>
          </a:solidFill>
          <a:ln w="12700">
            <a:solidFill>
              <a:srgbClr val="D9700F"/>
            </a:solidFill>
            <a:prstDash val="solid"/>
          </a:ln>
        </p:spPr>
      </p:sp>
      <p:sp>
        <p:nvSpPr>
          <p:cNvPr id="26" name="Text 22"/>
          <p:cNvSpPr txBox="1"/>
          <p:nvPr/>
        </p:nvSpPr>
        <p:spPr>
          <a:xfrm>
            <a:off x="3383280" y="5166360"/>
            <a:ext cx="8138160" cy="109728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On obéit </a:t>
            </a:r>
            <a:r>
              <a:rPr lang="en-US" sz="1700" b="1" dirty="0">
                <a:solidFill>
                  <a:schemeClr val="tx1"/>
                </a:solidFill>
              </a:rPr>
              <a:t>seulement</a:t>
            </a:r>
            <a:r>
              <a:rPr lang="en-US" sz="1700" dirty="0">
                <a:solidFill>
                  <a:schemeClr val="tx1"/>
                </a:solidFill>
              </a:rPr>
              <a:t> si l’ordre commence par </a:t>
            </a:r>
            <a:r>
              <a:rPr lang="en-US" sz="1700" i="1" dirty="0">
                <a:solidFill>
                  <a:schemeClr val="tx1"/>
                </a:solidFill>
              </a:rPr>
              <a:t>Simon zegt…</a:t>
            </a:r>
            <a:r>
              <a:rPr lang="en-US" sz="1700" dirty="0">
                <a:solidFill>
                  <a:schemeClr val="tx1"/>
                </a:solidFill>
              </a:rPr>
              <a:t> · Celui qui se trompe donne l’ordre suivant.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journée de travail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Journaliste</a:t>
            </a:r>
            <a:r>
              <a:rPr lang="en-US" sz="1700" dirty="0">
                <a:solidFill>
                  <a:schemeClr val="tx1"/>
                </a:solidFill>
              </a:rPr>
              <a:t> : interrogez votre collègue sur sa journée et notez les heures sur la frise.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répondez avec au moins </a:t>
            </a:r>
            <a:r>
              <a:rPr lang="en-US" sz="1700" b="1" dirty="0">
                <a:solidFill>
                  <a:schemeClr val="tx1"/>
                </a:solidFill>
              </a:rPr>
              <a:t>5 verbes à particule</a:t>
            </a:r>
            <a:r>
              <a:rPr lang="en-US" sz="1700" dirty="0">
                <a:solidFill>
                  <a:schemeClr val="tx1"/>
                </a:solidFill>
              </a:rPr>
              <a: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laat sta je op? · Wanneer vertrek je? · Hoe laat log je in? · Neem je je lunch mee? · Wanneer ga je weg? · Bel je veel klanten op?</a:t>
            </a:r>
            <a:endParaRPr lang="en-US" sz="1600" dirty="0"/>
          </a:p>
        </p:txBody>
      </p:sp>
      <p:sp>
        <p:nvSpPr>
          <p:cNvPr id="17" name="Shape 14"/>
          <p:cNvSpPr/>
          <p:nvPr/>
        </p:nvSpPr>
        <p:spPr>
          <a:xfrm>
            <a:off x="8074152" y="1481328"/>
            <a:ext cx="3566160" cy="4809744"/>
          </a:xfrm>
          <a:prstGeom prst="roundRect">
            <a:avLst>
              <a:gd name="adj" fmla="val 2051"/>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8074152" y="1572768"/>
            <a:ext cx="356616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MA JOURNÉE</a:t>
            </a:r>
            <a:endParaRPr lang="en-US" sz="1300" dirty="0"/>
          </a:p>
        </p:txBody>
      </p:sp>
      <p:sp>
        <p:nvSpPr>
          <p:cNvPr id="19" name="Shape 16"/>
          <p:cNvSpPr/>
          <p:nvPr/>
        </p:nvSpPr>
        <p:spPr>
          <a:xfrm>
            <a:off x="8714232" y="2029968"/>
            <a:ext cx="914" cy="4032504"/>
          </a:xfrm>
          <a:prstGeom prst="line">
            <a:avLst/>
          </a:prstGeom>
          <a:noFill/>
          <a:ln w="38100">
            <a:solidFill>
              <a:srgbClr val="D9700F"/>
            </a:solidFill>
            <a:prstDash val="solid"/>
          </a:ln>
        </p:spPr>
      </p:sp>
      <p:sp>
        <p:nvSpPr>
          <p:cNvPr id="20" name="Shape 17"/>
          <p:cNvSpPr/>
          <p:nvPr/>
        </p:nvSpPr>
        <p:spPr>
          <a:xfrm>
            <a:off x="8622792" y="2148840"/>
            <a:ext cx="182880" cy="182880"/>
          </a:xfrm>
          <a:prstGeom prst="ellipse">
            <a:avLst/>
          </a:prstGeom>
          <a:solidFill>
            <a:schemeClr val="accent1"/>
          </a:solidFill>
          <a:ln w="12700">
            <a:solidFill>
              <a:srgbClr val="FFFFFF">
                <a:alpha val="0"/>
              </a:srgbClr>
            </a:solidFill>
            <a:prstDash val="solid"/>
          </a:ln>
        </p:spPr>
      </p:sp>
      <p:sp>
        <p:nvSpPr>
          <p:cNvPr id="21" name="Text 18"/>
          <p:cNvSpPr txBox="1"/>
          <p:nvPr/>
        </p:nvSpPr>
        <p:spPr>
          <a:xfrm>
            <a:off x="8942832" y="207568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22" name="Shape 19"/>
          <p:cNvSpPr/>
          <p:nvPr/>
        </p:nvSpPr>
        <p:spPr>
          <a:xfrm>
            <a:off x="9720072" y="2350008"/>
            <a:ext cx="1737360" cy="914"/>
          </a:xfrm>
          <a:prstGeom prst="line">
            <a:avLst/>
          </a:prstGeom>
          <a:noFill/>
          <a:ln w="12700">
            <a:solidFill>
              <a:srgbClr val="B8C2CF"/>
            </a:solidFill>
            <a:prstDash val="sysDot"/>
          </a:ln>
        </p:spPr>
      </p:sp>
      <p:sp>
        <p:nvSpPr>
          <p:cNvPr id="23" name="Shape 20"/>
          <p:cNvSpPr/>
          <p:nvPr/>
        </p:nvSpPr>
        <p:spPr>
          <a:xfrm>
            <a:off x="8622792" y="2946197"/>
            <a:ext cx="182880" cy="1828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8942832" y="287304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25" name="Shape 22"/>
          <p:cNvSpPr/>
          <p:nvPr/>
        </p:nvSpPr>
        <p:spPr>
          <a:xfrm>
            <a:off x="9720072" y="3147365"/>
            <a:ext cx="1737360" cy="914"/>
          </a:xfrm>
          <a:prstGeom prst="line">
            <a:avLst/>
          </a:prstGeom>
          <a:noFill/>
          <a:ln w="12700">
            <a:solidFill>
              <a:srgbClr val="B8C2CF"/>
            </a:solidFill>
            <a:prstDash val="sysDot"/>
          </a:ln>
        </p:spPr>
      </p:sp>
      <p:sp>
        <p:nvSpPr>
          <p:cNvPr id="26" name="Shape 23"/>
          <p:cNvSpPr/>
          <p:nvPr/>
        </p:nvSpPr>
        <p:spPr>
          <a:xfrm>
            <a:off x="8622792" y="3743554"/>
            <a:ext cx="182880" cy="182880"/>
          </a:xfrm>
          <a:prstGeom prst="ellipse">
            <a:avLst/>
          </a:prstGeom>
          <a:solidFill>
            <a:schemeClr val="accent1"/>
          </a:solidFill>
          <a:ln w="12700">
            <a:solidFill>
              <a:srgbClr val="FFFFFF">
                <a:alpha val="0"/>
              </a:srgbClr>
            </a:solidFill>
            <a:prstDash val="solid"/>
          </a:ln>
        </p:spPr>
      </p:sp>
      <p:sp>
        <p:nvSpPr>
          <p:cNvPr id="27" name="Text 24"/>
          <p:cNvSpPr txBox="1"/>
          <p:nvPr/>
        </p:nvSpPr>
        <p:spPr>
          <a:xfrm>
            <a:off x="8942832" y="3670402"/>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28" name="Shape 25"/>
          <p:cNvSpPr/>
          <p:nvPr/>
        </p:nvSpPr>
        <p:spPr>
          <a:xfrm>
            <a:off x="9720072" y="3944722"/>
            <a:ext cx="1737360" cy="914"/>
          </a:xfrm>
          <a:prstGeom prst="line">
            <a:avLst/>
          </a:prstGeom>
          <a:noFill/>
          <a:ln w="12700">
            <a:solidFill>
              <a:srgbClr val="B8C2CF"/>
            </a:solidFill>
            <a:prstDash val="sysDot"/>
          </a:ln>
        </p:spPr>
      </p:sp>
      <p:sp>
        <p:nvSpPr>
          <p:cNvPr id="29" name="Shape 26"/>
          <p:cNvSpPr/>
          <p:nvPr/>
        </p:nvSpPr>
        <p:spPr>
          <a:xfrm>
            <a:off x="8622792" y="4540910"/>
            <a:ext cx="182880" cy="182880"/>
          </a:xfrm>
          <a:prstGeom prst="ellipse">
            <a:avLst/>
          </a:prstGeom>
          <a:solidFill>
            <a:schemeClr val="accent1"/>
          </a:solidFill>
          <a:ln w="12700">
            <a:solidFill>
              <a:srgbClr val="FFFFFF">
                <a:alpha val="0"/>
              </a:srgbClr>
            </a:solidFill>
            <a:prstDash val="solid"/>
          </a:ln>
        </p:spPr>
      </p:sp>
      <p:sp>
        <p:nvSpPr>
          <p:cNvPr id="30" name="Text 27"/>
          <p:cNvSpPr txBox="1"/>
          <p:nvPr/>
        </p:nvSpPr>
        <p:spPr>
          <a:xfrm>
            <a:off x="8942832" y="446775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15.00</a:t>
            </a:r>
            <a:endParaRPr lang="en-US" sz="1300" dirty="0"/>
          </a:p>
        </p:txBody>
      </p:sp>
      <p:sp>
        <p:nvSpPr>
          <p:cNvPr id="31" name="Shape 28"/>
          <p:cNvSpPr/>
          <p:nvPr/>
        </p:nvSpPr>
        <p:spPr>
          <a:xfrm>
            <a:off x="9720072" y="4742078"/>
            <a:ext cx="1737360" cy="914"/>
          </a:xfrm>
          <a:prstGeom prst="line">
            <a:avLst/>
          </a:prstGeom>
          <a:noFill/>
          <a:ln w="12700">
            <a:solidFill>
              <a:srgbClr val="B8C2CF"/>
            </a:solidFill>
            <a:prstDash val="sysDot"/>
          </a:ln>
        </p:spPr>
      </p:sp>
      <p:sp>
        <p:nvSpPr>
          <p:cNvPr id="32" name="Shape 29"/>
          <p:cNvSpPr/>
          <p:nvPr/>
        </p:nvSpPr>
        <p:spPr>
          <a:xfrm>
            <a:off x="8622792" y="5338267"/>
            <a:ext cx="182880" cy="182880"/>
          </a:xfrm>
          <a:prstGeom prst="ellipse">
            <a:avLst/>
          </a:prstGeom>
          <a:solidFill>
            <a:schemeClr val="accent1"/>
          </a:solidFill>
          <a:ln w="12700">
            <a:solidFill>
              <a:srgbClr val="FFFFFF">
                <a:alpha val="0"/>
              </a:srgbClr>
            </a:solidFill>
            <a:prstDash val="solid"/>
          </a:ln>
        </p:spPr>
      </p:sp>
      <p:sp>
        <p:nvSpPr>
          <p:cNvPr id="33" name="Text 30"/>
          <p:cNvSpPr txBox="1"/>
          <p:nvPr/>
        </p:nvSpPr>
        <p:spPr>
          <a:xfrm>
            <a:off x="8942832" y="526511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34" name="Shape 31"/>
          <p:cNvSpPr/>
          <p:nvPr/>
        </p:nvSpPr>
        <p:spPr>
          <a:xfrm>
            <a:off x="9720072" y="5539435"/>
            <a:ext cx="173736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Séparable ou inséparable : </a:t>
            </a:r>
            <a:r>
              <a:rPr lang="en-US" sz="2000" i="1" dirty="0">
                <a:solidFill>
                  <a:schemeClr val="tx1"/>
                </a:solidFill>
              </a:rPr>
              <a:t>vergeten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Ik …… mijn laptop …… (meenemen).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Ajoutez </a:t>
            </a:r>
            <a:r>
              <a:rPr lang="en-US" sz="2000" i="1" dirty="0">
                <a:solidFill>
                  <a:schemeClr val="tx1"/>
                </a:solidFill>
              </a:rPr>
              <a:t>moeten</a:t>
            </a:r>
            <a:r>
              <a:rPr lang="en-US" sz="2000" dirty="0">
                <a:solidFill>
                  <a:schemeClr val="tx1"/>
                </a:solidFill>
              </a:rPr>
              <a:t> : </a:t>
            </a:r>
            <a:r>
              <a:rPr lang="en-US" sz="2000" i="1" dirty="0">
                <a:solidFill>
                  <a:schemeClr val="tx1"/>
                </a:solidFill>
              </a:rPr>
              <a:t>Ik sta om 6 uur op.</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Reconnaître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afficL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Modale werkwoorden</a:t>
            </a:r>
            <a:r>
              <a:rPr lang="en-US" sz="1800" dirty="0">
                <a:solidFill>
                  <a:schemeClr val="bg1"/>
                </a:solidFill>
              </a:rPr>
              <a:t> — </a:t>
            </a:r>
            <a:r>
              <a:rPr lang="en-US" sz="1800" i="1" dirty="0">
                <a:solidFill>
                  <a:schemeClr val="bg1"/>
                </a:solidFill>
              </a:rPr>
              <a:t>kunnen, mogen, willen, moeten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11 — Scheidbare werkwoorden — Les verbes à particule</dc:title>
  <dc:subject>Néerlandais 1 — Langue en situation, en milieu professionnel</dc:subject>
  <dc:creator>A. Jouniaux</dc:creator>
  <cp:lastModifiedBy>A. Jouniaux</cp:lastModifiedBy>
  <cp:revision>1</cp:revision>
  <dcterms:created xsi:type="dcterms:W3CDTF">2026-10-05T10:24:02Z</dcterms:created>
  <dcterms:modified xsi:type="dcterms:W3CDTF">2026-10-05T10:24:02Z</dcterms:modified>
</cp:coreProperties>
</file>