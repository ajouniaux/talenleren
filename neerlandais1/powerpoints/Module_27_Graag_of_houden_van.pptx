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f0ebf811-f96f-f6f1-f73e-622145ee6a10}">
          <p14:sldIdLst>
            <p14:sldId id="256"/>
          </p14:sldIdLst>
        </p14:section>
        <p14:section name="Découvrir" id="{41988e9b-d3e5-1aca-7dcd-a4e0bf2677c7}">
          <p14:sldIdLst>
            <p14:sldId id="257"/>
            <p14:sldId id="258"/>
          </p14:sldIdLst>
        </p14:section>
        <p14:section name="Comprendre" id="{980fa46c-a7e2-3b77-a718-4c2c95b97325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64c35992-91d5-5261-3ecf-612df6d96c58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818a4a42-6aa8-5400-0465-1c566de18317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un seul verbe en français, plusieurs en néerlandais.
Question d'entrée : « Comment dit-on j'aime nager et j'aime la mer ? » Les deux « aimer » ne se traduisent pas de la même façon.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Parler de ses goûts sert à se présenter, à faire connaissance avec ses collègues et à choisir une activité en équipe.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graag et houden van dans des présentations.
Faites observer : graag suit un verbe d'action (kook, fiets, lees) ; houden van est suivi d'un nom (muziek, de zee, katten).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ce qu'on aime faire, avec graag à la bonne place.
graag signifie littéralement « volontiers » : Ik fiets graag = je fais du vélo volontiers = j'aime faire du vélo. Faites répondre à Wat doe je graag in het weekend?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qui ou ce qu'on aime avec houden van.
houden van exprime un attachement général ou fort (une personne, un lieu, un genre de musique). Avec un pronom : Ik hou van hem / van haar / van jou. Pour une chose déjà nommée : ervan (M23).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traduction de « aimer » selon ce qu'on aime.
Question-réflexe : « Qu'est-ce que j'aime ? Faire quelque chose, quelqu'un ou une chose en général, ou un goût / une impression ? »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Comparer ses préférences.
graag → liever → het liefst est irrégulier (comme goed → beter → best, M21). Avec une comparaison : liever … dan … : Ik werk liever 's ochtends dan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ce qu'on n'aime pas, avec niet à la bonne place.
niet se place juste avant graag (M13). Avec houden van : Ik hou niet van… (niet avant la préposition). helemaal niet = pas du tout.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goût, une impression et l'enthousiasme.
lekker = bon (au goût). leuk = sympa, chouette. ✗ Deze soep is leuk (une soupe n'est pas « sympa »). Ik vind Sofie leuk peut vouloir dire « Sofie me plaît » : selon le contexte, préférez aardig (gentille).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les plus fréquents.
Ik hou van je est fort : on le dit à son ou sa partenaire, à ses enfants. Au bureau, Ik vind mijn collega's leuk / aardig. Pour le café, les trois phrases sont justes, avec une nuance : l'habitude, le goût en général, le goût de ce café-là. En Flandre, Ik zie je graag veut dire « je t'aime » (très courant).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graag pour accepter, demander et remercier.
Graag gedaan répond à un merci. Ja, graag! / Nee, dank je : accepter ou refuser poliment. En Belgique, on entend aussi Ik had graag een koffie (je voudrais), vu au M29.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graag dans les phrases à deux verbes et après une inversion.
graag se comporte comme niet : après le verbe conjugué et le sujet inversé, après les pronoms (dat, het, me…), avant les autres compléments et le 2e verbe. Ik heb dat graag gedaan = je l'ai fait avec plaisir.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graag et houden van.
Faites justifier avec l'aiguillage : activité (verbe d'action déjà présent) → graag ; nom seul → houden van.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graag et houden van.
Faites justifier avec l'aiguillage : activité (verbe d'action déjà présent) → graag ; nom seul → houden van.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graag, liever, het liefst.
N° 3 : chaque activité a son verbe (kijk tv, lees, wandel). Prolongement : En jij? Wat drink jij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Utiliser graag, liever, het liefst.
N° 3 : chaque activité a son verbe (kijk tv, lees, wandel). Prolongement : En jij? Wat drink jij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structure selon le sens.
N° 1 : Ik hou van koken est aussi correct, mais moins courant. N° 5 : Ik hou van chocolade est accepté.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structure selon le sens.
N° 1 : Ik hou van koken est aussi correct, mais moins courant. N° 5 : Ik hou van chocolade est accepté.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une présentation.
Leurre : Ik hou van mijn katten est correct. N° 5 : niet se place avant graag (diapo 8) ; on peut dire aussi Ik doe niet graag aan sport. En Flandre, on entend souvent Ik heb dat niet graag (= je n'aime pas ça) : courant à l'oral, mais en néerlandais standard on dit Ik sport niet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une présentation.
Leurre : Ik hou van mijn katten est correct. N° 5 : niet se place avant graag (diapo 8) ; on peut dire aussi Ik doe niet graag aan sport. En Flandre, on entend souvent Ik heb dat niet graag (= je n'aime pas ça) : courant à l'oral, mais en néerlandais standard on dit Ik sport niet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graag, liever et houden van dans la phrase.
Faites colorer le verbe conjugué en rouge et graag en vert, comme sur la diapo 12. N° 5 : la question commence par le verbe (M3). Acceptez aussi les inversions correctes : Dat heeft Karim graag gedaan. · Liever eten wij vis.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graag, liever et houden van dans la phrase.
Faites colorer le verbe conjugué en rouge et graag en vert, comme sur la diapo 12. N° 5 : la question commence par le verbe (M3). Acceptez aussi les inversions correctes : Dat heeft Karim graag gedaan. · Liever eten wij vis.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Poser des questions sur les goûts et répondre, en se déplaçant dans la classe.
Exigez la question complète, pas seulement le mot-clé. Pour van katten houdt : Hou je van katten? Pour het liefst fietst : Wat doe je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choisir une activité d'équipe en exprimant ses préférences.
het Zoniënwoud = la forêt de Soignes. À la fin, le groupe vote et justifie : We kiezen de kookworkshop, want we koken allemaal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Ik lees graag.
2. Ik hou van muziek.
3. Liever thee! (Graag thee! se comprend, mais on dit plutôt Thee, graag!)
Teaser M28 : Hij wast zich · Ze helpen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27 · Graag of houden van?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27 · Graag of houden van?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pn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pn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pn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27 / 29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Graag of houden van?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Dire ce qu’on aime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Ik zwem graag · Ik hou van de zee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rson swim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9144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zwem </a:t>
            </a:r>
            <a:r>
              <a:rPr lang="en-US" sz="2400" b="1" i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graag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beach with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909560" y="278892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</a:t>
            </a:r>
            <a:r>
              <a:rPr lang="en-US" sz="2400" b="1" i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hou van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de zee.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icy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Faire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ce que j’aime faire : </a:t>
            </a:r>
            <a:r>
              <a:rPr lang="en-US" sz="2000" i="1" dirty="0">
                <a:solidFill>
                  <a:schemeClr val="tx1"/>
                </a:solidFill>
              </a:rPr>
              <a:t>Ik fiets graag.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ea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Aimer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qui ou ce que j’aime : </a:t>
            </a:r>
            <a:r>
              <a:rPr lang="en-US" sz="2000" i="1" dirty="0">
                <a:solidFill>
                  <a:schemeClr val="tx1"/>
                </a:solidFill>
              </a:rPr>
              <a:t>Ik hou van muziek.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Nuancer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compare et je nuance : </a:t>
            </a:r>
            <a:r>
              <a:rPr lang="en-US" sz="2000" i="1" dirty="0">
                <a:solidFill>
                  <a:schemeClr val="tx1"/>
                </a:solidFill>
              </a:rPr>
              <a:t>Ik drink liever thee.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Parler de ses goûts : se présenter, faire connaissance, choisir une activité en équipe.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Wat doe je graag?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777240" cy="777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Karim</a:t>
            </a:r>
            <a:endParaRPr lang="en-US" sz="2200" dirty="0"/>
          </a:p>
        </p:txBody>
      </p:sp>
      <p:pic>
        <p:nvPicPr>
          <p:cNvPr id="8" name="Image 1" descr="co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34640"/>
            <a:ext cx="640080" cy="6400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kook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10" name="Image 2" descr="musical not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31920"/>
            <a:ext cx="640080" cy="64008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08760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Marokkaanse muziek.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4322064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944" y="1691640"/>
            <a:ext cx="777240" cy="7772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419344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Sofie</a:t>
            </a:r>
            <a:endParaRPr lang="en-US" sz="2200" dirty="0"/>
          </a:p>
        </p:txBody>
      </p:sp>
      <p:pic>
        <p:nvPicPr>
          <p:cNvPr id="15" name="Image 4" descr="person bik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4944" y="2834640"/>
            <a:ext cx="640080" cy="64008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282184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fiets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 naar het werk.</a:t>
            </a:r>
            <a:endParaRPr lang="en-US" sz="1700" dirty="0"/>
          </a:p>
        </p:txBody>
      </p:sp>
      <p:pic>
        <p:nvPicPr>
          <p:cNvPr id="17" name="Image 5" descr="beach with umbrell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4944" y="3931920"/>
            <a:ext cx="640080" cy="64008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5282184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de zee.</a:t>
            </a:r>
            <a:endParaRPr lang="en-US" sz="1700" dirty="0"/>
          </a:p>
        </p:txBody>
      </p:sp>
      <p:sp>
        <p:nvSpPr>
          <p:cNvPr id="19" name="Shape 10"/>
          <p:cNvSpPr/>
          <p:nvPr/>
        </p:nvSpPr>
        <p:spPr>
          <a:xfrm>
            <a:off x="8095488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0" name="Image 6" descr="woman red 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8368" y="1691640"/>
            <a:ext cx="777240" cy="777240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192768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Lotte</a:t>
            </a:r>
            <a:endParaRPr lang="en-US" sz="2200" dirty="0"/>
          </a:p>
        </p:txBody>
      </p:sp>
      <p:pic>
        <p:nvPicPr>
          <p:cNvPr id="22" name="Image 7" descr="open boo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8368" y="2834640"/>
            <a:ext cx="640080" cy="640080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9055608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lees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24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8368" y="3931920"/>
            <a:ext cx="640080" cy="640080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9055608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katten.</a:t>
            </a:r>
            <a:endParaRPr lang="en-US" sz="1700" dirty="0"/>
          </a:p>
        </p:txBody>
      </p:sp>
      <p:sp>
        <p:nvSpPr>
          <p:cNvPr id="26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7" name="Image 9" descr="thinking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Après </a:t>
            </a:r>
            <a:r>
              <a:rPr lang="en-US" sz="1800" i="1" dirty="0">
                <a:solidFill>
                  <a:schemeClr val="tx1"/>
                </a:solidFill>
              </a:rPr>
              <a:t>graag</a:t>
            </a:r>
            <a:r>
              <a:rPr lang="en-US" sz="1800" dirty="0">
                <a:solidFill>
                  <a:schemeClr val="tx1"/>
                </a:solidFill>
              </a:rPr>
              <a:t>, qu’est-ce qui vient ? Et après </a:t>
            </a:r>
            <a:r>
              <a:rPr lang="en-US" sz="1800" i="1" dirty="0">
                <a:solidFill>
                  <a:schemeClr val="tx1"/>
                </a:solidFill>
              </a:rPr>
              <a:t>houden van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Regardez le verbe… et le nom.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 + verbe : j’aime faire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634959" cy="68580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63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1275039" y="1645920"/>
            <a:ext cx="1359457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75039" y="164592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fiets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2725936" y="1645920"/>
            <a:ext cx="1551174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25936" y="1645920"/>
            <a:ext cx="15511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graag.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1148486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514600"/>
            <a:ext cx="114848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Sofie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1788566" y="2514600"/>
            <a:ext cx="1359457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788566" y="251460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leest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3239463" y="2514600"/>
            <a:ext cx="1359457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239463" y="251460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4690360" y="2514600"/>
            <a:ext cx="1490838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90360" y="2514600"/>
            <a:ext cx="14908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romans.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548640" y="3383280"/>
            <a:ext cx="634959" cy="68580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3383280"/>
            <a:ext cx="63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We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1275039" y="3383280"/>
            <a:ext cx="1167740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75039" y="3383280"/>
            <a:ext cx="1167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eten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2534219" y="3383280"/>
            <a:ext cx="1359457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534219" y="338328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3985116" y="3383280"/>
            <a:ext cx="2004365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985116" y="3383280"/>
            <a:ext cx="200436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Italiaans.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766560" y="1645920"/>
            <a:ext cx="4873752" cy="2423160"/>
          </a:xfrm>
          <a:prstGeom prst="roundRect">
            <a:avLst>
              <a:gd name="adj" fmla="val 3774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49440" y="1691640"/>
            <a:ext cx="45720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Questions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Wat </a:t>
            </a:r>
            <a:r>
              <a:rPr lang="en-US" sz="1800" b="1" i="1" dirty="0">
                <a:solidFill>
                  <a:schemeClr val="tx1"/>
                </a:solidFill>
              </a:rPr>
              <a:t>doe</a:t>
            </a:r>
            <a:r>
              <a:rPr lang="en-US" sz="1800" i="1" dirty="0">
                <a:solidFill>
                  <a:schemeClr val="tx1"/>
                </a:solidFill>
              </a:rPr>
              <a:t> je graag?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Speel</a:t>
            </a:r>
            <a:r>
              <a:rPr lang="en-US" sz="1800" i="1" dirty="0">
                <a:solidFill>
                  <a:schemeClr val="tx1"/>
                </a:solidFill>
              </a:rPr>
              <a:t> je graag tennis?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 je graag in het weekend?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429768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2976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Ik graag fiets</a:t>
            </a:r>
            <a:r>
              <a:rPr lang="en-US" sz="2000" dirty="0">
                <a:solidFill>
                  <a:schemeClr val="tx1"/>
                </a:solidFill>
              </a:rPr>
              <a:t> → ✓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fiets</a:t>
            </a:r>
            <a:r>
              <a:rPr lang="en-US" sz="2000" i="1" dirty="0">
                <a:solidFill>
                  <a:schemeClr val="tx1"/>
                </a:solidFill>
              </a:rPr>
              <a:t> graag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graag</a:t>
            </a:r>
            <a:r>
              <a:rPr lang="en-US" sz="2000" dirty="0">
                <a:solidFill>
                  <a:schemeClr val="tx1"/>
                </a:solidFill>
              </a:rPr>
              <a:t> vient </a:t>
            </a:r>
            <a:r>
              <a:rPr lang="en-US" sz="2000" b="1" dirty="0">
                <a:solidFill>
                  <a:schemeClr val="tx1"/>
                </a:solidFill>
              </a:rPr>
              <a:t>après</a:t>
            </a:r>
            <a:r>
              <a:rPr lang="en-US" sz="2000" dirty="0">
                <a:solidFill>
                  <a:schemeClr val="tx1"/>
                </a:solidFill>
              </a:rPr>
              <a:t> le verbe conjugué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349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graag</a:t>
            </a:r>
            <a:r>
              <a:rPr lang="en-US" sz="1800" dirty="0">
                <a:solidFill>
                  <a:schemeClr val="bg1"/>
                </a:solidFill>
              </a:rPr>
              <a:t> = « volontiers » : </a:t>
            </a:r>
            <a:r>
              <a:rPr lang="en-US" sz="1800" i="1" dirty="0">
                <a:solidFill>
                  <a:schemeClr val="bg1"/>
                </a:solidFill>
              </a:rPr>
              <a:t>Ik fiets graag</a:t>
            </a:r>
            <a:r>
              <a:rPr lang="en-US" sz="1800" dirty="0">
                <a:solidFill>
                  <a:schemeClr val="bg1"/>
                </a:solidFill>
              </a:rPr>
              <a:t> = je fais du vélo volontiers = j’aime faire du vélo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houden van : j’aime quelqu’un, quelque chose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usical no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" y="1783080"/>
            <a:ext cx="1005840" cy="1005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4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muziek.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292608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728" y="178308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01752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</a:t>
            </a:r>
            <a:r>
              <a:rPr lang="en-US" sz="1800" b="1" i="1" dirty="0">
                <a:solidFill>
                  <a:schemeClr val="accent4"/>
                </a:solidFill>
              </a:rPr>
              <a:t>houdt van</a:t>
            </a:r>
            <a:r>
              <a:rPr lang="en-US" sz="1800" i="1" dirty="0">
                <a:solidFill>
                  <a:schemeClr val="tx1"/>
                </a:solidFill>
              </a:rPr>
              <a:t> haar kinderen.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530352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beach with umbrell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168" y="1783080"/>
            <a:ext cx="1005840" cy="10058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39496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accent4"/>
                </a:solidFill>
              </a:rPr>
              <a:t>houden van</a:t>
            </a:r>
            <a:r>
              <a:rPr lang="en-US" sz="1800" i="1" dirty="0">
                <a:solidFill>
                  <a:schemeClr val="tx1"/>
                </a:solidFill>
              </a:rPr>
              <a:t> de zee.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7818120" y="1600200"/>
            <a:ext cx="3822192" cy="2651760"/>
          </a:xfrm>
          <a:prstGeom prst="roundRect">
            <a:avLst>
              <a:gd name="adj" fmla="val 3448"/>
            </a:avLst>
          </a:prstGeom>
          <a:solidFill>
            <a:srgbClr val="F6E3EE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8001000" y="1645920"/>
            <a:ext cx="3520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hou</a:t>
            </a:r>
            <a:r>
              <a:rPr lang="en-US" sz="1700" i="1" dirty="0">
                <a:solidFill>
                  <a:schemeClr val="tx1"/>
                </a:solidFill>
              </a:rPr>
              <a:t> / </a:t>
            </a:r>
            <a:r>
              <a:rPr lang="en-US" sz="1700" b="1" i="1" dirty="0">
                <a:solidFill>
                  <a:schemeClr val="tx1"/>
                </a:solidFill>
              </a:rPr>
              <a:t>houd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jij houdt · hij houdt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wij houden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Hou je van jazz?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— Ja, ik hou </a:t>
            </a:r>
            <a:r>
              <a:rPr lang="en-US" sz="1700" b="1" i="1" dirty="0">
                <a:solidFill>
                  <a:schemeClr val="tx1"/>
                </a:solidFill>
              </a:rPr>
              <a:t>ervan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r>
              <a:rPr lang="en-US" sz="1700" dirty="0">
                <a:solidFill>
                  <a:schemeClr val="tx1"/>
                </a:solidFill>
              </a:rPr>
              <a:t> (M23)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48640" y="4480560"/>
            <a:ext cx="11091672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777240" y="4480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Avec un pronom : </a:t>
            </a:r>
            <a:r>
              <a:rPr lang="en-US" sz="1800" i="1" dirty="0">
                <a:solidFill>
                  <a:schemeClr val="tx1"/>
                </a:solidFill>
              </a:rPr>
              <a:t>Ik hou van </a:t>
            </a:r>
            <a:r>
              <a:rPr lang="en-US" sz="1800" b="1" i="1" dirty="0">
                <a:solidFill>
                  <a:schemeClr val="tx1"/>
                </a:solidFill>
              </a:rPr>
              <a:t>hem</a:t>
            </a:r>
            <a:r>
              <a:rPr lang="en-US" sz="1800" i="1" dirty="0">
                <a:solidFill>
                  <a:schemeClr val="tx1"/>
                </a:solidFill>
              </a:rPr>
              <a:t> · van </a:t>
            </a:r>
            <a:r>
              <a:rPr lang="en-US" sz="1800" b="1" i="1" dirty="0">
                <a:solidFill>
                  <a:schemeClr val="tx1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· van </a:t>
            </a:r>
            <a:r>
              <a:rPr lang="en-US" sz="1800" b="1" i="1" dirty="0">
                <a:solidFill>
                  <a:schemeClr val="tx1"/>
                </a:solidFill>
              </a:rPr>
              <a:t>jou</a:t>
            </a:r>
            <a:r>
              <a:rPr lang="en-US" sz="1800" dirty="0">
                <a:solidFill>
                  <a:schemeClr val="tx1"/>
                </a:solidFill>
              </a:rPr>
              <a:t> — Question : </a:t>
            </a:r>
            <a:r>
              <a:rPr lang="en-US" sz="1800" i="1" dirty="0">
                <a:solidFill>
                  <a:schemeClr val="tx1"/>
                </a:solidFill>
              </a:rPr>
              <a:t>Waar hou je van?</a:t>
            </a:r>
            <a:r>
              <a:rPr lang="en-US" sz="1800" dirty="0">
                <a:solidFill>
                  <a:schemeClr val="tx1"/>
                </a:solidFill>
              </a:rPr>
              <a:t> (M23)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2296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houden van</a:t>
            </a:r>
            <a:r>
              <a:rPr lang="en-US" sz="1800" dirty="0">
                <a:solidFill>
                  <a:schemeClr val="bg1"/>
                </a:solidFill>
              </a:rPr>
              <a:t> = un attachement général ou fort : une personne, un lieu, un genre de musique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L’aiguillage du verbe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2331720"/>
            <a:ext cx="2194560" cy="182880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33172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« J’aime… »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 flipV="1">
            <a:off x="2761488" y="2148840"/>
            <a:ext cx="667512" cy="1097280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3474720" y="15544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74720" y="15544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66160" y="15544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UNE ACTIVITÉ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verbe + </a:t>
            </a:r>
            <a:r>
              <a:rPr lang="en-US" sz="1400" i="1" dirty="0">
                <a:solidFill>
                  <a:schemeClr val="bg1"/>
                </a:solidFill>
              </a:rPr>
              <a:t>graag</a:t>
            </a:r>
            <a:endParaRPr lang="en-US" sz="1400" dirty="0"/>
          </a:p>
        </p:txBody>
      </p:sp>
      <p:pic>
        <p:nvPicPr>
          <p:cNvPr id="11" name="Image 0" descr="person swim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92224"/>
            <a:ext cx="731520" cy="7315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23760" y="15544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nager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zwem </a:t>
            </a:r>
            <a:r>
              <a:rPr lang="en-US" sz="1800" b="1" i="1" dirty="0">
                <a:solidFill>
                  <a:schemeClr val="accent3"/>
                </a:solidFill>
              </a:rPr>
              <a:t>graag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2761488" y="3246120"/>
            <a:ext cx="667512" cy="274320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474720" y="29260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474720" y="29260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566160" y="29260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UNE PERSONNE, UNE CHOSE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houden van</a:t>
            </a:r>
            <a:r>
              <a:rPr lang="en-US" sz="1400" dirty="0">
                <a:solidFill>
                  <a:schemeClr val="bg1"/>
                </a:solidFill>
              </a:rPr>
              <a:t> + nom</a:t>
            </a:r>
            <a:endParaRPr lang="en-US" sz="1400" dirty="0"/>
          </a:p>
        </p:txBody>
      </p:sp>
      <p:pic>
        <p:nvPicPr>
          <p:cNvPr id="17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163824"/>
            <a:ext cx="731520" cy="7315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223760" y="29260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Bruxelles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4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Brussel.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2761488" y="3246120"/>
            <a:ext cx="667512" cy="1645920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3474720" y="42976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3474720" y="42976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566160" y="42976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 GOÛT, UNE IMPRESSION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lekker / leuk vinden</a:t>
            </a:r>
            <a:endParaRPr lang="en-US" sz="1400" dirty="0"/>
          </a:p>
        </p:txBody>
      </p:sp>
      <p:pic>
        <p:nvPicPr>
          <p:cNvPr id="23" name="Image 2" descr="face savoring foo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4535424"/>
            <a:ext cx="731520" cy="7315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223760" y="42976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cette soupe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1"/>
                </a:solidFill>
              </a:rPr>
              <a:t>vind</a:t>
            </a:r>
            <a:r>
              <a:rPr lang="en-US" sz="1800" i="1" dirty="0">
                <a:solidFill>
                  <a:schemeClr val="tx1"/>
                </a:solidFill>
              </a:rPr>
              <a:t> deze soep </a:t>
            </a:r>
            <a:r>
              <a:rPr lang="en-US" sz="1800" b="1" i="1" dirty="0">
                <a:solidFill>
                  <a:schemeClr val="accent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Qu’est-ce que j’aime ? </a:t>
            </a:r>
            <a:r>
              <a:rPr lang="en-US" sz="1700" b="1" dirty="0">
                <a:solidFill>
                  <a:schemeClr val="bg1"/>
                </a:solidFill>
              </a:rPr>
              <a:t>faire</a:t>
            </a:r>
            <a:r>
              <a:rPr lang="en-US" sz="1700" dirty="0">
                <a:solidFill>
                  <a:schemeClr val="bg1"/>
                </a:solidFill>
              </a:rPr>
              <a:t> quelque chose · </a:t>
            </a:r>
            <a:r>
              <a:rPr lang="en-US" sz="1700" b="1" dirty="0">
                <a:solidFill>
                  <a:schemeClr val="bg1"/>
                </a:solidFill>
              </a:rPr>
              <a:t>quelqu’un / une chose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b="1" dirty="0">
                <a:solidFill>
                  <a:schemeClr val="bg1"/>
                </a:solidFill>
              </a:rPr>
              <a:t>un goût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graag, liever, het liefst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3703320"/>
            <a:ext cx="2148840" cy="1188720"/>
          </a:xfrm>
          <a:prstGeom prst="roundRect">
            <a:avLst>
              <a:gd name="adj" fmla="val 307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37947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graag</a:t>
            </a:r>
            <a:endParaRPr lang="en-US" sz="2000" dirty="0"/>
          </a:p>
        </p:txBody>
      </p:sp>
      <p:pic>
        <p:nvPicPr>
          <p:cNvPr id="7" name="Image 0" descr="3rd place med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8780" y="4251960"/>
            <a:ext cx="457200" cy="457200"/>
          </a:xfrm>
          <a:prstGeom prst="rect">
            <a:avLst/>
          </a:prstGeom>
        </p:spPr>
      </p:pic>
      <p:pic>
        <p:nvPicPr>
          <p:cNvPr id="8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2788920"/>
            <a:ext cx="822960" cy="82296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3081528" y="2880360"/>
            <a:ext cx="2148840" cy="2011680"/>
          </a:xfrm>
          <a:prstGeom prst="roundRect">
            <a:avLst>
              <a:gd name="adj" fmla="val 181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3081528" y="29718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 liefst</a:t>
            </a:r>
            <a:endParaRPr lang="en-US" sz="2000" dirty="0"/>
          </a:p>
        </p:txBody>
      </p:sp>
      <p:pic>
        <p:nvPicPr>
          <p:cNvPr id="11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7348" y="3429000"/>
            <a:ext cx="457200" cy="457200"/>
          </a:xfrm>
          <a:prstGeom prst="rect">
            <a:avLst/>
          </a:prstGeom>
        </p:spPr>
      </p:pic>
      <p:pic>
        <p:nvPicPr>
          <p:cNvPr id="12" name="Image 3" descr="drop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4468" y="1965960"/>
            <a:ext cx="822960" cy="822960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5340096" y="3291840"/>
            <a:ext cx="2148840" cy="1600200"/>
          </a:xfrm>
          <a:prstGeom prst="roundRect">
            <a:avLst>
              <a:gd name="adj" fmla="val 2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5340096" y="33832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liever</a:t>
            </a:r>
            <a:endParaRPr lang="en-US" sz="2000" dirty="0"/>
          </a:p>
        </p:txBody>
      </p:sp>
      <p:pic>
        <p:nvPicPr>
          <p:cNvPr id="15" name="Image 4" descr="2n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5916" y="3840480"/>
            <a:ext cx="457200" cy="457200"/>
          </a:xfrm>
          <a:prstGeom prst="rect">
            <a:avLst/>
          </a:prstGeom>
        </p:spPr>
      </p:pic>
      <p:pic>
        <p:nvPicPr>
          <p:cNvPr id="16" name="Image 5" descr="teacup without hand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3036" y="2377440"/>
            <a:ext cx="822960" cy="82296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7680960" y="182880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koffie.</a:t>
            </a:r>
            <a:endParaRPr lang="en-US" sz="2000" dirty="0"/>
          </a:p>
        </p:txBody>
      </p:sp>
      <p:sp>
        <p:nvSpPr>
          <p:cNvPr id="18" name="Text 9"/>
          <p:cNvSpPr txBox="1"/>
          <p:nvPr/>
        </p:nvSpPr>
        <p:spPr>
          <a:xfrm>
            <a:off x="7680960" y="260604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liever</a:t>
            </a:r>
            <a:r>
              <a:rPr lang="en-US" sz="2000" i="1" dirty="0">
                <a:solidFill>
                  <a:schemeClr val="tx1"/>
                </a:solidFill>
              </a:rPr>
              <a:t> thee.</a:t>
            </a:r>
            <a:endParaRPr lang="en-US" sz="2000" dirty="0"/>
          </a:p>
        </p:txBody>
      </p:sp>
      <p:sp>
        <p:nvSpPr>
          <p:cNvPr id="19" name="Text 10"/>
          <p:cNvSpPr txBox="1"/>
          <p:nvPr/>
        </p:nvSpPr>
        <p:spPr>
          <a:xfrm>
            <a:off x="7680960" y="338328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het liefst</a:t>
            </a:r>
            <a:r>
              <a:rPr lang="en-US" sz="2000" i="1" dirty="0">
                <a:solidFill>
                  <a:schemeClr val="tx1"/>
                </a:solidFill>
              </a:rPr>
              <a:t> water.</a:t>
            </a:r>
            <a:endParaRPr lang="en-US" sz="2000" dirty="0"/>
          </a:p>
        </p:txBody>
      </p:sp>
      <p:sp>
        <p:nvSpPr>
          <p:cNvPr id="20" name="Shape 11"/>
          <p:cNvSpPr/>
          <p:nvPr/>
        </p:nvSpPr>
        <p:spPr>
          <a:xfrm>
            <a:off x="7680960" y="4251960"/>
            <a:ext cx="3959352" cy="68580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2"/>
          <p:cNvSpPr txBox="1"/>
          <p:nvPr/>
        </p:nvSpPr>
        <p:spPr>
          <a:xfrm>
            <a:off x="7818120" y="4251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Koffie of thee? — </a:t>
            </a:r>
            <a:r>
              <a:rPr lang="en-US" sz="1700" b="1" i="1" dirty="0">
                <a:solidFill>
                  <a:schemeClr val="tx1"/>
                </a:solidFill>
              </a:rPr>
              <a:t>Liever</a:t>
            </a:r>
            <a:r>
              <a:rPr lang="en-US" sz="1700" i="1" dirty="0">
                <a:solidFill>
                  <a:schemeClr val="tx1"/>
                </a:solidFill>
              </a:rPr>
              <a:t> thee, graag!</a:t>
            </a:r>
            <a:endParaRPr lang="en-US" sz="1700" dirty="0"/>
          </a:p>
        </p:txBody>
      </p:sp>
      <p:sp>
        <p:nvSpPr>
          <p:cNvPr id="22" name="Shape 13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Irrégulier, comme </a:t>
            </a:r>
            <a:r>
              <a:rPr lang="en-US" sz="1600" i="1" dirty="0">
                <a:solidFill>
                  <a:schemeClr val="bg1"/>
                </a:solidFill>
              </a:rPr>
              <a:t>goed → beter → best</a:t>
            </a:r>
            <a:r>
              <a:rPr lang="en-US" sz="1600" dirty="0">
                <a:solidFill>
                  <a:schemeClr val="bg1"/>
                </a:solidFill>
              </a:rPr>
              <a:t> (M21) · </a:t>
            </a:r>
            <a:r>
              <a:rPr lang="en-US" sz="1600" i="1" dirty="0">
                <a:solidFill>
                  <a:schemeClr val="bg1"/>
                </a:solidFill>
              </a:rPr>
              <a:t>Ik werk liever ’s ochtends dan ’s avonds.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graag, niet houden van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ACTIVITÉ</a:t>
            </a:r>
            <a:endParaRPr lang="en-US" sz="1600" dirty="0"/>
          </a:p>
        </p:txBody>
      </p:sp>
      <p:pic>
        <p:nvPicPr>
          <p:cNvPr id="8" name="Image 0" descr="persever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7488" y="2240280"/>
            <a:ext cx="685800" cy="6858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148840"/>
            <a:ext cx="4133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b="1" i="1" dirty="0">
                <a:solidFill>
                  <a:schemeClr val="tx1"/>
                </a:solidFill>
              </a:rPr>
              <a:t> graag</a:t>
            </a:r>
            <a:r>
              <a:rPr lang="en-US" sz="2000" i="1" dirty="0">
                <a:solidFill>
                  <a:schemeClr val="tx1"/>
                </a:solidFill>
              </a:rPr>
              <a:t> op zaterdag.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sta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b="1" i="1" dirty="0">
                <a:solidFill>
                  <a:schemeClr val="tx1"/>
                </a:solidFill>
              </a:rPr>
              <a:t> graag</a:t>
            </a:r>
            <a:r>
              <a:rPr lang="en-US" sz="2000" i="1" dirty="0">
                <a:solidFill>
                  <a:schemeClr val="tx1"/>
                </a:solidFill>
              </a:rPr>
              <a:t> vroeg op.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227064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09944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PERSONNE, CHOSE</a:t>
            </a:r>
            <a:endParaRPr lang="en-US" sz="1600" dirty="0"/>
          </a:p>
        </p:txBody>
      </p:sp>
      <p:pic>
        <p:nvPicPr>
          <p:cNvPr id="13" name="Image 1" descr="unamused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912" y="2240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55664" y="2148840"/>
            <a:ext cx="4133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hou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van spinnen.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hou </a:t>
            </a:r>
            <a:r>
              <a:rPr lang="en-US" sz="2000" b="1" i="1" dirty="0">
                <a:solidFill>
                  <a:schemeClr val="accent6"/>
                </a:solidFill>
              </a:rPr>
              <a:t>helemaal niet</a:t>
            </a:r>
            <a:r>
              <a:rPr lang="en-US" sz="2000" i="1" dirty="0">
                <a:solidFill>
                  <a:schemeClr val="tx1"/>
                </a:solidFill>
              </a:rPr>
              <a:t> van regen.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48640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helemaal niet graag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2781605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E8A09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781605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niet graag</a:t>
            </a:r>
            <a:endParaRPr lang="en-US" sz="1700" dirty="0"/>
          </a:p>
        </p:txBody>
      </p:sp>
      <p:sp>
        <p:nvSpPr>
          <p:cNvPr id="19" name="Shape 14"/>
          <p:cNvSpPr/>
          <p:nvPr/>
        </p:nvSpPr>
        <p:spPr>
          <a:xfrm>
            <a:off x="5014570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014570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graag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7247534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1F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247534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liever</a:t>
            </a:r>
            <a:endParaRPr lang="en-US" sz="1700" dirty="0"/>
          </a:p>
        </p:txBody>
      </p:sp>
      <p:sp>
        <p:nvSpPr>
          <p:cNvPr id="23" name="Shape 18"/>
          <p:cNvSpPr/>
          <p:nvPr/>
        </p:nvSpPr>
        <p:spPr>
          <a:xfrm>
            <a:off x="9480499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480499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het liefst</a:t>
            </a:r>
            <a:endParaRPr lang="en-US" sz="1700" dirty="0"/>
          </a:p>
        </p:txBody>
      </p:sp>
      <p:sp>
        <p:nvSpPr>
          <p:cNvPr id="25" name="Text 20"/>
          <p:cNvSpPr txBox="1"/>
          <p:nvPr/>
        </p:nvSpPr>
        <p:spPr>
          <a:xfrm>
            <a:off x="548640" y="4846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◀ je n’aime pas                                                                     j’aime le plus ▶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548640" y="539496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39496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se place juste </a:t>
            </a:r>
            <a:r>
              <a:rPr lang="en-US" sz="1800" b="1" dirty="0">
                <a:solidFill>
                  <a:schemeClr val="bg1"/>
                </a:solidFill>
              </a:rPr>
              <a:t>avant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i="1" dirty="0">
                <a:solidFill>
                  <a:schemeClr val="bg1"/>
                </a:solidFill>
              </a:rPr>
              <a:t>graag</a:t>
            </a:r>
            <a:r>
              <a:rPr lang="en-US" sz="1800" dirty="0">
                <a:solidFill>
                  <a:schemeClr val="bg1"/>
                </a:solidFill>
              </a:rPr>
              <a:t> (M13) · avec </a:t>
            </a:r>
            <a:r>
              <a:rPr lang="en-US" sz="1800" i="1" dirty="0">
                <a:solidFill>
                  <a:schemeClr val="bg1"/>
                </a:solidFill>
              </a:rPr>
              <a:t>houden van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avant la préposition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lekker, leuk vinden et dol zijn op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ork and knife with pl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3852" y="1783080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1"/>
                </a:solidFill>
              </a:rPr>
              <a:t>lekker vinden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nourriture, boisson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vind deze soep </a:t>
            </a:r>
            <a:r>
              <a:rPr lang="en-US" sz="1700" b="1" i="1" dirty="0">
                <a:solidFill>
                  <a:schemeClr val="accent1"/>
                </a:solidFill>
              </a:rPr>
              <a:t>lekker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4322064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admission ticke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6" y="1783080"/>
            <a:ext cx="914400" cy="914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459224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2"/>
                </a:solidFill>
              </a:rPr>
              <a:t>leuk vinden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4459224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activité, film, personne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459224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vind voetbal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. · Ik vind Sofie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8095488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smiling face with hear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0700" y="1783080"/>
            <a:ext cx="914400" cy="914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232648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4"/>
                </a:solidFill>
              </a:rPr>
              <a:t>dol zijn op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8232648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adorer (aussi : </a:t>
            </a:r>
            <a:r>
              <a:rPr lang="en-US" sz="1400" i="1" dirty="0">
                <a:solidFill>
                  <a:schemeClr val="accent5"/>
                </a:solidFill>
              </a:rPr>
              <a:t>gek zijn op</a:t>
            </a:r>
            <a:r>
              <a:rPr lang="en-US" sz="1400" i="1" dirty="0">
                <a:solidFill>
                  <a:schemeClr val="accent5"/>
                </a:solidFill>
              </a:rPr>
              <a:t>)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232648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</a:t>
            </a:r>
            <a:r>
              <a:rPr lang="en-US" sz="1700" b="1" i="1" dirty="0">
                <a:solidFill>
                  <a:schemeClr val="accent4"/>
                </a:solidFill>
              </a:rPr>
              <a:t>dol op</a:t>
            </a:r>
            <a:r>
              <a:rPr lang="en-US" sz="1700" i="1" dirty="0">
                <a:solidFill>
                  <a:schemeClr val="tx1"/>
                </a:solidFill>
              </a:rPr>
              <a:t> chocolade.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548640" y="5074920"/>
            <a:ext cx="11091672" cy="594360"/>
          </a:xfrm>
          <a:prstGeom prst="roundRect">
            <a:avLst>
              <a:gd name="adj" fmla="val 1538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07492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strike="sngStrike" dirty="0">
                <a:solidFill>
                  <a:schemeClr val="accent6"/>
                </a:solidFill>
              </a:rPr>
              <a:t>Deze soep is leuk</a:t>
            </a:r>
            <a:r>
              <a:rPr lang="en-US" sz="1800" dirty="0">
                <a:solidFill>
                  <a:schemeClr val="tx1"/>
                </a:solidFill>
              </a:rPr>
              <a:t> : une soupe n’est pas « sympa » → </a:t>
            </a:r>
            <a:r>
              <a:rPr lang="en-US" sz="1800" i="1" dirty="0">
                <a:solidFill>
                  <a:schemeClr val="tx1"/>
                </a:solidFill>
              </a:rPr>
              <a:t>Deze soep is </a:t>
            </a:r>
            <a:r>
              <a:rPr lang="en-US" sz="1800" b="1" i="1" dirty="0">
                <a:solidFill>
                  <a:schemeClr val="tx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Ik vind Sofie leuk</a:t>
            </a:r>
            <a:r>
              <a:rPr lang="en-US" sz="1500" i="1" dirty="0">
                <a:solidFill>
                  <a:schemeClr val="accent5"/>
                </a:solidFill>
              </a:rPr>
              <a:t> peut vouloir dire « Sofie me plaît » : au bureau, préférez </a:t>
            </a:r>
            <a:r>
              <a:rPr lang="en-US" sz="1500" i="1" dirty="0">
                <a:solidFill>
                  <a:schemeClr val="accent5"/>
                </a:solidFill>
              </a:rPr>
              <a:t>aardig</a:t>
            </a:r>
            <a:r>
              <a:rPr lang="en-US" sz="1500" i="1" dirty="0">
                <a:solidFill>
                  <a:schemeClr val="accent5"/>
                </a:solidFill>
              </a:rPr>
              <a:t> (gentille).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un seul « aimer » en français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 nager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21031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graag zwem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46520" y="24048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6812280" y="21396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49440" y="21396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zwem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 le café »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446520" y="30906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812280" y="28254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49440" y="28254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✓ </a:t>
            </a:r>
            <a:r>
              <a:rPr lang="en-US" sz="1500" i="1" dirty="0">
                <a:solidFill>
                  <a:schemeClr val="tx1"/>
                </a:solidFill>
              </a:rPr>
              <a:t>Ik drink graag koffie · Ik hou van koffie · Ik vind koffie lekker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4747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t’aime »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446520" y="37764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812280" y="35112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49440" y="35112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je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1605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t’aime bien »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41605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hou van je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446520" y="44622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812280" y="41970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949440" y="41970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vind je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 / </a:t>
            </a:r>
            <a:r>
              <a:rPr lang="en-US" sz="1700" b="1" i="1" dirty="0">
                <a:solidFill>
                  <a:schemeClr val="accent1"/>
                </a:solidFill>
              </a:rPr>
              <a:t>aardig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868680" y="48463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J’aimerais un café »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446520" y="51480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812280" y="48828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49440" y="48828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wil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 een koffie (M29)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hou van je</a:t>
            </a:r>
            <a:r>
              <a:rPr lang="en-US" sz="1700" dirty="0">
                <a:solidFill>
                  <a:schemeClr val="bg1"/>
                </a:solidFill>
              </a:rPr>
              <a:t> est fort (partenaire, enfants). Au bureau : </a:t>
            </a:r>
            <a:r>
              <a:rPr lang="en-US" sz="1700" i="1" dirty="0">
                <a:solidFill>
                  <a:schemeClr val="bg1"/>
                </a:solidFill>
              </a:rPr>
              <a:t>Ik vind mijn collega’s leuk / aardig.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 dans la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person tipp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66928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234440" y="1554480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399032" y="155448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Wat mag het zijn?</a:t>
            </a:r>
            <a:endParaRPr lang="en-US" sz="1600" dirty="0"/>
          </a:p>
        </p:txBody>
      </p:sp>
      <p:pic>
        <p:nvPicPr>
          <p:cNvPr id="8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212848"/>
            <a:ext cx="566928" cy="56692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737360" y="2212848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901952" y="2212848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Ik wil </a:t>
            </a:r>
            <a:r>
              <a:rPr lang="en-US" sz="1600" b="1" i="1" dirty="0">
                <a:solidFill>
                  <a:schemeClr val="accent3"/>
                </a:solidFill>
              </a:rPr>
              <a:t>graag</a:t>
            </a:r>
            <a:r>
              <a:rPr lang="en-US" sz="1600" i="1" dirty="0">
                <a:solidFill>
                  <a:schemeClr val="tx1"/>
                </a:solidFill>
              </a:rPr>
              <a:t> een koffie.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7680960" y="2212848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je voudrais</a:t>
            </a:r>
            <a:endParaRPr lang="en-US" sz="1500" dirty="0"/>
          </a:p>
        </p:txBody>
      </p:sp>
      <p:pic>
        <p:nvPicPr>
          <p:cNvPr id="12" name="Image 2" descr="person tipp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71216"/>
            <a:ext cx="566928" cy="566928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234440" y="2871216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399032" y="2871216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Met melk?</a:t>
            </a:r>
            <a:endParaRPr lang="en-US" sz="1600" dirty="0"/>
          </a:p>
        </p:txBody>
      </p:sp>
      <p:pic>
        <p:nvPicPr>
          <p:cNvPr id="15" name="Image 3" descr="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3529584"/>
            <a:ext cx="566928" cy="566928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1737360" y="3529584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1901952" y="3529584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</a:t>
            </a:r>
            <a:r>
              <a:rPr lang="en-US" sz="1600" b="1" i="1" dirty="0">
                <a:solidFill>
                  <a:schemeClr val="accent3"/>
                </a:solidFill>
              </a:rPr>
              <a:t>graag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7680960" y="3529584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oui, volontiers</a:t>
            </a:r>
            <a:endParaRPr lang="en-US" sz="1500" dirty="0"/>
          </a:p>
        </p:txBody>
      </p:sp>
      <p:pic>
        <p:nvPicPr>
          <p:cNvPr id="19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4187952"/>
            <a:ext cx="566928" cy="566928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737360" y="4187952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901952" y="4187952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u wel!</a:t>
            </a:r>
            <a:endParaRPr lang="en-US" sz="1600" dirty="0"/>
          </a:p>
        </p:txBody>
      </p:sp>
      <p:pic>
        <p:nvPicPr>
          <p:cNvPr id="22" name="Image 5" descr="person tipping han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846320"/>
            <a:ext cx="566928" cy="566928"/>
          </a:xfrm>
          <a:prstGeom prst="rect">
            <a:avLst/>
          </a:prstGeom>
        </p:spPr>
      </p:pic>
      <p:sp>
        <p:nvSpPr>
          <p:cNvPr id="23" name="Shape 14"/>
          <p:cNvSpPr/>
          <p:nvPr/>
        </p:nvSpPr>
        <p:spPr>
          <a:xfrm>
            <a:off x="1234440" y="4846320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1399032" y="484632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Graag gedaan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25" name="Text 16"/>
          <p:cNvSpPr txBox="1"/>
          <p:nvPr/>
        </p:nvSpPr>
        <p:spPr>
          <a:xfrm>
            <a:off x="7680960" y="4846320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avec plaisir / de rien</a:t>
            </a:r>
            <a:endParaRPr lang="en-US" sz="1500" dirty="0"/>
          </a:p>
        </p:txBody>
      </p:sp>
      <p:pic>
        <p:nvPicPr>
          <p:cNvPr id="26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600200"/>
            <a:ext cx="914400" cy="914400"/>
          </a:xfrm>
          <a:prstGeom prst="rect">
            <a:avLst/>
          </a:prstGeom>
        </p:spPr>
      </p:pic>
      <p:sp>
        <p:nvSpPr>
          <p:cNvPr id="27" name="Shape 17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8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Belgique : on entend aussi </a:t>
            </a:r>
            <a:r>
              <a:rPr lang="en-US" sz="1800" i="1" dirty="0">
                <a:solidFill>
                  <a:schemeClr val="bg1"/>
                </a:solidFill>
              </a:rPr>
              <a:t>Ik had graag een koffie</a:t>
            </a:r>
            <a:r>
              <a:rPr lang="en-US" sz="1800" dirty="0">
                <a:solidFill>
                  <a:schemeClr val="bg1"/>
                </a:solidFill>
              </a:rPr>
              <a:t> (je voudrais) — voir M29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 graag dans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232245" y="1600200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32245" y="160020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2227815" y="1600200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227815" y="1600200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3558889" y="1600200"/>
            <a:ext cx="1790395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58889" y="1600200"/>
            <a:ext cx="1790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een koffie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440724" y="1600200"/>
            <a:ext cx="2078395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5440724" y="1600200"/>
            <a:ext cx="2078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bestellen.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1232245" y="2350008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32245" y="2350008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heb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2227815" y="2350008"/>
            <a:ext cx="74194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227815" y="2350008"/>
            <a:ext cx="741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dat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3061199" y="2350008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061199" y="2350008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4392273" y="2350008"/>
            <a:ext cx="157513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4" name="Text 21"/>
          <p:cNvSpPr txBox="1"/>
          <p:nvPr/>
        </p:nvSpPr>
        <p:spPr>
          <a:xfrm>
            <a:off x="4392273" y="2350008"/>
            <a:ext cx="157513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gedaan.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548640" y="3099816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099816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1232245" y="3099816"/>
            <a:ext cx="736377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232245" y="3099816"/>
            <a:ext cx="73637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ga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2060063" y="3099816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60063" y="3099816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3391137" y="3099816"/>
            <a:ext cx="2239731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391137" y="3099816"/>
            <a:ext cx="223973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naar de film.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548640" y="3849624"/>
            <a:ext cx="238951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48640" y="3849624"/>
            <a:ext cx="23895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In het weekend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3029590" y="3849624"/>
            <a:ext cx="1239634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029590" y="3849624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fiets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4360664" y="3849624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360664" y="3849624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5044269" y="3849624"/>
            <a:ext cx="1407386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044269" y="3849624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graag.</a:t>
            </a:r>
            <a:endParaRPr lang="en-US" sz="2100" dirty="0"/>
          </a:p>
        </p:txBody>
      </p:sp>
      <p:sp>
        <p:nvSpPr>
          <p:cNvPr id="41" name="Shape 38"/>
          <p:cNvSpPr/>
          <p:nvPr/>
        </p:nvSpPr>
        <p:spPr>
          <a:xfrm>
            <a:off x="548640" y="4599432"/>
            <a:ext cx="1490838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48640" y="4599432"/>
            <a:ext cx="149083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…, omdat</a:t>
            </a:r>
            <a:endParaRPr lang="en-US" sz="2100" dirty="0"/>
          </a:p>
        </p:txBody>
      </p:sp>
      <p:sp>
        <p:nvSpPr>
          <p:cNvPr id="43" name="Shape 40"/>
          <p:cNvSpPr/>
          <p:nvPr/>
        </p:nvSpPr>
        <p:spPr>
          <a:xfrm>
            <a:off x="2130918" y="4599432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130918" y="4599432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2814523" y="4599432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814523" y="4599432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47" name="Shape 44"/>
          <p:cNvSpPr/>
          <p:nvPr/>
        </p:nvSpPr>
        <p:spPr>
          <a:xfrm>
            <a:off x="4145597" y="4599432"/>
            <a:ext cx="1407386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145597" y="4599432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fiets.</a:t>
            </a:r>
            <a:endParaRPr lang="en-US" sz="2100" dirty="0"/>
          </a:p>
        </p:txBody>
      </p:sp>
      <p:sp>
        <p:nvSpPr>
          <p:cNvPr id="49" name="Shape 46"/>
          <p:cNvSpPr/>
          <p:nvPr/>
        </p:nvSpPr>
        <p:spPr>
          <a:xfrm>
            <a:off x="8503920" y="1600200"/>
            <a:ext cx="3136392" cy="3602736"/>
          </a:xfrm>
          <a:prstGeom prst="roundRect">
            <a:avLst>
              <a:gd name="adj" fmla="val 2915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641080" y="1691640"/>
            <a:ext cx="2880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Comme </a:t>
            </a:r>
            <a:r>
              <a:rPr lang="en-US" sz="1500" b="1" i="1" dirty="0">
                <a:solidFill>
                  <a:schemeClr val="tx1"/>
                </a:solidFill>
              </a:rPr>
              <a:t>niet</a:t>
            </a:r>
            <a:r>
              <a:rPr lang="en-US" sz="1500" dirty="0">
                <a:solidFill>
                  <a:schemeClr val="tx1"/>
                </a:solidFill>
              </a:rPr>
              <a:t> (M13)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 verbe conjugué (et le sujet inversé)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les pronoms (</a:t>
            </a:r>
            <a:r>
              <a:rPr lang="en-US" sz="1500" i="1" dirty="0">
                <a:solidFill>
                  <a:schemeClr val="tx1"/>
                </a:solidFill>
              </a:rPr>
              <a:t>dat, het, me</a:t>
            </a:r>
            <a:r>
              <a:rPr lang="en-US" sz="1500" dirty="0">
                <a:solidFill>
                  <a:schemeClr val="tx1"/>
                </a:solidFill>
              </a:rPr>
              <a:t>), avant les autres compléments et le 2ᵉ verbe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dat graag gedaan</a:t>
            </a:r>
            <a:r>
              <a:rPr lang="en-US" sz="1500" dirty="0">
                <a:solidFill>
                  <a:schemeClr val="tx1"/>
                </a:solidFill>
              </a:rPr>
              <a:t> = je l’ai fait avec plaisir</a:t>
            </a:r>
            <a:endParaRPr lang="en-US" sz="1500" dirty="0"/>
          </a:p>
        </p:txBody>
      </p:sp>
      <p:sp>
        <p:nvSpPr>
          <p:cNvPr id="51" name="Shape 48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Subordonnée : </a:t>
            </a:r>
            <a:r>
              <a:rPr lang="en-US" sz="1700" i="1" dirty="0">
                <a:solidFill>
                  <a:schemeClr val="bg1"/>
                </a:solidFill>
              </a:rPr>
              <a:t>graag</a:t>
            </a:r>
            <a:r>
              <a:rPr lang="en-US" sz="1700" dirty="0">
                <a:solidFill>
                  <a:schemeClr val="bg1"/>
                </a:solidFill>
              </a:rPr>
              <a:t> reste devant le verbe, qui part à la fin (M9) : </a:t>
            </a:r>
            <a:r>
              <a:rPr lang="en-US" sz="1700" i="1" dirty="0">
                <a:solidFill>
                  <a:schemeClr val="bg1"/>
                </a:solidFill>
              </a:rPr>
              <a:t>…, omdat ik graag fiets.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l’aiguillage du verbe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ACTIVITÉ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verbe + </a:t>
            </a: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lees </a:t>
            </a:r>
            <a:r>
              <a:rPr lang="en-US" sz="1800" b="1" i="1" dirty="0">
                <a:solidFill>
                  <a:schemeClr val="tx1"/>
                </a:solidFill>
              </a:rPr>
              <a:t>graag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322064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22064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22064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PERSONNE / CHOSE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459224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houden van</a:t>
            </a:r>
            <a:r>
              <a:rPr lang="en-US" sz="1800" dirty="0">
                <a:solidFill>
                  <a:schemeClr val="tx1"/>
                </a:solidFill>
              </a:rPr>
              <a:t> + nom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muziek.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095488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095488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95488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GOÛT / IMPRESSION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232648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lekker / leuk vinden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vind de soep </a:t>
            </a:r>
            <a:r>
              <a:rPr lang="en-US" sz="1800" b="1" i="1" dirty="0">
                <a:solidFill>
                  <a:schemeClr val="tx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niet graag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3346704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35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46704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144768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50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144768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liever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8942832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65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42832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het liefst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41148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+ </a:t>
            </a:r>
            <a:r>
              <a:rPr lang="en-US" sz="1500" i="1" dirty="0">
                <a:solidFill>
                  <a:schemeClr val="accent5"/>
                </a:solidFill>
              </a:rPr>
              <a:t>dol zijn op</a:t>
            </a:r>
            <a:r>
              <a:rPr lang="en-US" sz="1500" i="1" dirty="0">
                <a:solidFill>
                  <a:schemeClr val="accent5"/>
                </a:solidFill>
              </a:rPr>
              <a:t> (adorer)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548640" y="461772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46177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Politesse : </a:t>
            </a:r>
            <a:r>
              <a:rPr lang="en-US" sz="1900" i="1" dirty="0">
                <a:solidFill>
                  <a:schemeClr val="tx1"/>
                </a:solidFill>
              </a:rPr>
              <a:t>Ja, graag! · Graag gedaan! · Ik wil graag…</a:t>
            </a:r>
            <a:r>
              <a:rPr lang="en-US" sz="1900" dirty="0">
                <a:solidFill>
                  <a:schemeClr val="tx1"/>
                </a:solidFill>
              </a:rPr>
              <a:t> · Place : comme </a:t>
            </a:r>
            <a:r>
              <a:rPr lang="en-US" sz="1900" i="1" dirty="0">
                <a:solidFill>
                  <a:schemeClr val="tx1"/>
                </a:solidFill>
              </a:rPr>
              <a:t>niet</a:t>
            </a:r>
            <a:endParaRPr lang="en-US" sz="1900" dirty="0"/>
          </a:p>
        </p:txBody>
      </p:sp>
      <p:pic>
        <p:nvPicPr>
          <p:cNvPr id="28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graag ou houden van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Troph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podium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Traduisez « aimer »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stO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Remettez en ordre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User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Zoek iemand die…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GlassCheer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sortie d’équipe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graag ou houden van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houden van</a:t>
            </a:r>
            <a:r>
              <a:rPr lang="en-US" sz="1700" i="1" dirty="0">
                <a:solidFill>
                  <a:schemeClr val="accent5"/>
                </a:solidFill>
              </a:rPr>
              <a:t> (conjugué). Activité ou nom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pic>
        <p:nvPicPr>
          <p:cNvPr id="10" name="Image 1" descr="open b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02942"/>
            <a:ext cx="548640" cy="5486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91640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lees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2" name="Shape 7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pic>
        <p:nvPicPr>
          <p:cNvPr id="14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292602"/>
            <a:ext cx="548640" cy="54864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691640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Brussel.</a:t>
            </a:r>
            <a:endParaRPr lang="en-US" sz="2000" dirty="0"/>
          </a:p>
        </p:txBody>
      </p:sp>
      <p:sp>
        <p:nvSpPr>
          <p:cNvPr id="16" name="Shape 10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pic>
        <p:nvPicPr>
          <p:cNvPr id="18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382262"/>
            <a:ext cx="548640" cy="54864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1640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Karim kookt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voor zijn vrienden.</a:t>
            </a:r>
            <a:endParaRPr lang="en-US" sz="2000" dirty="0"/>
          </a:p>
        </p:txBody>
      </p:sp>
      <p:sp>
        <p:nvSpPr>
          <p:cNvPr id="20" name="Shape 13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pic>
        <p:nvPicPr>
          <p:cNvPr id="22" name="Image 4" descr="people hugg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5471922"/>
            <a:ext cx="548640" cy="54864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91640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Sofie </a:t>
            </a:r>
            <a:r>
              <a:rPr lang="en-US" sz="2000" i="1" dirty="0">
                <a:solidFill>
                  <a:schemeClr val="accent5"/>
                </a:solidFill>
              </a:rPr>
              <a:t>……………</a:t>
            </a:r>
            <a:r>
              <a:rPr lang="en-US" sz="2000" i="1" dirty="0">
                <a:solidFill>
                  <a:schemeClr val="tx1"/>
                </a:solidFill>
              </a:rPr>
              <a:t> haar kinderen.</a:t>
            </a:r>
            <a:endParaRPr lang="en-US" sz="2000" dirty="0"/>
          </a:p>
        </p:txBody>
      </p:sp>
      <p:sp>
        <p:nvSpPr>
          <p:cNvPr id="24" name="Shape 16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pic>
        <p:nvPicPr>
          <p:cNvPr id="26" name="Image 5" descr="evergreen tre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8836" y="2202942"/>
            <a:ext cx="548640" cy="54864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374636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wandelen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in het bos.</a:t>
            </a:r>
            <a:endParaRPr lang="en-US" sz="2000" dirty="0"/>
          </a:p>
        </p:txBody>
      </p:sp>
      <p:sp>
        <p:nvSpPr>
          <p:cNvPr id="28" name="Shape 19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pic>
        <p:nvPicPr>
          <p:cNvPr id="30" name="Image 6" descr="musical not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8836" y="3292602"/>
            <a:ext cx="548640" cy="54864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374636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jij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jazz?</a:t>
            </a:r>
            <a:endParaRPr lang="en-US" sz="2000" dirty="0"/>
          </a:p>
        </p:txBody>
      </p:sp>
      <p:sp>
        <p:nvSpPr>
          <p:cNvPr id="32" name="Shape 22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pic>
        <p:nvPicPr>
          <p:cNvPr id="34" name="Image 7" descr="musical keyboar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8836" y="4382262"/>
            <a:ext cx="548640" cy="548640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7374636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Lotte speelt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piano.</a:t>
            </a:r>
            <a:endParaRPr lang="en-US" sz="2000" dirty="0"/>
          </a:p>
        </p:txBody>
      </p:sp>
      <p:sp>
        <p:nvSpPr>
          <p:cNvPr id="36" name="Shape 25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7" name="Text 26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pic>
        <p:nvPicPr>
          <p:cNvPr id="38" name="Image 8" descr="su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8836" y="5471922"/>
            <a:ext cx="548640" cy="54864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7374636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de zomer.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graag ou houden van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houden van</a:t>
            </a:r>
            <a:r>
              <a:rPr lang="en-US" sz="1700" i="1" dirty="0">
                <a:solidFill>
                  <a:schemeClr val="accent5"/>
                </a:solidFill>
              </a:rPr>
              <a:t> (conjugué). Activité ou nom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pic>
        <p:nvPicPr>
          <p:cNvPr id="11" name="Image 1" descr="open b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02942"/>
            <a:ext cx="548640" cy="5486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91640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lees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8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pic>
        <p:nvPicPr>
          <p:cNvPr id="15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292602"/>
            <a:ext cx="548640" cy="54864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1640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hou van</a:t>
            </a:r>
            <a:r>
              <a:rPr lang="en-US" sz="2000" i="1" dirty="0">
                <a:solidFill>
                  <a:schemeClr val="tx1"/>
                </a:solidFill>
              </a:rPr>
              <a:t> Brussel.</a:t>
            </a:r>
            <a:endParaRPr lang="en-US" sz="2000" dirty="0"/>
          </a:p>
        </p:txBody>
      </p:sp>
      <p:sp>
        <p:nvSpPr>
          <p:cNvPr id="17" name="Shape 11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pic>
        <p:nvPicPr>
          <p:cNvPr id="19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382262"/>
            <a:ext cx="548640" cy="5486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91640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Karim kookt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voor zijn vrienden.</a:t>
            </a:r>
            <a:endParaRPr lang="en-US" sz="2000" dirty="0"/>
          </a:p>
        </p:txBody>
      </p:sp>
      <p:sp>
        <p:nvSpPr>
          <p:cNvPr id="21" name="Shape 14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pic>
        <p:nvPicPr>
          <p:cNvPr id="23" name="Image 4" descr="people hugg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5471922"/>
            <a:ext cx="548640" cy="54864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1640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Sofie </a:t>
            </a:r>
            <a:r>
              <a:rPr lang="en-US" sz="2000" b="1" i="1" dirty="0">
                <a:solidFill>
                  <a:schemeClr val="accent3"/>
                </a:solidFill>
              </a:rPr>
              <a:t>houdt van</a:t>
            </a:r>
            <a:r>
              <a:rPr lang="en-US" sz="2000" i="1" dirty="0">
                <a:solidFill>
                  <a:schemeClr val="tx1"/>
                </a:solidFill>
              </a:rPr>
              <a:t> haar kinderen.</a:t>
            </a:r>
            <a:endParaRPr lang="en-US" sz="2000" dirty="0"/>
          </a:p>
        </p:txBody>
      </p:sp>
      <p:sp>
        <p:nvSpPr>
          <p:cNvPr id="25" name="Shape 17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pic>
        <p:nvPicPr>
          <p:cNvPr id="27" name="Image 5" descr="evergreen tre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8836" y="2202942"/>
            <a:ext cx="548640" cy="5486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7374636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wandelen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in het bos.</a:t>
            </a:r>
            <a:endParaRPr lang="en-US" sz="2000" dirty="0"/>
          </a:p>
        </p:txBody>
      </p:sp>
      <p:sp>
        <p:nvSpPr>
          <p:cNvPr id="29" name="Shape 20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pic>
        <p:nvPicPr>
          <p:cNvPr id="31" name="Image 6" descr="musical not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8836" y="3292602"/>
            <a:ext cx="548640" cy="54864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374636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Hou</a:t>
            </a:r>
            <a:r>
              <a:rPr lang="en-US" sz="2000" i="1" dirty="0">
                <a:solidFill>
                  <a:schemeClr val="tx1"/>
                </a:solidFill>
              </a:rPr>
              <a:t> jij </a:t>
            </a:r>
            <a:r>
              <a:rPr lang="en-US" sz="2000" b="1" i="1" dirty="0">
                <a:solidFill>
                  <a:schemeClr val="accent3"/>
                </a:solidFill>
              </a:rPr>
              <a:t>van</a:t>
            </a:r>
            <a:r>
              <a:rPr lang="en-US" sz="2000" i="1" dirty="0">
                <a:solidFill>
                  <a:schemeClr val="tx1"/>
                </a:solidFill>
              </a:rPr>
              <a:t> jazz?</a:t>
            </a:r>
            <a:endParaRPr lang="en-US" sz="2000" dirty="0"/>
          </a:p>
        </p:txBody>
      </p:sp>
      <p:sp>
        <p:nvSpPr>
          <p:cNvPr id="33" name="Shape 23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pic>
        <p:nvPicPr>
          <p:cNvPr id="35" name="Image 7" descr="musical keyboar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8836" y="4382262"/>
            <a:ext cx="548640" cy="54864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7374636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Lotte speelt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piano.</a:t>
            </a:r>
            <a:endParaRPr lang="en-US" sz="2000" dirty="0"/>
          </a:p>
        </p:txBody>
      </p:sp>
      <p:sp>
        <p:nvSpPr>
          <p:cNvPr id="37" name="Shape 26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pic>
        <p:nvPicPr>
          <p:cNvPr id="39" name="Image 8" descr="su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8836" y="5471922"/>
            <a:ext cx="548640" cy="54864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7374636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hou van</a:t>
            </a:r>
            <a:r>
              <a:rPr lang="en-US" sz="2000" i="1" dirty="0">
                <a:solidFill>
                  <a:schemeClr val="tx1"/>
                </a:solidFill>
              </a:rPr>
              <a:t> de zomer.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podium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Faites une phrase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(bronze), </a:t>
            </a:r>
            <a:r>
              <a:rPr lang="en-US" sz="1700" i="1" dirty="0">
                <a:solidFill>
                  <a:schemeClr val="accent5"/>
                </a:solidFill>
              </a:rPr>
              <a:t>liever</a:t>
            </a:r>
            <a:r>
              <a:rPr lang="en-US" sz="1700" i="1" dirty="0">
                <a:solidFill>
                  <a:schemeClr val="accent5"/>
                </a:solidFill>
              </a:rPr>
              <a:t> (argent) et </a:t>
            </a:r>
            <a:r>
              <a:rPr lang="en-US" sz="1700" i="1" dirty="0">
                <a:solidFill>
                  <a:schemeClr val="accent5"/>
                </a:solidFill>
              </a:rPr>
              <a:t>het liefst</a:t>
            </a:r>
            <a:r>
              <a:rPr lang="en-US" sz="1700" i="1" dirty="0">
                <a:solidFill>
                  <a:schemeClr val="accent5"/>
                </a:solidFill>
              </a:rPr>
              <a:t> (or).</a:t>
            </a:r>
            <a:endParaRPr lang="en-US" sz="1700" dirty="0"/>
          </a:p>
        </p:txBody>
      </p:sp>
      <p:pic>
        <p:nvPicPr>
          <p:cNvPr id="8" name="Image 1" descr="3r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76272"/>
            <a:ext cx="384048" cy="38404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601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</a:t>
            </a:r>
            <a:endParaRPr lang="en-US" sz="1500" dirty="0"/>
          </a:p>
        </p:txBody>
      </p:sp>
      <p:pic>
        <p:nvPicPr>
          <p:cNvPr id="10" name="Image 2" descr="2nd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176272"/>
            <a:ext cx="384048" cy="384048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25603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thee</a:t>
            </a:r>
            <a:endParaRPr lang="en-US" sz="1500" dirty="0"/>
          </a:p>
        </p:txBody>
      </p:sp>
      <p:pic>
        <p:nvPicPr>
          <p:cNvPr id="12" name="Image 3" descr="1st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2176272"/>
            <a:ext cx="384048" cy="384048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41605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water</a:t>
            </a:r>
            <a:endParaRPr lang="en-US" sz="1500" dirty="0"/>
          </a:p>
        </p:txBody>
      </p:sp>
      <p:sp>
        <p:nvSpPr>
          <p:cNvPr id="14" name="tag"/>
          <p:cNvSpPr/>
          <p:nvPr/>
        </p:nvSpPr>
        <p:spPr>
          <a:xfrm>
            <a:off x="5394960" y="2221992"/>
            <a:ext cx="1058113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drinken</a:t>
            </a:r>
            <a:endParaRPr lang="en-US" sz="1100" dirty="0"/>
          </a:p>
        </p:txBody>
      </p:sp>
      <p:sp>
        <p:nvSpPr>
          <p:cNvPr id="15" name="Shape 8"/>
          <p:cNvSpPr/>
          <p:nvPr/>
        </p:nvSpPr>
        <p:spPr>
          <a:xfrm>
            <a:off x="6446520" y="1987296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6" name="Image 4" descr="3r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048000"/>
            <a:ext cx="384048" cy="384048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9601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bus</a:t>
            </a:r>
            <a:endParaRPr lang="en-US" sz="1500" dirty="0"/>
          </a:p>
        </p:txBody>
      </p:sp>
      <p:pic>
        <p:nvPicPr>
          <p:cNvPr id="18" name="Image 5" descr="2nd place med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048000"/>
            <a:ext cx="384048" cy="384048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25603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trein</a:t>
            </a:r>
            <a:endParaRPr lang="en-US" sz="1500" dirty="0"/>
          </a:p>
        </p:txBody>
      </p:sp>
      <p:pic>
        <p:nvPicPr>
          <p:cNvPr id="20" name="Image 6" descr="1st place meda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0" y="3048000"/>
            <a:ext cx="384048" cy="384048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41605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fiets</a:t>
            </a:r>
            <a:endParaRPr lang="en-US" sz="1500" dirty="0"/>
          </a:p>
        </p:txBody>
      </p:sp>
      <p:sp>
        <p:nvSpPr>
          <p:cNvPr id="22" name="tag"/>
          <p:cNvSpPr/>
          <p:nvPr/>
        </p:nvSpPr>
        <p:spPr>
          <a:xfrm>
            <a:off x="5394960" y="3093720"/>
            <a:ext cx="860298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nemen</a:t>
            </a:r>
            <a:endParaRPr lang="en-US" sz="1100" dirty="0"/>
          </a:p>
        </p:txBody>
      </p:sp>
      <p:sp>
        <p:nvSpPr>
          <p:cNvPr id="23" name="Shape 13"/>
          <p:cNvSpPr/>
          <p:nvPr/>
        </p:nvSpPr>
        <p:spPr>
          <a:xfrm>
            <a:off x="6446520" y="2859024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4" name="Image 7" descr="3rd place med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3919728"/>
            <a:ext cx="384048" cy="384048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9601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tv kijken</a:t>
            </a:r>
            <a:endParaRPr lang="en-US" sz="1500" dirty="0"/>
          </a:p>
        </p:txBody>
      </p:sp>
      <p:pic>
        <p:nvPicPr>
          <p:cNvPr id="26" name="Image 8" descr="2nd place medal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8840" y="3919728"/>
            <a:ext cx="384048" cy="384048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25603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lezen</a:t>
            </a:r>
            <a:endParaRPr lang="en-US" sz="1500" dirty="0"/>
          </a:p>
        </p:txBody>
      </p:sp>
      <p:pic>
        <p:nvPicPr>
          <p:cNvPr id="28" name="Image 9" descr="1st place meda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9040" y="3919728"/>
            <a:ext cx="384048" cy="384048"/>
          </a:xfrm>
          <a:prstGeom prst="rect">
            <a:avLst/>
          </a:prstGeom>
        </p:spPr>
      </p:pic>
      <p:sp>
        <p:nvSpPr>
          <p:cNvPr id="29" name="Text 16"/>
          <p:cNvSpPr txBox="1"/>
          <p:nvPr/>
        </p:nvSpPr>
        <p:spPr>
          <a:xfrm>
            <a:off x="41605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wandelen</a:t>
            </a:r>
            <a:endParaRPr lang="en-US" sz="1500" dirty="0"/>
          </a:p>
        </p:txBody>
      </p:sp>
      <p:sp>
        <p:nvSpPr>
          <p:cNvPr id="30" name="Shape 17"/>
          <p:cNvSpPr/>
          <p:nvPr/>
        </p:nvSpPr>
        <p:spPr>
          <a:xfrm>
            <a:off x="6446520" y="3730752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1" name="Image 10" descr="3rd place med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4791456"/>
            <a:ext cx="384048" cy="384048"/>
          </a:xfrm>
          <a:prstGeom prst="rect">
            <a:avLst/>
          </a:prstGeom>
        </p:spPr>
      </p:pic>
      <p:sp>
        <p:nvSpPr>
          <p:cNvPr id="32" name="Text 18"/>
          <p:cNvSpPr txBox="1"/>
          <p:nvPr/>
        </p:nvSpPr>
        <p:spPr>
          <a:xfrm>
            <a:off x="9601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Gent</a:t>
            </a:r>
            <a:endParaRPr lang="en-US" sz="1500" dirty="0"/>
          </a:p>
        </p:txBody>
      </p:sp>
      <p:pic>
        <p:nvPicPr>
          <p:cNvPr id="33" name="Image 11" descr="2nd place meda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8840" y="4791456"/>
            <a:ext cx="384048" cy="384048"/>
          </a:xfrm>
          <a:prstGeom prst="rect">
            <a:avLst/>
          </a:prstGeom>
        </p:spPr>
      </p:pic>
      <p:sp>
        <p:nvSpPr>
          <p:cNvPr id="34" name="Text 19"/>
          <p:cNvSpPr txBox="1"/>
          <p:nvPr/>
        </p:nvSpPr>
        <p:spPr>
          <a:xfrm>
            <a:off x="25603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Brugge</a:t>
            </a:r>
            <a:endParaRPr lang="en-US" sz="1500" dirty="0"/>
          </a:p>
        </p:txBody>
      </p:sp>
      <p:pic>
        <p:nvPicPr>
          <p:cNvPr id="35" name="Image 12" descr="1st place meda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49040" y="4791456"/>
            <a:ext cx="384048" cy="384048"/>
          </a:xfrm>
          <a:prstGeom prst="rect">
            <a:avLst/>
          </a:prstGeom>
        </p:spPr>
      </p:pic>
      <p:sp>
        <p:nvSpPr>
          <p:cNvPr id="36" name="Text 20"/>
          <p:cNvSpPr txBox="1"/>
          <p:nvPr/>
        </p:nvSpPr>
        <p:spPr>
          <a:xfrm>
            <a:off x="41605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Antwerpen</a:t>
            </a:r>
            <a:endParaRPr lang="en-US" sz="1500" dirty="0"/>
          </a:p>
        </p:txBody>
      </p:sp>
      <p:sp>
        <p:nvSpPr>
          <p:cNvPr id="37" name="tag"/>
          <p:cNvSpPr/>
          <p:nvPr/>
        </p:nvSpPr>
        <p:spPr>
          <a:xfrm>
            <a:off x="5394960" y="4837176"/>
            <a:ext cx="1157021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bezoeken</a:t>
            </a:r>
            <a:endParaRPr lang="en-US" sz="1100" dirty="0"/>
          </a:p>
        </p:txBody>
      </p:sp>
      <p:sp>
        <p:nvSpPr>
          <p:cNvPr id="38" name="Shape 22"/>
          <p:cNvSpPr/>
          <p:nvPr/>
        </p:nvSpPr>
        <p:spPr>
          <a:xfrm>
            <a:off x="6446520" y="4602480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9" name="Image 13" descr="3rd place med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640" y="5663184"/>
            <a:ext cx="384048" cy="384048"/>
          </a:xfrm>
          <a:prstGeom prst="rect">
            <a:avLst/>
          </a:prstGeom>
        </p:spPr>
      </p:pic>
      <p:sp>
        <p:nvSpPr>
          <p:cNvPr id="40" name="Text 23"/>
          <p:cNvSpPr txBox="1"/>
          <p:nvPr/>
        </p:nvSpPr>
        <p:spPr>
          <a:xfrm>
            <a:off x="9601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vis</a:t>
            </a:r>
            <a:endParaRPr lang="en-US" sz="1500" dirty="0"/>
          </a:p>
        </p:txBody>
      </p:sp>
      <p:pic>
        <p:nvPicPr>
          <p:cNvPr id="41" name="Image 14" descr="2nd place medal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48840" y="5663184"/>
            <a:ext cx="384048" cy="384048"/>
          </a:xfrm>
          <a:prstGeom prst="rect">
            <a:avLst/>
          </a:prstGeom>
        </p:spPr>
      </p:pic>
      <p:sp>
        <p:nvSpPr>
          <p:cNvPr id="42" name="Text 24"/>
          <p:cNvSpPr txBox="1"/>
          <p:nvPr/>
        </p:nvSpPr>
        <p:spPr>
          <a:xfrm>
            <a:off x="25603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kip</a:t>
            </a:r>
            <a:endParaRPr lang="en-US" sz="1500" dirty="0"/>
          </a:p>
        </p:txBody>
      </p:sp>
      <p:pic>
        <p:nvPicPr>
          <p:cNvPr id="43" name="Image 15" descr="1st place medal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49040" y="5663184"/>
            <a:ext cx="384048" cy="384048"/>
          </a:xfrm>
          <a:prstGeom prst="rect">
            <a:avLst/>
          </a:prstGeom>
        </p:spPr>
      </p:pic>
      <p:sp>
        <p:nvSpPr>
          <p:cNvPr id="44" name="Text 25"/>
          <p:cNvSpPr txBox="1"/>
          <p:nvPr/>
        </p:nvSpPr>
        <p:spPr>
          <a:xfrm>
            <a:off x="41605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pasta</a:t>
            </a:r>
            <a:endParaRPr lang="en-US" sz="1500" dirty="0"/>
          </a:p>
        </p:txBody>
      </p:sp>
      <p:sp>
        <p:nvSpPr>
          <p:cNvPr id="45" name="tag"/>
          <p:cNvSpPr/>
          <p:nvPr/>
        </p:nvSpPr>
        <p:spPr>
          <a:xfrm>
            <a:off x="5394960" y="5708904"/>
            <a:ext cx="761390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eten</a:t>
            </a:r>
            <a:endParaRPr lang="en-US" sz="1100" dirty="0"/>
          </a:p>
        </p:txBody>
      </p:sp>
      <p:sp>
        <p:nvSpPr>
          <p:cNvPr id="46" name="Shape 27"/>
          <p:cNvSpPr/>
          <p:nvPr/>
        </p:nvSpPr>
        <p:spPr>
          <a:xfrm>
            <a:off x="6446520" y="5474208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podium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Faites une phrase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(bronze), </a:t>
            </a:r>
            <a:r>
              <a:rPr lang="en-US" sz="1700" i="1" dirty="0">
                <a:solidFill>
                  <a:schemeClr val="accent5"/>
                </a:solidFill>
              </a:rPr>
              <a:t>liever</a:t>
            </a:r>
            <a:r>
              <a:rPr lang="en-US" sz="1700" i="1" dirty="0">
                <a:solidFill>
                  <a:schemeClr val="accent5"/>
                </a:solidFill>
              </a:rPr>
              <a:t> (argent) et </a:t>
            </a:r>
            <a:r>
              <a:rPr lang="en-US" sz="1700" i="1" dirty="0">
                <a:solidFill>
                  <a:schemeClr val="accent5"/>
                </a:solidFill>
              </a:rPr>
              <a:t>het liefst</a:t>
            </a:r>
            <a:r>
              <a:rPr lang="en-US" sz="1700" i="1" dirty="0">
                <a:solidFill>
                  <a:schemeClr val="accent5"/>
                </a:solidFill>
              </a:rPr>
              <a:t> (or).</a:t>
            </a:r>
            <a:endParaRPr lang="en-US" sz="1700" dirty="0"/>
          </a:p>
        </p:txBody>
      </p:sp>
      <p:pic>
        <p:nvPicPr>
          <p:cNvPr id="9" name="Image 1" descr="3r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76272"/>
            <a:ext cx="384048" cy="38404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601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</a:t>
            </a:r>
            <a:endParaRPr lang="en-US" sz="1500" dirty="0"/>
          </a:p>
        </p:txBody>
      </p:sp>
      <p:pic>
        <p:nvPicPr>
          <p:cNvPr id="11" name="Image 2" descr="2nd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176272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25603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thee</a:t>
            </a:r>
            <a:endParaRPr lang="en-US" sz="1500" dirty="0"/>
          </a:p>
        </p:txBody>
      </p:sp>
      <p:pic>
        <p:nvPicPr>
          <p:cNvPr id="13" name="Image 3" descr="1st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2176272"/>
            <a:ext cx="384048" cy="38404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1605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water</a:t>
            </a:r>
            <a:endParaRPr lang="en-US" sz="1500" dirty="0"/>
          </a:p>
        </p:txBody>
      </p:sp>
      <p:sp>
        <p:nvSpPr>
          <p:cNvPr id="15" name="tag"/>
          <p:cNvSpPr/>
          <p:nvPr/>
        </p:nvSpPr>
        <p:spPr>
          <a:xfrm>
            <a:off x="5394960" y="2221992"/>
            <a:ext cx="1058113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drinken</a:t>
            </a:r>
            <a:endParaRPr lang="en-US" sz="1100" dirty="0"/>
          </a:p>
        </p:txBody>
      </p:sp>
      <p:sp>
        <p:nvSpPr>
          <p:cNvPr id="16" name="Shape 9"/>
          <p:cNvSpPr/>
          <p:nvPr/>
        </p:nvSpPr>
        <p:spPr>
          <a:xfrm>
            <a:off x="6446520" y="1987296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6537960" y="1987296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drink graag koffie, liever thee en het liefst water.</a:t>
            </a:r>
            <a:endParaRPr lang="en-US" sz="1500" dirty="0"/>
          </a:p>
        </p:txBody>
      </p:sp>
      <p:pic>
        <p:nvPicPr>
          <p:cNvPr id="18" name="Image 4" descr="3r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048000"/>
            <a:ext cx="384048" cy="384048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601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bus</a:t>
            </a:r>
            <a:endParaRPr lang="en-US" sz="1500" dirty="0"/>
          </a:p>
        </p:txBody>
      </p:sp>
      <p:pic>
        <p:nvPicPr>
          <p:cNvPr id="20" name="Image 5" descr="2nd place med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048000"/>
            <a:ext cx="384048" cy="384048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25603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trein</a:t>
            </a:r>
            <a:endParaRPr lang="en-US" sz="1500" dirty="0"/>
          </a:p>
        </p:txBody>
      </p:sp>
      <p:pic>
        <p:nvPicPr>
          <p:cNvPr id="22" name="Image 6" descr="1st place meda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0" y="3048000"/>
            <a:ext cx="384048" cy="384048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41605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fiets</a:t>
            </a:r>
            <a:endParaRPr lang="en-US" sz="1500" dirty="0"/>
          </a:p>
        </p:txBody>
      </p:sp>
      <p:sp>
        <p:nvSpPr>
          <p:cNvPr id="24" name="tag"/>
          <p:cNvSpPr/>
          <p:nvPr/>
        </p:nvSpPr>
        <p:spPr>
          <a:xfrm>
            <a:off x="5394960" y="3093720"/>
            <a:ext cx="860298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nemen</a:t>
            </a:r>
            <a:endParaRPr lang="en-US" sz="1100" dirty="0"/>
          </a:p>
        </p:txBody>
      </p:sp>
      <p:sp>
        <p:nvSpPr>
          <p:cNvPr id="25" name="Shape 15"/>
          <p:cNvSpPr/>
          <p:nvPr/>
        </p:nvSpPr>
        <p:spPr>
          <a:xfrm>
            <a:off x="6446520" y="2859024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6537960" y="2859024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neem graag de bus, liever de trein en het liefst de fiets.</a:t>
            </a:r>
            <a:endParaRPr lang="en-US" sz="1500" dirty="0"/>
          </a:p>
        </p:txBody>
      </p:sp>
      <p:pic>
        <p:nvPicPr>
          <p:cNvPr id="27" name="Image 7" descr="3rd place med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3919728"/>
            <a:ext cx="384048" cy="384048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9601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tv kijken</a:t>
            </a:r>
            <a:endParaRPr lang="en-US" sz="1500" dirty="0"/>
          </a:p>
        </p:txBody>
      </p:sp>
      <p:pic>
        <p:nvPicPr>
          <p:cNvPr id="29" name="Image 8" descr="2nd place medal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8840" y="3919728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25603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lezen</a:t>
            </a:r>
            <a:endParaRPr lang="en-US" sz="1500" dirty="0"/>
          </a:p>
        </p:txBody>
      </p:sp>
      <p:pic>
        <p:nvPicPr>
          <p:cNvPr id="31" name="Image 9" descr="1st place meda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9040" y="3919728"/>
            <a:ext cx="384048" cy="384048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41605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wandelen</a:t>
            </a:r>
            <a:endParaRPr lang="en-US" sz="1500" dirty="0"/>
          </a:p>
        </p:txBody>
      </p:sp>
      <p:sp>
        <p:nvSpPr>
          <p:cNvPr id="33" name="Shape 20"/>
          <p:cNvSpPr/>
          <p:nvPr/>
        </p:nvSpPr>
        <p:spPr>
          <a:xfrm>
            <a:off x="6446520" y="3730752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21"/>
          <p:cNvSpPr txBox="1"/>
          <p:nvPr/>
        </p:nvSpPr>
        <p:spPr>
          <a:xfrm>
            <a:off x="6537960" y="3730752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kijk graag tv, ik lees liever en ik wandel het liefst.</a:t>
            </a:r>
            <a:endParaRPr lang="en-US" sz="1500" dirty="0"/>
          </a:p>
        </p:txBody>
      </p:sp>
      <p:pic>
        <p:nvPicPr>
          <p:cNvPr id="35" name="Image 10" descr="3rd place med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479145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9601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Gent</a:t>
            </a:r>
            <a:endParaRPr lang="en-US" sz="1500" dirty="0"/>
          </a:p>
        </p:txBody>
      </p:sp>
      <p:pic>
        <p:nvPicPr>
          <p:cNvPr id="37" name="Image 11" descr="2nd place meda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8840" y="4791456"/>
            <a:ext cx="384048" cy="384048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25603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Brugge</a:t>
            </a:r>
            <a:endParaRPr lang="en-US" sz="1500" dirty="0"/>
          </a:p>
        </p:txBody>
      </p:sp>
      <p:pic>
        <p:nvPicPr>
          <p:cNvPr id="39" name="Image 12" descr="1st place meda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49040" y="4791456"/>
            <a:ext cx="384048" cy="384048"/>
          </a:xfrm>
          <a:prstGeom prst="rect">
            <a:avLst/>
          </a:prstGeom>
        </p:spPr>
      </p:pic>
      <p:sp>
        <p:nvSpPr>
          <p:cNvPr id="40" name="Text 24"/>
          <p:cNvSpPr txBox="1"/>
          <p:nvPr/>
        </p:nvSpPr>
        <p:spPr>
          <a:xfrm>
            <a:off x="41605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Antwerpen</a:t>
            </a:r>
            <a:endParaRPr lang="en-US" sz="1500" dirty="0"/>
          </a:p>
        </p:txBody>
      </p:sp>
      <p:sp>
        <p:nvSpPr>
          <p:cNvPr id="41" name="tag"/>
          <p:cNvSpPr/>
          <p:nvPr/>
        </p:nvSpPr>
        <p:spPr>
          <a:xfrm>
            <a:off x="5394960" y="4837176"/>
            <a:ext cx="1157021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bezoeken</a:t>
            </a:r>
            <a:endParaRPr lang="en-US" sz="1100" dirty="0"/>
          </a:p>
        </p:txBody>
      </p:sp>
      <p:sp>
        <p:nvSpPr>
          <p:cNvPr id="42" name="Shape 26"/>
          <p:cNvSpPr/>
          <p:nvPr/>
        </p:nvSpPr>
        <p:spPr>
          <a:xfrm>
            <a:off x="6446520" y="4602480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27"/>
          <p:cNvSpPr txBox="1"/>
          <p:nvPr/>
        </p:nvSpPr>
        <p:spPr>
          <a:xfrm>
            <a:off x="6537960" y="4602480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bezoek graag Gent, liever Brugge en het liefst Antwerpen.</a:t>
            </a:r>
            <a:endParaRPr lang="en-US" sz="1500" dirty="0"/>
          </a:p>
        </p:txBody>
      </p:sp>
      <p:pic>
        <p:nvPicPr>
          <p:cNvPr id="44" name="Image 13" descr="3rd place med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640" y="5663184"/>
            <a:ext cx="384048" cy="384048"/>
          </a:xfrm>
          <a:prstGeom prst="rect">
            <a:avLst/>
          </a:prstGeom>
        </p:spPr>
      </p:pic>
      <p:sp>
        <p:nvSpPr>
          <p:cNvPr id="45" name="Text 28"/>
          <p:cNvSpPr txBox="1"/>
          <p:nvPr/>
        </p:nvSpPr>
        <p:spPr>
          <a:xfrm>
            <a:off x="9601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vis</a:t>
            </a:r>
            <a:endParaRPr lang="en-US" sz="1500" dirty="0"/>
          </a:p>
        </p:txBody>
      </p:sp>
      <p:pic>
        <p:nvPicPr>
          <p:cNvPr id="46" name="Image 14" descr="2nd place medal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48840" y="5663184"/>
            <a:ext cx="384048" cy="384048"/>
          </a:xfrm>
          <a:prstGeom prst="rect">
            <a:avLst/>
          </a:prstGeom>
        </p:spPr>
      </p:pic>
      <p:sp>
        <p:nvSpPr>
          <p:cNvPr id="47" name="Text 29"/>
          <p:cNvSpPr txBox="1"/>
          <p:nvPr/>
        </p:nvSpPr>
        <p:spPr>
          <a:xfrm>
            <a:off x="25603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kip</a:t>
            </a:r>
            <a:endParaRPr lang="en-US" sz="1500" dirty="0"/>
          </a:p>
        </p:txBody>
      </p:sp>
      <p:pic>
        <p:nvPicPr>
          <p:cNvPr id="48" name="Image 15" descr="1st place medal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49040" y="5663184"/>
            <a:ext cx="384048" cy="384048"/>
          </a:xfrm>
          <a:prstGeom prst="rect">
            <a:avLst/>
          </a:prstGeom>
        </p:spPr>
      </p:pic>
      <p:sp>
        <p:nvSpPr>
          <p:cNvPr id="49" name="Text 30"/>
          <p:cNvSpPr txBox="1"/>
          <p:nvPr/>
        </p:nvSpPr>
        <p:spPr>
          <a:xfrm>
            <a:off x="41605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pasta</a:t>
            </a:r>
            <a:endParaRPr lang="en-US" sz="1500" dirty="0"/>
          </a:p>
        </p:txBody>
      </p:sp>
      <p:sp>
        <p:nvSpPr>
          <p:cNvPr id="50" name="tag"/>
          <p:cNvSpPr/>
          <p:nvPr/>
        </p:nvSpPr>
        <p:spPr>
          <a:xfrm>
            <a:off x="5394960" y="5708904"/>
            <a:ext cx="761390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eten</a:t>
            </a:r>
            <a:endParaRPr lang="en-US" sz="1100" dirty="0"/>
          </a:p>
        </p:txBody>
      </p:sp>
      <p:sp>
        <p:nvSpPr>
          <p:cNvPr id="51" name="Shape 32"/>
          <p:cNvSpPr/>
          <p:nvPr/>
        </p:nvSpPr>
        <p:spPr>
          <a:xfrm>
            <a:off x="6446520" y="5474208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2" name="Text 33"/>
          <p:cNvSpPr txBox="1"/>
          <p:nvPr/>
        </p:nvSpPr>
        <p:spPr>
          <a:xfrm>
            <a:off x="6537960" y="5474208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eet graag vis, liever kip en het liefst pasta.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Suivez l’aiguillage : activité, personne / chose ou goût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cuisiner.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Anvers.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gâteau, je l’aime bien (il est bon).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n’aime pas travailler le samedi.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J’adore le chocolat.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préfère le thé.</a:t>
            </a:r>
            <a:endParaRPr lang="en-US" sz="1700" dirty="0"/>
          </a:p>
        </p:txBody>
      </p:sp>
      <p:sp>
        <p:nvSpPr>
          <p:cNvPr id="42" name="Shape 38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Suivez l’aiguillage : activité, personne / chose ou goût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cuisiner.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675120" y="19781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kook graag.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Anvers.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75120" y="270459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hou van Antwerpen.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gâteau, je l’aime bien (il est bon).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75120" y="343103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vind deze taart lekker.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n’aime pas travailler le samedi.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675120" y="415747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werk niet graag op zaterdag.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J’adore le chocolat.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75120" y="488391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ben dol op chocolade.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préfère le thé.</a:t>
            </a:r>
            <a:endParaRPr lang="en-US" sz="1700" dirty="0"/>
          </a:p>
        </p:txBody>
      </p:sp>
      <p:sp>
        <p:nvSpPr>
          <p:cNvPr id="48" name="Shape 44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675120" y="56103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drink liever thee.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se présente sur l’intranet.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Intranet Peeters &amp; Co · Over mij · Lotte Claes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Hallo! Ik ben Lotte, de nieuwe stagiaire. </a:t>
            </a:r>
            <a:r>
              <a:rPr lang="en-US" sz="1900" i="1" dirty="0">
                <a:solidFill>
                  <a:schemeClr val="tx1"/>
                </a:solidFill>
              </a:rPr>
              <a:t>Ik graag lees</a:t>
            </a:r>
            <a:r>
              <a:rPr lang="en-US" sz="1900" i="1" dirty="0">
                <a:solidFill>
                  <a:schemeClr val="tx1"/>
                </a:solidFill>
              </a:rPr>
              <a:t> detectives. </a:t>
            </a:r>
            <a:r>
              <a:rPr lang="en-US" sz="1900" i="1" dirty="0">
                <a:solidFill>
                  <a:schemeClr val="tx1"/>
                </a:solidFill>
              </a:rPr>
              <a:t>Ik houd muziek</a:t>
            </a:r>
            <a:r>
              <a:rPr lang="en-US" sz="1900" i="1" dirty="0">
                <a:solidFill>
                  <a:schemeClr val="tx1"/>
                </a:solidFill>
              </a:rPr>
              <a:t>, vooral jazz. Ik drink </a:t>
            </a:r>
            <a:r>
              <a:rPr lang="en-US" sz="1900" i="1" dirty="0">
                <a:solidFill>
                  <a:schemeClr val="tx1"/>
                </a:solidFill>
              </a:rPr>
              <a:t>meer graag</a:t>
            </a:r>
            <a:r>
              <a:rPr lang="en-US" sz="1900" i="1" dirty="0">
                <a:solidFill>
                  <a:schemeClr val="tx1"/>
                </a:solidFill>
              </a:rPr>
              <a:t> thee dan koffie. Ik vind de soep van de kantine heel </a:t>
            </a:r>
            <a:r>
              <a:rPr lang="en-US" sz="1900" i="1" dirty="0">
                <a:solidFill>
                  <a:schemeClr val="tx1"/>
                </a:solidFill>
              </a:rPr>
              <a:t>leuk</a:t>
            </a:r>
            <a:r>
              <a:rPr lang="en-US" sz="1900" i="1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Ik sport graag niet.</a:t>
            </a:r>
            <a:r>
              <a:rPr lang="en-US" sz="1900" i="1" dirty="0">
                <a:solidFill>
                  <a:schemeClr val="tx1"/>
                </a:solidFill>
              </a:rPr>
              <a:t> Ik hou van mijn katten Pip en Pluis. Tot snel!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se présente sur l’intranet.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Intranet Peeters &amp; Co · Over mij · Lotte Claes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Hallo! Ik ben Lotte, de nieuwe stagiaire. </a:t>
            </a:r>
            <a:r>
              <a:rPr lang="en-US" sz="1900" i="1" strike="sngStrike" dirty="0">
                <a:solidFill>
                  <a:schemeClr val="accent6"/>
                </a:solidFill>
              </a:rPr>
              <a:t>Ik graag lees</a:t>
            </a:r>
            <a:r>
              <a:rPr lang="en-US" sz="1900" b="1" i="1" dirty="0">
                <a:solidFill>
                  <a:schemeClr val="accent3"/>
                </a:solidFill>
              </a:rPr>
              <a:t> Ik lees graag</a:t>
            </a:r>
            <a:r>
              <a:rPr lang="en-US" sz="1900" i="1" dirty="0">
                <a:solidFill>
                  <a:schemeClr val="tx1"/>
                </a:solidFill>
              </a:rPr>
              <a:t> detectives. </a:t>
            </a:r>
            <a:r>
              <a:rPr lang="en-US" sz="1900" i="1" strike="sngStrike" dirty="0">
                <a:solidFill>
                  <a:schemeClr val="accent6"/>
                </a:solidFill>
              </a:rPr>
              <a:t>Ik houd muziek</a:t>
            </a:r>
            <a:r>
              <a:rPr lang="en-US" sz="1900" b="1" i="1" dirty="0">
                <a:solidFill>
                  <a:schemeClr val="accent3"/>
                </a:solidFill>
              </a:rPr>
              <a:t> Ik houd van muziek</a:t>
            </a:r>
            <a:r>
              <a:rPr lang="en-US" sz="1900" i="1" dirty="0">
                <a:solidFill>
                  <a:schemeClr val="tx1"/>
                </a:solidFill>
              </a:rPr>
              <a:t>, vooral jazz. Ik drink </a:t>
            </a:r>
            <a:r>
              <a:rPr lang="en-US" sz="1900" i="1" strike="sngStrike" dirty="0">
                <a:solidFill>
                  <a:schemeClr val="accent6"/>
                </a:solidFill>
              </a:rPr>
              <a:t>meer graag</a:t>
            </a:r>
            <a:r>
              <a:rPr lang="en-US" sz="1900" b="1" i="1" dirty="0">
                <a:solidFill>
                  <a:schemeClr val="accent3"/>
                </a:solidFill>
              </a:rPr>
              <a:t> liever</a:t>
            </a:r>
            <a:r>
              <a:rPr lang="en-US" sz="1900" i="1" dirty="0">
                <a:solidFill>
                  <a:schemeClr val="tx1"/>
                </a:solidFill>
              </a:rPr>
              <a:t> thee dan koffie. Ik vind de soep van de kantine heel </a:t>
            </a:r>
            <a:r>
              <a:rPr lang="en-US" sz="1900" i="1" strike="sngStrike" dirty="0">
                <a:solidFill>
                  <a:schemeClr val="accent6"/>
                </a:solidFill>
              </a:rPr>
              <a:t>leuk</a:t>
            </a:r>
            <a:r>
              <a:rPr lang="en-US" sz="1900" b="1" i="1" dirty="0">
                <a:solidFill>
                  <a:schemeClr val="accent3"/>
                </a:solidFill>
              </a:rPr>
              <a:t> lekker</a:t>
            </a:r>
            <a:r>
              <a:rPr lang="en-US" sz="1900" i="1" dirty="0">
                <a:solidFill>
                  <a:schemeClr val="tx1"/>
                </a:solidFill>
              </a:rPr>
              <a:t>! </a:t>
            </a:r>
            <a:r>
              <a:rPr lang="en-US" sz="1900" i="1" strike="sngStrike" dirty="0">
                <a:solidFill>
                  <a:schemeClr val="accent6"/>
                </a:solidFill>
              </a:rPr>
              <a:t>Ik sport graag niet.</a:t>
            </a:r>
            <a:r>
              <a:rPr lang="en-US" sz="1900" b="1" i="1" dirty="0">
                <a:solidFill>
                  <a:schemeClr val="accent3"/>
                </a:solidFill>
              </a:rPr>
              <a:t> Ik sport niet graag.</a:t>
            </a:r>
            <a:r>
              <a:rPr lang="en-US" sz="1900" i="1" dirty="0">
                <a:solidFill>
                  <a:schemeClr val="tx1"/>
                </a:solidFill>
              </a:rPr>
              <a:t> Ik hou van mijn katten Pip en Pluis. Tot snel!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Ik hou van mijn katten</a:t>
            </a:r>
            <a:r>
              <a:rPr lang="en-US" sz="1400" i="1" dirty="0">
                <a:solidFill>
                  <a:schemeClr val="accent5"/>
                </a:solidFill>
              </a:rPr>
              <a:t> est correct. Aussi : </a:t>
            </a:r>
            <a:r>
              <a:rPr lang="en-US" sz="1400" i="1" dirty="0">
                <a:solidFill>
                  <a:schemeClr val="accent5"/>
                </a:solidFill>
              </a:rPr>
              <a:t>Ik doe niet graag aan sport.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 rot="-120000">
            <a:off x="1097280" y="2060448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2060448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 rot="60000">
            <a:off x="242316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42316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 rot="120000">
            <a:off x="3337560" y="2060448"/>
            <a:ext cx="20574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337560" y="2060448"/>
            <a:ext cx="20574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naar de film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 rot="-60000">
            <a:off x="562356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62356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 rot="-120000">
            <a:off x="1097280" y="2932176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97280" y="2932176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gedaan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 rot="60000">
            <a:off x="256032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56032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heeft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 rot="120000">
            <a:off x="388620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88620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 rot="-60000">
            <a:off x="521208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21208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626364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6364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 rot="-120000">
            <a:off x="1097280" y="3803904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97280" y="3803904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liever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 rot="60000">
            <a:off x="2560320" y="3803904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2560320" y="3803904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wij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 rot="120000">
            <a:off x="361188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61188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eten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 rot="-60000">
            <a:off x="4800600" y="3803904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800600" y="3803904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vis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 rot="-120000">
            <a:off x="1097280" y="4675632"/>
            <a:ext cx="17830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097280" y="4675632"/>
            <a:ext cx="17830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koffie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 rot="60000">
            <a:off x="3108960" y="4675632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3108960" y="4675632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 rot="120000">
            <a:off x="4434840" y="4675632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4434840" y="4675632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wil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 rot="-60000">
            <a:off x="5486400" y="4675632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0" y="4675632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 rot="-120000">
            <a:off x="109728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van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 rot="60000">
            <a:off x="214884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14884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jij</a:t>
            </a:r>
            <a:endParaRPr lang="en-US" sz="1800" dirty="0"/>
          </a:p>
        </p:txBody>
      </p:sp>
      <p:sp>
        <p:nvSpPr>
          <p:cNvPr id="56" name="Shape 52"/>
          <p:cNvSpPr/>
          <p:nvPr/>
        </p:nvSpPr>
        <p:spPr>
          <a:xfrm rot="120000">
            <a:off x="3200400" y="5547360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3200400" y="5547360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jazz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 rot="-60000">
            <a:off x="438912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438912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hou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>
            <a:off x="5440680" y="5547360"/>
            <a:ext cx="548640" cy="6156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5440680" y="5547360"/>
            <a:ext cx="5486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97280" y="1996440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234440" y="1996440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Ik ga graag naar de film.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1097280" y="2868168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234440" y="2868168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Karim heeft dat graag gedaan.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97280" y="3739896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234440" y="3739896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Wij eten liever vis.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097280" y="4611624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234440" y="4611624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Sofie wil graag een koffie.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97280" y="5483352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234440" y="5483352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Hou jij van jazz?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Zoek iemand die…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7" name="Image 0" descr="coo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09928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kookt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2296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0" name="Shape 6"/>
          <p:cNvSpPr/>
          <p:nvPr/>
        </p:nvSpPr>
        <p:spPr>
          <a:xfrm>
            <a:off x="297180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1709928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06324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van katten houdt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324612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4" name="Shape 9"/>
          <p:cNvSpPr/>
          <p:nvPr/>
        </p:nvSpPr>
        <p:spPr>
          <a:xfrm>
            <a:off x="539496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2" descr="teacup without hand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4688" y="1709928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48640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liever thee drinkt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66928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8" name="Shape 12"/>
          <p:cNvSpPr/>
          <p:nvPr/>
        </p:nvSpPr>
        <p:spPr>
          <a:xfrm>
            <a:off x="54864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9" name="Image 3" descr="alarm 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172968"/>
            <a:ext cx="502920" cy="50292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4008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niet graag vroeg opstaat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82296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22" name="Shape 15"/>
          <p:cNvSpPr/>
          <p:nvPr/>
        </p:nvSpPr>
        <p:spPr>
          <a:xfrm>
            <a:off x="297180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3" name="Image 4" descr="chocolate b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528" y="3172968"/>
            <a:ext cx="502920" cy="50292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306324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dol is op chocolade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24612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26" name="Shape 18"/>
          <p:cNvSpPr/>
          <p:nvPr/>
        </p:nvSpPr>
        <p:spPr>
          <a:xfrm>
            <a:off x="539496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7" name="Image 5" descr="person bik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4688" y="3172968"/>
            <a:ext cx="502920" cy="5029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48640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het liefst fietst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66928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0" name="Shape 21"/>
          <p:cNvSpPr/>
          <p:nvPr/>
        </p:nvSpPr>
        <p:spPr>
          <a:xfrm>
            <a:off x="54864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1" name="Image 6" descr="woman danc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636008"/>
            <a:ext cx="502920" cy="50292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4008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danst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2296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4" name="Shape 24"/>
          <p:cNvSpPr/>
          <p:nvPr/>
        </p:nvSpPr>
        <p:spPr>
          <a:xfrm>
            <a:off x="297180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5" name="Image 7" descr="cloud with ra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81528" y="4636008"/>
            <a:ext cx="502920" cy="50292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306324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van regen houdt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324612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8" name="Shape 27"/>
          <p:cNvSpPr/>
          <p:nvPr/>
        </p:nvSpPr>
        <p:spPr>
          <a:xfrm>
            <a:off x="539496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9" name="Image 8" descr="open boo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04688" y="4636008"/>
            <a:ext cx="502920" cy="50292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548640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leest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566928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pic>
        <p:nvPicPr>
          <p:cNvPr id="42" name="Image 9" descr="magnifying glass tilted lef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1600200"/>
            <a:ext cx="731520" cy="731520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8869680" y="1600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Bingo!</a:t>
            </a:r>
            <a:endParaRPr lang="en-US" sz="2800" dirty="0"/>
          </a:p>
        </p:txBody>
      </p:sp>
      <p:sp>
        <p:nvSpPr>
          <p:cNvPr id="44" name="Text 31"/>
          <p:cNvSpPr txBox="1"/>
          <p:nvPr/>
        </p:nvSpPr>
        <p:spPr>
          <a:xfrm>
            <a:off x="8046720" y="2514600"/>
            <a:ext cx="359359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Posez la question : </a:t>
            </a:r>
            <a:r>
              <a:rPr lang="en-US" sz="1500" i="1" dirty="0">
                <a:solidFill>
                  <a:schemeClr val="tx1"/>
                </a:solidFill>
              </a:rPr>
              <a:t>Kook je graag? · Hou je van katten?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« </a:t>
            </a:r>
            <a:r>
              <a:rPr lang="en-US" sz="1500" i="1" dirty="0">
                <a:solidFill>
                  <a:schemeClr val="tx1"/>
                </a:solidFill>
              </a:rPr>
              <a:t>Ja!</a:t>
            </a:r>
            <a:r>
              <a:rPr lang="en-US" sz="1500" dirty="0">
                <a:solidFill>
                  <a:schemeClr val="tx1"/>
                </a:solidFill>
              </a:rPr>
              <a:t> » : écrivez le prénom sur la ligne.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Une ligne complète : </a:t>
            </a:r>
            <a:r>
              <a:rPr lang="en-US" sz="1500" i="1" dirty="0">
                <a:solidFill>
                  <a:schemeClr val="tx1"/>
                </a:solidFill>
              </a:rPr>
              <a:t>Bingo!</a:t>
            </a:r>
            <a:r>
              <a:rPr lang="en-US" sz="1500" dirty="0">
                <a:solidFill>
                  <a:schemeClr val="tx1"/>
                </a:solidFill>
              </a:rPr>
              <a:t> — présentez vos trouvailles : </a:t>
            </a:r>
            <a:r>
              <a:rPr lang="en-US" sz="1500" i="1" dirty="0">
                <a:solidFill>
                  <a:schemeClr val="tx1"/>
                </a:solidFill>
              </a:rPr>
              <a:t>Karim kookt graag.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sortie d’équipe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An organise une sortie d’équipe. Chacun dit ce qu’il aime, ce qu’il préfère et ce qu’il n’aime pas. Puis l’équipe vote.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(la cheffe) : présentez les activités et demandez l’avis de chacun : </a:t>
            </a:r>
            <a:r>
              <a:rPr lang="en-US" sz="1700" i="1" dirty="0">
                <a:solidFill>
                  <a:schemeClr val="tx1"/>
                </a:solidFill>
              </a:rPr>
              <a:t>Wat doe je graag?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Un membre de l’équipe</a:t>
            </a:r>
            <a:r>
              <a:rPr lang="en-US" sz="1700" dirty="0">
                <a:solidFill>
                  <a:schemeClr val="tx1"/>
                </a:solidFill>
              </a:rPr>
              <a:t> : donnez vos préférences et justifiez : </a:t>
            </a:r>
            <a:r>
              <a:rPr lang="en-US" sz="1700" i="1" dirty="0">
                <a:solidFill>
                  <a:schemeClr val="tx1"/>
                </a:solidFill>
              </a:rPr>
              <a:t>Ik … liever …, want…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Wat doe je graag? · Ik hou van… · Ik … liever … · Ik vind … leuk. · Ik … niet graag … · Het liefst … · We kiezen …, want we … allemaal graag.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TEAMUITSTAP · STEM!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029968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bowl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897112" y="2029968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bowling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€ 15 · 2 uur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65592" y="3072384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6" name="Image 1" descr="co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3273552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897112" y="3072384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kookworkshop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€ 45 · 3 uur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8165592" y="4114800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2" descr="lock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431596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897112" y="4114800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escaperoom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€ 25 · 1 uur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165592" y="5157216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3" descr="evergreen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535838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897112" y="5157216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wandeling in het Zoniënwoud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gratis · 3 uur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J’aime lire.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J’aime la musique.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Koffie of thee? — ……… thee!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Faire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Aimer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Nuancer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UserFriend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Zich of elkaar?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Hij wast zich · Ze helpen elkaar.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27 — Graag of houden van? — Dire ce qu’on aime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2026-10-05T06:01:43Z</dcterms:created>
  <dcterms:modified xsi:type="dcterms:W3CDTF">2026-10-05T06:01:43Z</dcterms:modified>
</cp:coreProperties>
</file>