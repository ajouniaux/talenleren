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a6d13a8-77c4-fbc8-e47a-f697d963fb05}">
          <p14:sldIdLst>
            <p14:sldId id="256"/>
          </p14:sldIdLst>
        </p14:section>
        <p14:section name="Découvrir" id="{1c2407c8-1966-56cb-fb8e-e41e38236dfe}">
          <p14:sldIdLst>
            <p14:sldId id="257"/>
            <p14:sldId id="258"/>
          </p14:sldIdLst>
        </p14:section>
        <p14:section name="Comprendre" id="{3f406caf-80f2-ce5c-c138-a750d5eb5b2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67390345-2c63-b39d-1b8d-0102e1c5735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b32d5198-1d80-4d47-960f-2cd79d255a99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un seul verbe en français, plusieurs en néerlandais.
Question d'entrée : « Comment dit-on j'aime nager et j'aime la mer ? » Les deux « aimer » ne se traduisent pas de la même façon.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Parler de ses goûts sert à se présenter, à faire connaissance avec ses collègues et à choisir une activité en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graag et houden van dans des présentations.
Faites observer : graag suit un verbe d'action (kook, fiets, lees) ; houden van est suivi d'un nom (muziek, de zee, katten).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aime faire, avec graag à la bonne place.
graag signifie littéralement « volontiers » : Ik fiets graag = je fais du vélo volontiers = j'aime faire du vélo. Faites répondre à Wat doe je graag in het weekend?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qui ou ce qu'on aime avec houden van.
houden van exprime un attachement général ou fort (une personne, un lieu, un genre de musique). Avec un pronom : Ik hou van hem / van haar / van jou. Pour une chose déjà nommée : ervan (M23).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traduction de « aimer » selon ce qu'on aime.
Question-réflexe : « Qu'est-ce que j'aime ? Faire quelque chose, quelqu'un ou une chose en général, ou un goût / une impression ? »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ses préférences.
graag → liever → het liefst est irrégulier (comme goed → beter → best, M21). Avec une comparaison : liever … dan … : Ik werk liever 's ochtends dan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n'aime pas, avec niet à la bonne place.
niet se place juste avant graag (M13). Avec houden van : Ik hou niet van… (niet avant la préposition). helemaal niet = pas du tout.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goût, une impression et l'enthousiasme.
lekker = bon (au goût). leuk = sympa, chouette. ✗ Deze soep is leuk (une soupe n'est pas « sympa »). Ik vind Sofie leuk peut vouloir dire « Sofie me plaît » : selon le contexte, préférez aardig (gentille).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les plus fréquents.
Ik hou van je est fort : on le dit à son ou sa partenaire, à ses enfants. Au bureau, Ik vind mijn collega's leuk / aardig. Pour le café, les trois phrases sont justes, avec une nuance : l'habitude, le goût en général, le goût de ce café-là. En Flandre, Ik zie je graag veut dire « je t'aime » (très courant).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 pour accepter, demander et remercier.
Graag gedaan répond à un merci. Ja, graag! / Nee, dank je : accepter ou refuser poliment. En Belgique, on entend aussi Ik had graag een koffie (je voudrais), vu au M29.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 dans les phrases à deux verbes et après une inversion.
graag se comporte comme niet : après le verbe conjugué et le sujet inversé, après les pronoms (dat, het, me…), avant les autres compléments et le 2e verbe. Ik heb dat graag gedaan = je l'ai fait avec plaisir.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Poser des questions sur les goûts et répondre, en se déplaçant dans la classe.
Exigez la question complète, pas seulement le mot-clé. Pour van katten houdt : Hou je van katten? Pour het liefst fietst : Wat doe je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choisir une activité d'équipe en exprimant ses préférences.
het Zoniënwoud = la forêt de Soignes. À la fin, le groupe vote et justifie : We kiezen de kookworkshop, want we koken allemaal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Ik lees graag.
2. Ik hou van muziek.
3. Liever thee! (Graag thee! se comprend, mais on dit plutôt Thee, graag!)
Teaser M28 : Hij wast zich · Ze helpen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Graag of houden van?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Dire ce qu’on aime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zwem graag · Ik hou van de zee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zwem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graag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hou van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de zee.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Faire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ce que j’aime faire : </a:t>
            </a:r>
            <a:r>
              <a:rPr lang="en-US" sz="2000" i="1" dirty="0">
                <a:solidFill>
                  <a:schemeClr val="tx1"/>
                </a:solidFill>
              </a:rPr>
              <a:t>Ik fiets graag.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e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qui ou ce que j’aime : </a:t>
            </a:r>
            <a:r>
              <a:rPr lang="en-US" sz="2000" i="1" dirty="0">
                <a:solidFill>
                  <a:schemeClr val="tx1"/>
                </a:solidFill>
              </a:rPr>
              <a:t>Ik hou van muziek.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compare et je nuance : </a:t>
            </a:r>
            <a:r>
              <a:rPr lang="en-US" sz="2000" i="1" dirty="0">
                <a:solidFill>
                  <a:schemeClr val="tx1"/>
                </a:solidFill>
              </a:rPr>
              <a:t>Ik drink liever thee.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Parler de ses goûts : se présenter, faire connaissance, choisir une activité en équipe.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Wat doe je graag?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77240" cy="777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200" dirty="0"/>
          </a:p>
        </p:txBody>
      </p:sp>
      <p:pic>
        <p:nvPicPr>
          <p:cNvPr id="8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34640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kook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0" name="Image 2" descr="musical no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08760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Marokkaanse muziek.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1691640"/>
            <a:ext cx="777240" cy="7772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19344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200" dirty="0"/>
          </a:p>
        </p:txBody>
      </p:sp>
      <p:pic>
        <p:nvPicPr>
          <p:cNvPr id="15" name="Image 4" descr="person bi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2834640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282184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fiets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naar het werk.</a:t>
            </a:r>
            <a:endParaRPr lang="en-US" sz="1700" dirty="0"/>
          </a:p>
        </p:txBody>
      </p:sp>
      <p:pic>
        <p:nvPicPr>
          <p:cNvPr id="17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4944" y="3931920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5282184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de zee.</a:t>
            </a:r>
            <a:endParaRPr lang="en-US" sz="1700" dirty="0"/>
          </a:p>
        </p:txBody>
      </p:sp>
      <p:sp>
        <p:nvSpPr>
          <p:cNvPr id="19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woman red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8368" y="1691640"/>
            <a:ext cx="777240" cy="77724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192768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200" dirty="0"/>
          </a:p>
        </p:txBody>
      </p:sp>
      <p:pic>
        <p:nvPicPr>
          <p:cNvPr id="22" name="Image 7" descr="open boo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8368" y="2834640"/>
            <a:ext cx="640080" cy="64008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9055608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lees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24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8368" y="3931920"/>
            <a:ext cx="640080" cy="64008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9055608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katten.</a:t>
            </a:r>
            <a:endParaRPr lang="en-US" sz="1700" dirty="0"/>
          </a:p>
        </p:txBody>
      </p:sp>
      <p:sp>
        <p:nvSpPr>
          <p:cNvPr id="26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9" descr="thinking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Après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r>
              <a:rPr lang="en-US" sz="1800" dirty="0">
                <a:solidFill>
                  <a:schemeClr val="tx1"/>
                </a:solidFill>
              </a:rPr>
              <a:t>, qu’est-ce qui vient ? Et après </a:t>
            </a: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Regardez le verbe… et le nom.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+ verbe : j’aime faire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4592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4592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fiets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725936" y="1645920"/>
            <a:ext cx="1551174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25936" y="1645920"/>
            <a:ext cx="15511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1148486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514600"/>
            <a:ext cx="11484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Sofie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788566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788566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leest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3239463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39463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690360" y="2514600"/>
            <a:ext cx="1490838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90360" y="2514600"/>
            <a:ext cx="14908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romans.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We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275039" y="3383280"/>
            <a:ext cx="1167740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75039" y="3383280"/>
            <a:ext cx="116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eten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2534219" y="338328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534219" y="338328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3985116" y="3383280"/>
            <a:ext cx="2004365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85116" y="3383280"/>
            <a:ext cx="20043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Italiaans.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1645920"/>
            <a:ext cx="4873752" cy="2423160"/>
          </a:xfrm>
          <a:prstGeom prst="roundRect">
            <a:avLst>
              <a:gd name="adj" fmla="val 3774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1691640"/>
            <a:ext cx="4572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Questions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</a:t>
            </a:r>
            <a:r>
              <a:rPr lang="en-US" sz="1800" b="1" i="1" dirty="0">
                <a:solidFill>
                  <a:schemeClr val="tx1"/>
                </a:solidFill>
              </a:rPr>
              <a:t>doe</a:t>
            </a:r>
            <a:r>
              <a:rPr lang="en-US" sz="1800" i="1" dirty="0">
                <a:solidFill>
                  <a:schemeClr val="tx1"/>
                </a:solidFill>
              </a:rPr>
              <a:t> je graag?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i="1" dirty="0">
                <a:solidFill>
                  <a:schemeClr val="tx1"/>
                </a:solidFill>
              </a:rPr>
              <a:t> je graag tennis?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 je graag in het weekend?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429768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297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Ik graag fiets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fiets</a:t>
            </a:r>
            <a:r>
              <a:rPr lang="en-US" sz="2000" i="1" dirty="0">
                <a:solidFill>
                  <a:schemeClr val="tx1"/>
                </a:solidFill>
              </a:rPr>
              <a:t> graag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graag</a:t>
            </a:r>
            <a:r>
              <a:rPr lang="en-US" sz="2000" dirty="0">
                <a:solidFill>
                  <a:schemeClr val="tx1"/>
                </a:solidFill>
              </a:rPr>
              <a:t> vient </a:t>
            </a:r>
            <a:r>
              <a:rPr lang="en-US" sz="2000" b="1" dirty="0">
                <a:solidFill>
                  <a:schemeClr val="tx1"/>
                </a:solidFill>
              </a:rPr>
              <a:t>après</a:t>
            </a:r>
            <a:r>
              <a:rPr lang="en-US" sz="2000" dirty="0">
                <a:solidFill>
                  <a:schemeClr val="tx1"/>
                </a:solidFill>
              </a:rPr>
              <a:t> le verbe conjugué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= « volontiers » : </a:t>
            </a:r>
            <a:r>
              <a:rPr lang="en-US" sz="1800" i="1" dirty="0">
                <a:solidFill>
                  <a:schemeClr val="bg1"/>
                </a:solidFill>
              </a:rPr>
              <a:t>Ik fiets graag</a:t>
            </a:r>
            <a:r>
              <a:rPr lang="en-US" sz="1800" dirty="0">
                <a:solidFill>
                  <a:schemeClr val="bg1"/>
                </a:solidFill>
              </a:rPr>
              <a:t> = je fais du vélo volontiers = j’aime faire du vélo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houden van : j’aime quelqu’un, quelque chose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usical n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178308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292608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78308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1752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</a:t>
            </a:r>
            <a:r>
              <a:rPr lang="en-US" sz="1800" b="1" i="1" dirty="0">
                <a:solidFill>
                  <a:schemeClr val="accent4"/>
                </a:solidFill>
              </a:rPr>
              <a:t>houdt van</a:t>
            </a:r>
            <a:r>
              <a:rPr lang="en-US" sz="1800" i="1" dirty="0">
                <a:solidFill>
                  <a:schemeClr val="tx1"/>
                </a:solidFill>
              </a:rPr>
              <a:t> haar kinderen.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30352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1783080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39496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accent4"/>
                </a:solidFill>
              </a:rPr>
              <a:t>houden van</a:t>
            </a:r>
            <a:r>
              <a:rPr lang="en-US" sz="1800" i="1" dirty="0">
                <a:solidFill>
                  <a:schemeClr val="tx1"/>
                </a:solidFill>
              </a:rPr>
              <a:t> de zee.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7818120" y="1600200"/>
            <a:ext cx="3822192" cy="2651760"/>
          </a:xfrm>
          <a:prstGeom prst="roundRect">
            <a:avLst>
              <a:gd name="adj" fmla="val 3448"/>
            </a:avLst>
          </a:prstGeom>
          <a:solidFill>
            <a:srgbClr val="F6E3EE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001000" y="164592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hou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tx1"/>
                </a:solidFill>
              </a:rPr>
              <a:t>houd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jij houdt · hij houdt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wij houden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Hou je van jazz?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— Ja, ik hou </a:t>
            </a:r>
            <a:r>
              <a:rPr lang="en-US" sz="1700" b="1" i="1" dirty="0">
                <a:solidFill>
                  <a:schemeClr val="tx1"/>
                </a:solidFill>
              </a:rPr>
              <a:t>ervan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r>
              <a:rPr lang="en-US" sz="1700" dirty="0">
                <a:solidFill>
                  <a:schemeClr val="tx1"/>
                </a:solidFill>
              </a:rPr>
              <a:t> (M23)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Avec un pronom : </a:t>
            </a:r>
            <a:r>
              <a:rPr lang="en-US" sz="1800" i="1" dirty="0">
                <a:solidFill>
                  <a:schemeClr val="tx1"/>
                </a:solidFill>
              </a:rPr>
              <a:t>Ik hou van </a:t>
            </a:r>
            <a:r>
              <a:rPr lang="en-US" sz="1800" b="1" i="1" dirty="0">
                <a:solidFill>
                  <a:schemeClr val="tx1"/>
                </a:solidFill>
              </a:rPr>
              <a:t>hem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jou</a:t>
            </a:r>
            <a:r>
              <a:rPr lang="en-US" sz="1800" dirty="0">
                <a:solidFill>
                  <a:schemeClr val="tx1"/>
                </a:solidFill>
              </a:rPr>
              <a:t> — Question : </a:t>
            </a:r>
            <a:r>
              <a:rPr lang="en-US" sz="1800" i="1" dirty="0">
                <a:solidFill>
                  <a:schemeClr val="tx1"/>
                </a:solidFill>
              </a:rPr>
              <a:t>Waar hou je van?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= un attachement général ou fort : une personne, un lieu, un genre de musique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331720"/>
            <a:ext cx="2194560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33172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« J’aime… »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 flipV="1">
            <a:off x="2761488" y="2148840"/>
            <a:ext cx="667512" cy="1097280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474720" y="15544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74720" y="15544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66160" y="15544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ACTIVITÉ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verbe + </a:t>
            </a:r>
            <a:r>
              <a:rPr lang="en-US" sz="1400" i="1" dirty="0">
                <a:solidFill>
                  <a:schemeClr val="bg1"/>
                </a:solidFill>
              </a:rPr>
              <a:t>graag</a:t>
            </a:r>
            <a:endParaRPr lang="en-US" sz="1400" dirty="0"/>
          </a:p>
        </p:txBody>
      </p:sp>
      <p:pic>
        <p:nvPicPr>
          <p:cNvPr id="11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92224"/>
            <a:ext cx="731520" cy="7315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15544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nager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zwem </a:t>
            </a:r>
            <a:r>
              <a:rPr lang="en-US" sz="1800" b="1" i="1" dirty="0">
                <a:solidFill>
                  <a:schemeClr val="accent3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761488" y="3246120"/>
            <a:ext cx="667512" cy="274320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29260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474720" y="29260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66160" y="29260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PERSONNE, UNE CHOSE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houden van</a:t>
            </a:r>
            <a:r>
              <a:rPr lang="en-US" sz="1400" dirty="0">
                <a:solidFill>
                  <a:schemeClr val="bg1"/>
                </a:solidFill>
              </a:rPr>
              <a:t> + nom</a:t>
            </a:r>
            <a:endParaRPr lang="en-US" sz="1400" dirty="0"/>
          </a:p>
        </p:txBody>
      </p:sp>
      <p:pic>
        <p:nvPicPr>
          <p:cNvPr id="17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63824"/>
            <a:ext cx="731520" cy="7315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29260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Bruxelles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Brussel.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2761488" y="3246120"/>
            <a:ext cx="667512" cy="16459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474720" y="42976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3474720" y="42976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66160" y="42976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 GOÛT, UNE IMPRESSION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lekker / leuk vinden</a:t>
            </a:r>
            <a:endParaRPr lang="en-US" sz="1400" dirty="0"/>
          </a:p>
        </p:txBody>
      </p:sp>
      <p:pic>
        <p:nvPicPr>
          <p:cNvPr id="23" name="Image 2" descr="face savoring foo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535424"/>
            <a:ext cx="731520" cy="7315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23760" y="42976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cette soupe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1"/>
                </a:solidFill>
              </a:rPr>
              <a:t>vind</a:t>
            </a:r>
            <a:r>
              <a:rPr lang="en-US" sz="1800" i="1" dirty="0">
                <a:solidFill>
                  <a:schemeClr val="tx1"/>
                </a:solidFill>
              </a:rPr>
              <a:t> deze soep </a:t>
            </a:r>
            <a:r>
              <a:rPr lang="en-US" sz="1800" b="1" i="1" dirty="0">
                <a:solidFill>
                  <a:schemeClr val="accent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Qu’est-ce que j’aime ? </a:t>
            </a:r>
            <a:r>
              <a:rPr lang="en-US" sz="1700" b="1" dirty="0">
                <a:solidFill>
                  <a:schemeClr val="bg1"/>
                </a:solidFill>
              </a:rPr>
              <a:t>faire</a:t>
            </a:r>
            <a:r>
              <a:rPr lang="en-US" sz="1700" dirty="0">
                <a:solidFill>
                  <a:schemeClr val="bg1"/>
                </a:solidFill>
              </a:rPr>
              <a:t> quelque chose · </a:t>
            </a:r>
            <a:r>
              <a:rPr lang="en-US" sz="1700" b="1" dirty="0">
                <a:solidFill>
                  <a:schemeClr val="bg1"/>
                </a:solidFill>
              </a:rPr>
              <a:t>quelqu’un / une chose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un goût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graag, liever, het liefst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3703320"/>
            <a:ext cx="2148840" cy="1188720"/>
          </a:xfrm>
          <a:prstGeom prst="roundRect">
            <a:avLst>
              <a:gd name="adj" fmla="val 307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37947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graag</a:t>
            </a:r>
            <a:endParaRPr lang="en-US" sz="2000" dirty="0"/>
          </a:p>
        </p:txBody>
      </p:sp>
      <p:pic>
        <p:nvPicPr>
          <p:cNvPr id="7" name="Image 0" descr="3rd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780" y="4251960"/>
            <a:ext cx="457200" cy="457200"/>
          </a:xfrm>
          <a:prstGeom prst="rect">
            <a:avLst/>
          </a:prstGeom>
        </p:spPr>
      </p:pic>
      <p:pic>
        <p:nvPicPr>
          <p:cNvPr id="8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2788920"/>
            <a:ext cx="822960" cy="8229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081528" y="2880360"/>
            <a:ext cx="2148840" cy="2011680"/>
          </a:xfrm>
          <a:prstGeom prst="roundRect">
            <a:avLst>
              <a:gd name="adj" fmla="val 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3081528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 liefst</a:t>
            </a:r>
            <a:endParaRPr lang="en-US" sz="2000" dirty="0"/>
          </a:p>
        </p:txBody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7348" y="3429000"/>
            <a:ext cx="457200" cy="457200"/>
          </a:xfrm>
          <a:prstGeom prst="rect">
            <a:avLst/>
          </a:prstGeom>
        </p:spPr>
      </p:pic>
      <p:pic>
        <p:nvPicPr>
          <p:cNvPr id="12" name="Image 3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4468" y="1965960"/>
            <a:ext cx="822960" cy="822960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5340096" y="3291840"/>
            <a:ext cx="2148840" cy="1600200"/>
          </a:xfrm>
          <a:prstGeom prst="roundRect">
            <a:avLst>
              <a:gd name="adj" fmla="val 2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5340096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liever</a:t>
            </a:r>
            <a:endParaRPr lang="en-US" sz="2000" dirty="0"/>
          </a:p>
        </p:txBody>
      </p:sp>
      <p:pic>
        <p:nvPicPr>
          <p:cNvPr id="15" name="Image 4" descr="2n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5916" y="3840480"/>
            <a:ext cx="457200" cy="457200"/>
          </a:xfrm>
          <a:prstGeom prst="rect">
            <a:avLst/>
          </a:prstGeom>
        </p:spPr>
      </p:pic>
      <p:pic>
        <p:nvPicPr>
          <p:cNvPr id="16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3036" y="2377440"/>
            <a:ext cx="822960" cy="82296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7680960" y="182880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18" name="Text 9"/>
          <p:cNvSpPr txBox="1"/>
          <p:nvPr/>
        </p:nvSpPr>
        <p:spPr>
          <a:xfrm>
            <a:off x="7680960" y="260604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liever</a:t>
            </a:r>
            <a:r>
              <a:rPr lang="en-US" sz="2000" i="1" dirty="0">
                <a:solidFill>
                  <a:schemeClr val="tx1"/>
                </a:solidFill>
              </a:rPr>
              <a:t> thee.</a:t>
            </a:r>
            <a:endParaRPr lang="en-US" sz="2000" dirty="0"/>
          </a:p>
        </p:txBody>
      </p:sp>
      <p:sp>
        <p:nvSpPr>
          <p:cNvPr id="19" name="Text 10"/>
          <p:cNvSpPr txBox="1"/>
          <p:nvPr/>
        </p:nvSpPr>
        <p:spPr>
          <a:xfrm>
            <a:off x="7680960" y="338328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het liefst</a:t>
            </a:r>
            <a:r>
              <a:rPr lang="en-US" sz="2000" i="1" dirty="0">
                <a:solidFill>
                  <a:schemeClr val="tx1"/>
                </a:solidFill>
              </a:rPr>
              <a:t> water.</a:t>
            </a:r>
            <a:endParaRPr lang="en-US" sz="2000" dirty="0"/>
          </a:p>
        </p:txBody>
      </p:sp>
      <p:sp>
        <p:nvSpPr>
          <p:cNvPr id="20" name="Shape 11"/>
          <p:cNvSpPr/>
          <p:nvPr/>
        </p:nvSpPr>
        <p:spPr>
          <a:xfrm>
            <a:off x="7680960" y="4251960"/>
            <a:ext cx="395935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2"/>
          <p:cNvSpPr txBox="1"/>
          <p:nvPr/>
        </p:nvSpPr>
        <p:spPr>
          <a:xfrm>
            <a:off x="7818120" y="4251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Koffie of thee? — </a:t>
            </a:r>
            <a:r>
              <a:rPr lang="en-US" sz="1700" b="1" i="1" dirty="0">
                <a:solidFill>
                  <a:schemeClr val="tx1"/>
                </a:solidFill>
              </a:rPr>
              <a:t>Liever</a:t>
            </a:r>
            <a:r>
              <a:rPr lang="en-US" sz="1700" i="1" dirty="0">
                <a:solidFill>
                  <a:schemeClr val="tx1"/>
                </a:solidFill>
              </a:rPr>
              <a:t> thee, graag!</a:t>
            </a:r>
            <a:endParaRPr lang="en-US" sz="1700" dirty="0"/>
          </a:p>
        </p:txBody>
      </p:sp>
      <p:sp>
        <p:nvSpPr>
          <p:cNvPr id="22" name="Shape 13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Irrégulier, comme </a:t>
            </a:r>
            <a:r>
              <a:rPr lang="en-US" sz="1600" i="1" dirty="0">
                <a:solidFill>
                  <a:schemeClr val="bg1"/>
                </a:solidFill>
              </a:rPr>
              <a:t>goed → beter → best</a:t>
            </a:r>
            <a:r>
              <a:rPr lang="en-US" sz="1600" dirty="0">
                <a:solidFill>
                  <a:schemeClr val="bg1"/>
                </a:solidFill>
              </a:rPr>
              <a:t> (M21) · </a:t>
            </a:r>
            <a:r>
              <a:rPr lang="en-US" sz="1600" i="1" dirty="0">
                <a:solidFill>
                  <a:schemeClr val="bg1"/>
                </a:solidFill>
              </a:rPr>
              <a:t>Ik werk liever ’s ochtends dan ’s avonds.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graag, niet houden van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ACTIVITÉ</a:t>
            </a:r>
            <a:endParaRPr lang="en-US" sz="1600" dirty="0"/>
          </a:p>
        </p:txBody>
      </p:sp>
      <p:pic>
        <p:nvPicPr>
          <p:cNvPr id="8" name="Image 0" descr="persever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7488" y="2240280"/>
            <a:ext cx="685800" cy="685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op zaterdag.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sta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vroeg op.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PERSONNE, CHOSE</a:t>
            </a:r>
            <a:endParaRPr lang="en-US" sz="1600" dirty="0"/>
          </a:p>
        </p:txBody>
      </p:sp>
      <p:pic>
        <p:nvPicPr>
          <p:cNvPr id="13" name="Image 1" descr="unamuse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2240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55664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van spinnen.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helemaal niet</a:t>
            </a:r>
            <a:r>
              <a:rPr lang="en-US" sz="2000" i="1" dirty="0">
                <a:solidFill>
                  <a:schemeClr val="tx1"/>
                </a:solidFill>
              </a:rPr>
              <a:t> van regen.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4864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helemaal niet graag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2781605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E8A09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781605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niet graag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501457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01457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graag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7247534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F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247534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liever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9480499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480499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het liefst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4846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je n’aime pas                                                                     j’aime le plus ▶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394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se place juste </a:t>
            </a:r>
            <a:r>
              <a:rPr lang="en-US" sz="1800" b="1" dirty="0">
                <a:solidFill>
                  <a:schemeClr val="bg1"/>
                </a:solidFill>
              </a:rPr>
              <a:t>avant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(M13) · avec </a:t>
            </a: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avant la préposition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lekker, leuk vinden et dol zijn op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rk and knife with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3852" y="178308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lekker vinden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nourriture, boisson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deze soep </a:t>
            </a:r>
            <a:r>
              <a:rPr lang="en-US" sz="1700" b="1" i="1" dirty="0">
                <a:solidFill>
                  <a:schemeClr val="accent1"/>
                </a:solidFill>
              </a:rPr>
              <a:t>lekker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admission ticke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6" y="1783080"/>
            <a:ext cx="9144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459224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2"/>
                </a:solidFill>
              </a:rPr>
              <a:t>leuk vinden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459224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activité, film, personne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59224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voetbal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 · Ik vind Sofie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smiling face with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1783080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232648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4"/>
                </a:solidFill>
              </a:rPr>
              <a:t>dol zijn op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232648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adorer (aussi : </a:t>
            </a:r>
            <a:r>
              <a:rPr lang="en-US" sz="1400" i="1" dirty="0">
                <a:solidFill>
                  <a:schemeClr val="accent5"/>
                </a:solidFill>
              </a:rPr>
              <a:t>gek zijn op</a:t>
            </a:r>
            <a:r>
              <a:rPr lang="en-US" sz="1400" i="1" dirty="0">
                <a:solidFill>
                  <a:schemeClr val="accent5"/>
                </a:solidFill>
              </a:rPr>
              <a:t>)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232648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</a:t>
            </a:r>
            <a:r>
              <a:rPr lang="en-US" sz="1700" b="1" i="1" dirty="0">
                <a:solidFill>
                  <a:schemeClr val="accent4"/>
                </a:solidFill>
              </a:rPr>
              <a:t>dol op</a:t>
            </a:r>
            <a:r>
              <a:rPr lang="en-US" sz="1700" i="1" dirty="0">
                <a:solidFill>
                  <a:schemeClr val="tx1"/>
                </a:solidFill>
              </a:rPr>
              <a:t> chocolade.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074920"/>
            <a:ext cx="11091672" cy="594360"/>
          </a:xfrm>
          <a:prstGeom prst="roundRect">
            <a:avLst>
              <a:gd name="adj" fmla="val 1538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7492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Deze soep is leuk</a:t>
            </a:r>
            <a:r>
              <a:rPr lang="en-US" sz="1800" dirty="0">
                <a:solidFill>
                  <a:schemeClr val="tx1"/>
                </a:solidFill>
              </a:rPr>
              <a:t> : une soupe n’est pas « sympa » → </a:t>
            </a:r>
            <a:r>
              <a:rPr lang="en-US" sz="1800" i="1" dirty="0">
                <a:solidFill>
                  <a:schemeClr val="tx1"/>
                </a:solidFill>
              </a:rPr>
              <a:t>Deze soep is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vind Sofie leuk</a:t>
            </a:r>
            <a:r>
              <a:rPr lang="en-US" sz="1500" i="1" dirty="0">
                <a:solidFill>
                  <a:schemeClr val="accent5"/>
                </a:solidFill>
              </a:rPr>
              <a:t> peut vouloir dire « Sofie me plaît » : au bureau, préférez </a:t>
            </a:r>
            <a:r>
              <a:rPr lang="en-US" sz="1500" i="1" dirty="0">
                <a:solidFill>
                  <a:schemeClr val="accent5"/>
                </a:solidFill>
              </a:rPr>
              <a:t>aardig</a:t>
            </a:r>
            <a:r>
              <a:rPr lang="en-US" sz="1500" i="1" dirty="0">
                <a:solidFill>
                  <a:schemeClr val="accent5"/>
                </a:solidFill>
              </a:rPr>
              <a:t> (gentille).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seul « aimer » en français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nager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graag zwem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465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6812280" y="21396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21396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zwem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le café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465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812280" y="28254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28254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✓ </a:t>
            </a:r>
            <a:r>
              <a:rPr lang="en-US" sz="1500" i="1" dirty="0">
                <a:solidFill>
                  <a:schemeClr val="tx1"/>
                </a:solidFill>
              </a:rPr>
              <a:t>Ik drink graag koffie · Ik hou van koffie · Ik vind koffie lekker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4747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»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465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812280" y="35112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49440" y="35112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je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1605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bien »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hou van je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465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812280" y="41970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949440" y="41970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vind je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accent1"/>
                </a:solidFill>
              </a:rPr>
              <a:t>aardig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68680" y="48463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J’aimerais un café »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465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812280" y="48828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48828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wil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een koffie (M29)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hou van je</a:t>
            </a:r>
            <a:r>
              <a:rPr lang="en-US" sz="1700" dirty="0">
                <a:solidFill>
                  <a:schemeClr val="bg1"/>
                </a:solidFill>
              </a:rPr>
              <a:t> est fort (partenaire, enfants). Au bureau : </a:t>
            </a:r>
            <a:r>
              <a:rPr lang="en-US" sz="1700" i="1" dirty="0">
                <a:solidFill>
                  <a:schemeClr val="bg1"/>
                </a:solidFill>
              </a:rPr>
              <a:t>Ik vind mijn collega’s leuk / aardig.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dans la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person tipp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6692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55448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99032" y="155448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Wat mag het zijn?</a:t>
            </a:r>
            <a:endParaRPr lang="en-US" sz="1600" dirty="0"/>
          </a:p>
        </p:txBody>
      </p:sp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212848"/>
            <a:ext cx="566928" cy="56692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37360" y="2212848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01952" y="22128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Ik wil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 een koffie.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680960" y="2212848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je voudrais</a:t>
            </a:r>
            <a:endParaRPr lang="en-US" sz="1500" dirty="0"/>
          </a:p>
        </p:txBody>
      </p:sp>
      <p:pic>
        <p:nvPicPr>
          <p:cNvPr id="12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71216"/>
            <a:ext cx="566928" cy="56692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871216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99032" y="287121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Met melk?</a:t>
            </a:r>
            <a:endParaRPr lang="en-US" sz="1600" dirty="0"/>
          </a:p>
        </p:txBody>
      </p:sp>
      <p:pic>
        <p:nvPicPr>
          <p:cNvPr id="15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3529584"/>
            <a:ext cx="566928" cy="566928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737360" y="3529584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1901952" y="352958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7680960" y="3529584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oui, volontiers</a:t>
            </a:r>
            <a:endParaRPr lang="en-US" sz="1500" dirty="0"/>
          </a:p>
        </p:txBody>
      </p:sp>
      <p:pic>
        <p:nvPicPr>
          <p:cNvPr id="19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4187952"/>
            <a:ext cx="566928" cy="56692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737360" y="4187952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901952" y="418795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u wel!</a:t>
            </a:r>
            <a:endParaRPr lang="en-US" sz="1600" dirty="0"/>
          </a:p>
        </p:txBody>
      </p:sp>
      <p:pic>
        <p:nvPicPr>
          <p:cNvPr id="22" name="Image 5" descr="person tipping han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846320"/>
            <a:ext cx="566928" cy="566928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1234440" y="484632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1399032" y="48463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Graag gedaan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7680960" y="4846320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avec plaisir / de rien</a:t>
            </a:r>
            <a:endParaRPr lang="en-US" sz="1500" dirty="0"/>
          </a:p>
        </p:txBody>
      </p:sp>
      <p:pic>
        <p:nvPicPr>
          <p:cNvPr id="2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600200"/>
            <a:ext cx="914400" cy="914400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Belgique : on entend aussi </a:t>
            </a:r>
            <a:r>
              <a:rPr lang="en-US" sz="1800" i="1" dirty="0">
                <a:solidFill>
                  <a:schemeClr val="bg1"/>
                </a:solidFill>
              </a:rPr>
              <a:t>Ik had graag een koffie</a:t>
            </a:r>
            <a:r>
              <a:rPr lang="en-US" sz="1800" dirty="0">
                <a:solidFill>
                  <a:schemeClr val="bg1"/>
                </a:solidFill>
              </a:rPr>
              <a:t> (je voudrais) — voir M29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graag dans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3558889" y="1600200"/>
            <a:ext cx="1790395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58889" y="1600200"/>
            <a:ext cx="1790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een koffie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40724" y="1600200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440724" y="1600200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bestellen.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061199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61199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4392273" y="2350008"/>
            <a:ext cx="157513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4392273" y="2350008"/>
            <a:ext cx="15751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gedaan.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1232245" y="3099816"/>
            <a:ext cx="736377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232245" y="3099816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2060063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60063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391137" y="3099816"/>
            <a:ext cx="2239731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391137" y="3099816"/>
            <a:ext cx="22397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naar de film.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548640" y="3849624"/>
            <a:ext cx="238951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8640" y="3849624"/>
            <a:ext cx="23895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In het weekend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029590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029590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4360664" y="3849624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60664" y="3849624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5044269" y="3849624"/>
            <a:ext cx="1407386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44269" y="3849624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graag.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548640" y="4599432"/>
            <a:ext cx="149083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48640" y="4599432"/>
            <a:ext cx="14908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2130918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130918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2814523" y="4599432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814523" y="4599432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47" name="Shape 44"/>
          <p:cNvSpPr/>
          <p:nvPr/>
        </p:nvSpPr>
        <p:spPr>
          <a:xfrm>
            <a:off x="4145597" y="4599432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145597" y="4599432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fiets.</a:t>
            </a:r>
            <a:endParaRPr lang="en-US" sz="2100" dirty="0"/>
          </a:p>
        </p:txBody>
      </p:sp>
      <p:sp>
        <p:nvSpPr>
          <p:cNvPr id="49" name="Shape 46"/>
          <p:cNvSpPr/>
          <p:nvPr/>
        </p:nvSpPr>
        <p:spPr>
          <a:xfrm>
            <a:off x="8503920" y="1600200"/>
            <a:ext cx="3136392" cy="3602736"/>
          </a:xfrm>
          <a:prstGeom prst="roundRect">
            <a:avLst>
              <a:gd name="adj" fmla="val 2915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641080" y="1691640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Comme </a:t>
            </a:r>
            <a:r>
              <a:rPr lang="en-US" sz="1500" b="1" i="1" dirty="0">
                <a:solidFill>
                  <a:schemeClr val="tx1"/>
                </a:solidFill>
              </a:rPr>
              <a:t>niet</a:t>
            </a:r>
            <a:r>
              <a:rPr lang="en-US" sz="1500" dirty="0">
                <a:solidFill>
                  <a:schemeClr val="tx1"/>
                </a:solidFill>
              </a:rPr>
              <a:t> (M13)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 conjugué (et le sujet inversé)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les pronoms (</a:t>
            </a:r>
            <a:r>
              <a:rPr lang="en-US" sz="1500" i="1" dirty="0">
                <a:solidFill>
                  <a:schemeClr val="tx1"/>
                </a:solidFill>
              </a:rPr>
              <a:t>dat, het, me</a:t>
            </a:r>
            <a:r>
              <a:rPr lang="en-US" sz="1500" dirty="0">
                <a:solidFill>
                  <a:schemeClr val="tx1"/>
                </a:solidFill>
              </a:rPr>
              <a:t>), avant les autres compléments et le 2ᵉ verbe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dat graag gedaan</a:t>
            </a:r>
            <a:r>
              <a:rPr lang="en-US" sz="1500" dirty="0">
                <a:solidFill>
                  <a:schemeClr val="tx1"/>
                </a:solidFill>
              </a:rPr>
              <a:t> = je l’ai fait avec plaisir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Subordonnée : </a:t>
            </a:r>
            <a:r>
              <a:rPr lang="en-US" sz="1700" i="1" dirty="0">
                <a:solidFill>
                  <a:schemeClr val="bg1"/>
                </a:solidFill>
              </a:rPr>
              <a:t>graag</a:t>
            </a:r>
            <a:r>
              <a:rPr lang="en-US" sz="1700" dirty="0">
                <a:solidFill>
                  <a:schemeClr val="bg1"/>
                </a:solidFill>
              </a:rPr>
              <a:t> reste devant le verbe, qui part à la fin (M9) : </a:t>
            </a:r>
            <a:r>
              <a:rPr lang="en-US" sz="1700" i="1" dirty="0">
                <a:solidFill>
                  <a:schemeClr val="bg1"/>
                </a:solidFill>
              </a:rPr>
              <a:t>…, omdat ik graag fiets.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ACTIVITÉ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+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lees </a:t>
            </a: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22064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22064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PERSONNE / CHOSE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59224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+ nom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095488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5488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GOÛT / IMPRESSION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32648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lekker / leuk vinden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vind de soep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niet graag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3346704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3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46704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144768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5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44768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8942832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6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42832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het liefst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114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+ </a:t>
            </a:r>
            <a:r>
              <a:rPr lang="en-US" sz="1500" i="1" dirty="0">
                <a:solidFill>
                  <a:schemeClr val="accent5"/>
                </a:solidFill>
              </a:rPr>
              <a:t>dol zijn op</a:t>
            </a:r>
            <a:r>
              <a:rPr lang="en-US" sz="1500" i="1" dirty="0">
                <a:solidFill>
                  <a:schemeClr val="accent5"/>
                </a:solidFill>
              </a:rPr>
              <a:t> (adorer)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Politesse : </a:t>
            </a:r>
            <a:r>
              <a:rPr lang="en-US" sz="1900" i="1" dirty="0">
                <a:solidFill>
                  <a:schemeClr val="tx1"/>
                </a:solidFill>
              </a:rPr>
              <a:t>Ja, graag! · Graag gedaan! · Ik wil graag…</a:t>
            </a:r>
            <a:r>
              <a:rPr lang="en-US" sz="1900" dirty="0">
                <a:solidFill>
                  <a:schemeClr val="tx1"/>
                </a:solidFill>
              </a:rPr>
              <a:t> · Place : comme </a:t>
            </a:r>
            <a:r>
              <a:rPr lang="en-US" sz="1900" i="1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pic>
        <p:nvPicPr>
          <p:cNvPr id="28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graag ou houden van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podium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« aimer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GlassChe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sortie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0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8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0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2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i="1" dirty="0">
                <a:solidFill>
                  <a:schemeClr val="accent5"/>
                </a:solidFill>
              </a:rPr>
              <a:t>……………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4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6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8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0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2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4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6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8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1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5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7" name="Shape 11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3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b="1" i="1" dirty="0">
                <a:solidFill>
                  <a:schemeClr val="accent3"/>
                </a:solidFill>
              </a:rPr>
              <a:t>houdt van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5" name="Shape 17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7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9" name="Shape 20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1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Hou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b="1" i="1" dirty="0">
                <a:solidFill>
                  <a:schemeClr val="accent3"/>
                </a:solidFill>
              </a:rPr>
              <a:t>van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3" name="Shape 23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5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7" name="Shape 26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9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8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0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2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4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5" name="Shape 8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18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0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3" name="Shape 13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4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6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28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0" name="Shape 17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1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3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5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36" name="Text 20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37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38" name="Shape 22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9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1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3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45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46" name="Shape 27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9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1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3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6" name="Shape 9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537960" y="1987296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drink graag koffie, liever thee en het liefst water.</a:t>
            </a:r>
            <a:endParaRPr lang="en-US" sz="1500" dirty="0"/>
          </a:p>
        </p:txBody>
      </p:sp>
      <p:pic>
        <p:nvPicPr>
          <p:cNvPr id="18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20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2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4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5" name="Shape 15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6537960" y="2859024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neem graag de bus, liever de trein en het liefst de fiets.</a:t>
            </a:r>
            <a:endParaRPr lang="en-US" sz="1500" dirty="0"/>
          </a:p>
        </p:txBody>
      </p:sp>
      <p:pic>
        <p:nvPicPr>
          <p:cNvPr id="27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9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31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3" name="Shape 20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1"/>
          <p:cNvSpPr txBox="1"/>
          <p:nvPr/>
        </p:nvSpPr>
        <p:spPr>
          <a:xfrm>
            <a:off x="6537960" y="3730752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kijk graag tv, ik lees liever en ik wandel het liefst.</a:t>
            </a:r>
            <a:endParaRPr lang="en-US" sz="1500" dirty="0"/>
          </a:p>
        </p:txBody>
      </p:sp>
      <p:pic>
        <p:nvPicPr>
          <p:cNvPr id="35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7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9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40" name="Text 24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41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42" name="Shape 26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27"/>
          <p:cNvSpPr txBox="1"/>
          <p:nvPr/>
        </p:nvSpPr>
        <p:spPr>
          <a:xfrm>
            <a:off x="6537960" y="4602480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bezoek graag Gent, liever Brugge en het liefst Antwerpen.</a:t>
            </a:r>
            <a:endParaRPr lang="en-US" sz="1500" dirty="0"/>
          </a:p>
        </p:txBody>
      </p:sp>
      <p:pic>
        <p:nvPicPr>
          <p:cNvPr id="44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5" name="Text 28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6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7" name="Text 29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8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9" name="Text 30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50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51" name="Shape 32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33"/>
          <p:cNvSpPr txBox="1"/>
          <p:nvPr/>
        </p:nvSpPr>
        <p:spPr>
          <a:xfrm>
            <a:off x="6537960" y="5474208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eet graag vis, liever kip en het liefst pasta.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kook graag.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hou van Antwerpen.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vind deze taart lekker.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werk niet graag op zaterdag.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ben dol op chocolade.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drink liever thee.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dirty="0">
                <a:solidFill>
                  <a:schemeClr val="tx1"/>
                </a:solidFill>
              </a:rPr>
              <a:t>Ik graag lees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dirty="0">
                <a:solidFill>
                  <a:schemeClr val="tx1"/>
                </a:solidFill>
              </a:rPr>
              <a:t>Ik houd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dirty="0">
                <a:solidFill>
                  <a:schemeClr val="tx1"/>
                </a:solidFill>
              </a:rPr>
              <a:t>meer graag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dirty="0">
                <a:solidFill>
                  <a:schemeClr val="tx1"/>
                </a:solidFill>
              </a:rPr>
              <a:t>leuk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Ik sport graag niet.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strike="sngStrike" dirty="0">
                <a:solidFill>
                  <a:schemeClr val="accent6"/>
                </a:solidFill>
              </a:rPr>
              <a:t>Ik graag lees</a:t>
            </a:r>
            <a:r>
              <a:rPr lang="en-US" sz="1900" b="1" i="1" dirty="0">
                <a:solidFill>
                  <a:schemeClr val="accent3"/>
                </a:solidFill>
              </a:rPr>
              <a:t> Ik lees graag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strike="sngStrike" dirty="0">
                <a:solidFill>
                  <a:schemeClr val="accent6"/>
                </a:solidFill>
              </a:rPr>
              <a:t>Ik houd muziek</a:t>
            </a:r>
            <a:r>
              <a:rPr lang="en-US" sz="1900" b="1" i="1" dirty="0">
                <a:solidFill>
                  <a:schemeClr val="accent3"/>
                </a:solidFill>
              </a:rPr>
              <a:t> Ik houd van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strike="sngStrike" dirty="0">
                <a:solidFill>
                  <a:schemeClr val="accent6"/>
                </a:solidFill>
              </a:rPr>
              <a:t>meer graag</a:t>
            </a:r>
            <a:r>
              <a:rPr lang="en-US" sz="1900" b="1" i="1" dirty="0">
                <a:solidFill>
                  <a:schemeClr val="accent3"/>
                </a:solidFill>
              </a:rPr>
              <a:t> liever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strike="sngStrike" dirty="0">
                <a:solidFill>
                  <a:schemeClr val="accent6"/>
                </a:solidFill>
              </a:rPr>
              <a:t>leuk</a:t>
            </a:r>
            <a:r>
              <a:rPr lang="en-US" sz="1900" b="1" i="1" dirty="0">
                <a:solidFill>
                  <a:schemeClr val="accent3"/>
                </a:solidFill>
              </a:rPr>
              <a:t> lekker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strike="sngStrike" dirty="0">
                <a:solidFill>
                  <a:schemeClr val="accent6"/>
                </a:solidFill>
              </a:rPr>
              <a:t>Ik sport graag niet.</a:t>
            </a:r>
            <a:r>
              <a:rPr lang="en-US" sz="1900" b="1" i="1" dirty="0">
                <a:solidFill>
                  <a:schemeClr val="accent3"/>
                </a:solidFill>
              </a:rPr>
              <a:t> Ik sport niet graag.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Ik hou van mijn katten</a:t>
            </a:r>
            <a:r>
              <a:rPr lang="en-US" sz="1400" i="1" dirty="0">
                <a:solidFill>
                  <a:schemeClr val="accent5"/>
                </a:solidFill>
              </a:rPr>
              <a:t> est correct. Aussi : </a:t>
            </a:r>
            <a:r>
              <a:rPr lang="en-US" sz="1400" i="1" dirty="0">
                <a:solidFill>
                  <a:schemeClr val="accent5"/>
                </a:solidFill>
              </a:rPr>
              <a:t>Ik doe niet graag aan sport.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4231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231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337560" y="2060448"/>
            <a:ext cx="20574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337560" y="2060448"/>
            <a:ext cx="20574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naar de film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6235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235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 rot="-120000">
            <a:off x="1097280" y="2932176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97280" y="2932176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gedaan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 rot="60000">
            <a:off x="256032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6032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heeft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120000">
            <a:off x="388620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8620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-60000">
            <a:off x="52120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2120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6364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6364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 rot="-120000">
            <a:off x="1097280" y="3803904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803904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 rot="60000">
            <a:off x="256032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56032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wij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 rot="120000">
            <a:off x="36118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6118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eten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-60000">
            <a:off x="480060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0060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vis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 rot="-120000">
            <a:off x="1097280" y="4675632"/>
            <a:ext cx="17830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097280" y="4675632"/>
            <a:ext cx="17830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koffie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 rot="60000">
            <a:off x="310896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310896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 rot="120000">
            <a:off x="4434840" y="4675632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4434840" y="4675632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wil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-60000">
            <a:off x="548640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 rot="-120000">
            <a:off x="109728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 rot="60000">
            <a:off x="214884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14884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jij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 rot="120000">
            <a:off x="3200400" y="5547360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200400" y="5547360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jazz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-60000">
            <a:off x="43891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3891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hou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5440680" y="5547360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5440680" y="5547360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ga graag naar de film.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Karim heeft dat graag gedaan.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Wij eten liever vis.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Sofie wil graag een koffie.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Hou jij van jazz?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7" name="Image 0" descr="coo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09928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kookt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0" name="Shape 6"/>
          <p:cNvSpPr/>
          <p:nvPr/>
        </p:nvSpPr>
        <p:spPr>
          <a:xfrm>
            <a:off x="297180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1709928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06324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katten houdt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24612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4" name="Shape 9"/>
          <p:cNvSpPr/>
          <p:nvPr/>
        </p:nvSpPr>
        <p:spPr>
          <a:xfrm>
            <a:off x="539496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2" descr="teacup without hand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7099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48640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liever thee drinkt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66928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8" name="Shape 12"/>
          <p:cNvSpPr/>
          <p:nvPr/>
        </p:nvSpPr>
        <p:spPr>
          <a:xfrm>
            <a:off x="54864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9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72968"/>
            <a:ext cx="502920" cy="5029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niet graag vroeg opstaat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2" name="Shape 15"/>
          <p:cNvSpPr/>
          <p:nvPr/>
        </p:nvSpPr>
        <p:spPr>
          <a:xfrm>
            <a:off x="297180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3" name="Image 4" descr="chocolate b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3172968"/>
            <a:ext cx="502920" cy="5029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06324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dol is op chocolade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24612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6" name="Shape 18"/>
          <p:cNvSpPr/>
          <p:nvPr/>
        </p:nvSpPr>
        <p:spPr>
          <a:xfrm>
            <a:off x="539496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7" name="Image 5" descr="person bik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4688" y="3172968"/>
            <a:ext cx="502920" cy="5029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48640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het liefst fietst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66928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0" name="Shape 21"/>
          <p:cNvSpPr/>
          <p:nvPr/>
        </p:nvSpPr>
        <p:spPr>
          <a:xfrm>
            <a:off x="54864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1" name="Image 6" descr="woman danc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636008"/>
            <a:ext cx="502920" cy="50292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danst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4" name="Shape 24"/>
          <p:cNvSpPr/>
          <p:nvPr/>
        </p:nvSpPr>
        <p:spPr>
          <a:xfrm>
            <a:off x="297180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5" name="Image 7" descr="cloud with ra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81528" y="4636008"/>
            <a:ext cx="502920" cy="50292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06324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regen houdt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24612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8" name="Shape 27"/>
          <p:cNvSpPr/>
          <p:nvPr/>
        </p:nvSpPr>
        <p:spPr>
          <a:xfrm>
            <a:off x="539496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9" name="Image 8" descr="open boo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04688" y="4636008"/>
            <a:ext cx="502920" cy="50292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48640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leest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66928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pic>
        <p:nvPicPr>
          <p:cNvPr id="42" name="Image 9" descr="magnifying glass tilted lef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1600200"/>
            <a:ext cx="731520" cy="731520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8869680" y="1600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44" name="Text 31"/>
          <p:cNvSpPr txBox="1"/>
          <p:nvPr/>
        </p:nvSpPr>
        <p:spPr>
          <a:xfrm>
            <a:off x="8046720" y="2514600"/>
            <a:ext cx="359359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Posez la question : </a:t>
            </a:r>
            <a:r>
              <a:rPr lang="en-US" sz="1500" i="1" dirty="0">
                <a:solidFill>
                  <a:schemeClr val="tx1"/>
                </a:solidFill>
              </a:rPr>
              <a:t>Kook je graag? · Hou je van katten?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« </a:t>
            </a:r>
            <a:r>
              <a:rPr lang="en-US" sz="1500" i="1" dirty="0">
                <a:solidFill>
                  <a:schemeClr val="tx1"/>
                </a:solidFill>
              </a:rPr>
              <a:t>Ja!</a:t>
            </a:r>
            <a:r>
              <a:rPr lang="en-US" sz="1500" dirty="0">
                <a:solidFill>
                  <a:schemeClr val="tx1"/>
                </a:solidFill>
              </a:rPr>
              <a:t> » : écrivez le prénom sur la ligne.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Une ligne complète :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— présentez vos trouvailles : </a:t>
            </a:r>
            <a:r>
              <a:rPr lang="en-US" sz="1500" i="1" dirty="0">
                <a:solidFill>
                  <a:schemeClr val="tx1"/>
                </a:solidFill>
              </a:rPr>
              <a:t>Karim kookt graag.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sortie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An organise une sortie d’équipe. Chacun dit ce qu’il aime, ce qu’il préfère et ce qu’il n’aime pas. Puis l’équipe vote.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présentez les activités et demandez l’avis de chacun : </a:t>
            </a:r>
            <a:r>
              <a:rPr lang="en-US" sz="1700" i="1" dirty="0">
                <a:solidFill>
                  <a:schemeClr val="tx1"/>
                </a:solidFill>
              </a:rPr>
              <a:t>Wat doe je graag?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 membre de l’équipe</a:t>
            </a:r>
            <a:r>
              <a:rPr lang="en-US" sz="1700" dirty="0">
                <a:solidFill>
                  <a:schemeClr val="tx1"/>
                </a:solidFill>
              </a:rPr>
              <a:t> : donnez vos préférences et justifiez : </a:t>
            </a:r>
            <a:r>
              <a:rPr lang="en-US" sz="1700" i="1" dirty="0">
                <a:solidFill>
                  <a:schemeClr val="tx1"/>
                </a:solidFill>
              </a:rPr>
              <a:t>Ik … liever …, want…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doe je graag? · Ik hou van… · Ik … liever … · Ik vind … leuk. · Ik … niet graag … · Het liefst … · We kiezen …, want we … allemaal graag.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TEAMUITSTAP · STEM!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bow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bowling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€ 15 · 2 uur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kookworkshop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€ 45 · 3 uur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lock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escaperoom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€ 25 · 1 uur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evergreen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wandeling in het Zoniënwoud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gratis · 3 uur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lire.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la musique.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Koffie of thee? — ……… thee!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Faire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Zich of elkaar?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Hij wast zich · Ze helpen elkaar.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27 — Graag of houden van? — Dire ce qu’on aime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2026-10-06T08:28:19Z</dcterms:created>
  <dcterms:modified xsi:type="dcterms:W3CDTF">2026-10-06T08:28:19Z</dcterms:modified>
</cp:coreProperties>
</file>