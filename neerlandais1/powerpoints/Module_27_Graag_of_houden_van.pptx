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uverture" id="{f6605700-d3b4-58d1-ddc9-9d9d37a7e604}">
          <p14:sldIdLst>
            <p14:sldId id="256"/>
          </p14:sldIdLst>
        </p14:section>
        <p14:section name="Découvrir" id="{70a41e90-1d3c-de17-d956-f140594de19f}">
          <p14:sldIdLst>
            <p14:sldId id="257"/>
            <p14:sldId id="258"/>
          </p14:sldIdLst>
        </p14:section>
        <p14:section name="Comprendre" id="{97600bc0-2a66-16e7-9b11-fd814ff81dd3}">
          <p14:sldIdLst>
            <p14:sldId id="259"/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</p14:sldIdLst>
        </p14:section>
        <p14:section name="JIJ NU ! — Oefeningen" id="{d027a2ae-da7d-4d46-7103-23d1d690a0d0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  <p14:sldId id="281"/>
          </p14:sldIdLst>
        </p14:section>
        <p14:section name="Clôture" id="{3cd40d1d-2f70-f769-91d4-c24de7379e06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le thème : un seul verbe en français, plusieurs en néerlandais.
Question d'entrée : « Comment dit-on j'aime nager et j'aime la mer ? » Les deux « aimer » ne se traduisent pas de la même façon.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Rendre les objectifs explicites.
Parler de ses goûts sert à se présenter, à faire connaissance avec ses collègues et à choisir une activité en équipe.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Découvrir graag et houden van dans des présentations.
Faites observer : graag suit un verbe d'action (kook, fiets, lees) ; houden van est suivi d'un nom (muziek, de zee, katten).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ce qu'on aime faire, avec graag à la bonne place.
graag signifie littéralement « volontiers » : Ik fiets graag = je fais du vélo volontiers = j'aime faire du vélo. Faites répondre à Wat doe je graag in het weekend?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qui ou ce qu'on aime avec houden van.
houden van exprime un attachement général ou fort (une personne, un lieu, un genre de musique). Avec un pronom : Ik hou van hem / van haar / van jou. Pour une chose déjà nommée : ervan (M23).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traduction de « aimer » selon ce qu'on aime.
Question-réflexe : « Qu'est-ce que j'aime ? Faire quelque chose, quelqu'un ou une chose en général, ou un goût / une impression ? » Le schéma est la référence de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Comparer ses préférences.
graag → liever → het liefst est irrégulier (comme goed → beter → best, M21). Avec une comparaison : liever … dan … : Ik werk liever 's ochtends dan 's avonds.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Dire ce qu'on n'aime pas, avec niet à la bonne place.
niet se place juste avant graag (M13). Avec houden van : Ik hou niet van… (niet avant la préposition). helemaal niet = pas du tout.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Exprimer un goût, une impression et l'enthousiasme.
lekker = bon (au goût). leuk = sympa, chouette. ✗ Deze soep is leuk (une soupe n'est pas « sympa »). Ik vind Sofie leuk peut vouloir dire « Sofie me plaît » : selon le contexte, préférez aardig (gentille).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Éviter les calques les plus fréquents.
Ik hou van je est fort : on le dit à son ou sa partenaire, à ses enfants. Au bureau, Ik vind mijn collega's leuk / aardig. Pour le café, les trois phrases sont justes, avec une nuance : l'habitude, le goût en général, le goût de ce café-là. En Flandre, Ik zie je graag veut dire « je t'aime » (très courant).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graag pour accepter, demander et remercier.
Graag gedaan répond à un merci. Ja, graag! / Nee, dank je : accepter ou refuser poliment. En Belgique, on entend aussi Ik had graag een koffie (je voudrais), vu au M29.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graag dans les phrases à deux verbes et après une inversion.
graag se comporte comme niet : après le verbe conjugué et le sujet inversé, après les pronoms (dat, het, me…), avant les autres compléments et le 2e verbe. Ik heb dat graag gedaan = je l'ai fait avec plaisir.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Synthèse à photographier.
Ce schéma est la référence pour tous les exercices.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Annoncer la séquence d'exercices.
Exercices 1 et 2 en séance 1, les autres en séance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entre graag et houden van.
Faites justifier avec l'aiguillage : activité (verbe d'action déjà présent) → graag ; nom seul → houden van.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entre graag et houden van.
Faites justifier avec l'aiguillage : activité (verbe d'action déjà présent) → graag ; nom seul → houden van.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Utiliser graag, liever, het liefst.
N° 3 : chaque activité a son verbe (kijk tv, lees, wandel). Prolongement : En jij? Wat drink jij het liefst?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Utiliser graag, liever, het liefst.
N° 3 : chaque activité a son verbe (kijk tv, lees, wandel). Prolongement : En jij? Wat drink jij het liefst?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Choisir la bonne structure selon le sens.
N° 1 : Ik hou van koken est aussi correct, mais moins courant. N° 5 : Ik hou van chocolade est accepté.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Choisir la bonne structure selon le sens.
N° 1 : Ik hou van koken est aussi correct, mais moins courant. N° 5 : Ik hou van chocolade est accepté.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Corriger les erreurs typiques dans une présentation.
Leurre : Ik hou van mijn katten est correct. N° 5 : niet se place avant graag (diapo 8) ; on peut dire aussi Ik doe niet graag aan sport. En Flandre, on entend souvent Ik heb dat niet graag (= je n'aime pas ça) : courant à l'oral, mais en néerlandais standard on dit Ik sport niet graag.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Corriger les erreurs typiques dans une présentation.
Leurre : Ik hou van mijn katten est correct. N° 5 : niet se place avant graag (diapo 8) ; on peut dire aussi Ik doe niet graag aan sport. En Flandre, on entend souvent Ik heb dat niet graag (= je n'aime pas ça) : courant à l'oral, mais en néerlandais standard on dit Ik sport niet graag.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Placer graag, liever et houden van dans la phrase.
Faites colorer le verbe conjugué en rouge et graag en vert, comme sur la diapo 12. N° 5 : la question commence par le verbe (M3). Acceptez aussi les inversions correctes : Dat heeft Karim graag gedaan. · Liever eten wij vis.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CORRIGÉ — révélez les réponses une à une, en faisant justifier chaque choix.
Objectif : Placer graag, liever et houden van dans la phrase.
Faites colorer le verbe conjugué en rouge et graag en vert, comme sur la diapo 12. N° 5 : la question commence par le verbe (M3). Acceptez aussi les inversions correctes : Dat heeft Karim graag gedaan. · Liever eten wij vis.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Poser des questions sur les goûts et répondre, en se déplaçant dans la classe.
Exigez la question complète, pas seulement le mot-clé. Pour van katten houdt : Hou je van katten? Pour het liefst fietst : Wat doe je het liefst?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Mise en situation : choisir une activité d'équipe en exprimant ses préférences.
het Zoniënwoud = la forêt de Soignes. À la fin, le groupe vote et justifie : We kiezen de kookworkshop, want we koken allemaal graag.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Objectif : Vérifier les 3 objectifs.
Réponses :
1. Ik lees graag.
2. Ik hou van muziek.
3. Liever thee! (Graag thee! se comprend, mais on dit plutôt Thee, graag!)
Teaser M28 : Hij wast zich · Ze helpen elkaar.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Néerlandais 1 · UE1 · Module 27 · Graag of houden van?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DARK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bg2"/>
                </a:solidFill>
              </a:rPr>
              <a:t>Néerlandais 1 · UE1 · Module 27 · Graag of houden van?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1_COVER">
    <p:bg>
      <p:bgPr>
        <a:solidFill>
          <a:srgbClr val="1737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2636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Néerlandais 1 · UE1 · Langue en situation, en milieu professionnel · A. Jouniaux · IRAM</a:t>
            </a:r>
            <a:endParaRPr lang="en-US" sz="12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2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algn="l"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image" Target="../media/image-3-9.png"/><Relationship Id="rId10" Type="http://schemas.openxmlformats.org/officeDocument/2006/relationships/image" Target="../media/image-3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image" Target="../media/image-14-5.png"/><Relationship Id="rId6" Type="http://schemas.openxmlformats.org/officeDocument/2006/relationships/image" Target="../media/image-14-6.png"/><Relationship Id="rId7" Type="http://schemas.openxmlformats.org/officeDocument/2006/relationships/image" Target="../media/image-14-7.png"/><Relationship Id="rId8" Type="http://schemas.openxmlformats.org/officeDocument/2006/relationships/image" Target="../media/image-14-8.png"/><Relationship Id="rId9" Type="http://schemas.openxmlformats.org/officeDocument/2006/relationships/slideLayout" Target="../slideLayouts/slideLayout3.xml"/><Relationship Id="rId10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image" Target="../media/image-15-6.png"/><Relationship Id="rId7" Type="http://schemas.openxmlformats.org/officeDocument/2006/relationships/image" Target="../media/image-15-7.png"/><Relationship Id="rId8" Type="http://schemas.openxmlformats.org/officeDocument/2006/relationships/image" Target="../media/image-15-8.png"/><Relationship Id="rId9" Type="http://schemas.openxmlformats.org/officeDocument/2006/relationships/image" Target="../media/image-15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image" Target="../media/image-16-5.png"/><Relationship Id="rId6" Type="http://schemas.openxmlformats.org/officeDocument/2006/relationships/image" Target="../media/image-16-6.png"/><Relationship Id="rId7" Type="http://schemas.openxmlformats.org/officeDocument/2006/relationships/image" Target="../media/image-16-7.png"/><Relationship Id="rId8" Type="http://schemas.openxmlformats.org/officeDocument/2006/relationships/image" Target="../media/image-16-8.png"/><Relationship Id="rId9" Type="http://schemas.openxmlformats.org/officeDocument/2006/relationships/image" Target="../media/image-16-9.png"/><Relationship Id="rId10" Type="http://schemas.openxmlformats.org/officeDocument/2006/relationships/slideLayout" Target="../slideLayouts/slideLayout2.xml"/><Relationship Id="rId11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image" Target="../media/image-17-5.png"/><Relationship Id="rId6" Type="http://schemas.openxmlformats.org/officeDocument/2006/relationships/image" Target="../media/image-17-6.png"/><Relationship Id="rId7" Type="http://schemas.openxmlformats.org/officeDocument/2006/relationships/image" Target="../media/image-17-7.png"/><Relationship Id="rId8" Type="http://schemas.openxmlformats.org/officeDocument/2006/relationships/image" Target="../media/image-17-8.png"/><Relationship Id="rId9" Type="http://schemas.openxmlformats.org/officeDocument/2006/relationships/image" Target="../media/image-17-9.png"/><Relationship Id="rId10" Type="http://schemas.openxmlformats.org/officeDocument/2006/relationships/image" Target="../media/image-17-10.png"/><Relationship Id="rId11" Type="http://schemas.openxmlformats.org/officeDocument/2006/relationships/image" Target="../media/image-17-11.png"/><Relationship Id="rId12" Type="http://schemas.openxmlformats.org/officeDocument/2006/relationships/image" Target="../media/image-17-12.png"/><Relationship Id="rId13" Type="http://schemas.openxmlformats.org/officeDocument/2006/relationships/image" Target="../media/image-17-13.png"/><Relationship Id="rId14" Type="http://schemas.openxmlformats.org/officeDocument/2006/relationships/image" Target="../media/image-17-14.png"/><Relationship Id="rId15" Type="http://schemas.openxmlformats.org/officeDocument/2006/relationships/image" Target="../media/image-17-15.png"/><Relationship Id="rId16" Type="http://schemas.openxmlformats.org/officeDocument/2006/relationships/image" Target="../media/image-17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pn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png"/><Relationship Id="rId15" Type="http://schemas.openxmlformats.org/officeDocument/2006/relationships/image" Target="../media/image-18-15.png"/><Relationship Id="rId16" Type="http://schemas.openxmlformats.org/officeDocument/2006/relationships/image" Target="../media/image-18-16.png"/><Relationship Id="rId17" Type="http://schemas.openxmlformats.org/officeDocument/2006/relationships/slideLayout" Target="../slideLayouts/slideLayout2.xml"/><Relationship Id="rId18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image" Target="../media/image-25-4.png"/><Relationship Id="rId5" Type="http://schemas.openxmlformats.org/officeDocument/2006/relationships/image" Target="../media/image-25-5.png"/><Relationship Id="rId6" Type="http://schemas.openxmlformats.org/officeDocument/2006/relationships/image" Target="../media/image-25-6.png"/><Relationship Id="rId7" Type="http://schemas.openxmlformats.org/officeDocument/2006/relationships/image" Target="../media/image-25-7.png"/><Relationship Id="rId8" Type="http://schemas.openxmlformats.org/officeDocument/2006/relationships/image" Target="../media/image-25-8.png"/><Relationship Id="rId9" Type="http://schemas.openxmlformats.org/officeDocument/2006/relationships/image" Target="../media/image-25-9.png"/><Relationship Id="rId10" Type="http://schemas.openxmlformats.org/officeDocument/2006/relationships/image" Target="../media/image-25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5.png"/><Relationship Id="rId6" Type="http://schemas.openxmlformats.org/officeDocument/2006/relationships/image" Target="../media/image-27-6.png"/><Relationship Id="rId7" Type="http://schemas.openxmlformats.org/officeDocument/2006/relationships/image" Target="../media/image-27-7.png"/><Relationship Id="rId8" Type="http://schemas.openxmlformats.org/officeDocument/2006/relationships/image" Target="../media/image-27-8.png"/><Relationship Id="rId9" Type="http://schemas.openxmlformats.org/officeDocument/2006/relationships/image" Target="../media/image-27-9.png"/><Relationship Id="rId10" Type="http://schemas.openxmlformats.org/officeDocument/2006/relationships/image" Target="../media/image-27-10.png"/><Relationship Id="rId11" Type="http://schemas.openxmlformats.org/officeDocument/2006/relationships/slideLayout" Target="../slideLayouts/slideLayout2.xml"/><Relationship Id="rId1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ag"/>
          <p:cNvSpPr/>
          <p:nvPr/>
        </p:nvSpPr>
        <p:spPr>
          <a:xfrm>
            <a:off x="548640" y="640080"/>
            <a:ext cx="2128114" cy="384048"/>
          </a:xfrm>
          <a:prstGeom prst="roundRect">
            <a:avLst>
              <a:gd name="adj" fmla="val 11905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100" kern="0" dirty="0">
                <a:solidFill>
                  <a:srgbClr val="FFFFFF"/>
                </a:solidFill>
              </a:rPr>
              <a:t>MODULE 27 / 32</a:t>
            </a:r>
            <a:endParaRPr lang="en-US" sz="14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1737360"/>
            <a:ext cx="5669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200" b="1" dirty="0">
                <a:solidFill>
                  <a:schemeClr val="bg1"/>
                </a:solidFill>
              </a:rPr>
              <a:t>Graag of houden van?</a:t>
            </a:r>
            <a:endParaRPr lang="en-US" sz="42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548640" y="3749040"/>
            <a:ext cx="5669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2000" i="1" dirty="0">
                <a:solidFill>
                  <a:schemeClr val="bg2"/>
                </a:solidFill>
              </a:rPr>
              <a:t>Dire ce qu’on aime</a:t>
            </a:r>
            <a:endParaRPr lang="en-US" sz="2000" dirty="0"/>
          </a:p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Ik zwem graag · Ik hou van de zee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6400800" y="91440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person swim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0" y="1188720"/>
            <a:ext cx="1097280" cy="10972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909560" y="91440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zwem </a:t>
            </a:r>
            <a:r>
              <a:rPr lang="en-US" sz="2400" b="1" i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graag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6400800" y="2788920"/>
            <a:ext cx="5212080" cy="164592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beach with umbrell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3063240"/>
            <a:ext cx="1097280" cy="109728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7909560" y="2788920"/>
            <a:ext cx="35661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Ik </a:t>
            </a:r>
            <a:r>
              <a:rPr lang="en-US" sz="2400" b="1" i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hou van</a:t>
            </a:r>
            <a:r>
              <a:rPr lang="en-US" sz="2400" i="1" dirty="0">
                <a:solidFill>
                  <a:schemeClr val="tx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 de zee.</a:t>
            </a:r>
            <a:endParaRPr lang="en-US" sz="2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Missie van vandaag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013155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MISSIE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1524000" y="1874520"/>
            <a:ext cx="914400" cy="914400"/>
          </a:xfrm>
          <a:prstGeom prst="ellipse">
            <a:avLst/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7" name="Image 0" descr="Bicyc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43456" y="2093976"/>
            <a:ext cx="475488" cy="47548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73152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3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Faire</a:t>
            </a:r>
            <a:endParaRPr lang="en-US" sz="2400" dirty="0"/>
          </a:p>
        </p:txBody>
      </p:sp>
      <p:sp>
        <p:nvSpPr>
          <p:cNvPr id="9" name="Text 5"/>
          <p:cNvSpPr txBox="1"/>
          <p:nvPr/>
        </p:nvSpPr>
        <p:spPr>
          <a:xfrm>
            <a:off x="77724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ce que j’aime faire : </a:t>
            </a:r>
            <a:r>
              <a:rPr lang="en-US" sz="2000" i="1" dirty="0">
                <a:solidFill>
                  <a:schemeClr val="tx1"/>
                </a:solidFill>
              </a:rPr>
              <a:t>Ik fiets graag.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368808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663440" y="1874520"/>
            <a:ext cx="914400" cy="914400"/>
          </a:xfrm>
          <a:prstGeom prst="ellipse">
            <a:avLst/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2" name="Image 1" descr="Hea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82896" y="2093976"/>
            <a:ext cx="475488" cy="47548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87096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4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Aimer</a:t>
            </a:r>
            <a:endParaRPr lang="en-US" sz="2400" dirty="0"/>
          </a:p>
        </p:txBody>
      </p:sp>
      <p:sp>
        <p:nvSpPr>
          <p:cNvPr id="14" name="Text 9"/>
          <p:cNvSpPr txBox="1"/>
          <p:nvPr/>
        </p:nvSpPr>
        <p:spPr>
          <a:xfrm>
            <a:off x="391668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dis qui ou ce que j’aime : </a:t>
            </a:r>
            <a:r>
              <a:rPr lang="en-US" sz="2000" i="1" dirty="0">
                <a:solidFill>
                  <a:schemeClr val="tx1"/>
                </a:solidFill>
              </a:rPr>
              <a:t>Ik hou van muziek.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6827520" y="1554480"/>
            <a:ext cx="2865120" cy="3931920"/>
          </a:xfrm>
          <a:prstGeom prst="roundRect">
            <a:avLst>
              <a:gd name="adj" fmla="val 255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7802880" y="1874520"/>
            <a:ext cx="914400" cy="9144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7" name="Image 2" descr="BalanceSca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2336" y="2093976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7010400" y="2926080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Nuancer</a:t>
            </a:r>
            <a:endParaRPr lang="en-US" sz="2400" dirty="0"/>
          </a:p>
        </p:txBody>
      </p:sp>
      <p:sp>
        <p:nvSpPr>
          <p:cNvPr id="19" name="Text 13"/>
          <p:cNvSpPr txBox="1"/>
          <p:nvPr/>
        </p:nvSpPr>
        <p:spPr>
          <a:xfrm>
            <a:off x="7056120" y="3566160"/>
            <a:ext cx="24079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Je compare et je nuance : </a:t>
            </a:r>
            <a:r>
              <a:rPr lang="en-US" sz="2000" i="1" dirty="0">
                <a:solidFill>
                  <a:schemeClr val="tx1"/>
                </a:solidFill>
              </a:rPr>
              <a:t>Ik drink liever thee.</a:t>
            </a:r>
            <a:endParaRPr lang="en-US" sz="2000" dirty="0"/>
          </a:p>
        </p:txBody>
      </p:sp>
      <p:pic>
        <p:nvPicPr>
          <p:cNvPr id="20" name="Image 3" descr="man teach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1737360"/>
            <a:ext cx="1737360" cy="1737360"/>
          </a:xfrm>
          <a:prstGeom prst="rect">
            <a:avLst/>
          </a:prstGeom>
        </p:spPr>
      </p:pic>
      <p:pic>
        <p:nvPicPr>
          <p:cNvPr id="21" name="Image 4" descr="speech balloon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0" y="1463040"/>
            <a:ext cx="731520" cy="731520"/>
          </a:xfrm>
          <a:prstGeom prst="rect">
            <a:avLst/>
          </a:prstGeom>
        </p:spPr>
      </p:pic>
      <p:sp>
        <p:nvSpPr>
          <p:cNvPr id="22" name="Shape 14"/>
          <p:cNvSpPr/>
          <p:nvPr/>
        </p:nvSpPr>
        <p:spPr>
          <a:xfrm>
            <a:off x="548640" y="566928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rgbClr val="17375E"/>
            </a:solidFill>
            <a:prstDash val="solid"/>
          </a:ln>
        </p:spPr>
      </p:sp>
      <p:pic>
        <p:nvPicPr>
          <p:cNvPr id="23" name="Image 5" descr="Lightbulb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1520" y="5788152"/>
            <a:ext cx="329184" cy="329184"/>
          </a:xfrm>
          <a:prstGeom prst="rect">
            <a:avLst/>
          </a:prstGeom>
        </p:spPr>
      </p:pic>
      <p:sp>
        <p:nvSpPr>
          <p:cNvPr id="24" name="Text 15"/>
          <p:cNvSpPr txBox="1"/>
          <p:nvPr/>
        </p:nvSpPr>
        <p:spPr>
          <a:xfrm>
            <a:off x="1188720" y="5669280"/>
            <a:ext cx="10241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Parler de ses goûts : se présenter, faire connaissance, choisir une activité en équipe.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Échauffement — Wat doe je graag?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770278" cy="310896"/>
          </a:xfrm>
          <a:prstGeom prst="roundRect">
            <a:avLst>
              <a:gd name="adj" fmla="val 14706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ÉCHAUFFEMENT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an office worker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" y="1691640"/>
            <a:ext cx="777240" cy="7772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1645920" y="1691640"/>
            <a:ext cx="226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Karim</a:t>
            </a:r>
            <a:endParaRPr lang="en-US" sz="2200" dirty="0"/>
          </a:p>
        </p:txBody>
      </p:sp>
      <p:pic>
        <p:nvPicPr>
          <p:cNvPr id="8" name="Image 1" descr="co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2834640"/>
            <a:ext cx="640080" cy="64008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508760" y="269748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kook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10" name="Image 2" descr="musical not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931920"/>
            <a:ext cx="640080" cy="640080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1508760" y="379476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Marokkaanse muziek.</a:t>
            </a:r>
            <a:endParaRPr lang="en-US" sz="1700" dirty="0"/>
          </a:p>
        </p:txBody>
      </p:sp>
      <p:sp>
        <p:nvSpPr>
          <p:cNvPr id="12" name="Shape 6"/>
          <p:cNvSpPr/>
          <p:nvPr/>
        </p:nvSpPr>
        <p:spPr>
          <a:xfrm>
            <a:off x="4322064" y="1554480"/>
            <a:ext cx="3544824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3" name="Image 3" descr="woma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944" y="1691640"/>
            <a:ext cx="777240" cy="777240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5419344" y="1691640"/>
            <a:ext cx="226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Sofie</a:t>
            </a:r>
            <a:endParaRPr lang="en-US" sz="2200" dirty="0"/>
          </a:p>
        </p:txBody>
      </p:sp>
      <p:pic>
        <p:nvPicPr>
          <p:cNvPr id="15" name="Image 4" descr="person bik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04944" y="2834640"/>
            <a:ext cx="640080" cy="640080"/>
          </a:xfrm>
          <a:prstGeom prst="rect">
            <a:avLst/>
          </a:prstGeom>
        </p:spPr>
      </p:pic>
      <p:sp>
        <p:nvSpPr>
          <p:cNvPr id="16" name="Text 8"/>
          <p:cNvSpPr txBox="1"/>
          <p:nvPr/>
        </p:nvSpPr>
        <p:spPr>
          <a:xfrm>
            <a:off x="5282184" y="269748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fiets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 naar het werk.</a:t>
            </a:r>
            <a:endParaRPr lang="en-US" sz="1700" dirty="0"/>
          </a:p>
        </p:txBody>
      </p:sp>
      <p:pic>
        <p:nvPicPr>
          <p:cNvPr id="17" name="Image 5" descr="beach with umbrella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4944" y="3931920"/>
            <a:ext cx="640080" cy="640080"/>
          </a:xfrm>
          <a:prstGeom prst="rect">
            <a:avLst/>
          </a:prstGeom>
        </p:spPr>
      </p:pic>
      <p:sp>
        <p:nvSpPr>
          <p:cNvPr id="18" name="Text 9"/>
          <p:cNvSpPr txBox="1"/>
          <p:nvPr/>
        </p:nvSpPr>
        <p:spPr>
          <a:xfrm>
            <a:off x="5282184" y="379476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de zee.</a:t>
            </a:r>
            <a:endParaRPr lang="en-US" sz="1700" dirty="0"/>
          </a:p>
        </p:txBody>
      </p:sp>
      <p:sp>
        <p:nvSpPr>
          <p:cNvPr id="19" name="Shape 10"/>
          <p:cNvSpPr/>
          <p:nvPr/>
        </p:nvSpPr>
        <p:spPr>
          <a:xfrm>
            <a:off x="8095488" y="1554480"/>
            <a:ext cx="3544824" cy="34290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22225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20" name="Image 6" descr="woman red hair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78368" y="1691640"/>
            <a:ext cx="777240" cy="777240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9192768" y="1691640"/>
            <a:ext cx="226466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Lotte</a:t>
            </a:r>
            <a:endParaRPr lang="en-US" sz="2200" dirty="0"/>
          </a:p>
        </p:txBody>
      </p:sp>
      <p:pic>
        <p:nvPicPr>
          <p:cNvPr id="22" name="Image 7" descr="open book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78368" y="2834640"/>
            <a:ext cx="640080" cy="640080"/>
          </a:xfrm>
          <a:prstGeom prst="rect">
            <a:avLst/>
          </a:prstGeom>
        </p:spPr>
      </p:pic>
      <p:sp>
        <p:nvSpPr>
          <p:cNvPr id="23" name="Text 12"/>
          <p:cNvSpPr txBox="1"/>
          <p:nvPr/>
        </p:nvSpPr>
        <p:spPr>
          <a:xfrm>
            <a:off x="9055608" y="269748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lees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pic>
        <p:nvPicPr>
          <p:cNvPr id="24" name="Image 8" descr="cat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278368" y="3931920"/>
            <a:ext cx="640080" cy="640080"/>
          </a:xfrm>
          <a:prstGeom prst="rect">
            <a:avLst/>
          </a:prstGeom>
        </p:spPr>
      </p:pic>
      <p:sp>
        <p:nvSpPr>
          <p:cNvPr id="25" name="Text 13"/>
          <p:cNvSpPr txBox="1"/>
          <p:nvPr/>
        </p:nvSpPr>
        <p:spPr>
          <a:xfrm>
            <a:off x="9055608" y="3794760"/>
            <a:ext cx="24475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katten.</a:t>
            </a:r>
            <a:endParaRPr lang="en-US" sz="1700" dirty="0"/>
          </a:p>
        </p:txBody>
      </p:sp>
      <p:sp>
        <p:nvSpPr>
          <p:cNvPr id="26" name="Shape 14"/>
          <p:cNvSpPr/>
          <p:nvPr/>
        </p:nvSpPr>
        <p:spPr>
          <a:xfrm>
            <a:off x="548640" y="5166360"/>
            <a:ext cx="11091672" cy="1097280"/>
          </a:xfrm>
          <a:prstGeom prst="roundRect">
            <a:avLst>
              <a:gd name="adj" fmla="val 6667"/>
            </a:avLst>
          </a:prstGeom>
          <a:solidFill>
            <a:schemeClr val="accent1">
              <a:alpha val="15000"/>
            </a:schemeClr>
          </a:solidFill>
          <a:ln w="15875">
            <a:solidFill>
              <a:srgbClr val="D9700F"/>
            </a:solidFill>
            <a:prstDash val="solid"/>
          </a:ln>
        </p:spPr>
      </p:sp>
      <p:pic>
        <p:nvPicPr>
          <p:cNvPr id="27" name="Image 9" descr="thinking face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303520"/>
            <a:ext cx="822960" cy="822960"/>
          </a:xfrm>
          <a:prstGeom prst="rect">
            <a:avLst/>
          </a:prstGeom>
        </p:spPr>
      </p:pic>
      <p:sp>
        <p:nvSpPr>
          <p:cNvPr id="28" name="Text 15"/>
          <p:cNvSpPr txBox="1"/>
          <p:nvPr/>
        </p:nvSpPr>
        <p:spPr>
          <a:xfrm>
            <a:off x="1828800" y="5166360"/>
            <a:ext cx="9601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Après </a:t>
            </a:r>
            <a:r>
              <a:rPr lang="en-US" sz="1800" i="1" dirty="0">
                <a:solidFill>
                  <a:schemeClr val="tx1"/>
                </a:solidFill>
              </a:rPr>
              <a:t>graag</a:t>
            </a:r>
            <a:r>
              <a:rPr lang="en-US" sz="1800" dirty="0">
                <a:solidFill>
                  <a:schemeClr val="tx1"/>
                </a:solidFill>
              </a:rPr>
              <a:t>, qu’est-ce qui vient ? Et après </a:t>
            </a:r>
            <a:r>
              <a:rPr lang="en-US" sz="1800" i="1" dirty="0">
                <a:solidFill>
                  <a:schemeClr val="tx1"/>
                </a:solidFill>
              </a:rPr>
              <a:t>houden van</a:t>
            </a:r>
            <a:r>
              <a:rPr lang="en-US" sz="1800" dirty="0">
                <a:solidFill>
                  <a:schemeClr val="tx1"/>
                </a:solidFill>
              </a:rPr>
              <a:t> ?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Regardez le verbe… et le nom.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graag + verbe : j’aime faire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45920"/>
            <a:ext cx="634959" cy="68580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45920"/>
            <a:ext cx="63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Ik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>
            <a:off x="1275039" y="1645920"/>
            <a:ext cx="1359457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75039" y="164592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fiets</a:t>
            </a:r>
            <a:endParaRPr lang="en-US" sz="2400" dirty="0"/>
          </a:p>
        </p:txBody>
      </p:sp>
      <p:sp>
        <p:nvSpPr>
          <p:cNvPr id="9" name="Shape 6"/>
          <p:cNvSpPr/>
          <p:nvPr/>
        </p:nvSpPr>
        <p:spPr>
          <a:xfrm>
            <a:off x="2725936" y="1645920"/>
            <a:ext cx="1551174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725936" y="1645920"/>
            <a:ext cx="155117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graag.</a:t>
            </a:r>
            <a:endParaRPr lang="en-US" sz="2400" dirty="0"/>
          </a:p>
        </p:txBody>
      </p:sp>
      <p:sp>
        <p:nvSpPr>
          <p:cNvPr id="11" name="Shape 8"/>
          <p:cNvSpPr/>
          <p:nvPr/>
        </p:nvSpPr>
        <p:spPr>
          <a:xfrm>
            <a:off x="548640" y="2514600"/>
            <a:ext cx="1148486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548640" y="2514600"/>
            <a:ext cx="114848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Sofie</a:t>
            </a:r>
            <a:endParaRPr lang="en-US" sz="2400" dirty="0"/>
          </a:p>
        </p:txBody>
      </p:sp>
      <p:sp>
        <p:nvSpPr>
          <p:cNvPr id="13" name="Shape 10"/>
          <p:cNvSpPr/>
          <p:nvPr/>
        </p:nvSpPr>
        <p:spPr>
          <a:xfrm>
            <a:off x="1788566" y="2514600"/>
            <a:ext cx="1359457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1788566" y="251460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leest</a:t>
            </a:r>
            <a:endParaRPr lang="en-US" sz="2400" dirty="0"/>
          </a:p>
        </p:txBody>
      </p:sp>
      <p:sp>
        <p:nvSpPr>
          <p:cNvPr id="15" name="Shape 12"/>
          <p:cNvSpPr/>
          <p:nvPr/>
        </p:nvSpPr>
        <p:spPr>
          <a:xfrm>
            <a:off x="3239463" y="2514600"/>
            <a:ext cx="1359457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3239463" y="251460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graag</a:t>
            </a:r>
            <a:endParaRPr lang="en-US" sz="2400" dirty="0"/>
          </a:p>
        </p:txBody>
      </p:sp>
      <p:sp>
        <p:nvSpPr>
          <p:cNvPr id="17" name="Shape 14"/>
          <p:cNvSpPr/>
          <p:nvPr/>
        </p:nvSpPr>
        <p:spPr>
          <a:xfrm>
            <a:off x="4690360" y="2514600"/>
            <a:ext cx="1490838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4690360" y="2514600"/>
            <a:ext cx="149083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romans.</a:t>
            </a:r>
            <a:endParaRPr lang="en-US" sz="2400" dirty="0"/>
          </a:p>
        </p:txBody>
      </p:sp>
      <p:sp>
        <p:nvSpPr>
          <p:cNvPr id="19" name="Shape 16"/>
          <p:cNvSpPr/>
          <p:nvPr/>
        </p:nvSpPr>
        <p:spPr>
          <a:xfrm>
            <a:off x="548640" y="3383280"/>
            <a:ext cx="634959" cy="685800"/>
          </a:xfrm>
          <a:prstGeom prst="roundRect">
            <a:avLst>
              <a:gd name="adj" fmla="val 115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548640" y="3383280"/>
            <a:ext cx="63495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We</a:t>
            </a:r>
            <a:endParaRPr lang="en-US" sz="2400" dirty="0"/>
          </a:p>
        </p:txBody>
      </p:sp>
      <p:sp>
        <p:nvSpPr>
          <p:cNvPr id="21" name="Shape 18"/>
          <p:cNvSpPr/>
          <p:nvPr/>
        </p:nvSpPr>
        <p:spPr>
          <a:xfrm>
            <a:off x="1275039" y="3383280"/>
            <a:ext cx="1167740" cy="685800"/>
          </a:xfrm>
          <a:prstGeom prst="roundRect">
            <a:avLst>
              <a:gd name="adj" fmla="val 10667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275039" y="3383280"/>
            <a:ext cx="11677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accent6"/>
                </a:solidFill>
              </a:rPr>
              <a:t>eten</a:t>
            </a:r>
            <a:endParaRPr lang="en-US" sz="2400" dirty="0"/>
          </a:p>
        </p:txBody>
      </p:sp>
      <p:sp>
        <p:nvSpPr>
          <p:cNvPr id="23" name="Shape 20"/>
          <p:cNvSpPr/>
          <p:nvPr/>
        </p:nvSpPr>
        <p:spPr>
          <a:xfrm>
            <a:off x="2534219" y="3383280"/>
            <a:ext cx="1359457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2534219" y="3383280"/>
            <a:ext cx="135945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</a:rPr>
              <a:t>graag</a:t>
            </a:r>
            <a:endParaRPr lang="en-US" sz="2400" dirty="0"/>
          </a:p>
        </p:txBody>
      </p:sp>
      <p:sp>
        <p:nvSpPr>
          <p:cNvPr id="25" name="Shape 22"/>
          <p:cNvSpPr/>
          <p:nvPr/>
        </p:nvSpPr>
        <p:spPr>
          <a:xfrm>
            <a:off x="3985116" y="3383280"/>
            <a:ext cx="2004365" cy="685800"/>
          </a:xfrm>
          <a:prstGeom prst="roundRect">
            <a:avLst>
              <a:gd name="adj" fmla="val 10667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3985116" y="3383280"/>
            <a:ext cx="200436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chemeClr val="tx1"/>
                </a:solidFill>
              </a:rPr>
              <a:t>Italiaans.</a:t>
            </a:r>
            <a:endParaRPr lang="en-US" sz="2400" dirty="0"/>
          </a:p>
        </p:txBody>
      </p:sp>
      <p:sp>
        <p:nvSpPr>
          <p:cNvPr id="27" name="Shape 24"/>
          <p:cNvSpPr/>
          <p:nvPr/>
        </p:nvSpPr>
        <p:spPr>
          <a:xfrm>
            <a:off x="6766560" y="1645920"/>
            <a:ext cx="4873752" cy="2423160"/>
          </a:xfrm>
          <a:prstGeom prst="roundRect">
            <a:avLst>
              <a:gd name="adj" fmla="val 3774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949440" y="1691640"/>
            <a:ext cx="457200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chemeClr val="tx1"/>
                </a:solidFill>
              </a:rPr>
              <a:t>Questions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Wat </a:t>
            </a:r>
            <a:r>
              <a:rPr lang="en-US" sz="1800" b="1" i="1" dirty="0">
                <a:solidFill>
                  <a:schemeClr val="tx1"/>
                </a:solidFill>
              </a:rPr>
              <a:t>doe</a:t>
            </a:r>
            <a:r>
              <a:rPr lang="en-US" sz="1800" i="1" dirty="0">
                <a:solidFill>
                  <a:schemeClr val="tx1"/>
                </a:solidFill>
              </a:rPr>
              <a:t> je graag?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Speel</a:t>
            </a:r>
            <a:r>
              <a:rPr lang="en-US" sz="1800" i="1" dirty="0">
                <a:solidFill>
                  <a:schemeClr val="tx1"/>
                </a:solidFill>
              </a:rPr>
              <a:t> je graag tennis?</a:t>
            </a:r>
            <a:endParaRPr lang="en-US" sz="1800" dirty="0"/>
          </a:p>
          <a:p>
            <a:pPr algn="l" indent="0" marL="0">
              <a:spcAft>
                <a:spcPts val="6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Wat doe je graag in het weekend?</a:t>
            </a:r>
            <a:endParaRPr lang="en-US" sz="1800" dirty="0"/>
          </a:p>
        </p:txBody>
      </p:sp>
      <p:sp>
        <p:nvSpPr>
          <p:cNvPr id="29" name="Shape 26"/>
          <p:cNvSpPr/>
          <p:nvPr/>
        </p:nvSpPr>
        <p:spPr>
          <a:xfrm>
            <a:off x="548640" y="429768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29768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✗ </a:t>
            </a:r>
            <a:r>
              <a:rPr lang="en-US" sz="2000" i="1" strike="sngStrike" dirty="0">
                <a:solidFill>
                  <a:schemeClr val="accent6"/>
                </a:solidFill>
              </a:rPr>
              <a:t>Ik graag fiets</a:t>
            </a:r>
            <a:r>
              <a:rPr lang="en-US" sz="2000" dirty="0">
                <a:solidFill>
                  <a:schemeClr val="tx1"/>
                </a:solidFill>
              </a:rPr>
              <a:t> → ✓ </a:t>
            </a: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tx1"/>
                </a:solidFill>
              </a:rPr>
              <a:t>fiets</a:t>
            </a:r>
            <a:r>
              <a:rPr lang="en-US" sz="2000" i="1" dirty="0">
                <a:solidFill>
                  <a:schemeClr val="tx1"/>
                </a:solidFill>
              </a:rPr>
              <a:t> graag</a:t>
            </a:r>
            <a:r>
              <a:rPr lang="en-US" sz="2000" dirty="0">
                <a:solidFill>
                  <a:schemeClr val="tx1"/>
                </a:solidFill>
              </a:rPr>
              <a:t> : </a:t>
            </a:r>
            <a:r>
              <a:rPr lang="en-US" sz="2000" i="1" dirty="0">
                <a:solidFill>
                  <a:schemeClr val="tx1"/>
                </a:solidFill>
              </a:rPr>
              <a:t>graag</a:t>
            </a:r>
            <a:r>
              <a:rPr lang="en-US" sz="2000" dirty="0">
                <a:solidFill>
                  <a:schemeClr val="tx1"/>
                </a:solidFill>
              </a:rPr>
              <a:t> vient </a:t>
            </a:r>
            <a:r>
              <a:rPr lang="en-US" sz="2000" b="1" dirty="0">
                <a:solidFill>
                  <a:schemeClr val="tx1"/>
                </a:solidFill>
              </a:rPr>
              <a:t>après</a:t>
            </a:r>
            <a:r>
              <a:rPr lang="en-US" sz="2000" dirty="0">
                <a:solidFill>
                  <a:schemeClr val="tx1"/>
                </a:solidFill>
              </a:rPr>
              <a:t> le verbe conjugué</a:t>
            </a:r>
            <a:endParaRPr lang="en-US" sz="2000" dirty="0"/>
          </a:p>
        </p:txBody>
      </p:sp>
      <p:sp>
        <p:nvSpPr>
          <p:cNvPr id="31" name="Shape 28"/>
          <p:cNvSpPr/>
          <p:nvPr/>
        </p:nvSpPr>
        <p:spPr>
          <a:xfrm>
            <a:off x="548640" y="5349240"/>
            <a:ext cx="11091672" cy="822960"/>
          </a:xfrm>
          <a:prstGeom prst="roundRect">
            <a:avLst>
              <a:gd name="adj" fmla="val 8889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822960" y="5349240"/>
            <a:ext cx="10607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graag</a:t>
            </a:r>
            <a:r>
              <a:rPr lang="en-US" sz="1800" dirty="0">
                <a:solidFill>
                  <a:schemeClr val="bg1"/>
                </a:solidFill>
              </a:rPr>
              <a:t> = « volontiers » : </a:t>
            </a:r>
            <a:r>
              <a:rPr lang="en-US" sz="1800" i="1" dirty="0">
                <a:solidFill>
                  <a:schemeClr val="bg1"/>
                </a:solidFill>
              </a:rPr>
              <a:t>Ik fiets graag</a:t>
            </a:r>
            <a:r>
              <a:rPr lang="en-US" sz="1800" dirty="0">
                <a:solidFill>
                  <a:schemeClr val="bg1"/>
                </a:solidFill>
              </a:rPr>
              <a:t> = je fais du vélo volontiers = j’aime faire du vélo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houden van : j’aime quelqu’un, quelque chose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musical not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61288" y="1783080"/>
            <a:ext cx="1005840" cy="100584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40080" y="28803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accent4"/>
                </a:solidFill>
              </a:rPr>
              <a:t>hou van</a:t>
            </a:r>
            <a:r>
              <a:rPr lang="en-US" sz="1800" i="1" dirty="0">
                <a:solidFill>
                  <a:schemeClr val="tx1"/>
                </a:solidFill>
              </a:rPr>
              <a:t> muziek.</a:t>
            </a:r>
            <a:endParaRPr lang="en-US" sz="1800" dirty="0"/>
          </a:p>
        </p:txBody>
      </p:sp>
      <p:sp>
        <p:nvSpPr>
          <p:cNvPr id="8" name="Shape 4"/>
          <p:cNvSpPr/>
          <p:nvPr/>
        </p:nvSpPr>
        <p:spPr>
          <a:xfrm>
            <a:off x="2926080" y="160020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9" name="Image 1" descr="people hugg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8728" y="1783080"/>
            <a:ext cx="1005840" cy="100584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3017520" y="28803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Ze </a:t>
            </a:r>
            <a:r>
              <a:rPr lang="en-US" sz="1800" b="1" i="1" dirty="0">
                <a:solidFill>
                  <a:schemeClr val="accent4"/>
                </a:solidFill>
              </a:rPr>
              <a:t>houdt van</a:t>
            </a:r>
            <a:r>
              <a:rPr lang="en-US" sz="1800" i="1" dirty="0">
                <a:solidFill>
                  <a:schemeClr val="tx1"/>
                </a:solidFill>
              </a:rPr>
              <a:t> haar kinderen.</a:t>
            </a:r>
            <a:endParaRPr lang="en-US" sz="1800" dirty="0"/>
          </a:p>
        </p:txBody>
      </p:sp>
      <p:sp>
        <p:nvSpPr>
          <p:cNvPr id="11" name="Shape 6"/>
          <p:cNvSpPr/>
          <p:nvPr/>
        </p:nvSpPr>
        <p:spPr>
          <a:xfrm>
            <a:off x="5303520" y="1600200"/>
            <a:ext cx="2240280" cy="265176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2" name="Image 2" descr="beach with umbrella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6168" y="1783080"/>
            <a:ext cx="1005840" cy="1005840"/>
          </a:xfrm>
          <a:prstGeom prst="rect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5394960" y="2880360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We </a:t>
            </a:r>
            <a:r>
              <a:rPr lang="en-US" sz="1800" b="1" i="1" dirty="0">
                <a:solidFill>
                  <a:schemeClr val="accent4"/>
                </a:solidFill>
              </a:rPr>
              <a:t>houden van</a:t>
            </a:r>
            <a:r>
              <a:rPr lang="en-US" sz="1800" i="1" dirty="0">
                <a:solidFill>
                  <a:schemeClr val="tx1"/>
                </a:solidFill>
              </a:rPr>
              <a:t> de zee.</a:t>
            </a:r>
            <a:endParaRPr lang="en-US" sz="1800" dirty="0"/>
          </a:p>
        </p:txBody>
      </p:sp>
      <p:sp>
        <p:nvSpPr>
          <p:cNvPr id="14" name="Shape 8"/>
          <p:cNvSpPr/>
          <p:nvPr/>
        </p:nvSpPr>
        <p:spPr>
          <a:xfrm>
            <a:off x="7818120" y="1600200"/>
            <a:ext cx="3822192" cy="2651760"/>
          </a:xfrm>
          <a:prstGeom prst="roundRect">
            <a:avLst>
              <a:gd name="adj" fmla="val 3448"/>
            </a:avLst>
          </a:prstGeom>
          <a:solidFill>
            <a:srgbClr val="F6E3EE"/>
          </a:solidFill>
          <a:ln w="19050">
            <a:solidFill>
              <a:srgbClr val="B4236A"/>
            </a:solidFill>
            <a:prstDash val="solid"/>
          </a:ln>
        </p:spPr>
      </p:sp>
      <p:sp>
        <p:nvSpPr>
          <p:cNvPr id="15" name="Text 9"/>
          <p:cNvSpPr txBox="1"/>
          <p:nvPr/>
        </p:nvSpPr>
        <p:spPr>
          <a:xfrm>
            <a:off x="8001000" y="1645920"/>
            <a:ext cx="352044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tx1"/>
                </a:solidFill>
              </a:rPr>
              <a:t>hou</a:t>
            </a:r>
            <a:r>
              <a:rPr lang="en-US" sz="1700" i="1" dirty="0">
                <a:solidFill>
                  <a:schemeClr val="tx1"/>
                </a:solidFill>
              </a:rPr>
              <a:t> / </a:t>
            </a:r>
            <a:r>
              <a:rPr lang="en-US" sz="1700" b="1" i="1" dirty="0">
                <a:solidFill>
                  <a:schemeClr val="tx1"/>
                </a:solidFill>
              </a:rPr>
              <a:t>houd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jij houdt · hij houdt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wij houden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Hou je van jazz?</a:t>
            </a:r>
            <a:endParaRPr lang="en-US" sz="17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700" i="1" dirty="0">
                <a:solidFill>
                  <a:schemeClr val="tx1"/>
                </a:solidFill>
              </a:rPr>
              <a:t>— Ja, ik hou </a:t>
            </a:r>
            <a:r>
              <a:rPr lang="en-US" sz="1700" b="1" i="1" dirty="0">
                <a:solidFill>
                  <a:schemeClr val="tx1"/>
                </a:solidFill>
              </a:rPr>
              <a:t>ervan</a:t>
            </a:r>
            <a:r>
              <a:rPr lang="en-US" sz="1700" i="1" dirty="0">
                <a:solidFill>
                  <a:schemeClr val="tx1"/>
                </a:solidFill>
              </a:rPr>
              <a:t>!</a:t>
            </a:r>
            <a:r>
              <a:rPr lang="en-US" sz="1700" dirty="0">
                <a:solidFill>
                  <a:schemeClr val="tx1"/>
                </a:solidFill>
              </a:rPr>
              <a:t> (M23)</a:t>
            </a:r>
            <a:endParaRPr lang="en-US" sz="1700" dirty="0"/>
          </a:p>
        </p:txBody>
      </p:sp>
      <p:sp>
        <p:nvSpPr>
          <p:cNvPr id="16" name="Shape 10"/>
          <p:cNvSpPr/>
          <p:nvPr/>
        </p:nvSpPr>
        <p:spPr>
          <a:xfrm>
            <a:off x="548640" y="4480560"/>
            <a:ext cx="11091672" cy="731520"/>
          </a:xfrm>
          <a:prstGeom prst="roundRect">
            <a:avLst>
              <a:gd name="adj" fmla="val 12500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777240" y="4480560"/>
            <a:ext cx="10698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Avec un pronom : </a:t>
            </a:r>
            <a:r>
              <a:rPr lang="en-US" sz="1800" i="1" dirty="0">
                <a:solidFill>
                  <a:schemeClr val="tx1"/>
                </a:solidFill>
              </a:rPr>
              <a:t>Ik hou van </a:t>
            </a:r>
            <a:r>
              <a:rPr lang="en-US" sz="1800" b="1" i="1" dirty="0">
                <a:solidFill>
                  <a:schemeClr val="tx1"/>
                </a:solidFill>
              </a:rPr>
              <a:t>hem</a:t>
            </a:r>
            <a:r>
              <a:rPr lang="en-US" sz="1800" i="1" dirty="0">
                <a:solidFill>
                  <a:schemeClr val="tx1"/>
                </a:solidFill>
              </a:rPr>
              <a:t> · van </a:t>
            </a:r>
            <a:r>
              <a:rPr lang="en-US" sz="1800" b="1" i="1" dirty="0">
                <a:solidFill>
                  <a:schemeClr val="tx1"/>
                </a:solidFill>
              </a:rPr>
              <a:t>haar</a:t>
            </a:r>
            <a:r>
              <a:rPr lang="en-US" sz="1800" i="1" dirty="0">
                <a:solidFill>
                  <a:schemeClr val="tx1"/>
                </a:solidFill>
              </a:rPr>
              <a:t> · van </a:t>
            </a:r>
            <a:r>
              <a:rPr lang="en-US" sz="1800" b="1" i="1" dirty="0">
                <a:solidFill>
                  <a:schemeClr val="tx1"/>
                </a:solidFill>
              </a:rPr>
              <a:t>jou</a:t>
            </a:r>
            <a:r>
              <a:rPr lang="en-US" sz="1800" dirty="0">
                <a:solidFill>
                  <a:schemeClr val="tx1"/>
                </a:solidFill>
              </a:rPr>
              <a:t> — Question : </a:t>
            </a:r>
            <a:r>
              <a:rPr lang="en-US" sz="1800" i="1" dirty="0">
                <a:solidFill>
                  <a:schemeClr val="tx1"/>
                </a:solidFill>
              </a:rPr>
              <a:t>Waar hou je van?</a:t>
            </a:r>
            <a:r>
              <a:rPr lang="en-US" sz="1800" dirty="0">
                <a:solidFill>
                  <a:schemeClr val="tx1"/>
                </a:solidFill>
              </a:rPr>
              <a:t> (M23)</a:t>
            </a:r>
            <a:endParaRPr lang="en-US" sz="1800" dirty="0"/>
          </a:p>
        </p:txBody>
      </p:sp>
      <p:sp>
        <p:nvSpPr>
          <p:cNvPr id="18" name="Shape 12"/>
          <p:cNvSpPr/>
          <p:nvPr/>
        </p:nvSpPr>
        <p:spPr>
          <a:xfrm>
            <a:off x="548640" y="544068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3"/>
          <p:cNvSpPr txBox="1"/>
          <p:nvPr/>
        </p:nvSpPr>
        <p:spPr>
          <a:xfrm>
            <a:off x="822960" y="54406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houden van</a:t>
            </a:r>
            <a:r>
              <a:rPr lang="en-US" sz="1800" dirty="0">
                <a:solidFill>
                  <a:schemeClr val="bg1"/>
                </a:solidFill>
              </a:rPr>
              <a:t> = un attachement général ou fort : une personne, un lieu, un genre de musique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L’aiguillage du verbe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2331720"/>
            <a:ext cx="2194560" cy="1828800"/>
          </a:xfrm>
          <a:prstGeom prst="roundRect">
            <a:avLst>
              <a:gd name="adj" fmla="val 6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2331720"/>
            <a:ext cx="2194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chemeClr val="bg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« J’aime… »</a:t>
            </a:r>
            <a:endParaRPr lang="en-US" sz="2400" dirty="0"/>
          </a:p>
        </p:txBody>
      </p:sp>
      <p:sp>
        <p:nvSpPr>
          <p:cNvPr id="7" name="Shape 4"/>
          <p:cNvSpPr/>
          <p:nvPr/>
        </p:nvSpPr>
        <p:spPr>
          <a:xfrm flipV="1">
            <a:off x="2761488" y="2148840"/>
            <a:ext cx="667512" cy="1097280"/>
          </a:xfrm>
          <a:prstGeom prst="line">
            <a:avLst/>
          </a:prstGeom>
          <a:noFill/>
          <a:ln w="381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3474720" y="1554480"/>
            <a:ext cx="8165592" cy="1207008"/>
          </a:xfrm>
          <a:prstGeom prst="roundRect">
            <a:avLst>
              <a:gd name="adj" fmla="val 7576"/>
            </a:avLst>
          </a:prstGeom>
          <a:solidFill>
            <a:schemeClr val="accent3">
              <a:alpha val="10000"/>
            </a:schemeClr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3474720" y="1554480"/>
            <a:ext cx="2743200" cy="1207008"/>
          </a:xfrm>
          <a:prstGeom prst="roundRect">
            <a:avLst>
              <a:gd name="adj" fmla="val 757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566160" y="1554480"/>
            <a:ext cx="2560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UNE ACTIVITÉ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dirty="0">
                <a:solidFill>
                  <a:schemeClr val="bg1"/>
                </a:solidFill>
              </a:rPr>
              <a:t>verbe + </a:t>
            </a:r>
            <a:r>
              <a:rPr lang="en-US" sz="1400" i="1" dirty="0">
                <a:solidFill>
                  <a:schemeClr val="bg1"/>
                </a:solidFill>
              </a:rPr>
              <a:t>graag</a:t>
            </a:r>
            <a:endParaRPr lang="en-US" sz="1400" dirty="0"/>
          </a:p>
        </p:txBody>
      </p:sp>
      <p:pic>
        <p:nvPicPr>
          <p:cNvPr id="11" name="Image 0" descr="person swimm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55080" y="1792224"/>
            <a:ext cx="731520" cy="7315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223760" y="1554480"/>
            <a:ext cx="4343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J’aime </a:t>
            </a:r>
            <a:r>
              <a:rPr lang="en-US" sz="1800" b="1" dirty="0">
                <a:solidFill>
                  <a:schemeClr val="tx1"/>
                </a:solidFill>
              </a:rPr>
              <a:t>nager</a:t>
            </a:r>
            <a:r>
              <a:rPr lang="en-US" sz="1800" dirty="0">
                <a:solidFill>
                  <a:schemeClr val="tx1"/>
                </a:solidFill>
              </a:rPr>
              <a:t> »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i="1" dirty="0">
                <a:solidFill>
                  <a:schemeClr val="tx1"/>
                </a:solidFill>
              </a:rPr>
              <a:t>Ik zwem </a:t>
            </a:r>
            <a:r>
              <a:rPr lang="en-US" sz="1800" b="1" i="1" dirty="0">
                <a:solidFill>
                  <a:schemeClr val="accent3"/>
                </a:solidFill>
              </a:rPr>
              <a:t>graag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2761488" y="3246120"/>
            <a:ext cx="667512" cy="274320"/>
          </a:xfrm>
          <a:prstGeom prst="line">
            <a:avLst/>
          </a:prstGeom>
          <a:noFill/>
          <a:ln w="38100">
            <a:solidFill>
              <a:srgbClr val="B4236A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3474720" y="2926080"/>
            <a:ext cx="8165592" cy="1207008"/>
          </a:xfrm>
          <a:prstGeom prst="roundRect">
            <a:avLst>
              <a:gd name="adj" fmla="val 7576"/>
            </a:avLst>
          </a:prstGeom>
          <a:solidFill>
            <a:schemeClr val="accent4">
              <a:alpha val="10000"/>
            </a:schemeClr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3474720" y="2926080"/>
            <a:ext cx="2743200" cy="1207008"/>
          </a:xfrm>
          <a:prstGeom prst="roundRect">
            <a:avLst>
              <a:gd name="adj" fmla="val 7576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566160" y="2926080"/>
            <a:ext cx="2560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UNE PERSONNE, UNE CHOSE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i="1" dirty="0">
                <a:solidFill>
                  <a:schemeClr val="bg1"/>
                </a:solidFill>
              </a:rPr>
              <a:t>houden van</a:t>
            </a:r>
            <a:r>
              <a:rPr lang="en-US" sz="1400" dirty="0">
                <a:solidFill>
                  <a:schemeClr val="bg1"/>
                </a:solidFill>
              </a:rPr>
              <a:t> + nom</a:t>
            </a:r>
            <a:endParaRPr lang="en-US" sz="1400" dirty="0"/>
          </a:p>
        </p:txBody>
      </p:sp>
      <p:pic>
        <p:nvPicPr>
          <p:cNvPr id="17" name="Image 1" descr="cityscap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3163824"/>
            <a:ext cx="731520" cy="73152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7223760" y="2926080"/>
            <a:ext cx="4343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J’aime </a:t>
            </a:r>
            <a:r>
              <a:rPr lang="en-US" sz="1800" b="1" dirty="0">
                <a:solidFill>
                  <a:schemeClr val="tx1"/>
                </a:solidFill>
              </a:rPr>
              <a:t>Bruxelles</a:t>
            </a:r>
            <a:r>
              <a:rPr lang="en-US" sz="1800" dirty="0">
                <a:solidFill>
                  <a:schemeClr val="tx1"/>
                </a:solidFill>
              </a:rPr>
              <a:t> »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accent4"/>
                </a:solidFill>
              </a:rPr>
              <a:t>hou van</a:t>
            </a:r>
            <a:r>
              <a:rPr lang="en-US" sz="1800" i="1" dirty="0">
                <a:solidFill>
                  <a:schemeClr val="tx1"/>
                </a:solidFill>
              </a:rPr>
              <a:t> Brussel.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2761488" y="3246120"/>
            <a:ext cx="667512" cy="1645920"/>
          </a:xfrm>
          <a:prstGeom prst="line">
            <a:avLst/>
          </a:prstGeom>
          <a:noFill/>
          <a:ln w="3810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0" name="Shape 15"/>
          <p:cNvSpPr/>
          <p:nvPr/>
        </p:nvSpPr>
        <p:spPr>
          <a:xfrm>
            <a:off x="3474720" y="4297680"/>
            <a:ext cx="8165592" cy="1207008"/>
          </a:xfrm>
          <a:prstGeom prst="roundRect">
            <a:avLst>
              <a:gd name="adj" fmla="val 7576"/>
            </a:avLst>
          </a:prstGeom>
          <a:solidFill>
            <a:schemeClr val="accent1">
              <a:alpha val="10000"/>
            </a:schemeClr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21" name="Shape 16"/>
          <p:cNvSpPr/>
          <p:nvPr/>
        </p:nvSpPr>
        <p:spPr>
          <a:xfrm>
            <a:off x="3474720" y="4297680"/>
            <a:ext cx="2743200" cy="1207008"/>
          </a:xfrm>
          <a:prstGeom prst="roundRect">
            <a:avLst>
              <a:gd name="adj" fmla="val 7576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3566160" y="4297680"/>
            <a:ext cx="256032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bg1"/>
                </a:solidFill>
              </a:rPr>
              <a:t>UN GOÛT, UNE IMPRESSION</a:t>
            </a:r>
            <a:endParaRPr lang="en-US" sz="1400" dirty="0"/>
          </a:p>
          <a:p>
            <a:pPr algn="l" indent="0" marL="0">
              <a:spcAft>
                <a:spcPts val="300"/>
              </a:spcAft>
              <a:buNone/>
            </a:pPr>
            <a:r>
              <a:rPr lang="en-US" sz="1400" i="1" dirty="0">
                <a:solidFill>
                  <a:schemeClr val="bg1"/>
                </a:solidFill>
              </a:rPr>
              <a:t>lekker / leuk vinden</a:t>
            </a:r>
            <a:endParaRPr lang="en-US" sz="1400" dirty="0"/>
          </a:p>
        </p:txBody>
      </p:sp>
      <p:pic>
        <p:nvPicPr>
          <p:cNvPr id="23" name="Image 2" descr="face savoring foo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4535424"/>
            <a:ext cx="731520" cy="731520"/>
          </a:xfrm>
          <a:prstGeom prst="rect">
            <a:avLst/>
          </a:prstGeom>
        </p:spPr>
      </p:pic>
      <p:sp>
        <p:nvSpPr>
          <p:cNvPr id="24" name="Text 18"/>
          <p:cNvSpPr txBox="1"/>
          <p:nvPr/>
        </p:nvSpPr>
        <p:spPr>
          <a:xfrm>
            <a:off x="7223760" y="4297680"/>
            <a:ext cx="4343400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« J’aime </a:t>
            </a:r>
            <a:r>
              <a:rPr lang="en-US" sz="1800" b="1" dirty="0">
                <a:solidFill>
                  <a:schemeClr val="tx1"/>
                </a:solidFill>
              </a:rPr>
              <a:t>cette soupe</a:t>
            </a:r>
            <a:r>
              <a:rPr lang="en-US" sz="1800" dirty="0">
                <a:solidFill>
                  <a:schemeClr val="tx1"/>
                </a:solidFill>
              </a:rPr>
              <a:t> »</a:t>
            </a:r>
            <a:endParaRPr lang="en-US" sz="18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→ </a:t>
            </a: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accent1"/>
                </a:solidFill>
              </a:rPr>
              <a:t>vind</a:t>
            </a:r>
            <a:r>
              <a:rPr lang="en-US" sz="1800" i="1" dirty="0">
                <a:solidFill>
                  <a:schemeClr val="tx1"/>
                </a:solidFill>
              </a:rPr>
              <a:t> deze soep </a:t>
            </a:r>
            <a:r>
              <a:rPr lang="en-US" sz="1800" b="1" i="1" dirty="0">
                <a:solidFill>
                  <a:schemeClr val="accent1"/>
                </a:solidFill>
              </a:rPr>
              <a:t>lekker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548640" y="5715000"/>
            <a:ext cx="11091672" cy="54864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822960" y="571500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Qu’est-ce que j’aime ? </a:t>
            </a:r>
            <a:r>
              <a:rPr lang="en-US" sz="1700" b="1" dirty="0">
                <a:solidFill>
                  <a:schemeClr val="bg1"/>
                </a:solidFill>
              </a:rPr>
              <a:t>faire</a:t>
            </a:r>
            <a:r>
              <a:rPr lang="en-US" sz="1700" dirty="0">
                <a:solidFill>
                  <a:schemeClr val="bg1"/>
                </a:solidFill>
              </a:rPr>
              <a:t> quelque chose · </a:t>
            </a:r>
            <a:r>
              <a:rPr lang="en-US" sz="1700" b="1" dirty="0">
                <a:solidFill>
                  <a:schemeClr val="bg1"/>
                </a:solidFill>
              </a:rPr>
              <a:t>quelqu’un / une chose</a:t>
            </a:r>
            <a:r>
              <a:rPr lang="en-US" sz="1700" dirty="0">
                <a:solidFill>
                  <a:schemeClr val="bg1"/>
                </a:solidFill>
              </a:rPr>
              <a:t> · </a:t>
            </a:r>
            <a:r>
              <a:rPr lang="en-US" sz="1700" b="1" dirty="0">
                <a:solidFill>
                  <a:schemeClr val="bg1"/>
                </a:solidFill>
              </a:rPr>
              <a:t>un goût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graag, liever, het liefst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822960" y="3703320"/>
            <a:ext cx="2148840" cy="1188720"/>
          </a:xfrm>
          <a:prstGeom prst="roundRect">
            <a:avLst>
              <a:gd name="adj" fmla="val 3077"/>
            </a:avLst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822960" y="379476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graag</a:t>
            </a:r>
            <a:endParaRPr lang="en-US" sz="2000" dirty="0"/>
          </a:p>
        </p:txBody>
      </p:sp>
      <p:pic>
        <p:nvPicPr>
          <p:cNvPr id="7" name="Image 0" descr="3rd place med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68780" y="4251960"/>
            <a:ext cx="457200" cy="457200"/>
          </a:xfrm>
          <a:prstGeom prst="rect">
            <a:avLst/>
          </a:prstGeom>
        </p:spPr>
      </p:pic>
      <p:pic>
        <p:nvPicPr>
          <p:cNvPr id="8" name="Image 1" descr="hot bever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" y="2788920"/>
            <a:ext cx="822960" cy="822960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3081528" y="2880360"/>
            <a:ext cx="2148840" cy="2011680"/>
          </a:xfrm>
          <a:prstGeom prst="roundRect">
            <a:avLst>
              <a:gd name="adj" fmla="val 1818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3081528" y="297180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het liefst</a:t>
            </a:r>
            <a:endParaRPr lang="en-US" sz="2000" dirty="0"/>
          </a:p>
        </p:txBody>
      </p:sp>
      <p:pic>
        <p:nvPicPr>
          <p:cNvPr id="11" name="Image 2" descr="1st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7348" y="3429000"/>
            <a:ext cx="457200" cy="457200"/>
          </a:xfrm>
          <a:prstGeom prst="rect">
            <a:avLst/>
          </a:prstGeom>
        </p:spPr>
      </p:pic>
      <p:pic>
        <p:nvPicPr>
          <p:cNvPr id="12" name="Image 3" descr="drop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4468" y="1965960"/>
            <a:ext cx="822960" cy="822960"/>
          </a:xfrm>
          <a:prstGeom prst="rect">
            <a:avLst/>
          </a:prstGeom>
        </p:spPr>
      </p:pic>
      <p:sp>
        <p:nvSpPr>
          <p:cNvPr id="13" name="Shape 6"/>
          <p:cNvSpPr/>
          <p:nvPr/>
        </p:nvSpPr>
        <p:spPr>
          <a:xfrm>
            <a:off x="5340096" y="3291840"/>
            <a:ext cx="2148840" cy="1600200"/>
          </a:xfrm>
          <a:prstGeom prst="roundRect">
            <a:avLst>
              <a:gd name="adj" fmla="val 2286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7"/>
          <p:cNvSpPr txBox="1"/>
          <p:nvPr/>
        </p:nvSpPr>
        <p:spPr>
          <a:xfrm>
            <a:off x="5340096" y="3383280"/>
            <a:ext cx="2148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liever</a:t>
            </a:r>
            <a:endParaRPr lang="en-US" sz="2000" dirty="0"/>
          </a:p>
        </p:txBody>
      </p:sp>
      <p:pic>
        <p:nvPicPr>
          <p:cNvPr id="15" name="Image 4" descr="2nd place med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5916" y="3840480"/>
            <a:ext cx="457200" cy="457200"/>
          </a:xfrm>
          <a:prstGeom prst="rect">
            <a:avLst/>
          </a:prstGeom>
        </p:spPr>
      </p:pic>
      <p:pic>
        <p:nvPicPr>
          <p:cNvPr id="16" name="Image 5" descr="teacup without hand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03036" y="2377440"/>
            <a:ext cx="822960" cy="822960"/>
          </a:xfrm>
          <a:prstGeom prst="rect">
            <a:avLst/>
          </a:prstGeom>
        </p:spPr>
      </p:pic>
      <p:sp>
        <p:nvSpPr>
          <p:cNvPr id="17" name="Text 8"/>
          <p:cNvSpPr txBox="1"/>
          <p:nvPr/>
        </p:nvSpPr>
        <p:spPr>
          <a:xfrm>
            <a:off x="7680960" y="182880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tx1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koffie.</a:t>
            </a:r>
            <a:endParaRPr lang="en-US" sz="2000" dirty="0"/>
          </a:p>
        </p:txBody>
      </p:sp>
      <p:sp>
        <p:nvSpPr>
          <p:cNvPr id="18" name="Text 9"/>
          <p:cNvSpPr txBox="1"/>
          <p:nvPr/>
        </p:nvSpPr>
        <p:spPr>
          <a:xfrm>
            <a:off x="7680960" y="260604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tx1"/>
                </a:solidFill>
              </a:rPr>
              <a:t>liever</a:t>
            </a:r>
            <a:r>
              <a:rPr lang="en-US" sz="2000" i="1" dirty="0">
                <a:solidFill>
                  <a:schemeClr val="tx1"/>
                </a:solidFill>
              </a:rPr>
              <a:t> thee.</a:t>
            </a:r>
            <a:endParaRPr lang="en-US" sz="2000" dirty="0"/>
          </a:p>
        </p:txBody>
      </p:sp>
      <p:sp>
        <p:nvSpPr>
          <p:cNvPr id="19" name="Text 10"/>
          <p:cNvSpPr txBox="1"/>
          <p:nvPr/>
        </p:nvSpPr>
        <p:spPr>
          <a:xfrm>
            <a:off x="7680960" y="3383280"/>
            <a:ext cx="39593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drink </a:t>
            </a:r>
            <a:r>
              <a:rPr lang="en-US" sz="2000" b="1" i="1" dirty="0">
                <a:solidFill>
                  <a:schemeClr val="tx1"/>
                </a:solidFill>
              </a:rPr>
              <a:t>het liefst</a:t>
            </a:r>
            <a:r>
              <a:rPr lang="en-US" sz="2000" i="1" dirty="0">
                <a:solidFill>
                  <a:schemeClr val="tx1"/>
                </a:solidFill>
              </a:rPr>
              <a:t> water.</a:t>
            </a:r>
            <a:endParaRPr lang="en-US" sz="2000" dirty="0"/>
          </a:p>
        </p:txBody>
      </p:sp>
      <p:sp>
        <p:nvSpPr>
          <p:cNvPr id="20" name="Shape 11"/>
          <p:cNvSpPr/>
          <p:nvPr/>
        </p:nvSpPr>
        <p:spPr>
          <a:xfrm>
            <a:off x="7680960" y="4251960"/>
            <a:ext cx="3959352" cy="685800"/>
          </a:xfrm>
          <a:prstGeom prst="roundRect">
            <a:avLst>
              <a:gd name="adj" fmla="val 13333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1" name="Text 12"/>
          <p:cNvSpPr txBox="1"/>
          <p:nvPr/>
        </p:nvSpPr>
        <p:spPr>
          <a:xfrm>
            <a:off x="7818120" y="425196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Koffie of thee? — </a:t>
            </a:r>
            <a:r>
              <a:rPr lang="en-US" sz="1700" b="1" i="1" dirty="0">
                <a:solidFill>
                  <a:schemeClr val="tx1"/>
                </a:solidFill>
              </a:rPr>
              <a:t>Liever</a:t>
            </a:r>
            <a:r>
              <a:rPr lang="en-US" sz="1700" i="1" dirty="0">
                <a:solidFill>
                  <a:schemeClr val="tx1"/>
                </a:solidFill>
              </a:rPr>
              <a:t> thee, graag!</a:t>
            </a:r>
            <a:endParaRPr lang="en-US" sz="1700" dirty="0"/>
          </a:p>
        </p:txBody>
      </p:sp>
      <p:sp>
        <p:nvSpPr>
          <p:cNvPr id="22" name="Shape 13"/>
          <p:cNvSpPr/>
          <p:nvPr/>
        </p:nvSpPr>
        <p:spPr>
          <a:xfrm>
            <a:off x="548640" y="5257800"/>
            <a:ext cx="11091672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4"/>
          <p:cNvSpPr txBox="1"/>
          <p:nvPr/>
        </p:nvSpPr>
        <p:spPr>
          <a:xfrm>
            <a:off x="822960" y="5257800"/>
            <a:ext cx="10607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Irrégulier, comme </a:t>
            </a:r>
            <a:r>
              <a:rPr lang="en-US" sz="1600" i="1" dirty="0">
                <a:solidFill>
                  <a:schemeClr val="bg1"/>
                </a:solidFill>
              </a:rPr>
              <a:t>goed → beter → best</a:t>
            </a:r>
            <a:r>
              <a:rPr lang="en-US" sz="1600" dirty="0">
                <a:solidFill>
                  <a:schemeClr val="bg1"/>
                </a:solidFill>
              </a:rPr>
              <a:t> (M21) · </a:t>
            </a:r>
            <a:r>
              <a:rPr lang="en-US" sz="1600" i="1" dirty="0">
                <a:solidFill>
                  <a:schemeClr val="bg1"/>
                </a:solidFill>
              </a:rPr>
              <a:t>Ik werk liever ’s ochtends dan ’s avonds.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niet graag, niet houden van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548640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ACTIVITÉ</a:t>
            </a:r>
            <a:endParaRPr lang="en-US" sz="1600" dirty="0"/>
          </a:p>
        </p:txBody>
      </p:sp>
      <p:pic>
        <p:nvPicPr>
          <p:cNvPr id="8" name="Image 0" descr="persevering fac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47488" y="2240280"/>
            <a:ext cx="685800" cy="6858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77240" y="2148840"/>
            <a:ext cx="4133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werk </a:t>
            </a:r>
            <a:r>
              <a:rPr lang="en-US" sz="2000" b="1" i="1" dirty="0">
                <a:solidFill>
                  <a:schemeClr val="accent6"/>
                </a:solidFill>
              </a:rPr>
              <a:t>niet</a:t>
            </a:r>
            <a:r>
              <a:rPr lang="en-US" sz="2000" b="1" i="1" dirty="0">
                <a:solidFill>
                  <a:schemeClr val="tx1"/>
                </a:solidFill>
              </a:rPr>
              <a:t> graag</a:t>
            </a:r>
            <a:r>
              <a:rPr lang="en-US" sz="2000" i="1" dirty="0">
                <a:solidFill>
                  <a:schemeClr val="tx1"/>
                </a:solidFill>
              </a:rPr>
              <a:t> op zaterdag.</a:t>
            </a:r>
            <a:endParaRPr lang="en-US" sz="20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sta </a:t>
            </a:r>
            <a:r>
              <a:rPr lang="en-US" sz="2000" b="1" i="1" dirty="0">
                <a:solidFill>
                  <a:schemeClr val="accent6"/>
                </a:solidFill>
              </a:rPr>
              <a:t>niet</a:t>
            </a:r>
            <a:r>
              <a:rPr lang="en-US" sz="2000" b="1" i="1" dirty="0">
                <a:solidFill>
                  <a:schemeClr val="tx1"/>
                </a:solidFill>
              </a:rPr>
              <a:t> graag</a:t>
            </a:r>
            <a:r>
              <a:rPr lang="en-US" sz="2000" i="1" dirty="0">
                <a:solidFill>
                  <a:schemeClr val="tx1"/>
                </a:solidFill>
              </a:rPr>
              <a:t> vroeg op.</a:t>
            </a:r>
            <a:endParaRPr lang="en-US" sz="2000" dirty="0"/>
          </a:p>
        </p:txBody>
      </p:sp>
      <p:sp>
        <p:nvSpPr>
          <p:cNvPr id="10" name="Shape 6"/>
          <p:cNvSpPr/>
          <p:nvPr/>
        </p:nvSpPr>
        <p:spPr>
          <a:xfrm>
            <a:off x="6227064" y="1554480"/>
            <a:ext cx="5413248" cy="2377440"/>
          </a:xfrm>
          <a:prstGeom prst="roundRect">
            <a:avLst>
              <a:gd name="adj" fmla="val 3846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6227064" y="1554480"/>
            <a:ext cx="5413248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409944" y="1554480"/>
            <a:ext cx="504748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200" kern="0" dirty="0">
                <a:solidFill>
                  <a:schemeClr val="bg1"/>
                </a:solidFill>
              </a:rPr>
              <a:t>PERSONNE, CHOSE</a:t>
            </a:r>
            <a:endParaRPr lang="en-US" sz="1600" dirty="0"/>
          </a:p>
        </p:txBody>
      </p:sp>
      <p:pic>
        <p:nvPicPr>
          <p:cNvPr id="13" name="Image 1" descr="unamused fa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5912" y="2240280"/>
            <a:ext cx="685800" cy="685800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6455664" y="2148840"/>
            <a:ext cx="4133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hou </a:t>
            </a:r>
            <a:r>
              <a:rPr lang="en-US" sz="2000" b="1" i="1" dirty="0">
                <a:solidFill>
                  <a:schemeClr val="accent6"/>
                </a:solidFill>
              </a:rPr>
              <a:t>niet</a:t>
            </a:r>
            <a:r>
              <a:rPr lang="en-US" sz="2000" i="1" dirty="0">
                <a:solidFill>
                  <a:schemeClr val="tx1"/>
                </a:solidFill>
              </a:rPr>
              <a:t> van spinnen.</a:t>
            </a:r>
            <a:endParaRPr lang="en-US" sz="20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2000" i="1" dirty="0">
                <a:solidFill>
                  <a:schemeClr val="tx1"/>
                </a:solidFill>
              </a:rPr>
              <a:t>Ik hou </a:t>
            </a:r>
            <a:r>
              <a:rPr lang="en-US" sz="2000" b="1" i="1" dirty="0">
                <a:solidFill>
                  <a:schemeClr val="accent6"/>
                </a:solidFill>
              </a:rPr>
              <a:t>helemaal niet</a:t>
            </a:r>
            <a:r>
              <a:rPr lang="en-US" sz="2000" i="1" dirty="0">
                <a:solidFill>
                  <a:schemeClr val="tx1"/>
                </a:solidFill>
              </a:rPr>
              <a:t> van regen.</a:t>
            </a:r>
            <a:endParaRPr lang="en-US" sz="2000" dirty="0"/>
          </a:p>
        </p:txBody>
      </p:sp>
      <p:sp>
        <p:nvSpPr>
          <p:cNvPr id="15" name="Shape 10"/>
          <p:cNvSpPr/>
          <p:nvPr/>
        </p:nvSpPr>
        <p:spPr>
          <a:xfrm>
            <a:off x="548640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548640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helemaal niet graag</a:t>
            </a:r>
            <a:endParaRPr lang="en-US" sz="1700" dirty="0"/>
          </a:p>
        </p:txBody>
      </p:sp>
      <p:sp>
        <p:nvSpPr>
          <p:cNvPr id="17" name="Shape 12"/>
          <p:cNvSpPr/>
          <p:nvPr/>
        </p:nvSpPr>
        <p:spPr>
          <a:xfrm>
            <a:off x="2781605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rgbClr val="E8A090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3"/>
          <p:cNvSpPr txBox="1"/>
          <p:nvPr/>
        </p:nvSpPr>
        <p:spPr>
          <a:xfrm>
            <a:off x="2781605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niet graag</a:t>
            </a:r>
            <a:endParaRPr lang="en-US" sz="1700" dirty="0"/>
          </a:p>
        </p:txBody>
      </p:sp>
      <p:sp>
        <p:nvSpPr>
          <p:cNvPr id="19" name="Shape 14"/>
          <p:cNvSpPr/>
          <p:nvPr/>
        </p:nvSpPr>
        <p:spPr>
          <a:xfrm>
            <a:off x="5014570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014570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graag</a:t>
            </a:r>
            <a:endParaRPr lang="en-US" sz="1700" dirty="0"/>
          </a:p>
        </p:txBody>
      </p:sp>
      <p:sp>
        <p:nvSpPr>
          <p:cNvPr id="21" name="Shape 16"/>
          <p:cNvSpPr/>
          <p:nvPr/>
        </p:nvSpPr>
        <p:spPr>
          <a:xfrm>
            <a:off x="7247534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rgbClr val="1F6B3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7247534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liever</a:t>
            </a:r>
            <a:endParaRPr lang="en-US" sz="1700" dirty="0"/>
          </a:p>
        </p:txBody>
      </p:sp>
      <p:sp>
        <p:nvSpPr>
          <p:cNvPr id="23" name="Shape 18"/>
          <p:cNvSpPr/>
          <p:nvPr/>
        </p:nvSpPr>
        <p:spPr>
          <a:xfrm>
            <a:off x="9480499" y="4160520"/>
            <a:ext cx="2159813" cy="640080"/>
          </a:xfrm>
          <a:prstGeom prst="roundRect">
            <a:avLst>
              <a:gd name="adj" fmla="val 11429"/>
            </a:avLst>
          </a:prstGeom>
          <a:solidFill>
            <a:srgbClr val="17375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9480499" y="4160520"/>
            <a:ext cx="2159813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chemeClr val="bg1"/>
                </a:solidFill>
              </a:rPr>
              <a:t>het liefst</a:t>
            </a:r>
            <a:endParaRPr lang="en-US" sz="1700" dirty="0"/>
          </a:p>
        </p:txBody>
      </p:sp>
      <p:sp>
        <p:nvSpPr>
          <p:cNvPr id="25" name="Text 20"/>
          <p:cNvSpPr txBox="1"/>
          <p:nvPr/>
        </p:nvSpPr>
        <p:spPr>
          <a:xfrm>
            <a:off x="548640" y="4846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◀ je n’aime pas                                                                     j’aime le plus ▶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548640" y="5394960"/>
            <a:ext cx="11091672" cy="777240"/>
          </a:xfrm>
          <a:prstGeom prst="roundRect">
            <a:avLst>
              <a:gd name="adj" fmla="val 9412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394960"/>
            <a:ext cx="10607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se place juste </a:t>
            </a:r>
            <a:r>
              <a:rPr lang="en-US" sz="1800" b="1" dirty="0">
                <a:solidFill>
                  <a:schemeClr val="bg1"/>
                </a:solidFill>
              </a:rPr>
              <a:t>avant</a:t>
            </a:r>
            <a:r>
              <a:rPr lang="en-US" sz="1800" dirty="0">
                <a:solidFill>
                  <a:schemeClr val="bg1"/>
                </a:solidFill>
              </a:rPr>
              <a:t> </a:t>
            </a:r>
            <a:r>
              <a:rPr lang="en-US" sz="1800" i="1" dirty="0">
                <a:solidFill>
                  <a:schemeClr val="bg1"/>
                </a:solidFill>
              </a:rPr>
              <a:t>graag</a:t>
            </a:r>
            <a:r>
              <a:rPr lang="en-US" sz="1800" dirty="0">
                <a:solidFill>
                  <a:schemeClr val="bg1"/>
                </a:solidFill>
              </a:rPr>
              <a:t> (M13) · avec </a:t>
            </a:r>
            <a:r>
              <a:rPr lang="en-US" sz="1800" i="1" dirty="0">
                <a:solidFill>
                  <a:schemeClr val="bg1"/>
                </a:solidFill>
              </a:rPr>
              <a:t>houden van</a:t>
            </a:r>
            <a:r>
              <a:rPr lang="en-US" sz="1800" dirty="0">
                <a:solidFill>
                  <a:schemeClr val="bg1"/>
                </a:solidFill>
              </a:rPr>
              <a:t> : </a:t>
            </a:r>
            <a:r>
              <a:rPr lang="en-US" sz="1800" i="1" dirty="0">
                <a:solidFill>
                  <a:schemeClr val="bg1"/>
                </a:solidFill>
              </a:rPr>
              <a:t>niet</a:t>
            </a:r>
            <a:r>
              <a:rPr lang="en-US" sz="1800" dirty="0">
                <a:solidFill>
                  <a:schemeClr val="bg1"/>
                </a:solidFill>
              </a:rPr>
              <a:t> avant la préposition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lekker, leuk vinden et dol zijn op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552651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VOCABULAIRE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3544824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6" name="Image 0" descr="fork and knife with pl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3852" y="1783080"/>
            <a:ext cx="914400" cy="91440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685800" y="2743200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1"/>
                </a:solidFill>
              </a:rPr>
              <a:t>lekker vinden</a:t>
            </a:r>
            <a:endParaRPr lang="en-US" sz="2200" dirty="0"/>
          </a:p>
        </p:txBody>
      </p:sp>
      <p:sp>
        <p:nvSpPr>
          <p:cNvPr id="8" name="Text 4"/>
          <p:cNvSpPr txBox="1"/>
          <p:nvPr/>
        </p:nvSpPr>
        <p:spPr>
          <a:xfrm>
            <a:off x="685800" y="3154680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nourriture, boisson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685800" y="3566160"/>
            <a:ext cx="3270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vind deze soep </a:t>
            </a:r>
            <a:r>
              <a:rPr lang="en-US" sz="1700" b="1" i="1" dirty="0">
                <a:solidFill>
                  <a:schemeClr val="accent1"/>
                </a:solidFill>
              </a:rPr>
              <a:t>lekker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0" name="Shape 6"/>
          <p:cNvSpPr/>
          <p:nvPr/>
        </p:nvSpPr>
        <p:spPr>
          <a:xfrm>
            <a:off x="4322064" y="1600200"/>
            <a:ext cx="3544824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2540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1" name="Image 1" descr="admission ticket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7276" y="1783080"/>
            <a:ext cx="914400" cy="9144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4459224" y="2743200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2"/>
                </a:solidFill>
              </a:rPr>
              <a:t>leuk vinden</a:t>
            </a:r>
            <a:endParaRPr lang="en-US" sz="2200" dirty="0"/>
          </a:p>
        </p:txBody>
      </p:sp>
      <p:sp>
        <p:nvSpPr>
          <p:cNvPr id="13" name="Text 8"/>
          <p:cNvSpPr txBox="1"/>
          <p:nvPr/>
        </p:nvSpPr>
        <p:spPr>
          <a:xfrm>
            <a:off x="4459224" y="3154680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activité, film, personne</a:t>
            </a:r>
            <a:endParaRPr lang="en-US" sz="1400" dirty="0"/>
          </a:p>
        </p:txBody>
      </p:sp>
      <p:sp>
        <p:nvSpPr>
          <p:cNvPr id="14" name="Text 9"/>
          <p:cNvSpPr txBox="1"/>
          <p:nvPr/>
        </p:nvSpPr>
        <p:spPr>
          <a:xfrm>
            <a:off x="4459224" y="3566160"/>
            <a:ext cx="3270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vind voetbal </a:t>
            </a:r>
            <a:r>
              <a:rPr lang="en-US" sz="1700" b="1" i="1" dirty="0">
                <a:solidFill>
                  <a:schemeClr val="accent1"/>
                </a:solidFill>
              </a:rPr>
              <a:t>leuk</a:t>
            </a:r>
            <a:r>
              <a:rPr lang="en-US" sz="1700" i="1" dirty="0">
                <a:solidFill>
                  <a:schemeClr val="tx1"/>
                </a:solidFill>
              </a:rPr>
              <a:t>. · Ik vind Sofie </a:t>
            </a:r>
            <a:r>
              <a:rPr lang="en-US" sz="1700" b="1" i="1" dirty="0">
                <a:solidFill>
                  <a:schemeClr val="accent1"/>
                </a:solidFill>
              </a:rPr>
              <a:t>leuk</a:t>
            </a:r>
            <a:r>
              <a:rPr lang="en-US" sz="1700" i="1" dirty="0">
                <a:solidFill>
                  <a:schemeClr val="tx1"/>
                </a:solidFill>
              </a:rPr>
              <a:t>.</a:t>
            </a:r>
            <a:endParaRPr lang="en-US" sz="1700" dirty="0"/>
          </a:p>
        </p:txBody>
      </p:sp>
      <p:sp>
        <p:nvSpPr>
          <p:cNvPr id="15" name="Shape 10"/>
          <p:cNvSpPr/>
          <p:nvPr/>
        </p:nvSpPr>
        <p:spPr>
          <a:xfrm>
            <a:off x="8095488" y="1600200"/>
            <a:ext cx="3544824" cy="3291840"/>
          </a:xfrm>
          <a:prstGeom prst="roundRect">
            <a:avLst>
              <a:gd name="adj" fmla="val 2778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pic>
        <p:nvPicPr>
          <p:cNvPr id="16" name="Image 2" descr="smiling face with heart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10700" y="1783080"/>
            <a:ext cx="914400" cy="914400"/>
          </a:xfrm>
          <a:prstGeom prst="rect">
            <a:avLst/>
          </a:prstGeom>
        </p:spPr>
      </p:pic>
      <p:sp>
        <p:nvSpPr>
          <p:cNvPr id="17" name="Text 11"/>
          <p:cNvSpPr txBox="1"/>
          <p:nvPr/>
        </p:nvSpPr>
        <p:spPr>
          <a:xfrm>
            <a:off x="8232648" y="2743200"/>
            <a:ext cx="3270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i="1" dirty="0">
                <a:solidFill>
                  <a:schemeClr val="accent4"/>
                </a:solidFill>
              </a:rPr>
              <a:t>dol zijn op</a:t>
            </a:r>
            <a:endParaRPr lang="en-US" sz="2200" dirty="0"/>
          </a:p>
        </p:txBody>
      </p:sp>
      <p:sp>
        <p:nvSpPr>
          <p:cNvPr id="18" name="Text 12"/>
          <p:cNvSpPr txBox="1"/>
          <p:nvPr/>
        </p:nvSpPr>
        <p:spPr>
          <a:xfrm>
            <a:off x="8232648" y="3154680"/>
            <a:ext cx="32705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adorer (aussi : </a:t>
            </a:r>
            <a:r>
              <a:rPr lang="en-US" sz="1400" i="1" dirty="0">
                <a:solidFill>
                  <a:schemeClr val="accent5"/>
                </a:solidFill>
              </a:rPr>
              <a:t>gek zijn op</a:t>
            </a:r>
            <a:r>
              <a:rPr lang="en-US" sz="1400" i="1" dirty="0">
                <a:solidFill>
                  <a:schemeClr val="accent5"/>
                </a:solidFill>
              </a:rPr>
              <a:t>)</a:t>
            </a:r>
            <a:endParaRPr lang="en-US" sz="1400" dirty="0"/>
          </a:p>
        </p:txBody>
      </p:sp>
      <p:sp>
        <p:nvSpPr>
          <p:cNvPr id="19" name="Text 13"/>
          <p:cNvSpPr txBox="1"/>
          <p:nvPr/>
        </p:nvSpPr>
        <p:spPr>
          <a:xfrm>
            <a:off x="8232648" y="3566160"/>
            <a:ext cx="32705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i="1" dirty="0">
                <a:solidFill>
                  <a:schemeClr val="tx1"/>
                </a:solidFill>
              </a:rPr>
              <a:t>Ik ben </a:t>
            </a:r>
            <a:r>
              <a:rPr lang="en-US" sz="1700" b="1" i="1" dirty="0">
                <a:solidFill>
                  <a:schemeClr val="accent4"/>
                </a:solidFill>
              </a:rPr>
              <a:t>dol op</a:t>
            </a:r>
            <a:r>
              <a:rPr lang="en-US" sz="1700" i="1" dirty="0">
                <a:solidFill>
                  <a:schemeClr val="tx1"/>
                </a:solidFill>
              </a:rPr>
              <a:t> chocolade.</a:t>
            </a:r>
            <a:endParaRPr lang="en-US" sz="1700" dirty="0"/>
          </a:p>
        </p:txBody>
      </p:sp>
      <p:sp>
        <p:nvSpPr>
          <p:cNvPr id="20" name="Shape 14"/>
          <p:cNvSpPr/>
          <p:nvPr/>
        </p:nvSpPr>
        <p:spPr>
          <a:xfrm>
            <a:off x="548640" y="5074920"/>
            <a:ext cx="11091672" cy="594360"/>
          </a:xfrm>
          <a:prstGeom prst="roundRect">
            <a:avLst>
              <a:gd name="adj" fmla="val 15385"/>
            </a:avLst>
          </a:prstGeom>
          <a:solidFill>
            <a:schemeClr val="accent6">
              <a:alpha val="8000"/>
            </a:schemeClr>
          </a:solidFill>
          <a:ln w="15875">
            <a:solidFill>
              <a:srgbClr val="B83227"/>
            </a:solidFill>
            <a:prstDash val="solid"/>
          </a:ln>
        </p:spPr>
      </p:sp>
      <p:sp>
        <p:nvSpPr>
          <p:cNvPr id="21" name="Text 15"/>
          <p:cNvSpPr txBox="1"/>
          <p:nvPr/>
        </p:nvSpPr>
        <p:spPr>
          <a:xfrm>
            <a:off x="777240" y="5074920"/>
            <a:ext cx="10698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tx1"/>
                </a:solidFill>
              </a:rPr>
              <a:t>✗ </a:t>
            </a:r>
            <a:r>
              <a:rPr lang="en-US" sz="1800" i="1" strike="sngStrike" dirty="0">
                <a:solidFill>
                  <a:schemeClr val="accent6"/>
                </a:solidFill>
              </a:rPr>
              <a:t>Deze soep is leuk</a:t>
            </a:r>
            <a:r>
              <a:rPr lang="en-US" sz="1800" dirty="0">
                <a:solidFill>
                  <a:schemeClr val="tx1"/>
                </a:solidFill>
              </a:rPr>
              <a:t> : une soupe n’est pas « sympa » → </a:t>
            </a:r>
            <a:r>
              <a:rPr lang="en-US" sz="1800" i="1" dirty="0">
                <a:solidFill>
                  <a:schemeClr val="tx1"/>
                </a:solidFill>
              </a:rPr>
              <a:t>Deze soep is </a:t>
            </a:r>
            <a:r>
              <a:rPr lang="en-US" sz="1800" b="1" i="1" dirty="0">
                <a:solidFill>
                  <a:schemeClr val="tx1"/>
                </a:solidFill>
              </a:rPr>
              <a:t>lekker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22" name="Text 16"/>
          <p:cNvSpPr txBox="1"/>
          <p:nvPr/>
        </p:nvSpPr>
        <p:spPr>
          <a:xfrm>
            <a:off x="548640" y="57607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Ik vind Sofie leuk</a:t>
            </a:r>
            <a:r>
              <a:rPr lang="en-US" sz="1500" i="1" dirty="0">
                <a:solidFill>
                  <a:schemeClr val="accent5"/>
                </a:solidFill>
              </a:rPr>
              <a:t> peut vouloir dire « Sofie me plaît » : au bureau, préférez </a:t>
            </a:r>
            <a:r>
              <a:rPr lang="en-US" sz="1500" i="1" dirty="0">
                <a:solidFill>
                  <a:schemeClr val="accent5"/>
                </a:solidFill>
              </a:rPr>
              <a:t>aardig</a:t>
            </a:r>
            <a:r>
              <a:rPr lang="en-US" sz="1500" i="1" dirty="0">
                <a:solidFill>
                  <a:schemeClr val="accent5"/>
                </a:solidFill>
              </a:rPr>
              <a:t> (gentille).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PIÈGE : un seul « aimer » en français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878178" cy="310896"/>
          </a:xfrm>
          <a:prstGeom prst="roundRect">
            <a:avLst>
              <a:gd name="adj" fmla="val 14706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PIÈGE FR ≠ NL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11091672" cy="4023360"/>
          </a:xfrm>
          <a:prstGeom prst="roundRect">
            <a:avLst>
              <a:gd name="adj" fmla="val 1818"/>
            </a:avLst>
          </a:prstGeom>
          <a:solidFill>
            <a:schemeClr val="accent6">
              <a:alpha val="6000"/>
            </a:schemeClr>
          </a:solidFill>
          <a:ln w="12700">
            <a:solidFill>
              <a:srgbClr val="B83227">
                <a:alpha val="60000"/>
              </a:srgbClr>
            </a:solidFill>
            <a:prstDash val="solid"/>
          </a:ln>
        </p:spPr>
      </p:sp>
      <p:sp>
        <p:nvSpPr>
          <p:cNvPr id="6" name="tag"/>
          <p:cNvSpPr/>
          <p:nvPr/>
        </p:nvSpPr>
        <p:spPr>
          <a:xfrm>
            <a:off x="731520" y="1691640"/>
            <a:ext cx="1230782" cy="292608"/>
          </a:xfrm>
          <a:prstGeom prst="roundRect">
            <a:avLst>
              <a:gd name="adj" fmla="val 15625"/>
            </a:avLst>
          </a:prstGeom>
          <a:solidFill>
            <a:schemeClr val="accent6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⚠ PIÈGE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868680" y="21031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J’aime nager »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3931920" y="21031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graag zwem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46520" y="24048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0" name="Shape 7"/>
          <p:cNvSpPr/>
          <p:nvPr/>
        </p:nvSpPr>
        <p:spPr>
          <a:xfrm>
            <a:off x="6812280" y="21396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949440" y="21396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zwem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7889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J’aime le café »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446520" y="30906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4" name="Shape 11"/>
          <p:cNvSpPr/>
          <p:nvPr/>
        </p:nvSpPr>
        <p:spPr>
          <a:xfrm>
            <a:off x="6812280" y="28254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949440" y="28254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✓ </a:t>
            </a:r>
            <a:r>
              <a:rPr lang="en-US" sz="1500" i="1" dirty="0">
                <a:solidFill>
                  <a:schemeClr val="tx1"/>
                </a:solidFill>
              </a:rPr>
              <a:t>Ik drink graag koffie · Ik hou van koffie · Ik vind koffie lekker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68680" y="34747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t’aime »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446520" y="37764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18" name="Shape 15"/>
          <p:cNvSpPr/>
          <p:nvPr/>
        </p:nvSpPr>
        <p:spPr>
          <a:xfrm>
            <a:off x="6812280" y="35112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6949440" y="35112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</a:t>
            </a:r>
            <a:r>
              <a:rPr lang="en-US" sz="1700" b="1" i="1" dirty="0">
                <a:solidFill>
                  <a:schemeClr val="accent4"/>
                </a:solidFill>
              </a:rPr>
              <a:t>hou van</a:t>
            </a:r>
            <a:r>
              <a:rPr lang="en-US" sz="1700" i="1" dirty="0">
                <a:solidFill>
                  <a:schemeClr val="tx1"/>
                </a:solidFill>
              </a:rPr>
              <a:t> je</a:t>
            </a:r>
            <a:endParaRPr lang="en-US" sz="1700" dirty="0"/>
          </a:p>
        </p:txBody>
      </p:sp>
      <p:sp>
        <p:nvSpPr>
          <p:cNvPr id="20" name="Text 17"/>
          <p:cNvSpPr txBox="1"/>
          <p:nvPr/>
        </p:nvSpPr>
        <p:spPr>
          <a:xfrm>
            <a:off x="868680" y="41605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Je t’aime bien »</a:t>
            </a:r>
            <a:endParaRPr lang="en-US" sz="1700" dirty="0"/>
          </a:p>
        </p:txBody>
      </p:sp>
      <p:sp>
        <p:nvSpPr>
          <p:cNvPr id="21" name="Text 18"/>
          <p:cNvSpPr txBox="1"/>
          <p:nvPr/>
        </p:nvSpPr>
        <p:spPr>
          <a:xfrm>
            <a:off x="3931920" y="4160520"/>
            <a:ext cx="24688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chemeClr val="accent6"/>
                </a:solidFill>
              </a:rPr>
              <a:t>✗ </a:t>
            </a:r>
            <a:r>
              <a:rPr lang="en-US" sz="1500" i="1" strike="sngStrike" dirty="0">
                <a:solidFill>
                  <a:schemeClr val="accent6"/>
                </a:solidFill>
              </a:rPr>
              <a:t>Ik hou van je</a:t>
            </a:r>
            <a:endParaRPr lang="en-US" sz="1500" dirty="0"/>
          </a:p>
        </p:txBody>
      </p:sp>
      <p:sp>
        <p:nvSpPr>
          <p:cNvPr id="22" name="Shape 19"/>
          <p:cNvSpPr/>
          <p:nvPr/>
        </p:nvSpPr>
        <p:spPr>
          <a:xfrm>
            <a:off x="6446520" y="44622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6812280" y="41970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949440" y="41970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vind je </a:t>
            </a:r>
            <a:r>
              <a:rPr lang="en-US" sz="1700" b="1" i="1" dirty="0">
                <a:solidFill>
                  <a:schemeClr val="accent1"/>
                </a:solidFill>
              </a:rPr>
              <a:t>leuk</a:t>
            </a:r>
            <a:r>
              <a:rPr lang="en-US" sz="1700" i="1" dirty="0">
                <a:solidFill>
                  <a:schemeClr val="tx1"/>
                </a:solidFill>
              </a:rPr>
              <a:t> / </a:t>
            </a:r>
            <a:r>
              <a:rPr lang="en-US" sz="1700" b="1" i="1" dirty="0">
                <a:solidFill>
                  <a:schemeClr val="accent1"/>
                </a:solidFill>
              </a:rPr>
              <a:t>aardig</a:t>
            </a:r>
            <a:endParaRPr lang="en-US" sz="1700" dirty="0"/>
          </a:p>
        </p:txBody>
      </p:sp>
      <p:sp>
        <p:nvSpPr>
          <p:cNvPr id="25" name="Text 22"/>
          <p:cNvSpPr txBox="1"/>
          <p:nvPr/>
        </p:nvSpPr>
        <p:spPr>
          <a:xfrm>
            <a:off x="868680" y="4846320"/>
            <a:ext cx="30175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« J’aimerais un café »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446520" y="5148072"/>
            <a:ext cx="320040" cy="914"/>
          </a:xfrm>
          <a:prstGeom prst="line">
            <a:avLst/>
          </a:prstGeom>
          <a:noFill/>
          <a:ln w="25400">
            <a:solidFill>
              <a:srgbClr val="2E7D4F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812280" y="4882896"/>
            <a:ext cx="4663440" cy="530352"/>
          </a:xfrm>
          <a:prstGeom prst="roundRect">
            <a:avLst>
              <a:gd name="adj" fmla="val 17241"/>
            </a:avLst>
          </a:prstGeom>
          <a:solidFill>
            <a:schemeClr val="accent3">
              <a:alpha val="12000"/>
            </a:schemeClr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6949440" y="4882896"/>
            <a:ext cx="4480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✓ </a:t>
            </a:r>
            <a:r>
              <a:rPr lang="en-US" sz="1700" i="1" dirty="0">
                <a:solidFill>
                  <a:schemeClr val="tx1"/>
                </a:solidFill>
              </a:rPr>
              <a:t>Ik wil </a:t>
            </a:r>
            <a:r>
              <a:rPr lang="en-US" sz="1700" b="1" i="1" dirty="0">
                <a:solidFill>
                  <a:schemeClr val="accent3"/>
                </a:solidFill>
              </a:rPr>
              <a:t>graag</a:t>
            </a:r>
            <a:r>
              <a:rPr lang="en-US" sz="1700" i="1" dirty="0">
                <a:solidFill>
                  <a:schemeClr val="tx1"/>
                </a:solidFill>
              </a:rPr>
              <a:t> een koffie (M29)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548640" y="5715000"/>
            <a:ext cx="11091672" cy="566928"/>
          </a:xfrm>
          <a:prstGeom prst="roundRect">
            <a:avLst>
              <a:gd name="adj" fmla="val 12903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822960" y="5715000"/>
            <a:ext cx="10607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bg1"/>
                </a:solidFill>
              </a:rPr>
              <a:t>Ik hou van je</a:t>
            </a:r>
            <a:r>
              <a:rPr lang="en-US" sz="1700" dirty="0">
                <a:solidFill>
                  <a:schemeClr val="bg1"/>
                </a:solidFill>
              </a:rPr>
              <a:t> est fort (partenaire, enfants). Au bureau : </a:t>
            </a:r>
            <a:r>
              <a:rPr lang="en-US" sz="1700" i="1" dirty="0">
                <a:solidFill>
                  <a:schemeClr val="bg1"/>
                </a:solidFill>
              </a:rPr>
              <a:t>Ik vind mijn collega’s leuk / aardig.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graag dans la politesse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pic>
        <p:nvPicPr>
          <p:cNvPr id="5" name="Image 0" descr="person tipping han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54480"/>
            <a:ext cx="566928" cy="566928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1234440" y="1554480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1399032" y="155448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Ober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Wat mag het zijn?</a:t>
            </a:r>
            <a:endParaRPr lang="en-US" sz="1600" dirty="0"/>
          </a:p>
        </p:txBody>
      </p:sp>
      <p:pic>
        <p:nvPicPr>
          <p:cNvPr id="8" name="Image 1" descr="man office work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2212848"/>
            <a:ext cx="566928" cy="566928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1737360" y="2212848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0" name="Text 5"/>
          <p:cNvSpPr txBox="1"/>
          <p:nvPr/>
        </p:nvSpPr>
        <p:spPr>
          <a:xfrm>
            <a:off x="1901952" y="2212848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Ik wil </a:t>
            </a:r>
            <a:r>
              <a:rPr lang="en-US" sz="1600" b="1" i="1" dirty="0">
                <a:solidFill>
                  <a:schemeClr val="accent3"/>
                </a:solidFill>
              </a:rPr>
              <a:t>graag</a:t>
            </a:r>
            <a:r>
              <a:rPr lang="en-US" sz="1600" i="1" dirty="0">
                <a:solidFill>
                  <a:schemeClr val="tx1"/>
                </a:solidFill>
              </a:rPr>
              <a:t> een koffie.</a:t>
            </a:r>
            <a:endParaRPr lang="en-US" sz="1600" dirty="0"/>
          </a:p>
        </p:txBody>
      </p:sp>
      <p:sp>
        <p:nvSpPr>
          <p:cNvPr id="11" name="Text 6"/>
          <p:cNvSpPr txBox="1"/>
          <p:nvPr/>
        </p:nvSpPr>
        <p:spPr>
          <a:xfrm>
            <a:off x="7680960" y="2212848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→ je voudrais</a:t>
            </a:r>
            <a:endParaRPr lang="en-US" sz="1500" dirty="0"/>
          </a:p>
        </p:txBody>
      </p:sp>
      <p:pic>
        <p:nvPicPr>
          <p:cNvPr id="12" name="Image 2" descr="person tipping han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71216"/>
            <a:ext cx="566928" cy="566928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1234440" y="2871216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1399032" y="2871216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Ober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Met melk?</a:t>
            </a:r>
            <a:endParaRPr lang="en-US" sz="1600" dirty="0"/>
          </a:p>
        </p:txBody>
      </p:sp>
      <p:pic>
        <p:nvPicPr>
          <p:cNvPr id="15" name="Image 3" descr="man office worker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3529584"/>
            <a:ext cx="566928" cy="566928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1737360" y="3529584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1901952" y="3529584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Ja, </a:t>
            </a:r>
            <a:r>
              <a:rPr lang="en-US" sz="1600" b="1" i="1" dirty="0">
                <a:solidFill>
                  <a:schemeClr val="accent3"/>
                </a:solidFill>
              </a:rPr>
              <a:t>graag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18" name="Text 11"/>
          <p:cNvSpPr txBox="1"/>
          <p:nvPr/>
        </p:nvSpPr>
        <p:spPr>
          <a:xfrm>
            <a:off x="7680960" y="3529584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→ oui, volontiers</a:t>
            </a:r>
            <a:endParaRPr lang="en-US" sz="1500" dirty="0"/>
          </a:p>
        </p:txBody>
      </p:sp>
      <p:pic>
        <p:nvPicPr>
          <p:cNvPr id="19" name="Image 4" descr="man office worke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49440" y="4187952"/>
            <a:ext cx="566928" cy="566928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1737360" y="4187952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3">
              <a:alpha val="12000"/>
            </a:schemeClr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1" name="Text 13"/>
          <p:cNvSpPr txBox="1"/>
          <p:nvPr/>
        </p:nvSpPr>
        <p:spPr>
          <a:xfrm>
            <a:off x="1901952" y="4187952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Karim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i="1" dirty="0">
                <a:solidFill>
                  <a:schemeClr val="tx1"/>
                </a:solidFill>
              </a:rPr>
              <a:t>Dank u wel!</a:t>
            </a:r>
            <a:endParaRPr lang="en-US" sz="1600" dirty="0"/>
          </a:p>
        </p:txBody>
      </p:sp>
      <p:pic>
        <p:nvPicPr>
          <p:cNvPr id="22" name="Image 5" descr="person tipping hand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4846320"/>
            <a:ext cx="566928" cy="566928"/>
          </a:xfrm>
          <a:prstGeom prst="rect">
            <a:avLst/>
          </a:prstGeom>
        </p:spPr>
      </p:pic>
      <p:sp>
        <p:nvSpPr>
          <p:cNvPr id="23" name="Shape 14"/>
          <p:cNvSpPr/>
          <p:nvPr/>
        </p:nvSpPr>
        <p:spPr>
          <a:xfrm>
            <a:off x="1234440" y="4846320"/>
            <a:ext cx="5120640" cy="566928"/>
          </a:xfrm>
          <a:prstGeom prst="roundRect">
            <a:avLst>
              <a:gd name="adj" fmla="val 29032"/>
            </a:avLst>
          </a:prstGeom>
          <a:solidFill>
            <a:schemeClr val="accent2">
              <a:alpha val="12000"/>
            </a:schemeClr>
          </a:solidFill>
          <a:ln w="15875">
            <a:solidFill>
              <a:srgbClr val="2A6FB0"/>
            </a:solidFill>
            <a:prstDash val="solid"/>
          </a:ln>
        </p:spPr>
      </p:sp>
      <p:sp>
        <p:nvSpPr>
          <p:cNvPr id="24" name="Text 15"/>
          <p:cNvSpPr txBox="1"/>
          <p:nvPr/>
        </p:nvSpPr>
        <p:spPr>
          <a:xfrm>
            <a:off x="1399032" y="4846320"/>
            <a:ext cx="479145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Ober</a:t>
            </a:r>
            <a:r>
              <a:rPr lang="en-US" sz="1600" dirty="0">
                <a:solidFill>
                  <a:schemeClr val="tx1"/>
                </a:solidFill>
              </a:rPr>
              <a:t> · </a:t>
            </a:r>
            <a:r>
              <a:rPr lang="en-US" sz="1600" b="1" i="1" dirty="0">
                <a:solidFill>
                  <a:schemeClr val="accent3"/>
                </a:solidFill>
              </a:rPr>
              <a:t>Graag gedaan</a:t>
            </a:r>
            <a:r>
              <a:rPr lang="en-US" sz="1600" i="1" dirty="0">
                <a:solidFill>
                  <a:schemeClr val="tx1"/>
                </a:solidFill>
              </a:rPr>
              <a:t>!</a:t>
            </a:r>
            <a:endParaRPr lang="en-US" sz="1600" dirty="0"/>
          </a:p>
        </p:txBody>
      </p:sp>
      <p:sp>
        <p:nvSpPr>
          <p:cNvPr id="25" name="Text 16"/>
          <p:cNvSpPr txBox="1"/>
          <p:nvPr/>
        </p:nvSpPr>
        <p:spPr>
          <a:xfrm>
            <a:off x="7680960" y="4846320"/>
            <a:ext cx="39593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→ avec plaisir / de rien</a:t>
            </a:r>
            <a:endParaRPr lang="en-US" sz="1500" dirty="0"/>
          </a:p>
        </p:txBody>
      </p:sp>
      <p:pic>
        <p:nvPicPr>
          <p:cNvPr id="26" name="Image 6" descr="hot beverage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07040" y="1600200"/>
            <a:ext cx="914400" cy="914400"/>
          </a:xfrm>
          <a:prstGeom prst="rect">
            <a:avLst/>
          </a:prstGeom>
        </p:spPr>
      </p:pic>
      <p:sp>
        <p:nvSpPr>
          <p:cNvPr id="27" name="Shape 17"/>
          <p:cNvSpPr/>
          <p:nvPr/>
        </p:nvSpPr>
        <p:spPr>
          <a:xfrm>
            <a:off x="548640" y="5623560"/>
            <a:ext cx="11091672" cy="621792"/>
          </a:xfrm>
          <a:prstGeom prst="roundRect">
            <a:avLst>
              <a:gd name="adj" fmla="val 11765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8" name="Text 18"/>
          <p:cNvSpPr txBox="1"/>
          <p:nvPr/>
        </p:nvSpPr>
        <p:spPr>
          <a:xfrm>
            <a:off x="822960" y="5623560"/>
            <a:ext cx="10607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chemeClr val="bg1"/>
                </a:solidFill>
              </a:rPr>
              <a:t>Belgique : on entend aussi </a:t>
            </a:r>
            <a:r>
              <a:rPr lang="en-US" sz="1800" i="1" dirty="0">
                <a:solidFill>
                  <a:schemeClr val="bg1"/>
                </a:solidFill>
              </a:rPr>
              <a:t>Ik had graag een koffie</a:t>
            </a:r>
            <a:r>
              <a:rPr lang="en-US" sz="1800" dirty="0">
                <a:solidFill>
                  <a:schemeClr val="bg1"/>
                </a:solidFill>
              </a:rPr>
              <a:t> (je voudrais) — voir M29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place de graag dans la phrase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336853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GRAMMAIRE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600200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48640" y="1600200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7" name="Shape 4"/>
          <p:cNvSpPr/>
          <p:nvPr/>
        </p:nvSpPr>
        <p:spPr>
          <a:xfrm>
            <a:off x="1232245" y="1600200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1232245" y="1600200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wil</a:t>
            </a:r>
            <a:endParaRPr lang="en-US" sz="2100" dirty="0"/>
          </a:p>
        </p:txBody>
      </p:sp>
      <p:sp>
        <p:nvSpPr>
          <p:cNvPr id="9" name="Shape 6"/>
          <p:cNvSpPr/>
          <p:nvPr/>
        </p:nvSpPr>
        <p:spPr>
          <a:xfrm>
            <a:off x="2227815" y="1600200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227815" y="1600200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11" name="Shape 8"/>
          <p:cNvSpPr/>
          <p:nvPr/>
        </p:nvSpPr>
        <p:spPr>
          <a:xfrm>
            <a:off x="3558889" y="1600200"/>
            <a:ext cx="1790395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3558889" y="1600200"/>
            <a:ext cx="1790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een koffie</a:t>
            </a:r>
            <a:endParaRPr lang="en-US" sz="2100" dirty="0"/>
          </a:p>
        </p:txBody>
      </p:sp>
      <p:sp>
        <p:nvSpPr>
          <p:cNvPr id="13" name="Shape 10"/>
          <p:cNvSpPr/>
          <p:nvPr/>
        </p:nvSpPr>
        <p:spPr>
          <a:xfrm>
            <a:off x="5440724" y="1600200"/>
            <a:ext cx="2078395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14" name="Text 11"/>
          <p:cNvSpPr txBox="1"/>
          <p:nvPr/>
        </p:nvSpPr>
        <p:spPr>
          <a:xfrm>
            <a:off x="5440724" y="1600200"/>
            <a:ext cx="207839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bestellen.</a:t>
            </a:r>
            <a:endParaRPr lang="en-US" sz="2100" dirty="0"/>
          </a:p>
        </p:txBody>
      </p:sp>
      <p:sp>
        <p:nvSpPr>
          <p:cNvPr id="15" name="Shape 12"/>
          <p:cNvSpPr/>
          <p:nvPr/>
        </p:nvSpPr>
        <p:spPr>
          <a:xfrm>
            <a:off x="548640" y="2350008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48640" y="2350008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17" name="Shape 14"/>
          <p:cNvSpPr/>
          <p:nvPr/>
        </p:nvSpPr>
        <p:spPr>
          <a:xfrm>
            <a:off x="1232245" y="2350008"/>
            <a:ext cx="904129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1232245" y="2350008"/>
            <a:ext cx="904129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heb</a:t>
            </a:r>
            <a:endParaRPr lang="en-US" sz="2100" dirty="0"/>
          </a:p>
        </p:txBody>
      </p:sp>
      <p:sp>
        <p:nvSpPr>
          <p:cNvPr id="19" name="Shape 16"/>
          <p:cNvSpPr/>
          <p:nvPr/>
        </p:nvSpPr>
        <p:spPr>
          <a:xfrm>
            <a:off x="2227815" y="2350008"/>
            <a:ext cx="741944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2227815" y="2350008"/>
            <a:ext cx="74194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dat</a:t>
            </a:r>
            <a:endParaRPr lang="en-US" sz="2100" dirty="0"/>
          </a:p>
        </p:txBody>
      </p:sp>
      <p:sp>
        <p:nvSpPr>
          <p:cNvPr id="21" name="Shape 18"/>
          <p:cNvSpPr/>
          <p:nvPr/>
        </p:nvSpPr>
        <p:spPr>
          <a:xfrm>
            <a:off x="3061199" y="2350008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3061199" y="2350008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23" name="Shape 20"/>
          <p:cNvSpPr/>
          <p:nvPr/>
        </p:nvSpPr>
        <p:spPr>
          <a:xfrm>
            <a:off x="4392273" y="2350008"/>
            <a:ext cx="1575138" cy="603504"/>
          </a:xfrm>
          <a:prstGeom prst="roundRect">
            <a:avLst>
              <a:gd name="adj" fmla="val 12121"/>
            </a:avLst>
          </a:prstGeom>
          <a:solidFill>
            <a:srgbClr val="FFFFFF"/>
          </a:solidFill>
          <a:ln w="25400">
            <a:solidFill>
              <a:srgbClr val="B83227"/>
            </a:solidFill>
            <a:prstDash val="dash"/>
          </a:ln>
        </p:spPr>
      </p:sp>
      <p:sp>
        <p:nvSpPr>
          <p:cNvPr id="24" name="Text 21"/>
          <p:cNvSpPr txBox="1"/>
          <p:nvPr/>
        </p:nvSpPr>
        <p:spPr>
          <a:xfrm>
            <a:off x="4392273" y="2350008"/>
            <a:ext cx="157513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gedaan.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548640" y="3099816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Text 23"/>
          <p:cNvSpPr txBox="1"/>
          <p:nvPr/>
        </p:nvSpPr>
        <p:spPr>
          <a:xfrm>
            <a:off x="548640" y="3099816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27" name="Shape 24"/>
          <p:cNvSpPr/>
          <p:nvPr/>
        </p:nvSpPr>
        <p:spPr>
          <a:xfrm>
            <a:off x="1232245" y="3099816"/>
            <a:ext cx="736377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28" name="Text 25"/>
          <p:cNvSpPr txBox="1"/>
          <p:nvPr/>
        </p:nvSpPr>
        <p:spPr>
          <a:xfrm>
            <a:off x="1232245" y="3099816"/>
            <a:ext cx="736377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ga</a:t>
            </a:r>
            <a:endParaRPr lang="en-US" sz="2100" dirty="0"/>
          </a:p>
        </p:txBody>
      </p:sp>
      <p:sp>
        <p:nvSpPr>
          <p:cNvPr id="29" name="Shape 26"/>
          <p:cNvSpPr/>
          <p:nvPr/>
        </p:nvSpPr>
        <p:spPr>
          <a:xfrm>
            <a:off x="2060063" y="3099816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2060063" y="3099816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31" name="Shape 28"/>
          <p:cNvSpPr/>
          <p:nvPr/>
        </p:nvSpPr>
        <p:spPr>
          <a:xfrm>
            <a:off x="3391137" y="3099816"/>
            <a:ext cx="2239731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Text 29"/>
          <p:cNvSpPr txBox="1"/>
          <p:nvPr/>
        </p:nvSpPr>
        <p:spPr>
          <a:xfrm>
            <a:off x="3391137" y="3099816"/>
            <a:ext cx="2239731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naar de film.</a:t>
            </a:r>
            <a:endParaRPr lang="en-US" sz="2100" dirty="0"/>
          </a:p>
        </p:txBody>
      </p:sp>
      <p:sp>
        <p:nvSpPr>
          <p:cNvPr id="33" name="Shape 30"/>
          <p:cNvSpPr/>
          <p:nvPr/>
        </p:nvSpPr>
        <p:spPr>
          <a:xfrm>
            <a:off x="548640" y="3849624"/>
            <a:ext cx="238951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4" name="Text 31"/>
          <p:cNvSpPr txBox="1"/>
          <p:nvPr/>
        </p:nvSpPr>
        <p:spPr>
          <a:xfrm>
            <a:off x="548640" y="3849624"/>
            <a:ext cx="238951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In het weekend</a:t>
            </a:r>
            <a:endParaRPr lang="en-US" sz="2100" dirty="0"/>
          </a:p>
        </p:txBody>
      </p:sp>
      <p:sp>
        <p:nvSpPr>
          <p:cNvPr id="35" name="Shape 32"/>
          <p:cNvSpPr/>
          <p:nvPr/>
        </p:nvSpPr>
        <p:spPr>
          <a:xfrm>
            <a:off x="3029590" y="3849624"/>
            <a:ext cx="1239634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36" name="Text 33"/>
          <p:cNvSpPr txBox="1"/>
          <p:nvPr/>
        </p:nvSpPr>
        <p:spPr>
          <a:xfrm>
            <a:off x="3029590" y="3849624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fiets</a:t>
            </a:r>
            <a:endParaRPr lang="en-US" sz="2100" dirty="0"/>
          </a:p>
        </p:txBody>
      </p:sp>
      <p:sp>
        <p:nvSpPr>
          <p:cNvPr id="37" name="Shape 34"/>
          <p:cNvSpPr/>
          <p:nvPr/>
        </p:nvSpPr>
        <p:spPr>
          <a:xfrm>
            <a:off x="4360664" y="3849624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Text 35"/>
          <p:cNvSpPr txBox="1"/>
          <p:nvPr/>
        </p:nvSpPr>
        <p:spPr>
          <a:xfrm>
            <a:off x="4360664" y="3849624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39" name="Shape 36"/>
          <p:cNvSpPr/>
          <p:nvPr/>
        </p:nvSpPr>
        <p:spPr>
          <a:xfrm>
            <a:off x="5044269" y="3849624"/>
            <a:ext cx="1407386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5044269" y="3849624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graag.</a:t>
            </a:r>
            <a:endParaRPr lang="en-US" sz="2100" dirty="0"/>
          </a:p>
        </p:txBody>
      </p:sp>
      <p:sp>
        <p:nvSpPr>
          <p:cNvPr id="41" name="Shape 38"/>
          <p:cNvSpPr/>
          <p:nvPr/>
        </p:nvSpPr>
        <p:spPr>
          <a:xfrm>
            <a:off x="548640" y="4599432"/>
            <a:ext cx="1490838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2" name="Text 39"/>
          <p:cNvSpPr txBox="1"/>
          <p:nvPr/>
        </p:nvSpPr>
        <p:spPr>
          <a:xfrm>
            <a:off x="548640" y="4599432"/>
            <a:ext cx="1490838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…, omdat</a:t>
            </a:r>
            <a:endParaRPr lang="en-US" sz="2100" dirty="0"/>
          </a:p>
        </p:txBody>
      </p:sp>
      <p:sp>
        <p:nvSpPr>
          <p:cNvPr id="43" name="Shape 40"/>
          <p:cNvSpPr/>
          <p:nvPr/>
        </p:nvSpPr>
        <p:spPr>
          <a:xfrm>
            <a:off x="2130918" y="4599432"/>
            <a:ext cx="592165" cy="603504"/>
          </a:xfrm>
          <a:prstGeom prst="roundRect">
            <a:avLst>
              <a:gd name="adj" fmla="val 12353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44" name="Text 41"/>
          <p:cNvSpPr txBox="1"/>
          <p:nvPr/>
        </p:nvSpPr>
        <p:spPr>
          <a:xfrm>
            <a:off x="2130918" y="4599432"/>
            <a:ext cx="59216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chemeClr val="tx1"/>
                </a:solidFill>
              </a:rPr>
              <a:t>ik</a:t>
            </a:r>
            <a:endParaRPr lang="en-US" sz="2100" dirty="0"/>
          </a:p>
        </p:txBody>
      </p:sp>
      <p:sp>
        <p:nvSpPr>
          <p:cNvPr id="45" name="Shape 42"/>
          <p:cNvSpPr/>
          <p:nvPr/>
        </p:nvSpPr>
        <p:spPr>
          <a:xfrm>
            <a:off x="2814523" y="4599432"/>
            <a:ext cx="1239634" cy="603504"/>
          </a:xfrm>
          <a:prstGeom prst="roundRect">
            <a:avLst>
              <a:gd name="adj" fmla="val 12121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6" name="Text 43"/>
          <p:cNvSpPr txBox="1"/>
          <p:nvPr/>
        </p:nvSpPr>
        <p:spPr>
          <a:xfrm>
            <a:off x="2814523" y="4599432"/>
            <a:ext cx="123963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bg1"/>
                </a:solidFill>
              </a:rPr>
              <a:t>graag</a:t>
            </a:r>
            <a:endParaRPr lang="en-US" sz="2100" dirty="0"/>
          </a:p>
        </p:txBody>
      </p:sp>
      <p:sp>
        <p:nvSpPr>
          <p:cNvPr id="47" name="Shape 44"/>
          <p:cNvSpPr/>
          <p:nvPr/>
        </p:nvSpPr>
        <p:spPr>
          <a:xfrm>
            <a:off x="4145597" y="4599432"/>
            <a:ext cx="1407386" cy="603504"/>
          </a:xfrm>
          <a:prstGeom prst="roundRect">
            <a:avLst>
              <a:gd name="adj" fmla="val 12121"/>
            </a:avLst>
          </a:prstGeom>
          <a:solidFill>
            <a:srgbClr val="FBEDEB"/>
          </a:solidFill>
          <a:ln w="31750">
            <a:solidFill>
              <a:srgbClr val="B83227"/>
            </a:solidFill>
            <a:prstDash val="solid"/>
          </a:ln>
        </p:spPr>
      </p:sp>
      <p:sp>
        <p:nvSpPr>
          <p:cNvPr id="48" name="Text 45"/>
          <p:cNvSpPr txBox="1"/>
          <p:nvPr/>
        </p:nvSpPr>
        <p:spPr>
          <a:xfrm>
            <a:off x="4145597" y="4599432"/>
            <a:ext cx="1407386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chemeClr val="accent6"/>
                </a:solidFill>
              </a:rPr>
              <a:t>fiets.</a:t>
            </a:r>
            <a:endParaRPr lang="en-US" sz="2100" dirty="0"/>
          </a:p>
        </p:txBody>
      </p:sp>
      <p:sp>
        <p:nvSpPr>
          <p:cNvPr id="49" name="Shape 46"/>
          <p:cNvSpPr/>
          <p:nvPr/>
        </p:nvSpPr>
        <p:spPr>
          <a:xfrm>
            <a:off x="8503920" y="1600200"/>
            <a:ext cx="3136392" cy="3602736"/>
          </a:xfrm>
          <a:prstGeom prst="roundRect">
            <a:avLst>
              <a:gd name="adj" fmla="val 2915"/>
            </a:avLst>
          </a:prstGeom>
          <a:solidFill>
            <a:srgbClr val="EDF6F0"/>
          </a:solidFill>
          <a:ln w="19050">
            <a:solidFill>
              <a:srgbClr val="2E7D4F"/>
            </a:solidFill>
            <a:prstDash val="solid"/>
          </a:ln>
        </p:spPr>
      </p:sp>
      <p:sp>
        <p:nvSpPr>
          <p:cNvPr id="50" name="Text 47"/>
          <p:cNvSpPr txBox="1"/>
          <p:nvPr/>
        </p:nvSpPr>
        <p:spPr>
          <a:xfrm>
            <a:off x="8641080" y="1691640"/>
            <a:ext cx="2880360" cy="3429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Comme </a:t>
            </a:r>
            <a:r>
              <a:rPr lang="en-US" sz="1500" b="1" i="1" dirty="0">
                <a:solidFill>
                  <a:schemeClr val="tx1"/>
                </a:solidFill>
              </a:rPr>
              <a:t>niet</a:t>
            </a:r>
            <a:r>
              <a:rPr lang="en-US" sz="1500" dirty="0">
                <a:solidFill>
                  <a:schemeClr val="tx1"/>
                </a:solidFill>
              </a:rPr>
              <a:t> (M13)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 verbe conjugué (et le sujet inversé)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dirty="0">
                <a:solidFill>
                  <a:schemeClr val="tx1"/>
                </a:solidFill>
              </a:rPr>
              <a:t>après les pronoms (</a:t>
            </a:r>
            <a:r>
              <a:rPr lang="en-US" sz="1500" i="1" dirty="0">
                <a:solidFill>
                  <a:schemeClr val="tx1"/>
                </a:solidFill>
              </a:rPr>
              <a:t>dat, het, me</a:t>
            </a:r>
            <a:r>
              <a:rPr lang="en-US" sz="1500" dirty="0">
                <a:solidFill>
                  <a:schemeClr val="tx1"/>
                </a:solidFill>
              </a:rPr>
              <a:t>), avant les autres compléments et le 2ᵉ verbe</a:t>
            </a: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endParaRPr lang="en-US" sz="1500" dirty="0"/>
          </a:p>
          <a:p>
            <a:pPr algn="l" indent="0" marL="0">
              <a:spcAft>
                <a:spcPts val="400"/>
              </a:spcAft>
              <a:buNone/>
            </a:pPr>
            <a:r>
              <a:rPr lang="en-US" sz="1500" i="1" dirty="0">
                <a:solidFill>
                  <a:schemeClr val="tx1"/>
                </a:solidFill>
              </a:rPr>
              <a:t>Ik heb dat graag gedaan</a:t>
            </a:r>
            <a:r>
              <a:rPr lang="en-US" sz="1500" dirty="0">
                <a:solidFill>
                  <a:schemeClr val="tx1"/>
                </a:solidFill>
              </a:rPr>
              <a:t> = je l’ai fait avec plaisir</a:t>
            </a:r>
            <a:endParaRPr lang="en-US" sz="1500" dirty="0"/>
          </a:p>
        </p:txBody>
      </p:sp>
      <p:sp>
        <p:nvSpPr>
          <p:cNvPr id="51" name="Shape 48"/>
          <p:cNvSpPr/>
          <p:nvPr/>
        </p:nvSpPr>
        <p:spPr>
          <a:xfrm>
            <a:off x="548640" y="5532120"/>
            <a:ext cx="11091672" cy="685800"/>
          </a:xfrm>
          <a:prstGeom prst="roundRect">
            <a:avLst>
              <a:gd name="adj" fmla="val 10667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2" name="Text 49"/>
          <p:cNvSpPr txBox="1"/>
          <p:nvPr/>
        </p:nvSpPr>
        <p:spPr>
          <a:xfrm>
            <a:off x="822960" y="5532120"/>
            <a:ext cx="10607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bg1"/>
                </a:solidFill>
              </a:rPr>
              <a:t>Subordonnée : </a:t>
            </a:r>
            <a:r>
              <a:rPr lang="en-US" sz="1700" i="1" dirty="0">
                <a:solidFill>
                  <a:schemeClr val="bg1"/>
                </a:solidFill>
              </a:rPr>
              <a:t>graag</a:t>
            </a:r>
            <a:r>
              <a:rPr lang="en-US" sz="1700" dirty="0">
                <a:solidFill>
                  <a:schemeClr val="bg1"/>
                </a:solidFill>
              </a:rPr>
              <a:t> reste devant le verbe, qui part à la fin (M9) : </a:t>
            </a:r>
            <a:r>
              <a:rPr lang="en-US" sz="1700" i="1" dirty="0">
                <a:solidFill>
                  <a:schemeClr val="bg1"/>
                </a:solidFill>
              </a:rPr>
              <a:t>…, omdat ik graag fiets.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À retenir : l’aiguillage du verbe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446581" cy="310896"/>
          </a:xfrm>
          <a:prstGeom prst="roundRect">
            <a:avLst>
              <a:gd name="adj" fmla="val 14706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À RETENIR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3544824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25400">
            <a:solidFill>
              <a:srgbClr val="2E7D4F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548640" y="1554480"/>
            <a:ext cx="3544824" cy="502920"/>
          </a:xfrm>
          <a:prstGeom prst="roundRect">
            <a:avLst>
              <a:gd name="adj" fmla="val 18182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48640" y="1554480"/>
            <a:ext cx="3544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ACTIVITÉ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103120"/>
            <a:ext cx="32705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dirty="0">
                <a:solidFill>
                  <a:schemeClr val="tx1"/>
                </a:solidFill>
              </a:rPr>
              <a:t>verbe + </a:t>
            </a: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lees </a:t>
            </a:r>
            <a:r>
              <a:rPr lang="en-US" sz="1800" b="1" i="1" dirty="0">
                <a:solidFill>
                  <a:schemeClr val="tx1"/>
                </a:solidFill>
              </a:rPr>
              <a:t>graag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9" name="Shape 6"/>
          <p:cNvSpPr/>
          <p:nvPr/>
        </p:nvSpPr>
        <p:spPr>
          <a:xfrm>
            <a:off x="4322064" y="1554480"/>
            <a:ext cx="3544824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25400">
            <a:solidFill>
              <a:srgbClr val="B4236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322064" y="1554480"/>
            <a:ext cx="3544824" cy="502920"/>
          </a:xfrm>
          <a:prstGeom prst="roundRect">
            <a:avLst>
              <a:gd name="adj" fmla="val 18182"/>
            </a:avLst>
          </a:prstGeom>
          <a:solidFill>
            <a:schemeClr val="accent4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4322064" y="1554480"/>
            <a:ext cx="3544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PERSONNE / CHOSE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4459224" y="2103120"/>
            <a:ext cx="32705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houden van</a:t>
            </a:r>
            <a:r>
              <a:rPr lang="en-US" sz="1800" dirty="0">
                <a:solidFill>
                  <a:schemeClr val="tx1"/>
                </a:solidFill>
              </a:rPr>
              <a:t> + nom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</a:t>
            </a:r>
            <a:r>
              <a:rPr lang="en-US" sz="1800" b="1" i="1" dirty="0">
                <a:solidFill>
                  <a:schemeClr val="tx1"/>
                </a:solidFill>
              </a:rPr>
              <a:t>hou van</a:t>
            </a:r>
            <a:r>
              <a:rPr lang="en-US" sz="1800" i="1" dirty="0">
                <a:solidFill>
                  <a:schemeClr val="tx1"/>
                </a:solidFill>
              </a:rPr>
              <a:t> muziek.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8095488" y="1554480"/>
            <a:ext cx="3544824" cy="1737360"/>
          </a:xfrm>
          <a:prstGeom prst="roundRect">
            <a:avLst>
              <a:gd name="adj" fmla="val 5263"/>
            </a:avLst>
          </a:prstGeom>
          <a:solidFill>
            <a:schemeClr val="bg1"/>
          </a:solidFill>
          <a:ln w="25400">
            <a:solidFill>
              <a:srgbClr val="D9700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8095488" y="1554480"/>
            <a:ext cx="3544824" cy="502920"/>
          </a:xfrm>
          <a:prstGeom prst="roundRect">
            <a:avLst>
              <a:gd name="adj" fmla="val 18182"/>
            </a:avLst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095488" y="1554480"/>
            <a:ext cx="3544824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chemeClr val="bg1"/>
                </a:solidFill>
              </a:rPr>
              <a:t>GOÛT / IMPRESSION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8232648" y="2103120"/>
            <a:ext cx="3270504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lekker / leuk vinden</a:t>
            </a:r>
            <a:endParaRPr lang="en-US" sz="18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800" i="1" dirty="0">
                <a:solidFill>
                  <a:schemeClr val="tx1"/>
                </a:solidFill>
              </a:rPr>
              <a:t>Ik vind de soep </a:t>
            </a:r>
            <a:r>
              <a:rPr lang="en-US" sz="1800" b="1" i="1" dirty="0">
                <a:solidFill>
                  <a:schemeClr val="tx1"/>
                </a:solidFill>
              </a:rPr>
              <a:t>lekker</a:t>
            </a:r>
            <a:r>
              <a:rPr lang="en-US" sz="1800" i="1" dirty="0">
                <a:solidFill>
                  <a:schemeClr val="tx1"/>
                </a:solidFill>
              </a:rPr>
              <a:t>.</a:t>
            </a:r>
            <a:endParaRPr lang="en-US" sz="1800" dirty="0"/>
          </a:p>
        </p:txBody>
      </p:sp>
      <p:sp>
        <p:nvSpPr>
          <p:cNvPr id="17" name="Shape 14"/>
          <p:cNvSpPr/>
          <p:nvPr/>
        </p:nvSpPr>
        <p:spPr>
          <a:xfrm>
            <a:off x="548640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20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niet graag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3346704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35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3346704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144768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50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6144768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liever</a:t>
            </a:r>
            <a:endParaRPr lang="en-US" sz="1800" dirty="0"/>
          </a:p>
        </p:txBody>
      </p:sp>
      <p:sp>
        <p:nvSpPr>
          <p:cNvPr id="23" name="Shape 20"/>
          <p:cNvSpPr/>
          <p:nvPr/>
        </p:nvSpPr>
        <p:spPr>
          <a:xfrm>
            <a:off x="8942832" y="3520440"/>
            <a:ext cx="2651760" cy="548640"/>
          </a:xfrm>
          <a:prstGeom prst="roundRect">
            <a:avLst>
              <a:gd name="adj" fmla="val 13333"/>
            </a:avLst>
          </a:prstGeom>
          <a:solidFill>
            <a:schemeClr val="accent3">
              <a:alpha val="65000"/>
            </a:schemeClr>
          </a:solidFill>
          <a:ln w="12700">
            <a:solidFill>
              <a:srgbClr val="2E7D4F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8942832" y="352044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i="1" dirty="0">
                <a:solidFill>
                  <a:schemeClr val="tx1"/>
                </a:solidFill>
              </a:rPr>
              <a:t>het liefst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548640" y="411480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+ </a:t>
            </a:r>
            <a:r>
              <a:rPr lang="en-US" sz="1500" i="1" dirty="0">
                <a:solidFill>
                  <a:schemeClr val="accent5"/>
                </a:solidFill>
              </a:rPr>
              <a:t>dol zijn op</a:t>
            </a:r>
            <a:r>
              <a:rPr lang="en-US" sz="1500" i="1" dirty="0">
                <a:solidFill>
                  <a:schemeClr val="accent5"/>
                </a:solidFill>
              </a:rPr>
              <a:t> (adorer)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548640" y="4617720"/>
            <a:ext cx="11091672" cy="777240"/>
          </a:xfrm>
          <a:prstGeom prst="roundRect">
            <a:avLst>
              <a:gd name="adj" fmla="val 11765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7" name="Text 24"/>
          <p:cNvSpPr txBox="1"/>
          <p:nvPr/>
        </p:nvSpPr>
        <p:spPr>
          <a:xfrm>
            <a:off x="777240" y="4617720"/>
            <a:ext cx="10698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dirty="0">
                <a:solidFill>
                  <a:schemeClr val="tx1"/>
                </a:solidFill>
              </a:rPr>
              <a:t>Politesse : </a:t>
            </a:r>
            <a:r>
              <a:rPr lang="en-US" sz="1900" i="1" dirty="0">
                <a:solidFill>
                  <a:schemeClr val="tx1"/>
                </a:solidFill>
              </a:rPr>
              <a:t>Ja, graag! · Graag gedaan! · Ik wil graag…</a:t>
            </a:r>
            <a:r>
              <a:rPr lang="en-US" sz="1900" dirty="0">
                <a:solidFill>
                  <a:schemeClr val="tx1"/>
                </a:solidFill>
              </a:rPr>
              <a:t> · Place : comme </a:t>
            </a:r>
            <a:r>
              <a:rPr lang="en-US" sz="1900" i="1" dirty="0">
                <a:solidFill>
                  <a:schemeClr val="tx1"/>
                </a:solidFill>
              </a:rPr>
              <a:t>niet</a:t>
            </a:r>
            <a:endParaRPr lang="en-US" sz="1900" dirty="0"/>
          </a:p>
        </p:txBody>
      </p:sp>
      <p:pic>
        <p:nvPicPr>
          <p:cNvPr id="28" name="Image 0" descr="Camer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47120" y="960120"/>
            <a:ext cx="347472" cy="34747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bg1"/>
                </a:solidFill>
              </a:rPr>
              <a:t>Oefeningen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141732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JIJ NU !</a:t>
            </a:r>
            <a:endParaRPr lang="en-US" sz="5400" dirty="0"/>
          </a:p>
        </p:txBody>
      </p:sp>
      <p:sp>
        <p:nvSpPr>
          <p:cNvPr id="6" name="Shape 3"/>
          <p:cNvSpPr/>
          <p:nvPr/>
        </p:nvSpPr>
        <p:spPr>
          <a:xfrm>
            <a:off x="54864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8580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8580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pic>
        <p:nvPicPr>
          <p:cNvPr id="9" name="Image 0" descr="CodeBranch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3130" y="2770632"/>
            <a:ext cx="384048" cy="38404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580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graag ou houden van ?</a:t>
            </a:r>
            <a:endParaRPr lang="en-US" sz="1600" dirty="0"/>
          </a:p>
        </p:txBody>
      </p:sp>
      <p:sp>
        <p:nvSpPr>
          <p:cNvPr id="11" name="Text 7"/>
          <p:cNvSpPr txBox="1"/>
          <p:nvPr/>
        </p:nvSpPr>
        <p:spPr>
          <a:xfrm>
            <a:off x="68580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2" name="Shape 8"/>
          <p:cNvSpPr/>
          <p:nvPr/>
        </p:nvSpPr>
        <p:spPr>
          <a:xfrm>
            <a:off x="296037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09753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309753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pic>
        <p:nvPicPr>
          <p:cNvPr id="15" name="Image 1" descr="Troph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94860" y="2770632"/>
            <a:ext cx="384048" cy="384048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309753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podium</a:t>
            </a:r>
            <a:endParaRPr lang="en-US" sz="1600" dirty="0"/>
          </a:p>
        </p:txBody>
      </p:sp>
      <p:sp>
        <p:nvSpPr>
          <p:cNvPr id="17" name="Text 12"/>
          <p:cNvSpPr txBox="1"/>
          <p:nvPr/>
        </p:nvSpPr>
        <p:spPr>
          <a:xfrm>
            <a:off x="309753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18" name="Shape 13"/>
          <p:cNvSpPr/>
          <p:nvPr/>
        </p:nvSpPr>
        <p:spPr>
          <a:xfrm>
            <a:off x="537210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550926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0" name="Text 15"/>
          <p:cNvSpPr txBox="1"/>
          <p:nvPr/>
        </p:nvSpPr>
        <p:spPr>
          <a:xfrm>
            <a:off x="550926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pic>
        <p:nvPicPr>
          <p:cNvPr id="21" name="Image 2" descr="Langu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6590" y="2770632"/>
            <a:ext cx="384048" cy="384048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50926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Traduisez « aimer »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550926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7783830" y="26060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25" name="Shape 19"/>
          <p:cNvSpPr/>
          <p:nvPr/>
        </p:nvSpPr>
        <p:spPr>
          <a:xfrm>
            <a:off x="7920990" y="27432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0"/>
          <p:cNvSpPr txBox="1"/>
          <p:nvPr/>
        </p:nvSpPr>
        <p:spPr>
          <a:xfrm>
            <a:off x="7920990" y="27432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pic>
        <p:nvPicPr>
          <p:cNvPr id="27" name="Image 3" descr="Search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18320" y="2770632"/>
            <a:ext cx="384048" cy="384048"/>
          </a:xfrm>
          <a:prstGeom prst="rect">
            <a:avLst/>
          </a:prstGeom>
        </p:spPr>
      </p:pic>
      <p:sp>
        <p:nvSpPr>
          <p:cNvPr id="28" name="Text 21"/>
          <p:cNvSpPr txBox="1"/>
          <p:nvPr/>
        </p:nvSpPr>
        <p:spPr>
          <a:xfrm>
            <a:off x="7920990" y="32644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Le détective</a:t>
            </a:r>
            <a:endParaRPr lang="en-US" sz="1600" dirty="0"/>
          </a:p>
        </p:txBody>
      </p:sp>
      <p:sp>
        <p:nvSpPr>
          <p:cNvPr id="29" name="Text 22"/>
          <p:cNvSpPr txBox="1"/>
          <p:nvPr/>
        </p:nvSpPr>
        <p:spPr>
          <a:xfrm>
            <a:off x="7920990" y="38404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0" name="Shape 23"/>
          <p:cNvSpPr/>
          <p:nvPr/>
        </p:nvSpPr>
        <p:spPr>
          <a:xfrm>
            <a:off x="54864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1" name="Shape 24"/>
          <p:cNvSpPr/>
          <p:nvPr/>
        </p:nvSpPr>
        <p:spPr>
          <a:xfrm>
            <a:off x="68580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2" name="Text 25"/>
          <p:cNvSpPr txBox="1"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pic>
        <p:nvPicPr>
          <p:cNvPr id="33" name="Image 4" descr="ListO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83130" y="4599432"/>
            <a:ext cx="384048" cy="384048"/>
          </a:xfrm>
          <a:prstGeom prst="rect">
            <a:avLst/>
          </a:prstGeom>
        </p:spPr>
      </p:pic>
      <p:sp>
        <p:nvSpPr>
          <p:cNvPr id="34" name="Text 26"/>
          <p:cNvSpPr txBox="1"/>
          <p:nvPr/>
        </p:nvSpPr>
        <p:spPr>
          <a:xfrm>
            <a:off x="68580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Remettez en ordre</a:t>
            </a:r>
            <a:endParaRPr lang="en-US" sz="1600" dirty="0"/>
          </a:p>
        </p:txBody>
      </p:sp>
      <p:sp>
        <p:nvSpPr>
          <p:cNvPr id="35" name="Text 27"/>
          <p:cNvSpPr txBox="1"/>
          <p:nvPr/>
        </p:nvSpPr>
        <p:spPr>
          <a:xfrm>
            <a:off x="68580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296037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37" name="Shape 29"/>
          <p:cNvSpPr/>
          <p:nvPr/>
        </p:nvSpPr>
        <p:spPr>
          <a:xfrm>
            <a:off x="309753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0"/>
          <p:cNvSpPr txBox="1"/>
          <p:nvPr/>
        </p:nvSpPr>
        <p:spPr>
          <a:xfrm>
            <a:off x="309753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pic>
        <p:nvPicPr>
          <p:cNvPr id="39" name="Image 5" descr="Users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94860" y="4599432"/>
            <a:ext cx="384048" cy="384048"/>
          </a:xfrm>
          <a:prstGeom prst="rect">
            <a:avLst/>
          </a:prstGeom>
        </p:spPr>
      </p:pic>
      <p:sp>
        <p:nvSpPr>
          <p:cNvPr id="40" name="Text 31"/>
          <p:cNvSpPr txBox="1"/>
          <p:nvPr/>
        </p:nvSpPr>
        <p:spPr>
          <a:xfrm>
            <a:off x="309753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Zoek iemand die…</a:t>
            </a:r>
            <a:endParaRPr lang="en-US" sz="1600" dirty="0"/>
          </a:p>
        </p:txBody>
      </p:sp>
      <p:sp>
        <p:nvSpPr>
          <p:cNvPr id="41" name="Text 32"/>
          <p:cNvSpPr txBox="1"/>
          <p:nvPr/>
        </p:nvSpPr>
        <p:spPr>
          <a:xfrm>
            <a:off x="309753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</a:t>
            </a:r>
            <a:endParaRPr lang="en-US" sz="1400" dirty="0"/>
          </a:p>
        </p:txBody>
      </p:sp>
      <p:sp>
        <p:nvSpPr>
          <p:cNvPr id="42" name="Shape 33"/>
          <p:cNvSpPr/>
          <p:nvPr/>
        </p:nvSpPr>
        <p:spPr>
          <a:xfrm>
            <a:off x="5372100" y="4434840"/>
            <a:ext cx="2183130" cy="1600200"/>
          </a:xfrm>
          <a:prstGeom prst="roundRect">
            <a:avLst>
              <a:gd name="adj" fmla="val 457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50000"/>
              </a:srgbClr>
            </a:solidFill>
            <a:prstDash val="solid"/>
          </a:ln>
        </p:spPr>
      </p:sp>
      <p:sp>
        <p:nvSpPr>
          <p:cNvPr id="43" name="Shape 34"/>
          <p:cNvSpPr/>
          <p:nvPr/>
        </p:nvSpPr>
        <p:spPr>
          <a:xfrm>
            <a:off x="5509260" y="4572000"/>
            <a:ext cx="438912" cy="438912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4" name="Text 35"/>
          <p:cNvSpPr txBox="1"/>
          <p:nvPr/>
        </p:nvSpPr>
        <p:spPr>
          <a:xfrm>
            <a:off x="5509260" y="457200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7</a:t>
            </a:r>
            <a:endParaRPr lang="en-US" sz="1600" dirty="0"/>
          </a:p>
        </p:txBody>
      </p:sp>
      <p:pic>
        <p:nvPicPr>
          <p:cNvPr id="45" name="Image 6" descr="GlassCheer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006590" y="4599432"/>
            <a:ext cx="384048" cy="384048"/>
          </a:xfrm>
          <a:prstGeom prst="rect">
            <a:avLst/>
          </a:prstGeom>
        </p:spPr>
      </p:pic>
      <p:sp>
        <p:nvSpPr>
          <p:cNvPr id="46" name="Text 36"/>
          <p:cNvSpPr txBox="1"/>
          <p:nvPr/>
        </p:nvSpPr>
        <p:spPr>
          <a:xfrm>
            <a:off x="5509260" y="5093208"/>
            <a:ext cx="190881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La sortie d’équipe</a:t>
            </a:r>
            <a:endParaRPr lang="en-US" sz="1600" dirty="0"/>
          </a:p>
        </p:txBody>
      </p:sp>
      <p:sp>
        <p:nvSpPr>
          <p:cNvPr id="47" name="Text 37"/>
          <p:cNvSpPr txBox="1"/>
          <p:nvPr/>
        </p:nvSpPr>
        <p:spPr>
          <a:xfrm>
            <a:off x="5509260" y="5669280"/>
            <a:ext cx="190881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★★★</a:t>
            </a:r>
            <a:endParaRPr lang="en-US" sz="1400" dirty="0"/>
          </a:p>
        </p:txBody>
      </p:sp>
      <p:pic>
        <p:nvPicPr>
          <p:cNvPr id="48" name="Image 7" descr="man teacher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58400" y="3657600"/>
            <a:ext cx="1645920" cy="16459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EEF3F8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graag ou houden van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houden van</a:t>
            </a:r>
            <a:r>
              <a:rPr lang="en-US" sz="1700" i="1" dirty="0">
                <a:solidFill>
                  <a:schemeClr val="accent5"/>
                </a:solidFill>
              </a:rPr>
              <a:t> (conjugué). Activité ou nom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pic>
        <p:nvPicPr>
          <p:cNvPr id="10" name="Image 1" descr="open b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202942"/>
            <a:ext cx="548640" cy="5486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691640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lees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2" name="Shape 7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pic>
        <p:nvPicPr>
          <p:cNvPr id="14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292602"/>
            <a:ext cx="548640" cy="54864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691640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Brussel.</a:t>
            </a:r>
            <a:endParaRPr lang="en-US" sz="2000" dirty="0"/>
          </a:p>
        </p:txBody>
      </p:sp>
      <p:sp>
        <p:nvSpPr>
          <p:cNvPr id="16" name="Shape 10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pic>
        <p:nvPicPr>
          <p:cNvPr id="18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382262"/>
            <a:ext cx="548640" cy="548640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691640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Karim kookt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voor zijn vrienden.</a:t>
            </a:r>
            <a:endParaRPr lang="en-US" sz="2000" dirty="0"/>
          </a:p>
        </p:txBody>
      </p:sp>
      <p:sp>
        <p:nvSpPr>
          <p:cNvPr id="20" name="Shape 13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1" name="Text 14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pic>
        <p:nvPicPr>
          <p:cNvPr id="22" name="Image 4" descr="people hugg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5471922"/>
            <a:ext cx="548640" cy="548640"/>
          </a:xfrm>
          <a:prstGeom prst="rect">
            <a:avLst/>
          </a:prstGeom>
        </p:spPr>
      </p:pic>
      <p:sp>
        <p:nvSpPr>
          <p:cNvPr id="23" name="Text 15"/>
          <p:cNvSpPr txBox="1"/>
          <p:nvPr/>
        </p:nvSpPr>
        <p:spPr>
          <a:xfrm>
            <a:off x="1691640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Sofie </a:t>
            </a:r>
            <a:r>
              <a:rPr lang="en-US" sz="2000" i="1" dirty="0">
                <a:solidFill>
                  <a:schemeClr val="accent5"/>
                </a:solidFill>
              </a:rPr>
              <a:t>……………</a:t>
            </a:r>
            <a:r>
              <a:rPr lang="en-US" sz="2000" i="1" dirty="0">
                <a:solidFill>
                  <a:schemeClr val="tx1"/>
                </a:solidFill>
              </a:rPr>
              <a:t> haar kinderen.</a:t>
            </a:r>
            <a:endParaRPr lang="en-US" sz="2000" dirty="0"/>
          </a:p>
        </p:txBody>
      </p:sp>
      <p:sp>
        <p:nvSpPr>
          <p:cNvPr id="24" name="Shape 16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5" name="Text 17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pic>
        <p:nvPicPr>
          <p:cNvPr id="26" name="Image 5" descr="evergreen tre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8836" y="2202942"/>
            <a:ext cx="548640" cy="548640"/>
          </a:xfrm>
          <a:prstGeom prst="rect">
            <a:avLst/>
          </a:prstGeom>
        </p:spPr>
      </p:pic>
      <p:sp>
        <p:nvSpPr>
          <p:cNvPr id="27" name="Text 18"/>
          <p:cNvSpPr txBox="1"/>
          <p:nvPr/>
        </p:nvSpPr>
        <p:spPr>
          <a:xfrm>
            <a:off x="7374636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 wandelen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in het bos.</a:t>
            </a:r>
            <a:endParaRPr lang="en-US" sz="2000" dirty="0"/>
          </a:p>
        </p:txBody>
      </p:sp>
      <p:sp>
        <p:nvSpPr>
          <p:cNvPr id="28" name="Shape 19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pic>
        <p:nvPicPr>
          <p:cNvPr id="30" name="Image 6" descr="musical not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8836" y="3292602"/>
            <a:ext cx="548640" cy="548640"/>
          </a:xfrm>
          <a:prstGeom prst="rect">
            <a:avLst/>
          </a:prstGeom>
        </p:spPr>
      </p:pic>
      <p:sp>
        <p:nvSpPr>
          <p:cNvPr id="31" name="Text 21"/>
          <p:cNvSpPr txBox="1"/>
          <p:nvPr/>
        </p:nvSpPr>
        <p:spPr>
          <a:xfrm>
            <a:off x="7374636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jij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jazz?</a:t>
            </a:r>
            <a:endParaRPr lang="en-US" sz="2000" dirty="0"/>
          </a:p>
        </p:txBody>
      </p:sp>
      <p:sp>
        <p:nvSpPr>
          <p:cNvPr id="32" name="Shape 22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3" name="Text 23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pic>
        <p:nvPicPr>
          <p:cNvPr id="34" name="Image 7" descr="musical keyboar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8836" y="4382262"/>
            <a:ext cx="548640" cy="548640"/>
          </a:xfrm>
          <a:prstGeom prst="rect">
            <a:avLst/>
          </a:prstGeom>
        </p:spPr>
      </p:pic>
      <p:sp>
        <p:nvSpPr>
          <p:cNvPr id="35" name="Text 24"/>
          <p:cNvSpPr txBox="1"/>
          <p:nvPr/>
        </p:nvSpPr>
        <p:spPr>
          <a:xfrm>
            <a:off x="7374636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Lotte speelt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piano.</a:t>
            </a:r>
            <a:endParaRPr lang="en-US" sz="2000" dirty="0"/>
          </a:p>
        </p:txBody>
      </p:sp>
      <p:sp>
        <p:nvSpPr>
          <p:cNvPr id="36" name="Shape 25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7" name="Text 26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pic>
        <p:nvPicPr>
          <p:cNvPr id="38" name="Image 8" descr="su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8836" y="5471922"/>
            <a:ext cx="548640" cy="548640"/>
          </a:xfrm>
          <a:prstGeom prst="rect">
            <a:avLst/>
          </a:prstGeom>
        </p:spPr>
      </p:pic>
      <p:sp>
        <p:nvSpPr>
          <p:cNvPr id="39" name="Text 27"/>
          <p:cNvSpPr txBox="1"/>
          <p:nvPr/>
        </p:nvSpPr>
        <p:spPr>
          <a:xfrm>
            <a:off x="7374636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i="1" dirty="0">
                <a:solidFill>
                  <a:schemeClr val="accent5"/>
                </a:solidFill>
              </a:rPr>
              <a:t>…………</a:t>
            </a:r>
            <a:r>
              <a:rPr lang="en-US" sz="2000" i="1" dirty="0">
                <a:solidFill>
                  <a:schemeClr val="tx1"/>
                </a:solidFill>
              </a:rPr>
              <a:t> de zomer.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1 — graag ou houden van ?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Complétez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ou </a:t>
            </a:r>
            <a:r>
              <a:rPr lang="en-US" sz="1700" i="1" dirty="0">
                <a:solidFill>
                  <a:schemeClr val="accent5"/>
                </a:solidFill>
              </a:rPr>
              <a:t>houden van</a:t>
            </a:r>
            <a:r>
              <a:rPr lang="en-US" sz="1700" i="1" dirty="0">
                <a:solidFill>
                  <a:schemeClr val="accent5"/>
                </a:solidFill>
              </a:rPr>
              <a:t> (conjugué). Activité ou nom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658368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1</a:t>
            </a:r>
            <a:endParaRPr lang="en-US" sz="1700" dirty="0"/>
          </a:p>
        </p:txBody>
      </p:sp>
      <p:pic>
        <p:nvPicPr>
          <p:cNvPr id="11" name="Image 1" descr="open boo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840" y="2202942"/>
            <a:ext cx="548640" cy="54864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91640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lees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.</a:t>
            </a:r>
            <a:endParaRPr lang="en-US" sz="2000" dirty="0"/>
          </a:p>
        </p:txBody>
      </p:sp>
      <p:sp>
        <p:nvSpPr>
          <p:cNvPr id="13" name="Shape 8"/>
          <p:cNvSpPr/>
          <p:nvPr/>
        </p:nvSpPr>
        <p:spPr>
          <a:xfrm>
            <a:off x="548640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58368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2</a:t>
            </a:r>
            <a:endParaRPr lang="en-US" sz="1700" dirty="0"/>
          </a:p>
        </p:txBody>
      </p:sp>
      <p:pic>
        <p:nvPicPr>
          <p:cNvPr id="15" name="Image 2" descr="citysca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3292602"/>
            <a:ext cx="548640" cy="54864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1691640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accent3"/>
                </a:solidFill>
              </a:rPr>
              <a:t>hou van</a:t>
            </a:r>
            <a:r>
              <a:rPr lang="en-US" sz="2000" i="1" dirty="0">
                <a:solidFill>
                  <a:schemeClr val="tx1"/>
                </a:solidFill>
              </a:rPr>
              <a:t> Brussel.</a:t>
            </a:r>
            <a:endParaRPr lang="en-US" sz="2000" dirty="0"/>
          </a:p>
        </p:txBody>
      </p:sp>
      <p:sp>
        <p:nvSpPr>
          <p:cNvPr id="17" name="Shape 11"/>
          <p:cNvSpPr/>
          <p:nvPr/>
        </p:nvSpPr>
        <p:spPr>
          <a:xfrm>
            <a:off x="548640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18" name="Text 12"/>
          <p:cNvSpPr txBox="1"/>
          <p:nvPr/>
        </p:nvSpPr>
        <p:spPr>
          <a:xfrm>
            <a:off x="658368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3</a:t>
            </a:r>
            <a:endParaRPr lang="en-US" sz="1700" dirty="0"/>
          </a:p>
        </p:txBody>
      </p:sp>
      <p:pic>
        <p:nvPicPr>
          <p:cNvPr id="19" name="Image 3" descr="cooki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5840" y="4382262"/>
            <a:ext cx="548640" cy="54864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1691640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Karim kookt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voor zijn vrienden.</a:t>
            </a:r>
            <a:endParaRPr lang="en-US" sz="2000" dirty="0"/>
          </a:p>
        </p:txBody>
      </p:sp>
      <p:sp>
        <p:nvSpPr>
          <p:cNvPr id="21" name="Shape 14"/>
          <p:cNvSpPr/>
          <p:nvPr/>
        </p:nvSpPr>
        <p:spPr>
          <a:xfrm>
            <a:off x="548640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2" name="Text 15"/>
          <p:cNvSpPr txBox="1"/>
          <p:nvPr/>
        </p:nvSpPr>
        <p:spPr>
          <a:xfrm>
            <a:off x="658368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4</a:t>
            </a:r>
            <a:endParaRPr lang="en-US" sz="1700" dirty="0"/>
          </a:p>
        </p:txBody>
      </p:sp>
      <p:pic>
        <p:nvPicPr>
          <p:cNvPr id="23" name="Image 4" descr="people huggi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5471922"/>
            <a:ext cx="548640" cy="54864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1691640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Sofie </a:t>
            </a:r>
            <a:r>
              <a:rPr lang="en-US" sz="2000" b="1" i="1" dirty="0">
                <a:solidFill>
                  <a:schemeClr val="accent3"/>
                </a:solidFill>
              </a:rPr>
              <a:t>houdt van</a:t>
            </a:r>
            <a:r>
              <a:rPr lang="en-US" sz="2000" i="1" dirty="0">
                <a:solidFill>
                  <a:schemeClr val="tx1"/>
                </a:solidFill>
              </a:rPr>
              <a:t> haar kinderen.</a:t>
            </a:r>
            <a:endParaRPr lang="en-US" sz="2000" dirty="0"/>
          </a:p>
        </p:txBody>
      </p:sp>
      <p:sp>
        <p:nvSpPr>
          <p:cNvPr id="25" name="Shape 17"/>
          <p:cNvSpPr/>
          <p:nvPr/>
        </p:nvSpPr>
        <p:spPr>
          <a:xfrm>
            <a:off x="6231636" y="198729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26" name="Text 18"/>
          <p:cNvSpPr txBox="1"/>
          <p:nvPr/>
        </p:nvSpPr>
        <p:spPr>
          <a:xfrm>
            <a:off x="6341364" y="198729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5</a:t>
            </a:r>
            <a:endParaRPr lang="en-US" sz="1700" dirty="0"/>
          </a:p>
        </p:txBody>
      </p:sp>
      <p:pic>
        <p:nvPicPr>
          <p:cNvPr id="27" name="Image 5" descr="evergreen tre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88836" y="2202942"/>
            <a:ext cx="548640" cy="54864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7374636" y="198729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We wandelen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in het bos.</a:t>
            </a:r>
            <a:endParaRPr lang="en-US" sz="2000" dirty="0"/>
          </a:p>
        </p:txBody>
      </p:sp>
      <p:sp>
        <p:nvSpPr>
          <p:cNvPr id="29" name="Shape 20"/>
          <p:cNvSpPr/>
          <p:nvPr/>
        </p:nvSpPr>
        <p:spPr>
          <a:xfrm>
            <a:off x="6231636" y="307695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0" name="Text 21"/>
          <p:cNvSpPr txBox="1"/>
          <p:nvPr/>
        </p:nvSpPr>
        <p:spPr>
          <a:xfrm>
            <a:off x="6341364" y="307695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6</a:t>
            </a:r>
            <a:endParaRPr lang="en-US" sz="1700" dirty="0"/>
          </a:p>
        </p:txBody>
      </p:sp>
      <p:pic>
        <p:nvPicPr>
          <p:cNvPr id="31" name="Image 6" descr="musical notes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88836" y="3292602"/>
            <a:ext cx="548640" cy="54864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7374636" y="307695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i="1" dirty="0">
                <a:solidFill>
                  <a:schemeClr val="accent3"/>
                </a:solidFill>
              </a:rPr>
              <a:t>Hou</a:t>
            </a:r>
            <a:r>
              <a:rPr lang="en-US" sz="2000" i="1" dirty="0">
                <a:solidFill>
                  <a:schemeClr val="tx1"/>
                </a:solidFill>
              </a:rPr>
              <a:t> jij </a:t>
            </a:r>
            <a:r>
              <a:rPr lang="en-US" sz="2000" b="1" i="1" dirty="0">
                <a:solidFill>
                  <a:schemeClr val="accent3"/>
                </a:solidFill>
              </a:rPr>
              <a:t>van</a:t>
            </a:r>
            <a:r>
              <a:rPr lang="en-US" sz="2000" i="1" dirty="0">
                <a:solidFill>
                  <a:schemeClr val="tx1"/>
                </a:solidFill>
              </a:rPr>
              <a:t> jazz?</a:t>
            </a:r>
            <a:endParaRPr lang="en-US" sz="2000" dirty="0"/>
          </a:p>
        </p:txBody>
      </p:sp>
      <p:sp>
        <p:nvSpPr>
          <p:cNvPr id="33" name="Shape 23"/>
          <p:cNvSpPr/>
          <p:nvPr/>
        </p:nvSpPr>
        <p:spPr>
          <a:xfrm>
            <a:off x="6231636" y="416661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2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4" name="Text 24"/>
          <p:cNvSpPr txBox="1"/>
          <p:nvPr/>
        </p:nvSpPr>
        <p:spPr>
          <a:xfrm>
            <a:off x="6341364" y="416661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7</a:t>
            </a:r>
            <a:endParaRPr lang="en-US" sz="1700" dirty="0"/>
          </a:p>
        </p:txBody>
      </p:sp>
      <p:pic>
        <p:nvPicPr>
          <p:cNvPr id="35" name="Image 7" descr="musical keyboard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8836" y="4382262"/>
            <a:ext cx="548640" cy="54864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7374636" y="416661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Lotte speelt </a:t>
            </a:r>
            <a:r>
              <a:rPr lang="en-US" sz="2000" b="1" i="1" dirty="0">
                <a:solidFill>
                  <a:schemeClr val="accent3"/>
                </a:solidFill>
              </a:rPr>
              <a:t>graag</a:t>
            </a:r>
            <a:r>
              <a:rPr lang="en-US" sz="2000" i="1" dirty="0">
                <a:solidFill>
                  <a:schemeClr val="tx1"/>
                </a:solidFill>
              </a:rPr>
              <a:t> piano.</a:t>
            </a:r>
            <a:endParaRPr lang="en-US" sz="2000" dirty="0"/>
          </a:p>
        </p:txBody>
      </p:sp>
      <p:sp>
        <p:nvSpPr>
          <p:cNvPr id="37" name="Shape 26"/>
          <p:cNvSpPr/>
          <p:nvPr/>
        </p:nvSpPr>
        <p:spPr>
          <a:xfrm>
            <a:off x="6231636" y="5256276"/>
            <a:ext cx="5408676" cy="979932"/>
          </a:xfrm>
          <a:prstGeom prst="roundRect">
            <a:avLst>
              <a:gd name="adj" fmla="val 7465"/>
            </a:avLst>
          </a:prstGeom>
          <a:solidFill>
            <a:schemeClr val="bg1"/>
          </a:solidFill>
          <a:ln w="9525">
            <a:solidFill>
              <a:srgbClr val="D5DCE6"/>
            </a:solidFill>
            <a:prstDash val="solid"/>
          </a:ln>
        </p:spPr>
      </p:sp>
      <p:sp>
        <p:nvSpPr>
          <p:cNvPr id="38" name="Text 27"/>
          <p:cNvSpPr txBox="1"/>
          <p:nvPr/>
        </p:nvSpPr>
        <p:spPr>
          <a:xfrm>
            <a:off x="6341364" y="5256276"/>
            <a:ext cx="365760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8</a:t>
            </a:r>
            <a:endParaRPr lang="en-US" sz="1700" dirty="0"/>
          </a:p>
        </p:txBody>
      </p:sp>
      <p:pic>
        <p:nvPicPr>
          <p:cNvPr id="39" name="Image 8" descr="sun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88836" y="5471922"/>
            <a:ext cx="548640" cy="54864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7374636" y="5256276"/>
            <a:ext cx="4174236" cy="9799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chemeClr val="tx1"/>
                </a:solidFill>
              </a:rPr>
              <a:t>Ik </a:t>
            </a:r>
            <a:r>
              <a:rPr lang="en-US" sz="2000" b="1" i="1" dirty="0">
                <a:solidFill>
                  <a:schemeClr val="accent3"/>
                </a:solidFill>
              </a:rPr>
              <a:t>hou van</a:t>
            </a:r>
            <a:r>
              <a:rPr lang="en-US" sz="2000" i="1" dirty="0">
                <a:solidFill>
                  <a:schemeClr val="tx1"/>
                </a:solidFill>
              </a:rPr>
              <a:t> de zomer.</a:t>
            </a:r>
            <a:endParaRPr 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podium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Faites une phrase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(bronze), </a:t>
            </a:r>
            <a:r>
              <a:rPr lang="en-US" sz="1700" i="1" dirty="0">
                <a:solidFill>
                  <a:schemeClr val="accent5"/>
                </a:solidFill>
              </a:rPr>
              <a:t>liever</a:t>
            </a:r>
            <a:r>
              <a:rPr lang="en-US" sz="1700" i="1" dirty="0">
                <a:solidFill>
                  <a:schemeClr val="accent5"/>
                </a:solidFill>
              </a:rPr>
              <a:t> (argent) et </a:t>
            </a:r>
            <a:r>
              <a:rPr lang="en-US" sz="1700" i="1" dirty="0">
                <a:solidFill>
                  <a:schemeClr val="accent5"/>
                </a:solidFill>
              </a:rPr>
              <a:t>het liefst</a:t>
            </a:r>
            <a:r>
              <a:rPr lang="en-US" sz="1700" i="1" dirty="0">
                <a:solidFill>
                  <a:schemeClr val="accent5"/>
                </a:solidFill>
              </a:rPr>
              <a:t> (or).</a:t>
            </a:r>
            <a:endParaRPr lang="en-US" sz="1700" dirty="0"/>
          </a:p>
        </p:txBody>
      </p:sp>
      <p:pic>
        <p:nvPicPr>
          <p:cNvPr id="8" name="Image 1" descr="3r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76272"/>
            <a:ext cx="384048" cy="384048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9601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</a:t>
            </a:r>
            <a:endParaRPr lang="en-US" sz="1500" dirty="0"/>
          </a:p>
        </p:txBody>
      </p:sp>
      <p:pic>
        <p:nvPicPr>
          <p:cNvPr id="10" name="Image 2" descr="2nd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2176272"/>
            <a:ext cx="384048" cy="384048"/>
          </a:xfrm>
          <a:prstGeom prst="rect">
            <a:avLst/>
          </a:prstGeom>
        </p:spPr>
      </p:pic>
      <p:sp>
        <p:nvSpPr>
          <p:cNvPr id="11" name="Text 5"/>
          <p:cNvSpPr txBox="1"/>
          <p:nvPr/>
        </p:nvSpPr>
        <p:spPr>
          <a:xfrm>
            <a:off x="25603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thee</a:t>
            </a:r>
            <a:endParaRPr lang="en-US" sz="1500" dirty="0"/>
          </a:p>
        </p:txBody>
      </p:sp>
      <p:pic>
        <p:nvPicPr>
          <p:cNvPr id="12" name="Image 3" descr="1st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2176272"/>
            <a:ext cx="384048" cy="384048"/>
          </a:xfrm>
          <a:prstGeom prst="rect">
            <a:avLst/>
          </a:prstGeom>
        </p:spPr>
      </p:pic>
      <p:sp>
        <p:nvSpPr>
          <p:cNvPr id="13" name="Text 6"/>
          <p:cNvSpPr txBox="1"/>
          <p:nvPr/>
        </p:nvSpPr>
        <p:spPr>
          <a:xfrm>
            <a:off x="41605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water</a:t>
            </a:r>
            <a:endParaRPr lang="en-US" sz="1500" dirty="0"/>
          </a:p>
        </p:txBody>
      </p:sp>
      <p:sp>
        <p:nvSpPr>
          <p:cNvPr id="14" name="tag"/>
          <p:cNvSpPr/>
          <p:nvPr/>
        </p:nvSpPr>
        <p:spPr>
          <a:xfrm>
            <a:off x="5394960" y="2221992"/>
            <a:ext cx="1058113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drinken</a:t>
            </a:r>
            <a:endParaRPr lang="en-US" sz="1100" dirty="0"/>
          </a:p>
        </p:txBody>
      </p:sp>
      <p:sp>
        <p:nvSpPr>
          <p:cNvPr id="15" name="Shape 8"/>
          <p:cNvSpPr/>
          <p:nvPr/>
        </p:nvSpPr>
        <p:spPr>
          <a:xfrm>
            <a:off x="6446520" y="1987296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16" name="Image 4" descr="3rd place med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048000"/>
            <a:ext cx="384048" cy="384048"/>
          </a:xfrm>
          <a:prstGeom prst="rect">
            <a:avLst/>
          </a:prstGeom>
        </p:spPr>
      </p:pic>
      <p:sp>
        <p:nvSpPr>
          <p:cNvPr id="17" name="Text 9"/>
          <p:cNvSpPr txBox="1"/>
          <p:nvPr/>
        </p:nvSpPr>
        <p:spPr>
          <a:xfrm>
            <a:off x="9601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bus</a:t>
            </a:r>
            <a:endParaRPr lang="en-US" sz="1500" dirty="0"/>
          </a:p>
        </p:txBody>
      </p:sp>
      <p:pic>
        <p:nvPicPr>
          <p:cNvPr id="18" name="Image 5" descr="2nd place med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" y="3048000"/>
            <a:ext cx="384048" cy="384048"/>
          </a:xfrm>
          <a:prstGeom prst="rect">
            <a:avLst/>
          </a:prstGeom>
        </p:spPr>
      </p:pic>
      <p:sp>
        <p:nvSpPr>
          <p:cNvPr id="19" name="Text 10"/>
          <p:cNvSpPr txBox="1"/>
          <p:nvPr/>
        </p:nvSpPr>
        <p:spPr>
          <a:xfrm>
            <a:off x="25603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trein</a:t>
            </a:r>
            <a:endParaRPr lang="en-US" sz="1500" dirty="0"/>
          </a:p>
        </p:txBody>
      </p:sp>
      <p:pic>
        <p:nvPicPr>
          <p:cNvPr id="20" name="Image 6" descr="1st place meda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0" y="3048000"/>
            <a:ext cx="384048" cy="384048"/>
          </a:xfrm>
          <a:prstGeom prst="rect">
            <a:avLst/>
          </a:prstGeom>
        </p:spPr>
      </p:pic>
      <p:sp>
        <p:nvSpPr>
          <p:cNvPr id="21" name="Text 11"/>
          <p:cNvSpPr txBox="1"/>
          <p:nvPr/>
        </p:nvSpPr>
        <p:spPr>
          <a:xfrm>
            <a:off x="41605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fiets</a:t>
            </a:r>
            <a:endParaRPr lang="en-US" sz="1500" dirty="0"/>
          </a:p>
        </p:txBody>
      </p:sp>
      <p:sp>
        <p:nvSpPr>
          <p:cNvPr id="22" name="tag"/>
          <p:cNvSpPr/>
          <p:nvPr/>
        </p:nvSpPr>
        <p:spPr>
          <a:xfrm>
            <a:off x="5394960" y="3093720"/>
            <a:ext cx="860298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nemen</a:t>
            </a:r>
            <a:endParaRPr lang="en-US" sz="1100" dirty="0"/>
          </a:p>
        </p:txBody>
      </p:sp>
      <p:sp>
        <p:nvSpPr>
          <p:cNvPr id="23" name="Shape 13"/>
          <p:cNvSpPr/>
          <p:nvPr/>
        </p:nvSpPr>
        <p:spPr>
          <a:xfrm>
            <a:off x="6446520" y="2859024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24" name="Image 7" descr="3rd place med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3919728"/>
            <a:ext cx="384048" cy="384048"/>
          </a:xfrm>
          <a:prstGeom prst="rect">
            <a:avLst/>
          </a:prstGeom>
        </p:spPr>
      </p:pic>
      <p:sp>
        <p:nvSpPr>
          <p:cNvPr id="25" name="Text 14"/>
          <p:cNvSpPr txBox="1"/>
          <p:nvPr/>
        </p:nvSpPr>
        <p:spPr>
          <a:xfrm>
            <a:off x="9601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tv kijken</a:t>
            </a:r>
            <a:endParaRPr lang="en-US" sz="1500" dirty="0"/>
          </a:p>
        </p:txBody>
      </p:sp>
      <p:pic>
        <p:nvPicPr>
          <p:cNvPr id="26" name="Image 8" descr="2nd place medal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8840" y="3919728"/>
            <a:ext cx="384048" cy="384048"/>
          </a:xfrm>
          <a:prstGeom prst="rect">
            <a:avLst/>
          </a:prstGeom>
        </p:spPr>
      </p:pic>
      <p:sp>
        <p:nvSpPr>
          <p:cNvPr id="27" name="Text 15"/>
          <p:cNvSpPr txBox="1"/>
          <p:nvPr/>
        </p:nvSpPr>
        <p:spPr>
          <a:xfrm>
            <a:off x="25603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lezen</a:t>
            </a:r>
            <a:endParaRPr lang="en-US" sz="1500" dirty="0"/>
          </a:p>
        </p:txBody>
      </p:sp>
      <p:pic>
        <p:nvPicPr>
          <p:cNvPr id="28" name="Image 9" descr="1st place meda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9040" y="3919728"/>
            <a:ext cx="384048" cy="384048"/>
          </a:xfrm>
          <a:prstGeom prst="rect">
            <a:avLst/>
          </a:prstGeom>
        </p:spPr>
      </p:pic>
      <p:sp>
        <p:nvSpPr>
          <p:cNvPr id="29" name="Text 16"/>
          <p:cNvSpPr txBox="1"/>
          <p:nvPr/>
        </p:nvSpPr>
        <p:spPr>
          <a:xfrm>
            <a:off x="41605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wandelen</a:t>
            </a:r>
            <a:endParaRPr lang="en-US" sz="1500" dirty="0"/>
          </a:p>
        </p:txBody>
      </p:sp>
      <p:sp>
        <p:nvSpPr>
          <p:cNvPr id="30" name="Shape 17"/>
          <p:cNvSpPr/>
          <p:nvPr/>
        </p:nvSpPr>
        <p:spPr>
          <a:xfrm>
            <a:off x="6446520" y="3730752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1" name="Image 10" descr="3rd place med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4791456"/>
            <a:ext cx="384048" cy="384048"/>
          </a:xfrm>
          <a:prstGeom prst="rect">
            <a:avLst/>
          </a:prstGeom>
        </p:spPr>
      </p:pic>
      <p:sp>
        <p:nvSpPr>
          <p:cNvPr id="32" name="Text 18"/>
          <p:cNvSpPr txBox="1"/>
          <p:nvPr/>
        </p:nvSpPr>
        <p:spPr>
          <a:xfrm>
            <a:off x="9601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Gent</a:t>
            </a:r>
            <a:endParaRPr lang="en-US" sz="1500" dirty="0"/>
          </a:p>
        </p:txBody>
      </p:sp>
      <p:pic>
        <p:nvPicPr>
          <p:cNvPr id="33" name="Image 11" descr="2nd place meda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8840" y="4791456"/>
            <a:ext cx="384048" cy="384048"/>
          </a:xfrm>
          <a:prstGeom prst="rect">
            <a:avLst/>
          </a:prstGeom>
        </p:spPr>
      </p:pic>
      <p:sp>
        <p:nvSpPr>
          <p:cNvPr id="34" name="Text 19"/>
          <p:cNvSpPr txBox="1"/>
          <p:nvPr/>
        </p:nvSpPr>
        <p:spPr>
          <a:xfrm>
            <a:off x="25603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Brugge</a:t>
            </a:r>
            <a:endParaRPr lang="en-US" sz="1500" dirty="0"/>
          </a:p>
        </p:txBody>
      </p:sp>
      <p:pic>
        <p:nvPicPr>
          <p:cNvPr id="35" name="Image 12" descr="1st place meda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49040" y="4791456"/>
            <a:ext cx="384048" cy="384048"/>
          </a:xfrm>
          <a:prstGeom prst="rect">
            <a:avLst/>
          </a:prstGeom>
        </p:spPr>
      </p:pic>
      <p:sp>
        <p:nvSpPr>
          <p:cNvPr id="36" name="Text 20"/>
          <p:cNvSpPr txBox="1"/>
          <p:nvPr/>
        </p:nvSpPr>
        <p:spPr>
          <a:xfrm>
            <a:off x="41605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Antwerpen</a:t>
            </a:r>
            <a:endParaRPr lang="en-US" sz="1500" dirty="0"/>
          </a:p>
        </p:txBody>
      </p:sp>
      <p:sp>
        <p:nvSpPr>
          <p:cNvPr id="37" name="tag"/>
          <p:cNvSpPr/>
          <p:nvPr/>
        </p:nvSpPr>
        <p:spPr>
          <a:xfrm>
            <a:off x="5394960" y="4837176"/>
            <a:ext cx="1157021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bezoeken</a:t>
            </a:r>
            <a:endParaRPr lang="en-US" sz="1100" dirty="0"/>
          </a:p>
        </p:txBody>
      </p:sp>
      <p:sp>
        <p:nvSpPr>
          <p:cNvPr id="38" name="Shape 22"/>
          <p:cNvSpPr/>
          <p:nvPr/>
        </p:nvSpPr>
        <p:spPr>
          <a:xfrm>
            <a:off x="6446520" y="4602480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pic>
        <p:nvPicPr>
          <p:cNvPr id="39" name="Image 13" descr="3rd place meda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640" y="5663184"/>
            <a:ext cx="384048" cy="384048"/>
          </a:xfrm>
          <a:prstGeom prst="rect">
            <a:avLst/>
          </a:prstGeom>
        </p:spPr>
      </p:pic>
      <p:sp>
        <p:nvSpPr>
          <p:cNvPr id="40" name="Text 23"/>
          <p:cNvSpPr txBox="1"/>
          <p:nvPr/>
        </p:nvSpPr>
        <p:spPr>
          <a:xfrm>
            <a:off x="9601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vis</a:t>
            </a:r>
            <a:endParaRPr lang="en-US" sz="1500" dirty="0"/>
          </a:p>
        </p:txBody>
      </p:sp>
      <p:pic>
        <p:nvPicPr>
          <p:cNvPr id="41" name="Image 14" descr="2nd place medal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48840" y="5663184"/>
            <a:ext cx="384048" cy="384048"/>
          </a:xfrm>
          <a:prstGeom prst="rect">
            <a:avLst/>
          </a:prstGeom>
        </p:spPr>
      </p:pic>
      <p:sp>
        <p:nvSpPr>
          <p:cNvPr id="42" name="Text 24"/>
          <p:cNvSpPr txBox="1"/>
          <p:nvPr/>
        </p:nvSpPr>
        <p:spPr>
          <a:xfrm>
            <a:off x="25603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kip</a:t>
            </a:r>
            <a:endParaRPr lang="en-US" sz="1500" dirty="0"/>
          </a:p>
        </p:txBody>
      </p:sp>
      <p:pic>
        <p:nvPicPr>
          <p:cNvPr id="43" name="Image 15" descr="1st place medal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49040" y="5663184"/>
            <a:ext cx="384048" cy="384048"/>
          </a:xfrm>
          <a:prstGeom prst="rect">
            <a:avLst/>
          </a:prstGeom>
        </p:spPr>
      </p:pic>
      <p:sp>
        <p:nvSpPr>
          <p:cNvPr id="44" name="Text 25"/>
          <p:cNvSpPr txBox="1"/>
          <p:nvPr/>
        </p:nvSpPr>
        <p:spPr>
          <a:xfrm>
            <a:off x="41605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pasta</a:t>
            </a:r>
            <a:endParaRPr lang="en-US" sz="1500" dirty="0"/>
          </a:p>
        </p:txBody>
      </p:sp>
      <p:sp>
        <p:nvSpPr>
          <p:cNvPr id="45" name="tag"/>
          <p:cNvSpPr/>
          <p:nvPr/>
        </p:nvSpPr>
        <p:spPr>
          <a:xfrm>
            <a:off x="5394960" y="5708904"/>
            <a:ext cx="761390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eten</a:t>
            </a:r>
            <a:endParaRPr lang="en-US" sz="1100" dirty="0"/>
          </a:p>
        </p:txBody>
      </p:sp>
      <p:sp>
        <p:nvSpPr>
          <p:cNvPr id="46" name="Shape 27"/>
          <p:cNvSpPr/>
          <p:nvPr/>
        </p:nvSpPr>
        <p:spPr>
          <a:xfrm>
            <a:off x="6446520" y="5474208"/>
            <a:ext cx="5193792" cy="762000"/>
          </a:xfrm>
          <a:prstGeom prst="roundRect">
            <a:avLst>
              <a:gd name="adj" fmla="val 9600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2 — Le podium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Faites une phrase avec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(bronze), </a:t>
            </a:r>
            <a:r>
              <a:rPr lang="en-US" sz="1700" i="1" dirty="0">
                <a:solidFill>
                  <a:schemeClr val="accent5"/>
                </a:solidFill>
              </a:rPr>
              <a:t>liever</a:t>
            </a:r>
            <a:r>
              <a:rPr lang="en-US" sz="1700" i="1" dirty="0">
                <a:solidFill>
                  <a:schemeClr val="accent5"/>
                </a:solidFill>
              </a:rPr>
              <a:t> (argent) et </a:t>
            </a:r>
            <a:r>
              <a:rPr lang="en-US" sz="1700" i="1" dirty="0">
                <a:solidFill>
                  <a:schemeClr val="accent5"/>
                </a:solidFill>
              </a:rPr>
              <a:t>het liefst</a:t>
            </a:r>
            <a:r>
              <a:rPr lang="en-US" sz="1700" i="1" dirty="0">
                <a:solidFill>
                  <a:schemeClr val="accent5"/>
                </a:solidFill>
              </a:rPr>
              <a:t> (or).</a:t>
            </a:r>
            <a:endParaRPr lang="en-US" sz="1700" dirty="0"/>
          </a:p>
        </p:txBody>
      </p:sp>
      <p:pic>
        <p:nvPicPr>
          <p:cNvPr id="9" name="Image 1" descr="3rd place medal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176272"/>
            <a:ext cx="384048" cy="384048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9601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koffie</a:t>
            </a:r>
            <a:endParaRPr lang="en-US" sz="1500" dirty="0"/>
          </a:p>
        </p:txBody>
      </p:sp>
      <p:pic>
        <p:nvPicPr>
          <p:cNvPr id="11" name="Image 2" descr="2nd place med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8840" y="2176272"/>
            <a:ext cx="384048" cy="3840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25603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thee</a:t>
            </a:r>
            <a:endParaRPr lang="en-US" sz="1500" dirty="0"/>
          </a:p>
        </p:txBody>
      </p:sp>
      <p:pic>
        <p:nvPicPr>
          <p:cNvPr id="13" name="Image 3" descr="1st place medal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49040" y="2176272"/>
            <a:ext cx="384048" cy="384048"/>
          </a:xfrm>
          <a:prstGeom prst="rect">
            <a:avLst/>
          </a:prstGeom>
        </p:spPr>
      </p:pic>
      <p:sp>
        <p:nvSpPr>
          <p:cNvPr id="14" name="Text 7"/>
          <p:cNvSpPr txBox="1"/>
          <p:nvPr/>
        </p:nvSpPr>
        <p:spPr>
          <a:xfrm>
            <a:off x="4160520" y="1932432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water</a:t>
            </a:r>
            <a:endParaRPr lang="en-US" sz="1500" dirty="0"/>
          </a:p>
        </p:txBody>
      </p:sp>
      <p:sp>
        <p:nvSpPr>
          <p:cNvPr id="15" name="tag"/>
          <p:cNvSpPr/>
          <p:nvPr/>
        </p:nvSpPr>
        <p:spPr>
          <a:xfrm>
            <a:off x="5394960" y="2221992"/>
            <a:ext cx="1058113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drinken</a:t>
            </a:r>
            <a:endParaRPr lang="en-US" sz="1100" dirty="0"/>
          </a:p>
        </p:txBody>
      </p:sp>
      <p:sp>
        <p:nvSpPr>
          <p:cNvPr id="16" name="Shape 9"/>
          <p:cNvSpPr/>
          <p:nvPr/>
        </p:nvSpPr>
        <p:spPr>
          <a:xfrm>
            <a:off x="6446520" y="1987296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7" name="Text 10"/>
          <p:cNvSpPr txBox="1"/>
          <p:nvPr/>
        </p:nvSpPr>
        <p:spPr>
          <a:xfrm>
            <a:off x="6537960" y="1987296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drink graag koffie, liever thee en het liefst water.</a:t>
            </a:r>
            <a:endParaRPr lang="en-US" sz="1500" dirty="0"/>
          </a:p>
        </p:txBody>
      </p:sp>
      <p:pic>
        <p:nvPicPr>
          <p:cNvPr id="18" name="Image 4" descr="3rd place med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048000"/>
            <a:ext cx="384048" cy="384048"/>
          </a:xfrm>
          <a:prstGeom prst="rect">
            <a:avLst/>
          </a:prstGeom>
        </p:spPr>
      </p:pic>
      <p:sp>
        <p:nvSpPr>
          <p:cNvPr id="19" name="Text 11"/>
          <p:cNvSpPr txBox="1"/>
          <p:nvPr/>
        </p:nvSpPr>
        <p:spPr>
          <a:xfrm>
            <a:off x="9601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bus</a:t>
            </a:r>
            <a:endParaRPr lang="en-US" sz="1500" dirty="0"/>
          </a:p>
        </p:txBody>
      </p:sp>
      <p:pic>
        <p:nvPicPr>
          <p:cNvPr id="20" name="Image 5" descr="2nd place medal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48840" y="3048000"/>
            <a:ext cx="384048" cy="384048"/>
          </a:xfrm>
          <a:prstGeom prst="rect">
            <a:avLst/>
          </a:prstGeom>
        </p:spPr>
      </p:pic>
      <p:sp>
        <p:nvSpPr>
          <p:cNvPr id="21" name="Text 12"/>
          <p:cNvSpPr txBox="1"/>
          <p:nvPr/>
        </p:nvSpPr>
        <p:spPr>
          <a:xfrm>
            <a:off x="25603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trein</a:t>
            </a:r>
            <a:endParaRPr lang="en-US" sz="1500" dirty="0"/>
          </a:p>
        </p:txBody>
      </p:sp>
      <p:pic>
        <p:nvPicPr>
          <p:cNvPr id="22" name="Image 6" descr="1st place medal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49040" y="3048000"/>
            <a:ext cx="384048" cy="384048"/>
          </a:xfrm>
          <a:prstGeom prst="rect">
            <a:avLst/>
          </a:prstGeom>
        </p:spPr>
      </p:pic>
      <p:sp>
        <p:nvSpPr>
          <p:cNvPr id="23" name="Text 13"/>
          <p:cNvSpPr txBox="1"/>
          <p:nvPr/>
        </p:nvSpPr>
        <p:spPr>
          <a:xfrm>
            <a:off x="4160520" y="2804160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de fiets</a:t>
            </a:r>
            <a:endParaRPr lang="en-US" sz="1500" dirty="0"/>
          </a:p>
        </p:txBody>
      </p:sp>
      <p:sp>
        <p:nvSpPr>
          <p:cNvPr id="24" name="tag"/>
          <p:cNvSpPr/>
          <p:nvPr/>
        </p:nvSpPr>
        <p:spPr>
          <a:xfrm>
            <a:off x="5394960" y="3093720"/>
            <a:ext cx="860298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nemen</a:t>
            </a:r>
            <a:endParaRPr lang="en-US" sz="1100" dirty="0"/>
          </a:p>
        </p:txBody>
      </p:sp>
      <p:sp>
        <p:nvSpPr>
          <p:cNvPr id="25" name="Shape 15"/>
          <p:cNvSpPr/>
          <p:nvPr/>
        </p:nvSpPr>
        <p:spPr>
          <a:xfrm>
            <a:off x="6446520" y="2859024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6" name="Text 16"/>
          <p:cNvSpPr txBox="1"/>
          <p:nvPr/>
        </p:nvSpPr>
        <p:spPr>
          <a:xfrm>
            <a:off x="6537960" y="2859024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neem graag de bus, liever de trein en het liefst de fiets.</a:t>
            </a:r>
            <a:endParaRPr lang="en-US" sz="1500" dirty="0"/>
          </a:p>
        </p:txBody>
      </p:sp>
      <p:pic>
        <p:nvPicPr>
          <p:cNvPr id="27" name="Image 7" descr="3rd place medal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8640" y="3919728"/>
            <a:ext cx="384048" cy="384048"/>
          </a:xfrm>
          <a:prstGeom prst="rect">
            <a:avLst/>
          </a:prstGeom>
        </p:spPr>
      </p:pic>
      <p:sp>
        <p:nvSpPr>
          <p:cNvPr id="28" name="Text 17"/>
          <p:cNvSpPr txBox="1"/>
          <p:nvPr/>
        </p:nvSpPr>
        <p:spPr>
          <a:xfrm>
            <a:off x="9601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tv kijken</a:t>
            </a:r>
            <a:endParaRPr lang="en-US" sz="1500" dirty="0"/>
          </a:p>
        </p:txBody>
      </p:sp>
      <p:pic>
        <p:nvPicPr>
          <p:cNvPr id="29" name="Image 8" descr="2nd place medal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148840" y="3919728"/>
            <a:ext cx="384048" cy="384048"/>
          </a:xfrm>
          <a:prstGeom prst="rect">
            <a:avLst/>
          </a:prstGeom>
        </p:spPr>
      </p:pic>
      <p:sp>
        <p:nvSpPr>
          <p:cNvPr id="30" name="Text 18"/>
          <p:cNvSpPr txBox="1"/>
          <p:nvPr/>
        </p:nvSpPr>
        <p:spPr>
          <a:xfrm>
            <a:off x="25603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lezen</a:t>
            </a:r>
            <a:endParaRPr lang="en-US" sz="1500" dirty="0"/>
          </a:p>
        </p:txBody>
      </p:sp>
      <p:pic>
        <p:nvPicPr>
          <p:cNvPr id="31" name="Image 9" descr="1st place medal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9040" y="3919728"/>
            <a:ext cx="384048" cy="384048"/>
          </a:xfrm>
          <a:prstGeom prst="rect">
            <a:avLst/>
          </a:prstGeom>
        </p:spPr>
      </p:pic>
      <p:sp>
        <p:nvSpPr>
          <p:cNvPr id="32" name="Text 19"/>
          <p:cNvSpPr txBox="1"/>
          <p:nvPr/>
        </p:nvSpPr>
        <p:spPr>
          <a:xfrm>
            <a:off x="4160520" y="3675888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wandelen</a:t>
            </a:r>
            <a:endParaRPr lang="en-US" sz="1500" dirty="0"/>
          </a:p>
        </p:txBody>
      </p:sp>
      <p:sp>
        <p:nvSpPr>
          <p:cNvPr id="33" name="Shape 20"/>
          <p:cNvSpPr/>
          <p:nvPr/>
        </p:nvSpPr>
        <p:spPr>
          <a:xfrm>
            <a:off x="6446520" y="3730752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4" name="Text 21"/>
          <p:cNvSpPr txBox="1"/>
          <p:nvPr/>
        </p:nvSpPr>
        <p:spPr>
          <a:xfrm>
            <a:off x="6537960" y="3730752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kijk graag tv, ik lees liever en ik wandel het liefst.</a:t>
            </a:r>
            <a:endParaRPr lang="en-US" sz="1500" dirty="0"/>
          </a:p>
        </p:txBody>
      </p:sp>
      <p:pic>
        <p:nvPicPr>
          <p:cNvPr id="35" name="Image 10" descr="3rd place medal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48640" y="4791456"/>
            <a:ext cx="384048" cy="384048"/>
          </a:xfrm>
          <a:prstGeom prst="rect">
            <a:avLst/>
          </a:prstGeom>
        </p:spPr>
      </p:pic>
      <p:sp>
        <p:nvSpPr>
          <p:cNvPr id="36" name="Text 22"/>
          <p:cNvSpPr txBox="1"/>
          <p:nvPr/>
        </p:nvSpPr>
        <p:spPr>
          <a:xfrm>
            <a:off x="9601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Gent</a:t>
            </a:r>
            <a:endParaRPr lang="en-US" sz="1500" dirty="0"/>
          </a:p>
        </p:txBody>
      </p:sp>
      <p:pic>
        <p:nvPicPr>
          <p:cNvPr id="37" name="Image 11" descr="2nd place medal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148840" y="4791456"/>
            <a:ext cx="384048" cy="384048"/>
          </a:xfrm>
          <a:prstGeom prst="rect">
            <a:avLst/>
          </a:prstGeom>
        </p:spPr>
      </p:pic>
      <p:sp>
        <p:nvSpPr>
          <p:cNvPr id="38" name="Text 23"/>
          <p:cNvSpPr txBox="1"/>
          <p:nvPr/>
        </p:nvSpPr>
        <p:spPr>
          <a:xfrm>
            <a:off x="25603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Brugge</a:t>
            </a:r>
            <a:endParaRPr lang="en-US" sz="1500" dirty="0"/>
          </a:p>
        </p:txBody>
      </p:sp>
      <p:pic>
        <p:nvPicPr>
          <p:cNvPr id="39" name="Image 12" descr="1st place medal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3749040" y="4791456"/>
            <a:ext cx="384048" cy="384048"/>
          </a:xfrm>
          <a:prstGeom prst="rect">
            <a:avLst/>
          </a:prstGeom>
        </p:spPr>
      </p:pic>
      <p:sp>
        <p:nvSpPr>
          <p:cNvPr id="40" name="Text 24"/>
          <p:cNvSpPr txBox="1"/>
          <p:nvPr/>
        </p:nvSpPr>
        <p:spPr>
          <a:xfrm>
            <a:off x="4160520" y="4547616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Antwerpen</a:t>
            </a:r>
            <a:endParaRPr lang="en-US" sz="1500" dirty="0"/>
          </a:p>
        </p:txBody>
      </p:sp>
      <p:sp>
        <p:nvSpPr>
          <p:cNvPr id="41" name="tag"/>
          <p:cNvSpPr/>
          <p:nvPr/>
        </p:nvSpPr>
        <p:spPr>
          <a:xfrm>
            <a:off x="5394960" y="4837176"/>
            <a:ext cx="1157021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bezoeken</a:t>
            </a:r>
            <a:endParaRPr lang="en-US" sz="1100" dirty="0"/>
          </a:p>
        </p:txBody>
      </p:sp>
      <p:sp>
        <p:nvSpPr>
          <p:cNvPr id="42" name="Shape 26"/>
          <p:cNvSpPr/>
          <p:nvPr/>
        </p:nvSpPr>
        <p:spPr>
          <a:xfrm>
            <a:off x="6446520" y="4602480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27"/>
          <p:cNvSpPr txBox="1"/>
          <p:nvPr/>
        </p:nvSpPr>
        <p:spPr>
          <a:xfrm>
            <a:off x="6537960" y="4602480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bezoek graag Gent, liever Brugge en het liefst Antwerpen.</a:t>
            </a:r>
            <a:endParaRPr lang="en-US" sz="1500" dirty="0"/>
          </a:p>
        </p:txBody>
      </p:sp>
      <p:pic>
        <p:nvPicPr>
          <p:cNvPr id="44" name="Image 13" descr="3rd place medal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548640" y="5663184"/>
            <a:ext cx="384048" cy="384048"/>
          </a:xfrm>
          <a:prstGeom prst="rect">
            <a:avLst/>
          </a:prstGeom>
        </p:spPr>
      </p:pic>
      <p:sp>
        <p:nvSpPr>
          <p:cNvPr id="45" name="Text 28"/>
          <p:cNvSpPr txBox="1"/>
          <p:nvPr/>
        </p:nvSpPr>
        <p:spPr>
          <a:xfrm>
            <a:off x="9601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vis</a:t>
            </a:r>
            <a:endParaRPr lang="en-US" sz="1500" dirty="0"/>
          </a:p>
        </p:txBody>
      </p:sp>
      <p:pic>
        <p:nvPicPr>
          <p:cNvPr id="46" name="Image 14" descr="2nd place medal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148840" y="5663184"/>
            <a:ext cx="384048" cy="384048"/>
          </a:xfrm>
          <a:prstGeom prst="rect">
            <a:avLst/>
          </a:prstGeom>
        </p:spPr>
      </p:pic>
      <p:sp>
        <p:nvSpPr>
          <p:cNvPr id="47" name="Text 29"/>
          <p:cNvSpPr txBox="1"/>
          <p:nvPr/>
        </p:nvSpPr>
        <p:spPr>
          <a:xfrm>
            <a:off x="25603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kip</a:t>
            </a:r>
            <a:endParaRPr lang="en-US" sz="1500" dirty="0"/>
          </a:p>
        </p:txBody>
      </p:sp>
      <p:pic>
        <p:nvPicPr>
          <p:cNvPr id="48" name="Image 15" descr="1st place medal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749040" y="5663184"/>
            <a:ext cx="384048" cy="384048"/>
          </a:xfrm>
          <a:prstGeom prst="rect">
            <a:avLst/>
          </a:prstGeom>
        </p:spPr>
      </p:pic>
      <p:sp>
        <p:nvSpPr>
          <p:cNvPr id="49" name="Text 30"/>
          <p:cNvSpPr txBox="1"/>
          <p:nvPr/>
        </p:nvSpPr>
        <p:spPr>
          <a:xfrm>
            <a:off x="4160520" y="5419344"/>
            <a:ext cx="1188720" cy="871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chemeClr val="tx1"/>
                </a:solidFill>
              </a:rPr>
              <a:t>pasta</a:t>
            </a:r>
            <a:endParaRPr lang="en-US" sz="1500" dirty="0"/>
          </a:p>
        </p:txBody>
      </p:sp>
      <p:sp>
        <p:nvSpPr>
          <p:cNvPr id="50" name="tag"/>
          <p:cNvSpPr/>
          <p:nvPr/>
        </p:nvSpPr>
        <p:spPr>
          <a:xfrm>
            <a:off x="5394960" y="5708904"/>
            <a:ext cx="761390" cy="292608"/>
          </a:xfrm>
          <a:prstGeom prst="roundRect">
            <a:avLst>
              <a:gd name="adj" fmla="val 15625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rgbClr val="FFFFFF"/>
                </a:solidFill>
              </a:rPr>
              <a:t>eten</a:t>
            </a:r>
            <a:endParaRPr lang="en-US" sz="1100" dirty="0"/>
          </a:p>
        </p:txBody>
      </p:sp>
      <p:sp>
        <p:nvSpPr>
          <p:cNvPr id="51" name="Shape 32"/>
          <p:cNvSpPr/>
          <p:nvPr/>
        </p:nvSpPr>
        <p:spPr>
          <a:xfrm>
            <a:off x="6446520" y="5474208"/>
            <a:ext cx="5193792" cy="762000"/>
          </a:xfrm>
          <a:prstGeom prst="roundRect">
            <a:avLst>
              <a:gd name="adj" fmla="val 9600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2" name="Text 33"/>
          <p:cNvSpPr txBox="1"/>
          <p:nvPr/>
        </p:nvSpPr>
        <p:spPr>
          <a:xfrm>
            <a:off x="6537960" y="5474208"/>
            <a:ext cx="5029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i="1" dirty="0">
                <a:solidFill>
                  <a:schemeClr val="accent3"/>
                </a:solidFill>
              </a:rPr>
              <a:t>Ik eet graag vis, liever kip en het liefst pasta.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Suivez l’aiguillage : activité, personne / chose ou goût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cuisiner.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3" name="Shape 9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Anvers.</a:t>
            </a:r>
            <a:endParaRPr lang="en-US" sz="1700" dirty="0"/>
          </a:p>
        </p:txBody>
      </p:sp>
      <p:sp>
        <p:nvSpPr>
          <p:cNvPr id="18" name="Shape 14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9" name="Shape 15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gâteau, je l’aime bien (il est bon).</a:t>
            </a:r>
            <a:endParaRPr lang="en-US" sz="1700" dirty="0"/>
          </a:p>
        </p:txBody>
      </p:sp>
      <p:sp>
        <p:nvSpPr>
          <p:cNvPr id="24" name="Shape 20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5" name="Shape 21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8" name="Shape 24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n’aime pas travailler le samedi.</a:t>
            </a:r>
            <a:endParaRPr lang="en-US" sz="1700" dirty="0"/>
          </a:p>
        </p:txBody>
      </p:sp>
      <p:sp>
        <p:nvSpPr>
          <p:cNvPr id="30" name="Shape 26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1" name="Shape 27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4" name="Shape 30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J’adore le chocolat.</a:t>
            </a:r>
            <a:endParaRPr lang="en-US" sz="1700" dirty="0"/>
          </a:p>
        </p:txBody>
      </p:sp>
      <p:sp>
        <p:nvSpPr>
          <p:cNvPr id="36" name="Shape 32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7" name="Shape 33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0" name="Shape 36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préfère le thé.</a:t>
            </a:r>
            <a:endParaRPr lang="en-US" sz="1700" dirty="0"/>
          </a:p>
        </p:txBody>
      </p:sp>
      <p:sp>
        <p:nvSpPr>
          <p:cNvPr id="42" name="Shape 38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3" name="Shape 39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chemeClr val="bg1"/>
          </a:solidFill>
          <a:ln w="15875">
            <a:solidFill>
              <a:srgbClr val="D5DCE6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3 — Traduisez « aimer »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Traduisez. Suivez l’aiguillage : activité, personne / chose ou goût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127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127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05840" y="19781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143000" y="19781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cuisiner.</a:t>
            </a:r>
            <a:endParaRPr lang="en-US" sz="1700" dirty="0"/>
          </a:p>
        </p:txBody>
      </p:sp>
      <p:sp>
        <p:nvSpPr>
          <p:cNvPr id="13" name="Shape 9"/>
          <p:cNvSpPr/>
          <p:nvPr/>
        </p:nvSpPr>
        <p:spPr>
          <a:xfrm>
            <a:off x="6035040" y="22956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14" name="Shape 10"/>
          <p:cNvSpPr/>
          <p:nvPr/>
        </p:nvSpPr>
        <p:spPr>
          <a:xfrm>
            <a:off x="6537960" y="19781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675120" y="19781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kook graag.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548640" y="283921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48640" y="283921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1005840" y="270459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1143000" y="270459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J’aime Anvers.</a:t>
            </a:r>
            <a:endParaRPr lang="en-US" sz="1700" dirty="0"/>
          </a:p>
        </p:txBody>
      </p:sp>
      <p:sp>
        <p:nvSpPr>
          <p:cNvPr id="20" name="Shape 16"/>
          <p:cNvSpPr/>
          <p:nvPr/>
        </p:nvSpPr>
        <p:spPr>
          <a:xfrm>
            <a:off x="6035040" y="302209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1" name="Shape 17"/>
          <p:cNvSpPr/>
          <p:nvPr/>
        </p:nvSpPr>
        <p:spPr>
          <a:xfrm>
            <a:off x="6537960" y="270459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6675120" y="270459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hou van Antwerpen.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548640" y="356565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548640" y="356565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1005840" y="343103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1143000" y="343103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Ce gâteau, je l’aime bien (il est bon).</a:t>
            </a:r>
            <a:endParaRPr lang="en-US" sz="1700" dirty="0"/>
          </a:p>
        </p:txBody>
      </p:sp>
      <p:sp>
        <p:nvSpPr>
          <p:cNvPr id="27" name="Shape 23"/>
          <p:cNvSpPr/>
          <p:nvPr/>
        </p:nvSpPr>
        <p:spPr>
          <a:xfrm>
            <a:off x="6035040" y="374853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28" name="Shape 24"/>
          <p:cNvSpPr/>
          <p:nvPr/>
        </p:nvSpPr>
        <p:spPr>
          <a:xfrm>
            <a:off x="6537960" y="343103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675120" y="343103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vind deze taart lekker.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429209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42920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>
            <a:off x="1005840" y="415747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143000" y="415747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n’aime pas travailler le samedi.</a:t>
            </a:r>
            <a:endParaRPr lang="en-US" sz="1700" dirty="0"/>
          </a:p>
        </p:txBody>
      </p:sp>
      <p:sp>
        <p:nvSpPr>
          <p:cNvPr id="34" name="Shape 30"/>
          <p:cNvSpPr/>
          <p:nvPr/>
        </p:nvSpPr>
        <p:spPr>
          <a:xfrm>
            <a:off x="6035040" y="447497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35" name="Shape 31"/>
          <p:cNvSpPr/>
          <p:nvPr/>
        </p:nvSpPr>
        <p:spPr>
          <a:xfrm>
            <a:off x="6537960" y="415747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36" name="Text 32"/>
          <p:cNvSpPr txBox="1"/>
          <p:nvPr/>
        </p:nvSpPr>
        <p:spPr>
          <a:xfrm>
            <a:off x="6675120" y="415747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werk niet graag op zaterdag.</a:t>
            </a:r>
            <a:endParaRPr lang="en-US" sz="1800" dirty="0"/>
          </a:p>
        </p:txBody>
      </p:sp>
      <p:sp>
        <p:nvSpPr>
          <p:cNvPr id="37" name="Shape 33"/>
          <p:cNvSpPr/>
          <p:nvPr/>
        </p:nvSpPr>
        <p:spPr>
          <a:xfrm>
            <a:off x="548640" y="501853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8" name="Text 34"/>
          <p:cNvSpPr txBox="1"/>
          <p:nvPr/>
        </p:nvSpPr>
        <p:spPr>
          <a:xfrm>
            <a:off x="548640" y="50185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39" name="Shape 35"/>
          <p:cNvSpPr/>
          <p:nvPr/>
        </p:nvSpPr>
        <p:spPr>
          <a:xfrm>
            <a:off x="1005840" y="488391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0" name="Text 36"/>
          <p:cNvSpPr txBox="1"/>
          <p:nvPr/>
        </p:nvSpPr>
        <p:spPr>
          <a:xfrm>
            <a:off x="1143000" y="488391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J’adore le chocolat.</a:t>
            </a:r>
            <a:endParaRPr lang="en-US" sz="1700" dirty="0"/>
          </a:p>
        </p:txBody>
      </p:sp>
      <p:sp>
        <p:nvSpPr>
          <p:cNvPr id="41" name="Shape 37"/>
          <p:cNvSpPr/>
          <p:nvPr/>
        </p:nvSpPr>
        <p:spPr>
          <a:xfrm>
            <a:off x="6035040" y="520141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2" name="Shape 38"/>
          <p:cNvSpPr/>
          <p:nvPr/>
        </p:nvSpPr>
        <p:spPr>
          <a:xfrm>
            <a:off x="6537960" y="488391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6675120" y="488391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ben dol op chocolade.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>
            <a:off x="548640" y="5744972"/>
            <a:ext cx="365760" cy="365760"/>
          </a:xfrm>
          <a:prstGeom prst="ellipse">
            <a:avLst/>
          </a:prstGeom>
          <a:solidFill>
            <a:schemeClr val="accent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548640" y="57449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6</a:t>
            </a:r>
            <a:endParaRPr lang="en-US" sz="1300" dirty="0"/>
          </a:p>
        </p:txBody>
      </p:sp>
      <p:sp>
        <p:nvSpPr>
          <p:cNvPr id="46" name="Shape 42"/>
          <p:cNvSpPr/>
          <p:nvPr/>
        </p:nvSpPr>
        <p:spPr>
          <a:xfrm>
            <a:off x="1005840" y="5610352"/>
            <a:ext cx="4937760" cy="616712"/>
          </a:xfrm>
          <a:prstGeom prst="roundRect">
            <a:avLst>
              <a:gd name="adj" fmla="val 1186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1143000" y="5610352"/>
            <a:ext cx="475488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Je préfère le thé.</a:t>
            </a:r>
            <a:endParaRPr lang="en-US" sz="1700" dirty="0"/>
          </a:p>
        </p:txBody>
      </p:sp>
      <p:sp>
        <p:nvSpPr>
          <p:cNvPr id="48" name="Shape 44"/>
          <p:cNvSpPr/>
          <p:nvPr/>
        </p:nvSpPr>
        <p:spPr>
          <a:xfrm>
            <a:off x="6035040" y="5927852"/>
            <a:ext cx="457200" cy="914"/>
          </a:xfrm>
          <a:prstGeom prst="line">
            <a:avLst/>
          </a:prstGeom>
          <a:noFill/>
          <a:ln w="31750">
            <a:solidFill>
              <a:srgbClr val="D9700F"/>
            </a:solidFill>
            <a:prstDash val="solid"/>
            <a:tailEnd type="triangle"/>
          </a:ln>
        </p:spPr>
      </p:sp>
      <p:sp>
        <p:nvSpPr>
          <p:cNvPr id="49" name="Shape 45"/>
          <p:cNvSpPr/>
          <p:nvPr/>
        </p:nvSpPr>
        <p:spPr>
          <a:xfrm>
            <a:off x="6537960" y="5610352"/>
            <a:ext cx="5102352" cy="616712"/>
          </a:xfrm>
          <a:prstGeom prst="roundRect">
            <a:avLst>
              <a:gd name="adj" fmla="val 11862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50" name="Text 46"/>
          <p:cNvSpPr txBox="1"/>
          <p:nvPr/>
        </p:nvSpPr>
        <p:spPr>
          <a:xfrm>
            <a:off x="6675120" y="5610352"/>
            <a:ext cx="4892040" cy="616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i="1" dirty="0">
                <a:solidFill>
                  <a:schemeClr val="accent3"/>
                </a:solidFill>
              </a:rPr>
              <a:t>Ik drink liever thee.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se présente sur l’intranet. Trouvez les 5 erreurs.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5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Intranet Peeters &amp; Co · Over mij · Lotte Claes</a:t>
            </a:r>
            <a:endParaRPr lang="en-US" sz="13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Hallo! Ik ben Lotte, de nieuwe stagiaire. </a:t>
            </a:r>
            <a:r>
              <a:rPr lang="en-US" sz="1900" i="1" dirty="0">
                <a:solidFill>
                  <a:schemeClr val="tx1"/>
                </a:solidFill>
              </a:rPr>
              <a:t>Ik graag lees</a:t>
            </a:r>
            <a:r>
              <a:rPr lang="en-US" sz="1900" i="1" dirty="0">
                <a:solidFill>
                  <a:schemeClr val="tx1"/>
                </a:solidFill>
              </a:rPr>
              <a:t> detectives. </a:t>
            </a:r>
            <a:r>
              <a:rPr lang="en-US" sz="1900" i="1" dirty="0">
                <a:solidFill>
                  <a:schemeClr val="tx1"/>
                </a:solidFill>
              </a:rPr>
              <a:t>Ik houd muziek</a:t>
            </a:r>
            <a:r>
              <a:rPr lang="en-US" sz="1900" i="1" dirty="0">
                <a:solidFill>
                  <a:schemeClr val="tx1"/>
                </a:solidFill>
              </a:rPr>
              <a:t>, vooral jazz. Ik drink </a:t>
            </a:r>
            <a:r>
              <a:rPr lang="en-US" sz="1900" i="1" dirty="0">
                <a:solidFill>
                  <a:schemeClr val="tx1"/>
                </a:solidFill>
              </a:rPr>
              <a:t>meer graag</a:t>
            </a:r>
            <a:r>
              <a:rPr lang="en-US" sz="1900" i="1" dirty="0">
                <a:solidFill>
                  <a:schemeClr val="tx1"/>
                </a:solidFill>
              </a:rPr>
              <a:t> thee dan koffie. Ik vind de soep van de kantine heel </a:t>
            </a:r>
            <a:r>
              <a:rPr lang="en-US" sz="1900" i="1" dirty="0">
                <a:solidFill>
                  <a:schemeClr val="tx1"/>
                </a:solidFill>
              </a:rPr>
              <a:t>leuk</a:t>
            </a:r>
            <a:r>
              <a:rPr lang="en-US" sz="1900" i="1" dirty="0">
                <a:solidFill>
                  <a:schemeClr val="tx1"/>
                </a:solidFill>
              </a:rPr>
              <a:t>! </a:t>
            </a:r>
            <a:r>
              <a:rPr lang="en-US" sz="1900" i="1" dirty="0">
                <a:solidFill>
                  <a:schemeClr val="tx1"/>
                </a:solidFill>
              </a:rPr>
              <a:t>Ik sport graag niet.</a:t>
            </a:r>
            <a:r>
              <a:rPr lang="en-US" sz="1900" i="1" dirty="0">
                <a:solidFill>
                  <a:schemeClr val="tx1"/>
                </a:solidFill>
              </a:rPr>
              <a:t> Ik hou van mijn katten Pip en Pluis. Tot snel!</a:t>
            </a:r>
            <a:endParaRPr lang="en-US" sz="1900" dirty="0"/>
          </a:p>
        </p:txBody>
      </p:sp>
      <p:pic>
        <p:nvPicPr>
          <p:cNvPr id="12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?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4 — Le détective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Lotte se présente sur l’intranet. Trouvez les 5 erreurs.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1932432"/>
            <a:ext cx="8229600" cy="4358640"/>
          </a:xfrm>
          <a:prstGeom prst="roundRect">
            <a:avLst>
              <a:gd name="adj" fmla="val 1678"/>
            </a:avLst>
          </a:prstGeom>
          <a:solidFill>
            <a:srgbClr val="FFFFFF"/>
          </a:solidFill>
          <a:ln w="15875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548640" y="1932432"/>
            <a:ext cx="8229600" cy="457200"/>
          </a:xfrm>
          <a:prstGeom prst="roundRect">
            <a:avLst>
              <a:gd name="adj" fmla="val 8000"/>
            </a:avLst>
          </a:prstGeom>
          <a:solidFill>
            <a:srgbClr val="E6EBF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7240" y="1932432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Intranet Peeters &amp; Co · Over mij · Lotte Claes</a:t>
            </a:r>
            <a:endParaRPr lang="en-US" sz="13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572512"/>
            <a:ext cx="7589520" cy="3535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900" i="1" dirty="0">
                <a:solidFill>
                  <a:schemeClr val="tx1"/>
                </a:solidFill>
              </a:rPr>
              <a:t>Hallo! Ik ben Lotte, de nieuwe stagiaire. </a:t>
            </a:r>
            <a:r>
              <a:rPr lang="en-US" sz="1900" i="1" strike="sngStrike" dirty="0">
                <a:solidFill>
                  <a:schemeClr val="accent6"/>
                </a:solidFill>
              </a:rPr>
              <a:t>Ik graag lees</a:t>
            </a:r>
            <a:r>
              <a:rPr lang="en-US" sz="1900" b="1" i="1" dirty="0">
                <a:solidFill>
                  <a:schemeClr val="accent3"/>
                </a:solidFill>
              </a:rPr>
              <a:t> Ik lees graag</a:t>
            </a:r>
            <a:r>
              <a:rPr lang="en-US" sz="1900" i="1" dirty="0">
                <a:solidFill>
                  <a:schemeClr val="tx1"/>
                </a:solidFill>
              </a:rPr>
              <a:t> detectives. </a:t>
            </a:r>
            <a:r>
              <a:rPr lang="en-US" sz="1900" i="1" strike="sngStrike" dirty="0">
                <a:solidFill>
                  <a:schemeClr val="accent6"/>
                </a:solidFill>
              </a:rPr>
              <a:t>Ik houd muziek</a:t>
            </a:r>
            <a:r>
              <a:rPr lang="en-US" sz="1900" b="1" i="1" dirty="0">
                <a:solidFill>
                  <a:schemeClr val="accent3"/>
                </a:solidFill>
              </a:rPr>
              <a:t> Ik houd van muziek</a:t>
            </a:r>
            <a:r>
              <a:rPr lang="en-US" sz="1900" i="1" dirty="0">
                <a:solidFill>
                  <a:schemeClr val="tx1"/>
                </a:solidFill>
              </a:rPr>
              <a:t>, vooral jazz. Ik drink </a:t>
            </a:r>
            <a:r>
              <a:rPr lang="en-US" sz="1900" i="1" strike="sngStrike" dirty="0">
                <a:solidFill>
                  <a:schemeClr val="accent6"/>
                </a:solidFill>
              </a:rPr>
              <a:t>meer graag</a:t>
            </a:r>
            <a:r>
              <a:rPr lang="en-US" sz="1900" b="1" i="1" dirty="0">
                <a:solidFill>
                  <a:schemeClr val="accent3"/>
                </a:solidFill>
              </a:rPr>
              <a:t> liever</a:t>
            </a:r>
            <a:r>
              <a:rPr lang="en-US" sz="1900" i="1" dirty="0">
                <a:solidFill>
                  <a:schemeClr val="tx1"/>
                </a:solidFill>
              </a:rPr>
              <a:t> thee dan koffie. Ik vind de soep van de kantine heel </a:t>
            </a:r>
            <a:r>
              <a:rPr lang="en-US" sz="1900" i="1" strike="sngStrike" dirty="0">
                <a:solidFill>
                  <a:schemeClr val="accent6"/>
                </a:solidFill>
              </a:rPr>
              <a:t>leuk</a:t>
            </a:r>
            <a:r>
              <a:rPr lang="en-US" sz="1900" b="1" i="1" dirty="0">
                <a:solidFill>
                  <a:schemeClr val="accent3"/>
                </a:solidFill>
              </a:rPr>
              <a:t> lekker</a:t>
            </a:r>
            <a:r>
              <a:rPr lang="en-US" sz="1900" i="1" dirty="0">
                <a:solidFill>
                  <a:schemeClr val="tx1"/>
                </a:solidFill>
              </a:rPr>
              <a:t>! </a:t>
            </a:r>
            <a:r>
              <a:rPr lang="en-US" sz="1900" i="1" strike="sngStrike" dirty="0">
                <a:solidFill>
                  <a:schemeClr val="accent6"/>
                </a:solidFill>
              </a:rPr>
              <a:t>Ik sport graag niet.</a:t>
            </a:r>
            <a:r>
              <a:rPr lang="en-US" sz="1900" b="1" i="1" dirty="0">
                <a:solidFill>
                  <a:schemeClr val="accent3"/>
                </a:solidFill>
              </a:rPr>
              <a:t> Ik sport niet graag.</a:t>
            </a:r>
            <a:r>
              <a:rPr lang="en-US" sz="1900" i="1" dirty="0">
                <a:solidFill>
                  <a:schemeClr val="tx1"/>
                </a:solidFill>
              </a:rPr>
              <a:t> Ik hou van mijn katten Pip en Pluis. Tot snel!</a:t>
            </a:r>
            <a:endParaRPr lang="en-US" sz="1900" dirty="0"/>
          </a:p>
        </p:txBody>
      </p:sp>
      <p:pic>
        <p:nvPicPr>
          <p:cNvPr id="13" name="Image 1" descr="magnifying glass tilted lef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0" y="2023872"/>
            <a:ext cx="1463040" cy="1463040"/>
          </a:xfrm>
          <a:prstGeom prst="rect">
            <a:avLst/>
          </a:prstGeom>
        </p:spPr>
      </p:pic>
      <p:sp>
        <p:nvSpPr>
          <p:cNvPr id="14" name="Shape 9"/>
          <p:cNvSpPr/>
          <p:nvPr/>
        </p:nvSpPr>
        <p:spPr>
          <a:xfrm>
            <a:off x="9052560" y="3715512"/>
            <a:ext cx="2587752" cy="822960"/>
          </a:xfrm>
          <a:prstGeom prst="roundRect">
            <a:avLst>
              <a:gd name="adj" fmla="val 8889"/>
            </a:avLst>
          </a:prstGeom>
          <a:solidFill>
            <a:schemeClr val="accent6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9052560" y="3715512"/>
            <a:ext cx="258775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bg1"/>
                </a:solidFill>
              </a:rPr>
              <a:t>5 erreurs ✓</a:t>
            </a:r>
            <a:endParaRPr lang="en-US" sz="2200" dirty="0"/>
          </a:p>
        </p:txBody>
      </p:sp>
      <p:sp>
        <p:nvSpPr>
          <p:cNvPr id="16" name="Text 11"/>
          <p:cNvSpPr txBox="1"/>
          <p:nvPr/>
        </p:nvSpPr>
        <p:spPr>
          <a:xfrm>
            <a:off x="9052560" y="4721352"/>
            <a:ext cx="25877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chemeClr val="accent5"/>
                </a:solidFill>
              </a:rPr>
              <a:t>Leurre : </a:t>
            </a:r>
            <a:r>
              <a:rPr lang="en-US" sz="1400" i="1" dirty="0">
                <a:solidFill>
                  <a:schemeClr val="accent5"/>
                </a:solidFill>
              </a:rPr>
              <a:t>Ik hou van mijn katten</a:t>
            </a:r>
            <a:r>
              <a:rPr lang="en-US" sz="1400" i="1" dirty="0">
                <a:solidFill>
                  <a:schemeClr val="accent5"/>
                </a:solidFill>
              </a:rPr>
              <a:t> est correct. Aussi : </a:t>
            </a:r>
            <a:r>
              <a:rPr lang="en-US" sz="1400" i="1" dirty="0">
                <a:solidFill>
                  <a:schemeClr val="accent5"/>
                </a:solidFill>
              </a:rPr>
              <a:t>Ik doe niet graag aan sport.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6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?</a:t>
            </a:r>
            <a:endParaRPr lang="en-US" sz="1700" dirty="0"/>
          </a:p>
        </p:txBody>
      </p:sp>
      <p:sp>
        <p:nvSpPr>
          <p:cNvPr id="8" name="Shape 4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 rot="-120000">
            <a:off x="1097280" y="2060448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1097280" y="2060448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12" name="Shape 8"/>
          <p:cNvSpPr/>
          <p:nvPr/>
        </p:nvSpPr>
        <p:spPr>
          <a:xfrm rot="60000">
            <a:off x="242316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242316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ga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 rot="120000">
            <a:off x="3337560" y="2060448"/>
            <a:ext cx="20574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3337560" y="2060448"/>
            <a:ext cx="20574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naar de film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 rot="-60000">
            <a:off x="5623560" y="2060448"/>
            <a:ext cx="68580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17" name="Text 13"/>
          <p:cNvSpPr txBox="1"/>
          <p:nvPr/>
        </p:nvSpPr>
        <p:spPr>
          <a:xfrm>
            <a:off x="5623560" y="2060448"/>
            <a:ext cx="68580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ik</a:t>
            </a:r>
            <a:endParaRPr lang="en-US" sz="1800" dirty="0"/>
          </a:p>
        </p:txBody>
      </p:sp>
      <p:sp>
        <p:nvSpPr>
          <p:cNvPr id="18" name="Shape 14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 rot="-120000">
            <a:off x="1097280" y="2932176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1097280" y="2932176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gedaan</a:t>
            </a:r>
            <a:endParaRPr lang="en-US" sz="1800" dirty="0"/>
          </a:p>
        </p:txBody>
      </p:sp>
      <p:sp>
        <p:nvSpPr>
          <p:cNvPr id="22" name="Shape 18"/>
          <p:cNvSpPr/>
          <p:nvPr/>
        </p:nvSpPr>
        <p:spPr>
          <a:xfrm rot="60000">
            <a:off x="2560320" y="2932176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3" name="Text 19"/>
          <p:cNvSpPr txBox="1"/>
          <p:nvPr/>
        </p:nvSpPr>
        <p:spPr>
          <a:xfrm>
            <a:off x="2560320" y="2932176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heeft</a:t>
            </a:r>
            <a:endParaRPr lang="en-US" sz="1800" dirty="0"/>
          </a:p>
        </p:txBody>
      </p:sp>
      <p:sp>
        <p:nvSpPr>
          <p:cNvPr id="24" name="Shape 20"/>
          <p:cNvSpPr/>
          <p:nvPr/>
        </p:nvSpPr>
        <p:spPr>
          <a:xfrm rot="120000">
            <a:off x="3886200" y="2932176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3886200" y="2932176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26" name="Shape 22"/>
          <p:cNvSpPr/>
          <p:nvPr/>
        </p:nvSpPr>
        <p:spPr>
          <a:xfrm rot="-60000">
            <a:off x="5212080" y="2932176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7" name="Text 23"/>
          <p:cNvSpPr txBox="1"/>
          <p:nvPr/>
        </p:nvSpPr>
        <p:spPr>
          <a:xfrm>
            <a:off x="5212080" y="2932176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dat</a:t>
            </a:r>
            <a:endParaRPr lang="en-US" sz="1800" dirty="0"/>
          </a:p>
        </p:txBody>
      </p:sp>
      <p:sp>
        <p:nvSpPr>
          <p:cNvPr id="28" name="Shape 24"/>
          <p:cNvSpPr/>
          <p:nvPr/>
        </p:nvSpPr>
        <p:spPr>
          <a:xfrm>
            <a:off x="6263640" y="2932176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263640" y="2932176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Karim</a:t>
            </a:r>
            <a:endParaRPr lang="en-US" sz="1800" dirty="0"/>
          </a:p>
        </p:txBody>
      </p:sp>
      <p:sp>
        <p:nvSpPr>
          <p:cNvPr id="30" name="Shape 26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32" name="Shape 28"/>
          <p:cNvSpPr/>
          <p:nvPr/>
        </p:nvSpPr>
        <p:spPr>
          <a:xfrm rot="-120000">
            <a:off x="1097280" y="3803904"/>
            <a:ext cx="123444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3" name="Text 29"/>
          <p:cNvSpPr txBox="1"/>
          <p:nvPr/>
        </p:nvSpPr>
        <p:spPr>
          <a:xfrm>
            <a:off x="1097280" y="3803904"/>
            <a:ext cx="12344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liever</a:t>
            </a:r>
            <a:endParaRPr lang="en-US" sz="1800" dirty="0"/>
          </a:p>
        </p:txBody>
      </p:sp>
      <p:sp>
        <p:nvSpPr>
          <p:cNvPr id="34" name="Shape 30"/>
          <p:cNvSpPr/>
          <p:nvPr/>
        </p:nvSpPr>
        <p:spPr>
          <a:xfrm rot="60000">
            <a:off x="2560320" y="3803904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5" name="Text 31"/>
          <p:cNvSpPr txBox="1"/>
          <p:nvPr/>
        </p:nvSpPr>
        <p:spPr>
          <a:xfrm>
            <a:off x="2560320" y="3803904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wij</a:t>
            </a:r>
            <a:endParaRPr lang="en-US" sz="1800" dirty="0"/>
          </a:p>
        </p:txBody>
      </p:sp>
      <p:sp>
        <p:nvSpPr>
          <p:cNvPr id="36" name="Shape 32"/>
          <p:cNvSpPr/>
          <p:nvPr/>
        </p:nvSpPr>
        <p:spPr>
          <a:xfrm rot="120000">
            <a:off x="3611880" y="3803904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7" name="Text 33"/>
          <p:cNvSpPr txBox="1"/>
          <p:nvPr/>
        </p:nvSpPr>
        <p:spPr>
          <a:xfrm>
            <a:off x="3611880" y="3803904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eten</a:t>
            </a:r>
            <a:endParaRPr lang="en-US" sz="1800" dirty="0"/>
          </a:p>
        </p:txBody>
      </p:sp>
      <p:sp>
        <p:nvSpPr>
          <p:cNvPr id="38" name="Shape 34"/>
          <p:cNvSpPr/>
          <p:nvPr/>
        </p:nvSpPr>
        <p:spPr>
          <a:xfrm rot="-60000">
            <a:off x="4800600" y="3803904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39" name="Text 35"/>
          <p:cNvSpPr txBox="1"/>
          <p:nvPr/>
        </p:nvSpPr>
        <p:spPr>
          <a:xfrm>
            <a:off x="4800600" y="3803904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vis</a:t>
            </a:r>
            <a:endParaRPr lang="en-US" sz="1800" dirty="0"/>
          </a:p>
        </p:txBody>
      </p:sp>
      <p:sp>
        <p:nvSpPr>
          <p:cNvPr id="40" name="Shape 36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42" name="Shape 38"/>
          <p:cNvSpPr/>
          <p:nvPr/>
        </p:nvSpPr>
        <p:spPr>
          <a:xfrm rot="-120000">
            <a:off x="1097280" y="4675632"/>
            <a:ext cx="17830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3" name="Text 39"/>
          <p:cNvSpPr txBox="1"/>
          <p:nvPr/>
        </p:nvSpPr>
        <p:spPr>
          <a:xfrm>
            <a:off x="1097280" y="4675632"/>
            <a:ext cx="17830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een koffie</a:t>
            </a:r>
            <a:endParaRPr lang="en-US" sz="1800" dirty="0"/>
          </a:p>
        </p:txBody>
      </p:sp>
      <p:sp>
        <p:nvSpPr>
          <p:cNvPr id="44" name="Shape 40"/>
          <p:cNvSpPr/>
          <p:nvPr/>
        </p:nvSpPr>
        <p:spPr>
          <a:xfrm rot="60000">
            <a:off x="3108960" y="4675632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5" name="Text 41"/>
          <p:cNvSpPr txBox="1"/>
          <p:nvPr/>
        </p:nvSpPr>
        <p:spPr>
          <a:xfrm>
            <a:off x="3108960" y="4675632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graag</a:t>
            </a:r>
            <a:endParaRPr lang="en-US" sz="1800" dirty="0"/>
          </a:p>
        </p:txBody>
      </p:sp>
      <p:sp>
        <p:nvSpPr>
          <p:cNvPr id="46" name="Shape 42"/>
          <p:cNvSpPr/>
          <p:nvPr/>
        </p:nvSpPr>
        <p:spPr>
          <a:xfrm rot="120000">
            <a:off x="4434840" y="4675632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7" name="Text 43"/>
          <p:cNvSpPr txBox="1"/>
          <p:nvPr/>
        </p:nvSpPr>
        <p:spPr>
          <a:xfrm>
            <a:off x="4434840" y="4675632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wil</a:t>
            </a:r>
            <a:endParaRPr lang="en-US" sz="1800" dirty="0"/>
          </a:p>
        </p:txBody>
      </p:sp>
      <p:sp>
        <p:nvSpPr>
          <p:cNvPr id="48" name="Shape 44"/>
          <p:cNvSpPr/>
          <p:nvPr/>
        </p:nvSpPr>
        <p:spPr>
          <a:xfrm rot="-60000">
            <a:off x="5486400" y="4675632"/>
            <a:ext cx="109728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49" name="Text 45"/>
          <p:cNvSpPr txBox="1"/>
          <p:nvPr/>
        </p:nvSpPr>
        <p:spPr>
          <a:xfrm>
            <a:off x="5486400" y="4675632"/>
            <a:ext cx="109728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Sofie</a:t>
            </a:r>
            <a:endParaRPr lang="en-US" sz="1800" dirty="0"/>
          </a:p>
        </p:txBody>
      </p:sp>
      <p:sp>
        <p:nvSpPr>
          <p:cNvPr id="50" name="Shape 46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Text 47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52" name="Shape 48"/>
          <p:cNvSpPr/>
          <p:nvPr/>
        </p:nvSpPr>
        <p:spPr>
          <a:xfrm rot="-120000">
            <a:off x="109728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3" name="Text 49"/>
          <p:cNvSpPr txBox="1"/>
          <p:nvPr/>
        </p:nvSpPr>
        <p:spPr>
          <a:xfrm>
            <a:off x="109728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van</a:t>
            </a:r>
            <a:endParaRPr lang="en-US" sz="1800" dirty="0"/>
          </a:p>
        </p:txBody>
      </p:sp>
      <p:sp>
        <p:nvSpPr>
          <p:cNvPr id="54" name="Shape 50"/>
          <p:cNvSpPr/>
          <p:nvPr/>
        </p:nvSpPr>
        <p:spPr>
          <a:xfrm rot="60000">
            <a:off x="214884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5" name="Text 51"/>
          <p:cNvSpPr txBox="1"/>
          <p:nvPr/>
        </p:nvSpPr>
        <p:spPr>
          <a:xfrm>
            <a:off x="214884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jij</a:t>
            </a:r>
            <a:endParaRPr lang="en-US" sz="1800" dirty="0"/>
          </a:p>
        </p:txBody>
      </p:sp>
      <p:sp>
        <p:nvSpPr>
          <p:cNvPr id="56" name="Shape 52"/>
          <p:cNvSpPr/>
          <p:nvPr/>
        </p:nvSpPr>
        <p:spPr>
          <a:xfrm rot="120000">
            <a:off x="3200400" y="5547360"/>
            <a:ext cx="96012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7" name="Text 53"/>
          <p:cNvSpPr txBox="1"/>
          <p:nvPr/>
        </p:nvSpPr>
        <p:spPr>
          <a:xfrm>
            <a:off x="3200400" y="5547360"/>
            <a:ext cx="96012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jazz</a:t>
            </a:r>
            <a:endParaRPr lang="en-US" sz="1800" dirty="0"/>
          </a:p>
        </p:txBody>
      </p:sp>
      <p:sp>
        <p:nvSpPr>
          <p:cNvPr id="58" name="Shape 54"/>
          <p:cNvSpPr/>
          <p:nvPr/>
        </p:nvSpPr>
        <p:spPr>
          <a:xfrm rot="-60000">
            <a:off x="4389120" y="5547360"/>
            <a:ext cx="822960" cy="615696"/>
          </a:xfrm>
          <a:prstGeom prst="roundRect">
            <a:avLst>
              <a:gd name="adj" fmla="val 14851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59" name="Text 55"/>
          <p:cNvSpPr txBox="1"/>
          <p:nvPr/>
        </p:nvSpPr>
        <p:spPr>
          <a:xfrm>
            <a:off x="4389120" y="5547360"/>
            <a:ext cx="82296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hou</a:t>
            </a:r>
            <a:endParaRPr lang="en-US" sz="1800" dirty="0"/>
          </a:p>
        </p:txBody>
      </p:sp>
      <p:sp>
        <p:nvSpPr>
          <p:cNvPr id="60" name="Shape 56"/>
          <p:cNvSpPr/>
          <p:nvPr/>
        </p:nvSpPr>
        <p:spPr>
          <a:xfrm>
            <a:off x="5440680" y="5547360"/>
            <a:ext cx="548640" cy="615696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 w="15875">
            <a:solidFill>
              <a:srgbClr val="D9700F"/>
            </a:solidFill>
            <a:prstDash val="solid"/>
          </a:ln>
        </p:spPr>
      </p:sp>
      <p:sp>
        <p:nvSpPr>
          <p:cNvPr id="61" name="Text 57"/>
          <p:cNvSpPr txBox="1"/>
          <p:nvPr/>
        </p:nvSpPr>
        <p:spPr>
          <a:xfrm>
            <a:off x="5440680" y="5547360"/>
            <a:ext cx="548640" cy="6156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chemeClr val="tx1"/>
                </a:solidFill>
              </a:rPr>
              <a:t>?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5 — Remettez en ordre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ag"/>
          <p:cNvSpPr/>
          <p:nvPr/>
        </p:nvSpPr>
        <p:spPr>
          <a:xfrm>
            <a:off x="1887322" y="237744"/>
            <a:ext cx="1662379" cy="310896"/>
          </a:xfrm>
          <a:prstGeom prst="roundRect">
            <a:avLst>
              <a:gd name="adj" fmla="val 14706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✓ CORRECTIE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</a:t>
            </a:r>
            <a:endParaRPr lang="en-US" sz="1600" dirty="0"/>
          </a:p>
        </p:txBody>
      </p:sp>
      <p:pic>
        <p:nvPicPr>
          <p:cNvPr id="7" name="Image 0" descr="HandPointRigh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517904"/>
            <a:ext cx="274320" cy="2743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60120" y="1481328"/>
            <a:ext cx="10680192" cy="313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i="1" dirty="0">
                <a:solidFill>
                  <a:schemeClr val="accent5"/>
                </a:solidFill>
              </a:rPr>
              <a:t>Remettez les mots dans l’ordre. Où va </a:t>
            </a:r>
            <a:r>
              <a:rPr lang="en-US" sz="1700" i="1" dirty="0">
                <a:solidFill>
                  <a:schemeClr val="accent5"/>
                </a:solidFill>
              </a:rPr>
              <a:t>graag</a:t>
            </a:r>
            <a:r>
              <a:rPr lang="en-US" sz="1700" i="1" dirty="0">
                <a:solidFill>
                  <a:schemeClr val="accent5"/>
                </a:solidFill>
              </a:rPr>
              <a:t> ?</a:t>
            </a:r>
            <a:endParaRPr lang="en-US" sz="1700" dirty="0"/>
          </a:p>
        </p:txBody>
      </p:sp>
      <p:sp>
        <p:nvSpPr>
          <p:cNvPr id="9" name="Shape 5"/>
          <p:cNvSpPr/>
          <p:nvPr/>
        </p:nvSpPr>
        <p:spPr>
          <a:xfrm>
            <a:off x="548640" y="2185416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548640" y="218541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1</a:t>
            </a:r>
            <a:endParaRPr lang="en-US" sz="1300" dirty="0"/>
          </a:p>
        </p:txBody>
      </p:sp>
      <p:sp>
        <p:nvSpPr>
          <p:cNvPr id="11" name="Shape 7"/>
          <p:cNvSpPr/>
          <p:nvPr/>
        </p:nvSpPr>
        <p:spPr>
          <a:xfrm>
            <a:off x="1097280" y="1996440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1234440" y="1996440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Ik ga graag naar de film.</a:t>
            </a:r>
            <a:endParaRPr lang="en-US" sz="2100" dirty="0"/>
          </a:p>
        </p:txBody>
      </p:sp>
      <p:sp>
        <p:nvSpPr>
          <p:cNvPr id="13" name="Shape 9"/>
          <p:cNvSpPr/>
          <p:nvPr/>
        </p:nvSpPr>
        <p:spPr>
          <a:xfrm>
            <a:off x="548640" y="3057144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0"/>
          <p:cNvSpPr txBox="1"/>
          <p:nvPr/>
        </p:nvSpPr>
        <p:spPr>
          <a:xfrm>
            <a:off x="548640" y="305714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2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1097280" y="2868168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1234440" y="2868168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Karim heeft dat graag gedaan.</a:t>
            </a:r>
            <a:endParaRPr lang="en-US" sz="2100" dirty="0"/>
          </a:p>
        </p:txBody>
      </p:sp>
      <p:sp>
        <p:nvSpPr>
          <p:cNvPr id="17" name="Shape 13"/>
          <p:cNvSpPr/>
          <p:nvPr/>
        </p:nvSpPr>
        <p:spPr>
          <a:xfrm>
            <a:off x="548640" y="3928872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48640" y="39288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3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1097280" y="3739896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0" name="Text 16"/>
          <p:cNvSpPr txBox="1"/>
          <p:nvPr/>
        </p:nvSpPr>
        <p:spPr>
          <a:xfrm>
            <a:off x="1234440" y="3739896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Wij eten liever vis.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548640" y="4800600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548640" y="4800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4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1097280" y="4611624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1234440" y="4611624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Sofie wil graag een koffie.</a:t>
            </a:r>
            <a:endParaRPr lang="en-US" sz="2100" dirty="0"/>
          </a:p>
        </p:txBody>
      </p:sp>
      <p:sp>
        <p:nvSpPr>
          <p:cNvPr id="25" name="Shape 21"/>
          <p:cNvSpPr/>
          <p:nvPr/>
        </p:nvSpPr>
        <p:spPr>
          <a:xfrm>
            <a:off x="548640" y="5672328"/>
            <a:ext cx="365760" cy="365760"/>
          </a:xfrm>
          <a:prstGeom prst="ellipse">
            <a:avLst/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548640" y="56723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5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1097280" y="5483352"/>
            <a:ext cx="10543032" cy="743712"/>
          </a:xfrm>
          <a:prstGeom prst="roundRect">
            <a:avLst>
              <a:gd name="adj" fmla="val 9836"/>
            </a:avLst>
          </a:prstGeom>
          <a:solidFill>
            <a:srgbClr val="EDF6F0"/>
          </a:solidFill>
          <a:ln w="15875">
            <a:solidFill>
              <a:srgbClr val="2E7D4F"/>
            </a:solidFill>
            <a:prstDash val="solid"/>
          </a:ln>
        </p:spPr>
      </p:sp>
      <p:sp>
        <p:nvSpPr>
          <p:cNvPr id="28" name="Text 24"/>
          <p:cNvSpPr txBox="1"/>
          <p:nvPr/>
        </p:nvSpPr>
        <p:spPr>
          <a:xfrm>
            <a:off x="1234440" y="5483352"/>
            <a:ext cx="10332720" cy="743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b="1" i="1" dirty="0">
                <a:solidFill>
                  <a:schemeClr val="accent3"/>
                </a:solidFill>
              </a:rPr>
              <a:t>Hou jij van jazz?</a:t>
            </a:r>
            <a:endParaRPr lang="en-US" sz="2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6 — Zoek iemand die…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1228954" cy="310896"/>
          </a:xfrm>
          <a:prstGeom prst="roundRect">
            <a:avLst>
              <a:gd name="adj" fmla="val 14706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JIJ NU !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6002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7" name="Image 0" descr="cook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8368" y="1709928"/>
            <a:ext cx="502920" cy="5029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40080" y="2194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graag kookt</a:t>
            </a:r>
            <a:endParaRPr lang="en-US" sz="1400" dirty="0"/>
          </a:p>
        </p:txBody>
      </p:sp>
      <p:sp>
        <p:nvSpPr>
          <p:cNvPr id="9" name="Shape 5"/>
          <p:cNvSpPr/>
          <p:nvPr/>
        </p:nvSpPr>
        <p:spPr>
          <a:xfrm>
            <a:off x="822960" y="274320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10" name="Shape 6"/>
          <p:cNvSpPr/>
          <p:nvPr/>
        </p:nvSpPr>
        <p:spPr>
          <a:xfrm>
            <a:off x="2971800" y="16002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1" name="Image 1" descr="ca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1709928"/>
            <a:ext cx="502920" cy="50292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3063240" y="2194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van katten houdt</a:t>
            </a:r>
            <a:endParaRPr lang="en-US" sz="1400" dirty="0"/>
          </a:p>
        </p:txBody>
      </p:sp>
      <p:sp>
        <p:nvSpPr>
          <p:cNvPr id="13" name="Shape 8"/>
          <p:cNvSpPr/>
          <p:nvPr/>
        </p:nvSpPr>
        <p:spPr>
          <a:xfrm>
            <a:off x="3246120" y="274320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14" name="Shape 9"/>
          <p:cNvSpPr/>
          <p:nvPr/>
        </p:nvSpPr>
        <p:spPr>
          <a:xfrm>
            <a:off x="5394960" y="160020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5" name="Image 2" descr="teacup without hand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4688" y="1709928"/>
            <a:ext cx="502920" cy="502920"/>
          </a:xfrm>
          <a:prstGeom prst="rect">
            <a:avLst/>
          </a:prstGeom>
        </p:spPr>
      </p:pic>
      <p:sp>
        <p:nvSpPr>
          <p:cNvPr id="16" name="Text 10"/>
          <p:cNvSpPr txBox="1"/>
          <p:nvPr/>
        </p:nvSpPr>
        <p:spPr>
          <a:xfrm>
            <a:off x="5486400" y="219456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liever thee drinkt</a:t>
            </a:r>
            <a:endParaRPr lang="en-US" sz="1400" dirty="0"/>
          </a:p>
        </p:txBody>
      </p:sp>
      <p:sp>
        <p:nvSpPr>
          <p:cNvPr id="17" name="Shape 11"/>
          <p:cNvSpPr/>
          <p:nvPr/>
        </p:nvSpPr>
        <p:spPr>
          <a:xfrm>
            <a:off x="5669280" y="274320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18" name="Shape 12"/>
          <p:cNvSpPr/>
          <p:nvPr/>
        </p:nvSpPr>
        <p:spPr>
          <a:xfrm>
            <a:off x="548640" y="30632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19" name="Image 3" descr="alarm clo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3172968"/>
            <a:ext cx="502920" cy="502920"/>
          </a:xfrm>
          <a:prstGeom prst="rect">
            <a:avLst/>
          </a:prstGeom>
        </p:spPr>
      </p:pic>
      <p:sp>
        <p:nvSpPr>
          <p:cNvPr id="20" name="Text 13"/>
          <p:cNvSpPr txBox="1"/>
          <p:nvPr/>
        </p:nvSpPr>
        <p:spPr>
          <a:xfrm>
            <a:off x="640080" y="3657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niet graag vroeg opstaat</a:t>
            </a:r>
            <a:endParaRPr lang="en-US" sz="1400" dirty="0"/>
          </a:p>
        </p:txBody>
      </p:sp>
      <p:sp>
        <p:nvSpPr>
          <p:cNvPr id="21" name="Shape 14"/>
          <p:cNvSpPr/>
          <p:nvPr/>
        </p:nvSpPr>
        <p:spPr>
          <a:xfrm>
            <a:off x="822960" y="420624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22" name="Shape 15"/>
          <p:cNvSpPr/>
          <p:nvPr/>
        </p:nvSpPr>
        <p:spPr>
          <a:xfrm>
            <a:off x="2971800" y="30632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3" name="Image 4" descr="chocolate bar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81528" y="3172968"/>
            <a:ext cx="502920" cy="502920"/>
          </a:xfrm>
          <a:prstGeom prst="rect">
            <a:avLst/>
          </a:prstGeom>
        </p:spPr>
      </p:pic>
      <p:sp>
        <p:nvSpPr>
          <p:cNvPr id="24" name="Text 16"/>
          <p:cNvSpPr txBox="1"/>
          <p:nvPr/>
        </p:nvSpPr>
        <p:spPr>
          <a:xfrm>
            <a:off x="3063240" y="3657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dol is op chocolade</a:t>
            </a:r>
            <a:endParaRPr lang="en-US" sz="1400" dirty="0"/>
          </a:p>
        </p:txBody>
      </p:sp>
      <p:sp>
        <p:nvSpPr>
          <p:cNvPr id="25" name="Shape 17"/>
          <p:cNvSpPr/>
          <p:nvPr/>
        </p:nvSpPr>
        <p:spPr>
          <a:xfrm>
            <a:off x="3246120" y="420624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26" name="Shape 18"/>
          <p:cNvSpPr/>
          <p:nvPr/>
        </p:nvSpPr>
        <p:spPr>
          <a:xfrm>
            <a:off x="5394960" y="306324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27" name="Image 5" descr="person biki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04688" y="3172968"/>
            <a:ext cx="502920" cy="502920"/>
          </a:xfrm>
          <a:prstGeom prst="rect">
            <a:avLst/>
          </a:prstGeom>
        </p:spPr>
      </p:pic>
      <p:sp>
        <p:nvSpPr>
          <p:cNvPr id="28" name="Text 19"/>
          <p:cNvSpPr txBox="1"/>
          <p:nvPr/>
        </p:nvSpPr>
        <p:spPr>
          <a:xfrm>
            <a:off x="5486400" y="365760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het liefst fietst</a:t>
            </a:r>
            <a:endParaRPr lang="en-US" sz="1400" dirty="0"/>
          </a:p>
        </p:txBody>
      </p:sp>
      <p:sp>
        <p:nvSpPr>
          <p:cNvPr id="29" name="Shape 20"/>
          <p:cNvSpPr/>
          <p:nvPr/>
        </p:nvSpPr>
        <p:spPr>
          <a:xfrm>
            <a:off x="5669280" y="420624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30" name="Shape 21"/>
          <p:cNvSpPr/>
          <p:nvPr/>
        </p:nvSpPr>
        <p:spPr>
          <a:xfrm>
            <a:off x="548640" y="452628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1" name="Image 6" descr="woman danci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8368" y="4636008"/>
            <a:ext cx="502920" cy="502920"/>
          </a:xfrm>
          <a:prstGeom prst="rect">
            <a:avLst/>
          </a:prstGeom>
        </p:spPr>
      </p:pic>
      <p:sp>
        <p:nvSpPr>
          <p:cNvPr id="32" name="Text 22"/>
          <p:cNvSpPr txBox="1"/>
          <p:nvPr/>
        </p:nvSpPr>
        <p:spPr>
          <a:xfrm>
            <a:off x="640080" y="51206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graag danst</a:t>
            </a:r>
            <a:endParaRPr lang="en-US" sz="1400" dirty="0"/>
          </a:p>
        </p:txBody>
      </p:sp>
      <p:sp>
        <p:nvSpPr>
          <p:cNvPr id="33" name="Shape 23"/>
          <p:cNvSpPr/>
          <p:nvPr/>
        </p:nvSpPr>
        <p:spPr>
          <a:xfrm>
            <a:off x="822960" y="566928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34" name="Shape 24"/>
          <p:cNvSpPr/>
          <p:nvPr/>
        </p:nvSpPr>
        <p:spPr>
          <a:xfrm>
            <a:off x="2971800" y="452628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5" name="Image 7" descr="cloud with rain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081528" y="4636008"/>
            <a:ext cx="502920" cy="502920"/>
          </a:xfrm>
          <a:prstGeom prst="rect">
            <a:avLst/>
          </a:prstGeom>
        </p:spPr>
      </p:pic>
      <p:sp>
        <p:nvSpPr>
          <p:cNvPr id="36" name="Text 25"/>
          <p:cNvSpPr txBox="1"/>
          <p:nvPr/>
        </p:nvSpPr>
        <p:spPr>
          <a:xfrm>
            <a:off x="3063240" y="51206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van regen houdt</a:t>
            </a:r>
            <a:endParaRPr lang="en-US" sz="1400" dirty="0"/>
          </a:p>
        </p:txBody>
      </p:sp>
      <p:sp>
        <p:nvSpPr>
          <p:cNvPr id="37" name="Shape 26"/>
          <p:cNvSpPr/>
          <p:nvPr/>
        </p:nvSpPr>
        <p:spPr>
          <a:xfrm>
            <a:off x="3246120" y="566928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sp>
        <p:nvSpPr>
          <p:cNvPr id="38" name="Shape 27"/>
          <p:cNvSpPr/>
          <p:nvPr/>
        </p:nvSpPr>
        <p:spPr>
          <a:xfrm>
            <a:off x="5394960" y="4526280"/>
            <a:ext cx="233172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9050">
            <a:solidFill>
              <a:srgbClr val="2A6FB0"/>
            </a:solidFill>
            <a:prstDash val="solid"/>
          </a:ln>
        </p:spPr>
      </p:sp>
      <p:pic>
        <p:nvPicPr>
          <p:cNvPr id="39" name="Image 8" descr="open book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504688" y="4636008"/>
            <a:ext cx="502920" cy="502920"/>
          </a:xfrm>
          <a:prstGeom prst="rect">
            <a:avLst/>
          </a:prstGeom>
        </p:spPr>
      </p:pic>
      <p:sp>
        <p:nvSpPr>
          <p:cNvPr id="40" name="Text 28"/>
          <p:cNvSpPr txBox="1"/>
          <p:nvPr/>
        </p:nvSpPr>
        <p:spPr>
          <a:xfrm>
            <a:off x="5486400" y="5120640"/>
            <a:ext cx="2148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chemeClr val="tx1"/>
                </a:solidFill>
              </a:rPr>
              <a:t>… graag leest</a:t>
            </a:r>
            <a:endParaRPr lang="en-US" sz="1400" dirty="0"/>
          </a:p>
        </p:txBody>
      </p:sp>
      <p:sp>
        <p:nvSpPr>
          <p:cNvPr id="41" name="Shape 29"/>
          <p:cNvSpPr/>
          <p:nvPr/>
        </p:nvSpPr>
        <p:spPr>
          <a:xfrm>
            <a:off x="5669280" y="5669280"/>
            <a:ext cx="1783080" cy="914"/>
          </a:xfrm>
          <a:prstGeom prst="line">
            <a:avLst/>
          </a:prstGeom>
          <a:noFill/>
          <a:ln w="12700">
            <a:solidFill>
              <a:srgbClr val="D5DCE6"/>
            </a:solidFill>
            <a:prstDash val="dash"/>
          </a:ln>
        </p:spPr>
      </p:sp>
      <p:pic>
        <p:nvPicPr>
          <p:cNvPr id="42" name="Image 9" descr="magnifying glass tilted left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1600200"/>
            <a:ext cx="731520" cy="731520"/>
          </a:xfrm>
          <a:prstGeom prst="rect">
            <a:avLst/>
          </a:prstGeom>
        </p:spPr>
      </p:pic>
      <p:sp>
        <p:nvSpPr>
          <p:cNvPr id="43" name="Text 30"/>
          <p:cNvSpPr txBox="1"/>
          <p:nvPr/>
        </p:nvSpPr>
        <p:spPr>
          <a:xfrm>
            <a:off x="8869680" y="1600200"/>
            <a:ext cx="2743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+mj-lt" pitchFamily="34" charset="0"/>
                <a:ea typeface="+mj-lt" pitchFamily="34" charset="-122"/>
                <a:cs typeface="+mj-lt" pitchFamily="34" charset="-120"/>
              </a:rPr>
              <a:t>Bingo!</a:t>
            </a:r>
            <a:endParaRPr lang="en-US" sz="2800" dirty="0"/>
          </a:p>
        </p:txBody>
      </p:sp>
      <p:sp>
        <p:nvSpPr>
          <p:cNvPr id="44" name="Text 31"/>
          <p:cNvSpPr txBox="1"/>
          <p:nvPr/>
        </p:nvSpPr>
        <p:spPr>
          <a:xfrm>
            <a:off x="8046720" y="2514600"/>
            <a:ext cx="3593592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1.</a:t>
            </a:r>
            <a:r>
              <a:rPr lang="en-US" sz="1500" dirty="0">
                <a:solidFill>
                  <a:schemeClr val="tx1"/>
                </a:solidFill>
              </a:rPr>
              <a:t> Posez la question : </a:t>
            </a:r>
            <a:r>
              <a:rPr lang="en-US" sz="1500" i="1" dirty="0">
                <a:solidFill>
                  <a:schemeClr val="tx1"/>
                </a:solidFill>
              </a:rPr>
              <a:t>Kook je graag? · Hou je van katten?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2.</a:t>
            </a:r>
            <a:r>
              <a:rPr lang="en-US" sz="1500" dirty="0">
                <a:solidFill>
                  <a:schemeClr val="tx1"/>
                </a:solidFill>
              </a:rPr>
              <a:t> « </a:t>
            </a:r>
            <a:r>
              <a:rPr lang="en-US" sz="1500" i="1" dirty="0">
                <a:solidFill>
                  <a:schemeClr val="tx1"/>
                </a:solidFill>
              </a:rPr>
              <a:t>Ja!</a:t>
            </a:r>
            <a:r>
              <a:rPr lang="en-US" sz="1500" dirty="0">
                <a:solidFill>
                  <a:schemeClr val="tx1"/>
                </a:solidFill>
              </a:rPr>
              <a:t> » : écrivez le prénom sur la ligne.</a:t>
            </a:r>
            <a:endParaRPr lang="en-US" sz="1500" dirty="0"/>
          </a:p>
          <a:p>
            <a:pPr algn="l" indent="0" marL="0">
              <a:spcAft>
                <a:spcPts val="10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3.</a:t>
            </a:r>
            <a:r>
              <a:rPr lang="en-US" sz="1500" dirty="0">
                <a:solidFill>
                  <a:schemeClr val="tx1"/>
                </a:solidFill>
              </a:rPr>
              <a:t> Une ligne complète : </a:t>
            </a:r>
            <a:r>
              <a:rPr lang="en-US" sz="1500" i="1" dirty="0">
                <a:solidFill>
                  <a:schemeClr val="tx1"/>
                </a:solidFill>
              </a:rPr>
              <a:t>Bingo!</a:t>
            </a:r>
            <a:r>
              <a:rPr lang="en-US" sz="1500" dirty="0">
                <a:solidFill>
                  <a:schemeClr val="tx1"/>
                </a:solidFill>
              </a:rPr>
              <a:t> — présentez vos trouvailles : </a:t>
            </a:r>
            <a:r>
              <a:rPr lang="en-US" sz="1500" i="1" dirty="0">
                <a:solidFill>
                  <a:schemeClr val="tx1"/>
                </a:solidFill>
              </a:rPr>
              <a:t>Karim kookt graag.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Exercice 7 — La sortie d’équipe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200046" cy="310896"/>
          </a:xfrm>
          <a:prstGeom prst="roundRect">
            <a:avLst>
              <a:gd name="adj" fmla="val 14706"/>
            </a:avLst>
          </a:prstGeom>
          <a:solidFill>
            <a:srgbClr val="6E4A9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MISE EN SITUATION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0177272" y="21945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★★★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548640" y="1481328"/>
            <a:ext cx="7251192" cy="755904"/>
          </a:xfrm>
          <a:prstGeom prst="roundRect">
            <a:avLst>
              <a:gd name="adj" fmla="val 9677"/>
            </a:avLst>
          </a:prstGeom>
          <a:solidFill>
            <a:srgbClr val="6E4A9E">
              <a:alpha val="10000"/>
            </a:srgbClr>
          </a:solidFill>
          <a:ln w="12700">
            <a:solidFill>
              <a:srgbClr val="6E4A9E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77240" y="1481328"/>
            <a:ext cx="6793992" cy="755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dirty="0">
                <a:solidFill>
                  <a:schemeClr val="tx1"/>
                </a:solidFill>
              </a:rPr>
              <a:t>An organise une sortie d’équipe. Chacun dit ce qu’il aime, ce qu’il préfère et ce qu’il n’aime pas. Puis l’équipe vote.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548640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2A6FB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3232" y="2557272"/>
            <a:ext cx="457200" cy="457200"/>
          </a:xfrm>
          <a:prstGeom prst="ellipse">
            <a:avLst/>
          </a:prstGeom>
          <a:solidFill>
            <a:schemeClr val="accent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13232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An</a:t>
            </a:r>
            <a:r>
              <a:rPr lang="en-US" sz="1700" dirty="0">
                <a:solidFill>
                  <a:schemeClr val="tx1"/>
                </a:solidFill>
              </a:rPr>
              <a:t> (la cheffe) : présentez les activités et demandez l’avis de chacun : </a:t>
            </a:r>
            <a:r>
              <a:rPr lang="en-US" sz="1700" i="1" dirty="0">
                <a:solidFill>
                  <a:schemeClr val="tx1"/>
                </a:solidFill>
              </a:rPr>
              <a:t>Wat doe je graag?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4311396" y="2420112"/>
            <a:ext cx="3488436" cy="2087880"/>
          </a:xfrm>
          <a:prstGeom prst="roundRect">
            <a:avLst>
              <a:gd name="adj" fmla="val 3504"/>
            </a:avLst>
          </a:prstGeom>
          <a:solidFill>
            <a:schemeClr val="bg1"/>
          </a:solidFill>
          <a:ln w="19050">
            <a:solidFill>
              <a:srgbClr val="6E4A9E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75988" y="2557272"/>
            <a:ext cx="457200" cy="457200"/>
          </a:xfrm>
          <a:prstGeom prst="ellipse">
            <a:avLst/>
          </a:prstGeom>
          <a:solidFill>
            <a:srgbClr val="6E4A9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475988" y="25572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B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5088636" y="2511552"/>
            <a:ext cx="2574036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Un membre de l’équipe</a:t>
            </a:r>
            <a:r>
              <a:rPr lang="en-US" sz="1700" dirty="0">
                <a:solidFill>
                  <a:schemeClr val="tx1"/>
                </a:solidFill>
              </a:rPr>
              <a:t> : donnez vos préférences et justifiez : </a:t>
            </a:r>
            <a:r>
              <a:rPr lang="en-US" sz="1700" i="1" dirty="0">
                <a:solidFill>
                  <a:schemeClr val="tx1"/>
                </a:solidFill>
              </a:rPr>
              <a:t>Ik … liever …, want…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548640" y="4690872"/>
            <a:ext cx="7251192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31520" y="47640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BANQUE DE PHRASES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731520" y="5056632"/>
            <a:ext cx="6885432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chemeClr val="tx1"/>
                </a:solidFill>
              </a:rPr>
              <a:t>Wat doe je graag? · Ik hou van… · Ik … liever … · Ik vind … leuk. · Ik … niet graag … · Het liefst … · We kiezen …, want we … allemaal graag.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8074152" y="1481328"/>
            <a:ext cx="3566160" cy="4809744"/>
          </a:xfrm>
          <a:prstGeom prst="roundRect">
            <a:avLst>
              <a:gd name="adj" fmla="val 1026"/>
            </a:avLst>
          </a:prstGeom>
          <a:solidFill>
            <a:srgbClr val="FFFFFF"/>
          </a:solidFill>
          <a:ln w="12700">
            <a:solidFill>
              <a:srgbClr val="4A5A70"/>
            </a:solidFill>
            <a:prstDash val="solid"/>
          </a:ln>
          <a:effectLst>
            <a:outerShdw sx="100000" sy="100000" kx="0" ky="0" algn="bl" rotWithShape="0" blurRad="101600" dist="25400" dir="3600000">
              <a:srgbClr val="000000">
                <a:alpha val="16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8074152" y="1481328"/>
            <a:ext cx="3566160" cy="457200"/>
          </a:xfrm>
          <a:prstGeom prst="roundRect">
            <a:avLst>
              <a:gd name="adj" fmla="val 8000"/>
            </a:avLst>
          </a:prstGeom>
          <a:solidFill>
            <a:schemeClr val="accent3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8211312" y="1481328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spc="100" kern="0" dirty="0">
                <a:solidFill>
                  <a:schemeClr val="bg1"/>
                </a:solidFill>
              </a:rPr>
              <a:t>TEAMUITSTAP · STEM!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8165592" y="2029968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3" name="Image 0" descr="bowl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57032" y="2231136"/>
            <a:ext cx="548640" cy="548640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8897112" y="2029968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bowling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€ 15 · 2 uur</a:t>
            </a:r>
            <a:endParaRPr lang="en-US" sz="1200" dirty="0"/>
          </a:p>
        </p:txBody>
      </p:sp>
      <p:sp>
        <p:nvSpPr>
          <p:cNvPr id="25" name="Shape 21"/>
          <p:cNvSpPr/>
          <p:nvPr/>
        </p:nvSpPr>
        <p:spPr>
          <a:xfrm>
            <a:off x="8165592" y="3072384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6" name="Image 1" descr="cooki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7032" y="3273552"/>
            <a:ext cx="548640" cy="548640"/>
          </a:xfrm>
          <a:prstGeom prst="rect">
            <a:avLst/>
          </a:prstGeom>
        </p:spPr>
      </p:pic>
      <p:sp>
        <p:nvSpPr>
          <p:cNvPr id="27" name="Text 22"/>
          <p:cNvSpPr txBox="1"/>
          <p:nvPr/>
        </p:nvSpPr>
        <p:spPr>
          <a:xfrm>
            <a:off x="8897112" y="3072384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kookworkshop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€ 45 · 3 uur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8165592" y="4114800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29" name="Image 2" descr="locked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57032" y="4315968"/>
            <a:ext cx="548640" cy="54864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8897112" y="4114800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escaperoom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€ 25 · 1 uur</a:t>
            </a:r>
            <a:endParaRPr lang="en-US" sz="1200" dirty="0"/>
          </a:p>
        </p:txBody>
      </p:sp>
      <p:sp>
        <p:nvSpPr>
          <p:cNvPr id="31" name="Shape 25"/>
          <p:cNvSpPr/>
          <p:nvPr/>
        </p:nvSpPr>
        <p:spPr>
          <a:xfrm>
            <a:off x="8165592" y="5157216"/>
            <a:ext cx="3383280" cy="950976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pic>
        <p:nvPicPr>
          <p:cNvPr id="32" name="Image 3" descr="evergreen tre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57032" y="5358384"/>
            <a:ext cx="548640" cy="548640"/>
          </a:xfrm>
          <a:prstGeom prst="rect">
            <a:avLst/>
          </a:prstGeom>
        </p:spPr>
      </p:pic>
      <p:sp>
        <p:nvSpPr>
          <p:cNvPr id="33" name="Text 26"/>
          <p:cNvSpPr txBox="1"/>
          <p:nvPr/>
        </p:nvSpPr>
        <p:spPr>
          <a:xfrm>
            <a:off x="8897112" y="5157216"/>
            <a:ext cx="2606040" cy="9509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spcAft>
                <a:spcPts val="100"/>
              </a:spcAft>
              <a:buNone/>
            </a:pPr>
            <a:r>
              <a:rPr lang="en-US" sz="1200" b="1" i="1" dirty="0">
                <a:solidFill>
                  <a:schemeClr val="tx1"/>
                </a:solidFill>
              </a:rPr>
              <a:t>wandeling in het Zoniënwoud</a:t>
            </a:r>
            <a:endParaRPr lang="en-US" sz="1200" dirty="0"/>
          </a:p>
          <a:p>
            <a:pPr algn="l" indent="0" marL="0">
              <a:spcAft>
                <a:spcPts val="1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gratis · 3 uur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621792"/>
            <a:ext cx="110916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Ticket de sortie</a:t>
            </a:r>
            <a:endParaRPr lang="en-US" sz="3000" dirty="0"/>
          </a:p>
        </p:txBody>
      </p:sp>
      <p:sp>
        <p:nvSpPr>
          <p:cNvPr id="3" name="tag"/>
          <p:cNvSpPr/>
          <p:nvPr/>
        </p:nvSpPr>
        <p:spPr>
          <a:xfrm>
            <a:off x="548640" y="237744"/>
            <a:ext cx="2092147" cy="310896"/>
          </a:xfrm>
          <a:prstGeom prst="roundRect">
            <a:avLst>
              <a:gd name="adj" fmla="val 14706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100" kern="0" dirty="0">
                <a:solidFill>
                  <a:srgbClr val="FFFFFF"/>
                </a:solidFill>
              </a:rPr>
              <a:t>TICKET DE SORTIE</a:t>
            </a:r>
            <a:endParaRPr lang="en-US" sz="1200" dirty="0"/>
          </a:p>
        </p:txBody>
      </p:sp>
      <p:sp>
        <p:nvSpPr>
          <p:cNvPr id="5" name="Shape 2"/>
          <p:cNvSpPr/>
          <p:nvPr/>
        </p:nvSpPr>
        <p:spPr>
          <a:xfrm>
            <a:off x="548640" y="155448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31520" y="188976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731520" y="1889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1371600" y="162763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J’aime lire. »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548640" y="286512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1371600" y="293827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Traduisez : « J’aime la musique. »</a:t>
            </a:r>
            <a:endParaRPr lang="en-US" sz="2000" dirty="0"/>
          </a:p>
        </p:txBody>
      </p:sp>
      <p:sp>
        <p:nvSpPr>
          <p:cNvPr id="13" name="Shape 10"/>
          <p:cNvSpPr/>
          <p:nvPr/>
        </p:nvSpPr>
        <p:spPr>
          <a:xfrm>
            <a:off x="548640" y="4175760"/>
            <a:ext cx="6035040" cy="1127760"/>
          </a:xfrm>
          <a:prstGeom prst="roundRect">
            <a:avLst>
              <a:gd name="adj" fmla="val 6486"/>
            </a:avLst>
          </a:prstGeom>
          <a:solidFill>
            <a:schemeClr val="bg2"/>
          </a:solidFill>
          <a:ln w="12700">
            <a:solidFill>
              <a:srgbClr val="D5DCE6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731520" y="4511040"/>
            <a:ext cx="457200" cy="457200"/>
          </a:xfrm>
          <a:prstGeom prst="ellipse">
            <a:avLst/>
          </a:prstGeom>
          <a:solidFill>
            <a:schemeClr val="accent1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731520" y="4511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1371600" y="4248912"/>
            <a:ext cx="5074920" cy="981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chemeClr val="tx1"/>
                </a:solidFill>
              </a:rPr>
              <a:t>Complétez : </a:t>
            </a:r>
            <a:r>
              <a:rPr lang="en-US" sz="2000" i="1" dirty="0">
                <a:solidFill>
                  <a:schemeClr val="tx1"/>
                </a:solidFill>
              </a:rPr>
              <a:t>Koffie of thee? — ……… thee!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6949440" y="15544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spc="200" kern="0" dirty="0">
                <a:solidFill>
                  <a:schemeClr val="accent5"/>
                </a:solidFill>
              </a:rPr>
              <a:t>AUTO-ÉVALUATION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6949440" y="201168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7132320" y="201168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Faire</a:t>
            </a:r>
            <a:endParaRPr lang="en-US" sz="1600" dirty="0"/>
          </a:p>
        </p:txBody>
      </p:sp>
      <p:pic>
        <p:nvPicPr>
          <p:cNvPr id="20" name="Image 0" descr="RegFrow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555480" y="2162556"/>
            <a:ext cx="457200" cy="457200"/>
          </a:xfrm>
          <a:prstGeom prst="rect">
            <a:avLst/>
          </a:prstGeom>
        </p:spPr>
      </p:pic>
      <p:pic>
        <p:nvPicPr>
          <p:cNvPr id="21" name="Image 1" descr="RegMeh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41280" y="2162556"/>
            <a:ext cx="457200" cy="457200"/>
          </a:xfrm>
          <a:prstGeom prst="rect">
            <a:avLst/>
          </a:prstGeom>
        </p:spPr>
      </p:pic>
      <p:pic>
        <p:nvPicPr>
          <p:cNvPr id="22" name="Image 2" descr="RegSmil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27080" y="2162556"/>
            <a:ext cx="457200" cy="457200"/>
          </a:xfrm>
          <a:prstGeom prst="rect">
            <a:avLst/>
          </a:prstGeom>
        </p:spPr>
      </p:pic>
      <p:sp>
        <p:nvSpPr>
          <p:cNvPr id="23" name="Shape 17"/>
          <p:cNvSpPr/>
          <p:nvPr/>
        </p:nvSpPr>
        <p:spPr>
          <a:xfrm>
            <a:off x="6949440" y="288036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1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7132320" y="288036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Aimer</a:t>
            </a:r>
            <a:endParaRPr lang="en-US" sz="1600" dirty="0"/>
          </a:p>
        </p:txBody>
      </p:sp>
      <p:pic>
        <p:nvPicPr>
          <p:cNvPr id="25" name="Image 3" descr="RegFrown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55480" y="3031236"/>
            <a:ext cx="457200" cy="457200"/>
          </a:xfrm>
          <a:prstGeom prst="rect">
            <a:avLst/>
          </a:prstGeom>
        </p:spPr>
      </p:pic>
      <p:pic>
        <p:nvPicPr>
          <p:cNvPr id="26" name="Image 4" descr="RegMeh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41280" y="3031236"/>
            <a:ext cx="457200" cy="457200"/>
          </a:xfrm>
          <a:prstGeom prst="rect">
            <a:avLst/>
          </a:prstGeom>
        </p:spPr>
      </p:pic>
      <p:pic>
        <p:nvPicPr>
          <p:cNvPr id="27" name="Image 5" descr="RegSmile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927080" y="3031236"/>
            <a:ext cx="457200" cy="457200"/>
          </a:xfrm>
          <a:prstGeom prst="rect">
            <a:avLst/>
          </a:prstGeom>
        </p:spPr>
      </p:pic>
      <p:sp>
        <p:nvSpPr>
          <p:cNvPr id="28" name="Shape 19"/>
          <p:cNvSpPr/>
          <p:nvPr/>
        </p:nvSpPr>
        <p:spPr>
          <a:xfrm>
            <a:off x="6949440" y="3749040"/>
            <a:ext cx="4690872" cy="758952"/>
          </a:xfrm>
          <a:prstGeom prst="roundRect">
            <a:avLst>
              <a:gd name="adj" fmla="val 9639"/>
            </a:avLst>
          </a:prstGeom>
          <a:solidFill>
            <a:schemeClr val="bg2"/>
          </a:solidFill>
          <a:ln w="6350">
            <a:solidFill>
              <a:srgbClr val="D5DCE6"/>
            </a:solidFill>
            <a:prstDash val="solid"/>
          </a:ln>
        </p:spPr>
      </p:sp>
      <p:sp>
        <p:nvSpPr>
          <p:cNvPr id="29" name="Text 20"/>
          <p:cNvSpPr txBox="1"/>
          <p:nvPr/>
        </p:nvSpPr>
        <p:spPr>
          <a:xfrm>
            <a:off x="7132320" y="3749040"/>
            <a:ext cx="2331720" cy="7589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Nuancer</a:t>
            </a:r>
            <a:endParaRPr lang="en-US" sz="1600" dirty="0"/>
          </a:p>
        </p:txBody>
      </p:sp>
      <p:pic>
        <p:nvPicPr>
          <p:cNvPr id="30" name="Image 6" descr="RegFrown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555480" y="3899916"/>
            <a:ext cx="457200" cy="457200"/>
          </a:xfrm>
          <a:prstGeom prst="rect">
            <a:avLst/>
          </a:prstGeom>
        </p:spPr>
      </p:pic>
      <p:pic>
        <p:nvPicPr>
          <p:cNvPr id="31" name="Image 7" descr="RegMeh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241280" y="3899916"/>
            <a:ext cx="457200" cy="457200"/>
          </a:xfrm>
          <a:prstGeom prst="rect">
            <a:avLst/>
          </a:prstGeom>
        </p:spPr>
      </p:pic>
      <p:pic>
        <p:nvPicPr>
          <p:cNvPr id="32" name="Image 8" descr="RegSmile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927080" y="3899916"/>
            <a:ext cx="457200" cy="457200"/>
          </a:xfrm>
          <a:prstGeom prst="rect">
            <a:avLst/>
          </a:prstGeom>
        </p:spPr>
      </p:pic>
      <p:sp>
        <p:nvSpPr>
          <p:cNvPr id="33" name="Shape 21"/>
          <p:cNvSpPr/>
          <p:nvPr/>
        </p:nvSpPr>
        <p:spPr>
          <a:xfrm>
            <a:off x="548640" y="5532120"/>
            <a:ext cx="11091672" cy="731520"/>
          </a:xfrm>
          <a:prstGeom prst="roundRect">
            <a:avLst>
              <a:gd name="adj" fmla="val 10000"/>
            </a:avLst>
          </a:prstGeom>
          <a:solidFill>
            <a:schemeClr val="tx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4" name="Image 9" descr="UserFriends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7240" y="5715000"/>
            <a:ext cx="365760" cy="365760"/>
          </a:xfrm>
          <a:prstGeom prst="rect">
            <a:avLst/>
          </a:prstGeom>
        </p:spPr>
      </p:pic>
      <p:sp>
        <p:nvSpPr>
          <p:cNvPr id="35" name="Text 22"/>
          <p:cNvSpPr txBox="1"/>
          <p:nvPr/>
        </p:nvSpPr>
        <p:spPr>
          <a:xfrm>
            <a:off x="1325880" y="5532120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Volgende keer : Zich of elkaar?</a:t>
            </a:r>
            <a:r>
              <a:rPr lang="en-US" sz="1800" dirty="0">
                <a:solidFill>
                  <a:schemeClr val="bg1"/>
                </a:solidFill>
              </a:rPr>
              <a:t> — </a:t>
            </a:r>
            <a:r>
              <a:rPr lang="en-US" sz="1800" i="1" dirty="0">
                <a:solidFill>
                  <a:schemeClr val="bg1"/>
                </a:solidFill>
              </a:rPr>
              <a:t>Hij wast zich · Ze helpen elkaar.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1672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4A5A70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Nederlands 1">
  <a:themeElements>
    <a:clrScheme name="Nederlands 1">
      <a:dk1>
        <a:srgbClr val="1B2333"/>
      </a:dk1>
      <a:lt1>
        <a:srgbClr val="FFFFFF"/>
      </a:lt1>
      <a:dk2>
        <a:srgbClr val="17375E"/>
      </a:dk2>
      <a:lt2>
        <a:srgbClr val="EEF3F8"/>
      </a:lt2>
      <a:accent1>
        <a:srgbClr val="D9700F"/>
      </a:accent1>
      <a:accent2>
        <a:srgbClr val="2A6FB0"/>
      </a:accent2>
      <a:accent3>
        <a:srgbClr val="2E7D4F"/>
      </a:accent3>
      <a:accent4>
        <a:srgbClr val="B4236A"/>
      </a:accent4>
      <a:accent5>
        <a:srgbClr val="4A5A70"/>
      </a:accent5>
      <a:accent6>
        <a:srgbClr val="B83227"/>
      </a:accent6>
      <a:hlink>
        <a:srgbClr val="2A6FB0"/>
      </a:hlink>
      <a:folHlink>
        <a:srgbClr val="B4236A"/>
      </a:folHlink>
    </a:clrScheme>
    <a:fontScheme name="Nederlands 1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IRAM — Néerlandais 1 (UE1)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27 — Graag of houden van? — Dire ce qu’on aime</dc:title>
  <dc:subject>Néerlandais 1 — Langue en situation, en milieu professionnel</dc:subject>
  <dc:creator>A. Jouniaux</dc:creator>
  <cp:lastModifiedBy>A. Jouniaux</cp:lastModifiedBy>
  <cp:revision>1</cp:revision>
  <dcterms:created xsi:type="dcterms:W3CDTF">2026-10-05T07:24:47Z</dcterms:created>
  <dcterms:modified xsi:type="dcterms:W3CDTF">2026-10-05T07:24:47Z</dcterms:modified>
</cp:coreProperties>
</file>