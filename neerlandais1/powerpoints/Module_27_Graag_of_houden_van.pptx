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aae6ccd6-9384-bdc3-1d88-5a44e3c26f03}">
          <p14:sldIdLst>
            <p14:sldId id="256"/>
          </p14:sldIdLst>
        </p14:section>
        <p14:section name="Découvrir" id="{9df6dadc-15aa-6dd9-2e34-c0deaae8e280}">
          <p14:sldIdLst>
            <p14:sldId id="257"/>
            <p14:sldId id="258"/>
          </p14:sldIdLst>
        </p14:section>
        <p14:section name="Comprendre" id="{39de518c-cfb4-53a6-0020-56be8f872e7f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JIJ NU ! — Oefeningen" id="{63e73336-67f8-b7fe-daa3-3a171f88d28e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Clôture" id="{25a311d8-bcd9-937a-1672-07ec0c2f8cd3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le thème : un seul verbe en français, plusieurs en néerlandais.
Question d'entrée : « Comment dit-on j'aime nager et j'aime la mer ? » Les deux « aimer » ne se traduisent pas de la même façon.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Rendre les objectifs explicites.
Parler de ses goûts sert à se présenter, à faire connaissance avec ses collègues et à choisir une activité en équipe.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Découvrir graag et houden van dans des présentations.
Faites observer : graag suit un verbe d'action (kook, fiets, lees) ; houden van est suivi d'un nom (muziek, de zee, katten).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Dire ce qu'on aime faire, avec graag à la bonne place.
graag signifie littéralement « volontiers » : Ik fiets graag = je fais du vélo volontiers = j'aime faire du vélo. Faites répondre à Wat doe je graag in het weekend?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Dire qui ou ce qu'on aime avec houden van.
houden van exprime un attachement général ou fort (une personne, un lieu, un genre de musique). Avec un pronom : Ik hou van hem / van haar / van jou. Pour une chose déjà nommée : ervan (M23).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Choisir la bonne traduction de « aimer » selon ce qu'on aime.
Question-réflexe : « Qu'est-ce que j'aime ? Faire quelque chose, quelqu'un ou une chose en général, ou un goût / une impression ? » Le schéma est la référence de tous les exercices.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Comparer ses préférences.
graag → liever → het liefst est irrégulier (comme goed → beter → best, M21). Avec une comparaison : liever … dan … : Ik werk liever 's ochtends dan 's avonds.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Dire ce qu'on n'aime pas, avec niet à la bonne place.
niet se place juste avant graag (M13). Avec houden van : Ik hou niet van… (niet avant la préposition). helemaal niet = pas du tout.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Exprimer un goût, une impression et l'enthousiasme.
lekker = bon (au goût). leuk = sympa, chouette. ✗ Deze soep is leuk (une soupe n'est pas « sympa »). Ik vind Sofie leuk peut vouloir dire « Sofie me plaît » : selon le contexte, préférez aardig (gentille).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Éviter les calques les plus fréquents.
Ik hou van je est fort : on le dit à son ou sa partenaire, à ses enfants. Au bureau, Ik vind mijn collega's leuk / aardig. Pour le café, les trois phrases sont justes, avec une nuance : l'habitude, le goût en général, le goût de ce café-là. En Flandre, Ik zie je graag veut dire « je t'aime » (très courant).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Utiliser graag pour accepter, demander et remercier.
Graag gedaan répond à un merci. Ja, graag! / Nee, dank je : accepter ou refuser poliment. En Belgique, on entend aussi Ik had graag een koffie (je voudrais), vu au M29.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Placer graag dans les phrases à deux verbes et après une inversion.
graag se comporte comme niet : après le verbe conjugué et le sujet inversé, après les pronoms (dat, het, me…), avant les autres compléments et le 2e verbe. Ik heb dat graag gedaan = je l'ai fait avec plaisir.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Synthèse à photographier.
Ce schéma est la référence pour tous les exercices.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la séquence d'exercices.
Exercices 1 et 2 en séance 1, les autres en séance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Choisir entre graag et houden van.
Faites justifier avec l'aiguillage : activité (verbe d'action déjà présent) → graag ; nom seul → houden van.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Choisir entre graag et houden van.
Faites justifier avec l'aiguillage : activité (verbe d'action déjà présent) → graag ; nom seul → houden van.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Utiliser graag, liever, het liefst.
N° 3 : chaque activité a son verbe (kijk tv, lees, wandel). Prolongement : En jij? Wat drink jij het liefst?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Utiliser graag, liever, het liefst.
N° 3 : chaque activité a son verbe (kijk tv, lees, wandel). Prolongement : En jij? Wat drink jij het liefst?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Choisir la bonne structure selon le sens.
N° 1 : Ik hou van koken est aussi correct, mais moins courant. N° 5 : Ik hou van chocolade est accepté.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Choisir la bonne structure selon le sens.
N° 1 : Ik hou van koken est aussi correct, mais moins courant. N° 5 : Ik hou van chocolade est accepté.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Corriger les erreurs typiques dans une présentation.
Leurre : Ik hou van mijn katten est correct. N° 5 : niet se place avant graag (diapo 8) ; on peut dire aussi Ik doe niet graag aan sport. En Flandre, on entend souvent Ik heb dat niet graag (= je n'aime pas ça) : courant à l'oral, mais en néerlandais standard on dit Ik sport niet graag.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Corriger les erreurs typiques dans une présentation.
Leurre : Ik hou van mijn katten est correct. N° 5 : niet se place avant graag (diapo 8) ; on peut dire aussi Ik doe niet graag aan sport. En Flandre, on entend souvent Ik heb dat niet graag (= je n'aime pas ça) : courant à l'oral, mais en néerlandais standard on dit Ik sport niet graag.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Placer graag, liever et houden van dans la phrase.
Faites colorer le verbe conjugué en rouge et graag en vert, comme sur la diapo 12. N° 5 : la question commence par le verbe (M3). Acceptez aussi les inversions correctes : Dat heeft Karim graag gedaan. · Liever eten wij vis.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Placer graag, liever et houden van dans la phrase.
Faites colorer le verbe conjugué en rouge et graag en vert, comme sur la diapo 12. N° 5 : la question commence par le verbe (M3). Acceptez aussi les inversions correctes : Dat heeft Karim graag gedaan. · Liever eten wij vis.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Poser des questions sur les goûts et répondre, en se déplaçant dans la classe.
Exigez la question complète, pas seulement le mot-clé. Pour van katten houdt : Hou je van katten? Pour het liefst fietst : Wat doe je het liefst?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Mise en situation : choisir une activité d'équipe en exprimant ses préférences.
het Zoniënwoud = la forêt de Soignes. À la fin, le groupe vote et justifie : We kiezen de kookworkshop, want we koken allemaal graag.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Vérifier les 3 objectifs.
Réponses :
1. Ik lees graag.
2. Ik hou van muziek.
3. Liever thee! (Graag thee! se comprend, mais on dit plutôt Thee, graag!)
Teaser M28 : Hij wast zich · Ze helpen elkaar.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1 · UE1 · Module 27 · Graag of houden van?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1 · UE1 · Module 27 · Graag of houden van?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1 · UE1 · Langue en situation, en milieu professionnel · A. Jouniaux · IRAM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pn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png"/><Relationship Id="rId15" Type="http://schemas.openxmlformats.org/officeDocument/2006/relationships/image" Target="../media/image-18-15.png"/><Relationship Id="rId16" Type="http://schemas.openxmlformats.org/officeDocument/2006/relationships/image" Target="../media/image-18-16.pn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12811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MODULE 27 / 32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Graag of houden van?</a:t>
            </a: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i="1" dirty="0">
                <a:solidFill>
                  <a:schemeClr val="bg2"/>
                </a:solidFill>
              </a:rPr>
              <a:t>Dire ce qu’on aime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Ik zwem graag · Ik hou van de zee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0" y="914400"/>
            <a:ext cx="5212080" cy="16459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erson swimm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1887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91440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Ik zwem </a:t>
            </a:r>
            <a:r>
              <a:rPr lang="en-US" sz="2400" b="1" i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graag</a:t>
            </a:r>
            <a:r>
              <a:rPr lang="en-US" sz="24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400800" y="2788920"/>
            <a:ext cx="5212080" cy="16459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9" name="Image 1" descr="beach with umbrel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063240"/>
            <a:ext cx="1097280" cy="10972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909560" y="278892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Ik </a:t>
            </a:r>
            <a:r>
              <a:rPr lang="en-US" sz="2400" b="1" i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hou van</a:t>
            </a:r>
            <a:r>
              <a:rPr lang="en-US" sz="24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de zee.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Missie van vandaag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13155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MISSIE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24000" y="187452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Bicy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456" y="2093976"/>
            <a:ext cx="475488" cy="4754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Faire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dis ce que j’aime faire : </a:t>
            </a:r>
            <a:r>
              <a:rPr lang="en-US" sz="2000" i="1" dirty="0">
                <a:solidFill>
                  <a:schemeClr val="tx1"/>
                </a:solidFill>
              </a:rPr>
              <a:t>Ik fiets graag.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368808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63440" y="187452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Hea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09397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7096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Aimer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391668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dis qui ou ce que j’aime : </a:t>
            </a:r>
            <a:r>
              <a:rPr lang="en-US" sz="2000" i="1" dirty="0">
                <a:solidFill>
                  <a:schemeClr val="tx1"/>
                </a:solidFill>
              </a:rPr>
              <a:t>Ik hou van muziek.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682752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02880" y="18745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BalanceSca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336" y="209397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1040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Nuancer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705612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compare et je nuance : </a:t>
            </a:r>
            <a:r>
              <a:rPr lang="en-US" sz="2000" i="1" dirty="0">
                <a:solidFill>
                  <a:schemeClr val="tx1"/>
                </a:solidFill>
              </a:rPr>
              <a:t>Ik drink liever thee.</a:t>
            </a:r>
            <a:endParaRPr lang="en-US" sz="2000" dirty="0"/>
          </a:p>
        </p:txBody>
      </p:sp>
      <p:pic>
        <p:nvPicPr>
          <p:cNvPr id="20" name="Image 3" descr="man teach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737360"/>
            <a:ext cx="1737360" cy="1737360"/>
          </a:xfrm>
          <a:prstGeom prst="rect">
            <a:avLst/>
          </a:prstGeom>
        </p:spPr>
      </p:pic>
      <p:pic>
        <p:nvPicPr>
          <p:cNvPr id="21" name="Image 4" descr="speech ballo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1463040"/>
            <a:ext cx="731520" cy="7315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17375E"/>
            </a:solidFill>
            <a:prstDash val="solid"/>
          </a:ln>
        </p:spPr>
      </p:sp>
      <p:pic>
        <p:nvPicPr>
          <p:cNvPr id="23" name="Image 5" descr="Lightbul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788152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88720" y="56692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Parler de ses goûts : se présenter, faire connaissance, choisir une activité en équipe.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Échauffement — Wat doe je graag?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70278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44824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22225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6" name="Image 0" descr="man office wor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777240" cy="777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1691640"/>
            <a:ext cx="2264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Karim</a:t>
            </a:r>
            <a:endParaRPr lang="en-US" sz="2200" dirty="0"/>
          </a:p>
        </p:txBody>
      </p:sp>
      <p:pic>
        <p:nvPicPr>
          <p:cNvPr id="8" name="Image 1" descr="cook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834640"/>
            <a:ext cx="640080" cy="6400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508760" y="2697480"/>
            <a:ext cx="2447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kook </a:t>
            </a:r>
            <a:r>
              <a:rPr lang="en-US" sz="1700" b="1" i="1" dirty="0">
                <a:solidFill>
                  <a:schemeClr val="accent3"/>
                </a:solidFill>
              </a:rPr>
              <a:t>graag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pic>
        <p:nvPicPr>
          <p:cNvPr id="10" name="Image 2" descr="musical not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31920"/>
            <a:ext cx="640080" cy="64008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08760" y="3794760"/>
            <a:ext cx="2447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</a:t>
            </a:r>
            <a:r>
              <a:rPr lang="en-US" sz="1700" b="1" i="1" dirty="0">
                <a:solidFill>
                  <a:schemeClr val="accent4"/>
                </a:solidFill>
              </a:rPr>
              <a:t>hou van</a:t>
            </a:r>
            <a:r>
              <a:rPr lang="en-US" sz="1700" i="1" dirty="0">
                <a:solidFill>
                  <a:schemeClr val="tx1"/>
                </a:solidFill>
              </a:rPr>
              <a:t> Marokkaanse muziek.</a:t>
            </a:r>
            <a:endParaRPr lang="en-US" sz="1700" dirty="0"/>
          </a:p>
        </p:txBody>
      </p:sp>
      <p:sp>
        <p:nvSpPr>
          <p:cNvPr id="12" name="Shape 6"/>
          <p:cNvSpPr/>
          <p:nvPr/>
        </p:nvSpPr>
        <p:spPr>
          <a:xfrm>
            <a:off x="4322064" y="1554480"/>
            <a:ext cx="3544824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22225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3" name="Image 3" descr="woma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4944" y="1691640"/>
            <a:ext cx="777240" cy="77724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5419344" y="1691640"/>
            <a:ext cx="2264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Sofie</a:t>
            </a:r>
            <a:endParaRPr lang="en-US" sz="2200" dirty="0"/>
          </a:p>
        </p:txBody>
      </p:sp>
      <p:pic>
        <p:nvPicPr>
          <p:cNvPr id="15" name="Image 4" descr="person bik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4944" y="2834640"/>
            <a:ext cx="640080" cy="64008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5282184" y="2697480"/>
            <a:ext cx="2447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fiets </a:t>
            </a:r>
            <a:r>
              <a:rPr lang="en-US" sz="1700" b="1" i="1" dirty="0">
                <a:solidFill>
                  <a:schemeClr val="accent3"/>
                </a:solidFill>
              </a:rPr>
              <a:t>graag</a:t>
            </a:r>
            <a:r>
              <a:rPr lang="en-US" sz="1700" i="1" dirty="0">
                <a:solidFill>
                  <a:schemeClr val="tx1"/>
                </a:solidFill>
              </a:rPr>
              <a:t> naar het werk.</a:t>
            </a:r>
            <a:endParaRPr lang="en-US" sz="1700" dirty="0"/>
          </a:p>
        </p:txBody>
      </p:sp>
      <p:pic>
        <p:nvPicPr>
          <p:cNvPr id="17" name="Image 5" descr="beach with umbrell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4944" y="3931920"/>
            <a:ext cx="640080" cy="640080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5282184" y="3794760"/>
            <a:ext cx="2447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</a:t>
            </a:r>
            <a:r>
              <a:rPr lang="en-US" sz="1700" b="1" i="1" dirty="0">
                <a:solidFill>
                  <a:schemeClr val="accent4"/>
                </a:solidFill>
              </a:rPr>
              <a:t>hou van</a:t>
            </a:r>
            <a:r>
              <a:rPr lang="en-US" sz="1700" i="1" dirty="0">
                <a:solidFill>
                  <a:schemeClr val="tx1"/>
                </a:solidFill>
              </a:rPr>
              <a:t> de zee.</a:t>
            </a:r>
            <a:endParaRPr lang="en-US" sz="1700" dirty="0"/>
          </a:p>
        </p:txBody>
      </p:sp>
      <p:sp>
        <p:nvSpPr>
          <p:cNvPr id="19" name="Shape 10"/>
          <p:cNvSpPr/>
          <p:nvPr/>
        </p:nvSpPr>
        <p:spPr>
          <a:xfrm>
            <a:off x="8095488" y="1554480"/>
            <a:ext cx="3544824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22225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0" name="Image 6" descr="woman red hai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8368" y="1691640"/>
            <a:ext cx="777240" cy="777240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192768" y="1691640"/>
            <a:ext cx="2264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Lotte</a:t>
            </a:r>
            <a:endParaRPr lang="en-US" sz="2200" dirty="0"/>
          </a:p>
        </p:txBody>
      </p:sp>
      <p:pic>
        <p:nvPicPr>
          <p:cNvPr id="22" name="Image 7" descr="open boo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8368" y="2834640"/>
            <a:ext cx="640080" cy="640080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9055608" y="2697480"/>
            <a:ext cx="2447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lees </a:t>
            </a:r>
            <a:r>
              <a:rPr lang="en-US" sz="1700" b="1" i="1" dirty="0">
                <a:solidFill>
                  <a:schemeClr val="accent3"/>
                </a:solidFill>
              </a:rPr>
              <a:t>graag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pic>
        <p:nvPicPr>
          <p:cNvPr id="24" name="Image 8" descr="ca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8368" y="3931920"/>
            <a:ext cx="640080" cy="640080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9055608" y="3794760"/>
            <a:ext cx="2447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</a:t>
            </a:r>
            <a:r>
              <a:rPr lang="en-US" sz="1700" b="1" i="1" dirty="0">
                <a:solidFill>
                  <a:schemeClr val="accent4"/>
                </a:solidFill>
              </a:rPr>
              <a:t>hou van</a:t>
            </a:r>
            <a:r>
              <a:rPr lang="en-US" sz="1700" i="1" dirty="0">
                <a:solidFill>
                  <a:schemeClr val="tx1"/>
                </a:solidFill>
              </a:rPr>
              <a:t> katten.</a:t>
            </a:r>
            <a:endParaRPr lang="en-US" sz="1700" dirty="0"/>
          </a:p>
        </p:txBody>
      </p:sp>
      <p:sp>
        <p:nvSpPr>
          <p:cNvPr id="26" name="Shape 14"/>
          <p:cNvSpPr/>
          <p:nvPr/>
        </p:nvSpPr>
        <p:spPr>
          <a:xfrm>
            <a:off x="548640" y="5166360"/>
            <a:ext cx="11091672" cy="1097280"/>
          </a:xfrm>
          <a:prstGeom prst="roundRect">
            <a:avLst>
              <a:gd name="adj" fmla="val 6667"/>
            </a:avLst>
          </a:prstGeom>
          <a:solidFill>
            <a:schemeClr val="accent1">
              <a:alpha val="15000"/>
            </a:schemeClr>
          </a:solidFill>
          <a:ln w="15875">
            <a:solidFill>
              <a:srgbClr val="D9700F"/>
            </a:solidFill>
            <a:prstDash val="solid"/>
          </a:ln>
        </p:spPr>
      </p:sp>
      <p:pic>
        <p:nvPicPr>
          <p:cNvPr id="27" name="Image 9" descr="thinking fac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303520"/>
            <a:ext cx="822960" cy="822960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1828800" y="51663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Après </a:t>
            </a:r>
            <a:r>
              <a:rPr lang="en-US" sz="1800" i="1" dirty="0">
                <a:solidFill>
                  <a:schemeClr val="tx1"/>
                </a:solidFill>
              </a:rPr>
              <a:t>graag</a:t>
            </a:r>
            <a:r>
              <a:rPr lang="en-US" sz="1800" dirty="0">
                <a:solidFill>
                  <a:schemeClr val="tx1"/>
                </a:solidFill>
              </a:rPr>
              <a:t>, qu’est-ce qui vient ? Et après </a:t>
            </a:r>
            <a:r>
              <a:rPr lang="en-US" sz="1800" i="1" dirty="0">
                <a:solidFill>
                  <a:schemeClr val="tx1"/>
                </a:solidFill>
              </a:rPr>
              <a:t>houden van</a:t>
            </a:r>
            <a:r>
              <a:rPr lang="en-US" sz="1800" dirty="0">
                <a:solidFill>
                  <a:schemeClr val="tx1"/>
                </a:solidFill>
              </a:rPr>
              <a:t> ?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Regardez le verbe… et le nom.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graag + verbe : j’aime faire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634959" cy="685800"/>
          </a:xfrm>
          <a:prstGeom prst="roundRect">
            <a:avLst>
              <a:gd name="adj" fmla="val 11521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45920"/>
            <a:ext cx="63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Ik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1275039" y="1645920"/>
            <a:ext cx="1359457" cy="685800"/>
          </a:xfrm>
          <a:prstGeom prst="roundRect">
            <a:avLst>
              <a:gd name="adj" fmla="val 10667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75039" y="1645920"/>
            <a:ext cx="135945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fiets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725936" y="1645920"/>
            <a:ext cx="1551174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725936" y="1645920"/>
            <a:ext cx="15511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graag.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48640" y="2514600"/>
            <a:ext cx="1148486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2514600"/>
            <a:ext cx="11484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Sofie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788566" y="2514600"/>
            <a:ext cx="1359457" cy="685800"/>
          </a:xfrm>
          <a:prstGeom prst="roundRect">
            <a:avLst>
              <a:gd name="adj" fmla="val 10667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788566" y="2514600"/>
            <a:ext cx="135945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leest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3239463" y="2514600"/>
            <a:ext cx="1359457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239463" y="2514600"/>
            <a:ext cx="135945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graag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4690360" y="2514600"/>
            <a:ext cx="1490838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690360" y="2514600"/>
            <a:ext cx="14908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romans.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548640" y="3383280"/>
            <a:ext cx="634959" cy="685800"/>
          </a:xfrm>
          <a:prstGeom prst="roundRect">
            <a:avLst>
              <a:gd name="adj" fmla="val 11521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3383280"/>
            <a:ext cx="63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We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1275039" y="3383280"/>
            <a:ext cx="1167740" cy="685800"/>
          </a:xfrm>
          <a:prstGeom prst="roundRect">
            <a:avLst>
              <a:gd name="adj" fmla="val 10667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275039" y="3383280"/>
            <a:ext cx="1167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eten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2534219" y="3383280"/>
            <a:ext cx="1359457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534219" y="3383280"/>
            <a:ext cx="135945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graag</a:t>
            </a:r>
            <a:endParaRPr lang="en-US" sz="2400" dirty="0"/>
          </a:p>
        </p:txBody>
      </p:sp>
      <p:sp>
        <p:nvSpPr>
          <p:cNvPr id="25" name="Shape 22"/>
          <p:cNvSpPr/>
          <p:nvPr/>
        </p:nvSpPr>
        <p:spPr>
          <a:xfrm>
            <a:off x="3985116" y="3383280"/>
            <a:ext cx="2004365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985116" y="3383280"/>
            <a:ext cx="20043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Italiaans.</a:t>
            </a:r>
            <a:endParaRPr lang="en-US" sz="2400" dirty="0"/>
          </a:p>
        </p:txBody>
      </p:sp>
      <p:sp>
        <p:nvSpPr>
          <p:cNvPr id="27" name="Shape 24"/>
          <p:cNvSpPr/>
          <p:nvPr/>
        </p:nvSpPr>
        <p:spPr>
          <a:xfrm>
            <a:off x="6766560" y="1645920"/>
            <a:ext cx="4873752" cy="2423160"/>
          </a:xfrm>
          <a:prstGeom prst="roundRect">
            <a:avLst>
              <a:gd name="adj" fmla="val 3774"/>
            </a:avLst>
          </a:prstGeom>
          <a:solidFill>
            <a:srgbClr val="EDF6F0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949440" y="1691640"/>
            <a:ext cx="4572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Questions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Wat </a:t>
            </a:r>
            <a:r>
              <a:rPr lang="en-US" sz="1800" b="1" i="1" dirty="0">
                <a:solidFill>
                  <a:schemeClr val="tx1"/>
                </a:solidFill>
              </a:rPr>
              <a:t>doe</a:t>
            </a:r>
            <a:r>
              <a:rPr lang="en-US" sz="1800" i="1" dirty="0">
                <a:solidFill>
                  <a:schemeClr val="tx1"/>
                </a:solidFill>
              </a:rPr>
              <a:t> je graag?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Speel</a:t>
            </a:r>
            <a:r>
              <a:rPr lang="en-US" sz="1800" i="1" dirty="0">
                <a:solidFill>
                  <a:schemeClr val="tx1"/>
                </a:solidFill>
              </a:rPr>
              <a:t> je graag tennis?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Wat doe je graag in het weekend?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548640" y="4297680"/>
            <a:ext cx="11091672" cy="777240"/>
          </a:xfrm>
          <a:prstGeom prst="roundRect">
            <a:avLst>
              <a:gd name="adj" fmla="val 11765"/>
            </a:avLst>
          </a:prstGeom>
          <a:solidFill>
            <a:schemeClr val="accent6">
              <a:alpha val="8000"/>
            </a:schemeClr>
          </a:solidFill>
          <a:ln w="15875">
            <a:solidFill>
              <a:srgbClr val="B832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77240" y="4297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✗ </a:t>
            </a:r>
            <a:r>
              <a:rPr lang="en-US" sz="2000" i="1" strike="sngStrike" dirty="0">
                <a:solidFill>
                  <a:schemeClr val="accent6"/>
                </a:solidFill>
              </a:rPr>
              <a:t>Ik graag fiets</a:t>
            </a:r>
            <a:r>
              <a:rPr lang="en-US" sz="2000" dirty="0">
                <a:solidFill>
                  <a:schemeClr val="tx1"/>
                </a:solidFill>
              </a:rPr>
              <a:t> → ✓ </a:t>
            </a:r>
            <a:r>
              <a:rPr lang="en-US" sz="2000" i="1" dirty="0">
                <a:solidFill>
                  <a:schemeClr val="tx1"/>
                </a:solidFill>
              </a:rPr>
              <a:t>Ik </a:t>
            </a:r>
            <a:r>
              <a:rPr lang="en-US" sz="2000" b="1" i="1" dirty="0">
                <a:solidFill>
                  <a:schemeClr val="tx1"/>
                </a:solidFill>
              </a:rPr>
              <a:t>fiets</a:t>
            </a:r>
            <a:r>
              <a:rPr lang="en-US" sz="2000" i="1" dirty="0">
                <a:solidFill>
                  <a:schemeClr val="tx1"/>
                </a:solidFill>
              </a:rPr>
              <a:t> graag</a:t>
            </a:r>
            <a:r>
              <a:rPr lang="en-US" sz="2000" dirty="0">
                <a:solidFill>
                  <a:schemeClr val="tx1"/>
                </a:solidFill>
              </a:rPr>
              <a:t> : </a:t>
            </a:r>
            <a:r>
              <a:rPr lang="en-US" sz="2000" i="1" dirty="0">
                <a:solidFill>
                  <a:schemeClr val="tx1"/>
                </a:solidFill>
              </a:rPr>
              <a:t>graag</a:t>
            </a:r>
            <a:r>
              <a:rPr lang="en-US" sz="2000" dirty="0">
                <a:solidFill>
                  <a:schemeClr val="tx1"/>
                </a:solidFill>
              </a:rPr>
              <a:t> vient </a:t>
            </a:r>
            <a:r>
              <a:rPr lang="en-US" sz="2000" b="1" dirty="0">
                <a:solidFill>
                  <a:schemeClr val="tx1"/>
                </a:solidFill>
              </a:rPr>
              <a:t>après</a:t>
            </a:r>
            <a:r>
              <a:rPr lang="en-US" sz="2000" dirty="0">
                <a:solidFill>
                  <a:schemeClr val="tx1"/>
                </a:solidFill>
              </a:rPr>
              <a:t> le verbe conjugué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48640" y="5349240"/>
            <a:ext cx="11091672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2960" y="5349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bg1"/>
                </a:solidFill>
              </a:rPr>
              <a:t>graag</a:t>
            </a:r>
            <a:r>
              <a:rPr lang="en-US" sz="1800" dirty="0">
                <a:solidFill>
                  <a:schemeClr val="bg1"/>
                </a:solidFill>
              </a:rPr>
              <a:t> = « volontiers » : </a:t>
            </a:r>
            <a:r>
              <a:rPr lang="en-US" sz="1800" i="1" dirty="0">
                <a:solidFill>
                  <a:schemeClr val="bg1"/>
                </a:solidFill>
              </a:rPr>
              <a:t>Ik fiets graag</a:t>
            </a:r>
            <a:r>
              <a:rPr lang="en-US" sz="1800" dirty="0">
                <a:solidFill>
                  <a:schemeClr val="bg1"/>
                </a:solidFill>
              </a:rPr>
              <a:t> = je fais du vélo volontiers = j’aime faire du vélo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houden van : j’aime quelqu’un, quelque chose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2240280" cy="265176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540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6" name="Image 0" descr="musical no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1783080"/>
            <a:ext cx="1005840" cy="1005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288036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</a:t>
            </a:r>
            <a:r>
              <a:rPr lang="en-US" sz="1800" b="1" i="1" dirty="0">
                <a:solidFill>
                  <a:schemeClr val="accent4"/>
                </a:solidFill>
              </a:rPr>
              <a:t>hou van</a:t>
            </a:r>
            <a:r>
              <a:rPr lang="en-US" sz="1800" i="1" dirty="0">
                <a:solidFill>
                  <a:schemeClr val="tx1"/>
                </a:solidFill>
              </a:rPr>
              <a:t> muziek.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2926080" y="1600200"/>
            <a:ext cx="2240280" cy="265176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540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9" name="Image 1" descr="people hugg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178308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017520" y="288036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Ze </a:t>
            </a:r>
            <a:r>
              <a:rPr lang="en-US" sz="1800" b="1" i="1" dirty="0">
                <a:solidFill>
                  <a:schemeClr val="accent4"/>
                </a:solidFill>
              </a:rPr>
              <a:t>houdt van</a:t>
            </a:r>
            <a:r>
              <a:rPr lang="en-US" sz="1800" i="1" dirty="0">
                <a:solidFill>
                  <a:schemeClr val="tx1"/>
                </a:solidFill>
              </a:rPr>
              <a:t> haar kinderen.</a:t>
            </a:r>
            <a:endParaRPr lang="en-US" sz="1800" dirty="0"/>
          </a:p>
        </p:txBody>
      </p:sp>
      <p:sp>
        <p:nvSpPr>
          <p:cNvPr id="11" name="Shape 6"/>
          <p:cNvSpPr/>
          <p:nvPr/>
        </p:nvSpPr>
        <p:spPr>
          <a:xfrm>
            <a:off x="5303520" y="1600200"/>
            <a:ext cx="2240280" cy="265176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540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2" name="Image 2" descr="beach with umbrell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1783080"/>
            <a:ext cx="1005840" cy="100584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394960" y="288036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We </a:t>
            </a:r>
            <a:r>
              <a:rPr lang="en-US" sz="1800" b="1" i="1" dirty="0">
                <a:solidFill>
                  <a:schemeClr val="accent4"/>
                </a:solidFill>
              </a:rPr>
              <a:t>houden van</a:t>
            </a:r>
            <a:r>
              <a:rPr lang="en-US" sz="1800" i="1" dirty="0">
                <a:solidFill>
                  <a:schemeClr val="tx1"/>
                </a:solidFill>
              </a:rPr>
              <a:t> de zee.</a:t>
            </a:r>
            <a:endParaRPr lang="en-US" sz="1800" dirty="0"/>
          </a:p>
        </p:txBody>
      </p:sp>
      <p:sp>
        <p:nvSpPr>
          <p:cNvPr id="14" name="Shape 8"/>
          <p:cNvSpPr/>
          <p:nvPr/>
        </p:nvSpPr>
        <p:spPr>
          <a:xfrm>
            <a:off x="7818120" y="1600200"/>
            <a:ext cx="3822192" cy="2651760"/>
          </a:xfrm>
          <a:prstGeom prst="roundRect">
            <a:avLst>
              <a:gd name="adj" fmla="val 3448"/>
            </a:avLst>
          </a:prstGeom>
          <a:solidFill>
            <a:srgbClr val="F6E3EE"/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8001000" y="1645920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ik </a:t>
            </a:r>
            <a:r>
              <a:rPr lang="en-US" sz="1700" b="1" i="1" dirty="0">
                <a:solidFill>
                  <a:schemeClr val="tx1"/>
                </a:solidFill>
              </a:rPr>
              <a:t>hou</a:t>
            </a:r>
            <a:r>
              <a:rPr lang="en-US" sz="1700" i="1" dirty="0">
                <a:solidFill>
                  <a:schemeClr val="tx1"/>
                </a:solidFill>
              </a:rPr>
              <a:t> / </a:t>
            </a:r>
            <a:r>
              <a:rPr lang="en-US" sz="1700" b="1" i="1" dirty="0">
                <a:solidFill>
                  <a:schemeClr val="tx1"/>
                </a:solidFill>
              </a:rPr>
              <a:t>houd</a:t>
            </a:r>
            <a:endParaRPr lang="en-US" sz="1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jij houdt · hij houdt</a:t>
            </a:r>
            <a:endParaRPr lang="en-US" sz="1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wij houden</a:t>
            </a:r>
            <a:endParaRPr lang="en-US" sz="1700" dirty="0"/>
          </a:p>
          <a:p>
            <a:pPr algn="l" indent="0" marL="0">
              <a:spcAft>
                <a:spcPts val="200"/>
              </a:spcAft>
              <a:buNone/>
            </a:pPr>
            <a:endParaRPr lang="en-US" sz="1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Hou je van jazz?</a:t>
            </a:r>
            <a:endParaRPr lang="en-US" sz="1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— Ja, ik hou </a:t>
            </a:r>
            <a:r>
              <a:rPr lang="en-US" sz="1700" b="1" i="1" dirty="0">
                <a:solidFill>
                  <a:schemeClr val="tx1"/>
                </a:solidFill>
              </a:rPr>
              <a:t>ervan</a:t>
            </a:r>
            <a:r>
              <a:rPr lang="en-US" sz="1700" i="1" dirty="0">
                <a:solidFill>
                  <a:schemeClr val="tx1"/>
                </a:solidFill>
              </a:rPr>
              <a:t>!</a:t>
            </a:r>
            <a:r>
              <a:rPr lang="en-US" sz="1700" dirty="0">
                <a:solidFill>
                  <a:schemeClr val="tx1"/>
                </a:solidFill>
              </a:rPr>
              <a:t> (M23)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548640" y="4480560"/>
            <a:ext cx="11091672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777240" y="44805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Avec un pronom : </a:t>
            </a:r>
            <a:r>
              <a:rPr lang="en-US" sz="1800" i="1" dirty="0">
                <a:solidFill>
                  <a:schemeClr val="tx1"/>
                </a:solidFill>
              </a:rPr>
              <a:t>Ik hou van </a:t>
            </a:r>
            <a:r>
              <a:rPr lang="en-US" sz="1800" b="1" i="1" dirty="0">
                <a:solidFill>
                  <a:schemeClr val="tx1"/>
                </a:solidFill>
              </a:rPr>
              <a:t>hem</a:t>
            </a:r>
            <a:r>
              <a:rPr lang="en-US" sz="1800" i="1" dirty="0">
                <a:solidFill>
                  <a:schemeClr val="tx1"/>
                </a:solidFill>
              </a:rPr>
              <a:t> · van </a:t>
            </a:r>
            <a:r>
              <a:rPr lang="en-US" sz="1800" b="1" i="1" dirty="0">
                <a:solidFill>
                  <a:schemeClr val="tx1"/>
                </a:solidFill>
              </a:rPr>
              <a:t>haar</a:t>
            </a:r>
            <a:r>
              <a:rPr lang="en-US" sz="1800" i="1" dirty="0">
                <a:solidFill>
                  <a:schemeClr val="tx1"/>
                </a:solidFill>
              </a:rPr>
              <a:t> · van </a:t>
            </a:r>
            <a:r>
              <a:rPr lang="en-US" sz="1800" b="1" i="1" dirty="0">
                <a:solidFill>
                  <a:schemeClr val="tx1"/>
                </a:solidFill>
              </a:rPr>
              <a:t>jou</a:t>
            </a:r>
            <a:r>
              <a:rPr lang="en-US" sz="1800" dirty="0">
                <a:solidFill>
                  <a:schemeClr val="tx1"/>
                </a:solidFill>
              </a:rPr>
              <a:t> — Question : </a:t>
            </a:r>
            <a:r>
              <a:rPr lang="en-US" sz="1800" i="1" dirty="0">
                <a:solidFill>
                  <a:schemeClr val="tx1"/>
                </a:solidFill>
              </a:rPr>
              <a:t>Waar hou je van?</a:t>
            </a:r>
            <a:r>
              <a:rPr lang="en-US" sz="1800" dirty="0">
                <a:solidFill>
                  <a:schemeClr val="tx1"/>
                </a:solidFill>
              </a:rPr>
              <a:t> (M23)</a:t>
            </a:r>
            <a:endParaRPr lang="en-US" sz="1800" dirty="0"/>
          </a:p>
        </p:txBody>
      </p:sp>
      <p:sp>
        <p:nvSpPr>
          <p:cNvPr id="18" name="Shape 12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822960" y="5440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bg1"/>
                </a:solidFill>
              </a:rPr>
              <a:t>houden van</a:t>
            </a:r>
            <a:r>
              <a:rPr lang="en-US" sz="1800" dirty="0">
                <a:solidFill>
                  <a:schemeClr val="bg1"/>
                </a:solidFill>
              </a:rPr>
              <a:t> = un attachement général ou fort : une personne, un lieu, un genre de musique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L’aiguillage du verbe « aimer »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2331720"/>
            <a:ext cx="219456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3317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« J’aime… »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 flipV="1">
            <a:off x="2761488" y="2148840"/>
            <a:ext cx="667512" cy="1097280"/>
          </a:xfrm>
          <a:prstGeom prst="line">
            <a:avLst/>
          </a:prstGeom>
          <a:noFill/>
          <a:ln w="381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474720" y="1554480"/>
            <a:ext cx="8165592" cy="1207008"/>
          </a:xfrm>
          <a:prstGeom prst="roundRect">
            <a:avLst>
              <a:gd name="adj" fmla="val 7576"/>
            </a:avLst>
          </a:prstGeom>
          <a:solidFill>
            <a:schemeClr val="accent3">
              <a:alpha val="10000"/>
            </a:schemeClr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4720" y="1554480"/>
            <a:ext cx="2743200" cy="1207008"/>
          </a:xfrm>
          <a:prstGeom prst="roundRect">
            <a:avLst>
              <a:gd name="adj" fmla="val 7576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66160" y="1554480"/>
            <a:ext cx="25603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UNE ACTIVITÉ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verbe + </a:t>
            </a:r>
            <a:r>
              <a:rPr lang="en-US" sz="1400" i="1" dirty="0">
                <a:solidFill>
                  <a:schemeClr val="bg1"/>
                </a:solidFill>
              </a:rPr>
              <a:t>graag</a:t>
            </a:r>
            <a:endParaRPr lang="en-US" sz="1400" dirty="0"/>
          </a:p>
        </p:txBody>
      </p:sp>
      <p:pic>
        <p:nvPicPr>
          <p:cNvPr id="11" name="Image 0" descr="person swimm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792224"/>
            <a:ext cx="731520" cy="7315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1554480"/>
            <a:ext cx="4343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« J’aime </a:t>
            </a:r>
            <a:r>
              <a:rPr lang="en-US" sz="1800" b="1" dirty="0">
                <a:solidFill>
                  <a:schemeClr val="tx1"/>
                </a:solidFill>
              </a:rPr>
              <a:t>nager</a:t>
            </a:r>
            <a:r>
              <a:rPr lang="en-US" sz="1800" dirty="0">
                <a:solidFill>
                  <a:schemeClr val="tx1"/>
                </a:solidFill>
              </a:rPr>
              <a:t> »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→ </a:t>
            </a:r>
            <a:r>
              <a:rPr lang="en-US" sz="1800" i="1" dirty="0">
                <a:solidFill>
                  <a:schemeClr val="tx1"/>
                </a:solidFill>
              </a:rPr>
              <a:t>Ik zwem </a:t>
            </a:r>
            <a:r>
              <a:rPr lang="en-US" sz="1800" b="1" i="1" dirty="0">
                <a:solidFill>
                  <a:schemeClr val="accent3"/>
                </a:solidFill>
              </a:rPr>
              <a:t>graag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2761488" y="3246120"/>
            <a:ext cx="667512" cy="274320"/>
          </a:xfrm>
          <a:prstGeom prst="line">
            <a:avLst/>
          </a:prstGeom>
          <a:noFill/>
          <a:ln w="38100">
            <a:solidFill>
              <a:srgbClr val="B4236A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474720" y="2926080"/>
            <a:ext cx="8165592" cy="1207008"/>
          </a:xfrm>
          <a:prstGeom prst="roundRect">
            <a:avLst>
              <a:gd name="adj" fmla="val 7576"/>
            </a:avLst>
          </a:prstGeom>
          <a:solidFill>
            <a:schemeClr val="accent4">
              <a:alpha val="10000"/>
            </a:schemeClr>
          </a:solidFill>
          <a:ln w="25400">
            <a:solidFill>
              <a:srgbClr val="B4236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474720" y="2926080"/>
            <a:ext cx="2743200" cy="1207008"/>
          </a:xfrm>
          <a:prstGeom prst="roundRect">
            <a:avLst>
              <a:gd name="adj" fmla="val 7576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566160" y="2926080"/>
            <a:ext cx="25603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UNE PERSONNE, UNE CHOSE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i="1" dirty="0">
                <a:solidFill>
                  <a:schemeClr val="bg1"/>
                </a:solidFill>
              </a:rPr>
              <a:t>houden van</a:t>
            </a:r>
            <a:r>
              <a:rPr lang="en-US" sz="1400" dirty="0">
                <a:solidFill>
                  <a:schemeClr val="bg1"/>
                </a:solidFill>
              </a:rPr>
              <a:t> + nom</a:t>
            </a:r>
            <a:endParaRPr lang="en-US" sz="1400" dirty="0"/>
          </a:p>
        </p:txBody>
      </p:sp>
      <p:pic>
        <p:nvPicPr>
          <p:cNvPr id="17" name="Image 1" descr="cityscap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3163824"/>
            <a:ext cx="731520" cy="7315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223760" y="2926080"/>
            <a:ext cx="4343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« J’aime </a:t>
            </a:r>
            <a:r>
              <a:rPr lang="en-US" sz="1800" b="1" dirty="0">
                <a:solidFill>
                  <a:schemeClr val="tx1"/>
                </a:solidFill>
              </a:rPr>
              <a:t>Bruxelles</a:t>
            </a:r>
            <a:r>
              <a:rPr lang="en-US" sz="1800" dirty="0">
                <a:solidFill>
                  <a:schemeClr val="tx1"/>
                </a:solidFill>
              </a:rPr>
              <a:t> »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→ </a:t>
            </a:r>
            <a:r>
              <a:rPr lang="en-US" sz="1800" i="1" dirty="0">
                <a:solidFill>
                  <a:schemeClr val="tx1"/>
                </a:solidFill>
              </a:rPr>
              <a:t>Ik </a:t>
            </a:r>
            <a:r>
              <a:rPr lang="en-US" sz="1800" b="1" i="1" dirty="0">
                <a:solidFill>
                  <a:schemeClr val="accent4"/>
                </a:solidFill>
              </a:rPr>
              <a:t>hou van</a:t>
            </a:r>
            <a:r>
              <a:rPr lang="en-US" sz="1800" i="1" dirty="0">
                <a:solidFill>
                  <a:schemeClr val="tx1"/>
                </a:solidFill>
              </a:rPr>
              <a:t> Brussel.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2761488" y="3246120"/>
            <a:ext cx="667512" cy="1645920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3474720" y="4297680"/>
            <a:ext cx="8165592" cy="1207008"/>
          </a:xfrm>
          <a:prstGeom prst="roundRect">
            <a:avLst>
              <a:gd name="adj" fmla="val 7576"/>
            </a:avLst>
          </a:prstGeom>
          <a:solidFill>
            <a:schemeClr val="accent1">
              <a:alpha val="10000"/>
            </a:schemeClr>
          </a:solidFill>
          <a:ln w="25400">
            <a:solidFill>
              <a:srgbClr val="D9700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474720" y="4297680"/>
            <a:ext cx="2743200" cy="1207008"/>
          </a:xfrm>
          <a:prstGeom prst="roundRect">
            <a:avLst>
              <a:gd name="adj" fmla="val 7576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3566160" y="4297680"/>
            <a:ext cx="25603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UN GOÛT, UNE IMPRESSION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i="1" dirty="0">
                <a:solidFill>
                  <a:schemeClr val="bg1"/>
                </a:solidFill>
              </a:rPr>
              <a:t>lekker / leuk vinden</a:t>
            </a:r>
            <a:endParaRPr lang="en-US" sz="1400" dirty="0"/>
          </a:p>
        </p:txBody>
      </p:sp>
      <p:pic>
        <p:nvPicPr>
          <p:cNvPr id="23" name="Image 2" descr="face savoring foo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4535424"/>
            <a:ext cx="731520" cy="7315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223760" y="4297680"/>
            <a:ext cx="4343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« J’aime </a:t>
            </a:r>
            <a:r>
              <a:rPr lang="en-US" sz="1800" b="1" dirty="0">
                <a:solidFill>
                  <a:schemeClr val="tx1"/>
                </a:solidFill>
              </a:rPr>
              <a:t>cette soupe</a:t>
            </a:r>
            <a:r>
              <a:rPr lang="en-US" sz="1800" dirty="0">
                <a:solidFill>
                  <a:schemeClr val="tx1"/>
                </a:solidFill>
              </a:rPr>
              <a:t> »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→ </a:t>
            </a:r>
            <a:r>
              <a:rPr lang="en-US" sz="1800" i="1" dirty="0">
                <a:solidFill>
                  <a:schemeClr val="tx1"/>
                </a:solidFill>
              </a:rPr>
              <a:t>Ik </a:t>
            </a:r>
            <a:r>
              <a:rPr lang="en-US" sz="1800" b="1" i="1" dirty="0">
                <a:solidFill>
                  <a:schemeClr val="accent1"/>
                </a:solidFill>
              </a:rPr>
              <a:t>vind</a:t>
            </a:r>
            <a:r>
              <a:rPr lang="en-US" sz="1800" i="1" dirty="0">
                <a:solidFill>
                  <a:schemeClr val="tx1"/>
                </a:solidFill>
              </a:rPr>
              <a:t> deze soep </a:t>
            </a:r>
            <a:r>
              <a:rPr lang="en-US" sz="1800" b="1" i="1" dirty="0">
                <a:solidFill>
                  <a:schemeClr val="accent1"/>
                </a:solidFill>
              </a:rPr>
              <a:t>lekker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548640" y="5715000"/>
            <a:ext cx="11091672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822960" y="57150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Qu’est-ce que j’aime ? </a:t>
            </a:r>
            <a:r>
              <a:rPr lang="en-US" sz="1700" b="1" dirty="0">
                <a:solidFill>
                  <a:schemeClr val="bg1"/>
                </a:solidFill>
              </a:rPr>
              <a:t>faire</a:t>
            </a:r>
            <a:r>
              <a:rPr lang="en-US" sz="1700" dirty="0">
                <a:solidFill>
                  <a:schemeClr val="bg1"/>
                </a:solidFill>
              </a:rPr>
              <a:t> quelque chose · </a:t>
            </a:r>
            <a:r>
              <a:rPr lang="en-US" sz="1700" b="1" dirty="0">
                <a:solidFill>
                  <a:schemeClr val="bg1"/>
                </a:solidFill>
              </a:rPr>
              <a:t>quelqu’un / une chose</a:t>
            </a:r>
            <a:r>
              <a:rPr lang="en-US" sz="1700" dirty="0">
                <a:solidFill>
                  <a:schemeClr val="bg1"/>
                </a:solidFill>
              </a:rPr>
              <a:t> · </a:t>
            </a:r>
            <a:r>
              <a:rPr lang="en-US" sz="1700" b="1" dirty="0">
                <a:solidFill>
                  <a:schemeClr val="bg1"/>
                </a:solidFill>
              </a:rPr>
              <a:t>un goût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graag, liever, het liefst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822960" y="3703320"/>
            <a:ext cx="2148840" cy="1188720"/>
          </a:xfrm>
          <a:prstGeom prst="roundRect">
            <a:avLst>
              <a:gd name="adj" fmla="val 3077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37947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graag</a:t>
            </a:r>
            <a:endParaRPr lang="en-US" sz="2000" dirty="0"/>
          </a:p>
        </p:txBody>
      </p:sp>
      <p:pic>
        <p:nvPicPr>
          <p:cNvPr id="7" name="Image 0" descr="3rd place med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780" y="4251960"/>
            <a:ext cx="457200" cy="457200"/>
          </a:xfrm>
          <a:prstGeom prst="rect">
            <a:avLst/>
          </a:prstGeom>
        </p:spPr>
      </p:pic>
      <p:pic>
        <p:nvPicPr>
          <p:cNvPr id="8" name="Image 1" descr="hot bever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2788920"/>
            <a:ext cx="822960" cy="82296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28" y="2880360"/>
            <a:ext cx="2148840" cy="2011680"/>
          </a:xfrm>
          <a:prstGeom prst="roundRect">
            <a:avLst>
              <a:gd name="adj" fmla="val 1818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3081528" y="29718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het liefst</a:t>
            </a:r>
            <a:endParaRPr lang="en-US" sz="2000" dirty="0"/>
          </a:p>
        </p:txBody>
      </p:sp>
      <p:pic>
        <p:nvPicPr>
          <p:cNvPr id="11" name="Image 2" descr="1st place med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7348" y="3429000"/>
            <a:ext cx="457200" cy="457200"/>
          </a:xfrm>
          <a:prstGeom prst="rect">
            <a:avLst/>
          </a:prstGeom>
        </p:spPr>
      </p:pic>
      <p:pic>
        <p:nvPicPr>
          <p:cNvPr id="12" name="Image 3" descr="dropl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4468" y="1965960"/>
            <a:ext cx="822960" cy="822960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5340096" y="3291840"/>
            <a:ext cx="2148840" cy="1600200"/>
          </a:xfrm>
          <a:prstGeom prst="roundRect">
            <a:avLst>
              <a:gd name="adj" fmla="val 2286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5340096" y="3383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liever</a:t>
            </a:r>
            <a:endParaRPr lang="en-US" sz="2000" dirty="0"/>
          </a:p>
        </p:txBody>
      </p:sp>
      <p:pic>
        <p:nvPicPr>
          <p:cNvPr id="15" name="Image 4" descr="2nd place meda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5916" y="3840480"/>
            <a:ext cx="457200" cy="457200"/>
          </a:xfrm>
          <a:prstGeom prst="rect">
            <a:avLst/>
          </a:prstGeom>
        </p:spPr>
      </p:pic>
      <p:pic>
        <p:nvPicPr>
          <p:cNvPr id="16" name="Image 5" descr="teacup without hand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3036" y="2377440"/>
            <a:ext cx="822960" cy="822960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7680960" y="1828800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drink </a:t>
            </a:r>
            <a:r>
              <a:rPr lang="en-US" sz="2000" b="1" i="1" dirty="0">
                <a:solidFill>
                  <a:schemeClr val="tx1"/>
                </a:solidFill>
              </a:rPr>
              <a:t>graag</a:t>
            </a:r>
            <a:r>
              <a:rPr lang="en-US" sz="2000" i="1" dirty="0">
                <a:solidFill>
                  <a:schemeClr val="tx1"/>
                </a:solidFill>
              </a:rPr>
              <a:t> koffie.</a:t>
            </a:r>
            <a:endParaRPr lang="en-US" sz="2000" dirty="0"/>
          </a:p>
        </p:txBody>
      </p:sp>
      <p:sp>
        <p:nvSpPr>
          <p:cNvPr id="18" name="Text 9"/>
          <p:cNvSpPr txBox="1"/>
          <p:nvPr/>
        </p:nvSpPr>
        <p:spPr>
          <a:xfrm>
            <a:off x="7680960" y="2606040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drink </a:t>
            </a:r>
            <a:r>
              <a:rPr lang="en-US" sz="2000" b="1" i="1" dirty="0">
                <a:solidFill>
                  <a:schemeClr val="tx1"/>
                </a:solidFill>
              </a:rPr>
              <a:t>liever</a:t>
            </a:r>
            <a:r>
              <a:rPr lang="en-US" sz="2000" i="1" dirty="0">
                <a:solidFill>
                  <a:schemeClr val="tx1"/>
                </a:solidFill>
              </a:rPr>
              <a:t> thee.</a:t>
            </a:r>
            <a:endParaRPr lang="en-US" sz="2000" dirty="0"/>
          </a:p>
        </p:txBody>
      </p:sp>
      <p:sp>
        <p:nvSpPr>
          <p:cNvPr id="19" name="Text 10"/>
          <p:cNvSpPr txBox="1"/>
          <p:nvPr/>
        </p:nvSpPr>
        <p:spPr>
          <a:xfrm>
            <a:off x="7680960" y="3383280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drink </a:t>
            </a:r>
            <a:r>
              <a:rPr lang="en-US" sz="2000" b="1" i="1" dirty="0">
                <a:solidFill>
                  <a:schemeClr val="tx1"/>
                </a:solidFill>
              </a:rPr>
              <a:t>het liefst</a:t>
            </a:r>
            <a:r>
              <a:rPr lang="en-US" sz="2000" i="1" dirty="0">
                <a:solidFill>
                  <a:schemeClr val="tx1"/>
                </a:solidFill>
              </a:rPr>
              <a:t> water.</a:t>
            </a:r>
            <a:endParaRPr lang="en-US" sz="2000" dirty="0"/>
          </a:p>
        </p:txBody>
      </p:sp>
      <p:sp>
        <p:nvSpPr>
          <p:cNvPr id="20" name="Shape 11"/>
          <p:cNvSpPr/>
          <p:nvPr/>
        </p:nvSpPr>
        <p:spPr>
          <a:xfrm>
            <a:off x="7680960" y="4251960"/>
            <a:ext cx="3959352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1" name="Text 12"/>
          <p:cNvSpPr txBox="1"/>
          <p:nvPr/>
        </p:nvSpPr>
        <p:spPr>
          <a:xfrm>
            <a:off x="7818120" y="42519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Koffie of thee? — </a:t>
            </a:r>
            <a:r>
              <a:rPr lang="en-US" sz="1700" b="1" i="1" dirty="0">
                <a:solidFill>
                  <a:schemeClr val="tx1"/>
                </a:solidFill>
              </a:rPr>
              <a:t>Liever</a:t>
            </a:r>
            <a:r>
              <a:rPr lang="en-US" sz="1700" i="1" dirty="0">
                <a:solidFill>
                  <a:schemeClr val="tx1"/>
                </a:solidFill>
              </a:rPr>
              <a:t> thee, graag!</a:t>
            </a:r>
            <a:endParaRPr lang="en-US" sz="1700" dirty="0"/>
          </a:p>
        </p:txBody>
      </p:sp>
      <p:sp>
        <p:nvSpPr>
          <p:cNvPr id="22" name="Shape 13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822960" y="5257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Irrégulier, comme </a:t>
            </a:r>
            <a:r>
              <a:rPr lang="en-US" sz="1600" i="1" dirty="0">
                <a:solidFill>
                  <a:schemeClr val="bg1"/>
                </a:solidFill>
              </a:rPr>
              <a:t>goed → beter → best</a:t>
            </a:r>
            <a:r>
              <a:rPr lang="en-US" sz="1600" dirty="0">
                <a:solidFill>
                  <a:schemeClr val="bg1"/>
                </a:solidFill>
              </a:rPr>
              <a:t> (M21) · </a:t>
            </a:r>
            <a:r>
              <a:rPr lang="en-US" sz="1600" i="1" dirty="0">
                <a:solidFill>
                  <a:schemeClr val="bg1"/>
                </a:solidFill>
              </a:rPr>
              <a:t>Ik werk liever ’s ochtends dan ’s avonds.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niet graag, niet houden van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413248" cy="2377440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 w="2540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554480"/>
            <a:ext cx="5413248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5047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chemeClr val="bg1"/>
                </a:solidFill>
              </a:rPr>
              <a:t>ACTIVITÉ</a:t>
            </a:r>
            <a:endParaRPr lang="en-US" sz="1600" dirty="0"/>
          </a:p>
        </p:txBody>
      </p:sp>
      <p:pic>
        <p:nvPicPr>
          <p:cNvPr id="8" name="Image 0" descr="persevering f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7488" y="2240280"/>
            <a:ext cx="685800" cy="6858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" y="2148840"/>
            <a:ext cx="41330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Ik werk </a:t>
            </a:r>
            <a:r>
              <a:rPr lang="en-US" sz="2000" b="1" i="1" dirty="0">
                <a:solidFill>
                  <a:schemeClr val="accent6"/>
                </a:solidFill>
              </a:rPr>
              <a:t>niet</a:t>
            </a:r>
            <a:r>
              <a:rPr lang="en-US" sz="2000" b="1" i="1" dirty="0">
                <a:solidFill>
                  <a:schemeClr val="tx1"/>
                </a:solidFill>
              </a:rPr>
              <a:t> graag</a:t>
            </a:r>
            <a:r>
              <a:rPr lang="en-US" sz="2000" i="1" dirty="0">
                <a:solidFill>
                  <a:schemeClr val="tx1"/>
                </a:solidFill>
              </a:rPr>
              <a:t> op zaterdag.</a:t>
            </a:r>
            <a:endParaRPr lang="en-US" sz="20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Ik sta </a:t>
            </a:r>
            <a:r>
              <a:rPr lang="en-US" sz="2000" b="1" i="1" dirty="0">
                <a:solidFill>
                  <a:schemeClr val="accent6"/>
                </a:solidFill>
              </a:rPr>
              <a:t>niet</a:t>
            </a:r>
            <a:r>
              <a:rPr lang="en-US" sz="2000" b="1" i="1" dirty="0">
                <a:solidFill>
                  <a:schemeClr val="tx1"/>
                </a:solidFill>
              </a:rPr>
              <a:t> graag</a:t>
            </a:r>
            <a:r>
              <a:rPr lang="en-US" sz="2000" i="1" dirty="0">
                <a:solidFill>
                  <a:schemeClr val="tx1"/>
                </a:solidFill>
              </a:rPr>
              <a:t> vroeg op.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6227064" y="1554480"/>
            <a:ext cx="5413248" cy="2377440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 w="2540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227064" y="1554480"/>
            <a:ext cx="5413248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09944" y="1554480"/>
            <a:ext cx="5047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chemeClr val="bg1"/>
                </a:solidFill>
              </a:rPr>
              <a:t>PERSONNE, CHOSE</a:t>
            </a:r>
            <a:endParaRPr lang="en-US" sz="1600" dirty="0"/>
          </a:p>
        </p:txBody>
      </p:sp>
      <p:pic>
        <p:nvPicPr>
          <p:cNvPr id="13" name="Image 1" descr="unamused fa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912" y="2240280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455664" y="2148840"/>
            <a:ext cx="41330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Ik hou </a:t>
            </a:r>
            <a:r>
              <a:rPr lang="en-US" sz="2000" b="1" i="1" dirty="0">
                <a:solidFill>
                  <a:schemeClr val="accent6"/>
                </a:solidFill>
              </a:rPr>
              <a:t>niet</a:t>
            </a:r>
            <a:r>
              <a:rPr lang="en-US" sz="2000" i="1" dirty="0">
                <a:solidFill>
                  <a:schemeClr val="tx1"/>
                </a:solidFill>
              </a:rPr>
              <a:t> van spinnen.</a:t>
            </a:r>
            <a:endParaRPr lang="en-US" sz="20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Ik hou </a:t>
            </a:r>
            <a:r>
              <a:rPr lang="en-US" sz="2000" b="1" i="1" dirty="0">
                <a:solidFill>
                  <a:schemeClr val="accent6"/>
                </a:solidFill>
              </a:rPr>
              <a:t>helemaal niet</a:t>
            </a:r>
            <a:r>
              <a:rPr lang="en-US" sz="2000" i="1" dirty="0">
                <a:solidFill>
                  <a:schemeClr val="tx1"/>
                </a:solidFill>
              </a:rPr>
              <a:t> van regen.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548640" y="4160520"/>
            <a:ext cx="2159813" cy="64008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48640" y="4160520"/>
            <a:ext cx="21598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helemaal niet graag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2781605" y="4160520"/>
            <a:ext cx="2159813" cy="640080"/>
          </a:xfrm>
          <a:prstGeom prst="roundRect">
            <a:avLst>
              <a:gd name="adj" fmla="val 11429"/>
            </a:avLst>
          </a:prstGeom>
          <a:solidFill>
            <a:srgbClr val="E8A0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2781605" y="4160520"/>
            <a:ext cx="21598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niet graag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014570" y="4160520"/>
            <a:ext cx="2159813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014570" y="4160520"/>
            <a:ext cx="21598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graag</a:t>
            </a:r>
            <a:endParaRPr lang="en-US" sz="1700" dirty="0"/>
          </a:p>
        </p:txBody>
      </p:sp>
      <p:sp>
        <p:nvSpPr>
          <p:cNvPr id="21" name="Shape 16"/>
          <p:cNvSpPr/>
          <p:nvPr/>
        </p:nvSpPr>
        <p:spPr>
          <a:xfrm>
            <a:off x="7247534" y="4160520"/>
            <a:ext cx="2159813" cy="640080"/>
          </a:xfrm>
          <a:prstGeom prst="roundRect">
            <a:avLst>
              <a:gd name="adj" fmla="val 11429"/>
            </a:avLst>
          </a:prstGeom>
          <a:solidFill>
            <a:srgbClr val="1F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247534" y="4160520"/>
            <a:ext cx="21598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liever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9480499" y="4160520"/>
            <a:ext cx="2159813" cy="640080"/>
          </a:xfrm>
          <a:prstGeom prst="roundRect">
            <a:avLst>
              <a:gd name="adj" fmla="val 1142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480499" y="4160520"/>
            <a:ext cx="21598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het liefst</a:t>
            </a:r>
            <a:endParaRPr lang="en-US" sz="170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4846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◀ je n’aime pas                                                                     j’aime le plus ▶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22960" y="53949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bg1"/>
                </a:solidFill>
              </a:rPr>
              <a:t>niet</a:t>
            </a:r>
            <a:r>
              <a:rPr lang="en-US" sz="1800" dirty="0">
                <a:solidFill>
                  <a:schemeClr val="bg1"/>
                </a:solidFill>
              </a:rPr>
              <a:t> se place juste </a:t>
            </a:r>
            <a:r>
              <a:rPr lang="en-US" sz="1800" b="1" dirty="0">
                <a:solidFill>
                  <a:schemeClr val="bg1"/>
                </a:solidFill>
              </a:rPr>
              <a:t>avant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i="1" dirty="0">
                <a:solidFill>
                  <a:schemeClr val="bg1"/>
                </a:solidFill>
              </a:rPr>
              <a:t>graag</a:t>
            </a:r>
            <a:r>
              <a:rPr lang="en-US" sz="1800" dirty="0">
                <a:solidFill>
                  <a:schemeClr val="bg1"/>
                </a:solidFill>
              </a:rPr>
              <a:t> (M13) · avec </a:t>
            </a:r>
            <a:r>
              <a:rPr lang="en-US" sz="1800" i="1" dirty="0">
                <a:solidFill>
                  <a:schemeClr val="bg1"/>
                </a:solidFill>
              </a:rPr>
              <a:t>houden van</a:t>
            </a:r>
            <a:r>
              <a:rPr lang="en-US" sz="1800" dirty="0">
                <a:solidFill>
                  <a:schemeClr val="bg1"/>
                </a:solidFill>
              </a:rPr>
              <a:t> : </a:t>
            </a:r>
            <a:r>
              <a:rPr lang="en-US" sz="1800" i="1" dirty="0">
                <a:solidFill>
                  <a:schemeClr val="bg1"/>
                </a:solidFill>
              </a:rPr>
              <a:t>niet</a:t>
            </a:r>
            <a:r>
              <a:rPr lang="en-US" sz="1800" dirty="0">
                <a:solidFill>
                  <a:schemeClr val="bg1"/>
                </a:solidFill>
              </a:rPr>
              <a:t> avant la préposition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lekker, leuk vinden et dol zijn op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544824" cy="3291840"/>
          </a:xfrm>
          <a:prstGeom prst="roundRect">
            <a:avLst>
              <a:gd name="adj" fmla="val 2778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6" name="Image 0" descr="fork and knife with pl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3852" y="1783080"/>
            <a:ext cx="914400" cy="914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2743200"/>
            <a:ext cx="3270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accent1"/>
                </a:solidFill>
              </a:rPr>
              <a:t>lekker vinden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315468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nourriture, boisson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3566160"/>
            <a:ext cx="3270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vind deze soep </a:t>
            </a:r>
            <a:r>
              <a:rPr lang="en-US" sz="1700" b="1" i="1" dirty="0">
                <a:solidFill>
                  <a:schemeClr val="accent1"/>
                </a:solidFill>
              </a:rPr>
              <a:t>lekker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4322064" y="1600200"/>
            <a:ext cx="3544824" cy="3291840"/>
          </a:xfrm>
          <a:prstGeom prst="roundRect">
            <a:avLst>
              <a:gd name="adj" fmla="val 2778"/>
            </a:avLst>
          </a:prstGeom>
          <a:solidFill>
            <a:schemeClr val="bg1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admission ticke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6" y="1783080"/>
            <a:ext cx="914400" cy="9144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459224" y="2743200"/>
            <a:ext cx="3270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accent2"/>
                </a:solidFill>
              </a:rPr>
              <a:t>leuk vinden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4459224" y="315468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activité, film, personne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4459224" y="3566160"/>
            <a:ext cx="3270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vind voetbal </a:t>
            </a:r>
            <a:r>
              <a:rPr lang="en-US" sz="1700" b="1" i="1" dirty="0">
                <a:solidFill>
                  <a:schemeClr val="accent1"/>
                </a:solidFill>
              </a:rPr>
              <a:t>leuk</a:t>
            </a:r>
            <a:r>
              <a:rPr lang="en-US" sz="1700" i="1" dirty="0">
                <a:solidFill>
                  <a:schemeClr val="tx1"/>
                </a:solidFill>
              </a:rPr>
              <a:t>. · Ik vind Sofie </a:t>
            </a:r>
            <a:r>
              <a:rPr lang="en-US" sz="1700" b="1" i="1" dirty="0">
                <a:solidFill>
                  <a:schemeClr val="accent1"/>
                </a:solidFill>
              </a:rPr>
              <a:t>leuk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8095488" y="1600200"/>
            <a:ext cx="3544824" cy="3291840"/>
          </a:xfrm>
          <a:prstGeom prst="roundRect">
            <a:avLst>
              <a:gd name="adj" fmla="val 2778"/>
            </a:avLst>
          </a:prstGeom>
          <a:solidFill>
            <a:schemeClr val="bg1"/>
          </a:solidFill>
          <a:ln w="2540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smiling face with hear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0700" y="1783080"/>
            <a:ext cx="914400" cy="9144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232648" y="2743200"/>
            <a:ext cx="3270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accent4"/>
                </a:solidFill>
              </a:rPr>
              <a:t>dol zijn op</a:t>
            </a:r>
            <a:endParaRPr lang="en-US" sz="2200" dirty="0"/>
          </a:p>
        </p:txBody>
      </p:sp>
      <p:sp>
        <p:nvSpPr>
          <p:cNvPr id="18" name="Text 12"/>
          <p:cNvSpPr txBox="1"/>
          <p:nvPr/>
        </p:nvSpPr>
        <p:spPr>
          <a:xfrm>
            <a:off x="8232648" y="315468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adorer (aussi : </a:t>
            </a:r>
            <a:r>
              <a:rPr lang="en-US" sz="1400" i="1" dirty="0">
                <a:solidFill>
                  <a:schemeClr val="accent5"/>
                </a:solidFill>
              </a:rPr>
              <a:t>gek zijn op</a:t>
            </a:r>
            <a:r>
              <a:rPr lang="en-US" sz="1400" i="1" dirty="0">
                <a:solidFill>
                  <a:schemeClr val="accent5"/>
                </a:solidFill>
              </a:rPr>
              <a:t>)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8232648" y="3566160"/>
            <a:ext cx="3270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ben </a:t>
            </a:r>
            <a:r>
              <a:rPr lang="en-US" sz="1700" b="1" i="1" dirty="0">
                <a:solidFill>
                  <a:schemeClr val="accent4"/>
                </a:solidFill>
              </a:rPr>
              <a:t>dol op</a:t>
            </a:r>
            <a:r>
              <a:rPr lang="en-US" sz="1700" i="1" dirty="0">
                <a:solidFill>
                  <a:schemeClr val="tx1"/>
                </a:solidFill>
              </a:rPr>
              <a:t> chocolade.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548640" y="5074920"/>
            <a:ext cx="11091672" cy="594360"/>
          </a:xfrm>
          <a:prstGeom prst="roundRect">
            <a:avLst>
              <a:gd name="adj" fmla="val 15385"/>
            </a:avLst>
          </a:prstGeom>
          <a:solidFill>
            <a:schemeClr val="accent6">
              <a:alpha val="8000"/>
            </a:schemeClr>
          </a:solidFill>
          <a:ln w="15875">
            <a:solidFill>
              <a:srgbClr val="B83227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77240" y="507492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✗ </a:t>
            </a:r>
            <a:r>
              <a:rPr lang="en-US" sz="1800" i="1" strike="sngStrike" dirty="0">
                <a:solidFill>
                  <a:schemeClr val="accent6"/>
                </a:solidFill>
              </a:rPr>
              <a:t>Deze soep is leuk</a:t>
            </a:r>
            <a:r>
              <a:rPr lang="en-US" sz="1800" dirty="0">
                <a:solidFill>
                  <a:schemeClr val="tx1"/>
                </a:solidFill>
              </a:rPr>
              <a:t> : une soupe n’est pas « sympa » → </a:t>
            </a:r>
            <a:r>
              <a:rPr lang="en-US" sz="1800" i="1" dirty="0">
                <a:solidFill>
                  <a:schemeClr val="tx1"/>
                </a:solidFill>
              </a:rPr>
              <a:t>Deze soep is </a:t>
            </a:r>
            <a:r>
              <a:rPr lang="en-US" sz="1800" b="1" i="1" dirty="0">
                <a:solidFill>
                  <a:schemeClr val="tx1"/>
                </a:solidFill>
              </a:rPr>
              <a:t>lekker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Ik vind Sofie leuk</a:t>
            </a:r>
            <a:r>
              <a:rPr lang="en-US" sz="1500" i="1" dirty="0">
                <a:solidFill>
                  <a:schemeClr val="accent5"/>
                </a:solidFill>
              </a:rPr>
              <a:t> peut vouloir dire « Sofie me plaît » : au bureau, préférez </a:t>
            </a:r>
            <a:r>
              <a:rPr lang="en-US" sz="1500" i="1" dirty="0">
                <a:solidFill>
                  <a:schemeClr val="accent5"/>
                </a:solidFill>
              </a:rPr>
              <a:t>aardig</a:t>
            </a:r>
            <a:r>
              <a:rPr lang="en-US" sz="1500" i="1" dirty="0">
                <a:solidFill>
                  <a:schemeClr val="accent5"/>
                </a:solidFill>
              </a:rPr>
              <a:t> (gentille).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un seul « aimer » en français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4023360"/>
          </a:xfrm>
          <a:prstGeom prst="roundRect">
            <a:avLst>
              <a:gd name="adj" fmla="val 1818"/>
            </a:avLst>
          </a:prstGeom>
          <a:solidFill>
            <a:schemeClr val="accent6">
              <a:alpha val="6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731520" y="1691640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10312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J’aime nager »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3931920" y="210312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✗ </a:t>
            </a:r>
            <a:r>
              <a:rPr lang="en-US" sz="1500" i="1" strike="sngStrike" dirty="0">
                <a:solidFill>
                  <a:schemeClr val="accent6"/>
                </a:solidFill>
              </a:rPr>
              <a:t>Ik graag zwem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46520" y="2404872"/>
            <a:ext cx="32004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6812280" y="2139696"/>
            <a:ext cx="4663440" cy="530352"/>
          </a:xfrm>
          <a:prstGeom prst="roundRect">
            <a:avLst>
              <a:gd name="adj" fmla="val 17241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49440" y="2139696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✓ </a:t>
            </a:r>
            <a:r>
              <a:rPr lang="en-US" sz="1700" i="1" dirty="0">
                <a:solidFill>
                  <a:schemeClr val="tx1"/>
                </a:solidFill>
              </a:rPr>
              <a:t>Ik zwem </a:t>
            </a:r>
            <a:r>
              <a:rPr lang="en-US" sz="1700" b="1" i="1" dirty="0">
                <a:solidFill>
                  <a:schemeClr val="accent3"/>
                </a:solidFill>
              </a:rPr>
              <a:t>graag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78892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J’aime le café »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446520" y="3090672"/>
            <a:ext cx="32004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812280" y="2825496"/>
            <a:ext cx="4663440" cy="530352"/>
          </a:xfrm>
          <a:prstGeom prst="roundRect">
            <a:avLst>
              <a:gd name="adj" fmla="val 17241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49440" y="2825496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✓ </a:t>
            </a:r>
            <a:r>
              <a:rPr lang="en-US" sz="1500" i="1" dirty="0">
                <a:solidFill>
                  <a:schemeClr val="tx1"/>
                </a:solidFill>
              </a:rPr>
              <a:t>Ik drink graag koffie · Ik hou van koffie · Ik vind koffie lekker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347472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Je t’aime »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446520" y="3776472"/>
            <a:ext cx="32004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812280" y="3511296"/>
            <a:ext cx="4663440" cy="530352"/>
          </a:xfrm>
          <a:prstGeom prst="roundRect">
            <a:avLst>
              <a:gd name="adj" fmla="val 17241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949440" y="3511296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✓ </a:t>
            </a:r>
            <a:r>
              <a:rPr lang="en-US" sz="1700" i="1" dirty="0">
                <a:solidFill>
                  <a:schemeClr val="tx1"/>
                </a:solidFill>
              </a:rPr>
              <a:t>Ik </a:t>
            </a:r>
            <a:r>
              <a:rPr lang="en-US" sz="1700" b="1" i="1" dirty="0">
                <a:solidFill>
                  <a:schemeClr val="accent4"/>
                </a:solidFill>
              </a:rPr>
              <a:t>hou van</a:t>
            </a:r>
            <a:r>
              <a:rPr lang="en-US" sz="1700" i="1" dirty="0">
                <a:solidFill>
                  <a:schemeClr val="tx1"/>
                </a:solidFill>
              </a:rPr>
              <a:t> je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416052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Je t’aime bien »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3931920" y="416052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✗ </a:t>
            </a:r>
            <a:r>
              <a:rPr lang="en-US" sz="1500" i="1" strike="sngStrike" dirty="0">
                <a:solidFill>
                  <a:schemeClr val="accent6"/>
                </a:solidFill>
              </a:rPr>
              <a:t>Ik hou van je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446520" y="4462272"/>
            <a:ext cx="32004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812280" y="4197096"/>
            <a:ext cx="4663440" cy="530352"/>
          </a:xfrm>
          <a:prstGeom prst="roundRect">
            <a:avLst>
              <a:gd name="adj" fmla="val 17241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949440" y="4197096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✓ </a:t>
            </a:r>
            <a:r>
              <a:rPr lang="en-US" sz="1700" i="1" dirty="0">
                <a:solidFill>
                  <a:schemeClr val="tx1"/>
                </a:solidFill>
              </a:rPr>
              <a:t>Ik vind je </a:t>
            </a:r>
            <a:r>
              <a:rPr lang="en-US" sz="1700" b="1" i="1" dirty="0">
                <a:solidFill>
                  <a:schemeClr val="accent1"/>
                </a:solidFill>
              </a:rPr>
              <a:t>leuk</a:t>
            </a:r>
            <a:r>
              <a:rPr lang="en-US" sz="1700" i="1" dirty="0">
                <a:solidFill>
                  <a:schemeClr val="tx1"/>
                </a:solidFill>
              </a:rPr>
              <a:t> / </a:t>
            </a:r>
            <a:r>
              <a:rPr lang="en-US" sz="1700" b="1" i="1" dirty="0">
                <a:solidFill>
                  <a:schemeClr val="accent1"/>
                </a:solidFill>
              </a:rPr>
              <a:t>aardig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868680" y="484632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J’aimerais un café »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6446520" y="5148072"/>
            <a:ext cx="32004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6812280" y="4882896"/>
            <a:ext cx="4663440" cy="530352"/>
          </a:xfrm>
          <a:prstGeom prst="roundRect">
            <a:avLst>
              <a:gd name="adj" fmla="val 17241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949440" y="4882896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✓ </a:t>
            </a:r>
            <a:r>
              <a:rPr lang="en-US" sz="1700" i="1" dirty="0">
                <a:solidFill>
                  <a:schemeClr val="tx1"/>
                </a:solidFill>
              </a:rPr>
              <a:t>Ik wil </a:t>
            </a:r>
            <a:r>
              <a:rPr lang="en-US" sz="1700" b="1" i="1" dirty="0">
                <a:solidFill>
                  <a:schemeClr val="accent3"/>
                </a:solidFill>
              </a:rPr>
              <a:t>graag</a:t>
            </a:r>
            <a:r>
              <a:rPr lang="en-US" sz="1700" i="1" dirty="0">
                <a:solidFill>
                  <a:schemeClr val="tx1"/>
                </a:solidFill>
              </a:rPr>
              <a:t> een koffie (M29)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22960" y="57150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bg1"/>
                </a:solidFill>
              </a:rPr>
              <a:t>Ik hou van je</a:t>
            </a:r>
            <a:r>
              <a:rPr lang="en-US" sz="1700" dirty="0">
                <a:solidFill>
                  <a:schemeClr val="bg1"/>
                </a:solidFill>
              </a:rPr>
              <a:t> est fort (partenaire, enfants). Au bureau : </a:t>
            </a:r>
            <a:r>
              <a:rPr lang="en-US" sz="1700" i="1" dirty="0">
                <a:solidFill>
                  <a:schemeClr val="bg1"/>
                </a:solidFill>
              </a:rPr>
              <a:t>Ik vind mijn collega’s leuk / aardig.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graag dans la politesse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200046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MISE EN SITUATION</a:t>
            </a:r>
            <a:endParaRPr lang="en-US" sz="1200" dirty="0"/>
          </a:p>
        </p:txBody>
      </p:sp>
      <p:pic>
        <p:nvPicPr>
          <p:cNvPr id="5" name="Image 0" descr="person tipping ha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234440" y="1554480"/>
            <a:ext cx="5120640" cy="566928"/>
          </a:xfrm>
          <a:prstGeom prst="roundRect">
            <a:avLst>
              <a:gd name="adj" fmla="val 29032"/>
            </a:avLst>
          </a:prstGeom>
          <a:solidFill>
            <a:schemeClr val="accent2">
              <a:alpha val="12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399032" y="1554480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Ober</a:t>
            </a:r>
            <a:r>
              <a:rPr lang="en-US" sz="1600" dirty="0">
                <a:solidFill>
                  <a:schemeClr val="tx1"/>
                </a:solidFill>
              </a:rPr>
              <a:t> · </a:t>
            </a:r>
            <a:r>
              <a:rPr lang="en-US" sz="1600" i="1" dirty="0">
                <a:solidFill>
                  <a:schemeClr val="tx1"/>
                </a:solidFill>
              </a:rPr>
              <a:t>Wat mag het zijn?</a:t>
            </a:r>
            <a:endParaRPr lang="en-US" sz="1600" dirty="0"/>
          </a:p>
        </p:txBody>
      </p:sp>
      <p:pic>
        <p:nvPicPr>
          <p:cNvPr id="8" name="Image 1" descr="man office work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212848"/>
            <a:ext cx="566928" cy="56692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737360" y="2212848"/>
            <a:ext cx="5120640" cy="566928"/>
          </a:xfrm>
          <a:prstGeom prst="roundRect">
            <a:avLst>
              <a:gd name="adj" fmla="val 29032"/>
            </a:avLst>
          </a:prstGeom>
          <a:solidFill>
            <a:schemeClr val="accent3">
              <a:alpha val="12000"/>
            </a:schemeClr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1901952" y="2212848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Karim</a:t>
            </a:r>
            <a:r>
              <a:rPr lang="en-US" sz="1600" dirty="0">
                <a:solidFill>
                  <a:schemeClr val="tx1"/>
                </a:solidFill>
              </a:rPr>
              <a:t> · </a:t>
            </a:r>
            <a:r>
              <a:rPr lang="en-US" sz="1600" i="1" dirty="0">
                <a:solidFill>
                  <a:schemeClr val="tx1"/>
                </a:solidFill>
              </a:rPr>
              <a:t>Ik wil </a:t>
            </a:r>
            <a:r>
              <a:rPr lang="en-US" sz="1600" b="1" i="1" dirty="0">
                <a:solidFill>
                  <a:schemeClr val="accent3"/>
                </a:solidFill>
              </a:rPr>
              <a:t>graag</a:t>
            </a:r>
            <a:r>
              <a:rPr lang="en-US" sz="1600" i="1" dirty="0">
                <a:solidFill>
                  <a:schemeClr val="tx1"/>
                </a:solidFill>
              </a:rPr>
              <a:t> een koffie.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7680960" y="2212848"/>
            <a:ext cx="3959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→ je voudrais</a:t>
            </a:r>
            <a:endParaRPr lang="en-US" sz="1500" dirty="0"/>
          </a:p>
        </p:txBody>
      </p:sp>
      <p:pic>
        <p:nvPicPr>
          <p:cNvPr id="12" name="Image 2" descr="person tipping han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71216"/>
            <a:ext cx="566928" cy="566928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234440" y="2871216"/>
            <a:ext cx="5120640" cy="566928"/>
          </a:xfrm>
          <a:prstGeom prst="roundRect">
            <a:avLst>
              <a:gd name="adj" fmla="val 29032"/>
            </a:avLst>
          </a:prstGeom>
          <a:solidFill>
            <a:schemeClr val="accent2">
              <a:alpha val="12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1399032" y="2871216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Ober</a:t>
            </a:r>
            <a:r>
              <a:rPr lang="en-US" sz="1600" dirty="0">
                <a:solidFill>
                  <a:schemeClr val="tx1"/>
                </a:solidFill>
              </a:rPr>
              <a:t> · </a:t>
            </a:r>
            <a:r>
              <a:rPr lang="en-US" sz="1600" i="1" dirty="0">
                <a:solidFill>
                  <a:schemeClr val="tx1"/>
                </a:solidFill>
              </a:rPr>
              <a:t>Met melk?</a:t>
            </a:r>
            <a:endParaRPr lang="en-US" sz="1600" dirty="0"/>
          </a:p>
        </p:txBody>
      </p:sp>
      <p:pic>
        <p:nvPicPr>
          <p:cNvPr id="15" name="Image 3" descr="man office work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3529584"/>
            <a:ext cx="566928" cy="566928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1737360" y="3529584"/>
            <a:ext cx="5120640" cy="566928"/>
          </a:xfrm>
          <a:prstGeom prst="roundRect">
            <a:avLst>
              <a:gd name="adj" fmla="val 29032"/>
            </a:avLst>
          </a:prstGeom>
          <a:solidFill>
            <a:schemeClr val="accent3">
              <a:alpha val="12000"/>
            </a:schemeClr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1901952" y="3529584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Karim</a:t>
            </a:r>
            <a:r>
              <a:rPr lang="en-US" sz="1600" dirty="0">
                <a:solidFill>
                  <a:schemeClr val="tx1"/>
                </a:solidFill>
              </a:rPr>
              <a:t> · </a:t>
            </a:r>
            <a:r>
              <a:rPr lang="en-US" sz="1600" i="1" dirty="0">
                <a:solidFill>
                  <a:schemeClr val="tx1"/>
                </a:solidFill>
              </a:rPr>
              <a:t>Ja, </a:t>
            </a:r>
            <a:r>
              <a:rPr lang="en-US" sz="1600" b="1" i="1" dirty="0">
                <a:solidFill>
                  <a:schemeClr val="accent3"/>
                </a:solidFill>
              </a:rPr>
              <a:t>graag</a:t>
            </a:r>
            <a:r>
              <a:rPr lang="en-US" sz="1600" i="1" dirty="0">
                <a:solidFill>
                  <a:schemeClr val="tx1"/>
                </a:solidFill>
              </a:rPr>
              <a:t>!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7680960" y="3529584"/>
            <a:ext cx="3959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→ oui, volontiers</a:t>
            </a:r>
            <a:endParaRPr lang="en-US" sz="1500" dirty="0"/>
          </a:p>
        </p:txBody>
      </p:sp>
      <p:pic>
        <p:nvPicPr>
          <p:cNvPr id="19" name="Image 4" descr="man office work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4187952"/>
            <a:ext cx="566928" cy="566928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1737360" y="4187952"/>
            <a:ext cx="5120640" cy="566928"/>
          </a:xfrm>
          <a:prstGeom prst="roundRect">
            <a:avLst>
              <a:gd name="adj" fmla="val 29032"/>
            </a:avLst>
          </a:prstGeom>
          <a:solidFill>
            <a:schemeClr val="accent3">
              <a:alpha val="12000"/>
            </a:schemeClr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1" name="Text 13"/>
          <p:cNvSpPr txBox="1"/>
          <p:nvPr/>
        </p:nvSpPr>
        <p:spPr>
          <a:xfrm>
            <a:off x="1901952" y="4187952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Karim</a:t>
            </a:r>
            <a:r>
              <a:rPr lang="en-US" sz="1600" dirty="0">
                <a:solidFill>
                  <a:schemeClr val="tx1"/>
                </a:solidFill>
              </a:rPr>
              <a:t> · </a:t>
            </a:r>
            <a:r>
              <a:rPr lang="en-US" sz="1600" i="1" dirty="0">
                <a:solidFill>
                  <a:schemeClr val="tx1"/>
                </a:solidFill>
              </a:rPr>
              <a:t>Dank u wel!</a:t>
            </a:r>
            <a:endParaRPr lang="en-US" sz="1600" dirty="0"/>
          </a:p>
        </p:txBody>
      </p:sp>
      <p:pic>
        <p:nvPicPr>
          <p:cNvPr id="22" name="Image 5" descr="person tipping han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846320"/>
            <a:ext cx="566928" cy="566928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1234440" y="4846320"/>
            <a:ext cx="5120640" cy="566928"/>
          </a:xfrm>
          <a:prstGeom prst="roundRect">
            <a:avLst>
              <a:gd name="adj" fmla="val 29032"/>
            </a:avLst>
          </a:prstGeom>
          <a:solidFill>
            <a:schemeClr val="accent2">
              <a:alpha val="12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24" name="Text 15"/>
          <p:cNvSpPr txBox="1"/>
          <p:nvPr/>
        </p:nvSpPr>
        <p:spPr>
          <a:xfrm>
            <a:off x="1399032" y="4846320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Ober</a:t>
            </a:r>
            <a:r>
              <a:rPr lang="en-US" sz="1600" dirty="0">
                <a:solidFill>
                  <a:schemeClr val="tx1"/>
                </a:solidFill>
              </a:rPr>
              <a:t> · </a:t>
            </a:r>
            <a:r>
              <a:rPr lang="en-US" sz="1600" b="1" i="1" dirty="0">
                <a:solidFill>
                  <a:schemeClr val="accent3"/>
                </a:solidFill>
              </a:rPr>
              <a:t>Graag gedaan</a:t>
            </a:r>
            <a:r>
              <a:rPr lang="en-US" sz="1600" i="1" dirty="0">
                <a:solidFill>
                  <a:schemeClr val="tx1"/>
                </a:solidFill>
              </a:rPr>
              <a:t>!</a:t>
            </a:r>
            <a:endParaRPr lang="en-US" sz="1600" dirty="0"/>
          </a:p>
        </p:txBody>
      </p:sp>
      <p:sp>
        <p:nvSpPr>
          <p:cNvPr id="25" name="Text 16"/>
          <p:cNvSpPr txBox="1"/>
          <p:nvPr/>
        </p:nvSpPr>
        <p:spPr>
          <a:xfrm>
            <a:off x="7680960" y="4846320"/>
            <a:ext cx="3959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→ avec plaisir / de rien</a:t>
            </a:r>
            <a:endParaRPr lang="en-US" sz="1500" dirty="0"/>
          </a:p>
        </p:txBody>
      </p:sp>
      <p:pic>
        <p:nvPicPr>
          <p:cNvPr id="26" name="Image 6" descr="hot beverag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7040" y="1600200"/>
            <a:ext cx="914400" cy="9144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548640" y="5623560"/>
            <a:ext cx="11091672" cy="621792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18"/>
          <p:cNvSpPr txBox="1"/>
          <p:nvPr/>
        </p:nvSpPr>
        <p:spPr>
          <a:xfrm>
            <a:off x="822960" y="562356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Belgique : on entend aussi </a:t>
            </a:r>
            <a:r>
              <a:rPr lang="en-US" sz="1800" i="1" dirty="0">
                <a:solidFill>
                  <a:schemeClr val="bg1"/>
                </a:solidFill>
              </a:rPr>
              <a:t>Ik had graag een koffie</a:t>
            </a:r>
            <a:r>
              <a:rPr lang="en-US" sz="1800" dirty="0">
                <a:solidFill>
                  <a:schemeClr val="bg1"/>
                </a:solidFill>
              </a:rPr>
              <a:t> (je voudrais) — voir M29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 place de graag dans la phrase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92165" cy="603504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00200"/>
            <a:ext cx="5921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Ik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1232245" y="1600200"/>
            <a:ext cx="904129" cy="603504"/>
          </a:xfrm>
          <a:prstGeom prst="roundRect">
            <a:avLst>
              <a:gd name="adj" fmla="val 12121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32245" y="1600200"/>
            <a:ext cx="90412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wil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2227815" y="1600200"/>
            <a:ext cx="1239634" cy="603504"/>
          </a:xfrm>
          <a:prstGeom prst="roundRect">
            <a:avLst>
              <a:gd name="adj" fmla="val 12121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227815" y="1600200"/>
            <a:ext cx="123963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graag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3558889" y="1600200"/>
            <a:ext cx="1790395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58889" y="1600200"/>
            <a:ext cx="17903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een koffie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440724" y="1600200"/>
            <a:ext cx="2078395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25400">
            <a:solidFill>
              <a:srgbClr val="B83227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5440724" y="1600200"/>
            <a:ext cx="20783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bestellen.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548640" y="2350008"/>
            <a:ext cx="592165" cy="603504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2350008"/>
            <a:ext cx="5921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Ik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1232245" y="2350008"/>
            <a:ext cx="904129" cy="603504"/>
          </a:xfrm>
          <a:prstGeom prst="roundRect">
            <a:avLst>
              <a:gd name="adj" fmla="val 12121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232245" y="2350008"/>
            <a:ext cx="90412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heb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2227815" y="2350008"/>
            <a:ext cx="741944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227815" y="2350008"/>
            <a:ext cx="741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dat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3061199" y="2350008"/>
            <a:ext cx="1239634" cy="603504"/>
          </a:xfrm>
          <a:prstGeom prst="roundRect">
            <a:avLst>
              <a:gd name="adj" fmla="val 12121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061199" y="2350008"/>
            <a:ext cx="123963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graag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4392273" y="2350008"/>
            <a:ext cx="157513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25400">
            <a:solidFill>
              <a:srgbClr val="B83227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4392273" y="2350008"/>
            <a:ext cx="15751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gedaan.</a:t>
            </a:r>
            <a:endParaRPr lang="en-US" sz="2100" dirty="0"/>
          </a:p>
        </p:txBody>
      </p:sp>
      <p:sp>
        <p:nvSpPr>
          <p:cNvPr id="25" name="Shape 22"/>
          <p:cNvSpPr/>
          <p:nvPr/>
        </p:nvSpPr>
        <p:spPr>
          <a:xfrm>
            <a:off x="548640" y="3099816"/>
            <a:ext cx="592165" cy="603504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3099816"/>
            <a:ext cx="5921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Ik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1232245" y="3099816"/>
            <a:ext cx="736377" cy="603504"/>
          </a:xfrm>
          <a:prstGeom prst="roundRect">
            <a:avLst>
              <a:gd name="adj" fmla="val 12121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232245" y="3099816"/>
            <a:ext cx="73637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ga</a:t>
            </a:r>
            <a:endParaRPr lang="en-US" sz="2100" dirty="0"/>
          </a:p>
        </p:txBody>
      </p:sp>
      <p:sp>
        <p:nvSpPr>
          <p:cNvPr id="29" name="Shape 26"/>
          <p:cNvSpPr/>
          <p:nvPr/>
        </p:nvSpPr>
        <p:spPr>
          <a:xfrm>
            <a:off x="2060063" y="3099816"/>
            <a:ext cx="1239634" cy="603504"/>
          </a:xfrm>
          <a:prstGeom prst="roundRect">
            <a:avLst>
              <a:gd name="adj" fmla="val 12121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060063" y="3099816"/>
            <a:ext cx="123963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graag</a:t>
            </a:r>
            <a:endParaRPr lang="en-US" sz="2100" dirty="0"/>
          </a:p>
        </p:txBody>
      </p:sp>
      <p:sp>
        <p:nvSpPr>
          <p:cNvPr id="31" name="Shape 28"/>
          <p:cNvSpPr/>
          <p:nvPr/>
        </p:nvSpPr>
        <p:spPr>
          <a:xfrm>
            <a:off x="3391137" y="3099816"/>
            <a:ext cx="2239731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391137" y="3099816"/>
            <a:ext cx="223973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naar de film.</a:t>
            </a:r>
            <a:endParaRPr lang="en-US" sz="2100" dirty="0"/>
          </a:p>
        </p:txBody>
      </p:sp>
      <p:sp>
        <p:nvSpPr>
          <p:cNvPr id="33" name="Shape 30"/>
          <p:cNvSpPr/>
          <p:nvPr/>
        </p:nvSpPr>
        <p:spPr>
          <a:xfrm>
            <a:off x="548640" y="3849624"/>
            <a:ext cx="238951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48640" y="3849624"/>
            <a:ext cx="238951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In het weekend</a:t>
            </a:r>
            <a:endParaRPr lang="en-US" sz="2100" dirty="0"/>
          </a:p>
        </p:txBody>
      </p:sp>
      <p:sp>
        <p:nvSpPr>
          <p:cNvPr id="35" name="Shape 32"/>
          <p:cNvSpPr/>
          <p:nvPr/>
        </p:nvSpPr>
        <p:spPr>
          <a:xfrm>
            <a:off x="3029590" y="3849624"/>
            <a:ext cx="1239634" cy="603504"/>
          </a:xfrm>
          <a:prstGeom prst="roundRect">
            <a:avLst>
              <a:gd name="adj" fmla="val 12121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029590" y="3849624"/>
            <a:ext cx="123963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fiets</a:t>
            </a:r>
            <a:endParaRPr lang="en-US" sz="2100" dirty="0"/>
          </a:p>
        </p:txBody>
      </p:sp>
      <p:sp>
        <p:nvSpPr>
          <p:cNvPr id="37" name="Shape 34"/>
          <p:cNvSpPr/>
          <p:nvPr/>
        </p:nvSpPr>
        <p:spPr>
          <a:xfrm>
            <a:off x="4360664" y="3849624"/>
            <a:ext cx="592165" cy="603504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360664" y="3849624"/>
            <a:ext cx="5921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ik</a:t>
            </a:r>
            <a:endParaRPr lang="en-US" sz="2100" dirty="0"/>
          </a:p>
        </p:txBody>
      </p:sp>
      <p:sp>
        <p:nvSpPr>
          <p:cNvPr id="39" name="Shape 36"/>
          <p:cNvSpPr/>
          <p:nvPr/>
        </p:nvSpPr>
        <p:spPr>
          <a:xfrm>
            <a:off x="5044269" y="3849624"/>
            <a:ext cx="1407386" cy="603504"/>
          </a:xfrm>
          <a:prstGeom prst="roundRect">
            <a:avLst>
              <a:gd name="adj" fmla="val 12121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044269" y="3849624"/>
            <a:ext cx="14073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graag.</a:t>
            </a:r>
            <a:endParaRPr lang="en-US" sz="2100" dirty="0"/>
          </a:p>
        </p:txBody>
      </p:sp>
      <p:sp>
        <p:nvSpPr>
          <p:cNvPr id="41" name="Shape 38"/>
          <p:cNvSpPr/>
          <p:nvPr/>
        </p:nvSpPr>
        <p:spPr>
          <a:xfrm>
            <a:off x="548640" y="4599432"/>
            <a:ext cx="1490838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48640" y="4599432"/>
            <a:ext cx="14908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…, omdat</a:t>
            </a:r>
            <a:endParaRPr lang="en-US" sz="2100" dirty="0"/>
          </a:p>
        </p:txBody>
      </p:sp>
      <p:sp>
        <p:nvSpPr>
          <p:cNvPr id="43" name="Shape 40"/>
          <p:cNvSpPr/>
          <p:nvPr/>
        </p:nvSpPr>
        <p:spPr>
          <a:xfrm>
            <a:off x="2130918" y="4599432"/>
            <a:ext cx="592165" cy="603504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130918" y="4599432"/>
            <a:ext cx="5921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ik</a:t>
            </a:r>
            <a:endParaRPr lang="en-US" sz="2100" dirty="0"/>
          </a:p>
        </p:txBody>
      </p:sp>
      <p:sp>
        <p:nvSpPr>
          <p:cNvPr id="45" name="Shape 42"/>
          <p:cNvSpPr/>
          <p:nvPr/>
        </p:nvSpPr>
        <p:spPr>
          <a:xfrm>
            <a:off x="2814523" y="4599432"/>
            <a:ext cx="1239634" cy="603504"/>
          </a:xfrm>
          <a:prstGeom prst="roundRect">
            <a:avLst>
              <a:gd name="adj" fmla="val 12121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2814523" y="4599432"/>
            <a:ext cx="123963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graag</a:t>
            </a:r>
            <a:endParaRPr lang="en-US" sz="2100" dirty="0"/>
          </a:p>
        </p:txBody>
      </p:sp>
      <p:sp>
        <p:nvSpPr>
          <p:cNvPr id="47" name="Shape 44"/>
          <p:cNvSpPr/>
          <p:nvPr/>
        </p:nvSpPr>
        <p:spPr>
          <a:xfrm>
            <a:off x="4145597" y="4599432"/>
            <a:ext cx="1407386" cy="603504"/>
          </a:xfrm>
          <a:prstGeom prst="roundRect">
            <a:avLst>
              <a:gd name="adj" fmla="val 12121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4145597" y="4599432"/>
            <a:ext cx="14073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fiets.</a:t>
            </a:r>
            <a:endParaRPr lang="en-US" sz="2100" dirty="0"/>
          </a:p>
        </p:txBody>
      </p:sp>
      <p:sp>
        <p:nvSpPr>
          <p:cNvPr id="49" name="Shape 46"/>
          <p:cNvSpPr/>
          <p:nvPr/>
        </p:nvSpPr>
        <p:spPr>
          <a:xfrm>
            <a:off x="8503920" y="1600200"/>
            <a:ext cx="3136392" cy="3602736"/>
          </a:xfrm>
          <a:prstGeom prst="roundRect">
            <a:avLst>
              <a:gd name="adj" fmla="val 2915"/>
            </a:avLst>
          </a:prstGeom>
          <a:solidFill>
            <a:srgbClr val="EDF6F0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641080" y="1691640"/>
            <a:ext cx="28803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Comme </a:t>
            </a:r>
            <a:r>
              <a:rPr lang="en-US" sz="1500" b="1" i="1" dirty="0">
                <a:solidFill>
                  <a:schemeClr val="tx1"/>
                </a:solidFill>
              </a:rPr>
              <a:t>niet</a:t>
            </a:r>
            <a:r>
              <a:rPr lang="en-US" sz="1500" dirty="0">
                <a:solidFill>
                  <a:schemeClr val="tx1"/>
                </a:solidFill>
              </a:rPr>
              <a:t> (M13)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après le verbe conjugué (et le sujet inversé)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après les pronoms (</a:t>
            </a:r>
            <a:r>
              <a:rPr lang="en-US" sz="1500" i="1" dirty="0">
                <a:solidFill>
                  <a:schemeClr val="tx1"/>
                </a:solidFill>
              </a:rPr>
              <a:t>dat, het, me</a:t>
            </a:r>
            <a:r>
              <a:rPr lang="en-US" sz="1500" dirty="0">
                <a:solidFill>
                  <a:schemeClr val="tx1"/>
                </a:solidFill>
              </a:rPr>
              <a:t>), avant les autres compléments et le 2ᵉ verbe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Ik heb dat graag gedaan</a:t>
            </a:r>
            <a:r>
              <a:rPr lang="en-US" sz="1500" dirty="0">
                <a:solidFill>
                  <a:schemeClr val="tx1"/>
                </a:solidFill>
              </a:rPr>
              <a:t> = je l’ai fait avec plaisir</a:t>
            </a:r>
            <a:endParaRPr lang="en-US" sz="1500" dirty="0"/>
          </a:p>
        </p:txBody>
      </p:sp>
      <p:sp>
        <p:nvSpPr>
          <p:cNvPr id="51" name="Shape 48"/>
          <p:cNvSpPr/>
          <p:nvPr/>
        </p:nvSpPr>
        <p:spPr>
          <a:xfrm>
            <a:off x="548640" y="5532120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22960" y="55321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Subordonnée : </a:t>
            </a:r>
            <a:r>
              <a:rPr lang="en-US" sz="1700" i="1" dirty="0">
                <a:solidFill>
                  <a:schemeClr val="bg1"/>
                </a:solidFill>
              </a:rPr>
              <a:t>graag</a:t>
            </a:r>
            <a:r>
              <a:rPr lang="en-US" sz="1700" dirty="0">
                <a:solidFill>
                  <a:schemeClr val="bg1"/>
                </a:solidFill>
              </a:rPr>
              <a:t> reste devant le verbe, qui part à la fin (M9) : </a:t>
            </a:r>
            <a:r>
              <a:rPr lang="en-US" sz="1700" i="1" dirty="0">
                <a:solidFill>
                  <a:schemeClr val="bg1"/>
                </a:solidFill>
              </a:rPr>
              <a:t>…, omdat ik graag fiets.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À retenir : l’aiguillage du verbe « aimer »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6581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44824" cy="173736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554480"/>
            <a:ext cx="3544824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554480"/>
            <a:ext cx="3544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chemeClr val="bg1"/>
                </a:solidFill>
              </a:rPr>
              <a:t>ACTIVITÉ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103120"/>
            <a:ext cx="32705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verbe + </a:t>
            </a:r>
            <a:r>
              <a:rPr lang="en-US" sz="1800" i="1" dirty="0">
                <a:solidFill>
                  <a:schemeClr val="tx1"/>
                </a:solidFill>
              </a:rPr>
              <a:t>graag</a:t>
            </a:r>
            <a:endParaRPr lang="en-US" sz="1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Ik lees </a:t>
            </a:r>
            <a:r>
              <a:rPr lang="en-US" sz="1800" b="1" i="1" dirty="0">
                <a:solidFill>
                  <a:schemeClr val="tx1"/>
                </a:solidFill>
              </a:rPr>
              <a:t>graag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322064" y="1554480"/>
            <a:ext cx="3544824" cy="173736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25400">
            <a:solidFill>
              <a:srgbClr val="B4236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22064" y="1554480"/>
            <a:ext cx="3544824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22064" y="1554480"/>
            <a:ext cx="3544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chemeClr val="bg1"/>
                </a:solidFill>
              </a:rPr>
              <a:t>PERSONNE / CHOSE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459224" y="2103120"/>
            <a:ext cx="32705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houden van</a:t>
            </a:r>
            <a:r>
              <a:rPr lang="en-US" sz="1800" dirty="0">
                <a:solidFill>
                  <a:schemeClr val="tx1"/>
                </a:solidFill>
              </a:rPr>
              <a:t> + nom</a:t>
            </a:r>
            <a:endParaRPr lang="en-US" sz="1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Ik </a:t>
            </a:r>
            <a:r>
              <a:rPr lang="en-US" sz="1800" b="1" i="1" dirty="0">
                <a:solidFill>
                  <a:schemeClr val="tx1"/>
                </a:solidFill>
              </a:rPr>
              <a:t>hou van</a:t>
            </a:r>
            <a:r>
              <a:rPr lang="en-US" sz="1800" i="1" dirty="0">
                <a:solidFill>
                  <a:schemeClr val="tx1"/>
                </a:solidFill>
              </a:rPr>
              <a:t> muziek.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095488" y="1554480"/>
            <a:ext cx="3544824" cy="173736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95488" y="1554480"/>
            <a:ext cx="3544824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95488" y="1554480"/>
            <a:ext cx="3544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chemeClr val="bg1"/>
                </a:solidFill>
              </a:rPr>
              <a:t>GOÛT / IMPRESSION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232648" y="2103120"/>
            <a:ext cx="32705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lekker / leuk vinden</a:t>
            </a:r>
            <a:endParaRPr lang="en-US" sz="1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Ik vind de soep </a:t>
            </a:r>
            <a:r>
              <a:rPr lang="en-US" sz="1800" b="1" i="1" dirty="0">
                <a:solidFill>
                  <a:schemeClr val="tx1"/>
                </a:solidFill>
              </a:rPr>
              <a:t>lekker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3520440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accent3">
              <a:alpha val="20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520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niet graag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3346704" y="3520440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accent3">
              <a:alpha val="35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346704" y="3520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graag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144768" y="3520440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accent3">
              <a:alpha val="50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144768" y="3520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liever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942832" y="3520440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accent3">
              <a:alpha val="65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942832" y="3520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het liefst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4114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+ </a:t>
            </a:r>
            <a:r>
              <a:rPr lang="en-US" sz="1500" i="1" dirty="0">
                <a:solidFill>
                  <a:schemeClr val="accent5"/>
                </a:solidFill>
              </a:rPr>
              <a:t>dol zijn op</a:t>
            </a:r>
            <a:r>
              <a:rPr lang="en-US" sz="1500" i="1" dirty="0">
                <a:solidFill>
                  <a:schemeClr val="accent5"/>
                </a:solidFill>
              </a:rPr>
              <a:t> (adorer)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48640" y="4617720"/>
            <a:ext cx="11091672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7240" y="46177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Politesse : </a:t>
            </a:r>
            <a:r>
              <a:rPr lang="en-US" sz="1900" i="1" dirty="0">
                <a:solidFill>
                  <a:schemeClr val="tx1"/>
                </a:solidFill>
              </a:rPr>
              <a:t>Ja, graag! · Graag gedaan! · Ik wil graag…</a:t>
            </a:r>
            <a:r>
              <a:rPr lang="en-US" sz="1900" dirty="0">
                <a:solidFill>
                  <a:schemeClr val="tx1"/>
                </a:solidFill>
              </a:rPr>
              <a:t> · Place : comme </a:t>
            </a:r>
            <a:r>
              <a:rPr lang="en-US" sz="1900" i="1" dirty="0">
                <a:solidFill>
                  <a:schemeClr val="tx1"/>
                </a:solidFill>
              </a:rPr>
              <a:t>niet</a:t>
            </a:r>
            <a:endParaRPr lang="en-US" sz="1900" dirty="0"/>
          </a:p>
        </p:txBody>
      </p:sp>
      <p:pic>
        <p:nvPicPr>
          <p:cNvPr id="28" name="Image 0" descr="Cam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960120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Oefeningen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JIJ NU !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pic>
        <p:nvPicPr>
          <p:cNvPr id="9" name="Image 0" descr="CodeBran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3130" y="277063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graag ou houden van ?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96037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09753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09753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pic>
        <p:nvPicPr>
          <p:cNvPr id="15" name="Image 1" descr="Troph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277063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9753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podium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09753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37210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50926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50926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pic>
        <p:nvPicPr>
          <p:cNvPr id="21" name="Image 2" descr="Langu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590" y="277063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0926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Traduisez « aimer »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50926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778383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92099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92099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pic>
        <p:nvPicPr>
          <p:cNvPr id="27" name="Image 3" descr="Sear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77063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92099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détective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792099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54864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8580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8580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pic>
        <p:nvPicPr>
          <p:cNvPr id="33" name="Image 4" descr="ListO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130" y="4599432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8580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Remettez en ordre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68580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296037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09753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309753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pic>
        <p:nvPicPr>
          <p:cNvPr id="39" name="Image 5" descr="User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860" y="4599432"/>
            <a:ext cx="384048" cy="38404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309753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Zoek iemand die…</a:t>
            </a:r>
            <a:endParaRPr lang="en-US" sz="1600" dirty="0"/>
          </a:p>
        </p:txBody>
      </p:sp>
      <p:sp>
        <p:nvSpPr>
          <p:cNvPr id="41" name="Text 32"/>
          <p:cNvSpPr txBox="1"/>
          <p:nvPr/>
        </p:nvSpPr>
        <p:spPr>
          <a:xfrm>
            <a:off x="309753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42" name="Shape 33"/>
          <p:cNvSpPr/>
          <p:nvPr/>
        </p:nvSpPr>
        <p:spPr>
          <a:xfrm>
            <a:off x="537210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550926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550926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pic>
        <p:nvPicPr>
          <p:cNvPr id="45" name="Image 6" descr="GlassCheer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6590" y="4599432"/>
            <a:ext cx="384048" cy="384048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550926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 sortie d’équipe</a:t>
            </a:r>
            <a:endParaRPr lang="en-US" sz="1600" dirty="0"/>
          </a:p>
        </p:txBody>
      </p:sp>
      <p:sp>
        <p:nvSpPr>
          <p:cNvPr id="47" name="Text 37"/>
          <p:cNvSpPr txBox="1"/>
          <p:nvPr/>
        </p:nvSpPr>
        <p:spPr>
          <a:xfrm>
            <a:off x="550926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★★★</a:t>
            </a:r>
            <a:endParaRPr lang="en-US" sz="1400" dirty="0"/>
          </a:p>
        </p:txBody>
      </p:sp>
      <p:pic>
        <p:nvPicPr>
          <p:cNvPr id="48" name="Image 7" descr="man teache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0" y="3657600"/>
            <a:ext cx="1645920" cy="1645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graag ou houden van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avec </a:t>
            </a:r>
            <a:r>
              <a:rPr lang="en-US" sz="1700" i="1" dirty="0">
                <a:solidFill>
                  <a:schemeClr val="accent5"/>
                </a:solidFill>
              </a:rPr>
              <a:t>graag</a:t>
            </a:r>
            <a:r>
              <a:rPr lang="en-US" sz="1700" i="1" dirty="0">
                <a:solidFill>
                  <a:schemeClr val="accent5"/>
                </a:solidFill>
              </a:rPr>
              <a:t> ou </a:t>
            </a:r>
            <a:r>
              <a:rPr lang="en-US" sz="1700" i="1" dirty="0">
                <a:solidFill>
                  <a:schemeClr val="accent5"/>
                </a:solidFill>
              </a:rPr>
              <a:t>houden van</a:t>
            </a:r>
            <a:r>
              <a:rPr lang="en-US" sz="1700" i="1" dirty="0">
                <a:solidFill>
                  <a:schemeClr val="accent5"/>
                </a:solidFill>
              </a:rPr>
              <a:t> (conjugué). Activité ou nom ?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87296"/>
            <a:ext cx="5408676" cy="979932"/>
          </a:xfrm>
          <a:prstGeom prst="roundRect">
            <a:avLst>
              <a:gd name="adj" fmla="val 7465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58368" y="1987296"/>
            <a:ext cx="365760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1</a:t>
            </a:r>
            <a:endParaRPr lang="en-US" sz="1700" dirty="0"/>
          </a:p>
        </p:txBody>
      </p:sp>
      <p:pic>
        <p:nvPicPr>
          <p:cNvPr id="10" name="Image 1" descr="open boo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202942"/>
            <a:ext cx="548640" cy="5486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91640" y="1987296"/>
            <a:ext cx="4174236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lees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2" name="Shape 7"/>
          <p:cNvSpPr/>
          <p:nvPr/>
        </p:nvSpPr>
        <p:spPr>
          <a:xfrm>
            <a:off x="548640" y="3076956"/>
            <a:ext cx="5408676" cy="979932"/>
          </a:xfrm>
          <a:prstGeom prst="roundRect">
            <a:avLst>
              <a:gd name="adj" fmla="val 7465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58368" y="3076956"/>
            <a:ext cx="365760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2</a:t>
            </a:r>
            <a:endParaRPr lang="en-US" sz="1700" dirty="0"/>
          </a:p>
        </p:txBody>
      </p:sp>
      <p:pic>
        <p:nvPicPr>
          <p:cNvPr id="14" name="Image 2" descr="cityscap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92602"/>
            <a:ext cx="548640" cy="54864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691640" y="3076956"/>
            <a:ext cx="4174236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Brussel.</a:t>
            </a:r>
            <a:endParaRPr lang="en-US" sz="2000" dirty="0"/>
          </a:p>
        </p:txBody>
      </p:sp>
      <p:sp>
        <p:nvSpPr>
          <p:cNvPr id="16" name="Shape 10"/>
          <p:cNvSpPr/>
          <p:nvPr/>
        </p:nvSpPr>
        <p:spPr>
          <a:xfrm>
            <a:off x="548640" y="4166616"/>
            <a:ext cx="5408676" cy="979932"/>
          </a:xfrm>
          <a:prstGeom prst="roundRect">
            <a:avLst>
              <a:gd name="adj" fmla="val 7465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658368" y="4166616"/>
            <a:ext cx="365760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3</a:t>
            </a:r>
            <a:endParaRPr lang="en-US" sz="1700" dirty="0"/>
          </a:p>
        </p:txBody>
      </p:sp>
      <p:pic>
        <p:nvPicPr>
          <p:cNvPr id="18" name="Image 3" descr="cook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82262"/>
            <a:ext cx="548640" cy="54864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691640" y="4166616"/>
            <a:ext cx="4174236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Karim kookt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voor zijn vrienden.</a:t>
            </a:r>
            <a:endParaRPr lang="en-US" sz="2000" dirty="0"/>
          </a:p>
        </p:txBody>
      </p:sp>
      <p:sp>
        <p:nvSpPr>
          <p:cNvPr id="20" name="Shape 13"/>
          <p:cNvSpPr/>
          <p:nvPr/>
        </p:nvSpPr>
        <p:spPr>
          <a:xfrm>
            <a:off x="548640" y="5256276"/>
            <a:ext cx="5408676" cy="979932"/>
          </a:xfrm>
          <a:prstGeom prst="roundRect">
            <a:avLst>
              <a:gd name="adj" fmla="val 7465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58368" y="5256276"/>
            <a:ext cx="365760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4</a:t>
            </a:r>
            <a:endParaRPr lang="en-US" sz="1700" dirty="0"/>
          </a:p>
        </p:txBody>
      </p:sp>
      <p:pic>
        <p:nvPicPr>
          <p:cNvPr id="22" name="Image 4" descr="people hugg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471922"/>
            <a:ext cx="548640" cy="54864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691640" y="5256276"/>
            <a:ext cx="4174236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Sofie </a:t>
            </a:r>
            <a:r>
              <a:rPr lang="en-US" sz="2000" i="1" dirty="0">
                <a:solidFill>
                  <a:schemeClr val="accent5"/>
                </a:solidFill>
              </a:rPr>
              <a:t>……………</a:t>
            </a:r>
            <a:r>
              <a:rPr lang="en-US" sz="2000" i="1" dirty="0">
                <a:solidFill>
                  <a:schemeClr val="tx1"/>
                </a:solidFill>
              </a:rPr>
              <a:t> haar kinderen.</a:t>
            </a:r>
            <a:endParaRPr lang="en-US" sz="2000" dirty="0"/>
          </a:p>
        </p:txBody>
      </p:sp>
      <p:sp>
        <p:nvSpPr>
          <p:cNvPr id="24" name="Shape 16"/>
          <p:cNvSpPr/>
          <p:nvPr/>
        </p:nvSpPr>
        <p:spPr>
          <a:xfrm>
            <a:off x="6231636" y="1987296"/>
            <a:ext cx="5408676" cy="979932"/>
          </a:xfrm>
          <a:prstGeom prst="roundRect">
            <a:avLst>
              <a:gd name="adj" fmla="val 7465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6341364" y="1987296"/>
            <a:ext cx="365760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5</a:t>
            </a:r>
            <a:endParaRPr lang="en-US" sz="1700" dirty="0"/>
          </a:p>
        </p:txBody>
      </p:sp>
      <p:pic>
        <p:nvPicPr>
          <p:cNvPr id="26" name="Image 5" descr="evergreen tre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8836" y="2202942"/>
            <a:ext cx="548640" cy="54864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374636" y="1987296"/>
            <a:ext cx="4174236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We wandelen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in het bos.</a:t>
            </a:r>
            <a:endParaRPr lang="en-US" sz="2000" dirty="0"/>
          </a:p>
        </p:txBody>
      </p:sp>
      <p:sp>
        <p:nvSpPr>
          <p:cNvPr id="28" name="Shape 19"/>
          <p:cNvSpPr/>
          <p:nvPr/>
        </p:nvSpPr>
        <p:spPr>
          <a:xfrm>
            <a:off x="6231636" y="3076956"/>
            <a:ext cx="5408676" cy="979932"/>
          </a:xfrm>
          <a:prstGeom prst="roundRect">
            <a:avLst>
              <a:gd name="adj" fmla="val 7465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6341364" y="3076956"/>
            <a:ext cx="365760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6</a:t>
            </a:r>
            <a:endParaRPr lang="en-US" sz="1700" dirty="0"/>
          </a:p>
        </p:txBody>
      </p:sp>
      <p:pic>
        <p:nvPicPr>
          <p:cNvPr id="30" name="Image 6" descr="musical note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8836" y="3292602"/>
            <a:ext cx="548640" cy="54864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374636" y="3076956"/>
            <a:ext cx="4174236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jij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jazz?</a:t>
            </a:r>
            <a:endParaRPr lang="en-US" sz="2000" dirty="0"/>
          </a:p>
        </p:txBody>
      </p:sp>
      <p:sp>
        <p:nvSpPr>
          <p:cNvPr id="32" name="Shape 22"/>
          <p:cNvSpPr/>
          <p:nvPr/>
        </p:nvSpPr>
        <p:spPr>
          <a:xfrm>
            <a:off x="6231636" y="4166616"/>
            <a:ext cx="5408676" cy="979932"/>
          </a:xfrm>
          <a:prstGeom prst="roundRect">
            <a:avLst>
              <a:gd name="adj" fmla="val 7465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3" name="Text 23"/>
          <p:cNvSpPr txBox="1"/>
          <p:nvPr/>
        </p:nvSpPr>
        <p:spPr>
          <a:xfrm>
            <a:off x="6341364" y="4166616"/>
            <a:ext cx="365760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7</a:t>
            </a:r>
            <a:endParaRPr lang="en-US" sz="1700" dirty="0"/>
          </a:p>
        </p:txBody>
      </p:sp>
      <p:pic>
        <p:nvPicPr>
          <p:cNvPr id="34" name="Image 7" descr="musical keyboard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8836" y="4382262"/>
            <a:ext cx="548640" cy="548640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7374636" y="4166616"/>
            <a:ext cx="4174236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Lotte speelt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piano.</a:t>
            </a:r>
            <a:endParaRPr lang="en-US" sz="2000" dirty="0"/>
          </a:p>
        </p:txBody>
      </p:sp>
      <p:sp>
        <p:nvSpPr>
          <p:cNvPr id="36" name="Shape 25"/>
          <p:cNvSpPr/>
          <p:nvPr/>
        </p:nvSpPr>
        <p:spPr>
          <a:xfrm>
            <a:off x="6231636" y="5256276"/>
            <a:ext cx="5408676" cy="979932"/>
          </a:xfrm>
          <a:prstGeom prst="roundRect">
            <a:avLst>
              <a:gd name="adj" fmla="val 7465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7" name="Text 26"/>
          <p:cNvSpPr txBox="1"/>
          <p:nvPr/>
        </p:nvSpPr>
        <p:spPr>
          <a:xfrm>
            <a:off x="6341364" y="5256276"/>
            <a:ext cx="365760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8</a:t>
            </a:r>
            <a:endParaRPr lang="en-US" sz="1700" dirty="0"/>
          </a:p>
        </p:txBody>
      </p:sp>
      <p:pic>
        <p:nvPicPr>
          <p:cNvPr id="38" name="Image 8" descr="su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8836" y="5471922"/>
            <a:ext cx="548640" cy="548640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7374636" y="5256276"/>
            <a:ext cx="4174236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de zomer.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graag ou houden van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avec </a:t>
            </a:r>
            <a:r>
              <a:rPr lang="en-US" sz="1700" i="1" dirty="0">
                <a:solidFill>
                  <a:schemeClr val="accent5"/>
                </a:solidFill>
              </a:rPr>
              <a:t>graag</a:t>
            </a:r>
            <a:r>
              <a:rPr lang="en-US" sz="1700" i="1" dirty="0">
                <a:solidFill>
                  <a:schemeClr val="accent5"/>
                </a:solidFill>
              </a:rPr>
              <a:t> ou </a:t>
            </a:r>
            <a:r>
              <a:rPr lang="en-US" sz="1700" i="1" dirty="0">
                <a:solidFill>
                  <a:schemeClr val="accent5"/>
                </a:solidFill>
              </a:rPr>
              <a:t>houden van</a:t>
            </a:r>
            <a:r>
              <a:rPr lang="en-US" sz="1700" i="1" dirty="0">
                <a:solidFill>
                  <a:schemeClr val="accent5"/>
                </a:solidFill>
              </a:rPr>
              <a:t> (conjugué). Activité ou nom ?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87296"/>
            <a:ext cx="5408676" cy="979932"/>
          </a:xfrm>
          <a:prstGeom prst="roundRect">
            <a:avLst>
              <a:gd name="adj" fmla="val 7465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58368" y="1987296"/>
            <a:ext cx="365760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1</a:t>
            </a:r>
            <a:endParaRPr lang="en-US" sz="1700" dirty="0"/>
          </a:p>
        </p:txBody>
      </p:sp>
      <p:pic>
        <p:nvPicPr>
          <p:cNvPr id="11" name="Image 1" descr="open boo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202942"/>
            <a:ext cx="548640" cy="5486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691640" y="1987296"/>
            <a:ext cx="4174236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lees </a:t>
            </a:r>
            <a:r>
              <a:rPr lang="en-US" sz="2000" b="1" i="1" dirty="0">
                <a:solidFill>
                  <a:schemeClr val="accent3"/>
                </a:solidFill>
              </a:rPr>
              <a:t>graag</a:t>
            </a:r>
            <a:r>
              <a:rPr lang="en-US" sz="2000" i="1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548640" y="3076956"/>
            <a:ext cx="5408676" cy="979932"/>
          </a:xfrm>
          <a:prstGeom prst="roundRect">
            <a:avLst>
              <a:gd name="adj" fmla="val 7465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58368" y="3076956"/>
            <a:ext cx="365760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2</a:t>
            </a:r>
            <a:endParaRPr lang="en-US" sz="1700" dirty="0"/>
          </a:p>
        </p:txBody>
      </p:sp>
      <p:pic>
        <p:nvPicPr>
          <p:cNvPr id="15" name="Image 2" descr="cityscap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92602"/>
            <a:ext cx="548640" cy="5486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91640" y="3076956"/>
            <a:ext cx="4174236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</a:t>
            </a:r>
            <a:r>
              <a:rPr lang="en-US" sz="2000" b="1" i="1" dirty="0">
                <a:solidFill>
                  <a:schemeClr val="accent3"/>
                </a:solidFill>
              </a:rPr>
              <a:t>hou van</a:t>
            </a:r>
            <a:r>
              <a:rPr lang="en-US" sz="2000" i="1" dirty="0">
                <a:solidFill>
                  <a:schemeClr val="tx1"/>
                </a:solidFill>
              </a:rPr>
              <a:t> Brussel.</a:t>
            </a:r>
            <a:endParaRPr lang="en-US" sz="2000" dirty="0"/>
          </a:p>
        </p:txBody>
      </p:sp>
      <p:sp>
        <p:nvSpPr>
          <p:cNvPr id="17" name="Shape 11"/>
          <p:cNvSpPr/>
          <p:nvPr/>
        </p:nvSpPr>
        <p:spPr>
          <a:xfrm>
            <a:off x="548640" y="4166616"/>
            <a:ext cx="5408676" cy="979932"/>
          </a:xfrm>
          <a:prstGeom prst="roundRect">
            <a:avLst>
              <a:gd name="adj" fmla="val 7465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658368" y="4166616"/>
            <a:ext cx="365760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3</a:t>
            </a:r>
            <a:endParaRPr lang="en-US" sz="1700" dirty="0"/>
          </a:p>
        </p:txBody>
      </p:sp>
      <p:pic>
        <p:nvPicPr>
          <p:cNvPr id="19" name="Image 3" descr="cook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82262"/>
            <a:ext cx="548640" cy="54864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691640" y="4166616"/>
            <a:ext cx="4174236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Karim kookt </a:t>
            </a:r>
            <a:r>
              <a:rPr lang="en-US" sz="2000" b="1" i="1" dirty="0">
                <a:solidFill>
                  <a:schemeClr val="accent3"/>
                </a:solidFill>
              </a:rPr>
              <a:t>graag</a:t>
            </a:r>
            <a:r>
              <a:rPr lang="en-US" sz="2000" i="1" dirty="0">
                <a:solidFill>
                  <a:schemeClr val="tx1"/>
                </a:solidFill>
              </a:rPr>
              <a:t> voor zijn vrienden.</a:t>
            </a:r>
            <a:endParaRPr lang="en-US" sz="2000" dirty="0"/>
          </a:p>
        </p:txBody>
      </p:sp>
      <p:sp>
        <p:nvSpPr>
          <p:cNvPr id="21" name="Shape 14"/>
          <p:cNvSpPr/>
          <p:nvPr/>
        </p:nvSpPr>
        <p:spPr>
          <a:xfrm>
            <a:off x="548640" y="5256276"/>
            <a:ext cx="5408676" cy="979932"/>
          </a:xfrm>
          <a:prstGeom prst="roundRect">
            <a:avLst>
              <a:gd name="adj" fmla="val 7465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658368" y="5256276"/>
            <a:ext cx="365760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4</a:t>
            </a:r>
            <a:endParaRPr lang="en-US" sz="1700" dirty="0"/>
          </a:p>
        </p:txBody>
      </p:sp>
      <p:pic>
        <p:nvPicPr>
          <p:cNvPr id="23" name="Image 4" descr="people hugg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471922"/>
            <a:ext cx="548640" cy="54864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691640" y="5256276"/>
            <a:ext cx="4174236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Sofie </a:t>
            </a:r>
            <a:r>
              <a:rPr lang="en-US" sz="2000" b="1" i="1" dirty="0">
                <a:solidFill>
                  <a:schemeClr val="accent3"/>
                </a:solidFill>
              </a:rPr>
              <a:t>houdt van</a:t>
            </a:r>
            <a:r>
              <a:rPr lang="en-US" sz="2000" i="1" dirty="0">
                <a:solidFill>
                  <a:schemeClr val="tx1"/>
                </a:solidFill>
              </a:rPr>
              <a:t> haar kinderen.</a:t>
            </a:r>
            <a:endParaRPr lang="en-US" sz="2000" dirty="0"/>
          </a:p>
        </p:txBody>
      </p:sp>
      <p:sp>
        <p:nvSpPr>
          <p:cNvPr id="25" name="Shape 17"/>
          <p:cNvSpPr/>
          <p:nvPr/>
        </p:nvSpPr>
        <p:spPr>
          <a:xfrm>
            <a:off x="6231636" y="1987296"/>
            <a:ext cx="5408676" cy="979932"/>
          </a:xfrm>
          <a:prstGeom prst="roundRect">
            <a:avLst>
              <a:gd name="adj" fmla="val 7465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6341364" y="1987296"/>
            <a:ext cx="365760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5</a:t>
            </a:r>
            <a:endParaRPr lang="en-US" sz="1700" dirty="0"/>
          </a:p>
        </p:txBody>
      </p:sp>
      <p:pic>
        <p:nvPicPr>
          <p:cNvPr id="27" name="Image 5" descr="evergreen tre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8836" y="2202942"/>
            <a:ext cx="548640" cy="54864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374636" y="1987296"/>
            <a:ext cx="4174236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We wandelen </a:t>
            </a:r>
            <a:r>
              <a:rPr lang="en-US" sz="2000" b="1" i="1" dirty="0">
                <a:solidFill>
                  <a:schemeClr val="accent3"/>
                </a:solidFill>
              </a:rPr>
              <a:t>graag</a:t>
            </a:r>
            <a:r>
              <a:rPr lang="en-US" sz="2000" i="1" dirty="0">
                <a:solidFill>
                  <a:schemeClr val="tx1"/>
                </a:solidFill>
              </a:rPr>
              <a:t> in het bos.</a:t>
            </a:r>
            <a:endParaRPr lang="en-US" sz="2000" dirty="0"/>
          </a:p>
        </p:txBody>
      </p:sp>
      <p:sp>
        <p:nvSpPr>
          <p:cNvPr id="29" name="Shape 20"/>
          <p:cNvSpPr/>
          <p:nvPr/>
        </p:nvSpPr>
        <p:spPr>
          <a:xfrm>
            <a:off x="6231636" y="3076956"/>
            <a:ext cx="5408676" cy="979932"/>
          </a:xfrm>
          <a:prstGeom prst="roundRect">
            <a:avLst>
              <a:gd name="adj" fmla="val 7465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0" name="Text 21"/>
          <p:cNvSpPr txBox="1"/>
          <p:nvPr/>
        </p:nvSpPr>
        <p:spPr>
          <a:xfrm>
            <a:off x="6341364" y="3076956"/>
            <a:ext cx="365760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6</a:t>
            </a:r>
            <a:endParaRPr lang="en-US" sz="1700" dirty="0"/>
          </a:p>
        </p:txBody>
      </p:sp>
      <p:pic>
        <p:nvPicPr>
          <p:cNvPr id="31" name="Image 6" descr="musical note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8836" y="3292602"/>
            <a:ext cx="548640" cy="54864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7374636" y="3076956"/>
            <a:ext cx="4174236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accent3"/>
                </a:solidFill>
              </a:rPr>
              <a:t>Hou</a:t>
            </a:r>
            <a:r>
              <a:rPr lang="en-US" sz="2000" i="1" dirty="0">
                <a:solidFill>
                  <a:schemeClr val="tx1"/>
                </a:solidFill>
              </a:rPr>
              <a:t> jij </a:t>
            </a:r>
            <a:r>
              <a:rPr lang="en-US" sz="2000" b="1" i="1" dirty="0">
                <a:solidFill>
                  <a:schemeClr val="accent3"/>
                </a:solidFill>
              </a:rPr>
              <a:t>van</a:t>
            </a:r>
            <a:r>
              <a:rPr lang="en-US" sz="2000" i="1" dirty="0">
                <a:solidFill>
                  <a:schemeClr val="tx1"/>
                </a:solidFill>
              </a:rPr>
              <a:t> jazz?</a:t>
            </a:r>
            <a:endParaRPr lang="en-US" sz="2000" dirty="0"/>
          </a:p>
        </p:txBody>
      </p:sp>
      <p:sp>
        <p:nvSpPr>
          <p:cNvPr id="33" name="Shape 23"/>
          <p:cNvSpPr/>
          <p:nvPr/>
        </p:nvSpPr>
        <p:spPr>
          <a:xfrm>
            <a:off x="6231636" y="4166616"/>
            <a:ext cx="5408676" cy="979932"/>
          </a:xfrm>
          <a:prstGeom prst="roundRect">
            <a:avLst>
              <a:gd name="adj" fmla="val 7465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6341364" y="4166616"/>
            <a:ext cx="365760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7</a:t>
            </a:r>
            <a:endParaRPr lang="en-US" sz="1700" dirty="0"/>
          </a:p>
        </p:txBody>
      </p:sp>
      <p:pic>
        <p:nvPicPr>
          <p:cNvPr id="35" name="Image 7" descr="musical keyboard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8836" y="4382262"/>
            <a:ext cx="548640" cy="54864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7374636" y="4166616"/>
            <a:ext cx="4174236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Lotte speelt </a:t>
            </a:r>
            <a:r>
              <a:rPr lang="en-US" sz="2000" b="1" i="1" dirty="0">
                <a:solidFill>
                  <a:schemeClr val="accent3"/>
                </a:solidFill>
              </a:rPr>
              <a:t>graag</a:t>
            </a:r>
            <a:r>
              <a:rPr lang="en-US" sz="2000" i="1" dirty="0">
                <a:solidFill>
                  <a:schemeClr val="tx1"/>
                </a:solidFill>
              </a:rPr>
              <a:t> piano.</a:t>
            </a:r>
            <a:endParaRPr lang="en-US" sz="2000" dirty="0"/>
          </a:p>
        </p:txBody>
      </p:sp>
      <p:sp>
        <p:nvSpPr>
          <p:cNvPr id="37" name="Shape 26"/>
          <p:cNvSpPr/>
          <p:nvPr/>
        </p:nvSpPr>
        <p:spPr>
          <a:xfrm>
            <a:off x="6231636" y="5256276"/>
            <a:ext cx="5408676" cy="979932"/>
          </a:xfrm>
          <a:prstGeom prst="roundRect">
            <a:avLst>
              <a:gd name="adj" fmla="val 7465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8" name="Text 27"/>
          <p:cNvSpPr txBox="1"/>
          <p:nvPr/>
        </p:nvSpPr>
        <p:spPr>
          <a:xfrm>
            <a:off x="6341364" y="5256276"/>
            <a:ext cx="365760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8</a:t>
            </a:r>
            <a:endParaRPr lang="en-US" sz="1700" dirty="0"/>
          </a:p>
        </p:txBody>
      </p:sp>
      <p:pic>
        <p:nvPicPr>
          <p:cNvPr id="39" name="Image 8" descr="su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8836" y="5471922"/>
            <a:ext cx="548640" cy="548640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7374636" y="5256276"/>
            <a:ext cx="4174236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</a:t>
            </a:r>
            <a:r>
              <a:rPr lang="en-US" sz="2000" b="1" i="1" dirty="0">
                <a:solidFill>
                  <a:schemeClr val="accent3"/>
                </a:solidFill>
              </a:rPr>
              <a:t>hou van</a:t>
            </a:r>
            <a:r>
              <a:rPr lang="en-US" sz="2000" i="1" dirty="0">
                <a:solidFill>
                  <a:schemeClr val="tx1"/>
                </a:solidFill>
              </a:rPr>
              <a:t> de zomer.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Le podium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Faites une phrase avec </a:t>
            </a:r>
            <a:r>
              <a:rPr lang="en-US" sz="1700" i="1" dirty="0">
                <a:solidFill>
                  <a:schemeClr val="accent5"/>
                </a:solidFill>
              </a:rPr>
              <a:t>graag</a:t>
            </a:r>
            <a:r>
              <a:rPr lang="en-US" sz="1700" i="1" dirty="0">
                <a:solidFill>
                  <a:schemeClr val="accent5"/>
                </a:solidFill>
              </a:rPr>
              <a:t> (bronze), </a:t>
            </a:r>
            <a:r>
              <a:rPr lang="en-US" sz="1700" i="1" dirty="0">
                <a:solidFill>
                  <a:schemeClr val="accent5"/>
                </a:solidFill>
              </a:rPr>
              <a:t>liever</a:t>
            </a:r>
            <a:r>
              <a:rPr lang="en-US" sz="1700" i="1" dirty="0">
                <a:solidFill>
                  <a:schemeClr val="accent5"/>
                </a:solidFill>
              </a:rPr>
              <a:t> (argent) et </a:t>
            </a:r>
            <a:r>
              <a:rPr lang="en-US" sz="1700" i="1" dirty="0">
                <a:solidFill>
                  <a:schemeClr val="accent5"/>
                </a:solidFill>
              </a:rPr>
              <a:t>het liefst</a:t>
            </a:r>
            <a:r>
              <a:rPr lang="en-US" sz="1700" i="1" dirty="0">
                <a:solidFill>
                  <a:schemeClr val="accent5"/>
                </a:solidFill>
              </a:rPr>
              <a:t> (or).</a:t>
            </a:r>
            <a:endParaRPr lang="en-US" sz="1700" dirty="0"/>
          </a:p>
        </p:txBody>
      </p:sp>
      <p:pic>
        <p:nvPicPr>
          <p:cNvPr id="8" name="Image 1" descr="3rd place med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76272"/>
            <a:ext cx="384048" cy="38404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960120" y="1932432"/>
            <a:ext cx="118872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koffie</a:t>
            </a:r>
            <a:endParaRPr lang="en-US" sz="1500" dirty="0"/>
          </a:p>
        </p:txBody>
      </p:sp>
      <p:pic>
        <p:nvPicPr>
          <p:cNvPr id="10" name="Image 2" descr="2nd place med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2176272"/>
            <a:ext cx="384048" cy="38404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2560320" y="1932432"/>
            <a:ext cx="118872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thee</a:t>
            </a:r>
            <a:endParaRPr lang="en-US" sz="1500" dirty="0"/>
          </a:p>
        </p:txBody>
      </p:sp>
      <p:pic>
        <p:nvPicPr>
          <p:cNvPr id="12" name="Image 3" descr="1st place med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2176272"/>
            <a:ext cx="384048" cy="384048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4160520" y="1932432"/>
            <a:ext cx="118872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water</a:t>
            </a:r>
            <a:endParaRPr lang="en-US" sz="1500" dirty="0"/>
          </a:p>
        </p:txBody>
      </p:sp>
      <p:sp>
        <p:nvSpPr>
          <p:cNvPr id="14" name="tag"/>
          <p:cNvSpPr/>
          <p:nvPr/>
        </p:nvSpPr>
        <p:spPr>
          <a:xfrm>
            <a:off x="5394960" y="2221992"/>
            <a:ext cx="1058113" cy="292608"/>
          </a:xfrm>
          <a:prstGeom prst="roundRect">
            <a:avLst>
              <a:gd name="adj" fmla="val 1562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drinken</a:t>
            </a:r>
            <a:endParaRPr lang="en-US" sz="1100" dirty="0"/>
          </a:p>
        </p:txBody>
      </p:sp>
      <p:sp>
        <p:nvSpPr>
          <p:cNvPr id="15" name="Shape 8"/>
          <p:cNvSpPr/>
          <p:nvPr/>
        </p:nvSpPr>
        <p:spPr>
          <a:xfrm>
            <a:off x="6446520" y="1987296"/>
            <a:ext cx="5193792" cy="762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pic>
        <p:nvPicPr>
          <p:cNvPr id="16" name="Image 4" descr="3rd place meda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048000"/>
            <a:ext cx="384048" cy="384048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960120" y="2804160"/>
            <a:ext cx="118872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de bus</a:t>
            </a:r>
            <a:endParaRPr lang="en-US" sz="1500" dirty="0"/>
          </a:p>
        </p:txBody>
      </p:sp>
      <p:pic>
        <p:nvPicPr>
          <p:cNvPr id="18" name="Image 5" descr="2nd place meda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8840" y="3048000"/>
            <a:ext cx="384048" cy="384048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2560320" y="2804160"/>
            <a:ext cx="118872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de trein</a:t>
            </a:r>
            <a:endParaRPr lang="en-US" sz="1500" dirty="0"/>
          </a:p>
        </p:txBody>
      </p:sp>
      <p:pic>
        <p:nvPicPr>
          <p:cNvPr id="20" name="Image 6" descr="1st place meda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9040" y="3048000"/>
            <a:ext cx="384048" cy="384048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4160520" y="2804160"/>
            <a:ext cx="118872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de fiets</a:t>
            </a:r>
            <a:endParaRPr lang="en-US" sz="1500" dirty="0"/>
          </a:p>
        </p:txBody>
      </p:sp>
      <p:sp>
        <p:nvSpPr>
          <p:cNvPr id="22" name="tag"/>
          <p:cNvSpPr/>
          <p:nvPr/>
        </p:nvSpPr>
        <p:spPr>
          <a:xfrm>
            <a:off x="5394960" y="3093720"/>
            <a:ext cx="860298" cy="292608"/>
          </a:xfrm>
          <a:prstGeom prst="roundRect">
            <a:avLst>
              <a:gd name="adj" fmla="val 1562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nemen</a:t>
            </a:r>
            <a:endParaRPr lang="en-US" sz="1100" dirty="0"/>
          </a:p>
        </p:txBody>
      </p:sp>
      <p:sp>
        <p:nvSpPr>
          <p:cNvPr id="23" name="Shape 13"/>
          <p:cNvSpPr/>
          <p:nvPr/>
        </p:nvSpPr>
        <p:spPr>
          <a:xfrm>
            <a:off x="6446520" y="2859024"/>
            <a:ext cx="5193792" cy="762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pic>
        <p:nvPicPr>
          <p:cNvPr id="24" name="Image 7" descr="3rd place meda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3919728"/>
            <a:ext cx="384048" cy="384048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960120" y="3675888"/>
            <a:ext cx="118872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tv kijken</a:t>
            </a:r>
            <a:endParaRPr lang="en-US" sz="1500" dirty="0"/>
          </a:p>
        </p:txBody>
      </p:sp>
      <p:pic>
        <p:nvPicPr>
          <p:cNvPr id="26" name="Image 8" descr="2nd place medal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8840" y="3919728"/>
            <a:ext cx="384048" cy="384048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2560320" y="3675888"/>
            <a:ext cx="118872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lezen</a:t>
            </a:r>
            <a:endParaRPr lang="en-US" sz="1500" dirty="0"/>
          </a:p>
        </p:txBody>
      </p:sp>
      <p:pic>
        <p:nvPicPr>
          <p:cNvPr id="28" name="Image 9" descr="1st place medal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49040" y="3919728"/>
            <a:ext cx="384048" cy="384048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4160520" y="3675888"/>
            <a:ext cx="118872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wandelen</a:t>
            </a:r>
            <a:endParaRPr lang="en-US" sz="1500" dirty="0"/>
          </a:p>
        </p:txBody>
      </p:sp>
      <p:sp>
        <p:nvSpPr>
          <p:cNvPr id="30" name="Shape 17"/>
          <p:cNvSpPr/>
          <p:nvPr/>
        </p:nvSpPr>
        <p:spPr>
          <a:xfrm>
            <a:off x="6446520" y="3730752"/>
            <a:ext cx="5193792" cy="762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pic>
        <p:nvPicPr>
          <p:cNvPr id="31" name="Image 10" descr="3rd place medal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4791456"/>
            <a:ext cx="384048" cy="384048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960120" y="4547616"/>
            <a:ext cx="118872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Gent</a:t>
            </a:r>
            <a:endParaRPr lang="en-US" sz="1500" dirty="0"/>
          </a:p>
        </p:txBody>
      </p:sp>
      <p:pic>
        <p:nvPicPr>
          <p:cNvPr id="33" name="Image 11" descr="2nd place medal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48840" y="4791456"/>
            <a:ext cx="384048" cy="384048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2560320" y="4547616"/>
            <a:ext cx="118872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Brugge</a:t>
            </a:r>
            <a:endParaRPr lang="en-US" sz="1500" dirty="0"/>
          </a:p>
        </p:txBody>
      </p:sp>
      <p:pic>
        <p:nvPicPr>
          <p:cNvPr id="35" name="Image 12" descr="1st place medal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49040" y="4791456"/>
            <a:ext cx="384048" cy="384048"/>
          </a:xfrm>
          <a:prstGeom prst="rect">
            <a:avLst/>
          </a:prstGeom>
        </p:spPr>
      </p:pic>
      <p:sp>
        <p:nvSpPr>
          <p:cNvPr id="36" name="Text 20"/>
          <p:cNvSpPr txBox="1"/>
          <p:nvPr/>
        </p:nvSpPr>
        <p:spPr>
          <a:xfrm>
            <a:off x="4160520" y="4547616"/>
            <a:ext cx="118872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Antwerpen</a:t>
            </a:r>
            <a:endParaRPr lang="en-US" sz="1500" dirty="0"/>
          </a:p>
        </p:txBody>
      </p:sp>
      <p:sp>
        <p:nvSpPr>
          <p:cNvPr id="37" name="tag"/>
          <p:cNvSpPr/>
          <p:nvPr/>
        </p:nvSpPr>
        <p:spPr>
          <a:xfrm>
            <a:off x="5394960" y="4837176"/>
            <a:ext cx="1157021" cy="292608"/>
          </a:xfrm>
          <a:prstGeom prst="roundRect">
            <a:avLst>
              <a:gd name="adj" fmla="val 1562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bezoeken</a:t>
            </a:r>
            <a:endParaRPr lang="en-US" sz="1100" dirty="0"/>
          </a:p>
        </p:txBody>
      </p:sp>
      <p:sp>
        <p:nvSpPr>
          <p:cNvPr id="38" name="Shape 22"/>
          <p:cNvSpPr/>
          <p:nvPr/>
        </p:nvSpPr>
        <p:spPr>
          <a:xfrm>
            <a:off x="6446520" y="4602480"/>
            <a:ext cx="5193792" cy="762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pic>
        <p:nvPicPr>
          <p:cNvPr id="39" name="Image 13" descr="3rd place medal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8640" y="5663184"/>
            <a:ext cx="384048" cy="384048"/>
          </a:xfrm>
          <a:prstGeom prst="rect">
            <a:avLst/>
          </a:prstGeom>
        </p:spPr>
      </p:pic>
      <p:sp>
        <p:nvSpPr>
          <p:cNvPr id="40" name="Text 23"/>
          <p:cNvSpPr txBox="1"/>
          <p:nvPr/>
        </p:nvSpPr>
        <p:spPr>
          <a:xfrm>
            <a:off x="960120" y="5419344"/>
            <a:ext cx="118872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vis</a:t>
            </a:r>
            <a:endParaRPr lang="en-US" sz="1500" dirty="0"/>
          </a:p>
        </p:txBody>
      </p:sp>
      <p:pic>
        <p:nvPicPr>
          <p:cNvPr id="41" name="Image 14" descr="2nd place medal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48840" y="5663184"/>
            <a:ext cx="384048" cy="384048"/>
          </a:xfrm>
          <a:prstGeom prst="rect">
            <a:avLst/>
          </a:prstGeom>
        </p:spPr>
      </p:pic>
      <p:sp>
        <p:nvSpPr>
          <p:cNvPr id="42" name="Text 24"/>
          <p:cNvSpPr txBox="1"/>
          <p:nvPr/>
        </p:nvSpPr>
        <p:spPr>
          <a:xfrm>
            <a:off x="2560320" y="5419344"/>
            <a:ext cx="118872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kip</a:t>
            </a:r>
            <a:endParaRPr lang="en-US" sz="1500" dirty="0"/>
          </a:p>
        </p:txBody>
      </p:sp>
      <p:pic>
        <p:nvPicPr>
          <p:cNvPr id="43" name="Image 15" descr="1st place medal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49040" y="5663184"/>
            <a:ext cx="384048" cy="384048"/>
          </a:xfrm>
          <a:prstGeom prst="rect">
            <a:avLst/>
          </a:prstGeom>
        </p:spPr>
      </p:pic>
      <p:sp>
        <p:nvSpPr>
          <p:cNvPr id="44" name="Text 25"/>
          <p:cNvSpPr txBox="1"/>
          <p:nvPr/>
        </p:nvSpPr>
        <p:spPr>
          <a:xfrm>
            <a:off x="4160520" y="5419344"/>
            <a:ext cx="118872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pasta</a:t>
            </a:r>
            <a:endParaRPr lang="en-US" sz="1500" dirty="0"/>
          </a:p>
        </p:txBody>
      </p:sp>
      <p:sp>
        <p:nvSpPr>
          <p:cNvPr id="45" name="tag"/>
          <p:cNvSpPr/>
          <p:nvPr/>
        </p:nvSpPr>
        <p:spPr>
          <a:xfrm>
            <a:off x="5394960" y="5708904"/>
            <a:ext cx="761390" cy="292608"/>
          </a:xfrm>
          <a:prstGeom prst="roundRect">
            <a:avLst>
              <a:gd name="adj" fmla="val 1562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eten</a:t>
            </a:r>
            <a:endParaRPr lang="en-US" sz="1100" dirty="0"/>
          </a:p>
        </p:txBody>
      </p:sp>
      <p:sp>
        <p:nvSpPr>
          <p:cNvPr id="46" name="Shape 27"/>
          <p:cNvSpPr/>
          <p:nvPr/>
        </p:nvSpPr>
        <p:spPr>
          <a:xfrm>
            <a:off x="6446520" y="5474208"/>
            <a:ext cx="5193792" cy="762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Le podium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Faites une phrase avec </a:t>
            </a:r>
            <a:r>
              <a:rPr lang="en-US" sz="1700" i="1" dirty="0">
                <a:solidFill>
                  <a:schemeClr val="accent5"/>
                </a:solidFill>
              </a:rPr>
              <a:t>graag</a:t>
            </a:r>
            <a:r>
              <a:rPr lang="en-US" sz="1700" i="1" dirty="0">
                <a:solidFill>
                  <a:schemeClr val="accent5"/>
                </a:solidFill>
              </a:rPr>
              <a:t> (bronze), </a:t>
            </a:r>
            <a:r>
              <a:rPr lang="en-US" sz="1700" i="1" dirty="0">
                <a:solidFill>
                  <a:schemeClr val="accent5"/>
                </a:solidFill>
              </a:rPr>
              <a:t>liever</a:t>
            </a:r>
            <a:r>
              <a:rPr lang="en-US" sz="1700" i="1" dirty="0">
                <a:solidFill>
                  <a:schemeClr val="accent5"/>
                </a:solidFill>
              </a:rPr>
              <a:t> (argent) et </a:t>
            </a:r>
            <a:r>
              <a:rPr lang="en-US" sz="1700" i="1" dirty="0">
                <a:solidFill>
                  <a:schemeClr val="accent5"/>
                </a:solidFill>
              </a:rPr>
              <a:t>het liefst</a:t>
            </a:r>
            <a:r>
              <a:rPr lang="en-US" sz="1700" i="1" dirty="0">
                <a:solidFill>
                  <a:schemeClr val="accent5"/>
                </a:solidFill>
              </a:rPr>
              <a:t> (or).</a:t>
            </a:r>
            <a:endParaRPr lang="en-US" sz="1700" dirty="0"/>
          </a:p>
        </p:txBody>
      </p:sp>
      <p:pic>
        <p:nvPicPr>
          <p:cNvPr id="9" name="Image 1" descr="3rd place med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76272"/>
            <a:ext cx="384048" cy="38404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60120" y="1932432"/>
            <a:ext cx="118872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koffie</a:t>
            </a:r>
            <a:endParaRPr lang="en-US" sz="1500" dirty="0"/>
          </a:p>
        </p:txBody>
      </p:sp>
      <p:pic>
        <p:nvPicPr>
          <p:cNvPr id="11" name="Image 2" descr="2nd place med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2176272"/>
            <a:ext cx="384048" cy="38404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2560320" y="1932432"/>
            <a:ext cx="118872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thee</a:t>
            </a:r>
            <a:endParaRPr lang="en-US" sz="1500" dirty="0"/>
          </a:p>
        </p:txBody>
      </p:sp>
      <p:pic>
        <p:nvPicPr>
          <p:cNvPr id="13" name="Image 3" descr="1st place med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2176272"/>
            <a:ext cx="384048" cy="38404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4160520" y="1932432"/>
            <a:ext cx="118872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water</a:t>
            </a:r>
            <a:endParaRPr lang="en-US" sz="1500" dirty="0"/>
          </a:p>
        </p:txBody>
      </p:sp>
      <p:sp>
        <p:nvSpPr>
          <p:cNvPr id="15" name="tag"/>
          <p:cNvSpPr/>
          <p:nvPr/>
        </p:nvSpPr>
        <p:spPr>
          <a:xfrm>
            <a:off x="5394960" y="2221992"/>
            <a:ext cx="1058113" cy="292608"/>
          </a:xfrm>
          <a:prstGeom prst="roundRect">
            <a:avLst>
              <a:gd name="adj" fmla="val 1562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drinken</a:t>
            </a:r>
            <a:endParaRPr lang="en-US" sz="1100" dirty="0"/>
          </a:p>
        </p:txBody>
      </p:sp>
      <p:sp>
        <p:nvSpPr>
          <p:cNvPr id="16" name="Shape 9"/>
          <p:cNvSpPr/>
          <p:nvPr/>
        </p:nvSpPr>
        <p:spPr>
          <a:xfrm>
            <a:off x="6446520" y="1987296"/>
            <a:ext cx="5193792" cy="762000"/>
          </a:xfrm>
          <a:prstGeom prst="roundRect">
            <a:avLst>
              <a:gd name="adj" fmla="val 9600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6537960" y="1987296"/>
            <a:ext cx="5029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accent3"/>
                </a:solidFill>
              </a:rPr>
              <a:t>Ik drink graag koffie, liever thee en het liefst water.</a:t>
            </a:r>
            <a:endParaRPr lang="en-US" sz="1500" dirty="0"/>
          </a:p>
        </p:txBody>
      </p:sp>
      <p:pic>
        <p:nvPicPr>
          <p:cNvPr id="18" name="Image 4" descr="3rd place meda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048000"/>
            <a:ext cx="384048" cy="384048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960120" y="2804160"/>
            <a:ext cx="118872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de bus</a:t>
            </a:r>
            <a:endParaRPr lang="en-US" sz="1500" dirty="0"/>
          </a:p>
        </p:txBody>
      </p:sp>
      <p:pic>
        <p:nvPicPr>
          <p:cNvPr id="20" name="Image 5" descr="2nd place meda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8840" y="3048000"/>
            <a:ext cx="384048" cy="384048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2560320" y="2804160"/>
            <a:ext cx="118872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de trein</a:t>
            </a:r>
            <a:endParaRPr lang="en-US" sz="1500" dirty="0"/>
          </a:p>
        </p:txBody>
      </p:sp>
      <p:pic>
        <p:nvPicPr>
          <p:cNvPr id="22" name="Image 6" descr="1st place meda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9040" y="3048000"/>
            <a:ext cx="384048" cy="384048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4160520" y="2804160"/>
            <a:ext cx="118872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de fiets</a:t>
            </a:r>
            <a:endParaRPr lang="en-US" sz="1500" dirty="0"/>
          </a:p>
        </p:txBody>
      </p:sp>
      <p:sp>
        <p:nvSpPr>
          <p:cNvPr id="24" name="tag"/>
          <p:cNvSpPr/>
          <p:nvPr/>
        </p:nvSpPr>
        <p:spPr>
          <a:xfrm>
            <a:off x="5394960" y="3093720"/>
            <a:ext cx="860298" cy="292608"/>
          </a:xfrm>
          <a:prstGeom prst="roundRect">
            <a:avLst>
              <a:gd name="adj" fmla="val 1562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nemen</a:t>
            </a:r>
            <a:endParaRPr lang="en-US" sz="1100" dirty="0"/>
          </a:p>
        </p:txBody>
      </p:sp>
      <p:sp>
        <p:nvSpPr>
          <p:cNvPr id="25" name="Shape 15"/>
          <p:cNvSpPr/>
          <p:nvPr/>
        </p:nvSpPr>
        <p:spPr>
          <a:xfrm>
            <a:off x="6446520" y="2859024"/>
            <a:ext cx="5193792" cy="762000"/>
          </a:xfrm>
          <a:prstGeom prst="roundRect">
            <a:avLst>
              <a:gd name="adj" fmla="val 9600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6" name="Text 16"/>
          <p:cNvSpPr txBox="1"/>
          <p:nvPr/>
        </p:nvSpPr>
        <p:spPr>
          <a:xfrm>
            <a:off x="6537960" y="2859024"/>
            <a:ext cx="5029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accent3"/>
                </a:solidFill>
              </a:rPr>
              <a:t>Ik neem graag de bus, liever de trein en het liefst de fiets.</a:t>
            </a:r>
            <a:endParaRPr lang="en-US" sz="1500" dirty="0"/>
          </a:p>
        </p:txBody>
      </p:sp>
      <p:pic>
        <p:nvPicPr>
          <p:cNvPr id="27" name="Image 7" descr="3rd place meda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3919728"/>
            <a:ext cx="384048" cy="384048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960120" y="3675888"/>
            <a:ext cx="118872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tv kijken</a:t>
            </a:r>
            <a:endParaRPr lang="en-US" sz="1500" dirty="0"/>
          </a:p>
        </p:txBody>
      </p:sp>
      <p:pic>
        <p:nvPicPr>
          <p:cNvPr id="29" name="Image 8" descr="2nd place medal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8840" y="3919728"/>
            <a:ext cx="384048" cy="384048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2560320" y="3675888"/>
            <a:ext cx="118872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lezen</a:t>
            </a:r>
            <a:endParaRPr lang="en-US" sz="1500" dirty="0"/>
          </a:p>
        </p:txBody>
      </p:sp>
      <p:pic>
        <p:nvPicPr>
          <p:cNvPr id="31" name="Image 9" descr="1st place medal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49040" y="3919728"/>
            <a:ext cx="384048" cy="384048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4160520" y="3675888"/>
            <a:ext cx="118872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wandelen</a:t>
            </a:r>
            <a:endParaRPr lang="en-US" sz="1500" dirty="0"/>
          </a:p>
        </p:txBody>
      </p:sp>
      <p:sp>
        <p:nvSpPr>
          <p:cNvPr id="33" name="Shape 20"/>
          <p:cNvSpPr/>
          <p:nvPr/>
        </p:nvSpPr>
        <p:spPr>
          <a:xfrm>
            <a:off x="6446520" y="3730752"/>
            <a:ext cx="5193792" cy="762000"/>
          </a:xfrm>
          <a:prstGeom prst="roundRect">
            <a:avLst>
              <a:gd name="adj" fmla="val 9600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4" name="Text 21"/>
          <p:cNvSpPr txBox="1"/>
          <p:nvPr/>
        </p:nvSpPr>
        <p:spPr>
          <a:xfrm>
            <a:off x="6537960" y="3730752"/>
            <a:ext cx="5029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accent3"/>
                </a:solidFill>
              </a:rPr>
              <a:t>Ik kijk graag tv, ik lees liever en ik wandel het liefst.</a:t>
            </a:r>
            <a:endParaRPr lang="en-US" sz="1500" dirty="0"/>
          </a:p>
        </p:txBody>
      </p:sp>
      <p:pic>
        <p:nvPicPr>
          <p:cNvPr id="35" name="Image 10" descr="3rd place medal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4791456"/>
            <a:ext cx="384048" cy="384048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960120" y="4547616"/>
            <a:ext cx="118872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Gent</a:t>
            </a:r>
            <a:endParaRPr lang="en-US" sz="1500" dirty="0"/>
          </a:p>
        </p:txBody>
      </p:sp>
      <p:pic>
        <p:nvPicPr>
          <p:cNvPr id="37" name="Image 11" descr="2nd place medal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48840" y="4791456"/>
            <a:ext cx="384048" cy="384048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2560320" y="4547616"/>
            <a:ext cx="118872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Brugge</a:t>
            </a:r>
            <a:endParaRPr lang="en-US" sz="1500" dirty="0"/>
          </a:p>
        </p:txBody>
      </p:sp>
      <p:pic>
        <p:nvPicPr>
          <p:cNvPr id="39" name="Image 12" descr="1st place medal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49040" y="4791456"/>
            <a:ext cx="384048" cy="384048"/>
          </a:xfrm>
          <a:prstGeom prst="rect">
            <a:avLst/>
          </a:prstGeom>
        </p:spPr>
      </p:pic>
      <p:sp>
        <p:nvSpPr>
          <p:cNvPr id="40" name="Text 24"/>
          <p:cNvSpPr txBox="1"/>
          <p:nvPr/>
        </p:nvSpPr>
        <p:spPr>
          <a:xfrm>
            <a:off x="4160520" y="4547616"/>
            <a:ext cx="118872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Antwerpen</a:t>
            </a:r>
            <a:endParaRPr lang="en-US" sz="1500" dirty="0"/>
          </a:p>
        </p:txBody>
      </p:sp>
      <p:sp>
        <p:nvSpPr>
          <p:cNvPr id="41" name="tag"/>
          <p:cNvSpPr/>
          <p:nvPr/>
        </p:nvSpPr>
        <p:spPr>
          <a:xfrm>
            <a:off x="5394960" y="4837176"/>
            <a:ext cx="1157021" cy="292608"/>
          </a:xfrm>
          <a:prstGeom prst="roundRect">
            <a:avLst>
              <a:gd name="adj" fmla="val 1562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bezoeken</a:t>
            </a:r>
            <a:endParaRPr lang="en-US" sz="1100" dirty="0"/>
          </a:p>
        </p:txBody>
      </p:sp>
      <p:sp>
        <p:nvSpPr>
          <p:cNvPr id="42" name="Shape 26"/>
          <p:cNvSpPr/>
          <p:nvPr/>
        </p:nvSpPr>
        <p:spPr>
          <a:xfrm>
            <a:off x="6446520" y="4602480"/>
            <a:ext cx="5193792" cy="762000"/>
          </a:xfrm>
          <a:prstGeom prst="roundRect">
            <a:avLst>
              <a:gd name="adj" fmla="val 9600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43" name="Text 27"/>
          <p:cNvSpPr txBox="1"/>
          <p:nvPr/>
        </p:nvSpPr>
        <p:spPr>
          <a:xfrm>
            <a:off x="6537960" y="4602480"/>
            <a:ext cx="5029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accent3"/>
                </a:solidFill>
              </a:rPr>
              <a:t>Ik bezoek graag Gent, liever Brugge en het liefst Antwerpen.</a:t>
            </a:r>
            <a:endParaRPr lang="en-US" sz="1500" dirty="0"/>
          </a:p>
        </p:txBody>
      </p:sp>
      <p:pic>
        <p:nvPicPr>
          <p:cNvPr id="44" name="Image 13" descr="3rd place medal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8640" y="5663184"/>
            <a:ext cx="384048" cy="384048"/>
          </a:xfrm>
          <a:prstGeom prst="rect">
            <a:avLst/>
          </a:prstGeom>
        </p:spPr>
      </p:pic>
      <p:sp>
        <p:nvSpPr>
          <p:cNvPr id="45" name="Text 28"/>
          <p:cNvSpPr txBox="1"/>
          <p:nvPr/>
        </p:nvSpPr>
        <p:spPr>
          <a:xfrm>
            <a:off x="960120" y="5419344"/>
            <a:ext cx="118872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vis</a:t>
            </a:r>
            <a:endParaRPr lang="en-US" sz="1500" dirty="0"/>
          </a:p>
        </p:txBody>
      </p:sp>
      <p:pic>
        <p:nvPicPr>
          <p:cNvPr id="46" name="Image 14" descr="2nd place medal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48840" y="5663184"/>
            <a:ext cx="384048" cy="384048"/>
          </a:xfrm>
          <a:prstGeom prst="rect">
            <a:avLst/>
          </a:prstGeom>
        </p:spPr>
      </p:pic>
      <p:sp>
        <p:nvSpPr>
          <p:cNvPr id="47" name="Text 29"/>
          <p:cNvSpPr txBox="1"/>
          <p:nvPr/>
        </p:nvSpPr>
        <p:spPr>
          <a:xfrm>
            <a:off x="2560320" y="5419344"/>
            <a:ext cx="118872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kip</a:t>
            </a:r>
            <a:endParaRPr lang="en-US" sz="1500" dirty="0"/>
          </a:p>
        </p:txBody>
      </p:sp>
      <p:pic>
        <p:nvPicPr>
          <p:cNvPr id="48" name="Image 15" descr="1st place medal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49040" y="5663184"/>
            <a:ext cx="384048" cy="384048"/>
          </a:xfrm>
          <a:prstGeom prst="rect">
            <a:avLst/>
          </a:prstGeom>
        </p:spPr>
      </p:pic>
      <p:sp>
        <p:nvSpPr>
          <p:cNvPr id="49" name="Text 30"/>
          <p:cNvSpPr txBox="1"/>
          <p:nvPr/>
        </p:nvSpPr>
        <p:spPr>
          <a:xfrm>
            <a:off x="4160520" y="5419344"/>
            <a:ext cx="118872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pasta</a:t>
            </a:r>
            <a:endParaRPr lang="en-US" sz="1500" dirty="0"/>
          </a:p>
        </p:txBody>
      </p:sp>
      <p:sp>
        <p:nvSpPr>
          <p:cNvPr id="50" name="tag"/>
          <p:cNvSpPr/>
          <p:nvPr/>
        </p:nvSpPr>
        <p:spPr>
          <a:xfrm>
            <a:off x="5394960" y="5708904"/>
            <a:ext cx="761390" cy="292608"/>
          </a:xfrm>
          <a:prstGeom prst="roundRect">
            <a:avLst>
              <a:gd name="adj" fmla="val 1562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eten</a:t>
            </a:r>
            <a:endParaRPr lang="en-US" sz="1100" dirty="0"/>
          </a:p>
        </p:txBody>
      </p:sp>
      <p:sp>
        <p:nvSpPr>
          <p:cNvPr id="51" name="Shape 32"/>
          <p:cNvSpPr/>
          <p:nvPr/>
        </p:nvSpPr>
        <p:spPr>
          <a:xfrm>
            <a:off x="6446520" y="5474208"/>
            <a:ext cx="5193792" cy="762000"/>
          </a:xfrm>
          <a:prstGeom prst="roundRect">
            <a:avLst>
              <a:gd name="adj" fmla="val 9600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52" name="Text 33"/>
          <p:cNvSpPr txBox="1"/>
          <p:nvPr/>
        </p:nvSpPr>
        <p:spPr>
          <a:xfrm>
            <a:off x="6537960" y="5474208"/>
            <a:ext cx="5029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accent3"/>
                </a:solidFill>
              </a:rPr>
              <a:t>Ik eet graag vis, liever kip en het liefst pasta.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Traduisez « aimer »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Traduisez. Suivez l’aiguillage : activité, personne / chose ou goût ?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211277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112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005840" y="1978152"/>
            <a:ext cx="49377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143000" y="1978152"/>
            <a:ext cx="47548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J’aime cuisiner.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6035040" y="229565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6537960" y="1978152"/>
            <a:ext cx="510235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283921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005840" y="2704592"/>
            <a:ext cx="49377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143000" y="2704592"/>
            <a:ext cx="47548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J’aime Anvers.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6035040" y="302209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6537960" y="2704592"/>
            <a:ext cx="510235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48640" y="356565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48640" y="3565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005840" y="3431032"/>
            <a:ext cx="49377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143000" y="3431032"/>
            <a:ext cx="47548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Ce gâteau, je l’aime bien (il est bon).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6035040" y="374853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6537960" y="3431032"/>
            <a:ext cx="510235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48640" y="429209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48640" y="4292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005840" y="4157472"/>
            <a:ext cx="49377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1143000" y="4157472"/>
            <a:ext cx="47548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Je n’aime pas travailler le samedi.</a:t>
            </a:r>
            <a:endParaRPr lang="en-US" sz="1700" dirty="0"/>
          </a:p>
        </p:txBody>
      </p:sp>
      <p:sp>
        <p:nvSpPr>
          <p:cNvPr id="30" name="Shape 26"/>
          <p:cNvSpPr/>
          <p:nvPr/>
        </p:nvSpPr>
        <p:spPr>
          <a:xfrm>
            <a:off x="6035040" y="447497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6537960" y="4157472"/>
            <a:ext cx="510235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48640" y="501853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48640" y="5018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1005840" y="4883912"/>
            <a:ext cx="49377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143000" y="4883912"/>
            <a:ext cx="47548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J’adore le chocolat.</a:t>
            </a:r>
            <a:endParaRPr lang="en-US" sz="1700" dirty="0"/>
          </a:p>
        </p:txBody>
      </p:sp>
      <p:sp>
        <p:nvSpPr>
          <p:cNvPr id="36" name="Shape 32"/>
          <p:cNvSpPr/>
          <p:nvPr/>
        </p:nvSpPr>
        <p:spPr>
          <a:xfrm>
            <a:off x="6035040" y="520141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7" name="Shape 33"/>
          <p:cNvSpPr/>
          <p:nvPr/>
        </p:nvSpPr>
        <p:spPr>
          <a:xfrm>
            <a:off x="6537960" y="4883912"/>
            <a:ext cx="510235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548640" y="574497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548640" y="574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1005840" y="5610352"/>
            <a:ext cx="49377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1143000" y="5610352"/>
            <a:ext cx="47548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Je préfère le thé.</a:t>
            </a:r>
            <a:endParaRPr lang="en-US" sz="1700" dirty="0"/>
          </a:p>
        </p:txBody>
      </p:sp>
      <p:sp>
        <p:nvSpPr>
          <p:cNvPr id="42" name="Shape 38"/>
          <p:cNvSpPr/>
          <p:nvPr/>
        </p:nvSpPr>
        <p:spPr>
          <a:xfrm>
            <a:off x="6035040" y="592785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3" name="Shape 39"/>
          <p:cNvSpPr/>
          <p:nvPr/>
        </p:nvSpPr>
        <p:spPr>
          <a:xfrm>
            <a:off x="6537960" y="5610352"/>
            <a:ext cx="510235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Traduisez « aimer »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Traduisez. Suivez l’aiguillage : activité, personne / chose ou goût ?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211277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2112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05840" y="1978152"/>
            <a:ext cx="49377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143000" y="1978152"/>
            <a:ext cx="47548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J’aime cuisiner.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6035040" y="229565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6537960" y="1978152"/>
            <a:ext cx="510235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675120" y="1978152"/>
            <a:ext cx="4892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Ik kook graag.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548640" y="283921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1005840" y="2704592"/>
            <a:ext cx="49377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143000" y="2704592"/>
            <a:ext cx="47548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J’aime Anvers.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6035040" y="302209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6537960" y="2704592"/>
            <a:ext cx="510235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675120" y="2704592"/>
            <a:ext cx="4892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Ik hou van Antwerpen.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356565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48640" y="3565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005840" y="3431032"/>
            <a:ext cx="49377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143000" y="3431032"/>
            <a:ext cx="47548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Ce gâteau, je l’aime bien (il est bon).</a:t>
            </a:r>
            <a:endParaRPr lang="en-US" sz="1700" dirty="0"/>
          </a:p>
        </p:txBody>
      </p:sp>
      <p:sp>
        <p:nvSpPr>
          <p:cNvPr id="27" name="Shape 23"/>
          <p:cNvSpPr/>
          <p:nvPr/>
        </p:nvSpPr>
        <p:spPr>
          <a:xfrm>
            <a:off x="6035040" y="374853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6537960" y="3431032"/>
            <a:ext cx="510235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675120" y="3431032"/>
            <a:ext cx="4892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Ik vind deze taart lekker.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548640" y="429209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48640" y="4292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1005840" y="4157472"/>
            <a:ext cx="49377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1143000" y="4157472"/>
            <a:ext cx="47548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Je n’aime pas travailler le samedi.</a:t>
            </a:r>
            <a:endParaRPr lang="en-US" sz="1700" dirty="0"/>
          </a:p>
        </p:txBody>
      </p:sp>
      <p:sp>
        <p:nvSpPr>
          <p:cNvPr id="34" name="Shape 30"/>
          <p:cNvSpPr/>
          <p:nvPr/>
        </p:nvSpPr>
        <p:spPr>
          <a:xfrm>
            <a:off x="6035040" y="447497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5" name="Shape 31"/>
          <p:cNvSpPr/>
          <p:nvPr/>
        </p:nvSpPr>
        <p:spPr>
          <a:xfrm>
            <a:off x="6537960" y="4157472"/>
            <a:ext cx="510235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675120" y="4157472"/>
            <a:ext cx="4892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Ik werk niet graag op zaterdag.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48640" y="501853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548640" y="5018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1005840" y="4883912"/>
            <a:ext cx="49377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1143000" y="4883912"/>
            <a:ext cx="47548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J’adore le chocolat.</a:t>
            </a:r>
            <a:endParaRPr lang="en-US" sz="1700" dirty="0"/>
          </a:p>
        </p:txBody>
      </p:sp>
      <p:sp>
        <p:nvSpPr>
          <p:cNvPr id="41" name="Shape 37"/>
          <p:cNvSpPr/>
          <p:nvPr/>
        </p:nvSpPr>
        <p:spPr>
          <a:xfrm>
            <a:off x="6035040" y="520141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2" name="Shape 38"/>
          <p:cNvSpPr/>
          <p:nvPr/>
        </p:nvSpPr>
        <p:spPr>
          <a:xfrm>
            <a:off x="6537960" y="4883912"/>
            <a:ext cx="510235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6675120" y="4883912"/>
            <a:ext cx="4892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Ik ben dol op chocolade.</a:t>
            </a:r>
            <a:endParaRPr lang="en-US" sz="1800" dirty="0"/>
          </a:p>
        </p:txBody>
      </p:sp>
      <p:sp>
        <p:nvSpPr>
          <p:cNvPr id="44" name="Shape 40"/>
          <p:cNvSpPr/>
          <p:nvPr/>
        </p:nvSpPr>
        <p:spPr>
          <a:xfrm>
            <a:off x="548640" y="574497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548640" y="574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1005840" y="5610352"/>
            <a:ext cx="49377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1143000" y="5610352"/>
            <a:ext cx="47548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Je préfère le thé.</a:t>
            </a:r>
            <a:endParaRPr lang="en-US" sz="1700" dirty="0"/>
          </a:p>
        </p:txBody>
      </p:sp>
      <p:sp>
        <p:nvSpPr>
          <p:cNvPr id="48" name="Shape 44"/>
          <p:cNvSpPr/>
          <p:nvPr/>
        </p:nvSpPr>
        <p:spPr>
          <a:xfrm>
            <a:off x="6035040" y="592785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9" name="Shape 45"/>
          <p:cNvSpPr/>
          <p:nvPr/>
        </p:nvSpPr>
        <p:spPr>
          <a:xfrm>
            <a:off x="6537960" y="5610352"/>
            <a:ext cx="510235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6675120" y="5610352"/>
            <a:ext cx="4892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Ik drink liever thee.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Lotte se présente sur l’intranet. Trouvez les 5 erreurs.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48640" y="1932432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19324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Intranet Peeters &amp; Co · Over mij · Lotte Claes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572512"/>
            <a:ext cx="7589520" cy="353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chemeClr val="tx1"/>
                </a:solidFill>
              </a:rPr>
              <a:t>Hallo! Ik ben Lotte, de nieuwe stagiaire. </a:t>
            </a:r>
            <a:r>
              <a:rPr lang="en-US" sz="1900" i="1" dirty="0">
                <a:solidFill>
                  <a:schemeClr val="tx1"/>
                </a:solidFill>
              </a:rPr>
              <a:t>Ik graag lees</a:t>
            </a:r>
            <a:r>
              <a:rPr lang="en-US" sz="1900" i="1" dirty="0">
                <a:solidFill>
                  <a:schemeClr val="tx1"/>
                </a:solidFill>
              </a:rPr>
              <a:t> detectives. </a:t>
            </a:r>
            <a:r>
              <a:rPr lang="en-US" sz="1900" i="1" dirty="0">
                <a:solidFill>
                  <a:schemeClr val="tx1"/>
                </a:solidFill>
              </a:rPr>
              <a:t>Ik houd muziek</a:t>
            </a:r>
            <a:r>
              <a:rPr lang="en-US" sz="1900" i="1" dirty="0">
                <a:solidFill>
                  <a:schemeClr val="tx1"/>
                </a:solidFill>
              </a:rPr>
              <a:t>, vooral jazz. Ik drink </a:t>
            </a:r>
            <a:r>
              <a:rPr lang="en-US" sz="1900" i="1" dirty="0">
                <a:solidFill>
                  <a:schemeClr val="tx1"/>
                </a:solidFill>
              </a:rPr>
              <a:t>meer graag</a:t>
            </a:r>
            <a:r>
              <a:rPr lang="en-US" sz="1900" i="1" dirty="0">
                <a:solidFill>
                  <a:schemeClr val="tx1"/>
                </a:solidFill>
              </a:rPr>
              <a:t> thee dan koffie. Ik vind de soep van de kantine heel </a:t>
            </a:r>
            <a:r>
              <a:rPr lang="en-US" sz="1900" i="1" dirty="0">
                <a:solidFill>
                  <a:schemeClr val="tx1"/>
                </a:solidFill>
              </a:rPr>
              <a:t>leuk</a:t>
            </a:r>
            <a:r>
              <a:rPr lang="en-US" sz="1900" i="1" dirty="0">
                <a:solidFill>
                  <a:schemeClr val="tx1"/>
                </a:solidFill>
              </a:rPr>
              <a:t>! </a:t>
            </a:r>
            <a:r>
              <a:rPr lang="en-US" sz="1900" i="1" dirty="0">
                <a:solidFill>
                  <a:schemeClr val="tx1"/>
                </a:solidFill>
              </a:rPr>
              <a:t>Ik sport graag niet.</a:t>
            </a:r>
            <a:r>
              <a:rPr lang="en-US" sz="1900" i="1" dirty="0">
                <a:solidFill>
                  <a:schemeClr val="tx1"/>
                </a:solidFill>
              </a:rPr>
              <a:t> Ik hou van mijn katten Pip en Pluis. Tot snel!</a:t>
            </a:r>
            <a:endParaRPr lang="en-US" sz="1900" dirty="0"/>
          </a:p>
        </p:txBody>
      </p:sp>
      <p:pic>
        <p:nvPicPr>
          <p:cNvPr id="12" name="Image 1" descr="magnifying glass tilted 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Lotte se présente sur l’intranet. Trouvez les 5 erreurs.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1932432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19324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Intranet Peeters &amp; Co · Over mij · Lotte Claes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572512"/>
            <a:ext cx="7589520" cy="353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chemeClr val="tx1"/>
                </a:solidFill>
              </a:rPr>
              <a:t>Hallo! Ik ben Lotte, de nieuwe stagiaire. </a:t>
            </a:r>
            <a:r>
              <a:rPr lang="en-US" sz="1900" i="1" strike="sngStrike" dirty="0">
                <a:solidFill>
                  <a:schemeClr val="accent6"/>
                </a:solidFill>
              </a:rPr>
              <a:t>Ik graag lees</a:t>
            </a:r>
            <a:r>
              <a:rPr lang="en-US" sz="1900" b="1" i="1" dirty="0">
                <a:solidFill>
                  <a:schemeClr val="accent3"/>
                </a:solidFill>
              </a:rPr>
              <a:t> Ik lees graag</a:t>
            </a:r>
            <a:r>
              <a:rPr lang="en-US" sz="1900" i="1" dirty="0">
                <a:solidFill>
                  <a:schemeClr val="tx1"/>
                </a:solidFill>
              </a:rPr>
              <a:t> detectives. </a:t>
            </a:r>
            <a:r>
              <a:rPr lang="en-US" sz="1900" i="1" strike="sngStrike" dirty="0">
                <a:solidFill>
                  <a:schemeClr val="accent6"/>
                </a:solidFill>
              </a:rPr>
              <a:t>Ik houd muziek</a:t>
            </a:r>
            <a:r>
              <a:rPr lang="en-US" sz="1900" b="1" i="1" dirty="0">
                <a:solidFill>
                  <a:schemeClr val="accent3"/>
                </a:solidFill>
              </a:rPr>
              <a:t> Ik houd van muziek</a:t>
            </a:r>
            <a:r>
              <a:rPr lang="en-US" sz="1900" i="1" dirty="0">
                <a:solidFill>
                  <a:schemeClr val="tx1"/>
                </a:solidFill>
              </a:rPr>
              <a:t>, vooral jazz. Ik drink </a:t>
            </a:r>
            <a:r>
              <a:rPr lang="en-US" sz="1900" i="1" strike="sngStrike" dirty="0">
                <a:solidFill>
                  <a:schemeClr val="accent6"/>
                </a:solidFill>
              </a:rPr>
              <a:t>meer graag</a:t>
            </a:r>
            <a:r>
              <a:rPr lang="en-US" sz="1900" b="1" i="1" dirty="0">
                <a:solidFill>
                  <a:schemeClr val="accent3"/>
                </a:solidFill>
              </a:rPr>
              <a:t> liever</a:t>
            </a:r>
            <a:r>
              <a:rPr lang="en-US" sz="1900" i="1" dirty="0">
                <a:solidFill>
                  <a:schemeClr val="tx1"/>
                </a:solidFill>
              </a:rPr>
              <a:t> thee dan koffie. Ik vind de soep van de kantine heel </a:t>
            </a:r>
            <a:r>
              <a:rPr lang="en-US" sz="1900" i="1" strike="sngStrike" dirty="0">
                <a:solidFill>
                  <a:schemeClr val="accent6"/>
                </a:solidFill>
              </a:rPr>
              <a:t>leuk</a:t>
            </a:r>
            <a:r>
              <a:rPr lang="en-US" sz="1900" b="1" i="1" dirty="0">
                <a:solidFill>
                  <a:schemeClr val="accent3"/>
                </a:solidFill>
              </a:rPr>
              <a:t> lekker</a:t>
            </a:r>
            <a:r>
              <a:rPr lang="en-US" sz="1900" i="1" dirty="0">
                <a:solidFill>
                  <a:schemeClr val="tx1"/>
                </a:solidFill>
              </a:rPr>
              <a:t>! </a:t>
            </a:r>
            <a:r>
              <a:rPr lang="en-US" sz="1900" i="1" strike="sngStrike" dirty="0">
                <a:solidFill>
                  <a:schemeClr val="accent6"/>
                </a:solidFill>
              </a:rPr>
              <a:t>Ik sport graag niet.</a:t>
            </a:r>
            <a:r>
              <a:rPr lang="en-US" sz="1900" b="1" i="1" dirty="0">
                <a:solidFill>
                  <a:schemeClr val="accent3"/>
                </a:solidFill>
              </a:rPr>
              <a:t> Ik sport niet graag.</a:t>
            </a:r>
            <a:r>
              <a:rPr lang="en-US" sz="1900" i="1" dirty="0">
                <a:solidFill>
                  <a:schemeClr val="tx1"/>
                </a:solidFill>
              </a:rPr>
              <a:t> Ik hou van mijn katten Pip en Pluis. Tot snel!</a:t>
            </a:r>
            <a:endParaRPr lang="en-US" sz="1900" dirty="0"/>
          </a:p>
        </p:txBody>
      </p:sp>
      <p:pic>
        <p:nvPicPr>
          <p:cNvPr id="13" name="Image 1" descr="magnifying glass tilted 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✓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9052560" y="4721352"/>
            <a:ext cx="2587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Leurre : </a:t>
            </a:r>
            <a:r>
              <a:rPr lang="en-US" sz="1400" i="1" dirty="0">
                <a:solidFill>
                  <a:schemeClr val="accent5"/>
                </a:solidFill>
              </a:rPr>
              <a:t>Ik hou van mijn katten</a:t>
            </a:r>
            <a:r>
              <a:rPr lang="en-US" sz="1400" i="1" dirty="0">
                <a:solidFill>
                  <a:schemeClr val="accent5"/>
                </a:solidFill>
              </a:rPr>
              <a:t> est correct. Aussi : </a:t>
            </a:r>
            <a:r>
              <a:rPr lang="en-US" sz="1400" i="1" dirty="0">
                <a:solidFill>
                  <a:schemeClr val="accent5"/>
                </a:solidFill>
              </a:rPr>
              <a:t>Ik doe niet graag aan sport.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Remettez en ordre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Remettez les mots dans l’ordre. Où va </a:t>
            </a:r>
            <a:r>
              <a:rPr lang="en-US" sz="1700" i="1" dirty="0">
                <a:solidFill>
                  <a:schemeClr val="accent5"/>
                </a:solidFill>
              </a:rPr>
              <a:t>graag</a:t>
            </a:r>
            <a:r>
              <a:rPr lang="en-US" sz="1700" i="1" dirty="0">
                <a:solidFill>
                  <a:schemeClr val="accent5"/>
                </a:solidFill>
              </a:rPr>
              <a:t> ?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2185416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 rot="-120000">
            <a:off x="1097280" y="2060448"/>
            <a:ext cx="109728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97280" y="2060448"/>
            <a:ext cx="109728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graag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 rot="60000">
            <a:off x="2423160" y="2060448"/>
            <a:ext cx="68580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423160" y="2060448"/>
            <a:ext cx="68580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ga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 rot="120000">
            <a:off x="3337560" y="2060448"/>
            <a:ext cx="205740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337560" y="2060448"/>
            <a:ext cx="205740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naar de film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 rot="-60000">
            <a:off x="5623560" y="2060448"/>
            <a:ext cx="68580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623560" y="2060448"/>
            <a:ext cx="68580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548640" y="3057144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48640" y="3057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 rot="-120000">
            <a:off x="1097280" y="2932176"/>
            <a:ext cx="123444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097280" y="2932176"/>
            <a:ext cx="12344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gedaan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 rot="60000">
            <a:off x="2560320" y="2932176"/>
            <a:ext cx="109728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2560320" y="2932176"/>
            <a:ext cx="109728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heeft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 rot="120000">
            <a:off x="3886200" y="2932176"/>
            <a:ext cx="109728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3886200" y="2932176"/>
            <a:ext cx="109728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graag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 rot="-60000">
            <a:off x="5212080" y="2932176"/>
            <a:ext cx="82296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212080" y="2932176"/>
            <a:ext cx="82296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dat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6263640" y="2932176"/>
            <a:ext cx="109728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263640" y="2932176"/>
            <a:ext cx="109728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Karim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548640" y="39288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48640" y="3928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 rot="-120000">
            <a:off x="1097280" y="3803904"/>
            <a:ext cx="123444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1097280" y="3803904"/>
            <a:ext cx="12344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liever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 rot="60000">
            <a:off x="2560320" y="3803904"/>
            <a:ext cx="82296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2560320" y="3803904"/>
            <a:ext cx="82296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wij</a:t>
            </a:r>
            <a:endParaRPr lang="en-US" sz="1800" dirty="0"/>
          </a:p>
        </p:txBody>
      </p:sp>
      <p:sp>
        <p:nvSpPr>
          <p:cNvPr id="36" name="Shape 32"/>
          <p:cNvSpPr/>
          <p:nvPr/>
        </p:nvSpPr>
        <p:spPr>
          <a:xfrm rot="120000">
            <a:off x="3611880" y="3803904"/>
            <a:ext cx="96012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3611880" y="3803904"/>
            <a:ext cx="96012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eten</a:t>
            </a:r>
            <a:endParaRPr lang="en-US" sz="1800" dirty="0"/>
          </a:p>
        </p:txBody>
      </p:sp>
      <p:sp>
        <p:nvSpPr>
          <p:cNvPr id="38" name="Shape 34"/>
          <p:cNvSpPr/>
          <p:nvPr/>
        </p:nvSpPr>
        <p:spPr>
          <a:xfrm rot="-60000">
            <a:off x="4800600" y="3803904"/>
            <a:ext cx="82296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4800600" y="3803904"/>
            <a:ext cx="82296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vis</a:t>
            </a:r>
            <a:endParaRPr lang="en-US" sz="1800" dirty="0"/>
          </a:p>
        </p:txBody>
      </p:sp>
      <p:sp>
        <p:nvSpPr>
          <p:cNvPr id="40" name="Shape 36"/>
          <p:cNvSpPr/>
          <p:nvPr/>
        </p:nvSpPr>
        <p:spPr>
          <a:xfrm>
            <a:off x="548640" y="480060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54864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 rot="-120000">
            <a:off x="1097280" y="4675632"/>
            <a:ext cx="178308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1097280" y="4675632"/>
            <a:ext cx="178308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een koffie</a:t>
            </a:r>
            <a:endParaRPr lang="en-US" sz="1800" dirty="0"/>
          </a:p>
        </p:txBody>
      </p:sp>
      <p:sp>
        <p:nvSpPr>
          <p:cNvPr id="44" name="Shape 40"/>
          <p:cNvSpPr/>
          <p:nvPr/>
        </p:nvSpPr>
        <p:spPr>
          <a:xfrm rot="60000">
            <a:off x="3108960" y="4675632"/>
            <a:ext cx="109728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3108960" y="4675632"/>
            <a:ext cx="109728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graag</a:t>
            </a:r>
            <a:endParaRPr lang="en-US" sz="1800" dirty="0"/>
          </a:p>
        </p:txBody>
      </p:sp>
      <p:sp>
        <p:nvSpPr>
          <p:cNvPr id="46" name="Shape 42"/>
          <p:cNvSpPr/>
          <p:nvPr/>
        </p:nvSpPr>
        <p:spPr>
          <a:xfrm rot="120000">
            <a:off x="4434840" y="4675632"/>
            <a:ext cx="82296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4434840" y="4675632"/>
            <a:ext cx="82296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wil</a:t>
            </a:r>
            <a:endParaRPr lang="en-US" sz="1800" dirty="0"/>
          </a:p>
        </p:txBody>
      </p:sp>
      <p:sp>
        <p:nvSpPr>
          <p:cNvPr id="48" name="Shape 44"/>
          <p:cNvSpPr/>
          <p:nvPr/>
        </p:nvSpPr>
        <p:spPr>
          <a:xfrm rot="-60000">
            <a:off x="5486400" y="4675632"/>
            <a:ext cx="109728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5486400" y="4675632"/>
            <a:ext cx="109728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Sofie</a:t>
            </a:r>
            <a:endParaRPr lang="en-US" sz="1800" dirty="0"/>
          </a:p>
        </p:txBody>
      </p:sp>
      <p:sp>
        <p:nvSpPr>
          <p:cNvPr id="50" name="Shape 46"/>
          <p:cNvSpPr/>
          <p:nvPr/>
        </p:nvSpPr>
        <p:spPr>
          <a:xfrm>
            <a:off x="548640" y="5672328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548640" y="5672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 rot="-120000">
            <a:off x="1097280" y="5547360"/>
            <a:ext cx="82296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1097280" y="5547360"/>
            <a:ext cx="82296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van</a:t>
            </a:r>
            <a:endParaRPr lang="en-US" sz="1800" dirty="0"/>
          </a:p>
        </p:txBody>
      </p:sp>
      <p:sp>
        <p:nvSpPr>
          <p:cNvPr id="54" name="Shape 50"/>
          <p:cNvSpPr/>
          <p:nvPr/>
        </p:nvSpPr>
        <p:spPr>
          <a:xfrm rot="60000">
            <a:off x="2148840" y="5547360"/>
            <a:ext cx="82296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2148840" y="5547360"/>
            <a:ext cx="82296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jij</a:t>
            </a:r>
            <a:endParaRPr lang="en-US" sz="1800" dirty="0"/>
          </a:p>
        </p:txBody>
      </p:sp>
      <p:sp>
        <p:nvSpPr>
          <p:cNvPr id="56" name="Shape 52"/>
          <p:cNvSpPr/>
          <p:nvPr/>
        </p:nvSpPr>
        <p:spPr>
          <a:xfrm rot="120000">
            <a:off x="3200400" y="5547360"/>
            <a:ext cx="96012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3200400" y="5547360"/>
            <a:ext cx="96012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jazz</a:t>
            </a:r>
            <a:endParaRPr lang="en-US" sz="1800" dirty="0"/>
          </a:p>
        </p:txBody>
      </p:sp>
      <p:sp>
        <p:nvSpPr>
          <p:cNvPr id="58" name="Shape 54"/>
          <p:cNvSpPr/>
          <p:nvPr/>
        </p:nvSpPr>
        <p:spPr>
          <a:xfrm rot="-60000">
            <a:off x="4389120" y="5547360"/>
            <a:ext cx="82296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4389120" y="5547360"/>
            <a:ext cx="82296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hou</a:t>
            </a:r>
            <a:endParaRPr lang="en-US" sz="1800" dirty="0"/>
          </a:p>
        </p:txBody>
      </p:sp>
      <p:sp>
        <p:nvSpPr>
          <p:cNvPr id="60" name="Shape 56"/>
          <p:cNvSpPr/>
          <p:nvPr/>
        </p:nvSpPr>
        <p:spPr>
          <a:xfrm>
            <a:off x="5440680" y="5547360"/>
            <a:ext cx="548640" cy="6156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5440680" y="5547360"/>
            <a:ext cx="5486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Remettez en ordre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Remettez les mots dans l’ordre. Où va </a:t>
            </a:r>
            <a:r>
              <a:rPr lang="en-US" sz="1700" i="1" dirty="0">
                <a:solidFill>
                  <a:schemeClr val="accent5"/>
                </a:solidFill>
              </a:rPr>
              <a:t>graag</a:t>
            </a:r>
            <a:r>
              <a:rPr lang="en-US" sz="1700" i="1" dirty="0">
                <a:solidFill>
                  <a:schemeClr val="accent5"/>
                </a:solidFill>
              </a:rPr>
              <a:t> ?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2185416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97280" y="1996440"/>
            <a:ext cx="10543032" cy="743712"/>
          </a:xfrm>
          <a:prstGeom prst="roundRect">
            <a:avLst>
              <a:gd name="adj" fmla="val 9836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234440" y="1996440"/>
            <a:ext cx="1033272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i="1" dirty="0">
                <a:solidFill>
                  <a:schemeClr val="accent3"/>
                </a:solidFill>
              </a:rPr>
              <a:t>Ik ga graag naar de film.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548640" y="3057144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48640" y="3057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1097280" y="2868168"/>
            <a:ext cx="10543032" cy="743712"/>
          </a:xfrm>
          <a:prstGeom prst="roundRect">
            <a:avLst>
              <a:gd name="adj" fmla="val 9836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234440" y="2868168"/>
            <a:ext cx="1033272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i="1" dirty="0">
                <a:solidFill>
                  <a:schemeClr val="accent3"/>
                </a:solidFill>
              </a:rPr>
              <a:t>Karim heeft dat graag gedaan.</a:t>
            </a:r>
            <a:endParaRPr lang="en-US" sz="2100" dirty="0"/>
          </a:p>
        </p:txBody>
      </p:sp>
      <p:sp>
        <p:nvSpPr>
          <p:cNvPr id="17" name="Shape 13"/>
          <p:cNvSpPr/>
          <p:nvPr/>
        </p:nvSpPr>
        <p:spPr>
          <a:xfrm>
            <a:off x="548640" y="39288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3928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097280" y="3739896"/>
            <a:ext cx="10543032" cy="743712"/>
          </a:xfrm>
          <a:prstGeom prst="roundRect">
            <a:avLst>
              <a:gd name="adj" fmla="val 9836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234440" y="3739896"/>
            <a:ext cx="1033272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i="1" dirty="0">
                <a:solidFill>
                  <a:schemeClr val="accent3"/>
                </a:solidFill>
              </a:rPr>
              <a:t>Wij eten liever vis.</a:t>
            </a:r>
            <a:endParaRPr lang="en-US" sz="2100" dirty="0"/>
          </a:p>
        </p:txBody>
      </p:sp>
      <p:sp>
        <p:nvSpPr>
          <p:cNvPr id="21" name="Shape 17"/>
          <p:cNvSpPr/>
          <p:nvPr/>
        </p:nvSpPr>
        <p:spPr>
          <a:xfrm>
            <a:off x="548640" y="480060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4864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1097280" y="4611624"/>
            <a:ext cx="10543032" cy="743712"/>
          </a:xfrm>
          <a:prstGeom prst="roundRect">
            <a:avLst>
              <a:gd name="adj" fmla="val 9836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234440" y="4611624"/>
            <a:ext cx="1033272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i="1" dirty="0">
                <a:solidFill>
                  <a:schemeClr val="accent3"/>
                </a:solidFill>
              </a:rPr>
              <a:t>Sofie wil graag een koffie.</a:t>
            </a:r>
            <a:endParaRPr lang="en-US" sz="2100" dirty="0"/>
          </a:p>
        </p:txBody>
      </p:sp>
      <p:sp>
        <p:nvSpPr>
          <p:cNvPr id="25" name="Shape 21"/>
          <p:cNvSpPr/>
          <p:nvPr/>
        </p:nvSpPr>
        <p:spPr>
          <a:xfrm>
            <a:off x="548640" y="5672328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48640" y="5672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1097280" y="5483352"/>
            <a:ext cx="10543032" cy="743712"/>
          </a:xfrm>
          <a:prstGeom prst="roundRect">
            <a:avLst>
              <a:gd name="adj" fmla="val 9836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234440" y="5483352"/>
            <a:ext cx="1033272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i="1" dirty="0">
                <a:solidFill>
                  <a:schemeClr val="accent3"/>
                </a:solidFill>
              </a:rPr>
              <a:t>Hou jij van jazz?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6 — Zoek iemand die…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7" name="Image 0" descr="cook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09928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21945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… graag kookt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22960" y="2743200"/>
            <a:ext cx="1783080" cy="914"/>
          </a:xfrm>
          <a:prstGeom prst="line">
            <a:avLst/>
          </a:prstGeom>
          <a:noFill/>
          <a:ln w="12700">
            <a:solidFill>
              <a:srgbClr val="D5DCE6"/>
            </a:solidFill>
            <a:prstDash val="dash"/>
          </a:ln>
        </p:spPr>
      </p:sp>
      <p:sp>
        <p:nvSpPr>
          <p:cNvPr id="10" name="Shape 6"/>
          <p:cNvSpPr/>
          <p:nvPr/>
        </p:nvSpPr>
        <p:spPr>
          <a:xfrm>
            <a:off x="2971800" y="16002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11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528" y="1709928"/>
            <a:ext cx="502920" cy="5029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063240" y="21945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… van katten houdt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3246120" y="2743200"/>
            <a:ext cx="1783080" cy="914"/>
          </a:xfrm>
          <a:prstGeom prst="line">
            <a:avLst/>
          </a:prstGeom>
          <a:noFill/>
          <a:ln w="12700">
            <a:solidFill>
              <a:srgbClr val="D5DCE6"/>
            </a:solidFill>
            <a:prstDash val="dash"/>
          </a:ln>
        </p:spPr>
      </p:sp>
      <p:sp>
        <p:nvSpPr>
          <p:cNvPr id="14" name="Shape 9"/>
          <p:cNvSpPr/>
          <p:nvPr/>
        </p:nvSpPr>
        <p:spPr>
          <a:xfrm>
            <a:off x="5394960" y="16002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15" name="Image 2" descr="teacup without hand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709928"/>
            <a:ext cx="502920" cy="5029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486400" y="21945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… liever thee drinkt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5669280" y="2743200"/>
            <a:ext cx="1783080" cy="914"/>
          </a:xfrm>
          <a:prstGeom prst="line">
            <a:avLst/>
          </a:prstGeom>
          <a:noFill/>
          <a:ln w="12700">
            <a:solidFill>
              <a:srgbClr val="D5DCE6"/>
            </a:solidFill>
            <a:prstDash val="dash"/>
          </a:ln>
        </p:spPr>
      </p:sp>
      <p:sp>
        <p:nvSpPr>
          <p:cNvPr id="18" name="Shape 12"/>
          <p:cNvSpPr/>
          <p:nvPr/>
        </p:nvSpPr>
        <p:spPr>
          <a:xfrm>
            <a:off x="548640" y="30632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19" name="Image 3" descr="alarm cl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172968"/>
            <a:ext cx="502920" cy="5029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40080" y="3657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… niet graag vroeg opstaat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822960" y="4206240"/>
            <a:ext cx="1783080" cy="914"/>
          </a:xfrm>
          <a:prstGeom prst="line">
            <a:avLst/>
          </a:prstGeom>
          <a:noFill/>
          <a:ln w="12700">
            <a:solidFill>
              <a:srgbClr val="D5DCE6"/>
            </a:solidFill>
            <a:prstDash val="dash"/>
          </a:ln>
        </p:spPr>
      </p:sp>
      <p:sp>
        <p:nvSpPr>
          <p:cNvPr id="22" name="Shape 15"/>
          <p:cNvSpPr/>
          <p:nvPr/>
        </p:nvSpPr>
        <p:spPr>
          <a:xfrm>
            <a:off x="2971800" y="30632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23" name="Image 4" descr="chocolate ba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1528" y="3172968"/>
            <a:ext cx="502920" cy="50292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3063240" y="3657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… dol is op chocolade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3246120" y="4206240"/>
            <a:ext cx="1783080" cy="914"/>
          </a:xfrm>
          <a:prstGeom prst="line">
            <a:avLst/>
          </a:prstGeom>
          <a:noFill/>
          <a:ln w="12700">
            <a:solidFill>
              <a:srgbClr val="D5DCE6"/>
            </a:solidFill>
            <a:prstDash val="dash"/>
          </a:ln>
        </p:spPr>
      </p:sp>
      <p:sp>
        <p:nvSpPr>
          <p:cNvPr id="26" name="Shape 18"/>
          <p:cNvSpPr/>
          <p:nvPr/>
        </p:nvSpPr>
        <p:spPr>
          <a:xfrm>
            <a:off x="5394960" y="30632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27" name="Image 5" descr="person biki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4688" y="3172968"/>
            <a:ext cx="502920" cy="50292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5486400" y="3657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… het liefst fietst</a:t>
            </a:r>
            <a:endParaRPr lang="en-US" sz="1400" dirty="0"/>
          </a:p>
        </p:txBody>
      </p:sp>
      <p:sp>
        <p:nvSpPr>
          <p:cNvPr id="29" name="Shape 20"/>
          <p:cNvSpPr/>
          <p:nvPr/>
        </p:nvSpPr>
        <p:spPr>
          <a:xfrm>
            <a:off x="5669280" y="4206240"/>
            <a:ext cx="1783080" cy="914"/>
          </a:xfrm>
          <a:prstGeom prst="line">
            <a:avLst/>
          </a:prstGeom>
          <a:noFill/>
          <a:ln w="12700">
            <a:solidFill>
              <a:srgbClr val="D5DCE6"/>
            </a:solidFill>
            <a:prstDash val="dash"/>
          </a:ln>
        </p:spPr>
      </p:sp>
      <p:sp>
        <p:nvSpPr>
          <p:cNvPr id="30" name="Shape 21"/>
          <p:cNvSpPr/>
          <p:nvPr/>
        </p:nvSpPr>
        <p:spPr>
          <a:xfrm>
            <a:off x="548640" y="452628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31" name="Image 6" descr="woman danci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636008"/>
            <a:ext cx="502920" cy="50292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640080" y="51206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… graag danst</a:t>
            </a:r>
            <a:endParaRPr lang="en-US" sz="1400" dirty="0"/>
          </a:p>
        </p:txBody>
      </p:sp>
      <p:sp>
        <p:nvSpPr>
          <p:cNvPr id="33" name="Shape 23"/>
          <p:cNvSpPr/>
          <p:nvPr/>
        </p:nvSpPr>
        <p:spPr>
          <a:xfrm>
            <a:off x="822960" y="5669280"/>
            <a:ext cx="1783080" cy="914"/>
          </a:xfrm>
          <a:prstGeom prst="line">
            <a:avLst/>
          </a:prstGeom>
          <a:noFill/>
          <a:ln w="12700">
            <a:solidFill>
              <a:srgbClr val="D5DCE6"/>
            </a:solidFill>
            <a:prstDash val="dash"/>
          </a:ln>
        </p:spPr>
      </p:sp>
      <p:sp>
        <p:nvSpPr>
          <p:cNvPr id="34" name="Shape 24"/>
          <p:cNvSpPr/>
          <p:nvPr/>
        </p:nvSpPr>
        <p:spPr>
          <a:xfrm>
            <a:off x="2971800" y="452628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35" name="Image 7" descr="cloud with rai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81528" y="4636008"/>
            <a:ext cx="502920" cy="50292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3063240" y="51206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… van regen houdt</a:t>
            </a:r>
            <a:endParaRPr lang="en-US" sz="1400" dirty="0"/>
          </a:p>
        </p:txBody>
      </p:sp>
      <p:sp>
        <p:nvSpPr>
          <p:cNvPr id="37" name="Shape 26"/>
          <p:cNvSpPr/>
          <p:nvPr/>
        </p:nvSpPr>
        <p:spPr>
          <a:xfrm>
            <a:off x="3246120" y="5669280"/>
            <a:ext cx="1783080" cy="914"/>
          </a:xfrm>
          <a:prstGeom prst="line">
            <a:avLst/>
          </a:prstGeom>
          <a:noFill/>
          <a:ln w="12700">
            <a:solidFill>
              <a:srgbClr val="D5DCE6"/>
            </a:solidFill>
            <a:prstDash val="dash"/>
          </a:ln>
        </p:spPr>
      </p:sp>
      <p:sp>
        <p:nvSpPr>
          <p:cNvPr id="38" name="Shape 27"/>
          <p:cNvSpPr/>
          <p:nvPr/>
        </p:nvSpPr>
        <p:spPr>
          <a:xfrm>
            <a:off x="5394960" y="452628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39" name="Image 8" descr="open book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4688" y="4636008"/>
            <a:ext cx="502920" cy="502920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5486400" y="51206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… graag leest</a:t>
            </a:r>
            <a:endParaRPr lang="en-US" sz="1400" dirty="0"/>
          </a:p>
        </p:txBody>
      </p:sp>
      <p:sp>
        <p:nvSpPr>
          <p:cNvPr id="41" name="Shape 29"/>
          <p:cNvSpPr/>
          <p:nvPr/>
        </p:nvSpPr>
        <p:spPr>
          <a:xfrm>
            <a:off x="5669280" y="5669280"/>
            <a:ext cx="1783080" cy="914"/>
          </a:xfrm>
          <a:prstGeom prst="line">
            <a:avLst/>
          </a:prstGeom>
          <a:noFill/>
          <a:ln w="12700">
            <a:solidFill>
              <a:srgbClr val="D5DCE6"/>
            </a:solidFill>
            <a:prstDash val="dash"/>
          </a:ln>
        </p:spPr>
      </p:sp>
      <p:pic>
        <p:nvPicPr>
          <p:cNvPr id="42" name="Image 9" descr="magnifying glass tilted left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1600200"/>
            <a:ext cx="731520" cy="731520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8869680" y="1600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Bingo!</a:t>
            </a:r>
            <a:endParaRPr lang="en-US" sz="2800" dirty="0"/>
          </a:p>
        </p:txBody>
      </p:sp>
      <p:sp>
        <p:nvSpPr>
          <p:cNvPr id="44" name="Text 31"/>
          <p:cNvSpPr txBox="1"/>
          <p:nvPr/>
        </p:nvSpPr>
        <p:spPr>
          <a:xfrm>
            <a:off x="8046720" y="2514600"/>
            <a:ext cx="35935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1.</a:t>
            </a:r>
            <a:r>
              <a:rPr lang="en-US" sz="1500" dirty="0">
                <a:solidFill>
                  <a:schemeClr val="tx1"/>
                </a:solidFill>
              </a:rPr>
              <a:t> Posez la question : </a:t>
            </a:r>
            <a:r>
              <a:rPr lang="en-US" sz="1500" i="1" dirty="0">
                <a:solidFill>
                  <a:schemeClr val="tx1"/>
                </a:solidFill>
              </a:rPr>
              <a:t>Kook je graag? · Hou je van katten?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2.</a:t>
            </a:r>
            <a:r>
              <a:rPr lang="en-US" sz="1500" dirty="0">
                <a:solidFill>
                  <a:schemeClr val="tx1"/>
                </a:solidFill>
              </a:rPr>
              <a:t> « </a:t>
            </a:r>
            <a:r>
              <a:rPr lang="en-US" sz="1500" i="1" dirty="0">
                <a:solidFill>
                  <a:schemeClr val="tx1"/>
                </a:solidFill>
              </a:rPr>
              <a:t>Ja!</a:t>
            </a:r>
            <a:r>
              <a:rPr lang="en-US" sz="1500" dirty="0">
                <a:solidFill>
                  <a:schemeClr val="tx1"/>
                </a:solidFill>
              </a:rPr>
              <a:t> » : écrivez le prénom sur la ligne.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3.</a:t>
            </a:r>
            <a:r>
              <a:rPr lang="en-US" sz="1500" dirty="0">
                <a:solidFill>
                  <a:schemeClr val="tx1"/>
                </a:solidFill>
              </a:rPr>
              <a:t> Une ligne complète : </a:t>
            </a:r>
            <a:r>
              <a:rPr lang="en-US" sz="1500" i="1" dirty="0">
                <a:solidFill>
                  <a:schemeClr val="tx1"/>
                </a:solidFill>
              </a:rPr>
              <a:t>Bingo!</a:t>
            </a:r>
            <a:r>
              <a:rPr lang="en-US" sz="1500" dirty="0">
                <a:solidFill>
                  <a:schemeClr val="tx1"/>
                </a:solidFill>
              </a:rPr>
              <a:t> — présentez vos trouvailles : </a:t>
            </a:r>
            <a:r>
              <a:rPr lang="en-US" sz="1500" i="1" dirty="0">
                <a:solidFill>
                  <a:schemeClr val="tx1"/>
                </a:solidFill>
              </a:rPr>
              <a:t>Karim kookt graag.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7 — La sortie d’équipe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200046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7251192" cy="755904"/>
          </a:xfrm>
          <a:prstGeom prst="roundRect">
            <a:avLst>
              <a:gd name="adj" fmla="val 9677"/>
            </a:avLst>
          </a:prstGeom>
          <a:solidFill>
            <a:srgbClr val="6E4A9E">
              <a:alpha val="10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481328"/>
            <a:ext cx="679399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An organise une sortie d’équipe. Chacun dit ce qu’il aime, ce qu’il préfère et ce qu’il n’aime pas. Puis l’équipe vote.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" y="25572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</a:t>
            </a:r>
            <a:r>
              <a:rPr lang="en-US" sz="1700" dirty="0">
                <a:solidFill>
                  <a:schemeClr val="tx1"/>
                </a:solidFill>
              </a:rPr>
              <a:t> (la cheffe) : présentez les activités et demandez l’avis de chacun : </a:t>
            </a:r>
            <a:r>
              <a:rPr lang="en-US" sz="1700" i="1" dirty="0">
                <a:solidFill>
                  <a:schemeClr val="tx1"/>
                </a:solidFill>
              </a:rPr>
              <a:t>Wat doe je graag?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11396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75988" y="2557272"/>
            <a:ext cx="457200" cy="45720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75988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088636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Un membre de l’équipe</a:t>
            </a:r>
            <a:r>
              <a:rPr lang="en-US" sz="1700" dirty="0">
                <a:solidFill>
                  <a:schemeClr val="tx1"/>
                </a:solidFill>
              </a:rPr>
              <a:t> : donnez vos préférences et justifiez : </a:t>
            </a:r>
            <a:r>
              <a:rPr lang="en-US" sz="1700" i="1" dirty="0">
                <a:solidFill>
                  <a:schemeClr val="tx1"/>
                </a:solidFill>
              </a:rPr>
              <a:t>Ik … liever …, want…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4690872"/>
            <a:ext cx="7251192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764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BANQUE DE PHRASES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5056632"/>
            <a:ext cx="688543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Wat doe je graag? · Ik hou van… · Ik … liever … · Ik vind … leuk. · Ik … niet graag … · Het liefst … · We kiezen …, want we … allemaal graag.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74152" y="1481328"/>
            <a:ext cx="3566160" cy="4809744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074152" y="1481328"/>
            <a:ext cx="3566160" cy="4572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11312" y="14813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TEAMUITSTAP · STEM!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165592" y="2029968"/>
            <a:ext cx="3383280" cy="950976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23" name="Image 0" descr="bowl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7032" y="2231136"/>
            <a:ext cx="548640" cy="54864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897112" y="2029968"/>
            <a:ext cx="2606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200" b="1" i="1" dirty="0">
                <a:solidFill>
                  <a:schemeClr val="tx1"/>
                </a:solidFill>
              </a:rPr>
              <a:t>bowling</a:t>
            </a:r>
            <a:endParaRPr lang="en-US" sz="12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€ 15 · 2 uur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165592" y="3072384"/>
            <a:ext cx="3383280" cy="950976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26" name="Image 1" descr="cook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3273552"/>
            <a:ext cx="548640" cy="54864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897112" y="3072384"/>
            <a:ext cx="2606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200" b="1" i="1" dirty="0">
                <a:solidFill>
                  <a:schemeClr val="tx1"/>
                </a:solidFill>
              </a:rPr>
              <a:t>kookworkshop</a:t>
            </a:r>
            <a:endParaRPr lang="en-US" sz="12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€ 45 · 3 uur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8165592" y="4114800"/>
            <a:ext cx="3383280" cy="950976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29" name="Image 2" descr="lock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4315968"/>
            <a:ext cx="548640" cy="54864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897112" y="4114800"/>
            <a:ext cx="2606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200" b="1" i="1" dirty="0">
                <a:solidFill>
                  <a:schemeClr val="tx1"/>
                </a:solidFill>
              </a:rPr>
              <a:t>escaperoom</a:t>
            </a:r>
            <a:endParaRPr lang="en-US" sz="12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€ 25 · 1 uur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8165592" y="5157216"/>
            <a:ext cx="3383280" cy="950976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32" name="Image 3" descr="evergreen tre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5358384"/>
            <a:ext cx="548640" cy="54864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897112" y="5157216"/>
            <a:ext cx="2606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200" b="1" i="1" dirty="0">
                <a:solidFill>
                  <a:schemeClr val="tx1"/>
                </a:solidFill>
              </a:rPr>
              <a:t>wandeling in het Zoniënwoud</a:t>
            </a:r>
            <a:endParaRPr lang="en-US" sz="12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gratis · 3 uur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Ticket de sortie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092147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TICKET DE SORTIE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89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89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62763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Traduisez : « J’aime lire. »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86512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93827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Traduisez : « J’aime la musique. »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17576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4511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511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424891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Complétez : </a:t>
            </a:r>
            <a:r>
              <a:rPr lang="en-US" sz="2000" i="1" dirty="0">
                <a:solidFill>
                  <a:schemeClr val="tx1"/>
                </a:solidFill>
              </a:rPr>
              <a:t>Koffie of thee? — ……… thee!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AUTO-ÉVALUATION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49440" y="201168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32320" y="201168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Faire</a:t>
            </a:r>
            <a:endParaRPr lang="en-US" sz="1600" dirty="0"/>
          </a:p>
        </p:txBody>
      </p:sp>
      <p:pic>
        <p:nvPicPr>
          <p:cNvPr id="20" name="Image 0" descr="RegFr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2162556"/>
            <a:ext cx="457200" cy="457200"/>
          </a:xfrm>
          <a:prstGeom prst="rect">
            <a:avLst/>
          </a:prstGeom>
        </p:spPr>
      </p:pic>
      <p:pic>
        <p:nvPicPr>
          <p:cNvPr id="21" name="Image 1" descr="RegMe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162556"/>
            <a:ext cx="457200" cy="457200"/>
          </a:xfrm>
          <a:prstGeom prst="rect">
            <a:avLst/>
          </a:prstGeom>
        </p:spPr>
      </p:pic>
      <p:pic>
        <p:nvPicPr>
          <p:cNvPr id="22" name="Image 2" descr="RegSm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162556"/>
            <a:ext cx="457200" cy="4572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949440" y="288036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132320" y="288036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Aimer</a:t>
            </a:r>
            <a:endParaRPr lang="en-US" sz="1600" dirty="0"/>
          </a:p>
        </p:txBody>
      </p:sp>
      <p:pic>
        <p:nvPicPr>
          <p:cNvPr id="25" name="Image 3" descr="RegFrow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031236"/>
            <a:ext cx="457200" cy="457200"/>
          </a:xfrm>
          <a:prstGeom prst="rect">
            <a:avLst/>
          </a:prstGeom>
        </p:spPr>
      </p:pic>
      <p:pic>
        <p:nvPicPr>
          <p:cNvPr id="26" name="Image 4" descr="RegMe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3031236"/>
            <a:ext cx="457200" cy="457200"/>
          </a:xfrm>
          <a:prstGeom prst="rect">
            <a:avLst/>
          </a:prstGeom>
        </p:spPr>
      </p:pic>
      <p:pic>
        <p:nvPicPr>
          <p:cNvPr id="27" name="Image 5" descr="RegSmi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3031236"/>
            <a:ext cx="457200" cy="45720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949440" y="374904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7132320" y="374904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Nuancer</a:t>
            </a:r>
            <a:endParaRPr lang="en-US" sz="1600" dirty="0"/>
          </a:p>
        </p:txBody>
      </p:sp>
      <p:pic>
        <p:nvPicPr>
          <p:cNvPr id="30" name="Image 6" descr="RegFrow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480" y="3899916"/>
            <a:ext cx="457200" cy="457200"/>
          </a:xfrm>
          <a:prstGeom prst="rect">
            <a:avLst/>
          </a:prstGeom>
        </p:spPr>
      </p:pic>
      <p:pic>
        <p:nvPicPr>
          <p:cNvPr id="31" name="Image 7" descr="RegMe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0" y="3899916"/>
            <a:ext cx="457200" cy="457200"/>
          </a:xfrm>
          <a:prstGeom prst="rect">
            <a:avLst/>
          </a:prstGeom>
        </p:spPr>
      </p:pic>
      <p:pic>
        <p:nvPicPr>
          <p:cNvPr id="32" name="Image 8" descr="RegSmil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7080" y="3899916"/>
            <a:ext cx="457200" cy="457200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9" descr="UserFriends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715000"/>
            <a:ext cx="365760" cy="36576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1325880" y="5532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Volgende keer : Zich of elkaar?</a:t>
            </a:r>
            <a:r>
              <a:rPr lang="en-US" sz="1800" dirty="0">
                <a:solidFill>
                  <a:schemeClr val="bg1"/>
                </a:solidFill>
              </a:rPr>
              <a:t> — </a:t>
            </a:r>
            <a:r>
              <a:rPr lang="en-US" sz="1800" i="1" dirty="0">
                <a:solidFill>
                  <a:schemeClr val="bg1"/>
                </a:solidFill>
              </a:rPr>
              <a:t>Hij wast zich · Ze helpen elkaar.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1">
  <a:themeElements>
    <a:clrScheme name="Nederlands 1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1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IRAM — Néerlandais 1 (UE1)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27 — Graag of houden van? — Dire ce qu’on aime</dc:title>
  <dc:subject>Néerlandais 1 — Langue en situation, en milieu professionnel</dc:subject>
  <dc:creator>A. Jouniaux</dc:creator>
  <cp:lastModifiedBy>A. Jouniaux</cp:lastModifiedBy>
  <cp:revision>1</cp:revision>
  <dcterms:created xsi:type="dcterms:W3CDTF">2026-10-05T10:24:07Z</dcterms:created>
  <dcterms:modified xsi:type="dcterms:W3CDTF">2026-10-05T10:24:07Z</dcterms:modified>
</cp:coreProperties>
</file>