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bd04362-6649-a996-c08f-5af796723887}">
          <p14:sldIdLst>
            <p14:sldId id="256"/>
          </p14:sldIdLst>
        </p14:section>
        <p14:section name="Découvrir" id="{6b2e9aa1-bd62-3773-4729-1e5449cc64f3}">
          <p14:sldIdLst>
            <p14:sldId id="257"/>
            <p14:sldId id="258"/>
            <p14:sldId id="259"/>
          </p14:sldIdLst>
        </p14:section>
        <p14:section name="Comprendre" id="{1766c151-df24-f67e-1e5c-b0364460c913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5b8e25a5-9798-c5bb-a211-c329fbc22d81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7a567a51-4ca4-5d4c-23d2-f27ddf84ee1e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le son le plus emblématique du néerlandais : ui.
Prononcez huis lentement, puis demandez : « Combien de sons entendez-vous dans ui ? » Réponse attendue : un son qui glisse, de « œ » vers « u », lèvres arrondies. C'est le principe de toute la séance.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Rappelez la diapo 10 du M1 (« les sons qui ne changent jamais »). Aujourd'hui, on les travaille en détail. Distribuez à nouveau le carton bicolore du M1 pour l'exercice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Réactiver le M1 et faire émerger la troisième catégorie : les sons doubles.
Les sons doubles ne suivent pas la règle de la porte ouverte ou fermée : leur écriture ne change jamais (huis → huizen, tijd → tijden). Faites redire la règle du M1 avant de commencer.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comprendre physiquement ce qu'est une diphtongue.
Faites mimer le glissement avec la main, comme une glissade. Pour ui, partez du « eu » de fauteuil et fermez vers « u », en gardant les lèvres arrondies (sinon, ui glisse vers ij). Ne cherchez pas la perfection : l'objectif A1 est d'être compris et de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vue d'ensemble avant le détail (reprise ordonnée du tableau de l'archive).
Correction par rapport à l'archive : eeuw se prononce « é + ou », et non « é + u ». La coquille eeeuw est corrigée en eeuw (le siècle). Précision : eu et oe s'écrivent avec deux lettres mais ne glissent pas. Ce sont des voyelles simples, pas des diphtongues. Ils sont travaillés ici à cause des confusions avec u / uu (diapos 8 et 9). Les repères français ne sont que des approximations : l'écoute de l'enseignant prime.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ij/ei et gérer leur écriture.
La norme garde le glissement « è » → « i ». Dans certaines régions de Flandre (Anvers, Brabant), on entend un « è » plus ouvert, presque sans glissement : apprenez le glissement, reconnaissez la variante. À la dictée, on demande : Lange ij of korte ei? (vu en M1). Le -lijk final est réduit, comme un « e » muet (lien avec le -en final du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Maîtriser ui et le distinguer de u et uu.
Le trio est le cœur de la séance : faites-le répéter en chœur, puis en désordre. ui n'existe pas en français ; ne le remplacez ni par « oui » ni par « ui » français. Reprise de l'archive : uil (le hibou) peut servir d'exemple supplémentaire.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Prévenir la confusion la plus fréquente chez les francophones.
Jeu rapide : l'enseignant dit un mot, la classe lève 1, 2 ou 3 doigts (u, uu, eu). Leuven (eu) et Luik (ui) sont un bon test belge.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correspondance oe = « ou » et l'opposer à uu.
Rappel du M1 : oe = « ou », mais u ≠ « ou ». De boer is mijn buur (le fermier est mon voisin) est une petite phrase-test amusante.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ou/au et retenir les mots les plus fréquents.
Exemples de l'archive conservés (fout, vrouw, koud, pauw, gauw). Oudenaarde (Audenarde) est un bon exemple belge pour l'exercice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les combinaisons voyelle + i ou w (souvent appelées triphtongues).
Le i ou le w final ajoute une petite glissade. uw (votre, poli) vient du M2. doei (salut) est surtout néerlandais ; en Flandre, on dit plutôt daag. Illustrations de l'archive reprises : lion (leeuw) et mouette (meeuw) pour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la fiche de référence (version corrigée et complétée du tableau de l'archive).
Faites photographier ce tableau : c'est la fiche du module. Il complète le tableau-miroir du M1.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la méthode de lecture du M1 avec les sons doubles.
Rappel du M1, diapo 6 (« son double : je ne le coupe jamais »). Testez sur buiten (bui·ten) et nieuwe (nieu·we).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5 à l'oral ; 2 et 3 à l'écrit ; 6 en binôme.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Discriminer à l'oreille u, uu, eu, ui, oe, ou.
Lisez chaque mot deux fois. Les apprenants notent le son ou montrent le bouton du doigt. Reprenez les erreurs avec le trio hut / huur / huis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Fixer l'orthographe des mots fréquents en ij / ei.
Il n'y a pas de règle : ces mots s'apprennent. Astuce : la majorité des mots courants sont en ij (mijn, zijn, tijd, wijn). Faites une phrase avec chaque mot pour l'ancrage.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des mots par son double (lecture et reconnaissance visuelle).
moeilijk contient oei et le piège -lijk : bonus de justification.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les sons doubles par la répétition rythmée.
Déroulé : lecture lente, puis rapide, puis défi en binôme. La phrase 1 travaille ui, la 2 oe, la 3 ou et eeuw.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sons dans un jeu collectif rapide (pause active).
Tirez les sons au hasard (cartes ou générateur). Le gagnant doit lire ses mots à voix haute correctement pour valider.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Transférer en situation réelle : dicter et noter des noms de villes au téléphone.
Correspondances : Luik = Liège, Hoei = Huy, Oudenaarde = Audenarde, Ieper = Ypres. Prolongement : dicter son 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ui, uu, u.
2. trein, tijd.
3. « vro-lek » (-lijk = « lek »,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6 · Tweeklanken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00223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Tweeklanken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sons doubles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huis · tijd · keuken · vrouw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040880" y="1143000"/>
            <a:ext cx="420624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635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32588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040880" y="324612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5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704088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4681728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4088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850392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4681728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0392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9966960" y="4617720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152" y="46817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966960" y="5212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uman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Entendre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</a:t>
            </a:r>
            <a:r>
              <a:rPr lang="en-US" sz="2000" i="1" dirty="0">
                <a:solidFill>
                  <a:schemeClr val="tx1"/>
                </a:solidFill>
              </a:rPr>
              <a:t>u, uu, eu, ui, oe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mmentD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« glisser » les sons doubles.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cil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, entre </a:t>
            </a:r>
            <a:r>
              <a:rPr lang="en-US" sz="2000" i="1" dirty="0">
                <a:solidFill>
                  <a:schemeClr val="tx1"/>
                </a:solidFill>
              </a:rPr>
              <a:t>ou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au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 du M1 : ces sons ne changent jamais au pluriel — </a:t>
            </a:r>
            <a:r>
              <a:rPr lang="en-US" sz="1700" i="1" dirty="0">
                <a:solidFill>
                  <a:schemeClr val="tx1"/>
                </a:solidFill>
              </a:rPr>
              <a:t>huis → huizen · tijd → tijden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9436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798625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844345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048610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94330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29859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34431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bus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54857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59429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vuur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79856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4428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8549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94269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298534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344254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boom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0548518" y="1600200"/>
            <a:ext cx="1115568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594238" y="16002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26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48640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8" name="Shape 24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31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334256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33" name="Shape 28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36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119872" y="33832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8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long, court… ou double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428646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Les sons doubles ne changent </a:t>
            </a:r>
            <a:r>
              <a:rPr lang="en-US" sz="1900" b="1" dirty="0">
                <a:solidFill>
                  <a:schemeClr val="tx1"/>
                </a:solidFill>
              </a:rPr>
              <a:t>jamais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huis → huizen · tijd → tijden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COURT</a:t>
            </a:r>
            <a:endParaRPr lang="en-US" sz="2400" dirty="0"/>
          </a:p>
        </p:txBody>
      </p:sp>
      <p:pic>
        <p:nvPicPr>
          <p:cNvPr id="10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73405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3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4" name="Shape 10"/>
          <p:cNvSpPr/>
          <p:nvPr/>
        </p:nvSpPr>
        <p:spPr>
          <a:xfrm>
            <a:off x="4334256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34256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</a:t>
            </a:r>
            <a:endParaRPr lang="en-US" sz="2400" dirty="0"/>
          </a:p>
        </p:txBody>
      </p:sp>
      <p:pic>
        <p:nvPicPr>
          <p:cNvPr id="17" name="Image 1" descr="ArrowsAl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76" y="2734056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334256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4334256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4334256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endParaRPr lang="en-US" sz="3600" dirty="0"/>
          </a:p>
        </p:txBody>
      </p:sp>
      <p:sp>
        <p:nvSpPr>
          <p:cNvPr id="21" name="Shape 16"/>
          <p:cNvSpPr/>
          <p:nvPr/>
        </p:nvSpPr>
        <p:spPr>
          <a:xfrm>
            <a:off x="8119872" y="256032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119872" y="2560320"/>
            <a:ext cx="3520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119872" y="2560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DOUBLE</a:t>
            </a:r>
            <a:endParaRPr lang="en-US" sz="2400" dirty="0"/>
          </a:p>
        </p:txBody>
      </p:sp>
      <p:pic>
        <p:nvPicPr>
          <p:cNvPr id="24" name="Image 2" descr="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73405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19872" y="34290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600" dirty="0"/>
          </a:p>
        </p:txBody>
      </p:sp>
      <p:sp>
        <p:nvSpPr>
          <p:cNvPr id="26" name="Text 20"/>
          <p:cNvSpPr txBox="1"/>
          <p:nvPr/>
        </p:nvSpPr>
        <p:spPr>
          <a:xfrm>
            <a:off x="8119872" y="432511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3600" dirty="0"/>
          </a:p>
        </p:txBody>
      </p:sp>
      <p:sp>
        <p:nvSpPr>
          <p:cNvPr id="27" name="Text 21"/>
          <p:cNvSpPr txBox="1"/>
          <p:nvPr/>
        </p:nvSpPr>
        <p:spPr>
          <a:xfrm>
            <a:off x="8119872" y="52212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son double, c’est un son qui glisse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5544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 son double = </a:t>
            </a:r>
            <a:r>
              <a:rPr lang="en-US" sz="1900" b="1" dirty="0">
                <a:solidFill>
                  <a:schemeClr val="bg1"/>
                </a:solidFill>
              </a:rPr>
              <a:t>un seul son qui glisse</a:t>
            </a:r>
            <a:r>
              <a:rPr lang="en-US" sz="1900" dirty="0">
                <a:solidFill>
                  <a:schemeClr val="bg1"/>
                </a:solidFill>
              </a:rPr>
              <a:t> d’une position de la bouche à une autre.</a:t>
            </a:r>
            <a:endParaRPr lang="en-US" sz="1900" dirty="0"/>
          </a:p>
        </p:txBody>
      </p:sp>
      <p:pic>
        <p:nvPicPr>
          <p:cNvPr id="7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71800"/>
            <a:ext cx="210312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départ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3317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arrivée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017520" y="2990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017520" y="2990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5212080" y="2606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77740" y="2990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68630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œ »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7795260" y="2990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03820" y="2990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u »</a:t>
            </a:r>
            <a:endParaRPr lang="en-US" sz="1700" dirty="0"/>
          </a:p>
        </p:txBody>
      </p:sp>
      <p:pic>
        <p:nvPicPr>
          <p:cNvPr id="17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3035808"/>
            <a:ext cx="685800" cy="6858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21240" y="2990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600" dirty="0"/>
          </a:p>
        </p:txBody>
      </p:sp>
      <p:sp>
        <p:nvSpPr>
          <p:cNvPr id="19" name="Shape 14"/>
          <p:cNvSpPr/>
          <p:nvPr/>
        </p:nvSpPr>
        <p:spPr>
          <a:xfrm>
            <a:off x="3017520" y="4133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017520" y="4133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5212080" y="3749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777740" y="4133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8630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è »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7795260" y="4133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703820" y="4133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i »</a:t>
            </a:r>
            <a:endParaRPr lang="en-US" sz="1700" dirty="0"/>
          </a:p>
        </p:txBody>
      </p:sp>
      <p:pic>
        <p:nvPicPr>
          <p:cNvPr id="26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4178808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921240" y="4133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600" dirty="0"/>
          </a:p>
        </p:txBody>
      </p:sp>
      <p:sp>
        <p:nvSpPr>
          <p:cNvPr id="28" name="Shape 22"/>
          <p:cNvSpPr/>
          <p:nvPr/>
        </p:nvSpPr>
        <p:spPr>
          <a:xfrm>
            <a:off x="3017520" y="5276088"/>
            <a:ext cx="141732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3017520" y="5276088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5212080" y="4892040"/>
            <a:ext cx="3017520" cy="768096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4777740" y="5276088"/>
            <a:ext cx="868680" cy="868680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68630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a »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795260" y="5276088"/>
            <a:ext cx="868680" cy="868680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703820" y="5276088"/>
            <a:ext cx="1051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 ou »</a:t>
            </a:r>
            <a:endParaRPr lang="en-US" sz="1700" dirty="0"/>
          </a:p>
        </p:txBody>
      </p:sp>
      <p:pic>
        <p:nvPicPr>
          <p:cNvPr id="3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5321808"/>
            <a:ext cx="685800" cy="6858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9921240" y="527608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carte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réveil »</a:t>
            </a:r>
            <a:endParaRPr lang="en-US" sz="14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8895" y="2532888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803550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03550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2803550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fauteuil »</a:t>
            </a:r>
            <a:endParaRPr lang="en-US" sz="14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6" y="2532888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803550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05846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505846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505846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feu »</a:t>
            </a:r>
            <a:endParaRPr lang="en-US" sz="1400" dirty="0"/>
          </a:p>
        </p:txBody>
      </p:sp>
      <p:pic>
        <p:nvPicPr>
          <p:cNvPr id="18" name="Image 2" descr="co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2532888"/>
            <a:ext cx="731520" cy="7315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5846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0" name="tag"/>
          <p:cNvSpPr/>
          <p:nvPr/>
        </p:nvSpPr>
        <p:spPr>
          <a:xfrm>
            <a:off x="532638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313371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7313371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7313371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pour »</a:t>
            </a:r>
            <a:endParaRPr lang="en-US" sz="1400" dirty="0"/>
          </a:p>
        </p:txBody>
      </p:sp>
      <p:pic>
        <p:nvPicPr>
          <p:cNvPr id="24" name="Image 3" descr="open 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626" y="2532888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313371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6" name="tag"/>
          <p:cNvSpPr/>
          <p:nvPr/>
        </p:nvSpPr>
        <p:spPr>
          <a:xfrm>
            <a:off x="7581290" y="1453896"/>
            <a:ext cx="1714500" cy="237744"/>
          </a:xfrm>
          <a:prstGeom prst="roundRect">
            <a:avLst>
              <a:gd name="adj" fmla="val 19231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sans glissement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9568282" y="1572768"/>
            <a:ext cx="2072030" cy="2176272"/>
          </a:xfrm>
          <a:prstGeom prst="roundRect">
            <a:avLst>
              <a:gd name="adj" fmla="val 353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9568282" y="1645920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9568282" y="2194560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aou »</a:t>
            </a:r>
            <a:endParaRPr lang="en-US" sz="1400" dirty="0"/>
          </a:p>
        </p:txBody>
      </p:sp>
      <p:pic>
        <p:nvPicPr>
          <p:cNvPr id="30" name="Image 4" descr="wom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8537" y="2532888"/>
            <a:ext cx="731520" cy="7315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568282" y="3264408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2" name="Shape 24"/>
          <p:cNvSpPr/>
          <p:nvPr/>
        </p:nvSpPr>
        <p:spPr>
          <a:xfrm>
            <a:off x="54864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54864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aai</a:t>
            </a:r>
            <a:endParaRPr lang="en-US" sz="3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aïe »</a:t>
            </a:r>
            <a:endParaRPr lang="en-US" sz="1400" dirty="0"/>
          </a:p>
        </p:txBody>
      </p:sp>
      <p:pic>
        <p:nvPicPr>
          <p:cNvPr id="35" name="Image 5" descr="yawn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895" y="4983480"/>
            <a:ext cx="731520" cy="73152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2803550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2803550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ooi</a:t>
            </a:r>
            <a:endParaRPr lang="en-US" sz="3000" dirty="0"/>
          </a:p>
        </p:txBody>
      </p:sp>
      <p:sp>
        <p:nvSpPr>
          <p:cNvPr id="39" name="Text 30"/>
          <p:cNvSpPr txBox="1"/>
          <p:nvPr/>
        </p:nvSpPr>
        <p:spPr>
          <a:xfrm>
            <a:off x="2803550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ô-y »</a:t>
            </a:r>
            <a:endParaRPr lang="en-US" sz="1400" dirty="0"/>
          </a:p>
        </p:txBody>
      </p:sp>
      <p:pic>
        <p:nvPicPr>
          <p:cNvPr id="40" name="Image 6" descr="sparkl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3806" y="4983480"/>
            <a:ext cx="731520" cy="73152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2803550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42" name="Shape 32"/>
          <p:cNvSpPr/>
          <p:nvPr/>
        </p:nvSpPr>
        <p:spPr>
          <a:xfrm>
            <a:off x="505846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505846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oei</a:t>
            </a:r>
            <a:endParaRPr lang="en-US" sz="3000" dirty="0"/>
          </a:p>
        </p:txBody>
      </p:sp>
      <p:sp>
        <p:nvSpPr>
          <p:cNvPr id="44" name="Text 34"/>
          <p:cNvSpPr txBox="1"/>
          <p:nvPr/>
        </p:nvSpPr>
        <p:spPr>
          <a:xfrm>
            <a:off x="505846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ouille »</a:t>
            </a:r>
            <a:endParaRPr lang="en-US" sz="1400" dirty="0"/>
          </a:p>
        </p:txBody>
      </p:sp>
      <p:pic>
        <p:nvPicPr>
          <p:cNvPr id="45" name="Image 7" descr="waving han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8716" y="4983480"/>
            <a:ext cx="731520" cy="731520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5846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</a:t>
            </a:r>
            <a:endParaRPr lang="en-US" sz="2000" dirty="0"/>
          </a:p>
        </p:txBody>
      </p:sp>
      <p:sp>
        <p:nvSpPr>
          <p:cNvPr id="47" name="Shape 36"/>
          <p:cNvSpPr/>
          <p:nvPr/>
        </p:nvSpPr>
        <p:spPr>
          <a:xfrm>
            <a:off x="7313371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37"/>
          <p:cNvSpPr txBox="1"/>
          <p:nvPr/>
        </p:nvSpPr>
        <p:spPr>
          <a:xfrm>
            <a:off x="7313371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endParaRPr lang="en-US" sz="3000" dirty="0"/>
          </a:p>
        </p:txBody>
      </p:sp>
      <p:sp>
        <p:nvSpPr>
          <p:cNvPr id="49" name="Text 38"/>
          <p:cNvSpPr txBox="1"/>
          <p:nvPr/>
        </p:nvSpPr>
        <p:spPr>
          <a:xfrm>
            <a:off x="7313371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é-ou »</a:t>
            </a:r>
            <a:endParaRPr lang="en-US" sz="1400" dirty="0"/>
          </a:p>
        </p:txBody>
      </p:sp>
      <p:pic>
        <p:nvPicPr>
          <p:cNvPr id="50" name="Image 8" descr="snowflak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3626" y="4983480"/>
            <a:ext cx="731520" cy="73152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313371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52" name="Shape 40"/>
          <p:cNvSpPr/>
          <p:nvPr/>
        </p:nvSpPr>
        <p:spPr>
          <a:xfrm>
            <a:off x="9568282" y="4023360"/>
            <a:ext cx="2072030" cy="2176272"/>
          </a:xfrm>
          <a:prstGeom prst="roundRect">
            <a:avLst>
              <a:gd name="adj" fmla="val 3530"/>
            </a:avLst>
          </a:prstGeom>
          <a:solidFill>
            <a:srgbClr val="FDF1E6"/>
          </a:solidFill>
          <a:ln w="12700">
            <a:solidFill>
              <a:srgbClr val="F2C9A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3" name="Text 41"/>
          <p:cNvSpPr txBox="1"/>
          <p:nvPr/>
        </p:nvSpPr>
        <p:spPr>
          <a:xfrm>
            <a:off x="9568282" y="4096512"/>
            <a:ext cx="20720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ieuw</a:t>
            </a:r>
            <a:endParaRPr lang="en-US" sz="3000" dirty="0"/>
          </a:p>
        </p:txBody>
      </p:sp>
      <p:sp>
        <p:nvSpPr>
          <p:cNvPr id="54" name="Text 42"/>
          <p:cNvSpPr txBox="1"/>
          <p:nvPr/>
        </p:nvSpPr>
        <p:spPr>
          <a:xfrm>
            <a:off x="9568282" y="4645152"/>
            <a:ext cx="20720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 i-ou »</a:t>
            </a:r>
            <a:endParaRPr lang="en-US" sz="1400" dirty="0"/>
          </a:p>
        </p:txBody>
      </p:sp>
      <p:pic>
        <p:nvPicPr>
          <p:cNvPr id="55" name="Image 9" descr="new butt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38537" y="4983480"/>
            <a:ext cx="731520" cy="73152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9568282" y="5715000"/>
            <a:ext cx="20720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57" name="tag"/>
          <p:cNvSpPr/>
          <p:nvPr/>
        </p:nvSpPr>
        <p:spPr>
          <a:xfrm>
            <a:off x="548640" y="3758184"/>
            <a:ext cx="3332988" cy="256032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3 lettres : voyelle + glissade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ij et ei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lange ij</a:t>
            </a:r>
            <a:endParaRPr lang="en-US" sz="2000" dirty="0"/>
          </a:p>
        </p:txBody>
      </p:sp>
      <p:pic>
        <p:nvPicPr>
          <p:cNvPr id="8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mon · le vin · le temps · Courtrai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331720"/>
          </a:xfrm>
          <a:prstGeom prst="roundRect">
            <a:avLst>
              <a:gd name="adj" fmla="val 3137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korte ei</a:t>
            </a:r>
            <a:endParaRPr lang="en-US" sz="2000" dirty="0"/>
          </a:p>
        </p:txBody>
      </p:sp>
      <p:pic>
        <p:nvPicPr>
          <p:cNvPr id="18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800" dirty="0"/>
          </a:p>
        </p:txBody>
      </p:sp>
      <p:sp>
        <p:nvSpPr>
          <p:cNvPr id="21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nig</a:t>
            </a:r>
            <a:endParaRPr lang="en-US" sz="2800" dirty="0"/>
          </a:p>
        </p:txBody>
      </p:sp>
      <p:sp>
        <p:nvSpPr>
          <p:cNvPr id="22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3" name="Text 17"/>
          <p:cNvSpPr txBox="1"/>
          <p:nvPr/>
        </p:nvSpPr>
        <p:spPr>
          <a:xfrm>
            <a:off x="7068312" y="34472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petit · le train · peu · le voyage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40680" y="233629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440680" y="226314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315010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è-i »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39593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l’écrit, aucune règle : il faut </a:t>
            </a:r>
            <a:r>
              <a:rPr lang="en-US" sz="1700" b="1" dirty="0">
                <a:solidFill>
                  <a:schemeClr val="tx1"/>
                </a:solidFill>
              </a:rPr>
              <a:t>apprendre</a:t>
            </a:r>
            <a:r>
              <a:rPr lang="en-US" sz="1700" dirty="0">
                <a:solidFill>
                  <a:schemeClr val="tx1"/>
                </a:solidFill>
              </a:rPr>
              <a:t> le mot. À la dictée : </a:t>
            </a:r>
            <a:r>
              <a:rPr lang="en-US" sz="1700" i="1" dirty="0">
                <a:solidFill>
                  <a:schemeClr val="tx1"/>
                </a:solidFill>
              </a:rPr>
              <a:t>Lange ij of korte ei?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48640" y="443484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9" name="tag"/>
          <p:cNvSpPr/>
          <p:nvPr/>
        </p:nvSpPr>
        <p:spPr>
          <a:xfrm>
            <a:off x="731520" y="459943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93776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vro</a:t>
            </a:r>
            <a:r>
              <a:rPr lang="en-US" sz="2000" b="1" dirty="0">
                <a:solidFill>
                  <a:schemeClr val="tx1"/>
                </a:solidFill>
              </a:rPr>
              <a:t>lijk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strike="sngStrike" dirty="0">
                <a:solidFill>
                  <a:schemeClr val="accent6"/>
                </a:solidFill>
              </a:rPr>
              <a:t>« vro-lèik »</a:t>
            </a:r>
            <a:endParaRPr lang="en-US" sz="2000" dirty="0"/>
          </a:p>
        </p:txBody>
      </p:sp>
      <p:pic>
        <p:nvPicPr>
          <p:cNvPr id="31" name="Image 3" descr="ArrowD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445252"/>
            <a:ext cx="237744" cy="23774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777240" y="567385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914400" y="567385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-lijk</a:t>
            </a:r>
            <a:r>
              <a:rPr lang="en-US" sz="2000" dirty="0">
                <a:solidFill>
                  <a:schemeClr val="tx1"/>
                </a:solidFill>
              </a:rPr>
              <a:t> se prononce « -lek » (e muet, ≠ </a:t>
            </a:r>
            <a:r>
              <a:rPr lang="en-US" sz="2000" i="1" dirty="0">
                <a:solidFill>
                  <a:schemeClr val="tx1"/>
                </a:solidFill>
              </a:rPr>
              <a:t>leuk</a:t>
            </a:r>
            <a:r>
              <a:rPr lang="en-US" sz="2000" dirty="0">
                <a:solidFill>
                  <a:schemeClr val="tx1"/>
                </a:solidFill>
              </a:rPr>
              <a:t>) : </a:t>
            </a:r>
            <a:r>
              <a:rPr lang="en-US" sz="2000" i="1" dirty="0">
                <a:solidFill>
                  <a:schemeClr val="tx1"/>
                </a:solidFill>
              </a:rPr>
              <a:t>vrolijk · moeilijk · natuurlijk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ui : le son roi du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828800" y="1463040"/>
            <a:ext cx="2194560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1499616" y="1783080"/>
            <a:ext cx="658368" cy="566928"/>
          </a:xfrm>
          <a:prstGeom prst="ellipse">
            <a:avLst/>
          </a:prstGeom>
          <a:solidFill>
            <a:schemeClr val="bg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9961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« œ 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94176" y="1783080"/>
            <a:ext cx="658368" cy="566928"/>
          </a:xfrm>
          <a:prstGeom prst="ellipse">
            <a:avLst/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94176" y="178308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 u »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1600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ui</a:t>
            </a:r>
            <a:r>
              <a:rPr lang="en-US" sz="1900" dirty="0">
                <a:solidFill>
                  <a:schemeClr val="tx1"/>
                </a:solidFill>
              </a:rPr>
              <a:t> = « œ » qui glisse vers « u », lèvres arrondies. Ni « oui », ni « ui » français !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0" descr="h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2624328"/>
            <a:ext cx="777240" cy="7772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cabane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2582266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 court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840480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4443984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624328"/>
            <a:ext cx="777240" cy="777240"/>
          </a:xfrm>
          <a:prstGeom prst="rect">
            <a:avLst/>
          </a:prstGeom>
        </p:spPr>
      </p:pic>
      <p:pic>
        <p:nvPicPr>
          <p:cNvPr id="19" name="Image 2" descr="euro bankno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624328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443984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800" dirty="0"/>
          </a:p>
        </p:txBody>
      </p:sp>
      <p:sp>
        <p:nvSpPr>
          <p:cNvPr id="21" name="Text 15"/>
          <p:cNvSpPr txBox="1"/>
          <p:nvPr/>
        </p:nvSpPr>
        <p:spPr>
          <a:xfrm>
            <a:off x="4581144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loyer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6477610" y="4178808"/>
            <a:ext cx="1121054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uu long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7735824" y="3246120"/>
            <a:ext cx="603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≠</a:t>
            </a:r>
            <a:endParaRPr lang="en-US" sz="3000" dirty="0"/>
          </a:p>
        </p:txBody>
      </p:sp>
      <p:sp>
        <p:nvSpPr>
          <p:cNvPr id="24" name="Shape 18"/>
          <p:cNvSpPr/>
          <p:nvPr/>
        </p:nvSpPr>
        <p:spPr>
          <a:xfrm>
            <a:off x="8339328" y="2514600"/>
            <a:ext cx="3291840" cy="21031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624328"/>
            <a:ext cx="777240" cy="7772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339328" y="34290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800" dirty="0"/>
          </a:p>
        </p:txBody>
      </p:sp>
      <p:sp>
        <p:nvSpPr>
          <p:cNvPr id="27" name="Text 20"/>
          <p:cNvSpPr txBox="1"/>
          <p:nvPr/>
        </p:nvSpPr>
        <p:spPr>
          <a:xfrm>
            <a:off x="8476488" y="4142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maison</a:t>
            </a:r>
            <a:endParaRPr lang="en-US" sz="1500" dirty="0"/>
          </a:p>
        </p:txBody>
      </p:sp>
      <p:sp>
        <p:nvSpPr>
          <p:cNvPr id="28" name="tag"/>
          <p:cNvSpPr/>
          <p:nvPr/>
        </p:nvSpPr>
        <p:spPr>
          <a:xfrm>
            <a:off x="10157155" y="4178808"/>
            <a:ext cx="1336853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ui double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548640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0" name="Image 4" descr="national par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4807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554480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ten</a:t>
            </a:r>
            <a:endParaRPr lang="en-US" sz="2400" dirty="0"/>
          </a:p>
        </p:txBody>
      </p:sp>
      <p:sp>
        <p:nvSpPr>
          <p:cNvPr id="32" name="Text 24"/>
          <p:cNvSpPr txBox="1"/>
          <p:nvPr/>
        </p:nvSpPr>
        <p:spPr>
          <a:xfrm>
            <a:off x="1554480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dehors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3364992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4" name="Image 5" descr="cand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5148072"/>
            <a:ext cx="777240" cy="7772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370832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ker</a:t>
            </a:r>
            <a:endParaRPr lang="en-US" sz="2400" dirty="0"/>
          </a:p>
        </p:txBody>
      </p:sp>
      <p:sp>
        <p:nvSpPr>
          <p:cNvPr id="36" name="Text 27"/>
          <p:cNvSpPr txBox="1"/>
          <p:nvPr/>
        </p:nvSpPr>
        <p:spPr>
          <a:xfrm>
            <a:off x="4370832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sucre</a:t>
            </a:r>
            <a:endParaRPr lang="en-US" sz="1400" dirty="0"/>
          </a:p>
        </p:txBody>
      </p:sp>
      <p:sp>
        <p:nvSpPr>
          <p:cNvPr id="37" name="Shape 28"/>
          <p:cNvSpPr/>
          <p:nvPr/>
        </p:nvSpPr>
        <p:spPr>
          <a:xfrm>
            <a:off x="6181344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6" descr="sunflow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8504" y="5148072"/>
            <a:ext cx="777240" cy="77724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187184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2400" dirty="0"/>
          </a:p>
        </p:txBody>
      </p:sp>
      <p:sp>
        <p:nvSpPr>
          <p:cNvPr id="40" name="Text 30"/>
          <p:cNvSpPr txBox="1"/>
          <p:nvPr/>
        </p:nvSpPr>
        <p:spPr>
          <a:xfrm>
            <a:off x="7187184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jardin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8997696" y="4846320"/>
            <a:ext cx="26060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7" descr="round pushp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5148072"/>
            <a:ext cx="777240" cy="77724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10003536" y="5029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400" dirty="0"/>
          </a:p>
        </p:txBody>
      </p:sp>
      <p:sp>
        <p:nvSpPr>
          <p:cNvPr id="44" name="Text 33"/>
          <p:cNvSpPr txBox="1"/>
          <p:nvPr/>
        </p:nvSpPr>
        <p:spPr>
          <a:xfrm>
            <a:off x="10003536" y="5623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Liège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u, uu, eu — trois sons différents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868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51560" y="2331720"/>
            <a:ext cx="868680" cy="86868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5156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2800" dirty="0"/>
          </a:p>
        </p:txBody>
      </p:sp>
      <p:pic>
        <p:nvPicPr>
          <p:cNvPr id="10" name="Image 0" descr="b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2331720"/>
            <a:ext cx="868680" cy="8686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05156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strike="sngStrike" dirty="0">
                <a:solidFill>
                  <a:schemeClr val="accent6"/>
                </a:solidFill>
              </a:rPr>
              <a:t>« u » français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bref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48056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63440" y="233172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6344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2800" dirty="0"/>
          </a:p>
        </p:txBody>
      </p:sp>
      <p:pic>
        <p:nvPicPr>
          <p:cNvPr id="16" name="Image 1" descr="f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3317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61772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 » français…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long devant </a:t>
            </a: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92440" y="2148840"/>
            <a:ext cx="3291840" cy="3063240"/>
          </a:xfrm>
          <a:prstGeom prst="roundRect">
            <a:avLst>
              <a:gd name="adj" fmla="val 238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275320" y="233172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75320" y="23317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800" dirty="0"/>
          </a:p>
        </p:txBody>
      </p:sp>
      <p:pic>
        <p:nvPicPr>
          <p:cNvPr id="22" name="Image 2" descr="no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2331720"/>
            <a:ext cx="868680" cy="8686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229600" y="33375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· k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 · l</a:t>
            </a: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087368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= « </a:t>
            </a:r>
            <a:r>
              <a:rPr lang="en-US" sz="1600" b="1" dirty="0">
                <a:solidFill>
                  <a:schemeClr val="tx1"/>
                </a:solidFill>
              </a:rPr>
              <a:t>eu</a:t>
            </a:r>
            <a:r>
              <a:rPr lang="en-US" sz="1600" dirty="0">
                <a:solidFill>
                  <a:schemeClr val="tx1"/>
                </a:solidFill>
              </a:rPr>
              <a:t> » de </a:t>
            </a:r>
            <a:r>
              <a:rPr lang="en-US" sz="1600" i="1" dirty="0">
                <a:solidFill>
                  <a:schemeClr val="tx1"/>
                </a:solidFill>
              </a:rPr>
              <a:t>feu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→ toujours pareil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68680" y="5413248"/>
            <a:ext cx="10515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1097280" y="54132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k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ken is l</a:t>
            </a:r>
            <a:r>
              <a:rPr lang="en-US" sz="2100" b="1" i="1" dirty="0">
                <a:solidFill>
                  <a:schemeClr val="accent1"/>
                </a:solidFill>
              </a:rPr>
              <a:t>eu</a:t>
            </a:r>
            <a:r>
              <a:rPr lang="en-US" sz="2100" i="1" dirty="0">
                <a:solidFill>
                  <a:schemeClr val="tx1"/>
                </a:solidFill>
              </a:rPr>
              <a:t>k.</a:t>
            </a:r>
            <a:r>
              <a:rPr lang="en-US" sz="2100" dirty="0">
                <a:solidFill>
                  <a:schemeClr val="tx1"/>
                </a:solidFill>
              </a:rPr>
              <a:t>  —  La cuisine est chouette.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oe = « ou » (et jamais « u »)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172200" cy="4709160"/>
          </a:xfrm>
          <a:prstGeom prst="roundRect">
            <a:avLst>
              <a:gd name="adj" fmla="val 1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172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4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= « ou »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77724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8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69748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livre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69748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1" descr="b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269748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69748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269748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frère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17720" y="26060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2" descr="cow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9748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617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4617720" y="37216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vache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173736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3" descr="b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288" y="429768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vl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22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sol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657600" y="4206240"/>
            <a:ext cx="178308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4" descr="thumbs 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4528" y="4297680"/>
            <a:ext cx="640080" cy="6400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657600" y="4937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200" dirty="0"/>
          </a:p>
        </p:txBody>
      </p:sp>
      <p:sp>
        <p:nvSpPr>
          <p:cNvPr id="26" name="Text 18"/>
          <p:cNvSpPr txBox="1"/>
          <p:nvPr/>
        </p:nvSpPr>
        <p:spPr>
          <a:xfrm>
            <a:off x="3657600" y="532180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bon, bien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48640" y="5760720"/>
            <a:ext cx="6172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oe</a:t>
            </a:r>
            <a:r>
              <a:rPr lang="en-US" sz="1800" dirty="0">
                <a:solidFill>
                  <a:schemeClr val="tx2"/>
                </a:solidFill>
              </a:rPr>
              <a:t> se lit </a:t>
            </a:r>
            <a:r>
              <a:rPr lang="en-US" sz="1800" b="1" dirty="0">
                <a:solidFill>
                  <a:schemeClr val="tx2"/>
                </a:solidFill>
              </a:rPr>
              <a:t>toujours</a:t>
            </a:r>
            <a:r>
              <a:rPr lang="en-US" sz="1800" dirty="0">
                <a:solidFill>
                  <a:schemeClr val="tx2"/>
                </a:solidFill>
              </a:rPr>
              <a:t> « ou ».</a:t>
            </a:r>
            <a:endParaRPr lang="en-US" sz="1800" dirty="0"/>
          </a:p>
        </p:txBody>
      </p:sp>
      <p:sp>
        <p:nvSpPr>
          <p:cNvPr id="28" name="Shape 20"/>
          <p:cNvSpPr/>
          <p:nvPr/>
        </p:nvSpPr>
        <p:spPr>
          <a:xfrm>
            <a:off x="699516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ag"/>
          <p:cNvSpPr/>
          <p:nvPr/>
        </p:nvSpPr>
        <p:spPr>
          <a:xfrm>
            <a:off x="713232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oe</a:t>
            </a:r>
            <a:endParaRPr lang="en-US" sz="1300" dirty="0"/>
          </a:p>
        </p:txBody>
      </p:sp>
      <p:pic>
        <p:nvPicPr>
          <p:cNvPr id="30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936" y="2057400"/>
            <a:ext cx="1188720" cy="11887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99516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2" name="Text 23"/>
          <p:cNvSpPr txBox="1"/>
          <p:nvPr/>
        </p:nvSpPr>
        <p:spPr>
          <a:xfrm>
            <a:off x="699516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fermier</a:t>
            </a:r>
            <a:endParaRPr lang="en-US" sz="1500" dirty="0"/>
          </a:p>
        </p:txBody>
      </p:sp>
      <p:sp>
        <p:nvSpPr>
          <p:cNvPr id="33" name="Shape 24"/>
          <p:cNvSpPr/>
          <p:nvPr/>
        </p:nvSpPr>
        <p:spPr>
          <a:xfrm>
            <a:off x="9464040" y="1554480"/>
            <a:ext cx="2176272" cy="2926080"/>
          </a:xfrm>
          <a:prstGeom prst="roundRect">
            <a:avLst>
              <a:gd name="adj" fmla="val 3361"/>
            </a:avLst>
          </a:prstGeom>
          <a:solidFill>
            <a:schemeClr val="bg1"/>
          </a:solidFill>
          <a:ln w="381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tag"/>
          <p:cNvSpPr/>
          <p:nvPr/>
        </p:nvSpPr>
        <p:spPr>
          <a:xfrm>
            <a:off x="9601200" y="1691640"/>
            <a:ext cx="599542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uu</a:t>
            </a:r>
            <a:endParaRPr lang="en-US" sz="1300" dirty="0"/>
          </a:p>
        </p:txBody>
      </p:sp>
      <p:pic>
        <p:nvPicPr>
          <p:cNvPr id="35" name="Image 6" descr="waving ha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057400"/>
            <a:ext cx="1188720" cy="118872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9464040" y="3291840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400" dirty="0"/>
          </a:p>
        </p:txBody>
      </p:sp>
      <p:sp>
        <p:nvSpPr>
          <p:cNvPr id="37" name="Text 27"/>
          <p:cNvSpPr txBox="1"/>
          <p:nvPr/>
        </p:nvSpPr>
        <p:spPr>
          <a:xfrm>
            <a:off x="9464040" y="393192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voisin</a:t>
            </a:r>
            <a:endParaRPr lang="en-US" sz="1500" dirty="0"/>
          </a:p>
        </p:txBody>
      </p:sp>
      <p:sp>
        <p:nvSpPr>
          <p:cNvPr id="38" name="Shape 28"/>
          <p:cNvSpPr/>
          <p:nvPr/>
        </p:nvSpPr>
        <p:spPr>
          <a:xfrm>
            <a:off x="8961120" y="2743200"/>
            <a:ext cx="685800" cy="6858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8961120" y="2743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≠</a:t>
            </a:r>
            <a:endParaRPr lang="en-US" sz="3000" dirty="0"/>
          </a:p>
        </p:txBody>
      </p:sp>
      <p:sp>
        <p:nvSpPr>
          <p:cNvPr id="40" name="Shape 30"/>
          <p:cNvSpPr/>
          <p:nvPr/>
        </p:nvSpPr>
        <p:spPr>
          <a:xfrm>
            <a:off x="6995160" y="4709160"/>
            <a:ext cx="4645152" cy="1554480"/>
          </a:xfrm>
          <a:prstGeom prst="roundRect">
            <a:avLst>
              <a:gd name="adj" fmla="val 10588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59752" y="4709160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b</a:t>
            </a:r>
            <a:r>
              <a:rPr lang="en-US" sz="2000" b="1" i="1" dirty="0">
                <a:solidFill>
                  <a:schemeClr val="accent1"/>
                </a:solidFill>
              </a:rPr>
              <a:t>oe</a:t>
            </a:r>
            <a:r>
              <a:rPr lang="en-US" sz="2000" i="1" dirty="0">
                <a:solidFill>
                  <a:schemeClr val="tx1"/>
                </a:solidFill>
              </a:rPr>
              <a:t>r is mijn b</a:t>
            </a:r>
            <a:r>
              <a:rPr lang="en-US" sz="2000" b="1" i="1" dirty="0">
                <a:solidFill>
                  <a:schemeClr val="accent3"/>
                </a:solidFill>
              </a:rPr>
              <a:t>uu</a:t>
            </a:r>
            <a:r>
              <a:rPr lang="en-US" sz="2000" i="1" dirty="0">
                <a:solidFill>
                  <a:schemeClr val="tx1"/>
                </a:solidFill>
              </a:rPr>
              <a:t>r.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fermier est mon voisin.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ou et au : un son, deux écritures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2000" dirty="0"/>
          </a:p>
        </p:txBody>
      </p:sp>
      <p:pic>
        <p:nvPicPr>
          <p:cNvPr id="8" name="Image 0" descr="cold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3168" y="1581912"/>
            <a:ext cx="512064" cy="512064"/>
          </a:xfrm>
          <a:prstGeom prst="rect">
            <a:avLst/>
          </a:prstGeom>
        </p:spPr>
      </p:pic>
      <p:pic>
        <p:nvPicPr>
          <p:cNvPr id="9" name="Image 1" descr="wom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581912"/>
            <a:ext cx="512064" cy="5120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3108960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3108960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femme · froid · vieux · l’erreur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793992" y="1554480"/>
            <a:ext cx="484632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793992" y="1554480"/>
            <a:ext cx="484632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022592" y="15544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endParaRPr lang="en-US" sz="2000" dirty="0"/>
          </a:p>
        </p:txBody>
      </p:sp>
      <p:pic>
        <p:nvPicPr>
          <p:cNvPr id="18" name="Image 2" descr="blue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1581912"/>
            <a:ext cx="512064" cy="512064"/>
          </a:xfrm>
          <a:prstGeom prst="rect">
            <a:avLst/>
          </a:prstGeom>
        </p:spPr>
      </p:pic>
      <p:pic>
        <p:nvPicPr>
          <p:cNvPr id="19" name="Image 3" descr="peac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1581912"/>
            <a:ext cx="512064" cy="51206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11403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9354312" y="22128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2" name="Text 15"/>
          <p:cNvSpPr txBox="1"/>
          <p:nvPr/>
        </p:nvSpPr>
        <p:spPr>
          <a:xfrm>
            <a:off x="711403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354312" y="28346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</a:t>
            </a: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7068312" y="39502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bleu · le paon · vite · la sauce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5440680" y="2587752"/>
            <a:ext cx="1307592" cy="7680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40680" y="2514600"/>
            <a:ext cx="1307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=</a:t>
            </a:r>
            <a:endParaRPr lang="en-US" sz="3000" dirty="0"/>
          </a:p>
        </p:txBody>
      </p:sp>
      <p:sp>
        <p:nvSpPr>
          <p:cNvPr id="27" name="Text 20"/>
          <p:cNvSpPr txBox="1"/>
          <p:nvPr/>
        </p:nvSpPr>
        <p:spPr>
          <a:xfrm>
            <a:off x="5394960" y="3401568"/>
            <a:ext cx="1399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même son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« aou 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D9700F"/>
            </a:solidFill>
            <a:prstDash val="solid"/>
          </a:ln>
        </p:spPr>
      </p:sp>
      <p:pic>
        <p:nvPicPr>
          <p:cNvPr id="29" name="Image 4" descr="light 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983480"/>
            <a:ext cx="914400" cy="9144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920240" y="4709160"/>
            <a:ext cx="9509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chemeClr val="tx1"/>
                </a:solidFill>
              </a:rPr>
              <a:t>Astuce</a:t>
            </a:r>
            <a:r>
              <a:rPr lang="en-US" sz="2100" dirty="0">
                <a:solidFill>
                  <a:schemeClr val="tx1"/>
                </a:solidFill>
              </a:rPr>
              <a:t> : </a:t>
            </a:r>
            <a:r>
              <a:rPr lang="en-US" sz="2100" i="1" dirty="0">
                <a:solidFill>
                  <a:schemeClr val="tx1"/>
                </a:solidFill>
              </a:rPr>
              <a:t>ou</a:t>
            </a:r>
            <a:r>
              <a:rPr lang="en-US" sz="2100" dirty="0">
                <a:solidFill>
                  <a:schemeClr val="tx1"/>
                </a:solidFill>
              </a:rPr>
              <a:t> est le plus fréquent.</a:t>
            </a:r>
            <a:endParaRPr lang="en-US" sz="21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100" dirty="0">
                <a:solidFill>
                  <a:schemeClr val="tx1"/>
                </a:solidFill>
              </a:rPr>
              <a:t>À la dictée : </a:t>
            </a:r>
            <a:r>
              <a:rPr lang="en-US" sz="2100" i="1" dirty="0">
                <a:solidFill>
                  <a:schemeClr val="tx1"/>
                </a:solidFill>
              </a:rPr>
              <a:t>ou van vrouw of au van blauw?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sons à trois lettres : voyelle + glissade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6845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PRONONCIATION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aa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aïe 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 · fraai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ennuyeux · joli</a:t>
            </a:r>
            <a:endParaRPr lang="en-US" sz="1300" dirty="0"/>
          </a:p>
        </p:txBody>
      </p:sp>
      <p:pic>
        <p:nvPicPr>
          <p:cNvPr id="10" name="Image 0" descr="yaw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828800"/>
            <a:ext cx="777240" cy="7772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199632" y="15544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336792" y="15544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7936992" y="1645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é-ou »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936992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 · eeuw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936992" y="2468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neige · le siècle</a:t>
            </a:r>
            <a:endParaRPr lang="en-US" sz="1300" dirty="0"/>
          </a:p>
        </p:txBody>
      </p:sp>
      <p:pic>
        <p:nvPicPr>
          <p:cNvPr id="16" name="Image 1" descr="snowfl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1828800"/>
            <a:ext cx="777240" cy="777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685800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2286000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ô-y »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2286000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 · nooit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2286000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beau · jamais</a:t>
            </a:r>
            <a:endParaRPr lang="en-US" sz="1300" dirty="0"/>
          </a:p>
        </p:txBody>
      </p:sp>
      <p:pic>
        <p:nvPicPr>
          <p:cNvPr id="22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310128"/>
            <a:ext cx="777240" cy="777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199632" y="3035808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8"/>
          <p:cNvSpPr txBox="1"/>
          <p:nvPr/>
        </p:nvSpPr>
        <p:spPr>
          <a:xfrm>
            <a:off x="6336792" y="3035808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25" name="Text 19"/>
          <p:cNvSpPr txBox="1"/>
          <p:nvPr/>
        </p:nvSpPr>
        <p:spPr>
          <a:xfrm>
            <a:off x="7936992" y="3127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i-ou »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7936992" y="35387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27" name="Text 21"/>
          <p:cNvSpPr txBox="1"/>
          <p:nvPr/>
        </p:nvSpPr>
        <p:spPr>
          <a:xfrm>
            <a:off x="7936992" y="39502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nouveau</a:t>
            </a:r>
            <a:endParaRPr lang="en-US" sz="1300" dirty="0"/>
          </a:p>
        </p:txBody>
      </p:sp>
      <p:pic>
        <p:nvPicPr>
          <p:cNvPr id="28" name="Image 3" descr="new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5912" y="3310128"/>
            <a:ext cx="777240" cy="777240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548640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685800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</a:t>
            </a:r>
            <a:endParaRPr lang="en-US" sz="3200" dirty="0"/>
          </a:p>
        </p:txBody>
      </p:sp>
      <p:sp>
        <p:nvSpPr>
          <p:cNvPr id="31" name="Text 24"/>
          <p:cNvSpPr txBox="1"/>
          <p:nvPr/>
        </p:nvSpPr>
        <p:spPr>
          <a:xfrm>
            <a:off x="2286000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ouille »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2286000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doei · moeilijk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2286000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salut · difficile</a:t>
            </a:r>
            <a:endParaRPr lang="en-US" sz="1300" dirty="0"/>
          </a:p>
        </p:txBody>
      </p:sp>
      <p:pic>
        <p:nvPicPr>
          <p:cNvPr id="34" name="Image 4" descr="wav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4791456"/>
            <a:ext cx="777240" cy="77724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6199632" y="4517136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28"/>
          <p:cNvSpPr txBox="1"/>
          <p:nvPr/>
        </p:nvSpPr>
        <p:spPr>
          <a:xfrm>
            <a:off x="6336792" y="4517136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</a:t>
            </a:r>
            <a:endParaRPr lang="en-US" sz="3200" dirty="0"/>
          </a:p>
        </p:txBody>
      </p:sp>
      <p:sp>
        <p:nvSpPr>
          <p:cNvPr id="37" name="Text 29"/>
          <p:cNvSpPr txBox="1"/>
          <p:nvPr/>
        </p:nvSpPr>
        <p:spPr>
          <a:xfrm>
            <a:off x="7936992" y="46085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« u-ou »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7936992" y="5020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 · duwen</a:t>
            </a:r>
            <a:endParaRPr lang="en-US" sz="2000" dirty="0"/>
          </a:p>
        </p:txBody>
      </p:sp>
      <p:sp>
        <p:nvSpPr>
          <p:cNvPr id="39" name="Text 31"/>
          <p:cNvSpPr txBox="1"/>
          <p:nvPr/>
        </p:nvSpPr>
        <p:spPr>
          <a:xfrm>
            <a:off x="7936992" y="54315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votre · pousser</a:t>
            </a:r>
            <a:endParaRPr lang="en-US" sz="1300" dirty="0"/>
          </a:p>
        </p:txBody>
      </p:sp>
      <p:pic>
        <p:nvPicPr>
          <p:cNvPr id="40" name="Image 5" descr="index pointing at the view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5912" y="4791456"/>
            <a:ext cx="777240" cy="77724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</a:t>
            </a:r>
            <a:r>
              <a:rPr lang="en-US" sz="1500" b="1" i="1" dirty="0">
                <a:solidFill>
                  <a:schemeClr val="accent5"/>
                </a:solidFill>
              </a:rPr>
              <a:t>i</a:t>
            </a:r>
            <a:r>
              <a:rPr lang="en-US" sz="1500" i="1" dirty="0">
                <a:solidFill>
                  <a:schemeClr val="accent5"/>
                </a:solidFill>
              </a:rPr>
              <a:t> ou le </a:t>
            </a:r>
            <a:r>
              <a:rPr lang="en-US" sz="1500" b="1" i="1" dirty="0">
                <a:solidFill>
                  <a:schemeClr val="accent5"/>
                </a:solidFill>
              </a:rPr>
              <a:t>w</a:t>
            </a:r>
            <a:r>
              <a:rPr lang="en-US" sz="1500" i="1" dirty="0">
                <a:solidFill>
                  <a:schemeClr val="accent5"/>
                </a:solidFill>
              </a:rPr>
              <a:t> final (en </a:t>
            </a:r>
            <a:r>
              <a:rPr lang="en-US" sz="1500" b="1" i="1" dirty="0">
                <a:solidFill>
                  <a:schemeClr val="accent1"/>
                </a:solidFill>
              </a:rPr>
              <a:t>orange</a:t>
            </a:r>
            <a:r>
              <a:rPr lang="en-US" sz="1500" i="1" dirty="0">
                <a:solidFill>
                  <a:schemeClr val="accent5"/>
                </a:solidFill>
              </a:rPr>
              <a:t>) ajoute une petite glissade. </a:t>
            </a:r>
            <a:r>
              <a:rPr lang="en-US" sz="1500" i="1" dirty="0">
                <a:solidFill>
                  <a:schemeClr val="accent5"/>
                </a:solidFill>
              </a:rPr>
              <a:t>uw</a:t>
            </a:r>
            <a:r>
              <a:rPr lang="en-US" sz="1500" i="1" dirty="0">
                <a:solidFill>
                  <a:schemeClr val="accent5"/>
                </a:solidFill>
              </a:rPr>
              <a:t> = votre (M2).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tableau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651760"/>
                <a:gridCol w="3200400"/>
                <a:gridCol w="2130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Son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Repère FR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Exemples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Piège</a:t>
                      </a:r>
                      <a:endParaRPr lang="en-US" sz="16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ij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è-i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tijd, klein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ui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œ-u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huis, tuin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u, uu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eu » de </a:t>
                      </a: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feu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keuken, deur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boek, broer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≠ u · sans glissement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ou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/ 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au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« aou »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vrouw, blauw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deux écritures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aa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oo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oe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i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aïe · ô-y · ouille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saai · mooi · moeilijk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ieu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 · u</a:t>
                      </a: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é-ou · i-ou · u-ou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i="1" dirty="0">
                          <a:solidFill>
                            <a:schemeClr val="tx1"/>
                          </a:solidFill>
                        </a:rPr>
                        <a:t>sneeuw · nieuw · uw</a:t>
                      </a: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Ce tableau complète le tableau-miroir du M1.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Lire un mot inconnu : le son double est un bloc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3703320" cy="822960"/>
          </a:xfrm>
          <a:prstGeom prst="chevron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 · Je coupe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206240" y="1600200"/>
            <a:ext cx="3703320" cy="822960"/>
          </a:xfrm>
          <a:prstGeom prst="chevron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 · Porte ouverte 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863840" y="1600200"/>
            <a:ext cx="3703320" cy="82296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 · Je prononce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difficile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880360" y="310896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74904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490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</a:t>
            </a:r>
            <a:endParaRPr lang="en-US" sz="3400" dirty="0"/>
          </a:p>
        </p:txBody>
      </p:sp>
      <p:pic>
        <p:nvPicPr>
          <p:cNvPr id="13" name="Image 0" descr="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3464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126480" y="27432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15" name="Shape 11"/>
          <p:cNvSpPr/>
          <p:nvPr/>
        </p:nvSpPr>
        <p:spPr>
          <a:xfrm>
            <a:off x="6537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3796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lijk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= « lek »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2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864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la cuisine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2880360" y="4572000"/>
            <a:ext cx="68580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74904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74904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</a:t>
            </a:r>
            <a:endParaRPr lang="en-US" sz="3400" dirty="0"/>
          </a:p>
        </p:txBody>
      </p:sp>
      <p:pic>
        <p:nvPicPr>
          <p:cNvPr id="23" name="Image 1" descr="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429768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126480" y="420624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·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6537960" y="42062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537960" y="42062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ken</a:t>
            </a:r>
            <a:endParaRPr lang="en-US" sz="3400" dirty="0"/>
          </a:p>
        </p:txBody>
      </p:sp>
      <p:sp>
        <p:nvSpPr>
          <p:cNvPr id="27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Le son double ne se coupe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 et ne change </a:t>
            </a:r>
            <a:r>
              <a:rPr lang="en-US" sz="1900" b="1" dirty="0">
                <a:solidFill>
                  <a:schemeClr val="bg1"/>
                </a:solidFill>
              </a:rPr>
              <a:t>jamais</a:t>
            </a:r>
            <a:r>
              <a:rPr lang="en-US" sz="1900" dirty="0">
                <a:solidFill>
                  <a:schemeClr val="bg1"/>
                </a:solidFill>
              </a:rPr>
              <a:t>. Testez : </a:t>
            </a:r>
            <a:r>
              <a:rPr lang="en-US" sz="1900" i="1" dirty="0">
                <a:solidFill>
                  <a:schemeClr val="bg1"/>
                </a:solidFill>
              </a:rPr>
              <a:t>bui·ten · nieu·we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Headph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son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encil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ij ou ei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yer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Tongbrekers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T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Loto des sons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hon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Dictée des villes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endParaRPr lang="en-US" sz="3400" dirty="0"/>
          </a:p>
        </p:txBody>
      </p:sp>
      <p:sp>
        <p:nvSpPr>
          <p:cNvPr id="10" name="Shape 6"/>
          <p:cNvSpPr/>
          <p:nvPr/>
        </p:nvSpPr>
        <p:spPr>
          <a:xfrm>
            <a:off x="2432304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432304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endParaRPr lang="en-US" sz="3400" dirty="0"/>
          </a:p>
        </p:txBody>
      </p:sp>
      <p:sp>
        <p:nvSpPr>
          <p:cNvPr id="12" name="Shape 8"/>
          <p:cNvSpPr/>
          <p:nvPr/>
        </p:nvSpPr>
        <p:spPr>
          <a:xfrm>
            <a:off x="4315968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15968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3400" dirty="0"/>
          </a:p>
        </p:txBody>
      </p:sp>
      <p:sp>
        <p:nvSpPr>
          <p:cNvPr id="14" name="Shape 10"/>
          <p:cNvSpPr/>
          <p:nvPr/>
        </p:nvSpPr>
        <p:spPr>
          <a:xfrm>
            <a:off x="6199632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99632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3400" dirty="0"/>
          </a:p>
        </p:txBody>
      </p:sp>
      <p:sp>
        <p:nvSpPr>
          <p:cNvPr id="16" name="Shape 12"/>
          <p:cNvSpPr/>
          <p:nvPr/>
        </p:nvSpPr>
        <p:spPr>
          <a:xfrm>
            <a:off x="8083296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83296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3400" dirty="0"/>
          </a:p>
        </p:txBody>
      </p:sp>
      <p:sp>
        <p:nvSpPr>
          <p:cNvPr id="18" name="Shape 14"/>
          <p:cNvSpPr/>
          <p:nvPr/>
        </p:nvSpPr>
        <p:spPr>
          <a:xfrm>
            <a:off x="9966960" y="2023872"/>
            <a:ext cx="1691640" cy="91440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966960" y="202387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endParaRPr lang="en-US" sz="3400" dirty="0"/>
          </a:p>
        </p:txBody>
      </p:sp>
      <p:sp>
        <p:nvSpPr>
          <p:cNvPr id="20" name="Shape 16"/>
          <p:cNvSpPr/>
          <p:nvPr/>
        </p:nvSpPr>
        <p:spPr>
          <a:xfrm>
            <a:off x="5440680" y="3258312"/>
            <a:ext cx="1280160" cy="12801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918" y="3565550"/>
            <a:ext cx="665683" cy="66568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85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1</a:t>
            </a:r>
            <a:endParaRPr lang="en-US" sz="3000" dirty="0"/>
          </a:p>
        </p:txBody>
      </p:sp>
      <p:sp>
        <p:nvSpPr>
          <p:cNvPr id="24" name="Shape 19"/>
          <p:cNvSpPr/>
          <p:nvPr/>
        </p:nvSpPr>
        <p:spPr>
          <a:xfrm>
            <a:off x="2057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2057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2</a:t>
            </a:r>
            <a:endParaRPr lang="en-US" sz="3000" dirty="0"/>
          </a:p>
        </p:txBody>
      </p:sp>
      <p:sp>
        <p:nvSpPr>
          <p:cNvPr id="26" name="Shape 21"/>
          <p:cNvSpPr/>
          <p:nvPr/>
        </p:nvSpPr>
        <p:spPr>
          <a:xfrm>
            <a:off x="3429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429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3</a:t>
            </a:r>
            <a:endParaRPr lang="en-US" sz="3000" dirty="0"/>
          </a:p>
        </p:txBody>
      </p:sp>
      <p:sp>
        <p:nvSpPr>
          <p:cNvPr id="28" name="Shape 23"/>
          <p:cNvSpPr/>
          <p:nvPr/>
        </p:nvSpPr>
        <p:spPr>
          <a:xfrm>
            <a:off x="48006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8006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4</a:t>
            </a:r>
            <a:endParaRPr lang="en-US" sz="3000" dirty="0"/>
          </a:p>
        </p:txBody>
      </p:sp>
      <p:sp>
        <p:nvSpPr>
          <p:cNvPr id="30" name="Shape 25"/>
          <p:cNvSpPr/>
          <p:nvPr/>
        </p:nvSpPr>
        <p:spPr>
          <a:xfrm>
            <a:off x="61722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722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5</a:t>
            </a:r>
            <a:endParaRPr lang="en-US" sz="3000" dirty="0"/>
          </a:p>
        </p:txBody>
      </p:sp>
      <p:sp>
        <p:nvSpPr>
          <p:cNvPr id="32" name="Shape 27"/>
          <p:cNvSpPr/>
          <p:nvPr/>
        </p:nvSpPr>
        <p:spPr>
          <a:xfrm>
            <a:off x="75438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6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89154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9154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7</a:t>
            </a:r>
            <a:endParaRPr lang="en-US" sz="3000" dirty="0"/>
          </a:p>
        </p:txBody>
      </p:sp>
      <p:sp>
        <p:nvSpPr>
          <p:cNvPr id="36" name="Shape 31"/>
          <p:cNvSpPr/>
          <p:nvPr/>
        </p:nvSpPr>
        <p:spPr>
          <a:xfrm>
            <a:off x="10287000" y="4812792"/>
            <a:ext cx="1188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10287000" y="4812792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8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son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quel son entendez-vous ? Montrez le bon bouton.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161032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14" name="tag"/>
          <p:cNvSpPr/>
          <p:nvPr/>
        </p:nvSpPr>
        <p:spPr>
          <a:xfrm>
            <a:off x="148590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338328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49300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49300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wav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61032"/>
            <a:ext cx="777240" cy="7772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38328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20" name="tag"/>
          <p:cNvSpPr/>
          <p:nvPr/>
        </p:nvSpPr>
        <p:spPr>
          <a:xfrm>
            <a:off x="432054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uu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21792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32764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32764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no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61032"/>
            <a:ext cx="777240" cy="7772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21792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26" name="tag"/>
          <p:cNvSpPr/>
          <p:nvPr/>
        </p:nvSpPr>
        <p:spPr>
          <a:xfrm>
            <a:off x="7155180" y="360578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9052560" y="202387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9162288" y="21336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9162288" y="2133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161032"/>
            <a:ext cx="777240" cy="7772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298399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endParaRPr lang="en-US" sz="3000" dirty="0"/>
          </a:p>
        </p:txBody>
      </p:sp>
      <p:sp>
        <p:nvSpPr>
          <p:cNvPr id="32" name="tag"/>
          <p:cNvSpPr/>
          <p:nvPr/>
        </p:nvSpPr>
        <p:spPr>
          <a:xfrm>
            <a:off x="9989820" y="3605784"/>
            <a:ext cx="49164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</a:t>
            </a:r>
            <a:endParaRPr lang="en-US" sz="1400" dirty="0"/>
          </a:p>
        </p:txBody>
      </p:sp>
      <p:sp>
        <p:nvSpPr>
          <p:cNvPr id="33" name="Shape 25"/>
          <p:cNvSpPr/>
          <p:nvPr/>
        </p:nvSpPr>
        <p:spPr>
          <a:xfrm>
            <a:off x="54864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65836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5836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man farm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401312"/>
            <a:ext cx="777240" cy="77724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</a:t>
            </a:r>
            <a:r>
              <a:rPr lang="en-US" sz="3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3000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</a:t>
            </a:r>
            <a:endParaRPr lang="en-US" sz="3000" dirty="0"/>
          </a:p>
        </p:txBody>
      </p:sp>
      <p:sp>
        <p:nvSpPr>
          <p:cNvPr id="38" name="tag"/>
          <p:cNvSpPr/>
          <p:nvPr/>
        </p:nvSpPr>
        <p:spPr>
          <a:xfrm>
            <a:off x="148590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oe</a:t>
            </a:r>
            <a:endParaRPr lang="en-US" sz="1400" dirty="0"/>
          </a:p>
        </p:txBody>
      </p:sp>
      <p:sp>
        <p:nvSpPr>
          <p:cNvPr id="39" name="Shape 30"/>
          <p:cNvSpPr/>
          <p:nvPr/>
        </p:nvSpPr>
        <p:spPr>
          <a:xfrm>
            <a:off x="338328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49300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349300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cross 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401312"/>
            <a:ext cx="777240" cy="77724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38328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</a:t>
            </a:r>
            <a:r>
              <a:rPr lang="en-US" sz="3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endParaRPr lang="en-US" sz="3000" dirty="0"/>
          </a:p>
        </p:txBody>
      </p:sp>
      <p:sp>
        <p:nvSpPr>
          <p:cNvPr id="44" name="tag"/>
          <p:cNvSpPr/>
          <p:nvPr/>
        </p:nvSpPr>
        <p:spPr>
          <a:xfrm>
            <a:off x="432054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ou</a:t>
            </a:r>
            <a:endParaRPr lang="en-US" sz="1400" dirty="0"/>
          </a:p>
        </p:txBody>
      </p:sp>
      <p:sp>
        <p:nvSpPr>
          <p:cNvPr id="45" name="Shape 35"/>
          <p:cNvSpPr/>
          <p:nvPr/>
        </p:nvSpPr>
        <p:spPr>
          <a:xfrm>
            <a:off x="621792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36"/>
          <p:cNvSpPr/>
          <p:nvPr/>
        </p:nvSpPr>
        <p:spPr>
          <a:xfrm>
            <a:off x="632764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632764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48" name="Image 7" descr="grinning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401312"/>
            <a:ext cx="777240" cy="77724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21792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endParaRPr lang="en-US" sz="3000" dirty="0"/>
          </a:p>
        </p:txBody>
      </p:sp>
      <p:sp>
        <p:nvSpPr>
          <p:cNvPr id="50" name="tag"/>
          <p:cNvSpPr/>
          <p:nvPr/>
        </p:nvSpPr>
        <p:spPr>
          <a:xfrm>
            <a:off x="715518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eu</a:t>
            </a:r>
            <a:endParaRPr lang="en-US" sz="1400" dirty="0"/>
          </a:p>
        </p:txBody>
      </p:sp>
      <p:sp>
        <p:nvSpPr>
          <p:cNvPr id="51" name="Shape 40"/>
          <p:cNvSpPr/>
          <p:nvPr/>
        </p:nvSpPr>
        <p:spPr>
          <a:xfrm>
            <a:off x="9052560" y="4264152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1"/>
          <p:cNvSpPr/>
          <p:nvPr/>
        </p:nvSpPr>
        <p:spPr>
          <a:xfrm>
            <a:off x="9162288" y="437388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9162288" y="4373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54" name="Image 8" descr="sunflow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4401312"/>
            <a:ext cx="777240" cy="77724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9052560" y="52242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</a:t>
            </a:r>
            <a:endParaRPr lang="en-US" sz="3000" dirty="0"/>
          </a:p>
        </p:txBody>
      </p:sp>
      <p:sp>
        <p:nvSpPr>
          <p:cNvPr id="56" name="tag"/>
          <p:cNvSpPr/>
          <p:nvPr/>
        </p:nvSpPr>
        <p:spPr>
          <a:xfrm>
            <a:off x="9989820" y="5846064"/>
            <a:ext cx="61752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ui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dirty="0">
                <a:solidFill>
                  <a:srgbClr val="B8C2CF"/>
                </a:solidFill>
              </a:rPr>
              <a:t>……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Shape 6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2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4" name="Shape 9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6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ij ou ei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lange ij ou la korte ei.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1  </a:t>
            </a:r>
            <a:r>
              <a:rPr lang="en-US" sz="3600" dirty="0">
                <a:solidFill>
                  <a:schemeClr val="tx1"/>
                </a:solidFill>
              </a:rPr>
              <a:t>m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2  </a:t>
            </a:r>
            <a:r>
              <a:rPr lang="en-US" sz="3600" dirty="0">
                <a:solidFill>
                  <a:schemeClr val="tx1"/>
                </a:solidFill>
              </a:rPr>
              <a:t>kl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3  </a:t>
            </a:r>
            <a:r>
              <a:rPr lang="en-US" sz="3600" dirty="0">
                <a:solidFill>
                  <a:schemeClr val="tx1"/>
                </a:solidFill>
              </a:rPr>
              <a:t>t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d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4  </a:t>
            </a:r>
            <a:r>
              <a:rPr lang="en-US" sz="3600" dirty="0">
                <a:solidFill>
                  <a:schemeClr val="tx1"/>
                </a:solidFill>
              </a:rPr>
              <a:t>tr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4411980" y="2206752"/>
            <a:ext cx="345186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5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nig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6  </a:t>
            </a:r>
            <a:r>
              <a:rPr lang="en-US" sz="3600" dirty="0">
                <a:solidFill>
                  <a:schemeClr val="tx1"/>
                </a:solidFill>
              </a:rPr>
              <a:t>w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7  </a:t>
            </a:r>
            <a:r>
              <a:rPr lang="en-US" sz="3600" dirty="0">
                <a:solidFill>
                  <a:schemeClr val="tx1"/>
                </a:solidFill>
              </a:rPr>
              <a:t>r</a:t>
            </a:r>
            <a:r>
              <a:rPr lang="en-US" sz="3600" b="1" dirty="0">
                <a:solidFill>
                  <a:schemeClr val="accent1"/>
                </a:solidFill>
              </a:rPr>
              <a:t>ei</a:t>
            </a:r>
            <a:r>
              <a:rPr lang="en-US" sz="3600" dirty="0">
                <a:solidFill>
                  <a:schemeClr val="tx1"/>
                </a:solidFill>
              </a:rPr>
              <a:t>s</a:t>
            </a:r>
            <a:endParaRPr lang="en-US" sz="3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chemeClr val="tx2"/>
                </a:solidFill>
              </a:rPr>
              <a:t>8  </a:t>
            </a:r>
            <a:r>
              <a:rPr lang="en-US" sz="3600" dirty="0">
                <a:solidFill>
                  <a:schemeClr val="tx1"/>
                </a:solidFill>
              </a:rPr>
              <a:t>z</a:t>
            </a:r>
            <a:r>
              <a:rPr lang="en-US" sz="3600" b="1" dirty="0">
                <a:solidFill>
                  <a:schemeClr val="accent2"/>
                </a:solidFill>
              </a:rPr>
              <a:t>ij</a:t>
            </a:r>
            <a:r>
              <a:rPr lang="en-US" sz="3600" dirty="0">
                <a:solidFill>
                  <a:schemeClr val="tx1"/>
                </a:solidFill>
              </a:rPr>
              <a:t>n</a:t>
            </a:r>
            <a:endParaRPr lang="en-US" sz="3600" dirty="0"/>
          </a:p>
        </p:txBody>
      </p:sp>
      <p:sp>
        <p:nvSpPr>
          <p:cNvPr id="11" name="Shape 7"/>
          <p:cNvSpPr/>
          <p:nvPr/>
        </p:nvSpPr>
        <p:spPr>
          <a:xfrm>
            <a:off x="8229600" y="211531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412480" y="225247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endParaRPr lang="en-US" sz="5400" dirty="0"/>
          </a:p>
        </p:txBody>
      </p:sp>
      <p:pic>
        <p:nvPicPr>
          <p:cNvPr id="13" name="Image 1" descr="wine 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2343912"/>
            <a:ext cx="914400" cy="9144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0" y="33497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lange ij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229600" y="4264152"/>
            <a:ext cx="3410712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412480" y="4401312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</a:t>
            </a:r>
            <a:endParaRPr lang="en-US" sz="5400" dirty="0"/>
          </a:p>
        </p:txBody>
      </p:sp>
      <p:pic>
        <p:nvPicPr>
          <p:cNvPr id="17" name="Image 2" descr="t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0" y="4492752"/>
            <a:ext cx="914400" cy="9144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412480" y="54985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korte ei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94767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99339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34670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9242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4745736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791456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44768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90488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543800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589520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8942832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988552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sneeuw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>
            <a:off x="10341864" y="1932432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387584" y="19324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tuin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194767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99339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saai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34670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39242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4745736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91456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uw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6144768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90488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broer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7543800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589520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moeilijk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8942832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988552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keuken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10341864" y="2590800"/>
            <a:ext cx="1280160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387584" y="2590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blauw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5486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242316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242316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2316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429768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429768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29768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7220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7220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7220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804672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804672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04672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9921240" y="3395472"/>
            <a:ext cx="1719072" cy="289560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9921240" y="339547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921240" y="339547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familles de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sa famille.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ij / ei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tijd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242316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42316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42316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ui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242316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tuin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429768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9768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eu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29768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429768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617220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rgbClr val="6E4A9E">
              <a:alpha val="10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17220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broer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boek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804672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4672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4672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 / au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804672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vrouw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804672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blauw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9921240" y="1932432"/>
            <a:ext cx="1719072" cy="4358640"/>
          </a:xfrm>
          <a:prstGeom prst="roundRect">
            <a:avLst>
              <a:gd name="adj" fmla="val 4255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921240" y="1932432"/>
            <a:ext cx="171907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921240" y="1932432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lettres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9921240" y="257251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mooi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9921240" y="3102864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saai</a:t>
            </a:r>
            <a:endParaRPr lang="en-US" sz="2000" dirty="0"/>
          </a:p>
        </p:txBody>
      </p:sp>
      <p:sp>
        <p:nvSpPr>
          <p:cNvPr id="39" name="Text 35"/>
          <p:cNvSpPr txBox="1"/>
          <p:nvPr/>
        </p:nvSpPr>
        <p:spPr>
          <a:xfrm>
            <a:off x="9921240" y="3633216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moeilijk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9921240" y="416356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nieuw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9921240" y="469392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sneeuw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9921240" y="52242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uw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Tongbrekers (virelangues)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Micro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80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1627632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 de t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het h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 zit een 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28600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Dans le jardin près de la maison, il y a un hibou.</a:t>
            </a:r>
            <a:endParaRPr lang="en-US" sz="1600" dirty="0"/>
          </a:p>
        </p:txBody>
      </p:sp>
      <p:pic>
        <p:nvPicPr>
          <p:cNvPr id="1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709928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52928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Micro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83080" y="292608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van de b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 staat op de vl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r.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1783080" y="358444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La vache du fermier est sur le sol.</a:t>
            </a:r>
            <a:endParaRPr lang="en-US" sz="1600" dirty="0"/>
          </a:p>
        </p:txBody>
      </p:sp>
      <p:pic>
        <p:nvPicPr>
          <p:cNvPr id="17" name="Image 3" descr="c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3008376"/>
            <a:ext cx="822960" cy="8229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4151376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777240" y="437997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Micro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555541"/>
            <a:ext cx="380390" cy="38039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783080" y="422452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 vr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 heeft het k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 in de sn</a:t>
            </a: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eeuw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800" dirty="0"/>
          </a:p>
        </p:txBody>
      </p:sp>
      <p:sp>
        <p:nvSpPr>
          <p:cNvPr id="22" name="Text 14"/>
          <p:cNvSpPr txBox="1"/>
          <p:nvPr/>
        </p:nvSpPr>
        <p:spPr>
          <a:xfrm>
            <a:off x="1783080" y="4882896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Ma femme a froid dans la neige.</a:t>
            </a:r>
            <a:endParaRPr lang="en-US" sz="1600" dirty="0"/>
          </a:p>
        </p:txBody>
      </p:sp>
      <p:pic>
        <p:nvPicPr>
          <p:cNvPr id="23" name="Image 5" descr="snowfl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4306824"/>
            <a:ext cx="822960" cy="82296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548640" y="5486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1"/>
                </a:solidFill>
              </a:rPr>
              <a:t>orange</a:t>
            </a:r>
            <a:r>
              <a:rPr lang="en-US" sz="1400" i="1" dirty="0">
                <a:solidFill>
                  <a:schemeClr val="accent5"/>
                </a:solidFill>
              </a:rPr>
              <a:t> = son double</a:t>
            </a:r>
            <a:endParaRPr lang="en-US" sz="1400" dirty="0"/>
          </a:p>
        </p:txBody>
      </p:sp>
      <p:sp>
        <p:nvSpPr>
          <p:cNvPr id="25" name="Text 16"/>
          <p:cNvSpPr txBox="1"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lentement en chœur   ② vite   ③ défi en binôme : trois fois sans erreur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Loto des sons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12064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I N G O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77240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huis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005840" y="237744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50008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50008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leuk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22776" y="224028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22776" y="224028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boek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777240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tijd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350008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50008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vrouw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578608" y="3703320"/>
            <a:ext cx="1005840" cy="914400"/>
          </a:xfrm>
          <a:prstGeom prst="ellipse">
            <a:avLst/>
          </a:prstGeom>
          <a:noFill/>
          <a:ln w="38100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922776" y="356616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22776" y="356616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mooi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77240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klein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350008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350008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nieuw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3922776" y="4892040"/>
            <a:ext cx="1463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22776" y="489204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deur</a:t>
            </a:r>
            <a:endParaRPr lang="en-US" sz="2200" dirty="0"/>
          </a:p>
        </p:txBody>
      </p:sp>
      <p:pic>
        <p:nvPicPr>
          <p:cNvPr id="28" name="Image 0" descr="stopw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868680" cy="86868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040880" y="16002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règles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6035040" y="265176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1.</a:t>
            </a:r>
            <a:r>
              <a:rPr lang="en-US" sz="1900" dirty="0">
                <a:solidFill>
                  <a:schemeClr val="tx1"/>
                </a:solidFill>
              </a:rPr>
              <a:t> Dessinez une grille 3 × 3 avec </a:t>
            </a:r>
            <a:r>
              <a:rPr lang="en-US" sz="1900" b="1" dirty="0">
                <a:solidFill>
                  <a:schemeClr val="tx1"/>
                </a:solidFill>
              </a:rPr>
              <a:t>9 mots</a:t>
            </a:r>
            <a:r>
              <a:rPr lang="en-US" sz="1900" dirty="0">
                <a:solidFill>
                  <a:schemeClr val="tx1"/>
                </a:solidFill>
              </a:rPr>
              <a:t> du module.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</a:t>
            </a:r>
            <a:r>
              <a:rPr lang="en-US" sz="1900" dirty="0">
                <a:solidFill>
                  <a:schemeClr val="tx1"/>
                </a:solidFill>
              </a:rPr>
              <a:t> L’enseignant tire un </a:t>
            </a:r>
            <a:r>
              <a:rPr lang="en-US" sz="1900" b="1" dirty="0">
                <a:solidFill>
                  <a:schemeClr val="tx1"/>
                </a:solidFill>
              </a:rPr>
              <a:t>son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ui, eu, oe…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3.</a:t>
            </a:r>
            <a:r>
              <a:rPr lang="en-US" sz="1900" dirty="0">
                <a:solidFill>
                  <a:schemeClr val="tx1"/>
                </a:solidFill>
              </a:rPr>
              <a:t> Cochez un mot qui contient ce son.</a:t>
            </a:r>
            <a:endParaRPr lang="en-US" sz="19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4.</a:t>
            </a:r>
            <a:r>
              <a:rPr lang="en-US" sz="1900" dirty="0">
                <a:solidFill>
                  <a:schemeClr val="tx1"/>
                </a:solidFill>
              </a:rPr>
              <a:t> Première ligne complète : </a:t>
            </a:r>
            <a:r>
              <a:rPr lang="en-US" sz="1900" i="1" dirty="0">
                <a:solidFill>
                  <a:schemeClr val="tx1"/>
                </a:solidFill>
              </a:rPr>
              <a:t>Bingo!</a:t>
            </a:r>
            <a:r>
              <a:rPr lang="en-US" sz="1900" dirty="0">
                <a:solidFill>
                  <a:schemeClr val="tx1"/>
                </a:solidFill>
              </a:rPr>
              <a:t> Lisez vos mots à voix haute pour valider.</a:t>
            </a:r>
            <a:endParaRPr lang="en-US" sz="1900" dirty="0"/>
          </a:p>
        </p:txBody>
      </p:sp>
      <p:pic>
        <p:nvPicPr>
          <p:cNvPr id="31" name="Image 1" descr="man teach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20624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Dictée des villes belges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dicte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Leuven · Luik · Kortrijk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7724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2" name="Shape 9"/>
          <p:cNvSpPr/>
          <p:nvPr/>
        </p:nvSpPr>
        <p:spPr>
          <a:xfrm>
            <a:off x="77724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3" name="Shape 10"/>
          <p:cNvSpPr/>
          <p:nvPr/>
        </p:nvSpPr>
        <p:spPr>
          <a:xfrm>
            <a:off x="77724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11"/>
          <p:cNvSpPr/>
          <p:nvPr/>
        </p:nvSpPr>
        <p:spPr>
          <a:xfrm>
            <a:off x="4069080" y="1554480"/>
            <a:ext cx="3291840" cy="2971800"/>
          </a:xfrm>
          <a:prstGeom prst="roundRect">
            <a:avLst>
              <a:gd name="adj" fmla="val 246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51960" y="169164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16916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 dicte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331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Oudenaarde · Hoei · Ieper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297680" y="3429000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7"/>
          <p:cNvSpPr/>
          <p:nvPr/>
        </p:nvSpPr>
        <p:spPr>
          <a:xfrm>
            <a:off x="4297680" y="3776472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8"/>
          <p:cNvSpPr/>
          <p:nvPr/>
        </p:nvSpPr>
        <p:spPr>
          <a:xfrm>
            <a:off x="4297680" y="4123944"/>
            <a:ext cx="283464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9"/>
          <p:cNvSpPr/>
          <p:nvPr/>
        </p:nvSpPr>
        <p:spPr>
          <a:xfrm>
            <a:off x="3858768" y="1554480"/>
            <a:ext cx="192024" cy="2971800"/>
          </a:xfrm>
          <a:prstGeom prst="roundRect">
            <a:avLst>
              <a:gd name="adj" fmla="val 14286"/>
            </a:avLst>
          </a:prstGeom>
          <a:solidFill>
            <a:schemeClr val="accent5">
              <a:alpha val="6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89520" y="1554480"/>
            <a:ext cx="40507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51675" y="1788362"/>
            <a:ext cx="2679984" cy="969045"/>
          </a:xfrm>
          <a:custGeom>
            <a:avLst/>
            <a:gdLst/>
            <a:ahLst/>
            <a:cxnLst/>
            <a:rect l="l" t="t" r="r" b="b"/>
            <a:pathLst>
              <a:path w="2679984" h="969045">
                <a:moveTo>
                  <a:pt x="0" y="497273"/>
                </a:moveTo>
                <a:lnTo>
                  <a:pt x="210512" y="395269"/>
                </a:lnTo>
                <a:lnTo>
                  <a:pt x="453411" y="216760"/>
                </a:lnTo>
                <a:lnTo>
                  <a:pt x="672020" y="140257"/>
                </a:lnTo>
                <a:lnTo>
                  <a:pt x="793470" y="242261"/>
                </a:lnTo>
                <a:lnTo>
                  <a:pt x="1020175" y="344266"/>
                </a:lnTo>
                <a:lnTo>
                  <a:pt x="1222591" y="293264"/>
                </a:lnTo>
                <a:lnTo>
                  <a:pt x="1376427" y="140257"/>
                </a:lnTo>
                <a:lnTo>
                  <a:pt x="1522166" y="153007"/>
                </a:lnTo>
                <a:lnTo>
                  <a:pt x="1627423" y="0"/>
                </a:lnTo>
                <a:lnTo>
                  <a:pt x="1789355" y="76504"/>
                </a:lnTo>
                <a:lnTo>
                  <a:pt x="1926998" y="25501"/>
                </a:lnTo>
                <a:lnTo>
                  <a:pt x="2072737" y="63753"/>
                </a:lnTo>
                <a:lnTo>
                  <a:pt x="2186090" y="216760"/>
                </a:lnTo>
                <a:lnTo>
                  <a:pt x="2396602" y="242261"/>
                </a:lnTo>
                <a:lnTo>
                  <a:pt x="2679984" y="420770"/>
                </a:lnTo>
                <a:lnTo>
                  <a:pt x="2599018" y="675782"/>
                </a:lnTo>
                <a:lnTo>
                  <a:pt x="2558535" y="918043"/>
                </a:lnTo>
                <a:lnTo>
                  <a:pt x="2356119" y="956295"/>
                </a:lnTo>
                <a:lnTo>
                  <a:pt x="2072737" y="969045"/>
                </a:lnTo>
                <a:lnTo>
                  <a:pt x="1870321" y="943544"/>
                </a:lnTo>
                <a:lnTo>
                  <a:pt x="1667906" y="969045"/>
                </a:lnTo>
                <a:lnTo>
                  <a:pt x="1505973" y="943544"/>
                </a:lnTo>
                <a:lnTo>
                  <a:pt x="1303557" y="969045"/>
                </a:lnTo>
                <a:lnTo>
                  <a:pt x="1101142" y="956295"/>
                </a:lnTo>
                <a:lnTo>
                  <a:pt x="817760" y="956295"/>
                </a:lnTo>
                <a:lnTo>
                  <a:pt x="574861" y="930794"/>
                </a:lnTo>
                <a:lnTo>
                  <a:pt x="291479" y="892542"/>
                </a:lnTo>
                <a:lnTo>
                  <a:pt x="170029" y="841539"/>
                </a:lnTo>
                <a:lnTo>
                  <a:pt x="48580" y="675782"/>
                </a:lnTo>
                <a:close/>
              </a:path>
            </a:pathLst>
          </a:custGeom>
          <a:solidFill>
            <a:srgbClr val="F2E3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43153" y="2680904"/>
            <a:ext cx="2833820" cy="1632076"/>
          </a:xfrm>
          <a:custGeom>
            <a:avLst/>
            <a:gdLst/>
            <a:ahLst/>
            <a:cxnLst/>
            <a:rect l="l" t="t" r="r" b="b"/>
            <a:pathLst>
              <a:path w="2833820" h="1632076">
                <a:moveTo>
                  <a:pt x="0" y="0"/>
                </a:moveTo>
                <a:lnTo>
                  <a:pt x="283382" y="38252"/>
                </a:lnTo>
                <a:lnTo>
                  <a:pt x="526281" y="63753"/>
                </a:lnTo>
                <a:lnTo>
                  <a:pt x="809663" y="63753"/>
                </a:lnTo>
                <a:lnTo>
                  <a:pt x="1012079" y="76504"/>
                </a:lnTo>
                <a:lnTo>
                  <a:pt x="1214494" y="51002"/>
                </a:lnTo>
                <a:lnTo>
                  <a:pt x="1376427" y="76504"/>
                </a:lnTo>
                <a:lnTo>
                  <a:pt x="1578843" y="51002"/>
                </a:lnTo>
                <a:lnTo>
                  <a:pt x="1781258" y="76504"/>
                </a:lnTo>
                <a:lnTo>
                  <a:pt x="2064641" y="63753"/>
                </a:lnTo>
                <a:lnTo>
                  <a:pt x="2267056" y="25501"/>
                </a:lnTo>
                <a:lnTo>
                  <a:pt x="2526148" y="38252"/>
                </a:lnTo>
                <a:lnTo>
                  <a:pt x="2728564" y="204010"/>
                </a:lnTo>
                <a:lnTo>
                  <a:pt x="2833820" y="573777"/>
                </a:lnTo>
                <a:lnTo>
                  <a:pt x="2623308" y="828789"/>
                </a:lnTo>
                <a:lnTo>
                  <a:pt x="2493762" y="777786"/>
                </a:lnTo>
                <a:lnTo>
                  <a:pt x="2307539" y="1058300"/>
                </a:lnTo>
                <a:lnTo>
                  <a:pt x="2364216" y="1568324"/>
                </a:lnTo>
                <a:lnTo>
                  <a:pt x="2080834" y="1632076"/>
                </a:lnTo>
                <a:lnTo>
                  <a:pt x="1862225" y="1389815"/>
                </a:lnTo>
                <a:lnTo>
                  <a:pt x="1578843" y="1249559"/>
                </a:lnTo>
                <a:lnTo>
                  <a:pt x="1586939" y="1058300"/>
                </a:lnTo>
                <a:lnTo>
                  <a:pt x="1603133" y="803288"/>
                </a:lnTo>
                <a:lnTo>
                  <a:pt x="1554553" y="790537"/>
                </a:lnTo>
                <a:lnTo>
                  <a:pt x="1457393" y="1020048"/>
                </a:lnTo>
                <a:lnTo>
                  <a:pt x="1254978" y="1071050"/>
                </a:lnTo>
                <a:lnTo>
                  <a:pt x="1052562" y="1045549"/>
                </a:lnTo>
                <a:lnTo>
                  <a:pt x="1003982" y="930794"/>
                </a:lnTo>
                <a:lnTo>
                  <a:pt x="1052562" y="650280"/>
                </a:lnTo>
                <a:lnTo>
                  <a:pt x="850146" y="561026"/>
                </a:lnTo>
                <a:lnTo>
                  <a:pt x="647730" y="586527"/>
                </a:lnTo>
                <a:lnTo>
                  <a:pt x="566764" y="357017"/>
                </a:lnTo>
                <a:lnTo>
                  <a:pt x="307672" y="318765"/>
                </a:lnTo>
                <a:lnTo>
                  <a:pt x="80966" y="102005"/>
                </a:lnTo>
                <a:close/>
              </a:path>
            </a:pathLst>
          </a:custGeom>
          <a:solidFill>
            <a:srgbClr val="F2C2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6915" y="2719156"/>
            <a:ext cx="340058" cy="701283"/>
          </a:xfrm>
          <a:custGeom>
            <a:avLst/>
            <a:gdLst/>
            <a:ahLst/>
            <a:cxnLst/>
            <a:rect l="l" t="t" r="r" b="b"/>
            <a:pathLst>
              <a:path w="340058" h="701283">
                <a:moveTo>
                  <a:pt x="32387" y="0"/>
                </a:moveTo>
                <a:lnTo>
                  <a:pt x="234802" y="165758"/>
                </a:lnTo>
                <a:lnTo>
                  <a:pt x="340058" y="535525"/>
                </a:lnTo>
                <a:lnTo>
                  <a:pt x="129546" y="701283"/>
                </a:lnTo>
                <a:lnTo>
                  <a:pt x="56676" y="548276"/>
                </a:lnTo>
                <a:lnTo>
                  <a:pt x="97160" y="318765"/>
                </a:lnTo>
                <a:lnTo>
                  <a:pt x="0" y="165758"/>
                </a:lnTo>
                <a:close/>
              </a:path>
            </a:pathLst>
          </a:custGeom>
          <a:solidFill>
            <a:srgbClr val="C9D6E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435497" y="2534272"/>
            <a:ext cx="179528" cy="140257"/>
          </a:xfrm>
          <a:prstGeom prst="ellipse">
            <a:avLst/>
          </a:prstGeom>
          <a:solidFill>
            <a:schemeClr val="accent5"/>
          </a:solidFill>
          <a:ln w="15875">
            <a:solidFill>
              <a:srgbClr val="FFFFFF"/>
            </a:solidFill>
            <a:prstDash val="solid"/>
          </a:ln>
        </p:spPr>
      </p:sp>
      <p:pic>
        <p:nvPicPr>
          <p:cNvPr id="28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3386" y="2279078"/>
            <a:ext cx="274320" cy="274320"/>
          </a:xfrm>
          <a:prstGeom prst="rect">
            <a:avLst/>
          </a:prstGeom>
        </p:spPr>
      </p:pic>
      <p:pic>
        <p:nvPicPr>
          <p:cNvPr id="29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7793" y="2597843"/>
            <a:ext cx="274320" cy="274320"/>
          </a:xfrm>
          <a:prstGeom prst="rect">
            <a:avLst/>
          </a:prstGeom>
        </p:spPr>
      </p:pic>
      <p:pic>
        <p:nvPicPr>
          <p:cNvPr id="30" name="Image 2" descr="MapMarker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472" y="2342831"/>
            <a:ext cx="274320" cy="274320"/>
          </a:xfrm>
          <a:prstGeom prst="rect">
            <a:avLst/>
          </a:prstGeom>
        </p:spPr>
      </p:pic>
      <p:pic>
        <p:nvPicPr>
          <p:cNvPr id="31" name="Image 3" descr="MapMarker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2757" y="2317330"/>
            <a:ext cx="274320" cy="274320"/>
          </a:xfrm>
          <a:prstGeom prst="rect">
            <a:avLst/>
          </a:prstGeom>
        </p:spPr>
      </p:pic>
      <p:pic>
        <p:nvPicPr>
          <p:cNvPr id="32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0604" y="2738100"/>
            <a:ext cx="274320" cy="274320"/>
          </a:xfrm>
          <a:prstGeom prst="rect">
            <a:avLst/>
          </a:prstGeom>
        </p:spPr>
      </p:pic>
      <p:pic>
        <p:nvPicPr>
          <p:cNvPr id="33" name="Image 5" descr="MapMarker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9800" y="2317330"/>
            <a:ext cx="274320" cy="274320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48640" y="4754880"/>
            <a:ext cx="1109167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77724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PHRASES UTILES</a:t>
            </a:r>
            <a:endParaRPr lang="en-US" sz="1300" dirty="0"/>
          </a:p>
        </p:txBody>
      </p:sp>
      <p:sp>
        <p:nvSpPr>
          <p:cNvPr id="36" name="Text 27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Met ei of ij? · Met ou of au? · Met eu of ui? · Kunt u dat spellen?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son dans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huur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hut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ei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tr…n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i="1" dirty="0">
                <a:solidFill>
                  <a:schemeClr val="tx1"/>
                </a:solidFill>
              </a:rPr>
              <a:t>t…d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se prononce </a:t>
            </a:r>
            <a:r>
              <a:rPr lang="en-US" sz="2000" i="1" dirty="0">
                <a:solidFill>
                  <a:schemeClr val="tx1"/>
                </a:solidFill>
              </a:rPr>
              <a:t>vrolijk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Entendre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GlobeEur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Landen en talen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kom je vandaan?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Tweeklanken — Les sons doubles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2026-10-05T19:06:48Z</dcterms:created>
  <dcterms:modified xsi:type="dcterms:W3CDTF">2026-10-05T19:06:48Z</dcterms:modified>
</cp:coreProperties>
</file>