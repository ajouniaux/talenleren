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2259e37a-45da-fd57-4249-763f8bf94b1d}">
          <p14:sldIdLst>
            <p14:sldId id="256"/>
          </p14:sldIdLst>
        </p14:section>
        <p14:section name="Découvrir" id="{d0df0690-e378-2ecd-7ba0-6747c42f6266}">
          <p14:sldIdLst>
            <p14:sldId id="257"/>
            <p14:sldId id="258"/>
            <p14:sldId id="259"/>
          </p14:sldIdLst>
        </p14:section>
        <p14:section name="Comprendre" id="{f325310b-0ed1-dae6-4266-66ac1b72b5e8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JIJ NU ! — Oefeningen" id="{23bbec06-7603-8c34-d353-7ea78861b840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Clôture" id="{0a717a75-1f7e-0719-dc92-a183b0d0f002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le thème avec le son le plus emblématique du néerlandais : ui.
Prononcez huis lentement, puis demandez : « Combien de sons entendez-vous dans ui ? » Réponse attendue : un son qui glisse, de « œ » vers « u », lèvres arrondies. C'est le principe de toute la séance.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Rendre les objectifs explicites.
Rappelez la diapo 10 du M1 (« les sons qui ne changent jamais »). Aujourd'hui, on les travaille en détail. Distribuez à nouveau le carton bicolore du M1 pour l'exercice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Réactiver le M1 et faire émerger la troisième catégorie : les sons doubles.
Les sons doubles ne suivent pas la règle de la porte ouverte ou fermée : leur écriture ne change jamais (huis → huizen, tijd → tijden). Faites redire la règle du M1 avant de commencer.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Réactiver le M1 et faire émerger la troisième catégorie : les sons doubles.
Les sons doubles ne suivent pas la règle de la porte ouverte ou fermée : leur écriture ne change jamais (huis → huizen, tijd → tijden). Faites redire la règle du M1 avant de commencer.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Faire comprendre physiquement ce qu'est une diphtongue.
Faites mimer le glissement avec la main, comme une glissade. Pour ui, partez du « eu » de fauteuil et fermez vers « u », en gardant les lèvres arrondies (sinon, ui glisse vers ij). Ne cherchez pas la perfection : l'objectif A1 est d'être compris et de ne pas confondre les 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Donner une vue d'ensemble avant le détail (reprise ordonnée du tableau de l'archive).
Correction par rapport à l'archive : eeuw se prononce « é + ou », et non « é + u ». La coquille eeeuw est corrigée en eeuw (le siècle). Précision : eu et oe s'écrivent avec deux lettres mais ne glissent pas. Ce sont des voyelles simples, pas des diphtongues. Ils sont travaillés ici à cause des confusions avec u / uu (diapos 8 et 9). Les repères français ne sont que des approximations : l'écoute de l'enseignant prime.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Prononcer ij/ei et gérer leur écriture.
La norme garde le glissement « è » → « i ». Dans certaines régions de Flandre (Anvers, Brabant), on entend un « è » plus ouvert, presque sans glissement : apprenez le glissement, reconnaissez la variante. À la dictée, on demande : Lange ij of korte ei? (vu en M1). Le -lijk final est réduit, comme un « e » muet (lien avec le -en final du 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Maîtriser ui et le distinguer de u et uu.
Le trio est le cœur de la séance : faites-le répéter en chœur, puis en désordre. ui n'existe pas en français ; ne le remplacez ni par « oui » ni par « ui » français. Reprise de l'archive : uil (le hibou) peut servir d'exemple supplémentaire.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Prévenir la confusion la plus fréquente chez les francophones.
Jeu rapide : l'enseignant dit un mot, la classe lève 1, 2 ou 3 doigts (u, uu, eu). Leuven (eu) et Luik (ui) sont un bon test belge.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Fixer la correspondance oe = « ou » et l'opposer à uu.
Rappel du M1 : oe = « ou », mais u ≠ « ou ». De boer is mijn buur (le fermier est mon voisin) est une petite phrase-test amusante.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Prononcer ou/au et retenir les mots les plus fréquents.
Exemples de l'archive conservés (fout, vrouw, koud, pauw, gauw). Oudenaarde (Audenarde) est un bon exemple belge pour l'exercice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Lire les combinaisons voyelle + i ou w (souvent appelées triphtongues).
Le i ou le w final ajoute une petite glissade. uw (votre, poli) vient du M2. doei (salut) est surtout néerlandais ; en Flandre, on dit plutôt daag. Illustrations de l'archive reprises : lion (leeuw) et mouette (meeuw) pour eeuw.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Fournir la fiche de référence (version corrigée et complétée du tableau de l'archive).
Faites photographier ce tableau : c'est la fiche du module. Il complète le tableau-miroir du M1.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Réinvestir la méthode de lecture du M1 avec les sons doubles.
Rappel du M1, diapo 6 (« son double : je ne le coupe jamais »). Testez sur buiten (bui·ten) et nieuwe (nieu·we).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la séquence d'exercices.
Exercices 1 et 5 à l'oral ; 2 et 3 à l'écrit ; 6 en binôme.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Discriminer à l'oreille u, uu, eu, ui, oe, ou.
Lisez chaque mot deux fois. Les apprenants notent le son ou montrent le bouton du doigt. Reprenez les erreurs avec le trio hut / huur / huis (diapo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Discriminer à l'oreille u, uu, eu, ui, oe, ou.
Lisez chaque mot deux fois. Les apprenants notent le son ou montrent le bouton du doigt. Reprenez les erreurs avec le trio hut / huur / huis (diapo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Fixer l'orthographe des mots fréquents en ij / ei.
Il n'y a pas de règle : ces mots s'apprennent. Astuce : la majorité des mots courants sont en ij (mijn, zijn, tijd, wijn). Faites une phrase avec chaque mot pour l'ancrage.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Fixer l'orthographe des mots fréquents en ij / ei.
Il n'y a pas de règle : ces mots s'apprennent. Astuce : la majorité des mots courants sont en ij (mijn, zijn, tijd, wijn). Faites une phrase avec chaque mot pour l'ancrage.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Classer des mots par son double (lecture et reconnaissance visuelle).
moeilijk contient oei et le piège -lijk : bonus de justification.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Classer des mots par son double (lecture et reconnaissance visuelle).
moeilijk contient oei et le piège -lijk : bonus de justification.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Automatiser les sons doubles par la répétition rythmée.
Déroulé : lecture lente, puis rapide, puis défi en binôme. La phrase 1 travaille ui, la 2 oe, la 3 ou et eeuw.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Reconnaître les sons dans un jeu collectif rapide (pause active).
Tirez les sons au hasard (cartes ou générateur). Le gagnant doit lire ses mots à voix haute correctement pour valider.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Transférer en situation réelle : dicter et noter des noms de villes au téléphone.
Correspondances : Luik = Liège, Hoei = Huy, Oudenaarde = Audenarde, Ieper = Ypres. Prolongement : dicter son adresse.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Vérifier les 3 objectifs.
Réponses :
1. ui, uu, u.
2. trein, tijd.
3. « vro-lek » (-lijk = « lek », e muet).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1 · UE1 · Module 6 · Tweeklanken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1 · UE1 · Module 6 · Tweeklanken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1 · UE1 · Langue en situation, en milieu professionnel · A. Jouniaux · IRAM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002231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MODULE 6 / 24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Tweeklanken</a:t>
            </a: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i="1" dirty="0">
                <a:solidFill>
                  <a:schemeClr val="bg2"/>
                </a:solidFill>
              </a:rPr>
              <a:t>Les sons doubles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huis · tijd · keuken · vrouw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040880" y="1143000"/>
            <a:ext cx="42062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635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hou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325880"/>
            <a:ext cx="1828800" cy="1828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040880" y="324612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</a:t>
            </a: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UI</a:t>
            </a:r>
            <a:r>
              <a:rPr lang="en-US" sz="5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</a:t>
            </a:r>
            <a:endParaRPr lang="en-US" sz="5400" dirty="0"/>
          </a:p>
        </p:txBody>
      </p:sp>
      <p:sp>
        <p:nvSpPr>
          <p:cNvPr id="8" name="Shape 5"/>
          <p:cNvSpPr/>
          <p:nvPr/>
        </p:nvSpPr>
        <p:spPr>
          <a:xfrm>
            <a:off x="7040880" y="4617720"/>
            <a:ext cx="1280160" cy="13258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alarm c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072" y="4681728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040880" y="52120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</a:t>
            </a: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ij</a:t>
            </a: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8503920" y="4617720"/>
            <a:ext cx="1280160" cy="13258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2" descr="cook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12" y="4681728"/>
            <a:ext cx="502920" cy="5029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503920" y="52120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</a:t>
            </a: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eu</a:t>
            </a: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ken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9966960" y="4617720"/>
            <a:ext cx="1280160" cy="13258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3" descr="woma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4681728"/>
            <a:ext cx="502920" cy="5029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966960" y="52120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vr</a:t>
            </a: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ou</a:t>
            </a: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Missie van vandaag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13155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MISSIE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24000" y="18745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HumanE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456" y="209397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Entendre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distingue </a:t>
            </a:r>
            <a:r>
              <a:rPr lang="en-US" sz="2000" i="1" dirty="0">
                <a:solidFill>
                  <a:schemeClr val="tx1"/>
                </a:solidFill>
              </a:rPr>
              <a:t>u, uu, eu, ui, oe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368808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63440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CommentDo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09397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7096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Prononcer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391668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fais « glisser » les sons doubles.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82752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02880" y="187452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Pencil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336" y="209397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1040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Écrire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705612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choisis entre </a:t>
            </a:r>
            <a:r>
              <a:rPr lang="en-US" sz="2000" i="1" dirty="0">
                <a:solidFill>
                  <a:schemeClr val="tx1"/>
                </a:solidFill>
              </a:rPr>
              <a:t>ij</a:t>
            </a:r>
            <a:r>
              <a:rPr lang="en-US" sz="2000" dirty="0">
                <a:solidFill>
                  <a:schemeClr val="tx1"/>
                </a:solidFill>
              </a:rPr>
              <a:t> et </a:t>
            </a:r>
            <a:r>
              <a:rPr lang="en-US" sz="2000" i="1" dirty="0">
                <a:solidFill>
                  <a:schemeClr val="tx1"/>
                </a:solidFill>
              </a:rPr>
              <a:t>ei</a:t>
            </a:r>
            <a:r>
              <a:rPr lang="en-US" sz="2000" dirty="0">
                <a:solidFill>
                  <a:schemeClr val="tx1"/>
                </a:solidFill>
              </a:rPr>
              <a:t>, entre </a:t>
            </a:r>
            <a:r>
              <a:rPr lang="en-US" sz="2000" i="1" dirty="0">
                <a:solidFill>
                  <a:schemeClr val="tx1"/>
                </a:solidFill>
              </a:rPr>
              <a:t>ou</a:t>
            </a:r>
            <a:r>
              <a:rPr lang="en-US" sz="2000" dirty="0">
                <a:solidFill>
                  <a:schemeClr val="tx1"/>
                </a:solidFill>
              </a:rPr>
              <a:t> et </a:t>
            </a:r>
            <a:r>
              <a:rPr lang="en-US" sz="2000" i="1" dirty="0">
                <a:solidFill>
                  <a:schemeClr val="tx1"/>
                </a:solidFill>
              </a:rPr>
              <a:t>au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pic>
        <p:nvPicPr>
          <p:cNvPr id="20" name="Image 3" descr="man teach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737360"/>
            <a:ext cx="1737360" cy="1737360"/>
          </a:xfrm>
          <a:prstGeom prst="rect">
            <a:avLst/>
          </a:prstGeom>
        </p:spPr>
      </p:pic>
      <p:pic>
        <p:nvPicPr>
          <p:cNvPr id="21" name="Image 4" descr="speech ballo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1463040"/>
            <a:ext cx="731520" cy="7315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17375E"/>
            </a:solidFill>
            <a:prstDash val="solid"/>
          </a:ln>
        </p:spPr>
      </p:sp>
      <p:pic>
        <p:nvPicPr>
          <p:cNvPr id="23" name="Image 5" descr="Lightbul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788152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88720" y="56692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Rappel du M1 : ces sons ne changent jamais au pluriel — </a:t>
            </a:r>
            <a:r>
              <a:rPr lang="en-US" sz="1700" i="1" dirty="0">
                <a:solidFill>
                  <a:schemeClr val="tx1"/>
                </a:solidFill>
              </a:rPr>
              <a:t>huis → huizen · tijd → tijden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Échauffement — long, court… ou double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70278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15568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905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94360" y="1600200"/>
            <a:ext cx="1024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kat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798625" y="1600200"/>
            <a:ext cx="1115568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905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1844345" y="1600200"/>
            <a:ext cx="1024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maan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048610" y="1600200"/>
            <a:ext cx="1115568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905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094330" y="1600200"/>
            <a:ext cx="1024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huis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298594" y="1600200"/>
            <a:ext cx="1115568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905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344314" y="1600200"/>
            <a:ext cx="1024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bus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548579" y="1600200"/>
            <a:ext cx="1115568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905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594299" y="1600200"/>
            <a:ext cx="1024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vuur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798564" y="1600200"/>
            <a:ext cx="1115568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905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44284" y="1600200"/>
            <a:ext cx="1024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tijd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048549" y="1600200"/>
            <a:ext cx="1115568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905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8094269" y="1600200"/>
            <a:ext cx="1024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pen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9298534" y="1600200"/>
            <a:ext cx="1115568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905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9344254" y="1600200"/>
            <a:ext cx="1024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boom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10548518" y="1600200"/>
            <a:ext cx="1115568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905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10594238" y="1600200"/>
            <a:ext cx="1024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vrouw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548640" y="2560320"/>
            <a:ext cx="3520440" cy="3703320"/>
          </a:xfrm>
          <a:prstGeom prst="roundRect">
            <a:avLst>
              <a:gd name="adj" fmla="val 2078"/>
            </a:avLst>
          </a:prstGeom>
          <a:solidFill>
            <a:schemeClr val="accent4">
              <a:alpha val="10000"/>
            </a:schemeClr>
          </a:solidFill>
          <a:ln w="25400">
            <a:solidFill>
              <a:srgbClr val="B4236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2560320"/>
            <a:ext cx="3520440" cy="64008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25603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COURT</a:t>
            </a:r>
            <a:endParaRPr lang="en-US" sz="2400" dirty="0"/>
          </a:p>
        </p:txBody>
      </p:sp>
      <p:pic>
        <p:nvPicPr>
          <p:cNvPr id="26" name="Image 0" descr="C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734056"/>
            <a:ext cx="292608" cy="292608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548640" y="3383280"/>
            <a:ext cx="3520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B8C2C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?</a:t>
            </a:r>
            <a:endParaRPr lang="en-US" sz="8000" dirty="0"/>
          </a:p>
        </p:txBody>
      </p:sp>
      <p:sp>
        <p:nvSpPr>
          <p:cNvPr id="28" name="Shape 24"/>
          <p:cNvSpPr/>
          <p:nvPr/>
        </p:nvSpPr>
        <p:spPr>
          <a:xfrm>
            <a:off x="4334256" y="2560320"/>
            <a:ext cx="3520440" cy="3703320"/>
          </a:xfrm>
          <a:prstGeom prst="roundRect">
            <a:avLst>
              <a:gd name="adj" fmla="val 2078"/>
            </a:avLst>
          </a:prstGeom>
          <a:solidFill>
            <a:schemeClr val="accent3">
              <a:alpha val="10000"/>
            </a:schemeClr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334256" y="2560320"/>
            <a:ext cx="352044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334256" y="25603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LONG</a:t>
            </a:r>
            <a:endParaRPr lang="en-US" sz="2400" dirty="0"/>
          </a:p>
        </p:txBody>
      </p:sp>
      <p:pic>
        <p:nvPicPr>
          <p:cNvPr id="31" name="Image 1" descr="ArrowsAlt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6" y="2734056"/>
            <a:ext cx="292608" cy="292608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4334256" y="3383280"/>
            <a:ext cx="3520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B8C2C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?</a:t>
            </a:r>
            <a:endParaRPr lang="en-US" sz="8000" dirty="0"/>
          </a:p>
        </p:txBody>
      </p:sp>
      <p:sp>
        <p:nvSpPr>
          <p:cNvPr id="33" name="Shape 28"/>
          <p:cNvSpPr/>
          <p:nvPr/>
        </p:nvSpPr>
        <p:spPr>
          <a:xfrm>
            <a:off x="8119872" y="2560320"/>
            <a:ext cx="3520440" cy="3703320"/>
          </a:xfrm>
          <a:prstGeom prst="roundRect">
            <a:avLst>
              <a:gd name="adj" fmla="val 2078"/>
            </a:avLst>
          </a:prstGeom>
          <a:solidFill>
            <a:schemeClr val="accent1">
              <a:alpha val="10000"/>
            </a:schemeClr>
          </a:solidFill>
          <a:ln w="25400">
            <a:solidFill>
              <a:srgbClr val="D9700F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8119872" y="2560320"/>
            <a:ext cx="35204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8119872" y="25603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DOUBLE</a:t>
            </a:r>
            <a:endParaRPr lang="en-US" sz="2400" dirty="0"/>
          </a:p>
        </p:txBody>
      </p:sp>
      <p:pic>
        <p:nvPicPr>
          <p:cNvPr id="36" name="Image 2" descr="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2734056"/>
            <a:ext cx="292608" cy="292608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8119872" y="3383280"/>
            <a:ext cx="3520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B8C2C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?</a:t>
            </a:r>
            <a:endParaRPr lang="en-US" sz="8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Échauffement — long, court… ou double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70278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428646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Les sons doubles ne changent </a:t>
            </a:r>
            <a:r>
              <a:rPr lang="en-US" sz="1900" b="1" dirty="0">
                <a:solidFill>
                  <a:schemeClr val="tx1"/>
                </a:solidFill>
              </a:rPr>
              <a:t>jamais</a:t>
            </a:r>
            <a:r>
              <a:rPr lang="en-US" sz="1900" dirty="0">
                <a:solidFill>
                  <a:schemeClr val="tx1"/>
                </a:solidFill>
              </a:rPr>
              <a:t> : </a:t>
            </a:r>
            <a:r>
              <a:rPr lang="en-US" sz="1900" i="1" dirty="0">
                <a:solidFill>
                  <a:schemeClr val="tx1"/>
                </a:solidFill>
              </a:rPr>
              <a:t>huis → huizen · tijd → tijden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3520440" cy="3703320"/>
          </a:xfrm>
          <a:prstGeom prst="roundRect">
            <a:avLst>
              <a:gd name="adj" fmla="val 2078"/>
            </a:avLst>
          </a:prstGeom>
          <a:solidFill>
            <a:schemeClr val="accent4">
              <a:alpha val="10000"/>
            </a:schemeClr>
          </a:solidFill>
          <a:ln w="25400">
            <a:solidFill>
              <a:srgbClr val="B4236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560320"/>
            <a:ext cx="3520440" cy="64008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5603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COURT</a:t>
            </a:r>
            <a:endParaRPr lang="en-US" sz="2400" dirty="0"/>
          </a:p>
        </p:txBody>
      </p:sp>
      <p:pic>
        <p:nvPicPr>
          <p:cNvPr id="10" name="Image 0" descr="C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73405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34290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</a:t>
            </a:r>
            <a:r>
              <a:rPr lang="en-US" sz="36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</a:t>
            </a: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</a:t>
            </a:r>
            <a:endParaRPr lang="en-US" sz="36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432511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</a:t>
            </a:r>
            <a:r>
              <a:rPr lang="en-US" sz="36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</a:t>
            </a: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221224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</a:t>
            </a:r>
            <a:r>
              <a:rPr lang="en-US" sz="36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</a:t>
            </a: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</a:t>
            </a:r>
            <a:endParaRPr lang="en-US" sz="3600" dirty="0"/>
          </a:p>
        </p:txBody>
      </p:sp>
      <p:sp>
        <p:nvSpPr>
          <p:cNvPr id="14" name="Shape 10"/>
          <p:cNvSpPr/>
          <p:nvPr/>
        </p:nvSpPr>
        <p:spPr>
          <a:xfrm>
            <a:off x="4334256" y="2560320"/>
            <a:ext cx="3520440" cy="3703320"/>
          </a:xfrm>
          <a:prstGeom prst="roundRect">
            <a:avLst>
              <a:gd name="adj" fmla="val 2078"/>
            </a:avLst>
          </a:prstGeom>
          <a:solidFill>
            <a:schemeClr val="accent3">
              <a:alpha val="10000"/>
            </a:schemeClr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334256" y="2560320"/>
            <a:ext cx="352044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334256" y="25603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LONG</a:t>
            </a:r>
            <a:endParaRPr lang="en-US" sz="2400" dirty="0"/>
          </a:p>
        </p:txBody>
      </p:sp>
      <p:pic>
        <p:nvPicPr>
          <p:cNvPr id="17" name="Image 1" descr="ArrowsAlt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6" y="273405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334256" y="34290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</a:t>
            </a:r>
            <a:r>
              <a:rPr lang="en-US" sz="3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aa</a:t>
            </a: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</a:t>
            </a:r>
            <a:endParaRPr lang="en-US" sz="3600" dirty="0"/>
          </a:p>
        </p:txBody>
      </p:sp>
      <p:sp>
        <p:nvSpPr>
          <p:cNvPr id="19" name="Text 14"/>
          <p:cNvSpPr txBox="1"/>
          <p:nvPr/>
        </p:nvSpPr>
        <p:spPr>
          <a:xfrm>
            <a:off x="4334256" y="432511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</a:t>
            </a:r>
            <a:r>
              <a:rPr lang="en-US" sz="3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uu</a:t>
            </a: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</a:t>
            </a:r>
            <a:endParaRPr lang="en-US" sz="3600" dirty="0"/>
          </a:p>
        </p:txBody>
      </p:sp>
      <p:sp>
        <p:nvSpPr>
          <p:cNvPr id="20" name="Text 15"/>
          <p:cNvSpPr txBox="1"/>
          <p:nvPr/>
        </p:nvSpPr>
        <p:spPr>
          <a:xfrm>
            <a:off x="4334256" y="5221224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</a:t>
            </a:r>
            <a:r>
              <a:rPr lang="en-US" sz="3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oo</a:t>
            </a: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</a:t>
            </a:r>
            <a:endParaRPr lang="en-US" sz="3600" dirty="0"/>
          </a:p>
        </p:txBody>
      </p:sp>
      <p:sp>
        <p:nvSpPr>
          <p:cNvPr id="21" name="Shape 16"/>
          <p:cNvSpPr/>
          <p:nvPr/>
        </p:nvSpPr>
        <p:spPr>
          <a:xfrm>
            <a:off x="8119872" y="2560320"/>
            <a:ext cx="3520440" cy="3703320"/>
          </a:xfrm>
          <a:prstGeom prst="roundRect">
            <a:avLst>
              <a:gd name="adj" fmla="val 2078"/>
            </a:avLst>
          </a:prstGeom>
          <a:solidFill>
            <a:schemeClr val="accent1">
              <a:alpha val="10000"/>
            </a:schemeClr>
          </a:solidFill>
          <a:ln w="25400">
            <a:solidFill>
              <a:srgbClr val="D9700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119872" y="2560320"/>
            <a:ext cx="35204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119872" y="25603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DOUBLE</a:t>
            </a:r>
            <a:endParaRPr lang="en-US" sz="2400" dirty="0"/>
          </a:p>
        </p:txBody>
      </p:sp>
      <p:pic>
        <p:nvPicPr>
          <p:cNvPr id="24" name="Image 2" descr="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2734056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119872" y="34290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</a:t>
            </a: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ui</a:t>
            </a: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</a:t>
            </a:r>
            <a:endParaRPr lang="en-US" sz="3600" dirty="0"/>
          </a:p>
        </p:txBody>
      </p:sp>
      <p:sp>
        <p:nvSpPr>
          <p:cNvPr id="26" name="Text 20"/>
          <p:cNvSpPr txBox="1"/>
          <p:nvPr/>
        </p:nvSpPr>
        <p:spPr>
          <a:xfrm>
            <a:off x="8119872" y="432511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</a:t>
            </a: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ij</a:t>
            </a: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</a:t>
            </a:r>
            <a:endParaRPr lang="en-US" sz="3600" dirty="0"/>
          </a:p>
        </p:txBody>
      </p:sp>
      <p:sp>
        <p:nvSpPr>
          <p:cNvPr id="27" name="Text 21"/>
          <p:cNvSpPr txBox="1"/>
          <p:nvPr/>
        </p:nvSpPr>
        <p:spPr>
          <a:xfrm>
            <a:off x="8119872" y="5221224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vr</a:t>
            </a: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ou</a:t>
            </a: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Un son double, c’est un son qui glisse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68450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PRONONCIATION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Un son double = </a:t>
            </a:r>
            <a:r>
              <a:rPr lang="en-US" sz="1900" b="1" dirty="0">
                <a:solidFill>
                  <a:schemeClr val="bg1"/>
                </a:solidFill>
              </a:rPr>
              <a:t>un seul son qui glisse</a:t>
            </a:r>
            <a:r>
              <a:rPr lang="en-US" sz="1900" dirty="0">
                <a:solidFill>
                  <a:schemeClr val="bg1"/>
                </a:solidFill>
              </a:rPr>
              <a:t> d’une position de la bouche à une autre.</a:t>
            </a:r>
            <a:endParaRPr lang="en-US" sz="1900" dirty="0"/>
          </a:p>
        </p:txBody>
      </p:sp>
      <p:pic>
        <p:nvPicPr>
          <p:cNvPr id="7" name="Image 0" descr="speaking 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71800"/>
            <a:ext cx="2103120" cy="21031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0" y="2331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départ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589520" y="2331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arrivée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017520" y="2990088"/>
            <a:ext cx="141732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017520" y="2990088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ui</a:t>
            </a:r>
            <a:endParaRPr lang="en-US" sz="2600" dirty="0"/>
          </a:p>
        </p:txBody>
      </p:sp>
      <p:sp>
        <p:nvSpPr>
          <p:cNvPr id="12" name="Shape 8"/>
          <p:cNvSpPr/>
          <p:nvPr/>
        </p:nvSpPr>
        <p:spPr>
          <a:xfrm>
            <a:off x="5212080" y="2606040"/>
            <a:ext cx="3017520" cy="768096"/>
          </a:xfrm>
          <a:prstGeom prst="arc">
            <a:avLst>
              <a:gd name="adj1" fmla="val 10800000"/>
              <a:gd name="adj2" fmla="val 21600000"/>
            </a:avLst>
          </a:prstGeom>
          <a:solidFill>
            <a:srgbClr val="FFFFFF">
              <a:alpha val="0"/>
            </a:srgbClr>
          </a:solidFill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777740" y="2990088"/>
            <a:ext cx="868680" cy="868680"/>
          </a:xfrm>
          <a:prstGeom prst="ellipse">
            <a:avLst/>
          </a:prstGeom>
          <a:solidFill>
            <a:schemeClr val="bg2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686300" y="2990088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« œ »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7795260" y="2990088"/>
            <a:ext cx="868680" cy="86868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703820" y="2990088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« u »</a:t>
            </a:r>
            <a:endParaRPr lang="en-US" sz="1700" dirty="0"/>
          </a:p>
        </p:txBody>
      </p:sp>
      <p:pic>
        <p:nvPicPr>
          <p:cNvPr id="17" name="Image 1" descr="hou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3035808"/>
            <a:ext cx="685800" cy="6858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921240" y="299008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huis</a:t>
            </a:r>
            <a:endParaRPr lang="en-US" sz="2600" dirty="0"/>
          </a:p>
        </p:txBody>
      </p:sp>
      <p:sp>
        <p:nvSpPr>
          <p:cNvPr id="19" name="Shape 14"/>
          <p:cNvSpPr/>
          <p:nvPr/>
        </p:nvSpPr>
        <p:spPr>
          <a:xfrm>
            <a:off x="3017520" y="4133088"/>
            <a:ext cx="141732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017520" y="4133088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ij / ei</a:t>
            </a:r>
            <a:endParaRPr lang="en-US" sz="2600" dirty="0"/>
          </a:p>
        </p:txBody>
      </p:sp>
      <p:sp>
        <p:nvSpPr>
          <p:cNvPr id="21" name="Shape 16"/>
          <p:cNvSpPr/>
          <p:nvPr/>
        </p:nvSpPr>
        <p:spPr>
          <a:xfrm>
            <a:off x="5212080" y="3749040"/>
            <a:ext cx="3017520" cy="768096"/>
          </a:xfrm>
          <a:prstGeom prst="arc">
            <a:avLst>
              <a:gd name="adj1" fmla="val 10800000"/>
              <a:gd name="adj2" fmla="val 21600000"/>
            </a:avLst>
          </a:prstGeom>
          <a:solidFill>
            <a:srgbClr val="FFFFFF">
              <a:alpha val="0"/>
            </a:srgbClr>
          </a:solidFill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4777740" y="4133088"/>
            <a:ext cx="868680" cy="868680"/>
          </a:xfrm>
          <a:prstGeom prst="ellipse">
            <a:avLst/>
          </a:prstGeom>
          <a:solidFill>
            <a:schemeClr val="bg2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686300" y="4133088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« è »</a:t>
            </a:r>
            <a:endParaRPr lang="en-US" sz="1700" dirty="0"/>
          </a:p>
        </p:txBody>
      </p:sp>
      <p:sp>
        <p:nvSpPr>
          <p:cNvPr id="24" name="Shape 19"/>
          <p:cNvSpPr/>
          <p:nvPr/>
        </p:nvSpPr>
        <p:spPr>
          <a:xfrm>
            <a:off x="7795260" y="4133088"/>
            <a:ext cx="868680" cy="86868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7703820" y="4133088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« i »</a:t>
            </a:r>
            <a:endParaRPr lang="en-US" sz="1700" dirty="0"/>
          </a:p>
        </p:txBody>
      </p:sp>
      <p:pic>
        <p:nvPicPr>
          <p:cNvPr id="26" name="Image 2" descr="alarm c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4178808"/>
            <a:ext cx="685800" cy="6858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921240" y="413308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tijd</a:t>
            </a:r>
            <a:endParaRPr lang="en-US" sz="2600" dirty="0"/>
          </a:p>
        </p:txBody>
      </p:sp>
      <p:sp>
        <p:nvSpPr>
          <p:cNvPr id="28" name="Shape 22"/>
          <p:cNvSpPr/>
          <p:nvPr/>
        </p:nvSpPr>
        <p:spPr>
          <a:xfrm>
            <a:off x="3017520" y="5276088"/>
            <a:ext cx="141732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3017520" y="5276088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ou / au</a:t>
            </a:r>
            <a:endParaRPr lang="en-US" sz="2600" dirty="0"/>
          </a:p>
        </p:txBody>
      </p:sp>
      <p:sp>
        <p:nvSpPr>
          <p:cNvPr id="30" name="Shape 24"/>
          <p:cNvSpPr/>
          <p:nvPr/>
        </p:nvSpPr>
        <p:spPr>
          <a:xfrm>
            <a:off x="5212080" y="4892040"/>
            <a:ext cx="3017520" cy="768096"/>
          </a:xfrm>
          <a:prstGeom prst="arc">
            <a:avLst>
              <a:gd name="adj1" fmla="val 10800000"/>
              <a:gd name="adj2" fmla="val 21600000"/>
            </a:avLst>
          </a:prstGeom>
          <a:solidFill>
            <a:srgbClr val="FFFFFF">
              <a:alpha val="0"/>
            </a:srgbClr>
          </a:solidFill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4777740" y="5276088"/>
            <a:ext cx="868680" cy="868680"/>
          </a:xfrm>
          <a:prstGeom prst="ellipse">
            <a:avLst/>
          </a:prstGeom>
          <a:solidFill>
            <a:schemeClr val="bg2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4686300" y="5276088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« a »</a:t>
            </a:r>
            <a:endParaRPr lang="en-US" sz="1700" dirty="0"/>
          </a:p>
        </p:txBody>
      </p:sp>
      <p:sp>
        <p:nvSpPr>
          <p:cNvPr id="33" name="Shape 27"/>
          <p:cNvSpPr/>
          <p:nvPr/>
        </p:nvSpPr>
        <p:spPr>
          <a:xfrm>
            <a:off x="7795260" y="5276088"/>
            <a:ext cx="868680" cy="86868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7703820" y="5276088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« ou »</a:t>
            </a:r>
            <a:endParaRPr lang="en-US" sz="1700" dirty="0"/>
          </a:p>
        </p:txBody>
      </p:sp>
      <p:pic>
        <p:nvPicPr>
          <p:cNvPr id="35" name="Image 3" descr="woma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5321808"/>
            <a:ext cx="685800" cy="68580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9921240" y="527608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vrouw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carte des sons doubles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6581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72768"/>
            <a:ext cx="2072030" cy="2176272"/>
          </a:xfrm>
          <a:prstGeom prst="roundRect">
            <a:avLst>
              <a:gd name="adj" fmla="val 353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48640" y="1645920"/>
            <a:ext cx="20720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ij / ei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94560"/>
            <a:ext cx="20720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« réveil »</a:t>
            </a:r>
            <a:endParaRPr lang="en-US" sz="1400" dirty="0"/>
          </a:p>
        </p:txBody>
      </p:sp>
      <p:pic>
        <p:nvPicPr>
          <p:cNvPr id="8" name="Image 0" descr="alarm 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8895" y="2532888"/>
            <a:ext cx="731520" cy="7315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3264408"/>
            <a:ext cx="20720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tijd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2803550" y="1572768"/>
            <a:ext cx="2072030" cy="2176272"/>
          </a:xfrm>
          <a:prstGeom prst="roundRect">
            <a:avLst>
              <a:gd name="adj" fmla="val 353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2803550" y="1645920"/>
            <a:ext cx="20720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ui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2803550" y="2194560"/>
            <a:ext cx="20720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« fauteuil »</a:t>
            </a:r>
            <a:endParaRPr lang="en-US" sz="1400" dirty="0"/>
          </a:p>
        </p:txBody>
      </p:sp>
      <p:pic>
        <p:nvPicPr>
          <p:cNvPr id="13" name="Image 1" descr="hou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806" y="2532888"/>
            <a:ext cx="731520" cy="7315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803550" y="3264408"/>
            <a:ext cx="20720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huis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5058461" y="1572768"/>
            <a:ext cx="2072030" cy="2176272"/>
          </a:xfrm>
          <a:prstGeom prst="roundRect">
            <a:avLst>
              <a:gd name="adj" fmla="val 353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>
            <a:off x="5058461" y="1645920"/>
            <a:ext cx="20720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eu</a:t>
            </a:r>
            <a:endParaRPr lang="en-US" sz="3000" dirty="0"/>
          </a:p>
        </p:txBody>
      </p:sp>
      <p:sp>
        <p:nvSpPr>
          <p:cNvPr id="17" name="Text 12"/>
          <p:cNvSpPr txBox="1"/>
          <p:nvPr/>
        </p:nvSpPr>
        <p:spPr>
          <a:xfrm>
            <a:off x="5058461" y="2194560"/>
            <a:ext cx="20720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« feu »</a:t>
            </a:r>
            <a:endParaRPr lang="en-US" sz="1400" dirty="0"/>
          </a:p>
        </p:txBody>
      </p:sp>
      <p:pic>
        <p:nvPicPr>
          <p:cNvPr id="18" name="Image 2" descr="cook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716" y="2532888"/>
            <a:ext cx="731520" cy="7315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058461" y="3264408"/>
            <a:ext cx="20720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keuken</a:t>
            </a:r>
            <a:endParaRPr lang="en-US" sz="2000" dirty="0"/>
          </a:p>
        </p:txBody>
      </p:sp>
      <p:sp>
        <p:nvSpPr>
          <p:cNvPr id="20" name="tag"/>
          <p:cNvSpPr/>
          <p:nvPr/>
        </p:nvSpPr>
        <p:spPr>
          <a:xfrm>
            <a:off x="5326380" y="1453896"/>
            <a:ext cx="1714500" cy="237744"/>
          </a:xfrm>
          <a:prstGeom prst="roundRect">
            <a:avLst>
              <a:gd name="adj" fmla="val 19231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sans glissement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7313371" y="1572768"/>
            <a:ext cx="2072030" cy="2176272"/>
          </a:xfrm>
          <a:prstGeom prst="roundRect">
            <a:avLst>
              <a:gd name="adj" fmla="val 353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2" name="Text 16"/>
          <p:cNvSpPr txBox="1"/>
          <p:nvPr/>
        </p:nvSpPr>
        <p:spPr>
          <a:xfrm>
            <a:off x="7313371" y="1645920"/>
            <a:ext cx="20720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oe</a:t>
            </a:r>
            <a:endParaRPr lang="en-US" sz="3000" dirty="0"/>
          </a:p>
        </p:txBody>
      </p:sp>
      <p:sp>
        <p:nvSpPr>
          <p:cNvPr id="23" name="Text 17"/>
          <p:cNvSpPr txBox="1"/>
          <p:nvPr/>
        </p:nvSpPr>
        <p:spPr>
          <a:xfrm>
            <a:off x="7313371" y="2194560"/>
            <a:ext cx="20720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« pour »</a:t>
            </a:r>
            <a:endParaRPr lang="en-US" sz="1400" dirty="0"/>
          </a:p>
        </p:txBody>
      </p:sp>
      <p:pic>
        <p:nvPicPr>
          <p:cNvPr id="24" name="Image 3" descr="open boo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3626" y="2532888"/>
            <a:ext cx="731520" cy="7315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313371" y="3264408"/>
            <a:ext cx="20720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boek</a:t>
            </a:r>
            <a:endParaRPr lang="en-US" sz="2000" dirty="0"/>
          </a:p>
        </p:txBody>
      </p:sp>
      <p:sp>
        <p:nvSpPr>
          <p:cNvPr id="26" name="tag"/>
          <p:cNvSpPr/>
          <p:nvPr/>
        </p:nvSpPr>
        <p:spPr>
          <a:xfrm>
            <a:off x="7581290" y="1453896"/>
            <a:ext cx="1714500" cy="237744"/>
          </a:xfrm>
          <a:prstGeom prst="roundRect">
            <a:avLst>
              <a:gd name="adj" fmla="val 19231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sans glissement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568282" y="1572768"/>
            <a:ext cx="2072030" cy="2176272"/>
          </a:xfrm>
          <a:prstGeom prst="roundRect">
            <a:avLst>
              <a:gd name="adj" fmla="val 353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8" name="Text 21"/>
          <p:cNvSpPr txBox="1"/>
          <p:nvPr/>
        </p:nvSpPr>
        <p:spPr>
          <a:xfrm>
            <a:off x="9568282" y="1645920"/>
            <a:ext cx="20720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ou / au</a:t>
            </a:r>
            <a:endParaRPr lang="en-US" sz="2600" dirty="0"/>
          </a:p>
        </p:txBody>
      </p:sp>
      <p:sp>
        <p:nvSpPr>
          <p:cNvPr id="29" name="Text 22"/>
          <p:cNvSpPr txBox="1"/>
          <p:nvPr/>
        </p:nvSpPr>
        <p:spPr>
          <a:xfrm>
            <a:off x="9568282" y="2194560"/>
            <a:ext cx="20720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« aou »</a:t>
            </a:r>
            <a:endParaRPr lang="en-US" sz="1400" dirty="0"/>
          </a:p>
        </p:txBody>
      </p:sp>
      <p:pic>
        <p:nvPicPr>
          <p:cNvPr id="30" name="Image 4" descr="woma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8537" y="2532888"/>
            <a:ext cx="731520" cy="7315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568282" y="3264408"/>
            <a:ext cx="20720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vrouw</a:t>
            </a:r>
            <a:endParaRPr lang="en-US" sz="2000" dirty="0"/>
          </a:p>
        </p:txBody>
      </p:sp>
      <p:sp>
        <p:nvSpPr>
          <p:cNvPr id="32" name="Shape 24"/>
          <p:cNvSpPr/>
          <p:nvPr/>
        </p:nvSpPr>
        <p:spPr>
          <a:xfrm>
            <a:off x="548640" y="4023360"/>
            <a:ext cx="2072030" cy="2176272"/>
          </a:xfrm>
          <a:prstGeom prst="roundRect">
            <a:avLst>
              <a:gd name="adj" fmla="val 3530"/>
            </a:avLst>
          </a:prstGeom>
          <a:solidFill>
            <a:srgbClr val="FDF1E6"/>
          </a:solidFill>
          <a:ln w="12700">
            <a:solidFill>
              <a:srgbClr val="F2C9A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3" name="Text 25"/>
          <p:cNvSpPr txBox="1"/>
          <p:nvPr/>
        </p:nvSpPr>
        <p:spPr>
          <a:xfrm>
            <a:off x="548640" y="4096512"/>
            <a:ext cx="20720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aai</a:t>
            </a:r>
            <a:endParaRPr lang="en-US" sz="30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4645152"/>
            <a:ext cx="20720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« aïe »</a:t>
            </a:r>
            <a:endParaRPr lang="en-US" sz="1400" dirty="0"/>
          </a:p>
        </p:txBody>
      </p:sp>
      <p:pic>
        <p:nvPicPr>
          <p:cNvPr id="35" name="Image 5" descr="yawning fac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8895" y="4983480"/>
            <a:ext cx="731520" cy="73152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48640" y="5715000"/>
            <a:ext cx="20720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saai</a:t>
            </a:r>
            <a:endParaRPr lang="en-US" sz="2000" dirty="0"/>
          </a:p>
        </p:txBody>
      </p:sp>
      <p:sp>
        <p:nvSpPr>
          <p:cNvPr id="37" name="Shape 28"/>
          <p:cNvSpPr/>
          <p:nvPr/>
        </p:nvSpPr>
        <p:spPr>
          <a:xfrm>
            <a:off x="2803550" y="4023360"/>
            <a:ext cx="2072030" cy="2176272"/>
          </a:xfrm>
          <a:prstGeom prst="roundRect">
            <a:avLst>
              <a:gd name="adj" fmla="val 3530"/>
            </a:avLst>
          </a:prstGeom>
          <a:solidFill>
            <a:srgbClr val="FDF1E6"/>
          </a:solidFill>
          <a:ln w="12700">
            <a:solidFill>
              <a:srgbClr val="F2C9A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8" name="Text 29"/>
          <p:cNvSpPr txBox="1"/>
          <p:nvPr/>
        </p:nvSpPr>
        <p:spPr>
          <a:xfrm>
            <a:off x="2803550" y="4096512"/>
            <a:ext cx="20720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ooi</a:t>
            </a:r>
            <a:endParaRPr lang="en-US" sz="3000" dirty="0"/>
          </a:p>
        </p:txBody>
      </p:sp>
      <p:sp>
        <p:nvSpPr>
          <p:cNvPr id="39" name="Text 30"/>
          <p:cNvSpPr txBox="1"/>
          <p:nvPr/>
        </p:nvSpPr>
        <p:spPr>
          <a:xfrm>
            <a:off x="2803550" y="4645152"/>
            <a:ext cx="20720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« ô-y »</a:t>
            </a:r>
            <a:endParaRPr lang="en-US" sz="1400" dirty="0"/>
          </a:p>
        </p:txBody>
      </p:sp>
      <p:pic>
        <p:nvPicPr>
          <p:cNvPr id="40" name="Image 6" descr="sparkle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3806" y="4983480"/>
            <a:ext cx="731520" cy="73152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2803550" y="5715000"/>
            <a:ext cx="20720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mooi</a:t>
            </a:r>
            <a:endParaRPr lang="en-US" sz="2000" dirty="0"/>
          </a:p>
        </p:txBody>
      </p:sp>
      <p:sp>
        <p:nvSpPr>
          <p:cNvPr id="42" name="Shape 32"/>
          <p:cNvSpPr/>
          <p:nvPr/>
        </p:nvSpPr>
        <p:spPr>
          <a:xfrm>
            <a:off x="5058461" y="4023360"/>
            <a:ext cx="2072030" cy="2176272"/>
          </a:xfrm>
          <a:prstGeom prst="roundRect">
            <a:avLst>
              <a:gd name="adj" fmla="val 3530"/>
            </a:avLst>
          </a:prstGeom>
          <a:solidFill>
            <a:srgbClr val="FDF1E6"/>
          </a:solidFill>
          <a:ln w="12700">
            <a:solidFill>
              <a:srgbClr val="F2C9A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3" name="Text 33"/>
          <p:cNvSpPr txBox="1"/>
          <p:nvPr/>
        </p:nvSpPr>
        <p:spPr>
          <a:xfrm>
            <a:off x="5058461" y="4096512"/>
            <a:ext cx="20720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oei</a:t>
            </a:r>
            <a:endParaRPr lang="en-US" sz="3000" dirty="0"/>
          </a:p>
        </p:txBody>
      </p:sp>
      <p:sp>
        <p:nvSpPr>
          <p:cNvPr id="44" name="Text 34"/>
          <p:cNvSpPr txBox="1"/>
          <p:nvPr/>
        </p:nvSpPr>
        <p:spPr>
          <a:xfrm>
            <a:off x="5058461" y="4645152"/>
            <a:ext cx="20720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« ouille »</a:t>
            </a:r>
            <a:endParaRPr lang="en-US" sz="1400" dirty="0"/>
          </a:p>
        </p:txBody>
      </p:sp>
      <p:pic>
        <p:nvPicPr>
          <p:cNvPr id="45" name="Image 7" descr="waving hand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8716" y="4983480"/>
            <a:ext cx="731520" cy="73152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5058461" y="5715000"/>
            <a:ext cx="20720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doei</a:t>
            </a:r>
            <a:endParaRPr lang="en-US" sz="2000" dirty="0"/>
          </a:p>
        </p:txBody>
      </p:sp>
      <p:sp>
        <p:nvSpPr>
          <p:cNvPr id="47" name="Shape 36"/>
          <p:cNvSpPr/>
          <p:nvPr/>
        </p:nvSpPr>
        <p:spPr>
          <a:xfrm>
            <a:off x="7313371" y="4023360"/>
            <a:ext cx="2072030" cy="2176272"/>
          </a:xfrm>
          <a:prstGeom prst="roundRect">
            <a:avLst>
              <a:gd name="adj" fmla="val 3530"/>
            </a:avLst>
          </a:prstGeom>
          <a:solidFill>
            <a:srgbClr val="FDF1E6"/>
          </a:solidFill>
          <a:ln w="12700">
            <a:solidFill>
              <a:srgbClr val="F2C9A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8" name="Text 37"/>
          <p:cNvSpPr txBox="1"/>
          <p:nvPr/>
        </p:nvSpPr>
        <p:spPr>
          <a:xfrm>
            <a:off x="7313371" y="4096512"/>
            <a:ext cx="20720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eeuw</a:t>
            </a:r>
            <a:endParaRPr lang="en-US" sz="3000" dirty="0"/>
          </a:p>
        </p:txBody>
      </p:sp>
      <p:sp>
        <p:nvSpPr>
          <p:cNvPr id="49" name="Text 38"/>
          <p:cNvSpPr txBox="1"/>
          <p:nvPr/>
        </p:nvSpPr>
        <p:spPr>
          <a:xfrm>
            <a:off x="7313371" y="4645152"/>
            <a:ext cx="20720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« é-ou »</a:t>
            </a:r>
            <a:endParaRPr lang="en-US" sz="1400" dirty="0"/>
          </a:p>
        </p:txBody>
      </p:sp>
      <p:pic>
        <p:nvPicPr>
          <p:cNvPr id="50" name="Image 8" descr="snowflak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83626" y="4983480"/>
            <a:ext cx="731520" cy="731520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7313371" y="5715000"/>
            <a:ext cx="20720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sneeuw</a:t>
            </a:r>
            <a:endParaRPr lang="en-US" sz="2000" dirty="0"/>
          </a:p>
        </p:txBody>
      </p:sp>
      <p:sp>
        <p:nvSpPr>
          <p:cNvPr id="52" name="Shape 40"/>
          <p:cNvSpPr/>
          <p:nvPr/>
        </p:nvSpPr>
        <p:spPr>
          <a:xfrm>
            <a:off x="9568282" y="4023360"/>
            <a:ext cx="2072030" cy="2176272"/>
          </a:xfrm>
          <a:prstGeom prst="roundRect">
            <a:avLst>
              <a:gd name="adj" fmla="val 3530"/>
            </a:avLst>
          </a:prstGeom>
          <a:solidFill>
            <a:srgbClr val="FDF1E6"/>
          </a:solidFill>
          <a:ln w="12700">
            <a:solidFill>
              <a:srgbClr val="F2C9A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53" name="Text 41"/>
          <p:cNvSpPr txBox="1"/>
          <p:nvPr/>
        </p:nvSpPr>
        <p:spPr>
          <a:xfrm>
            <a:off x="9568282" y="4096512"/>
            <a:ext cx="20720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ieuw</a:t>
            </a:r>
            <a:endParaRPr lang="en-US" sz="3000" dirty="0"/>
          </a:p>
        </p:txBody>
      </p:sp>
      <p:sp>
        <p:nvSpPr>
          <p:cNvPr id="54" name="Text 42"/>
          <p:cNvSpPr txBox="1"/>
          <p:nvPr/>
        </p:nvSpPr>
        <p:spPr>
          <a:xfrm>
            <a:off x="9568282" y="4645152"/>
            <a:ext cx="20720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« i-ou »</a:t>
            </a:r>
            <a:endParaRPr lang="en-US" sz="1400" dirty="0"/>
          </a:p>
        </p:txBody>
      </p:sp>
      <p:pic>
        <p:nvPicPr>
          <p:cNvPr id="55" name="Image 9" descr="new butt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38537" y="4983480"/>
            <a:ext cx="731520" cy="731520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9568282" y="5715000"/>
            <a:ext cx="20720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nieuw</a:t>
            </a:r>
            <a:endParaRPr lang="en-US" sz="2000" dirty="0"/>
          </a:p>
        </p:txBody>
      </p:sp>
      <p:sp>
        <p:nvSpPr>
          <p:cNvPr id="57" name="tag"/>
          <p:cNvSpPr/>
          <p:nvPr/>
        </p:nvSpPr>
        <p:spPr>
          <a:xfrm>
            <a:off x="548640" y="3758184"/>
            <a:ext cx="3332988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3 lettres : voyelle + glissade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ij et ei : un son, deux écritures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68450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PRONONCIATION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4846320" cy="2331720"/>
          </a:xfrm>
          <a:prstGeom prst="roundRect">
            <a:avLst>
              <a:gd name="adj" fmla="val 3137"/>
            </a:avLst>
          </a:prstGeom>
          <a:solidFill>
            <a:schemeClr val="bg1"/>
          </a:solidFill>
          <a:ln w="317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54480"/>
            <a:ext cx="484632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5544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lange ij</a:t>
            </a:r>
            <a:endParaRPr lang="en-US" sz="2000" dirty="0"/>
          </a:p>
        </p:txBody>
      </p:sp>
      <p:pic>
        <p:nvPicPr>
          <p:cNvPr id="8" name="Image 0" descr="alarm 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1581912"/>
            <a:ext cx="512064" cy="512064"/>
          </a:xfrm>
          <a:prstGeom prst="rect">
            <a:avLst/>
          </a:prstGeom>
        </p:spPr>
      </p:pic>
      <p:pic>
        <p:nvPicPr>
          <p:cNvPr id="9" name="Image 1" descr="wine gla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581912"/>
            <a:ext cx="512064" cy="51206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68680" y="22128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</a:t>
            </a: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ij</a:t>
            </a: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</a:t>
            </a:r>
            <a:endParaRPr lang="en-US" sz="2800" dirty="0"/>
          </a:p>
        </p:txBody>
      </p:sp>
      <p:sp>
        <p:nvSpPr>
          <p:cNvPr id="11" name="Text 6"/>
          <p:cNvSpPr txBox="1"/>
          <p:nvPr/>
        </p:nvSpPr>
        <p:spPr>
          <a:xfrm>
            <a:off x="3108960" y="22128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</a:t>
            </a: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ij</a:t>
            </a: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</a:t>
            </a:r>
            <a:endParaRPr lang="en-US" sz="2800" dirty="0"/>
          </a:p>
        </p:txBody>
      </p:sp>
      <p:sp>
        <p:nvSpPr>
          <p:cNvPr id="12" name="Text 7"/>
          <p:cNvSpPr txBox="1"/>
          <p:nvPr/>
        </p:nvSpPr>
        <p:spPr>
          <a:xfrm>
            <a:off x="868680" y="2834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</a:t>
            </a: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ij</a:t>
            </a: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</a:t>
            </a: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3108960" y="2834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Kortr</a:t>
            </a: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ij</a:t>
            </a: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</a:t>
            </a:r>
            <a:endParaRPr lang="en-US" sz="2800" dirty="0"/>
          </a:p>
        </p:txBody>
      </p:sp>
      <p:sp>
        <p:nvSpPr>
          <p:cNvPr id="14" name="Text 9"/>
          <p:cNvSpPr txBox="1"/>
          <p:nvPr/>
        </p:nvSpPr>
        <p:spPr>
          <a:xfrm>
            <a:off x="822960" y="34472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mon · le vin · le temps · Courtrai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793992" y="1554480"/>
            <a:ext cx="4846320" cy="2331720"/>
          </a:xfrm>
          <a:prstGeom prst="roundRect">
            <a:avLst>
              <a:gd name="adj" fmla="val 3137"/>
            </a:avLst>
          </a:prstGeom>
          <a:solidFill>
            <a:schemeClr val="bg1"/>
          </a:solidFill>
          <a:ln w="3175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793992" y="1554480"/>
            <a:ext cx="484632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022592" y="15544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korte ei</a:t>
            </a:r>
            <a:endParaRPr lang="en-US" sz="2000" dirty="0"/>
          </a:p>
        </p:txBody>
      </p:sp>
      <p:pic>
        <p:nvPicPr>
          <p:cNvPr id="18" name="Image 2" descr="tra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581912"/>
            <a:ext cx="512064" cy="51206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14032" y="22128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kl</a:t>
            </a: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ei</a:t>
            </a: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</a:t>
            </a:r>
            <a:endParaRPr lang="en-US" sz="2800" dirty="0"/>
          </a:p>
        </p:txBody>
      </p:sp>
      <p:sp>
        <p:nvSpPr>
          <p:cNvPr id="20" name="Text 14"/>
          <p:cNvSpPr txBox="1"/>
          <p:nvPr/>
        </p:nvSpPr>
        <p:spPr>
          <a:xfrm>
            <a:off x="9354312" y="22128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tr</a:t>
            </a: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ei</a:t>
            </a: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</a:t>
            </a:r>
            <a:endParaRPr lang="en-US" sz="2800" dirty="0"/>
          </a:p>
        </p:txBody>
      </p:sp>
      <p:sp>
        <p:nvSpPr>
          <p:cNvPr id="21" name="Text 15"/>
          <p:cNvSpPr txBox="1"/>
          <p:nvPr/>
        </p:nvSpPr>
        <p:spPr>
          <a:xfrm>
            <a:off x="7114032" y="2834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</a:t>
            </a: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ei</a:t>
            </a: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nig</a:t>
            </a:r>
            <a:endParaRPr lang="en-US" sz="2800" dirty="0"/>
          </a:p>
        </p:txBody>
      </p:sp>
      <p:sp>
        <p:nvSpPr>
          <p:cNvPr id="22" name="Text 16"/>
          <p:cNvSpPr txBox="1"/>
          <p:nvPr/>
        </p:nvSpPr>
        <p:spPr>
          <a:xfrm>
            <a:off x="9354312" y="2834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</a:t>
            </a: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ei</a:t>
            </a: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</a:t>
            </a:r>
            <a:endParaRPr lang="en-US" sz="2800" dirty="0"/>
          </a:p>
        </p:txBody>
      </p:sp>
      <p:sp>
        <p:nvSpPr>
          <p:cNvPr id="23" name="Text 17"/>
          <p:cNvSpPr txBox="1"/>
          <p:nvPr/>
        </p:nvSpPr>
        <p:spPr>
          <a:xfrm>
            <a:off x="7068312" y="34472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petit · le train · peu · le voyage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440680" y="2336292"/>
            <a:ext cx="1307592" cy="76809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5440680" y="2263140"/>
            <a:ext cx="1307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=</a:t>
            </a:r>
            <a:endParaRPr lang="en-US" sz="3000" dirty="0"/>
          </a:p>
        </p:txBody>
      </p:sp>
      <p:sp>
        <p:nvSpPr>
          <p:cNvPr id="26" name="Text 20"/>
          <p:cNvSpPr txBox="1"/>
          <p:nvPr/>
        </p:nvSpPr>
        <p:spPr>
          <a:xfrm>
            <a:off x="5394960" y="3150108"/>
            <a:ext cx="1399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même son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« è-i »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3959352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À l’écrit, aucune règle : il faut </a:t>
            </a:r>
            <a:r>
              <a:rPr lang="en-US" sz="1700" b="1" dirty="0">
                <a:solidFill>
                  <a:schemeClr val="tx1"/>
                </a:solidFill>
              </a:rPr>
              <a:t>apprendre</a:t>
            </a:r>
            <a:r>
              <a:rPr lang="en-US" sz="1700" dirty="0">
                <a:solidFill>
                  <a:schemeClr val="tx1"/>
                </a:solidFill>
              </a:rPr>
              <a:t> le mot. À la dictée : </a:t>
            </a:r>
            <a:r>
              <a:rPr lang="en-US" sz="1700" i="1" dirty="0">
                <a:solidFill>
                  <a:schemeClr val="tx1"/>
                </a:solidFill>
              </a:rPr>
              <a:t>Lange ij of korte ei?</a:t>
            </a:r>
            <a:endParaRPr lang="en-US" sz="1700" dirty="0"/>
          </a:p>
        </p:txBody>
      </p:sp>
      <p:sp>
        <p:nvSpPr>
          <p:cNvPr id="28" name="Shape 22"/>
          <p:cNvSpPr/>
          <p:nvPr/>
        </p:nvSpPr>
        <p:spPr>
          <a:xfrm>
            <a:off x="548640" y="4434840"/>
            <a:ext cx="11091672" cy="1828800"/>
          </a:xfrm>
          <a:prstGeom prst="roundRect">
            <a:avLst>
              <a:gd name="adj" fmla="val 4000"/>
            </a:avLst>
          </a:prstGeom>
          <a:solidFill>
            <a:schemeClr val="accent6">
              <a:alpha val="7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29" name="tag"/>
          <p:cNvSpPr/>
          <p:nvPr/>
        </p:nvSpPr>
        <p:spPr>
          <a:xfrm>
            <a:off x="731520" y="4599432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822960" y="4937760"/>
            <a:ext cx="1054303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vro</a:t>
            </a:r>
            <a:r>
              <a:rPr lang="en-US" sz="2000" b="1" dirty="0">
                <a:solidFill>
                  <a:schemeClr val="tx1"/>
                </a:solidFill>
              </a:rPr>
              <a:t>lijk</a:t>
            </a:r>
            <a:r>
              <a:rPr lang="en-US" sz="2000" dirty="0">
                <a:solidFill>
                  <a:schemeClr val="tx1"/>
                </a:solidFill>
              </a:rPr>
              <a:t> → </a:t>
            </a:r>
            <a:r>
              <a:rPr lang="en-US" sz="2000" strike="sngStrike" dirty="0">
                <a:solidFill>
                  <a:schemeClr val="accent6"/>
                </a:solidFill>
              </a:rPr>
              <a:t>« vro-lèik »</a:t>
            </a:r>
            <a:endParaRPr lang="en-US" sz="2000" dirty="0"/>
          </a:p>
        </p:txBody>
      </p:sp>
      <p:pic>
        <p:nvPicPr>
          <p:cNvPr id="31" name="Image 3" descr="ArrowDow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445252"/>
            <a:ext cx="237744" cy="237744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777240" y="5673852"/>
            <a:ext cx="10634472" cy="489204"/>
          </a:xfrm>
          <a:prstGeom prst="roundRect">
            <a:avLst>
              <a:gd name="adj" fmla="val 14953"/>
            </a:avLst>
          </a:prstGeom>
          <a:solidFill>
            <a:schemeClr val="accent3">
              <a:alpha val="12000"/>
            </a:scheme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914400" y="5673852"/>
            <a:ext cx="1036015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-lijk</a:t>
            </a:r>
            <a:r>
              <a:rPr lang="en-US" sz="2000" dirty="0">
                <a:solidFill>
                  <a:schemeClr val="tx1"/>
                </a:solidFill>
              </a:rPr>
              <a:t> se prononce « -lek » (e muet, ≠ </a:t>
            </a:r>
            <a:r>
              <a:rPr lang="en-US" sz="2000" i="1" dirty="0">
                <a:solidFill>
                  <a:schemeClr val="tx1"/>
                </a:solidFill>
              </a:rPr>
              <a:t>leuk</a:t>
            </a:r>
            <a:r>
              <a:rPr lang="en-US" sz="2000" dirty="0">
                <a:solidFill>
                  <a:schemeClr val="tx1"/>
                </a:solidFill>
              </a:rPr>
              <a:t>) : </a:t>
            </a:r>
            <a:r>
              <a:rPr lang="en-US" sz="2000" i="1" dirty="0">
                <a:solidFill>
                  <a:schemeClr val="tx1"/>
                </a:solidFill>
              </a:rPr>
              <a:t>vrolijk · moeilijk · natuurlijk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ui : le son roi du néerlandais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68450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PRONONCIATION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1828800" y="1463040"/>
            <a:ext cx="2194560" cy="640080"/>
          </a:xfrm>
          <a:prstGeom prst="arc">
            <a:avLst>
              <a:gd name="adj1" fmla="val 10800000"/>
              <a:gd name="adj2" fmla="val 21600000"/>
            </a:avLst>
          </a:prstGeom>
          <a:solidFill>
            <a:srgbClr val="FFFFFF">
              <a:alpha val="0"/>
            </a:srgbClr>
          </a:solidFill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6" name="Shape 3"/>
          <p:cNvSpPr/>
          <p:nvPr/>
        </p:nvSpPr>
        <p:spPr>
          <a:xfrm>
            <a:off x="1499616" y="1783080"/>
            <a:ext cx="658368" cy="566928"/>
          </a:xfrm>
          <a:prstGeom prst="ellipse">
            <a:avLst/>
          </a:prstGeom>
          <a:solidFill>
            <a:schemeClr val="bg2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499616" y="178308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« œ »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94176" y="1783080"/>
            <a:ext cx="658368" cy="566928"/>
          </a:xfrm>
          <a:prstGeom prst="ellipse">
            <a:avLst/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94176" y="178308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« u »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54880" y="16002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ui</a:t>
            </a:r>
            <a:r>
              <a:rPr lang="en-US" sz="1900" dirty="0">
                <a:solidFill>
                  <a:schemeClr val="tx1"/>
                </a:solidFill>
              </a:rPr>
              <a:t> = « œ » qui glisse vers « u », lèvres arrondies. Ni « oui », ni « ui » français !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48640" y="2514600"/>
            <a:ext cx="329184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3810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2" name="Image 0" descr="h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5940" y="2624328"/>
            <a:ext cx="777240" cy="7772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8640" y="34290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</a:t>
            </a:r>
            <a:r>
              <a:rPr lang="en-US" sz="38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</a:t>
            </a:r>
            <a:r>
              <a:rPr lang="en-US" sz="3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</a:t>
            </a:r>
            <a:endParaRPr lang="en-US" sz="38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4142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la cabane</a:t>
            </a:r>
            <a:endParaRPr lang="en-US" sz="1500" dirty="0"/>
          </a:p>
        </p:txBody>
      </p:sp>
      <p:sp>
        <p:nvSpPr>
          <p:cNvPr id="15" name="tag"/>
          <p:cNvSpPr/>
          <p:nvPr/>
        </p:nvSpPr>
        <p:spPr>
          <a:xfrm>
            <a:off x="2582266" y="4178808"/>
            <a:ext cx="1121054" cy="292608"/>
          </a:xfrm>
          <a:prstGeom prst="roundRect">
            <a:avLst>
              <a:gd name="adj" fmla="val 15625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u court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840480" y="3246120"/>
            <a:ext cx="603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≠</a:t>
            </a:r>
            <a:endParaRPr lang="en-US" sz="3000" dirty="0"/>
          </a:p>
        </p:txBody>
      </p:sp>
      <p:sp>
        <p:nvSpPr>
          <p:cNvPr id="17" name="Shape 13"/>
          <p:cNvSpPr/>
          <p:nvPr/>
        </p:nvSpPr>
        <p:spPr>
          <a:xfrm>
            <a:off x="4443984" y="2514600"/>
            <a:ext cx="329184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381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8" name="Image 1" descr="ke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944" y="2624328"/>
            <a:ext cx="777240" cy="777240"/>
          </a:xfrm>
          <a:prstGeom prst="rect">
            <a:avLst/>
          </a:prstGeom>
        </p:spPr>
      </p:pic>
      <p:pic>
        <p:nvPicPr>
          <p:cNvPr id="19" name="Image 2" descr="euro bankno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2624328"/>
            <a:ext cx="777240" cy="7772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443984" y="34290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</a:t>
            </a:r>
            <a:r>
              <a:rPr lang="en-US" sz="3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uu</a:t>
            </a:r>
            <a:r>
              <a:rPr lang="en-US" sz="3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</a:t>
            </a:r>
            <a:endParaRPr lang="en-US" sz="3800" dirty="0"/>
          </a:p>
        </p:txBody>
      </p:sp>
      <p:sp>
        <p:nvSpPr>
          <p:cNvPr id="21" name="Text 15"/>
          <p:cNvSpPr txBox="1"/>
          <p:nvPr/>
        </p:nvSpPr>
        <p:spPr>
          <a:xfrm>
            <a:off x="4581144" y="4142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le loyer</a:t>
            </a:r>
            <a:endParaRPr lang="en-US" sz="1500" dirty="0"/>
          </a:p>
        </p:txBody>
      </p:sp>
      <p:sp>
        <p:nvSpPr>
          <p:cNvPr id="22" name="tag"/>
          <p:cNvSpPr/>
          <p:nvPr/>
        </p:nvSpPr>
        <p:spPr>
          <a:xfrm>
            <a:off x="6477610" y="4178808"/>
            <a:ext cx="1121054" cy="292608"/>
          </a:xfrm>
          <a:prstGeom prst="roundRect">
            <a:avLst>
              <a:gd name="adj" fmla="val 1562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uu long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7735824" y="3246120"/>
            <a:ext cx="603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≠</a:t>
            </a:r>
            <a:endParaRPr lang="en-US" sz="3000" dirty="0"/>
          </a:p>
        </p:txBody>
      </p:sp>
      <p:sp>
        <p:nvSpPr>
          <p:cNvPr id="24" name="Shape 18"/>
          <p:cNvSpPr/>
          <p:nvPr/>
        </p:nvSpPr>
        <p:spPr>
          <a:xfrm>
            <a:off x="8339328" y="2514600"/>
            <a:ext cx="329184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381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5" name="Image 3" descr="hou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6628" y="2624328"/>
            <a:ext cx="777240" cy="7772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339328" y="34290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</a:t>
            </a: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ui</a:t>
            </a:r>
            <a:r>
              <a:rPr lang="en-US" sz="3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</a:t>
            </a:r>
            <a:endParaRPr lang="en-US" sz="3800" dirty="0"/>
          </a:p>
        </p:txBody>
      </p:sp>
      <p:sp>
        <p:nvSpPr>
          <p:cNvPr id="27" name="Text 20"/>
          <p:cNvSpPr txBox="1"/>
          <p:nvPr/>
        </p:nvSpPr>
        <p:spPr>
          <a:xfrm>
            <a:off x="8476488" y="4142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la maison</a:t>
            </a:r>
            <a:endParaRPr lang="en-US" sz="1500" dirty="0"/>
          </a:p>
        </p:txBody>
      </p:sp>
      <p:sp>
        <p:nvSpPr>
          <p:cNvPr id="28" name="tag"/>
          <p:cNvSpPr/>
          <p:nvPr/>
        </p:nvSpPr>
        <p:spPr>
          <a:xfrm>
            <a:off x="10157155" y="4178808"/>
            <a:ext cx="1336853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ui double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548640" y="484632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0" name="Image 4" descr="national par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148072"/>
            <a:ext cx="777240" cy="7772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554480" y="50292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</a:t>
            </a: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ui</a:t>
            </a: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ten</a:t>
            </a:r>
            <a:endParaRPr lang="en-US" sz="2400" dirty="0"/>
          </a:p>
        </p:txBody>
      </p:sp>
      <p:sp>
        <p:nvSpPr>
          <p:cNvPr id="32" name="Text 24"/>
          <p:cNvSpPr txBox="1"/>
          <p:nvPr/>
        </p:nvSpPr>
        <p:spPr>
          <a:xfrm>
            <a:off x="1554480" y="5623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dehors</a:t>
            </a:r>
            <a:endParaRPr lang="en-US" sz="1400" dirty="0"/>
          </a:p>
        </p:txBody>
      </p:sp>
      <p:sp>
        <p:nvSpPr>
          <p:cNvPr id="33" name="Shape 25"/>
          <p:cNvSpPr/>
          <p:nvPr/>
        </p:nvSpPr>
        <p:spPr>
          <a:xfrm>
            <a:off x="3364992" y="484632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4" name="Image 5" descr="cand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2152" y="5148072"/>
            <a:ext cx="777240" cy="77724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4370832" y="50292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</a:t>
            </a: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ui</a:t>
            </a: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ker</a:t>
            </a:r>
            <a:endParaRPr lang="en-US" sz="2400" dirty="0"/>
          </a:p>
        </p:txBody>
      </p:sp>
      <p:sp>
        <p:nvSpPr>
          <p:cNvPr id="36" name="Text 27"/>
          <p:cNvSpPr txBox="1"/>
          <p:nvPr/>
        </p:nvSpPr>
        <p:spPr>
          <a:xfrm>
            <a:off x="4370832" y="5623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 sucre</a:t>
            </a:r>
            <a:endParaRPr lang="en-US" sz="1400" dirty="0"/>
          </a:p>
        </p:txBody>
      </p:sp>
      <p:sp>
        <p:nvSpPr>
          <p:cNvPr id="37" name="Shape 28"/>
          <p:cNvSpPr/>
          <p:nvPr/>
        </p:nvSpPr>
        <p:spPr>
          <a:xfrm>
            <a:off x="6181344" y="484632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8" name="Image 6" descr="sunflow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8504" y="5148072"/>
            <a:ext cx="777240" cy="77724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7187184" y="50292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</a:t>
            </a: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ui</a:t>
            </a: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</a:t>
            </a:r>
            <a:endParaRPr lang="en-US" sz="2400" dirty="0"/>
          </a:p>
        </p:txBody>
      </p:sp>
      <p:sp>
        <p:nvSpPr>
          <p:cNvPr id="40" name="Text 30"/>
          <p:cNvSpPr txBox="1"/>
          <p:nvPr/>
        </p:nvSpPr>
        <p:spPr>
          <a:xfrm>
            <a:off x="7187184" y="5623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 jardin</a:t>
            </a:r>
            <a:endParaRPr lang="en-US" sz="1400" dirty="0"/>
          </a:p>
        </p:txBody>
      </p:sp>
      <p:sp>
        <p:nvSpPr>
          <p:cNvPr id="41" name="Shape 31"/>
          <p:cNvSpPr/>
          <p:nvPr/>
        </p:nvSpPr>
        <p:spPr>
          <a:xfrm>
            <a:off x="8997696" y="484632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42" name="Image 7" descr="round pushpi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4856" y="5148072"/>
            <a:ext cx="777240" cy="77724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10003536" y="50292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</a:t>
            </a: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ui</a:t>
            </a: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</a:t>
            </a:r>
            <a:endParaRPr lang="en-US" sz="2400" dirty="0"/>
          </a:p>
        </p:txBody>
      </p:sp>
      <p:sp>
        <p:nvSpPr>
          <p:cNvPr id="44" name="Text 33"/>
          <p:cNvSpPr txBox="1"/>
          <p:nvPr/>
        </p:nvSpPr>
        <p:spPr>
          <a:xfrm>
            <a:off x="10003536" y="5623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Liège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u, uu, eu — trois sons différents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4709160"/>
          </a:xfrm>
          <a:prstGeom prst="roundRect">
            <a:avLst>
              <a:gd name="adj" fmla="val 1553"/>
            </a:avLst>
          </a:prstGeom>
          <a:solidFill>
            <a:schemeClr val="accent6">
              <a:alpha val="6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731520" y="1691640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68680" y="2148840"/>
            <a:ext cx="3291840" cy="3063240"/>
          </a:xfrm>
          <a:prstGeom prst="roundRect">
            <a:avLst>
              <a:gd name="adj" fmla="val 2388"/>
            </a:avLst>
          </a:prstGeom>
          <a:solidFill>
            <a:schemeClr val="bg1"/>
          </a:solidFill>
          <a:ln w="2540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51560" y="2331720"/>
            <a:ext cx="868680" cy="86868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51560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</a:t>
            </a:r>
            <a:endParaRPr lang="en-US" sz="2800" dirty="0"/>
          </a:p>
        </p:txBody>
      </p:sp>
      <p:pic>
        <p:nvPicPr>
          <p:cNvPr id="10" name="Image 0" descr="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2331720"/>
            <a:ext cx="868680" cy="8686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05840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</a:t>
            </a:r>
            <a:r>
              <a:rPr lang="en-US" sz="30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</a:t>
            </a:r>
            <a:r>
              <a:rPr lang="en-US" sz="3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1051560" y="4087368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strike="sngStrike" dirty="0">
                <a:solidFill>
                  <a:schemeClr val="accent6"/>
                </a:solidFill>
              </a:rPr>
              <a:t>« u » français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→ « </a:t>
            </a:r>
            <a:r>
              <a:rPr lang="en-US" sz="1600" b="1" dirty="0">
                <a:solidFill>
                  <a:schemeClr val="tx1"/>
                </a:solidFill>
              </a:rPr>
              <a:t>eu</a:t>
            </a:r>
            <a:r>
              <a:rPr lang="en-US" sz="1600" dirty="0">
                <a:solidFill>
                  <a:schemeClr val="tx1"/>
                </a:solidFill>
              </a:rPr>
              <a:t> » bref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480560" y="2148840"/>
            <a:ext cx="3291840" cy="3063240"/>
          </a:xfrm>
          <a:prstGeom prst="roundRect">
            <a:avLst>
              <a:gd name="adj" fmla="val 2388"/>
            </a:avLst>
          </a:prstGeom>
          <a:solidFill>
            <a:schemeClr val="bg1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63440" y="233172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663440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uu</a:t>
            </a:r>
            <a:endParaRPr lang="en-US" sz="2800" dirty="0"/>
          </a:p>
        </p:txBody>
      </p:sp>
      <p:pic>
        <p:nvPicPr>
          <p:cNvPr id="16" name="Image 1" descr="fi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331720"/>
            <a:ext cx="868680" cy="8686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617720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</a:t>
            </a:r>
            <a:r>
              <a:rPr lang="en-US" sz="3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uu</a:t>
            </a:r>
            <a:r>
              <a:rPr lang="en-US" sz="3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</a:t>
            </a:r>
            <a:endParaRPr lang="en-US" sz="3000" dirty="0"/>
          </a:p>
        </p:txBody>
      </p:sp>
      <p:sp>
        <p:nvSpPr>
          <p:cNvPr id="18" name="Text 13"/>
          <p:cNvSpPr txBox="1"/>
          <p:nvPr/>
        </p:nvSpPr>
        <p:spPr>
          <a:xfrm>
            <a:off x="4663440" y="4087368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= « </a:t>
            </a:r>
            <a:r>
              <a:rPr lang="en-US" sz="1600" b="1" dirty="0">
                <a:solidFill>
                  <a:schemeClr val="tx1"/>
                </a:solidFill>
              </a:rPr>
              <a:t>u</a:t>
            </a:r>
            <a:r>
              <a:rPr lang="en-US" sz="1600" dirty="0">
                <a:solidFill>
                  <a:schemeClr val="tx1"/>
                </a:solidFill>
              </a:rPr>
              <a:t> » français…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→ long devant </a:t>
            </a:r>
            <a:r>
              <a:rPr lang="en-US" sz="1600" b="1" dirty="0">
                <a:solidFill>
                  <a:schemeClr val="tx1"/>
                </a:solidFill>
              </a:rPr>
              <a:t>r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8092440" y="2148840"/>
            <a:ext cx="3291840" cy="3063240"/>
          </a:xfrm>
          <a:prstGeom prst="roundRect">
            <a:avLst>
              <a:gd name="adj" fmla="val 2388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75320" y="233172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275320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eu</a:t>
            </a:r>
            <a:endParaRPr lang="en-US" sz="2800" dirty="0"/>
          </a:p>
        </p:txBody>
      </p:sp>
      <p:pic>
        <p:nvPicPr>
          <p:cNvPr id="22" name="Image 2" descr="no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2331720"/>
            <a:ext cx="868680" cy="8686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229600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</a:t>
            </a: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eu</a:t>
            </a: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 · k</a:t>
            </a: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eu</a:t>
            </a: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ken · l</a:t>
            </a: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eu</a:t>
            </a: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8275320" y="4087368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= « </a:t>
            </a:r>
            <a:r>
              <a:rPr lang="en-US" sz="1600" b="1" dirty="0">
                <a:solidFill>
                  <a:schemeClr val="tx1"/>
                </a:solidFill>
              </a:rPr>
              <a:t>eu</a:t>
            </a:r>
            <a:r>
              <a:rPr lang="en-US" sz="1600" dirty="0">
                <a:solidFill>
                  <a:schemeClr val="tx1"/>
                </a:solidFill>
              </a:rPr>
              <a:t> » de </a:t>
            </a:r>
            <a:r>
              <a:rPr lang="en-US" sz="1600" i="1" dirty="0">
                <a:solidFill>
                  <a:schemeClr val="tx1"/>
                </a:solidFill>
              </a:rPr>
              <a:t>feu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→ toujours pareil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868680" y="5413248"/>
            <a:ext cx="10515600" cy="685800"/>
          </a:xfrm>
          <a:prstGeom prst="roundRect">
            <a:avLst>
              <a:gd name="adj" fmla="val 10667"/>
            </a:avLst>
          </a:prstGeom>
          <a:solidFill>
            <a:schemeClr val="accent3">
              <a:alpha val="12000"/>
            </a:scheme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1097280" y="541324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De k</a:t>
            </a:r>
            <a:r>
              <a:rPr lang="en-US" sz="2100" b="1" i="1" dirty="0">
                <a:solidFill>
                  <a:schemeClr val="accent1"/>
                </a:solidFill>
              </a:rPr>
              <a:t>eu</a:t>
            </a:r>
            <a:r>
              <a:rPr lang="en-US" sz="2100" i="1" dirty="0">
                <a:solidFill>
                  <a:schemeClr val="tx1"/>
                </a:solidFill>
              </a:rPr>
              <a:t>ken is l</a:t>
            </a:r>
            <a:r>
              <a:rPr lang="en-US" sz="2100" b="1" i="1" dirty="0">
                <a:solidFill>
                  <a:schemeClr val="accent1"/>
                </a:solidFill>
              </a:rPr>
              <a:t>eu</a:t>
            </a:r>
            <a:r>
              <a:rPr lang="en-US" sz="2100" i="1" dirty="0">
                <a:solidFill>
                  <a:schemeClr val="tx1"/>
                </a:solidFill>
              </a:rPr>
              <a:t>k.</a:t>
            </a:r>
            <a:r>
              <a:rPr lang="en-US" sz="2100" dirty="0">
                <a:solidFill>
                  <a:schemeClr val="tx1"/>
                </a:solidFill>
              </a:rPr>
              <a:t>  —  La cuisine est chouette.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oe = « ou » (et jamais « u »)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68450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PRONONCIATION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172200" cy="4709160"/>
          </a:xfrm>
          <a:prstGeom prst="roundRect">
            <a:avLst>
              <a:gd name="adj" fmla="val 1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48640" y="1645920"/>
            <a:ext cx="6172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oe</a:t>
            </a:r>
            <a:r>
              <a:rPr lang="en-US" sz="4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= « ou »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777240" y="2606040"/>
            <a:ext cx="178308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8" name="Image 0" descr="open 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697480"/>
            <a:ext cx="640080" cy="6400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" y="33375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</a:t>
            </a:r>
            <a:r>
              <a:rPr lang="en-US" sz="2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oe</a:t>
            </a: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7216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le livre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697480" y="2606040"/>
            <a:ext cx="178308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12" name="Image 1" descr="bo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269748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697480" y="33375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br</a:t>
            </a:r>
            <a:r>
              <a:rPr lang="en-US" sz="2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oe</a:t>
            </a: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2697480" y="37216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le frère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617720" y="2606040"/>
            <a:ext cx="178308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16" name="Image 2" descr="cow fa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648" y="2697480"/>
            <a:ext cx="640080" cy="6400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617720" y="33375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</a:t>
            </a:r>
            <a:r>
              <a:rPr lang="en-US" sz="2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oe</a:t>
            </a:r>
            <a:endParaRPr lang="en-US" sz="2200" dirty="0"/>
          </a:p>
        </p:txBody>
      </p:sp>
      <p:sp>
        <p:nvSpPr>
          <p:cNvPr id="18" name="Text 12"/>
          <p:cNvSpPr txBox="1"/>
          <p:nvPr/>
        </p:nvSpPr>
        <p:spPr>
          <a:xfrm>
            <a:off x="4617720" y="37216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la vache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1737360" y="4206240"/>
            <a:ext cx="178308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20" name="Image 3" descr="broo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4288" y="4297680"/>
            <a:ext cx="640080" cy="6400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737360" y="4937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vl</a:t>
            </a:r>
            <a:r>
              <a:rPr lang="en-US" sz="2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oe</a:t>
            </a: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</a:t>
            </a:r>
            <a:endParaRPr lang="en-US" sz="2200" dirty="0"/>
          </a:p>
        </p:txBody>
      </p:sp>
      <p:sp>
        <p:nvSpPr>
          <p:cNvPr id="22" name="Text 15"/>
          <p:cNvSpPr txBox="1"/>
          <p:nvPr/>
        </p:nvSpPr>
        <p:spPr>
          <a:xfrm>
            <a:off x="1737360" y="53218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le sol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3657600" y="4206240"/>
            <a:ext cx="178308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24" name="Image 4" descr="thumbs u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528" y="4297680"/>
            <a:ext cx="640080" cy="64008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3657600" y="4937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</a:t>
            </a:r>
            <a:r>
              <a:rPr lang="en-US" sz="2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oe</a:t>
            </a: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</a:t>
            </a:r>
            <a:endParaRPr lang="en-US" sz="2200" dirty="0"/>
          </a:p>
        </p:txBody>
      </p:sp>
      <p:sp>
        <p:nvSpPr>
          <p:cNvPr id="26" name="Text 18"/>
          <p:cNvSpPr txBox="1"/>
          <p:nvPr/>
        </p:nvSpPr>
        <p:spPr>
          <a:xfrm>
            <a:off x="3657600" y="53218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bon, bien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548640" y="5760720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oe</a:t>
            </a:r>
            <a:r>
              <a:rPr lang="en-US" sz="1800" dirty="0">
                <a:solidFill>
                  <a:schemeClr val="tx2"/>
                </a:solidFill>
              </a:rPr>
              <a:t> se lit </a:t>
            </a:r>
            <a:r>
              <a:rPr lang="en-US" sz="1800" b="1" dirty="0">
                <a:solidFill>
                  <a:schemeClr val="tx2"/>
                </a:solidFill>
              </a:rPr>
              <a:t>toujours</a:t>
            </a:r>
            <a:r>
              <a:rPr lang="en-US" sz="1800" dirty="0">
                <a:solidFill>
                  <a:schemeClr val="tx2"/>
                </a:solidFill>
              </a:rPr>
              <a:t> « ou ».</a:t>
            </a:r>
            <a:endParaRPr lang="en-US" sz="1800" dirty="0"/>
          </a:p>
        </p:txBody>
      </p:sp>
      <p:sp>
        <p:nvSpPr>
          <p:cNvPr id="28" name="Shape 20"/>
          <p:cNvSpPr/>
          <p:nvPr/>
        </p:nvSpPr>
        <p:spPr>
          <a:xfrm>
            <a:off x="6995160" y="1554480"/>
            <a:ext cx="2176272" cy="2926080"/>
          </a:xfrm>
          <a:prstGeom prst="roundRect">
            <a:avLst>
              <a:gd name="adj" fmla="val 3361"/>
            </a:avLst>
          </a:prstGeom>
          <a:solidFill>
            <a:schemeClr val="bg1"/>
          </a:solidFill>
          <a:ln w="381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9" name="tag"/>
          <p:cNvSpPr/>
          <p:nvPr/>
        </p:nvSpPr>
        <p:spPr>
          <a:xfrm>
            <a:off x="7132320" y="1691640"/>
            <a:ext cx="599542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oe</a:t>
            </a:r>
            <a:endParaRPr lang="en-US" sz="1300" dirty="0"/>
          </a:p>
        </p:txBody>
      </p:sp>
      <p:pic>
        <p:nvPicPr>
          <p:cNvPr id="30" name="Image 5" descr="man farm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8936" y="2057400"/>
            <a:ext cx="1188720" cy="118872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995160" y="329184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</a:t>
            </a:r>
            <a:r>
              <a:rPr lang="en-US" sz="3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oe</a:t>
            </a: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</a:t>
            </a:r>
            <a:endParaRPr lang="en-US" sz="3400" dirty="0"/>
          </a:p>
        </p:txBody>
      </p:sp>
      <p:sp>
        <p:nvSpPr>
          <p:cNvPr id="32" name="Text 23"/>
          <p:cNvSpPr txBox="1"/>
          <p:nvPr/>
        </p:nvSpPr>
        <p:spPr>
          <a:xfrm>
            <a:off x="6995160" y="393192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le fermier</a:t>
            </a:r>
            <a:endParaRPr lang="en-US" sz="1500" dirty="0"/>
          </a:p>
        </p:txBody>
      </p:sp>
      <p:sp>
        <p:nvSpPr>
          <p:cNvPr id="33" name="Shape 24"/>
          <p:cNvSpPr/>
          <p:nvPr/>
        </p:nvSpPr>
        <p:spPr>
          <a:xfrm>
            <a:off x="9464040" y="1554480"/>
            <a:ext cx="2176272" cy="2926080"/>
          </a:xfrm>
          <a:prstGeom prst="roundRect">
            <a:avLst>
              <a:gd name="adj" fmla="val 3361"/>
            </a:avLst>
          </a:prstGeom>
          <a:solidFill>
            <a:schemeClr val="bg1"/>
          </a:solidFill>
          <a:ln w="381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4" name="tag"/>
          <p:cNvSpPr/>
          <p:nvPr/>
        </p:nvSpPr>
        <p:spPr>
          <a:xfrm>
            <a:off x="9601200" y="1691640"/>
            <a:ext cx="599542" cy="292608"/>
          </a:xfrm>
          <a:prstGeom prst="roundRect">
            <a:avLst>
              <a:gd name="adj" fmla="val 1562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uu</a:t>
            </a:r>
            <a:endParaRPr lang="en-US" sz="1300" dirty="0"/>
          </a:p>
        </p:txBody>
      </p:sp>
      <p:pic>
        <p:nvPicPr>
          <p:cNvPr id="35" name="Image 6" descr="waving han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7816" y="2057400"/>
            <a:ext cx="1188720" cy="118872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9464040" y="329184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</a:t>
            </a:r>
            <a:r>
              <a:rPr lang="en-US" sz="3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uu</a:t>
            </a: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</a:t>
            </a:r>
            <a:endParaRPr lang="en-US" sz="3400" dirty="0"/>
          </a:p>
        </p:txBody>
      </p:sp>
      <p:sp>
        <p:nvSpPr>
          <p:cNvPr id="37" name="Text 27"/>
          <p:cNvSpPr txBox="1"/>
          <p:nvPr/>
        </p:nvSpPr>
        <p:spPr>
          <a:xfrm>
            <a:off x="9464040" y="393192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le voisin</a:t>
            </a:r>
            <a:endParaRPr lang="en-US" sz="1500" dirty="0"/>
          </a:p>
        </p:txBody>
      </p:sp>
      <p:sp>
        <p:nvSpPr>
          <p:cNvPr id="38" name="Shape 28"/>
          <p:cNvSpPr/>
          <p:nvPr/>
        </p:nvSpPr>
        <p:spPr>
          <a:xfrm>
            <a:off x="8961120" y="2743200"/>
            <a:ext cx="685800" cy="685800"/>
          </a:xfrm>
          <a:prstGeom prst="ellipse">
            <a:avLst/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8961120" y="2743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≠</a:t>
            </a:r>
            <a:endParaRPr lang="en-US" sz="3000" dirty="0"/>
          </a:p>
        </p:txBody>
      </p:sp>
      <p:sp>
        <p:nvSpPr>
          <p:cNvPr id="40" name="Shape 30"/>
          <p:cNvSpPr/>
          <p:nvPr/>
        </p:nvSpPr>
        <p:spPr>
          <a:xfrm>
            <a:off x="6995160" y="4709160"/>
            <a:ext cx="4645152" cy="1554480"/>
          </a:xfrm>
          <a:prstGeom prst="roundRect">
            <a:avLst>
              <a:gd name="adj" fmla="val 10588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7159752" y="4709160"/>
            <a:ext cx="4315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De b</a:t>
            </a:r>
            <a:r>
              <a:rPr lang="en-US" sz="2000" b="1" i="1" dirty="0">
                <a:solidFill>
                  <a:schemeClr val="accent1"/>
                </a:solidFill>
              </a:rPr>
              <a:t>oe</a:t>
            </a:r>
            <a:r>
              <a:rPr lang="en-US" sz="2000" i="1" dirty="0">
                <a:solidFill>
                  <a:schemeClr val="tx1"/>
                </a:solidFill>
              </a:rPr>
              <a:t>r is mijn b</a:t>
            </a:r>
            <a:r>
              <a:rPr lang="en-US" sz="2000" b="1" i="1" dirty="0">
                <a:solidFill>
                  <a:schemeClr val="accent3"/>
                </a:solidFill>
              </a:rPr>
              <a:t>uu</a:t>
            </a:r>
            <a:r>
              <a:rPr lang="en-US" sz="2000" i="1" dirty="0">
                <a:solidFill>
                  <a:schemeClr val="tx1"/>
                </a:solidFill>
              </a:rPr>
              <a:t>r.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Le fermier est mon voisin.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ou et au : un son, deux écritures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68450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PRONONCIATION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484632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317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54480"/>
            <a:ext cx="484632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5544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ou</a:t>
            </a:r>
            <a:endParaRPr lang="en-US" sz="2000" dirty="0"/>
          </a:p>
        </p:txBody>
      </p:sp>
      <p:pic>
        <p:nvPicPr>
          <p:cNvPr id="8" name="Image 0" descr="cold f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1581912"/>
            <a:ext cx="512064" cy="512064"/>
          </a:xfrm>
          <a:prstGeom prst="rect">
            <a:avLst/>
          </a:prstGeom>
        </p:spPr>
      </p:pic>
      <p:pic>
        <p:nvPicPr>
          <p:cNvPr id="9" name="Image 1" descr="wom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581912"/>
            <a:ext cx="512064" cy="51206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68680" y="22128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vr</a:t>
            </a: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ou</a:t>
            </a: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</a:t>
            </a:r>
            <a:endParaRPr lang="en-US" sz="2800" dirty="0"/>
          </a:p>
        </p:txBody>
      </p:sp>
      <p:sp>
        <p:nvSpPr>
          <p:cNvPr id="11" name="Text 6"/>
          <p:cNvSpPr txBox="1"/>
          <p:nvPr/>
        </p:nvSpPr>
        <p:spPr>
          <a:xfrm>
            <a:off x="3108960" y="22128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</a:t>
            </a: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ou</a:t>
            </a: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</a:t>
            </a:r>
            <a:endParaRPr lang="en-US" sz="2800" dirty="0"/>
          </a:p>
        </p:txBody>
      </p:sp>
      <p:sp>
        <p:nvSpPr>
          <p:cNvPr id="12" name="Text 7"/>
          <p:cNvSpPr txBox="1"/>
          <p:nvPr/>
        </p:nvSpPr>
        <p:spPr>
          <a:xfrm>
            <a:off x="868680" y="2834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ou</a:t>
            </a: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</a:t>
            </a: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3108960" y="2834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</a:t>
            </a: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ou</a:t>
            </a: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</a:t>
            </a:r>
            <a:endParaRPr lang="en-US" sz="2800" dirty="0"/>
          </a:p>
        </p:txBody>
      </p:sp>
      <p:sp>
        <p:nvSpPr>
          <p:cNvPr id="14" name="Text 9"/>
          <p:cNvSpPr txBox="1"/>
          <p:nvPr/>
        </p:nvSpPr>
        <p:spPr>
          <a:xfrm>
            <a:off x="822960" y="39502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la femme · froid · vieux · l’erreur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793992" y="1554480"/>
            <a:ext cx="484632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3175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793992" y="1554480"/>
            <a:ext cx="484632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022592" y="15544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au</a:t>
            </a:r>
            <a:endParaRPr lang="en-US" sz="2000" dirty="0"/>
          </a:p>
        </p:txBody>
      </p:sp>
      <p:pic>
        <p:nvPicPr>
          <p:cNvPr id="18" name="Image 2" descr="blue 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581912"/>
            <a:ext cx="512064" cy="512064"/>
          </a:xfrm>
          <a:prstGeom prst="rect">
            <a:avLst/>
          </a:prstGeom>
        </p:spPr>
      </p:pic>
      <p:pic>
        <p:nvPicPr>
          <p:cNvPr id="19" name="Image 3" descr="peac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1592" y="1581912"/>
            <a:ext cx="512064" cy="51206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114032" y="22128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bl</a:t>
            </a: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au</a:t>
            </a: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</a:t>
            </a:r>
            <a:endParaRPr lang="en-US" sz="2800" dirty="0"/>
          </a:p>
        </p:txBody>
      </p:sp>
      <p:sp>
        <p:nvSpPr>
          <p:cNvPr id="21" name="Text 14"/>
          <p:cNvSpPr txBox="1"/>
          <p:nvPr/>
        </p:nvSpPr>
        <p:spPr>
          <a:xfrm>
            <a:off x="9354312" y="22128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</a:t>
            </a: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au</a:t>
            </a: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</a:t>
            </a:r>
            <a:endParaRPr lang="en-US" sz="2800" dirty="0"/>
          </a:p>
        </p:txBody>
      </p:sp>
      <p:sp>
        <p:nvSpPr>
          <p:cNvPr id="22" name="Text 15"/>
          <p:cNvSpPr txBox="1"/>
          <p:nvPr/>
        </p:nvSpPr>
        <p:spPr>
          <a:xfrm>
            <a:off x="7114032" y="2834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</a:t>
            </a: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au</a:t>
            </a: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</a:t>
            </a:r>
            <a:endParaRPr lang="en-US" sz="2800" dirty="0"/>
          </a:p>
        </p:txBody>
      </p:sp>
      <p:sp>
        <p:nvSpPr>
          <p:cNvPr id="23" name="Text 16"/>
          <p:cNvSpPr txBox="1"/>
          <p:nvPr/>
        </p:nvSpPr>
        <p:spPr>
          <a:xfrm>
            <a:off x="9354312" y="2834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</a:t>
            </a: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au</a:t>
            </a: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</a:t>
            </a:r>
            <a:endParaRPr lang="en-US" sz="2800" dirty="0"/>
          </a:p>
        </p:txBody>
      </p:sp>
      <p:sp>
        <p:nvSpPr>
          <p:cNvPr id="24" name="Text 17"/>
          <p:cNvSpPr txBox="1"/>
          <p:nvPr/>
        </p:nvSpPr>
        <p:spPr>
          <a:xfrm>
            <a:off x="7068312" y="39502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bleu · le paon · vite · la sauce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5440680" y="2587752"/>
            <a:ext cx="1307592" cy="76809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5440680" y="2514600"/>
            <a:ext cx="1307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=</a:t>
            </a:r>
            <a:endParaRPr lang="en-US" sz="3000" dirty="0"/>
          </a:p>
        </p:txBody>
      </p:sp>
      <p:sp>
        <p:nvSpPr>
          <p:cNvPr id="27" name="Text 20"/>
          <p:cNvSpPr txBox="1"/>
          <p:nvPr/>
        </p:nvSpPr>
        <p:spPr>
          <a:xfrm>
            <a:off x="5394960" y="3401568"/>
            <a:ext cx="1399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même son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« aou »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548640" y="4663440"/>
            <a:ext cx="11091672" cy="1600200"/>
          </a:xfrm>
          <a:prstGeom prst="roundRect">
            <a:avLst>
              <a:gd name="adj" fmla="val 4571"/>
            </a:avLst>
          </a:prstGeom>
          <a:solidFill>
            <a:schemeClr val="accent1">
              <a:alpha val="12000"/>
            </a:schemeClr>
          </a:solidFill>
          <a:ln w="12700">
            <a:solidFill>
              <a:srgbClr val="D9700F"/>
            </a:solidFill>
            <a:prstDash val="solid"/>
          </a:ln>
        </p:spPr>
      </p:sp>
      <p:pic>
        <p:nvPicPr>
          <p:cNvPr id="29" name="Image 4" descr="light bul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983480"/>
            <a:ext cx="914400" cy="9144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920240" y="4709160"/>
            <a:ext cx="9509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1"/>
                </a:solidFill>
              </a:rPr>
              <a:t>Astuce</a:t>
            </a:r>
            <a:r>
              <a:rPr lang="en-US" sz="2100" dirty="0">
                <a:solidFill>
                  <a:schemeClr val="tx1"/>
                </a:solidFill>
              </a:rPr>
              <a:t> : </a:t>
            </a:r>
            <a:r>
              <a:rPr lang="en-US" sz="2100" i="1" dirty="0">
                <a:solidFill>
                  <a:schemeClr val="tx1"/>
                </a:solidFill>
              </a:rPr>
              <a:t>ou</a:t>
            </a:r>
            <a:r>
              <a:rPr lang="en-US" sz="2100" dirty="0">
                <a:solidFill>
                  <a:schemeClr val="tx1"/>
                </a:solidFill>
              </a:rPr>
              <a:t> est le plus fréquent.</a:t>
            </a:r>
            <a:endParaRPr lang="en-US" sz="21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À la dictée : </a:t>
            </a:r>
            <a:r>
              <a:rPr lang="en-US" sz="2100" i="1" dirty="0">
                <a:solidFill>
                  <a:schemeClr val="tx1"/>
                </a:solidFill>
              </a:rPr>
              <a:t>ou van vrouw of au van blauw?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sons à trois lettres : voyelle + glissade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68450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PRONONCIATION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85800" y="15544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aa</a:t>
            </a: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2286000" y="1645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« aïe »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286000" y="2057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saai · fraai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228600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ennuyeux · joli</a:t>
            </a:r>
            <a:endParaRPr lang="en-US" sz="1300" dirty="0"/>
          </a:p>
        </p:txBody>
      </p:sp>
      <p:pic>
        <p:nvPicPr>
          <p:cNvPr id="10" name="Image 0" descr="yawning f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828800"/>
            <a:ext cx="777240" cy="7772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199632" y="1554480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6336792" y="15544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eeu</a:t>
            </a: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7936992" y="1645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« é-ou »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936992" y="2057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sneeuw · eeuw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7936992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la neige · le siècle</a:t>
            </a:r>
            <a:endParaRPr lang="en-US" sz="1300" dirty="0"/>
          </a:p>
        </p:txBody>
      </p:sp>
      <p:pic>
        <p:nvPicPr>
          <p:cNvPr id="16" name="Image 1" descr="snowflak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1828800"/>
            <a:ext cx="777240" cy="7772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48640" y="3035808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685800" y="3035808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oo</a:t>
            </a: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3200" dirty="0"/>
          </a:p>
        </p:txBody>
      </p:sp>
      <p:sp>
        <p:nvSpPr>
          <p:cNvPr id="19" name="Text 14"/>
          <p:cNvSpPr txBox="1"/>
          <p:nvPr/>
        </p:nvSpPr>
        <p:spPr>
          <a:xfrm>
            <a:off x="2286000" y="31272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« ô-y »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2286000" y="35387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mooi · nooit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2286000" y="3950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beau · jamais</a:t>
            </a:r>
            <a:endParaRPr lang="en-US" sz="1300" dirty="0"/>
          </a:p>
        </p:txBody>
      </p:sp>
      <p:pic>
        <p:nvPicPr>
          <p:cNvPr id="22" name="Image 2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310128"/>
            <a:ext cx="777240" cy="77724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199632" y="3035808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6336792" y="3035808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ieu</a:t>
            </a: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</a:t>
            </a:r>
            <a:endParaRPr lang="en-US" sz="3200" dirty="0"/>
          </a:p>
        </p:txBody>
      </p:sp>
      <p:sp>
        <p:nvSpPr>
          <p:cNvPr id="25" name="Text 19"/>
          <p:cNvSpPr txBox="1"/>
          <p:nvPr/>
        </p:nvSpPr>
        <p:spPr>
          <a:xfrm>
            <a:off x="7936992" y="31272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« i-ou »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936992" y="35387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nieuw</a:t>
            </a:r>
            <a:endParaRPr lang="en-US" sz="2000" dirty="0"/>
          </a:p>
        </p:txBody>
      </p:sp>
      <p:sp>
        <p:nvSpPr>
          <p:cNvPr id="27" name="Text 21"/>
          <p:cNvSpPr txBox="1"/>
          <p:nvPr/>
        </p:nvSpPr>
        <p:spPr>
          <a:xfrm>
            <a:off x="7936992" y="3950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nouveau</a:t>
            </a:r>
            <a:endParaRPr lang="en-US" sz="1300" dirty="0"/>
          </a:p>
        </p:txBody>
      </p:sp>
      <p:pic>
        <p:nvPicPr>
          <p:cNvPr id="28" name="Image 3" descr="new butt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5912" y="3310128"/>
            <a:ext cx="777240" cy="77724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548640" y="4517136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0" name="Text 23"/>
          <p:cNvSpPr txBox="1"/>
          <p:nvPr/>
        </p:nvSpPr>
        <p:spPr>
          <a:xfrm>
            <a:off x="685800" y="4517136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oe</a:t>
            </a: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3200" dirty="0"/>
          </a:p>
        </p:txBody>
      </p:sp>
      <p:sp>
        <p:nvSpPr>
          <p:cNvPr id="31" name="Text 24"/>
          <p:cNvSpPr txBox="1"/>
          <p:nvPr/>
        </p:nvSpPr>
        <p:spPr>
          <a:xfrm>
            <a:off x="2286000" y="460857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« ouille »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2286000" y="50200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doei · moeilijk</a:t>
            </a:r>
            <a:endParaRPr lang="en-US" sz="2000" dirty="0"/>
          </a:p>
        </p:txBody>
      </p:sp>
      <p:sp>
        <p:nvSpPr>
          <p:cNvPr id="33" name="Text 26"/>
          <p:cNvSpPr txBox="1"/>
          <p:nvPr/>
        </p:nvSpPr>
        <p:spPr>
          <a:xfrm>
            <a:off x="2286000" y="54315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salut · difficile</a:t>
            </a:r>
            <a:endParaRPr lang="en-US" sz="1300" dirty="0"/>
          </a:p>
        </p:txBody>
      </p:sp>
      <p:pic>
        <p:nvPicPr>
          <p:cNvPr id="34" name="Image 4" descr="waving han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4791456"/>
            <a:ext cx="777240" cy="777240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6199632" y="4517136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6" name="Text 28"/>
          <p:cNvSpPr txBox="1"/>
          <p:nvPr/>
        </p:nvSpPr>
        <p:spPr>
          <a:xfrm>
            <a:off x="6336792" y="4517136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</a:t>
            </a: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</a:t>
            </a:r>
            <a:endParaRPr lang="en-US" sz="3200" dirty="0"/>
          </a:p>
        </p:txBody>
      </p:sp>
      <p:sp>
        <p:nvSpPr>
          <p:cNvPr id="37" name="Text 29"/>
          <p:cNvSpPr txBox="1"/>
          <p:nvPr/>
        </p:nvSpPr>
        <p:spPr>
          <a:xfrm>
            <a:off x="7936992" y="460857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« u-ou »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7936992" y="50200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uw · duwen</a:t>
            </a:r>
            <a:endParaRPr lang="en-US" sz="2000" dirty="0"/>
          </a:p>
        </p:txBody>
      </p:sp>
      <p:sp>
        <p:nvSpPr>
          <p:cNvPr id="39" name="Text 31"/>
          <p:cNvSpPr txBox="1"/>
          <p:nvPr/>
        </p:nvSpPr>
        <p:spPr>
          <a:xfrm>
            <a:off x="7936992" y="54315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votre · pousser</a:t>
            </a:r>
            <a:endParaRPr lang="en-US" sz="1300" dirty="0"/>
          </a:p>
        </p:txBody>
      </p:sp>
      <p:pic>
        <p:nvPicPr>
          <p:cNvPr id="40" name="Image 5" descr="index pointing at the view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5912" y="4791456"/>
            <a:ext cx="777240" cy="77724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Le </a:t>
            </a:r>
            <a:r>
              <a:rPr lang="en-US" sz="1500" b="1" i="1" dirty="0">
                <a:solidFill>
                  <a:schemeClr val="accent5"/>
                </a:solidFill>
              </a:rPr>
              <a:t>i</a:t>
            </a:r>
            <a:r>
              <a:rPr lang="en-US" sz="1500" i="1" dirty="0">
                <a:solidFill>
                  <a:schemeClr val="accent5"/>
                </a:solidFill>
              </a:rPr>
              <a:t> ou le </a:t>
            </a:r>
            <a:r>
              <a:rPr lang="en-US" sz="1500" b="1" i="1" dirty="0">
                <a:solidFill>
                  <a:schemeClr val="accent5"/>
                </a:solidFill>
              </a:rPr>
              <a:t>w</a:t>
            </a:r>
            <a:r>
              <a:rPr lang="en-US" sz="1500" i="1" dirty="0">
                <a:solidFill>
                  <a:schemeClr val="accent5"/>
                </a:solidFill>
              </a:rPr>
              <a:t> final (en </a:t>
            </a:r>
            <a:r>
              <a:rPr lang="en-US" sz="1500" b="1" i="1" dirty="0">
                <a:solidFill>
                  <a:schemeClr val="accent1"/>
                </a:solidFill>
              </a:rPr>
              <a:t>orange</a:t>
            </a:r>
            <a:r>
              <a:rPr lang="en-US" sz="1500" i="1" dirty="0">
                <a:solidFill>
                  <a:schemeClr val="accent5"/>
                </a:solidFill>
              </a:rPr>
              <a:t>) ajoute une petite glissade. </a:t>
            </a:r>
            <a:r>
              <a:rPr lang="en-US" sz="1500" i="1" dirty="0">
                <a:solidFill>
                  <a:schemeClr val="accent5"/>
                </a:solidFill>
              </a:rPr>
              <a:t>uw</a:t>
            </a:r>
            <a:r>
              <a:rPr lang="en-US" sz="1500" i="1" dirty="0">
                <a:solidFill>
                  <a:schemeClr val="accent5"/>
                </a:solidFill>
              </a:rPr>
              <a:t> = votre (M2).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À retenir : le tableau des sons doubles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6581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À RETENIR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651760"/>
                <a:gridCol w="3200400"/>
                <a:gridCol w="213055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Son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Repère FR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Exemples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Piège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ij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/ </a:t>
                      </a: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ei</a:t>
                      </a:r>
                      <a:endParaRPr lang="en-US" sz="20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« è-i »</a:t>
                      </a:r>
                      <a:endParaRPr lang="en-US" sz="20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tijd, klein</a:t>
                      </a:r>
                      <a:endParaRPr lang="en-US" sz="20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deux écritures</a:t>
                      </a:r>
                      <a:endParaRPr lang="en-US" sz="20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ui</a:t>
                      </a:r>
                      <a:endParaRPr lang="en-US" sz="20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« œ-u »</a:t>
                      </a:r>
                      <a:endParaRPr lang="en-US" sz="20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huis, tuin</a:t>
                      </a:r>
                      <a:endParaRPr lang="en-US" sz="20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≠ u, uu</a:t>
                      </a:r>
                      <a:endParaRPr lang="en-US" sz="20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eu</a:t>
                      </a:r>
                      <a:endParaRPr lang="en-US" sz="20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« eu » de </a:t>
                      </a: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feu</a:t>
                      </a:r>
                      <a:endParaRPr lang="en-US" sz="20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keuken, deur</a:t>
                      </a:r>
                      <a:endParaRPr lang="en-US" sz="20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≠ u · sans glissement</a:t>
                      </a:r>
                      <a:endParaRPr lang="en-US" sz="20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oe</a:t>
                      </a:r>
                      <a:endParaRPr lang="en-US" sz="20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« ou »</a:t>
                      </a:r>
                      <a:endParaRPr lang="en-US" sz="20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boek, broer</a:t>
                      </a:r>
                      <a:endParaRPr lang="en-US" sz="20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≠ u · sans glissement</a:t>
                      </a:r>
                      <a:endParaRPr lang="en-US" sz="20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ou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/ </a:t>
                      </a: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au</a:t>
                      </a:r>
                      <a:endParaRPr lang="en-US" sz="20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« aou »</a:t>
                      </a:r>
                      <a:endParaRPr lang="en-US" sz="20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vrouw, blauw</a:t>
                      </a:r>
                      <a:endParaRPr lang="en-US" sz="20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deux écritures</a:t>
                      </a:r>
                      <a:endParaRPr lang="en-US" sz="20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aa</a:t>
                      </a: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· oo</a:t>
                      </a: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i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· oe</a:t>
                      </a: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aïe · ô-y · ouille</a:t>
                      </a:r>
                      <a:endParaRPr lang="en-US" sz="20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saai · mooi · moeilijk</a:t>
                      </a:r>
                      <a:endParaRPr lang="en-US" sz="20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eeu</a:t>
                      </a: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w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· ieu</a:t>
                      </a: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w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· u</a:t>
                      </a: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w</a:t>
                      </a:r>
                      <a:endParaRPr lang="en-US" sz="20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é-ou · i-ou · u-ou</a:t>
                      </a:r>
                      <a:endParaRPr lang="en-US" sz="20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sneeuw · nieuw · uw</a:t>
                      </a:r>
                      <a:endParaRPr lang="en-US" sz="20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6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Cam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960120"/>
            <a:ext cx="347472" cy="34747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Ce tableau complète le tableau-miroir du M1.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Lire un mot inconnu : le son double est un bloc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6581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3703320" cy="822960"/>
          </a:xfrm>
          <a:prstGeom prst="chevron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 · Je coupe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206240" y="1600200"/>
            <a:ext cx="3703320" cy="822960"/>
          </a:xfrm>
          <a:prstGeom prst="chevr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 · Porte ouverte ?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863840" y="1600200"/>
            <a:ext cx="3703320" cy="822960"/>
          </a:xfrm>
          <a:prstGeom prst="chevron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 · Je prononce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743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moeilijk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401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difficile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880360" y="3108960"/>
            <a:ext cx="685800" cy="914"/>
          </a:xfrm>
          <a:prstGeom prst="line">
            <a:avLst/>
          </a:prstGeom>
          <a:noFill/>
          <a:ln w="254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749040" y="27432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DF1E6"/>
          </a:solidFill>
          <a:ln w="38100">
            <a:solidFill>
              <a:srgbClr val="D9700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749040" y="2743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moei</a:t>
            </a:r>
            <a:endParaRPr lang="en-US" sz="3400" dirty="0"/>
          </a:p>
        </p:txBody>
      </p:sp>
      <p:pic>
        <p:nvPicPr>
          <p:cNvPr id="13" name="Image 0" descr="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83464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126480" y="274320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5"/>
                </a:solidFill>
              </a:rPr>
              <a:t>·</a:t>
            </a:r>
            <a:endParaRPr lang="en-US" sz="3400" dirty="0"/>
          </a:p>
        </p:txBody>
      </p:sp>
      <p:sp>
        <p:nvSpPr>
          <p:cNvPr id="15" name="Shape 11"/>
          <p:cNvSpPr/>
          <p:nvPr/>
        </p:nvSpPr>
        <p:spPr>
          <a:xfrm>
            <a:off x="6537960" y="2743200"/>
            <a:ext cx="237744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rgbClr val="4A5A7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537960" y="2743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lijk</a:t>
            </a:r>
            <a:endParaRPr lang="en-US" sz="34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2743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6"/>
                </a:solidFill>
              </a:rPr>
              <a:t>= « lek »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4206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keuken</a:t>
            </a:r>
            <a:endParaRPr lang="en-US" sz="28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48646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la cuisine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2880360" y="4572000"/>
            <a:ext cx="685800" cy="914"/>
          </a:xfrm>
          <a:prstGeom prst="line">
            <a:avLst/>
          </a:prstGeom>
          <a:noFill/>
          <a:ln w="254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3749040" y="42062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DF1E6"/>
          </a:solidFill>
          <a:ln w="38100">
            <a:solidFill>
              <a:srgbClr val="D9700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749040" y="4206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keu</a:t>
            </a:r>
            <a:endParaRPr lang="en-US" sz="3400" dirty="0"/>
          </a:p>
        </p:txBody>
      </p:sp>
      <p:pic>
        <p:nvPicPr>
          <p:cNvPr id="23" name="Image 1" descr="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4297680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126480" y="420624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5"/>
                </a:solidFill>
              </a:rPr>
              <a:t>·</a:t>
            </a:r>
            <a:endParaRPr lang="en-US" sz="3400" dirty="0"/>
          </a:p>
        </p:txBody>
      </p:sp>
      <p:sp>
        <p:nvSpPr>
          <p:cNvPr id="25" name="Shape 20"/>
          <p:cNvSpPr/>
          <p:nvPr/>
        </p:nvSpPr>
        <p:spPr>
          <a:xfrm>
            <a:off x="6537960" y="4206240"/>
            <a:ext cx="237744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rgbClr val="4A5A70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537960" y="4206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ken</a:t>
            </a:r>
            <a:endParaRPr lang="en-US" sz="3400" dirty="0"/>
          </a:p>
        </p:txBody>
      </p:sp>
      <p:sp>
        <p:nvSpPr>
          <p:cNvPr id="27" name="Shape 22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822960" y="5623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Le son double ne se coupe </a:t>
            </a:r>
            <a:r>
              <a:rPr lang="en-US" sz="1900" b="1" dirty="0">
                <a:solidFill>
                  <a:schemeClr val="bg1"/>
                </a:solidFill>
              </a:rPr>
              <a:t>jamais</a:t>
            </a:r>
            <a:r>
              <a:rPr lang="en-US" sz="1900" dirty="0">
                <a:solidFill>
                  <a:schemeClr val="bg1"/>
                </a:solidFill>
              </a:rPr>
              <a:t> et ne change </a:t>
            </a:r>
            <a:r>
              <a:rPr lang="en-US" sz="1900" b="1" dirty="0">
                <a:solidFill>
                  <a:schemeClr val="bg1"/>
                </a:solidFill>
              </a:rPr>
              <a:t>jamais</a:t>
            </a:r>
            <a:r>
              <a:rPr lang="en-US" sz="1900" dirty="0">
                <a:solidFill>
                  <a:schemeClr val="bg1"/>
                </a:solidFill>
              </a:rPr>
              <a:t>. Testez : </a:t>
            </a:r>
            <a:r>
              <a:rPr lang="en-US" sz="1900" i="1" dirty="0">
                <a:solidFill>
                  <a:schemeClr val="bg1"/>
                </a:solidFill>
              </a:rPr>
              <a:t>bui·ten · nieu·we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Oefeningen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JIJ NU !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pic>
        <p:nvPicPr>
          <p:cNvPr id="9" name="Image 0" descr="Headpho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7040" y="27706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32644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Quel son ?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8404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764280" y="26060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90144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90144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pic>
        <p:nvPicPr>
          <p:cNvPr id="15" name="Image 1" descr="Pencil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680" y="277063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901440" y="32644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ij ou ei ?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901440" y="38404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979920" y="26060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11708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11708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pic>
        <p:nvPicPr>
          <p:cNvPr id="21" name="Image 2" descr="LayerGrou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277063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17080" y="32644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Les familles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117080" y="38404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48640" y="44348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8580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8580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pic>
        <p:nvPicPr>
          <p:cNvPr id="27" name="Image 3" descr="Micro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040" y="459943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85800" y="50932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Tongbrekers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685800" y="56692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3764280" y="44348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90144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390144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pic>
        <p:nvPicPr>
          <p:cNvPr id="33" name="Image 4" descr="T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2680" y="4599432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901440" y="50932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Loto des sons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3901440" y="56692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6979920" y="44348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711708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711708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pic>
        <p:nvPicPr>
          <p:cNvPr id="39" name="Image 5" descr="PhoneAl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0" y="4599432"/>
            <a:ext cx="384048" cy="38404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7117080" y="50932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Dictée des villes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7117080" y="56692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★★★</a:t>
            </a:r>
            <a:endParaRPr lang="en-US" sz="1400" dirty="0"/>
          </a:p>
        </p:txBody>
      </p:sp>
      <p:pic>
        <p:nvPicPr>
          <p:cNvPr id="42" name="Image 6" descr="man teach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0" y="3657600"/>
            <a:ext cx="1645920" cy="1645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Quel son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Écoutez : quel son entendez-vous ? Montrez le bon bouton.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2023872"/>
            <a:ext cx="1691640" cy="914400"/>
          </a:xfrm>
          <a:prstGeom prst="roundRect">
            <a:avLst>
              <a:gd name="adj" fmla="val 25000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02387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</a:t>
            </a:r>
            <a:endParaRPr lang="en-US" sz="3400" dirty="0"/>
          </a:p>
        </p:txBody>
      </p:sp>
      <p:sp>
        <p:nvSpPr>
          <p:cNvPr id="10" name="Shape 6"/>
          <p:cNvSpPr/>
          <p:nvPr/>
        </p:nvSpPr>
        <p:spPr>
          <a:xfrm>
            <a:off x="2432304" y="2023872"/>
            <a:ext cx="1691640" cy="91440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432304" y="202387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uu</a:t>
            </a:r>
            <a:endParaRPr lang="en-US" sz="3400" dirty="0"/>
          </a:p>
        </p:txBody>
      </p:sp>
      <p:sp>
        <p:nvSpPr>
          <p:cNvPr id="12" name="Shape 8"/>
          <p:cNvSpPr/>
          <p:nvPr/>
        </p:nvSpPr>
        <p:spPr>
          <a:xfrm>
            <a:off x="4315968" y="2023872"/>
            <a:ext cx="1691640" cy="91440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315968" y="202387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eu</a:t>
            </a:r>
            <a:endParaRPr lang="en-US" sz="3400" dirty="0"/>
          </a:p>
        </p:txBody>
      </p:sp>
      <p:sp>
        <p:nvSpPr>
          <p:cNvPr id="14" name="Shape 10"/>
          <p:cNvSpPr/>
          <p:nvPr/>
        </p:nvSpPr>
        <p:spPr>
          <a:xfrm>
            <a:off x="6199632" y="2023872"/>
            <a:ext cx="1691640" cy="91440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199632" y="202387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ui</a:t>
            </a:r>
            <a:endParaRPr lang="en-US" sz="3400" dirty="0"/>
          </a:p>
        </p:txBody>
      </p:sp>
      <p:sp>
        <p:nvSpPr>
          <p:cNvPr id="16" name="Shape 12"/>
          <p:cNvSpPr/>
          <p:nvPr/>
        </p:nvSpPr>
        <p:spPr>
          <a:xfrm>
            <a:off x="8083296" y="2023872"/>
            <a:ext cx="1691640" cy="914400"/>
          </a:xfrm>
          <a:prstGeom prst="roundRect">
            <a:avLst>
              <a:gd name="adj" fmla="val 25000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083296" y="202387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oe</a:t>
            </a:r>
            <a:endParaRPr lang="en-US" sz="3400" dirty="0"/>
          </a:p>
        </p:txBody>
      </p:sp>
      <p:sp>
        <p:nvSpPr>
          <p:cNvPr id="18" name="Shape 14"/>
          <p:cNvSpPr/>
          <p:nvPr/>
        </p:nvSpPr>
        <p:spPr>
          <a:xfrm>
            <a:off x="9966960" y="2023872"/>
            <a:ext cx="1691640" cy="914400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966960" y="202387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ou</a:t>
            </a:r>
            <a:endParaRPr lang="en-US" sz="3400" dirty="0"/>
          </a:p>
        </p:txBody>
      </p:sp>
      <p:sp>
        <p:nvSpPr>
          <p:cNvPr id="20" name="Shape 16"/>
          <p:cNvSpPr/>
          <p:nvPr/>
        </p:nvSpPr>
        <p:spPr>
          <a:xfrm>
            <a:off x="5440680" y="3258312"/>
            <a:ext cx="1280160" cy="12801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1" descr="Volume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918" y="3565550"/>
            <a:ext cx="665683" cy="665683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85800" y="4812792"/>
            <a:ext cx="11887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85800" y="4812792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1</a:t>
            </a:r>
            <a:endParaRPr lang="en-US" sz="3000" dirty="0"/>
          </a:p>
        </p:txBody>
      </p:sp>
      <p:sp>
        <p:nvSpPr>
          <p:cNvPr id="24" name="Shape 19"/>
          <p:cNvSpPr/>
          <p:nvPr/>
        </p:nvSpPr>
        <p:spPr>
          <a:xfrm>
            <a:off x="2057400" y="4812792"/>
            <a:ext cx="11887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2057400" y="4812792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2</a:t>
            </a:r>
            <a:endParaRPr lang="en-US" sz="3000" dirty="0"/>
          </a:p>
        </p:txBody>
      </p:sp>
      <p:sp>
        <p:nvSpPr>
          <p:cNvPr id="26" name="Shape 21"/>
          <p:cNvSpPr/>
          <p:nvPr/>
        </p:nvSpPr>
        <p:spPr>
          <a:xfrm>
            <a:off x="3429000" y="4812792"/>
            <a:ext cx="11887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3429000" y="4812792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3</a:t>
            </a:r>
            <a:endParaRPr lang="en-US" sz="3000" dirty="0"/>
          </a:p>
        </p:txBody>
      </p:sp>
      <p:sp>
        <p:nvSpPr>
          <p:cNvPr id="28" name="Shape 23"/>
          <p:cNvSpPr/>
          <p:nvPr/>
        </p:nvSpPr>
        <p:spPr>
          <a:xfrm>
            <a:off x="4800600" y="4812792"/>
            <a:ext cx="11887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4800600" y="4812792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4</a:t>
            </a:r>
            <a:endParaRPr lang="en-US" sz="3000" dirty="0"/>
          </a:p>
        </p:txBody>
      </p:sp>
      <p:sp>
        <p:nvSpPr>
          <p:cNvPr id="30" name="Shape 25"/>
          <p:cNvSpPr/>
          <p:nvPr/>
        </p:nvSpPr>
        <p:spPr>
          <a:xfrm>
            <a:off x="6172200" y="4812792"/>
            <a:ext cx="11887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172200" y="4812792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5</a:t>
            </a:r>
            <a:endParaRPr lang="en-US" sz="3000" dirty="0"/>
          </a:p>
        </p:txBody>
      </p:sp>
      <p:sp>
        <p:nvSpPr>
          <p:cNvPr id="32" name="Shape 27"/>
          <p:cNvSpPr/>
          <p:nvPr/>
        </p:nvSpPr>
        <p:spPr>
          <a:xfrm>
            <a:off x="7543800" y="4812792"/>
            <a:ext cx="11887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543800" y="4812792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6</a:t>
            </a:r>
            <a:endParaRPr lang="en-US" sz="3000" dirty="0"/>
          </a:p>
        </p:txBody>
      </p:sp>
      <p:sp>
        <p:nvSpPr>
          <p:cNvPr id="34" name="Shape 29"/>
          <p:cNvSpPr/>
          <p:nvPr/>
        </p:nvSpPr>
        <p:spPr>
          <a:xfrm>
            <a:off x="8915400" y="4812792"/>
            <a:ext cx="11887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8915400" y="4812792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7</a:t>
            </a:r>
            <a:endParaRPr lang="en-US" sz="3000" dirty="0"/>
          </a:p>
        </p:txBody>
      </p:sp>
      <p:sp>
        <p:nvSpPr>
          <p:cNvPr id="36" name="Shape 31"/>
          <p:cNvSpPr/>
          <p:nvPr/>
        </p:nvSpPr>
        <p:spPr>
          <a:xfrm>
            <a:off x="10287000" y="4812792"/>
            <a:ext cx="11887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10287000" y="4812792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8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Quel son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Écoutez : quel son entendez-vous ? Montrez le bon bouton.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2023872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58368" y="213360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58368" y="2133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pic>
        <p:nvPicPr>
          <p:cNvPr id="12" name="Image 1" descr="hou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161032"/>
            <a:ext cx="777240" cy="7772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8640" y="298399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</a:t>
            </a: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ui</a:t>
            </a: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</a:t>
            </a:r>
            <a:endParaRPr lang="en-US" sz="3000" dirty="0"/>
          </a:p>
        </p:txBody>
      </p:sp>
      <p:sp>
        <p:nvSpPr>
          <p:cNvPr id="14" name="tag"/>
          <p:cNvSpPr/>
          <p:nvPr/>
        </p:nvSpPr>
        <p:spPr>
          <a:xfrm>
            <a:off x="1485900" y="3605784"/>
            <a:ext cx="617525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ui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3383280" y="2023872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493008" y="213360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3493008" y="2133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pic>
        <p:nvPicPr>
          <p:cNvPr id="18" name="Image 2" descr="waving ha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161032"/>
            <a:ext cx="777240" cy="7772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383280" y="298399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</a:t>
            </a:r>
            <a:r>
              <a:rPr lang="en-US" sz="3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uu</a:t>
            </a: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</a:t>
            </a:r>
            <a:endParaRPr lang="en-US" sz="3000" dirty="0"/>
          </a:p>
        </p:txBody>
      </p:sp>
      <p:sp>
        <p:nvSpPr>
          <p:cNvPr id="20" name="tag"/>
          <p:cNvSpPr/>
          <p:nvPr/>
        </p:nvSpPr>
        <p:spPr>
          <a:xfrm>
            <a:off x="4320540" y="3605784"/>
            <a:ext cx="617525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uu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217920" y="2023872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327648" y="213360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327648" y="2133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pic>
        <p:nvPicPr>
          <p:cNvPr id="24" name="Image 3" descr="no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2161032"/>
            <a:ext cx="777240" cy="77724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217920" y="298399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</a:t>
            </a: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eu</a:t>
            </a: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</a:t>
            </a:r>
            <a:endParaRPr lang="en-US" sz="3000" dirty="0"/>
          </a:p>
        </p:txBody>
      </p:sp>
      <p:sp>
        <p:nvSpPr>
          <p:cNvPr id="26" name="tag"/>
          <p:cNvSpPr/>
          <p:nvPr/>
        </p:nvSpPr>
        <p:spPr>
          <a:xfrm>
            <a:off x="7155180" y="3605784"/>
            <a:ext cx="617525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eu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9052560" y="2023872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9162288" y="213360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9162288" y="2133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pic>
        <p:nvPicPr>
          <p:cNvPr id="30" name="Image 4" descr="bu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0" y="2161032"/>
            <a:ext cx="777240" cy="7772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52560" y="298399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</a:t>
            </a:r>
            <a:r>
              <a:rPr lang="en-US" sz="30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</a:t>
            </a: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</a:t>
            </a:r>
            <a:endParaRPr lang="en-US" sz="3000" dirty="0"/>
          </a:p>
        </p:txBody>
      </p:sp>
      <p:sp>
        <p:nvSpPr>
          <p:cNvPr id="32" name="tag"/>
          <p:cNvSpPr/>
          <p:nvPr/>
        </p:nvSpPr>
        <p:spPr>
          <a:xfrm>
            <a:off x="9989820" y="3605784"/>
            <a:ext cx="491642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u</a:t>
            </a:r>
            <a:endParaRPr lang="en-US" sz="1400" dirty="0"/>
          </a:p>
        </p:txBody>
      </p:sp>
      <p:sp>
        <p:nvSpPr>
          <p:cNvPr id="33" name="Shape 25"/>
          <p:cNvSpPr/>
          <p:nvPr/>
        </p:nvSpPr>
        <p:spPr>
          <a:xfrm>
            <a:off x="548640" y="4264152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58368" y="437388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658368" y="4373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pic>
        <p:nvPicPr>
          <p:cNvPr id="36" name="Image 5" descr="man farm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3040" y="4401312"/>
            <a:ext cx="777240" cy="77724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548640" y="522427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E4A9E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</a:t>
            </a:r>
            <a:r>
              <a:rPr lang="en-US" sz="3000" b="1" dirty="0">
                <a:solidFill>
                  <a:srgbClr val="6E4A9E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oe</a:t>
            </a:r>
            <a:r>
              <a:rPr lang="en-US" sz="3000" dirty="0">
                <a:solidFill>
                  <a:srgbClr val="6E4A9E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</a:t>
            </a:r>
            <a:endParaRPr lang="en-US" sz="3000" dirty="0"/>
          </a:p>
        </p:txBody>
      </p:sp>
      <p:sp>
        <p:nvSpPr>
          <p:cNvPr id="38" name="tag"/>
          <p:cNvSpPr/>
          <p:nvPr/>
        </p:nvSpPr>
        <p:spPr>
          <a:xfrm>
            <a:off x="1485900" y="5846064"/>
            <a:ext cx="617525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oe</a:t>
            </a:r>
            <a:endParaRPr lang="en-US" sz="1400" dirty="0"/>
          </a:p>
        </p:txBody>
      </p:sp>
      <p:sp>
        <p:nvSpPr>
          <p:cNvPr id="39" name="Shape 30"/>
          <p:cNvSpPr/>
          <p:nvPr/>
        </p:nvSpPr>
        <p:spPr>
          <a:xfrm>
            <a:off x="3383280" y="4264152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3493008" y="437388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3493008" y="4373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pic>
        <p:nvPicPr>
          <p:cNvPr id="42" name="Image 6" descr="cross mar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4401312"/>
            <a:ext cx="777240" cy="777240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3383280" y="522427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</a:t>
            </a: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ou</a:t>
            </a: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</a:t>
            </a:r>
            <a:endParaRPr lang="en-US" sz="3000" dirty="0"/>
          </a:p>
        </p:txBody>
      </p:sp>
      <p:sp>
        <p:nvSpPr>
          <p:cNvPr id="44" name="tag"/>
          <p:cNvSpPr/>
          <p:nvPr/>
        </p:nvSpPr>
        <p:spPr>
          <a:xfrm>
            <a:off x="4320540" y="5846064"/>
            <a:ext cx="617525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ou</a:t>
            </a:r>
            <a:endParaRPr lang="en-US" sz="1400" dirty="0"/>
          </a:p>
        </p:txBody>
      </p:sp>
      <p:sp>
        <p:nvSpPr>
          <p:cNvPr id="45" name="Shape 35"/>
          <p:cNvSpPr/>
          <p:nvPr/>
        </p:nvSpPr>
        <p:spPr>
          <a:xfrm>
            <a:off x="6217920" y="4264152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6327648" y="437388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37"/>
          <p:cNvSpPr txBox="1"/>
          <p:nvPr/>
        </p:nvSpPr>
        <p:spPr>
          <a:xfrm>
            <a:off x="6327648" y="4373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pic>
        <p:nvPicPr>
          <p:cNvPr id="48" name="Image 7" descr="grinning fac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0" y="4401312"/>
            <a:ext cx="777240" cy="77724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6217920" y="522427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</a:t>
            </a: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eu</a:t>
            </a: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</a:t>
            </a:r>
            <a:endParaRPr lang="en-US" sz="3000" dirty="0"/>
          </a:p>
        </p:txBody>
      </p:sp>
      <p:sp>
        <p:nvSpPr>
          <p:cNvPr id="50" name="tag"/>
          <p:cNvSpPr/>
          <p:nvPr/>
        </p:nvSpPr>
        <p:spPr>
          <a:xfrm>
            <a:off x="7155180" y="5846064"/>
            <a:ext cx="617525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eu</a:t>
            </a:r>
            <a:endParaRPr lang="en-US" sz="1400" dirty="0"/>
          </a:p>
        </p:txBody>
      </p:sp>
      <p:sp>
        <p:nvSpPr>
          <p:cNvPr id="51" name="Shape 40"/>
          <p:cNvSpPr/>
          <p:nvPr/>
        </p:nvSpPr>
        <p:spPr>
          <a:xfrm>
            <a:off x="9052560" y="4264152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52" name="Shape 41"/>
          <p:cNvSpPr/>
          <p:nvPr/>
        </p:nvSpPr>
        <p:spPr>
          <a:xfrm>
            <a:off x="9162288" y="437388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2"/>
          <p:cNvSpPr txBox="1"/>
          <p:nvPr/>
        </p:nvSpPr>
        <p:spPr>
          <a:xfrm>
            <a:off x="9162288" y="4373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pic>
        <p:nvPicPr>
          <p:cNvPr id="54" name="Image 8" descr="sunflowe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66960" y="4401312"/>
            <a:ext cx="777240" cy="777240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9052560" y="522427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</a:t>
            </a: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ui</a:t>
            </a: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</a:t>
            </a:r>
            <a:endParaRPr lang="en-US" sz="3000" dirty="0"/>
          </a:p>
        </p:txBody>
      </p:sp>
      <p:sp>
        <p:nvSpPr>
          <p:cNvPr id="56" name="tag"/>
          <p:cNvSpPr/>
          <p:nvPr/>
        </p:nvSpPr>
        <p:spPr>
          <a:xfrm>
            <a:off x="9989820" y="5846064"/>
            <a:ext cx="617525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ui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ij ou ei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la lange ij ou la korte ei.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206752"/>
            <a:ext cx="3451860" cy="399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chemeClr val="tx2"/>
                </a:solidFill>
              </a:rPr>
              <a:t>1  </a:t>
            </a:r>
            <a:r>
              <a:rPr lang="en-US" sz="3600" dirty="0">
                <a:solidFill>
                  <a:schemeClr val="tx1"/>
                </a:solidFill>
              </a:rPr>
              <a:t>m</a:t>
            </a:r>
            <a:r>
              <a:rPr lang="en-US" sz="3600" dirty="0">
                <a:solidFill>
                  <a:srgbClr val="B8C2CF"/>
                </a:solidFill>
              </a:rPr>
              <a:t>……</a:t>
            </a:r>
            <a:r>
              <a:rPr lang="en-US" sz="3600" dirty="0">
                <a:solidFill>
                  <a:schemeClr val="tx1"/>
                </a:solidFill>
              </a:rPr>
              <a:t>n</a:t>
            </a:r>
            <a:endParaRPr lang="en-US" sz="3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chemeClr val="tx2"/>
                </a:solidFill>
              </a:rPr>
              <a:t>2  </a:t>
            </a:r>
            <a:r>
              <a:rPr lang="en-US" sz="3600" dirty="0">
                <a:solidFill>
                  <a:schemeClr val="tx1"/>
                </a:solidFill>
              </a:rPr>
              <a:t>kl</a:t>
            </a:r>
            <a:r>
              <a:rPr lang="en-US" sz="3600" dirty="0">
                <a:solidFill>
                  <a:srgbClr val="B8C2CF"/>
                </a:solidFill>
              </a:rPr>
              <a:t>……</a:t>
            </a:r>
            <a:r>
              <a:rPr lang="en-US" sz="3600" dirty="0">
                <a:solidFill>
                  <a:schemeClr val="tx1"/>
                </a:solidFill>
              </a:rPr>
              <a:t>n</a:t>
            </a:r>
            <a:endParaRPr lang="en-US" sz="3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chemeClr val="tx2"/>
                </a:solidFill>
              </a:rPr>
              <a:t>3  </a:t>
            </a:r>
            <a:r>
              <a:rPr lang="en-US" sz="3600" dirty="0">
                <a:solidFill>
                  <a:schemeClr val="tx1"/>
                </a:solidFill>
              </a:rPr>
              <a:t>t</a:t>
            </a:r>
            <a:r>
              <a:rPr lang="en-US" sz="3600" dirty="0">
                <a:solidFill>
                  <a:srgbClr val="B8C2CF"/>
                </a:solidFill>
              </a:rPr>
              <a:t>……</a:t>
            </a:r>
            <a:r>
              <a:rPr lang="en-US" sz="3600" dirty="0">
                <a:solidFill>
                  <a:schemeClr val="tx1"/>
                </a:solidFill>
              </a:rPr>
              <a:t>d</a:t>
            </a:r>
            <a:endParaRPr lang="en-US" sz="3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chemeClr val="tx2"/>
                </a:solidFill>
              </a:rPr>
              <a:t>4  </a:t>
            </a:r>
            <a:r>
              <a:rPr lang="en-US" sz="3600" dirty="0">
                <a:solidFill>
                  <a:schemeClr val="tx1"/>
                </a:solidFill>
              </a:rPr>
              <a:t>tr</a:t>
            </a:r>
            <a:r>
              <a:rPr lang="en-US" sz="3600" dirty="0">
                <a:solidFill>
                  <a:srgbClr val="B8C2CF"/>
                </a:solidFill>
              </a:rPr>
              <a:t>……</a:t>
            </a:r>
            <a:r>
              <a:rPr lang="en-US" sz="3600" dirty="0">
                <a:solidFill>
                  <a:schemeClr val="tx1"/>
                </a:solidFill>
              </a:rPr>
              <a:t>n</a:t>
            </a:r>
            <a:endParaRPr lang="en-US" sz="3600" dirty="0"/>
          </a:p>
        </p:txBody>
      </p:sp>
      <p:sp>
        <p:nvSpPr>
          <p:cNvPr id="9" name="Text 5"/>
          <p:cNvSpPr txBox="1"/>
          <p:nvPr/>
        </p:nvSpPr>
        <p:spPr>
          <a:xfrm>
            <a:off x="4411980" y="2206752"/>
            <a:ext cx="3451860" cy="399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chemeClr val="tx2"/>
                </a:solidFill>
              </a:rPr>
              <a:t>5  </a:t>
            </a:r>
            <a:r>
              <a:rPr lang="en-US" sz="3600" dirty="0">
                <a:solidFill>
                  <a:schemeClr val="tx1"/>
                </a:solidFill>
              </a:rPr>
              <a:t>w</a:t>
            </a:r>
            <a:r>
              <a:rPr lang="en-US" sz="3600" dirty="0">
                <a:solidFill>
                  <a:srgbClr val="B8C2CF"/>
                </a:solidFill>
              </a:rPr>
              <a:t>……</a:t>
            </a:r>
            <a:r>
              <a:rPr lang="en-US" sz="3600" dirty="0">
                <a:solidFill>
                  <a:schemeClr val="tx1"/>
                </a:solidFill>
              </a:rPr>
              <a:t>nig</a:t>
            </a:r>
            <a:endParaRPr lang="en-US" sz="3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chemeClr val="tx2"/>
                </a:solidFill>
              </a:rPr>
              <a:t>6  </a:t>
            </a:r>
            <a:r>
              <a:rPr lang="en-US" sz="3600" dirty="0">
                <a:solidFill>
                  <a:schemeClr val="tx1"/>
                </a:solidFill>
              </a:rPr>
              <a:t>w</a:t>
            </a:r>
            <a:r>
              <a:rPr lang="en-US" sz="3600" dirty="0">
                <a:solidFill>
                  <a:srgbClr val="B8C2CF"/>
                </a:solidFill>
              </a:rPr>
              <a:t>……</a:t>
            </a:r>
            <a:r>
              <a:rPr lang="en-US" sz="3600" dirty="0">
                <a:solidFill>
                  <a:schemeClr val="tx1"/>
                </a:solidFill>
              </a:rPr>
              <a:t>n</a:t>
            </a:r>
            <a:endParaRPr lang="en-US" sz="3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chemeClr val="tx2"/>
                </a:solidFill>
              </a:rPr>
              <a:t>7  </a:t>
            </a:r>
            <a:r>
              <a:rPr lang="en-US" sz="3600" dirty="0">
                <a:solidFill>
                  <a:schemeClr val="tx1"/>
                </a:solidFill>
              </a:rPr>
              <a:t>r</a:t>
            </a:r>
            <a:r>
              <a:rPr lang="en-US" sz="3600" dirty="0">
                <a:solidFill>
                  <a:srgbClr val="B8C2CF"/>
                </a:solidFill>
              </a:rPr>
              <a:t>……</a:t>
            </a:r>
            <a:r>
              <a:rPr lang="en-US" sz="3600" dirty="0">
                <a:solidFill>
                  <a:schemeClr val="tx1"/>
                </a:solidFill>
              </a:rPr>
              <a:t>s</a:t>
            </a:r>
            <a:endParaRPr lang="en-US" sz="3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chemeClr val="tx2"/>
                </a:solidFill>
              </a:rPr>
              <a:t>8  </a:t>
            </a:r>
            <a:r>
              <a:rPr lang="en-US" sz="3600" dirty="0">
                <a:solidFill>
                  <a:schemeClr val="tx1"/>
                </a:solidFill>
              </a:rPr>
              <a:t>z</a:t>
            </a:r>
            <a:r>
              <a:rPr lang="en-US" sz="3600" dirty="0">
                <a:solidFill>
                  <a:srgbClr val="B8C2CF"/>
                </a:solidFill>
              </a:rPr>
              <a:t>……</a:t>
            </a:r>
            <a:r>
              <a:rPr lang="en-US" sz="3600" dirty="0">
                <a:solidFill>
                  <a:schemeClr val="tx1"/>
                </a:solidFill>
              </a:rPr>
              <a:t>n</a:t>
            </a:r>
            <a:endParaRPr lang="en-US" sz="3600" dirty="0"/>
          </a:p>
        </p:txBody>
      </p:sp>
      <p:sp>
        <p:nvSpPr>
          <p:cNvPr id="10" name="Shape 6"/>
          <p:cNvSpPr/>
          <p:nvPr/>
        </p:nvSpPr>
        <p:spPr>
          <a:xfrm>
            <a:off x="8229600" y="2115312"/>
            <a:ext cx="3410712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381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8412480" y="2252472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IJ</a:t>
            </a:r>
            <a:endParaRPr lang="en-US" sz="5400" dirty="0"/>
          </a:p>
        </p:txBody>
      </p:sp>
      <p:pic>
        <p:nvPicPr>
          <p:cNvPr id="12" name="Image 1" descr="wine gla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2343912"/>
            <a:ext cx="914400" cy="9144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412480" y="33497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lange ij</a:t>
            </a:r>
            <a:endParaRPr lang="en-US" sz="2200" dirty="0"/>
          </a:p>
        </p:txBody>
      </p:sp>
      <p:sp>
        <p:nvSpPr>
          <p:cNvPr id="14" name="Shape 9"/>
          <p:cNvSpPr/>
          <p:nvPr/>
        </p:nvSpPr>
        <p:spPr>
          <a:xfrm>
            <a:off x="8229600" y="4264152"/>
            <a:ext cx="3410712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381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8412480" y="4401312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EI</a:t>
            </a:r>
            <a:endParaRPr lang="en-US" sz="5400" dirty="0"/>
          </a:p>
        </p:txBody>
      </p:sp>
      <p:pic>
        <p:nvPicPr>
          <p:cNvPr id="16" name="Image 2" descr="tra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4492752"/>
            <a:ext cx="914400" cy="9144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412480" y="54985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korte ei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ij ou ei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la lange ij ou la korte ei.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206752"/>
            <a:ext cx="3451860" cy="399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chemeClr val="tx2"/>
                </a:solidFill>
              </a:rPr>
              <a:t>1  </a:t>
            </a:r>
            <a:r>
              <a:rPr lang="en-US" sz="3600" dirty="0">
                <a:solidFill>
                  <a:schemeClr val="tx1"/>
                </a:solidFill>
              </a:rPr>
              <a:t>m</a:t>
            </a:r>
            <a:r>
              <a:rPr lang="en-US" sz="3600" b="1" dirty="0">
                <a:solidFill>
                  <a:schemeClr val="accent2"/>
                </a:solidFill>
              </a:rPr>
              <a:t>ij</a:t>
            </a:r>
            <a:r>
              <a:rPr lang="en-US" sz="3600" dirty="0">
                <a:solidFill>
                  <a:schemeClr val="tx1"/>
                </a:solidFill>
              </a:rPr>
              <a:t>n</a:t>
            </a:r>
            <a:endParaRPr lang="en-US" sz="3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chemeClr val="tx2"/>
                </a:solidFill>
              </a:rPr>
              <a:t>2  </a:t>
            </a:r>
            <a:r>
              <a:rPr lang="en-US" sz="3600" dirty="0">
                <a:solidFill>
                  <a:schemeClr val="tx1"/>
                </a:solidFill>
              </a:rPr>
              <a:t>kl</a:t>
            </a:r>
            <a:r>
              <a:rPr lang="en-US" sz="3600" b="1" dirty="0">
                <a:solidFill>
                  <a:schemeClr val="accent1"/>
                </a:solidFill>
              </a:rPr>
              <a:t>ei</a:t>
            </a:r>
            <a:r>
              <a:rPr lang="en-US" sz="3600" dirty="0">
                <a:solidFill>
                  <a:schemeClr val="tx1"/>
                </a:solidFill>
              </a:rPr>
              <a:t>n</a:t>
            </a:r>
            <a:endParaRPr lang="en-US" sz="3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chemeClr val="tx2"/>
                </a:solidFill>
              </a:rPr>
              <a:t>3  </a:t>
            </a:r>
            <a:r>
              <a:rPr lang="en-US" sz="3600" dirty="0">
                <a:solidFill>
                  <a:schemeClr val="tx1"/>
                </a:solidFill>
              </a:rPr>
              <a:t>t</a:t>
            </a:r>
            <a:r>
              <a:rPr lang="en-US" sz="3600" b="1" dirty="0">
                <a:solidFill>
                  <a:schemeClr val="accent2"/>
                </a:solidFill>
              </a:rPr>
              <a:t>ij</a:t>
            </a:r>
            <a:r>
              <a:rPr lang="en-US" sz="3600" dirty="0">
                <a:solidFill>
                  <a:schemeClr val="tx1"/>
                </a:solidFill>
              </a:rPr>
              <a:t>d</a:t>
            </a:r>
            <a:endParaRPr lang="en-US" sz="3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chemeClr val="tx2"/>
                </a:solidFill>
              </a:rPr>
              <a:t>4  </a:t>
            </a:r>
            <a:r>
              <a:rPr lang="en-US" sz="3600" dirty="0">
                <a:solidFill>
                  <a:schemeClr val="tx1"/>
                </a:solidFill>
              </a:rPr>
              <a:t>tr</a:t>
            </a:r>
            <a:r>
              <a:rPr lang="en-US" sz="3600" b="1" dirty="0">
                <a:solidFill>
                  <a:schemeClr val="accent1"/>
                </a:solidFill>
              </a:rPr>
              <a:t>ei</a:t>
            </a:r>
            <a:r>
              <a:rPr lang="en-US" sz="3600" dirty="0">
                <a:solidFill>
                  <a:schemeClr val="tx1"/>
                </a:solidFill>
              </a:rPr>
              <a:t>n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4411980" y="2206752"/>
            <a:ext cx="3451860" cy="399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chemeClr val="tx2"/>
                </a:solidFill>
              </a:rPr>
              <a:t>5  </a:t>
            </a:r>
            <a:r>
              <a:rPr lang="en-US" sz="3600" dirty="0">
                <a:solidFill>
                  <a:schemeClr val="tx1"/>
                </a:solidFill>
              </a:rPr>
              <a:t>w</a:t>
            </a:r>
            <a:r>
              <a:rPr lang="en-US" sz="3600" b="1" dirty="0">
                <a:solidFill>
                  <a:schemeClr val="accent1"/>
                </a:solidFill>
              </a:rPr>
              <a:t>ei</a:t>
            </a:r>
            <a:r>
              <a:rPr lang="en-US" sz="3600" dirty="0">
                <a:solidFill>
                  <a:schemeClr val="tx1"/>
                </a:solidFill>
              </a:rPr>
              <a:t>nig</a:t>
            </a:r>
            <a:endParaRPr lang="en-US" sz="3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chemeClr val="tx2"/>
                </a:solidFill>
              </a:rPr>
              <a:t>6  </a:t>
            </a:r>
            <a:r>
              <a:rPr lang="en-US" sz="3600" dirty="0">
                <a:solidFill>
                  <a:schemeClr val="tx1"/>
                </a:solidFill>
              </a:rPr>
              <a:t>w</a:t>
            </a:r>
            <a:r>
              <a:rPr lang="en-US" sz="3600" b="1" dirty="0">
                <a:solidFill>
                  <a:schemeClr val="accent2"/>
                </a:solidFill>
              </a:rPr>
              <a:t>ij</a:t>
            </a:r>
            <a:r>
              <a:rPr lang="en-US" sz="3600" dirty="0">
                <a:solidFill>
                  <a:schemeClr val="tx1"/>
                </a:solidFill>
              </a:rPr>
              <a:t>n</a:t>
            </a:r>
            <a:endParaRPr lang="en-US" sz="3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chemeClr val="tx2"/>
                </a:solidFill>
              </a:rPr>
              <a:t>7  </a:t>
            </a:r>
            <a:r>
              <a:rPr lang="en-US" sz="3600" dirty="0">
                <a:solidFill>
                  <a:schemeClr val="tx1"/>
                </a:solidFill>
              </a:rPr>
              <a:t>r</a:t>
            </a:r>
            <a:r>
              <a:rPr lang="en-US" sz="3600" b="1" dirty="0">
                <a:solidFill>
                  <a:schemeClr val="accent1"/>
                </a:solidFill>
              </a:rPr>
              <a:t>ei</a:t>
            </a:r>
            <a:r>
              <a:rPr lang="en-US" sz="3600" dirty="0">
                <a:solidFill>
                  <a:schemeClr val="tx1"/>
                </a:solidFill>
              </a:rPr>
              <a:t>s</a:t>
            </a:r>
            <a:endParaRPr lang="en-US" sz="3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chemeClr val="tx2"/>
                </a:solidFill>
              </a:rPr>
              <a:t>8  </a:t>
            </a:r>
            <a:r>
              <a:rPr lang="en-US" sz="3600" dirty="0">
                <a:solidFill>
                  <a:schemeClr val="tx1"/>
                </a:solidFill>
              </a:rPr>
              <a:t>z</a:t>
            </a:r>
            <a:r>
              <a:rPr lang="en-US" sz="3600" b="1" dirty="0">
                <a:solidFill>
                  <a:schemeClr val="accent2"/>
                </a:solidFill>
              </a:rPr>
              <a:t>ij</a:t>
            </a:r>
            <a:r>
              <a:rPr lang="en-US" sz="3600" dirty="0">
                <a:solidFill>
                  <a:schemeClr val="tx1"/>
                </a:solidFill>
              </a:rPr>
              <a:t>n</a:t>
            </a:r>
            <a:endParaRPr lang="en-US" sz="3600" dirty="0"/>
          </a:p>
        </p:txBody>
      </p:sp>
      <p:sp>
        <p:nvSpPr>
          <p:cNvPr id="11" name="Shape 7"/>
          <p:cNvSpPr/>
          <p:nvPr/>
        </p:nvSpPr>
        <p:spPr>
          <a:xfrm>
            <a:off x="8229600" y="2115312"/>
            <a:ext cx="3410712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381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412480" y="2252472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IJ</a:t>
            </a:r>
            <a:endParaRPr lang="en-US" sz="5400" dirty="0"/>
          </a:p>
        </p:txBody>
      </p:sp>
      <p:pic>
        <p:nvPicPr>
          <p:cNvPr id="13" name="Image 1" descr="wine gla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2343912"/>
            <a:ext cx="914400" cy="9144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412480" y="33497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lange ij</a:t>
            </a:r>
            <a:endParaRPr lang="en-US" sz="2200" dirty="0"/>
          </a:p>
        </p:txBody>
      </p:sp>
      <p:sp>
        <p:nvSpPr>
          <p:cNvPr id="15" name="Shape 10"/>
          <p:cNvSpPr/>
          <p:nvPr/>
        </p:nvSpPr>
        <p:spPr>
          <a:xfrm>
            <a:off x="8229600" y="4264152"/>
            <a:ext cx="3410712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381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>
            <a:off x="8412480" y="4401312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EI</a:t>
            </a:r>
            <a:endParaRPr lang="en-US" sz="5400" dirty="0"/>
          </a:p>
        </p:txBody>
      </p:sp>
      <p:pic>
        <p:nvPicPr>
          <p:cNvPr id="17" name="Image 2" descr="tra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4492752"/>
            <a:ext cx="914400" cy="9144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412480" y="54985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korte ei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Les familles de sons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Rangez chaque mot dans sa famille.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128016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94360" y="193243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huis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1947672" y="1932432"/>
            <a:ext cx="128016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993392" y="193243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nieuw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3346704" y="1932432"/>
            <a:ext cx="128016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392424" y="193243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boek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745736" y="1932432"/>
            <a:ext cx="128016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791456" y="193243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tijd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144768" y="1932432"/>
            <a:ext cx="128016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190488" y="193243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mooi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7543800" y="1932432"/>
            <a:ext cx="128016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589520" y="193243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deur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8942832" y="1932432"/>
            <a:ext cx="128016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988552" y="193243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sneeuw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10341864" y="1932432"/>
            <a:ext cx="128016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0387584" y="193243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tuin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548640" y="2590800"/>
            <a:ext cx="128016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94360" y="259080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vrouw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947672" y="2590800"/>
            <a:ext cx="128016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993392" y="259080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saai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3346704" y="2590800"/>
            <a:ext cx="128016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3392424" y="259080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klein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4745736" y="2590800"/>
            <a:ext cx="128016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791456" y="259080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uw</a:t>
            </a:r>
            <a:endParaRPr lang="en-US" sz="1800" dirty="0"/>
          </a:p>
        </p:txBody>
      </p:sp>
      <p:sp>
        <p:nvSpPr>
          <p:cNvPr id="32" name="Shape 28"/>
          <p:cNvSpPr/>
          <p:nvPr/>
        </p:nvSpPr>
        <p:spPr>
          <a:xfrm>
            <a:off x="6144768" y="2590800"/>
            <a:ext cx="128016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190488" y="259080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broer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7543800" y="2590800"/>
            <a:ext cx="128016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589520" y="259080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moeilijk</a:t>
            </a:r>
            <a:endParaRPr lang="en-US" sz="1800" dirty="0"/>
          </a:p>
        </p:txBody>
      </p:sp>
      <p:sp>
        <p:nvSpPr>
          <p:cNvPr id="36" name="Shape 32"/>
          <p:cNvSpPr/>
          <p:nvPr/>
        </p:nvSpPr>
        <p:spPr>
          <a:xfrm>
            <a:off x="8942832" y="2590800"/>
            <a:ext cx="128016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8988552" y="259080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keuken</a:t>
            </a:r>
            <a:endParaRPr lang="en-US" sz="1800" dirty="0"/>
          </a:p>
        </p:txBody>
      </p:sp>
      <p:sp>
        <p:nvSpPr>
          <p:cNvPr id="38" name="Shape 34"/>
          <p:cNvSpPr/>
          <p:nvPr/>
        </p:nvSpPr>
        <p:spPr>
          <a:xfrm>
            <a:off x="10341864" y="2590800"/>
            <a:ext cx="128016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10387584" y="259080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blauw</a:t>
            </a:r>
            <a:endParaRPr lang="en-US" sz="1800" dirty="0"/>
          </a:p>
        </p:txBody>
      </p:sp>
      <p:sp>
        <p:nvSpPr>
          <p:cNvPr id="40" name="Shape 36"/>
          <p:cNvSpPr/>
          <p:nvPr/>
        </p:nvSpPr>
        <p:spPr>
          <a:xfrm>
            <a:off x="548640" y="3395472"/>
            <a:ext cx="1719072" cy="2895600"/>
          </a:xfrm>
          <a:prstGeom prst="roundRect">
            <a:avLst>
              <a:gd name="adj" fmla="val 4255"/>
            </a:avLst>
          </a:prstGeom>
          <a:solidFill>
            <a:schemeClr val="accent2">
              <a:alpha val="10000"/>
            </a:schemeClr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548640" y="3395472"/>
            <a:ext cx="1719072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548640" y="339547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ij / ei</a:t>
            </a:r>
            <a:endParaRPr lang="en-US" sz="1800" dirty="0"/>
          </a:p>
        </p:txBody>
      </p:sp>
      <p:sp>
        <p:nvSpPr>
          <p:cNvPr id="43" name="Shape 39"/>
          <p:cNvSpPr/>
          <p:nvPr/>
        </p:nvSpPr>
        <p:spPr>
          <a:xfrm>
            <a:off x="2423160" y="3395472"/>
            <a:ext cx="1719072" cy="2895600"/>
          </a:xfrm>
          <a:prstGeom prst="roundRect">
            <a:avLst>
              <a:gd name="adj" fmla="val 4255"/>
            </a:avLst>
          </a:prstGeom>
          <a:solidFill>
            <a:schemeClr val="accent1">
              <a:alpha val="10000"/>
            </a:schemeClr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2423160" y="3395472"/>
            <a:ext cx="1719072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2423160" y="339547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ui</a:t>
            </a:r>
            <a:endParaRPr lang="en-US" sz="1800" dirty="0"/>
          </a:p>
        </p:txBody>
      </p:sp>
      <p:sp>
        <p:nvSpPr>
          <p:cNvPr id="46" name="Shape 42"/>
          <p:cNvSpPr/>
          <p:nvPr/>
        </p:nvSpPr>
        <p:spPr>
          <a:xfrm>
            <a:off x="4297680" y="3395472"/>
            <a:ext cx="1719072" cy="2895600"/>
          </a:xfrm>
          <a:prstGeom prst="roundRect">
            <a:avLst>
              <a:gd name="adj" fmla="val 4255"/>
            </a:avLst>
          </a:prstGeom>
          <a:solidFill>
            <a:schemeClr val="accent3">
              <a:alpha val="10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4297680" y="3395472"/>
            <a:ext cx="1719072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4297680" y="339547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eu</a:t>
            </a:r>
            <a:endParaRPr lang="en-US" sz="1800" dirty="0"/>
          </a:p>
        </p:txBody>
      </p:sp>
      <p:sp>
        <p:nvSpPr>
          <p:cNvPr id="49" name="Shape 45"/>
          <p:cNvSpPr/>
          <p:nvPr/>
        </p:nvSpPr>
        <p:spPr>
          <a:xfrm>
            <a:off x="6172200" y="3395472"/>
            <a:ext cx="1719072" cy="2895600"/>
          </a:xfrm>
          <a:prstGeom prst="roundRect">
            <a:avLst>
              <a:gd name="adj" fmla="val 4255"/>
            </a:avLst>
          </a:prstGeom>
          <a:solidFill>
            <a:srgbClr val="6E4A9E">
              <a:alpha val="10000"/>
            </a:srgbClr>
          </a:solidFill>
          <a:ln w="19050">
            <a:solidFill>
              <a:srgbClr val="6E4A9E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6172200" y="3395472"/>
            <a:ext cx="1719072" cy="502920"/>
          </a:xfrm>
          <a:prstGeom prst="roundRect">
            <a:avLst>
              <a:gd name="adj" fmla="val 14545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6172200" y="339547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oe</a:t>
            </a:r>
            <a:endParaRPr lang="en-US" sz="1800" dirty="0"/>
          </a:p>
        </p:txBody>
      </p:sp>
      <p:sp>
        <p:nvSpPr>
          <p:cNvPr id="52" name="Shape 48"/>
          <p:cNvSpPr/>
          <p:nvPr/>
        </p:nvSpPr>
        <p:spPr>
          <a:xfrm>
            <a:off x="8046720" y="3395472"/>
            <a:ext cx="1719072" cy="2895600"/>
          </a:xfrm>
          <a:prstGeom prst="roundRect">
            <a:avLst>
              <a:gd name="adj" fmla="val 4255"/>
            </a:avLst>
          </a:prstGeom>
          <a:solidFill>
            <a:schemeClr val="tx2">
              <a:alpha val="10000"/>
            </a:schemeClr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8046720" y="3395472"/>
            <a:ext cx="1719072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8046720" y="339547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ou / au</a:t>
            </a:r>
            <a:endParaRPr lang="en-US" sz="1800" dirty="0"/>
          </a:p>
        </p:txBody>
      </p:sp>
      <p:sp>
        <p:nvSpPr>
          <p:cNvPr id="55" name="Shape 51"/>
          <p:cNvSpPr/>
          <p:nvPr/>
        </p:nvSpPr>
        <p:spPr>
          <a:xfrm>
            <a:off x="9921240" y="3395472"/>
            <a:ext cx="1719072" cy="2895600"/>
          </a:xfrm>
          <a:prstGeom prst="roundRect">
            <a:avLst>
              <a:gd name="adj" fmla="val 4255"/>
            </a:avLst>
          </a:prstGeom>
          <a:solidFill>
            <a:schemeClr val="accent4">
              <a:alpha val="10000"/>
            </a:schemeClr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9921240" y="3395472"/>
            <a:ext cx="1719072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9921240" y="339547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 lettres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Les familles de sons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Rangez chaque mot dans sa famille.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1719072" cy="4358640"/>
          </a:xfrm>
          <a:prstGeom prst="roundRect">
            <a:avLst>
              <a:gd name="adj" fmla="val 4255"/>
            </a:avLst>
          </a:prstGeom>
          <a:solidFill>
            <a:schemeClr val="accent2">
              <a:alpha val="10000"/>
            </a:schemeClr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48640" y="1932432"/>
            <a:ext cx="1719072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193243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ij / ei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57251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tijd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102864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klein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2423160" y="1932432"/>
            <a:ext cx="1719072" cy="4358640"/>
          </a:xfrm>
          <a:prstGeom prst="roundRect">
            <a:avLst>
              <a:gd name="adj" fmla="val 4255"/>
            </a:avLst>
          </a:prstGeom>
          <a:solidFill>
            <a:schemeClr val="accent1">
              <a:alpha val="10000"/>
            </a:schemeClr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423160" y="1932432"/>
            <a:ext cx="1719072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423160" y="193243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ui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2423160" y="257251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huis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2423160" y="3102864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tuin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4297680" y="1932432"/>
            <a:ext cx="1719072" cy="4358640"/>
          </a:xfrm>
          <a:prstGeom prst="roundRect">
            <a:avLst>
              <a:gd name="adj" fmla="val 4255"/>
            </a:avLst>
          </a:prstGeom>
          <a:solidFill>
            <a:schemeClr val="accent3">
              <a:alpha val="10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297680" y="1932432"/>
            <a:ext cx="1719072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297680" y="193243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eu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4297680" y="257251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keuken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4297680" y="3102864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deur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6172200" y="1932432"/>
            <a:ext cx="1719072" cy="4358640"/>
          </a:xfrm>
          <a:prstGeom prst="roundRect">
            <a:avLst>
              <a:gd name="adj" fmla="val 4255"/>
            </a:avLst>
          </a:prstGeom>
          <a:solidFill>
            <a:srgbClr val="6E4A9E">
              <a:alpha val="10000"/>
            </a:srgbClr>
          </a:solidFill>
          <a:ln w="19050">
            <a:solidFill>
              <a:srgbClr val="6E4A9E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172200" y="1932432"/>
            <a:ext cx="1719072" cy="502920"/>
          </a:xfrm>
          <a:prstGeom prst="roundRect">
            <a:avLst>
              <a:gd name="adj" fmla="val 14545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172200" y="193243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oe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6172200" y="257251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broer</a:t>
            </a:r>
            <a:endParaRPr lang="en-US" sz="2000" dirty="0"/>
          </a:p>
        </p:txBody>
      </p:sp>
      <p:sp>
        <p:nvSpPr>
          <p:cNvPr id="28" name="Text 24"/>
          <p:cNvSpPr txBox="1"/>
          <p:nvPr/>
        </p:nvSpPr>
        <p:spPr>
          <a:xfrm>
            <a:off x="6172200" y="3102864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boek</a:t>
            </a:r>
            <a:endParaRPr lang="en-US" sz="2000" dirty="0"/>
          </a:p>
        </p:txBody>
      </p:sp>
      <p:sp>
        <p:nvSpPr>
          <p:cNvPr id="29" name="Shape 25"/>
          <p:cNvSpPr/>
          <p:nvPr/>
        </p:nvSpPr>
        <p:spPr>
          <a:xfrm>
            <a:off x="8046720" y="1932432"/>
            <a:ext cx="1719072" cy="4358640"/>
          </a:xfrm>
          <a:prstGeom prst="roundRect">
            <a:avLst>
              <a:gd name="adj" fmla="val 4255"/>
            </a:avLst>
          </a:prstGeom>
          <a:solidFill>
            <a:schemeClr val="tx2">
              <a:alpha val="10000"/>
            </a:schemeClr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046720" y="1932432"/>
            <a:ext cx="1719072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046720" y="193243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ou / au</a:t>
            </a:r>
            <a:endParaRPr lang="en-US" sz="1800" dirty="0"/>
          </a:p>
        </p:txBody>
      </p:sp>
      <p:sp>
        <p:nvSpPr>
          <p:cNvPr id="32" name="Text 28"/>
          <p:cNvSpPr txBox="1"/>
          <p:nvPr/>
        </p:nvSpPr>
        <p:spPr>
          <a:xfrm>
            <a:off x="8046720" y="257251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vrouw</a:t>
            </a:r>
            <a:endParaRPr lang="en-US" sz="2000" dirty="0"/>
          </a:p>
        </p:txBody>
      </p:sp>
      <p:sp>
        <p:nvSpPr>
          <p:cNvPr id="33" name="Text 29"/>
          <p:cNvSpPr txBox="1"/>
          <p:nvPr/>
        </p:nvSpPr>
        <p:spPr>
          <a:xfrm>
            <a:off x="8046720" y="3102864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blauw</a:t>
            </a:r>
            <a:endParaRPr lang="en-US" sz="2000" dirty="0"/>
          </a:p>
        </p:txBody>
      </p:sp>
      <p:sp>
        <p:nvSpPr>
          <p:cNvPr id="34" name="Shape 30"/>
          <p:cNvSpPr/>
          <p:nvPr/>
        </p:nvSpPr>
        <p:spPr>
          <a:xfrm>
            <a:off x="9921240" y="1932432"/>
            <a:ext cx="1719072" cy="4358640"/>
          </a:xfrm>
          <a:prstGeom prst="roundRect">
            <a:avLst>
              <a:gd name="adj" fmla="val 4255"/>
            </a:avLst>
          </a:prstGeom>
          <a:solidFill>
            <a:schemeClr val="accent4">
              <a:alpha val="10000"/>
            </a:schemeClr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9921240" y="1932432"/>
            <a:ext cx="1719072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9921240" y="193243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 lettres</a:t>
            </a:r>
            <a:endParaRPr lang="en-US" sz="1800" dirty="0"/>
          </a:p>
        </p:txBody>
      </p:sp>
      <p:sp>
        <p:nvSpPr>
          <p:cNvPr id="37" name="Text 33"/>
          <p:cNvSpPr txBox="1"/>
          <p:nvPr/>
        </p:nvSpPr>
        <p:spPr>
          <a:xfrm>
            <a:off x="9921240" y="257251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mooi</a:t>
            </a:r>
            <a:endParaRPr lang="en-US" sz="2000" dirty="0"/>
          </a:p>
        </p:txBody>
      </p:sp>
      <p:sp>
        <p:nvSpPr>
          <p:cNvPr id="38" name="Text 34"/>
          <p:cNvSpPr txBox="1"/>
          <p:nvPr/>
        </p:nvSpPr>
        <p:spPr>
          <a:xfrm>
            <a:off x="9921240" y="3102864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saai</a:t>
            </a:r>
            <a:endParaRPr lang="en-US" sz="2000" dirty="0"/>
          </a:p>
        </p:txBody>
      </p:sp>
      <p:sp>
        <p:nvSpPr>
          <p:cNvPr id="39" name="Text 35"/>
          <p:cNvSpPr txBox="1"/>
          <p:nvPr/>
        </p:nvSpPr>
        <p:spPr>
          <a:xfrm>
            <a:off x="9921240" y="3633216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moeilijk</a:t>
            </a:r>
            <a:endParaRPr lang="en-US" sz="2000" dirty="0"/>
          </a:p>
        </p:txBody>
      </p:sp>
      <p:sp>
        <p:nvSpPr>
          <p:cNvPr id="40" name="Text 36"/>
          <p:cNvSpPr txBox="1"/>
          <p:nvPr/>
        </p:nvSpPr>
        <p:spPr>
          <a:xfrm>
            <a:off x="9921240" y="416356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nieuw</a:t>
            </a:r>
            <a:endParaRPr lang="en-US" sz="2000" dirty="0"/>
          </a:p>
        </p:txBody>
      </p:sp>
      <p:sp>
        <p:nvSpPr>
          <p:cNvPr id="41" name="Text 37"/>
          <p:cNvSpPr txBox="1"/>
          <p:nvPr/>
        </p:nvSpPr>
        <p:spPr>
          <a:xfrm>
            <a:off x="9921240" y="469392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sneeuw</a:t>
            </a:r>
            <a:endParaRPr lang="en-US" sz="2000" dirty="0"/>
          </a:p>
        </p:txBody>
      </p:sp>
      <p:sp>
        <p:nvSpPr>
          <p:cNvPr id="42" name="Text 38"/>
          <p:cNvSpPr txBox="1"/>
          <p:nvPr/>
        </p:nvSpPr>
        <p:spPr>
          <a:xfrm>
            <a:off x="9921240" y="522427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uw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Tongbrekers (virelangues)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783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Micro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1958645"/>
            <a:ext cx="380390" cy="38039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83080" y="1627632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 de t</a:t>
            </a: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ui</a:t>
            </a:r>
            <a:r>
              <a:rPr lang="en-US" sz="2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 b</a:t>
            </a: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ij</a:t>
            </a:r>
            <a:r>
              <a:rPr lang="en-US" sz="2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het h</a:t>
            </a: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ui</a:t>
            </a:r>
            <a:r>
              <a:rPr lang="en-US" sz="2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 zit een </a:t>
            </a: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ui</a:t>
            </a:r>
            <a:r>
              <a:rPr lang="en-US" sz="2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l.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1783080" y="228600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Dans le jardin près de la maison, il y a un hibou.</a:t>
            </a:r>
            <a:endParaRPr lang="en-US" sz="1600" dirty="0"/>
          </a:p>
        </p:txBody>
      </p:sp>
      <p:pic>
        <p:nvPicPr>
          <p:cNvPr id="11" name="Image 1" descr="ow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709928"/>
            <a:ext cx="822960" cy="8229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48640" y="2852928"/>
            <a:ext cx="11091672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777240" y="308152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2" descr="Microph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5" y="3257093"/>
            <a:ext cx="380390" cy="38039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783080" y="29260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k</a:t>
            </a: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oe</a:t>
            </a:r>
            <a:r>
              <a:rPr lang="en-US" sz="2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van de b</a:t>
            </a: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oe</a:t>
            </a:r>
            <a:r>
              <a:rPr lang="en-US" sz="2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 staat op de vl</a:t>
            </a: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oe</a:t>
            </a:r>
            <a:r>
              <a:rPr lang="en-US" sz="2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r.</a:t>
            </a:r>
            <a:endParaRPr lang="en-US" sz="2800" dirty="0"/>
          </a:p>
        </p:txBody>
      </p:sp>
      <p:sp>
        <p:nvSpPr>
          <p:cNvPr id="16" name="Text 10"/>
          <p:cNvSpPr txBox="1"/>
          <p:nvPr/>
        </p:nvSpPr>
        <p:spPr>
          <a:xfrm>
            <a:off x="1783080" y="358444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La vache du fermier est sur le sol.</a:t>
            </a:r>
            <a:endParaRPr lang="en-US" sz="1600" dirty="0"/>
          </a:p>
        </p:txBody>
      </p:sp>
      <p:pic>
        <p:nvPicPr>
          <p:cNvPr id="17" name="Image 3" descr="co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3008376"/>
            <a:ext cx="822960" cy="82296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48640" y="4151376"/>
            <a:ext cx="11091672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777240" y="4379976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4" descr="Micropho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5" y="4555541"/>
            <a:ext cx="380390" cy="38039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783080" y="422452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</a:t>
            </a: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ij</a:t>
            </a:r>
            <a:r>
              <a:rPr lang="en-US" sz="2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 vr</a:t>
            </a: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ou</a:t>
            </a:r>
            <a:r>
              <a:rPr lang="en-US" sz="2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 heeft het k</a:t>
            </a: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ou</a:t>
            </a:r>
            <a:r>
              <a:rPr lang="en-US" sz="2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 in de sn</a:t>
            </a: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eeuw</a:t>
            </a:r>
            <a:r>
              <a:rPr lang="en-US" sz="2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.</a:t>
            </a:r>
            <a:endParaRPr lang="en-US" sz="2800" dirty="0"/>
          </a:p>
        </p:txBody>
      </p:sp>
      <p:sp>
        <p:nvSpPr>
          <p:cNvPr id="22" name="Text 14"/>
          <p:cNvSpPr txBox="1"/>
          <p:nvPr/>
        </p:nvSpPr>
        <p:spPr>
          <a:xfrm>
            <a:off x="1783080" y="488289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Ma femme a froid dans la neige.</a:t>
            </a:r>
            <a:endParaRPr lang="en-US" sz="1600" dirty="0"/>
          </a:p>
        </p:txBody>
      </p:sp>
      <p:pic>
        <p:nvPicPr>
          <p:cNvPr id="23" name="Image 5" descr="snowflak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4306824"/>
            <a:ext cx="822960" cy="82296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548640" y="5486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accent1"/>
                </a:solidFill>
              </a:rPr>
              <a:t>orange</a:t>
            </a:r>
            <a:r>
              <a:rPr lang="en-US" sz="1400" i="1" dirty="0">
                <a:solidFill>
                  <a:schemeClr val="accent5"/>
                </a:solidFill>
              </a:rPr>
              <a:t> = son double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548640" y="58521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① lentement en chœur   ② vite   ③ défi en binôme : trois fois sans erreur 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Loto des sons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120640" cy="4709160"/>
          </a:xfrm>
          <a:prstGeom prst="roundRect">
            <a:avLst>
              <a:gd name="adj" fmla="val 155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4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 I N G O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77240" y="224028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24028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huis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005840" y="2377440"/>
            <a:ext cx="1005840" cy="914400"/>
          </a:xfrm>
          <a:prstGeom prst="ellipse">
            <a:avLst/>
          </a:prstGeom>
          <a:noFill/>
          <a:ln w="38100">
            <a:solidFill>
              <a:srgbClr val="B832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350008" y="224028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350008" y="224028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leuk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922776" y="224028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22776" y="224028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boek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777240" y="356616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356616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tijd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2350008" y="356616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350008" y="356616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vrouw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2578608" y="3703320"/>
            <a:ext cx="1005840" cy="914400"/>
          </a:xfrm>
          <a:prstGeom prst="ellipse">
            <a:avLst/>
          </a:prstGeom>
          <a:noFill/>
          <a:ln w="38100">
            <a:solidFill>
              <a:srgbClr val="B8322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922776" y="356616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922776" y="356616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mooi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777240" y="489204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48920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klein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2350008" y="489204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350008" y="48920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nieuw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3922776" y="489204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922776" y="48920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deur</a:t>
            </a:r>
            <a:endParaRPr lang="en-US" sz="2200" dirty="0"/>
          </a:p>
        </p:txBody>
      </p:sp>
      <p:pic>
        <p:nvPicPr>
          <p:cNvPr id="28" name="Image 0" descr="stopwat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00200"/>
            <a:ext cx="868680" cy="86868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7040880" y="16002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Les règles</a:t>
            </a:r>
            <a:endParaRPr lang="en-US" sz="2600" dirty="0"/>
          </a:p>
        </p:txBody>
      </p:sp>
      <p:sp>
        <p:nvSpPr>
          <p:cNvPr id="30" name="Text 26"/>
          <p:cNvSpPr txBox="1"/>
          <p:nvPr/>
        </p:nvSpPr>
        <p:spPr>
          <a:xfrm>
            <a:off x="6035040" y="265176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1.</a:t>
            </a:r>
            <a:r>
              <a:rPr lang="en-US" sz="1900" dirty="0">
                <a:solidFill>
                  <a:schemeClr val="tx1"/>
                </a:solidFill>
              </a:rPr>
              <a:t> Dessinez une grille 3 × 3 avec </a:t>
            </a:r>
            <a:r>
              <a:rPr lang="en-US" sz="1900" b="1" dirty="0">
                <a:solidFill>
                  <a:schemeClr val="tx1"/>
                </a:solidFill>
              </a:rPr>
              <a:t>9 mots</a:t>
            </a:r>
            <a:r>
              <a:rPr lang="en-US" sz="1900" dirty="0">
                <a:solidFill>
                  <a:schemeClr val="tx1"/>
                </a:solidFill>
              </a:rPr>
              <a:t> du module.</a:t>
            </a:r>
            <a:endParaRPr lang="en-US" sz="19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2.</a:t>
            </a:r>
            <a:r>
              <a:rPr lang="en-US" sz="1900" dirty="0">
                <a:solidFill>
                  <a:schemeClr val="tx1"/>
                </a:solidFill>
              </a:rPr>
              <a:t> L’enseignant tire un </a:t>
            </a:r>
            <a:r>
              <a:rPr lang="en-US" sz="1900" b="1" dirty="0">
                <a:solidFill>
                  <a:schemeClr val="tx1"/>
                </a:solidFill>
              </a:rPr>
              <a:t>son</a:t>
            </a:r>
            <a:r>
              <a:rPr lang="en-US" sz="1900" dirty="0">
                <a:solidFill>
                  <a:schemeClr val="tx1"/>
                </a:solidFill>
              </a:rPr>
              <a:t> : </a:t>
            </a:r>
            <a:r>
              <a:rPr lang="en-US" sz="1900" i="1" dirty="0">
                <a:solidFill>
                  <a:schemeClr val="tx1"/>
                </a:solidFill>
              </a:rPr>
              <a:t>ui, eu, oe…</a:t>
            </a:r>
            <a:endParaRPr lang="en-US" sz="19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3.</a:t>
            </a:r>
            <a:r>
              <a:rPr lang="en-US" sz="1900" dirty="0">
                <a:solidFill>
                  <a:schemeClr val="tx1"/>
                </a:solidFill>
              </a:rPr>
              <a:t> Cochez un mot qui contient ce son.</a:t>
            </a:r>
            <a:endParaRPr lang="en-US" sz="19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4.</a:t>
            </a:r>
            <a:r>
              <a:rPr lang="en-US" sz="1900" dirty="0">
                <a:solidFill>
                  <a:schemeClr val="tx1"/>
                </a:solidFill>
              </a:rPr>
              <a:t> Première ligne complète : </a:t>
            </a:r>
            <a:r>
              <a:rPr lang="en-US" sz="1900" i="1" dirty="0">
                <a:solidFill>
                  <a:schemeClr val="tx1"/>
                </a:solidFill>
              </a:rPr>
              <a:t>Bingo!</a:t>
            </a:r>
            <a:r>
              <a:rPr lang="en-US" sz="1900" dirty="0">
                <a:solidFill>
                  <a:schemeClr val="tx1"/>
                </a:solidFill>
              </a:rPr>
              <a:t> Lisez vos mots à voix haute pour valider.</a:t>
            </a:r>
            <a:endParaRPr lang="en-US" sz="1900" dirty="0"/>
          </a:p>
        </p:txBody>
      </p:sp>
      <p:pic>
        <p:nvPicPr>
          <p:cNvPr id="31" name="Image 1" descr="man teach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206240"/>
            <a:ext cx="1463040" cy="1463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6 — Dictée des villes belges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200046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291840" cy="2971800"/>
          </a:xfrm>
          <a:prstGeom prst="roundRect">
            <a:avLst>
              <a:gd name="adj" fmla="val 2462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dicte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3317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Leuven · Luik · Kortrijk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77240" y="3429000"/>
            <a:ext cx="2834640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12" name="Shape 9"/>
          <p:cNvSpPr/>
          <p:nvPr/>
        </p:nvSpPr>
        <p:spPr>
          <a:xfrm>
            <a:off x="777240" y="3776472"/>
            <a:ext cx="2834640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13" name="Shape 10"/>
          <p:cNvSpPr/>
          <p:nvPr/>
        </p:nvSpPr>
        <p:spPr>
          <a:xfrm>
            <a:off x="777240" y="4123944"/>
            <a:ext cx="2834640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14" name="Shape 11"/>
          <p:cNvSpPr/>
          <p:nvPr/>
        </p:nvSpPr>
        <p:spPr>
          <a:xfrm>
            <a:off x="4069080" y="1554480"/>
            <a:ext cx="3291840" cy="2971800"/>
          </a:xfrm>
          <a:prstGeom prst="roundRect">
            <a:avLst>
              <a:gd name="adj" fmla="val 2462"/>
            </a:avLst>
          </a:prstGeom>
          <a:solidFill>
            <a:schemeClr val="bg1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51960" y="1691640"/>
            <a:ext cx="548640" cy="54864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51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493776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E4A9E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 dicte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3317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Oudenaarde · Hoei · Ieper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4297680" y="3429000"/>
            <a:ext cx="2834640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20" name="Shape 17"/>
          <p:cNvSpPr/>
          <p:nvPr/>
        </p:nvSpPr>
        <p:spPr>
          <a:xfrm>
            <a:off x="4297680" y="3776472"/>
            <a:ext cx="2834640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21" name="Shape 18"/>
          <p:cNvSpPr/>
          <p:nvPr/>
        </p:nvSpPr>
        <p:spPr>
          <a:xfrm>
            <a:off x="4297680" y="4123944"/>
            <a:ext cx="2834640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22" name="Shape 19"/>
          <p:cNvSpPr/>
          <p:nvPr/>
        </p:nvSpPr>
        <p:spPr>
          <a:xfrm>
            <a:off x="3858768" y="1554480"/>
            <a:ext cx="192024" cy="2971800"/>
          </a:xfrm>
          <a:prstGeom prst="roundRect">
            <a:avLst>
              <a:gd name="adj" fmla="val 14286"/>
            </a:avLst>
          </a:prstGeom>
          <a:solidFill>
            <a:schemeClr val="accent5">
              <a:alpha val="6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589520" y="1554480"/>
            <a:ext cx="4050792" cy="2971800"/>
          </a:xfrm>
          <a:prstGeom prst="roundRect">
            <a:avLst>
              <a:gd name="adj" fmla="val 24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051675" y="1788362"/>
            <a:ext cx="2679984" cy="969045"/>
          </a:xfrm>
          <a:custGeom>
            <a:avLst/>
            <a:gdLst/>
            <a:ahLst/>
            <a:cxnLst/>
            <a:rect l="l" t="t" r="r" b="b"/>
            <a:pathLst>
              <a:path w="2679984" h="969045">
                <a:moveTo>
                  <a:pt x="0" y="497273"/>
                </a:moveTo>
                <a:lnTo>
                  <a:pt x="210512" y="395269"/>
                </a:lnTo>
                <a:lnTo>
                  <a:pt x="453411" y="216760"/>
                </a:lnTo>
                <a:lnTo>
                  <a:pt x="672020" y="140257"/>
                </a:lnTo>
                <a:lnTo>
                  <a:pt x="793470" y="242261"/>
                </a:lnTo>
                <a:lnTo>
                  <a:pt x="1020175" y="344266"/>
                </a:lnTo>
                <a:lnTo>
                  <a:pt x="1222591" y="293264"/>
                </a:lnTo>
                <a:lnTo>
                  <a:pt x="1376427" y="140257"/>
                </a:lnTo>
                <a:lnTo>
                  <a:pt x="1522166" y="153007"/>
                </a:lnTo>
                <a:lnTo>
                  <a:pt x="1627423" y="0"/>
                </a:lnTo>
                <a:lnTo>
                  <a:pt x="1789355" y="76504"/>
                </a:lnTo>
                <a:lnTo>
                  <a:pt x="1926998" y="25501"/>
                </a:lnTo>
                <a:lnTo>
                  <a:pt x="2072737" y="63753"/>
                </a:lnTo>
                <a:lnTo>
                  <a:pt x="2186090" y="216760"/>
                </a:lnTo>
                <a:lnTo>
                  <a:pt x="2396602" y="242261"/>
                </a:lnTo>
                <a:lnTo>
                  <a:pt x="2679984" y="420770"/>
                </a:lnTo>
                <a:lnTo>
                  <a:pt x="2599018" y="675782"/>
                </a:lnTo>
                <a:lnTo>
                  <a:pt x="2558535" y="918043"/>
                </a:lnTo>
                <a:lnTo>
                  <a:pt x="2356119" y="956295"/>
                </a:lnTo>
                <a:lnTo>
                  <a:pt x="2072737" y="969045"/>
                </a:lnTo>
                <a:lnTo>
                  <a:pt x="1870321" y="943544"/>
                </a:lnTo>
                <a:lnTo>
                  <a:pt x="1667906" y="969045"/>
                </a:lnTo>
                <a:lnTo>
                  <a:pt x="1505973" y="943544"/>
                </a:lnTo>
                <a:lnTo>
                  <a:pt x="1303557" y="969045"/>
                </a:lnTo>
                <a:lnTo>
                  <a:pt x="1101142" y="956295"/>
                </a:lnTo>
                <a:lnTo>
                  <a:pt x="817760" y="956295"/>
                </a:lnTo>
                <a:lnTo>
                  <a:pt x="574861" y="930794"/>
                </a:lnTo>
                <a:lnTo>
                  <a:pt x="291479" y="892542"/>
                </a:lnTo>
                <a:lnTo>
                  <a:pt x="170029" y="841539"/>
                </a:lnTo>
                <a:lnTo>
                  <a:pt x="48580" y="675782"/>
                </a:lnTo>
                <a:close/>
              </a:path>
            </a:pathLst>
          </a:custGeom>
          <a:solidFill>
            <a:srgbClr val="F2E3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343153" y="2680904"/>
            <a:ext cx="2833820" cy="1632076"/>
          </a:xfrm>
          <a:custGeom>
            <a:avLst/>
            <a:gdLst/>
            <a:ahLst/>
            <a:cxnLst/>
            <a:rect l="l" t="t" r="r" b="b"/>
            <a:pathLst>
              <a:path w="2833820" h="1632076">
                <a:moveTo>
                  <a:pt x="0" y="0"/>
                </a:moveTo>
                <a:lnTo>
                  <a:pt x="283382" y="38252"/>
                </a:lnTo>
                <a:lnTo>
                  <a:pt x="526281" y="63753"/>
                </a:lnTo>
                <a:lnTo>
                  <a:pt x="809663" y="63753"/>
                </a:lnTo>
                <a:lnTo>
                  <a:pt x="1012079" y="76504"/>
                </a:lnTo>
                <a:lnTo>
                  <a:pt x="1214494" y="51002"/>
                </a:lnTo>
                <a:lnTo>
                  <a:pt x="1376427" y="76504"/>
                </a:lnTo>
                <a:lnTo>
                  <a:pt x="1578843" y="51002"/>
                </a:lnTo>
                <a:lnTo>
                  <a:pt x="1781258" y="76504"/>
                </a:lnTo>
                <a:lnTo>
                  <a:pt x="2064641" y="63753"/>
                </a:lnTo>
                <a:lnTo>
                  <a:pt x="2267056" y="25501"/>
                </a:lnTo>
                <a:lnTo>
                  <a:pt x="2526148" y="38252"/>
                </a:lnTo>
                <a:lnTo>
                  <a:pt x="2728564" y="204010"/>
                </a:lnTo>
                <a:lnTo>
                  <a:pt x="2833820" y="573777"/>
                </a:lnTo>
                <a:lnTo>
                  <a:pt x="2623308" y="828789"/>
                </a:lnTo>
                <a:lnTo>
                  <a:pt x="2493762" y="777786"/>
                </a:lnTo>
                <a:lnTo>
                  <a:pt x="2307539" y="1058300"/>
                </a:lnTo>
                <a:lnTo>
                  <a:pt x="2364216" y="1568324"/>
                </a:lnTo>
                <a:lnTo>
                  <a:pt x="2080834" y="1632076"/>
                </a:lnTo>
                <a:lnTo>
                  <a:pt x="1862225" y="1389815"/>
                </a:lnTo>
                <a:lnTo>
                  <a:pt x="1578843" y="1249559"/>
                </a:lnTo>
                <a:lnTo>
                  <a:pt x="1586939" y="1058300"/>
                </a:lnTo>
                <a:lnTo>
                  <a:pt x="1603133" y="803288"/>
                </a:lnTo>
                <a:lnTo>
                  <a:pt x="1554553" y="790537"/>
                </a:lnTo>
                <a:lnTo>
                  <a:pt x="1457393" y="1020048"/>
                </a:lnTo>
                <a:lnTo>
                  <a:pt x="1254978" y="1071050"/>
                </a:lnTo>
                <a:lnTo>
                  <a:pt x="1052562" y="1045549"/>
                </a:lnTo>
                <a:lnTo>
                  <a:pt x="1003982" y="930794"/>
                </a:lnTo>
                <a:lnTo>
                  <a:pt x="1052562" y="650280"/>
                </a:lnTo>
                <a:lnTo>
                  <a:pt x="850146" y="561026"/>
                </a:lnTo>
                <a:lnTo>
                  <a:pt x="647730" y="586527"/>
                </a:lnTo>
                <a:lnTo>
                  <a:pt x="566764" y="357017"/>
                </a:lnTo>
                <a:lnTo>
                  <a:pt x="307672" y="318765"/>
                </a:lnTo>
                <a:lnTo>
                  <a:pt x="80966" y="102005"/>
                </a:lnTo>
                <a:close/>
              </a:path>
            </a:pathLst>
          </a:custGeom>
          <a:solidFill>
            <a:srgbClr val="F2C2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836915" y="2719156"/>
            <a:ext cx="340058" cy="701283"/>
          </a:xfrm>
          <a:custGeom>
            <a:avLst/>
            <a:gdLst/>
            <a:ahLst/>
            <a:cxnLst/>
            <a:rect l="l" t="t" r="r" b="b"/>
            <a:pathLst>
              <a:path w="340058" h="701283">
                <a:moveTo>
                  <a:pt x="32387" y="0"/>
                </a:moveTo>
                <a:lnTo>
                  <a:pt x="234802" y="165758"/>
                </a:lnTo>
                <a:lnTo>
                  <a:pt x="340058" y="535525"/>
                </a:lnTo>
                <a:lnTo>
                  <a:pt x="129546" y="701283"/>
                </a:lnTo>
                <a:lnTo>
                  <a:pt x="56676" y="548276"/>
                </a:lnTo>
                <a:lnTo>
                  <a:pt x="97160" y="318765"/>
                </a:lnTo>
                <a:lnTo>
                  <a:pt x="0" y="165758"/>
                </a:lnTo>
                <a:close/>
              </a:path>
            </a:pathLst>
          </a:custGeom>
          <a:solidFill>
            <a:srgbClr val="C9D6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435497" y="2534272"/>
            <a:ext cx="179528" cy="140257"/>
          </a:xfrm>
          <a:prstGeom prst="ellipse">
            <a:avLst/>
          </a:prstGeom>
          <a:solidFill>
            <a:schemeClr val="accent5"/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28" name="Image 0" descr="MapMarker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3386" y="2279078"/>
            <a:ext cx="274320" cy="274320"/>
          </a:xfrm>
          <a:prstGeom prst="rect">
            <a:avLst/>
          </a:prstGeom>
        </p:spPr>
      </p:pic>
      <p:pic>
        <p:nvPicPr>
          <p:cNvPr id="29" name="Image 1" descr="MapMarker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7793" y="2597843"/>
            <a:ext cx="274320" cy="274320"/>
          </a:xfrm>
          <a:prstGeom prst="rect">
            <a:avLst/>
          </a:prstGeom>
        </p:spPr>
      </p:pic>
      <p:pic>
        <p:nvPicPr>
          <p:cNvPr id="30" name="Image 2" descr="MapMarker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472" y="2342831"/>
            <a:ext cx="274320" cy="274320"/>
          </a:xfrm>
          <a:prstGeom prst="rect">
            <a:avLst/>
          </a:prstGeom>
        </p:spPr>
      </p:pic>
      <p:pic>
        <p:nvPicPr>
          <p:cNvPr id="31" name="Image 3" descr="MapMarker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2757" y="2317330"/>
            <a:ext cx="274320" cy="274320"/>
          </a:xfrm>
          <a:prstGeom prst="rect">
            <a:avLst/>
          </a:prstGeom>
        </p:spPr>
      </p:pic>
      <p:pic>
        <p:nvPicPr>
          <p:cNvPr id="32" name="Image 4" descr="MapMarkerAl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0604" y="2738100"/>
            <a:ext cx="274320" cy="274320"/>
          </a:xfrm>
          <a:prstGeom prst="rect">
            <a:avLst/>
          </a:prstGeom>
        </p:spPr>
      </p:pic>
      <p:pic>
        <p:nvPicPr>
          <p:cNvPr id="33" name="Image 5" descr="MapMarkerAl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9800" y="2317330"/>
            <a:ext cx="274320" cy="274320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548640" y="4754880"/>
            <a:ext cx="11091672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77724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PHRASES UTILES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777240" y="5212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Met ei of ij? · Met ou of au? · Met eu of ui? · Kunt u dat spellen?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Ticket de sortie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092147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TICKET DE SORTIE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89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89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62763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Quel son dans </a:t>
            </a:r>
            <a:r>
              <a:rPr lang="en-US" sz="2000" i="1" dirty="0">
                <a:solidFill>
                  <a:schemeClr val="tx1"/>
                </a:solidFill>
              </a:rPr>
              <a:t>huis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i="1" dirty="0">
                <a:solidFill>
                  <a:schemeClr val="tx1"/>
                </a:solidFill>
              </a:rPr>
              <a:t>huur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i="1" dirty="0">
                <a:solidFill>
                  <a:schemeClr val="tx1"/>
                </a:solidFill>
              </a:rPr>
              <a:t>hut</a:t>
            </a:r>
            <a:r>
              <a:rPr lang="en-US" sz="2000" dirty="0">
                <a:solidFill>
                  <a:schemeClr val="tx1"/>
                </a:solidFill>
              </a:rPr>
              <a:t> 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86512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93827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ij</a:t>
            </a:r>
            <a:r>
              <a:rPr lang="en-US" sz="2000" dirty="0">
                <a:solidFill>
                  <a:schemeClr val="tx1"/>
                </a:solidFill>
              </a:rPr>
              <a:t> ou </a:t>
            </a:r>
            <a:r>
              <a:rPr lang="en-US" sz="2000" i="1" dirty="0">
                <a:solidFill>
                  <a:schemeClr val="tx1"/>
                </a:solidFill>
              </a:rPr>
              <a:t>ei</a:t>
            </a:r>
            <a:r>
              <a:rPr lang="en-US" sz="2000" dirty="0">
                <a:solidFill>
                  <a:schemeClr val="tx1"/>
                </a:solidFill>
              </a:rPr>
              <a:t> : </a:t>
            </a:r>
            <a:r>
              <a:rPr lang="en-US" sz="2000" i="1" dirty="0">
                <a:solidFill>
                  <a:schemeClr val="tx1"/>
                </a:solidFill>
              </a:rPr>
              <a:t>tr…n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i="1" dirty="0">
                <a:solidFill>
                  <a:schemeClr val="tx1"/>
                </a:solidFill>
              </a:rPr>
              <a:t>t…d</a:t>
            </a:r>
            <a:r>
              <a:rPr lang="en-US" sz="2000" dirty="0">
                <a:solidFill>
                  <a:schemeClr val="tx1"/>
                </a:solidFill>
              </a:rPr>
              <a:t> ?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17576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4511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511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24891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Comment se prononce </a:t>
            </a:r>
            <a:r>
              <a:rPr lang="en-US" sz="2000" i="1" dirty="0">
                <a:solidFill>
                  <a:schemeClr val="tx1"/>
                </a:solidFill>
              </a:rPr>
              <a:t>vrolijk</a:t>
            </a:r>
            <a:r>
              <a:rPr lang="en-US" sz="2000" dirty="0">
                <a:solidFill>
                  <a:schemeClr val="tx1"/>
                </a:solidFill>
              </a:rPr>
              <a:t> ?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AUTO-ÉVALUATION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49440" y="201168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32320" y="201168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Entendre</a:t>
            </a:r>
            <a:endParaRPr lang="en-US" sz="1600" dirty="0"/>
          </a:p>
        </p:txBody>
      </p:sp>
      <p:pic>
        <p:nvPicPr>
          <p:cNvPr id="20" name="Image 0" descr="RegFr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162556"/>
            <a:ext cx="457200" cy="457200"/>
          </a:xfrm>
          <a:prstGeom prst="rect">
            <a:avLst/>
          </a:prstGeom>
        </p:spPr>
      </p:pic>
      <p:pic>
        <p:nvPicPr>
          <p:cNvPr id="21" name="Image 1" descr="RegMe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162556"/>
            <a:ext cx="457200" cy="457200"/>
          </a:xfrm>
          <a:prstGeom prst="rect">
            <a:avLst/>
          </a:prstGeom>
        </p:spPr>
      </p:pic>
      <p:pic>
        <p:nvPicPr>
          <p:cNvPr id="22" name="Image 2" descr="RegSm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162556"/>
            <a:ext cx="457200" cy="4572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949440" y="288036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132320" y="288036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Prononcer</a:t>
            </a:r>
            <a:endParaRPr lang="en-US" sz="1600" dirty="0"/>
          </a:p>
        </p:txBody>
      </p:sp>
      <p:pic>
        <p:nvPicPr>
          <p:cNvPr id="25" name="Image 3" descr="RegFrow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031236"/>
            <a:ext cx="457200" cy="457200"/>
          </a:xfrm>
          <a:prstGeom prst="rect">
            <a:avLst/>
          </a:prstGeom>
        </p:spPr>
      </p:pic>
      <p:pic>
        <p:nvPicPr>
          <p:cNvPr id="26" name="Image 4" descr="RegMe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3031236"/>
            <a:ext cx="457200" cy="457200"/>
          </a:xfrm>
          <a:prstGeom prst="rect">
            <a:avLst/>
          </a:prstGeom>
        </p:spPr>
      </p:pic>
      <p:pic>
        <p:nvPicPr>
          <p:cNvPr id="27" name="Image 5" descr="RegSmi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3031236"/>
            <a:ext cx="457200" cy="4572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949440" y="374904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7132320" y="374904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Écrire</a:t>
            </a:r>
            <a:endParaRPr lang="en-US" sz="1600" dirty="0"/>
          </a:p>
        </p:txBody>
      </p:sp>
      <p:pic>
        <p:nvPicPr>
          <p:cNvPr id="30" name="Image 6" descr="RegFrow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0" y="3899916"/>
            <a:ext cx="457200" cy="457200"/>
          </a:xfrm>
          <a:prstGeom prst="rect">
            <a:avLst/>
          </a:prstGeom>
        </p:spPr>
      </p:pic>
      <p:pic>
        <p:nvPicPr>
          <p:cNvPr id="31" name="Image 7" descr="RegMe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0" y="3899916"/>
            <a:ext cx="457200" cy="457200"/>
          </a:xfrm>
          <a:prstGeom prst="rect">
            <a:avLst/>
          </a:prstGeom>
        </p:spPr>
      </p:pic>
      <p:pic>
        <p:nvPicPr>
          <p:cNvPr id="32" name="Image 8" descr="RegSmi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7080" y="3899916"/>
            <a:ext cx="457200" cy="45720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9" descr="GlobeEurop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365760" cy="36576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1325880" y="5532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Volgende keer : Landen en talen</a:t>
            </a:r>
            <a:r>
              <a:rPr lang="en-US" sz="1800" dirty="0">
                <a:solidFill>
                  <a:schemeClr val="bg1"/>
                </a:solidFill>
              </a:rPr>
              <a:t> — </a:t>
            </a:r>
            <a:r>
              <a:rPr lang="en-US" sz="1800" i="1" dirty="0">
                <a:solidFill>
                  <a:schemeClr val="bg1"/>
                </a:solidFill>
              </a:rPr>
              <a:t>Waar kom je vandaan?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1">
  <a:themeElements>
    <a:clrScheme name="Nederlands 1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IRAM — Néerlandais 1 (UE1)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 — Tweeklanken — Les sons doubles</dc:title>
  <dc:subject>Néerlandais 1 — Langue en situation, en milieu professionnel</dc:subject>
  <dc:creator>A. Jouniaux</dc:creator>
  <cp:lastModifiedBy>A. Jouniaux</cp:lastModifiedBy>
  <cp:revision>1</cp:revision>
  <dcterms:created xsi:type="dcterms:W3CDTF">2026-10-04T18:33:13Z</dcterms:created>
  <dcterms:modified xsi:type="dcterms:W3CDTF">2026-10-04T18:33:13Z</dcterms:modified>
</cp:coreProperties>
</file>