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slideMasters/slideMaster118.xml" ContentType="application/vnd.openxmlformats-officedocument.presentationml.slideMaster+xml"/>
  <Override PartName="/ppt/slides/slide118.xml" ContentType="application/vnd.openxmlformats-officedocument.presentationml.slide+xml"/>
  <Override PartName="/ppt/slideMasters/slideMaster119.xml" ContentType="application/vnd.openxmlformats-officedocument.presentationml.slideMaster+xml"/>
  <Override PartName="/ppt/slides/slide119.xml" ContentType="application/vnd.openxmlformats-officedocument.presentationml.slide+xml"/>
  <Override PartName="/ppt/slideMasters/slideMaster120.xml" ContentType="application/vnd.openxmlformats-officedocument.presentationml.slideMaster+xml"/>
  <Override PartName="/ppt/slides/slide120.xml" ContentType="application/vnd.openxmlformats-officedocument.presentationml.slide+xml"/>
  <Override PartName="/ppt/slideMasters/slideMaster121.xml" ContentType="application/vnd.openxmlformats-officedocument.presentationml.slideMaster+xml"/>
  <Override PartName="/ppt/slides/slide121.xml" ContentType="application/vnd.openxmlformats-officedocument.presentationml.slide+xml"/>
  <Override PartName="/ppt/slideMasters/slideMaster122.xml" ContentType="application/vnd.openxmlformats-officedocument.presentationml.slideMaster+xml"/>
  <Override PartName="/ppt/slides/slide122.xml" ContentType="application/vnd.openxmlformats-officedocument.presentationml.slide+xml"/>
  <Override PartName="/ppt/slideMasters/slideMaster123.xml" ContentType="application/vnd.openxmlformats-officedocument.presentationml.slideMaster+xml"/>
  <Override PartName="/ppt/slides/slide123.xml" ContentType="application/vnd.openxmlformats-officedocument.presentationml.slide+xml"/>
  <Override PartName="/ppt/slideMasters/slideMaster124.xml" ContentType="application/vnd.openxmlformats-officedocument.presentationml.slideMaster+xml"/>
  <Override PartName="/ppt/slides/slide124.xml" ContentType="application/vnd.openxmlformats-officedocument.presentationml.slide+xml"/>
  <Override PartName="/ppt/slideMasters/slideMaster125.xml" ContentType="application/vnd.openxmlformats-officedocument.presentationml.slideMaster+xml"/>
  <Override PartName="/ppt/slides/slide125.xml" ContentType="application/vnd.openxmlformats-officedocument.presentationml.slide+xml"/>
  <Override PartName="/ppt/slideMasters/slideMaster126.xml" ContentType="application/vnd.openxmlformats-officedocument.presentationml.slideMaster+xml"/>
  <Override PartName="/ppt/slides/slide126.xml" ContentType="application/vnd.openxmlformats-officedocument.presentationml.slide+xml"/>
  <Override PartName="/ppt/slideMasters/slideMaster127.xml" ContentType="application/vnd.openxmlformats-officedocument.presentationml.slideMaster+xml"/>
  <Override PartName="/ppt/slides/slide127.xml" ContentType="application/vnd.openxmlformats-officedocument.presentationml.slide+xml"/>
  <Override PartName="/ppt/slideMasters/slideMaster128.xml" ContentType="application/vnd.openxmlformats-officedocument.presentationml.slideMaster+xml"/>
  <Override PartName="/ppt/slides/slide128.xml" ContentType="application/vnd.openxmlformats-officedocument.presentationml.slide+xml"/>
  <Override PartName="/ppt/slideMasters/slideMaster129.xml" ContentType="application/vnd.openxmlformats-officedocument.presentationml.slideMaster+xml"/>
  <Override PartName="/ppt/slides/slide129.xml" ContentType="application/vnd.openxmlformats-officedocument.presentationml.slide+xml"/>
  <Override PartName="/ppt/slideMasters/slideMaster130.xml" ContentType="application/vnd.openxmlformats-officedocument.presentationml.slideMaster+xml"/>
  <Override PartName="/ppt/slides/slide130.xml" ContentType="application/vnd.openxmlformats-officedocument.presentationml.slide+xml"/>
  <Override PartName="/ppt/slideMasters/slideMaster131.xml" ContentType="application/vnd.openxmlformats-officedocument.presentationml.slideMaster+xml"/>
  <Override PartName="/ppt/slides/slide131.xml" ContentType="application/vnd.openxmlformats-officedocument.presentationml.slide+xml"/>
  <Override PartName="/ppt/slideMasters/slideMaster132.xml" ContentType="application/vnd.openxmlformats-officedocument.presentationml.slideMaster+xml"/>
  <Override PartName="/ppt/slides/slide132.xml" ContentType="application/vnd.openxmlformats-officedocument.presentationml.slide+xml"/>
  <Override PartName="/ppt/slideMasters/slideMaster133.xml" ContentType="application/vnd.openxmlformats-officedocument.presentationml.slideMaster+xml"/>
  <Override PartName="/ppt/slides/slide133.xml" ContentType="application/vnd.openxmlformats-officedocument.presentationml.slide+xml"/>
  <Override PartName="/ppt/slideMasters/slideMaster134.xml" ContentType="application/vnd.openxmlformats-officedocument.presentationml.slideMaster+xml"/>
  <Override PartName="/ppt/slides/slide134.xml" ContentType="application/vnd.openxmlformats-officedocument.presentationml.slide+xml"/>
  <Override PartName="/ppt/slideMasters/slideMaster135.xml" ContentType="application/vnd.openxmlformats-officedocument.presentationml.slideMaster+xml"/>
  <Override PartName="/ppt/slides/slide135.xml" ContentType="application/vnd.openxmlformats-officedocument.presentationml.slide+xml"/>
  <Override PartName="/ppt/slideMasters/slideMaster136.xml" ContentType="application/vnd.openxmlformats-officedocument.presentationml.slideMaster+xml"/>
  <Override PartName="/ppt/slides/slide136.xml" ContentType="application/vnd.openxmlformats-officedocument.presentationml.slide+xml"/>
  <Override PartName="/ppt/slideMasters/slideMaster137.xml" ContentType="application/vnd.openxmlformats-officedocument.presentationml.slideMaster+xml"/>
  <Override PartName="/ppt/slides/slide137.xml" ContentType="application/vnd.openxmlformats-officedocument.presentationml.slide+xml"/>
  <Override PartName="/ppt/slideMasters/slideMaster138.xml" ContentType="application/vnd.openxmlformats-officedocument.presentationml.slideMaster+xml"/>
  <Override PartName="/ppt/slides/slide138.xml" ContentType="application/vnd.openxmlformats-officedocument.presentationml.slide+xml"/>
  <Override PartName="/ppt/slideMasters/slideMaster139.xml" ContentType="application/vnd.openxmlformats-officedocument.presentationml.slideMaster+xml"/>
  <Override PartName="/ppt/slides/slide139.xml" ContentType="application/vnd.openxmlformats-officedocument.presentationml.slide+xml"/>
  <Override PartName="/ppt/slideMasters/slideMaster140.xml" ContentType="application/vnd.openxmlformats-officedocument.presentationml.slideMaster+xml"/>
  <Override PartName="/ppt/slides/slide140.xml" ContentType="application/vnd.openxmlformats-officedocument.presentationml.slide+xml"/>
  <Override PartName="/ppt/slideMasters/slideMaster141.xml" ContentType="application/vnd.openxmlformats-officedocument.presentationml.slideMaster+xml"/>
  <Override PartName="/ppt/slides/slide141.xml" ContentType="application/vnd.openxmlformats-officedocument.presentationml.slide+xml"/>
  <Override PartName="/ppt/slideMasters/slideMaster142.xml" ContentType="application/vnd.openxmlformats-officedocument.presentationml.slideMaster+xml"/>
  <Override PartName="/ppt/slides/slide142.xml" ContentType="application/vnd.openxmlformats-officedocument.presentationml.slide+xml"/>
  <Override PartName="/ppt/slideMasters/slideMaster143.xml" ContentType="application/vnd.openxmlformats-officedocument.presentationml.slideMaster+xml"/>
  <Override PartName="/ppt/slides/slide143.xml" ContentType="application/vnd.openxmlformats-officedocument.presentationml.slide+xml"/>
  <Override PartName="/ppt/slideMasters/slideMaster144.xml" ContentType="application/vnd.openxmlformats-officedocument.presentationml.slideMaster+xml"/>
  <Override PartName="/ppt/slides/slide1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Lst>
  <p:notesMasterIdLst>
    <p:notesMasterId r:id="rId14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ode d’emploi" id="{c4db8f9f-c662-dd71-61ae-4502e06577a2}">
          <p14:sldIdLst>
            <p14:sldId id="257"/>
            <p14:sldId id="258"/>
            <p14:sldId id="259"/>
          </p14:sldIdLst>
        </p14:section>
        <p14:section name="Premiers pas · Emma &amp; Pieter" id="{80854b06-88ae-c2c7-10ec-916b5fdc6956}">
          <p14:sldIdLst>
            <p14:sldId id="260"/>
            <p14:sldId id="261"/>
            <p14:sldId id="262"/>
            <p14:sldId id="263"/>
            <p14:sldId id="264"/>
            <p14:sldId id="265"/>
            <p14:sldId id="266"/>
            <p14:sldId id="267"/>
            <p14:sldId id="268"/>
            <p14:sldId id="269"/>
            <p14:sldId id="270"/>
            <p14:sldId id="271"/>
            <p14:sldId id="272"/>
            <p14:sldId id="273"/>
            <p14:sldId id="274"/>
            <p14:sldId id="275"/>
            <p14:sldId id="276"/>
            <p14:sldId id="277"/>
            <p14:sldId id="278"/>
            <p14:sldId id="279"/>
            <p14:sldId id="280"/>
            <p14:sldId id="281"/>
            <p14:sldId id="282"/>
            <p14:sldId id="283"/>
            <p14:sldId id="284"/>
            <p14:sldId id="285"/>
            <p14:sldId id="286"/>
            <p14:sldId id="287"/>
            <p14:sldId id="288"/>
            <p14:sldId id="289"/>
            <p14:sldId id="290"/>
            <p14:sldId id="291"/>
            <p14:sldId id="292"/>
            <p14:sldId id="293"/>
            <p14:sldId id="294"/>
            <p14:sldId id="295"/>
            <p14:sldId id="296"/>
            <p14:sldId id="297"/>
            <p14:sldId id="298"/>
            <p14:sldId id="299"/>
            <p14:sldId id="300"/>
            <p14:sldId id="301"/>
            <p14:sldId id="302"/>
          </p14:sldIdLst>
        </p14:section>
        <p14:section name="Grammaire · palier A1" id="{6cc01689-1180-7837-c13c-10c6c1bdb321}">
          <p14:sldIdLst>
            <p14:sldId id="303"/>
            <p14:sldId id="304"/>
            <p14:sldId id="305"/>
            <p14:sldId id="306"/>
            <p14:sldId id="307"/>
            <p14:sldId id="308"/>
            <p14:sldId id="309"/>
            <p14:sldId id="310"/>
            <p14:sldId id="311"/>
            <p14:sldId id="312"/>
            <p14:sldId id="313"/>
            <p14:sldId id="314"/>
            <p14:sldId id="315"/>
            <p14:sldId id="316"/>
            <p14:sldId id="317"/>
            <p14:sldId id="318"/>
            <p14:sldId id="319"/>
            <p14:sldId id="320"/>
            <p14:sldId id="321"/>
            <p14:sldId id="322"/>
            <p14:sldId id="323"/>
            <p14:sldId id="324"/>
            <p14:sldId id="325"/>
            <p14:sldId id="326"/>
            <p14:sldId id="327"/>
            <p14:sldId id="328"/>
            <p14:sldId id="329"/>
            <p14:sldId id="330"/>
            <p14:sldId id="331"/>
            <p14:sldId id="332"/>
            <p14:sldId id="333"/>
          </p14:sldIdLst>
        </p14:section>
        <p14:section name="Vocabulaire thématique" id="{b4957771-2ce1-5b77-fcd0-1e6bec54904a}">
          <p14:sldIdLst>
            <p14:sldId id="334"/>
            <p14:sldId id="335"/>
            <p14:sldId id="336"/>
            <p14:sldId id="337"/>
            <p14:sldId id="338"/>
            <p14:sldId id="339"/>
            <p14:sldId id="340"/>
            <p14:sldId id="341"/>
            <p14:sldId id="342"/>
            <p14:sldId id="343"/>
            <p14:sldId id="344"/>
            <p14:sldId id="345"/>
            <p14:sldId id="346"/>
            <p14:sldId id="347"/>
            <p14:sldId id="348"/>
            <p14:sldId id="349"/>
            <p14:sldId id="350"/>
            <p14:sldId id="351"/>
            <p14:sldId id="352"/>
            <p14:sldId id="353"/>
            <p14:sldId id="354"/>
            <p14:sldId id="355"/>
            <p14:sldId id="356"/>
            <p14:sldId id="357"/>
            <p14:sldId id="358"/>
            <p14:sldId id="359"/>
            <p14:sldId id="360"/>
            <p14:sldId id="361"/>
            <p14:sldId id="362"/>
            <p14:sldId id="363"/>
            <p14:sldId id="364"/>
            <p14:sldId id="365"/>
            <p14:sldId id="366"/>
            <p14:sldId id="367"/>
          </p14:sldIdLst>
        </p14:section>
        <p14:section name="Mises en situation · jalon A1" id="{92d7cd3b-30ff-2a17-dd30-9ff833ec89a3}">
          <p14:sldIdLst>
            <p14:sldId id="368"/>
            <p14:sldId id="369"/>
            <p14:sldId id="370"/>
            <p14:sldId id="371"/>
            <p14:sldId id="372"/>
            <p14:sldId id="373"/>
            <p14:sldId id="374"/>
            <p14:sldId id="375"/>
            <p14:sldId id="376"/>
            <p14:sldId id="377"/>
            <p14:sldId id="378"/>
            <p14:sldId id="379"/>
            <p14:sldId id="380"/>
            <p14:sldId id="381"/>
            <p14:sldId id="382"/>
            <p14:sldId id="383"/>
            <p14:sldId id="384"/>
            <p14:sldId id="385"/>
            <p14:sldId id="386"/>
            <p14:sldId id="387"/>
            <p14:sldId id="388"/>
            <p14:sldId id="389"/>
            <p14:sldId id="390"/>
            <p14:sldId id="391"/>
            <p14:sldId id="392"/>
            <p14:sldId id="393"/>
            <p14:sldId id="394"/>
            <p14:sldId id="395"/>
            <p14:sldId id="396"/>
            <p14:sldId id="397"/>
            <p14:sldId id="398"/>
          </p14:sldIdLst>
        </p14:section>
        <p14:section name="Variantes" id="{c8501a1c-4db6-80c5-8f30-99ff42715a8c}">
          <p14:sldIdLst>
            <p14:sldId id="39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notesMaster" Target="notesMasters/notesMaster1.xml"/><Relationship Id="rId147" Type="http://schemas.openxmlformats.org/officeDocument/2006/relationships/presProps" Target="presProps.xml"/><Relationship Id="rId148" Type="http://schemas.openxmlformats.org/officeDocument/2006/relationships/viewProps" Target="viewProps.xml"/><Relationship Id="rId149" Type="http://schemas.openxmlformats.org/officeDocument/2006/relationships/theme" Target="theme/theme1.xml"/><Relationship Id="rId15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_rels/notesSlide1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1.xml"/>
		</Relationships>
</file>

<file path=ppt/notesSlides/_rels/notesSlide1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2.xml"/>
		</Relationships>
</file>

<file path=ppt/notesSlides/_rels/notesSlide1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3.xml"/>
		</Relationships>
</file>

<file path=ppt/notesSlides/_rels/notesSlide1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4.xml"/>
		</Relationships>
</file>

<file path=ppt/notesSlides/_rels/notesSlide1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5.xml"/>
		</Relationships>
</file>

<file path=ppt/notesSlides/_rels/notesSlide1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6.xml"/>
		</Relationships>
</file>

<file path=ppt/notesSlides/_rels/notesSlide1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7.xml"/>
		</Relationships>
</file>

<file path=ppt/notesSlides/_rels/notesSlide1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8.xml"/>
		</Relationships>
</file>

<file path=ppt/notesSlides/_rels/notesSlide1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9.xml"/>
		</Relationships>
</file>

<file path=ppt/notesSlides/_rels/notesSlide1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0.xml"/>
		</Relationships>
</file>

<file path=ppt/notesSlides/_rels/notesSlide1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1.xml"/>
		</Relationships>
</file>

<file path=ppt/notesSlides/_rels/notesSlide1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2.xml"/>
		</Relationships>
</file>

<file path=ppt/notesSlides/_rels/notesSlide1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3.xml"/>
		</Relationships>
</file>

<file path=ppt/notesSlides/_rels/notesSlide1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4.xml"/>
		</Relationships>
</file>

<file path=ppt/notesSlides/_rels/notesSlide1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5.xml"/>
		</Relationships>
</file>

<file path=ppt/notesSlides/_rels/notesSlide1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6.xml"/>
		</Relationships>
</file>

<file path=ppt/notesSlides/_rels/notesSlide1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7.xml"/>
		</Relationships>
</file>

<file path=ppt/notesSlides/_rels/notesSlide1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8.xml"/>
		</Relationships>
</file>

<file path=ppt/notesSlides/_rels/notesSlide1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9.xml"/>
		</Relationships>
</file>

<file path=ppt/notesSlides/_rels/notesSlide1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0.xml"/>
		</Relationships>
</file>

<file path=ppt/notesSlides/_rels/notesSlide1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1.xml"/>
		</Relationships>
</file>

<file path=ppt/notesSlides/_rels/notesSlide1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2.xml"/>
		</Relationships>
</file>

<file path=ppt/notesSlides/_rels/notesSlide1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3.xml"/>
		</Relationships>
</file>

<file path=ppt/notesSlides/_rels/notesSlide1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Présenter le principe : une image, quelques consignes, un modèle ; 3, puis 4, puis 5 phrases.
« Stap voor stap » = pas à pas. Annoncez le défi : réutiliser les blocs du syllabus… et trouver la meilleure chute.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Expliquer les quatre étapes et la correspondance consigne → bribe.
Le modèle n’est pas « la » réponse : toute phrase qui respecte la consigne est juste. Les apprenant·es peuvent surligner eux-mêmes et elles-mêmes, dans leur production, la bribe qui répond à chaque consigne.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Montrer le lien avec les quatre sections du syllabus et la progression 3 → 4 → 5 phrases.
Utilisez chaque contexte juste après la séquence ou la fiche correspondante du syllabus : c’est la « couche 2 » (production structurée), puis, syllabus fermé, la « couche 3 » (fluidité).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Donner une grille simple et bienveillante pour des débutant·es.
Une consigne est « respectée » si le bloc demandé est présent et compréhensible. En formatif, l’autoévaluation suffit : les apprenant·es cochent les consignes avant de lire leur texte.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Présenter les 14 productions de la section « Premiers pas · Emma &amp; Pieter » (syllabus, section 1 · p. 1 – 57).
Les productions suivent l’ordre du syllabus ; chacune peut se faire seule, juste après la page indiquée.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1 · Bonjour ! (syllabus 1.1 · p. 4) : produire 3 phrases à l’oral en respectant les 3 consignes.
Première production : trois phrases seulement. Goedemorgen de 5 h à 12 h. Après ’s morgens, le verbe vient avant ik (’s Morgens drink ik) : on l’apprend comme un bloc, sans théorie. Faites circuler la classe : chacun·e salue trois personnes.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1 · Bonjour ! (syllabus 1.1 · p. 4) : produire 3 phrases à l’oral en respectant les 3 consignes.
Première production : trois phrases seulement. Goedemorgen de 5 h à 12 h. Après ’s morgens, le verbe vient avant ik (’s Morgens drink ik) : on l’apprend comme un bloc, sans théorie. Faites circuler la classe : chacun·e salue trois personnes.
GRANDE IMAGE — laissez les apprenant·es observer et nommer ce qu’ils et elles voient avant d’écrire : Waar zijn we? Wie zie je? Wat gebeurt 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1 · Bonjour ! (syllabus 1.1 · p. 4) : produire 3 phrases à l’oral en respectant les 3 consignes.
Première production : trois phrases seulement. Goedemorgen de 5 h à 12 h. Après ’s morgens, le verbe vient avant ik (’s Morgens drink ik) : on l’apprend comme un bloc, sans théorie. Faites circuler la classe : chacun·e salue trois personnes.
EXEMPLE — chaque étiquette verte renvoie à une consigne (Zin 1 à Zin 3). Faites retrouver, pour chaque bribe, la consigne à laquelle elle répond.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2 · Le matin, l’après-midi, le soir (syllabus 1.1 · p. 6) : produire 3 phrases à l’écrit en respectant les 3 consignes.
’s morgens, ’s middags et ’s avonds expriment une habitude (tous les jours). Rappelez le bloc « moment + verbe + ik ». Les verbes utiles : werk, eet, drink, kijk, ga, slaap. Variante orale : le voisin ou la voisine devine l’heure de chaque phrase.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2 · Le matin, l’après-midi, le soir (syllabus 1.1 · p. 6) : produire 3 phrases à l’écrit en respectant les 3 consignes.
’s morgens, ’s middags et ’s avonds expriment une habitude (tous les jours). Rappelez le bloc « moment + verbe + ik ». Les verbes utiles : werk, eet, drink, kijk, ga, slaap. Variante orale : le voisin ou la voisine devine l’heure de chaque phrase.
GRANDE IMAGE — laissez les apprenant·es observer et nommer ce qu’ils et elles voient avant d’écrire : Waar zijn we? Wie zie je? Wat gebeurt 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2 · Le matin, l’après-midi, le soir (syllabus 1.1 · p. 6) : produire 3 phrases à l’écrit en respectant les 3 consignes.
’s morgens, ’s middags et ’s avonds expriment une habitude (tous les jours). Rappelez le bloc « moment + verbe + ik ». Les verbes utiles : werk, eet, drink, kijk, ga, slaap. Variante orale : le voisin ou la voisine devine l’heure de chaque phrase.
EXEMPLE — chaque étiquette verte renvoie à une consigne (Zin 1 à Zin 3). Faites retrouver, pour chaque bribe, la consigne à laquelle elle répond.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3 · Ce soir (syllabus 1.1 · p. 6) : produire 3 phrases à l’oral en respectant les 3 consignes.
Opposez ’s avonds (habitude) et vanavond (ce soir, aujourd’hui précisément). Goedenavond de 18 h à 23 h ; Goedenacht et Welterusten quand on va dormir. Jeu : montrez une heure, la classe répond par la bonne salutation.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3 · Ce soir (syllabus 1.1 · p. 6) : produire 3 phrases à l’oral en respectant les 3 consignes.
Opposez ’s avonds (habitude) et vanavond (ce soir, aujourd’hui précisément). Goedenavond de 18 h à 23 h ; Goedenacht et Welterusten quand on va dormir. Jeu : montrez une heure, la classe répond par la bonne salutation.
GRANDE IMAGE — laissez les apprenant·es observer et nommer ce qu’ils et elles voient avant d’écrire : Waar zijn we? Wie zie je? Wat gebeurt 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3 · Ce soir (syllabus 1.1 · p. 6) : produire 3 phrases à l’oral en respectant les 3 consignes.
Opposez ’s avonds (habitude) et vanavond (ce soir, aujourd’hui précisément). Goedenavond de 18 h à 23 h ; Goedenacht et Welterusten quand on va dormir. Jeu : montrez une heure, la classe répond par la bonne salutation.
EXEMPLE — chaque étiquette verte renvoie à une consigne (Zin 1 à Zin 3). Faites retrouver, pour chaque bribe, la consigne à laquelle elle répond.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4 · Aujourd’hui, c’est différent ! (syllabus 1.1 · p. 6) : produire 3 phrases à l’écrit en respectant les 3 consignes.
Le contraste habitude / aujourd’hui est le cœur de la séquence 1.1 : ’s morgens (tous les matins) ↔ vanmorgen, vandaag, vanmiddag, vanavond (aujourd’hui précisément). « Maar vandaag heb ik » : maar ne compte pas ; vandaag occupe la première place, donc le verbe vient juste après. Gardez-le comme un bloc.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4 · Aujourd’hui, c’est différent ! (syllabus 1.1 · p. 6) : produire 3 phrases à l’écrit en respectant les 3 consignes.
Le contraste habitude / aujourd’hui est le cœur de la séquence 1.1 : ’s morgens (tous les matins) ↔ vanmorgen, vandaag, vanmiddag, vanavond (aujourd’hui précisément). « Maar vandaag heb ik » : maar ne compte pas ; vandaag occupe la première place, donc le verbe vient juste après. Gardez-le comme un bloc.
GRANDE IMAGE — laissez les apprenant·es observer et nommer ce qu’ils et elles voient avant d’écrire : Waar zijn we? Wie zie je? Wat gebeurt 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4 · Aujourd’hui, c’est différent ! (syllabus 1.1 · p. 6) : produire 3 phrases à l’écrit en respectant les 3 consignes.
Le contraste habitude / aujourd’hui est le cœur de la séquence 1.1 : ’s morgens (tous les matins) ↔ vanmorgen, vandaag, vanmiddag, vanavond (aujourd’hui précisément). « Maar vandaag heb ik » : maar ne compte pas ; vandaag occupe la première place, donc le verbe vient juste après. Gardez-le comme un bloc.
EXEMPLE — chaque étiquette verte renvoie à une consigne (Zin 1 à Zin 3). Faites retrouver, pour chaque bribe, la consigne à laquelle elle répond.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5 · Comment ça va ? (syllabus 1.2 · p. 19) : produire 3 phrases à l’oral en respectant les 3 consignes.
Échelle des réponses : slecht · niet zo goed · het valt niet mee · het kan beter · het gaat wel · goed · prima · uitstekend. Tutoiement : Hoe gaat het met je / met jou? — vouvoiement : met u. Jouez le mini-dialogue trois fois, chaque fois plus vite (couche 3 : fluidité).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5 · Comment ça va ? (syllabus 1.2 · p. 19) : produire 3 phrases à l’oral en respectant les 3 consignes.
Échelle des réponses : slecht · niet zo goed · het valt niet mee · het kan beter · het gaat wel · goed · prima · uitstekend. Tutoiement : Hoe gaat het met je / met jou? — vouvoiement : met u. Jouez le mini-dialogue trois fois, chaque fois plus vite (couche 3 : fluidité).
GRANDE IMAGE — laissez les apprenant·es observer et nommer ce qu’ils et elles voient avant d’écrire : Waar zijn we? Wie zie je? Wat gebeurt 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5 · Comment ça va ? (syllabus 1.2 · p. 19) : produire 3 phrases à l’oral en respectant les 3 consignes.
Échelle des réponses : slecht · niet zo goed · het valt niet mee · het kan beter · het gaat wel · goed · prima · uitstekend. Tutoiement : Hoe gaat het met je / met jou? — vouvoiement : met u. Jouez le mini-dialogue trois fois, chaque fois plus vite (couche 3 : fluidité).
EXEMPLE — chaque étiquette verte renvoie à une consigne (Zin 1 à Zin 3). Faites retrouver, pour chaque bribe, la consigne à laquelle elle répond.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6 · Un peu fatigué·e (syllabus 1.2 · p. 25) : produire 3 phrases à l’écrit en respectant les 3 consignes.
Les nuanceurs : een beetje (un peu) → vrij (assez) → heel / zeer (très) → ontzettend (extrêmement). Adjectifs : moe, blij, gestrest, ontspannen, druk, nerveus, gelukkig, verdrietig, bang. Pour « occupé·e », on dit plus souvent : ik heb het druk. Après want, l’ordre des mots ne change pas : want ik heb… Jeu « Twee gevoelens, één leugen » : trois phrases, une fausse.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6 · Un peu fatigué·e (syllabus 1.2 · p. 25) : produire 3 phrases à l’écrit en respectant les 3 consignes.
Les nuanceurs : een beetje (un peu) → vrij (assez) → heel / zeer (très) → ontzettend (extrêmement). Adjectifs : moe, blij, gestrest, ontspannen, druk, nerveus, gelukkig, verdrietig, bang. Pour « occupé·e », on dit plus souvent : ik heb het druk. Après want, l’ordre des mots ne change pas : want ik heb… Jeu « Twee gevoelens, één leugen » : trois phrases, une fausse.
GRANDE IMAGE — laissez les apprenant·es observer et nommer ce qu’ils et elles voient avant d’écrire : Waar zijn we? Wie zie je? Wat gebeurt 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6 · Un peu fatigué·e (syllabus 1.2 · p. 25) : produire 3 phrases à l’écrit en respectant les 3 consignes.
Les nuanceurs : een beetje (un peu) → vrij (assez) → heel / zeer (très) → ontzettend (extrêmement). Adjectifs : moe, blij, gestrest, ontspannen, druk, nerveus, gelukkig, verdrietig, bang. Pour « occupé·e », on dit plus souvent : ik heb het druk. Après want, l’ordre des mots ne change pas : want ik heb… Jeu « Twee gevoelens, één leugen » : trois phrases, une fausse.
EXEMPLE — chaque étiquette verte renvoie à une consigne (Zin 1 à Zin 3). Faites retrouver, pour chaque bribe, la consigne à laquelle elle répond.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7 · Bonjour, Monsieur ! (syllabus 1.2 · p. 21) : produire 4 phrases à l’oral en respectant les 4 consignes.
Repris du texte 1 de la séquence 1.2. Vouvoiement : met u, dank u ; meneer / mevrouw + nom. Le professeur tutoie Pieter (dank je), Pieter le vouvoie. Rejouez la scène avec « je » puis avec « u » (exercice 1.2.6, « Twee gesprekken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7 · Bonjour, Monsieur ! (syllabus 1.2 · p. 21) : produire 4 phrases à l’oral en respectant les 4 consignes.
Repris du texte 1 de la séquence 1.2. Vouvoiement : met u, dank u ; meneer / mevrouw + nom. Le professeur tutoie Pieter (dank je), Pieter le vouvoie. Rejouez la scène avec « je » puis avec « u » (exercice 1.2.6, « Twee gesprekken »).
GRANDE IMAGE — laissez les apprenant·es observer et nommer ce qu’ils et elles voient avant d’écrire : Waar zijn we? Wie zie je? Wat gebeurt 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7 · Bonjour, Monsieur ! (syllabus 1.2 · p. 21) : produire 4 phrases à l’oral en respectant les 4 consignes.
Repris du texte 1 de la séquence 1.2. Vouvoiement : met u, dank u ; meneer / mevrouw + nom. Le professeur tutoie Pieter (dank je), Pieter le vouvoie. Rejouez la scène avec « je » puis avec « u » (exercice 1.2.6, « Twee gesprekken »).
EXEMPLE — chaque étiquette verte renvoie à une consigne (Zin 1 à Zin 4). Faites retrouver, pour chaque bribe, la consigne à laquelle elle répond.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8 · Voici qui je suis (syllabus 1.3 · p. 35) : produire 4 phrases à l’écrit en respectant les 4 consignes.
Pas d’article devant le métier : Ik ben leraar / student / verpleegster (✗ een leraar). ZIJN : ik ben, jij bent, hij is ; HEBBEN : ik heb, jij hebt, hij heeft. Exercice « Ik in 90 seconden » : même présentation en 90, 60 puis 45 secondes.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8 · Voici qui je suis (syllabus 1.3 · p. 35) : produire 4 phrases à l’écrit en respectant les 4 consignes.
Pas d’article devant le métier : Ik ben leraar / student / verpleegster (✗ een leraar). ZIJN : ik ben, jij bent, hij is ; HEBBEN : ik heb, jij hebt, hij heeft. Exercice « Ik in 90 seconden » : même présentation en 90, 60 puis 45 secondes.
GRANDE IMAGE — laissez les apprenant·es observer et nommer ce qu’ils et elles voient avant d’écrire : Waar zijn we? Wie zie je? Wat gebeurt 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8 · Voici qui je suis (syllabus 1.3 · p. 35) : produire 4 phrases à l’écrit en respectant les 4 consignes.
Pas d’article devant le métier : Ik ben leraar / student / verpleegster (✗ een leraar). ZIJN : ik ben, jij bent, hij is ; HEBBEN : ik heb, jij hebt, hij heeft. Exercice « Ik in 90 seconden » : même présentation en 90, 60 puis 45 secondes.
EXEMPLE — chaque étiquette verte renvoie à une consigne (Zin 1 à Zin 4). Faites retrouver, pour chaque bribe, la consigne à laquelle elle répond.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9 · Voici Emma (syllabus 1.3 · p. 37) : produire 4 phrases à l’écrit en respectant les 4 consignes.
Troisième personne : hij / zij IS, hij / zij HEEFT (✗ hebt). Zij (forme longue, pour insister) ou ze (forme courte, neutre). Prolongement : chacun·e présente son ou sa voisin·e à la classe.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9 · Voici Emma (syllabus 1.3 · p. 37) : produire 4 phrases à l’écrit en respectant les 4 consignes.
Troisième personne : hij / zij IS, hij / zij HEEFT (✗ hebt). Zij (forme longue, pour insister) ou ze (forme courte, neutre). Prolongement : chacun·e présente son ou sa voisin·e à la classe.
GRANDE IMAGE — laissez les apprenant·es observer et nommer ce qu’ils et elles voient avant d’écrire : Waar zijn we? Wie zie je? Wat gebeurt 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9 · Voici Emma (syllabus 1.3 · p. 37) : produire 4 phrases à l’écrit en respectant les 4 consignes.
Troisième personne : hij / zij IS, hij / zij HEEFT (✗ hebt). Zij (forme longue, pour insister) ou ze (forme courte, neutre). Prolongement : chacun·e présente son ou sa voisin·e à la classe.
EXEMPLE — chaque étiquette verte renvoie à une consigne (Zin 1 à Zin 4). Faites retrouver, pour chaque bribe, la consigne à laquelle elle répond.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10 · J’ai faim ! (syllabus 1.3 · p. 41) : produire 4 phrases à l’oral en respectant les 4 consignes.
Avec HEBBEN : honger (faim), dorst (soif), tijd (le temps), gelijk (raison). Question oui / non : le verbe en premier, et le -t disparaît devant je : Heb je…? (✗ Hebt je). Een → geen à la forme négative.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10 · J’ai faim ! (syllabus 1.3 · p. 41) : produire 4 phrases à l’oral en respectant les 4 consignes.
Avec HEBBEN : honger (faim), dorst (soif), tijd (le temps), gelijk (raison). Question oui / non : le verbe en premier, et le -t disparaît devant je : Heb je…? (✗ Hebt je). Een → geen à la forme négative.
GRANDE IMAGE — laissez les apprenant·es observer et nommer ce qu’ils et elles voient avant d’écrire : Waar zijn we? Wie zie je? Wat gebeurt 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10 · J’ai faim ! (syllabus 1.3 · p. 41) : produire 4 phrases à l’oral en respectant les 4 consignes.
Avec HEBBEN : honger (faim), dorst (soif), tijd (le temps), gelijk (raison). Question oui / non : le verbe en premier, et le -t disparaît devant je : Heb je…? (✗ Hebt je). Een → geen à la forme négative.
EXEMPLE — chaque étiquette verte renvoie à une consigne (Zin 1 à Zin 4). Faites retrouver, pour chaque bribe, la consigne à laquelle elle répond.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11 · En classe (syllabus 1.3 · p. 39) : produire 4 phrases à l’écrit en respectant les 4 consignes.
Er is + singulier · er zijn + pluriel. Comptez ensemble les objets de la classe (een, twee, drie… twaalf). Variante : un·e élève décrit la classe, les autres corrigent ce qui est faux (« Waar of niet waar?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11 · En classe (syllabus 1.3 · p. 39) : produire 4 phrases à l’écrit en respectant les 4 consignes.
Er is + singulier · er zijn + pluriel. Comptez ensemble les objets de la classe (een, twee, drie… twaalf). Variante : un·e élève décrit la classe, les autres corrigent ce qui est faux (« Waar of niet waar? »).
GRANDE IMAGE — laissez les apprenant·es observer et nommer ce qu’ils et elles voient avant d’écrire : Waar zijn we? Wie zie je? Wat gebeurt 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11 · En classe (syllabus 1.3 · p. 39) : produire 4 phrases à l’écrit en respectant les 4 consignes.
Er is + singulier · er zijn + pluriel. Comptez ensemble les objets de la classe (een, twee, drie… twaalf). Variante : un·e élève décrit la classe, les autres corrigent ce qui est faux (« Waar of niet waar? »).
EXEMPLE — chaque étiquette verte renvoie à une consigne (Zin 1 à Zin 4). Faites retrouver, pour chaque bribe, la consigne à laquelle elle répond.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12 · À tout à l’heure ! (syllabus 1.4 · p. 51) : produire 4 phrases à l’oral en respectant les 4 consignes.
Tot zo : dans quelques minutes · tot straks : dans quelques heures · tot morgen : demain · tot ziens : on ne sait pas quand (neutre, poli). Doei : très familier, entre ami·es. Repris du dialogue d’ouverture (exercice 1.3.7).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12 · À tout à l’heure ! (syllabus 1.4 · p. 51) : produire 4 phrases à l’oral en respectant les 4 consignes.
Tot zo : dans quelques minutes · tot straks : dans quelques heures · tot morgen : demain · tot ziens : on ne sait pas quand (neutre, poli). Doei : très familier, entre ami·es. Repris du dialogue d’ouverture (exercice 1.3.7).
GRANDE IMAGE — laissez les apprenant·es observer et nommer ce qu’ils et elles voient avant d’écrire : Waar zijn we? Wie zie je? Wat gebeurt 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12 · À tout à l’heure ! (syllabus 1.4 · p. 51) : produire 4 phrases à l’oral en respectant les 4 consignes.
Tot zo : dans quelques minutes · tot straks : dans quelques heures · tot morgen : demain · tot ziens : on ne sait pas quand (neutre, poli). Doei : très familier, entre ami·es. Repris du dialogue d’ouverture (exercice 1.3.7).
EXEMPLE — chaque étiquette verte renvoie à une consigne (Zin 1 à Zin 4). Faites retrouver, pour chaque bribe, la consigne à laquelle elle répond.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13 · Bonne soirée ! (syllabus 1.4 · p. 52) : produire 4 phrases à l’oral en respectant les 4 consignes.
Naar huis (on y va : mouvement) ≠ thuis (on y est). Souhaits : Prettige dag! · Fijne dag! · Fijne avond! · Fijn weekend! Exercice 1.4.2 « Afscheidskaartjes » : une raison, ce que vous faites, le prochain rendez-vous.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13 · Bonne soirée ! (syllabus 1.4 · p. 52) : produire 4 phrases à l’oral en respectant les 4 consignes.
Naar huis (on y va : mouvement) ≠ thuis (on y est). Souhaits : Prettige dag! · Fijne dag! · Fijne avond! · Fijn weekend! Exercice 1.4.2 « Afscheidskaartjes » : une raison, ce que vous faites, le prochain rendez-vous.
GRANDE IMAGE — laissez les apprenant·es observer et nommer ce qu’ils et elles voient avant d’écrire : Waar zijn we? Wie zie je? Wat gebeurt 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13 · Bonne soirée ! (syllabus 1.4 · p. 52) : produire 4 phrases à l’oral en respectant les 4 consignes.
Naar huis (on y va : mouvement) ≠ thuis (on y est). Souhaits : Prettige dag! · Fijne dag! · Fijne avond! · Fijn weekend! Exercice 1.4.2 « Afscheidskaartjes » : une raison, ce que vous faites, le prochain rendez-vous.
EXEMPLE — chaque étiquette verte renvoie à une consigne (Zin 1 à Zin 4). Faites retrouver, pour chaque bribe, la consigne à laquelle elle répond.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14 · Présentez-vous (syllabus synthèse · p. 57) : produire 5 phrases à l’oral en respectant les 5 consignes.
C’est exactement la mise en situation finale du syllabus (p. 57) : cinq phrases, cinq consignes. Forme longue du pronom (jij, zij, wij) pour insister ou opposer. Évaluez avec la grille sur 10, puis faites rejouer de mémoire.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14 · Présentez-vous (syllabus synthèse · p. 57) : produire 5 phrases à l’oral en respectant les 5 consignes.
C’est exactement la mise en situation finale du syllabus (p. 57) : cinq phrases, cinq consignes. Forme longue du pronom (jij, zij, wij) pour insister ou opposer. Évaluez avec la grille sur 10, puis faites rejouer de mémoire.
GRANDE IMAGE — laissez les apprenant·es observer et nommer ce qu’ils et elles voient avant d’écrire : Waar zijn we? Wie zie je? Wat gebeurt 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14 · Présentez-vous (syllabus synthèse · p. 57) : produire 5 phrases à l’oral en respectant les 5 consignes.
C’est exactement la mise en situation finale du syllabus (p. 57) : cinq phrases, cinq consignes. Forme longue du pronom (jij, zij, wij) pour insister ou opposer. Évaluez avec la grille sur 10, puis faites rejouer de mémoire.
EXEMPLE — chaque étiquette verte renvoie à une consigne (Zin 1 à Zin 5). Faites retrouver, pour chaque bribe, la consigne à laquelle elle répond.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Présenter les 10 productions de la section « Grammaire · palier A1 » (syllabus, section 2 · p. 58 – 67).
Les productions suivent l’ordre du syllabus ; chacune peut se faire seule, juste après la page indiquée.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15 · De ou het ? (syllabus fiche 01 · p. 58) : produire 4 phrases à l’écrit en respectant les 4 consignes.
Apprenez toujours le mot avec son article. De ≈ 2 mots sur 3 ; het : les diminutifs (het meisje), les langues (het Nederlands), les verbes-noms (het eten). Au pluriel, toujours de : het huis → de huizen. Pas de « een » au pluriel.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15 · De ou het ? (syllabus fiche 01 · p. 58) : produire 4 phrases à l’écrit en respectant les 4 consignes.
Apprenez toujours le mot avec son article. De ≈ 2 mots sur 3 ; het : les diminutifs (het meisje), les langues (het Nederlands), les verbes-noms (het eten). Au pluriel, toujours de : het huis → de huizen. Pas de « een » au pluriel.
GRANDE IMAGE — laissez les apprenant·es observer et nommer ce qu’ils et elles voient avant d’écrire : Waar zijn we? Wie zie je? Wat gebeurt 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15 · De ou het ? (syllabus fiche 01 · p. 58) : produire 4 phrases à l’écrit en respectant les 4 consignes.
Apprenez toujours le mot avec son article. De ≈ 2 mots sur 3 ; het : les diminutifs (het meisje), les langues (het Nederlands), les verbes-noms (het eten). Au pluriel, toujours de : het huis → de huizen. Pas de « een » au pluriel.
EXEMPLE — chaque étiquette verte renvoie à une consigne (Zin 1 à Zin 4). Faites retrouver, pour chaque bribe, la consigne à laquelle elle répond.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16 · Chez le boulanger (syllabus fiche 02 · p. 59) : produire 4 phrases à l’écrit en respectant les 4 consignes.
Règle générale : -en. Après -el, -er, -en, -je : -s (tafels, computers, meisjes), comme beaucoup de mots empruntés (croissants). Après a, o, u, i, y : -’s (auto’s). L’orthographe bouge : brood → broden (voyelle longue : une seule lettre), bus → bussen (voyelle courte : consonne doublée). Irréguliers : kind → kinderen, ei → eieren.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16 · Chez le boulanger (syllabus fiche 02 · p. 59) : produire 4 phrases à l’écrit en respectant les 4 consignes.
Règle générale : -en. Après -el, -er, -en, -je : -s (tafels, computers, meisjes), comme beaucoup de mots empruntés (croissants). Après a, o, u, i, y : -’s (auto’s). L’orthographe bouge : brood → broden (voyelle longue : une seule lettre), bus → bussen (voyelle courte : consonne doublée). Irréguliers : kind → kinderen, ei → eieren.
GRANDE IMAGE — laissez les apprenant·es observer et nommer ce qu’ils et elles voient avant d’écrire : Waar zijn we? Wie zie je? Wat gebeurt 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16 · Chez le boulanger (syllabus fiche 02 · p. 59) : produire 4 phrases à l’écrit en respectant les 4 consignes.
Règle générale : -en. Après -el, -er, -en, -je : -s (tafels, computers, meisjes), comme beaucoup de mots empruntés (croissants). Après a, o, u, i, y : -’s (auto’s). L’orthographe bouge : brood → broden (voyelle longue : une seule lettre), bus → bussen (voyelle courte : consonne doublée). Irréguliers : kind → kinderen, ei → eieren.
EXEMPLE — chaque étiquette verte renvoie à une consigne (Zin 1 à Zin 4). Faites retrouver, pour chaque bribe, la consigne à laquelle elle répond.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17 · Où est mon portable ? (syllabus fiche 03 · p. 60) : produire 4 phrases à l’oral en respectant les 4 consignes.
De-woord : deze (ici) / die (là) · het-woord : dit (ici) / dat (là) · pluriel : deze / die. Possessifs : mijn, jouw (uw), zijn, haar, ons / onze, jullie, hun. Ons seulement devant un mot en het au singulier (ons huis), sinon onze (onze school).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17 · Où est mon portable ? (syllabus fiche 03 · p. 60) : produire 4 phrases à l’oral en respectant les 4 consignes.
De-woord : deze (ici) / die (là) · het-woord : dit (ici) / dat (là) · pluriel : deze / die. Possessifs : mijn, jouw (uw), zijn, haar, ons / onze, jullie, hun. Ons seulement devant un mot en het au singulier (ons huis), sinon onze (onze school).
GRANDE IMAGE — laissez les apprenant·es observer et nommer ce qu’ils et elles voient avant d’écrire : Waar zijn we? Wie zie je? Wat gebeurt 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17 · Où est mon portable ? (syllabus fiche 03 · p. 60) : produire 4 phrases à l’oral en respectant les 4 consignes.
De-woord : deze (ici) / die (là) · het-woord : dit (ici) / dat (là) · pluriel : deze / die. Possessifs : mijn, jouw (uw), zijn, haar, ons / onze, jullie, hun. Ons seulement devant un mot en het au singulier (ons huis), sinon onze (onze school).
EXEMPLE — chaque étiquette verte renvoie à une consigne (Zin 1 à Zin 4). Faites retrouver, pour chaque bribe, la consigne à laquelle elle répond.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18 · La maison de Sarah (syllabus fiche 04 · p. 61) : produire 4 phrases à l’écrit en respectant les 4 consignes.
Mémo : een groot huis · het grote huis · een grote man · grote huizen. Le -e disparaît seulement si trois conditions sont réunies : mot en het + singulier + een / geen (ou sans article : vers brood). Variante : décrivez votre propre maison ou votre chambre.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18 · La maison de Sarah (syllabus fiche 04 · p. 61) : produire 4 phrases à l’écrit en respectant les 4 consignes.
Mémo : een groot huis · het grote huis · een grote man · grote huizen. Le -e disparaît seulement si trois conditions sont réunies : mot en het + singulier + een / geen (ou sans article : vers brood). Variante : décrivez votre propre maison ou votre chambre.
GRANDE IMAGE — laissez les apprenant·es observer et nommer ce qu’ils et elles voient avant d’écrire : Waar zijn we? Wie zie je? Wat gebeurt 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18 · La maison de Sarah (syllabus fiche 04 · p. 61) : produire 4 phrases à l’écrit en respectant les 4 consignes.
Mémo : een groot huis · het grote huis · een grote man · grote huizen. Le -e disparaît seulement si trois conditions sont réunies : mot en het + singulier + een / geen (ou sans article : vers brood). Variante : décrivez votre propre maison ou votre chambre.
EXEMPLE — chaque étiquette verte renvoie à une consigne (Zin 1 à Zin 4). Faites retrouver, pour chaque bribe, la consigne à laquelle elle répond.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19 · Comment t’appelles-tu ? (syllabus fiche 05 · p. 62) : produire 4 phrases à l’oral en respectant les 4 consignes.
Question ouverte : mot en W + verbe + sujet (Waar woon je?). Question oui / non : verbe + sujet (Woon je in Gent?). Devant je / jij, le -t disparaît : jij drinkt → Drink jij koffie? Les mots interrogatifs : wie, wat, waar, wanneer, waarom, hoe, hoeveel, welke.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19 · Comment t’appelles-tu ? (syllabus fiche 05 · p. 62) : produire 4 phrases à l’oral en respectant les 4 consignes.
Question ouverte : mot en W + verbe + sujet (Waar woon je?). Question oui / non : verbe + sujet (Woon je in Gent?). Devant je / jij, le -t disparaît : jij drinkt → Drink jij koffie? Les mots interrogatifs : wie, wat, waar, wanneer, waarom, hoe, hoeveel, welke.
GRANDE IMAGE — laissez les apprenant·es observer et nommer ce qu’ils et elles voient avant d’écrire : Waar zijn we? Wie zie je? Wat gebeurt 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19 · Comment t’appelles-tu ? (syllabus fiche 05 · p. 62) : produire 4 phrases à l’oral en respectant les 4 consignes.
Question ouverte : mot en W + verbe + sujet (Waar woon je?). Question oui / non : verbe + sujet (Woon je in Gent?). Devant je / jij, le -t disparaît : jij drinkt → Drink jij koffie? Les mots interrogatifs : wie, wat, waar, wanneer, waarom, hoe, hoeveel, welke.
EXEMPLE — chaque étiquette verte renvoie à une consigne (Zin 1 à Zin 4). Faites retrouver, pour chaque bribe, la consigne à laquelle elle répond.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20 · Une mauvaise journée (syllabus fiche 06 · p. 63) : produire 4 phrases à l’écrit en respectant les 4 consignes.
Astuce du syllabus : si l’on peut dire « pas de » ou « aucun » en français → geen. Sinon → niet. Geen remplace een ou l’absence d’article : Ik heb een auto → Ik heb geen auto. Niet se place à la fin (Ik werk vandaag niet) ou juste devant l’adjectif ou la préposition.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20 · Une mauvaise journée (syllabus fiche 06 · p. 63) : produire 4 phrases à l’écrit en respectant les 4 consignes.
Astuce du syllabus : si l’on peut dire « pas de » ou « aucun » en français → geen. Sinon → niet. Geen remplace een ou l’absence d’article : Ik heb een auto → Ik heb geen auto. Niet se place à la fin (Ik werk vandaag niet) ou juste devant l’adjectif ou la préposition.
GRANDE IMAGE — laissez les apprenant·es observer et nommer ce qu’ils et elles voient avant d’écrire : Waar zijn we? Wie zie je? Wat gebeurt 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20 · Une mauvaise journée (syllabus fiche 06 · p. 63) : produire 4 phrases à l’écrit en respectant les 4 consignes.
Astuce du syllabus : si l’on peut dire « pas de » ou « aucun » en français → geen. Sinon → niet. Geen remplace een ou l’absence d’article : Ik heb een auto → Ik heb geen auto. Niet se place à la fin (Ik werk vandaag niet) ou juste devant l’adjectif ou la préposition.
EXEMPLE — chaque étiquette verte renvoie à une consigne (Zin 1 à Zin 4). Faites retrouver, pour chaque bribe, la consigne à laquelle elle répond.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21 · Quelle heure est-il ? (syllabus fiche 07 · p. 64) : produire 4 phrases à l’oral en respectant les 4 consignes.
Piège : half negen = 8 h 30 (à mi-chemin vers neuf heures). Kwart over acht = 8 h 15 ; kwart voor negen = 8 h 45. Au-dessus de 20, l’unité d’abord : 25 = vijfentwintig. Om + heure · op + jour, date · in + mois, saison.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21 · Quelle heure est-il ? (syllabus fiche 07 · p. 64) : produire 4 phrases à l’oral en respectant les 4 consignes.
Piège : half negen = 8 h 30 (à mi-chemin vers neuf heures). Kwart over acht = 8 h 15 ; kwart voor negen = 8 h 45. Au-dessus de 20, l’unité d’abord : 25 = vijfentwintig. Om + heure · op + jour, date · in + mois, saison.
GRANDE IMAGE — laissez les apprenant·es observer et nommer ce qu’ils et elles voient avant d’écrire : Waar zijn we? Wie zie je? Wat gebeurt 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21 · Quelle heure est-il ? (syllabus fiche 07 · p. 64) : produire 4 phrases à l’oral en respectant les 4 consignes.
Piège : half negen = 8 h 30 (à mi-chemin vers neuf heures). Kwart over acht = 8 h 15 ; kwart voor negen = 8 h 45. Au-dessus de 20, l’unité d’abord : 25 = vijfentwintig. Om + heure · op + jour, date · in + mois, saison.
EXEMPLE — chaque étiquette verte renvoie à une consigne (Zin 1 à Zin 4). Faites retrouver, pour chaque bribe, la consigne à laquelle elle répond.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22 · Où est le chat ? (syllabus fiche 08 · p. 65) : produire 4 phrases à l’écrit en respectant les 4 consignes.
In : dans un lieu fermé, une ville, un pays · op : sur une surface · bij : chez, près de · naar : vers (avec mouvement). Thuis (sans mouvement) ≠ naar huis (avec mouvement). Jeu : cachez un objet dans la classe, les autres demandent « Is het op de tafel?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22 · Où est le chat ? (syllabus fiche 08 · p. 65) : produire 4 phrases à l’écrit en respectant les 4 consignes.
In : dans un lieu fermé, une ville, un pays · op : sur une surface · bij : chez, près de · naar : vers (avec mouvement). Thuis (sans mouvement) ≠ naar huis (avec mouvement). Jeu : cachez un objet dans la classe, les autres demandent « Is het op de tafel? ».
GRANDE IMAGE — laissez les apprenant·es observer et nommer ce qu’ils et elles voient avant d’écrire : Waar zijn we? Wie zie je? Wat gebeurt 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22 · Où est le chat ? (syllabus fiche 08 · p. 65) : produire 4 phrases à l’écrit en respectant les 4 consignes.
In : dans un lieu fermé, une ville, un pays · op : sur une surface · bij : chez, près de · naar : vers (avec mouvement). Thuis (sans mouvement) ≠ naar huis (avec mouvement). Jeu : cachez un objet dans la classe, les autres demandent « Is het op de tafel? ».
EXEMPLE — chaque étiquette verte renvoie à une consigne (Zin 1 à Zin 4). Faites retrouver, pour chaque bribe, la consigne à laquelle elle répond.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23 · Un petit café (syllabus fiche 09 · p. 66) : produire 4 phrases à l’oral en respectant les 4 consignes.
Diminutif : -je (huisje), -tje après une voyelle (autootje), -etje après voyelle courte + l, m, n, r (zonnetje), -pje après -m (boompje). Tous en het au singulier, -s au pluriel : het meisje → de meisjes. Ik wil graag… : la formule polie pour commander.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23 · Un petit café (syllabus fiche 09 · p. 66) : produire 4 phrases à l’oral en respectant les 4 consignes.
Diminutif : -je (huisje), -tje après une voyelle (autootje), -etje après voyelle courte + l, m, n, r (zonnetje), -pje après -m (boompje). Tous en het au singulier, -s au pluriel : het meisje → de meisjes. Ik wil graag… : la formule polie pour commander.
GRANDE IMAGE — laissez les apprenant·es observer et nommer ce qu’ils et elles voient avant d’écrire : Waar zijn we? Wie zie je? Wat gebeurt 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23 · Un petit café (syllabus fiche 09 · p. 66) : produire 4 phrases à l’oral en respectant les 4 consignes.
Diminutif : -je (huisje), -tje après une voyelle (autootje), -etje après voyelle courte + l, m, n, r (zonnetje), -pje après -m (boompje). Tous en het au singulier, -s au pluriel : het meisje → de meisjes. Ik wil graag… : la formule polie pour commander.
EXEMPLE — chaque étiquette verte renvoie à une consigne (Zin 1 à Zin 4). Faites retrouver, pour chaque bribe, la consigne à laquelle elle répond.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24 · Entrez donc ! (syllabus fiche 10 · p. 67) : produire 4 phrases à l’oral en respectant les 4 consignes.
Impératif = la forme de « ik » (le radical) : luisteren → luister, kijken → kijk, lezen → lees, zitten → zit, opstaan → sta op. Une seule forme pour tout le monde. Un impératif seul paraît sec : ajoutez even (un instant), eens (pour voir), maar (vas-y) ou alsjeblieft / alstublieft. Jeu « Jacques a dit » : « Simon zegt: sta op!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24 · Entrez donc ! (syllabus fiche 10 · p. 67) : produire 4 phrases à l’oral en respectant les 4 consignes.
Impératif = la forme de « ik » (le radical) : luisteren → luister, kijken → kijk, lezen → lees, zitten → zit, opstaan → sta op. Une seule forme pour tout le monde. Un impératif seul paraît sec : ajoutez even (un instant), eens (pour voir), maar (vas-y) ou alsjeblieft / alstublieft. Jeu « Jacques a dit » : « Simon zegt: sta op! ».
GRANDE IMAGE — laissez les apprenant·es observer et nommer ce qu’ils et elles voient avant d’écrire : Waar zijn we? Wie zie je? Wat gebeurt 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24 · Entrez donc ! (syllabus fiche 10 · p. 67) : produire 4 phrases à l’oral en respectant les 4 consignes.
Impératif = la forme de « ik » (le radical) : luisteren → luister, kijken → kijk, lezen → lees, zitten → zit, opstaan → sta op. Une seule forme pour tout le monde. Un impératif seul paraît sec : ajoutez even (un instant), eens (pour voir), maar (vas-y) ou alsjeblieft / alstublieft. Jeu « Jacques a dit » : « Simon zegt: sta op! ».
EXEMPLE — chaque étiquette verte renvoie à une consigne (Zin 1 à Zin 4). Faites retrouver, pour chaque bribe, la consigne à laquelle elle répond.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Présenter les 11 productions de la section « Vocabulaire thématique » (syllabus, section 3 · p. 78 – 88).
Les productions suivent l’ordre du syllabus ; chacune peut se faire seule, juste après la page indiquée.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25 · Enchanté·e ! (syllabus vocabulaire 01 · p. 78) : produire 4 phrases à l’oral en respectant les 4 consignes.
Mots de la fiche : de naam, een hand geven, het visitekaartje, de identiteitskaart, het adres, het telefoonnummer, het land, de taal, het beroep. Aangenaam ! = enchanté·e. Variante : échangez de vraies (ou fausses) cartes de visite et présentez votre partenaire.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25 · Enchanté·e ! (syllabus vocabulaire 01 · p. 78) : produire 4 phrases à l’oral en respectant les 4 consignes.
Mots de la fiche : de naam, een hand geven, het visitekaartje, de identiteitskaart, het adres, het telefoonnummer, het land, de taal, het beroep. Aangenaam ! = enchanté·e. Variante : échangez de vraies (ou fausses) cartes de visite et présentez votre partenaire.
GRANDE IMAGE — laissez les apprenant·es observer et nommer ce qu’ils et elles voient avant d’écrire : Waar zijn we? Wie zie je? Wat gebeurt 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25 · Enchanté·e ! (syllabus vocabulaire 01 · p. 78) : produire 4 phrases à l’oral en respectant les 4 consignes.
Mots de la fiche : de naam, een hand geven, het visitekaartje, de identiteitskaart, het adres, het telefoonnummer, het land, de taal, het beroep. Aangenaam ! = enchanté·e. Variante : échangez de vraies (ou fausses) cartes de visite et présentez votre partenaire.
EXEMPLE — chaque étiquette verte renvoie à une consigne (Zin 1 à Zin 4). Faites retrouver, pour chaque bribe, la consigne à laquelle elle répond.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26 · Le dimanche chez la grand-mère (syllabus vocabulaire 02 · p. 79) : produire 4 phrases à l’écrit en respectant les 4 consignes.
Mots de la fiche : de vader, de moeder, de ouders, de zoon, de dochter, de broer, de zus, de opa, de oma, de baby, het gezin, de tweeling, de buurman. Variante : apportez une photo de famille (réelle ou inventée) et présentez-la à l’oral.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26 · Le dimanche chez la grand-mère (syllabus vocabulaire 02 · p. 79) : produire 4 phrases à l’écrit en respectant les 4 consignes.
Mots de la fiche : de vader, de moeder, de ouders, de zoon, de dochter, de broer, de zus, de opa, de oma, de baby, het gezin, de tweeling, de buurman. Variante : apportez une photo de famille (réelle ou inventée) et présentez-la à l’oral.
GRANDE IMAGE — laissez les apprenant·es observer et nommer ce qu’ils et elles voient avant d’écrire : Waar zijn we? Wie zie je? Wat gebeurt 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26 · Le dimanche chez la grand-mère (syllabus vocabulaire 02 · p. 79) : produire 4 phrases à l’écrit en respectant les 4 consignes.
Mots de la fiche : de vader, de moeder, de ouders, de zoon, de dochter, de broer, de zus, de opa, de oma, de baby, het gezin, de tweeling, de buurman. Variante : apportez une photo de famille (réelle ou inventée) et présentez-la à l’oral.
EXEMPLE — chaque étiquette verte renvoie à une consigne (Zin 1 à Zin 4). Faites retrouver, pour chaque bribe, la consigne à laquelle elle répond.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27 · À vélo au travail (syllabus vocabulaire 03 · p. 80) : produire 4 phrases à l’oral en respectant les 4 consignes.
Mots de la fiche : het station, de trein, de bus, de tram, de fiets, de auto, de straat, het verkeerslicht, de brug, de kerk, het museum, de bibliotheek, de plattegrond, de bushalte, de parking. Met de… (le moyen) · naar… (la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27 · À vélo au travail (syllabus vocabulaire 03 · p. 80) : produire 4 phrases à l’oral en respectant les 4 consignes.
Mots de la fiche : het station, de trein, de bus, de tram, de fiets, de auto, de straat, het verkeerslicht, de brug, de kerk, het museum, de bibliotheek, de plattegrond, de bushalte, de parking. Met de… (le moyen) · naar… (la destination).
GRANDE IMAGE — laissez les apprenant·es observer et nommer ce qu’ils et elles voient avant d’écrire : Waar zijn we? Wie zie je? Wat gebeurt 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27 · À vélo au travail (syllabus vocabulaire 03 · p. 80) : produire 4 phrases à l’oral en respectant les 4 consignes.
Mots de la fiche : het station, de trein, de bus, de tram, de fiets, de auto, de straat, het verkeerslicht, de brug, de kerk, het museum, de bibliotheek, de plattegrond, de bushalte, de parking. Met de… (le moyen) · naar… (la destination).
EXEMPLE — chaque étiquette verte renvoie à une consigne (Zin 1 à Zin 4). Faites retrouver, pour chaque bribe, la consigne à laquelle elle répond.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28 · Qu’est-ce qu’on mange ce soir ? (syllabus vocabulaire 04 · p. 81) : produire 4 phrases à l’écrit en respectant les 4 consignes.
Mots de la fiche : het brood, de kaas, de boter, het ei, de melk, de koffie, de thee, het water, de soep, de frieten, het vlees, de vis, de groenten, het fruit, het bestek. Lekker = bon (au goût). « Vanavond kook ik » : le bloc de la séquence 1.1 (moment + verbe + ik). Variante : composez à deux le menu de la classe.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28 · Qu’est-ce qu’on mange ce soir ? (syllabus vocabulaire 04 · p. 81) : produire 4 phrases à l’écrit en respectant les 4 consignes.
Mots de la fiche : het brood, de kaas, de boter, het ei, de melk, de koffie, de thee, het water, de soep, de frieten, het vlees, de vis, de groenten, het fruit, het bestek. Lekker = bon (au goût). « Vanavond kook ik » : le bloc de la séquence 1.1 (moment + verbe + ik). Variante : composez à deux le menu de la classe.
GRANDE IMAGE — laissez les apprenant·es observer et nommer ce qu’ils et elles voient avant d’écrire : Waar zijn we? Wie zie je? Wat gebeurt 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28 · Qu’est-ce qu’on mange ce soir ? (syllabus vocabulaire 04 · p. 81) : produire 4 phrases à l’écrit en respectant les 4 consignes.
Mots de la fiche : het brood, de kaas, de boter, het ei, de melk, de koffie, de thee, het water, de soep, de frieten, het vlees, de vis, de groenten, het fruit, het bestek. Lekker = bon (au goût). « Vanavond kook ik » : le bloc de la séquence 1.1 (moment + verbe + ik). Variante : composez à deux le menu de la classe.
EXEMPLE — chaque étiquette verte renvoie à une consigne (Zin 1 à Zin 4). Faites retrouver, pour chaque bribe, la consigne à laquelle elle répond.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29 · Au supermarché (syllabus vocabulaire 05 · p. 82) : produire 4 phrases à l’oral en respectant les 4 consignes.
Mots de la fiche : de winkel, de supermarkt, de bakker, de slager, de markt, het mandje, het winkelwagentje, de kassa, het geld, de prijs, het kasticket, de tas, de fles, het blik, de weegschaal. Nombres : 42 = tweeënveertig (le tréma sépare les deux 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29 · Au supermarché (syllabus vocabulaire 05 · p. 82) : produire 4 phrases à l’oral en respectant les 4 consignes.
Mots de la fiche : de winkel, de supermarkt, de bakker, de slager, de markt, het mandje, het winkelwagentje, de kassa, het geld, de prijs, het kasticket, de tas, de fles, het blik, de weegschaal. Nombres : 42 = tweeënveertig (le tréma sépare les deux e).
GRANDE IMAGE — laissez les apprenant·es observer et nommer ce qu’ils et elles voient avant d’écrire : Waar zijn we? Wie zie je? Wat gebeurt 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29 · Au supermarché (syllabus vocabulaire 05 · p. 82) : produire 4 phrases à l’oral en respectant les 4 consignes.
Mots de la fiche : de winkel, de supermarkt, de bakker, de slager, de markt, het mandje, het winkelwagentje, de kassa, het geld, de prijs, het kasticket, de tas, de fles, het blik, de weegschaal. Nombres : 42 = tweeënveertig (le tréma sépare les deux e).
EXEMPLE — chaque étiquette verte renvoie à une consigne (Zin 1 à Zin 4). Faites retrouver, pour chaque bribe, la consigne à laquelle elle répond.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30 · Je suis malade (syllabus vocabulaire 06 · p. 83) : produire 4 phrases à l’oral en respectant les 4 consignes.
Mots de la fiche : het hoofd, het oog, de neus, de mond, het oor, de hand, de arm, het been, de voet, de buik, de dokter, het ziekenhuis, de apotheek, de medicijnen, de koorts. Mijn buik / mijn keel / mijn rug doet pijn. « Vanmiddag ga ik » : le bloc de la séquence 1.1 (moment + verbe + ik), l’étiquette IK GA NAAR se pose donc sur « ga ik naar ». Mimez : la classe devine où vous avez mal.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30 · Je suis malade (syllabus vocabulaire 06 · p. 83) : produire 4 phrases à l’oral en respectant les 4 consignes.
Mots de la fiche : het hoofd, het oog, de neus, de mond, het oor, de hand, de arm, het been, de voet, de buik, de dokter, het ziekenhuis, de apotheek, de medicijnen, de koorts. Mijn buik / mijn keel / mijn rug doet pijn. « Vanmiddag ga ik » : le bloc de la séquence 1.1 (moment + verbe + ik), l’étiquette IK GA NAAR se pose donc sur « ga ik naar ». Mimez : la classe devine où vous avez mal.
GRANDE IMAGE — laissez les apprenant·es observer et nommer ce qu’ils et elles voient avant d’écrire : Waar zijn we? Wie zie je? Wat gebeurt 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30 · Je suis malade (syllabus vocabulaire 06 · p. 83) : produire 4 phrases à l’oral en respectant les 4 consignes.
Mots de la fiche : het hoofd, het oog, de neus, de mond, het oor, de hand, de arm, het been, de voet, de buik, de dokter, het ziekenhuis, de apotheek, de medicijnen, de koorts. Mijn buik / mijn keel / mijn rug doet pijn. « Vanmiddag ga ik » : le bloc de la séquence 1.1 (moment + verbe + ik), l’étiquette IK GA NAAR se pose donc sur « ga ik naar ». Mimez : la classe devine où vous avez mal.
EXEMPLE — chaque étiquette verte renvoie à une consigne (Zin 1 à Zin 4). Faites retrouver, pour chaque bribe, la consigne à laquelle elle répond.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31 · Au bureau (syllabus vocabulaire 07 · p. 84) : produire 4 phrases à l’écrit en respectant les 4 consignes.
Mots de la fiche : het kantoor (le lieu), het bureau (le meuble), de computer, de printer, de vergadering, de collega, de baas, de fabriek, het contract, het loon, de koffieautomaat, de lift, de klant. Attention : het bureau = le meuble ; het kantoor = le bureau-lieu (en Belgique, on entend aussi « naar het bureau » pour le lieu).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31 · Au bureau (syllabus vocabulaire 07 · p. 84) : produire 4 phrases à l’écrit en respectant les 4 consignes.
Mots de la fiche : het kantoor (le lieu), het bureau (le meuble), de computer, de printer, de vergadering, de collega, de baas, de fabriek, het contract, het loon, de koffieautomaat, de lift, de klant. Attention : het bureau = le meuble ; het kantoor = le bureau-lieu (en Belgique, on entend aussi « naar het bureau » pour le lieu).
GRANDE IMAGE — laissez les apprenant·es observer et nommer ce qu’ils et elles voient avant d’écrire : Waar zijn we? Wie zie je? Wat gebeurt 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31 · Au bureau (syllabus vocabulaire 07 · p. 84) : produire 4 phrases à l’écrit en respectant les 4 consignes.
Mots de la fiche : het kantoor (le lieu), het bureau (le meuble), de computer, de printer, de vergadering, de collega, de baas, de fabriek, het contract, het loon, de koffieautomaat, de lift, de klant. Attention : het bureau = le meuble ; het kantoor = le bureau-lieu (en Belgique, on entend aussi « naar het bureau » pour le lieu).
EXEMPLE — chaque étiquette verte renvoie à une consigne (Zin 1 à Zin 4). Faites retrouver, pour chaque bribe, la consigne à laquelle elle répond.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32 · Un SMS (syllabus vocabulaire 08 · p. 85) : produire 4 phrases à l’écrit en respectant les 4 consignes.
Mots de la fiche : de telefoon, de gsm, bellen, het berichtje, de e-mail, de bijlage, het scherm, de headset, de wifi, de oplader, versturen, het wachtwoord, het videogesprek. Écrivez le SMS sur un vrai téléphone et envoyez-le à votre voisin·e, qui répond.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32 · Un SMS (syllabus vocabulaire 08 · p. 85) : produire 4 phrases à l’écrit en respectant les 4 consignes.
Mots de la fiche : de telefoon, de gsm, bellen, het berichtje, de e-mail, de bijlage, het scherm, de headset, de wifi, de oplader, versturen, het wachtwoord, het videogesprek. Écrivez le SMS sur un vrai téléphone et envoyez-le à votre voisin·e, qui répond.
GRANDE IMAGE — laissez les apprenant·es observer et nommer ce qu’ils et elles voient avant d’écrire : Waar zijn we? Wie zie je? Wat gebeurt 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32 · Un SMS (syllabus vocabulaire 08 · p. 85) : produire 4 phrases à l’écrit en respectant les 4 consignes.
Mots de la fiche : de telefoon, de gsm, bellen, het berichtje, de e-mail, de bijlage, het scherm, de headset, de wifi, de oplader, versturen, het wachtwoord, het videogesprek. Écrivez le SMS sur un vrai téléphone et envoyez-le à votre voisin·e, qui répond.
EXEMPLE — chaque étiquette verte renvoie à une consigne (Zin 1 à Zin 4). Faites retrouver, pour chaque bribe, la consigne à laquelle elle répond.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33 · À la maison communale (syllabus vocabulaire 09 · p. 86) : produire 4 phrases à l’oral en respectant les 4 consignes.
Mots de la fiche : het formulier, de handtekening, het paspoort, het gemeentehuis, het loket, de wachtrij, de stempel, de brief, de envelop, de postzegel, de brievenbus, de afspraak, het dossier, de factuur. Jeu de rôle : l’employé·e au guichet répond « Neem een nummertje!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33 · À la maison communale (syllabus vocabulaire 09 · p. 86) : produire 4 phrases à l’oral en respectant les 4 consignes.
Mots de la fiche : het formulier, de handtekening, het paspoort, het gemeentehuis, het loket, de wachtrij, de stempel, de brief, de envelop, de postzegel, de brievenbus, de afspraak, het dossier, de factuur. Jeu de rôle : l’employé·e au guichet répond « Neem een nummertje! ».
GRANDE IMAGE — laissez les apprenant·es observer et nommer ce qu’ils et elles voient avant d’écrire : Waar zijn we? Wie zie je? Wat gebeurt 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33 · À la maison communale (syllabus vocabulaire 09 · p. 86) : produire 4 phrases à l’oral en respectant les 4 consignes.
Mots de la fiche : het formulier, de handtekening, het paspoort, het gemeentehuis, het loket, de wachtrij, de stempel, de brief, de envelop, de postzegel, de brievenbus, de afspraak, het dossier, de factuur. Jeu de rôle : l’employé·e au guichet répond « Neem een nummertje! ».
EXEMPLE — chaque étiquette verte renvoie à une consigne (Zin 1 à Zin 4). Faites retrouver, pour chaque bribe, la consigne à laquelle elle répond.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34 · C’est l’hiver ! (syllabus vocabulaire 10 · p. 87) : produire 4 phrases à l’oral en respectant les 4 consignes.
Mots de la fiche : de zon, de regen, de wolk, de wind, de sneeuw, het onweer, de regenboog, de mist, de temperatuur, de lente, de zomer, de herfst, de winter. Het regent / het sneeuwt / het waait / de zon schijnt. Variante : chacun·e tire une saison et la classe devine.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34 · C’est l’hiver ! (syllabus vocabulaire 10 · p. 87) : produire 4 phrases à l’oral en respectant les 4 consignes.
Mots de la fiche : de zon, de regen, de wolk, de wind, de sneeuw, het onweer, de regenboog, de mist, de temperatuur, de lente, de zomer, de herfst, de winter. Het regent / het sneeuwt / het waait / de zon schijnt. Variante : chacun·e tire une saison et la classe devine.
GRANDE IMAGE — laissez les apprenant·es observer et nommer ce qu’ils et elles voient avant d’écrire : Waar zijn we? Wie zie je? Wat gebeurt 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34 · C’est l’hiver ! (syllabus vocabulaire 10 · p. 87) : produire 4 phrases à l’oral en respectant les 4 consignes.
Mots de la fiche : de zon, de regen, de wolk, de wind, de sneeuw, het onweer, de regenboog, de mist, de temperatuur, de lente, de zomer, de herfst, de winter. Het regent / het sneeuwt / het waait / de zon schijnt. Variante : chacun·e tire une saison et la classe devine.
EXEMPLE — chaque étiquette verte renvoie à une consigne (Zin 1 à Zin 4). Faites retrouver, pour chaque bribe, la consigne à laquelle elle répond.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35 · Karaoké ! (syllabus vocabulaire 11 · p. 88) : produire 4 phrases à l’oral en respectant les 4 consignes.
Mots de la fiche : blij, verdrietig, boos, bang, moe, verrast, verliefd, zenuwachtig, zich vervelen, trots, rustig, ziek · Ik vind het (niet) leuk · Ik weet het niet. Vals zingen = chanter faux. Variante : un sondage dans la classe (« Vind je zingen leuk?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35 · Karaoké ! (syllabus vocabulaire 11 · p. 88) : produire 4 phrases à l’oral en respectant les 4 consignes.
Mots de la fiche : blij, verdrietig, boos, bang, moe, verrast, verliefd, zenuwachtig, zich vervelen, trots, rustig, ziek · Ik vind het (niet) leuk · Ik weet het niet. Vals zingen = chanter faux. Variante : un sondage dans la classe (« Vind je zingen leuk? »).
GRANDE IMAGE — laissez les apprenant·es observer et nommer ce qu’ils et elles voient avant d’écrire : Waar zijn we? Wie zie je? Wat gebeurt 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35 · Karaoké ! (syllabus vocabulaire 11 · p. 88) : produire 4 phrases à l’oral en respectant les 4 consignes.
Mots de la fiche : blij, verdrietig, boos, bang, moe, verrast, verliefd, zenuwachtig, zich vervelen, trots, rustig, ziek · Ik vind het (niet) leuk · Ik weet het niet. Vals zingen = chanter faux. Variante : un sondage dans la classe (« Vind je zingen leuk? »).
EXEMPLE — chaque étiquette verte renvoie à une consigne (Zin 1 à Zin 4). Faites retrouver, pour chaque bribe, la consigne à laquelle elle répond.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Présenter les 10 productions de la section « Mises en situation · jalon A1 » (syllabus, section 4 · p. 92 – 100).
Les productions suivent l’ordre du syllabus ; chacune peut se faire seule, juste après la page indiquée.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36 · À l’agence d’intérim (syllabus fiche 1 · p. 92) : produire 5 phrases à l’oral en respectant les 5 consignes.
Vocabulaire du jalon A1 : inschrijven, zoeken, de werkzoekende, het interimkantoor, het inschrijvingsformulier, zich aanmelden. « Ik heb mijn identiteitskaart niet bij me » : mijn + nom → niet (pas geen) ; niet vient après l’objet, devant la préposition (bij me) (fiche 06). Jeu de rôle : l’employé·e demande « Hoe heet u? Wat is uw adres?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36 · À l’agence d’intérim (syllabus fiche 1 · p. 92) : produire 5 phrases à l’oral en respectant les 5 consignes.
Vocabulaire du jalon A1 : inschrijven, zoeken, de werkzoekende, het interimkantoor, het inschrijvingsformulier, zich aanmelden. « Ik heb mijn identiteitskaart niet bij me » : mijn + nom → niet (pas geen) ; niet vient après l’objet, devant la préposition (bij me) (fiche 06). Jeu de rôle : l’employé·e demande « Hoe heet u? Wat is uw adres? ».
GRANDE IMAGE — laissez les apprenant·es observer et nommer ce qu’ils et elles voient avant d’écrire : Waar zijn we? Wie zie je? Wat gebeurt 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36 · À l’agence d’intérim (syllabus fiche 1 · p. 92) : produire 5 phrases à l’oral en respectant les 5 consignes.
Vocabulaire du jalon A1 : inschrijven, zoeken, de werkzoekende, het interimkantoor, het inschrijvingsformulier, zich aanmelden. « Ik heb mijn identiteitskaart niet bij me » : mijn + nom → niet (pas geen) ; niet vient après l’objet, devant la préposition (bij me) (fiche 06). Jeu de rôle : l’employé·e demande « Hoe heet u? Wat is uw adres? ».
EXEMPLE — chaque étiquette verte renvoie à une consigne (Zin 1 à Zin 5). Faites retrouver, pour chaque bribe, la consigne à laquelle elle répond.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37 · Parler du CV (syllabus fiche 2 · p. 93) : produire 5 phrases à l’oral en respectant les 5 consignes.
Vocabulaire du jalon A1 : de identiteit, de ervaring, de opleiding, de rubriek, volgen, werken, spreken, het beroep. Vouvoiement : u + verbe avec -t (Spreekt u? Hebt u?). Inversez les rôles : la ou le candidat·e répond avec ses vraies informations.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37 · Parler du CV (syllabus fiche 2 · p. 93) : produire 5 phrases à l’oral en respectant les 5 consignes.
Vocabulaire du jalon A1 : de identiteit, de ervaring, de opleiding, de rubriek, volgen, werken, spreken, het beroep. Vouvoiement : u + verbe avec -t (Spreekt u? Hebt u?). Inversez les rôles : la ou le candidat·e répond avec ses vraies informations.
GRANDE IMAGE — laissez les apprenant·es observer et nommer ce qu’ils et elles voient avant d’écrire : Waar zijn we? Wie zie je? Wat gebeurt 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37 · Parler du CV (syllabus fiche 2 · p. 93) : produire 5 phrases à l’oral en respectant les 5 consignes.
Vocabulaire du jalon A1 : de identiteit, de ervaring, de opleiding, de rubriek, volgen, werken, spreken, het beroep. Vouvoiement : u + verbe avec -t (Spreekt u? Hebt u?). Inversez les rôles : la ou le candidat·e répond avec ses vraies informations.
EXEMPLE — chaque étiquette verte renvoie à une consigne (Zin 1 à Zin 5). Faites retrouver, pour chaque bribe, la consigne à laquelle elle répond.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38 · Quand es-tu libre ? (syllabus fiche 3 · p. 94) : produire 4 phrases à l’oral en respectant les 4 consignes.
Les jours : maandag, dinsdag, woensdag, donderdag, vrijdag, zaterdag, zondag. Vocabulaire du jalon A1 : beschikbaar, afspreken, vrijmaken, passen (Past dat?). Jeu : chacun·e a un agenda rempli à moitié ; trouvez un créneau commun.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38 · Quand es-tu libre ? (syllabus fiche 3 · p. 94) : produire 4 phrases à l’oral en respectant les 4 consignes.
Les jours : maandag, dinsdag, woensdag, donderdag, vrijdag, zaterdag, zondag. Vocabulaire du jalon A1 : beschikbaar, afspreken, vrijmaken, passen (Past dat?). Jeu : chacun·e a un agenda rempli à moitié ; trouvez un créneau commun.
GRANDE IMAGE — laissez les apprenant·es observer et nommer ce qu’ils et elles voient avant d’écrire : Waar zijn we? Wie zie je? Wat gebeurt 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38 · Quand es-tu libre ? (syllabus fiche 3 · p. 94) : produire 4 phrases à l’oral en respectant les 4 consignes.
Les jours : maandag, dinsdag, woensdag, donderdag, vrijdag, zaterdag, zondag. Vocabulaire du jalon A1 : beschikbaar, afspreken, vrijmaken, passen (Past dat?). Jeu : chacun·e a un agenda rempli à moitié ; trouvez un créneau commun.
EXEMPLE — chaque étiquette verte renvoie à une consigne (Zin 1 à Zin 4). Faites retrouver, pour chaque bribe, la consigne à laquelle elle répond.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39 · Un cours de néerlandais (syllabus fiche 4 · p. 95) : produire 4 phrases à l’oral en respectant les 4 consignes.
Vocabulaire du jalon A1 : wanneer, het klaslokaal, de les, hoeveel, hoe lang, welke, beginnen, kosten, duren. Jalon A2 (pour les plus rapides) : répondre — « De cursus begint op maandag en duurt tien weken.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39 · Un cours de néerlandais (syllabus fiche 4 · p. 95) : produire 4 phrases à l’oral en respectant les 4 consignes.
Vocabulaire du jalon A1 : wanneer, het klaslokaal, de les, hoeveel, hoe lang, welke, beginnen, kosten, duren. Jalon A2 (pour les plus rapides) : répondre — « De cursus begint op maandag en duurt tien weken. »
GRANDE IMAGE — laissez les apprenant·es observer et nommer ce qu’ils et elles voient avant d’écrire : Waar zijn we? Wie zie je? Wat gebeurt 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39 · Un cours de néerlandais (syllabus fiche 4 · p. 95) : produire 4 phrases à l’oral en respectant les 4 consignes.
Vocabulaire du jalon A1 : wanneer, het klaslokaal, de les, hoeveel, hoe lang, welke, beginnen, kosten, duren. Jalon A2 (pour les plus rapides) : répondre — « De cursus begint op maandag en duurt tien weken. »
EXEMPLE — chaque étiquette verte renvoie à une consigne (Zin 1 à Zin 4). Faites retrouver, pour chaque bribe, la consigne à laquelle elle répond.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40 · Remplir un formulaire (syllabus fiche 5 · p. 96) : produire 5 phrases à l’écrit en respectant les 5 consignes.
Vocabulaire du jalon A1 : de voornaam, de achternaam, het telefoonnummer, het adres, de cursus, volgen, de kaart. À l’oral, dites le numéro de téléphone chiffre par chiffre (nul vier zeven vijf…). Variante : dictée de numéros par deux.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40 · Remplir un formulaire (syllabus fiche 5 · p. 96) : produire 5 phrases à l’écrit en respectant les 5 consignes.
Vocabulaire du jalon A1 : de voornaam, de achternaam, het telefoonnummer, het adres, de cursus, volgen, de kaart. À l’oral, dites le numéro de téléphone chiffre par chiffre (nul vier zeven vijf…). Variante : dictée de numéros par deux.
GRANDE IMAGE — laissez les apprenant·es observer et nommer ce qu’ils et elles voient avant d’écrire : Waar zijn we? Wie zie je? Wat gebeurt 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40 · Remplir un formulaire (syllabus fiche 5 · p. 96) : produire 5 phrases à l’écrit en respectant les 5 consignes.
Vocabulaire du jalon A1 : de voornaam, de achternaam, het telefoonnummer, het adres, de cursus, volgen, de kaart. À l’oral, dites le numéro de téléphone chiffre par chiffre (nul vier zeven vijf…). Variante : dictée de numéros par deux.
EXEMPLE — chaque étiquette verte renvoie à une consigne (Zin 1 à Zin 5). Faites retrouver, pour chaque bribe, la consigne à laquelle elle répond.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41 · Que savez-vous bien faire ? (syllabus fiche 6 · p. 97) : produire 4 phrases à l’oral en respectant les 4 consignes.
Vocabulaire du jalon A1 : kunnen, willen, moeten, leren, beginnen, goed, graag, nog, vanaf. Verbe modal + infinitif à la fin : Ik kan goed koken. Ik wil Nederlands leren. Jeu de rôle avec les questions du syllabus : Wat kunt u goed? Wanneer kunt u beginnen?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41 · Que savez-vous bien faire ? (syllabus fiche 6 · p. 97) : produire 4 phrases à l’oral en respectant les 4 consignes.
Vocabulaire du jalon A1 : kunnen, willen, moeten, leren, beginnen, goed, graag, nog, vanaf. Verbe modal + infinitif à la fin : Ik kan goed koken. Ik wil Nederlands leren. Jeu de rôle avec les questions du syllabus : Wat kunt u goed? Wanneer kunt u beginnen?
GRANDE IMAGE — laissez les apprenant·es observer et nommer ce qu’ils et elles voient avant d’écrire : Waar zijn we? Wie zie je? Wat gebeurt 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41 · Que savez-vous bien faire ? (syllabus fiche 6 · p. 97) : produire 4 phrases à l’oral en respectant les 4 consignes.
Vocabulaire du jalon A1 : kunnen, willen, moeten, leren, beginnen, goed, graag, nog, vanaf. Verbe modal + infinitif à la fin : Ik kan goed koken. Ik wil Nederlands leren. Jeu de rôle avec les questions du syllabus : Wat kunt u goed? Wanneer kunt u beginnen?
EXEMPLE — chaque étiquette verte renvoie à une consigne (Zin 1 à Zin 4). Faites retrouver, pour chaque bribe, la consigne à laquelle elle répond.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42 · Nouveau au travail (syllabus fiche 7 · p. 98) : produire 5 phrases à l’oral en respectant les 5 consignes.
Vocabulaire du jalon A1 : nieuw, hier, de afdeling, werken, doen, de marketing, de administratie, de verkoopafdeling. Jouez la scène debout, comme à la machine à café. Variante : chacun·e tire une carte « afdeling » (marketing, verkoop, logistiek…).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42 · Nouveau au travail (syllabus fiche 7 · p. 98) : produire 5 phrases à l’oral en respectant les 5 consignes.
Vocabulaire du jalon A1 : nieuw, hier, de afdeling, werken, doen, de marketing, de administratie, de verkoopafdeling. Jouez la scène debout, comme à la machine à café. Variante : chacun·e tire une carte « afdeling » (marketing, verkoop, logistiek…).
GRANDE IMAGE — laissez les apprenant·es observer et nommer ce qu’ils et elles voient avant d’écrire : Waar zijn we? Wie zie je? Wat gebeurt 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42 · Nouveau au travail (syllabus fiche 7 · p. 98) : produire 5 phrases à l’oral en respectant les 5 consignes.
Vocabulaire du jalon A1 : nieuw, hier, de afdeling, werken, doen, de marketing, de administratie, de verkoopafdeling. Jouez la scène debout, comme à la machine à café. Variante : chacun·e tire une carte « afdeling » (marketing, verkoop, logistiek…).
EXEMPLE — chaque étiquette verte renvoie à une consigne (Zin 1 à Zin 5). Faites retrouver, pour chaque bribe, la consigne à laquelle elle répond.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43 · Comment te sens-tu ? (syllabus fiche 8 · p. 99) : produire 4 phrases à l’oral en respectant les 4 consignes.
Vocabulaire du jalon A1 : moe, gestrest, rustig, vrij, heel, bezet, een beetje, ontzettend. Recyclage de la séquence 1.2 (ik voel me + nuanceur + adjectif). Jeu : on mime une émotion, la classe demande « Ben je…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43 · Comment te sens-tu ? (syllabus fiche 8 · p. 99) : produire 4 phrases à l’oral en respectant les 4 consignes.
Vocabulaire du jalon A1 : moe, gestrest, rustig, vrij, heel, bezet, een beetje, ontzettend. Recyclage de la séquence 1.2 (ik voel me + nuanceur + adjectif). Jeu : on mime une émotion, la classe demande « Ben je… ? ».
GRANDE IMAGE — laissez les apprenant·es observer et nommer ce qu’ils et elles voient avant d’écrire : Waar zijn we? Wie zie je? Wat gebeurt 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43 · Comment te sens-tu ? (syllabus fiche 8 · p. 99) : produire 4 phrases à l’oral en respectant les 4 consignes.
Vocabulaire du jalon A1 : moe, gestrest, rustig, vrij, heel, bezet, een beetje, ontzettend. Recyclage de la séquence 1.2 (ik voel me + nuanceur + adjectif). Jeu : on mime une émotion, la classe demande « Ben je… ? ».
EXEMPLE — chaque étiquette verte renvoie à une consigne (Zin 1 à Zin 4). Faites retrouver, pour chaque bribe, la consigne à laquelle elle répond.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44 · Où est le local 204 ? (syllabus fiche 9 · p. 100) : produire 5 phrases à l’oral en respectant les 5 consignes.
Vocabulaire de la fiche : goedemorgen, hoe gaat het, dank u, tot straks · mag ik iets vragen, de hulp, het klaslokaal, natuurlijk, bedankt, rechts achteraan. Jeu de piste : un plan de l’école, un·e élève guide l’autre les yeux fermés.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44 · Où est le local 204 ? (syllabus fiche 9 · p. 100) : produire 5 phrases à l’oral en respectant les 5 consignes.
Vocabulaire de la fiche : goedemorgen, hoe gaat het, dank u, tot straks · mag ik iets vragen, de hulp, het klaslokaal, natuurlijk, bedankt, rechts achteraan. Jeu de piste : un plan de l’école, un·e élève guide l’autre les yeux fermés.
GRANDE IMAGE — laissez les apprenant·es observer et nommer ce qu’ils et elles voient avant d’écrire : Waar zijn we? Wie zie je? Wat gebeurt 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44 · Où est le local 204 ? (syllabus fiche 9 · p. 100) : produire 5 phrases à l’oral en respectant les 5 consignes.
Vocabulaire de la fiche : goedemorgen, hoe gaat het, dank u, tot straks · mag ik iets vragen, de hulp, het klaslokaal, natuurlijk, bedankt, rechts achteraan. Jeu de piste : un plan de l’école, un·e élève guide l’autre les yeux fermés.
EXEMPLE — chaque étiquette verte renvoie à une consigne (Zin 1 à Zin 5). Faites retrouver, pour chaque bribe, la consigne à laquelle elle répond.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45 · L’examen (syllabus fiche 10 · p. 100) : produire 4 phrases à l’oral en respectant les 4 consignes.
Vocabulaire du jalon A1 : studeren, komen, halen, moeilijk, makkelijk, gelukt, het examen, het resultaat · trots, tevreden, zenuwachtig. Pour les plus rapides (jalon A2) : raconter au passé — « Ik heb goed gestudeerd.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45 · L’examen (syllabus fiche 10 · p. 100) : produire 4 phrases à l’oral en respectant les 4 consignes.
Vocabulaire du jalon A1 : studeren, komen, halen, moeilijk, makkelijk, gelukt, het examen, het resultaat · trots, tevreden, zenuwachtig. Pour les plus rapides (jalon A2) : raconter au passé — « Ik heb goed gestudeerd. »
GRANDE IMAGE — laissez les apprenant·es observer et nommer ce qu’ils et elles voient avant d’écrire : Waar zijn we? Wie zie je? Wat gebeurt 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45 · L’examen (syllabus fiche 10 · p. 100) : produire 4 phrases à l’oral en respectant les 4 consignes.
Vocabulaire du jalon A1 : studeren, komen, halen, moeilijk, makkelijk, gelukt, het examen, het resultaat · trots, tevreden, zenuwachtig. Pour les plus rapides (jalon A2) : raconter au passé — « Ik heb goed gestudeerd. »
EXEMPLE — chaque étiquette verte renvoie à une consigne (Zin 1 à Zin 4). Faites retrouver, pour chaque bribe, la consigne à laquelle elle répond.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Varier les modalités pour réutiliser les 45 contextes.
Ces variantes reprennent les trois couches du syllabus : réception (on lit l’exemple), production structurée (syllabus ouvert), fluidité (syllabus fermé, plus vite). Les meilleures productions peuvent ensuite passer au deck In vijf zinnen (A1 · A2 · B1).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N1_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Néerlandais · A1 · Stap voor stap · Productions jalonnées</a:t>
            </a:r>
            <a:endParaRPr lang="en-US" sz="1000" dirty="0"/>
          </a:p>
        </p:txBody>
      </p:sp>
      <p:sp>
        <p:nvSpPr>
          <p:cNvPr id="3" name="Text 1"/>
          <p:cNvSpPr/>
          <p:nvPr>
            <p:ph idx="101" type="title" hasCustomPrompt="1"/>
          </p:nvPr>
        </p:nvSpPr>
        <p:spPr>
          <a:xfrm>
            <a:off x="548640" y="621792"/>
            <a:ext cx="11091672" cy="713232"/>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N1_DARK">
    <p:bg>
      <p:bgPr>
        <a:solidFill>
          <a:srgbClr val="17375E"/>
        </a:solidFill>
      </p:bgPr>
    </p:bg>
    <p:spTree>
      <p:nvGrpSpPr>
        <p:cNvPr id="1" name=""/>
        <p:cNvGrpSpPr/>
        <p:nvPr/>
      </p:nvGrpSpPr>
      <p:grpSpPr>
        <a:xfrm>
          <a:off x="0" y="0"/>
          <a:ext cx="0" cy="0"/>
          <a:chOff x="0" y="0"/>
          <a:chExt cx="0" cy="0"/>
        </a:xfrm>
      </p:grpSpPr>
      <p:sp>
        <p:nvSpPr>
          <p:cNvPr id="2" name="Text 0"/>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chemeClr val="bg2"/>
                </a:solidFill>
              </a:rPr>
              <a:t>Néerlandais · A1 · Stap voor stap · Productions jalonnées</a:t>
            </a:r>
            <a:endParaRPr lang="en-US" sz="1000" dirty="0"/>
          </a:p>
        </p:txBody>
      </p:sp>
      <p:sp>
        <p:nvSpPr>
          <p:cNvPr id="3" name="Text 1"/>
          <p:cNvSpPr/>
          <p:nvPr>
            <p:ph idx="101" type="title" hasCustomPrompt="1"/>
          </p:nvPr>
        </p:nvSpPr>
        <p:spPr>
          <a:xfrm>
            <a:off x="548640" y="621792"/>
            <a:ext cx="11091672" cy="713232"/>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EF3F8"/>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N1_COVER">
    <p:bg>
      <p:bgPr>
        <a:solidFill>
          <a:srgbClr val="17375E"/>
        </a:solidFill>
      </p:bgPr>
    </p:bg>
    <p:spTree>
      <p:nvGrpSpPr>
        <p:cNvPr id="1" name=""/>
        <p:cNvGrpSpPr/>
        <p:nvPr/>
      </p:nvGrpSpPr>
      <p:grpSpPr>
        <a:xfrm>
          <a:off x="0" y="0"/>
          <a:ext cx="0" cy="0"/>
          <a:chOff x="0" y="0"/>
          <a:chExt cx="0" cy="0"/>
        </a:xfrm>
      </p:grpSpPr>
      <p:sp>
        <p:nvSpPr>
          <p:cNvPr id="2" name="Text 0"/>
          <p:cNvSpPr/>
          <p:nvPr/>
        </p:nvSpPr>
        <p:spPr>
          <a:xfrm>
            <a:off x="548640" y="6263640"/>
            <a:ext cx="8229600" cy="320040"/>
          </a:xfrm>
          <a:prstGeom prst="rect">
            <a:avLst/>
          </a:prstGeom>
          <a:noFill/>
          <a:ln/>
        </p:spPr>
        <p:txBody>
          <a:bodyPr wrap="square" lIns="0" tIns="0" rIns="0" bIns="0" rtlCol="0" anchor="ctr"/>
          <a:lstStyle/>
          <a:p>
            <a:pPr indent="0" marL="0">
              <a:buNone/>
            </a:pPr>
            <a:r>
              <a:rPr lang="en-US" sz="1200" dirty="0">
                <a:solidFill>
                  <a:schemeClr val="bg2"/>
                </a:solidFill>
              </a:rPr>
              <a:t>Néerlandais · A1 · Stap voor stap · Production guidée · A. Jouniaux · IRAM</a:t>
            </a:r>
            <a:endParaRPr lang="en-US" sz="1200" dirty="0"/>
          </a:p>
        </p:txBody>
      </p:sp>
      <p:sp>
        <p:nvSpPr>
          <p:cNvPr id="3" name="Text 1"/>
          <p:cNvSpPr/>
          <p:nvPr>
            <p:ph idx="101" type="title" hasCustomPrompt="1"/>
          </p:nvPr>
        </p:nvSpPr>
        <p:spPr>
          <a:xfrm>
            <a:off x="548640" y="1737360"/>
            <a:ext cx="5669280" cy="1828800"/>
          </a:xfrm>
          <a:prstGeom prst="rect">
            <a:avLst/>
          </a:prstGeom>
          <a:noFill/>
          <a:ln/>
        </p:spPr>
        <p:txBody>
          <a:bodyPr wrap="square" rtlCol="0"/>
          <a:lstStyle>
            <a:lvl1pPr algn="l" indent="0" marL="0">
              <a:buNone/>
              <a:defRPr lang="en-US" sz="4200" b="1" dirty="0">
                <a:solidFill>
                  <a:schemeClr val="bg1"/>
                </a:solidFill>
              </a:defRPr>
            </a:lvl1pPr>
          </a:lstStyle>
          <a:p>
            <a:pPr algn="l" indent="0" marL="0">
              <a:buNone/>
            </a:pPr>
            <a:endParaRPr lang="en-US" sz="4200" dirty="0"/>
          </a:p>
        </p:txBody>
      </p:sp>
      <p:sp>
        <p:nvSpPr>
          <p:cNvPr id="4" name="Text 1"/>
          <p:cNvSpPr/>
          <p:nvPr>
            <p:ph idx="102" type="body" hasCustomPrompt="1"/>
          </p:nvPr>
        </p:nvSpPr>
        <p:spPr>
          <a:xfrm>
            <a:off x="548640" y="3749040"/>
            <a:ext cx="5669280" cy="146304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VZ_PAGE">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554480" y="6473952"/>
            <a:ext cx="7315200" cy="256032"/>
          </a:xfrm>
          <a:prstGeom prst="rect">
            <a:avLst/>
          </a:prstGeom>
          <a:noFill/>
          <a:ln/>
        </p:spPr>
        <p:txBody>
          <a:bodyPr wrap="square" lIns="0" tIns="0" rIns="0" bIns="0" rtlCol="0" anchor="ctr"/>
          <a:lstStyle/>
          <a:p>
            <a:pPr indent="0" marL="0">
              <a:buNone/>
            </a:pPr>
            <a:r>
              <a:rPr lang="en-US" sz="950" dirty="0">
                <a:solidFill>
                  <a:srgbClr val="9AA3B2"/>
                </a:solidFill>
              </a:rPr>
              <a:t>Néerlandais · A1 · Stap voor stap · Productions jalonnées</a:t>
            </a:r>
            <a:endParaRPr lang="en-US" sz="950" dirty="0"/>
          </a:p>
        </p:txBody>
      </p:sp>
      <p:sp>
        <p:nvSpPr>
          <p:cNvPr id="3" name="Text 1"/>
          <p:cNvSpPr/>
          <p:nvPr>
            <p:ph idx="101" type="title" hasCustomPrompt="1"/>
          </p:nvPr>
        </p:nvSpPr>
        <p:spPr>
          <a:xfrm>
            <a:off x="1554480" y="384048"/>
            <a:ext cx="10241280" cy="658368"/>
          </a:xfrm>
          <a:prstGeom prst="rect">
            <a:avLst/>
          </a:prstGeom>
          <a:noFill/>
          <a:ln/>
        </p:spPr>
        <p:txBody>
          <a:bodyPr wrap="square" rtlCol="0"/>
          <a:lstStyle>
            <a:lvl1pPr algn="ctr" indent="0" marL="0">
              <a:buNone/>
              <a:defRPr lang="en-US" sz="3000" b="1" dirty="0">
                <a:solidFill>
                  <a:srgbClr val="2B2F38"/>
                </a:solidFill>
              </a:defRPr>
            </a:lvl1pPr>
          </a:lstStyle>
          <a:p>
            <a:pPr algn="ctr" indent="0" marL="0">
              <a:buNone/>
            </a:pPr>
            <a:endParaRPr lang="en-US" sz="3000" dirty="0"/>
          </a:p>
        </p:txBody>
      </p:sp>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VZ_LEF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554480" y="6473952"/>
            <a:ext cx="7315200" cy="256032"/>
          </a:xfrm>
          <a:prstGeom prst="rect">
            <a:avLst/>
          </a:prstGeom>
          <a:noFill/>
          <a:ln/>
        </p:spPr>
        <p:txBody>
          <a:bodyPr wrap="square" lIns="0" tIns="0" rIns="0" bIns="0" rtlCol="0" anchor="ctr"/>
          <a:lstStyle/>
          <a:p>
            <a:pPr indent="0" marL="0">
              <a:buNone/>
            </a:pPr>
            <a:r>
              <a:rPr lang="en-US" sz="950" dirty="0">
                <a:solidFill>
                  <a:srgbClr val="9AA3B2"/>
                </a:solidFill>
              </a:rPr>
              <a:t>Néerlandais · A1 · Stap voor stap · Productions jalonnées</a:t>
            </a:r>
            <a:endParaRPr lang="en-US" sz="950" dirty="0"/>
          </a:p>
        </p:txBody>
      </p:sp>
      <p:sp>
        <p:nvSpPr>
          <p:cNvPr id="3" name="Text 1"/>
          <p:cNvSpPr/>
          <p:nvPr>
            <p:ph idx="101" type="title" hasCustomPrompt="1"/>
          </p:nvPr>
        </p:nvSpPr>
        <p:spPr>
          <a:xfrm>
            <a:off x="1691640" y="347472"/>
            <a:ext cx="8138160" cy="914400"/>
          </a:xfrm>
          <a:prstGeom prst="rect">
            <a:avLst/>
          </a:prstGeom>
          <a:noFill/>
          <a:ln/>
        </p:spPr>
        <p:txBody>
          <a:bodyPr wrap="square" rtlCol="0"/>
          <a:lstStyle>
            <a:lvl1pPr algn="l" indent="0" marL="0">
              <a:buNone/>
              <a:defRPr lang="en-US" sz="2400" b="1" dirty="0">
                <a:solidFill>
                  <a:srgbClr val="2B2F38"/>
                </a:solidFill>
              </a:defRPr>
            </a:lvl1pPr>
          </a:lstStyle>
          <a:p>
            <a:pPr algn="l" indent="0" marL="0">
              <a:buNone/>
            </a:pPr>
            <a:endParaRPr lang="en-US" sz="2400" dirty="0"/>
          </a:p>
        </p:txBody>
      </p:sp>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1006</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VZ_COVER">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554480" y="6473952"/>
            <a:ext cx="7315200" cy="256032"/>
          </a:xfrm>
          <a:prstGeom prst="rect">
            <a:avLst/>
          </a:prstGeom>
          <a:noFill/>
          <a:ln/>
        </p:spPr>
        <p:txBody>
          <a:bodyPr wrap="square" lIns="0" tIns="0" rIns="0" bIns="0" rtlCol="0" anchor="ctr"/>
          <a:lstStyle/>
          <a:p>
            <a:pPr indent="0" marL="0">
              <a:buNone/>
            </a:pPr>
            <a:r>
              <a:rPr lang="en-US" sz="950" dirty="0">
                <a:solidFill>
                  <a:srgbClr val="9AA3B2"/>
                </a:solidFill>
              </a:rPr>
              <a:t>Néerlandais · A1 · Stap voor stap · Production guidée · A. Jouniaux · IRAM</a:t>
            </a:r>
            <a:endParaRPr lang="en-US" sz="950" dirty="0"/>
          </a:p>
        </p:txBody>
      </p:sp>
      <p:sp>
        <p:nvSpPr>
          <p:cNvPr id="3" name="Text 1"/>
          <p:cNvSpPr/>
          <p:nvPr>
            <p:ph idx="101" type="title" hasCustomPrompt="1"/>
          </p:nvPr>
        </p:nvSpPr>
        <p:spPr>
          <a:xfrm>
            <a:off x="1554480" y="1234440"/>
            <a:ext cx="5212080" cy="1188720"/>
          </a:xfrm>
          <a:prstGeom prst="rect">
            <a:avLst/>
          </a:prstGeom>
          <a:noFill/>
          <a:ln/>
        </p:spPr>
        <p:txBody>
          <a:bodyPr wrap="square" rtlCol="0"/>
          <a:lstStyle>
            <a:lvl1pPr algn="l" indent="0" marL="0">
              <a:buNone/>
              <a:defRPr lang="en-US" sz="5400" b="1" dirty="0">
                <a:solidFill>
                  <a:srgbClr val="2B2F38"/>
                </a:solidFill>
              </a:defRPr>
            </a:lvl1pPr>
          </a:lstStyle>
          <a:p>
            <a:pPr algn="l" indent="0" marL="0">
              <a:buNone/>
            </a:pPr>
            <a:endParaRPr lang="en-US" sz="5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jpg"/><Relationship Id="rId4" Type="http://schemas.openxmlformats.org/officeDocument/2006/relationships/image" Target="../media/image-1-4.jpg"/><Relationship Id="rId5" Type="http://schemas.openxmlformats.org/officeDocument/2006/relationships/image" Target="../media/image-1-5.jpg"/><Relationship Id="rId6" Type="http://schemas.openxmlformats.org/officeDocument/2006/relationships/slideLayout" Target="../slideLayouts/slideLayout7.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5.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jpg"/><Relationship Id="rId3" Type="http://schemas.openxmlformats.org/officeDocument/2006/relationships/image" Target="../media/image-3-3.jpg"/><Relationship Id="rId4" Type="http://schemas.openxmlformats.org/officeDocument/2006/relationships/image" Target="../media/image-3-4.jpg"/><Relationship Id="rId5" Type="http://schemas.openxmlformats.org/officeDocument/2006/relationships/image" Target="../media/image-3-5.png"/><Relationship Id="rId6" Type="http://schemas.openxmlformats.org/officeDocument/2006/relationships/slideLayout" Target="../slideLayouts/slideLayout5.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image" Target="../media/image-5-2.png"/><Relationship Id="rId3" Type="http://schemas.openxmlformats.org/officeDocument/2006/relationships/image" Target="../media/image-5-3.jpg"/><Relationship Id="rId4" Type="http://schemas.openxmlformats.org/officeDocument/2006/relationships/image" Target="../media/image-5-4.png"/><Relationship Id="rId5" Type="http://schemas.openxmlformats.org/officeDocument/2006/relationships/image" Target="../media/image-5-5.jpg"/><Relationship Id="rId6" Type="http://schemas.openxmlformats.org/officeDocument/2006/relationships/image" Target="../media/image-5-6.png"/><Relationship Id="rId7" Type="http://schemas.openxmlformats.org/officeDocument/2006/relationships/image" Target="../media/image-5-7.jpg"/><Relationship Id="rId8" Type="http://schemas.openxmlformats.org/officeDocument/2006/relationships/image" Target="../media/image-5-8.png"/><Relationship Id="rId9" Type="http://schemas.openxmlformats.org/officeDocument/2006/relationships/image" Target="../media/image-5-9.jpg"/><Relationship Id="rId10" Type="http://schemas.openxmlformats.org/officeDocument/2006/relationships/image" Target="../media/image-5-10.png"/><Relationship Id="rId11" Type="http://schemas.openxmlformats.org/officeDocument/2006/relationships/image" Target="../media/image-5-11.jpg"/><Relationship Id="rId12" Type="http://schemas.openxmlformats.org/officeDocument/2006/relationships/image" Target="../media/image-5-12.png"/><Relationship Id="rId13" Type="http://schemas.openxmlformats.org/officeDocument/2006/relationships/image" Target="../media/image-5-13.jpg"/><Relationship Id="rId14" Type="http://schemas.openxmlformats.org/officeDocument/2006/relationships/image" Target="../media/image-5-14.png"/><Relationship Id="rId15" Type="http://schemas.openxmlformats.org/officeDocument/2006/relationships/image" Target="../media/image-5-15.jpg"/><Relationship Id="rId16" Type="http://schemas.openxmlformats.org/officeDocument/2006/relationships/image" Target="../media/image-5-16.png"/><Relationship Id="rId17" Type="http://schemas.openxmlformats.org/officeDocument/2006/relationships/image" Target="../media/image-5-17.jpg"/><Relationship Id="rId18" Type="http://schemas.openxmlformats.org/officeDocument/2006/relationships/image" Target="../media/image-5-18.png"/><Relationship Id="rId19" Type="http://schemas.openxmlformats.org/officeDocument/2006/relationships/image" Target="../media/image-5-19.jpg"/><Relationship Id="rId20" Type="http://schemas.openxmlformats.org/officeDocument/2006/relationships/image" Target="../media/image-5-20.png"/><Relationship Id="rId21" Type="http://schemas.openxmlformats.org/officeDocument/2006/relationships/image" Target="../media/image-5-21.jpg"/><Relationship Id="rId22" Type="http://schemas.openxmlformats.org/officeDocument/2006/relationships/image" Target="../media/image-5-22.png"/><Relationship Id="rId23" Type="http://schemas.openxmlformats.org/officeDocument/2006/relationships/image" Target="../media/image-5-23.jpg"/><Relationship Id="rId24" Type="http://schemas.openxmlformats.org/officeDocument/2006/relationships/image" Target="../media/image-5-24.png"/><Relationship Id="rId25" Type="http://schemas.openxmlformats.org/officeDocument/2006/relationships/image" Target="../media/image-5-25.jpg"/><Relationship Id="rId26" Type="http://schemas.openxmlformats.org/officeDocument/2006/relationships/image" Target="../media/image-5-26.png"/><Relationship Id="rId27" Type="http://schemas.openxmlformats.org/officeDocument/2006/relationships/image" Target="../media/image-5-27.jpg"/><Relationship Id="rId28" Type="http://schemas.openxmlformats.org/officeDocument/2006/relationships/image" Target="../media/image-5-28.png"/><Relationship Id="rId29" Type="http://schemas.openxmlformats.org/officeDocument/2006/relationships/slideLayout" Target="../slideLayouts/slideLayout5.xml"/><Relationship Id="rId3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5.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5.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6.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5.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5.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6.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5.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5.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6.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5.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5.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6.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5.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5.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6.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5.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5.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6.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slideLayout" Target="../slideLayouts/slideLayout5.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5.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6.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slideLayout" Target="../slideLayouts/slideLayout5.xml"/><Relationship Id="rId5"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5.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6.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slideLayout" Target="../slideLayouts/slideLayout5.xml"/><Relationship Id="rId5"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5.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g"/><Relationship Id="rId2" Type="http://schemas.openxmlformats.org/officeDocument/2006/relationships/slideLayout" Target="../slideLayouts/slideLayout6.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jp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slideLayout" Target="../slideLayouts/slideLayout5.xml"/><Relationship Id="rId5"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jpg"/><Relationship Id="rId2" Type="http://schemas.openxmlformats.org/officeDocument/2006/relationships/slideLayout" Target="../slideLayouts/slideLayout5.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jpg"/><Relationship Id="rId2" Type="http://schemas.openxmlformats.org/officeDocument/2006/relationships/slideLayout" Target="../slideLayouts/slideLayout6.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jp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slideLayout" Target="../slideLayouts/slideLayout5.xml"/><Relationship Id="rId5"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jpg"/><Relationship Id="rId2" Type="http://schemas.openxmlformats.org/officeDocument/2006/relationships/slideLayout" Target="../slideLayouts/slideLayout5.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jpg"/><Relationship Id="rId2" Type="http://schemas.openxmlformats.org/officeDocument/2006/relationships/slideLayout" Target="../slideLayouts/slideLayout6.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jpg"/><Relationship Id="rId2" Type="http://schemas.openxmlformats.org/officeDocument/2006/relationships/image" Target="../media/image-39-2.png"/><Relationship Id="rId3" Type="http://schemas.openxmlformats.org/officeDocument/2006/relationships/image" Target="../media/image-39-3.png"/><Relationship Id="rId4" Type="http://schemas.openxmlformats.org/officeDocument/2006/relationships/slideLayout" Target="../slideLayouts/slideLayout5.xml"/><Relationship Id="rId5"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jpg"/><Relationship Id="rId2" Type="http://schemas.openxmlformats.org/officeDocument/2006/relationships/slideLayout" Target="../slideLayouts/slideLayout5.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jpg"/><Relationship Id="rId2" Type="http://schemas.openxmlformats.org/officeDocument/2006/relationships/slideLayout" Target="../slideLayouts/slideLayout6.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jpg"/><Relationship Id="rId2" Type="http://schemas.openxmlformats.org/officeDocument/2006/relationships/image" Target="../media/image-42-2.png"/><Relationship Id="rId3" Type="http://schemas.openxmlformats.org/officeDocument/2006/relationships/image" Target="../media/image-42-3.png"/><Relationship Id="rId4" Type="http://schemas.openxmlformats.org/officeDocument/2006/relationships/slideLayout" Target="../slideLayouts/slideLayout5.xml"/><Relationship Id="rId5"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jpg"/><Relationship Id="rId2" Type="http://schemas.openxmlformats.org/officeDocument/2006/relationships/slideLayout" Target="../slideLayouts/slideLayout5.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jpg"/><Relationship Id="rId2" Type="http://schemas.openxmlformats.org/officeDocument/2006/relationships/slideLayout" Target="../slideLayouts/slideLayout6.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jpg"/><Relationship Id="rId2" Type="http://schemas.openxmlformats.org/officeDocument/2006/relationships/image" Target="../media/image-45-2.png"/><Relationship Id="rId3" Type="http://schemas.openxmlformats.org/officeDocument/2006/relationships/image" Target="../media/image-45-3.png"/><Relationship Id="rId4" Type="http://schemas.openxmlformats.org/officeDocument/2006/relationships/slideLayout" Target="../slideLayouts/slideLayout5.xml"/><Relationship Id="rId5"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jpg"/><Relationship Id="rId2" Type="http://schemas.openxmlformats.org/officeDocument/2006/relationships/slideLayout" Target="../slideLayouts/slideLayout5.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jpg"/><Relationship Id="rId2" Type="http://schemas.openxmlformats.org/officeDocument/2006/relationships/slideLayout" Target="../slideLayouts/slideLayout6.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jpg"/><Relationship Id="rId2" Type="http://schemas.openxmlformats.org/officeDocument/2006/relationships/image" Target="../media/image-48-2.png"/><Relationship Id="rId3" Type="http://schemas.openxmlformats.org/officeDocument/2006/relationships/image" Target="../media/image-48-3.jpg"/><Relationship Id="rId4" Type="http://schemas.openxmlformats.org/officeDocument/2006/relationships/image" Target="../media/image-48-4.png"/><Relationship Id="rId5" Type="http://schemas.openxmlformats.org/officeDocument/2006/relationships/image" Target="../media/image-48-5.jpg"/><Relationship Id="rId6" Type="http://schemas.openxmlformats.org/officeDocument/2006/relationships/image" Target="../media/image-48-6.png"/><Relationship Id="rId7" Type="http://schemas.openxmlformats.org/officeDocument/2006/relationships/image" Target="../media/image-48-7.jpg"/><Relationship Id="rId8" Type="http://schemas.openxmlformats.org/officeDocument/2006/relationships/image" Target="../media/image-48-8.png"/><Relationship Id="rId9" Type="http://schemas.openxmlformats.org/officeDocument/2006/relationships/image" Target="../media/image-48-9.jpg"/><Relationship Id="rId10" Type="http://schemas.openxmlformats.org/officeDocument/2006/relationships/image" Target="../media/image-48-10.png"/><Relationship Id="rId11" Type="http://schemas.openxmlformats.org/officeDocument/2006/relationships/image" Target="../media/image-48-11.jpg"/><Relationship Id="rId12" Type="http://schemas.openxmlformats.org/officeDocument/2006/relationships/image" Target="../media/image-48-12.png"/><Relationship Id="rId13" Type="http://schemas.openxmlformats.org/officeDocument/2006/relationships/image" Target="../media/image-48-13.jpg"/><Relationship Id="rId14" Type="http://schemas.openxmlformats.org/officeDocument/2006/relationships/image" Target="../media/image-48-14.png"/><Relationship Id="rId15" Type="http://schemas.openxmlformats.org/officeDocument/2006/relationships/image" Target="../media/image-48-15.jpg"/><Relationship Id="rId16" Type="http://schemas.openxmlformats.org/officeDocument/2006/relationships/image" Target="../media/image-48-16.png"/><Relationship Id="rId17" Type="http://schemas.openxmlformats.org/officeDocument/2006/relationships/image" Target="../media/image-48-17.jpg"/><Relationship Id="rId18" Type="http://schemas.openxmlformats.org/officeDocument/2006/relationships/image" Target="../media/image-48-18.png"/><Relationship Id="rId19" Type="http://schemas.openxmlformats.org/officeDocument/2006/relationships/image" Target="../media/image-48-19.jpg"/><Relationship Id="rId20" Type="http://schemas.openxmlformats.org/officeDocument/2006/relationships/image" Target="../media/image-48-20.png"/><Relationship Id="rId21" Type="http://schemas.openxmlformats.org/officeDocument/2006/relationships/slideLayout" Target="../slideLayouts/slideLayout5.xml"/><Relationship Id="rId2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jpg"/><Relationship Id="rId2" Type="http://schemas.openxmlformats.org/officeDocument/2006/relationships/image" Target="../media/image-49-2.png"/><Relationship Id="rId3" Type="http://schemas.openxmlformats.org/officeDocument/2006/relationships/image" Target="../media/image-49-3.png"/><Relationship Id="rId4" Type="http://schemas.openxmlformats.org/officeDocument/2006/relationships/slideLayout" Target="../slideLayouts/slideLayout5.xml"/><Relationship Id="rId5"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jpg"/><Relationship Id="rId2" Type="http://schemas.openxmlformats.org/officeDocument/2006/relationships/slideLayout" Target="../slideLayouts/slideLayout5.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jpg"/><Relationship Id="rId2" Type="http://schemas.openxmlformats.org/officeDocument/2006/relationships/slideLayout" Target="../slideLayouts/slideLayout6.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jpg"/><Relationship Id="rId2" Type="http://schemas.openxmlformats.org/officeDocument/2006/relationships/image" Target="../media/image-52-2.png"/><Relationship Id="rId3" Type="http://schemas.openxmlformats.org/officeDocument/2006/relationships/image" Target="../media/image-52-3.png"/><Relationship Id="rId4" Type="http://schemas.openxmlformats.org/officeDocument/2006/relationships/slideLayout" Target="../slideLayouts/slideLayout5.xml"/><Relationship Id="rId5"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jpg"/><Relationship Id="rId2" Type="http://schemas.openxmlformats.org/officeDocument/2006/relationships/slideLayout" Target="../slideLayouts/slideLayout5.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jpg"/><Relationship Id="rId2" Type="http://schemas.openxmlformats.org/officeDocument/2006/relationships/slideLayout" Target="../slideLayouts/slideLayout6.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jpg"/><Relationship Id="rId2" Type="http://schemas.openxmlformats.org/officeDocument/2006/relationships/image" Target="../media/image-55-2.png"/><Relationship Id="rId3" Type="http://schemas.openxmlformats.org/officeDocument/2006/relationships/image" Target="../media/image-55-3.png"/><Relationship Id="rId4" Type="http://schemas.openxmlformats.org/officeDocument/2006/relationships/slideLayout" Target="../slideLayouts/slideLayout5.xml"/><Relationship Id="rId5"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jpg"/><Relationship Id="rId2" Type="http://schemas.openxmlformats.org/officeDocument/2006/relationships/slideLayout" Target="../slideLayouts/slideLayout5.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jpg"/><Relationship Id="rId2" Type="http://schemas.openxmlformats.org/officeDocument/2006/relationships/slideLayout" Target="../slideLayouts/slideLayout6.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jpg"/><Relationship Id="rId2" Type="http://schemas.openxmlformats.org/officeDocument/2006/relationships/image" Target="../media/image-58-2.png"/><Relationship Id="rId3" Type="http://schemas.openxmlformats.org/officeDocument/2006/relationships/image" Target="../media/image-58-3.png"/><Relationship Id="rId4" Type="http://schemas.openxmlformats.org/officeDocument/2006/relationships/slideLayout" Target="../slideLayouts/slideLayout5.xml"/><Relationship Id="rId5"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jpg"/><Relationship Id="rId2" Type="http://schemas.openxmlformats.org/officeDocument/2006/relationships/slideLayout" Target="../slideLayouts/slideLayout5.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jpg"/><Relationship Id="rId2" Type="http://schemas.openxmlformats.org/officeDocument/2006/relationships/slideLayout" Target="../slideLayouts/slideLayout6.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jpg"/><Relationship Id="rId2" Type="http://schemas.openxmlformats.org/officeDocument/2006/relationships/image" Target="../media/image-61-2.png"/><Relationship Id="rId3" Type="http://schemas.openxmlformats.org/officeDocument/2006/relationships/image" Target="../media/image-61-3.png"/><Relationship Id="rId4" Type="http://schemas.openxmlformats.org/officeDocument/2006/relationships/slideLayout" Target="../slideLayouts/slideLayout5.xml"/><Relationship Id="rId5"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jpg"/><Relationship Id="rId2" Type="http://schemas.openxmlformats.org/officeDocument/2006/relationships/slideLayout" Target="../slideLayouts/slideLayout5.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jpg"/><Relationship Id="rId2" Type="http://schemas.openxmlformats.org/officeDocument/2006/relationships/slideLayout" Target="../slideLayouts/slideLayout6.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jpg"/><Relationship Id="rId2" Type="http://schemas.openxmlformats.org/officeDocument/2006/relationships/image" Target="../media/image-64-2.png"/><Relationship Id="rId3" Type="http://schemas.openxmlformats.org/officeDocument/2006/relationships/image" Target="../media/image-64-3.png"/><Relationship Id="rId4" Type="http://schemas.openxmlformats.org/officeDocument/2006/relationships/slideLayout" Target="../slideLayouts/slideLayout5.xml"/><Relationship Id="rId5"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jpg"/><Relationship Id="rId2" Type="http://schemas.openxmlformats.org/officeDocument/2006/relationships/slideLayout" Target="../slideLayouts/slideLayout5.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jpg"/><Relationship Id="rId2" Type="http://schemas.openxmlformats.org/officeDocument/2006/relationships/slideLayout" Target="../slideLayouts/slideLayout6.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jpg"/><Relationship Id="rId2" Type="http://schemas.openxmlformats.org/officeDocument/2006/relationships/image" Target="../media/image-67-2.png"/><Relationship Id="rId3" Type="http://schemas.openxmlformats.org/officeDocument/2006/relationships/image" Target="../media/image-67-3.png"/><Relationship Id="rId4" Type="http://schemas.openxmlformats.org/officeDocument/2006/relationships/slideLayout" Target="../slideLayouts/slideLayout5.xml"/><Relationship Id="rId5"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jpg"/><Relationship Id="rId2" Type="http://schemas.openxmlformats.org/officeDocument/2006/relationships/slideLayout" Target="../slideLayouts/slideLayout5.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jpg"/><Relationship Id="rId2" Type="http://schemas.openxmlformats.org/officeDocument/2006/relationships/slideLayout" Target="../slideLayouts/slideLayout6.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jpg"/><Relationship Id="rId2" Type="http://schemas.openxmlformats.org/officeDocument/2006/relationships/image" Target="../media/image-70-2.png"/><Relationship Id="rId3" Type="http://schemas.openxmlformats.org/officeDocument/2006/relationships/image" Target="../media/image-70-3.png"/><Relationship Id="rId4" Type="http://schemas.openxmlformats.org/officeDocument/2006/relationships/slideLayout" Target="../slideLayouts/slideLayout5.xml"/><Relationship Id="rId5"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jpg"/><Relationship Id="rId2" Type="http://schemas.openxmlformats.org/officeDocument/2006/relationships/slideLayout" Target="../slideLayouts/slideLayout5.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jpg"/><Relationship Id="rId2" Type="http://schemas.openxmlformats.org/officeDocument/2006/relationships/slideLayout" Target="../slideLayouts/slideLayout6.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image-73-1.jpg"/><Relationship Id="rId2" Type="http://schemas.openxmlformats.org/officeDocument/2006/relationships/image" Target="../media/image-73-2.png"/><Relationship Id="rId3" Type="http://schemas.openxmlformats.org/officeDocument/2006/relationships/image" Target="../media/image-73-3.png"/><Relationship Id="rId4" Type="http://schemas.openxmlformats.org/officeDocument/2006/relationships/slideLayout" Target="../slideLayouts/slideLayout5.xml"/><Relationship Id="rId5"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jpg"/><Relationship Id="rId2" Type="http://schemas.openxmlformats.org/officeDocument/2006/relationships/slideLayout" Target="../slideLayouts/slideLayout5.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jpg"/><Relationship Id="rId2" Type="http://schemas.openxmlformats.org/officeDocument/2006/relationships/slideLayout" Target="../slideLayouts/slideLayout6.xm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image" Target="../media/image-76-1.jpg"/><Relationship Id="rId2" Type="http://schemas.openxmlformats.org/officeDocument/2006/relationships/image" Target="../media/image-76-2.png"/><Relationship Id="rId3" Type="http://schemas.openxmlformats.org/officeDocument/2006/relationships/image" Target="../media/image-76-3.png"/><Relationship Id="rId4" Type="http://schemas.openxmlformats.org/officeDocument/2006/relationships/slideLayout" Target="../slideLayouts/slideLayout5.xml"/><Relationship Id="rId5"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image" Target="../media/image-77-1.jpg"/><Relationship Id="rId2" Type="http://schemas.openxmlformats.org/officeDocument/2006/relationships/slideLayout" Target="../slideLayouts/slideLayout5.xml"/><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image" Target="../media/image-78-1.jpg"/><Relationship Id="rId2" Type="http://schemas.openxmlformats.org/officeDocument/2006/relationships/slideLayout" Target="../slideLayouts/slideLayout6.xml"/><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image" Target="../media/image-79-1.jpg"/><Relationship Id="rId2" Type="http://schemas.openxmlformats.org/officeDocument/2006/relationships/image" Target="../media/image-79-2.png"/><Relationship Id="rId3" Type="http://schemas.openxmlformats.org/officeDocument/2006/relationships/image" Target="../media/image-79-3.jpg"/><Relationship Id="rId4" Type="http://schemas.openxmlformats.org/officeDocument/2006/relationships/image" Target="../media/image-79-4.png"/><Relationship Id="rId5" Type="http://schemas.openxmlformats.org/officeDocument/2006/relationships/image" Target="../media/image-79-5.jpg"/><Relationship Id="rId6" Type="http://schemas.openxmlformats.org/officeDocument/2006/relationships/image" Target="../media/image-79-6.png"/><Relationship Id="rId7" Type="http://schemas.openxmlformats.org/officeDocument/2006/relationships/image" Target="../media/image-79-7.jpg"/><Relationship Id="rId8" Type="http://schemas.openxmlformats.org/officeDocument/2006/relationships/image" Target="../media/image-79-8.png"/><Relationship Id="rId9" Type="http://schemas.openxmlformats.org/officeDocument/2006/relationships/image" Target="../media/image-79-9.jpg"/><Relationship Id="rId10" Type="http://schemas.openxmlformats.org/officeDocument/2006/relationships/image" Target="../media/image-79-10.png"/><Relationship Id="rId11" Type="http://schemas.openxmlformats.org/officeDocument/2006/relationships/image" Target="../media/image-79-11.jpg"/><Relationship Id="rId12" Type="http://schemas.openxmlformats.org/officeDocument/2006/relationships/image" Target="../media/image-79-12.png"/><Relationship Id="rId13" Type="http://schemas.openxmlformats.org/officeDocument/2006/relationships/image" Target="../media/image-79-13.jpg"/><Relationship Id="rId14" Type="http://schemas.openxmlformats.org/officeDocument/2006/relationships/image" Target="../media/image-79-14.png"/><Relationship Id="rId15" Type="http://schemas.openxmlformats.org/officeDocument/2006/relationships/image" Target="../media/image-79-15.jpg"/><Relationship Id="rId16" Type="http://schemas.openxmlformats.org/officeDocument/2006/relationships/image" Target="../media/image-79-16.png"/><Relationship Id="rId17" Type="http://schemas.openxmlformats.org/officeDocument/2006/relationships/image" Target="../media/image-79-17.jpg"/><Relationship Id="rId18" Type="http://schemas.openxmlformats.org/officeDocument/2006/relationships/image" Target="../media/image-79-18.png"/><Relationship Id="rId19" Type="http://schemas.openxmlformats.org/officeDocument/2006/relationships/image" Target="../media/image-79-19.jpg"/><Relationship Id="rId20" Type="http://schemas.openxmlformats.org/officeDocument/2006/relationships/image" Target="../media/image-79-20.png"/><Relationship Id="rId21" Type="http://schemas.openxmlformats.org/officeDocument/2006/relationships/image" Target="../media/image-79-21.jpg"/><Relationship Id="rId22" Type="http://schemas.openxmlformats.org/officeDocument/2006/relationships/image" Target="../media/image-79-22.png"/><Relationship Id="rId23" Type="http://schemas.openxmlformats.org/officeDocument/2006/relationships/slideLayout" Target="../slideLayouts/slideLayout5.xml"/><Relationship Id="rId24"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image" Target="../media/image-80-1.jpg"/><Relationship Id="rId2" Type="http://schemas.openxmlformats.org/officeDocument/2006/relationships/image" Target="../media/image-80-2.png"/><Relationship Id="rId3" Type="http://schemas.openxmlformats.org/officeDocument/2006/relationships/image" Target="../media/image-80-3.png"/><Relationship Id="rId4" Type="http://schemas.openxmlformats.org/officeDocument/2006/relationships/slideLayout" Target="../slideLayouts/slideLayout5.xml"/><Relationship Id="rId5"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image" Target="../media/image-81-1.jpg"/><Relationship Id="rId2" Type="http://schemas.openxmlformats.org/officeDocument/2006/relationships/slideLayout" Target="../slideLayouts/slideLayout5.xml"/><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image" Target="../media/image-82-1.jpg"/><Relationship Id="rId2" Type="http://schemas.openxmlformats.org/officeDocument/2006/relationships/slideLayout" Target="../slideLayouts/slideLayout6.xml"/><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image" Target="../media/image-83-1.jpg"/><Relationship Id="rId2" Type="http://schemas.openxmlformats.org/officeDocument/2006/relationships/image" Target="../media/image-83-2.png"/><Relationship Id="rId3" Type="http://schemas.openxmlformats.org/officeDocument/2006/relationships/image" Target="../media/image-83-3.png"/><Relationship Id="rId4" Type="http://schemas.openxmlformats.org/officeDocument/2006/relationships/slideLayout" Target="../slideLayouts/slideLayout5.xml"/><Relationship Id="rId5"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image" Target="../media/image-84-1.jpg"/><Relationship Id="rId2" Type="http://schemas.openxmlformats.org/officeDocument/2006/relationships/slideLayout" Target="../slideLayouts/slideLayout5.xml"/><Relationship Id="rId3"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image" Target="../media/image-85-1.jpg"/><Relationship Id="rId2" Type="http://schemas.openxmlformats.org/officeDocument/2006/relationships/slideLayout" Target="../slideLayouts/slideLayout6.xml"/><Relationship Id="rId3"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image" Target="../media/image-86-1.jpg"/><Relationship Id="rId2" Type="http://schemas.openxmlformats.org/officeDocument/2006/relationships/image" Target="../media/image-86-2.png"/><Relationship Id="rId3" Type="http://schemas.openxmlformats.org/officeDocument/2006/relationships/image" Target="../media/image-86-3.png"/><Relationship Id="rId4" Type="http://schemas.openxmlformats.org/officeDocument/2006/relationships/slideLayout" Target="../slideLayouts/slideLayout5.xml"/><Relationship Id="rId5"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image" Target="../media/image-87-1.jpg"/><Relationship Id="rId2" Type="http://schemas.openxmlformats.org/officeDocument/2006/relationships/slideLayout" Target="../slideLayouts/slideLayout5.xml"/><Relationship Id="rId3"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image" Target="../media/image-88-1.jpg"/><Relationship Id="rId2" Type="http://schemas.openxmlformats.org/officeDocument/2006/relationships/slideLayout" Target="../slideLayouts/slideLayout6.xml"/><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image" Target="../media/image-89-1.jpg"/><Relationship Id="rId2" Type="http://schemas.openxmlformats.org/officeDocument/2006/relationships/image" Target="../media/image-89-2.png"/><Relationship Id="rId3" Type="http://schemas.openxmlformats.org/officeDocument/2006/relationships/image" Target="../media/image-89-3.png"/><Relationship Id="rId4" Type="http://schemas.openxmlformats.org/officeDocument/2006/relationships/slideLayout" Target="../slideLayouts/slideLayout5.xml"/><Relationship Id="rId5"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image" Target="../media/image-90-1.jpg"/><Relationship Id="rId2" Type="http://schemas.openxmlformats.org/officeDocument/2006/relationships/slideLayout" Target="../slideLayouts/slideLayout5.xml"/><Relationship Id="rId3"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image" Target="../media/image-91-1.jpg"/><Relationship Id="rId2" Type="http://schemas.openxmlformats.org/officeDocument/2006/relationships/slideLayout" Target="../slideLayouts/slideLayout6.xml"/><Relationship Id="rId3"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image" Target="../media/image-92-1.jpg"/><Relationship Id="rId2" Type="http://schemas.openxmlformats.org/officeDocument/2006/relationships/image" Target="../media/image-92-2.png"/><Relationship Id="rId3" Type="http://schemas.openxmlformats.org/officeDocument/2006/relationships/image" Target="../media/image-92-3.png"/><Relationship Id="rId4" Type="http://schemas.openxmlformats.org/officeDocument/2006/relationships/slideLayout" Target="../slideLayouts/slideLayout5.xml"/><Relationship Id="rId5"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image" Target="../media/image-93-1.jpg"/><Relationship Id="rId2" Type="http://schemas.openxmlformats.org/officeDocument/2006/relationships/slideLayout" Target="../slideLayouts/slideLayout5.xml"/><Relationship Id="rId3"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image" Target="../media/image-94-1.jpg"/><Relationship Id="rId2" Type="http://schemas.openxmlformats.org/officeDocument/2006/relationships/slideLayout" Target="../slideLayouts/slideLayout6.xml"/><Relationship Id="rId3"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image" Target="../media/image-95-1.jpg"/><Relationship Id="rId2" Type="http://schemas.openxmlformats.org/officeDocument/2006/relationships/image" Target="../media/image-95-2.png"/><Relationship Id="rId3" Type="http://schemas.openxmlformats.org/officeDocument/2006/relationships/image" Target="../media/image-95-3.png"/><Relationship Id="rId4" Type="http://schemas.openxmlformats.org/officeDocument/2006/relationships/slideLayout" Target="../slideLayouts/slideLayout5.xml"/><Relationship Id="rId5"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image" Target="../media/image-96-1.jpg"/><Relationship Id="rId2" Type="http://schemas.openxmlformats.org/officeDocument/2006/relationships/slideLayout" Target="../slideLayouts/slideLayout5.xml"/><Relationship Id="rId3"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image" Target="../media/image-97-1.jpg"/><Relationship Id="rId2" Type="http://schemas.openxmlformats.org/officeDocument/2006/relationships/slideLayout" Target="../slideLayouts/slideLayout6.xml"/><Relationship Id="rId3"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image" Target="../media/image-98-1.jpg"/><Relationship Id="rId2" Type="http://schemas.openxmlformats.org/officeDocument/2006/relationships/image" Target="../media/image-98-2.png"/><Relationship Id="rId3" Type="http://schemas.openxmlformats.org/officeDocument/2006/relationships/image" Target="../media/image-98-3.png"/><Relationship Id="rId4" Type="http://schemas.openxmlformats.org/officeDocument/2006/relationships/slideLayout" Target="../slideLayouts/slideLayout5.xml"/><Relationship Id="rId5"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image" Target="../media/image-99-1.jpg"/><Relationship Id="rId2" Type="http://schemas.openxmlformats.org/officeDocument/2006/relationships/slideLayout" Target="../slideLayouts/slideLayout5.xml"/><Relationship Id="rId3"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image" Target="../media/image-100-1.jpg"/><Relationship Id="rId2" Type="http://schemas.openxmlformats.org/officeDocument/2006/relationships/slideLayout" Target="../slideLayouts/slideLayout6.xml"/><Relationship Id="rId3"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image" Target="../media/image-101-1.jpg"/><Relationship Id="rId2" Type="http://schemas.openxmlformats.org/officeDocument/2006/relationships/image" Target="../media/image-101-2.png"/><Relationship Id="rId3" Type="http://schemas.openxmlformats.org/officeDocument/2006/relationships/image" Target="../media/image-101-3.png"/><Relationship Id="rId4" Type="http://schemas.openxmlformats.org/officeDocument/2006/relationships/slideLayout" Target="../slideLayouts/slideLayout5.xml"/><Relationship Id="rId5"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image" Target="../media/image-102-1.jpg"/><Relationship Id="rId2" Type="http://schemas.openxmlformats.org/officeDocument/2006/relationships/slideLayout" Target="../slideLayouts/slideLayout5.xml"/><Relationship Id="rId3"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image" Target="../media/image-103-1.jpg"/><Relationship Id="rId2" Type="http://schemas.openxmlformats.org/officeDocument/2006/relationships/slideLayout" Target="../slideLayouts/slideLayout6.xml"/><Relationship Id="rId3"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image" Target="../media/image-104-1.jpg"/><Relationship Id="rId2" Type="http://schemas.openxmlformats.org/officeDocument/2006/relationships/image" Target="../media/image-104-2.png"/><Relationship Id="rId3" Type="http://schemas.openxmlformats.org/officeDocument/2006/relationships/image" Target="../media/image-104-3.png"/><Relationship Id="rId4" Type="http://schemas.openxmlformats.org/officeDocument/2006/relationships/slideLayout" Target="../slideLayouts/slideLayout5.xml"/><Relationship Id="rId5"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image" Target="../media/image-105-1.jpg"/><Relationship Id="rId2" Type="http://schemas.openxmlformats.org/officeDocument/2006/relationships/slideLayout" Target="../slideLayouts/slideLayout5.xml"/><Relationship Id="rId3"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image" Target="../media/image-106-1.jpg"/><Relationship Id="rId2" Type="http://schemas.openxmlformats.org/officeDocument/2006/relationships/slideLayout" Target="../slideLayouts/slideLayout6.xml"/><Relationship Id="rId3"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image" Target="../media/image-107-1.jpg"/><Relationship Id="rId2" Type="http://schemas.openxmlformats.org/officeDocument/2006/relationships/image" Target="../media/image-107-2.png"/><Relationship Id="rId3" Type="http://schemas.openxmlformats.org/officeDocument/2006/relationships/image" Target="../media/image-107-3.png"/><Relationship Id="rId4" Type="http://schemas.openxmlformats.org/officeDocument/2006/relationships/slideLayout" Target="../slideLayouts/slideLayout5.xml"/><Relationship Id="rId5"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image" Target="../media/image-108-1.jpg"/><Relationship Id="rId2" Type="http://schemas.openxmlformats.org/officeDocument/2006/relationships/slideLayout" Target="../slideLayouts/slideLayout5.xml"/><Relationship Id="rId3"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image" Target="../media/image-109-1.jpg"/><Relationship Id="rId2" Type="http://schemas.openxmlformats.org/officeDocument/2006/relationships/slideLayout" Target="../slideLayouts/slideLayout6.xml"/><Relationship Id="rId3"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image" Target="../media/image-110-1.jpg"/><Relationship Id="rId2" Type="http://schemas.openxmlformats.org/officeDocument/2006/relationships/image" Target="../media/image-110-2.png"/><Relationship Id="rId3" Type="http://schemas.openxmlformats.org/officeDocument/2006/relationships/image" Target="../media/image-110-3.png"/><Relationship Id="rId4" Type="http://schemas.openxmlformats.org/officeDocument/2006/relationships/slideLayout" Target="../slideLayouts/slideLayout5.xml"/><Relationship Id="rId5"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image" Target="../media/image-111-1.jpg"/><Relationship Id="rId2" Type="http://schemas.openxmlformats.org/officeDocument/2006/relationships/slideLayout" Target="../slideLayouts/slideLayout5.xml"/><Relationship Id="rId3"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image" Target="../media/image-112-1.jpg"/><Relationship Id="rId2" Type="http://schemas.openxmlformats.org/officeDocument/2006/relationships/slideLayout" Target="../slideLayouts/slideLayout6.xml"/><Relationship Id="rId3"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image" Target="../media/image-113-1.jpg"/><Relationship Id="rId2" Type="http://schemas.openxmlformats.org/officeDocument/2006/relationships/image" Target="../media/image-113-2.png"/><Relationship Id="rId3" Type="http://schemas.openxmlformats.org/officeDocument/2006/relationships/image" Target="../media/image-113-3.jpg"/><Relationship Id="rId4" Type="http://schemas.openxmlformats.org/officeDocument/2006/relationships/image" Target="../media/image-113-4.png"/><Relationship Id="rId5" Type="http://schemas.openxmlformats.org/officeDocument/2006/relationships/image" Target="../media/image-113-5.jpg"/><Relationship Id="rId6" Type="http://schemas.openxmlformats.org/officeDocument/2006/relationships/image" Target="../media/image-113-6.png"/><Relationship Id="rId7" Type="http://schemas.openxmlformats.org/officeDocument/2006/relationships/image" Target="../media/image-113-7.jpg"/><Relationship Id="rId8" Type="http://schemas.openxmlformats.org/officeDocument/2006/relationships/image" Target="../media/image-113-8.png"/><Relationship Id="rId9" Type="http://schemas.openxmlformats.org/officeDocument/2006/relationships/image" Target="../media/image-113-9.jpg"/><Relationship Id="rId10" Type="http://schemas.openxmlformats.org/officeDocument/2006/relationships/image" Target="../media/image-113-10.png"/><Relationship Id="rId11" Type="http://schemas.openxmlformats.org/officeDocument/2006/relationships/image" Target="../media/image-113-11.jpg"/><Relationship Id="rId12" Type="http://schemas.openxmlformats.org/officeDocument/2006/relationships/image" Target="../media/image-113-12.png"/><Relationship Id="rId13" Type="http://schemas.openxmlformats.org/officeDocument/2006/relationships/image" Target="../media/image-113-13.jpg"/><Relationship Id="rId14" Type="http://schemas.openxmlformats.org/officeDocument/2006/relationships/image" Target="../media/image-113-14.png"/><Relationship Id="rId15" Type="http://schemas.openxmlformats.org/officeDocument/2006/relationships/image" Target="../media/image-113-15.jpg"/><Relationship Id="rId16" Type="http://schemas.openxmlformats.org/officeDocument/2006/relationships/image" Target="../media/image-113-16.png"/><Relationship Id="rId17" Type="http://schemas.openxmlformats.org/officeDocument/2006/relationships/image" Target="../media/image-113-17.jpg"/><Relationship Id="rId18" Type="http://schemas.openxmlformats.org/officeDocument/2006/relationships/image" Target="../media/image-113-18.png"/><Relationship Id="rId19" Type="http://schemas.openxmlformats.org/officeDocument/2006/relationships/image" Target="../media/image-113-19.jpg"/><Relationship Id="rId20" Type="http://schemas.openxmlformats.org/officeDocument/2006/relationships/image" Target="../media/image-113-20.png"/><Relationship Id="rId21" Type="http://schemas.openxmlformats.org/officeDocument/2006/relationships/slideLayout" Target="../slideLayouts/slideLayout5.xml"/><Relationship Id="rId2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image" Target="../media/image-114-1.jpg"/><Relationship Id="rId2" Type="http://schemas.openxmlformats.org/officeDocument/2006/relationships/image" Target="../media/image-114-2.png"/><Relationship Id="rId3" Type="http://schemas.openxmlformats.org/officeDocument/2006/relationships/image" Target="../media/image-114-3.png"/><Relationship Id="rId4" Type="http://schemas.openxmlformats.org/officeDocument/2006/relationships/slideLayout" Target="../slideLayouts/slideLayout5.xml"/><Relationship Id="rId5"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image" Target="../media/image-115-1.jpg"/><Relationship Id="rId2" Type="http://schemas.openxmlformats.org/officeDocument/2006/relationships/slideLayout" Target="../slideLayouts/slideLayout5.xml"/><Relationship Id="rId3"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image" Target="../media/image-116-1.jpg"/><Relationship Id="rId2" Type="http://schemas.openxmlformats.org/officeDocument/2006/relationships/slideLayout" Target="../slideLayouts/slideLayout6.xml"/><Relationship Id="rId3"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image" Target="../media/image-117-1.jpg"/><Relationship Id="rId2" Type="http://schemas.openxmlformats.org/officeDocument/2006/relationships/image" Target="../media/image-117-2.png"/><Relationship Id="rId3" Type="http://schemas.openxmlformats.org/officeDocument/2006/relationships/image" Target="../media/image-117-3.png"/><Relationship Id="rId4" Type="http://schemas.openxmlformats.org/officeDocument/2006/relationships/slideLayout" Target="../slideLayouts/slideLayout5.xml"/><Relationship Id="rId5"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image" Target="../media/image-118-1.jpg"/><Relationship Id="rId2" Type="http://schemas.openxmlformats.org/officeDocument/2006/relationships/slideLayout" Target="../slideLayouts/slideLayout5.xml"/><Relationship Id="rId3"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image" Target="../media/image-119-1.jpg"/><Relationship Id="rId2" Type="http://schemas.openxmlformats.org/officeDocument/2006/relationships/slideLayout" Target="../slideLayouts/slideLayout6.xml"/><Relationship Id="rId3"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image" Target="../media/image-120-1.jpg"/><Relationship Id="rId2" Type="http://schemas.openxmlformats.org/officeDocument/2006/relationships/image" Target="../media/image-120-2.png"/><Relationship Id="rId3" Type="http://schemas.openxmlformats.org/officeDocument/2006/relationships/image" Target="../media/image-120-3.png"/><Relationship Id="rId4" Type="http://schemas.openxmlformats.org/officeDocument/2006/relationships/slideLayout" Target="../slideLayouts/slideLayout5.xml"/><Relationship Id="rId5"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image" Target="../media/image-121-1.jpg"/><Relationship Id="rId2" Type="http://schemas.openxmlformats.org/officeDocument/2006/relationships/slideLayout" Target="../slideLayouts/slideLayout5.xml"/><Relationship Id="rId3"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image" Target="../media/image-122-1.jpg"/><Relationship Id="rId2" Type="http://schemas.openxmlformats.org/officeDocument/2006/relationships/slideLayout" Target="../slideLayouts/slideLayout6.xml"/><Relationship Id="rId3"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image" Target="../media/image-123-1.jpg"/><Relationship Id="rId2" Type="http://schemas.openxmlformats.org/officeDocument/2006/relationships/image" Target="../media/image-123-2.png"/><Relationship Id="rId3" Type="http://schemas.openxmlformats.org/officeDocument/2006/relationships/image" Target="../media/image-123-3.png"/><Relationship Id="rId4" Type="http://schemas.openxmlformats.org/officeDocument/2006/relationships/slideLayout" Target="../slideLayouts/slideLayout5.xml"/><Relationship Id="rId5"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image" Target="../media/image-124-1.jpg"/><Relationship Id="rId2" Type="http://schemas.openxmlformats.org/officeDocument/2006/relationships/slideLayout" Target="../slideLayouts/slideLayout5.xml"/><Relationship Id="rId3"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image" Target="../media/image-125-1.jpg"/><Relationship Id="rId2" Type="http://schemas.openxmlformats.org/officeDocument/2006/relationships/slideLayout" Target="../slideLayouts/slideLayout6.xml"/><Relationship Id="rId3"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image" Target="../media/image-126-1.jpg"/><Relationship Id="rId2" Type="http://schemas.openxmlformats.org/officeDocument/2006/relationships/image" Target="../media/image-126-2.png"/><Relationship Id="rId3" Type="http://schemas.openxmlformats.org/officeDocument/2006/relationships/image" Target="../media/image-126-3.png"/><Relationship Id="rId4" Type="http://schemas.openxmlformats.org/officeDocument/2006/relationships/slideLayout" Target="../slideLayouts/slideLayout5.xml"/><Relationship Id="rId5"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image" Target="../media/image-127-1.jpg"/><Relationship Id="rId2" Type="http://schemas.openxmlformats.org/officeDocument/2006/relationships/slideLayout" Target="../slideLayouts/slideLayout5.xml"/><Relationship Id="rId3"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image" Target="../media/image-128-1.jpg"/><Relationship Id="rId2" Type="http://schemas.openxmlformats.org/officeDocument/2006/relationships/slideLayout" Target="../slideLayouts/slideLayout6.xml"/><Relationship Id="rId3"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image" Target="../media/image-129-1.jpg"/><Relationship Id="rId2" Type="http://schemas.openxmlformats.org/officeDocument/2006/relationships/image" Target="../media/image-129-2.png"/><Relationship Id="rId3" Type="http://schemas.openxmlformats.org/officeDocument/2006/relationships/image" Target="../media/image-129-3.png"/><Relationship Id="rId4" Type="http://schemas.openxmlformats.org/officeDocument/2006/relationships/slideLayout" Target="../slideLayouts/slideLayout5.xml"/><Relationship Id="rId5"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image" Target="../media/image-130-1.jpg"/><Relationship Id="rId2" Type="http://schemas.openxmlformats.org/officeDocument/2006/relationships/slideLayout" Target="../slideLayouts/slideLayout5.xml"/><Relationship Id="rId3"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image" Target="../media/image-131-1.jpg"/><Relationship Id="rId2" Type="http://schemas.openxmlformats.org/officeDocument/2006/relationships/slideLayout" Target="../slideLayouts/slideLayout6.xml"/><Relationship Id="rId3"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image" Target="../media/image-132-1.jpg"/><Relationship Id="rId2" Type="http://schemas.openxmlformats.org/officeDocument/2006/relationships/image" Target="../media/image-132-2.png"/><Relationship Id="rId3" Type="http://schemas.openxmlformats.org/officeDocument/2006/relationships/image" Target="../media/image-132-3.png"/><Relationship Id="rId4" Type="http://schemas.openxmlformats.org/officeDocument/2006/relationships/slideLayout" Target="../slideLayouts/slideLayout5.xml"/><Relationship Id="rId5"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image" Target="../media/image-133-1.jpg"/><Relationship Id="rId2" Type="http://schemas.openxmlformats.org/officeDocument/2006/relationships/slideLayout" Target="../slideLayouts/slideLayout5.xml"/><Relationship Id="rId3"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image" Target="../media/image-134-1.jpg"/><Relationship Id="rId2" Type="http://schemas.openxmlformats.org/officeDocument/2006/relationships/slideLayout" Target="../slideLayouts/slideLayout6.xml"/><Relationship Id="rId3"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image" Target="../media/image-135-1.jpg"/><Relationship Id="rId2" Type="http://schemas.openxmlformats.org/officeDocument/2006/relationships/image" Target="../media/image-135-2.png"/><Relationship Id="rId3" Type="http://schemas.openxmlformats.org/officeDocument/2006/relationships/image" Target="../media/image-135-3.png"/><Relationship Id="rId4" Type="http://schemas.openxmlformats.org/officeDocument/2006/relationships/slideLayout" Target="../slideLayouts/slideLayout5.xml"/><Relationship Id="rId5"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image" Target="../media/image-136-1.jpg"/><Relationship Id="rId2" Type="http://schemas.openxmlformats.org/officeDocument/2006/relationships/slideLayout" Target="../slideLayouts/slideLayout5.xml"/><Relationship Id="rId3"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image" Target="../media/image-137-1.jpg"/><Relationship Id="rId2" Type="http://schemas.openxmlformats.org/officeDocument/2006/relationships/slideLayout" Target="../slideLayouts/slideLayout6.xml"/><Relationship Id="rId3"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image" Target="../media/image-138-1.jpg"/><Relationship Id="rId2" Type="http://schemas.openxmlformats.org/officeDocument/2006/relationships/image" Target="../media/image-138-2.png"/><Relationship Id="rId3" Type="http://schemas.openxmlformats.org/officeDocument/2006/relationships/image" Target="../media/image-138-3.png"/><Relationship Id="rId4" Type="http://schemas.openxmlformats.org/officeDocument/2006/relationships/slideLayout" Target="../slideLayouts/slideLayout5.xml"/><Relationship Id="rId5"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image" Target="../media/image-139-1.jpg"/><Relationship Id="rId2" Type="http://schemas.openxmlformats.org/officeDocument/2006/relationships/slideLayout" Target="../slideLayouts/slideLayout5.xml"/><Relationship Id="rId3"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image" Target="../media/image-140-1.jpg"/><Relationship Id="rId2" Type="http://schemas.openxmlformats.org/officeDocument/2006/relationships/slideLayout" Target="../slideLayouts/slideLayout6.xml"/><Relationship Id="rId3"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image" Target="../media/image-141-1.jpg"/><Relationship Id="rId2" Type="http://schemas.openxmlformats.org/officeDocument/2006/relationships/image" Target="../media/image-141-2.png"/><Relationship Id="rId3" Type="http://schemas.openxmlformats.org/officeDocument/2006/relationships/image" Target="../media/image-141-3.png"/><Relationship Id="rId4" Type="http://schemas.openxmlformats.org/officeDocument/2006/relationships/slideLayout" Target="../slideLayouts/slideLayout5.xml"/><Relationship Id="rId5"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image" Target="../media/image-142-1.jpg"/><Relationship Id="rId2" Type="http://schemas.openxmlformats.org/officeDocument/2006/relationships/slideLayout" Target="../slideLayouts/slideLayout5.xml"/><Relationship Id="rId3"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image" Target="../media/image-143-1.jpg"/><Relationship Id="rId2" Type="http://schemas.openxmlformats.org/officeDocument/2006/relationships/slideLayout" Target="../slideLayouts/slideLayout6.xml"/><Relationship Id="rId3"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image" Target="../media/image-144-1.png"/><Relationship Id="rId2" Type="http://schemas.openxmlformats.org/officeDocument/2006/relationships/image" Target="../media/image-144-2.png"/><Relationship Id="rId3" Type="http://schemas.openxmlformats.org/officeDocument/2006/relationships/image" Target="../media/image-144-3.png"/><Relationship Id="rId4" Type="http://schemas.openxmlformats.org/officeDocument/2006/relationships/image" Target="../media/image-144-4.png"/><Relationship Id="rId5" Type="http://schemas.openxmlformats.org/officeDocument/2006/relationships/image" Target="../media/image-144-5.png"/><Relationship Id="rId6" Type="http://schemas.openxmlformats.org/officeDocument/2006/relationships/image" Target="../media/image-144-6.png"/><Relationship Id="rId7" Type="http://schemas.openxmlformats.org/officeDocument/2006/relationships/slideLayout" Target="../slideLayouts/slideLayout5.xml"/><Relationship Id="rId8" Type="http://schemas.openxmlformats.org/officeDocument/2006/relationships/notesSlide" Target="../notesSlides/notesSlide14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1" type="title" hasCustomPrompt="1"/>
          </p:nvPr>
        </p:nvSpPr>
        <p:spPr>
          <a:xfrm>
            <a:off x="1554480" y="1234440"/>
            <a:ext cx="5212080" cy="1188720"/>
          </a:xfrm>
          <a:prstGeom prst="rect">
            <a:avLst/>
          </a:prstGeom>
          <a:noFill/>
          <a:ln/>
        </p:spPr>
        <p:txBody>
          <a:bodyPr wrap="square" lIns="0" tIns="0" rIns="0" bIns="0" rtlCol="0" anchor="b"/>
          <a:lstStyle/>
          <a:p>
            <a:pPr algn="l" indent="0" marL="0">
              <a:buNone/>
            </a:pPr>
            <a:r>
              <a:rPr lang="en-US" sz="5400" b="1" dirty="0">
                <a:solidFill>
                  <a:srgbClr val="2B2F38"/>
                </a:solidFill>
              </a:rPr>
              <a:t>Stap voor stap</a:t>
            </a:r>
            <a:endParaRPr lang="en-US" sz="5400" dirty="0"/>
          </a:p>
        </p:txBody>
      </p:sp>
      <p:sp>
        <p:nvSpPr>
          <p:cNvPr id="4" name="Shape 1"/>
          <p:cNvSpPr/>
          <p:nvPr/>
        </p:nvSpPr>
        <p:spPr>
          <a:xfrm>
            <a:off x="365760" y="365760"/>
            <a:ext cx="868680" cy="5989320"/>
          </a:xfrm>
          <a:prstGeom prst="roundRect">
            <a:avLst>
              <a:gd name="adj" fmla="val 12632"/>
            </a:avLst>
          </a:prstGeom>
          <a:solidFill>
            <a:srgbClr val="E6F4EA"/>
          </a:solidFill>
          <a:ln w="28575">
            <a:solidFill>
              <a:srgbClr val="6DBE8A"/>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3D8C5A"/>
                </a:solidFill>
                <a:latin typeface="Calibri" pitchFamily="34" charset="0"/>
                <a:ea typeface="Calibri" pitchFamily="34" charset="-122"/>
                <a:cs typeface="Calibri" pitchFamily="34" charset="-120"/>
              </a:rPr>
              <a:t>A1 · Débutants</a:t>
            </a:r>
            <a:endParaRPr lang="en-US" sz="3800" dirty="0"/>
          </a:p>
        </p:txBody>
      </p:sp>
      <p:sp>
        <p:nvSpPr>
          <p:cNvPr id="6" name="Text 3"/>
          <p:cNvSpPr txBox="1"/>
          <p:nvPr/>
        </p:nvSpPr>
        <p:spPr>
          <a:xfrm>
            <a:off x="1572768" y="2560320"/>
            <a:ext cx="5120640" cy="457200"/>
          </a:xfrm>
          <a:prstGeom prst="rect">
            <a:avLst/>
          </a:prstGeom>
          <a:noFill/>
          <a:ln/>
        </p:spPr>
        <p:txBody>
          <a:bodyPr wrap="square" lIns="0" tIns="0" rIns="0" bIns="0" rtlCol="0" anchor="ctr"/>
          <a:lstStyle/>
          <a:p>
            <a:pPr algn="l" indent="0" marL="0">
              <a:buNone/>
            </a:pPr>
            <a:r>
              <a:rPr lang="en-US" sz="2200" dirty="0">
                <a:solidFill>
                  <a:srgbClr val="6B7280"/>
                </a:solidFill>
                <a:latin typeface="Calibri" pitchFamily="34" charset="0"/>
                <a:ea typeface="Calibri" pitchFamily="34" charset="-122"/>
                <a:cs typeface="Calibri" pitchFamily="34" charset="-120"/>
              </a:rPr>
              <a:t>Petites productions jalonnées</a:t>
            </a:r>
            <a:endParaRPr lang="en-US" sz="2200" dirty="0"/>
          </a:p>
        </p:txBody>
      </p:sp>
      <p:sp>
        <p:nvSpPr>
          <p:cNvPr id="7" name="Text 4"/>
          <p:cNvSpPr txBox="1"/>
          <p:nvPr/>
        </p:nvSpPr>
        <p:spPr>
          <a:xfrm>
            <a:off x="1572768" y="3017520"/>
            <a:ext cx="5120640" cy="411480"/>
          </a:xfrm>
          <a:prstGeom prst="rect">
            <a:avLst/>
          </a:prstGeom>
          <a:noFill/>
          <a:ln/>
        </p:spPr>
        <p:txBody>
          <a:bodyPr wrap="square" lIns="0" tIns="0" rIns="0" bIns="0" rtlCol="0" anchor="ctr"/>
          <a:lstStyle/>
          <a:p>
            <a:pPr algn="l" indent="0" marL="0">
              <a:buNone/>
            </a:pPr>
            <a:r>
              <a:rPr lang="en-US" sz="1600" i="1" dirty="0">
                <a:solidFill>
                  <a:srgbClr val="6B7280"/>
                </a:solidFill>
                <a:latin typeface="Calibri" pitchFamily="34" charset="0"/>
                <a:ea typeface="Calibri" pitchFamily="34" charset="-122"/>
                <a:cs typeface="Calibri" pitchFamily="34" charset="-120"/>
              </a:rPr>
              <a:t>45 contextes · 1 image · 3, 4 puis 5 phrases · 1 modèle</a:t>
            </a:r>
            <a:endParaRPr lang="en-US" sz="1600" dirty="0"/>
          </a:p>
        </p:txBody>
      </p:sp>
      <p:sp>
        <p:nvSpPr>
          <p:cNvPr id="8" name="Shape 5"/>
          <p:cNvSpPr/>
          <p:nvPr/>
        </p:nvSpPr>
        <p:spPr>
          <a:xfrm>
            <a:off x="1572768" y="4069080"/>
            <a:ext cx="1517904" cy="502920"/>
          </a:xfrm>
          <a:prstGeom prst="roundRect">
            <a:avLst>
              <a:gd name="adj" fmla="val 14545"/>
            </a:avLst>
          </a:prstGeom>
          <a:solidFill>
            <a:srgbClr val="E6F4EA"/>
          </a:solidFill>
          <a:ln w="19050">
            <a:solidFill>
              <a:srgbClr val="6DBE8A"/>
            </a:solidFill>
            <a:prstDash val="solid"/>
          </a:ln>
        </p:spPr>
      </p:sp>
      <p:sp>
        <p:nvSpPr>
          <p:cNvPr id="9" name="Text 6"/>
          <p:cNvSpPr txBox="1"/>
          <p:nvPr/>
        </p:nvSpPr>
        <p:spPr>
          <a:xfrm>
            <a:off x="1572768" y="4069080"/>
            <a:ext cx="1517904" cy="502920"/>
          </a:xfrm>
          <a:prstGeom prst="rect">
            <a:avLst/>
          </a:prstGeom>
          <a:noFill/>
          <a:ln/>
        </p:spPr>
        <p:txBody>
          <a:bodyPr wrap="square" lIns="0" tIns="0" rIns="0" bIns="0" rtlCol="0" anchor="ctr"/>
          <a:lstStyle/>
          <a:p>
            <a:pPr algn="ctr" indent="0" marL="0">
              <a:buNone/>
            </a:pPr>
            <a:r>
              <a:rPr lang="en-US" sz="1600" b="1" dirty="0">
                <a:solidFill>
                  <a:srgbClr val="3D8C5A"/>
                </a:solidFill>
                <a:latin typeface="Calibri" pitchFamily="34" charset="0"/>
                <a:ea typeface="Calibri" pitchFamily="34" charset="-122"/>
                <a:cs typeface="Calibri" pitchFamily="34" charset="-120"/>
              </a:rPr>
              <a:t>3 </a:t>
            </a:r>
            <a:r>
              <a:rPr lang="en-US" sz="1600" dirty="0">
                <a:solidFill>
                  <a:srgbClr val="3D8C5A"/>
                </a:solidFill>
                <a:latin typeface="Calibri" pitchFamily="34" charset="0"/>
                <a:ea typeface="Calibri" pitchFamily="34" charset="-122"/>
                <a:cs typeface="Calibri" pitchFamily="34" charset="-120"/>
              </a:rPr>
              <a:t>zinnen</a:t>
            </a:r>
            <a:endParaRPr lang="en-US" sz="1600" dirty="0"/>
          </a:p>
        </p:txBody>
      </p:sp>
      <p:sp>
        <p:nvSpPr>
          <p:cNvPr id="10" name="Shape 7"/>
          <p:cNvSpPr/>
          <p:nvPr/>
        </p:nvSpPr>
        <p:spPr>
          <a:xfrm>
            <a:off x="3200400" y="3776472"/>
            <a:ext cx="1517904" cy="795528"/>
          </a:xfrm>
          <a:prstGeom prst="roundRect">
            <a:avLst>
              <a:gd name="adj" fmla="val 9195"/>
            </a:avLst>
          </a:prstGeom>
          <a:solidFill>
            <a:srgbClr val="E4EEFB"/>
          </a:solidFill>
          <a:ln w="19050">
            <a:solidFill>
              <a:srgbClr val="6FA0DC"/>
            </a:solidFill>
            <a:prstDash val="solid"/>
          </a:ln>
        </p:spPr>
      </p:sp>
      <p:sp>
        <p:nvSpPr>
          <p:cNvPr id="11" name="Text 8"/>
          <p:cNvSpPr txBox="1"/>
          <p:nvPr/>
        </p:nvSpPr>
        <p:spPr>
          <a:xfrm>
            <a:off x="3200400" y="3776472"/>
            <a:ext cx="1517904" cy="502920"/>
          </a:xfrm>
          <a:prstGeom prst="rect">
            <a:avLst/>
          </a:prstGeom>
          <a:noFill/>
          <a:ln/>
        </p:spPr>
        <p:txBody>
          <a:bodyPr wrap="square" lIns="0" tIns="0" rIns="0" bIns="0" rtlCol="0" anchor="ctr"/>
          <a:lstStyle/>
          <a:p>
            <a:pPr algn="ctr" indent="0" marL="0">
              <a:buNone/>
            </a:pPr>
            <a:r>
              <a:rPr lang="en-US" sz="1600" b="1" dirty="0">
                <a:solidFill>
                  <a:srgbClr val="3E6FB0"/>
                </a:solidFill>
                <a:latin typeface="Calibri" pitchFamily="34" charset="0"/>
                <a:ea typeface="Calibri" pitchFamily="34" charset="-122"/>
                <a:cs typeface="Calibri" pitchFamily="34" charset="-120"/>
              </a:rPr>
              <a:t>4 </a:t>
            </a:r>
            <a:r>
              <a:rPr lang="en-US" sz="1600" dirty="0">
                <a:solidFill>
                  <a:srgbClr val="3E6FB0"/>
                </a:solidFill>
                <a:latin typeface="Calibri" pitchFamily="34" charset="0"/>
                <a:ea typeface="Calibri" pitchFamily="34" charset="-122"/>
                <a:cs typeface="Calibri" pitchFamily="34" charset="-120"/>
              </a:rPr>
              <a:t>zinnen</a:t>
            </a:r>
            <a:endParaRPr lang="en-US" sz="1600" dirty="0"/>
          </a:p>
        </p:txBody>
      </p:sp>
      <p:sp>
        <p:nvSpPr>
          <p:cNvPr id="12" name="Shape 9"/>
          <p:cNvSpPr/>
          <p:nvPr/>
        </p:nvSpPr>
        <p:spPr>
          <a:xfrm>
            <a:off x="4828032" y="3483864"/>
            <a:ext cx="1517904" cy="1088136"/>
          </a:xfrm>
          <a:prstGeom prst="roundRect">
            <a:avLst>
              <a:gd name="adj" fmla="val 6723"/>
            </a:avLst>
          </a:prstGeom>
          <a:solidFill>
            <a:srgbClr val="FDF1E4"/>
          </a:solidFill>
          <a:ln w="19050">
            <a:solidFill>
              <a:srgbClr val="F0A15E"/>
            </a:solidFill>
            <a:prstDash val="solid"/>
          </a:ln>
        </p:spPr>
      </p:sp>
      <p:sp>
        <p:nvSpPr>
          <p:cNvPr id="13" name="Text 10"/>
          <p:cNvSpPr txBox="1"/>
          <p:nvPr/>
        </p:nvSpPr>
        <p:spPr>
          <a:xfrm>
            <a:off x="4828032" y="3483864"/>
            <a:ext cx="1517904" cy="502920"/>
          </a:xfrm>
          <a:prstGeom prst="rect">
            <a:avLst/>
          </a:prstGeom>
          <a:noFill/>
          <a:ln/>
        </p:spPr>
        <p:txBody>
          <a:bodyPr wrap="square" lIns="0" tIns="0" rIns="0" bIns="0" rtlCol="0" anchor="ctr"/>
          <a:lstStyle/>
          <a:p>
            <a:pPr algn="ctr" indent="0" marL="0">
              <a:buNone/>
            </a:pPr>
            <a:r>
              <a:rPr lang="en-US" sz="1600" b="1" dirty="0">
                <a:solidFill>
                  <a:srgbClr val="B9661F"/>
                </a:solidFill>
                <a:latin typeface="Calibri" pitchFamily="34" charset="0"/>
                <a:ea typeface="Calibri" pitchFamily="34" charset="-122"/>
                <a:cs typeface="Calibri" pitchFamily="34" charset="-120"/>
              </a:rPr>
              <a:t>5 </a:t>
            </a:r>
            <a:r>
              <a:rPr lang="en-US" sz="1600" dirty="0">
                <a:solidFill>
                  <a:srgbClr val="B9661F"/>
                </a:solidFill>
                <a:latin typeface="Calibri" pitchFamily="34" charset="0"/>
                <a:ea typeface="Calibri" pitchFamily="34" charset="-122"/>
                <a:cs typeface="Calibri" pitchFamily="34" charset="-120"/>
              </a:rPr>
              <a:t>zinnen</a:t>
            </a:r>
            <a:endParaRPr lang="en-US" sz="1600" dirty="0"/>
          </a:p>
        </p:txBody>
      </p:sp>
      <p:pic>
        <p:nvPicPr>
          <p:cNvPr id="14" name="Image 0" descr="ArrowRight">    </p:cNvPr>
          <p:cNvPicPr>
            <a:picLocks noChangeAspect="1"/>
          </p:cNvPicPr>
          <p:nvPr/>
        </p:nvPicPr>
        <p:blipFill>
          <a:blip r:embed="rId1"/>
          <a:stretch>
            <a:fillRect/>
          </a:stretch>
        </p:blipFill>
        <p:spPr>
          <a:xfrm>
            <a:off x="6382512" y="3822192"/>
            <a:ext cx="274320" cy="274320"/>
          </a:xfrm>
          <a:prstGeom prst="rect">
            <a:avLst/>
          </a:prstGeom>
        </p:spPr>
      </p:pic>
      <p:sp>
        <p:nvSpPr>
          <p:cNvPr id="15" name="Shape 11"/>
          <p:cNvSpPr/>
          <p:nvPr/>
        </p:nvSpPr>
        <p:spPr>
          <a:xfrm>
            <a:off x="1572768" y="4892040"/>
            <a:ext cx="4846320" cy="731520"/>
          </a:xfrm>
          <a:prstGeom prst="roundRect">
            <a:avLst>
              <a:gd name="adj" fmla="val 17500"/>
            </a:avLst>
          </a:prstGeom>
          <a:solidFill>
            <a:srgbClr val="EAF5EC"/>
          </a:solidFill>
          <a:ln w="15875">
            <a:solidFill>
              <a:srgbClr val="5FA873"/>
            </a:solidFill>
            <a:prstDash val="solid"/>
          </a:ln>
        </p:spPr>
      </p:sp>
      <p:pic>
        <p:nvPicPr>
          <p:cNvPr id="16" name="Image 1" descr="BookOpen">    </p:cNvPr>
          <p:cNvPicPr>
            <a:picLocks noChangeAspect="1"/>
          </p:cNvPicPr>
          <p:nvPr/>
        </p:nvPicPr>
        <p:blipFill>
          <a:blip r:embed="rId2"/>
          <a:stretch>
            <a:fillRect/>
          </a:stretch>
        </p:blipFill>
        <p:spPr>
          <a:xfrm>
            <a:off x="1755648" y="5102352"/>
            <a:ext cx="310896" cy="310896"/>
          </a:xfrm>
          <a:prstGeom prst="rect">
            <a:avLst/>
          </a:prstGeom>
        </p:spPr>
      </p:pic>
      <p:sp>
        <p:nvSpPr>
          <p:cNvPr id="17" name="Text 12"/>
          <p:cNvSpPr txBox="1"/>
          <p:nvPr/>
        </p:nvSpPr>
        <p:spPr>
          <a:xfrm>
            <a:off x="2194560" y="4892040"/>
            <a:ext cx="4114800" cy="731520"/>
          </a:xfrm>
          <a:prstGeom prst="rect">
            <a:avLst/>
          </a:prstGeom>
          <a:noFill/>
          <a:ln/>
        </p:spPr>
        <p:txBody>
          <a:bodyPr wrap="square" lIns="0" tIns="0" rIns="0" bIns="0" rtlCol="0" anchor="ctr"/>
          <a:lstStyle/>
          <a:p>
            <a:pPr algn="l" indent="0" marL="0">
              <a:buNone/>
            </a:pPr>
            <a:r>
              <a:rPr lang="en-US" sz="1300" b="1" dirty="0">
                <a:solidFill>
                  <a:srgbClr val="2E6B44"/>
                </a:solidFill>
                <a:latin typeface="Calibri" pitchFamily="34" charset="0"/>
                <a:ea typeface="Calibri" pitchFamily="34" charset="-122"/>
                <a:cs typeface="Calibri" pitchFamily="34" charset="-120"/>
              </a:rPr>
              <a:t>En parallèle du syllabus « Néerlandais en situation » : Emma &amp; Pieter, grammaire, vocabulaire, situations.</a:t>
            </a:r>
            <a:endParaRPr lang="en-US" sz="1300" dirty="0"/>
          </a:p>
        </p:txBody>
      </p:sp>
      <p:sp>
        <p:nvSpPr>
          <p:cNvPr id="18" name="Shape 13"/>
          <p:cNvSpPr/>
          <p:nvPr/>
        </p:nvSpPr>
        <p:spPr>
          <a:xfrm rot="-240000">
            <a:off x="7016191" y="706831"/>
            <a:ext cx="3341218" cy="2141068"/>
          </a:xfrm>
          <a:prstGeom prst="roundRect">
            <a:avLst>
              <a:gd name="adj" fmla="val 1708"/>
            </a:avLst>
          </a:prstGeom>
          <a:solidFill>
            <a:srgbClr val="FFFFFF"/>
          </a:solidFill>
          <a:ln w="9525">
            <a:solidFill>
              <a:srgbClr val="E3E7EE"/>
            </a:solidFill>
            <a:prstDash val="solid"/>
          </a:ln>
          <a:effectLst>
            <a:outerShdw sx="100000" sy="100000" kx="0" ky="0" algn="bl" rotWithShape="0" blurRad="127000" dist="50800" dir="5400000">
              <a:srgbClr val="1B2430">
                <a:alpha val="25000"/>
              </a:srgbClr>
            </a:outerShdw>
          </a:effectLst>
        </p:spPr>
      </p:sp>
      <p:pic>
        <p:nvPicPr>
          <p:cNvPr id="19" name="Image 2" descr="/home/user/talenleren/neerlandais1/generateur/img/vijfzinnen/a1_goedemorgen_s.jpg">    </p:cNvPr>
          <p:cNvPicPr>
            <a:picLocks noChangeAspect="1"/>
          </p:cNvPicPr>
          <p:nvPr/>
        </p:nvPicPr>
        <p:blipFill>
          <a:blip r:embed="rId3"/>
          <a:stretch>
            <a:fillRect/>
          </a:stretch>
        </p:blipFill>
        <p:spPr>
          <a:xfrm rot="-240000">
            <a:off x="7086600" y="777240"/>
            <a:ext cx="3200400" cy="2000250"/>
          </a:xfrm>
          <a:prstGeom prst="rect">
            <a:avLst/>
          </a:prstGeom>
        </p:spPr>
      </p:pic>
      <p:sp>
        <p:nvSpPr>
          <p:cNvPr id="20" name="Shape 14"/>
          <p:cNvSpPr/>
          <p:nvPr/>
        </p:nvSpPr>
        <p:spPr>
          <a:xfrm rot="300000">
            <a:off x="8664123" y="2171883"/>
            <a:ext cx="3245754" cy="2079894"/>
          </a:xfrm>
          <a:prstGeom prst="roundRect">
            <a:avLst>
              <a:gd name="adj" fmla="val 1759"/>
            </a:avLst>
          </a:prstGeom>
          <a:solidFill>
            <a:srgbClr val="FFFFFF"/>
          </a:solidFill>
          <a:ln w="9525">
            <a:solidFill>
              <a:srgbClr val="E3E7EE"/>
            </a:solidFill>
            <a:prstDash val="solid"/>
          </a:ln>
          <a:effectLst>
            <a:outerShdw sx="100000" sy="100000" kx="0" ky="0" algn="bl" rotWithShape="0" blurRad="127000" dist="50800" dir="5400000">
              <a:srgbClr val="1B2430">
                <a:alpha val="25000"/>
              </a:srgbClr>
            </a:outerShdw>
          </a:effectLst>
        </p:spPr>
      </p:sp>
      <p:pic>
        <p:nvPicPr>
          <p:cNvPr id="21" name="Image 3" descr="/home/user/talenleren/neerlandais1/generateur/img/vijfzinnen/a1_kopje_s.jpg">    </p:cNvPr>
          <p:cNvPicPr>
            <a:picLocks noChangeAspect="1"/>
          </p:cNvPicPr>
          <p:nvPr/>
        </p:nvPicPr>
        <p:blipFill>
          <a:blip r:embed="rId4"/>
          <a:stretch>
            <a:fillRect/>
          </a:stretch>
        </p:blipFill>
        <p:spPr>
          <a:xfrm rot="300000">
            <a:off x="8732520" y="2240280"/>
            <a:ext cx="3108960" cy="1943100"/>
          </a:xfrm>
          <a:prstGeom prst="rect">
            <a:avLst/>
          </a:prstGeom>
        </p:spPr>
      </p:pic>
      <p:sp>
        <p:nvSpPr>
          <p:cNvPr id="22" name="Shape 15"/>
          <p:cNvSpPr/>
          <p:nvPr/>
        </p:nvSpPr>
        <p:spPr>
          <a:xfrm rot="-120000">
            <a:off x="6883055" y="3865535"/>
            <a:ext cx="3150291" cy="2018721"/>
          </a:xfrm>
          <a:prstGeom prst="roundRect">
            <a:avLst>
              <a:gd name="adj" fmla="val 1812"/>
            </a:avLst>
          </a:prstGeom>
          <a:solidFill>
            <a:srgbClr val="FFFFFF"/>
          </a:solidFill>
          <a:ln w="9525">
            <a:solidFill>
              <a:srgbClr val="E3E7EE"/>
            </a:solidFill>
            <a:prstDash val="solid"/>
          </a:ln>
          <a:effectLst>
            <a:outerShdw sx="100000" sy="100000" kx="0" ky="0" algn="bl" rotWithShape="0" blurRad="127000" dist="50800" dir="5400000">
              <a:srgbClr val="1B2430">
                <a:alpha val="25000"/>
              </a:srgbClr>
            </a:outerShdw>
          </a:effectLst>
        </p:spPr>
      </p:sp>
      <p:pic>
        <p:nvPicPr>
          <p:cNvPr id="23" name="Image 4" descr="/home/user/talenleren/neerlandais1/generateur/img/vijfzinnen/a1_winter_s.jpg">    </p:cNvPr>
          <p:cNvPicPr>
            <a:picLocks noChangeAspect="1"/>
          </p:cNvPicPr>
          <p:nvPr/>
        </p:nvPicPr>
        <p:blipFill>
          <a:blip r:embed="rId5"/>
          <a:stretch>
            <a:fillRect/>
          </a:stretch>
        </p:blipFill>
        <p:spPr>
          <a:xfrm rot="-120000">
            <a:off x="6949440" y="3931920"/>
            <a:ext cx="3017520" cy="18859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1554480" y="384048"/>
            <a:ext cx="10241280" cy="658368"/>
          </a:xfrm>
          <a:prstGeom prst="rect">
            <a:avLst/>
          </a:prstGeom>
          <a:noFill/>
          <a:ln/>
        </p:spPr>
        <p:txBody>
          <a:bodyPr wrap="square" lIns="0" tIns="0" rIns="0" bIns="0" rtlCol="0" anchor="ctr"/>
          <a:lstStyle/>
          <a:p>
            <a:pPr algn="ctr" indent="0" marL="0">
              <a:buNone/>
            </a:pPr>
            <a:r>
              <a:rPr lang="en-US" sz="3000" b="1" dirty="0">
                <a:solidFill>
                  <a:srgbClr val="2B2F38"/>
                </a:solidFill>
              </a:rPr>
              <a:t>Hoe werkt het? Comment ça marche ?</a:t>
            </a:r>
            <a:endParaRPr lang="en-US" sz="3000" dirty="0"/>
          </a:p>
        </p:txBody>
      </p:sp>
      <p:sp>
        <p:nvSpPr>
          <p:cNvPr id="4" name="Shape 1"/>
          <p:cNvSpPr/>
          <p:nvPr/>
        </p:nvSpPr>
        <p:spPr>
          <a:xfrm>
            <a:off x="365760" y="365760"/>
            <a:ext cx="868680" cy="5989320"/>
          </a:xfrm>
          <a:prstGeom prst="roundRect">
            <a:avLst>
              <a:gd name="adj" fmla="val 12632"/>
            </a:avLst>
          </a:prstGeom>
          <a:solidFill>
            <a:srgbClr val="EEF1F6"/>
          </a:solidFill>
          <a:ln w="28575">
            <a:solidFill>
              <a:srgbClr val="9AA6B8"/>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4A5568"/>
                </a:solidFill>
                <a:latin typeface="Calibri" pitchFamily="34" charset="0"/>
                <a:ea typeface="Calibri" pitchFamily="34" charset="-122"/>
                <a:cs typeface="Calibri" pitchFamily="34" charset="-120"/>
              </a:rPr>
              <a:t>Mode d’emploi</a:t>
            </a:r>
            <a:endParaRPr lang="en-US" sz="3800" dirty="0"/>
          </a:p>
        </p:txBody>
      </p:sp>
      <p:sp>
        <p:nvSpPr>
          <p:cNvPr id="6" name="Shape 3"/>
          <p:cNvSpPr/>
          <p:nvPr/>
        </p:nvSpPr>
        <p:spPr>
          <a:xfrm>
            <a:off x="1554480" y="1417320"/>
            <a:ext cx="2388870" cy="2103120"/>
          </a:xfrm>
          <a:prstGeom prst="roundRect">
            <a:avLst>
              <a:gd name="adj" fmla="val 4348"/>
            </a:avLst>
          </a:prstGeom>
          <a:solidFill>
            <a:srgbClr val="FFFFFF"/>
          </a:solidFill>
          <a:ln w="12700">
            <a:solidFill>
              <a:srgbClr val="E3E7EE"/>
            </a:solidFill>
            <a:prstDash val="solid"/>
          </a:ln>
          <a:effectLst>
            <a:outerShdw sx="100000" sy="100000" kx="0" ky="0" algn="bl" rotWithShape="0" blurRad="101600" dist="38100" dir="5400000">
              <a:srgbClr val="1B2430">
                <a:alpha val="12000"/>
              </a:srgbClr>
            </a:outerShdw>
          </a:effectLst>
        </p:spPr>
      </p:sp>
      <p:sp>
        <p:nvSpPr>
          <p:cNvPr id="7" name="Shape 4"/>
          <p:cNvSpPr/>
          <p:nvPr/>
        </p:nvSpPr>
        <p:spPr>
          <a:xfrm>
            <a:off x="1783080" y="1645920"/>
            <a:ext cx="658368" cy="658368"/>
          </a:xfrm>
          <a:prstGeom prst="ellipse">
            <a:avLst/>
          </a:prstGeom>
          <a:solidFill>
            <a:srgbClr val="EAF5EC"/>
          </a:solidFill>
          <a:ln w="19050">
            <a:solidFill>
              <a:srgbClr val="5FA873"/>
            </a:solidFill>
            <a:prstDash val="solid"/>
          </a:ln>
        </p:spPr>
      </p:sp>
      <p:pic>
        <p:nvPicPr>
          <p:cNvPr id="8" name="Image 0" descr="Image">    </p:cNvPr>
          <p:cNvPicPr>
            <a:picLocks noChangeAspect="1"/>
          </p:cNvPicPr>
          <p:nvPr/>
        </p:nvPicPr>
        <p:blipFill>
          <a:blip r:embed="rId1"/>
          <a:stretch>
            <a:fillRect/>
          </a:stretch>
        </p:blipFill>
        <p:spPr>
          <a:xfrm>
            <a:off x="1947672" y="1810512"/>
            <a:ext cx="329184" cy="329184"/>
          </a:xfrm>
          <a:prstGeom prst="rect">
            <a:avLst/>
          </a:prstGeom>
        </p:spPr>
      </p:pic>
      <p:sp>
        <p:nvSpPr>
          <p:cNvPr id="9" name="Text 5"/>
          <p:cNvSpPr txBox="1"/>
          <p:nvPr/>
        </p:nvSpPr>
        <p:spPr>
          <a:xfrm>
            <a:off x="3348990" y="1645920"/>
            <a:ext cx="365760" cy="658368"/>
          </a:xfrm>
          <a:prstGeom prst="rect">
            <a:avLst/>
          </a:prstGeom>
          <a:noFill/>
          <a:ln/>
        </p:spPr>
        <p:txBody>
          <a:bodyPr wrap="square" lIns="0" tIns="0" rIns="0" bIns="0" rtlCol="0" anchor="ctr"/>
          <a:lstStyle/>
          <a:p>
            <a:pPr algn="r" indent="0" marL="0">
              <a:buNone/>
            </a:pPr>
            <a:r>
              <a:rPr lang="en-US" sz="3000" b="1" dirty="0">
                <a:solidFill>
                  <a:srgbClr val="D5DCE6"/>
                </a:solidFill>
                <a:latin typeface="Calibri" pitchFamily="34" charset="0"/>
                <a:ea typeface="Calibri" pitchFamily="34" charset="-122"/>
                <a:cs typeface="Calibri" pitchFamily="34" charset="-120"/>
              </a:rPr>
              <a:t>1</a:t>
            </a:r>
            <a:endParaRPr lang="en-US" sz="3000" dirty="0"/>
          </a:p>
        </p:txBody>
      </p:sp>
      <p:sp>
        <p:nvSpPr>
          <p:cNvPr id="10" name="Text 6"/>
          <p:cNvSpPr txBox="1"/>
          <p:nvPr/>
        </p:nvSpPr>
        <p:spPr>
          <a:xfrm>
            <a:off x="1783080" y="2423160"/>
            <a:ext cx="1931670" cy="384048"/>
          </a:xfrm>
          <a:prstGeom prst="rect">
            <a:avLst/>
          </a:prstGeom>
          <a:noFill/>
          <a:ln/>
        </p:spPr>
        <p:txBody>
          <a:bodyPr wrap="square" lIns="0" tIns="0" rIns="0" bIns="0" rtlCol="0" anchor="ctr"/>
          <a:lstStyle/>
          <a:p>
            <a:pPr algn="l" indent="0" marL="0">
              <a:buNone/>
            </a:pPr>
            <a:r>
              <a:rPr lang="en-US" sz="1800" b="1" dirty="0">
                <a:solidFill>
                  <a:srgbClr val="2B2F38"/>
                </a:solidFill>
                <a:latin typeface="Calibri" pitchFamily="34" charset="0"/>
                <a:ea typeface="Calibri" pitchFamily="34" charset="-122"/>
                <a:cs typeface="Calibri" pitchFamily="34" charset="-120"/>
              </a:rPr>
              <a:t>Kijk</a:t>
            </a:r>
            <a:endParaRPr lang="en-US" sz="1800" dirty="0"/>
          </a:p>
        </p:txBody>
      </p:sp>
      <p:sp>
        <p:nvSpPr>
          <p:cNvPr id="11" name="Text 7"/>
          <p:cNvSpPr txBox="1"/>
          <p:nvPr/>
        </p:nvSpPr>
        <p:spPr>
          <a:xfrm>
            <a:off x="1783080" y="2788920"/>
            <a:ext cx="1931670" cy="685800"/>
          </a:xfrm>
          <a:prstGeom prst="rect">
            <a:avLst/>
          </a:prstGeom>
          <a:noFill/>
          <a:ln/>
        </p:spPr>
        <p:txBody>
          <a:bodyPr wrap="square" lIns="0" tIns="0" rIns="0" bIns="0" rtlCol="0" anchor="t"/>
          <a:lstStyle/>
          <a:p>
            <a:pPr algn="l" indent="0" marL="0">
              <a:buNone/>
            </a:pPr>
            <a:r>
              <a:rPr lang="en-US" sz="1350" dirty="0">
                <a:solidFill>
                  <a:srgbClr val="6B7280"/>
                </a:solidFill>
                <a:latin typeface="Calibri" pitchFamily="34" charset="0"/>
                <a:ea typeface="Calibri" pitchFamily="34" charset="-122"/>
                <a:cs typeface="Calibri" pitchFamily="34" charset="-120"/>
              </a:rPr>
              <a:t>Observez l’image : où ? qui ? quoi ?</a:t>
            </a:r>
            <a:endParaRPr lang="en-US" sz="1350" dirty="0"/>
          </a:p>
        </p:txBody>
      </p:sp>
      <p:sp>
        <p:nvSpPr>
          <p:cNvPr id="12" name="Shape 8"/>
          <p:cNvSpPr/>
          <p:nvPr/>
        </p:nvSpPr>
        <p:spPr>
          <a:xfrm>
            <a:off x="4171950" y="1417320"/>
            <a:ext cx="2388870" cy="2103120"/>
          </a:xfrm>
          <a:prstGeom prst="roundRect">
            <a:avLst>
              <a:gd name="adj" fmla="val 4348"/>
            </a:avLst>
          </a:prstGeom>
          <a:solidFill>
            <a:srgbClr val="FFFFFF"/>
          </a:solidFill>
          <a:ln w="12700">
            <a:solidFill>
              <a:srgbClr val="E3E7EE"/>
            </a:solidFill>
            <a:prstDash val="solid"/>
          </a:ln>
          <a:effectLst>
            <a:outerShdw sx="100000" sy="100000" kx="0" ky="0" algn="bl" rotWithShape="0" blurRad="101600" dist="38100" dir="5400000">
              <a:srgbClr val="1B2430">
                <a:alpha val="12000"/>
              </a:srgbClr>
            </a:outerShdw>
          </a:effectLst>
        </p:spPr>
      </p:sp>
      <p:sp>
        <p:nvSpPr>
          <p:cNvPr id="13" name="Shape 9"/>
          <p:cNvSpPr/>
          <p:nvPr/>
        </p:nvSpPr>
        <p:spPr>
          <a:xfrm>
            <a:off x="4400550" y="1645920"/>
            <a:ext cx="658368" cy="658368"/>
          </a:xfrm>
          <a:prstGeom prst="ellipse">
            <a:avLst/>
          </a:prstGeom>
          <a:solidFill>
            <a:srgbClr val="EAF5EC"/>
          </a:solidFill>
          <a:ln w="19050">
            <a:solidFill>
              <a:srgbClr val="5FA873"/>
            </a:solidFill>
            <a:prstDash val="solid"/>
          </a:ln>
        </p:spPr>
      </p:sp>
      <p:pic>
        <p:nvPicPr>
          <p:cNvPr id="14" name="Image 1" descr="ListOl">    </p:cNvPr>
          <p:cNvPicPr>
            <a:picLocks noChangeAspect="1"/>
          </p:cNvPicPr>
          <p:nvPr/>
        </p:nvPicPr>
        <p:blipFill>
          <a:blip r:embed="rId2"/>
          <a:stretch>
            <a:fillRect/>
          </a:stretch>
        </p:blipFill>
        <p:spPr>
          <a:xfrm>
            <a:off x="4565142" y="1810512"/>
            <a:ext cx="329184" cy="329184"/>
          </a:xfrm>
          <a:prstGeom prst="rect">
            <a:avLst/>
          </a:prstGeom>
        </p:spPr>
      </p:pic>
      <p:sp>
        <p:nvSpPr>
          <p:cNvPr id="15" name="Text 10"/>
          <p:cNvSpPr txBox="1"/>
          <p:nvPr/>
        </p:nvSpPr>
        <p:spPr>
          <a:xfrm>
            <a:off x="5966460" y="1645920"/>
            <a:ext cx="365760" cy="658368"/>
          </a:xfrm>
          <a:prstGeom prst="rect">
            <a:avLst/>
          </a:prstGeom>
          <a:noFill/>
          <a:ln/>
        </p:spPr>
        <p:txBody>
          <a:bodyPr wrap="square" lIns="0" tIns="0" rIns="0" bIns="0" rtlCol="0" anchor="ctr"/>
          <a:lstStyle/>
          <a:p>
            <a:pPr algn="r" indent="0" marL="0">
              <a:buNone/>
            </a:pPr>
            <a:r>
              <a:rPr lang="en-US" sz="3000" b="1" dirty="0">
                <a:solidFill>
                  <a:srgbClr val="D5DCE6"/>
                </a:solidFill>
                <a:latin typeface="Calibri" pitchFamily="34" charset="0"/>
                <a:ea typeface="Calibri" pitchFamily="34" charset="-122"/>
                <a:cs typeface="Calibri" pitchFamily="34" charset="-120"/>
              </a:rPr>
              <a:t>2</a:t>
            </a:r>
            <a:endParaRPr lang="en-US" sz="3000" dirty="0"/>
          </a:p>
        </p:txBody>
      </p:sp>
      <p:sp>
        <p:nvSpPr>
          <p:cNvPr id="16" name="Text 11"/>
          <p:cNvSpPr txBox="1"/>
          <p:nvPr/>
        </p:nvSpPr>
        <p:spPr>
          <a:xfrm>
            <a:off x="4400550" y="2423160"/>
            <a:ext cx="1931670" cy="384048"/>
          </a:xfrm>
          <a:prstGeom prst="rect">
            <a:avLst/>
          </a:prstGeom>
          <a:noFill/>
          <a:ln/>
        </p:spPr>
        <p:txBody>
          <a:bodyPr wrap="square" lIns="0" tIns="0" rIns="0" bIns="0" rtlCol="0" anchor="ctr"/>
          <a:lstStyle/>
          <a:p>
            <a:pPr algn="l" indent="0" marL="0">
              <a:buNone/>
            </a:pPr>
            <a:r>
              <a:rPr lang="en-US" sz="1800" b="1" dirty="0">
                <a:solidFill>
                  <a:srgbClr val="2B2F38"/>
                </a:solidFill>
                <a:latin typeface="Calibri" pitchFamily="34" charset="0"/>
                <a:ea typeface="Calibri" pitchFamily="34" charset="-122"/>
                <a:cs typeface="Calibri" pitchFamily="34" charset="-120"/>
              </a:rPr>
              <a:t>Lees</a:t>
            </a:r>
            <a:endParaRPr lang="en-US" sz="1800" dirty="0"/>
          </a:p>
        </p:txBody>
      </p:sp>
      <p:sp>
        <p:nvSpPr>
          <p:cNvPr id="17" name="Text 12"/>
          <p:cNvSpPr txBox="1"/>
          <p:nvPr/>
        </p:nvSpPr>
        <p:spPr>
          <a:xfrm>
            <a:off x="4400550" y="2788920"/>
            <a:ext cx="1931670" cy="685800"/>
          </a:xfrm>
          <a:prstGeom prst="rect">
            <a:avLst/>
          </a:prstGeom>
          <a:noFill/>
          <a:ln/>
        </p:spPr>
        <p:txBody>
          <a:bodyPr wrap="square" lIns="0" tIns="0" rIns="0" bIns="0" rtlCol="0" anchor="t"/>
          <a:lstStyle/>
          <a:p>
            <a:pPr algn="l" indent="0" marL="0">
              <a:buNone/>
            </a:pPr>
            <a:r>
              <a:rPr lang="en-US" sz="1350" dirty="0">
                <a:solidFill>
                  <a:srgbClr val="6B7280"/>
                </a:solidFill>
                <a:latin typeface="Calibri" pitchFamily="34" charset="0"/>
                <a:ea typeface="Calibri" pitchFamily="34" charset="-122"/>
                <a:cs typeface="Calibri" pitchFamily="34" charset="-120"/>
              </a:rPr>
              <a:t>Lisez les consignes : Zin 1, Zin 2… une phrase chacune.</a:t>
            </a:r>
            <a:endParaRPr lang="en-US" sz="1350" dirty="0"/>
          </a:p>
        </p:txBody>
      </p:sp>
      <p:sp>
        <p:nvSpPr>
          <p:cNvPr id="18" name="Shape 13"/>
          <p:cNvSpPr/>
          <p:nvPr/>
        </p:nvSpPr>
        <p:spPr>
          <a:xfrm>
            <a:off x="6789420" y="1417320"/>
            <a:ext cx="2388870" cy="2103120"/>
          </a:xfrm>
          <a:prstGeom prst="roundRect">
            <a:avLst>
              <a:gd name="adj" fmla="val 4348"/>
            </a:avLst>
          </a:prstGeom>
          <a:solidFill>
            <a:srgbClr val="FFFFFF"/>
          </a:solidFill>
          <a:ln w="12700">
            <a:solidFill>
              <a:srgbClr val="E3E7EE"/>
            </a:solidFill>
            <a:prstDash val="solid"/>
          </a:ln>
          <a:effectLst>
            <a:outerShdw sx="100000" sy="100000" kx="0" ky="0" algn="bl" rotWithShape="0" blurRad="101600" dist="38100" dir="5400000">
              <a:srgbClr val="1B2430">
                <a:alpha val="12000"/>
              </a:srgbClr>
            </a:outerShdw>
          </a:effectLst>
        </p:spPr>
      </p:sp>
      <p:sp>
        <p:nvSpPr>
          <p:cNvPr id="19" name="Shape 14"/>
          <p:cNvSpPr/>
          <p:nvPr/>
        </p:nvSpPr>
        <p:spPr>
          <a:xfrm>
            <a:off x="7018020" y="1645920"/>
            <a:ext cx="658368" cy="658368"/>
          </a:xfrm>
          <a:prstGeom prst="ellipse">
            <a:avLst/>
          </a:prstGeom>
          <a:solidFill>
            <a:srgbClr val="EAF5EC"/>
          </a:solidFill>
          <a:ln w="19050">
            <a:solidFill>
              <a:srgbClr val="5FA873"/>
            </a:solidFill>
            <a:prstDash val="solid"/>
          </a:ln>
        </p:spPr>
      </p:sp>
      <p:pic>
        <p:nvPicPr>
          <p:cNvPr id="20" name="Image 2" descr="PenNib">    </p:cNvPr>
          <p:cNvPicPr>
            <a:picLocks noChangeAspect="1"/>
          </p:cNvPicPr>
          <p:nvPr/>
        </p:nvPicPr>
        <p:blipFill>
          <a:blip r:embed="rId3"/>
          <a:stretch>
            <a:fillRect/>
          </a:stretch>
        </p:blipFill>
        <p:spPr>
          <a:xfrm>
            <a:off x="7182612" y="1810512"/>
            <a:ext cx="329184" cy="329184"/>
          </a:xfrm>
          <a:prstGeom prst="rect">
            <a:avLst/>
          </a:prstGeom>
        </p:spPr>
      </p:pic>
      <p:sp>
        <p:nvSpPr>
          <p:cNvPr id="21" name="Text 15"/>
          <p:cNvSpPr txBox="1"/>
          <p:nvPr/>
        </p:nvSpPr>
        <p:spPr>
          <a:xfrm>
            <a:off x="8583930" y="1645920"/>
            <a:ext cx="365760" cy="658368"/>
          </a:xfrm>
          <a:prstGeom prst="rect">
            <a:avLst/>
          </a:prstGeom>
          <a:noFill/>
          <a:ln/>
        </p:spPr>
        <p:txBody>
          <a:bodyPr wrap="square" lIns="0" tIns="0" rIns="0" bIns="0" rtlCol="0" anchor="ctr"/>
          <a:lstStyle/>
          <a:p>
            <a:pPr algn="r" indent="0" marL="0">
              <a:buNone/>
            </a:pPr>
            <a:r>
              <a:rPr lang="en-US" sz="3000" b="1" dirty="0">
                <a:solidFill>
                  <a:srgbClr val="D5DCE6"/>
                </a:solidFill>
                <a:latin typeface="Calibri" pitchFamily="34" charset="0"/>
                <a:ea typeface="Calibri" pitchFamily="34" charset="-122"/>
                <a:cs typeface="Calibri" pitchFamily="34" charset="-120"/>
              </a:rPr>
              <a:t>3</a:t>
            </a:r>
            <a:endParaRPr lang="en-US" sz="3000" dirty="0"/>
          </a:p>
        </p:txBody>
      </p:sp>
      <p:sp>
        <p:nvSpPr>
          <p:cNvPr id="22" name="Text 16"/>
          <p:cNvSpPr txBox="1"/>
          <p:nvPr/>
        </p:nvSpPr>
        <p:spPr>
          <a:xfrm>
            <a:off x="7018020" y="2423160"/>
            <a:ext cx="1931670" cy="384048"/>
          </a:xfrm>
          <a:prstGeom prst="rect">
            <a:avLst/>
          </a:prstGeom>
          <a:noFill/>
          <a:ln/>
        </p:spPr>
        <p:txBody>
          <a:bodyPr wrap="square" lIns="0" tIns="0" rIns="0" bIns="0" rtlCol="0" anchor="ctr"/>
          <a:lstStyle/>
          <a:p>
            <a:pPr algn="l" indent="0" marL="0">
              <a:buNone/>
            </a:pPr>
            <a:r>
              <a:rPr lang="en-US" sz="1800" b="1" dirty="0">
                <a:solidFill>
                  <a:srgbClr val="2B2F38"/>
                </a:solidFill>
                <a:latin typeface="Calibri" pitchFamily="34" charset="0"/>
                <a:ea typeface="Calibri" pitchFamily="34" charset="-122"/>
                <a:cs typeface="Calibri" pitchFamily="34" charset="-120"/>
              </a:rPr>
              <a:t>Schrijf of vertel</a:t>
            </a:r>
            <a:endParaRPr lang="en-US" sz="1800" dirty="0"/>
          </a:p>
        </p:txBody>
      </p:sp>
      <p:sp>
        <p:nvSpPr>
          <p:cNvPr id="23" name="Text 17"/>
          <p:cNvSpPr txBox="1"/>
          <p:nvPr/>
        </p:nvSpPr>
        <p:spPr>
          <a:xfrm>
            <a:off x="7018020" y="2788920"/>
            <a:ext cx="1931670" cy="685800"/>
          </a:xfrm>
          <a:prstGeom prst="rect">
            <a:avLst/>
          </a:prstGeom>
          <a:noFill/>
          <a:ln/>
        </p:spPr>
        <p:txBody>
          <a:bodyPr wrap="square" lIns="0" tIns="0" rIns="0" bIns="0" rtlCol="0" anchor="t"/>
          <a:lstStyle/>
          <a:p>
            <a:pPr algn="l" indent="0" marL="0">
              <a:buNone/>
            </a:pPr>
            <a:r>
              <a:rPr lang="en-US" sz="1350" dirty="0">
                <a:solidFill>
                  <a:srgbClr val="6B7280"/>
                </a:solidFill>
                <a:latin typeface="Calibri" pitchFamily="34" charset="0"/>
                <a:ea typeface="Calibri" pitchFamily="34" charset="-122"/>
                <a:cs typeface="Calibri" pitchFamily="34" charset="-120"/>
              </a:rPr>
              <a:t>Écrivez ou dites vos phrases, le syllabus ouvert (5 min).</a:t>
            </a:r>
            <a:endParaRPr lang="en-US" sz="1350" dirty="0"/>
          </a:p>
        </p:txBody>
      </p:sp>
      <p:sp>
        <p:nvSpPr>
          <p:cNvPr id="24" name="Shape 18"/>
          <p:cNvSpPr/>
          <p:nvPr/>
        </p:nvSpPr>
        <p:spPr>
          <a:xfrm>
            <a:off x="9406890" y="1417320"/>
            <a:ext cx="2388870" cy="2103120"/>
          </a:xfrm>
          <a:prstGeom prst="roundRect">
            <a:avLst>
              <a:gd name="adj" fmla="val 4348"/>
            </a:avLst>
          </a:prstGeom>
          <a:solidFill>
            <a:srgbClr val="FFFFFF"/>
          </a:solidFill>
          <a:ln w="12700">
            <a:solidFill>
              <a:srgbClr val="E3E7EE"/>
            </a:solidFill>
            <a:prstDash val="solid"/>
          </a:ln>
          <a:effectLst>
            <a:outerShdw sx="100000" sy="100000" kx="0" ky="0" algn="bl" rotWithShape="0" blurRad="101600" dist="38100" dir="5400000">
              <a:srgbClr val="1B2430">
                <a:alpha val="12000"/>
              </a:srgbClr>
            </a:outerShdw>
          </a:effectLst>
        </p:spPr>
      </p:sp>
      <p:sp>
        <p:nvSpPr>
          <p:cNvPr id="25" name="Shape 19"/>
          <p:cNvSpPr/>
          <p:nvPr/>
        </p:nvSpPr>
        <p:spPr>
          <a:xfrm>
            <a:off x="9635490" y="1645920"/>
            <a:ext cx="658368" cy="658368"/>
          </a:xfrm>
          <a:prstGeom prst="ellipse">
            <a:avLst/>
          </a:prstGeom>
          <a:solidFill>
            <a:srgbClr val="EAF5EC"/>
          </a:solidFill>
          <a:ln w="19050">
            <a:solidFill>
              <a:srgbClr val="5FA873"/>
            </a:solidFill>
            <a:prstDash val="solid"/>
          </a:ln>
        </p:spPr>
      </p:sp>
      <p:pic>
        <p:nvPicPr>
          <p:cNvPr id="26" name="Image 3" descr="UserFriends">    </p:cNvPr>
          <p:cNvPicPr>
            <a:picLocks noChangeAspect="1"/>
          </p:cNvPicPr>
          <p:nvPr/>
        </p:nvPicPr>
        <p:blipFill>
          <a:blip r:embed="rId4"/>
          <a:stretch>
            <a:fillRect/>
          </a:stretch>
        </p:blipFill>
        <p:spPr>
          <a:xfrm>
            <a:off x="9800082" y="1810512"/>
            <a:ext cx="329184" cy="329184"/>
          </a:xfrm>
          <a:prstGeom prst="rect">
            <a:avLst/>
          </a:prstGeom>
        </p:spPr>
      </p:pic>
      <p:sp>
        <p:nvSpPr>
          <p:cNvPr id="27" name="Text 20"/>
          <p:cNvSpPr txBox="1"/>
          <p:nvPr/>
        </p:nvSpPr>
        <p:spPr>
          <a:xfrm>
            <a:off x="11201400" y="1645920"/>
            <a:ext cx="365760" cy="658368"/>
          </a:xfrm>
          <a:prstGeom prst="rect">
            <a:avLst/>
          </a:prstGeom>
          <a:noFill/>
          <a:ln/>
        </p:spPr>
        <p:txBody>
          <a:bodyPr wrap="square" lIns="0" tIns="0" rIns="0" bIns="0" rtlCol="0" anchor="ctr"/>
          <a:lstStyle/>
          <a:p>
            <a:pPr algn="r" indent="0" marL="0">
              <a:buNone/>
            </a:pPr>
            <a:r>
              <a:rPr lang="en-US" sz="3000" b="1" dirty="0">
                <a:solidFill>
                  <a:srgbClr val="D5DCE6"/>
                </a:solidFill>
                <a:latin typeface="Calibri" pitchFamily="34" charset="0"/>
                <a:ea typeface="Calibri" pitchFamily="34" charset="-122"/>
                <a:cs typeface="Calibri" pitchFamily="34" charset="-120"/>
              </a:rPr>
              <a:t>4</a:t>
            </a:r>
            <a:endParaRPr lang="en-US" sz="3000" dirty="0"/>
          </a:p>
        </p:txBody>
      </p:sp>
      <p:sp>
        <p:nvSpPr>
          <p:cNvPr id="28" name="Text 21"/>
          <p:cNvSpPr txBox="1"/>
          <p:nvPr/>
        </p:nvSpPr>
        <p:spPr>
          <a:xfrm>
            <a:off x="9635490" y="2423160"/>
            <a:ext cx="1931670" cy="384048"/>
          </a:xfrm>
          <a:prstGeom prst="rect">
            <a:avLst/>
          </a:prstGeom>
          <a:noFill/>
          <a:ln/>
        </p:spPr>
        <p:txBody>
          <a:bodyPr wrap="square" lIns="0" tIns="0" rIns="0" bIns="0" rtlCol="0" anchor="ctr"/>
          <a:lstStyle/>
          <a:p>
            <a:pPr algn="l" indent="0" marL="0">
              <a:buNone/>
            </a:pPr>
            <a:r>
              <a:rPr lang="en-US" sz="1800" b="1" dirty="0">
                <a:solidFill>
                  <a:srgbClr val="2B2F38"/>
                </a:solidFill>
                <a:latin typeface="Calibri" pitchFamily="34" charset="0"/>
                <a:ea typeface="Calibri" pitchFamily="34" charset="-122"/>
                <a:cs typeface="Calibri" pitchFamily="34" charset="-120"/>
              </a:rPr>
              <a:t>Deel</a:t>
            </a:r>
            <a:endParaRPr lang="en-US" sz="1800" dirty="0"/>
          </a:p>
        </p:txBody>
      </p:sp>
      <p:sp>
        <p:nvSpPr>
          <p:cNvPr id="29" name="Text 22"/>
          <p:cNvSpPr txBox="1"/>
          <p:nvPr/>
        </p:nvSpPr>
        <p:spPr>
          <a:xfrm>
            <a:off x="9635490" y="2788920"/>
            <a:ext cx="1931670" cy="685800"/>
          </a:xfrm>
          <a:prstGeom prst="rect">
            <a:avLst/>
          </a:prstGeom>
          <a:noFill/>
          <a:ln/>
        </p:spPr>
        <p:txBody>
          <a:bodyPr wrap="square" lIns="0" tIns="0" rIns="0" bIns="0" rtlCol="0" anchor="t"/>
          <a:lstStyle/>
          <a:p>
            <a:pPr algn="l" indent="0" marL="0">
              <a:buNone/>
            </a:pPr>
            <a:r>
              <a:rPr lang="en-US" sz="1350" dirty="0">
                <a:solidFill>
                  <a:srgbClr val="6B7280"/>
                </a:solidFill>
                <a:latin typeface="Calibri" pitchFamily="34" charset="0"/>
                <a:ea typeface="Calibri" pitchFamily="34" charset="-122"/>
                <a:cs typeface="Calibri" pitchFamily="34" charset="-120"/>
              </a:rPr>
              <a:t>Lisez votre texte à votre partner, puis comparez avec l’exemple.</a:t>
            </a:r>
            <a:endParaRPr lang="en-US" sz="1350" dirty="0"/>
          </a:p>
        </p:txBody>
      </p:sp>
      <p:sp>
        <p:nvSpPr>
          <p:cNvPr id="30" name="Text 23"/>
          <p:cNvSpPr txBox="1"/>
          <p:nvPr/>
        </p:nvSpPr>
        <p:spPr>
          <a:xfrm>
            <a:off x="1554480" y="3794760"/>
            <a:ext cx="10241280" cy="365760"/>
          </a:xfrm>
          <a:prstGeom prst="rect">
            <a:avLst/>
          </a:prstGeom>
          <a:noFill/>
          <a:ln/>
        </p:spPr>
        <p:txBody>
          <a:bodyPr wrap="square" lIns="0" tIns="0" rIns="0" bIns="0" rtlCol="0" anchor="ctr"/>
          <a:lstStyle/>
          <a:p>
            <a:pPr algn="l" indent="0" marL="0">
              <a:buNone/>
            </a:pPr>
            <a:r>
              <a:rPr lang="en-US" sz="1400" i="1" dirty="0">
                <a:solidFill>
                  <a:srgbClr val="6B7280"/>
                </a:solidFill>
                <a:latin typeface="Calibri" pitchFamily="34" charset="0"/>
                <a:ea typeface="Calibri" pitchFamily="34" charset="-122"/>
                <a:cs typeface="Calibri" pitchFamily="34" charset="-120"/>
              </a:rPr>
              <a:t>Dans l’exemple, chaque étiquette verte se pose sur la bribe de texte qui répond à la consigne :</a:t>
            </a:r>
            <a:endParaRPr lang="en-US" sz="1400" dirty="0"/>
          </a:p>
        </p:txBody>
      </p:sp>
      <p:sp>
        <p:nvSpPr>
          <p:cNvPr id="31" name="Shape 24"/>
          <p:cNvSpPr/>
          <p:nvPr/>
        </p:nvSpPr>
        <p:spPr>
          <a:xfrm>
            <a:off x="1737360" y="4619752"/>
            <a:ext cx="2277466" cy="340868"/>
          </a:xfrm>
          <a:prstGeom prst="roundRect">
            <a:avLst>
              <a:gd name="adj" fmla="val 13413"/>
            </a:avLst>
          </a:prstGeom>
          <a:solidFill>
            <a:srgbClr val="E6F3DA"/>
          </a:solidFill>
          <a:ln w="12700">
            <a:solidFill>
              <a:srgbClr val="FFFFFF">
                <a:alpha val="0"/>
              </a:srgbClr>
            </a:solidFill>
            <a:prstDash val="solid"/>
          </a:ln>
        </p:spPr>
      </p:sp>
      <p:sp>
        <p:nvSpPr>
          <p:cNvPr id="32" name="Text 25"/>
          <p:cNvSpPr txBox="1"/>
          <p:nvPr/>
        </p:nvSpPr>
        <p:spPr>
          <a:xfrm>
            <a:off x="1737360" y="4608576"/>
            <a:ext cx="2277466" cy="363220"/>
          </a:xfrm>
          <a:prstGeom prst="rect">
            <a:avLst/>
          </a:prstGeom>
          <a:noFill/>
          <a:ln/>
        </p:spPr>
        <p:txBody>
          <a:bodyPr wrap="none" lIns="0" tIns="0" rIns="0" bIns="0" rtlCol="0" anchor="ctr"/>
          <a:lstStyle/>
          <a:p>
            <a:pPr algn="ctr" indent="0" marL="0">
              <a:buNone/>
            </a:pPr>
            <a:r>
              <a:rPr lang="en-US" sz="2200" b="1" dirty="0">
                <a:solidFill>
                  <a:srgbClr val="2B2F38"/>
                </a:solidFill>
                <a:latin typeface="Calibri" pitchFamily="34" charset="0"/>
                <a:ea typeface="Calibri" pitchFamily="34" charset="-122"/>
                <a:cs typeface="Calibri" pitchFamily="34" charset="-120"/>
              </a:rPr>
              <a:t>’s Morgens werk ik</a:t>
            </a:r>
            <a:endParaRPr lang="en-US" sz="2200" dirty="0"/>
          </a:p>
        </p:txBody>
      </p:sp>
      <p:sp>
        <p:nvSpPr>
          <p:cNvPr id="33" name="Text 26"/>
          <p:cNvSpPr txBox="1"/>
          <p:nvPr/>
        </p:nvSpPr>
        <p:spPr>
          <a:xfrm>
            <a:off x="4096258" y="4608576"/>
            <a:ext cx="2207387" cy="363220"/>
          </a:xfrm>
          <a:prstGeom prst="rect">
            <a:avLst/>
          </a:prstGeom>
          <a:noFill/>
          <a:ln/>
        </p:spPr>
        <p:txBody>
          <a:bodyPr wrap="none" lIns="0" tIns="0" rIns="0" bIns="0" rtlCol="0" anchor="ctr"/>
          <a:lstStyle/>
          <a:p>
            <a:pPr algn="l" indent="0" marL="0">
              <a:buNone/>
            </a:pPr>
            <a:r>
              <a:rPr lang="en-US" sz="2200" dirty="0">
                <a:solidFill>
                  <a:srgbClr val="2B2F38"/>
                </a:solidFill>
                <a:latin typeface="Calibri" pitchFamily="34" charset="0"/>
                <a:ea typeface="Calibri" pitchFamily="34" charset="-122"/>
                <a:cs typeface="Calibri" pitchFamily="34" charset="-120"/>
              </a:rPr>
              <a:t>op kantoor. Maar</a:t>
            </a:r>
            <a:endParaRPr lang="en-US" sz="2200" dirty="0"/>
          </a:p>
        </p:txBody>
      </p:sp>
      <p:sp>
        <p:nvSpPr>
          <p:cNvPr id="34" name="Shape 27"/>
          <p:cNvSpPr/>
          <p:nvPr/>
        </p:nvSpPr>
        <p:spPr>
          <a:xfrm>
            <a:off x="6202197" y="4619752"/>
            <a:ext cx="1839925" cy="340868"/>
          </a:xfrm>
          <a:prstGeom prst="roundRect">
            <a:avLst>
              <a:gd name="adj" fmla="val 13413"/>
            </a:avLst>
          </a:prstGeom>
          <a:solidFill>
            <a:srgbClr val="E6F3DA"/>
          </a:solidFill>
          <a:ln w="12700">
            <a:solidFill>
              <a:srgbClr val="FFFFFF">
                <a:alpha val="0"/>
              </a:srgbClr>
            </a:solidFill>
            <a:prstDash val="solid"/>
          </a:ln>
        </p:spPr>
      </p:sp>
      <p:sp>
        <p:nvSpPr>
          <p:cNvPr id="35" name="Text 28"/>
          <p:cNvSpPr txBox="1"/>
          <p:nvPr/>
        </p:nvSpPr>
        <p:spPr>
          <a:xfrm>
            <a:off x="6202197" y="4608576"/>
            <a:ext cx="1839925" cy="363220"/>
          </a:xfrm>
          <a:prstGeom prst="rect">
            <a:avLst/>
          </a:prstGeom>
          <a:noFill/>
          <a:ln/>
        </p:spPr>
        <p:txBody>
          <a:bodyPr wrap="none" lIns="0" tIns="0" rIns="0" bIns="0" rtlCol="0" anchor="ctr"/>
          <a:lstStyle/>
          <a:p>
            <a:pPr algn="ctr" indent="0" marL="0">
              <a:buNone/>
            </a:pPr>
            <a:r>
              <a:rPr lang="en-US" sz="2200" b="1" dirty="0">
                <a:solidFill>
                  <a:srgbClr val="2B2F38"/>
                </a:solidFill>
                <a:latin typeface="Calibri" pitchFamily="34" charset="0"/>
                <a:ea typeface="Calibri" pitchFamily="34" charset="-122"/>
                <a:cs typeface="Calibri" pitchFamily="34" charset="-120"/>
              </a:rPr>
              <a:t>vandaag heb ik</a:t>
            </a:r>
            <a:endParaRPr lang="en-US" sz="2200" dirty="0"/>
          </a:p>
        </p:txBody>
      </p:sp>
      <p:sp>
        <p:nvSpPr>
          <p:cNvPr id="36" name="Text 29"/>
          <p:cNvSpPr txBox="1"/>
          <p:nvPr/>
        </p:nvSpPr>
        <p:spPr>
          <a:xfrm>
            <a:off x="8123555" y="4608576"/>
            <a:ext cx="1238733" cy="363220"/>
          </a:xfrm>
          <a:prstGeom prst="rect">
            <a:avLst/>
          </a:prstGeom>
          <a:noFill/>
          <a:ln/>
        </p:spPr>
        <p:txBody>
          <a:bodyPr wrap="none" lIns="0" tIns="0" rIns="0" bIns="0" rtlCol="0" anchor="ctr"/>
          <a:lstStyle/>
          <a:p>
            <a:pPr algn="l" indent="0" marL="0">
              <a:buNone/>
            </a:pPr>
            <a:r>
              <a:rPr lang="en-US" sz="2200" dirty="0">
                <a:solidFill>
                  <a:srgbClr val="2B2F38"/>
                </a:solidFill>
                <a:latin typeface="Calibri" pitchFamily="34" charset="0"/>
                <a:ea typeface="Calibri" pitchFamily="34" charset="-122"/>
                <a:cs typeface="Calibri" pitchFamily="34" charset="-120"/>
              </a:rPr>
              <a:t>vakantie!</a:t>
            </a:r>
            <a:endParaRPr lang="en-US" sz="2200" dirty="0"/>
          </a:p>
        </p:txBody>
      </p:sp>
      <p:sp>
        <p:nvSpPr>
          <p:cNvPr id="37" name="Shape 30"/>
          <p:cNvSpPr/>
          <p:nvPr/>
        </p:nvSpPr>
        <p:spPr>
          <a:xfrm>
            <a:off x="9260840" y="4619752"/>
            <a:ext cx="1411046" cy="340868"/>
          </a:xfrm>
          <a:prstGeom prst="roundRect">
            <a:avLst>
              <a:gd name="adj" fmla="val 13413"/>
            </a:avLst>
          </a:prstGeom>
          <a:solidFill>
            <a:srgbClr val="E6F3DA"/>
          </a:solidFill>
          <a:ln w="12700">
            <a:solidFill>
              <a:srgbClr val="FFFFFF">
                <a:alpha val="0"/>
              </a:srgbClr>
            </a:solidFill>
            <a:prstDash val="solid"/>
          </a:ln>
        </p:spPr>
      </p:sp>
      <p:sp>
        <p:nvSpPr>
          <p:cNvPr id="38" name="Text 31"/>
          <p:cNvSpPr txBox="1"/>
          <p:nvPr/>
        </p:nvSpPr>
        <p:spPr>
          <a:xfrm>
            <a:off x="9260840" y="4608576"/>
            <a:ext cx="1411046" cy="363220"/>
          </a:xfrm>
          <a:prstGeom prst="rect">
            <a:avLst/>
          </a:prstGeom>
          <a:noFill/>
          <a:ln/>
        </p:spPr>
        <p:txBody>
          <a:bodyPr wrap="none" lIns="0" tIns="0" rIns="0" bIns="0" rtlCol="0" anchor="ctr"/>
          <a:lstStyle/>
          <a:p>
            <a:pPr algn="ctr" indent="0" marL="0">
              <a:buNone/>
            </a:pPr>
            <a:r>
              <a:rPr lang="en-US" sz="2200" b="1" dirty="0">
                <a:solidFill>
                  <a:srgbClr val="2B2F38"/>
                </a:solidFill>
                <a:latin typeface="Calibri" pitchFamily="34" charset="0"/>
                <a:ea typeface="Calibri" pitchFamily="34" charset="-122"/>
                <a:cs typeface="Calibri" pitchFamily="34" charset="-120"/>
              </a:rPr>
              <a:t>Vanmiddag</a:t>
            </a:r>
            <a:endParaRPr lang="en-US" sz="2200" dirty="0"/>
          </a:p>
        </p:txBody>
      </p:sp>
      <p:sp>
        <p:nvSpPr>
          <p:cNvPr id="39" name="Text 32"/>
          <p:cNvSpPr txBox="1"/>
          <p:nvPr/>
        </p:nvSpPr>
        <p:spPr>
          <a:xfrm>
            <a:off x="10753319" y="4608576"/>
            <a:ext cx="721131" cy="363220"/>
          </a:xfrm>
          <a:prstGeom prst="rect">
            <a:avLst/>
          </a:prstGeom>
          <a:noFill/>
          <a:ln/>
        </p:spPr>
        <p:txBody>
          <a:bodyPr wrap="none" lIns="0" tIns="0" rIns="0" bIns="0" rtlCol="0" anchor="ctr"/>
          <a:lstStyle/>
          <a:p>
            <a:pPr algn="l" indent="0" marL="0">
              <a:buNone/>
            </a:pPr>
            <a:r>
              <a:rPr lang="en-US" sz="2200" dirty="0">
                <a:solidFill>
                  <a:srgbClr val="2B2F38"/>
                </a:solidFill>
                <a:latin typeface="Calibri" pitchFamily="34" charset="0"/>
                <a:ea typeface="Calibri" pitchFamily="34" charset="-122"/>
                <a:cs typeface="Calibri" pitchFamily="34" charset="-120"/>
              </a:rPr>
              <a:t>ga ik</a:t>
            </a:r>
            <a:endParaRPr lang="en-US" sz="2200" dirty="0"/>
          </a:p>
        </p:txBody>
      </p:sp>
      <p:sp>
        <p:nvSpPr>
          <p:cNvPr id="40" name="Shape 33"/>
          <p:cNvSpPr/>
          <p:nvPr/>
        </p:nvSpPr>
        <p:spPr>
          <a:xfrm>
            <a:off x="2876093" y="4544568"/>
            <a:ext cx="914" cy="75184"/>
          </a:xfrm>
          <a:prstGeom prst="line">
            <a:avLst/>
          </a:prstGeom>
          <a:noFill/>
          <a:ln w="15875">
            <a:solidFill>
              <a:srgbClr val="7AB648"/>
            </a:solidFill>
            <a:prstDash val="solid"/>
          </a:ln>
        </p:spPr>
      </p:sp>
      <p:sp>
        <p:nvSpPr>
          <p:cNvPr id="41" name="Shape 34"/>
          <p:cNvSpPr/>
          <p:nvPr/>
        </p:nvSpPr>
        <p:spPr>
          <a:xfrm>
            <a:off x="2463844" y="4297680"/>
            <a:ext cx="824497" cy="246888"/>
          </a:xfrm>
          <a:prstGeom prst="roundRect">
            <a:avLst>
              <a:gd name="adj" fmla="val 14815"/>
            </a:avLst>
          </a:prstGeom>
          <a:solidFill>
            <a:srgbClr val="7AB648"/>
          </a:solidFill>
          <a:ln w="12700">
            <a:solidFill>
              <a:srgbClr val="FFFFFF">
                <a:alpha val="0"/>
              </a:srgbClr>
            </a:solidFill>
            <a:prstDash val="solid"/>
          </a:ln>
        </p:spPr>
      </p:sp>
      <p:sp>
        <p:nvSpPr>
          <p:cNvPr id="42" name="Text 35"/>
          <p:cNvSpPr txBox="1"/>
          <p:nvPr/>
        </p:nvSpPr>
        <p:spPr>
          <a:xfrm>
            <a:off x="2463844" y="4297680"/>
            <a:ext cx="824497"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HABITUDE</a:t>
            </a:r>
            <a:endParaRPr lang="en-US" sz="1100" dirty="0"/>
          </a:p>
        </p:txBody>
      </p:sp>
      <p:sp>
        <p:nvSpPr>
          <p:cNvPr id="43" name="Shape 36"/>
          <p:cNvSpPr/>
          <p:nvPr/>
        </p:nvSpPr>
        <p:spPr>
          <a:xfrm>
            <a:off x="7122160" y="4544568"/>
            <a:ext cx="914" cy="75184"/>
          </a:xfrm>
          <a:prstGeom prst="line">
            <a:avLst/>
          </a:prstGeom>
          <a:noFill/>
          <a:ln w="15875">
            <a:solidFill>
              <a:srgbClr val="7AB648"/>
            </a:solidFill>
            <a:prstDash val="solid"/>
          </a:ln>
        </p:spPr>
      </p:sp>
      <p:sp>
        <p:nvSpPr>
          <p:cNvPr id="44" name="Shape 37"/>
          <p:cNvSpPr/>
          <p:nvPr/>
        </p:nvSpPr>
        <p:spPr>
          <a:xfrm>
            <a:off x="6709632" y="4297680"/>
            <a:ext cx="825056" cy="246888"/>
          </a:xfrm>
          <a:prstGeom prst="roundRect">
            <a:avLst>
              <a:gd name="adj" fmla="val 14815"/>
            </a:avLst>
          </a:prstGeom>
          <a:solidFill>
            <a:srgbClr val="7AB648"/>
          </a:solidFill>
          <a:ln w="12700">
            <a:solidFill>
              <a:srgbClr val="FFFFFF">
                <a:alpha val="0"/>
              </a:srgbClr>
            </a:solidFill>
            <a:prstDash val="solid"/>
          </a:ln>
        </p:spPr>
      </p:sp>
      <p:sp>
        <p:nvSpPr>
          <p:cNvPr id="45" name="Text 38"/>
          <p:cNvSpPr txBox="1"/>
          <p:nvPr/>
        </p:nvSpPr>
        <p:spPr>
          <a:xfrm>
            <a:off x="6709632" y="4297680"/>
            <a:ext cx="825056"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VANDAAG</a:t>
            </a:r>
            <a:endParaRPr lang="en-US" sz="1100" dirty="0"/>
          </a:p>
        </p:txBody>
      </p:sp>
      <p:sp>
        <p:nvSpPr>
          <p:cNvPr id="46" name="Shape 39"/>
          <p:cNvSpPr/>
          <p:nvPr/>
        </p:nvSpPr>
        <p:spPr>
          <a:xfrm>
            <a:off x="9966363" y="4544568"/>
            <a:ext cx="914" cy="75184"/>
          </a:xfrm>
          <a:prstGeom prst="line">
            <a:avLst/>
          </a:prstGeom>
          <a:noFill/>
          <a:ln w="15875">
            <a:solidFill>
              <a:srgbClr val="7AB648"/>
            </a:solidFill>
            <a:prstDash val="solid"/>
          </a:ln>
        </p:spPr>
      </p:sp>
      <p:sp>
        <p:nvSpPr>
          <p:cNvPr id="47" name="Shape 40"/>
          <p:cNvSpPr/>
          <p:nvPr/>
        </p:nvSpPr>
        <p:spPr>
          <a:xfrm>
            <a:off x="9472460" y="4297680"/>
            <a:ext cx="987806" cy="246888"/>
          </a:xfrm>
          <a:prstGeom prst="roundRect">
            <a:avLst>
              <a:gd name="adj" fmla="val 14815"/>
            </a:avLst>
          </a:prstGeom>
          <a:solidFill>
            <a:srgbClr val="7AB648"/>
          </a:solidFill>
          <a:ln w="12700">
            <a:solidFill>
              <a:srgbClr val="FFFFFF">
                <a:alpha val="0"/>
              </a:srgbClr>
            </a:solidFill>
            <a:prstDash val="solid"/>
          </a:ln>
        </p:spPr>
      </p:sp>
      <p:sp>
        <p:nvSpPr>
          <p:cNvPr id="48" name="Text 41"/>
          <p:cNvSpPr txBox="1"/>
          <p:nvPr/>
        </p:nvSpPr>
        <p:spPr>
          <a:xfrm>
            <a:off x="9472460" y="4297680"/>
            <a:ext cx="987806"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VANMIDDAG</a:t>
            </a:r>
            <a:endParaRPr lang="en-US" sz="1100" dirty="0"/>
          </a:p>
        </p:txBody>
      </p:sp>
      <p:sp>
        <p:nvSpPr>
          <p:cNvPr id="49" name="Text 42"/>
          <p:cNvSpPr txBox="1"/>
          <p:nvPr/>
        </p:nvSpPr>
        <p:spPr>
          <a:xfrm>
            <a:off x="1737360" y="5118100"/>
            <a:ext cx="1602486" cy="363220"/>
          </a:xfrm>
          <a:prstGeom prst="rect">
            <a:avLst/>
          </a:prstGeom>
          <a:noFill/>
          <a:ln/>
        </p:spPr>
        <p:txBody>
          <a:bodyPr wrap="none" lIns="0" tIns="0" rIns="0" bIns="0" rtlCol="0" anchor="ctr"/>
          <a:lstStyle/>
          <a:p>
            <a:pPr algn="l" indent="0" marL="0">
              <a:buNone/>
            </a:pPr>
            <a:r>
              <a:rPr lang="en-US" sz="2200" dirty="0">
                <a:solidFill>
                  <a:srgbClr val="2B2F38"/>
                </a:solidFill>
                <a:latin typeface="Calibri" pitchFamily="34" charset="0"/>
                <a:ea typeface="Calibri" pitchFamily="34" charset="-122"/>
                <a:cs typeface="Calibri" pitchFamily="34" charset="-120"/>
              </a:rPr>
              <a:t>naar de zee.</a:t>
            </a:r>
            <a:endParaRPr lang="en-US" sz="2200" dirty="0"/>
          </a:p>
        </p:txBody>
      </p:sp>
      <p:sp>
        <p:nvSpPr>
          <p:cNvPr id="50" name="Shape 43"/>
          <p:cNvSpPr/>
          <p:nvPr/>
        </p:nvSpPr>
        <p:spPr>
          <a:xfrm>
            <a:off x="3383280" y="5669280"/>
            <a:ext cx="6583680" cy="640080"/>
          </a:xfrm>
          <a:prstGeom prst="roundRect">
            <a:avLst>
              <a:gd name="adj" fmla="val 20000"/>
            </a:avLst>
          </a:prstGeom>
          <a:solidFill>
            <a:srgbClr val="EAF5EC"/>
          </a:solidFill>
          <a:ln w="15875">
            <a:solidFill>
              <a:srgbClr val="5FA873"/>
            </a:solidFill>
            <a:prstDash val="solid"/>
          </a:ln>
        </p:spPr>
      </p:sp>
      <p:sp>
        <p:nvSpPr>
          <p:cNvPr id="51" name="Text 44"/>
          <p:cNvSpPr txBox="1"/>
          <p:nvPr/>
        </p:nvSpPr>
        <p:spPr>
          <a:xfrm>
            <a:off x="3383280" y="5669280"/>
            <a:ext cx="6583680" cy="640080"/>
          </a:xfrm>
          <a:prstGeom prst="rect">
            <a:avLst/>
          </a:prstGeom>
          <a:noFill/>
          <a:ln/>
        </p:spPr>
        <p:txBody>
          <a:bodyPr wrap="square" lIns="0" tIns="0" rIns="0" bIns="0" rtlCol="0" anchor="ctr"/>
          <a:lstStyle/>
          <a:p>
            <a:pPr algn="ctr" indent="0" marL="0">
              <a:buNone/>
            </a:pPr>
            <a:r>
              <a:rPr lang="en-US" sz="1500" b="1" dirty="0">
                <a:solidFill>
                  <a:srgbClr val="2E6B44"/>
                </a:solidFill>
                <a:latin typeface="Calibri" pitchFamily="34" charset="0"/>
                <a:ea typeface="Calibri" pitchFamily="34" charset="-122"/>
                <a:cs typeface="Calibri" pitchFamily="34" charset="-120"/>
              </a:rPr>
              <a:t>Le but : réutiliser les blocs du syllabus… et oser une chute amusante !</a:t>
            </a:r>
            <a:endParaRPr lang="en-US" sz="1500" dirty="0"/>
          </a:p>
        </p:txBody>
      </p:sp>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1554480" y="384048"/>
            <a:ext cx="10241280" cy="658368"/>
          </a:xfrm>
          <a:prstGeom prst="rect">
            <a:avLst/>
          </a:prstGeom>
          <a:noFill/>
          <a:ln/>
        </p:spPr>
        <p:txBody>
          <a:bodyPr wrap="square" lIns="0" tIns="0" rIns="0" bIns="0" rtlCol="0" anchor="ctr"/>
          <a:lstStyle/>
          <a:p>
            <a:pPr algn="ctr" indent="0" marL="0">
              <a:buNone/>
            </a:pPr>
            <a:r>
              <a:rPr lang="en-US" sz="3000" b="1" dirty="0">
                <a:solidFill>
                  <a:srgbClr val="2B2F38"/>
                </a:solidFill>
              </a:rPr>
              <a:t>Stap voor stap : le parcours</a:t>
            </a:r>
            <a:endParaRPr lang="en-US" sz="3000" dirty="0"/>
          </a:p>
        </p:txBody>
      </p:sp>
      <p:sp>
        <p:nvSpPr>
          <p:cNvPr id="4" name="Shape 1"/>
          <p:cNvSpPr/>
          <p:nvPr/>
        </p:nvSpPr>
        <p:spPr>
          <a:xfrm>
            <a:off x="365760" y="365760"/>
            <a:ext cx="868680" cy="5989320"/>
          </a:xfrm>
          <a:prstGeom prst="roundRect">
            <a:avLst>
              <a:gd name="adj" fmla="val 12632"/>
            </a:avLst>
          </a:prstGeom>
          <a:solidFill>
            <a:srgbClr val="EEF1F6"/>
          </a:solidFill>
          <a:ln w="28575">
            <a:solidFill>
              <a:srgbClr val="9AA6B8"/>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4A5568"/>
                </a:solidFill>
                <a:latin typeface="Calibri" pitchFamily="34" charset="0"/>
                <a:ea typeface="Calibri" pitchFamily="34" charset="-122"/>
                <a:cs typeface="Calibri" pitchFamily="34" charset="-120"/>
              </a:rPr>
              <a:t>Le parcours</a:t>
            </a:r>
            <a:endParaRPr lang="en-US" sz="3800" dirty="0"/>
          </a:p>
        </p:txBody>
      </p:sp>
      <p:sp>
        <p:nvSpPr>
          <p:cNvPr id="6" name="Shape 3"/>
          <p:cNvSpPr/>
          <p:nvPr/>
        </p:nvSpPr>
        <p:spPr>
          <a:xfrm>
            <a:off x="1554480" y="1325880"/>
            <a:ext cx="2409444" cy="3794760"/>
          </a:xfrm>
          <a:prstGeom prst="roundRect">
            <a:avLst>
              <a:gd name="adj" fmla="val 3795"/>
            </a:avLst>
          </a:prstGeom>
          <a:solidFill>
            <a:srgbClr val="E6F4EA"/>
          </a:solidFill>
          <a:ln w="19050">
            <a:solidFill>
              <a:srgbClr val="6DBE8A"/>
            </a:solidFill>
            <a:prstDash val="solid"/>
          </a:ln>
        </p:spPr>
      </p:sp>
      <p:sp>
        <p:nvSpPr>
          <p:cNvPr id="7" name="Text 4"/>
          <p:cNvSpPr txBox="1"/>
          <p:nvPr/>
        </p:nvSpPr>
        <p:spPr>
          <a:xfrm>
            <a:off x="1737360" y="1417320"/>
            <a:ext cx="548640" cy="640080"/>
          </a:xfrm>
          <a:prstGeom prst="rect">
            <a:avLst/>
          </a:prstGeom>
          <a:noFill/>
          <a:ln/>
        </p:spPr>
        <p:txBody>
          <a:bodyPr wrap="square" lIns="0" tIns="0" rIns="0" bIns="0" rtlCol="0" anchor="ctr"/>
          <a:lstStyle/>
          <a:p>
            <a:pPr algn="l" indent="0" marL="0">
              <a:buNone/>
            </a:pPr>
            <a:r>
              <a:rPr lang="en-US" sz="3600" b="1" dirty="0">
                <a:solidFill>
                  <a:srgbClr val="6DBE8A"/>
                </a:solidFill>
                <a:latin typeface="Calibri" pitchFamily="34" charset="0"/>
                <a:ea typeface="Calibri" pitchFamily="34" charset="-122"/>
                <a:cs typeface="Calibri" pitchFamily="34" charset="-120"/>
              </a:rPr>
              <a:t>1</a:t>
            </a:r>
            <a:endParaRPr lang="en-US" sz="3600" dirty="0"/>
          </a:p>
        </p:txBody>
      </p:sp>
      <p:sp>
        <p:nvSpPr>
          <p:cNvPr id="8" name="Text 5"/>
          <p:cNvSpPr txBox="1"/>
          <p:nvPr/>
        </p:nvSpPr>
        <p:spPr>
          <a:xfrm>
            <a:off x="1737360" y="2057400"/>
            <a:ext cx="2043684" cy="411480"/>
          </a:xfrm>
          <a:prstGeom prst="rect">
            <a:avLst/>
          </a:prstGeom>
          <a:noFill/>
          <a:ln/>
        </p:spPr>
        <p:txBody>
          <a:bodyPr wrap="square" lIns="0" tIns="0" rIns="0" bIns="0" rtlCol="0" anchor="ctr"/>
          <a:lstStyle/>
          <a:p>
            <a:pPr algn="l" indent="0" marL="0">
              <a:buNone/>
            </a:pPr>
            <a:r>
              <a:rPr lang="en-US" sz="1700" b="1" dirty="0">
                <a:solidFill>
                  <a:srgbClr val="3D8C5A"/>
                </a:solidFill>
                <a:latin typeface="Calibri" pitchFamily="34" charset="0"/>
                <a:ea typeface="Calibri" pitchFamily="34" charset="-122"/>
                <a:cs typeface="Calibri" pitchFamily="34" charset="-120"/>
              </a:rPr>
              <a:t>Premiers pas</a:t>
            </a:r>
            <a:endParaRPr lang="en-US" sz="1700" dirty="0"/>
          </a:p>
        </p:txBody>
      </p:sp>
      <p:sp>
        <p:nvSpPr>
          <p:cNvPr id="9" name="Text 6"/>
          <p:cNvSpPr txBox="1"/>
          <p:nvPr/>
        </p:nvSpPr>
        <p:spPr>
          <a:xfrm>
            <a:off x="1737360" y="2450592"/>
            <a:ext cx="2043684" cy="320040"/>
          </a:xfrm>
          <a:prstGeom prst="rect">
            <a:avLst/>
          </a:prstGeom>
          <a:noFill/>
          <a:ln/>
        </p:spPr>
        <p:txBody>
          <a:bodyPr wrap="square" lIns="0" tIns="0" rIns="0" bIns="0" rtlCol="0" anchor="ctr"/>
          <a:lstStyle/>
          <a:p>
            <a:pPr algn="l" indent="0" marL="0">
              <a:buNone/>
            </a:pPr>
            <a:r>
              <a:rPr lang="en-US" sz="1300" i="1" dirty="0">
                <a:solidFill>
                  <a:srgbClr val="6B7280"/>
                </a:solidFill>
                <a:latin typeface="Calibri" pitchFamily="34" charset="0"/>
                <a:ea typeface="Calibri" pitchFamily="34" charset="-122"/>
                <a:cs typeface="Calibri" pitchFamily="34" charset="-120"/>
              </a:rPr>
              <a:t>Emma &amp; Pieter</a:t>
            </a:r>
            <a:endParaRPr lang="en-US" sz="1300" dirty="0"/>
          </a:p>
        </p:txBody>
      </p:sp>
      <p:sp>
        <p:nvSpPr>
          <p:cNvPr id="10" name="Shape 7"/>
          <p:cNvSpPr/>
          <p:nvPr/>
        </p:nvSpPr>
        <p:spPr>
          <a:xfrm>
            <a:off x="1746504" y="2843784"/>
            <a:ext cx="2025396" cy="1293305"/>
          </a:xfrm>
          <a:prstGeom prst="roundRect">
            <a:avLst>
              <a:gd name="adj" fmla="val 2828"/>
            </a:avLst>
          </a:prstGeom>
          <a:solidFill>
            <a:srgbClr val="FFFFFF"/>
          </a:solidFill>
          <a:ln w="9525">
            <a:solidFill>
              <a:srgbClr val="E3E7EE"/>
            </a:solidFill>
            <a:prstDash val="solid"/>
          </a:ln>
          <a:effectLst>
            <a:outerShdw sx="100000" sy="100000" kx="0" ky="0" algn="bl" rotWithShape="0" blurRad="63500" dist="25400" dir="5400000">
              <a:srgbClr val="1B2430">
                <a:alpha val="25000"/>
              </a:srgbClr>
            </a:outerShdw>
          </a:effectLst>
        </p:spPr>
      </p:sp>
      <p:pic>
        <p:nvPicPr>
          <p:cNvPr id="11" name="Image 0" descr="/home/user/talenleren/neerlandais1/generateur/img/vijfzinnen/a1_goedemorgen_s.jpg">    </p:cNvPr>
          <p:cNvPicPr>
            <a:picLocks noChangeAspect="1"/>
          </p:cNvPicPr>
          <p:nvPr/>
        </p:nvPicPr>
        <p:blipFill>
          <a:blip r:embed="rId1"/>
          <a:stretch>
            <a:fillRect/>
          </a:stretch>
        </p:blipFill>
        <p:spPr>
          <a:xfrm>
            <a:off x="1783080" y="2880360"/>
            <a:ext cx="1952244" cy="1220152"/>
          </a:xfrm>
          <a:prstGeom prst="rect">
            <a:avLst/>
          </a:prstGeom>
        </p:spPr>
      </p:pic>
      <p:sp>
        <p:nvSpPr>
          <p:cNvPr id="12" name="Text 8"/>
          <p:cNvSpPr txBox="1"/>
          <p:nvPr/>
        </p:nvSpPr>
        <p:spPr>
          <a:xfrm>
            <a:off x="1737360" y="4206240"/>
            <a:ext cx="2043684" cy="347472"/>
          </a:xfrm>
          <a:prstGeom prst="rect">
            <a:avLst/>
          </a:prstGeom>
          <a:noFill/>
          <a:ln/>
        </p:spPr>
        <p:txBody>
          <a:bodyPr wrap="square" lIns="0" tIns="0" rIns="0" bIns="0" rtlCol="0" anchor="ctr"/>
          <a:lstStyle/>
          <a:p>
            <a:pPr algn="l" indent="0" marL="0">
              <a:buNone/>
            </a:pPr>
            <a:r>
              <a:rPr lang="en-US" sz="1500" b="1" dirty="0">
                <a:solidFill>
                  <a:srgbClr val="2B2F38"/>
                </a:solidFill>
                <a:latin typeface="Calibri" pitchFamily="34" charset="0"/>
                <a:ea typeface="Calibri" pitchFamily="34" charset="-122"/>
                <a:cs typeface="Calibri" pitchFamily="34" charset="-120"/>
              </a:rPr>
              <a:t>14 productions</a:t>
            </a:r>
            <a:endParaRPr lang="en-US" sz="1500" dirty="0"/>
          </a:p>
        </p:txBody>
      </p:sp>
      <p:sp>
        <p:nvSpPr>
          <p:cNvPr id="13" name="Text 9"/>
          <p:cNvSpPr txBox="1"/>
          <p:nvPr/>
        </p:nvSpPr>
        <p:spPr>
          <a:xfrm>
            <a:off x="1737360" y="4526280"/>
            <a:ext cx="2043684" cy="292608"/>
          </a:xfrm>
          <a:prstGeom prst="rect">
            <a:avLst/>
          </a:prstGeom>
          <a:noFill/>
          <a:ln/>
        </p:spPr>
        <p:txBody>
          <a:bodyPr wrap="square" lIns="0" tIns="0" rIns="0" bIns="0" rtlCol="0" anchor="ctr"/>
          <a:lstStyle/>
          <a:p>
            <a:pPr algn="l" indent="0" marL="0">
              <a:buNone/>
            </a:pPr>
            <a:r>
              <a:rPr lang="en-US" sz="1300" dirty="0">
                <a:solidFill>
                  <a:srgbClr val="6B7280"/>
                </a:solidFill>
                <a:latin typeface="Calibri" pitchFamily="34" charset="0"/>
                <a:ea typeface="Calibri" pitchFamily="34" charset="-122"/>
                <a:cs typeface="Calibri" pitchFamily="34" charset="-120"/>
              </a:rPr>
              <a:t>3 · 4 · 5 phrases</a:t>
            </a:r>
            <a:endParaRPr lang="en-US" sz="1300" dirty="0"/>
          </a:p>
        </p:txBody>
      </p:sp>
      <p:sp>
        <p:nvSpPr>
          <p:cNvPr id="14" name="Text 10"/>
          <p:cNvSpPr txBox="1"/>
          <p:nvPr/>
        </p:nvSpPr>
        <p:spPr>
          <a:xfrm>
            <a:off x="1737360" y="4800600"/>
            <a:ext cx="2043684" cy="274320"/>
          </a:xfrm>
          <a:prstGeom prst="rect">
            <a:avLst/>
          </a:prstGeom>
          <a:noFill/>
          <a:ln/>
        </p:spPr>
        <p:txBody>
          <a:bodyPr wrap="square" lIns="0" tIns="0" rIns="0" bIns="0" rtlCol="0" anchor="ctr"/>
          <a:lstStyle/>
          <a:p>
            <a:pPr algn="l" indent="0" marL="0">
              <a:buNone/>
            </a:pPr>
            <a:r>
              <a:rPr lang="en-US" sz="1050" i="1" dirty="0">
                <a:solidFill>
                  <a:srgbClr val="6B7280"/>
                </a:solidFill>
                <a:latin typeface="Calibri" pitchFamily="34" charset="0"/>
                <a:ea typeface="Calibri" pitchFamily="34" charset="-122"/>
                <a:cs typeface="Calibri" pitchFamily="34" charset="-120"/>
              </a:rPr>
              <a:t>syllabus, section 1 · p. 1 – 57</a:t>
            </a:r>
            <a:endParaRPr lang="en-US" sz="1050" dirty="0"/>
          </a:p>
        </p:txBody>
      </p:sp>
      <p:sp>
        <p:nvSpPr>
          <p:cNvPr id="15" name="Shape 11"/>
          <p:cNvSpPr/>
          <p:nvPr/>
        </p:nvSpPr>
        <p:spPr>
          <a:xfrm>
            <a:off x="4165092" y="1325880"/>
            <a:ext cx="2409444" cy="3794760"/>
          </a:xfrm>
          <a:prstGeom prst="roundRect">
            <a:avLst>
              <a:gd name="adj" fmla="val 3795"/>
            </a:avLst>
          </a:prstGeom>
          <a:solidFill>
            <a:srgbClr val="E4EEFB"/>
          </a:solidFill>
          <a:ln w="19050">
            <a:solidFill>
              <a:srgbClr val="6FA0DC"/>
            </a:solidFill>
            <a:prstDash val="solid"/>
          </a:ln>
        </p:spPr>
      </p:sp>
      <p:sp>
        <p:nvSpPr>
          <p:cNvPr id="16" name="Text 12"/>
          <p:cNvSpPr txBox="1"/>
          <p:nvPr/>
        </p:nvSpPr>
        <p:spPr>
          <a:xfrm>
            <a:off x="4347972" y="1417320"/>
            <a:ext cx="548640" cy="640080"/>
          </a:xfrm>
          <a:prstGeom prst="rect">
            <a:avLst/>
          </a:prstGeom>
          <a:noFill/>
          <a:ln/>
        </p:spPr>
        <p:txBody>
          <a:bodyPr wrap="square" lIns="0" tIns="0" rIns="0" bIns="0" rtlCol="0" anchor="ctr"/>
          <a:lstStyle/>
          <a:p>
            <a:pPr algn="l" indent="0" marL="0">
              <a:buNone/>
            </a:pPr>
            <a:r>
              <a:rPr lang="en-US" sz="3600" b="1" dirty="0">
                <a:solidFill>
                  <a:srgbClr val="6FA0DC"/>
                </a:solidFill>
                <a:latin typeface="Calibri" pitchFamily="34" charset="0"/>
                <a:ea typeface="Calibri" pitchFamily="34" charset="-122"/>
                <a:cs typeface="Calibri" pitchFamily="34" charset="-120"/>
              </a:rPr>
              <a:t>2</a:t>
            </a:r>
            <a:endParaRPr lang="en-US" sz="3600" dirty="0"/>
          </a:p>
        </p:txBody>
      </p:sp>
      <p:sp>
        <p:nvSpPr>
          <p:cNvPr id="17" name="Text 13"/>
          <p:cNvSpPr txBox="1"/>
          <p:nvPr/>
        </p:nvSpPr>
        <p:spPr>
          <a:xfrm>
            <a:off x="4347972" y="2057400"/>
            <a:ext cx="2043684" cy="411480"/>
          </a:xfrm>
          <a:prstGeom prst="rect">
            <a:avLst/>
          </a:prstGeom>
          <a:noFill/>
          <a:ln/>
        </p:spPr>
        <p:txBody>
          <a:bodyPr wrap="square" lIns="0" tIns="0" rIns="0" bIns="0" rtlCol="0" anchor="ctr"/>
          <a:lstStyle/>
          <a:p>
            <a:pPr algn="l" indent="0" marL="0">
              <a:buNone/>
            </a:pPr>
            <a:r>
              <a:rPr lang="en-US" sz="1700" b="1" dirty="0">
                <a:solidFill>
                  <a:srgbClr val="3E6FB0"/>
                </a:solidFill>
                <a:latin typeface="Calibri" pitchFamily="34" charset="0"/>
                <a:ea typeface="Calibri" pitchFamily="34" charset="-122"/>
                <a:cs typeface="Calibri" pitchFamily="34" charset="-120"/>
              </a:rPr>
              <a:t>Grammaire</a:t>
            </a:r>
            <a:endParaRPr lang="en-US" sz="1700" dirty="0"/>
          </a:p>
        </p:txBody>
      </p:sp>
      <p:sp>
        <p:nvSpPr>
          <p:cNvPr id="18" name="Text 14"/>
          <p:cNvSpPr txBox="1"/>
          <p:nvPr/>
        </p:nvSpPr>
        <p:spPr>
          <a:xfrm>
            <a:off x="4347972" y="2450592"/>
            <a:ext cx="2043684" cy="320040"/>
          </a:xfrm>
          <a:prstGeom prst="rect">
            <a:avLst/>
          </a:prstGeom>
          <a:noFill/>
          <a:ln/>
        </p:spPr>
        <p:txBody>
          <a:bodyPr wrap="square" lIns="0" tIns="0" rIns="0" bIns="0" rtlCol="0" anchor="ctr"/>
          <a:lstStyle/>
          <a:p>
            <a:pPr algn="l" indent="0" marL="0">
              <a:buNone/>
            </a:pPr>
            <a:r>
              <a:rPr lang="en-US" sz="1300" i="1" dirty="0">
                <a:solidFill>
                  <a:srgbClr val="6B7280"/>
                </a:solidFill>
                <a:latin typeface="Calibri" pitchFamily="34" charset="0"/>
                <a:ea typeface="Calibri" pitchFamily="34" charset="-122"/>
                <a:cs typeface="Calibri" pitchFamily="34" charset="-120"/>
              </a:rPr>
              <a:t>de grammatica</a:t>
            </a:r>
            <a:endParaRPr lang="en-US" sz="1300" dirty="0"/>
          </a:p>
        </p:txBody>
      </p:sp>
      <p:sp>
        <p:nvSpPr>
          <p:cNvPr id="19" name="Shape 15"/>
          <p:cNvSpPr/>
          <p:nvPr/>
        </p:nvSpPr>
        <p:spPr>
          <a:xfrm>
            <a:off x="4357116" y="2843784"/>
            <a:ext cx="2025396" cy="1293305"/>
          </a:xfrm>
          <a:prstGeom prst="roundRect">
            <a:avLst>
              <a:gd name="adj" fmla="val 2828"/>
            </a:avLst>
          </a:prstGeom>
          <a:solidFill>
            <a:srgbClr val="FFFFFF"/>
          </a:solidFill>
          <a:ln w="9525">
            <a:solidFill>
              <a:srgbClr val="E3E7EE"/>
            </a:solidFill>
            <a:prstDash val="solid"/>
          </a:ln>
          <a:effectLst>
            <a:outerShdw sx="100000" sy="100000" kx="0" ky="0" algn="bl" rotWithShape="0" blurRad="63500" dist="25400" dir="5400000">
              <a:srgbClr val="1B2430">
                <a:alpha val="25000"/>
              </a:srgbClr>
            </a:outerShdw>
          </a:effectLst>
        </p:spPr>
      </p:sp>
      <p:pic>
        <p:nvPicPr>
          <p:cNvPr id="20" name="Image 1" descr="/home/user/talenleren/neerlandais1/generateur/img/vijfzinnen/a1_ontbijttafel_s.jpg">    </p:cNvPr>
          <p:cNvPicPr>
            <a:picLocks noChangeAspect="1"/>
          </p:cNvPicPr>
          <p:nvPr/>
        </p:nvPicPr>
        <p:blipFill>
          <a:blip r:embed="rId2"/>
          <a:stretch>
            <a:fillRect/>
          </a:stretch>
        </p:blipFill>
        <p:spPr>
          <a:xfrm>
            <a:off x="4393692" y="2880360"/>
            <a:ext cx="1952244" cy="1220152"/>
          </a:xfrm>
          <a:prstGeom prst="rect">
            <a:avLst/>
          </a:prstGeom>
        </p:spPr>
      </p:pic>
      <p:sp>
        <p:nvSpPr>
          <p:cNvPr id="21" name="Text 16"/>
          <p:cNvSpPr txBox="1"/>
          <p:nvPr/>
        </p:nvSpPr>
        <p:spPr>
          <a:xfrm>
            <a:off x="4347972" y="4206240"/>
            <a:ext cx="2043684" cy="347472"/>
          </a:xfrm>
          <a:prstGeom prst="rect">
            <a:avLst/>
          </a:prstGeom>
          <a:noFill/>
          <a:ln/>
        </p:spPr>
        <p:txBody>
          <a:bodyPr wrap="square" lIns="0" tIns="0" rIns="0" bIns="0" rtlCol="0" anchor="ctr"/>
          <a:lstStyle/>
          <a:p>
            <a:pPr algn="l" indent="0" marL="0">
              <a:buNone/>
            </a:pPr>
            <a:r>
              <a:rPr lang="en-US" sz="1500" b="1" dirty="0">
                <a:solidFill>
                  <a:srgbClr val="2B2F38"/>
                </a:solidFill>
                <a:latin typeface="Calibri" pitchFamily="34" charset="0"/>
                <a:ea typeface="Calibri" pitchFamily="34" charset="-122"/>
                <a:cs typeface="Calibri" pitchFamily="34" charset="-120"/>
              </a:rPr>
              <a:t>10 productions</a:t>
            </a:r>
            <a:endParaRPr lang="en-US" sz="1500" dirty="0"/>
          </a:p>
        </p:txBody>
      </p:sp>
      <p:sp>
        <p:nvSpPr>
          <p:cNvPr id="22" name="Text 17"/>
          <p:cNvSpPr txBox="1"/>
          <p:nvPr/>
        </p:nvSpPr>
        <p:spPr>
          <a:xfrm>
            <a:off x="4347972" y="4526280"/>
            <a:ext cx="2043684" cy="292608"/>
          </a:xfrm>
          <a:prstGeom prst="rect">
            <a:avLst/>
          </a:prstGeom>
          <a:noFill/>
          <a:ln/>
        </p:spPr>
        <p:txBody>
          <a:bodyPr wrap="square" lIns="0" tIns="0" rIns="0" bIns="0" rtlCol="0" anchor="ctr"/>
          <a:lstStyle/>
          <a:p>
            <a:pPr algn="l" indent="0" marL="0">
              <a:buNone/>
            </a:pPr>
            <a:r>
              <a:rPr lang="en-US" sz="1300" dirty="0">
                <a:solidFill>
                  <a:srgbClr val="6B7280"/>
                </a:solidFill>
                <a:latin typeface="Calibri" pitchFamily="34" charset="0"/>
                <a:ea typeface="Calibri" pitchFamily="34" charset="-122"/>
                <a:cs typeface="Calibri" pitchFamily="34" charset="-120"/>
              </a:rPr>
              <a:t>4 phrases</a:t>
            </a:r>
            <a:endParaRPr lang="en-US" sz="1300" dirty="0"/>
          </a:p>
        </p:txBody>
      </p:sp>
      <p:sp>
        <p:nvSpPr>
          <p:cNvPr id="23" name="Text 18"/>
          <p:cNvSpPr txBox="1"/>
          <p:nvPr/>
        </p:nvSpPr>
        <p:spPr>
          <a:xfrm>
            <a:off x="4347972" y="4800600"/>
            <a:ext cx="2043684" cy="274320"/>
          </a:xfrm>
          <a:prstGeom prst="rect">
            <a:avLst/>
          </a:prstGeom>
          <a:noFill/>
          <a:ln/>
        </p:spPr>
        <p:txBody>
          <a:bodyPr wrap="square" lIns="0" tIns="0" rIns="0" bIns="0" rtlCol="0" anchor="ctr"/>
          <a:lstStyle/>
          <a:p>
            <a:pPr algn="l" indent="0" marL="0">
              <a:buNone/>
            </a:pPr>
            <a:r>
              <a:rPr lang="en-US" sz="1050" i="1" dirty="0">
                <a:solidFill>
                  <a:srgbClr val="6B7280"/>
                </a:solidFill>
                <a:latin typeface="Calibri" pitchFamily="34" charset="0"/>
                <a:ea typeface="Calibri" pitchFamily="34" charset="-122"/>
                <a:cs typeface="Calibri" pitchFamily="34" charset="-120"/>
              </a:rPr>
              <a:t>syllabus, section 2 · p. 58 – 67</a:t>
            </a:r>
            <a:endParaRPr lang="en-US" sz="1050" dirty="0"/>
          </a:p>
        </p:txBody>
      </p:sp>
      <p:sp>
        <p:nvSpPr>
          <p:cNvPr id="24" name="Shape 19"/>
          <p:cNvSpPr/>
          <p:nvPr/>
        </p:nvSpPr>
        <p:spPr>
          <a:xfrm>
            <a:off x="6775704" y="1325880"/>
            <a:ext cx="2409444" cy="3794760"/>
          </a:xfrm>
          <a:prstGeom prst="roundRect">
            <a:avLst>
              <a:gd name="adj" fmla="val 3795"/>
            </a:avLst>
          </a:prstGeom>
          <a:solidFill>
            <a:srgbClr val="FDF1E4"/>
          </a:solidFill>
          <a:ln w="19050">
            <a:solidFill>
              <a:srgbClr val="F0A15E"/>
            </a:solidFill>
            <a:prstDash val="solid"/>
          </a:ln>
        </p:spPr>
      </p:sp>
      <p:sp>
        <p:nvSpPr>
          <p:cNvPr id="25" name="Text 20"/>
          <p:cNvSpPr txBox="1"/>
          <p:nvPr/>
        </p:nvSpPr>
        <p:spPr>
          <a:xfrm>
            <a:off x="6958584" y="1417320"/>
            <a:ext cx="548640" cy="640080"/>
          </a:xfrm>
          <a:prstGeom prst="rect">
            <a:avLst/>
          </a:prstGeom>
          <a:noFill/>
          <a:ln/>
        </p:spPr>
        <p:txBody>
          <a:bodyPr wrap="square" lIns="0" tIns="0" rIns="0" bIns="0" rtlCol="0" anchor="ctr"/>
          <a:lstStyle/>
          <a:p>
            <a:pPr algn="l" indent="0" marL="0">
              <a:buNone/>
            </a:pPr>
            <a:r>
              <a:rPr lang="en-US" sz="3600" b="1" dirty="0">
                <a:solidFill>
                  <a:srgbClr val="F0A15E"/>
                </a:solidFill>
                <a:latin typeface="Calibri" pitchFamily="34" charset="0"/>
                <a:ea typeface="Calibri" pitchFamily="34" charset="-122"/>
                <a:cs typeface="Calibri" pitchFamily="34" charset="-120"/>
              </a:rPr>
              <a:t>3</a:t>
            </a:r>
            <a:endParaRPr lang="en-US" sz="3600" dirty="0"/>
          </a:p>
        </p:txBody>
      </p:sp>
      <p:sp>
        <p:nvSpPr>
          <p:cNvPr id="26" name="Text 21"/>
          <p:cNvSpPr txBox="1"/>
          <p:nvPr/>
        </p:nvSpPr>
        <p:spPr>
          <a:xfrm>
            <a:off x="6958584" y="2057400"/>
            <a:ext cx="2043684" cy="411480"/>
          </a:xfrm>
          <a:prstGeom prst="rect">
            <a:avLst/>
          </a:prstGeom>
          <a:noFill/>
          <a:ln/>
        </p:spPr>
        <p:txBody>
          <a:bodyPr wrap="square" lIns="0" tIns="0" rIns="0" bIns="0" rtlCol="0" anchor="ctr"/>
          <a:lstStyle/>
          <a:p>
            <a:pPr algn="l" indent="0" marL="0">
              <a:buNone/>
            </a:pPr>
            <a:r>
              <a:rPr lang="en-US" sz="1700" b="1" dirty="0">
                <a:solidFill>
                  <a:srgbClr val="B9661F"/>
                </a:solidFill>
                <a:latin typeface="Calibri" pitchFamily="34" charset="0"/>
                <a:ea typeface="Calibri" pitchFamily="34" charset="-122"/>
                <a:cs typeface="Calibri" pitchFamily="34" charset="-120"/>
              </a:rPr>
              <a:t>Vocabulaire</a:t>
            </a:r>
            <a:endParaRPr lang="en-US" sz="1700" dirty="0"/>
          </a:p>
        </p:txBody>
      </p:sp>
      <p:sp>
        <p:nvSpPr>
          <p:cNvPr id="27" name="Text 22"/>
          <p:cNvSpPr txBox="1"/>
          <p:nvPr/>
        </p:nvSpPr>
        <p:spPr>
          <a:xfrm>
            <a:off x="6958584" y="2450592"/>
            <a:ext cx="2043684" cy="320040"/>
          </a:xfrm>
          <a:prstGeom prst="rect">
            <a:avLst/>
          </a:prstGeom>
          <a:noFill/>
          <a:ln/>
        </p:spPr>
        <p:txBody>
          <a:bodyPr wrap="square" lIns="0" tIns="0" rIns="0" bIns="0" rtlCol="0" anchor="ctr"/>
          <a:lstStyle/>
          <a:p>
            <a:pPr algn="l" indent="0" marL="0">
              <a:buNone/>
            </a:pPr>
            <a:r>
              <a:rPr lang="en-US" sz="1300" i="1" dirty="0">
                <a:solidFill>
                  <a:srgbClr val="6B7280"/>
                </a:solidFill>
                <a:latin typeface="Calibri" pitchFamily="34" charset="0"/>
                <a:ea typeface="Calibri" pitchFamily="34" charset="-122"/>
                <a:cs typeface="Calibri" pitchFamily="34" charset="-120"/>
              </a:rPr>
              <a:t>de woordenschat</a:t>
            </a:r>
            <a:endParaRPr lang="en-US" sz="1300" dirty="0"/>
          </a:p>
        </p:txBody>
      </p:sp>
      <p:sp>
        <p:nvSpPr>
          <p:cNvPr id="28" name="Shape 23"/>
          <p:cNvSpPr/>
          <p:nvPr/>
        </p:nvSpPr>
        <p:spPr>
          <a:xfrm>
            <a:off x="6967728" y="2843784"/>
            <a:ext cx="2025396" cy="1293305"/>
          </a:xfrm>
          <a:prstGeom prst="roundRect">
            <a:avLst>
              <a:gd name="adj" fmla="val 2828"/>
            </a:avLst>
          </a:prstGeom>
          <a:solidFill>
            <a:srgbClr val="FFFFFF"/>
          </a:solidFill>
          <a:ln w="9525">
            <a:solidFill>
              <a:srgbClr val="E3E7EE"/>
            </a:solidFill>
            <a:prstDash val="solid"/>
          </a:ln>
          <a:effectLst>
            <a:outerShdw sx="100000" sy="100000" kx="0" ky="0" algn="bl" rotWithShape="0" blurRad="63500" dist="25400" dir="5400000">
              <a:srgbClr val="1B2430">
                <a:alpha val="25000"/>
              </a:srgbClr>
            </a:outerShdw>
          </a:effectLst>
        </p:spPr>
      </p:sp>
      <p:pic>
        <p:nvPicPr>
          <p:cNvPr id="29" name="Image 2" descr="/home/user/talenleren/neerlandais1/generateur/img/vijfzinnen/a1_aangenaam_s.jpg">    </p:cNvPr>
          <p:cNvPicPr>
            <a:picLocks noChangeAspect="1"/>
          </p:cNvPicPr>
          <p:nvPr/>
        </p:nvPicPr>
        <p:blipFill>
          <a:blip r:embed="rId3"/>
          <a:stretch>
            <a:fillRect/>
          </a:stretch>
        </p:blipFill>
        <p:spPr>
          <a:xfrm>
            <a:off x="7004304" y="2880360"/>
            <a:ext cx="1952244" cy="1220152"/>
          </a:xfrm>
          <a:prstGeom prst="rect">
            <a:avLst/>
          </a:prstGeom>
        </p:spPr>
      </p:pic>
      <p:sp>
        <p:nvSpPr>
          <p:cNvPr id="30" name="Text 24"/>
          <p:cNvSpPr txBox="1"/>
          <p:nvPr/>
        </p:nvSpPr>
        <p:spPr>
          <a:xfrm>
            <a:off x="6958584" y="4206240"/>
            <a:ext cx="2043684" cy="347472"/>
          </a:xfrm>
          <a:prstGeom prst="rect">
            <a:avLst/>
          </a:prstGeom>
          <a:noFill/>
          <a:ln/>
        </p:spPr>
        <p:txBody>
          <a:bodyPr wrap="square" lIns="0" tIns="0" rIns="0" bIns="0" rtlCol="0" anchor="ctr"/>
          <a:lstStyle/>
          <a:p>
            <a:pPr algn="l" indent="0" marL="0">
              <a:buNone/>
            </a:pPr>
            <a:r>
              <a:rPr lang="en-US" sz="1500" b="1" dirty="0">
                <a:solidFill>
                  <a:srgbClr val="2B2F38"/>
                </a:solidFill>
                <a:latin typeface="Calibri" pitchFamily="34" charset="0"/>
                <a:ea typeface="Calibri" pitchFamily="34" charset="-122"/>
                <a:cs typeface="Calibri" pitchFamily="34" charset="-120"/>
              </a:rPr>
              <a:t>11 productions</a:t>
            </a:r>
            <a:endParaRPr lang="en-US" sz="1500" dirty="0"/>
          </a:p>
        </p:txBody>
      </p:sp>
      <p:sp>
        <p:nvSpPr>
          <p:cNvPr id="31" name="Text 25"/>
          <p:cNvSpPr txBox="1"/>
          <p:nvPr/>
        </p:nvSpPr>
        <p:spPr>
          <a:xfrm>
            <a:off x="6958584" y="4526280"/>
            <a:ext cx="2043684" cy="292608"/>
          </a:xfrm>
          <a:prstGeom prst="rect">
            <a:avLst/>
          </a:prstGeom>
          <a:noFill/>
          <a:ln/>
        </p:spPr>
        <p:txBody>
          <a:bodyPr wrap="square" lIns="0" tIns="0" rIns="0" bIns="0" rtlCol="0" anchor="ctr"/>
          <a:lstStyle/>
          <a:p>
            <a:pPr algn="l" indent="0" marL="0">
              <a:buNone/>
            </a:pPr>
            <a:r>
              <a:rPr lang="en-US" sz="1300" dirty="0">
                <a:solidFill>
                  <a:srgbClr val="6B7280"/>
                </a:solidFill>
                <a:latin typeface="Calibri" pitchFamily="34" charset="0"/>
                <a:ea typeface="Calibri" pitchFamily="34" charset="-122"/>
                <a:cs typeface="Calibri" pitchFamily="34" charset="-120"/>
              </a:rPr>
              <a:t>4 phrases</a:t>
            </a:r>
            <a:endParaRPr lang="en-US" sz="1300" dirty="0"/>
          </a:p>
        </p:txBody>
      </p:sp>
      <p:sp>
        <p:nvSpPr>
          <p:cNvPr id="32" name="Text 26"/>
          <p:cNvSpPr txBox="1"/>
          <p:nvPr/>
        </p:nvSpPr>
        <p:spPr>
          <a:xfrm>
            <a:off x="6958584" y="4800600"/>
            <a:ext cx="2043684" cy="274320"/>
          </a:xfrm>
          <a:prstGeom prst="rect">
            <a:avLst/>
          </a:prstGeom>
          <a:noFill/>
          <a:ln/>
        </p:spPr>
        <p:txBody>
          <a:bodyPr wrap="square" lIns="0" tIns="0" rIns="0" bIns="0" rtlCol="0" anchor="ctr"/>
          <a:lstStyle/>
          <a:p>
            <a:pPr algn="l" indent="0" marL="0">
              <a:buNone/>
            </a:pPr>
            <a:r>
              <a:rPr lang="en-US" sz="1050" i="1" dirty="0">
                <a:solidFill>
                  <a:srgbClr val="6B7280"/>
                </a:solidFill>
                <a:latin typeface="Calibri" pitchFamily="34" charset="0"/>
                <a:ea typeface="Calibri" pitchFamily="34" charset="-122"/>
                <a:cs typeface="Calibri" pitchFamily="34" charset="-120"/>
              </a:rPr>
              <a:t>syllabus, section 3 · p. 78 – 88</a:t>
            </a:r>
            <a:endParaRPr lang="en-US" sz="1050" dirty="0"/>
          </a:p>
        </p:txBody>
      </p:sp>
      <p:sp>
        <p:nvSpPr>
          <p:cNvPr id="33" name="Shape 27"/>
          <p:cNvSpPr/>
          <p:nvPr/>
        </p:nvSpPr>
        <p:spPr>
          <a:xfrm>
            <a:off x="9386316" y="1325880"/>
            <a:ext cx="2409444" cy="3794760"/>
          </a:xfrm>
          <a:prstGeom prst="roundRect">
            <a:avLst>
              <a:gd name="adj" fmla="val 3795"/>
            </a:avLst>
          </a:prstGeom>
          <a:solidFill>
            <a:srgbClr val="F4E8F6"/>
          </a:solidFill>
          <a:ln w="19050">
            <a:solidFill>
              <a:srgbClr val="B57FCB"/>
            </a:solidFill>
            <a:prstDash val="solid"/>
          </a:ln>
        </p:spPr>
      </p:sp>
      <p:sp>
        <p:nvSpPr>
          <p:cNvPr id="34" name="Text 28"/>
          <p:cNvSpPr txBox="1"/>
          <p:nvPr/>
        </p:nvSpPr>
        <p:spPr>
          <a:xfrm>
            <a:off x="9569196" y="1417320"/>
            <a:ext cx="548640" cy="640080"/>
          </a:xfrm>
          <a:prstGeom prst="rect">
            <a:avLst/>
          </a:prstGeom>
          <a:noFill/>
          <a:ln/>
        </p:spPr>
        <p:txBody>
          <a:bodyPr wrap="square" lIns="0" tIns="0" rIns="0" bIns="0" rtlCol="0" anchor="ctr"/>
          <a:lstStyle/>
          <a:p>
            <a:pPr algn="l" indent="0" marL="0">
              <a:buNone/>
            </a:pPr>
            <a:r>
              <a:rPr lang="en-US" sz="3600" b="1" dirty="0">
                <a:solidFill>
                  <a:srgbClr val="B57FCB"/>
                </a:solidFill>
                <a:latin typeface="Calibri" pitchFamily="34" charset="0"/>
                <a:ea typeface="Calibri" pitchFamily="34" charset="-122"/>
                <a:cs typeface="Calibri" pitchFamily="34" charset="-120"/>
              </a:rPr>
              <a:t>4</a:t>
            </a:r>
            <a:endParaRPr lang="en-US" sz="3600" dirty="0"/>
          </a:p>
        </p:txBody>
      </p:sp>
      <p:sp>
        <p:nvSpPr>
          <p:cNvPr id="35" name="Text 29"/>
          <p:cNvSpPr txBox="1"/>
          <p:nvPr/>
        </p:nvSpPr>
        <p:spPr>
          <a:xfrm>
            <a:off x="9569196" y="2057400"/>
            <a:ext cx="2043684" cy="411480"/>
          </a:xfrm>
          <a:prstGeom prst="rect">
            <a:avLst/>
          </a:prstGeom>
          <a:noFill/>
          <a:ln/>
        </p:spPr>
        <p:txBody>
          <a:bodyPr wrap="square" lIns="0" tIns="0" rIns="0" bIns="0" rtlCol="0" anchor="ctr"/>
          <a:lstStyle/>
          <a:p>
            <a:pPr algn="l" indent="0" marL="0">
              <a:buNone/>
            </a:pPr>
            <a:r>
              <a:rPr lang="en-US" sz="1700" b="1" dirty="0">
                <a:solidFill>
                  <a:srgbClr val="7E4C97"/>
                </a:solidFill>
                <a:latin typeface="Calibri" pitchFamily="34" charset="0"/>
                <a:ea typeface="Calibri" pitchFamily="34" charset="-122"/>
                <a:cs typeface="Calibri" pitchFamily="34" charset="-120"/>
              </a:rPr>
              <a:t>Situations</a:t>
            </a:r>
            <a:endParaRPr lang="en-US" sz="1700" dirty="0"/>
          </a:p>
        </p:txBody>
      </p:sp>
      <p:sp>
        <p:nvSpPr>
          <p:cNvPr id="36" name="Text 30"/>
          <p:cNvSpPr txBox="1"/>
          <p:nvPr/>
        </p:nvSpPr>
        <p:spPr>
          <a:xfrm>
            <a:off x="9569196" y="2450592"/>
            <a:ext cx="2043684" cy="320040"/>
          </a:xfrm>
          <a:prstGeom prst="rect">
            <a:avLst/>
          </a:prstGeom>
          <a:noFill/>
          <a:ln/>
        </p:spPr>
        <p:txBody>
          <a:bodyPr wrap="square" lIns="0" tIns="0" rIns="0" bIns="0" rtlCol="0" anchor="ctr"/>
          <a:lstStyle/>
          <a:p>
            <a:pPr algn="l" indent="0" marL="0">
              <a:buNone/>
            </a:pPr>
            <a:r>
              <a:rPr lang="en-US" sz="1300" i="1" dirty="0">
                <a:solidFill>
                  <a:srgbClr val="6B7280"/>
                </a:solidFill>
                <a:latin typeface="Calibri" pitchFamily="34" charset="0"/>
                <a:ea typeface="Calibri" pitchFamily="34" charset="-122"/>
                <a:cs typeface="Calibri" pitchFamily="34" charset="-120"/>
              </a:rPr>
              <a:t>dialoog &amp; rollenspel</a:t>
            </a:r>
            <a:endParaRPr lang="en-US" sz="1300" dirty="0"/>
          </a:p>
        </p:txBody>
      </p:sp>
      <p:sp>
        <p:nvSpPr>
          <p:cNvPr id="37" name="Shape 31"/>
          <p:cNvSpPr/>
          <p:nvPr/>
        </p:nvSpPr>
        <p:spPr>
          <a:xfrm>
            <a:off x="9578340" y="2843784"/>
            <a:ext cx="2025396" cy="1293305"/>
          </a:xfrm>
          <a:prstGeom prst="roundRect">
            <a:avLst>
              <a:gd name="adj" fmla="val 2828"/>
            </a:avLst>
          </a:prstGeom>
          <a:solidFill>
            <a:srgbClr val="FFFFFF"/>
          </a:solidFill>
          <a:ln w="9525">
            <a:solidFill>
              <a:srgbClr val="E3E7EE"/>
            </a:solidFill>
            <a:prstDash val="solid"/>
          </a:ln>
          <a:effectLst>
            <a:outerShdw sx="100000" sy="100000" kx="0" ky="0" algn="bl" rotWithShape="0" blurRad="63500" dist="25400" dir="5400000">
              <a:srgbClr val="1B2430">
                <a:alpha val="25000"/>
              </a:srgbClr>
            </a:outerShdw>
          </a:effectLst>
        </p:spPr>
      </p:sp>
      <p:pic>
        <p:nvPicPr>
          <p:cNvPr id="38" name="Image 3" descr="/home/user/talenleren/neerlandais1/generateur/img/vijfzinnen/a1_uitzendbureau_s.jpg">    </p:cNvPr>
          <p:cNvPicPr>
            <a:picLocks noChangeAspect="1"/>
          </p:cNvPicPr>
          <p:nvPr/>
        </p:nvPicPr>
        <p:blipFill>
          <a:blip r:embed="rId4"/>
          <a:stretch>
            <a:fillRect/>
          </a:stretch>
        </p:blipFill>
        <p:spPr>
          <a:xfrm>
            <a:off x="9614916" y="2880360"/>
            <a:ext cx="1952244" cy="1220152"/>
          </a:xfrm>
          <a:prstGeom prst="rect">
            <a:avLst/>
          </a:prstGeom>
        </p:spPr>
      </p:pic>
      <p:sp>
        <p:nvSpPr>
          <p:cNvPr id="39" name="Text 32"/>
          <p:cNvSpPr txBox="1"/>
          <p:nvPr/>
        </p:nvSpPr>
        <p:spPr>
          <a:xfrm>
            <a:off x="9569196" y="4206240"/>
            <a:ext cx="2043684" cy="347472"/>
          </a:xfrm>
          <a:prstGeom prst="rect">
            <a:avLst/>
          </a:prstGeom>
          <a:noFill/>
          <a:ln/>
        </p:spPr>
        <p:txBody>
          <a:bodyPr wrap="square" lIns="0" tIns="0" rIns="0" bIns="0" rtlCol="0" anchor="ctr"/>
          <a:lstStyle/>
          <a:p>
            <a:pPr algn="l" indent="0" marL="0">
              <a:buNone/>
            </a:pPr>
            <a:r>
              <a:rPr lang="en-US" sz="1500" b="1" dirty="0">
                <a:solidFill>
                  <a:srgbClr val="2B2F38"/>
                </a:solidFill>
                <a:latin typeface="Calibri" pitchFamily="34" charset="0"/>
                <a:ea typeface="Calibri" pitchFamily="34" charset="-122"/>
                <a:cs typeface="Calibri" pitchFamily="34" charset="-120"/>
              </a:rPr>
              <a:t>10 productions</a:t>
            </a:r>
            <a:endParaRPr lang="en-US" sz="1500" dirty="0"/>
          </a:p>
        </p:txBody>
      </p:sp>
      <p:sp>
        <p:nvSpPr>
          <p:cNvPr id="40" name="Text 33"/>
          <p:cNvSpPr txBox="1"/>
          <p:nvPr/>
        </p:nvSpPr>
        <p:spPr>
          <a:xfrm>
            <a:off x="9569196" y="4526280"/>
            <a:ext cx="2043684" cy="292608"/>
          </a:xfrm>
          <a:prstGeom prst="rect">
            <a:avLst/>
          </a:prstGeom>
          <a:noFill/>
          <a:ln/>
        </p:spPr>
        <p:txBody>
          <a:bodyPr wrap="square" lIns="0" tIns="0" rIns="0" bIns="0" rtlCol="0" anchor="ctr"/>
          <a:lstStyle/>
          <a:p>
            <a:pPr algn="l" indent="0" marL="0">
              <a:buNone/>
            </a:pPr>
            <a:r>
              <a:rPr lang="en-US" sz="1300" dirty="0">
                <a:solidFill>
                  <a:srgbClr val="6B7280"/>
                </a:solidFill>
                <a:latin typeface="Calibri" pitchFamily="34" charset="0"/>
                <a:ea typeface="Calibri" pitchFamily="34" charset="-122"/>
                <a:cs typeface="Calibri" pitchFamily="34" charset="-120"/>
              </a:rPr>
              <a:t>4 · 5 phrases</a:t>
            </a:r>
            <a:endParaRPr lang="en-US" sz="1300" dirty="0"/>
          </a:p>
        </p:txBody>
      </p:sp>
      <p:sp>
        <p:nvSpPr>
          <p:cNvPr id="41" name="Text 34"/>
          <p:cNvSpPr txBox="1"/>
          <p:nvPr/>
        </p:nvSpPr>
        <p:spPr>
          <a:xfrm>
            <a:off x="9569196" y="4800600"/>
            <a:ext cx="2043684" cy="274320"/>
          </a:xfrm>
          <a:prstGeom prst="rect">
            <a:avLst/>
          </a:prstGeom>
          <a:noFill/>
          <a:ln/>
        </p:spPr>
        <p:txBody>
          <a:bodyPr wrap="square" lIns="0" tIns="0" rIns="0" bIns="0" rtlCol="0" anchor="ctr"/>
          <a:lstStyle/>
          <a:p>
            <a:pPr algn="l" indent="0" marL="0">
              <a:buNone/>
            </a:pPr>
            <a:r>
              <a:rPr lang="en-US" sz="1050" i="1" dirty="0">
                <a:solidFill>
                  <a:srgbClr val="6B7280"/>
                </a:solidFill>
                <a:latin typeface="Calibri" pitchFamily="34" charset="0"/>
                <a:ea typeface="Calibri" pitchFamily="34" charset="-122"/>
                <a:cs typeface="Calibri" pitchFamily="34" charset="-120"/>
              </a:rPr>
              <a:t>syllabus, section 4 · p. 92 – 100</a:t>
            </a:r>
            <a:endParaRPr lang="en-US" sz="1050" dirty="0"/>
          </a:p>
        </p:txBody>
      </p:sp>
      <p:sp>
        <p:nvSpPr>
          <p:cNvPr id="42" name="Shape 35"/>
          <p:cNvSpPr/>
          <p:nvPr/>
        </p:nvSpPr>
        <p:spPr>
          <a:xfrm>
            <a:off x="1554480" y="5349240"/>
            <a:ext cx="10241280" cy="868680"/>
          </a:xfrm>
          <a:prstGeom prst="roundRect">
            <a:avLst>
              <a:gd name="adj" fmla="val 12632"/>
            </a:avLst>
          </a:prstGeom>
          <a:solidFill>
            <a:srgbClr val="FFFFFF"/>
          </a:solidFill>
          <a:ln w="12700">
            <a:solidFill>
              <a:srgbClr val="E3E7EE"/>
            </a:solidFill>
            <a:prstDash val="solid"/>
          </a:ln>
          <a:effectLst>
            <a:outerShdw sx="100000" sy="100000" kx="0" ky="0" algn="bl" rotWithShape="0" blurRad="101600" dist="38100" dir="5400000">
              <a:srgbClr val="1B2430">
                <a:alpha val="10000"/>
              </a:srgbClr>
            </a:outerShdw>
          </a:effectLst>
        </p:spPr>
      </p:sp>
      <p:pic>
        <p:nvPicPr>
          <p:cNvPr id="43" name="Image 4" descr="ShoePrints">    </p:cNvPr>
          <p:cNvPicPr>
            <a:picLocks noChangeAspect="1"/>
          </p:cNvPicPr>
          <p:nvPr/>
        </p:nvPicPr>
        <p:blipFill>
          <a:blip r:embed="rId5"/>
          <a:stretch>
            <a:fillRect/>
          </a:stretch>
        </p:blipFill>
        <p:spPr>
          <a:xfrm>
            <a:off x="1783080" y="5577840"/>
            <a:ext cx="384048" cy="384048"/>
          </a:xfrm>
          <a:prstGeom prst="rect">
            <a:avLst/>
          </a:prstGeom>
        </p:spPr>
      </p:pic>
      <p:sp>
        <p:nvSpPr>
          <p:cNvPr id="44" name="Text 36"/>
          <p:cNvSpPr txBox="1"/>
          <p:nvPr/>
        </p:nvSpPr>
        <p:spPr>
          <a:xfrm>
            <a:off x="2377440" y="5376672"/>
            <a:ext cx="9235440" cy="822960"/>
          </a:xfrm>
          <a:prstGeom prst="rect">
            <a:avLst/>
          </a:prstGeom>
          <a:noFill/>
          <a:ln/>
        </p:spPr>
        <p:txBody>
          <a:bodyPr wrap="square" lIns="0" tIns="0" rIns="0" bIns="0" rtlCol="0" anchor="ctr"/>
          <a:lstStyle/>
          <a:p>
            <a:pPr algn="l" indent="0" marL="0">
              <a:buNone/>
            </a:pPr>
            <a:r>
              <a:rPr lang="en-US" sz="1400" dirty="0">
                <a:solidFill>
                  <a:srgbClr val="2B2F38"/>
                </a:solidFill>
              </a:rPr>
              <a:t>Chaque production reprend les </a:t>
            </a:r>
            <a:r>
              <a:rPr lang="en-US" sz="1400" b="1" dirty="0">
                <a:solidFill>
                  <a:srgbClr val="2B2F38"/>
                </a:solidFill>
              </a:rPr>
              <a:t>blocs</a:t>
            </a:r>
            <a:r>
              <a:rPr lang="en-US" sz="1400" dirty="0">
                <a:solidFill>
                  <a:srgbClr val="2B2F38"/>
                </a:solidFill>
              </a:rPr>
              <a:t> du syllabus (zinnenbouwer). On commence à </a:t>
            </a:r>
            <a:r>
              <a:rPr lang="en-US" sz="1400" b="1" dirty="0">
                <a:solidFill>
                  <a:srgbClr val="2B2F38"/>
                </a:solidFill>
              </a:rPr>
              <a:t>3 phrases</a:t>
            </a:r>
            <a:r>
              <a:rPr lang="en-US" sz="1400" dirty="0">
                <a:solidFill>
                  <a:srgbClr val="2B2F38"/>
                </a:solidFill>
              </a:rPr>
              <a:t>, on monte à </a:t>
            </a:r>
            <a:r>
              <a:rPr lang="en-US" sz="1400" b="1" dirty="0">
                <a:solidFill>
                  <a:srgbClr val="2B2F38"/>
                </a:solidFill>
              </a:rPr>
              <a:t>4</a:t>
            </a:r>
            <a:r>
              <a:rPr lang="en-US" sz="1400" dirty="0">
                <a:solidFill>
                  <a:srgbClr val="2B2F38"/>
                </a:solidFill>
              </a:rPr>
              <a:t>, puis à </a:t>
            </a:r>
            <a:r>
              <a:rPr lang="en-US" sz="1400" b="1" dirty="0">
                <a:solidFill>
                  <a:srgbClr val="2B2F38"/>
                </a:solidFill>
              </a:rPr>
              <a:t>5</a:t>
            </a:r>
            <a:r>
              <a:rPr lang="en-US" sz="1400" dirty="0">
                <a:solidFill>
                  <a:srgbClr val="2B2F38"/>
                </a:solidFill>
              </a:rPr>
              <a:t> pour la synthèse de chaque palier. La dernière phrase est toujours une </a:t>
            </a:r>
            <a:r>
              <a:rPr lang="en-US" sz="1400" b="1" dirty="0">
                <a:solidFill>
                  <a:srgbClr val="2B2F38"/>
                </a:solidFill>
              </a:rPr>
              <a:t>chute</a:t>
            </a:r>
            <a:r>
              <a:rPr lang="en-US" sz="1400" dirty="0">
                <a:solidFill>
                  <a:srgbClr val="2B2F38"/>
                </a:solidFill>
              </a:rPr>
              <a:t>.</a:t>
            </a:r>
            <a:endParaRPr lang="en-US" sz="1400" dirty="0"/>
          </a:p>
        </p:txBody>
      </p:sp>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1554480" y="384048"/>
            <a:ext cx="10241280" cy="658368"/>
          </a:xfrm>
          <a:prstGeom prst="rect">
            <a:avLst/>
          </a:prstGeom>
          <a:noFill/>
          <a:ln/>
        </p:spPr>
        <p:txBody>
          <a:bodyPr wrap="square" lIns="0" tIns="0" rIns="0" bIns="0" rtlCol="0" anchor="ctr"/>
          <a:lstStyle/>
          <a:p>
            <a:pPr algn="ctr" indent="0" marL="0">
              <a:buNone/>
            </a:pPr>
            <a:r>
              <a:rPr lang="en-US" sz="3000" b="1" dirty="0">
                <a:solidFill>
                  <a:srgbClr val="2B2F38"/>
                </a:solidFill>
              </a:rPr>
              <a:t>Évaluer une production : la grille sur 10</a:t>
            </a:r>
            <a:endParaRPr lang="en-US" sz="3000" dirty="0"/>
          </a:p>
        </p:txBody>
      </p:sp>
      <p:sp>
        <p:nvSpPr>
          <p:cNvPr id="4" name="Shape 1"/>
          <p:cNvSpPr/>
          <p:nvPr/>
        </p:nvSpPr>
        <p:spPr>
          <a:xfrm>
            <a:off x="365760" y="365760"/>
            <a:ext cx="868680" cy="5989320"/>
          </a:xfrm>
          <a:prstGeom prst="roundRect">
            <a:avLst>
              <a:gd name="adj" fmla="val 12632"/>
            </a:avLst>
          </a:prstGeom>
          <a:solidFill>
            <a:srgbClr val="EEF1F6"/>
          </a:solidFill>
          <a:ln w="28575">
            <a:solidFill>
              <a:srgbClr val="9AA6B8"/>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4A5568"/>
                </a:solidFill>
                <a:latin typeface="Calibri" pitchFamily="34" charset="0"/>
                <a:ea typeface="Calibri" pitchFamily="34" charset="-122"/>
                <a:cs typeface="Calibri" pitchFamily="34" charset="-120"/>
              </a:rPr>
              <a:t>Évaluation</a:t>
            </a:r>
            <a:endParaRPr lang="en-US" sz="3800" dirty="0"/>
          </a:p>
        </p:txBody>
      </p:sp>
      <p:sp>
        <p:nvSpPr>
          <p:cNvPr id="6" name="Shape 3"/>
          <p:cNvSpPr/>
          <p:nvPr/>
        </p:nvSpPr>
        <p:spPr>
          <a:xfrm>
            <a:off x="1554480" y="1417320"/>
            <a:ext cx="7955280" cy="713232"/>
          </a:xfrm>
          <a:prstGeom prst="roundRect">
            <a:avLst>
              <a:gd name="adj" fmla="val 15385"/>
            </a:avLst>
          </a:prstGeom>
          <a:solidFill>
            <a:srgbClr val="FFFFFF"/>
          </a:solidFill>
          <a:ln w="12700">
            <a:solidFill>
              <a:srgbClr val="E3E7EE"/>
            </a:solidFill>
            <a:prstDash val="solid"/>
          </a:ln>
          <a:effectLst>
            <a:outerShdw sx="100000" sy="100000" kx="0" ky="0" algn="bl" rotWithShape="0" blurRad="101600" dist="38100" dir="5400000">
              <a:srgbClr val="1B2430">
                <a:alpha val="10000"/>
              </a:srgbClr>
            </a:outerShdw>
          </a:effectLst>
        </p:spPr>
      </p:sp>
      <p:sp>
        <p:nvSpPr>
          <p:cNvPr id="7" name="Shape 4"/>
          <p:cNvSpPr/>
          <p:nvPr/>
        </p:nvSpPr>
        <p:spPr>
          <a:xfrm>
            <a:off x="1691640" y="1554480"/>
            <a:ext cx="438912" cy="438912"/>
          </a:xfrm>
          <a:prstGeom prst="roundRect">
            <a:avLst>
              <a:gd name="adj" fmla="val 50000"/>
            </a:avLst>
          </a:prstGeom>
          <a:solidFill>
            <a:srgbClr val="5FA873"/>
          </a:solidFill>
          <a:ln w="12700">
            <a:solidFill>
              <a:srgbClr val="FFFFFF">
                <a:alpha val="0"/>
              </a:srgbClr>
            </a:solidFill>
            <a:prstDash val="solid"/>
          </a:ln>
        </p:spPr>
      </p:sp>
      <p:sp>
        <p:nvSpPr>
          <p:cNvPr id="8" name="Text 5"/>
          <p:cNvSpPr txBox="1"/>
          <p:nvPr/>
        </p:nvSpPr>
        <p:spPr>
          <a:xfrm>
            <a:off x="2286000" y="1417320"/>
            <a:ext cx="2194560" cy="713232"/>
          </a:xfrm>
          <a:prstGeom prst="rect">
            <a:avLst/>
          </a:prstGeom>
          <a:noFill/>
          <a:ln/>
        </p:spPr>
        <p:txBody>
          <a:bodyPr wrap="square" lIns="0" tIns="0" rIns="0" bIns="0" rtlCol="0" anchor="ctr"/>
          <a:lstStyle/>
          <a:p>
            <a:pPr algn="l" indent="0" marL="0">
              <a:buNone/>
            </a:pPr>
            <a:r>
              <a:rPr lang="en-US" sz="1700" b="1" dirty="0">
                <a:solidFill>
                  <a:srgbClr val="5FA873"/>
                </a:solidFill>
                <a:latin typeface="Calibri" pitchFamily="34" charset="0"/>
                <a:ea typeface="Calibri" pitchFamily="34" charset="-122"/>
                <a:cs typeface="Calibri" pitchFamily="34" charset="-120"/>
              </a:rPr>
              <a:t>Consignes</a:t>
            </a:r>
            <a:endParaRPr lang="en-US" sz="1700" dirty="0"/>
          </a:p>
        </p:txBody>
      </p:sp>
      <p:sp>
        <p:nvSpPr>
          <p:cNvPr id="9" name="Text 6"/>
          <p:cNvSpPr txBox="1"/>
          <p:nvPr/>
        </p:nvSpPr>
        <p:spPr>
          <a:xfrm>
            <a:off x="4480560" y="1417320"/>
            <a:ext cx="4023360" cy="713232"/>
          </a:xfrm>
          <a:prstGeom prst="rect">
            <a:avLst/>
          </a:prstGeom>
          <a:noFill/>
          <a:ln/>
        </p:spPr>
        <p:txBody>
          <a:bodyPr wrap="square" lIns="0" tIns="0" rIns="0" bIns="0" rtlCol="0" anchor="ctr"/>
          <a:lstStyle/>
          <a:p>
            <a:pPr algn="l" indent="0" marL="0">
              <a:buNone/>
            </a:pPr>
            <a:r>
              <a:rPr lang="en-US" sz="1350" dirty="0">
                <a:solidFill>
                  <a:srgbClr val="6B7280"/>
                </a:solidFill>
                <a:latin typeface="Calibri" pitchFamily="34" charset="0"/>
                <a:ea typeface="Calibri" pitchFamily="34" charset="-122"/>
                <a:cs typeface="Calibri" pitchFamily="34" charset="-120"/>
              </a:rPr>
              <a:t>toutes les consignes sont présentes (3, 4 ou 5 : on ramène sur 4 points)</a:t>
            </a:r>
            <a:endParaRPr lang="en-US" sz="1350" dirty="0"/>
          </a:p>
        </p:txBody>
      </p:sp>
      <p:sp>
        <p:nvSpPr>
          <p:cNvPr id="10" name="Text 7"/>
          <p:cNvSpPr txBox="1"/>
          <p:nvPr/>
        </p:nvSpPr>
        <p:spPr>
          <a:xfrm>
            <a:off x="8549640" y="1417320"/>
            <a:ext cx="822960" cy="713232"/>
          </a:xfrm>
          <a:prstGeom prst="rect">
            <a:avLst/>
          </a:prstGeom>
          <a:noFill/>
          <a:ln/>
        </p:spPr>
        <p:txBody>
          <a:bodyPr wrap="square" lIns="0" tIns="0" rIns="0" bIns="0" rtlCol="0" anchor="ctr"/>
          <a:lstStyle/>
          <a:p>
            <a:pPr algn="r" indent="0" marL="0">
              <a:buNone/>
            </a:pPr>
            <a:r>
              <a:rPr lang="en-US" sz="1700" b="1" dirty="0">
                <a:solidFill>
                  <a:srgbClr val="5FA873"/>
                </a:solidFill>
                <a:latin typeface="Calibri" pitchFamily="34" charset="0"/>
                <a:ea typeface="Calibri" pitchFamily="34" charset="-122"/>
                <a:cs typeface="Calibri" pitchFamily="34" charset="-120"/>
              </a:rPr>
              <a:t>4 pts</a:t>
            </a:r>
            <a:endParaRPr lang="en-US" sz="1700" dirty="0"/>
          </a:p>
        </p:txBody>
      </p:sp>
      <p:sp>
        <p:nvSpPr>
          <p:cNvPr id="11" name="Shape 8"/>
          <p:cNvSpPr/>
          <p:nvPr/>
        </p:nvSpPr>
        <p:spPr>
          <a:xfrm>
            <a:off x="1554480" y="2258568"/>
            <a:ext cx="7955280" cy="713232"/>
          </a:xfrm>
          <a:prstGeom prst="roundRect">
            <a:avLst>
              <a:gd name="adj" fmla="val 15385"/>
            </a:avLst>
          </a:prstGeom>
          <a:solidFill>
            <a:srgbClr val="FFFFFF"/>
          </a:solidFill>
          <a:ln w="12700">
            <a:solidFill>
              <a:srgbClr val="E3E7EE"/>
            </a:solidFill>
            <a:prstDash val="solid"/>
          </a:ln>
          <a:effectLst>
            <a:outerShdw sx="100000" sy="100000" kx="0" ky="0" algn="bl" rotWithShape="0" blurRad="101600" dist="38100" dir="5400000">
              <a:srgbClr val="1B2430">
                <a:alpha val="10000"/>
              </a:srgbClr>
            </a:outerShdw>
          </a:effectLst>
        </p:spPr>
      </p:sp>
      <p:sp>
        <p:nvSpPr>
          <p:cNvPr id="12" name="Shape 9"/>
          <p:cNvSpPr/>
          <p:nvPr/>
        </p:nvSpPr>
        <p:spPr>
          <a:xfrm>
            <a:off x="1691640" y="2395728"/>
            <a:ext cx="438912" cy="438912"/>
          </a:xfrm>
          <a:prstGeom prst="roundRect">
            <a:avLst>
              <a:gd name="adj" fmla="val 50000"/>
            </a:avLst>
          </a:prstGeom>
          <a:solidFill>
            <a:srgbClr val="4A7BD0"/>
          </a:solidFill>
          <a:ln w="12700">
            <a:solidFill>
              <a:srgbClr val="FFFFFF">
                <a:alpha val="0"/>
              </a:srgbClr>
            </a:solidFill>
            <a:prstDash val="solid"/>
          </a:ln>
        </p:spPr>
      </p:sp>
      <p:sp>
        <p:nvSpPr>
          <p:cNvPr id="13" name="Text 10"/>
          <p:cNvSpPr txBox="1"/>
          <p:nvPr/>
        </p:nvSpPr>
        <p:spPr>
          <a:xfrm>
            <a:off x="2286000" y="2258568"/>
            <a:ext cx="2194560" cy="713232"/>
          </a:xfrm>
          <a:prstGeom prst="rect">
            <a:avLst/>
          </a:prstGeom>
          <a:noFill/>
          <a:ln/>
        </p:spPr>
        <p:txBody>
          <a:bodyPr wrap="square" lIns="0" tIns="0" rIns="0" bIns="0" rtlCol="0" anchor="ctr"/>
          <a:lstStyle/>
          <a:p>
            <a:pPr algn="l" indent="0" marL="0">
              <a:buNone/>
            </a:pPr>
            <a:r>
              <a:rPr lang="en-US" sz="1700" b="1" dirty="0">
                <a:solidFill>
                  <a:srgbClr val="4A7BD0"/>
                </a:solidFill>
                <a:latin typeface="Calibri" pitchFamily="34" charset="0"/>
                <a:ea typeface="Calibri" pitchFamily="34" charset="-122"/>
                <a:cs typeface="Calibri" pitchFamily="34" charset="-120"/>
              </a:rPr>
              <a:t>Correction</a:t>
            </a:r>
            <a:endParaRPr lang="en-US" sz="1700" dirty="0"/>
          </a:p>
        </p:txBody>
      </p:sp>
      <p:sp>
        <p:nvSpPr>
          <p:cNvPr id="14" name="Text 11"/>
          <p:cNvSpPr txBox="1"/>
          <p:nvPr/>
        </p:nvSpPr>
        <p:spPr>
          <a:xfrm>
            <a:off x="4480560" y="2258568"/>
            <a:ext cx="4023360" cy="713232"/>
          </a:xfrm>
          <a:prstGeom prst="rect">
            <a:avLst/>
          </a:prstGeom>
          <a:noFill/>
          <a:ln/>
        </p:spPr>
        <p:txBody>
          <a:bodyPr wrap="square" lIns="0" tIns="0" rIns="0" bIns="0" rtlCol="0" anchor="ctr"/>
          <a:lstStyle/>
          <a:p>
            <a:pPr algn="l" indent="0" marL="0">
              <a:buNone/>
            </a:pPr>
            <a:r>
              <a:rPr lang="en-US" sz="1350" dirty="0">
                <a:solidFill>
                  <a:srgbClr val="6B7280"/>
                </a:solidFill>
                <a:latin typeface="Calibri" pitchFamily="34" charset="0"/>
                <a:ea typeface="Calibri" pitchFamily="34" charset="-122"/>
                <a:cs typeface="Calibri" pitchFamily="34" charset="-120"/>
              </a:rPr>
              <a:t>zijn / hebben, le verbe en 2e place, de / het, niet / geen</a:t>
            </a:r>
            <a:endParaRPr lang="en-US" sz="1350" dirty="0"/>
          </a:p>
        </p:txBody>
      </p:sp>
      <p:sp>
        <p:nvSpPr>
          <p:cNvPr id="15" name="Text 12"/>
          <p:cNvSpPr txBox="1"/>
          <p:nvPr/>
        </p:nvSpPr>
        <p:spPr>
          <a:xfrm>
            <a:off x="8549640" y="2258568"/>
            <a:ext cx="822960" cy="713232"/>
          </a:xfrm>
          <a:prstGeom prst="rect">
            <a:avLst/>
          </a:prstGeom>
          <a:noFill/>
          <a:ln/>
        </p:spPr>
        <p:txBody>
          <a:bodyPr wrap="square" lIns="0" tIns="0" rIns="0" bIns="0" rtlCol="0" anchor="ctr"/>
          <a:lstStyle/>
          <a:p>
            <a:pPr algn="r" indent="0" marL="0">
              <a:buNone/>
            </a:pPr>
            <a:r>
              <a:rPr lang="en-US" sz="1700" b="1" dirty="0">
                <a:solidFill>
                  <a:srgbClr val="4A7BD0"/>
                </a:solidFill>
                <a:latin typeface="Calibri" pitchFamily="34" charset="0"/>
                <a:ea typeface="Calibri" pitchFamily="34" charset="-122"/>
                <a:cs typeface="Calibri" pitchFamily="34" charset="-120"/>
              </a:rPr>
              <a:t>3 pts</a:t>
            </a:r>
            <a:endParaRPr lang="en-US" sz="1700" dirty="0"/>
          </a:p>
        </p:txBody>
      </p:sp>
      <p:sp>
        <p:nvSpPr>
          <p:cNvPr id="16" name="Shape 13"/>
          <p:cNvSpPr/>
          <p:nvPr/>
        </p:nvSpPr>
        <p:spPr>
          <a:xfrm>
            <a:off x="1554480" y="3099816"/>
            <a:ext cx="7955280" cy="713232"/>
          </a:xfrm>
          <a:prstGeom prst="roundRect">
            <a:avLst>
              <a:gd name="adj" fmla="val 15385"/>
            </a:avLst>
          </a:prstGeom>
          <a:solidFill>
            <a:srgbClr val="FFFFFF"/>
          </a:solidFill>
          <a:ln w="12700">
            <a:solidFill>
              <a:srgbClr val="E3E7EE"/>
            </a:solidFill>
            <a:prstDash val="solid"/>
          </a:ln>
          <a:effectLst>
            <a:outerShdw sx="100000" sy="100000" kx="0" ky="0" algn="bl" rotWithShape="0" blurRad="101600" dist="38100" dir="5400000">
              <a:srgbClr val="1B2430">
                <a:alpha val="10000"/>
              </a:srgbClr>
            </a:outerShdw>
          </a:effectLst>
        </p:spPr>
      </p:sp>
      <p:sp>
        <p:nvSpPr>
          <p:cNvPr id="17" name="Shape 14"/>
          <p:cNvSpPr/>
          <p:nvPr/>
        </p:nvSpPr>
        <p:spPr>
          <a:xfrm>
            <a:off x="1691640" y="3236976"/>
            <a:ext cx="438912" cy="438912"/>
          </a:xfrm>
          <a:prstGeom prst="roundRect">
            <a:avLst>
              <a:gd name="adj" fmla="val 50000"/>
            </a:avLst>
          </a:prstGeom>
          <a:solidFill>
            <a:srgbClr val="D9822B"/>
          </a:solidFill>
          <a:ln w="12700">
            <a:solidFill>
              <a:srgbClr val="FFFFFF">
                <a:alpha val="0"/>
              </a:srgbClr>
            </a:solidFill>
            <a:prstDash val="solid"/>
          </a:ln>
        </p:spPr>
      </p:sp>
      <p:sp>
        <p:nvSpPr>
          <p:cNvPr id="18" name="Text 15"/>
          <p:cNvSpPr txBox="1"/>
          <p:nvPr/>
        </p:nvSpPr>
        <p:spPr>
          <a:xfrm>
            <a:off x="2286000" y="3099816"/>
            <a:ext cx="2194560" cy="713232"/>
          </a:xfrm>
          <a:prstGeom prst="rect">
            <a:avLst/>
          </a:prstGeom>
          <a:noFill/>
          <a:ln/>
        </p:spPr>
        <p:txBody>
          <a:bodyPr wrap="square" lIns="0" tIns="0" rIns="0" bIns="0" rtlCol="0" anchor="ctr"/>
          <a:lstStyle/>
          <a:p>
            <a:pPr algn="l" indent="0" marL="0">
              <a:buNone/>
            </a:pPr>
            <a:r>
              <a:rPr lang="en-US" sz="1700" b="1" dirty="0">
                <a:solidFill>
                  <a:srgbClr val="D9822B"/>
                </a:solidFill>
                <a:latin typeface="Calibri" pitchFamily="34" charset="0"/>
                <a:ea typeface="Calibri" pitchFamily="34" charset="-122"/>
                <a:cs typeface="Calibri" pitchFamily="34" charset="-120"/>
              </a:rPr>
              <a:t>Vocabulaire</a:t>
            </a:r>
            <a:endParaRPr lang="en-US" sz="1700" dirty="0"/>
          </a:p>
        </p:txBody>
      </p:sp>
      <p:sp>
        <p:nvSpPr>
          <p:cNvPr id="19" name="Text 16"/>
          <p:cNvSpPr txBox="1"/>
          <p:nvPr/>
        </p:nvSpPr>
        <p:spPr>
          <a:xfrm>
            <a:off x="4480560" y="3099816"/>
            <a:ext cx="4023360" cy="713232"/>
          </a:xfrm>
          <a:prstGeom prst="rect">
            <a:avLst/>
          </a:prstGeom>
          <a:noFill/>
          <a:ln/>
        </p:spPr>
        <p:txBody>
          <a:bodyPr wrap="square" lIns="0" tIns="0" rIns="0" bIns="0" rtlCol="0" anchor="ctr"/>
          <a:lstStyle/>
          <a:p>
            <a:pPr algn="l" indent="0" marL="0">
              <a:buNone/>
            </a:pPr>
            <a:r>
              <a:rPr lang="en-US" sz="1350" dirty="0">
                <a:solidFill>
                  <a:srgbClr val="6B7280"/>
                </a:solidFill>
                <a:latin typeface="Calibri" pitchFamily="34" charset="0"/>
                <a:ea typeface="Calibri" pitchFamily="34" charset="-122"/>
                <a:cs typeface="Calibri" pitchFamily="34" charset="-120"/>
              </a:rPr>
              <a:t>les mots du syllabus, bien choisis</a:t>
            </a:r>
            <a:endParaRPr lang="en-US" sz="1350" dirty="0"/>
          </a:p>
        </p:txBody>
      </p:sp>
      <p:sp>
        <p:nvSpPr>
          <p:cNvPr id="20" name="Text 17"/>
          <p:cNvSpPr txBox="1"/>
          <p:nvPr/>
        </p:nvSpPr>
        <p:spPr>
          <a:xfrm>
            <a:off x="8549640" y="3099816"/>
            <a:ext cx="822960" cy="713232"/>
          </a:xfrm>
          <a:prstGeom prst="rect">
            <a:avLst/>
          </a:prstGeom>
          <a:noFill/>
          <a:ln/>
        </p:spPr>
        <p:txBody>
          <a:bodyPr wrap="square" lIns="0" tIns="0" rIns="0" bIns="0" rtlCol="0" anchor="ctr"/>
          <a:lstStyle/>
          <a:p>
            <a:pPr algn="r" indent="0" marL="0">
              <a:buNone/>
            </a:pPr>
            <a:r>
              <a:rPr lang="en-US" sz="1700" b="1" dirty="0">
                <a:solidFill>
                  <a:srgbClr val="D9822B"/>
                </a:solidFill>
                <a:latin typeface="Calibri" pitchFamily="34" charset="0"/>
                <a:ea typeface="Calibri" pitchFamily="34" charset="-122"/>
                <a:cs typeface="Calibri" pitchFamily="34" charset="-120"/>
              </a:rPr>
              <a:t>1 pt</a:t>
            </a:r>
            <a:endParaRPr lang="en-US" sz="1700" dirty="0"/>
          </a:p>
        </p:txBody>
      </p:sp>
      <p:sp>
        <p:nvSpPr>
          <p:cNvPr id="21" name="Shape 18"/>
          <p:cNvSpPr/>
          <p:nvPr/>
        </p:nvSpPr>
        <p:spPr>
          <a:xfrm>
            <a:off x="1554480" y="3941064"/>
            <a:ext cx="7955280" cy="713232"/>
          </a:xfrm>
          <a:prstGeom prst="roundRect">
            <a:avLst>
              <a:gd name="adj" fmla="val 15385"/>
            </a:avLst>
          </a:prstGeom>
          <a:solidFill>
            <a:srgbClr val="FFFFFF"/>
          </a:solidFill>
          <a:ln w="12700">
            <a:solidFill>
              <a:srgbClr val="E3E7EE"/>
            </a:solidFill>
            <a:prstDash val="solid"/>
          </a:ln>
          <a:effectLst>
            <a:outerShdw sx="100000" sy="100000" kx="0" ky="0" algn="bl" rotWithShape="0" blurRad="101600" dist="38100" dir="5400000">
              <a:srgbClr val="1B2430">
                <a:alpha val="10000"/>
              </a:srgbClr>
            </a:outerShdw>
          </a:effectLst>
        </p:spPr>
      </p:sp>
      <p:sp>
        <p:nvSpPr>
          <p:cNvPr id="22" name="Shape 19"/>
          <p:cNvSpPr/>
          <p:nvPr/>
        </p:nvSpPr>
        <p:spPr>
          <a:xfrm>
            <a:off x="1691640" y="4078224"/>
            <a:ext cx="438912" cy="438912"/>
          </a:xfrm>
          <a:prstGeom prst="roundRect">
            <a:avLst>
              <a:gd name="adj" fmla="val 50000"/>
            </a:avLst>
          </a:prstGeom>
          <a:solidFill>
            <a:srgbClr val="8E6CC8"/>
          </a:solidFill>
          <a:ln w="12700">
            <a:solidFill>
              <a:srgbClr val="FFFFFF">
                <a:alpha val="0"/>
              </a:srgbClr>
            </a:solidFill>
            <a:prstDash val="solid"/>
          </a:ln>
        </p:spPr>
      </p:sp>
      <p:sp>
        <p:nvSpPr>
          <p:cNvPr id="23" name="Text 20"/>
          <p:cNvSpPr txBox="1"/>
          <p:nvPr/>
        </p:nvSpPr>
        <p:spPr>
          <a:xfrm>
            <a:off x="2286000" y="3941064"/>
            <a:ext cx="2194560" cy="713232"/>
          </a:xfrm>
          <a:prstGeom prst="rect">
            <a:avLst/>
          </a:prstGeom>
          <a:noFill/>
          <a:ln/>
        </p:spPr>
        <p:txBody>
          <a:bodyPr wrap="square" lIns="0" tIns="0" rIns="0" bIns="0" rtlCol="0" anchor="ctr"/>
          <a:lstStyle/>
          <a:p>
            <a:pPr algn="l" indent="0" marL="0">
              <a:buNone/>
            </a:pPr>
            <a:r>
              <a:rPr lang="en-US" sz="1700" b="1" dirty="0">
                <a:solidFill>
                  <a:srgbClr val="8E6CC8"/>
                </a:solidFill>
                <a:latin typeface="Calibri" pitchFamily="34" charset="0"/>
                <a:ea typeface="Calibri" pitchFamily="34" charset="-122"/>
                <a:cs typeface="Calibri" pitchFamily="34" charset="-120"/>
              </a:rPr>
              <a:t>Cohérence</a:t>
            </a:r>
            <a:endParaRPr lang="en-US" sz="1700" dirty="0"/>
          </a:p>
        </p:txBody>
      </p:sp>
      <p:sp>
        <p:nvSpPr>
          <p:cNvPr id="24" name="Text 21"/>
          <p:cNvSpPr txBox="1"/>
          <p:nvPr/>
        </p:nvSpPr>
        <p:spPr>
          <a:xfrm>
            <a:off x="4480560" y="3941064"/>
            <a:ext cx="4023360" cy="713232"/>
          </a:xfrm>
          <a:prstGeom prst="rect">
            <a:avLst/>
          </a:prstGeom>
          <a:noFill/>
          <a:ln/>
        </p:spPr>
        <p:txBody>
          <a:bodyPr wrap="square" lIns="0" tIns="0" rIns="0" bIns="0" rtlCol="0" anchor="ctr"/>
          <a:lstStyle/>
          <a:p>
            <a:pPr algn="l" indent="0" marL="0">
              <a:buNone/>
            </a:pPr>
            <a:r>
              <a:rPr lang="en-US" sz="1350" dirty="0">
                <a:solidFill>
                  <a:srgbClr val="6B7280"/>
                </a:solidFill>
                <a:latin typeface="Calibri" pitchFamily="34" charset="0"/>
                <a:ea typeface="Calibri" pitchFamily="34" charset="-122"/>
                <a:cs typeface="Calibri" pitchFamily="34" charset="-120"/>
              </a:rPr>
              <a:t>les phrases racontent une même scène</a:t>
            </a:r>
            <a:endParaRPr lang="en-US" sz="1350" dirty="0"/>
          </a:p>
        </p:txBody>
      </p:sp>
      <p:sp>
        <p:nvSpPr>
          <p:cNvPr id="25" name="Text 22"/>
          <p:cNvSpPr txBox="1"/>
          <p:nvPr/>
        </p:nvSpPr>
        <p:spPr>
          <a:xfrm>
            <a:off x="8549640" y="3941064"/>
            <a:ext cx="822960" cy="713232"/>
          </a:xfrm>
          <a:prstGeom prst="rect">
            <a:avLst/>
          </a:prstGeom>
          <a:noFill/>
          <a:ln/>
        </p:spPr>
        <p:txBody>
          <a:bodyPr wrap="square" lIns="0" tIns="0" rIns="0" bIns="0" rtlCol="0" anchor="ctr"/>
          <a:lstStyle/>
          <a:p>
            <a:pPr algn="r" indent="0" marL="0">
              <a:buNone/>
            </a:pPr>
            <a:r>
              <a:rPr lang="en-US" sz="1700" b="1" dirty="0">
                <a:solidFill>
                  <a:srgbClr val="8E6CC8"/>
                </a:solidFill>
                <a:latin typeface="Calibri" pitchFamily="34" charset="0"/>
                <a:ea typeface="Calibri" pitchFamily="34" charset="-122"/>
                <a:cs typeface="Calibri" pitchFamily="34" charset="-120"/>
              </a:rPr>
              <a:t>1 pt</a:t>
            </a:r>
            <a:endParaRPr lang="en-US" sz="1700" dirty="0"/>
          </a:p>
        </p:txBody>
      </p:sp>
      <p:sp>
        <p:nvSpPr>
          <p:cNvPr id="26" name="Shape 23"/>
          <p:cNvSpPr/>
          <p:nvPr/>
        </p:nvSpPr>
        <p:spPr>
          <a:xfrm>
            <a:off x="1554480" y="4782312"/>
            <a:ext cx="7955280" cy="713232"/>
          </a:xfrm>
          <a:prstGeom prst="roundRect">
            <a:avLst>
              <a:gd name="adj" fmla="val 15385"/>
            </a:avLst>
          </a:prstGeom>
          <a:solidFill>
            <a:srgbClr val="FFFFFF"/>
          </a:solidFill>
          <a:ln w="12700">
            <a:solidFill>
              <a:srgbClr val="E3E7EE"/>
            </a:solidFill>
            <a:prstDash val="solid"/>
          </a:ln>
          <a:effectLst>
            <a:outerShdw sx="100000" sy="100000" kx="0" ky="0" algn="bl" rotWithShape="0" blurRad="101600" dist="38100" dir="5400000">
              <a:srgbClr val="1B2430">
                <a:alpha val="10000"/>
              </a:srgbClr>
            </a:outerShdw>
          </a:effectLst>
        </p:spPr>
      </p:sp>
      <p:sp>
        <p:nvSpPr>
          <p:cNvPr id="27" name="Shape 24"/>
          <p:cNvSpPr/>
          <p:nvPr/>
        </p:nvSpPr>
        <p:spPr>
          <a:xfrm>
            <a:off x="1691640" y="4919472"/>
            <a:ext cx="438912" cy="438912"/>
          </a:xfrm>
          <a:prstGeom prst="roundRect">
            <a:avLst>
              <a:gd name="adj" fmla="val 50000"/>
            </a:avLst>
          </a:prstGeom>
          <a:solidFill>
            <a:srgbClr val="C2185B"/>
          </a:solidFill>
          <a:ln w="12700">
            <a:solidFill>
              <a:srgbClr val="FFFFFF">
                <a:alpha val="0"/>
              </a:srgbClr>
            </a:solidFill>
            <a:prstDash val="solid"/>
          </a:ln>
        </p:spPr>
      </p:sp>
      <p:sp>
        <p:nvSpPr>
          <p:cNvPr id="28" name="Text 25"/>
          <p:cNvSpPr txBox="1"/>
          <p:nvPr/>
        </p:nvSpPr>
        <p:spPr>
          <a:xfrm>
            <a:off x="2286000" y="4782312"/>
            <a:ext cx="2194560" cy="713232"/>
          </a:xfrm>
          <a:prstGeom prst="rect">
            <a:avLst/>
          </a:prstGeom>
          <a:noFill/>
          <a:ln/>
        </p:spPr>
        <p:txBody>
          <a:bodyPr wrap="square" lIns="0" tIns="0" rIns="0" bIns="0" rtlCol="0" anchor="ctr"/>
          <a:lstStyle/>
          <a:p>
            <a:pPr algn="l" indent="0" marL="0">
              <a:buNone/>
            </a:pPr>
            <a:r>
              <a:rPr lang="en-US" sz="1700" b="1" dirty="0">
                <a:solidFill>
                  <a:srgbClr val="C2185B"/>
                </a:solidFill>
                <a:latin typeface="Calibri" pitchFamily="34" charset="0"/>
                <a:ea typeface="Calibri" pitchFamily="34" charset="-122"/>
                <a:cs typeface="Calibri" pitchFamily="34" charset="-120"/>
              </a:rPr>
              <a:t>Chute</a:t>
            </a:r>
            <a:endParaRPr lang="en-US" sz="1700" dirty="0"/>
          </a:p>
        </p:txBody>
      </p:sp>
      <p:sp>
        <p:nvSpPr>
          <p:cNvPr id="29" name="Text 26"/>
          <p:cNvSpPr txBox="1"/>
          <p:nvPr/>
        </p:nvSpPr>
        <p:spPr>
          <a:xfrm>
            <a:off x="4480560" y="4782312"/>
            <a:ext cx="4023360" cy="713232"/>
          </a:xfrm>
          <a:prstGeom prst="rect">
            <a:avLst/>
          </a:prstGeom>
          <a:noFill/>
          <a:ln/>
        </p:spPr>
        <p:txBody>
          <a:bodyPr wrap="square" lIns="0" tIns="0" rIns="0" bIns="0" rtlCol="0" anchor="ctr"/>
          <a:lstStyle/>
          <a:p>
            <a:pPr algn="l" indent="0" marL="0">
              <a:buNone/>
            </a:pPr>
            <a:r>
              <a:rPr lang="en-US" sz="1350" dirty="0">
                <a:solidFill>
                  <a:srgbClr val="6B7280"/>
                </a:solidFill>
                <a:latin typeface="Calibri" pitchFamily="34" charset="0"/>
                <a:ea typeface="Calibri" pitchFamily="34" charset="-122"/>
                <a:cs typeface="Calibri" pitchFamily="34" charset="-120"/>
              </a:rPr>
              <a:t>une fin originale, de l’humour, une surprise</a:t>
            </a:r>
            <a:endParaRPr lang="en-US" sz="1350" dirty="0"/>
          </a:p>
        </p:txBody>
      </p:sp>
      <p:sp>
        <p:nvSpPr>
          <p:cNvPr id="30" name="Text 27"/>
          <p:cNvSpPr txBox="1"/>
          <p:nvPr/>
        </p:nvSpPr>
        <p:spPr>
          <a:xfrm>
            <a:off x="8549640" y="4782312"/>
            <a:ext cx="822960" cy="713232"/>
          </a:xfrm>
          <a:prstGeom prst="rect">
            <a:avLst/>
          </a:prstGeom>
          <a:noFill/>
          <a:ln/>
        </p:spPr>
        <p:txBody>
          <a:bodyPr wrap="square" lIns="0" tIns="0" rIns="0" bIns="0" rtlCol="0" anchor="ctr"/>
          <a:lstStyle/>
          <a:p>
            <a:pPr algn="r" indent="0" marL="0">
              <a:buNone/>
            </a:pPr>
            <a:r>
              <a:rPr lang="en-US" sz="1700" b="1" dirty="0">
                <a:solidFill>
                  <a:srgbClr val="C2185B"/>
                </a:solidFill>
                <a:latin typeface="Calibri" pitchFamily="34" charset="0"/>
                <a:ea typeface="Calibri" pitchFamily="34" charset="-122"/>
                <a:cs typeface="Calibri" pitchFamily="34" charset="-120"/>
              </a:rPr>
              <a:t>1 pt</a:t>
            </a:r>
            <a:endParaRPr lang="en-US" sz="1700" dirty="0"/>
          </a:p>
        </p:txBody>
      </p:sp>
      <p:sp>
        <p:nvSpPr>
          <p:cNvPr id="31" name="Shape 28"/>
          <p:cNvSpPr/>
          <p:nvPr/>
        </p:nvSpPr>
        <p:spPr>
          <a:xfrm>
            <a:off x="9921240" y="5120640"/>
            <a:ext cx="731520" cy="347472"/>
          </a:xfrm>
          <a:prstGeom prst="roundRect">
            <a:avLst>
              <a:gd name="adj" fmla="val 21053"/>
            </a:avLst>
          </a:prstGeom>
          <a:solidFill>
            <a:srgbClr val="5FA873"/>
          </a:solidFill>
          <a:ln w="12700">
            <a:solidFill>
              <a:srgbClr val="FFFFFF">
                <a:alpha val="0"/>
              </a:srgbClr>
            </a:solidFill>
            <a:prstDash val="solid"/>
          </a:ln>
        </p:spPr>
      </p:sp>
      <p:sp>
        <p:nvSpPr>
          <p:cNvPr id="32" name="Shape 29"/>
          <p:cNvSpPr/>
          <p:nvPr/>
        </p:nvSpPr>
        <p:spPr>
          <a:xfrm>
            <a:off x="9921240" y="4709160"/>
            <a:ext cx="731520" cy="347472"/>
          </a:xfrm>
          <a:prstGeom prst="roundRect">
            <a:avLst>
              <a:gd name="adj" fmla="val 21053"/>
            </a:avLst>
          </a:prstGeom>
          <a:solidFill>
            <a:srgbClr val="5FA873"/>
          </a:solidFill>
          <a:ln w="12700">
            <a:solidFill>
              <a:srgbClr val="FFFFFF">
                <a:alpha val="0"/>
              </a:srgbClr>
            </a:solidFill>
            <a:prstDash val="solid"/>
          </a:ln>
        </p:spPr>
      </p:sp>
      <p:sp>
        <p:nvSpPr>
          <p:cNvPr id="33" name="Shape 30"/>
          <p:cNvSpPr/>
          <p:nvPr/>
        </p:nvSpPr>
        <p:spPr>
          <a:xfrm>
            <a:off x="9921240" y="4297680"/>
            <a:ext cx="731520" cy="347472"/>
          </a:xfrm>
          <a:prstGeom prst="roundRect">
            <a:avLst>
              <a:gd name="adj" fmla="val 21053"/>
            </a:avLst>
          </a:prstGeom>
          <a:solidFill>
            <a:srgbClr val="5FA873"/>
          </a:solidFill>
          <a:ln w="12700">
            <a:solidFill>
              <a:srgbClr val="FFFFFF">
                <a:alpha val="0"/>
              </a:srgbClr>
            </a:solidFill>
            <a:prstDash val="solid"/>
          </a:ln>
        </p:spPr>
      </p:sp>
      <p:sp>
        <p:nvSpPr>
          <p:cNvPr id="34" name="Shape 31"/>
          <p:cNvSpPr/>
          <p:nvPr/>
        </p:nvSpPr>
        <p:spPr>
          <a:xfrm>
            <a:off x="9921240" y="3886200"/>
            <a:ext cx="731520" cy="347472"/>
          </a:xfrm>
          <a:prstGeom prst="roundRect">
            <a:avLst>
              <a:gd name="adj" fmla="val 21053"/>
            </a:avLst>
          </a:prstGeom>
          <a:solidFill>
            <a:srgbClr val="5FA873"/>
          </a:solidFill>
          <a:ln w="12700">
            <a:solidFill>
              <a:srgbClr val="FFFFFF">
                <a:alpha val="0"/>
              </a:srgbClr>
            </a:solidFill>
            <a:prstDash val="solid"/>
          </a:ln>
        </p:spPr>
      </p:sp>
      <p:sp>
        <p:nvSpPr>
          <p:cNvPr id="35" name="Shape 32"/>
          <p:cNvSpPr/>
          <p:nvPr/>
        </p:nvSpPr>
        <p:spPr>
          <a:xfrm>
            <a:off x="9921240" y="3474720"/>
            <a:ext cx="731520" cy="347472"/>
          </a:xfrm>
          <a:prstGeom prst="roundRect">
            <a:avLst>
              <a:gd name="adj" fmla="val 21053"/>
            </a:avLst>
          </a:prstGeom>
          <a:solidFill>
            <a:srgbClr val="4A7BD0"/>
          </a:solidFill>
          <a:ln w="12700">
            <a:solidFill>
              <a:srgbClr val="FFFFFF">
                <a:alpha val="0"/>
              </a:srgbClr>
            </a:solidFill>
            <a:prstDash val="solid"/>
          </a:ln>
        </p:spPr>
      </p:sp>
      <p:sp>
        <p:nvSpPr>
          <p:cNvPr id="36" name="Shape 33"/>
          <p:cNvSpPr/>
          <p:nvPr/>
        </p:nvSpPr>
        <p:spPr>
          <a:xfrm>
            <a:off x="9921240" y="3063240"/>
            <a:ext cx="731520" cy="347472"/>
          </a:xfrm>
          <a:prstGeom prst="roundRect">
            <a:avLst>
              <a:gd name="adj" fmla="val 21053"/>
            </a:avLst>
          </a:prstGeom>
          <a:solidFill>
            <a:srgbClr val="4A7BD0"/>
          </a:solidFill>
          <a:ln w="12700">
            <a:solidFill>
              <a:srgbClr val="FFFFFF">
                <a:alpha val="0"/>
              </a:srgbClr>
            </a:solidFill>
            <a:prstDash val="solid"/>
          </a:ln>
        </p:spPr>
      </p:sp>
      <p:sp>
        <p:nvSpPr>
          <p:cNvPr id="37" name="Shape 34"/>
          <p:cNvSpPr/>
          <p:nvPr/>
        </p:nvSpPr>
        <p:spPr>
          <a:xfrm>
            <a:off x="9921240" y="2651760"/>
            <a:ext cx="731520" cy="347472"/>
          </a:xfrm>
          <a:prstGeom prst="roundRect">
            <a:avLst>
              <a:gd name="adj" fmla="val 21053"/>
            </a:avLst>
          </a:prstGeom>
          <a:solidFill>
            <a:srgbClr val="4A7BD0"/>
          </a:solidFill>
          <a:ln w="12700">
            <a:solidFill>
              <a:srgbClr val="FFFFFF">
                <a:alpha val="0"/>
              </a:srgbClr>
            </a:solidFill>
            <a:prstDash val="solid"/>
          </a:ln>
        </p:spPr>
      </p:sp>
      <p:sp>
        <p:nvSpPr>
          <p:cNvPr id="38" name="Shape 35"/>
          <p:cNvSpPr/>
          <p:nvPr/>
        </p:nvSpPr>
        <p:spPr>
          <a:xfrm>
            <a:off x="9921240" y="2240280"/>
            <a:ext cx="731520" cy="347472"/>
          </a:xfrm>
          <a:prstGeom prst="roundRect">
            <a:avLst>
              <a:gd name="adj" fmla="val 21053"/>
            </a:avLst>
          </a:prstGeom>
          <a:solidFill>
            <a:srgbClr val="D9822B"/>
          </a:solidFill>
          <a:ln w="12700">
            <a:solidFill>
              <a:srgbClr val="FFFFFF">
                <a:alpha val="0"/>
              </a:srgbClr>
            </a:solidFill>
            <a:prstDash val="solid"/>
          </a:ln>
        </p:spPr>
      </p:sp>
      <p:sp>
        <p:nvSpPr>
          <p:cNvPr id="39" name="Shape 36"/>
          <p:cNvSpPr/>
          <p:nvPr/>
        </p:nvSpPr>
        <p:spPr>
          <a:xfrm>
            <a:off x="9921240" y="1828800"/>
            <a:ext cx="731520" cy="347472"/>
          </a:xfrm>
          <a:prstGeom prst="roundRect">
            <a:avLst>
              <a:gd name="adj" fmla="val 21053"/>
            </a:avLst>
          </a:prstGeom>
          <a:solidFill>
            <a:srgbClr val="8E6CC8"/>
          </a:solidFill>
          <a:ln w="12700">
            <a:solidFill>
              <a:srgbClr val="FFFFFF">
                <a:alpha val="0"/>
              </a:srgbClr>
            </a:solidFill>
            <a:prstDash val="solid"/>
          </a:ln>
        </p:spPr>
      </p:sp>
      <p:sp>
        <p:nvSpPr>
          <p:cNvPr id="40" name="Shape 37"/>
          <p:cNvSpPr/>
          <p:nvPr/>
        </p:nvSpPr>
        <p:spPr>
          <a:xfrm>
            <a:off x="9921240" y="1417320"/>
            <a:ext cx="731520" cy="347472"/>
          </a:xfrm>
          <a:prstGeom prst="roundRect">
            <a:avLst>
              <a:gd name="adj" fmla="val 21053"/>
            </a:avLst>
          </a:prstGeom>
          <a:solidFill>
            <a:srgbClr val="C2185B"/>
          </a:solidFill>
          <a:ln w="12700">
            <a:solidFill>
              <a:srgbClr val="FFFFFF">
                <a:alpha val="0"/>
              </a:srgbClr>
            </a:solidFill>
            <a:prstDash val="solid"/>
          </a:ln>
        </p:spPr>
      </p:sp>
      <p:sp>
        <p:nvSpPr>
          <p:cNvPr id="41" name="Text 38"/>
          <p:cNvSpPr txBox="1"/>
          <p:nvPr/>
        </p:nvSpPr>
        <p:spPr>
          <a:xfrm>
            <a:off x="10789920" y="4892040"/>
            <a:ext cx="1005840" cy="548640"/>
          </a:xfrm>
          <a:prstGeom prst="rect">
            <a:avLst/>
          </a:prstGeom>
          <a:noFill/>
          <a:ln/>
        </p:spPr>
        <p:txBody>
          <a:bodyPr wrap="square" lIns="0" tIns="0" rIns="0" bIns="0" rtlCol="0" anchor="ctr"/>
          <a:lstStyle/>
          <a:p>
            <a:pPr algn="l" indent="0" marL="0">
              <a:buNone/>
            </a:pPr>
            <a:r>
              <a:rPr lang="en-US" sz="2800" b="1" dirty="0">
                <a:solidFill>
                  <a:srgbClr val="2B2F38"/>
                </a:solidFill>
                <a:latin typeface="Calibri" pitchFamily="34" charset="0"/>
                <a:ea typeface="Calibri" pitchFamily="34" charset="-122"/>
                <a:cs typeface="Calibri" pitchFamily="34" charset="-120"/>
              </a:rPr>
              <a:t>/ 10</a:t>
            </a:r>
            <a:endParaRPr lang="en-US" sz="2800" dirty="0"/>
          </a:p>
        </p:txBody>
      </p:sp>
      <p:sp>
        <p:nvSpPr>
          <p:cNvPr id="42" name="Text 39"/>
          <p:cNvSpPr txBox="1"/>
          <p:nvPr/>
        </p:nvSpPr>
        <p:spPr>
          <a:xfrm>
            <a:off x="1554480" y="5760720"/>
            <a:ext cx="8138160" cy="411480"/>
          </a:xfrm>
          <a:prstGeom prst="rect">
            <a:avLst/>
          </a:prstGeom>
          <a:noFill/>
          <a:ln/>
        </p:spPr>
        <p:txBody>
          <a:bodyPr wrap="square" lIns="0" tIns="0" rIns="0" bIns="0" rtlCol="0" anchor="ctr"/>
          <a:lstStyle/>
          <a:p>
            <a:pPr algn="l" indent="0" marL="0">
              <a:buNone/>
            </a:pPr>
            <a:r>
              <a:rPr lang="en-US" sz="1350" i="1" dirty="0">
                <a:solidFill>
                  <a:srgbClr val="6B7280"/>
                </a:solidFill>
                <a:latin typeface="Calibri" pitchFamily="34" charset="0"/>
                <a:ea typeface="Calibri" pitchFamily="34" charset="-122"/>
                <a:cs typeface="Calibri" pitchFamily="34" charset="-120"/>
              </a:rPr>
              <a:t>Débutant·es : on valorise ce qui est réussi. À l’oral, la prononciation remplace l’orthographe.</a:t>
            </a:r>
            <a:endParaRPr lang="en-US" sz="1350" dirty="0"/>
          </a:p>
        </p:txBody>
      </p:sp>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1554480" y="384048"/>
            <a:ext cx="10241280" cy="658368"/>
          </a:xfrm>
          <a:prstGeom prst="rect">
            <a:avLst/>
          </a:prstGeom>
          <a:noFill/>
          <a:ln/>
        </p:spPr>
        <p:txBody>
          <a:bodyPr wrap="square" lIns="0" tIns="0" rIns="0" bIns="0" rtlCol="0" anchor="ctr"/>
          <a:lstStyle/>
          <a:p>
            <a:pPr algn="ctr" indent="0" marL="0">
              <a:buNone/>
            </a:pPr>
            <a:r>
              <a:rPr lang="en-US" sz="3000" b="1" dirty="0">
                <a:solidFill>
                  <a:srgbClr val="2B2F38"/>
                </a:solidFill>
              </a:rPr>
              <a:t>Premiers pas · Emma &amp; Pieter</a:t>
            </a:r>
            <a:endParaRPr lang="en-US" sz="3000" dirty="0"/>
          </a:p>
        </p:txBody>
      </p:sp>
      <p:sp>
        <p:nvSpPr>
          <p:cNvPr id="4" name="Shape 1"/>
          <p:cNvSpPr/>
          <p:nvPr/>
        </p:nvSpPr>
        <p:spPr>
          <a:xfrm>
            <a:off x="365760" y="365760"/>
            <a:ext cx="868680" cy="5989320"/>
          </a:xfrm>
          <a:prstGeom prst="roundRect">
            <a:avLst>
              <a:gd name="adj" fmla="val 12632"/>
            </a:avLst>
          </a:prstGeom>
          <a:solidFill>
            <a:srgbClr val="E6F4EA"/>
          </a:solidFill>
          <a:ln w="28575">
            <a:solidFill>
              <a:srgbClr val="6DBE8A"/>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3D8C5A"/>
                </a:solidFill>
                <a:latin typeface="Calibri" pitchFamily="34" charset="0"/>
                <a:ea typeface="Calibri" pitchFamily="34" charset="-122"/>
                <a:cs typeface="Calibri" pitchFamily="34" charset="-120"/>
              </a:rPr>
              <a:t>A1 · Premiers pas</a:t>
            </a:r>
            <a:endParaRPr lang="en-US" sz="3800" dirty="0"/>
          </a:p>
        </p:txBody>
      </p:sp>
      <p:sp>
        <p:nvSpPr>
          <p:cNvPr id="6" name="Shape 3"/>
          <p:cNvSpPr/>
          <p:nvPr/>
        </p:nvSpPr>
        <p:spPr>
          <a:xfrm>
            <a:off x="1554480" y="1371600"/>
            <a:ext cx="3017520" cy="4892040"/>
          </a:xfrm>
          <a:prstGeom prst="roundRect">
            <a:avLst>
              <a:gd name="adj" fmla="val 3636"/>
            </a:avLst>
          </a:prstGeom>
          <a:solidFill>
            <a:srgbClr val="E6F4EA"/>
          </a:solidFill>
          <a:ln w="15875">
            <a:solidFill>
              <a:srgbClr val="6DBE8A"/>
            </a:solidFill>
            <a:prstDash val="solid"/>
          </a:ln>
        </p:spPr>
      </p:sp>
      <p:sp>
        <p:nvSpPr>
          <p:cNvPr id="7" name="Text 4"/>
          <p:cNvSpPr txBox="1"/>
          <p:nvPr/>
        </p:nvSpPr>
        <p:spPr>
          <a:xfrm>
            <a:off x="1737360" y="1481328"/>
            <a:ext cx="2743200" cy="411480"/>
          </a:xfrm>
          <a:prstGeom prst="rect">
            <a:avLst/>
          </a:prstGeom>
          <a:noFill/>
          <a:ln/>
        </p:spPr>
        <p:txBody>
          <a:bodyPr wrap="square" lIns="0" tIns="0" rIns="0" bIns="0" rtlCol="0" anchor="ctr"/>
          <a:lstStyle/>
          <a:p>
            <a:pPr algn="l" indent="0" marL="0">
              <a:buNone/>
            </a:pPr>
            <a:r>
              <a:rPr lang="en-US" sz="1600" b="1" dirty="0">
                <a:solidFill>
                  <a:srgbClr val="3D8C5A"/>
                </a:solidFill>
                <a:latin typeface="Calibri" pitchFamily="34" charset="0"/>
                <a:ea typeface="Calibri" pitchFamily="34" charset="-122"/>
                <a:cs typeface="Calibri" pitchFamily="34" charset="-120"/>
              </a:rPr>
              <a:t>Ce qu’on travaille</a:t>
            </a:r>
            <a:endParaRPr lang="en-US" sz="1600" dirty="0"/>
          </a:p>
        </p:txBody>
      </p:sp>
      <p:sp>
        <p:nvSpPr>
          <p:cNvPr id="8" name="Text 5"/>
          <p:cNvSpPr txBox="1"/>
          <p:nvPr/>
        </p:nvSpPr>
        <p:spPr>
          <a:xfrm>
            <a:off x="1737360" y="1920240"/>
            <a:ext cx="2743200" cy="3749040"/>
          </a:xfrm>
          <a:prstGeom prst="rect">
            <a:avLst/>
          </a:prstGeom>
          <a:noFill/>
          <a:ln/>
        </p:spPr>
        <p:txBody>
          <a:bodyPr wrap="square" lIns="0" tIns="0" rIns="0" bIns="0" rtlCol="0" anchor="t"/>
          <a:lstStyle/>
          <a:p>
            <a:pPr algn="l" marL="177800" indent="-177800">
              <a:spcAft>
                <a:spcPts val="500"/>
              </a:spcAft>
              <a:buSzPct val="100000"/>
              <a:buChar char="•"/>
            </a:pPr>
            <a:r>
              <a:rPr lang="en-US" sz="1250" dirty="0">
                <a:solidFill>
                  <a:srgbClr val="2B2F38"/>
                </a:solidFill>
              </a:rPr>
              <a:t>saluer selon le moment : </a:t>
            </a:r>
            <a:r>
              <a:rPr lang="en-US" sz="1250" b="1" dirty="0">
                <a:solidFill>
                  <a:srgbClr val="2B2F38"/>
                </a:solidFill>
              </a:rPr>
              <a:t>goedemorgen, goedemiddag…</a:t>
            </a:r>
            <a:endParaRPr lang="en-US" sz="1250" dirty="0"/>
          </a:p>
          <a:p>
            <a:pPr algn="l" marL="177800" indent="-177800">
              <a:spcAft>
                <a:spcPts val="500"/>
              </a:spcAft>
              <a:buSzPct val="100000"/>
              <a:buChar char="•"/>
            </a:pPr>
            <a:r>
              <a:rPr lang="en-US" sz="1250" b="1" dirty="0">
                <a:solidFill>
                  <a:srgbClr val="2B2F38"/>
                </a:solidFill>
              </a:rPr>
              <a:t>’s morgens · vanmorgen · vandaag</a:t>
            </a:r>
            <a:endParaRPr lang="en-US" sz="1250" dirty="0"/>
          </a:p>
          <a:p>
            <a:pPr algn="l" marL="177800" indent="-177800">
              <a:spcAft>
                <a:spcPts val="500"/>
              </a:spcAft>
              <a:buSzPct val="100000"/>
              <a:buChar char="•"/>
            </a:pPr>
            <a:r>
              <a:rPr lang="en-US" sz="1250" b="1" dirty="0">
                <a:solidFill>
                  <a:srgbClr val="2B2F38"/>
                </a:solidFill>
              </a:rPr>
              <a:t>Hoe gaat het (met u)?</a:t>
            </a:r>
            <a:r>
              <a:rPr lang="en-US" sz="1250" dirty="0">
                <a:solidFill>
                  <a:srgbClr val="2B2F38"/>
                </a:solidFill>
              </a:rPr>
              <a:t> · Het gaat …</a:t>
            </a:r>
            <a:endParaRPr lang="en-US" sz="1250" dirty="0"/>
          </a:p>
          <a:p>
            <a:pPr algn="l" marL="177800" indent="-177800">
              <a:spcAft>
                <a:spcPts val="500"/>
              </a:spcAft>
              <a:buSzPct val="100000"/>
              <a:buChar char="•"/>
            </a:pPr>
            <a:r>
              <a:rPr lang="en-US" sz="1250" b="1" dirty="0">
                <a:solidFill>
                  <a:srgbClr val="2B2F38"/>
                </a:solidFill>
              </a:rPr>
              <a:t>ik ben / ik voel me</a:t>
            </a:r>
            <a:r>
              <a:rPr lang="en-US" sz="1250" dirty="0">
                <a:solidFill>
                  <a:srgbClr val="2B2F38"/>
                </a:solidFill>
              </a:rPr>
              <a:t> + nuanceur + adjectif</a:t>
            </a:r>
            <a:endParaRPr lang="en-US" sz="1250" dirty="0"/>
          </a:p>
          <a:p>
            <a:pPr algn="l" marL="177800" indent="-177800">
              <a:spcAft>
                <a:spcPts val="500"/>
              </a:spcAft>
              <a:buSzPct val="100000"/>
              <a:buChar char="•"/>
            </a:pPr>
            <a:r>
              <a:rPr lang="en-US" sz="1250" b="1" dirty="0">
                <a:solidFill>
                  <a:srgbClr val="2B2F38"/>
                </a:solidFill>
              </a:rPr>
              <a:t>want</a:t>
            </a:r>
            <a:r>
              <a:rPr lang="en-US" sz="1250" dirty="0">
                <a:solidFill>
                  <a:srgbClr val="2B2F38"/>
                </a:solidFill>
              </a:rPr>
              <a:t> + une raison</a:t>
            </a:r>
            <a:endParaRPr lang="en-US" sz="1250" dirty="0"/>
          </a:p>
          <a:p>
            <a:pPr algn="l" marL="177800" indent="-177800">
              <a:spcAft>
                <a:spcPts val="500"/>
              </a:spcAft>
              <a:buSzPct val="100000"/>
              <a:buChar char="•"/>
            </a:pPr>
            <a:r>
              <a:rPr lang="en-US" sz="1250" b="1" dirty="0">
                <a:solidFill>
                  <a:srgbClr val="2B2F38"/>
                </a:solidFill>
              </a:rPr>
              <a:t>zijn &amp; hebben</a:t>
            </a:r>
            <a:r>
              <a:rPr lang="en-US" sz="1250" dirty="0">
                <a:solidFill>
                  <a:srgbClr val="2B2F38"/>
                </a:solidFill>
              </a:rPr>
              <a:t> · </a:t>
            </a:r>
            <a:r>
              <a:rPr lang="en-US" sz="1250" b="1" dirty="0">
                <a:solidFill>
                  <a:srgbClr val="2B2F38"/>
                </a:solidFill>
              </a:rPr>
              <a:t>er is / er zijn</a:t>
            </a:r>
            <a:endParaRPr lang="en-US" sz="1250" dirty="0"/>
          </a:p>
          <a:p>
            <a:pPr algn="l" marL="177800" indent="-177800">
              <a:spcAft>
                <a:spcPts val="500"/>
              </a:spcAft>
              <a:buSzPct val="100000"/>
              <a:buChar char="•"/>
            </a:pPr>
            <a:r>
              <a:rPr lang="en-US" sz="1250" dirty="0">
                <a:solidFill>
                  <a:srgbClr val="2B2F38"/>
                </a:solidFill>
              </a:rPr>
              <a:t>prendre congé : </a:t>
            </a:r>
            <a:r>
              <a:rPr lang="en-US" sz="1250" b="1" dirty="0">
                <a:solidFill>
                  <a:srgbClr val="2B2F38"/>
                </a:solidFill>
              </a:rPr>
              <a:t>tot straks, tot morgen…</a:t>
            </a:r>
            <a:endParaRPr lang="en-US" sz="1250" dirty="0"/>
          </a:p>
        </p:txBody>
      </p:sp>
      <p:sp>
        <p:nvSpPr>
          <p:cNvPr id="9" name="Text 6"/>
          <p:cNvSpPr txBox="1"/>
          <p:nvPr/>
        </p:nvSpPr>
        <p:spPr>
          <a:xfrm>
            <a:off x="1737360" y="5760720"/>
            <a:ext cx="2743200" cy="365760"/>
          </a:xfrm>
          <a:prstGeom prst="rect">
            <a:avLst/>
          </a:prstGeom>
          <a:noFill/>
          <a:ln/>
        </p:spPr>
        <p:txBody>
          <a:bodyPr wrap="square" lIns="0" tIns="0" rIns="0" bIns="0" rtlCol="0" anchor="ctr"/>
          <a:lstStyle/>
          <a:p>
            <a:pPr algn="l" indent="0" marL="0">
              <a:buNone/>
            </a:pPr>
            <a:r>
              <a:rPr lang="en-US" sz="1100" i="1" dirty="0">
                <a:solidFill>
                  <a:srgbClr val="3D8C5A"/>
                </a:solidFill>
                <a:latin typeface="Calibri" pitchFamily="34" charset="0"/>
                <a:ea typeface="Calibri" pitchFamily="34" charset="-122"/>
                <a:cs typeface="Calibri" pitchFamily="34" charset="-120"/>
              </a:rPr>
              <a:t>syllabus, section 1 · p. 1 – 57</a:t>
            </a:r>
            <a:endParaRPr lang="en-US" sz="1100" dirty="0"/>
          </a:p>
        </p:txBody>
      </p:sp>
      <p:sp>
        <p:nvSpPr>
          <p:cNvPr id="10" name="Shape 7"/>
          <p:cNvSpPr/>
          <p:nvPr/>
        </p:nvSpPr>
        <p:spPr>
          <a:xfrm>
            <a:off x="4809744" y="2027682"/>
            <a:ext cx="1353312" cy="873252"/>
          </a:xfrm>
          <a:prstGeom prst="roundRect">
            <a:avLst>
              <a:gd name="adj" fmla="val 4188"/>
            </a:avLst>
          </a:prstGeom>
          <a:solidFill>
            <a:srgbClr val="FFFFFF"/>
          </a:solidFill>
          <a:ln w="9525">
            <a:solidFill>
              <a:srgbClr val="E3E7EE"/>
            </a:solidFill>
            <a:prstDash val="solid"/>
          </a:ln>
          <a:effectLst>
            <a:outerShdw sx="100000" sy="100000" kx="0" ky="0" algn="bl" rotWithShape="0" blurRad="63500" dist="25400" dir="5400000">
              <a:srgbClr val="1B2430">
                <a:alpha val="25000"/>
              </a:srgbClr>
            </a:outerShdw>
          </a:effectLst>
        </p:spPr>
      </p:sp>
      <p:pic>
        <p:nvPicPr>
          <p:cNvPr id="11" name="Image 0" descr="/home/user/talenleren/neerlandais1/generateur/img/vijfzinnen/a1_goedemorgen_s.jpg">    </p:cNvPr>
          <p:cNvPicPr>
            <a:picLocks noChangeAspect="1"/>
          </p:cNvPicPr>
          <p:nvPr/>
        </p:nvPicPr>
        <p:blipFill>
          <a:blip r:embed="rId1"/>
          <a:stretch>
            <a:fillRect/>
          </a:stretch>
        </p:blipFill>
        <p:spPr>
          <a:xfrm>
            <a:off x="4846320" y="2064258"/>
            <a:ext cx="1280160" cy="800100"/>
          </a:xfrm>
          <a:prstGeom prst="rect">
            <a:avLst/>
          </a:prstGeom>
        </p:spPr>
      </p:pic>
      <p:sp>
        <p:nvSpPr>
          <p:cNvPr id="12" name="Text 8"/>
          <p:cNvSpPr txBox="1"/>
          <p:nvPr/>
        </p:nvSpPr>
        <p:spPr>
          <a:xfrm>
            <a:off x="4818888" y="2928366"/>
            <a:ext cx="1335024" cy="274320"/>
          </a:xfrm>
          <a:prstGeom prst="rect">
            <a:avLst/>
          </a:prstGeom>
          <a:noFill/>
          <a:ln/>
        </p:spPr>
        <p:txBody>
          <a:bodyPr wrap="square" lIns="0" tIns="0" rIns="0" bIns="0" rtlCol="0" anchor="t"/>
          <a:lstStyle/>
          <a:p>
            <a:pPr algn="l" indent="0" marL="0">
              <a:buNone/>
            </a:pPr>
            <a:r>
              <a:rPr lang="en-US" sz="950" b="1" dirty="0">
                <a:solidFill>
                  <a:srgbClr val="2B2F38"/>
                </a:solidFill>
                <a:latin typeface="Calibri" pitchFamily="34" charset="0"/>
                <a:ea typeface="Calibri" pitchFamily="34" charset="-122"/>
                <a:cs typeface="Calibri" pitchFamily="34" charset="-120"/>
              </a:rPr>
              <a:t>1 · Goedemorgen!</a:t>
            </a:r>
            <a:endParaRPr lang="en-US" sz="950" dirty="0"/>
          </a:p>
        </p:txBody>
      </p:sp>
      <p:pic>
        <p:nvPicPr>
          <p:cNvPr id="13" name="Image 1" descr="Comments">    </p:cNvPr>
          <p:cNvPicPr>
            <a:picLocks noChangeAspect="1"/>
          </p:cNvPicPr>
          <p:nvPr/>
        </p:nvPicPr>
        <p:blipFill>
          <a:blip r:embed="rId2"/>
          <a:stretch>
            <a:fillRect/>
          </a:stretch>
        </p:blipFill>
        <p:spPr>
          <a:xfrm>
            <a:off x="5907024" y="2119122"/>
            <a:ext cx="155448" cy="155448"/>
          </a:xfrm>
          <a:prstGeom prst="rect">
            <a:avLst/>
          </a:prstGeom>
        </p:spPr>
      </p:pic>
      <p:sp>
        <p:nvSpPr>
          <p:cNvPr id="14" name="Shape 9"/>
          <p:cNvSpPr/>
          <p:nvPr/>
        </p:nvSpPr>
        <p:spPr>
          <a:xfrm>
            <a:off x="6227064" y="2027682"/>
            <a:ext cx="1353312" cy="873252"/>
          </a:xfrm>
          <a:prstGeom prst="roundRect">
            <a:avLst>
              <a:gd name="adj" fmla="val 4188"/>
            </a:avLst>
          </a:prstGeom>
          <a:solidFill>
            <a:srgbClr val="FFFFFF"/>
          </a:solidFill>
          <a:ln w="9525">
            <a:solidFill>
              <a:srgbClr val="E3E7EE"/>
            </a:solidFill>
            <a:prstDash val="solid"/>
          </a:ln>
          <a:effectLst>
            <a:outerShdw sx="100000" sy="100000" kx="0" ky="0" algn="bl" rotWithShape="0" blurRad="63500" dist="25400" dir="5400000">
              <a:srgbClr val="1B2430">
                <a:alpha val="25000"/>
              </a:srgbClr>
            </a:outerShdw>
          </a:effectLst>
        </p:spPr>
      </p:sp>
      <p:pic>
        <p:nvPicPr>
          <p:cNvPr id="15" name="Image 2" descr="/home/user/talenleren/neerlandais1/generateur/img/vijfzinnen/a1_mijndag_s.jpg">    </p:cNvPr>
          <p:cNvPicPr>
            <a:picLocks noChangeAspect="1"/>
          </p:cNvPicPr>
          <p:nvPr/>
        </p:nvPicPr>
        <p:blipFill>
          <a:blip r:embed="rId3"/>
          <a:stretch>
            <a:fillRect/>
          </a:stretch>
        </p:blipFill>
        <p:spPr>
          <a:xfrm>
            <a:off x="6263640" y="2064258"/>
            <a:ext cx="1280160" cy="800100"/>
          </a:xfrm>
          <a:prstGeom prst="rect">
            <a:avLst/>
          </a:prstGeom>
        </p:spPr>
      </p:pic>
      <p:sp>
        <p:nvSpPr>
          <p:cNvPr id="16" name="Text 10"/>
          <p:cNvSpPr txBox="1"/>
          <p:nvPr/>
        </p:nvSpPr>
        <p:spPr>
          <a:xfrm>
            <a:off x="6236208" y="2928366"/>
            <a:ext cx="1335024" cy="274320"/>
          </a:xfrm>
          <a:prstGeom prst="rect">
            <a:avLst/>
          </a:prstGeom>
          <a:noFill/>
          <a:ln/>
        </p:spPr>
        <p:txBody>
          <a:bodyPr wrap="square" lIns="0" tIns="0" rIns="0" bIns="0" rtlCol="0" anchor="t"/>
          <a:lstStyle/>
          <a:p>
            <a:pPr algn="l" indent="0" marL="0">
              <a:buNone/>
            </a:pPr>
            <a:r>
              <a:rPr lang="en-US" sz="950" b="1" dirty="0">
                <a:solidFill>
                  <a:srgbClr val="2B2F38"/>
                </a:solidFill>
                <a:latin typeface="Calibri" pitchFamily="34" charset="0"/>
                <a:ea typeface="Calibri" pitchFamily="34" charset="-122"/>
                <a:cs typeface="Calibri" pitchFamily="34" charset="-120"/>
              </a:rPr>
              <a:t>2 · ’s Morgens, ’s middags, ’s avonds</a:t>
            </a:r>
            <a:endParaRPr lang="en-US" sz="950" dirty="0"/>
          </a:p>
        </p:txBody>
      </p:sp>
      <p:pic>
        <p:nvPicPr>
          <p:cNvPr id="17" name="Image 3" descr="PenNib">    </p:cNvPr>
          <p:cNvPicPr>
            <a:picLocks noChangeAspect="1"/>
          </p:cNvPicPr>
          <p:nvPr/>
        </p:nvPicPr>
        <p:blipFill>
          <a:blip r:embed="rId4"/>
          <a:stretch>
            <a:fillRect/>
          </a:stretch>
        </p:blipFill>
        <p:spPr>
          <a:xfrm>
            <a:off x="7324344" y="2119122"/>
            <a:ext cx="155448" cy="155448"/>
          </a:xfrm>
          <a:prstGeom prst="rect">
            <a:avLst/>
          </a:prstGeom>
        </p:spPr>
      </p:pic>
      <p:sp>
        <p:nvSpPr>
          <p:cNvPr id="18" name="Shape 11"/>
          <p:cNvSpPr/>
          <p:nvPr/>
        </p:nvSpPr>
        <p:spPr>
          <a:xfrm>
            <a:off x="7644384" y="2027682"/>
            <a:ext cx="1353312" cy="873252"/>
          </a:xfrm>
          <a:prstGeom prst="roundRect">
            <a:avLst>
              <a:gd name="adj" fmla="val 4188"/>
            </a:avLst>
          </a:prstGeom>
          <a:solidFill>
            <a:srgbClr val="FFFFFF"/>
          </a:solidFill>
          <a:ln w="9525">
            <a:solidFill>
              <a:srgbClr val="E3E7EE"/>
            </a:solidFill>
            <a:prstDash val="solid"/>
          </a:ln>
          <a:effectLst>
            <a:outerShdw sx="100000" sy="100000" kx="0" ky="0" algn="bl" rotWithShape="0" blurRad="63500" dist="25400" dir="5400000">
              <a:srgbClr val="1B2430">
                <a:alpha val="25000"/>
              </a:srgbClr>
            </a:outerShdw>
          </a:effectLst>
        </p:spPr>
      </p:sp>
      <p:pic>
        <p:nvPicPr>
          <p:cNvPr id="19" name="Image 4" descr="/home/user/talenleren/neerlandais1/generateur/img/vijfzinnen/a1_vanavond_s.jpg">    </p:cNvPr>
          <p:cNvPicPr>
            <a:picLocks noChangeAspect="1"/>
          </p:cNvPicPr>
          <p:nvPr/>
        </p:nvPicPr>
        <p:blipFill>
          <a:blip r:embed="rId5"/>
          <a:stretch>
            <a:fillRect/>
          </a:stretch>
        </p:blipFill>
        <p:spPr>
          <a:xfrm>
            <a:off x="7680960" y="2064258"/>
            <a:ext cx="1280160" cy="800100"/>
          </a:xfrm>
          <a:prstGeom prst="rect">
            <a:avLst/>
          </a:prstGeom>
        </p:spPr>
      </p:pic>
      <p:sp>
        <p:nvSpPr>
          <p:cNvPr id="20" name="Text 12"/>
          <p:cNvSpPr txBox="1"/>
          <p:nvPr/>
        </p:nvSpPr>
        <p:spPr>
          <a:xfrm>
            <a:off x="7653528" y="2928366"/>
            <a:ext cx="1335024" cy="274320"/>
          </a:xfrm>
          <a:prstGeom prst="rect">
            <a:avLst/>
          </a:prstGeom>
          <a:noFill/>
          <a:ln/>
        </p:spPr>
        <p:txBody>
          <a:bodyPr wrap="square" lIns="0" tIns="0" rIns="0" bIns="0" rtlCol="0" anchor="t"/>
          <a:lstStyle/>
          <a:p>
            <a:pPr algn="l" indent="0" marL="0">
              <a:buNone/>
            </a:pPr>
            <a:r>
              <a:rPr lang="en-US" sz="950" b="1" dirty="0">
                <a:solidFill>
                  <a:srgbClr val="2B2F38"/>
                </a:solidFill>
                <a:latin typeface="Calibri" pitchFamily="34" charset="0"/>
                <a:ea typeface="Calibri" pitchFamily="34" charset="-122"/>
                <a:cs typeface="Calibri" pitchFamily="34" charset="-120"/>
              </a:rPr>
              <a:t>3 · Vanavond</a:t>
            </a:r>
            <a:endParaRPr lang="en-US" sz="950" dirty="0"/>
          </a:p>
        </p:txBody>
      </p:sp>
      <p:pic>
        <p:nvPicPr>
          <p:cNvPr id="21" name="Image 5" descr="Comments">    </p:cNvPr>
          <p:cNvPicPr>
            <a:picLocks noChangeAspect="1"/>
          </p:cNvPicPr>
          <p:nvPr/>
        </p:nvPicPr>
        <p:blipFill>
          <a:blip r:embed="rId6"/>
          <a:stretch>
            <a:fillRect/>
          </a:stretch>
        </p:blipFill>
        <p:spPr>
          <a:xfrm>
            <a:off x="8741664" y="2119122"/>
            <a:ext cx="155448" cy="155448"/>
          </a:xfrm>
          <a:prstGeom prst="rect">
            <a:avLst/>
          </a:prstGeom>
        </p:spPr>
      </p:pic>
      <p:sp>
        <p:nvSpPr>
          <p:cNvPr id="22" name="Shape 13"/>
          <p:cNvSpPr/>
          <p:nvPr/>
        </p:nvSpPr>
        <p:spPr>
          <a:xfrm>
            <a:off x="9061704" y="2027682"/>
            <a:ext cx="1353312" cy="873252"/>
          </a:xfrm>
          <a:prstGeom prst="roundRect">
            <a:avLst>
              <a:gd name="adj" fmla="val 4188"/>
            </a:avLst>
          </a:prstGeom>
          <a:solidFill>
            <a:srgbClr val="FFFFFF"/>
          </a:solidFill>
          <a:ln w="9525">
            <a:solidFill>
              <a:srgbClr val="E3E7EE"/>
            </a:solidFill>
            <a:prstDash val="solid"/>
          </a:ln>
          <a:effectLst>
            <a:outerShdw sx="100000" sy="100000" kx="0" ky="0" algn="bl" rotWithShape="0" blurRad="63500" dist="25400" dir="5400000">
              <a:srgbClr val="1B2430">
                <a:alpha val="25000"/>
              </a:srgbClr>
            </a:outerShdw>
          </a:effectLst>
        </p:spPr>
      </p:sp>
      <p:pic>
        <p:nvPicPr>
          <p:cNvPr id="23" name="Image 6" descr="/home/user/talenleren/neerlandais1/generateur/img/vijfzinnen/a1_vandaag_s.jpg">    </p:cNvPr>
          <p:cNvPicPr>
            <a:picLocks noChangeAspect="1"/>
          </p:cNvPicPr>
          <p:nvPr/>
        </p:nvPicPr>
        <p:blipFill>
          <a:blip r:embed="rId7"/>
          <a:stretch>
            <a:fillRect/>
          </a:stretch>
        </p:blipFill>
        <p:spPr>
          <a:xfrm>
            <a:off x="9098280" y="2064258"/>
            <a:ext cx="1280160" cy="800100"/>
          </a:xfrm>
          <a:prstGeom prst="rect">
            <a:avLst/>
          </a:prstGeom>
        </p:spPr>
      </p:pic>
      <p:sp>
        <p:nvSpPr>
          <p:cNvPr id="24" name="Text 14"/>
          <p:cNvSpPr txBox="1"/>
          <p:nvPr/>
        </p:nvSpPr>
        <p:spPr>
          <a:xfrm>
            <a:off x="9070848" y="2928366"/>
            <a:ext cx="1335024" cy="274320"/>
          </a:xfrm>
          <a:prstGeom prst="rect">
            <a:avLst/>
          </a:prstGeom>
          <a:noFill/>
          <a:ln/>
        </p:spPr>
        <p:txBody>
          <a:bodyPr wrap="square" lIns="0" tIns="0" rIns="0" bIns="0" rtlCol="0" anchor="t"/>
          <a:lstStyle/>
          <a:p>
            <a:pPr algn="l" indent="0" marL="0">
              <a:buNone/>
            </a:pPr>
            <a:r>
              <a:rPr lang="en-US" sz="950" b="1" dirty="0">
                <a:solidFill>
                  <a:srgbClr val="2B2F38"/>
                </a:solidFill>
                <a:latin typeface="Calibri" pitchFamily="34" charset="0"/>
                <a:ea typeface="Calibri" pitchFamily="34" charset="-122"/>
                <a:cs typeface="Calibri" pitchFamily="34" charset="-120"/>
              </a:rPr>
              <a:t>4 · Vandaag is anders!</a:t>
            </a:r>
            <a:endParaRPr lang="en-US" sz="950" dirty="0"/>
          </a:p>
        </p:txBody>
      </p:sp>
      <p:pic>
        <p:nvPicPr>
          <p:cNvPr id="25" name="Image 7" descr="PenNib">    </p:cNvPr>
          <p:cNvPicPr>
            <a:picLocks noChangeAspect="1"/>
          </p:cNvPicPr>
          <p:nvPr/>
        </p:nvPicPr>
        <p:blipFill>
          <a:blip r:embed="rId8"/>
          <a:stretch>
            <a:fillRect/>
          </a:stretch>
        </p:blipFill>
        <p:spPr>
          <a:xfrm>
            <a:off x="10158984" y="2119122"/>
            <a:ext cx="155448" cy="155448"/>
          </a:xfrm>
          <a:prstGeom prst="rect">
            <a:avLst/>
          </a:prstGeom>
        </p:spPr>
      </p:pic>
      <p:sp>
        <p:nvSpPr>
          <p:cNvPr id="26" name="Shape 15"/>
          <p:cNvSpPr/>
          <p:nvPr/>
        </p:nvSpPr>
        <p:spPr>
          <a:xfrm>
            <a:off x="10479024" y="2027682"/>
            <a:ext cx="1353312" cy="873252"/>
          </a:xfrm>
          <a:prstGeom prst="roundRect">
            <a:avLst>
              <a:gd name="adj" fmla="val 4188"/>
            </a:avLst>
          </a:prstGeom>
          <a:solidFill>
            <a:srgbClr val="FFFFFF"/>
          </a:solidFill>
          <a:ln w="9525">
            <a:solidFill>
              <a:srgbClr val="E3E7EE"/>
            </a:solidFill>
            <a:prstDash val="solid"/>
          </a:ln>
          <a:effectLst>
            <a:outerShdw sx="100000" sy="100000" kx="0" ky="0" algn="bl" rotWithShape="0" blurRad="63500" dist="25400" dir="5400000">
              <a:srgbClr val="1B2430">
                <a:alpha val="25000"/>
              </a:srgbClr>
            </a:outerShdw>
          </a:effectLst>
        </p:spPr>
      </p:sp>
      <p:pic>
        <p:nvPicPr>
          <p:cNvPr id="27" name="Image 8" descr="/home/user/talenleren/neerlandais1/generateur/img/vijfzinnen/a1_hoegaathet_s.jpg">    </p:cNvPr>
          <p:cNvPicPr>
            <a:picLocks noChangeAspect="1"/>
          </p:cNvPicPr>
          <p:nvPr/>
        </p:nvPicPr>
        <p:blipFill>
          <a:blip r:embed="rId9"/>
          <a:stretch>
            <a:fillRect/>
          </a:stretch>
        </p:blipFill>
        <p:spPr>
          <a:xfrm>
            <a:off x="10515600" y="2064258"/>
            <a:ext cx="1280160" cy="800100"/>
          </a:xfrm>
          <a:prstGeom prst="rect">
            <a:avLst/>
          </a:prstGeom>
        </p:spPr>
      </p:pic>
      <p:sp>
        <p:nvSpPr>
          <p:cNvPr id="28" name="Text 16"/>
          <p:cNvSpPr txBox="1"/>
          <p:nvPr/>
        </p:nvSpPr>
        <p:spPr>
          <a:xfrm>
            <a:off x="10488168" y="2928366"/>
            <a:ext cx="1335024" cy="274320"/>
          </a:xfrm>
          <a:prstGeom prst="rect">
            <a:avLst/>
          </a:prstGeom>
          <a:noFill/>
          <a:ln/>
        </p:spPr>
        <p:txBody>
          <a:bodyPr wrap="square" lIns="0" tIns="0" rIns="0" bIns="0" rtlCol="0" anchor="t"/>
          <a:lstStyle/>
          <a:p>
            <a:pPr algn="l" indent="0" marL="0">
              <a:buNone/>
            </a:pPr>
            <a:r>
              <a:rPr lang="en-US" sz="950" b="1" dirty="0">
                <a:solidFill>
                  <a:srgbClr val="2B2F38"/>
                </a:solidFill>
                <a:latin typeface="Calibri" pitchFamily="34" charset="0"/>
                <a:ea typeface="Calibri" pitchFamily="34" charset="-122"/>
                <a:cs typeface="Calibri" pitchFamily="34" charset="-120"/>
              </a:rPr>
              <a:t>5 · Hoe gaat het?</a:t>
            </a:r>
            <a:endParaRPr lang="en-US" sz="950" dirty="0"/>
          </a:p>
        </p:txBody>
      </p:sp>
      <p:pic>
        <p:nvPicPr>
          <p:cNvPr id="29" name="Image 9" descr="Comments">    </p:cNvPr>
          <p:cNvPicPr>
            <a:picLocks noChangeAspect="1"/>
          </p:cNvPicPr>
          <p:nvPr/>
        </p:nvPicPr>
        <p:blipFill>
          <a:blip r:embed="rId10"/>
          <a:stretch>
            <a:fillRect/>
          </a:stretch>
        </p:blipFill>
        <p:spPr>
          <a:xfrm>
            <a:off x="11576304" y="2119122"/>
            <a:ext cx="155448" cy="155448"/>
          </a:xfrm>
          <a:prstGeom prst="rect">
            <a:avLst/>
          </a:prstGeom>
        </p:spPr>
      </p:pic>
      <p:sp>
        <p:nvSpPr>
          <p:cNvPr id="30" name="Shape 17"/>
          <p:cNvSpPr/>
          <p:nvPr/>
        </p:nvSpPr>
        <p:spPr>
          <a:xfrm>
            <a:off x="4809744" y="3211830"/>
            <a:ext cx="1353312" cy="873252"/>
          </a:xfrm>
          <a:prstGeom prst="roundRect">
            <a:avLst>
              <a:gd name="adj" fmla="val 4188"/>
            </a:avLst>
          </a:prstGeom>
          <a:solidFill>
            <a:srgbClr val="FFFFFF"/>
          </a:solidFill>
          <a:ln w="9525">
            <a:solidFill>
              <a:srgbClr val="E3E7EE"/>
            </a:solidFill>
            <a:prstDash val="solid"/>
          </a:ln>
          <a:effectLst>
            <a:outerShdw sx="100000" sy="100000" kx="0" ky="0" algn="bl" rotWithShape="0" blurRad="63500" dist="25400" dir="5400000">
              <a:srgbClr val="1B2430">
                <a:alpha val="25000"/>
              </a:srgbClr>
            </a:outerShdw>
          </a:effectLst>
        </p:spPr>
      </p:sp>
      <p:pic>
        <p:nvPicPr>
          <p:cNvPr id="31" name="Image 10" descr="/home/user/talenleren/neerlandais1/generateur/img/vijfzinnen/a1_moe_s.jpg">    </p:cNvPr>
          <p:cNvPicPr>
            <a:picLocks noChangeAspect="1"/>
          </p:cNvPicPr>
          <p:nvPr/>
        </p:nvPicPr>
        <p:blipFill>
          <a:blip r:embed="rId11"/>
          <a:stretch>
            <a:fillRect/>
          </a:stretch>
        </p:blipFill>
        <p:spPr>
          <a:xfrm>
            <a:off x="4846320" y="3248406"/>
            <a:ext cx="1280160" cy="800100"/>
          </a:xfrm>
          <a:prstGeom prst="rect">
            <a:avLst/>
          </a:prstGeom>
        </p:spPr>
      </p:pic>
      <p:sp>
        <p:nvSpPr>
          <p:cNvPr id="32" name="Text 18"/>
          <p:cNvSpPr txBox="1"/>
          <p:nvPr/>
        </p:nvSpPr>
        <p:spPr>
          <a:xfrm>
            <a:off x="4818888" y="4112514"/>
            <a:ext cx="1335024" cy="274320"/>
          </a:xfrm>
          <a:prstGeom prst="rect">
            <a:avLst/>
          </a:prstGeom>
          <a:noFill/>
          <a:ln/>
        </p:spPr>
        <p:txBody>
          <a:bodyPr wrap="square" lIns="0" tIns="0" rIns="0" bIns="0" rtlCol="0" anchor="t"/>
          <a:lstStyle/>
          <a:p>
            <a:pPr algn="l" indent="0" marL="0">
              <a:buNone/>
            </a:pPr>
            <a:r>
              <a:rPr lang="en-US" sz="950" b="1" dirty="0">
                <a:solidFill>
                  <a:srgbClr val="2B2F38"/>
                </a:solidFill>
                <a:latin typeface="Calibri" pitchFamily="34" charset="0"/>
                <a:ea typeface="Calibri" pitchFamily="34" charset="-122"/>
                <a:cs typeface="Calibri" pitchFamily="34" charset="-120"/>
              </a:rPr>
              <a:t>6 · Een beetje moe</a:t>
            </a:r>
            <a:endParaRPr lang="en-US" sz="950" dirty="0"/>
          </a:p>
        </p:txBody>
      </p:sp>
      <p:pic>
        <p:nvPicPr>
          <p:cNvPr id="33" name="Image 11" descr="PenNib">    </p:cNvPr>
          <p:cNvPicPr>
            <a:picLocks noChangeAspect="1"/>
          </p:cNvPicPr>
          <p:nvPr/>
        </p:nvPicPr>
        <p:blipFill>
          <a:blip r:embed="rId12"/>
          <a:stretch>
            <a:fillRect/>
          </a:stretch>
        </p:blipFill>
        <p:spPr>
          <a:xfrm>
            <a:off x="5907024" y="3303270"/>
            <a:ext cx="155448" cy="155448"/>
          </a:xfrm>
          <a:prstGeom prst="rect">
            <a:avLst/>
          </a:prstGeom>
        </p:spPr>
      </p:pic>
      <p:sp>
        <p:nvSpPr>
          <p:cNvPr id="34" name="Shape 19"/>
          <p:cNvSpPr/>
          <p:nvPr/>
        </p:nvSpPr>
        <p:spPr>
          <a:xfrm>
            <a:off x="6227064" y="3211830"/>
            <a:ext cx="1353312" cy="873252"/>
          </a:xfrm>
          <a:prstGeom prst="roundRect">
            <a:avLst>
              <a:gd name="adj" fmla="val 4188"/>
            </a:avLst>
          </a:prstGeom>
          <a:solidFill>
            <a:srgbClr val="FFFFFF"/>
          </a:solidFill>
          <a:ln w="9525">
            <a:solidFill>
              <a:srgbClr val="E3E7EE"/>
            </a:solidFill>
            <a:prstDash val="solid"/>
          </a:ln>
          <a:effectLst>
            <a:outerShdw sx="100000" sy="100000" kx="0" ky="0" algn="bl" rotWithShape="0" blurRad="63500" dist="25400" dir="5400000">
              <a:srgbClr val="1B2430">
                <a:alpha val="25000"/>
              </a:srgbClr>
            </a:outerShdw>
          </a:effectLst>
        </p:spPr>
      </p:sp>
      <p:pic>
        <p:nvPicPr>
          <p:cNvPr id="35" name="Image 12" descr="/home/user/talenleren/neerlandais1/generateur/img/vijfzinnen/a1_janssens_s.jpg">    </p:cNvPr>
          <p:cNvPicPr>
            <a:picLocks noChangeAspect="1"/>
          </p:cNvPicPr>
          <p:nvPr/>
        </p:nvPicPr>
        <p:blipFill>
          <a:blip r:embed="rId13"/>
          <a:stretch>
            <a:fillRect/>
          </a:stretch>
        </p:blipFill>
        <p:spPr>
          <a:xfrm>
            <a:off x="6263640" y="3248406"/>
            <a:ext cx="1280160" cy="800100"/>
          </a:xfrm>
          <a:prstGeom prst="rect">
            <a:avLst/>
          </a:prstGeom>
        </p:spPr>
      </p:pic>
      <p:sp>
        <p:nvSpPr>
          <p:cNvPr id="36" name="Text 20"/>
          <p:cNvSpPr txBox="1"/>
          <p:nvPr/>
        </p:nvSpPr>
        <p:spPr>
          <a:xfrm>
            <a:off x="6236208" y="4112514"/>
            <a:ext cx="1335024" cy="274320"/>
          </a:xfrm>
          <a:prstGeom prst="rect">
            <a:avLst/>
          </a:prstGeom>
          <a:noFill/>
          <a:ln/>
        </p:spPr>
        <p:txBody>
          <a:bodyPr wrap="square" lIns="0" tIns="0" rIns="0" bIns="0" rtlCol="0" anchor="t"/>
          <a:lstStyle/>
          <a:p>
            <a:pPr algn="l" indent="0" marL="0">
              <a:buNone/>
            </a:pPr>
            <a:r>
              <a:rPr lang="en-US" sz="950" b="1" dirty="0">
                <a:solidFill>
                  <a:srgbClr val="2B2F38"/>
                </a:solidFill>
                <a:latin typeface="Calibri" pitchFamily="34" charset="0"/>
                <a:ea typeface="Calibri" pitchFamily="34" charset="-122"/>
                <a:cs typeface="Calibri" pitchFamily="34" charset="-120"/>
              </a:rPr>
              <a:t>7 · Goedemiddag, meneer Janssens!</a:t>
            </a:r>
            <a:endParaRPr lang="en-US" sz="950" dirty="0"/>
          </a:p>
        </p:txBody>
      </p:sp>
      <p:pic>
        <p:nvPicPr>
          <p:cNvPr id="37" name="Image 13" descr="Comments">    </p:cNvPr>
          <p:cNvPicPr>
            <a:picLocks noChangeAspect="1"/>
          </p:cNvPicPr>
          <p:nvPr/>
        </p:nvPicPr>
        <p:blipFill>
          <a:blip r:embed="rId14"/>
          <a:stretch>
            <a:fillRect/>
          </a:stretch>
        </p:blipFill>
        <p:spPr>
          <a:xfrm>
            <a:off x="7324344" y="3303270"/>
            <a:ext cx="155448" cy="155448"/>
          </a:xfrm>
          <a:prstGeom prst="rect">
            <a:avLst/>
          </a:prstGeom>
        </p:spPr>
      </p:pic>
      <p:sp>
        <p:nvSpPr>
          <p:cNvPr id="38" name="Shape 21"/>
          <p:cNvSpPr/>
          <p:nvPr/>
        </p:nvSpPr>
        <p:spPr>
          <a:xfrm>
            <a:off x="7644384" y="3211830"/>
            <a:ext cx="1353312" cy="873252"/>
          </a:xfrm>
          <a:prstGeom prst="roundRect">
            <a:avLst>
              <a:gd name="adj" fmla="val 4188"/>
            </a:avLst>
          </a:prstGeom>
          <a:solidFill>
            <a:srgbClr val="FFFFFF"/>
          </a:solidFill>
          <a:ln w="9525">
            <a:solidFill>
              <a:srgbClr val="E3E7EE"/>
            </a:solidFill>
            <a:prstDash val="solid"/>
          </a:ln>
          <a:effectLst>
            <a:outerShdw sx="100000" sy="100000" kx="0" ky="0" algn="bl" rotWithShape="0" blurRad="63500" dist="25400" dir="5400000">
              <a:srgbClr val="1B2430">
                <a:alpha val="25000"/>
              </a:srgbClr>
            </a:outerShdw>
          </a:effectLst>
        </p:spPr>
      </p:sp>
      <p:pic>
        <p:nvPicPr>
          <p:cNvPr id="39" name="Image 14" descr="/home/user/talenleren/neerlandais1/generateur/img/vijfzinnen/a1_ditbenik_s.jpg">    </p:cNvPr>
          <p:cNvPicPr>
            <a:picLocks noChangeAspect="1"/>
          </p:cNvPicPr>
          <p:nvPr/>
        </p:nvPicPr>
        <p:blipFill>
          <a:blip r:embed="rId15"/>
          <a:stretch>
            <a:fillRect/>
          </a:stretch>
        </p:blipFill>
        <p:spPr>
          <a:xfrm>
            <a:off x="7680960" y="3248406"/>
            <a:ext cx="1280160" cy="800100"/>
          </a:xfrm>
          <a:prstGeom prst="rect">
            <a:avLst/>
          </a:prstGeom>
        </p:spPr>
      </p:pic>
      <p:sp>
        <p:nvSpPr>
          <p:cNvPr id="40" name="Text 22"/>
          <p:cNvSpPr txBox="1"/>
          <p:nvPr/>
        </p:nvSpPr>
        <p:spPr>
          <a:xfrm>
            <a:off x="7653528" y="4112514"/>
            <a:ext cx="1335024" cy="274320"/>
          </a:xfrm>
          <a:prstGeom prst="rect">
            <a:avLst/>
          </a:prstGeom>
          <a:noFill/>
          <a:ln/>
        </p:spPr>
        <p:txBody>
          <a:bodyPr wrap="square" lIns="0" tIns="0" rIns="0" bIns="0" rtlCol="0" anchor="t"/>
          <a:lstStyle/>
          <a:p>
            <a:pPr algn="l" indent="0" marL="0">
              <a:buNone/>
            </a:pPr>
            <a:r>
              <a:rPr lang="en-US" sz="950" b="1" dirty="0">
                <a:solidFill>
                  <a:srgbClr val="2B2F38"/>
                </a:solidFill>
                <a:latin typeface="Calibri" pitchFamily="34" charset="0"/>
                <a:ea typeface="Calibri" pitchFamily="34" charset="-122"/>
                <a:cs typeface="Calibri" pitchFamily="34" charset="-120"/>
              </a:rPr>
              <a:t>8 · Dit ben ik</a:t>
            </a:r>
            <a:endParaRPr lang="en-US" sz="950" dirty="0"/>
          </a:p>
        </p:txBody>
      </p:sp>
      <p:pic>
        <p:nvPicPr>
          <p:cNvPr id="41" name="Image 15" descr="PenNib">    </p:cNvPr>
          <p:cNvPicPr>
            <a:picLocks noChangeAspect="1"/>
          </p:cNvPicPr>
          <p:nvPr/>
        </p:nvPicPr>
        <p:blipFill>
          <a:blip r:embed="rId16"/>
          <a:stretch>
            <a:fillRect/>
          </a:stretch>
        </p:blipFill>
        <p:spPr>
          <a:xfrm>
            <a:off x="8741664" y="3303270"/>
            <a:ext cx="155448" cy="155448"/>
          </a:xfrm>
          <a:prstGeom prst="rect">
            <a:avLst/>
          </a:prstGeom>
        </p:spPr>
      </p:pic>
      <p:sp>
        <p:nvSpPr>
          <p:cNvPr id="42" name="Shape 23"/>
          <p:cNvSpPr/>
          <p:nvPr/>
        </p:nvSpPr>
        <p:spPr>
          <a:xfrm>
            <a:off x="9061704" y="3211830"/>
            <a:ext cx="1353312" cy="873252"/>
          </a:xfrm>
          <a:prstGeom prst="roundRect">
            <a:avLst>
              <a:gd name="adj" fmla="val 4188"/>
            </a:avLst>
          </a:prstGeom>
          <a:solidFill>
            <a:srgbClr val="FFFFFF"/>
          </a:solidFill>
          <a:ln w="9525">
            <a:solidFill>
              <a:srgbClr val="E3E7EE"/>
            </a:solidFill>
            <a:prstDash val="solid"/>
          </a:ln>
          <a:effectLst>
            <a:outerShdw sx="100000" sy="100000" kx="0" ky="0" algn="bl" rotWithShape="0" blurRad="63500" dist="25400" dir="5400000">
              <a:srgbClr val="1B2430">
                <a:alpha val="25000"/>
              </a:srgbClr>
            </a:outerShdw>
          </a:effectLst>
        </p:spPr>
      </p:sp>
      <p:pic>
        <p:nvPicPr>
          <p:cNvPr id="43" name="Image 16" descr="/home/user/talenleren/neerlandais1/generateur/img/vijfzinnen/a1_emma_s.jpg">    </p:cNvPr>
          <p:cNvPicPr>
            <a:picLocks noChangeAspect="1"/>
          </p:cNvPicPr>
          <p:nvPr/>
        </p:nvPicPr>
        <p:blipFill>
          <a:blip r:embed="rId17"/>
          <a:stretch>
            <a:fillRect/>
          </a:stretch>
        </p:blipFill>
        <p:spPr>
          <a:xfrm>
            <a:off x="9098280" y="3248406"/>
            <a:ext cx="1280160" cy="800100"/>
          </a:xfrm>
          <a:prstGeom prst="rect">
            <a:avLst/>
          </a:prstGeom>
        </p:spPr>
      </p:pic>
      <p:sp>
        <p:nvSpPr>
          <p:cNvPr id="44" name="Text 24"/>
          <p:cNvSpPr txBox="1"/>
          <p:nvPr/>
        </p:nvSpPr>
        <p:spPr>
          <a:xfrm>
            <a:off x="9070848" y="4112514"/>
            <a:ext cx="1335024" cy="274320"/>
          </a:xfrm>
          <a:prstGeom prst="rect">
            <a:avLst/>
          </a:prstGeom>
          <a:noFill/>
          <a:ln/>
        </p:spPr>
        <p:txBody>
          <a:bodyPr wrap="square" lIns="0" tIns="0" rIns="0" bIns="0" rtlCol="0" anchor="t"/>
          <a:lstStyle/>
          <a:p>
            <a:pPr algn="l" indent="0" marL="0">
              <a:buNone/>
            </a:pPr>
            <a:r>
              <a:rPr lang="en-US" sz="950" b="1" dirty="0">
                <a:solidFill>
                  <a:srgbClr val="2B2F38"/>
                </a:solidFill>
                <a:latin typeface="Calibri" pitchFamily="34" charset="0"/>
                <a:ea typeface="Calibri" pitchFamily="34" charset="-122"/>
                <a:cs typeface="Calibri" pitchFamily="34" charset="-120"/>
              </a:rPr>
              <a:t>9 · Dit is Emma</a:t>
            </a:r>
            <a:endParaRPr lang="en-US" sz="950" dirty="0"/>
          </a:p>
        </p:txBody>
      </p:sp>
      <p:pic>
        <p:nvPicPr>
          <p:cNvPr id="45" name="Image 17" descr="PenNib">    </p:cNvPr>
          <p:cNvPicPr>
            <a:picLocks noChangeAspect="1"/>
          </p:cNvPicPr>
          <p:nvPr/>
        </p:nvPicPr>
        <p:blipFill>
          <a:blip r:embed="rId18"/>
          <a:stretch>
            <a:fillRect/>
          </a:stretch>
        </p:blipFill>
        <p:spPr>
          <a:xfrm>
            <a:off x="10158984" y="3303270"/>
            <a:ext cx="155448" cy="155448"/>
          </a:xfrm>
          <a:prstGeom prst="rect">
            <a:avLst/>
          </a:prstGeom>
        </p:spPr>
      </p:pic>
      <p:sp>
        <p:nvSpPr>
          <p:cNvPr id="46" name="Shape 25"/>
          <p:cNvSpPr/>
          <p:nvPr/>
        </p:nvSpPr>
        <p:spPr>
          <a:xfrm>
            <a:off x="10479024" y="3211830"/>
            <a:ext cx="1353312" cy="873252"/>
          </a:xfrm>
          <a:prstGeom prst="roundRect">
            <a:avLst>
              <a:gd name="adj" fmla="val 4188"/>
            </a:avLst>
          </a:prstGeom>
          <a:solidFill>
            <a:srgbClr val="FFFFFF"/>
          </a:solidFill>
          <a:ln w="9525">
            <a:solidFill>
              <a:srgbClr val="E3E7EE"/>
            </a:solidFill>
            <a:prstDash val="solid"/>
          </a:ln>
          <a:effectLst>
            <a:outerShdw sx="100000" sy="100000" kx="0" ky="0" algn="bl" rotWithShape="0" blurRad="63500" dist="25400" dir="5400000">
              <a:srgbClr val="1B2430">
                <a:alpha val="25000"/>
              </a:srgbClr>
            </a:outerShdw>
          </a:effectLst>
        </p:spPr>
      </p:sp>
      <p:pic>
        <p:nvPicPr>
          <p:cNvPr id="47" name="Image 18" descr="/home/user/talenleren/neerlandais1/generateur/img/vijfzinnen/a1_honger_s.jpg">    </p:cNvPr>
          <p:cNvPicPr>
            <a:picLocks noChangeAspect="1"/>
          </p:cNvPicPr>
          <p:nvPr/>
        </p:nvPicPr>
        <p:blipFill>
          <a:blip r:embed="rId19"/>
          <a:stretch>
            <a:fillRect/>
          </a:stretch>
        </p:blipFill>
        <p:spPr>
          <a:xfrm>
            <a:off x="10515600" y="3248406"/>
            <a:ext cx="1280160" cy="800100"/>
          </a:xfrm>
          <a:prstGeom prst="rect">
            <a:avLst/>
          </a:prstGeom>
        </p:spPr>
      </p:pic>
      <p:sp>
        <p:nvSpPr>
          <p:cNvPr id="48" name="Text 26"/>
          <p:cNvSpPr txBox="1"/>
          <p:nvPr/>
        </p:nvSpPr>
        <p:spPr>
          <a:xfrm>
            <a:off x="10488168" y="4112514"/>
            <a:ext cx="1335024" cy="274320"/>
          </a:xfrm>
          <a:prstGeom prst="rect">
            <a:avLst/>
          </a:prstGeom>
          <a:noFill/>
          <a:ln/>
        </p:spPr>
        <p:txBody>
          <a:bodyPr wrap="square" lIns="0" tIns="0" rIns="0" bIns="0" rtlCol="0" anchor="t"/>
          <a:lstStyle/>
          <a:p>
            <a:pPr algn="l" indent="0" marL="0">
              <a:buNone/>
            </a:pPr>
            <a:r>
              <a:rPr lang="en-US" sz="950" b="1" dirty="0">
                <a:solidFill>
                  <a:srgbClr val="2B2F38"/>
                </a:solidFill>
                <a:latin typeface="Calibri" pitchFamily="34" charset="0"/>
                <a:ea typeface="Calibri" pitchFamily="34" charset="-122"/>
                <a:cs typeface="Calibri" pitchFamily="34" charset="-120"/>
              </a:rPr>
              <a:t>10 · Ik heb honger!</a:t>
            </a:r>
            <a:endParaRPr lang="en-US" sz="950" dirty="0"/>
          </a:p>
        </p:txBody>
      </p:sp>
      <p:pic>
        <p:nvPicPr>
          <p:cNvPr id="49" name="Image 19" descr="Comments">    </p:cNvPr>
          <p:cNvPicPr>
            <a:picLocks noChangeAspect="1"/>
          </p:cNvPicPr>
          <p:nvPr/>
        </p:nvPicPr>
        <p:blipFill>
          <a:blip r:embed="rId20"/>
          <a:stretch>
            <a:fillRect/>
          </a:stretch>
        </p:blipFill>
        <p:spPr>
          <a:xfrm>
            <a:off x="11576304" y="3303270"/>
            <a:ext cx="155448" cy="155448"/>
          </a:xfrm>
          <a:prstGeom prst="rect">
            <a:avLst/>
          </a:prstGeom>
        </p:spPr>
      </p:pic>
      <p:sp>
        <p:nvSpPr>
          <p:cNvPr id="50" name="Shape 27"/>
          <p:cNvSpPr/>
          <p:nvPr/>
        </p:nvSpPr>
        <p:spPr>
          <a:xfrm>
            <a:off x="4809744" y="4395978"/>
            <a:ext cx="1353312" cy="873252"/>
          </a:xfrm>
          <a:prstGeom prst="roundRect">
            <a:avLst>
              <a:gd name="adj" fmla="val 4188"/>
            </a:avLst>
          </a:prstGeom>
          <a:solidFill>
            <a:srgbClr val="FFFFFF"/>
          </a:solidFill>
          <a:ln w="9525">
            <a:solidFill>
              <a:srgbClr val="E3E7EE"/>
            </a:solidFill>
            <a:prstDash val="solid"/>
          </a:ln>
          <a:effectLst>
            <a:outerShdw sx="100000" sy="100000" kx="0" ky="0" algn="bl" rotWithShape="0" blurRad="63500" dist="25400" dir="5400000">
              <a:srgbClr val="1B2430">
                <a:alpha val="25000"/>
              </a:srgbClr>
            </a:outerShdw>
          </a:effectLst>
        </p:spPr>
      </p:sp>
      <p:pic>
        <p:nvPicPr>
          <p:cNvPr id="51" name="Image 20" descr="/home/user/talenleren/neerlandais1/generateur/img/vijfzinnen/a1_klas_s.jpg">    </p:cNvPr>
          <p:cNvPicPr>
            <a:picLocks noChangeAspect="1"/>
          </p:cNvPicPr>
          <p:nvPr/>
        </p:nvPicPr>
        <p:blipFill>
          <a:blip r:embed="rId21"/>
          <a:stretch>
            <a:fillRect/>
          </a:stretch>
        </p:blipFill>
        <p:spPr>
          <a:xfrm>
            <a:off x="4846320" y="4432554"/>
            <a:ext cx="1280160" cy="800100"/>
          </a:xfrm>
          <a:prstGeom prst="rect">
            <a:avLst/>
          </a:prstGeom>
        </p:spPr>
      </p:pic>
      <p:sp>
        <p:nvSpPr>
          <p:cNvPr id="52" name="Text 28"/>
          <p:cNvSpPr txBox="1"/>
          <p:nvPr/>
        </p:nvSpPr>
        <p:spPr>
          <a:xfrm>
            <a:off x="4818888" y="5296662"/>
            <a:ext cx="1335024" cy="274320"/>
          </a:xfrm>
          <a:prstGeom prst="rect">
            <a:avLst/>
          </a:prstGeom>
          <a:noFill/>
          <a:ln/>
        </p:spPr>
        <p:txBody>
          <a:bodyPr wrap="square" lIns="0" tIns="0" rIns="0" bIns="0" rtlCol="0" anchor="t"/>
          <a:lstStyle/>
          <a:p>
            <a:pPr algn="l" indent="0" marL="0">
              <a:buNone/>
            </a:pPr>
            <a:r>
              <a:rPr lang="en-US" sz="950" b="1" dirty="0">
                <a:solidFill>
                  <a:srgbClr val="2B2F38"/>
                </a:solidFill>
                <a:latin typeface="Calibri" pitchFamily="34" charset="0"/>
                <a:ea typeface="Calibri" pitchFamily="34" charset="-122"/>
                <a:cs typeface="Calibri" pitchFamily="34" charset="-120"/>
              </a:rPr>
              <a:t>11 · In de klas</a:t>
            </a:r>
            <a:endParaRPr lang="en-US" sz="950" dirty="0"/>
          </a:p>
        </p:txBody>
      </p:sp>
      <p:pic>
        <p:nvPicPr>
          <p:cNvPr id="53" name="Image 21" descr="PenNib">    </p:cNvPr>
          <p:cNvPicPr>
            <a:picLocks noChangeAspect="1"/>
          </p:cNvPicPr>
          <p:nvPr/>
        </p:nvPicPr>
        <p:blipFill>
          <a:blip r:embed="rId22"/>
          <a:stretch>
            <a:fillRect/>
          </a:stretch>
        </p:blipFill>
        <p:spPr>
          <a:xfrm>
            <a:off x="5907024" y="4487418"/>
            <a:ext cx="155448" cy="155448"/>
          </a:xfrm>
          <a:prstGeom prst="rect">
            <a:avLst/>
          </a:prstGeom>
        </p:spPr>
      </p:pic>
      <p:sp>
        <p:nvSpPr>
          <p:cNvPr id="54" name="Shape 29"/>
          <p:cNvSpPr/>
          <p:nvPr/>
        </p:nvSpPr>
        <p:spPr>
          <a:xfrm>
            <a:off x="6227064" y="4395978"/>
            <a:ext cx="1353312" cy="873252"/>
          </a:xfrm>
          <a:prstGeom prst="roundRect">
            <a:avLst>
              <a:gd name="adj" fmla="val 4188"/>
            </a:avLst>
          </a:prstGeom>
          <a:solidFill>
            <a:srgbClr val="FFFFFF"/>
          </a:solidFill>
          <a:ln w="9525">
            <a:solidFill>
              <a:srgbClr val="E3E7EE"/>
            </a:solidFill>
            <a:prstDash val="solid"/>
          </a:ln>
          <a:effectLst>
            <a:outerShdw sx="100000" sy="100000" kx="0" ky="0" algn="bl" rotWithShape="0" blurRad="63500" dist="25400" dir="5400000">
              <a:srgbClr val="1B2430">
                <a:alpha val="25000"/>
              </a:srgbClr>
            </a:outerShdw>
          </a:effectLst>
        </p:spPr>
      </p:sp>
      <p:pic>
        <p:nvPicPr>
          <p:cNvPr id="55" name="Image 22" descr="/home/user/talenleren/neerlandais1/generateur/img/vijfzinnen/a1_totstraks_s.jpg">    </p:cNvPr>
          <p:cNvPicPr>
            <a:picLocks noChangeAspect="1"/>
          </p:cNvPicPr>
          <p:nvPr/>
        </p:nvPicPr>
        <p:blipFill>
          <a:blip r:embed="rId23"/>
          <a:stretch>
            <a:fillRect/>
          </a:stretch>
        </p:blipFill>
        <p:spPr>
          <a:xfrm>
            <a:off x="6263640" y="4432554"/>
            <a:ext cx="1280160" cy="800100"/>
          </a:xfrm>
          <a:prstGeom prst="rect">
            <a:avLst/>
          </a:prstGeom>
        </p:spPr>
      </p:pic>
      <p:sp>
        <p:nvSpPr>
          <p:cNvPr id="56" name="Text 30"/>
          <p:cNvSpPr txBox="1"/>
          <p:nvPr/>
        </p:nvSpPr>
        <p:spPr>
          <a:xfrm>
            <a:off x="6236208" y="5296662"/>
            <a:ext cx="1335024" cy="274320"/>
          </a:xfrm>
          <a:prstGeom prst="rect">
            <a:avLst/>
          </a:prstGeom>
          <a:noFill/>
          <a:ln/>
        </p:spPr>
        <p:txBody>
          <a:bodyPr wrap="square" lIns="0" tIns="0" rIns="0" bIns="0" rtlCol="0" anchor="t"/>
          <a:lstStyle/>
          <a:p>
            <a:pPr algn="l" indent="0" marL="0">
              <a:buNone/>
            </a:pPr>
            <a:r>
              <a:rPr lang="en-US" sz="950" b="1" dirty="0">
                <a:solidFill>
                  <a:srgbClr val="2B2F38"/>
                </a:solidFill>
                <a:latin typeface="Calibri" pitchFamily="34" charset="0"/>
                <a:ea typeface="Calibri" pitchFamily="34" charset="-122"/>
                <a:cs typeface="Calibri" pitchFamily="34" charset="-120"/>
              </a:rPr>
              <a:t>12 · Tot straks!</a:t>
            </a:r>
            <a:endParaRPr lang="en-US" sz="950" dirty="0"/>
          </a:p>
        </p:txBody>
      </p:sp>
      <p:pic>
        <p:nvPicPr>
          <p:cNvPr id="57" name="Image 23" descr="Comments">    </p:cNvPr>
          <p:cNvPicPr>
            <a:picLocks noChangeAspect="1"/>
          </p:cNvPicPr>
          <p:nvPr/>
        </p:nvPicPr>
        <p:blipFill>
          <a:blip r:embed="rId24"/>
          <a:stretch>
            <a:fillRect/>
          </a:stretch>
        </p:blipFill>
        <p:spPr>
          <a:xfrm>
            <a:off x="7324344" y="4487418"/>
            <a:ext cx="155448" cy="155448"/>
          </a:xfrm>
          <a:prstGeom prst="rect">
            <a:avLst/>
          </a:prstGeom>
        </p:spPr>
      </p:pic>
      <p:sp>
        <p:nvSpPr>
          <p:cNvPr id="58" name="Shape 31"/>
          <p:cNvSpPr/>
          <p:nvPr/>
        </p:nvSpPr>
        <p:spPr>
          <a:xfrm>
            <a:off x="7644384" y="4395978"/>
            <a:ext cx="1353312" cy="873252"/>
          </a:xfrm>
          <a:prstGeom prst="roundRect">
            <a:avLst>
              <a:gd name="adj" fmla="val 4188"/>
            </a:avLst>
          </a:prstGeom>
          <a:solidFill>
            <a:srgbClr val="FFFFFF"/>
          </a:solidFill>
          <a:ln w="9525">
            <a:solidFill>
              <a:srgbClr val="E3E7EE"/>
            </a:solidFill>
            <a:prstDash val="solid"/>
          </a:ln>
          <a:effectLst>
            <a:outerShdw sx="100000" sy="100000" kx="0" ky="0" algn="bl" rotWithShape="0" blurRad="63500" dist="25400" dir="5400000">
              <a:srgbClr val="1B2430">
                <a:alpha val="25000"/>
              </a:srgbClr>
            </a:outerShdw>
          </a:effectLst>
        </p:spPr>
      </p:sp>
      <p:pic>
        <p:nvPicPr>
          <p:cNvPr id="59" name="Image 24" descr="/home/user/talenleren/neerlandais1/generateur/img/vijfzinnen/a1_fijneavond_s.jpg">    </p:cNvPr>
          <p:cNvPicPr>
            <a:picLocks noChangeAspect="1"/>
          </p:cNvPicPr>
          <p:nvPr/>
        </p:nvPicPr>
        <p:blipFill>
          <a:blip r:embed="rId25"/>
          <a:stretch>
            <a:fillRect/>
          </a:stretch>
        </p:blipFill>
        <p:spPr>
          <a:xfrm>
            <a:off x="7680960" y="4432554"/>
            <a:ext cx="1280160" cy="800100"/>
          </a:xfrm>
          <a:prstGeom prst="rect">
            <a:avLst/>
          </a:prstGeom>
        </p:spPr>
      </p:pic>
      <p:sp>
        <p:nvSpPr>
          <p:cNvPr id="60" name="Text 32"/>
          <p:cNvSpPr txBox="1"/>
          <p:nvPr/>
        </p:nvSpPr>
        <p:spPr>
          <a:xfrm>
            <a:off x="7653528" y="5296662"/>
            <a:ext cx="1335024" cy="274320"/>
          </a:xfrm>
          <a:prstGeom prst="rect">
            <a:avLst/>
          </a:prstGeom>
          <a:noFill/>
          <a:ln/>
        </p:spPr>
        <p:txBody>
          <a:bodyPr wrap="square" lIns="0" tIns="0" rIns="0" bIns="0" rtlCol="0" anchor="t"/>
          <a:lstStyle/>
          <a:p>
            <a:pPr algn="l" indent="0" marL="0">
              <a:buNone/>
            </a:pPr>
            <a:r>
              <a:rPr lang="en-US" sz="950" b="1" dirty="0">
                <a:solidFill>
                  <a:srgbClr val="2B2F38"/>
                </a:solidFill>
                <a:latin typeface="Calibri" pitchFamily="34" charset="0"/>
                <a:ea typeface="Calibri" pitchFamily="34" charset="-122"/>
                <a:cs typeface="Calibri" pitchFamily="34" charset="-120"/>
              </a:rPr>
              <a:t>13 · Fijne avond!</a:t>
            </a:r>
            <a:endParaRPr lang="en-US" sz="950" dirty="0"/>
          </a:p>
        </p:txBody>
      </p:sp>
      <p:pic>
        <p:nvPicPr>
          <p:cNvPr id="61" name="Image 25" descr="Comments">    </p:cNvPr>
          <p:cNvPicPr>
            <a:picLocks noChangeAspect="1"/>
          </p:cNvPicPr>
          <p:nvPr/>
        </p:nvPicPr>
        <p:blipFill>
          <a:blip r:embed="rId26"/>
          <a:stretch>
            <a:fillRect/>
          </a:stretch>
        </p:blipFill>
        <p:spPr>
          <a:xfrm>
            <a:off x="8741664" y="4487418"/>
            <a:ext cx="155448" cy="155448"/>
          </a:xfrm>
          <a:prstGeom prst="rect">
            <a:avLst/>
          </a:prstGeom>
        </p:spPr>
      </p:pic>
      <p:sp>
        <p:nvSpPr>
          <p:cNvPr id="62" name="Shape 33"/>
          <p:cNvSpPr/>
          <p:nvPr/>
        </p:nvSpPr>
        <p:spPr>
          <a:xfrm>
            <a:off x="9061704" y="4395978"/>
            <a:ext cx="1353312" cy="873252"/>
          </a:xfrm>
          <a:prstGeom prst="roundRect">
            <a:avLst>
              <a:gd name="adj" fmla="val 4188"/>
            </a:avLst>
          </a:prstGeom>
          <a:solidFill>
            <a:srgbClr val="FFFFFF"/>
          </a:solidFill>
          <a:ln w="9525">
            <a:solidFill>
              <a:srgbClr val="E3E7EE"/>
            </a:solidFill>
            <a:prstDash val="solid"/>
          </a:ln>
          <a:effectLst>
            <a:outerShdw sx="100000" sy="100000" kx="0" ky="0" algn="bl" rotWithShape="0" blurRad="63500" dist="25400" dir="5400000">
              <a:srgbClr val="1B2430">
                <a:alpha val="25000"/>
              </a:srgbClr>
            </a:outerShdw>
          </a:effectLst>
        </p:spPr>
      </p:sp>
      <p:pic>
        <p:nvPicPr>
          <p:cNvPr id="63" name="Image 26" descr="/home/user/talenleren/neerlandais1/generateur/img/vijfzinnen/a1_steljezelfvoor_s.jpg">    </p:cNvPr>
          <p:cNvPicPr>
            <a:picLocks noChangeAspect="1"/>
          </p:cNvPicPr>
          <p:nvPr/>
        </p:nvPicPr>
        <p:blipFill>
          <a:blip r:embed="rId27"/>
          <a:stretch>
            <a:fillRect/>
          </a:stretch>
        </p:blipFill>
        <p:spPr>
          <a:xfrm>
            <a:off x="9098280" y="4432554"/>
            <a:ext cx="1280160" cy="800100"/>
          </a:xfrm>
          <a:prstGeom prst="rect">
            <a:avLst/>
          </a:prstGeom>
        </p:spPr>
      </p:pic>
      <p:sp>
        <p:nvSpPr>
          <p:cNvPr id="64" name="Text 34"/>
          <p:cNvSpPr txBox="1"/>
          <p:nvPr/>
        </p:nvSpPr>
        <p:spPr>
          <a:xfrm>
            <a:off x="9070848" y="5296662"/>
            <a:ext cx="1335024" cy="274320"/>
          </a:xfrm>
          <a:prstGeom prst="rect">
            <a:avLst/>
          </a:prstGeom>
          <a:noFill/>
          <a:ln/>
        </p:spPr>
        <p:txBody>
          <a:bodyPr wrap="square" lIns="0" tIns="0" rIns="0" bIns="0" rtlCol="0" anchor="t"/>
          <a:lstStyle/>
          <a:p>
            <a:pPr algn="l" indent="0" marL="0">
              <a:buNone/>
            </a:pPr>
            <a:r>
              <a:rPr lang="en-US" sz="950" b="1" dirty="0">
                <a:solidFill>
                  <a:srgbClr val="2B2F38"/>
                </a:solidFill>
                <a:latin typeface="Calibri" pitchFamily="34" charset="0"/>
                <a:ea typeface="Calibri" pitchFamily="34" charset="-122"/>
                <a:cs typeface="Calibri" pitchFamily="34" charset="-120"/>
              </a:rPr>
              <a:t>14 · Stel jezelf voor</a:t>
            </a:r>
            <a:endParaRPr lang="en-US" sz="950" dirty="0"/>
          </a:p>
        </p:txBody>
      </p:sp>
      <p:pic>
        <p:nvPicPr>
          <p:cNvPr id="65" name="Image 27" descr="Comments">    </p:cNvPr>
          <p:cNvPicPr>
            <a:picLocks noChangeAspect="1"/>
          </p:cNvPicPr>
          <p:nvPr/>
        </p:nvPicPr>
        <p:blipFill>
          <a:blip r:embed="rId28"/>
          <a:stretch>
            <a:fillRect/>
          </a:stretch>
        </p:blipFill>
        <p:spPr>
          <a:xfrm>
            <a:off x="10158984" y="4487418"/>
            <a:ext cx="155448" cy="155448"/>
          </a:xfrm>
          <a:prstGeom prst="rect">
            <a:avLst/>
          </a:prstGeom>
        </p:spPr>
      </p:pic>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1554480" y="384048"/>
            <a:ext cx="10241280" cy="658368"/>
          </a:xfrm>
          <a:prstGeom prst="rect">
            <a:avLst/>
          </a:prstGeom>
          <a:noFill/>
          <a:ln/>
        </p:spPr>
        <p:txBody>
          <a:bodyPr wrap="square" lIns="0" tIns="0" rIns="0" bIns="0" rtlCol="0" anchor="ctr"/>
          <a:lstStyle/>
          <a:p>
            <a:pPr algn="ctr" indent="0" marL="0">
              <a:buNone/>
            </a:pPr>
            <a:r>
              <a:rPr lang="en-US" sz="3000" b="1" dirty="0">
                <a:solidFill>
                  <a:srgbClr val="2B2F38"/>
                </a:solidFill>
              </a:rPr>
              <a:t>Gebruik deze afbeelding als inspiratie</a:t>
            </a:r>
            <a:endParaRPr lang="en-US" sz="3000" dirty="0"/>
          </a:p>
        </p:txBody>
      </p:sp>
      <p:sp>
        <p:nvSpPr>
          <p:cNvPr id="4" name="Shape 1"/>
          <p:cNvSpPr/>
          <p:nvPr/>
        </p:nvSpPr>
        <p:spPr>
          <a:xfrm>
            <a:off x="365760" y="365760"/>
            <a:ext cx="868680" cy="5989320"/>
          </a:xfrm>
          <a:prstGeom prst="roundRect">
            <a:avLst>
              <a:gd name="adj" fmla="val 12632"/>
            </a:avLst>
          </a:prstGeom>
          <a:solidFill>
            <a:srgbClr val="E6F4EA"/>
          </a:solidFill>
          <a:ln w="28575">
            <a:solidFill>
              <a:srgbClr val="6DBE8A"/>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3D8C5A"/>
                </a:solidFill>
                <a:latin typeface="Calibri" pitchFamily="34" charset="0"/>
                <a:ea typeface="Calibri" pitchFamily="34" charset="-122"/>
                <a:cs typeface="Calibri" pitchFamily="34" charset="-120"/>
              </a:rPr>
              <a:t>A1 · Premiers pas</a:t>
            </a:r>
            <a:endParaRPr lang="en-US" sz="3800" dirty="0"/>
          </a:p>
        </p:txBody>
      </p:sp>
      <p:sp>
        <p:nvSpPr>
          <p:cNvPr id="6" name="Text 3"/>
          <p:cNvSpPr txBox="1"/>
          <p:nvPr/>
        </p:nvSpPr>
        <p:spPr>
          <a:xfrm>
            <a:off x="1554480" y="1024128"/>
            <a:ext cx="10241280" cy="365760"/>
          </a:xfrm>
          <a:prstGeom prst="rect">
            <a:avLst/>
          </a:prstGeom>
          <a:noFill/>
          <a:ln/>
        </p:spPr>
        <p:txBody>
          <a:bodyPr wrap="square" lIns="0" tIns="0" rIns="0" bIns="0" rtlCol="0" anchor="ctr"/>
          <a:lstStyle/>
          <a:p>
            <a:pPr algn="ctr" indent="0" marL="0">
              <a:buNone/>
            </a:pPr>
            <a:r>
              <a:rPr lang="en-US" sz="1500" b="1" dirty="0">
                <a:solidFill>
                  <a:srgbClr val="3D8C5A"/>
                </a:solidFill>
                <a:latin typeface="Calibri" pitchFamily="34" charset="0"/>
                <a:ea typeface="Calibri" pitchFamily="34" charset="-122"/>
                <a:cs typeface="Calibri" pitchFamily="34" charset="-120"/>
              </a:rPr>
              <a:t>1 · Goedemorgen!</a:t>
            </a:r>
            <a:r>
              <a:rPr lang="en-US" sz="1500" i="1" dirty="0">
                <a:solidFill>
                  <a:srgbClr val="6B7280"/>
                </a:solidFill>
                <a:latin typeface="Calibri" pitchFamily="34" charset="0"/>
                <a:ea typeface="Calibri" pitchFamily="34" charset="-122"/>
                <a:cs typeface="Calibri" pitchFamily="34" charset="-120"/>
              </a:rPr>
              <a:t>   Bonjour !</a:t>
            </a:r>
            <a:r>
              <a:rPr lang="en-US" sz="1200" dirty="0">
                <a:solidFill>
                  <a:srgbClr val="9AA3B2"/>
                </a:solidFill>
                <a:latin typeface="Calibri" pitchFamily="34" charset="0"/>
                <a:ea typeface="Calibri" pitchFamily="34" charset="-122"/>
                <a:cs typeface="Calibri" pitchFamily="34" charset="-120"/>
              </a:rPr>
              <a:t>   ·   syllabus 1.1 · p. 4</a:t>
            </a:r>
            <a:endParaRPr lang="en-US" sz="1500" dirty="0"/>
          </a:p>
        </p:txBody>
      </p:sp>
      <p:sp>
        <p:nvSpPr>
          <p:cNvPr id="7" name="Shape 4"/>
          <p:cNvSpPr/>
          <p:nvPr/>
        </p:nvSpPr>
        <p:spPr>
          <a:xfrm>
            <a:off x="1596085" y="1504645"/>
            <a:ext cx="4534510" cy="2905735"/>
          </a:xfrm>
          <a:prstGeom prst="roundRect">
            <a:avLst>
              <a:gd name="adj" fmla="val 1259"/>
            </a:avLst>
          </a:prstGeom>
          <a:solidFill>
            <a:srgbClr val="FFFFFF"/>
          </a:solidFill>
          <a:ln w="9525">
            <a:solidFill>
              <a:srgbClr val="E3E7EE"/>
            </a:solidFill>
            <a:prstDash val="solid"/>
          </a:ln>
          <a:effectLst>
            <a:outerShdw sx="100000" sy="100000" kx="0" ky="0" algn="bl" rotWithShape="0" blurRad="127000" dist="50800" dir="5400000">
              <a:srgbClr val="1B2430">
                <a:alpha val="25000"/>
              </a:srgbClr>
            </a:outerShdw>
          </a:effectLst>
        </p:spPr>
      </p:sp>
      <p:pic>
        <p:nvPicPr>
          <p:cNvPr id="8" name="Image 0" descr="/home/user/talenleren/neerlandais1/generateur/img/vijfzinnen/a1_goedemorgen_s.jpg">    </p:cNvPr>
          <p:cNvPicPr>
            <a:picLocks noChangeAspect="1"/>
          </p:cNvPicPr>
          <p:nvPr/>
        </p:nvPicPr>
        <p:blipFill>
          <a:blip r:embed="rId1"/>
          <a:stretch>
            <a:fillRect/>
          </a:stretch>
        </p:blipFill>
        <p:spPr>
          <a:xfrm>
            <a:off x="1691640" y="1600200"/>
            <a:ext cx="4343400" cy="2714625"/>
          </a:xfrm>
          <a:prstGeom prst="rect">
            <a:avLst/>
          </a:prstGeom>
        </p:spPr>
      </p:pic>
      <p:sp>
        <p:nvSpPr>
          <p:cNvPr id="9" name="Shape 5"/>
          <p:cNvSpPr/>
          <p:nvPr/>
        </p:nvSpPr>
        <p:spPr>
          <a:xfrm>
            <a:off x="1691640" y="4572000"/>
            <a:ext cx="1600200" cy="365760"/>
          </a:xfrm>
          <a:prstGeom prst="roundRect">
            <a:avLst>
              <a:gd name="adj" fmla="val 50000"/>
            </a:avLst>
          </a:prstGeom>
          <a:solidFill>
            <a:srgbClr val="FDF1E6"/>
          </a:solidFill>
          <a:ln w="12700">
            <a:solidFill>
              <a:srgbClr val="D9822B"/>
            </a:solidFill>
            <a:prstDash val="solid"/>
          </a:ln>
        </p:spPr>
      </p:sp>
      <p:pic>
        <p:nvPicPr>
          <p:cNvPr id="10" name="Image 1" descr="Comments">    </p:cNvPr>
          <p:cNvPicPr>
            <a:picLocks noChangeAspect="1"/>
          </p:cNvPicPr>
          <p:nvPr/>
        </p:nvPicPr>
        <p:blipFill>
          <a:blip r:embed="rId2"/>
          <a:stretch>
            <a:fillRect/>
          </a:stretch>
        </p:blipFill>
        <p:spPr>
          <a:xfrm>
            <a:off x="1819656" y="4654296"/>
            <a:ext cx="201168" cy="201168"/>
          </a:xfrm>
          <a:prstGeom prst="rect">
            <a:avLst/>
          </a:prstGeom>
        </p:spPr>
      </p:pic>
      <p:sp>
        <p:nvSpPr>
          <p:cNvPr id="11" name="Text 6"/>
          <p:cNvSpPr txBox="1"/>
          <p:nvPr/>
        </p:nvSpPr>
        <p:spPr>
          <a:xfrm>
            <a:off x="2075688" y="4572000"/>
            <a:ext cx="1143000" cy="365760"/>
          </a:xfrm>
          <a:prstGeom prst="rect">
            <a:avLst/>
          </a:prstGeom>
          <a:noFill/>
          <a:ln/>
        </p:spPr>
        <p:txBody>
          <a:bodyPr wrap="square" lIns="0" tIns="0" rIns="0" bIns="0" rtlCol="0" anchor="ctr"/>
          <a:lstStyle/>
          <a:p>
            <a:pPr algn="l" indent="0" marL="0">
              <a:buNone/>
            </a:pPr>
            <a:r>
              <a:rPr lang="en-US" sz="1150" b="1" spc="100" kern="0" dirty="0">
                <a:solidFill>
                  <a:srgbClr val="D9822B"/>
                </a:solidFill>
                <a:latin typeface="Calibri" pitchFamily="34" charset="0"/>
                <a:ea typeface="Calibri" pitchFamily="34" charset="-122"/>
                <a:cs typeface="Calibri" pitchFamily="34" charset="-120"/>
              </a:rPr>
              <a:t>À L’ORAL</a:t>
            </a:r>
            <a:endParaRPr lang="en-US" sz="1150" dirty="0"/>
          </a:p>
        </p:txBody>
      </p:sp>
      <p:sp>
        <p:nvSpPr>
          <p:cNvPr id="12" name="Text 7"/>
          <p:cNvSpPr txBox="1"/>
          <p:nvPr/>
        </p:nvSpPr>
        <p:spPr>
          <a:xfrm>
            <a:off x="3429000" y="4544568"/>
            <a:ext cx="2651760" cy="731520"/>
          </a:xfrm>
          <a:prstGeom prst="rect">
            <a:avLst/>
          </a:prstGeom>
          <a:noFill/>
          <a:ln/>
        </p:spPr>
        <p:txBody>
          <a:bodyPr wrap="square" lIns="0" tIns="0" rIns="0" bIns="0" rtlCol="0" anchor="t"/>
          <a:lstStyle/>
          <a:p>
            <a:pPr algn="l" indent="0" marL="0">
              <a:buNone/>
            </a:pPr>
            <a:r>
              <a:rPr lang="en-US" sz="1150" i="1" dirty="0">
                <a:solidFill>
                  <a:srgbClr val="6B7280"/>
                </a:solidFill>
                <a:latin typeface="Calibri" pitchFamily="34" charset="0"/>
                <a:ea typeface="Calibri" pitchFamily="34" charset="-122"/>
                <a:cs typeface="Calibri" pitchFamily="34" charset="-120"/>
              </a:rPr>
              <a:t>Il est 8 h. Vous arrivez au cours et vous saluez Pieter.</a:t>
            </a:r>
            <a:endParaRPr lang="en-US" sz="1150" dirty="0"/>
          </a:p>
        </p:txBody>
      </p:sp>
      <p:sp>
        <p:nvSpPr>
          <p:cNvPr id="13" name="Shape 8"/>
          <p:cNvSpPr/>
          <p:nvPr/>
        </p:nvSpPr>
        <p:spPr>
          <a:xfrm>
            <a:off x="6355080" y="1833372"/>
            <a:ext cx="914400" cy="402336"/>
          </a:xfrm>
          <a:prstGeom prst="roundRect">
            <a:avLst>
              <a:gd name="adj" fmla="val 13636"/>
            </a:avLst>
          </a:prstGeom>
          <a:solidFill>
            <a:srgbClr val="5FA873"/>
          </a:solidFill>
          <a:ln w="12700">
            <a:solidFill>
              <a:srgbClr val="FFFFFF">
                <a:alpha val="0"/>
              </a:srgbClr>
            </a:solidFill>
            <a:prstDash val="solid"/>
          </a:ln>
        </p:spPr>
      </p:sp>
      <p:sp>
        <p:nvSpPr>
          <p:cNvPr id="14" name="Text 9"/>
          <p:cNvSpPr txBox="1"/>
          <p:nvPr/>
        </p:nvSpPr>
        <p:spPr>
          <a:xfrm>
            <a:off x="6355080" y="183337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1</a:t>
            </a:r>
            <a:endParaRPr lang="en-US" sz="1600" dirty="0"/>
          </a:p>
        </p:txBody>
      </p:sp>
      <p:sp>
        <p:nvSpPr>
          <p:cNvPr id="15" name="Text 10"/>
          <p:cNvSpPr txBox="1"/>
          <p:nvPr/>
        </p:nvSpPr>
        <p:spPr>
          <a:xfrm>
            <a:off x="7406640" y="1778508"/>
            <a:ext cx="4389120" cy="512064"/>
          </a:xfrm>
          <a:prstGeom prst="rect">
            <a:avLst/>
          </a:prstGeom>
          <a:noFill/>
          <a:ln/>
        </p:spPr>
        <p:txBody>
          <a:bodyPr wrap="square" lIns="0" tIns="0" rIns="0" bIns="0" rtlCol="0" anchor="ctr"/>
          <a:lstStyle/>
          <a:p>
            <a:pPr algn="l" indent="0" marL="0">
              <a:buNone/>
            </a:pPr>
            <a:r>
              <a:rPr lang="en-US" sz="1600" dirty="0">
                <a:solidFill>
                  <a:srgbClr val="2B2F38"/>
                </a:solidFill>
              </a:rPr>
              <a:t>Saluez selon le moment : </a:t>
            </a:r>
            <a:r>
              <a:rPr lang="en-US" sz="1600" b="1" dirty="0">
                <a:solidFill>
                  <a:srgbClr val="2B2F38"/>
                </a:solidFill>
              </a:rPr>
              <a:t>GOEDEMORGEN</a:t>
            </a:r>
            <a:r>
              <a:rPr lang="en-US" sz="1600" dirty="0">
                <a:solidFill>
                  <a:srgbClr val="2B2F38"/>
                </a:solidFill>
              </a:rPr>
              <a:t> + un prénom.</a:t>
            </a:r>
            <a:endParaRPr lang="en-US" sz="1600" dirty="0"/>
          </a:p>
        </p:txBody>
      </p:sp>
      <p:sp>
        <p:nvSpPr>
          <p:cNvPr id="16" name="Shape 11"/>
          <p:cNvSpPr/>
          <p:nvPr/>
        </p:nvSpPr>
        <p:spPr>
          <a:xfrm>
            <a:off x="6355080" y="2702052"/>
            <a:ext cx="914400" cy="402336"/>
          </a:xfrm>
          <a:prstGeom prst="roundRect">
            <a:avLst>
              <a:gd name="adj" fmla="val 13636"/>
            </a:avLst>
          </a:prstGeom>
          <a:solidFill>
            <a:srgbClr val="5FA873"/>
          </a:solidFill>
          <a:ln w="12700">
            <a:solidFill>
              <a:srgbClr val="FFFFFF">
                <a:alpha val="0"/>
              </a:srgbClr>
            </a:solidFill>
            <a:prstDash val="solid"/>
          </a:ln>
        </p:spPr>
      </p:sp>
      <p:sp>
        <p:nvSpPr>
          <p:cNvPr id="17" name="Text 12"/>
          <p:cNvSpPr txBox="1"/>
          <p:nvPr/>
        </p:nvSpPr>
        <p:spPr>
          <a:xfrm>
            <a:off x="6355080" y="270205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2</a:t>
            </a:r>
            <a:endParaRPr lang="en-US" sz="1600" dirty="0"/>
          </a:p>
        </p:txBody>
      </p:sp>
      <p:sp>
        <p:nvSpPr>
          <p:cNvPr id="18" name="Text 13"/>
          <p:cNvSpPr txBox="1"/>
          <p:nvPr/>
        </p:nvSpPr>
        <p:spPr>
          <a:xfrm>
            <a:off x="7406640" y="2647188"/>
            <a:ext cx="4389120" cy="512064"/>
          </a:xfrm>
          <a:prstGeom prst="rect">
            <a:avLst/>
          </a:prstGeom>
          <a:noFill/>
          <a:ln/>
        </p:spPr>
        <p:txBody>
          <a:bodyPr wrap="square" lIns="0" tIns="0" rIns="0" bIns="0" rtlCol="0" anchor="ctr"/>
          <a:lstStyle/>
          <a:p>
            <a:pPr algn="l" indent="0" marL="0">
              <a:buNone/>
            </a:pPr>
            <a:r>
              <a:rPr lang="en-US" sz="1600" dirty="0">
                <a:solidFill>
                  <a:srgbClr val="2B2F38"/>
                </a:solidFill>
              </a:rPr>
              <a:t>Dites qui vous êtes : </a:t>
            </a:r>
            <a:r>
              <a:rPr lang="en-US" sz="1600" b="1" dirty="0">
                <a:solidFill>
                  <a:srgbClr val="2B2F38"/>
                </a:solidFill>
              </a:rPr>
              <a:t>IK BEN</a:t>
            </a:r>
            <a:r>
              <a:rPr lang="en-US" sz="1600" dirty="0">
                <a:solidFill>
                  <a:srgbClr val="2B2F38"/>
                </a:solidFill>
              </a:rPr>
              <a:t> + votre prénom.</a:t>
            </a:r>
            <a:endParaRPr lang="en-US" sz="1600" dirty="0"/>
          </a:p>
        </p:txBody>
      </p:sp>
      <p:sp>
        <p:nvSpPr>
          <p:cNvPr id="19" name="Shape 14"/>
          <p:cNvSpPr/>
          <p:nvPr/>
        </p:nvSpPr>
        <p:spPr>
          <a:xfrm>
            <a:off x="6355080" y="3570732"/>
            <a:ext cx="914400" cy="402336"/>
          </a:xfrm>
          <a:prstGeom prst="roundRect">
            <a:avLst>
              <a:gd name="adj" fmla="val 13636"/>
            </a:avLst>
          </a:prstGeom>
          <a:solidFill>
            <a:srgbClr val="5FA873"/>
          </a:solidFill>
          <a:ln w="12700">
            <a:solidFill>
              <a:srgbClr val="FFFFFF">
                <a:alpha val="0"/>
              </a:srgbClr>
            </a:solidFill>
            <a:prstDash val="solid"/>
          </a:ln>
        </p:spPr>
      </p:sp>
      <p:sp>
        <p:nvSpPr>
          <p:cNvPr id="20" name="Text 15"/>
          <p:cNvSpPr txBox="1"/>
          <p:nvPr/>
        </p:nvSpPr>
        <p:spPr>
          <a:xfrm>
            <a:off x="6355080" y="357073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3</a:t>
            </a:r>
            <a:endParaRPr lang="en-US" sz="1600" dirty="0"/>
          </a:p>
        </p:txBody>
      </p:sp>
      <p:sp>
        <p:nvSpPr>
          <p:cNvPr id="21" name="Text 16"/>
          <p:cNvSpPr txBox="1"/>
          <p:nvPr/>
        </p:nvSpPr>
        <p:spPr>
          <a:xfrm>
            <a:off x="7406640" y="3515868"/>
            <a:ext cx="4389120" cy="512064"/>
          </a:xfrm>
          <a:prstGeom prst="rect">
            <a:avLst/>
          </a:prstGeom>
          <a:noFill/>
          <a:ln/>
        </p:spPr>
        <p:txBody>
          <a:bodyPr wrap="square" lIns="0" tIns="0" rIns="0" bIns="0" rtlCol="0" anchor="ctr"/>
          <a:lstStyle/>
          <a:p>
            <a:pPr algn="l" indent="0" marL="0">
              <a:buNone/>
            </a:pPr>
            <a:r>
              <a:rPr lang="en-US" sz="1600" dirty="0">
                <a:solidFill>
                  <a:srgbClr val="2B2F38"/>
                </a:solidFill>
              </a:rPr>
              <a:t>Une habitude du matin : </a:t>
            </a:r>
            <a:r>
              <a:rPr lang="en-US" sz="1600" b="1" dirty="0">
                <a:solidFill>
                  <a:srgbClr val="2B2F38"/>
                </a:solidFill>
              </a:rPr>
              <a:t>’S MORGENS</a:t>
            </a:r>
            <a:r>
              <a:rPr lang="en-US" sz="1600" dirty="0">
                <a:solidFill>
                  <a:srgbClr val="2B2F38"/>
                </a:solidFill>
              </a:rPr>
              <a:t> + verbe + </a:t>
            </a:r>
            <a:r>
              <a:rPr lang="en-US" sz="1600" b="1" dirty="0">
                <a:solidFill>
                  <a:srgbClr val="2B2F38"/>
                </a:solidFill>
              </a:rPr>
              <a:t>IK</a:t>
            </a:r>
            <a:r>
              <a:rPr lang="en-US" sz="1600" dirty="0">
                <a:solidFill>
                  <a:srgbClr val="2B2F38"/>
                </a:solidFill>
              </a:rPr>
              <a:t>.</a:t>
            </a:r>
            <a:endParaRPr lang="en-US" sz="1600" dirty="0"/>
          </a:p>
        </p:txBody>
      </p:sp>
      <p:sp>
        <p:nvSpPr>
          <p:cNvPr id="22" name="Shape 17"/>
          <p:cNvSpPr/>
          <p:nvPr/>
        </p:nvSpPr>
        <p:spPr>
          <a:xfrm>
            <a:off x="3246120" y="5440680"/>
            <a:ext cx="6858000" cy="822960"/>
          </a:xfrm>
          <a:prstGeom prst="roundRect">
            <a:avLst>
              <a:gd name="adj" fmla="val 17778"/>
            </a:avLst>
          </a:prstGeom>
          <a:solidFill>
            <a:srgbClr val="EAF5EC"/>
          </a:solidFill>
          <a:ln w="15875">
            <a:solidFill>
              <a:srgbClr val="5FA873"/>
            </a:solidFill>
            <a:prstDash val="solid"/>
          </a:ln>
        </p:spPr>
      </p:sp>
      <p:pic>
        <p:nvPicPr>
          <p:cNvPr id="23" name="Image 2" descr="UserFriends">    </p:cNvPr>
          <p:cNvPicPr>
            <a:picLocks noChangeAspect="1"/>
          </p:cNvPicPr>
          <p:nvPr/>
        </p:nvPicPr>
        <p:blipFill>
          <a:blip r:embed="rId3"/>
          <a:stretch>
            <a:fillRect/>
          </a:stretch>
        </p:blipFill>
        <p:spPr>
          <a:xfrm>
            <a:off x="3520440" y="5660136"/>
            <a:ext cx="384048" cy="384048"/>
          </a:xfrm>
          <a:prstGeom prst="rect">
            <a:avLst/>
          </a:prstGeom>
        </p:spPr>
      </p:pic>
      <p:sp>
        <p:nvSpPr>
          <p:cNvPr id="24" name="Text 18"/>
          <p:cNvSpPr txBox="1"/>
          <p:nvPr/>
        </p:nvSpPr>
        <p:spPr>
          <a:xfrm>
            <a:off x="4114800" y="5440680"/>
            <a:ext cx="5852160" cy="822960"/>
          </a:xfrm>
          <a:prstGeom prst="rect">
            <a:avLst/>
          </a:prstGeom>
          <a:noFill/>
          <a:ln/>
        </p:spPr>
        <p:txBody>
          <a:bodyPr wrap="square" lIns="0" tIns="0" rIns="0" bIns="0" rtlCol="0" anchor="ctr"/>
          <a:lstStyle/>
          <a:p>
            <a:pPr algn="ctr" indent="0" marL="0">
              <a:buNone/>
            </a:pPr>
            <a:r>
              <a:rPr lang="en-US" sz="1800" b="1" dirty="0">
                <a:solidFill>
                  <a:srgbClr val="2E6B44"/>
                </a:solidFill>
                <a:latin typeface="Calibri" pitchFamily="34" charset="0"/>
                <a:ea typeface="Calibri" pitchFamily="34" charset="-122"/>
                <a:cs typeface="Calibri" pitchFamily="34" charset="-120"/>
              </a:rPr>
              <a:t>Vertel je verhaal aan je partner.</a:t>
            </a:r>
            <a:endParaRPr lang="en-US" sz="1800" dirty="0"/>
          </a:p>
          <a:p>
            <a:pPr algn="ctr" indent="0" marL="0">
              <a:buNone/>
            </a:pPr>
            <a:r>
              <a:rPr lang="en-US" sz="1800" b="1" dirty="0">
                <a:solidFill>
                  <a:srgbClr val="2E6B44"/>
                </a:solidFill>
                <a:latin typeface="Calibri" pitchFamily="34" charset="0"/>
                <a:ea typeface="Calibri" pitchFamily="34" charset="-122"/>
                <a:cs typeface="Calibri" pitchFamily="34" charset="-120"/>
              </a:rPr>
              <a:t>Wat denkt hij/zij daarvan?</a:t>
            </a:r>
            <a:endParaRPr lang="en-US" sz="1800" dirty="0"/>
          </a:p>
        </p:txBody>
      </p:sp>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1554480" y="384048"/>
            <a:ext cx="10241280" cy="658368"/>
          </a:xfrm>
          <a:prstGeom prst="rect">
            <a:avLst/>
          </a:prstGeom>
          <a:noFill/>
          <a:ln/>
        </p:spPr>
        <p:txBody>
          <a:bodyPr wrap="square" lIns="0" tIns="0" rIns="0" bIns="0" rtlCol="0" anchor="ctr"/>
          <a:lstStyle/>
          <a:p>
            <a:pPr algn="ctr" indent="0" marL="0">
              <a:buNone/>
            </a:pPr>
            <a:r>
              <a:rPr lang="en-US" sz="3000" b="1" dirty="0">
                <a:solidFill>
                  <a:srgbClr val="2B2F38"/>
                </a:solidFill>
              </a:rPr>
              <a:t>Goedemorgen!</a:t>
            </a:r>
            <a:endParaRPr lang="en-US" sz="3000" dirty="0"/>
          </a:p>
        </p:txBody>
      </p:sp>
      <p:sp>
        <p:nvSpPr>
          <p:cNvPr id="4" name="Shape 1"/>
          <p:cNvSpPr/>
          <p:nvPr/>
        </p:nvSpPr>
        <p:spPr>
          <a:xfrm>
            <a:off x="365760" y="365760"/>
            <a:ext cx="868680" cy="5989320"/>
          </a:xfrm>
          <a:prstGeom prst="roundRect">
            <a:avLst>
              <a:gd name="adj" fmla="val 12632"/>
            </a:avLst>
          </a:prstGeom>
          <a:solidFill>
            <a:srgbClr val="E6F4EA"/>
          </a:solidFill>
          <a:ln w="28575">
            <a:solidFill>
              <a:srgbClr val="6DBE8A"/>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3D8C5A"/>
                </a:solidFill>
                <a:latin typeface="Calibri" pitchFamily="34" charset="0"/>
                <a:ea typeface="Calibri" pitchFamily="34" charset="-122"/>
                <a:cs typeface="Calibri" pitchFamily="34" charset="-120"/>
              </a:rPr>
              <a:t>A1 · Premiers pas</a:t>
            </a:r>
            <a:endParaRPr lang="en-US" sz="3800" dirty="0"/>
          </a:p>
        </p:txBody>
      </p:sp>
      <p:sp>
        <p:nvSpPr>
          <p:cNvPr id="6" name="Shape 3"/>
          <p:cNvSpPr/>
          <p:nvPr/>
        </p:nvSpPr>
        <p:spPr>
          <a:xfrm>
            <a:off x="2519172" y="1124712"/>
            <a:ext cx="8311896" cy="5277231"/>
          </a:xfrm>
          <a:prstGeom prst="roundRect">
            <a:avLst>
              <a:gd name="adj" fmla="val 693"/>
            </a:avLst>
          </a:prstGeom>
          <a:solidFill>
            <a:srgbClr val="FFFFFF"/>
          </a:solidFill>
          <a:ln w="9525">
            <a:solidFill>
              <a:srgbClr val="E3E7EE"/>
            </a:solidFill>
            <a:prstDash val="solid"/>
          </a:ln>
          <a:effectLst>
            <a:outerShdw sx="100000" sy="100000" kx="0" ky="0" algn="bl" rotWithShape="0" blurRad="177800" dist="63500" dir="5400000">
              <a:srgbClr val="1B2430">
                <a:alpha val="25000"/>
              </a:srgbClr>
            </a:outerShdw>
          </a:effectLst>
        </p:spPr>
      </p:sp>
      <p:pic>
        <p:nvPicPr>
          <p:cNvPr id="7" name="Image 0" descr="/home/user/talenleren/neerlandais1/generateur/img/vijfzinnen/a1_goedemorgen.jpg">    </p:cNvPr>
          <p:cNvPicPr>
            <a:picLocks noChangeAspect="1"/>
          </p:cNvPicPr>
          <p:nvPr/>
        </p:nvPicPr>
        <p:blipFill>
          <a:blip r:embed="rId1"/>
          <a:stretch>
            <a:fillRect/>
          </a:stretch>
        </p:blipFill>
        <p:spPr>
          <a:xfrm>
            <a:off x="2628900" y="1234440"/>
            <a:ext cx="8092440" cy="5057775"/>
          </a:xfrm>
          <a:prstGeom prst="rect">
            <a:avLst/>
          </a:prstGeom>
        </p:spPr>
      </p:pic>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1691640" y="347472"/>
            <a:ext cx="8138160" cy="914400"/>
          </a:xfrm>
          <a:prstGeom prst="rect">
            <a:avLst/>
          </a:prstGeom>
          <a:noFill/>
          <a:ln/>
        </p:spPr>
        <p:txBody>
          <a:bodyPr wrap="square" lIns="0" tIns="0" rIns="0" bIns="0" rtlCol="0" anchor="ctr"/>
          <a:lstStyle/>
          <a:p>
            <a:pPr algn="l" indent="0" marL="0">
              <a:buNone/>
            </a:pPr>
            <a:r>
              <a:rPr lang="en-US" sz="2400" b="1" dirty="0">
                <a:solidFill>
                  <a:srgbClr val="2B2F38"/>
                </a:solidFill>
              </a:rPr>
              <a:t>Hier is een voorbeeld van wat je had kunnen denken en zeggen…</a:t>
            </a:r>
            <a:endParaRPr lang="en-US" sz="2400" dirty="0"/>
          </a:p>
        </p:txBody>
      </p:sp>
      <p:sp>
        <p:nvSpPr>
          <p:cNvPr id="4" name="Shape 1"/>
          <p:cNvSpPr/>
          <p:nvPr/>
        </p:nvSpPr>
        <p:spPr>
          <a:xfrm>
            <a:off x="365760" y="365760"/>
            <a:ext cx="868680" cy="5989320"/>
          </a:xfrm>
          <a:prstGeom prst="roundRect">
            <a:avLst>
              <a:gd name="adj" fmla="val 12632"/>
            </a:avLst>
          </a:prstGeom>
          <a:solidFill>
            <a:srgbClr val="E6F4EA"/>
          </a:solidFill>
          <a:ln w="28575">
            <a:solidFill>
              <a:srgbClr val="6DBE8A"/>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3D8C5A"/>
                </a:solidFill>
                <a:latin typeface="Calibri" pitchFamily="34" charset="0"/>
                <a:ea typeface="Calibri" pitchFamily="34" charset="-122"/>
                <a:cs typeface="Calibri" pitchFamily="34" charset="-120"/>
              </a:rPr>
              <a:t>A1 · Premiers pas</a:t>
            </a:r>
            <a:endParaRPr lang="en-US" sz="3800" dirty="0"/>
          </a:p>
        </p:txBody>
      </p:sp>
      <p:sp>
        <p:nvSpPr>
          <p:cNvPr id="6" name="Shape 3"/>
          <p:cNvSpPr/>
          <p:nvPr/>
        </p:nvSpPr>
        <p:spPr>
          <a:xfrm>
            <a:off x="10058400" y="246888"/>
            <a:ext cx="1691640" cy="1091565"/>
          </a:xfrm>
          <a:prstGeom prst="roundRect">
            <a:avLst>
              <a:gd name="adj" fmla="val 3351"/>
            </a:avLst>
          </a:prstGeom>
          <a:solidFill>
            <a:srgbClr val="FFFFFF"/>
          </a:solidFill>
          <a:ln w="9525">
            <a:solidFill>
              <a:srgbClr val="E3E7EE"/>
            </a:solidFill>
            <a:prstDash val="solid"/>
          </a:ln>
          <a:effectLst>
            <a:outerShdw sx="100000" sy="100000" kx="0" ky="0" algn="bl" rotWithShape="0" blurRad="76200" dist="25400" dir="5400000">
              <a:srgbClr val="1B2430">
                <a:alpha val="25000"/>
              </a:srgbClr>
            </a:outerShdw>
          </a:effectLst>
        </p:spPr>
      </p:sp>
      <p:pic>
        <p:nvPicPr>
          <p:cNvPr id="7" name="Image 0" descr="/home/user/talenleren/neerlandais1/generateur/img/vijfzinnen/a1_goedemorgen_s.jpg">    </p:cNvPr>
          <p:cNvPicPr>
            <a:picLocks noChangeAspect="1"/>
          </p:cNvPicPr>
          <p:nvPr/>
        </p:nvPicPr>
        <p:blipFill>
          <a:blip r:embed="rId1"/>
          <a:stretch>
            <a:fillRect/>
          </a:stretch>
        </p:blipFill>
        <p:spPr>
          <a:xfrm>
            <a:off x="10104120" y="292608"/>
            <a:ext cx="1600200" cy="1000125"/>
          </a:xfrm>
          <a:prstGeom prst="rect">
            <a:avLst/>
          </a:prstGeom>
        </p:spPr>
      </p:pic>
      <p:sp>
        <p:nvSpPr>
          <p:cNvPr id="8" name="Shape 4"/>
          <p:cNvSpPr/>
          <p:nvPr/>
        </p:nvSpPr>
        <p:spPr>
          <a:xfrm>
            <a:off x="1691640" y="3120542"/>
            <a:ext cx="1901342" cy="371856"/>
          </a:xfrm>
          <a:prstGeom prst="roundRect">
            <a:avLst>
              <a:gd name="adj" fmla="val 12295"/>
            </a:avLst>
          </a:prstGeom>
          <a:solidFill>
            <a:srgbClr val="E6F3DA"/>
          </a:solidFill>
          <a:ln w="12700">
            <a:solidFill>
              <a:srgbClr val="FFFFFF">
                <a:alpha val="0"/>
              </a:srgbClr>
            </a:solidFill>
            <a:prstDash val="solid"/>
          </a:ln>
        </p:spPr>
      </p:sp>
      <p:sp>
        <p:nvSpPr>
          <p:cNvPr id="9" name="Text 5"/>
          <p:cNvSpPr txBox="1"/>
          <p:nvPr/>
        </p:nvSpPr>
        <p:spPr>
          <a:xfrm>
            <a:off x="1691640" y="3108350"/>
            <a:ext cx="1901342"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Goedemorgen</a:t>
            </a:r>
            <a:endParaRPr lang="en-US" sz="2400" dirty="0"/>
          </a:p>
        </p:txBody>
      </p:sp>
      <p:sp>
        <p:nvSpPr>
          <p:cNvPr id="10" name="Text 6"/>
          <p:cNvSpPr txBox="1"/>
          <p:nvPr/>
        </p:nvSpPr>
        <p:spPr>
          <a:xfrm>
            <a:off x="3592982" y="3108350"/>
            <a:ext cx="1185367"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 Pieter!</a:t>
            </a:r>
            <a:endParaRPr lang="en-US" sz="2400" dirty="0"/>
          </a:p>
        </p:txBody>
      </p:sp>
      <p:sp>
        <p:nvSpPr>
          <p:cNvPr id="11" name="Shape 7"/>
          <p:cNvSpPr/>
          <p:nvPr/>
        </p:nvSpPr>
        <p:spPr>
          <a:xfrm>
            <a:off x="4682642" y="3120542"/>
            <a:ext cx="868680" cy="371856"/>
          </a:xfrm>
          <a:prstGeom prst="roundRect">
            <a:avLst>
              <a:gd name="adj" fmla="val 12295"/>
            </a:avLst>
          </a:prstGeom>
          <a:solidFill>
            <a:srgbClr val="E6F3DA"/>
          </a:solidFill>
          <a:ln w="12700">
            <a:solidFill>
              <a:srgbClr val="FFFFFF">
                <a:alpha val="0"/>
              </a:srgbClr>
            </a:solidFill>
            <a:prstDash val="solid"/>
          </a:ln>
        </p:spPr>
      </p:sp>
      <p:sp>
        <p:nvSpPr>
          <p:cNvPr id="12" name="Text 8"/>
          <p:cNvSpPr txBox="1"/>
          <p:nvPr/>
        </p:nvSpPr>
        <p:spPr>
          <a:xfrm>
            <a:off x="4682642" y="3108350"/>
            <a:ext cx="868680"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Ik ben</a:t>
            </a:r>
            <a:endParaRPr lang="en-US" sz="2400" dirty="0"/>
          </a:p>
        </p:txBody>
      </p:sp>
      <p:sp>
        <p:nvSpPr>
          <p:cNvPr id="13" name="Text 9"/>
          <p:cNvSpPr txBox="1"/>
          <p:nvPr/>
        </p:nvSpPr>
        <p:spPr>
          <a:xfrm>
            <a:off x="5638495" y="3108350"/>
            <a:ext cx="1041502"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Emma.</a:t>
            </a:r>
            <a:endParaRPr lang="en-US" sz="2400" dirty="0"/>
          </a:p>
        </p:txBody>
      </p:sp>
      <p:sp>
        <p:nvSpPr>
          <p:cNvPr id="14" name="Shape 10"/>
          <p:cNvSpPr/>
          <p:nvPr/>
        </p:nvSpPr>
        <p:spPr>
          <a:xfrm>
            <a:off x="2642311" y="3044342"/>
            <a:ext cx="914" cy="76200"/>
          </a:xfrm>
          <a:prstGeom prst="line">
            <a:avLst/>
          </a:prstGeom>
          <a:noFill/>
          <a:ln w="15875">
            <a:solidFill>
              <a:srgbClr val="7AB648"/>
            </a:solidFill>
            <a:prstDash val="solid"/>
          </a:ln>
        </p:spPr>
      </p:sp>
      <p:sp>
        <p:nvSpPr>
          <p:cNvPr id="15" name="Shape 11"/>
          <p:cNvSpPr/>
          <p:nvPr/>
        </p:nvSpPr>
        <p:spPr>
          <a:xfrm>
            <a:off x="2056486" y="2797454"/>
            <a:ext cx="1171651" cy="246888"/>
          </a:xfrm>
          <a:prstGeom prst="roundRect">
            <a:avLst>
              <a:gd name="adj" fmla="val 14815"/>
            </a:avLst>
          </a:prstGeom>
          <a:solidFill>
            <a:srgbClr val="7AB648"/>
          </a:solidFill>
          <a:ln w="12700">
            <a:solidFill>
              <a:srgbClr val="FFFFFF">
                <a:alpha val="0"/>
              </a:srgbClr>
            </a:solidFill>
            <a:prstDash val="solid"/>
          </a:ln>
        </p:spPr>
      </p:sp>
      <p:sp>
        <p:nvSpPr>
          <p:cNvPr id="16" name="Text 12"/>
          <p:cNvSpPr txBox="1"/>
          <p:nvPr/>
        </p:nvSpPr>
        <p:spPr>
          <a:xfrm>
            <a:off x="2056486" y="2797454"/>
            <a:ext cx="1171651"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GOEDEMORGEN</a:t>
            </a:r>
            <a:endParaRPr lang="en-US" sz="1100" dirty="0"/>
          </a:p>
        </p:txBody>
      </p:sp>
      <p:sp>
        <p:nvSpPr>
          <p:cNvPr id="17" name="Shape 13"/>
          <p:cNvSpPr/>
          <p:nvPr/>
        </p:nvSpPr>
        <p:spPr>
          <a:xfrm>
            <a:off x="5116982" y="3044342"/>
            <a:ext cx="914" cy="76200"/>
          </a:xfrm>
          <a:prstGeom prst="line">
            <a:avLst/>
          </a:prstGeom>
          <a:noFill/>
          <a:ln w="15875">
            <a:solidFill>
              <a:srgbClr val="7AB648"/>
            </a:solidFill>
            <a:prstDash val="solid"/>
          </a:ln>
        </p:spPr>
      </p:sp>
      <p:sp>
        <p:nvSpPr>
          <p:cNvPr id="18" name="Shape 14"/>
          <p:cNvSpPr/>
          <p:nvPr/>
        </p:nvSpPr>
        <p:spPr>
          <a:xfrm>
            <a:off x="4815307" y="2797454"/>
            <a:ext cx="603352" cy="246888"/>
          </a:xfrm>
          <a:prstGeom prst="roundRect">
            <a:avLst>
              <a:gd name="adj" fmla="val 14815"/>
            </a:avLst>
          </a:prstGeom>
          <a:solidFill>
            <a:srgbClr val="7AB648"/>
          </a:solidFill>
          <a:ln w="12700">
            <a:solidFill>
              <a:srgbClr val="FFFFFF">
                <a:alpha val="0"/>
              </a:srgbClr>
            </a:solidFill>
            <a:prstDash val="solid"/>
          </a:ln>
        </p:spPr>
      </p:sp>
      <p:sp>
        <p:nvSpPr>
          <p:cNvPr id="19" name="Text 15"/>
          <p:cNvSpPr txBox="1"/>
          <p:nvPr/>
        </p:nvSpPr>
        <p:spPr>
          <a:xfrm>
            <a:off x="4815307" y="2797454"/>
            <a:ext cx="603352"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IK BEN</a:t>
            </a:r>
            <a:endParaRPr lang="en-US" sz="1100" dirty="0"/>
          </a:p>
        </p:txBody>
      </p:sp>
      <p:sp>
        <p:nvSpPr>
          <p:cNvPr id="20" name="Shape 16"/>
          <p:cNvSpPr/>
          <p:nvPr/>
        </p:nvSpPr>
        <p:spPr>
          <a:xfrm>
            <a:off x="4199230" y="4175150"/>
            <a:ext cx="1482242" cy="371856"/>
          </a:xfrm>
          <a:prstGeom prst="roundRect">
            <a:avLst>
              <a:gd name="adj" fmla="val 12295"/>
            </a:avLst>
          </a:prstGeom>
          <a:solidFill>
            <a:srgbClr val="E6F3DA"/>
          </a:solidFill>
          <a:ln w="12700">
            <a:solidFill>
              <a:srgbClr val="FFFFFF">
                <a:alpha val="0"/>
              </a:srgbClr>
            </a:solidFill>
            <a:prstDash val="solid"/>
          </a:ln>
        </p:spPr>
      </p:sp>
      <p:sp>
        <p:nvSpPr>
          <p:cNvPr id="21" name="Text 17"/>
          <p:cNvSpPr txBox="1"/>
          <p:nvPr/>
        </p:nvSpPr>
        <p:spPr>
          <a:xfrm>
            <a:off x="4199230" y="4162958"/>
            <a:ext cx="1482242"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’s Morgens</a:t>
            </a:r>
            <a:endParaRPr lang="en-US" sz="2400" dirty="0"/>
          </a:p>
        </p:txBody>
      </p:sp>
      <p:sp>
        <p:nvSpPr>
          <p:cNvPr id="22" name="Text 18"/>
          <p:cNvSpPr txBox="1"/>
          <p:nvPr/>
        </p:nvSpPr>
        <p:spPr>
          <a:xfrm>
            <a:off x="5768645" y="4162958"/>
            <a:ext cx="3610966"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drink ik koffie… veel koffie!</a:t>
            </a:r>
            <a:endParaRPr lang="en-US" sz="2400" dirty="0"/>
          </a:p>
        </p:txBody>
      </p:sp>
      <p:sp>
        <p:nvSpPr>
          <p:cNvPr id="23" name="Shape 19"/>
          <p:cNvSpPr/>
          <p:nvPr/>
        </p:nvSpPr>
        <p:spPr>
          <a:xfrm>
            <a:off x="4940351" y="4098950"/>
            <a:ext cx="914" cy="76200"/>
          </a:xfrm>
          <a:prstGeom prst="line">
            <a:avLst/>
          </a:prstGeom>
          <a:noFill/>
          <a:ln w="15875">
            <a:solidFill>
              <a:srgbClr val="7AB648"/>
            </a:solidFill>
            <a:prstDash val="solid"/>
          </a:ln>
        </p:spPr>
      </p:sp>
      <p:sp>
        <p:nvSpPr>
          <p:cNvPr id="24" name="Shape 20"/>
          <p:cNvSpPr/>
          <p:nvPr/>
        </p:nvSpPr>
        <p:spPr>
          <a:xfrm>
            <a:off x="4458532" y="3852062"/>
            <a:ext cx="963638" cy="246888"/>
          </a:xfrm>
          <a:prstGeom prst="roundRect">
            <a:avLst>
              <a:gd name="adj" fmla="val 14815"/>
            </a:avLst>
          </a:prstGeom>
          <a:solidFill>
            <a:srgbClr val="7AB648"/>
          </a:solidFill>
          <a:ln w="12700">
            <a:solidFill>
              <a:srgbClr val="FFFFFF">
                <a:alpha val="0"/>
              </a:srgbClr>
            </a:solidFill>
            <a:prstDash val="solid"/>
          </a:ln>
        </p:spPr>
      </p:sp>
      <p:sp>
        <p:nvSpPr>
          <p:cNvPr id="25" name="Text 21"/>
          <p:cNvSpPr txBox="1"/>
          <p:nvPr/>
        </p:nvSpPr>
        <p:spPr>
          <a:xfrm>
            <a:off x="4458532" y="3852062"/>
            <a:ext cx="963638"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’S MORGENS</a:t>
            </a:r>
            <a:endParaRPr lang="en-US" sz="1100" dirty="0"/>
          </a:p>
        </p:txBody>
      </p:sp>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1554480" y="384048"/>
            <a:ext cx="10241280" cy="658368"/>
          </a:xfrm>
          <a:prstGeom prst="rect">
            <a:avLst/>
          </a:prstGeom>
          <a:noFill/>
          <a:ln/>
        </p:spPr>
        <p:txBody>
          <a:bodyPr wrap="square" lIns="0" tIns="0" rIns="0" bIns="0" rtlCol="0" anchor="ctr"/>
          <a:lstStyle/>
          <a:p>
            <a:pPr algn="ctr" indent="0" marL="0">
              <a:buNone/>
            </a:pPr>
            <a:r>
              <a:rPr lang="en-US" sz="3000" b="1" dirty="0">
                <a:solidFill>
                  <a:srgbClr val="2B2F38"/>
                </a:solidFill>
              </a:rPr>
              <a:t>Gebruik deze afbeelding als inspiratie</a:t>
            </a:r>
            <a:endParaRPr lang="en-US" sz="3000" dirty="0"/>
          </a:p>
        </p:txBody>
      </p:sp>
      <p:sp>
        <p:nvSpPr>
          <p:cNvPr id="4" name="Shape 1"/>
          <p:cNvSpPr/>
          <p:nvPr/>
        </p:nvSpPr>
        <p:spPr>
          <a:xfrm>
            <a:off x="365760" y="365760"/>
            <a:ext cx="868680" cy="5989320"/>
          </a:xfrm>
          <a:prstGeom prst="roundRect">
            <a:avLst>
              <a:gd name="adj" fmla="val 12632"/>
            </a:avLst>
          </a:prstGeom>
          <a:solidFill>
            <a:srgbClr val="E6F4EA"/>
          </a:solidFill>
          <a:ln w="28575">
            <a:solidFill>
              <a:srgbClr val="6DBE8A"/>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3D8C5A"/>
                </a:solidFill>
                <a:latin typeface="Calibri" pitchFamily="34" charset="0"/>
                <a:ea typeface="Calibri" pitchFamily="34" charset="-122"/>
                <a:cs typeface="Calibri" pitchFamily="34" charset="-120"/>
              </a:rPr>
              <a:t>A1 · Premiers pas</a:t>
            </a:r>
            <a:endParaRPr lang="en-US" sz="3800" dirty="0"/>
          </a:p>
        </p:txBody>
      </p:sp>
      <p:sp>
        <p:nvSpPr>
          <p:cNvPr id="6" name="Text 3"/>
          <p:cNvSpPr txBox="1"/>
          <p:nvPr/>
        </p:nvSpPr>
        <p:spPr>
          <a:xfrm>
            <a:off x="1554480" y="1024128"/>
            <a:ext cx="10241280" cy="365760"/>
          </a:xfrm>
          <a:prstGeom prst="rect">
            <a:avLst/>
          </a:prstGeom>
          <a:noFill/>
          <a:ln/>
        </p:spPr>
        <p:txBody>
          <a:bodyPr wrap="square" lIns="0" tIns="0" rIns="0" bIns="0" rtlCol="0" anchor="ctr"/>
          <a:lstStyle/>
          <a:p>
            <a:pPr algn="ctr" indent="0" marL="0">
              <a:buNone/>
            </a:pPr>
            <a:r>
              <a:rPr lang="en-US" sz="1500" b="1" dirty="0">
                <a:solidFill>
                  <a:srgbClr val="3D8C5A"/>
                </a:solidFill>
                <a:latin typeface="Calibri" pitchFamily="34" charset="0"/>
                <a:ea typeface="Calibri" pitchFamily="34" charset="-122"/>
                <a:cs typeface="Calibri" pitchFamily="34" charset="-120"/>
              </a:rPr>
              <a:t>2 · ’s Morgens, ’s middags, ’s avonds</a:t>
            </a:r>
            <a:r>
              <a:rPr lang="en-US" sz="1500" i="1" dirty="0">
                <a:solidFill>
                  <a:srgbClr val="6B7280"/>
                </a:solidFill>
                <a:latin typeface="Calibri" pitchFamily="34" charset="0"/>
                <a:ea typeface="Calibri" pitchFamily="34" charset="-122"/>
                <a:cs typeface="Calibri" pitchFamily="34" charset="-120"/>
              </a:rPr>
              <a:t>   Le matin, l’après-midi, le soir</a:t>
            </a:r>
            <a:r>
              <a:rPr lang="en-US" sz="1200" dirty="0">
                <a:solidFill>
                  <a:srgbClr val="9AA3B2"/>
                </a:solidFill>
                <a:latin typeface="Calibri" pitchFamily="34" charset="0"/>
                <a:ea typeface="Calibri" pitchFamily="34" charset="-122"/>
                <a:cs typeface="Calibri" pitchFamily="34" charset="-120"/>
              </a:rPr>
              <a:t>   ·   syllabus 1.1 · p. 6</a:t>
            </a:r>
            <a:endParaRPr lang="en-US" sz="1500" dirty="0"/>
          </a:p>
        </p:txBody>
      </p:sp>
      <p:sp>
        <p:nvSpPr>
          <p:cNvPr id="7" name="Shape 4"/>
          <p:cNvSpPr/>
          <p:nvPr/>
        </p:nvSpPr>
        <p:spPr>
          <a:xfrm>
            <a:off x="1596085" y="1504645"/>
            <a:ext cx="4534510" cy="2905735"/>
          </a:xfrm>
          <a:prstGeom prst="roundRect">
            <a:avLst>
              <a:gd name="adj" fmla="val 1259"/>
            </a:avLst>
          </a:prstGeom>
          <a:solidFill>
            <a:srgbClr val="FFFFFF"/>
          </a:solidFill>
          <a:ln w="9525">
            <a:solidFill>
              <a:srgbClr val="E3E7EE"/>
            </a:solidFill>
            <a:prstDash val="solid"/>
          </a:ln>
          <a:effectLst>
            <a:outerShdw sx="100000" sy="100000" kx="0" ky="0" algn="bl" rotWithShape="0" blurRad="127000" dist="50800" dir="5400000">
              <a:srgbClr val="1B2430">
                <a:alpha val="25000"/>
              </a:srgbClr>
            </a:outerShdw>
          </a:effectLst>
        </p:spPr>
      </p:sp>
      <p:pic>
        <p:nvPicPr>
          <p:cNvPr id="8" name="Image 0" descr="/home/user/talenleren/neerlandais1/generateur/img/vijfzinnen/a1_mijndag_s.jpg">    </p:cNvPr>
          <p:cNvPicPr>
            <a:picLocks noChangeAspect="1"/>
          </p:cNvPicPr>
          <p:nvPr/>
        </p:nvPicPr>
        <p:blipFill>
          <a:blip r:embed="rId1"/>
          <a:stretch>
            <a:fillRect/>
          </a:stretch>
        </p:blipFill>
        <p:spPr>
          <a:xfrm>
            <a:off x="1691640" y="1600200"/>
            <a:ext cx="4343400" cy="2714625"/>
          </a:xfrm>
          <a:prstGeom prst="rect">
            <a:avLst/>
          </a:prstGeom>
        </p:spPr>
      </p:pic>
      <p:sp>
        <p:nvSpPr>
          <p:cNvPr id="9" name="Shape 5"/>
          <p:cNvSpPr/>
          <p:nvPr/>
        </p:nvSpPr>
        <p:spPr>
          <a:xfrm>
            <a:off x="1691640" y="4572000"/>
            <a:ext cx="1600200" cy="365760"/>
          </a:xfrm>
          <a:prstGeom prst="roundRect">
            <a:avLst>
              <a:gd name="adj" fmla="val 50000"/>
            </a:avLst>
          </a:prstGeom>
          <a:solidFill>
            <a:srgbClr val="EAF1FC"/>
          </a:solidFill>
          <a:ln w="12700">
            <a:solidFill>
              <a:srgbClr val="4A7BD0"/>
            </a:solidFill>
            <a:prstDash val="solid"/>
          </a:ln>
        </p:spPr>
      </p:sp>
      <p:pic>
        <p:nvPicPr>
          <p:cNvPr id="10" name="Image 1" descr="PenNib">    </p:cNvPr>
          <p:cNvPicPr>
            <a:picLocks noChangeAspect="1"/>
          </p:cNvPicPr>
          <p:nvPr/>
        </p:nvPicPr>
        <p:blipFill>
          <a:blip r:embed="rId2"/>
          <a:stretch>
            <a:fillRect/>
          </a:stretch>
        </p:blipFill>
        <p:spPr>
          <a:xfrm>
            <a:off x="1819656" y="4654296"/>
            <a:ext cx="201168" cy="201168"/>
          </a:xfrm>
          <a:prstGeom prst="rect">
            <a:avLst/>
          </a:prstGeom>
        </p:spPr>
      </p:pic>
      <p:sp>
        <p:nvSpPr>
          <p:cNvPr id="11" name="Text 6"/>
          <p:cNvSpPr txBox="1"/>
          <p:nvPr/>
        </p:nvSpPr>
        <p:spPr>
          <a:xfrm>
            <a:off x="2075688" y="4572000"/>
            <a:ext cx="1143000" cy="365760"/>
          </a:xfrm>
          <a:prstGeom prst="rect">
            <a:avLst/>
          </a:prstGeom>
          <a:noFill/>
          <a:ln/>
        </p:spPr>
        <p:txBody>
          <a:bodyPr wrap="square" lIns="0" tIns="0" rIns="0" bIns="0" rtlCol="0" anchor="ctr"/>
          <a:lstStyle/>
          <a:p>
            <a:pPr algn="l" indent="0" marL="0">
              <a:buNone/>
            </a:pPr>
            <a:r>
              <a:rPr lang="en-US" sz="1150" b="1" spc="100" kern="0" dirty="0">
                <a:solidFill>
                  <a:srgbClr val="4A7BD0"/>
                </a:solidFill>
                <a:latin typeface="Calibri" pitchFamily="34" charset="0"/>
                <a:ea typeface="Calibri" pitchFamily="34" charset="-122"/>
                <a:cs typeface="Calibri" pitchFamily="34" charset="-120"/>
              </a:rPr>
              <a:t>À L’ÉCRIT</a:t>
            </a:r>
            <a:endParaRPr lang="en-US" sz="1150" dirty="0"/>
          </a:p>
        </p:txBody>
      </p:sp>
      <p:sp>
        <p:nvSpPr>
          <p:cNvPr id="12" name="Text 7"/>
          <p:cNvSpPr txBox="1"/>
          <p:nvPr/>
        </p:nvSpPr>
        <p:spPr>
          <a:xfrm>
            <a:off x="3429000" y="4544568"/>
            <a:ext cx="2651760" cy="731520"/>
          </a:xfrm>
          <a:prstGeom prst="rect">
            <a:avLst/>
          </a:prstGeom>
          <a:noFill/>
          <a:ln/>
        </p:spPr>
        <p:txBody>
          <a:bodyPr wrap="square" lIns="0" tIns="0" rIns="0" bIns="0" rtlCol="0" anchor="t"/>
          <a:lstStyle/>
          <a:p>
            <a:pPr algn="l" indent="0" marL="0">
              <a:buNone/>
            </a:pPr>
            <a:r>
              <a:rPr lang="en-US" sz="1150" i="1" dirty="0">
                <a:solidFill>
                  <a:srgbClr val="6B7280"/>
                </a:solidFill>
                <a:latin typeface="Calibri" pitchFamily="34" charset="0"/>
                <a:ea typeface="Calibri" pitchFamily="34" charset="-122"/>
                <a:cs typeface="Calibri" pitchFamily="34" charset="-120"/>
              </a:rPr>
              <a:t>Racontez votre journée habituelle en trois moments.</a:t>
            </a:r>
            <a:endParaRPr lang="en-US" sz="1150" dirty="0"/>
          </a:p>
        </p:txBody>
      </p:sp>
      <p:sp>
        <p:nvSpPr>
          <p:cNvPr id="13" name="Shape 8"/>
          <p:cNvSpPr/>
          <p:nvPr/>
        </p:nvSpPr>
        <p:spPr>
          <a:xfrm>
            <a:off x="6355080" y="1833372"/>
            <a:ext cx="914400" cy="402336"/>
          </a:xfrm>
          <a:prstGeom prst="roundRect">
            <a:avLst>
              <a:gd name="adj" fmla="val 13636"/>
            </a:avLst>
          </a:prstGeom>
          <a:solidFill>
            <a:srgbClr val="5FA873"/>
          </a:solidFill>
          <a:ln w="12700">
            <a:solidFill>
              <a:srgbClr val="FFFFFF">
                <a:alpha val="0"/>
              </a:srgbClr>
            </a:solidFill>
            <a:prstDash val="solid"/>
          </a:ln>
        </p:spPr>
      </p:sp>
      <p:sp>
        <p:nvSpPr>
          <p:cNvPr id="14" name="Text 9"/>
          <p:cNvSpPr txBox="1"/>
          <p:nvPr/>
        </p:nvSpPr>
        <p:spPr>
          <a:xfrm>
            <a:off x="6355080" y="183337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1</a:t>
            </a:r>
            <a:endParaRPr lang="en-US" sz="1600" dirty="0"/>
          </a:p>
        </p:txBody>
      </p:sp>
      <p:sp>
        <p:nvSpPr>
          <p:cNvPr id="15" name="Text 10"/>
          <p:cNvSpPr txBox="1"/>
          <p:nvPr/>
        </p:nvSpPr>
        <p:spPr>
          <a:xfrm>
            <a:off x="7406640" y="1778508"/>
            <a:ext cx="4389120" cy="512064"/>
          </a:xfrm>
          <a:prstGeom prst="rect">
            <a:avLst/>
          </a:prstGeom>
          <a:noFill/>
          <a:ln/>
        </p:spPr>
        <p:txBody>
          <a:bodyPr wrap="square" lIns="0" tIns="0" rIns="0" bIns="0" rtlCol="0" anchor="ctr"/>
          <a:lstStyle/>
          <a:p>
            <a:pPr algn="l" indent="0" marL="0">
              <a:buNone/>
            </a:pPr>
            <a:r>
              <a:rPr lang="en-US" sz="1600" dirty="0">
                <a:solidFill>
                  <a:srgbClr val="2B2F38"/>
                </a:solidFill>
              </a:rPr>
              <a:t>Le matin : </a:t>
            </a:r>
            <a:r>
              <a:rPr lang="en-US" sz="1600" b="1" dirty="0">
                <a:solidFill>
                  <a:srgbClr val="2B2F38"/>
                </a:solidFill>
              </a:rPr>
              <a:t>’S MORGENS</a:t>
            </a:r>
            <a:r>
              <a:rPr lang="en-US" sz="1600" dirty="0">
                <a:solidFill>
                  <a:srgbClr val="2B2F38"/>
                </a:solidFill>
              </a:rPr>
              <a:t> + verbe + </a:t>
            </a:r>
            <a:r>
              <a:rPr lang="en-US" sz="1600" b="1" dirty="0">
                <a:solidFill>
                  <a:srgbClr val="2B2F38"/>
                </a:solidFill>
              </a:rPr>
              <a:t>IK</a:t>
            </a:r>
            <a:r>
              <a:rPr lang="en-US" sz="1600" dirty="0">
                <a:solidFill>
                  <a:srgbClr val="2B2F38"/>
                </a:solidFill>
              </a:rPr>
              <a:t>.</a:t>
            </a:r>
            <a:endParaRPr lang="en-US" sz="1600" dirty="0"/>
          </a:p>
        </p:txBody>
      </p:sp>
      <p:sp>
        <p:nvSpPr>
          <p:cNvPr id="16" name="Shape 11"/>
          <p:cNvSpPr/>
          <p:nvPr/>
        </p:nvSpPr>
        <p:spPr>
          <a:xfrm>
            <a:off x="6355080" y="2702052"/>
            <a:ext cx="914400" cy="402336"/>
          </a:xfrm>
          <a:prstGeom prst="roundRect">
            <a:avLst>
              <a:gd name="adj" fmla="val 13636"/>
            </a:avLst>
          </a:prstGeom>
          <a:solidFill>
            <a:srgbClr val="5FA873"/>
          </a:solidFill>
          <a:ln w="12700">
            <a:solidFill>
              <a:srgbClr val="FFFFFF">
                <a:alpha val="0"/>
              </a:srgbClr>
            </a:solidFill>
            <a:prstDash val="solid"/>
          </a:ln>
        </p:spPr>
      </p:sp>
      <p:sp>
        <p:nvSpPr>
          <p:cNvPr id="17" name="Text 12"/>
          <p:cNvSpPr txBox="1"/>
          <p:nvPr/>
        </p:nvSpPr>
        <p:spPr>
          <a:xfrm>
            <a:off x="6355080" y="270205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2</a:t>
            </a:r>
            <a:endParaRPr lang="en-US" sz="1600" dirty="0"/>
          </a:p>
        </p:txBody>
      </p:sp>
      <p:sp>
        <p:nvSpPr>
          <p:cNvPr id="18" name="Text 13"/>
          <p:cNvSpPr txBox="1"/>
          <p:nvPr/>
        </p:nvSpPr>
        <p:spPr>
          <a:xfrm>
            <a:off x="7406640" y="2647188"/>
            <a:ext cx="4389120" cy="512064"/>
          </a:xfrm>
          <a:prstGeom prst="rect">
            <a:avLst/>
          </a:prstGeom>
          <a:noFill/>
          <a:ln/>
        </p:spPr>
        <p:txBody>
          <a:bodyPr wrap="square" lIns="0" tIns="0" rIns="0" bIns="0" rtlCol="0" anchor="ctr"/>
          <a:lstStyle/>
          <a:p>
            <a:pPr algn="l" indent="0" marL="0">
              <a:buNone/>
            </a:pPr>
            <a:r>
              <a:rPr lang="en-US" sz="1600" dirty="0">
                <a:solidFill>
                  <a:srgbClr val="2B2F38"/>
                </a:solidFill>
              </a:rPr>
              <a:t>L’après-midi : </a:t>
            </a:r>
            <a:r>
              <a:rPr lang="en-US" sz="1600" b="1" dirty="0">
                <a:solidFill>
                  <a:srgbClr val="2B2F38"/>
                </a:solidFill>
              </a:rPr>
              <a:t>’S MIDDAGS</a:t>
            </a:r>
            <a:r>
              <a:rPr lang="en-US" sz="1600" dirty="0">
                <a:solidFill>
                  <a:srgbClr val="2B2F38"/>
                </a:solidFill>
              </a:rPr>
              <a:t> + verbe + </a:t>
            </a:r>
            <a:r>
              <a:rPr lang="en-US" sz="1600" b="1" dirty="0">
                <a:solidFill>
                  <a:srgbClr val="2B2F38"/>
                </a:solidFill>
              </a:rPr>
              <a:t>IK</a:t>
            </a:r>
            <a:r>
              <a:rPr lang="en-US" sz="1600" dirty="0">
                <a:solidFill>
                  <a:srgbClr val="2B2F38"/>
                </a:solidFill>
              </a:rPr>
              <a:t>.</a:t>
            </a:r>
            <a:endParaRPr lang="en-US" sz="1600" dirty="0"/>
          </a:p>
        </p:txBody>
      </p:sp>
      <p:sp>
        <p:nvSpPr>
          <p:cNvPr id="19" name="Shape 14"/>
          <p:cNvSpPr/>
          <p:nvPr/>
        </p:nvSpPr>
        <p:spPr>
          <a:xfrm>
            <a:off x="6355080" y="3570732"/>
            <a:ext cx="914400" cy="402336"/>
          </a:xfrm>
          <a:prstGeom prst="roundRect">
            <a:avLst>
              <a:gd name="adj" fmla="val 13636"/>
            </a:avLst>
          </a:prstGeom>
          <a:solidFill>
            <a:srgbClr val="5FA873"/>
          </a:solidFill>
          <a:ln w="12700">
            <a:solidFill>
              <a:srgbClr val="FFFFFF">
                <a:alpha val="0"/>
              </a:srgbClr>
            </a:solidFill>
            <a:prstDash val="solid"/>
          </a:ln>
        </p:spPr>
      </p:sp>
      <p:sp>
        <p:nvSpPr>
          <p:cNvPr id="20" name="Text 15"/>
          <p:cNvSpPr txBox="1"/>
          <p:nvPr/>
        </p:nvSpPr>
        <p:spPr>
          <a:xfrm>
            <a:off x="6355080" y="357073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3</a:t>
            </a:r>
            <a:endParaRPr lang="en-US" sz="1600" dirty="0"/>
          </a:p>
        </p:txBody>
      </p:sp>
      <p:sp>
        <p:nvSpPr>
          <p:cNvPr id="21" name="Text 16"/>
          <p:cNvSpPr txBox="1"/>
          <p:nvPr/>
        </p:nvSpPr>
        <p:spPr>
          <a:xfrm>
            <a:off x="7406640" y="3515868"/>
            <a:ext cx="4389120" cy="512064"/>
          </a:xfrm>
          <a:prstGeom prst="rect">
            <a:avLst/>
          </a:prstGeom>
          <a:noFill/>
          <a:ln/>
        </p:spPr>
        <p:txBody>
          <a:bodyPr wrap="square" lIns="0" tIns="0" rIns="0" bIns="0" rtlCol="0" anchor="ctr"/>
          <a:lstStyle/>
          <a:p>
            <a:pPr algn="l" indent="0" marL="0">
              <a:buNone/>
            </a:pPr>
            <a:r>
              <a:rPr lang="en-US" sz="1600" dirty="0">
                <a:solidFill>
                  <a:srgbClr val="2B2F38"/>
                </a:solidFill>
              </a:rPr>
              <a:t>Le soir : </a:t>
            </a:r>
            <a:r>
              <a:rPr lang="en-US" sz="1600" b="1" dirty="0">
                <a:solidFill>
                  <a:srgbClr val="2B2F38"/>
                </a:solidFill>
              </a:rPr>
              <a:t>’S AVONDS</a:t>
            </a:r>
            <a:r>
              <a:rPr lang="en-US" sz="1600" dirty="0">
                <a:solidFill>
                  <a:srgbClr val="2B2F38"/>
                </a:solidFill>
              </a:rPr>
              <a:t> + verbe + </a:t>
            </a:r>
            <a:r>
              <a:rPr lang="en-US" sz="1600" b="1" dirty="0">
                <a:solidFill>
                  <a:srgbClr val="2B2F38"/>
                </a:solidFill>
              </a:rPr>
              <a:t>IK</a:t>
            </a:r>
            <a:r>
              <a:rPr lang="en-US" sz="1600" dirty="0">
                <a:solidFill>
                  <a:srgbClr val="2B2F38"/>
                </a:solidFill>
              </a:rPr>
              <a:t>.</a:t>
            </a:r>
            <a:endParaRPr lang="en-US" sz="1600" dirty="0"/>
          </a:p>
        </p:txBody>
      </p:sp>
      <p:sp>
        <p:nvSpPr>
          <p:cNvPr id="22" name="Shape 17"/>
          <p:cNvSpPr/>
          <p:nvPr/>
        </p:nvSpPr>
        <p:spPr>
          <a:xfrm>
            <a:off x="3246120" y="5440680"/>
            <a:ext cx="6858000" cy="822960"/>
          </a:xfrm>
          <a:prstGeom prst="roundRect">
            <a:avLst>
              <a:gd name="adj" fmla="val 17778"/>
            </a:avLst>
          </a:prstGeom>
          <a:solidFill>
            <a:srgbClr val="EAF5EC"/>
          </a:solidFill>
          <a:ln w="15875">
            <a:solidFill>
              <a:srgbClr val="5FA873"/>
            </a:solidFill>
            <a:prstDash val="solid"/>
          </a:ln>
        </p:spPr>
      </p:sp>
      <p:pic>
        <p:nvPicPr>
          <p:cNvPr id="23" name="Image 2" descr="UserFriends">    </p:cNvPr>
          <p:cNvPicPr>
            <a:picLocks noChangeAspect="1"/>
          </p:cNvPicPr>
          <p:nvPr/>
        </p:nvPicPr>
        <p:blipFill>
          <a:blip r:embed="rId3"/>
          <a:stretch>
            <a:fillRect/>
          </a:stretch>
        </p:blipFill>
        <p:spPr>
          <a:xfrm>
            <a:off x="3520440" y="5660136"/>
            <a:ext cx="384048" cy="384048"/>
          </a:xfrm>
          <a:prstGeom prst="rect">
            <a:avLst/>
          </a:prstGeom>
        </p:spPr>
      </p:pic>
      <p:sp>
        <p:nvSpPr>
          <p:cNvPr id="24" name="Text 18"/>
          <p:cNvSpPr txBox="1"/>
          <p:nvPr/>
        </p:nvSpPr>
        <p:spPr>
          <a:xfrm>
            <a:off x="4114800" y="5440680"/>
            <a:ext cx="5852160" cy="822960"/>
          </a:xfrm>
          <a:prstGeom prst="rect">
            <a:avLst/>
          </a:prstGeom>
          <a:noFill/>
          <a:ln/>
        </p:spPr>
        <p:txBody>
          <a:bodyPr wrap="square" lIns="0" tIns="0" rIns="0" bIns="0" rtlCol="0" anchor="ctr"/>
          <a:lstStyle/>
          <a:p>
            <a:pPr algn="ctr" indent="0" marL="0">
              <a:buNone/>
            </a:pPr>
            <a:r>
              <a:rPr lang="en-US" sz="1800" b="1" dirty="0">
                <a:solidFill>
                  <a:srgbClr val="2E6B44"/>
                </a:solidFill>
                <a:latin typeface="Calibri" pitchFamily="34" charset="0"/>
                <a:ea typeface="Calibri" pitchFamily="34" charset="-122"/>
                <a:cs typeface="Calibri" pitchFamily="34" charset="-120"/>
              </a:rPr>
              <a:t>Lees je tekst voor aan je partner.</a:t>
            </a:r>
            <a:endParaRPr lang="en-US" sz="1800" dirty="0"/>
          </a:p>
          <a:p>
            <a:pPr algn="ctr" indent="0" marL="0">
              <a:buNone/>
            </a:pPr>
            <a:r>
              <a:rPr lang="en-US" sz="1800" b="1" dirty="0">
                <a:solidFill>
                  <a:srgbClr val="2E6B44"/>
                </a:solidFill>
                <a:latin typeface="Calibri" pitchFamily="34" charset="0"/>
                <a:ea typeface="Calibri" pitchFamily="34" charset="-122"/>
                <a:cs typeface="Calibri" pitchFamily="34" charset="-120"/>
              </a:rPr>
              <a:t>Wat denkt hij/zij daarvan?</a:t>
            </a:r>
            <a:endParaRPr lang="en-US" sz="1800" dirty="0"/>
          </a:p>
        </p:txBody>
      </p:sp>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1554480" y="384048"/>
            <a:ext cx="10241280" cy="658368"/>
          </a:xfrm>
          <a:prstGeom prst="rect">
            <a:avLst/>
          </a:prstGeom>
          <a:noFill/>
          <a:ln/>
        </p:spPr>
        <p:txBody>
          <a:bodyPr wrap="square" lIns="0" tIns="0" rIns="0" bIns="0" rtlCol="0" anchor="ctr"/>
          <a:lstStyle/>
          <a:p>
            <a:pPr algn="ctr" indent="0" marL="0">
              <a:buNone/>
            </a:pPr>
            <a:r>
              <a:rPr lang="en-US" sz="3000" b="1" dirty="0">
                <a:solidFill>
                  <a:srgbClr val="2B2F38"/>
                </a:solidFill>
              </a:rPr>
              <a:t>’s Morgens, ’s middags, ’s avonds</a:t>
            </a:r>
            <a:endParaRPr lang="en-US" sz="3000" dirty="0"/>
          </a:p>
        </p:txBody>
      </p:sp>
      <p:sp>
        <p:nvSpPr>
          <p:cNvPr id="4" name="Shape 1"/>
          <p:cNvSpPr/>
          <p:nvPr/>
        </p:nvSpPr>
        <p:spPr>
          <a:xfrm>
            <a:off x="365760" y="365760"/>
            <a:ext cx="868680" cy="5989320"/>
          </a:xfrm>
          <a:prstGeom prst="roundRect">
            <a:avLst>
              <a:gd name="adj" fmla="val 12632"/>
            </a:avLst>
          </a:prstGeom>
          <a:solidFill>
            <a:srgbClr val="E6F4EA"/>
          </a:solidFill>
          <a:ln w="28575">
            <a:solidFill>
              <a:srgbClr val="6DBE8A"/>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3D8C5A"/>
                </a:solidFill>
                <a:latin typeface="Calibri" pitchFamily="34" charset="0"/>
                <a:ea typeface="Calibri" pitchFamily="34" charset="-122"/>
                <a:cs typeface="Calibri" pitchFamily="34" charset="-120"/>
              </a:rPr>
              <a:t>A1 · Premiers pas</a:t>
            </a:r>
            <a:endParaRPr lang="en-US" sz="3800" dirty="0"/>
          </a:p>
        </p:txBody>
      </p:sp>
      <p:sp>
        <p:nvSpPr>
          <p:cNvPr id="6" name="Shape 3"/>
          <p:cNvSpPr/>
          <p:nvPr/>
        </p:nvSpPr>
        <p:spPr>
          <a:xfrm>
            <a:off x="2519172" y="1124712"/>
            <a:ext cx="8311896" cy="5277231"/>
          </a:xfrm>
          <a:prstGeom prst="roundRect">
            <a:avLst>
              <a:gd name="adj" fmla="val 693"/>
            </a:avLst>
          </a:prstGeom>
          <a:solidFill>
            <a:srgbClr val="FFFFFF"/>
          </a:solidFill>
          <a:ln w="9525">
            <a:solidFill>
              <a:srgbClr val="E3E7EE"/>
            </a:solidFill>
            <a:prstDash val="solid"/>
          </a:ln>
          <a:effectLst>
            <a:outerShdw sx="100000" sy="100000" kx="0" ky="0" algn="bl" rotWithShape="0" blurRad="177800" dist="63500" dir="5400000">
              <a:srgbClr val="1B2430">
                <a:alpha val="25000"/>
              </a:srgbClr>
            </a:outerShdw>
          </a:effectLst>
        </p:spPr>
      </p:sp>
      <p:pic>
        <p:nvPicPr>
          <p:cNvPr id="7" name="Image 0" descr="/home/user/talenleren/neerlandais1/generateur/img/vijfzinnen/a1_mijndag.jpg">    </p:cNvPr>
          <p:cNvPicPr>
            <a:picLocks noChangeAspect="1"/>
          </p:cNvPicPr>
          <p:nvPr/>
        </p:nvPicPr>
        <p:blipFill>
          <a:blip r:embed="rId1"/>
          <a:stretch>
            <a:fillRect/>
          </a:stretch>
        </p:blipFill>
        <p:spPr>
          <a:xfrm>
            <a:off x="2628900" y="1234440"/>
            <a:ext cx="8092440" cy="5057775"/>
          </a:xfrm>
          <a:prstGeom prst="rect">
            <a:avLst/>
          </a:prstGeom>
        </p:spPr>
      </p:pic>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1691640" y="347472"/>
            <a:ext cx="8138160" cy="914400"/>
          </a:xfrm>
          <a:prstGeom prst="rect">
            <a:avLst/>
          </a:prstGeom>
          <a:noFill/>
          <a:ln/>
        </p:spPr>
        <p:txBody>
          <a:bodyPr wrap="square" lIns="0" tIns="0" rIns="0" bIns="0" rtlCol="0" anchor="ctr"/>
          <a:lstStyle/>
          <a:p>
            <a:pPr algn="l" indent="0" marL="0">
              <a:buNone/>
            </a:pPr>
            <a:r>
              <a:rPr lang="en-US" sz="2400" b="1" dirty="0">
                <a:solidFill>
                  <a:srgbClr val="2B2F38"/>
                </a:solidFill>
              </a:rPr>
              <a:t>Hier is een voorbeeld van wat je had kunnen denken en schrijven…</a:t>
            </a:r>
            <a:endParaRPr lang="en-US" sz="2400" dirty="0"/>
          </a:p>
        </p:txBody>
      </p:sp>
      <p:sp>
        <p:nvSpPr>
          <p:cNvPr id="4" name="Shape 1"/>
          <p:cNvSpPr/>
          <p:nvPr/>
        </p:nvSpPr>
        <p:spPr>
          <a:xfrm>
            <a:off x="365760" y="365760"/>
            <a:ext cx="868680" cy="5989320"/>
          </a:xfrm>
          <a:prstGeom prst="roundRect">
            <a:avLst>
              <a:gd name="adj" fmla="val 12632"/>
            </a:avLst>
          </a:prstGeom>
          <a:solidFill>
            <a:srgbClr val="E6F4EA"/>
          </a:solidFill>
          <a:ln w="28575">
            <a:solidFill>
              <a:srgbClr val="6DBE8A"/>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3D8C5A"/>
                </a:solidFill>
                <a:latin typeface="Calibri" pitchFamily="34" charset="0"/>
                <a:ea typeface="Calibri" pitchFamily="34" charset="-122"/>
                <a:cs typeface="Calibri" pitchFamily="34" charset="-120"/>
              </a:rPr>
              <a:t>A1 · Premiers pas</a:t>
            </a:r>
            <a:endParaRPr lang="en-US" sz="3800" dirty="0"/>
          </a:p>
        </p:txBody>
      </p:sp>
      <p:sp>
        <p:nvSpPr>
          <p:cNvPr id="6" name="Shape 3"/>
          <p:cNvSpPr/>
          <p:nvPr/>
        </p:nvSpPr>
        <p:spPr>
          <a:xfrm>
            <a:off x="10058400" y="246888"/>
            <a:ext cx="1691640" cy="1091565"/>
          </a:xfrm>
          <a:prstGeom prst="roundRect">
            <a:avLst>
              <a:gd name="adj" fmla="val 3351"/>
            </a:avLst>
          </a:prstGeom>
          <a:solidFill>
            <a:srgbClr val="FFFFFF"/>
          </a:solidFill>
          <a:ln w="9525">
            <a:solidFill>
              <a:srgbClr val="E3E7EE"/>
            </a:solidFill>
            <a:prstDash val="solid"/>
          </a:ln>
          <a:effectLst>
            <a:outerShdw sx="100000" sy="100000" kx="0" ky="0" algn="bl" rotWithShape="0" blurRad="76200" dist="25400" dir="5400000">
              <a:srgbClr val="1B2430">
                <a:alpha val="25000"/>
              </a:srgbClr>
            </a:outerShdw>
          </a:effectLst>
        </p:spPr>
      </p:sp>
      <p:pic>
        <p:nvPicPr>
          <p:cNvPr id="7" name="Image 0" descr="/home/user/talenleren/neerlandais1/generateur/img/vijfzinnen/a1_mijndag_s.jpg">    </p:cNvPr>
          <p:cNvPicPr>
            <a:picLocks noChangeAspect="1"/>
          </p:cNvPicPr>
          <p:nvPr/>
        </p:nvPicPr>
        <p:blipFill>
          <a:blip r:embed="rId1"/>
          <a:stretch>
            <a:fillRect/>
          </a:stretch>
        </p:blipFill>
        <p:spPr>
          <a:xfrm>
            <a:off x="10104120" y="292608"/>
            <a:ext cx="1600200" cy="1000125"/>
          </a:xfrm>
          <a:prstGeom prst="rect">
            <a:avLst/>
          </a:prstGeom>
        </p:spPr>
      </p:pic>
      <p:sp>
        <p:nvSpPr>
          <p:cNvPr id="8" name="Shape 4"/>
          <p:cNvSpPr/>
          <p:nvPr/>
        </p:nvSpPr>
        <p:spPr>
          <a:xfrm>
            <a:off x="1691640" y="3120542"/>
            <a:ext cx="1482242" cy="371856"/>
          </a:xfrm>
          <a:prstGeom prst="roundRect">
            <a:avLst>
              <a:gd name="adj" fmla="val 12295"/>
            </a:avLst>
          </a:prstGeom>
          <a:solidFill>
            <a:srgbClr val="E6F3DA"/>
          </a:solidFill>
          <a:ln w="12700">
            <a:solidFill>
              <a:srgbClr val="FFFFFF">
                <a:alpha val="0"/>
              </a:srgbClr>
            </a:solidFill>
            <a:prstDash val="solid"/>
          </a:ln>
        </p:spPr>
      </p:sp>
      <p:sp>
        <p:nvSpPr>
          <p:cNvPr id="9" name="Text 5"/>
          <p:cNvSpPr txBox="1"/>
          <p:nvPr/>
        </p:nvSpPr>
        <p:spPr>
          <a:xfrm>
            <a:off x="1691640" y="3108350"/>
            <a:ext cx="1482242"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’s Morgens</a:t>
            </a:r>
            <a:endParaRPr lang="en-US" sz="2400" dirty="0"/>
          </a:p>
        </p:txBody>
      </p:sp>
      <p:sp>
        <p:nvSpPr>
          <p:cNvPr id="10" name="Text 6"/>
          <p:cNvSpPr txBox="1"/>
          <p:nvPr/>
        </p:nvSpPr>
        <p:spPr>
          <a:xfrm>
            <a:off x="3261055" y="3108350"/>
            <a:ext cx="2464918"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werk ik op school.</a:t>
            </a:r>
            <a:endParaRPr lang="en-US" sz="2400" dirty="0"/>
          </a:p>
        </p:txBody>
      </p:sp>
      <p:sp>
        <p:nvSpPr>
          <p:cNvPr id="11" name="Shape 7"/>
          <p:cNvSpPr/>
          <p:nvPr/>
        </p:nvSpPr>
        <p:spPr>
          <a:xfrm>
            <a:off x="5630266" y="3120542"/>
            <a:ext cx="1445971" cy="371856"/>
          </a:xfrm>
          <a:prstGeom prst="roundRect">
            <a:avLst>
              <a:gd name="adj" fmla="val 12295"/>
            </a:avLst>
          </a:prstGeom>
          <a:solidFill>
            <a:srgbClr val="E6F3DA"/>
          </a:solidFill>
          <a:ln w="12700">
            <a:solidFill>
              <a:srgbClr val="FFFFFF">
                <a:alpha val="0"/>
              </a:srgbClr>
            </a:solidFill>
            <a:prstDash val="solid"/>
          </a:ln>
        </p:spPr>
      </p:sp>
      <p:sp>
        <p:nvSpPr>
          <p:cNvPr id="12" name="Text 8"/>
          <p:cNvSpPr txBox="1"/>
          <p:nvPr/>
        </p:nvSpPr>
        <p:spPr>
          <a:xfrm>
            <a:off x="5630266" y="3108350"/>
            <a:ext cx="1445971"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’s Middags</a:t>
            </a:r>
            <a:endParaRPr lang="en-US" sz="2400" dirty="0"/>
          </a:p>
        </p:txBody>
      </p:sp>
      <p:sp>
        <p:nvSpPr>
          <p:cNvPr id="13" name="Text 9"/>
          <p:cNvSpPr txBox="1"/>
          <p:nvPr/>
        </p:nvSpPr>
        <p:spPr>
          <a:xfrm>
            <a:off x="7163410" y="3108350"/>
            <a:ext cx="2571598"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eet ik een broodje.</a:t>
            </a:r>
            <a:endParaRPr lang="en-US" sz="2400" dirty="0"/>
          </a:p>
        </p:txBody>
      </p:sp>
      <p:sp>
        <p:nvSpPr>
          <p:cNvPr id="14" name="Shape 10"/>
          <p:cNvSpPr/>
          <p:nvPr/>
        </p:nvSpPr>
        <p:spPr>
          <a:xfrm>
            <a:off x="2432761" y="3044342"/>
            <a:ext cx="914" cy="76200"/>
          </a:xfrm>
          <a:prstGeom prst="line">
            <a:avLst/>
          </a:prstGeom>
          <a:noFill/>
          <a:ln w="15875">
            <a:solidFill>
              <a:srgbClr val="7AB648"/>
            </a:solidFill>
            <a:prstDash val="solid"/>
          </a:ln>
        </p:spPr>
      </p:sp>
      <p:sp>
        <p:nvSpPr>
          <p:cNvPr id="15" name="Shape 11"/>
          <p:cNvSpPr/>
          <p:nvPr/>
        </p:nvSpPr>
        <p:spPr>
          <a:xfrm>
            <a:off x="1950942" y="2797454"/>
            <a:ext cx="963638" cy="246888"/>
          </a:xfrm>
          <a:prstGeom prst="roundRect">
            <a:avLst>
              <a:gd name="adj" fmla="val 14815"/>
            </a:avLst>
          </a:prstGeom>
          <a:solidFill>
            <a:srgbClr val="7AB648"/>
          </a:solidFill>
          <a:ln w="12700">
            <a:solidFill>
              <a:srgbClr val="FFFFFF">
                <a:alpha val="0"/>
              </a:srgbClr>
            </a:solidFill>
            <a:prstDash val="solid"/>
          </a:ln>
        </p:spPr>
      </p:sp>
      <p:sp>
        <p:nvSpPr>
          <p:cNvPr id="16" name="Text 12"/>
          <p:cNvSpPr txBox="1"/>
          <p:nvPr/>
        </p:nvSpPr>
        <p:spPr>
          <a:xfrm>
            <a:off x="1950942" y="2797454"/>
            <a:ext cx="963638"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’S MORGENS</a:t>
            </a:r>
            <a:endParaRPr lang="en-US" sz="1100" dirty="0"/>
          </a:p>
        </p:txBody>
      </p:sp>
      <p:sp>
        <p:nvSpPr>
          <p:cNvPr id="17" name="Shape 13"/>
          <p:cNvSpPr/>
          <p:nvPr/>
        </p:nvSpPr>
        <p:spPr>
          <a:xfrm>
            <a:off x="6353251" y="3044342"/>
            <a:ext cx="914" cy="76200"/>
          </a:xfrm>
          <a:prstGeom prst="line">
            <a:avLst/>
          </a:prstGeom>
          <a:noFill/>
          <a:ln w="15875">
            <a:solidFill>
              <a:srgbClr val="7AB648"/>
            </a:solidFill>
            <a:prstDash val="solid"/>
          </a:ln>
        </p:spPr>
      </p:sp>
      <p:sp>
        <p:nvSpPr>
          <p:cNvPr id="18" name="Shape 14"/>
          <p:cNvSpPr/>
          <p:nvPr/>
        </p:nvSpPr>
        <p:spPr>
          <a:xfrm>
            <a:off x="5889104" y="2797454"/>
            <a:ext cx="928294" cy="246888"/>
          </a:xfrm>
          <a:prstGeom prst="roundRect">
            <a:avLst>
              <a:gd name="adj" fmla="val 14815"/>
            </a:avLst>
          </a:prstGeom>
          <a:solidFill>
            <a:srgbClr val="7AB648"/>
          </a:solidFill>
          <a:ln w="12700">
            <a:solidFill>
              <a:srgbClr val="FFFFFF">
                <a:alpha val="0"/>
              </a:srgbClr>
            </a:solidFill>
            <a:prstDash val="solid"/>
          </a:ln>
        </p:spPr>
      </p:sp>
      <p:sp>
        <p:nvSpPr>
          <p:cNvPr id="19" name="Text 15"/>
          <p:cNvSpPr txBox="1"/>
          <p:nvPr/>
        </p:nvSpPr>
        <p:spPr>
          <a:xfrm>
            <a:off x="5889104" y="2797454"/>
            <a:ext cx="928294"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’S MIDDAGS</a:t>
            </a:r>
            <a:endParaRPr lang="en-US" sz="1100" dirty="0"/>
          </a:p>
        </p:txBody>
      </p:sp>
      <p:sp>
        <p:nvSpPr>
          <p:cNvPr id="20" name="Shape 16"/>
          <p:cNvSpPr/>
          <p:nvPr/>
        </p:nvSpPr>
        <p:spPr>
          <a:xfrm>
            <a:off x="3521354" y="4175150"/>
            <a:ext cx="1302410" cy="371856"/>
          </a:xfrm>
          <a:prstGeom prst="roundRect">
            <a:avLst>
              <a:gd name="adj" fmla="val 12295"/>
            </a:avLst>
          </a:prstGeom>
          <a:solidFill>
            <a:srgbClr val="E6F3DA"/>
          </a:solidFill>
          <a:ln w="12700">
            <a:solidFill>
              <a:srgbClr val="FFFFFF">
                <a:alpha val="0"/>
              </a:srgbClr>
            </a:solidFill>
            <a:prstDash val="solid"/>
          </a:ln>
        </p:spPr>
      </p:sp>
      <p:sp>
        <p:nvSpPr>
          <p:cNvPr id="21" name="Text 17"/>
          <p:cNvSpPr txBox="1"/>
          <p:nvPr/>
        </p:nvSpPr>
        <p:spPr>
          <a:xfrm>
            <a:off x="3521354" y="4162958"/>
            <a:ext cx="1302410"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’s Avonds</a:t>
            </a:r>
            <a:endParaRPr lang="en-US" sz="2400" dirty="0"/>
          </a:p>
        </p:txBody>
      </p:sp>
      <p:sp>
        <p:nvSpPr>
          <p:cNvPr id="22" name="Text 18"/>
          <p:cNvSpPr txBox="1"/>
          <p:nvPr/>
        </p:nvSpPr>
        <p:spPr>
          <a:xfrm>
            <a:off x="4910938" y="4162958"/>
            <a:ext cx="5146548"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kijk ik een film… en ik slaap in de zetel!</a:t>
            </a:r>
            <a:endParaRPr lang="en-US" sz="2400" dirty="0"/>
          </a:p>
        </p:txBody>
      </p:sp>
      <p:sp>
        <p:nvSpPr>
          <p:cNvPr id="23" name="Shape 19"/>
          <p:cNvSpPr/>
          <p:nvPr/>
        </p:nvSpPr>
        <p:spPr>
          <a:xfrm>
            <a:off x="4172560" y="4098950"/>
            <a:ext cx="914" cy="76200"/>
          </a:xfrm>
          <a:prstGeom prst="line">
            <a:avLst/>
          </a:prstGeom>
          <a:noFill/>
          <a:ln w="15875">
            <a:solidFill>
              <a:srgbClr val="7AB648"/>
            </a:solidFill>
            <a:prstDash val="solid"/>
          </a:ln>
        </p:spPr>
      </p:sp>
      <p:sp>
        <p:nvSpPr>
          <p:cNvPr id="24" name="Shape 20"/>
          <p:cNvSpPr/>
          <p:nvPr/>
        </p:nvSpPr>
        <p:spPr>
          <a:xfrm>
            <a:off x="3742080" y="3852062"/>
            <a:ext cx="860958" cy="246888"/>
          </a:xfrm>
          <a:prstGeom prst="roundRect">
            <a:avLst>
              <a:gd name="adj" fmla="val 14815"/>
            </a:avLst>
          </a:prstGeom>
          <a:solidFill>
            <a:srgbClr val="7AB648"/>
          </a:solidFill>
          <a:ln w="12700">
            <a:solidFill>
              <a:srgbClr val="FFFFFF">
                <a:alpha val="0"/>
              </a:srgbClr>
            </a:solidFill>
            <a:prstDash val="solid"/>
          </a:ln>
        </p:spPr>
      </p:sp>
      <p:sp>
        <p:nvSpPr>
          <p:cNvPr id="25" name="Text 21"/>
          <p:cNvSpPr txBox="1"/>
          <p:nvPr/>
        </p:nvSpPr>
        <p:spPr>
          <a:xfrm>
            <a:off x="3742080" y="3852062"/>
            <a:ext cx="860958"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’S AVONDS</a:t>
            </a:r>
            <a:endParaRPr lang="en-US" sz="1100" dirty="0"/>
          </a:p>
        </p:txBody>
      </p:sp>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1554480" y="384048"/>
            <a:ext cx="10241280" cy="658368"/>
          </a:xfrm>
          <a:prstGeom prst="rect">
            <a:avLst/>
          </a:prstGeom>
          <a:noFill/>
          <a:ln/>
        </p:spPr>
        <p:txBody>
          <a:bodyPr wrap="square" lIns="0" tIns="0" rIns="0" bIns="0" rtlCol="0" anchor="ctr"/>
          <a:lstStyle/>
          <a:p>
            <a:pPr algn="ctr" indent="0" marL="0">
              <a:buNone/>
            </a:pPr>
            <a:r>
              <a:rPr lang="en-US" sz="3000" b="1" dirty="0">
                <a:solidFill>
                  <a:srgbClr val="2B2F38"/>
                </a:solidFill>
              </a:rPr>
              <a:t>Gebruik deze afbeelding als inspiratie</a:t>
            </a:r>
            <a:endParaRPr lang="en-US" sz="3000" dirty="0"/>
          </a:p>
        </p:txBody>
      </p:sp>
      <p:sp>
        <p:nvSpPr>
          <p:cNvPr id="4" name="Shape 1"/>
          <p:cNvSpPr/>
          <p:nvPr/>
        </p:nvSpPr>
        <p:spPr>
          <a:xfrm>
            <a:off x="365760" y="365760"/>
            <a:ext cx="868680" cy="5989320"/>
          </a:xfrm>
          <a:prstGeom prst="roundRect">
            <a:avLst>
              <a:gd name="adj" fmla="val 12632"/>
            </a:avLst>
          </a:prstGeom>
          <a:solidFill>
            <a:srgbClr val="E6F4EA"/>
          </a:solidFill>
          <a:ln w="28575">
            <a:solidFill>
              <a:srgbClr val="6DBE8A"/>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3D8C5A"/>
                </a:solidFill>
                <a:latin typeface="Calibri" pitchFamily="34" charset="0"/>
                <a:ea typeface="Calibri" pitchFamily="34" charset="-122"/>
                <a:cs typeface="Calibri" pitchFamily="34" charset="-120"/>
              </a:rPr>
              <a:t>A1 · Premiers pas</a:t>
            </a:r>
            <a:endParaRPr lang="en-US" sz="3800" dirty="0"/>
          </a:p>
        </p:txBody>
      </p:sp>
      <p:sp>
        <p:nvSpPr>
          <p:cNvPr id="6" name="Text 3"/>
          <p:cNvSpPr txBox="1"/>
          <p:nvPr/>
        </p:nvSpPr>
        <p:spPr>
          <a:xfrm>
            <a:off x="1554480" y="1024128"/>
            <a:ext cx="10241280" cy="365760"/>
          </a:xfrm>
          <a:prstGeom prst="rect">
            <a:avLst/>
          </a:prstGeom>
          <a:noFill/>
          <a:ln/>
        </p:spPr>
        <p:txBody>
          <a:bodyPr wrap="square" lIns="0" tIns="0" rIns="0" bIns="0" rtlCol="0" anchor="ctr"/>
          <a:lstStyle/>
          <a:p>
            <a:pPr algn="ctr" indent="0" marL="0">
              <a:buNone/>
            </a:pPr>
            <a:r>
              <a:rPr lang="en-US" sz="1500" b="1" dirty="0">
                <a:solidFill>
                  <a:srgbClr val="3D8C5A"/>
                </a:solidFill>
                <a:latin typeface="Calibri" pitchFamily="34" charset="0"/>
                <a:ea typeface="Calibri" pitchFamily="34" charset="-122"/>
                <a:cs typeface="Calibri" pitchFamily="34" charset="-120"/>
              </a:rPr>
              <a:t>3 · Vanavond</a:t>
            </a:r>
            <a:r>
              <a:rPr lang="en-US" sz="1500" i="1" dirty="0">
                <a:solidFill>
                  <a:srgbClr val="6B7280"/>
                </a:solidFill>
                <a:latin typeface="Calibri" pitchFamily="34" charset="0"/>
                <a:ea typeface="Calibri" pitchFamily="34" charset="-122"/>
                <a:cs typeface="Calibri" pitchFamily="34" charset="-120"/>
              </a:rPr>
              <a:t>   Ce soir</a:t>
            </a:r>
            <a:r>
              <a:rPr lang="en-US" sz="1200" dirty="0">
                <a:solidFill>
                  <a:srgbClr val="9AA3B2"/>
                </a:solidFill>
                <a:latin typeface="Calibri" pitchFamily="34" charset="0"/>
                <a:ea typeface="Calibri" pitchFamily="34" charset="-122"/>
                <a:cs typeface="Calibri" pitchFamily="34" charset="-120"/>
              </a:rPr>
              <a:t>   ·   syllabus 1.1 · p. 6</a:t>
            </a:r>
            <a:endParaRPr lang="en-US" sz="1500" dirty="0"/>
          </a:p>
        </p:txBody>
      </p:sp>
      <p:sp>
        <p:nvSpPr>
          <p:cNvPr id="7" name="Shape 4"/>
          <p:cNvSpPr/>
          <p:nvPr/>
        </p:nvSpPr>
        <p:spPr>
          <a:xfrm>
            <a:off x="1596085" y="1504645"/>
            <a:ext cx="4534510" cy="2905735"/>
          </a:xfrm>
          <a:prstGeom prst="roundRect">
            <a:avLst>
              <a:gd name="adj" fmla="val 1259"/>
            </a:avLst>
          </a:prstGeom>
          <a:solidFill>
            <a:srgbClr val="FFFFFF"/>
          </a:solidFill>
          <a:ln w="9525">
            <a:solidFill>
              <a:srgbClr val="E3E7EE"/>
            </a:solidFill>
            <a:prstDash val="solid"/>
          </a:ln>
          <a:effectLst>
            <a:outerShdw sx="100000" sy="100000" kx="0" ky="0" algn="bl" rotWithShape="0" blurRad="127000" dist="50800" dir="5400000">
              <a:srgbClr val="1B2430">
                <a:alpha val="25000"/>
              </a:srgbClr>
            </a:outerShdw>
          </a:effectLst>
        </p:spPr>
      </p:sp>
      <p:pic>
        <p:nvPicPr>
          <p:cNvPr id="8" name="Image 0" descr="/home/user/talenleren/neerlandais1/generateur/img/vijfzinnen/a1_vanavond_s.jpg">    </p:cNvPr>
          <p:cNvPicPr>
            <a:picLocks noChangeAspect="1"/>
          </p:cNvPicPr>
          <p:nvPr/>
        </p:nvPicPr>
        <p:blipFill>
          <a:blip r:embed="rId1"/>
          <a:stretch>
            <a:fillRect/>
          </a:stretch>
        </p:blipFill>
        <p:spPr>
          <a:xfrm>
            <a:off x="1691640" y="1600200"/>
            <a:ext cx="4343400" cy="2714625"/>
          </a:xfrm>
          <a:prstGeom prst="rect">
            <a:avLst/>
          </a:prstGeom>
        </p:spPr>
      </p:pic>
      <p:sp>
        <p:nvSpPr>
          <p:cNvPr id="9" name="Shape 5"/>
          <p:cNvSpPr/>
          <p:nvPr/>
        </p:nvSpPr>
        <p:spPr>
          <a:xfrm>
            <a:off x="1691640" y="4572000"/>
            <a:ext cx="1600200" cy="365760"/>
          </a:xfrm>
          <a:prstGeom prst="roundRect">
            <a:avLst>
              <a:gd name="adj" fmla="val 50000"/>
            </a:avLst>
          </a:prstGeom>
          <a:solidFill>
            <a:srgbClr val="FDF1E6"/>
          </a:solidFill>
          <a:ln w="12700">
            <a:solidFill>
              <a:srgbClr val="D9822B"/>
            </a:solidFill>
            <a:prstDash val="solid"/>
          </a:ln>
        </p:spPr>
      </p:sp>
      <p:pic>
        <p:nvPicPr>
          <p:cNvPr id="10" name="Image 1" descr="Comments">    </p:cNvPr>
          <p:cNvPicPr>
            <a:picLocks noChangeAspect="1"/>
          </p:cNvPicPr>
          <p:nvPr/>
        </p:nvPicPr>
        <p:blipFill>
          <a:blip r:embed="rId2"/>
          <a:stretch>
            <a:fillRect/>
          </a:stretch>
        </p:blipFill>
        <p:spPr>
          <a:xfrm>
            <a:off x="1819656" y="4654296"/>
            <a:ext cx="201168" cy="201168"/>
          </a:xfrm>
          <a:prstGeom prst="rect">
            <a:avLst/>
          </a:prstGeom>
        </p:spPr>
      </p:pic>
      <p:sp>
        <p:nvSpPr>
          <p:cNvPr id="11" name="Text 6"/>
          <p:cNvSpPr txBox="1"/>
          <p:nvPr/>
        </p:nvSpPr>
        <p:spPr>
          <a:xfrm>
            <a:off x="2075688" y="4572000"/>
            <a:ext cx="1143000" cy="365760"/>
          </a:xfrm>
          <a:prstGeom prst="rect">
            <a:avLst/>
          </a:prstGeom>
          <a:noFill/>
          <a:ln/>
        </p:spPr>
        <p:txBody>
          <a:bodyPr wrap="square" lIns="0" tIns="0" rIns="0" bIns="0" rtlCol="0" anchor="ctr"/>
          <a:lstStyle/>
          <a:p>
            <a:pPr algn="l" indent="0" marL="0">
              <a:buNone/>
            </a:pPr>
            <a:r>
              <a:rPr lang="en-US" sz="1150" b="1" spc="100" kern="0" dirty="0">
                <a:solidFill>
                  <a:srgbClr val="D9822B"/>
                </a:solidFill>
                <a:latin typeface="Calibri" pitchFamily="34" charset="0"/>
                <a:ea typeface="Calibri" pitchFamily="34" charset="-122"/>
                <a:cs typeface="Calibri" pitchFamily="34" charset="-120"/>
              </a:rPr>
              <a:t>À L’ORAL</a:t>
            </a:r>
            <a:endParaRPr lang="en-US" sz="1150" dirty="0"/>
          </a:p>
        </p:txBody>
      </p:sp>
      <p:sp>
        <p:nvSpPr>
          <p:cNvPr id="12" name="Text 7"/>
          <p:cNvSpPr txBox="1"/>
          <p:nvPr/>
        </p:nvSpPr>
        <p:spPr>
          <a:xfrm>
            <a:off x="3429000" y="4544568"/>
            <a:ext cx="2651760" cy="731520"/>
          </a:xfrm>
          <a:prstGeom prst="rect">
            <a:avLst/>
          </a:prstGeom>
          <a:noFill/>
          <a:ln/>
        </p:spPr>
        <p:txBody>
          <a:bodyPr wrap="square" lIns="0" tIns="0" rIns="0" bIns="0" rtlCol="0" anchor="t"/>
          <a:lstStyle/>
          <a:p>
            <a:pPr algn="l" indent="0" marL="0">
              <a:buNone/>
            </a:pPr>
            <a:r>
              <a:rPr lang="en-US" sz="1150" i="1" dirty="0">
                <a:solidFill>
                  <a:srgbClr val="6B7280"/>
                </a:solidFill>
                <a:latin typeface="Calibri" pitchFamily="34" charset="0"/>
                <a:ea typeface="Calibri" pitchFamily="34" charset="-122"/>
                <a:cs typeface="Calibri" pitchFamily="34" charset="-120"/>
              </a:rPr>
              <a:t>Il est 22 h. Pieter téléphone à Emma. Que fait-il ce soir ?</a:t>
            </a:r>
            <a:endParaRPr lang="en-US" sz="1150" dirty="0"/>
          </a:p>
        </p:txBody>
      </p:sp>
      <p:sp>
        <p:nvSpPr>
          <p:cNvPr id="13" name="Shape 8"/>
          <p:cNvSpPr/>
          <p:nvPr/>
        </p:nvSpPr>
        <p:spPr>
          <a:xfrm>
            <a:off x="6355080" y="1833372"/>
            <a:ext cx="914400" cy="402336"/>
          </a:xfrm>
          <a:prstGeom prst="roundRect">
            <a:avLst>
              <a:gd name="adj" fmla="val 13636"/>
            </a:avLst>
          </a:prstGeom>
          <a:solidFill>
            <a:srgbClr val="5FA873"/>
          </a:solidFill>
          <a:ln w="12700">
            <a:solidFill>
              <a:srgbClr val="FFFFFF">
                <a:alpha val="0"/>
              </a:srgbClr>
            </a:solidFill>
            <a:prstDash val="solid"/>
          </a:ln>
        </p:spPr>
      </p:sp>
      <p:sp>
        <p:nvSpPr>
          <p:cNvPr id="14" name="Text 9"/>
          <p:cNvSpPr txBox="1"/>
          <p:nvPr/>
        </p:nvSpPr>
        <p:spPr>
          <a:xfrm>
            <a:off x="6355080" y="183337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1</a:t>
            </a:r>
            <a:endParaRPr lang="en-US" sz="1600" dirty="0"/>
          </a:p>
        </p:txBody>
      </p:sp>
      <p:sp>
        <p:nvSpPr>
          <p:cNvPr id="15" name="Text 10"/>
          <p:cNvSpPr txBox="1"/>
          <p:nvPr/>
        </p:nvSpPr>
        <p:spPr>
          <a:xfrm>
            <a:off x="7406640" y="1778508"/>
            <a:ext cx="4389120" cy="512064"/>
          </a:xfrm>
          <a:prstGeom prst="rect">
            <a:avLst/>
          </a:prstGeom>
          <a:noFill/>
          <a:ln/>
        </p:spPr>
        <p:txBody>
          <a:bodyPr wrap="square" lIns="0" tIns="0" rIns="0" bIns="0" rtlCol="0" anchor="ctr"/>
          <a:lstStyle/>
          <a:p>
            <a:pPr algn="l" indent="0" marL="0">
              <a:buNone/>
            </a:pPr>
            <a:r>
              <a:rPr lang="en-US" sz="1600" dirty="0">
                <a:solidFill>
                  <a:srgbClr val="2B2F38"/>
                </a:solidFill>
              </a:rPr>
              <a:t>Saluez selon le moment : </a:t>
            </a:r>
            <a:r>
              <a:rPr lang="en-US" sz="1600" b="1" dirty="0">
                <a:solidFill>
                  <a:srgbClr val="2B2F38"/>
                </a:solidFill>
              </a:rPr>
              <a:t>GOEDENAVOND</a:t>
            </a:r>
            <a:r>
              <a:rPr lang="en-US" sz="1600" dirty="0">
                <a:solidFill>
                  <a:srgbClr val="2B2F38"/>
                </a:solidFill>
              </a:rPr>
              <a:t> + prénom.</a:t>
            </a:r>
            <a:endParaRPr lang="en-US" sz="1600" dirty="0"/>
          </a:p>
        </p:txBody>
      </p:sp>
      <p:sp>
        <p:nvSpPr>
          <p:cNvPr id="16" name="Shape 11"/>
          <p:cNvSpPr/>
          <p:nvPr/>
        </p:nvSpPr>
        <p:spPr>
          <a:xfrm>
            <a:off x="6355080" y="2702052"/>
            <a:ext cx="914400" cy="402336"/>
          </a:xfrm>
          <a:prstGeom prst="roundRect">
            <a:avLst>
              <a:gd name="adj" fmla="val 13636"/>
            </a:avLst>
          </a:prstGeom>
          <a:solidFill>
            <a:srgbClr val="5FA873"/>
          </a:solidFill>
          <a:ln w="12700">
            <a:solidFill>
              <a:srgbClr val="FFFFFF">
                <a:alpha val="0"/>
              </a:srgbClr>
            </a:solidFill>
            <a:prstDash val="solid"/>
          </a:ln>
        </p:spPr>
      </p:sp>
      <p:sp>
        <p:nvSpPr>
          <p:cNvPr id="17" name="Text 12"/>
          <p:cNvSpPr txBox="1"/>
          <p:nvPr/>
        </p:nvSpPr>
        <p:spPr>
          <a:xfrm>
            <a:off x="6355080" y="270205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2</a:t>
            </a:r>
            <a:endParaRPr lang="en-US" sz="1600" dirty="0"/>
          </a:p>
        </p:txBody>
      </p:sp>
      <p:sp>
        <p:nvSpPr>
          <p:cNvPr id="18" name="Text 13"/>
          <p:cNvSpPr txBox="1"/>
          <p:nvPr/>
        </p:nvSpPr>
        <p:spPr>
          <a:xfrm>
            <a:off x="7406640" y="2647188"/>
            <a:ext cx="4389120" cy="512064"/>
          </a:xfrm>
          <a:prstGeom prst="rect">
            <a:avLst/>
          </a:prstGeom>
          <a:noFill/>
          <a:ln/>
        </p:spPr>
        <p:txBody>
          <a:bodyPr wrap="square" lIns="0" tIns="0" rIns="0" bIns="0" rtlCol="0" anchor="ctr"/>
          <a:lstStyle/>
          <a:p>
            <a:pPr algn="l" indent="0" marL="0">
              <a:buNone/>
            </a:pPr>
            <a:r>
              <a:rPr lang="en-US" sz="1600" dirty="0">
                <a:solidFill>
                  <a:srgbClr val="2B2F38"/>
                </a:solidFill>
              </a:rPr>
              <a:t>Ce soir précisément : </a:t>
            </a:r>
            <a:r>
              <a:rPr lang="en-US" sz="1600" b="1" dirty="0">
                <a:solidFill>
                  <a:srgbClr val="2B2F38"/>
                </a:solidFill>
              </a:rPr>
              <a:t>VANAVOND</a:t>
            </a:r>
            <a:r>
              <a:rPr lang="en-US" sz="1600" dirty="0">
                <a:solidFill>
                  <a:srgbClr val="2B2F38"/>
                </a:solidFill>
              </a:rPr>
              <a:t> + verbe + </a:t>
            </a:r>
            <a:r>
              <a:rPr lang="en-US" sz="1600" b="1" dirty="0">
                <a:solidFill>
                  <a:srgbClr val="2B2F38"/>
                </a:solidFill>
              </a:rPr>
              <a:t>IK</a:t>
            </a:r>
            <a:r>
              <a:rPr lang="en-US" sz="1600" dirty="0">
                <a:solidFill>
                  <a:srgbClr val="2B2F38"/>
                </a:solidFill>
              </a:rPr>
              <a:t>.</a:t>
            </a:r>
            <a:endParaRPr lang="en-US" sz="1600" dirty="0"/>
          </a:p>
        </p:txBody>
      </p:sp>
      <p:sp>
        <p:nvSpPr>
          <p:cNvPr id="19" name="Shape 14"/>
          <p:cNvSpPr/>
          <p:nvPr/>
        </p:nvSpPr>
        <p:spPr>
          <a:xfrm>
            <a:off x="6355080" y="3570732"/>
            <a:ext cx="914400" cy="402336"/>
          </a:xfrm>
          <a:prstGeom prst="roundRect">
            <a:avLst>
              <a:gd name="adj" fmla="val 13636"/>
            </a:avLst>
          </a:prstGeom>
          <a:solidFill>
            <a:srgbClr val="5FA873"/>
          </a:solidFill>
          <a:ln w="12700">
            <a:solidFill>
              <a:srgbClr val="FFFFFF">
                <a:alpha val="0"/>
              </a:srgbClr>
            </a:solidFill>
            <a:prstDash val="solid"/>
          </a:ln>
        </p:spPr>
      </p:sp>
      <p:sp>
        <p:nvSpPr>
          <p:cNvPr id="20" name="Text 15"/>
          <p:cNvSpPr txBox="1"/>
          <p:nvPr/>
        </p:nvSpPr>
        <p:spPr>
          <a:xfrm>
            <a:off x="6355080" y="357073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3</a:t>
            </a:r>
            <a:endParaRPr lang="en-US" sz="1600" dirty="0"/>
          </a:p>
        </p:txBody>
      </p:sp>
      <p:sp>
        <p:nvSpPr>
          <p:cNvPr id="21" name="Text 16"/>
          <p:cNvSpPr txBox="1"/>
          <p:nvPr/>
        </p:nvSpPr>
        <p:spPr>
          <a:xfrm>
            <a:off x="7406640" y="3515868"/>
            <a:ext cx="4389120" cy="512064"/>
          </a:xfrm>
          <a:prstGeom prst="rect">
            <a:avLst/>
          </a:prstGeom>
          <a:noFill/>
          <a:ln/>
        </p:spPr>
        <p:txBody>
          <a:bodyPr wrap="square" lIns="0" tIns="0" rIns="0" bIns="0" rtlCol="0" anchor="ctr"/>
          <a:lstStyle/>
          <a:p>
            <a:pPr algn="l" indent="0" marL="0">
              <a:buNone/>
            </a:pPr>
            <a:r>
              <a:rPr lang="en-US" sz="1600" dirty="0">
                <a:solidFill>
                  <a:srgbClr val="2B2F38"/>
                </a:solidFill>
              </a:rPr>
              <a:t>Avant de dormir : </a:t>
            </a:r>
            <a:r>
              <a:rPr lang="en-US" sz="1600" b="1" dirty="0">
                <a:solidFill>
                  <a:srgbClr val="2B2F38"/>
                </a:solidFill>
              </a:rPr>
              <a:t>WELTERUSTEN!</a:t>
            </a:r>
            <a:r>
              <a:rPr lang="en-US" sz="1600" dirty="0">
                <a:solidFill>
                  <a:srgbClr val="2B2F38"/>
                </a:solidFill>
              </a:rPr>
              <a:t> ou </a:t>
            </a:r>
            <a:r>
              <a:rPr lang="en-US" sz="1600" b="1" dirty="0">
                <a:solidFill>
                  <a:srgbClr val="2B2F38"/>
                </a:solidFill>
              </a:rPr>
              <a:t>GOEDENACHT!</a:t>
            </a:r>
            <a:endParaRPr lang="en-US" sz="1600" dirty="0"/>
          </a:p>
        </p:txBody>
      </p:sp>
      <p:sp>
        <p:nvSpPr>
          <p:cNvPr id="22" name="Shape 17"/>
          <p:cNvSpPr/>
          <p:nvPr/>
        </p:nvSpPr>
        <p:spPr>
          <a:xfrm>
            <a:off x="3246120" y="5440680"/>
            <a:ext cx="6858000" cy="822960"/>
          </a:xfrm>
          <a:prstGeom prst="roundRect">
            <a:avLst>
              <a:gd name="adj" fmla="val 17778"/>
            </a:avLst>
          </a:prstGeom>
          <a:solidFill>
            <a:srgbClr val="EAF5EC"/>
          </a:solidFill>
          <a:ln w="15875">
            <a:solidFill>
              <a:srgbClr val="5FA873"/>
            </a:solidFill>
            <a:prstDash val="solid"/>
          </a:ln>
        </p:spPr>
      </p:sp>
      <p:pic>
        <p:nvPicPr>
          <p:cNvPr id="23" name="Image 2" descr="UserFriends">    </p:cNvPr>
          <p:cNvPicPr>
            <a:picLocks noChangeAspect="1"/>
          </p:cNvPicPr>
          <p:nvPr/>
        </p:nvPicPr>
        <p:blipFill>
          <a:blip r:embed="rId3"/>
          <a:stretch>
            <a:fillRect/>
          </a:stretch>
        </p:blipFill>
        <p:spPr>
          <a:xfrm>
            <a:off x="3520440" y="5660136"/>
            <a:ext cx="384048" cy="384048"/>
          </a:xfrm>
          <a:prstGeom prst="rect">
            <a:avLst/>
          </a:prstGeom>
        </p:spPr>
      </p:pic>
      <p:sp>
        <p:nvSpPr>
          <p:cNvPr id="24" name="Text 18"/>
          <p:cNvSpPr txBox="1"/>
          <p:nvPr/>
        </p:nvSpPr>
        <p:spPr>
          <a:xfrm>
            <a:off x="4114800" y="5440680"/>
            <a:ext cx="5852160" cy="822960"/>
          </a:xfrm>
          <a:prstGeom prst="rect">
            <a:avLst/>
          </a:prstGeom>
          <a:noFill/>
          <a:ln/>
        </p:spPr>
        <p:txBody>
          <a:bodyPr wrap="square" lIns="0" tIns="0" rIns="0" bIns="0" rtlCol="0" anchor="ctr"/>
          <a:lstStyle/>
          <a:p>
            <a:pPr algn="ctr" indent="0" marL="0">
              <a:buNone/>
            </a:pPr>
            <a:r>
              <a:rPr lang="en-US" sz="1800" b="1" dirty="0">
                <a:solidFill>
                  <a:srgbClr val="2E6B44"/>
                </a:solidFill>
                <a:latin typeface="Calibri" pitchFamily="34" charset="0"/>
                <a:ea typeface="Calibri" pitchFamily="34" charset="-122"/>
                <a:cs typeface="Calibri" pitchFamily="34" charset="-120"/>
              </a:rPr>
              <a:t>Vertel je verhaal aan je partner.</a:t>
            </a:r>
            <a:endParaRPr lang="en-US" sz="1800" dirty="0"/>
          </a:p>
          <a:p>
            <a:pPr algn="ctr" indent="0" marL="0">
              <a:buNone/>
            </a:pPr>
            <a:r>
              <a:rPr lang="en-US" sz="1800" b="1" dirty="0">
                <a:solidFill>
                  <a:srgbClr val="2E6B44"/>
                </a:solidFill>
                <a:latin typeface="Calibri" pitchFamily="34" charset="0"/>
                <a:ea typeface="Calibri" pitchFamily="34" charset="-122"/>
                <a:cs typeface="Calibri" pitchFamily="34" charset="-120"/>
              </a:rPr>
              <a:t>Wat denkt hij/zij daarvan?</a:t>
            </a:r>
            <a:endParaRPr lang="en-US" sz="1800" dirty="0"/>
          </a:p>
        </p:txBody>
      </p:sp>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1554480" y="384048"/>
            <a:ext cx="10241280" cy="658368"/>
          </a:xfrm>
          <a:prstGeom prst="rect">
            <a:avLst/>
          </a:prstGeom>
          <a:noFill/>
          <a:ln/>
        </p:spPr>
        <p:txBody>
          <a:bodyPr wrap="square" lIns="0" tIns="0" rIns="0" bIns="0" rtlCol="0" anchor="ctr"/>
          <a:lstStyle/>
          <a:p>
            <a:pPr algn="ctr" indent="0" marL="0">
              <a:buNone/>
            </a:pPr>
            <a:r>
              <a:rPr lang="en-US" sz="3000" b="1" dirty="0">
                <a:solidFill>
                  <a:srgbClr val="2B2F38"/>
                </a:solidFill>
              </a:rPr>
              <a:t>Vanavond</a:t>
            </a:r>
            <a:endParaRPr lang="en-US" sz="3000" dirty="0"/>
          </a:p>
        </p:txBody>
      </p:sp>
      <p:sp>
        <p:nvSpPr>
          <p:cNvPr id="4" name="Shape 1"/>
          <p:cNvSpPr/>
          <p:nvPr/>
        </p:nvSpPr>
        <p:spPr>
          <a:xfrm>
            <a:off x="365760" y="365760"/>
            <a:ext cx="868680" cy="5989320"/>
          </a:xfrm>
          <a:prstGeom prst="roundRect">
            <a:avLst>
              <a:gd name="adj" fmla="val 12632"/>
            </a:avLst>
          </a:prstGeom>
          <a:solidFill>
            <a:srgbClr val="E6F4EA"/>
          </a:solidFill>
          <a:ln w="28575">
            <a:solidFill>
              <a:srgbClr val="6DBE8A"/>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3D8C5A"/>
                </a:solidFill>
                <a:latin typeface="Calibri" pitchFamily="34" charset="0"/>
                <a:ea typeface="Calibri" pitchFamily="34" charset="-122"/>
                <a:cs typeface="Calibri" pitchFamily="34" charset="-120"/>
              </a:rPr>
              <a:t>A1 · Premiers pas</a:t>
            </a:r>
            <a:endParaRPr lang="en-US" sz="3800" dirty="0"/>
          </a:p>
        </p:txBody>
      </p:sp>
      <p:sp>
        <p:nvSpPr>
          <p:cNvPr id="6" name="Shape 3"/>
          <p:cNvSpPr/>
          <p:nvPr/>
        </p:nvSpPr>
        <p:spPr>
          <a:xfrm>
            <a:off x="2519172" y="1124712"/>
            <a:ext cx="8311896" cy="5277231"/>
          </a:xfrm>
          <a:prstGeom prst="roundRect">
            <a:avLst>
              <a:gd name="adj" fmla="val 693"/>
            </a:avLst>
          </a:prstGeom>
          <a:solidFill>
            <a:srgbClr val="FFFFFF"/>
          </a:solidFill>
          <a:ln w="9525">
            <a:solidFill>
              <a:srgbClr val="E3E7EE"/>
            </a:solidFill>
            <a:prstDash val="solid"/>
          </a:ln>
          <a:effectLst>
            <a:outerShdw sx="100000" sy="100000" kx="0" ky="0" algn="bl" rotWithShape="0" blurRad="177800" dist="63500" dir="5400000">
              <a:srgbClr val="1B2430">
                <a:alpha val="25000"/>
              </a:srgbClr>
            </a:outerShdw>
          </a:effectLst>
        </p:spPr>
      </p:sp>
      <p:pic>
        <p:nvPicPr>
          <p:cNvPr id="7" name="Image 0" descr="/home/user/talenleren/neerlandais1/generateur/img/vijfzinnen/a1_vanavond.jpg">    </p:cNvPr>
          <p:cNvPicPr>
            <a:picLocks noChangeAspect="1"/>
          </p:cNvPicPr>
          <p:nvPr/>
        </p:nvPicPr>
        <p:blipFill>
          <a:blip r:embed="rId1"/>
          <a:stretch>
            <a:fillRect/>
          </a:stretch>
        </p:blipFill>
        <p:spPr>
          <a:xfrm>
            <a:off x="2628900" y="1234440"/>
            <a:ext cx="8092440" cy="5057775"/>
          </a:xfrm>
          <a:prstGeom prst="rect">
            <a:avLst/>
          </a:prstGeom>
        </p:spPr>
      </p:pic>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1691640" y="347472"/>
            <a:ext cx="8138160" cy="914400"/>
          </a:xfrm>
          <a:prstGeom prst="rect">
            <a:avLst/>
          </a:prstGeom>
          <a:noFill/>
          <a:ln/>
        </p:spPr>
        <p:txBody>
          <a:bodyPr wrap="square" lIns="0" tIns="0" rIns="0" bIns="0" rtlCol="0" anchor="ctr"/>
          <a:lstStyle/>
          <a:p>
            <a:pPr algn="l" indent="0" marL="0">
              <a:buNone/>
            </a:pPr>
            <a:r>
              <a:rPr lang="en-US" sz="2400" b="1" dirty="0">
                <a:solidFill>
                  <a:srgbClr val="2B2F38"/>
                </a:solidFill>
              </a:rPr>
              <a:t>Hier is een voorbeeld van wat je had kunnen denken en zeggen…</a:t>
            </a:r>
            <a:endParaRPr lang="en-US" sz="2400" dirty="0"/>
          </a:p>
        </p:txBody>
      </p:sp>
      <p:sp>
        <p:nvSpPr>
          <p:cNvPr id="4" name="Shape 1"/>
          <p:cNvSpPr/>
          <p:nvPr/>
        </p:nvSpPr>
        <p:spPr>
          <a:xfrm>
            <a:off x="365760" y="365760"/>
            <a:ext cx="868680" cy="5989320"/>
          </a:xfrm>
          <a:prstGeom prst="roundRect">
            <a:avLst>
              <a:gd name="adj" fmla="val 12632"/>
            </a:avLst>
          </a:prstGeom>
          <a:solidFill>
            <a:srgbClr val="E6F4EA"/>
          </a:solidFill>
          <a:ln w="28575">
            <a:solidFill>
              <a:srgbClr val="6DBE8A"/>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3D8C5A"/>
                </a:solidFill>
                <a:latin typeface="Calibri" pitchFamily="34" charset="0"/>
                <a:ea typeface="Calibri" pitchFamily="34" charset="-122"/>
                <a:cs typeface="Calibri" pitchFamily="34" charset="-120"/>
              </a:rPr>
              <a:t>A1 · Premiers pas</a:t>
            </a:r>
            <a:endParaRPr lang="en-US" sz="3800" dirty="0"/>
          </a:p>
        </p:txBody>
      </p:sp>
      <p:sp>
        <p:nvSpPr>
          <p:cNvPr id="6" name="Shape 3"/>
          <p:cNvSpPr/>
          <p:nvPr/>
        </p:nvSpPr>
        <p:spPr>
          <a:xfrm>
            <a:off x="10058400" y="246888"/>
            <a:ext cx="1691640" cy="1091565"/>
          </a:xfrm>
          <a:prstGeom prst="roundRect">
            <a:avLst>
              <a:gd name="adj" fmla="val 3351"/>
            </a:avLst>
          </a:prstGeom>
          <a:solidFill>
            <a:srgbClr val="FFFFFF"/>
          </a:solidFill>
          <a:ln w="9525">
            <a:solidFill>
              <a:srgbClr val="E3E7EE"/>
            </a:solidFill>
            <a:prstDash val="solid"/>
          </a:ln>
          <a:effectLst>
            <a:outerShdw sx="100000" sy="100000" kx="0" ky="0" algn="bl" rotWithShape="0" blurRad="76200" dist="25400" dir="5400000">
              <a:srgbClr val="1B2430">
                <a:alpha val="25000"/>
              </a:srgbClr>
            </a:outerShdw>
          </a:effectLst>
        </p:spPr>
      </p:sp>
      <p:pic>
        <p:nvPicPr>
          <p:cNvPr id="7" name="Image 0" descr="/home/user/talenleren/neerlandais1/generateur/img/vijfzinnen/a1_vanavond_s.jpg">    </p:cNvPr>
          <p:cNvPicPr>
            <a:picLocks noChangeAspect="1"/>
          </p:cNvPicPr>
          <p:nvPr/>
        </p:nvPicPr>
        <p:blipFill>
          <a:blip r:embed="rId1"/>
          <a:stretch>
            <a:fillRect/>
          </a:stretch>
        </p:blipFill>
        <p:spPr>
          <a:xfrm>
            <a:off x="10104120" y="292608"/>
            <a:ext cx="1600200" cy="1000125"/>
          </a:xfrm>
          <a:prstGeom prst="rect">
            <a:avLst/>
          </a:prstGeom>
        </p:spPr>
      </p:pic>
      <p:sp>
        <p:nvSpPr>
          <p:cNvPr id="8" name="Shape 4"/>
          <p:cNvSpPr/>
          <p:nvPr/>
        </p:nvSpPr>
        <p:spPr>
          <a:xfrm>
            <a:off x="1691640" y="3120542"/>
            <a:ext cx="1869643" cy="371856"/>
          </a:xfrm>
          <a:prstGeom prst="roundRect">
            <a:avLst>
              <a:gd name="adj" fmla="val 12295"/>
            </a:avLst>
          </a:prstGeom>
          <a:solidFill>
            <a:srgbClr val="E6F3DA"/>
          </a:solidFill>
          <a:ln w="12700">
            <a:solidFill>
              <a:srgbClr val="FFFFFF">
                <a:alpha val="0"/>
              </a:srgbClr>
            </a:solidFill>
            <a:prstDash val="solid"/>
          </a:ln>
        </p:spPr>
      </p:sp>
      <p:sp>
        <p:nvSpPr>
          <p:cNvPr id="9" name="Text 5"/>
          <p:cNvSpPr txBox="1"/>
          <p:nvPr/>
        </p:nvSpPr>
        <p:spPr>
          <a:xfrm>
            <a:off x="1691640" y="3108350"/>
            <a:ext cx="1869643"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Goedenavond</a:t>
            </a:r>
            <a:endParaRPr lang="en-US" sz="2400" dirty="0"/>
          </a:p>
        </p:txBody>
      </p:sp>
      <p:sp>
        <p:nvSpPr>
          <p:cNvPr id="10" name="Text 6"/>
          <p:cNvSpPr txBox="1"/>
          <p:nvPr/>
        </p:nvSpPr>
        <p:spPr>
          <a:xfrm>
            <a:off x="3561283" y="3108350"/>
            <a:ext cx="1227430"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 Emma!</a:t>
            </a:r>
            <a:endParaRPr lang="en-US" sz="2400" dirty="0"/>
          </a:p>
        </p:txBody>
      </p:sp>
      <p:sp>
        <p:nvSpPr>
          <p:cNvPr id="11" name="Shape 7"/>
          <p:cNvSpPr/>
          <p:nvPr/>
        </p:nvSpPr>
        <p:spPr>
          <a:xfrm>
            <a:off x="4693006" y="3120542"/>
            <a:ext cx="1371905" cy="371856"/>
          </a:xfrm>
          <a:prstGeom prst="roundRect">
            <a:avLst>
              <a:gd name="adj" fmla="val 12295"/>
            </a:avLst>
          </a:prstGeom>
          <a:solidFill>
            <a:srgbClr val="E6F3DA"/>
          </a:solidFill>
          <a:ln w="12700">
            <a:solidFill>
              <a:srgbClr val="FFFFFF">
                <a:alpha val="0"/>
              </a:srgbClr>
            </a:solidFill>
            <a:prstDash val="solid"/>
          </a:ln>
        </p:spPr>
      </p:sp>
      <p:sp>
        <p:nvSpPr>
          <p:cNvPr id="12" name="Text 8"/>
          <p:cNvSpPr txBox="1"/>
          <p:nvPr/>
        </p:nvSpPr>
        <p:spPr>
          <a:xfrm>
            <a:off x="4693006" y="3108350"/>
            <a:ext cx="1371905"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Vanavond</a:t>
            </a:r>
            <a:endParaRPr lang="en-US" sz="2400" dirty="0"/>
          </a:p>
        </p:txBody>
      </p:sp>
      <p:sp>
        <p:nvSpPr>
          <p:cNvPr id="13" name="Text 9"/>
          <p:cNvSpPr txBox="1"/>
          <p:nvPr/>
        </p:nvSpPr>
        <p:spPr>
          <a:xfrm>
            <a:off x="6152083" y="3108350"/>
            <a:ext cx="3799027"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kijk ik een film met popcorn.</a:t>
            </a:r>
            <a:endParaRPr lang="en-US" sz="2400" dirty="0"/>
          </a:p>
        </p:txBody>
      </p:sp>
      <p:sp>
        <p:nvSpPr>
          <p:cNvPr id="14" name="Shape 10"/>
          <p:cNvSpPr/>
          <p:nvPr/>
        </p:nvSpPr>
        <p:spPr>
          <a:xfrm>
            <a:off x="2626462" y="3044342"/>
            <a:ext cx="914" cy="76200"/>
          </a:xfrm>
          <a:prstGeom prst="line">
            <a:avLst/>
          </a:prstGeom>
          <a:noFill/>
          <a:ln w="15875">
            <a:solidFill>
              <a:srgbClr val="7AB648"/>
            </a:solidFill>
            <a:prstDash val="solid"/>
          </a:ln>
        </p:spPr>
      </p:sp>
      <p:sp>
        <p:nvSpPr>
          <p:cNvPr id="15" name="Shape 11"/>
          <p:cNvSpPr/>
          <p:nvPr/>
        </p:nvSpPr>
        <p:spPr>
          <a:xfrm>
            <a:off x="2045945" y="2797454"/>
            <a:ext cx="1161034" cy="246888"/>
          </a:xfrm>
          <a:prstGeom prst="roundRect">
            <a:avLst>
              <a:gd name="adj" fmla="val 14815"/>
            </a:avLst>
          </a:prstGeom>
          <a:solidFill>
            <a:srgbClr val="7AB648"/>
          </a:solidFill>
          <a:ln w="12700">
            <a:solidFill>
              <a:srgbClr val="FFFFFF">
                <a:alpha val="0"/>
              </a:srgbClr>
            </a:solidFill>
            <a:prstDash val="solid"/>
          </a:ln>
        </p:spPr>
      </p:sp>
      <p:sp>
        <p:nvSpPr>
          <p:cNvPr id="16" name="Text 12"/>
          <p:cNvSpPr txBox="1"/>
          <p:nvPr/>
        </p:nvSpPr>
        <p:spPr>
          <a:xfrm>
            <a:off x="2045945" y="2797454"/>
            <a:ext cx="1161034"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GOEDENAVOND</a:t>
            </a:r>
            <a:endParaRPr lang="en-US" sz="1100" dirty="0"/>
          </a:p>
        </p:txBody>
      </p:sp>
      <p:sp>
        <p:nvSpPr>
          <p:cNvPr id="17" name="Shape 13"/>
          <p:cNvSpPr/>
          <p:nvPr/>
        </p:nvSpPr>
        <p:spPr>
          <a:xfrm>
            <a:off x="5378958" y="3044342"/>
            <a:ext cx="914" cy="76200"/>
          </a:xfrm>
          <a:prstGeom prst="line">
            <a:avLst/>
          </a:prstGeom>
          <a:noFill/>
          <a:ln w="15875">
            <a:solidFill>
              <a:srgbClr val="7AB648"/>
            </a:solidFill>
            <a:prstDash val="solid"/>
          </a:ln>
        </p:spPr>
      </p:sp>
      <p:sp>
        <p:nvSpPr>
          <p:cNvPr id="18" name="Shape 14"/>
          <p:cNvSpPr/>
          <p:nvPr/>
        </p:nvSpPr>
        <p:spPr>
          <a:xfrm>
            <a:off x="4918723" y="2797454"/>
            <a:ext cx="920471" cy="246888"/>
          </a:xfrm>
          <a:prstGeom prst="roundRect">
            <a:avLst>
              <a:gd name="adj" fmla="val 14815"/>
            </a:avLst>
          </a:prstGeom>
          <a:solidFill>
            <a:srgbClr val="7AB648"/>
          </a:solidFill>
          <a:ln w="12700">
            <a:solidFill>
              <a:srgbClr val="FFFFFF">
                <a:alpha val="0"/>
              </a:srgbClr>
            </a:solidFill>
            <a:prstDash val="solid"/>
          </a:ln>
        </p:spPr>
      </p:sp>
      <p:sp>
        <p:nvSpPr>
          <p:cNvPr id="19" name="Text 15"/>
          <p:cNvSpPr txBox="1"/>
          <p:nvPr/>
        </p:nvSpPr>
        <p:spPr>
          <a:xfrm>
            <a:off x="4918723" y="2797454"/>
            <a:ext cx="920471"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VANAVOND</a:t>
            </a:r>
            <a:endParaRPr lang="en-US" sz="1100" dirty="0"/>
          </a:p>
        </p:txBody>
      </p:sp>
      <p:sp>
        <p:nvSpPr>
          <p:cNvPr id="20" name="Text 16"/>
          <p:cNvSpPr txBox="1"/>
          <p:nvPr/>
        </p:nvSpPr>
        <p:spPr>
          <a:xfrm>
            <a:off x="5028133" y="4162958"/>
            <a:ext cx="1664818"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Het is laat…</a:t>
            </a:r>
            <a:endParaRPr lang="en-US" sz="2400" dirty="0"/>
          </a:p>
        </p:txBody>
      </p:sp>
      <p:sp>
        <p:nvSpPr>
          <p:cNvPr id="21" name="Shape 17"/>
          <p:cNvSpPr/>
          <p:nvPr/>
        </p:nvSpPr>
        <p:spPr>
          <a:xfrm>
            <a:off x="6597244" y="4175150"/>
            <a:ext cx="1671218" cy="371856"/>
          </a:xfrm>
          <a:prstGeom prst="roundRect">
            <a:avLst>
              <a:gd name="adj" fmla="val 12295"/>
            </a:avLst>
          </a:prstGeom>
          <a:solidFill>
            <a:srgbClr val="E6F3DA"/>
          </a:solidFill>
          <a:ln w="12700">
            <a:solidFill>
              <a:srgbClr val="FFFFFF">
                <a:alpha val="0"/>
              </a:srgbClr>
            </a:solidFill>
            <a:prstDash val="solid"/>
          </a:ln>
        </p:spPr>
      </p:sp>
      <p:sp>
        <p:nvSpPr>
          <p:cNvPr id="22" name="Text 18"/>
          <p:cNvSpPr txBox="1"/>
          <p:nvPr/>
        </p:nvSpPr>
        <p:spPr>
          <a:xfrm>
            <a:off x="6597244" y="4162958"/>
            <a:ext cx="1671218"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Welterusten</a:t>
            </a:r>
            <a:endParaRPr lang="en-US" sz="2400" dirty="0"/>
          </a:p>
        </p:txBody>
      </p:sp>
      <p:sp>
        <p:nvSpPr>
          <p:cNvPr id="23" name="Text 19"/>
          <p:cNvSpPr txBox="1"/>
          <p:nvPr/>
        </p:nvSpPr>
        <p:spPr>
          <a:xfrm>
            <a:off x="8268462" y="4162958"/>
            <a:ext cx="282245"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a:t>
            </a:r>
            <a:endParaRPr lang="en-US" sz="2400" dirty="0"/>
          </a:p>
        </p:txBody>
      </p:sp>
      <p:sp>
        <p:nvSpPr>
          <p:cNvPr id="24" name="Shape 20"/>
          <p:cNvSpPr/>
          <p:nvPr/>
        </p:nvSpPr>
        <p:spPr>
          <a:xfrm>
            <a:off x="7432853" y="4098950"/>
            <a:ext cx="914" cy="76200"/>
          </a:xfrm>
          <a:prstGeom prst="line">
            <a:avLst/>
          </a:prstGeom>
          <a:noFill/>
          <a:ln w="15875">
            <a:solidFill>
              <a:srgbClr val="7AB648"/>
            </a:solidFill>
            <a:prstDash val="solid"/>
          </a:ln>
        </p:spPr>
      </p:sp>
      <p:sp>
        <p:nvSpPr>
          <p:cNvPr id="25" name="Shape 21"/>
          <p:cNvSpPr/>
          <p:nvPr/>
        </p:nvSpPr>
        <p:spPr>
          <a:xfrm>
            <a:off x="6894874" y="3852062"/>
            <a:ext cx="1075957" cy="246888"/>
          </a:xfrm>
          <a:prstGeom prst="roundRect">
            <a:avLst>
              <a:gd name="adj" fmla="val 14815"/>
            </a:avLst>
          </a:prstGeom>
          <a:solidFill>
            <a:srgbClr val="7AB648"/>
          </a:solidFill>
          <a:ln w="12700">
            <a:solidFill>
              <a:srgbClr val="FFFFFF">
                <a:alpha val="0"/>
              </a:srgbClr>
            </a:solidFill>
            <a:prstDash val="solid"/>
          </a:ln>
        </p:spPr>
      </p:sp>
      <p:sp>
        <p:nvSpPr>
          <p:cNvPr id="26" name="Text 22"/>
          <p:cNvSpPr txBox="1"/>
          <p:nvPr/>
        </p:nvSpPr>
        <p:spPr>
          <a:xfrm>
            <a:off x="6894874" y="3852062"/>
            <a:ext cx="1075957"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WELTERUSTEN</a:t>
            </a:r>
            <a:endParaRPr lang="en-US" sz="1100" dirty="0"/>
          </a:p>
        </p:txBody>
      </p:sp>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1554480" y="384048"/>
            <a:ext cx="10241280" cy="658368"/>
          </a:xfrm>
          <a:prstGeom prst="rect">
            <a:avLst/>
          </a:prstGeom>
          <a:noFill/>
          <a:ln/>
        </p:spPr>
        <p:txBody>
          <a:bodyPr wrap="square" lIns="0" tIns="0" rIns="0" bIns="0" rtlCol="0" anchor="ctr"/>
          <a:lstStyle/>
          <a:p>
            <a:pPr algn="ctr" indent="0" marL="0">
              <a:buNone/>
            </a:pPr>
            <a:r>
              <a:rPr lang="en-US" sz="3000" b="1" dirty="0">
                <a:solidFill>
                  <a:srgbClr val="2B2F38"/>
                </a:solidFill>
              </a:rPr>
              <a:t>Gebruik deze afbeelding als inspiratie</a:t>
            </a:r>
            <a:endParaRPr lang="en-US" sz="3000" dirty="0"/>
          </a:p>
        </p:txBody>
      </p:sp>
      <p:sp>
        <p:nvSpPr>
          <p:cNvPr id="4" name="Shape 1"/>
          <p:cNvSpPr/>
          <p:nvPr/>
        </p:nvSpPr>
        <p:spPr>
          <a:xfrm>
            <a:off x="365760" y="365760"/>
            <a:ext cx="868680" cy="5989320"/>
          </a:xfrm>
          <a:prstGeom prst="roundRect">
            <a:avLst>
              <a:gd name="adj" fmla="val 12632"/>
            </a:avLst>
          </a:prstGeom>
          <a:solidFill>
            <a:srgbClr val="E6F4EA"/>
          </a:solidFill>
          <a:ln w="28575">
            <a:solidFill>
              <a:srgbClr val="6DBE8A"/>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3D8C5A"/>
                </a:solidFill>
                <a:latin typeface="Calibri" pitchFamily="34" charset="0"/>
                <a:ea typeface="Calibri" pitchFamily="34" charset="-122"/>
                <a:cs typeface="Calibri" pitchFamily="34" charset="-120"/>
              </a:rPr>
              <a:t>A1 · Premiers pas</a:t>
            </a:r>
            <a:endParaRPr lang="en-US" sz="3800" dirty="0"/>
          </a:p>
        </p:txBody>
      </p:sp>
      <p:sp>
        <p:nvSpPr>
          <p:cNvPr id="6" name="Text 3"/>
          <p:cNvSpPr txBox="1"/>
          <p:nvPr/>
        </p:nvSpPr>
        <p:spPr>
          <a:xfrm>
            <a:off x="1554480" y="1024128"/>
            <a:ext cx="10241280" cy="365760"/>
          </a:xfrm>
          <a:prstGeom prst="rect">
            <a:avLst/>
          </a:prstGeom>
          <a:noFill/>
          <a:ln/>
        </p:spPr>
        <p:txBody>
          <a:bodyPr wrap="square" lIns="0" tIns="0" rIns="0" bIns="0" rtlCol="0" anchor="ctr"/>
          <a:lstStyle/>
          <a:p>
            <a:pPr algn="ctr" indent="0" marL="0">
              <a:buNone/>
            </a:pPr>
            <a:r>
              <a:rPr lang="en-US" sz="1500" b="1" dirty="0">
                <a:solidFill>
                  <a:srgbClr val="3D8C5A"/>
                </a:solidFill>
                <a:latin typeface="Calibri" pitchFamily="34" charset="0"/>
                <a:ea typeface="Calibri" pitchFamily="34" charset="-122"/>
                <a:cs typeface="Calibri" pitchFamily="34" charset="-120"/>
              </a:rPr>
              <a:t>4 · Vandaag is anders!</a:t>
            </a:r>
            <a:r>
              <a:rPr lang="en-US" sz="1500" i="1" dirty="0">
                <a:solidFill>
                  <a:srgbClr val="6B7280"/>
                </a:solidFill>
                <a:latin typeface="Calibri" pitchFamily="34" charset="0"/>
                <a:ea typeface="Calibri" pitchFamily="34" charset="-122"/>
                <a:cs typeface="Calibri" pitchFamily="34" charset="-120"/>
              </a:rPr>
              <a:t>   Aujourd’hui, c’est différent !</a:t>
            </a:r>
            <a:r>
              <a:rPr lang="en-US" sz="1200" dirty="0">
                <a:solidFill>
                  <a:srgbClr val="9AA3B2"/>
                </a:solidFill>
                <a:latin typeface="Calibri" pitchFamily="34" charset="0"/>
                <a:ea typeface="Calibri" pitchFamily="34" charset="-122"/>
                <a:cs typeface="Calibri" pitchFamily="34" charset="-120"/>
              </a:rPr>
              <a:t>   ·   syllabus 1.1 · p. 6</a:t>
            </a:r>
            <a:endParaRPr lang="en-US" sz="1500" dirty="0"/>
          </a:p>
        </p:txBody>
      </p:sp>
      <p:sp>
        <p:nvSpPr>
          <p:cNvPr id="7" name="Shape 4"/>
          <p:cNvSpPr/>
          <p:nvPr/>
        </p:nvSpPr>
        <p:spPr>
          <a:xfrm>
            <a:off x="1596085" y="1504645"/>
            <a:ext cx="4534510" cy="2905735"/>
          </a:xfrm>
          <a:prstGeom prst="roundRect">
            <a:avLst>
              <a:gd name="adj" fmla="val 1259"/>
            </a:avLst>
          </a:prstGeom>
          <a:solidFill>
            <a:srgbClr val="FFFFFF"/>
          </a:solidFill>
          <a:ln w="9525">
            <a:solidFill>
              <a:srgbClr val="E3E7EE"/>
            </a:solidFill>
            <a:prstDash val="solid"/>
          </a:ln>
          <a:effectLst>
            <a:outerShdw sx="100000" sy="100000" kx="0" ky="0" algn="bl" rotWithShape="0" blurRad="127000" dist="50800" dir="5400000">
              <a:srgbClr val="1B2430">
                <a:alpha val="25000"/>
              </a:srgbClr>
            </a:outerShdw>
          </a:effectLst>
        </p:spPr>
      </p:sp>
      <p:pic>
        <p:nvPicPr>
          <p:cNvPr id="8" name="Image 0" descr="/home/user/talenleren/neerlandais1/generateur/img/vijfzinnen/a1_vandaag_s.jpg">    </p:cNvPr>
          <p:cNvPicPr>
            <a:picLocks noChangeAspect="1"/>
          </p:cNvPicPr>
          <p:nvPr/>
        </p:nvPicPr>
        <p:blipFill>
          <a:blip r:embed="rId1"/>
          <a:stretch>
            <a:fillRect/>
          </a:stretch>
        </p:blipFill>
        <p:spPr>
          <a:xfrm>
            <a:off x="1691640" y="1600200"/>
            <a:ext cx="4343400" cy="2714625"/>
          </a:xfrm>
          <a:prstGeom prst="rect">
            <a:avLst/>
          </a:prstGeom>
        </p:spPr>
      </p:pic>
      <p:sp>
        <p:nvSpPr>
          <p:cNvPr id="9" name="Shape 5"/>
          <p:cNvSpPr/>
          <p:nvPr/>
        </p:nvSpPr>
        <p:spPr>
          <a:xfrm>
            <a:off x="1691640" y="4572000"/>
            <a:ext cx="1600200" cy="365760"/>
          </a:xfrm>
          <a:prstGeom prst="roundRect">
            <a:avLst>
              <a:gd name="adj" fmla="val 50000"/>
            </a:avLst>
          </a:prstGeom>
          <a:solidFill>
            <a:srgbClr val="EAF1FC"/>
          </a:solidFill>
          <a:ln w="12700">
            <a:solidFill>
              <a:srgbClr val="4A7BD0"/>
            </a:solidFill>
            <a:prstDash val="solid"/>
          </a:ln>
        </p:spPr>
      </p:sp>
      <p:pic>
        <p:nvPicPr>
          <p:cNvPr id="10" name="Image 1" descr="PenNib">    </p:cNvPr>
          <p:cNvPicPr>
            <a:picLocks noChangeAspect="1"/>
          </p:cNvPicPr>
          <p:nvPr/>
        </p:nvPicPr>
        <p:blipFill>
          <a:blip r:embed="rId2"/>
          <a:stretch>
            <a:fillRect/>
          </a:stretch>
        </p:blipFill>
        <p:spPr>
          <a:xfrm>
            <a:off x="1819656" y="4654296"/>
            <a:ext cx="201168" cy="201168"/>
          </a:xfrm>
          <a:prstGeom prst="rect">
            <a:avLst/>
          </a:prstGeom>
        </p:spPr>
      </p:pic>
      <p:sp>
        <p:nvSpPr>
          <p:cNvPr id="11" name="Text 6"/>
          <p:cNvSpPr txBox="1"/>
          <p:nvPr/>
        </p:nvSpPr>
        <p:spPr>
          <a:xfrm>
            <a:off x="2075688" y="4572000"/>
            <a:ext cx="1143000" cy="365760"/>
          </a:xfrm>
          <a:prstGeom prst="rect">
            <a:avLst/>
          </a:prstGeom>
          <a:noFill/>
          <a:ln/>
        </p:spPr>
        <p:txBody>
          <a:bodyPr wrap="square" lIns="0" tIns="0" rIns="0" bIns="0" rtlCol="0" anchor="ctr"/>
          <a:lstStyle/>
          <a:p>
            <a:pPr algn="l" indent="0" marL="0">
              <a:buNone/>
            </a:pPr>
            <a:r>
              <a:rPr lang="en-US" sz="1150" b="1" spc="100" kern="0" dirty="0">
                <a:solidFill>
                  <a:srgbClr val="4A7BD0"/>
                </a:solidFill>
                <a:latin typeface="Calibri" pitchFamily="34" charset="0"/>
                <a:ea typeface="Calibri" pitchFamily="34" charset="-122"/>
                <a:cs typeface="Calibri" pitchFamily="34" charset="-120"/>
              </a:rPr>
              <a:t>À L’ÉCRIT</a:t>
            </a:r>
            <a:endParaRPr lang="en-US" sz="1150" dirty="0"/>
          </a:p>
        </p:txBody>
      </p:sp>
      <p:sp>
        <p:nvSpPr>
          <p:cNvPr id="12" name="Text 7"/>
          <p:cNvSpPr txBox="1"/>
          <p:nvPr/>
        </p:nvSpPr>
        <p:spPr>
          <a:xfrm>
            <a:off x="3429000" y="4544568"/>
            <a:ext cx="2651760" cy="731520"/>
          </a:xfrm>
          <a:prstGeom prst="rect">
            <a:avLst/>
          </a:prstGeom>
          <a:noFill/>
          <a:ln/>
        </p:spPr>
        <p:txBody>
          <a:bodyPr wrap="square" lIns="0" tIns="0" rIns="0" bIns="0" rtlCol="0" anchor="t"/>
          <a:lstStyle/>
          <a:p>
            <a:pPr algn="l" indent="0" marL="0">
              <a:buNone/>
            </a:pPr>
            <a:r>
              <a:rPr lang="en-US" sz="1150" i="1" dirty="0">
                <a:solidFill>
                  <a:srgbClr val="6B7280"/>
                </a:solidFill>
                <a:latin typeface="Calibri" pitchFamily="34" charset="0"/>
                <a:ea typeface="Calibri" pitchFamily="34" charset="-122"/>
                <a:cs typeface="Calibri" pitchFamily="34" charset="-120"/>
              </a:rPr>
              <a:t>D’habitude, vous travaillez. Mais aujourd’hui, vous êtes en vacances !</a:t>
            </a:r>
            <a:endParaRPr lang="en-US" sz="1150" dirty="0"/>
          </a:p>
        </p:txBody>
      </p:sp>
      <p:sp>
        <p:nvSpPr>
          <p:cNvPr id="13" name="Shape 8"/>
          <p:cNvSpPr/>
          <p:nvPr/>
        </p:nvSpPr>
        <p:spPr>
          <a:xfrm>
            <a:off x="6355080" y="1833372"/>
            <a:ext cx="914400" cy="402336"/>
          </a:xfrm>
          <a:prstGeom prst="roundRect">
            <a:avLst>
              <a:gd name="adj" fmla="val 13636"/>
            </a:avLst>
          </a:prstGeom>
          <a:solidFill>
            <a:srgbClr val="5FA873"/>
          </a:solidFill>
          <a:ln w="12700">
            <a:solidFill>
              <a:srgbClr val="FFFFFF">
                <a:alpha val="0"/>
              </a:srgbClr>
            </a:solidFill>
            <a:prstDash val="solid"/>
          </a:ln>
        </p:spPr>
      </p:sp>
      <p:sp>
        <p:nvSpPr>
          <p:cNvPr id="14" name="Text 9"/>
          <p:cNvSpPr txBox="1"/>
          <p:nvPr/>
        </p:nvSpPr>
        <p:spPr>
          <a:xfrm>
            <a:off x="6355080" y="183337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1</a:t>
            </a:r>
            <a:endParaRPr lang="en-US" sz="1600" dirty="0"/>
          </a:p>
        </p:txBody>
      </p:sp>
      <p:sp>
        <p:nvSpPr>
          <p:cNvPr id="15" name="Text 10"/>
          <p:cNvSpPr txBox="1"/>
          <p:nvPr/>
        </p:nvSpPr>
        <p:spPr>
          <a:xfrm>
            <a:off x="7406640" y="1778508"/>
            <a:ext cx="4389120" cy="512064"/>
          </a:xfrm>
          <a:prstGeom prst="rect">
            <a:avLst/>
          </a:prstGeom>
          <a:noFill/>
          <a:ln/>
        </p:spPr>
        <p:txBody>
          <a:bodyPr wrap="square" lIns="0" tIns="0" rIns="0" bIns="0" rtlCol="0" anchor="ctr"/>
          <a:lstStyle/>
          <a:p>
            <a:pPr algn="l" indent="0" marL="0">
              <a:buNone/>
            </a:pPr>
            <a:r>
              <a:rPr lang="en-US" sz="1600" dirty="0">
                <a:solidFill>
                  <a:srgbClr val="2B2F38"/>
                </a:solidFill>
              </a:rPr>
              <a:t>Une habitude : </a:t>
            </a:r>
            <a:r>
              <a:rPr lang="en-US" sz="1600" b="1" dirty="0">
                <a:solidFill>
                  <a:srgbClr val="2B2F38"/>
                </a:solidFill>
              </a:rPr>
              <a:t>’S MORGENS</a:t>
            </a:r>
            <a:r>
              <a:rPr lang="en-US" sz="1600" dirty="0">
                <a:solidFill>
                  <a:srgbClr val="2B2F38"/>
                </a:solidFill>
              </a:rPr>
              <a:t> + verbe + </a:t>
            </a:r>
            <a:r>
              <a:rPr lang="en-US" sz="1600" b="1" dirty="0">
                <a:solidFill>
                  <a:srgbClr val="2B2F38"/>
                </a:solidFill>
              </a:rPr>
              <a:t>IK</a:t>
            </a:r>
            <a:r>
              <a:rPr lang="en-US" sz="1600" dirty="0">
                <a:solidFill>
                  <a:srgbClr val="2B2F38"/>
                </a:solidFill>
              </a:rPr>
              <a:t>.</a:t>
            </a:r>
            <a:endParaRPr lang="en-US" sz="1600" dirty="0"/>
          </a:p>
        </p:txBody>
      </p:sp>
      <p:sp>
        <p:nvSpPr>
          <p:cNvPr id="16" name="Shape 11"/>
          <p:cNvSpPr/>
          <p:nvPr/>
        </p:nvSpPr>
        <p:spPr>
          <a:xfrm>
            <a:off x="6355080" y="2702052"/>
            <a:ext cx="914400" cy="402336"/>
          </a:xfrm>
          <a:prstGeom prst="roundRect">
            <a:avLst>
              <a:gd name="adj" fmla="val 13636"/>
            </a:avLst>
          </a:prstGeom>
          <a:solidFill>
            <a:srgbClr val="5FA873"/>
          </a:solidFill>
          <a:ln w="12700">
            <a:solidFill>
              <a:srgbClr val="FFFFFF">
                <a:alpha val="0"/>
              </a:srgbClr>
            </a:solidFill>
            <a:prstDash val="solid"/>
          </a:ln>
        </p:spPr>
      </p:sp>
      <p:sp>
        <p:nvSpPr>
          <p:cNvPr id="17" name="Text 12"/>
          <p:cNvSpPr txBox="1"/>
          <p:nvPr/>
        </p:nvSpPr>
        <p:spPr>
          <a:xfrm>
            <a:off x="6355080" y="270205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2</a:t>
            </a:r>
            <a:endParaRPr lang="en-US" sz="1600" dirty="0"/>
          </a:p>
        </p:txBody>
      </p:sp>
      <p:sp>
        <p:nvSpPr>
          <p:cNvPr id="18" name="Text 13"/>
          <p:cNvSpPr txBox="1"/>
          <p:nvPr/>
        </p:nvSpPr>
        <p:spPr>
          <a:xfrm>
            <a:off x="7406640" y="2647188"/>
            <a:ext cx="4389120" cy="512064"/>
          </a:xfrm>
          <a:prstGeom prst="rect">
            <a:avLst/>
          </a:prstGeom>
          <a:noFill/>
          <a:ln/>
        </p:spPr>
        <p:txBody>
          <a:bodyPr wrap="square" lIns="0" tIns="0" rIns="0" bIns="0" rtlCol="0" anchor="ctr"/>
          <a:lstStyle/>
          <a:p>
            <a:pPr algn="l" indent="0" marL="0">
              <a:buNone/>
            </a:pPr>
            <a:r>
              <a:rPr lang="en-US" sz="1600" dirty="0">
                <a:solidFill>
                  <a:srgbClr val="2B2F38"/>
                </a:solidFill>
              </a:rPr>
              <a:t>Mais aujourd’hui : </a:t>
            </a:r>
            <a:r>
              <a:rPr lang="en-US" sz="1600" b="1" dirty="0">
                <a:solidFill>
                  <a:srgbClr val="2B2F38"/>
                </a:solidFill>
              </a:rPr>
              <a:t>VANDAAG</a:t>
            </a:r>
            <a:r>
              <a:rPr lang="en-US" sz="1600" dirty="0">
                <a:solidFill>
                  <a:srgbClr val="2B2F38"/>
                </a:solidFill>
              </a:rPr>
              <a:t> + verbe + </a:t>
            </a:r>
            <a:r>
              <a:rPr lang="en-US" sz="1600" b="1" dirty="0">
                <a:solidFill>
                  <a:srgbClr val="2B2F38"/>
                </a:solidFill>
              </a:rPr>
              <a:t>IK</a:t>
            </a:r>
            <a:r>
              <a:rPr lang="en-US" sz="1600" dirty="0">
                <a:solidFill>
                  <a:srgbClr val="2B2F38"/>
                </a:solidFill>
              </a:rPr>
              <a:t>.</a:t>
            </a:r>
            <a:endParaRPr lang="en-US" sz="1600" dirty="0"/>
          </a:p>
        </p:txBody>
      </p:sp>
      <p:sp>
        <p:nvSpPr>
          <p:cNvPr id="19" name="Shape 14"/>
          <p:cNvSpPr/>
          <p:nvPr/>
        </p:nvSpPr>
        <p:spPr>
          <a:xfrm>
            <a:off x="6355080" y="3570732"/>
            <a:ext cx="914400" cy="402336"/>
          </a:xfrm>
          <a:prstGeom prst="roundRect">
            <a:avLst>
              <a:gd name="adj" fmla="val 13636"/>
            </a:avLst>
          </a:prstGeom>
          <a:solidFill>
            <a:srgbClr val="5FA873"/>
          </a:solidFill>
          <a:ln w="12700">
            <a:solidFill>
              <a:srgbClr val="FFFFFF">
                <a:alpha val="0"/>
              </a:srgbClr>
            </a:solidFill>
            <a:prstDash val="solid"/>
          </a:ln>
        </p:spPr>
      </p:sp>
      <p:sp>
        <p:nvSpPr>
          <p:cNvPr id="20" name="Text 15"/>
          <p:cNvSpPr txBox="1"/>
          <p:nvPr/>
        </p:nvSpPr>
        <p:spPr>
          <a:xfrm>
            <a:off x="6355080" y="357073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3</a:t>
            </a:r>
            <a:endParaRPr lang="en-US" sz="1600" dirty="0"/>
          </a:p>
        </p:txBody>
      </p:sp>
      <p:sp>
        <p:nvSpPr>
          <p:cNvPr id="21" name="Text 16"/>
          <p:cNvSpPr txBox="1"/>
          <p:nvPr/>
        </p:nvSpPr>
        <p:spPr>
          <a:xfrm>
            <a:off x="7406640" y="3515868"/>
            <a:ext cx="4389120" cy="512064"/>
          </a:xfrm>
          <a:prstGeom prst="rect">
            <a:avLst/>
          </a:prstGeom>
          <a:noFill/>
          <a:ln/>
        </p:spPr>
        <p:txBody>
          <a:bodyPr wrap="square" lIns="0" tIns="0" rIns="0" bIns="0" rtlCol="0" anchor="ctr"/>
          <a:lstStyle/>
          <a:p>
            <a:pPr algn="l" indent="0" marL="0">
              <a:buNone/>
            </a:pPr>
            <a:r>
              <a:rPr lang="en-US" sz="1600" dirty="0">
                <a:solidFill>
                  <a:srgbClr val="2B2F38"/>
                </a:solidFill>
              </a:rPr>
              <a:t>Cet après-midi : </a:t>
            </a:r>
            <a:r>
              <a:rPr lang="en-US" sz="1600" b="1" dirty="0">
                <a:solidFill>
                  <a:srgbClr val="2B2F38"/>
                </a:solidFill>
              </a:rPr>
              <a:t>VANMIDDAG</a:t>
            </a:r>
            <a:r>
              <a:rPr lang="en-US" sz="1600" dirty="0">
                <a:solidFill>
                  <a:srgbClr val="2B2F38"/>
                </a:solidFill>
              </a:rPr>
              <a:t> + verbe + </a:t>
            </a:r>
            <a:r>
              <a:rPr lang="en-US" sz="1600" b="1" dirty="0">
                <a:solidFill>
                  <a:srgbClr val="2B2F38"/>
                </a:solidFill>
              </a:rPr>
              <a:t>IK</a:t>
            </a:r>
            <a:r>
              <a:rPr lang="en-US" sz="1600" dirty="0">
                <a:solidFill>
                  <a:srgbClr val="2B2F38"/>
                </a:solidFill>
              </a:rPr>
              <a:t>.</a:t>
            </a:r>
            <a:endParaRPr lang="en-US" sz="1600" dirty="0"/>
          </a:p>
        </p:txBody>
      </p:sp>
      <p:sp>
        <p:nvSpPr>
          <p:cNvPr id="22" name="Shape 17"/>
          <p:cNvSpPr/>
          <p:nvPr/>
        </p:nvSpPr>
        <p:spPr>
          <a:xfrm>
            <a:off x="3246120" y="5440680"/>
            <a:ext cx="6858000" cy="822960"/>
          </a:xfrm>
          <a:prstGeom prst="roundRect">
            <a:avLst>
              <a:gd name="adj" fmla="val 17778"/>
            </a:avLst>
          </a:prstGeom>
          <a:solidFill>
            <a:srgbClr val="EAF5EC"/>
          </a:solidFill>
          <a:ln w="15875">
            <a:solidFill>
              <a:srgbClr val="5FA873"/>
            </a:solidFill>
            <a:prstDash val="solid"/>
          </a:ln>
        </p:spPr>
      </p:sp>
      <p:pic>
        <p:nvPicPr>
          <p:cNvPr id="23" name="Image 2" descr="UserFriends">    </p:cNvPr>
          <p:cNvPicPr>
            <a:picLocks noChangeAspect="1"/>
          </p:cNvPicPr>
          <p:nvPr/>
        </p:nvPicPr>
        <p:blipFill>
          <a:blip r:embed="rId3"/>
          <a:stretch>
            <a:fillRect/>
          </a:stretch>
        </p:blipFill>
        <p:spPr>
          <a:xfrm>
            <a:off x="3520440" y="5660136"/>
            <a:ext cx="384048" cy="384048"/>
          </a:xfrm>
          <a:prstGeom prst="rect">
            <a:avLst/>
          </a:prstGeom>
        </p:spPr>
      </p:pic>
      <p:sp>
        <p:nvSpPr>
          <p:cNvPr id="24" name="Text 18"/>
          <p:cNvSpPr txBox="1"/>
          <p:nvPr/>
        </p:nvSpPr>
        <p:spPr>
          <a:xfrm>
            <a:off x="4114800" y="5440680"/>
            <a:ext cx="5852160" cy="822960"/>
          </a:xfrm>
          <a:prstGeom prst="rect">
            <a:avLst/>
          </a:prstGeom>
          <a:noFill/>
          <a:ln/>
        </p:spPr>
        <p:txBody>
          <a:bodyPr wrap="square" lIns="0" tIns="0" rIns="0" bIns="0" rtlCol="0" anchor="ctr"/>
          <a:lstStyle/>
          <a:p>
            <a:pPr algn="ctr" indent="0" marL="0">
              <a:buNone/>
            </a:pPr>
            <a:r>
              <a:rPr lang="en-US" sz="1800" b="1" dirty="0">
                <a:solidFill>
                  <a:srgbClr val="2E6B44"/>
                </a:solidFill>
                <a:latin typeface="Calibri" pitchFamily="34" charset="0"/>
                <a:ea typeface="Calibri" pitchFamily="34" charset="-122"/>
                <a:cs typeface="Calibri" pitchFamily="34" charset="-120"/>
              </a:rPr>
              <a:t>Lees je tekst voor aan je partner.</a:t>
            </a:r>
            <a:endParaRPr lang="en-US" sz="1800" dirty="0"/>
          </a:p>
          <a:p>
            <a:pPr algn="ctr" indent="0" marL="0">
              <a:buNone/>
            </a:pPr>
            <a:r>
              <a:rPr lang="en-US" sz="1800" b="1" dirty="0">
                <a:solidFill>
                  <a:srgbClr val="2E6B44"/>
                </a:solidFill>
                <a:latin typeface="Calibri" pitchFamily="34" charset="0"/>
                <a:ea typeface="Calibri" pitchFamily="34" charset="-122"/>
                <a:cs typeface="Calibri" pitchFamily="34" charset="-120"/>
              </a:rPr>
              <a:t>Wat denkt hij/zij daarvan?</a:t>
            </a:r>
            <a:endParaRPr lang="en-US" sz="1800" dirty="0"/>
          </a:p>
        </p:txBody>
      </p:sp>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1554480" y="384048"/>
            <a:ext cx="10241280" cy="658368"/>
          </a:xfrm>
          <a:prstGeom prst="rect">
            <a:avLst/>
          </a:prstGeom>
          <a:noFill/>
          <a:ln/>
        </p:spPr>
        <p:txBody>
          <a:bodyPr wrap="square" lIns="0" tIns="0" rIns="0" bIns="0" rtlCol="0" anchor="ctr"/>
          <a:lstStyle/>
          <a:p>
            <a:pPr algn="ctr" indent="0" marL="0">
              <a:buNone/>
            </a:pPr>
            <a:r>
              <a:rPr lang="en-US" sz="3000" b="1" dirty="0">
                <a:solidFill>
                  <a:srgbClr val="2B2F38"/>
                </a:solidFill>
              </a:rPr>
              <a:t>Vandaag is anders!</a:t>
            </a:r>
            <a:endParaRPr lang="en-US" sz="3000" dirty="0"/>
          </a:p>
        </p:txBody>
      </p:sp>
      <p:sp>
        <p:nvSpPr>
          <p:cNvPr id="4" name="Shape 1"/>
          <p:cNvSpPr/>
          <p:nvPr/>
        </p:nvSpPr>
        <p:spPr>
          <a:xfrm>
            <a:off x="365760" y="365760"/>
            <a:ext cx="868680" cy="5989320"/>
          </a:xfrm>
          <a:prstGeom prst="roundRect">
            <a:avLst>
              <a:gd name="adj" fmla="val 12632"/>
            </a:avLst>
          </a:prstGeom>
          <a:solidFill>
            <a:srgbClr val="E6F4EA"/>
          </a:solidFill>
          <a:ln w="28575">
            <a:solidFill>
              <a:srgbClr val="6DBE8A"/>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3D8C5A"/>
                </a:solidFill>
                <a:latin typeface="Calibri" pitchFamily="34" charset="0"/>
                <a:ea typeface="Calibri" pitchFamily="34" charset="-122"/>
                <a:cs typeface="Calibri" pitchFamily="34" charset="-120"/>
              </a:rPr>
              <a:t>A1 · Premiers pas</a:t>
            </a:r>
            <a:endParaRPr lang="en-US" sz="3800" dirty="0"/>
          </a:p>
        </p:txBody>
      </p:sp>
      <p:sp>
        <p:nvSpPr>
          <p:cNvPr id="6" name="Shape 3"/>
          <p:cNvSpPr/>
          <p:nvPr/>
        </p:nvSpPr>
        <p:spPr>
          <a:xfrm>
            <a:off x="2519172" y="1124712"/>
            <a:ext cx="8311896" cy="5277231"/>
          </a:xfrm>
          <a:prstGeom prst="roundRect">
            <a:avLst>
              <a:gd name="adj" fmla="val 693"/>
            </a:avLst>
          </a:prstGeom>
          <a:solidFill>
            <a:srgbClr val="FFFFFF"/>
          </a:solidFill>
          <a:ln w="9525">
            <a:solidFill>
              <a:srgbClr val="E3E7EE"/>
            </a:solidFill>
            <a:prstDash val="solid"/>
          </a:ln>
          <a:effectLst>
            <a:outerShdw sx="100000" sy="100000" kx="0" ky="0" algn="bl" rotWithShape="0" blurRad="177800" dist="63500" dir="5400000">
              <a:srgbClr val="1B2430">
                <a:alpha val="25000"/>
              </a:srgbClr>
            </a:outerShdw>
          </a:effectLst>
        </p:spPr>
      </p:sp>
      <p:pic>
        <p:nvPicPr>
          <p:cNvPr id="7" name="Image 0" descr="/home/user/talenleren/neerlandais1/generateur/img/vijfzinnen/a1_vandaag.jpg">    </p:cNvPr>
          <p:cNvPicPr>
            <a:picLocks noChangeAspect="1"/>
          </p:cNvPicPr>
          <p:nvPr/>
        </p:nvPicPr>
        <p:blipFill>
          <a:blip r:embed="rId1"/>
          <a:stretch>
            <a:fillRect/>
          </a:stretch>
        </p:blipFill>
        <p:spPr>
          <a:xfrm>
            <a:off x="2628900" y="1234440"/>
            <a:ext cx="8092440" cy="5057775"/>
          </a:xfrm>
          <a:prstGeom prst="rect">
            <a:avLst/>
          </a:prstGeom>
        </p:spPr>
      </p:pic>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1691640" y="347472"/>
            <a:ext cx="8138160" cy="914400"/>
          </a:xfrm>
          <a:prstGeom prst="rect">
            <a:avLst/>
          </a:prstGeom>
          <a:noFill/>
          <a:ln/>
        </p:spPr>
        <p:txBody>
          <a:bodyPr wrap="square" lIns="0" tIns="0" rIns="0" bIns="0" rtlCol="0" anchor="ctr"/>
          <a:lstStyle/>
          <a:p>
            <a:pPr algn="l" indent="0" marL="0">
              <a:buNone/>
            </a:pPr>
            <a:r>
              <a:rPr lang="en-US" sz="2400" b="1" dirty="0">
                <a:solidFill>
                  <a:srgbClr val="2B2F38"/>
                </a:solidFill>
              </a:rPr>
              <a:t>Hier is een voorbeeld van wat je had kunnen denken en schrijven…</a:t>
            </a:r>
            <a:endParaRPr lang="en-US" sz="2400" dirty="0"/>
          </a:p>
        </p:txBody>
      </p:sp>
      <p:sp>
        <p:nvSpPr>
          <p:cNvPr id="4" name="Shape 1"/>
          <p:cNvSpPr/>
          <p:nvPr/>
        </p:nvSpPr>
        <p:spPr>
          <a:xfrm>
            <a:off x="365760" y="365760"/>
            <a:ext cx="868680" cy="5989320"/>
          </a:xfrm>
          <a:prstGeom prst="roundRect">
            <a:avLst>
              <a:gd name="adj" fmla="val 12632"/>
            </a:avLst>
          </a:prstGeom>
          <a:solidFill>
            <a:srgbClr val="E6F4EA"/>
          </a:solidFill>
          <a:ln w="28575">
            <a:solidFill>
              <a:srgbClr val="6DBE8A"/>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3D8C5A"/>
                </a:solidFill>
                <a:latin typeface="Calibri" pitchFamily="34" charset="0"/>
                <a:ea typeface="Calibri" pitchFamily="34" charset="-122"/>
                <a:cs typeface="Calibri" pitchFamily="34" charset="-120"/>
              </a:rPr>
              <a:t>A1 · Premiers pas</a:t>
            </a:r>
            <a:endParaRPr lang="en-US" sz="3800" dirty="0"/>
          </a:p>
        </p:txBody>
      </p:sp>
      <p:sp>
        <p:nvSpPr>
          <p:cNvPr id="6" name="Shape 3"/>
          <p:cNvSpPr/>
          <p:nvPr/>
        </p:nvSpPr>
        <p:spPr>
          <a:xfrm>
            <a:off x="10058400" y="246888"/>
            <a:ext cx="1691640" cy="1091565"/>
          </a:xfrm>
          <a:prstGeom prst="roundRect">
            <a:avLst>
              <a:gd name="adj" fmla="val 3351"/>
            </a:avLst>
          </a:prstGeom>
          <a:solidFill>
            <a:srgbClr val="FFFFFF"/>
          </a:solidFill>
          <a:ln w="9525">
            <a:solidFill>
              <a:srgbClr val="E3E7EE"/>
            </a:solidFill>
            <a:prstDash val="solid"/>
          </a:ln>
          <a:effectLst>
            <a:outerShdw sx="100000" sy="100000" kx="0" ky="0" algn="bl" rotWithShape="0" blurRad="76200" dist="25400" dir="5400000">
              <a:srgbClr val="1B2430">
                <a:alpha val="25000"/>
              </a:srgbClr>
            </a:outerShdw>
          </a:effectLst>
        </p:spPr>
      </p:sp>
      <p:pic>
        <p:nvPicPr>
          <p:cNvPr id="7" name="Image 0" descr="/home/user/talenleren/neerlandais1/generateur/img/vijfzinnen/a1_vandaag_s.jpg">    </p:cNvPr>
          <p:cNvPicPr>
            <a:picLocks noChangeAspect="1"/>
          </p:cNvPicPr>
          <p:nvPr/>
        </p:nvPicPr>
        <p:blipFill>
          <a:blip r:embed="rId1"/>
          <a:stretch>
            <a:fillRect/>
          </a:stretch>
        </p:blipFill>
        <p:spPr>
          <a:xfrm>
            <a:off x="10104120" y="292608"/>
            <a:ext cx="1600200" cy="1000125"/>
          </a:xfrm>
          <a:prstGeom prst="rect">
            <a:avLst/>
          </a:prstGeom>
        </p:spPr>
      </p:pic>
      <p:sp>
        <p:nvSpPr>
          <p:cNvPr id="8" name="Shape 4"/>
          <p:cNvSpPr/>
          <p:nvPr/>
        </p:nvSpPr>
        <p:spPr>
          <a:xfrm>
            <a:off x="1691640" y="3120542"/>
            <a:ext cx="2476195" cy="371856"/>
          </a:xfrm>
          <a:prstGeom prst="roundRect">
            <a:avLst>
              <a:gd name="adj" fmla="val 12295"/>
            </a:avLst>
          </a:prstGeom>
          <a:solidFill>
            <a:srgbClr val="E6F3DA"/>
          </a:solidFill>
          <a:ln w="12700">
            <a:solidFill>
              <a:srgbClr val="FFFFFF">
                <a:alpha val="0"/>
              </a:srgbClr>
            </a:solidFill>
            <a:prstDash val="solid"/>
          </a:ln>
        </p:spPr>
      </p:sp>
      <p:sp>
        <p:nvSpPr>
          <p:cNvPr id="9" name="Text 5"/>
          <p:cNvSpPr txBox="1"/>
          <p:nvPr/>
        </p:nvSpPr>
        <p:spPr>
          <a:xfrm>
            <a:off x="1691640" y="3108350"/>
            <a:ext cx="2476195"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’s Morgens werk ik</a:t>
            </a:r>
            <a:endParaRPr lang="en-US" sz="2400" dirty="0"/>
          </a:p>
        </p:txBody>
      </p:sp>
      <p:sp>
        <p:nvSpPr>
          <p:cNvPr id="10" name="Text 6"/>
          <p:cNvSpPr txBox="1"/>
          <p:nvPr/>
        </p:nvSpPr>
        <p:spPr>
          <a:xfrm>
            <a:off x="4255008" y="3108350"/>
            <a:ext cx="2388108"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op kantoor. Maar</a:t>
            </a:r>
            <a:endParaRPr lang="en-US" sz="2400" dirty="0"/>
          </a:p>
        </p:txBody>
      </p:sp>
      <p:sp>
        <p:nvSpPr>
          <p:cNvPr id="11" name="Shape 7"/>
          <p:cNvSpPr/>
          <p:nvPr/>
        </p:nvSpPr>
        <p:spPr>
          <a:xfrm>
            <a:off x="6547409" y="3120542"/>
            <a:ext cx="1998878" cy="371856"/>
          </a:xfrm>
          <a:prstGeom prst="roundRect">
            <a:avLst>
              <a:gd name="adj" fmla="val 12295"/>
            </a:avLst>
          </a:prstGeom>
          <a:solidFill>
            <a:srgbClr val="E6F3DA"/>
          </a:solidFill>
          <a:ln w="12700">
            <a:solidFill>
              <a:srgbClr val="FFFFFF">
                <a:alpha val="0"/>
              </a:srgbClr>
            </a:solidFill>
            <a:prstDash val="solid"/>
          </a:ln>
        </p:spPr>
      </p:sp>
      <p:sp>
        <p:nvSpPr>
          <p:cNvPr id="12" name="Text 8"/>
          <p:cNvSpPr txBox="1"/>
          <p:nvPr/>
        </p:nvSpPr>
        <p:spPr>
          <a:xfrm>
            <a:off x="6547409" y="3108350"/>
            <a:ext cx="1998878"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vandaag heb ik</a:t>
            </a:r>
            <a:endParaRPr lang="en-US" sz="2400" dirty="0"/>
          </a:p>
        </p:txBody>
      </p:sp>
      <p:sp>
        <p:nvSpPr>
          <p:cNvPr id="13" name="Text 9"/>
          <p:cNvSpPr txBox="1"/>
          <p:nvPr/>
        </p:nvSpPr>
        <p:spPr>
          <a:xfrm>
            <a:off x="8633460" y="3108350"/>
            <a:ext cx="1334719"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vakantie!</a:t>
            </a:r>
            <a:endParaRPr lang="en-US" sz="2400" dirty="0"/>
          </a:p>
        </p:txBody>
      </p:sp>
      <p:sp>
        <p:nvSpPr>
          <p:cNvPr id="14" name="Shape 10"/>
          <p:cNvSpPr/>
          <p:nvPr/>
        </p:nvSpPr>
        <p:spPr>
          <a:xfrm>
            <a:off x="2929738" y="3044342"/>
            <a:ext cx="914" cy="76200"/>
          </a:xfrm>
          <a:prstGeom prst="line">
            <a:avLst/>
          </a:prstGeom>
          <a:noFill/>
          <a:ln w="15875">
            <a:solidFill>
              <a:srgbClr val="7AB648"/>
            </a:solidFill>
            <a:prstDash val="solid"/>
          </a:ln>
        </p:spPr>
      </p:sp>
      <p:sp>
        <p:nvSpPr>
          <p:cNvPr id="15" name="Shape 11"/>
          <p:cNvSpPr/>
          <p:nvPr/>
        </p:nvSpPr>
        <p:spPr>
          <a:xfrm>
            <a:off x="2517489" y="2797454"/>
            <a:ext cx="824497" cy="246888"/>
          </a:xfrm>
          <a:prstGeom prst="roundRect">
            <a:avLst>
              <a:gd name="adj" fmla="val 14815"/>
            </a:avLst>
          </a:prstGeom>
          <a:solidFill>
            <a:srgbClr val="7AB648"/>
          </a:solidFill>
          <a:ln w="12700">
            <a:solidFill>
              <a:srgbClr val="FFFFFF">
                <a:alpha val="0"/>
              </a:srgbClr>
            </a:solidFill>
            <a:prstDash val="solid"/>
          </a:ln>
        </p:spPr>
      </p:sp>
      <p:sp>
        <p:nvSpPr>
          <p:cNvPr id="16" name="Text 12"/>
          <p:cNvSpPr txBox="1"/>
          <p:nvPr/>
        </p:nvSpPr>
        <p:spPr>
          <a:xfrm>
            <a:off x="2517489" y="2797454"/>
            <a:ext cx="824497"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HABITUDE</a:t>
            </a:r>
            <a:endParaRPr lang="en-US" sz="1100" dirty="0"/>
          </a:p>
        </p:txBody>
      </p:sp>
      <p:sp>
        <p:nvSpPr>
          <p:cNvPr id="17" name="Shape 13"/>
          <p:cNvSpPr/>
          <p:nvPr/>
        </p:nvSpPr>
        <p:spPr>
          <a:xfrm>
            <a:off x="7546848" y="3044342"/>
            <a:ext cx="914" cy="76200"/>
          </a:xfrm>
          <a:prstGeom prst="line">
            <a:avLst/>
          </a:prstGeom>
          <a:noFill/>
          <a:ln w="15875">
            <a:solidFill>
              <a:srgbClr val="7AB648"/>
            </a:solidFill>
            <a:prstDash val="solid"/>
          </a:ln>
        </p:spPr>
      </p:sp>
      <p:sp>
        <p:nvSpPr>
          <p:cNvPr id="18" name="Shape 14"/>
          <p:cNvSpPr/>
          <p:nvPr/>
        </p:nvSpPr>
        <p:spPr>
          <a:xfrm>
            <a:off x="7134320" y="2797454"/>
            <a:ext cx="825056" cy="246888"/>
          </a:xfrm>
          <a:prstGeom prst="roundRect">
            <a:avLst>
              <a:gd name="adj" fmla="val 14815"/>
            </a:avLst>
          </a:prstGeom>
          <a:solidFill>
            <a:srgbClr val="7AB648"/>
          </a:solidFill>
          <a:ln w="12700">
            <a:solidFill>
              <a:srgbClr val="FFFFFF">
                <a:alpha val="0"/>
              </a:srgbClr>
            </a:solidFill>
            <a:prstDash val="solid"/>
          </a:ln>
        </p:spPr>
      </p:sp>
      <p:sp>
        <p:nvSpPr>
          <p:cNvPr id="19" name="Text 15"/>
          <p:cNvSpPr txBox="1"/>
          <p:nvPr/>
        </p:nvSpPr>
        <p:spPr>
          <a:xfrm>
            <a:off x="7134320" y="2797454"/>
            <a:ext cx="825056"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VANDAAG</a:t>
            </a:r>
            <a:endParaRPr lang="en-US" sz="1100" dirty="0"/>
          </a:p>
        </p:txBody>
      </p:sp>
      <p:sp>
        <p:nvSpPr>
          <p:cNvPr id="20" name="Shape 16"/>
          <p:cNvSpPr/>
          <p:nvPr/>
        </p:nvSpPr>
        <p:spPr>
          <a:xfrm>
            <a:off x="4779874" y="4175150"/>
            <a:ext cx="1531010" cy="371856"/>
          </a:xfrm>
          <a:prstGeom prst="roundRect">
            <a:avLst>
              <a:gd name="adj" fmla="val 12295"/>
            </a:avLst>
          </a:prstGeom>
          <a:solidFill>
            <a:srgbClr val="E6F3DA"/>
          </a:solidFill>
          <a:ln w="12700">
            <a:solidFill>
              <a:srgbClr val="FFFFFF">
                <a:alpha val="0"/>
              </a:srgbClr>
            </a:solidFill>
            <a:prstDash val="solid"/>
          </a:ln>
        </p:spPr>
      </p:sp>
      <p:sp>
        <p:nvSpPr>
          <p:cNvPr id="21" name="Text 17"/>
          <p:cNvSpPr txBox="1"/>
          <p:nvPr/>
        </p:nvSpPr>
        <p:spPr>
          <a:xfrm>
            <a:off x="4779874" y="4162958"/>
            <a:ext cx="1531010"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Vanmiddag</a:t>
            </a:r>
            <a:endParaRPr lang="en-US" sz="2400" dirty="0"/>
          </a:p>
        </p:txBody>
      </p:sp>
      <p:sp>
        <p:nvSpPr>
          <p:cNvPr id="22" name="Text 18"/>
          <p:cNvSpPr txBox="1"/>
          <p:nvPr/>
        </p:nvSpPr>
        <p:spPr>
          <a:xfrm>
            <a:off x="6398057" y="4162958"/>
            <a:ext cx="2400910"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ga ik naar de zee.</a:t>
            </a:r>
            <a:endParaRPr lang="en-US" sz="2400" dirty="0"/>
          </a:p>
        </p:txBody>
      </p:sp>
      <p:sp>
        <p:nvSpPr>
          <p:cNvPr id="23" name="Shape 19"/>
          <p:cNvSpPr/>
          <p:nvPr/>
        </p:nvSpPr>
        <p:spPr>
          <a:xfrm>
            <a:off x="5545379" y="4098950"/>
            <a:ext cx="914" cy="76200"/>
          </a:xfrm>
          <a:prstGeom prst="line">
            <a:avLst/>
          </a:prstGeom>
          <a:noFill/>
          <a:ln w="15875">
            <a:solidFill>
              <a:srgbClr val="7AB648"/>
            </a:solidFill>
            <a:prstDash val="solid"/>
          </a:ln>
        </p:spPr>
      </p:sp>
      <p:sp>
        <p:nvSpPr>
          <p:cNvPr id="24" name="Shape 20"/>
          <p:cNvSpPr/>
          <p:nvPr/>
        </p:nvSpPr>
        <p:spPr>
          <a:xfrm>
            <a:off x="5051476" y="3852062"/>
            <a:ext cx="987806" cy="246888"/>
          </a:xfrm>
          <a:prstGeom prst="roundRect">
            <a:avLst>
              <a:gd name="adj" fmla="val 14815"/>
            </a:avLst>
          </a:prstGeom>
          <a:solidFill>
            <a:srgbClr val="7AB648"/>
          </a:solidFill>
          <a:ln w="12700">
            <a:solidFill>
              <a:srgbClr val="FFFFFF">
                <a:alpha val="0"/>
              </a:srgbClr>
            </a:solidFill>
            <a:prstDash val="solid"/>
          </a:ln>
        </p:spPr>
      </p:sp>
      <p:sp>
        <p:nvSpPr>
          <p:cNvPr id="25" name="Text 21"/>
          <p:cNvSpPr txBox="1"/>
          <p:nvPr/>
        </p:nvSpPr>
        <p:spPr>
          <a:xfrm>
            <a:off x="5051476" y="3852062"/>
            <a:ext cx="987806"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VANMIDDAG</a:t>
            </a:r>
            <a:endParaRPr lang="en-US" sz="1100" dirty="0"/>
          </a:p>
        </p:txBody>
      </p:sp>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1554480" y="384048"/>
            <a:ext cx="10241280" cy="658368"/>
          </a:xfrm>
          <a:prstGeom prst="rect">
            <a:avLst/>
          </a:prstGeom>
          <a:noFill/>
          <a:ln/>
        </p:spPr>
        <p:txBody>
          <a:bodyPr wrap="square" lIns="0" tIns="0" rIns="0" bIns="0" rtlCol="0" anchor="ctr"/>
          <a:lstStyle/>
          <a:p>
            <a:pPr algn="ctr" indent="0" marL="0">
              <a:buNone/>
            </a:pPr>
            <a:r>
              <a:rPr lang="en-US" sz="3000" b="1" dirty="0">
                <a:solidFill>
                  <a:srgbClr val="2B2F38"/>
                </a:solidFill>
              </a:rPr>
              <a:t>Gebruik deze afbeelding als inspiratie</a:t>
            </a:r>
            <a:endParaRPr lang="en-US" sz="3000" dirty="0"/>
          </a:p>
        </p:txBody>
      </p:sp>
      <p:sp>
        <p:nvSpPr>
          <p:cNvPr id="4" name="Shape 1"/>
          <p:cNvSpPr/>
          <p:nvPr/>
        </p:nvSpPr>
        <p:spPr>
          <a:xfrm>
            <a:off x="365760" y="365760"/>
            <a:ext cx="868680" cy="5989320"/>
          </a:xfrm>
          <a:prstGeom prst="roundRect">
            <a:avLst>
              <a:gd name="adj" fmla="val 12632"/>
            </a:avLst>
          </a:prstGeom>
          <a:solidFill>
            <a:srgbClr val="E6F4EA"/>
          </a:solidFill>
          <a:ln w="28575">
            <a:solidFill>
              <a:srgbClr val="6DBE8A"/>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3D8C5A"/>
                </a:solidFill>
                <a:latin typeface="Calibri" pitchFamily="34" charset="0"/>
                <a:ea typeface="Calibri" pitchFamily="34" charset="-122"/>
                <a:cs typeface="Calibri" pitchFamily="34" charset="-120"/>
              </a:rPr>
              <a:t>A1 · Premiers pas</a:t>
            </a:r>
            <a:endParaRPr lang="en-US" sz="3800" dirty="0"/>
          </a:p>
        </p:txBody>
      </p:sp>
      <p:sp>
        <p:nvSpPr>
          <p:cNvPr id="6" name="Text 3"/>
          <p:cNvSpPr txBox="1"/>
          <p:nvPr/>
        </p:nvSpPr>
        <p:spPr>
          <a:xfrm>
            <a:off x="1554480" y="1024128"/>
            <a:ext cx="10241280" cy="365760"/>
          </a:xfrm>
          <a:prstGeom prst="rect">
            <a:avLst/>
          </a:prstGeom>
          <a:noFill/>
          <a:ln/>
        </p:spPr>
        <p:txBody>
          <a:bodyPr wrap="square" lIns="0" tIns="0" rIns="0" bIns="0" rtlCol="0" anchor="ctr"/>
          <a:lstStyle/>
          <a:p>
            <a:pPr algn="ctr" indent="0" marL="0">
              <a:buNone/>
            </a:pPr>
            <a:r>
              <a:rPr lang="en-US" sz="1500" b="1" dirty="0">
                <a:solidFill>
                  <a:srgbClr val="3D8C5A"/>
                </a:solidFill>
                <a:latin typeface="Calibri" pitchFamily="34" charset="0"/>
                <a:ea typeface="Calibri" pitchFamily="34" charset="-122"/>
                <a:cs typeface="Calibri" pitchFamily="34" charset="-120"/>
              </a:rPr>
              <a:t>5 · Hoe gaat het?</a:t>
            </a:r>
            <a:r>
              <a:rPr lang="en-US" sz="1500" i="1" dirty="0">
                <a:solidFill>
                  <a:srgbClr val="6B7280"/>
                </a:solidFill>
                <a:latin typeface="Calibri" pitchFamily="34" charset="0"/>
                <a:ea typeface="Calibri" pitchFamily="34" charset="-122"/>
                <a:cs typeface="Calibri" pitchFamily="34" charset="-120"/>
              </a:rPr>
              <a:t>   Comment ça va ?</a:t>
            </a:r>
            <a:r>
              <a:rPr lang="en-US" sz="1200" dirty="0">
                <a:solidFill>
                  <a:srgbClr val="9AA3B2"/>
                </a:solidFill>
                <a:latin typeface="Calibri" pitchFamily="34" charset="0"/>
                <a:ea typeface="Calibri" pitchFamily="34" charset="-122"/>
                <a:cs typeface="Calibri" pitchFamily="34" charset="-120"/>
              </a:rPr>
              <a:t>   ·   syllabus 1.2 · p. 19</a:t>
            </a:r>
            <a:endParaRPr lang="en-US" sz="1500" dirty="0"/>
          </a:p>
        </p:txBody>
      </p:sp>
      <p:sp>
        <p:nvSpPr>
          <p:cNvPr id="7" name="Shape 4"/>
          <p:cNvSpPr/>
          <p:nvPr/>
        </p:nvSpPr>
        <p:spPr>
          <a:xfrm>
            <a:off x="1596085" y="1504645"/>
            <a:ext cx="4534510" cy="2905735"/>
          </a:xfrm>
          <a:prstGeom prst="roundRect">
            <a:avLst>
              <a:gd name="adj" fmla="val 1259"/>
            </a:avLst>
          </a:prstGeom>
          <a:solidFill>
            <a:srgbClr val="FFFFFF"/>
          </a:solidFill>
          <a:ln w="9525">
            <a:solidFill>
              <a:srgbClr val="E3E7EE"/>
            </a:solidFill>
            <a:prstDash val="solid"/>
          </a:ln>
          <a:effectLst>
            <a:outerShdw sx="100000" sy="100000" kx="0" ky="0" algn="bl" rotWithShape="0" blurRad="127000" dist="50800" dir="5400000">
              <a:srgbClr val="1B2430">
                <a:alpha val="25000"/>
              </a:srgbClr>
            </a:outerShdw>
          </a:effectLst>
        </p:spPr>
      </p:sp>
      <p:pic>
        <p:nvPicPr>
          <p:cNvPr id="8" name="Image 0" descr="/home/user/talenleren/neerlandais1/generateur/img/vijfzinnen/a1_hoegaathet_s.jpg">    </p:cNvPr>
          <p:cNvPicPr>
            <a:picLocks noChangeAspect="1"/>
          </p:cNvPicPr>
          <p:nvPr/>
        </p:nvPicPr>
        <p:blipFill>
          <a:blip r:embed="rId1"/>
          <a:stretch>
            <a:fillRect/>
          </a:stretch>
        </p:blipFill>
        <p:spPr>
          <a:xfrm>
            <a:off x="1691640" y="1600200"/>
            <a:ext cx="4343400" cy="2714625"/>
          </a:xfrm>
          <a:prstGeom prst="rect">
            <a:avLst/>
          </a:prstGeom>
        </p:spPr>
      </p:pic>
      <p:sp>
        <p:nvSpPr>
          <p:cNvPr id="9" name="Shape 5"/>
          <p:cNvSpPr/>
          <p:nvPr/>
        </p:nvSpPr>
        <p:spPr>
          <a:xfrm>
            <a:off x="1691640" y="4572000"/>
            <a:ext cx="1600200" cy="365760"/>
          </a:xfrm>
          <a:prstGeom prst="roundRect">
            <a:avLst>
              <a:gd name="adj" fmla="val 50000"/>
            </a:avLst>
          </a:prstGeom>
          <a:solidFill>
            <a:srgbClr val="FDF1E6"/>
          </a:solidFill>
          <a:ln w="12700">
            <a:solidFill>
              <a:srgbClr val="D9822B"/>
            </a:solidFill>
            <a:prstDash val="solid"/>
          </a:ln>
        </p:spPr>
      </p:sp>
      <p:pic>
        <p:nvPicPr>
          <p:cNvPr id="10" name="Image 1" descr="Comments">    </p:cNvPr>
          <p:cNvPicPr>
            <a:picLocks noChangeAspect="1"/>
          </p:cNvPicPr>
          <p:nvPr/>
        </p:nvPicPr>
        <p:blipFill>
          <a:blip r:embed="rId2"/>
          <a:stretch>
            <a:fillRect/>
          </a:stretch>
        </p:blipFill>
        <p:spPr>
          <a:xfrm>
            <a:off x="1819656" y="4654296"/>
            <a:ext cx="201168" cy="201168"/>
          </a:xfrm>
          <a:prstGeom prst="rect">
            <a:avLst/>
          </a:prstGeom>
        </p:spPr>
      </p:pic>
      <p:sp>
        <p:nvSpPr>
          <p:cNvPr id="11" name="Text 6"/>
          <p:cNvSpPr txBox="1"/>
          <p:nvPr/>
        </p:nvSpPr>
        <p:spPr>
          <a:xfrm>
            <a:off x="2075688" y="4572000"/>
            <a:ext cx="1143000" cy="365760"/>
          </a:xfrm>
          <a:prstGeom prst="rect">
            <a:avLst/>
          </a:prstGeom>
          <a:noFill/>
          <a:ln/>
        </p:spPr>
        <p:txBody>
          <a:bodyPr wrap="square" lIns="0" tIns="0" rIns="0" bIns="0" rtlCol="0" anchor="ctr"/>
          <a:lstStyle/>
          <a:p>
            <a:pPr algn="l" indent="0" marL="0">
              <a:buNone/>
            </a:pPr>
            <a:r>
              <a:rPr lang="en-US" sz="1150" b="1" spc="100" kern="0" dirty="0">
                <a:solidFill>
                  <a:srgbClr val="D9822B"/>
                </a:solidFill>
                <a:latin typeface="Calibri" pitchFamily="34" charset="0"/>
                <a:ea typeface="Calibri" pitchFamily="34" charset="-122"/>
                <a:cs typeface="Calibri" pitchFamily="34" charset="-120"/>
              </a:rPr>
              <a:t>À L’ORAL</a:t>
            </a:r>
            <a:endParaRPr lang="en-US" sz="1150" dirty="0"/>
          </a:p>
        </p:txBody>
      </p:sp>
      <p:sp>
        <p:nvSpPr>
          <p:cNvPr id="12" name="Text 7"/>
          <p:cNvSpPr txBox="1"/>
          <p:nvPr/>
        </p:nvSpPr>
        <p:spPr>
          <a:xfrm>
            <a:off x="3429000" y="4544568"/>
            <a:ext cx="2651760" cy="731520"/>
          </a:xfrm>
          <a:prstGeom prst="rect">
            <a:avLst/>
          </a:prstGeom>
          <a:noFill/>
          <a:ln/>
        </p:spPr>
        <p:txBody>
          <a:bodyPr wrap="square" lIns="0" tIns="0" rIns="0" bIns="0" rtlCol="0" anchor="t"/>
          <a:lstStyle/>
          <a:p>
            <a:pPr algn="l" indent="0" marL="0">
              <a:buNone/>
            </a:pPr>
            <a:r>
              <a:rPr lang="en-US" sz="1150" i="1" dirty="0">
                <a:solidFill>
                  <a:srgbClr val="6B7280"/>
                </a:solidFill>
                <a:latin typeface="Calibri" pitchFamily="34" charset="0"/>
                <a:ea typeface="Calibri" pitchFamily="34" charset="-122"/>
                <a:cs typeface="Calibri" pitchFamily="34" charset="-120"/>
              </a:rPr>
              <a:t>Pause café. Pieter retrouve Emma à la machine à café.</a:t>
            </a:r>
            <a:endParaRPr lang="en-US" sz="1150" dirty="0"/>
          </a:p>
        </p:txBody>
      </p:sp>
      <p:sp>
        <p:nvSpPr>
          <p:cNvPr id="13" name="Shape 8"/>
          <p:cNvSpPr/>
          <p:nvPr/>
        </p:nvSpPr>
        <p:spPr>
          <a:xfrm>
            <a:off x="6355080" y="1833372"/>
            <a:ext cx="914400" cy="402336"/>
          </a:xfrm>
          <a:prstGeom prst="roundRect">
            <a:avLst>
              <a:gd name="adj" fmla="val 13636"/>
            </a:avLst>
          </a:prstGeom>
          <a:solidFill>
            <a:srgbClr val="5FA873"/>
          </a:solidFill>
          <a:ln w="12700">
            <a:solidFill>
              <a:srgbClr val="FFFFFF">
                <a:alpha val="0"/>
              </a:srgbClr>
            </a:solidFill>
            <a:prstDash val="solid"/>
          </a:ln>
        </p:spPr>
      </p:sp>
      <p:sp>
        <p:nvSpPr>
          <p:cNvPr id="14" name="Text 9"/>
          <p:cNvSpPr txBox="1"/>
          <p:nvPr/>
        </p:nvSpPr>
        <p:spPr>
          <a:xfrm>
            <a:off x="6355080" y="183337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1</a:t>
            </a:r>
            <a:endParaRPr lang="en-US" sz="1600" dirty="0"/>
          </a:p>
        </p:txBody>
      </p:sp>
      <p:sp>
        <p:nvSpPr>
          <p:cNvPr id="15" name="Text 10"/>
          <p:cNvSpPr txBox="1"/>
          <p:nvPr/>
        </p:nvSpPr>
        <p:spPr>
          <a:xfrm>
            <a:off x="7406640" y="1778508"/>
            <a:ext cx="4389120" cy="512064"/>
          </a:xfrm>
          <a:prstGeom prst="rect">
            <a:avLst/>
          </a:prstGeom>
          <a:noFill/>
          <a:ln/>
        </p:spPr>
        <p:txBody>
          <a:bodyPr wrap="square" lIns="0" tIns="0" rIns="0" bIns="0" rtlCol="0" anchor="ctr"/>
          <a:lstStyle/>
          <a:p>
            <a:pPr algn="l" indent="0" marL="0">
              <a:buNone/>
            </a:pPr>
            <a:r>
              <a:rPr lang="en-US" sz="1600" dirty="0">
                <a:solidFill>
                  <a:srgbClr val="2B2F38"/>
                </a:solidFill>
              </a:rPr>
              <a:t>Saluez et demandez : </a:t>
            </a:r>
            <a:r>
              <a:rPr lang="en-US" sz="1600" b="1" dirty="0">
                <a:solidFill>
                  <a:srgbClr val="2B2F38"/>
                </a:solidFill>
              </a:rPr>
              <a:t>HOE GAAT HET?</a:t>
            </a:r>
            <a:endParaRPr lang="en-US" sz="1600" dirty="0"/>
          </a:p>
        </p:txBody>
      </p:sp>
      <p:sp>
        <p:nvSpPr>
          <p:cNvPr id="16" name="Shape 11"/>
          <p:cNvSpPr/>
          <p:nvPr/>
        </p:nvSpPr>
        <p:spPr>
          <a:xfrm>
            <a:off x="6355080" y="2702052"/>
            <a:ext cx="914400" cy="402336"/>
          </a:xfrm>
          <a:prstGeom prst="roundRect">
            <a:avLst>
              <a:gd name="adj" fmla="val 13636"/>
            </a:avLst>
          </a:prstGeom>
          <a:solidFill>
            <a:srgbClr val="5FA873"/>
          </a:solidFill>
          <a:ln w="12700">
            <a:solidFill>
              <a:srgbClr val="FFFFFF">
                <a:alpha val="0"/>
              </a:srgbClr>
            </a:solidFill>
            <a:prstDash val="solid"/>
          </a:ln>
        </p:spPr>
      </p:sp>
      <p:sp>
        <p:nvSpPr>
          <p:cNvPr id="17" name="Text 12"/>
          <p:cNvSpPr txBox="1"/>
          <p:nvPr/>
        </p:nvSpPr>
        <p:spPr>
          <a:xfrm>
            <a:off x="6355080" y="270205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2</a:t>
            </a:r>
            <a:endParaRPr lang="en-US" sz="1600" dirty="0"/>
          </a:p>
        </p:txBody>
      </p:sp>
      <p:sp>
        <p:nvSpPr>
          <p:cNvPr id="18" name="Text 13"/>
          <p:cNvSpPr txBox="1"/>
          <p:nvPr/>
        </p:nvSpPr>
        <p:spPr>
          <a:xfrm>
            <a:off x="7406640" y="2647188"/>
            <a:ext cx="4389120" cy="512064"/>
          </a:xfrm>
          <a:prstGeom prst="rect">
            <a:avLst/>
          </a:prstGeom>
          <a:noFill/>
          <a:ln/>
        </p:spPr>
        <p:txBody>
          <a:bodyPr wrap="square" lIns="0" tIns="0" rIns="0" bIns="0" rtlCol="0" anchor="ctr"/>
          <a:lstStyle/>
          <a:p>
            <a:pPr algn="l" indent="0" marL="0">
              <a:buNone/>
            </a:pPr>
            <a:r>
              <a:rPr lang="en-US" sz="1600" dirty="0">
                <a:solidFill>
                  <a:srgbClr val="2B2F38"/>
                </a:solidFill>
              </a:rPr>
              <a:t>Répondez : </a:t>
            </a:r>
            <a:r>
              <a:rPr lang="en-US" sz="1600" b="1" dirty="0">
                <a:solidFill>
                  <a:srgbClr val="2B2F38"/>
                </a:solidFill>
              </a:rPr>
              <a:t>HET GAAT</a:t>
            </a:r>
            <a:r>
              <a:rPr lang="en-US" sz="1600" dirty="0">
                <a:solidFill>
                  <a:srgbClr val="2B2F38"/>
                </a:solidFill>
              </a:rPr>
              <a:t> + goed / prima / wel…</a:t>
            </a:r>
            <a:endParaRPr lang="en-US" sz="1600" dirty="0"/>
          </a:p>
        </p:txBody>
      </p:sp>
      <p:sp>
        <p:nvSpPr>
          <p:cNvPr id="19" name="Shape 14"/>
          <p:cNvSpPr/>
          <p:nvPr/>
        </p:nvSpPr>
        <p:spPr>
          <a:xfrm>
            <a:off x="6355080" y="3570732"/>
            <a:ext cx="914400" cy="402336"/>
          </a:xfrm>
          <a:prstGeom prst="roundRect">
            <a:avLst>
              <a:gd name="adj" fmla="val 13636"/>
            </a:avLst>
          </a:prstGeom>
          <a:solidFill>
            <a:srgbClr val="5FA873"/>
          </a:solidFill>
          <a:ln w="12700">
            <a:solidFill>
              <a:srgbClr val="FFFFFF">
                <a:alpha val="0"/>
              </a:srgbClr>
            </a:solidFill>
            <a:prstDash val="solid"/>
          </a:ln>
        </p:spPr>
      </p:sp>
      <p:sp>
        <p:nvSpPr>
          <p:cNvPr id="20" name="Text 15"/>
          <p:cNvSpPr txBox="1"/>
          <p:nvPr/>
        </p:nvSpPr>
        <p:spPr>
          <a:xfrm>
            <a:off x="6355080" y="357073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3</a:t>
            </a:r>
            <a:endParaRPr lang="en-US" sz="1600" dirty="0"/>
          </a:p>
        </p:txBody>
      </p:sp>
      <p:sp>
        <p:nvSpPr>
          <p:cNvPr id="21" name="Text 16"/>
          <p:cNvSpPr txBox="1"/>
          <p:nvPr/>
        </p:nvSpPr>
        <p:spPr>
          <a:xfrm>
            <a:off x="7406640" y="3515868"/>
            <a:ext cx="4389120" cy="512064"/>
          </a:xfrm>
          <a:prstGeom prst="rect">
            <a:avLst/>
          </a:prstGeom>
          <a:noFill/>
          <a:ln/>
        </p:spPr>
        <p:txBody>
          <a:bodyPr wrap="square" lIns="0" tIns="0" rIns="0" bIns="0" rtlCol="0" anchor="ctr"/>
          <a:lstStyle/>
          <a:p>
            <a:pPr algn="l" indent="0" marL="0">
              <a:buNone/>
            </a:pPr>
            <a:r>
              <a:rPr lang="en-US" sz="1600" dirty="0">
                <a:solidFill>
                  <a:srgbClr val="2B2F38"/>
                </a:solidFill>
              </a:rPr>
              <a:t>Retournez la question : </a:t>
            </a:r>
            <a:r>
              <a:rPr lang="en-US" sz="1600" b="1" dirty="0">
                <a:solidFill>
                  <a:srgbClr val="2B2F38"/>
                </a:solidFill>
              </a:rPr>
              <a:t>EN MET JOU?</a:t>
            </a:r>
            <a:endParaRPr lang="en-US" sz="1600" dirty="0"/>
          </a:p>
        </p:txBody>
      </p:sp>
      <p:sp>
        <p:nvSpPr>
          <p:cNvPr id="22" name="Shape 17"/>
          <p:cNvSpPr/>
          <p:nvPr/>
        </p:nvSpPr>
        <p:spPr>
          <a:xfrm>
            <a:off x="3246120" y="5440680"/>
            <a:ext cx="6858000" cy="822960"/>
          </a:xfrm>
          <a:prstGeom prst="roundRect">
            <a:avLst>
              <a:gd name="adj" fmla="val 17778"/>
            </a:avLst>
          </a:prstGeom>
          <a:solidFill>
            <a:srgbClr val="EAF5EC"/>
          </a:solidFill>
          <a:ln w="15875">
            <a:solidFill>
              <a:srgbClr val="5FA873"/>
            </a:solidFill>
            <a:prstDash val="solid"/>
          </a:ln>
        </p:spPr>
      </p:sp>
      <p:pic>
        <p:nvPicPr>
          <p:cNvPr id="23" name="Image 2" descr="UserFriends">    </p:cNvPr>
          <p:cNvPicPr>
            <a:picLocks noChangeAspect="1"/>
          </p:cNvPicPr>
          <p:nvPr/>
        </p:nvPicPr>
        <p:blipFill>
          <a:blip r:embed="rId3"/>
          <a:stretch>
            <a:fillRect/>
          </a:stretch>
        </p:blipFill>
        <p:spPr>
          <a:xfrm>
            <a:off x="3520440" y="5660136"/>
            <a:ext cx="384048" cy="384048"/>
          </a:xfrm>
          <a:prstGeom prst="rect">
            <a:avLst/>
          </a:prstGeom>
        </p:spPr>
      </p:pic>
      <p:sp>
        <p:nvSpPr>
          <p:cNvPr id="24" name="Text 18"/>
          <p:cNvSpPr txBox="1"/>
          <p:nvPr/>
        </p:nvSpPr>
        <p:spPr>
          <a:xfrm>
            <a:off x="4114800" y="5440680"/>
            <a:ext cx="5852160" cy="822960"/>
          </a:xfrm>
          <a:prstGeom prst="rect">
            <a:avLst/>
          </a:prstGeom>
          <a:noFill/>
          <a:ln/>
        </p:spPr>
        <p:txBody>
          <a:bodyPr wrap="square" lIns="0" tIns="0" rIns="0" bIns="0" rtlCol="0" anchor="ctr"/>
          <a:lstStyle/>
          <a:p>
            <a:pPr algn="ctr" indent="0" marL="0">
              <a:buNone/>
            </a:pPr>
            <a:r>
              <a:rPr lang="en-US" sz="1800" b="1" dirty="0">
                <a:solidFill>
                  <a:srgbClr val="2E6B44"/>
                </a:solidFill>
                <a:latin typeface="Calibri" pitchFamily="34" charset="0"/>
                <a:ea typeface="Calibri" pitchFamily="34" charset="-122"/>
                <a:cs typeface="Calibri" pitchFamily="34" charset="-120"/>
              </a:rPr>
              <a:t>Vertel je verhaal aan je partner.</a:t>
            </a:r>
            <a:endParaRPr lang="en-US" sz="1800" dirty="0"/>
          </a:p>
          <a:p>
            <a:pPr algn="ctr" indent="0" marL="0">
              <a:buNone/>
            </a:pPr>
            <a:r>
              <a:rPr lang="en-US" sz="1800" b="1" dirty="0">
                <a:solidFill>
                  <a:srgbClr val="2E6B44"/>
                </a:solidFill>
                <a:latin typeface="Calibri" pitchFamily="34" charset="0"/>
                <a:ea typeface="Calibri" pitchFamily="34" charset="-122"/>
                <a:cs typeface="Calibri" pitchFamily="34" charset="-120"/>
              </a:rPr>
              <a:t>Wat denkt hij/zij daarvan?</a:t>
            </a:r>
            <a:endParaRPr lang="en-US" sz="1800" dirty="0"/>
          </a:p>
        </p:txBody>
      </p:sp>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1554480" y="384048"/>
            <a:ext cx="10241280" cy="658368"/>
          </a:xfrm>
          <a:prstGeom prst="rect">
            <a:avLst/>
          </a:prstGeom>
          <a:noFill/>
          <a:ln/>
        </p:spPr>
        <p:txBody>
          <a:bodyPr wrap="square" lIns="0" tIns="0" rIns="0" bIns="0" rtlCol="0" anchor="ctr"/>
          <a:lstStyle/>
          <a:p>
            <a:pPr algn="ctr" indent="0" marL="0">
              <a:buNone/>
            </a:pPr>
            <a:r>
              <a:rPr lang="en-US" sz="3000" b="1" dirty="0">
                <a:solidFill>
                  <a:srgbClr val="2B2F38"/>
                </a:solidFill>
              </a:rPr>
              <a:t>Hoe gaat het?</a:t>
            </a:r>
            <a:endParaRPr lang="en-US" sz="3000" dirty="0"/>
          </a:p>
        </p:txBody>
      </p:sp>
      <p:sp>
        <p:nvSpPr>
          <p:cNvPr id="4" name="Shape 1"/>
          <p:cNvSpPr/>
          <p:nvPr/>
        </p:nvSpPr>
        <p:spPr>
          <a:xfrm>
            <a:off x="365760" y="365760"/>
            <a:ext cx="868680" cy="5989320"/>
          </a:xfrm>
          <a:prstGeom prst="roundRect">
            <a:avLst>
              <a:gd name="adj" fmla="val 12632"/>
            </a:avLst>
          </a:prstGeom>
          <a:solidFill>
            <a:srgbClr val="E6F4EA"/>
          </a:solidFill>
          <a:ln w="28575">
            <a:solidFill>
              <a:srgbClr val="6DBE8A"/>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3D8C5A"/>
                </a:solidFill>
                <a:latin typeface="Calibri" pitchFamily="34" charset="0"/>
                <a:ea typeface="Calibri" pitchFamily="34" charset="-122"/>
                <a:cs typeface="Calibri" pitchFamily="34" charset="-120"/>
              </a:rPr>
              <a:t>A1 · Premiers pas</a:t>
            </a:r>
            <a:endParaRPr lang="en-US" sz="3800" dirty="0"/>
          </a:p>
        </p:txBody>
      </p:sp>
      <p:sp>
        <p:nvSpPr>
          <p:cNvPr id="6" name="Shape 3"/>
          <p:cNvSpPr/>
          <p:nvPr/>
        </p:nvSpPr>
        <p:spPr>
          <a:xfrm>
            <a:off x="2519172" y="1124712"/>
            <a:ext cx="8311896" cy="5277231"/>
          </a:xfrm>
          <a:prstGeom prst="roundRect">
            <a:avLst>
              <a:gd name="adj" fmla="val 693"/>
            </a:avLst>
          </a:prstGeom>
          <a:solidFill>
            <a:srgbClr val="FFFFFF"/>
          </a:solidFill>
          <a:ln w="9525">
            <a:solidFill>
              <a:srgbClr val="E3E7EE"/>
            </a:solidFill>
            <a:prstDash val="solid"/>
          </a:ln>
          <a:effectLst>
            <a:outerShdw sx="100000" sy="100000" kx="0" ky="0" algn="bl" rotWithShape="0" blurRad="177800" dist="63500" dir="5400000">
              <a:srgbClr val="1B2430">
                <a:alpha val="25000"/>
              </a:srgbClr>
            </a:outerShdw>
          </a:effectLst>
        </p:spPr>
      </p:sp>
      <p:pic>
        <p:nvPicPr>
          <p:cNvPr id="7" name="Image 0" descr="/home/user/talenleren/neerlandais1/generateur/img/vijfzinnen/a1_hoegaathet.jpg">    </p:cNvPr>
          <p:cNvPicPr>
            <a:picLocks noChangeAspect="1"/>
          </p:cNvPicPr>
          <p:nvPr/>
        </p:nvPicPr>
        <p:blipFill>
          <a:blip r:embed="rId1"/>
          <a:stretch>
            <a:fillRect/>
          </a:stretch>
        </p:blipFill>
        <p:spPr>
          <a:xfrm>
            <a:off x="2628900" y="1234440"/>
            <a:ext cx="8092440" cy="5057775"/>
          </a:xfrm>
          <a:prstGeom prst="rect">
            <a:avLst/>
          </a:prstGeom>
        </p:spPr>
      </p:pic>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1691640" y="347472"/>
            <a:ext cx="8138160" cy="914400"/>
          </a:xfrm>
          <a:prstGeom prst="rect">
            <a:avLst/>
          </a:prstGeom>
          <a:noFill/>
          <a:ln/>
        </p:spPr>
        <p:txBody>
          <a:bodyPr wrap="square" lIns="0" tIns="0" rIns="0" bIns="0" rtlCol="0" anchor="ctr"/>
          <a:lstStyle/>
          <a:p>
            <a:pPr algn="l" indent="0" marL="0">
              <a:buNone/>
            </a:pPr>
            <a:r>
              <a:rPr lang="en-US" sz="2400" b="1" dirty="0">
                <a:solidFill>
                  <a:srgbClr val="2B2F38"/>
                </a:solidFill>
              </a:rPr>
              <a:t>Hier is een voorbeeld van wat je had kunnen denken en zeggen…</a:t>
            </a:r>
            <a:endParaRPr lang="en-US" sz="2400" dirty="0"/>
          </a:p>
        </p:txBody>
      </p:sp>
      <p:sp>
        <p:nvSpPr>
          <p:cNvPr id="4" name="Shape 1"/>
          <p:cNvSpPr/>
          <p:nvPr/>
        </p:nvSpPr>
        <p:spPr>
          <a:xfrm>
            <a:off x="365760" y="365760"/>
            <a:ext cx="868680" cy="5989320"/>
          </a:xfrm>
          <a:prstGeom prst="roundRect">
            <a:avLst>
              <a:gd name="adj" fmla="val 12632"/>
            </a:avLst>
          </a:prstGeom>
          <a:solidFill>
            <a:srgbClr val="E6F4EA"/>
          </a:solidFill>
          <a:ln w="28575">
            <a:solidFill>
              <a:srgbClr val="6DBE8A"/>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3D8C5A"/>
                </a:solidFill>
                <a:latin typeface="Calibri" pitchFamily="34" charset="0"/>
                <a:ea typeface="Calibri" pitchFamily="34" charset="-122"/>
                <a:cs typeface="Calibri" pitchFamily="34" charset="-120"/>
              </a:rPr>
              <a:t>A1 · Premiers pas</a:t>
            </a:r>
            <a:endParaRPr lang="en-US" sz="3800" dirty="0"/>
          </a:p>
        </p:txBody>
      </p:sp>
      <p:sp>
        <p:nvSpPr>
          <p:cNvPr id="6" name="Shape 3"/>
          <p:cNvSpPr/>
          <p:nvPr/>
        </p:nvSpPr>
        <p:spPr>
          <a:xfrm>
            <a:off x="10058400" y="246888"/>
            <a:ext cx="1691640" cy="1091565"/>
          </a:xfrm>
          <a:prstGeom prst="roundRect">
            <a:avLst>
              <a:gd name="adj" fmla="val 3351"/>
            </a:avLst>
          </a:prstGeom>
          <a:solidFill>
            <a:srgbClr val="FFFFFF"/>
          </a:solidFill>
          <a:ln w="9525">
            <a:solidFill>
              <a:srgbClr val="E3E7EE"/>
            </a:solidFill>
            <a:prstDash val="solid"/>
          </a:ln>
          <a:effectLst>
            <a:outerShdw sx="100000" sy="100000" kx="0" ky="0" algn="bl" rotWithShape="0" blurRad="76200" dist="25400" dir="5400000">
              <a:srgbClr val="1B2430">
                <a:alpha val="25000"/>
              </a:srgbClr>
            </a:outerShdw>
          </a:effectLst>
        </p:spPr>
      </p:sp>
      <p:pic>
        <p:nvPicPr>
          <p:cNvPr id="7" name="Image 0" descr="/home/user/talenleren/neerlandais1/generateur/img/vijfzinnen/a1_hoegaathet_s.jpg">    </p:cNvPr>
          <p:cNvPicPr>
            <a:picLocks noChangeAspect="1"/>
          </p:cNvPicPr>
          <p:nvPr/>
        </p:nvPicPr>
        <p:blipFill>
          <a:blip r:embed="rId1"/>
          <a:stretch>
            <a:fillRect/>
          </a:stretch>
        </p:blipFill>
        <p:spPr>
          <a:xfrm>
            <a:off x="10104120" y="292608"/>
            <a:ext cx="1600200" cy="1000125"/>
          </a:xfrm>
          <a:prstGeom prst="rect">
            <a:avLst/>
          </a:prstGeom>
        </p:spPr>
      </p:pic>
      <p:sp>
        <p:nvSpPr>
          <p:cNvPr id="8" name="Text 4"/>
          <p:cNvSpPr txBox="1"/>
          <p:nvPr/>
        </p:nvSpPr>
        <p:spPr>
          <a:xfrm>
            <a:off x="1691640" y="2810866"/>
            <a:ext cx="1024738" cy="396240"/>
          </a:xfrm>
          <a:prstGeom prst="rect">
            <a:avLst/>
          </a:prstGeom>
          <a:noFill/>
          <a:ln/>
        </p:spPr>
        <p:txBody>
          <a:bodyPr wrap="none" lIns="0" tIns="0" rIns="0" bIns="0" rtlCol="0" anchor="ctr"/>
          <a:lstStyle/>
          <a:p>
            <a:pPr algn="l" indent="0" marL="0">
              <a:buNone/>
            </a:pPr>
            <a:r>
              <a:rPr lang="en-US" sz="2400" b="1" dirty="0">
                <a:solidFill>
                  <a:srgbClr val="6B7280"/>
                </a:solidFill>
                <a:latin typeface="Calibri" pitchFamily="34" charset="0"/>
                <a:ea typeface="Calibri" pitchFamily="34" charset="-122"/>
                <a:cs typeface="Calibri" pitchFamily="34" charset="-120"/>
              </a:rPr>
              <a:t>Pieter:</a:t>
            </a:r>
            <a:endParaRPr lang="en-US" sz="2400" dirty="0"/>
          </a:p>
        </p:txBody>
      </p:sp>
      <p:sp>
        <p:nvSpPr>
          <p:cNvPr id="9" name="Text 5"/>
          <p:cNvSpPr txBox="1"/>
          <p:nvPr/>
        </p:nvSpPr>
        <p:spPr>
          <a:xfrm>
            <a:off x="2620670" y="2810866"/>
            <a:ext cx="1571854"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Hoi Emma!</a:t>
            </a:r>
            <a:endParaRPr lang="en-US" sz="2400" dirty="0"/>
          </a:p>
        </p:txBody>
      </p:sp>
      <p:sp>
        <p:nvSpPr>
          <p:cNvPr id="10" name="Shape 6"/>
          <p:cNvSpPr/>
          <p:nvPr/>
        </p:nvSpPr>
        <p:spPr>
          <a:xfrm>
            <a:off x="4096817" y="2823058"/>
            <a:ext cx="1854098" cy="371856"/>
          </a:xfrm>
          <a:prstGeom prst="roundRect">
            <a:avLst>
              <a:gd name="adj" fmla="val 12295"/>
            </a:avLst>
          </a:prstGeom>
          <a:solidFill>
            <a:srgbClr val="E6F3DA"/>
          </a:solidFill>
          <a:ln w="12700">
            <a:solidFill>
              <a:srgbClr val="FFFFFF">
                <a:alpha val="0"/>
              </a:srgbClr>
            </a:solidFill>
            <a:prstDash val="solid"/>
          </a:ln>
        </p:spPr>
      </p:sp>
      <p:sp>
        <p:nvSpPr>
          <p:cNvPr id="11" name="Text 7"/>
          <p:cNvSpPr txBox="1"/>
          <p:nvPr/>
        </p:nvSpPr>
        <p:spPr>
          <a:xfrm>
            <a:off x="4096817" y="2810866"/>
            <a:ext cx="1854098"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Hoe gaat het?</a:t>
            </a:r>
            <a:endParaRPr lang="en-US" sz="2400" dirty="0"/>
          </a:p>
        </p:txBody>
      </p:sp>
      <p:sp>
        <p:nvSpPr>
          <p:cNvPr id="12" name="Shape 8"/>
          <p:cNvSpPr/>
          <p:nvPr/>
        </p:nvSpPr>
        <p:spPr>
          <a:xfrm>
            <a:off x="5023866" y="2746858"/>
            <a:ext cx="914" cy="76200"/>
          </a:xfrm>
          <a:prstGeom prst="line">
            <a:avLst/>
          </a:prstGeom>
          <a:noFill/>
          <a:ln w="15875">
            <a:solidFill>
              <a:srgbClr val="7AB648"/>
            </a:solidFill>
            <a:prstDash val="solid"/>
          </a:ln>
        </p:spPr>
      </p:sp>
      <p:sp>
        <p:nvSpPr>
          <p:cNvPr id="13" name="Shape 9"/>
          <p:cNvSpPr/>
          <p:nvPr/>
        </p:nvSpPr>
        <p:spPr>
          <a:xfrm>
            <a:off x="4448378" y="2499970"/>
            <a:ext cx="1150976" cy="246888"/>
          </a:xfrm>
          <a:prstGeom prst="roundRect">
            <a:avLst>
              <a:gd name="adj" fmla="val 14815"/>
            </a:avLst>
          </a:prstGeom>
          <a:solidFill>
            <a:srgbClr val="7AB648"/>
          </a:solidFill>
          <a:ln w="12700">
            <a:solidFill>
              <a:srgbClr val="FFFFFF">
                <a:alpha val="0"/>
              </a:srgbClr>
            </a:solidFill>
            <a:prstDash val="solid"/>
          </a:ln>
        </p:spPr>
      </p:sp>
      <p:sp>
        <p:nvSpPr>
          <p:cNvPr id="14" name="Text 10"/>
          <p:cNvSpPr txBox="1"/>
          <p:nvPr/>
        </p:nvSpPr>
        <p:spPr>
          <a:xfrm>
            <a:off x="4448378" y="2499970"/>
            <a:ext cx="1150976"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HOE GAAT HET?</a:t>
            </a:r>
            <a:endParaRPr lang="en-US" sz="1100" dirty="0"/>
          </a:p>
        </p:txBody>
      </p:sp>
      <p:sp>
        <p:nvSpPr>
          <p:cNvPr id="15" name="Text 11"/>
          <p:cNvSpPr txBox="1"/>
          <p:nvPr/>
        </p:nvSpPr>
        <p:spPr>
          <a:xfrm>
            <a:off x="1691640" y="3865474"/>
            <a:ext cx="1061923" cy="396240"/>
          </a:xfrm>
          <a:prstGeom prst="rect">
            <a:avLst/>
          </a:prstGeom>
          <a:noFill/>
          <a:ln/>
        </p:spPr>
        <p:txBody>
          <a:bodyPr wrap="none" lIns="0" tIns="0" rIns="0" bIns="0" rtlCol="0" anchor="ctr"/>
          <a:lstStyle/>
          <a:p>
            <a:pPr algn="l" indent="0" marL="0">
              <a:buNone/>
            </a:pPr>
            <a:r>
              <a:rPr lang="en-US" sz="2400" b="1" dirty="0">
                <a:solidFill>
                  <a:srgbClr val="6B7280"/>
                </a:solidFill>
                <a:latin typeface="Calibri" pitchFamily="34" charset="0"/>
                <a:ea typeface="Calibri" pitchFamily="34" charset="-122"/>
                <a:cs typeface="Calibri" pitchFamily="34" charset="-120"/>
              </a:rPr>
              <a:t>Emma:</a:t>
            </a:r>
            <a:endParaRPr lang="en-US" sz="2400" dirty="0"/>
          </a:p>
        </p:txBody>
      </p:sp>
      <p:sp>
        <p:nvSpPr>
          <p:cNvPr id="16" name="Shape 12"/>
          <p:cNvSpPr/>
          <p:nvPr/>
        </p:nvSpPr>
        <p:spPr>
          <a:xfrm>
            <a:off x="2657856" y="3877666"/>
            <a:ext cx="1977238" cy="371856"/>
          </a:xfrm>
          <a:prstGeom prst="roundRect">
            <a:avLst>
              <a:gd name="adj" fmla="val 12295"/>
            </a:avLst>
          </a:prstGeom>
          <a:solidFill>
            <a:srgbClr val="E6F3DA"/>
          </a:solidFill>
          <a:ln w="12700">
            <a:solidFill>
              <a:srgbClr val="FFFFFF">
                <a:alpha val="0"/>
              </a:srgbClr>
            </a:solidFill>
            <a:prstDash val="solid"/>
          </a:ln>
        </p:spPr>
      </p:sp>
      <p:sp>
        <p:nvSpPr>
          <p:cNvPr id="17" name="Text 13"/>
          <p:cNvSpPr txBox="1"/>
          <p:nvPr/>
        </p:nvSpPr>
        <p:spPr>
          <a:xfrm>
            <a:off x="2657856" y="3865474"/>
            <a:ext cx="1977238"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Het gaat prima</a:t>
            </a:r>
            <a:endParaRPr lang="en-US" sz="2400" dirty="0"/>
          </a:p>
        </p:txBody>
      </p:sp>
      <p:sp>
        <p:nvSpPr>
          <p:cNvPr id="18" name="Text 14"/>
          <p:cNvSpPr txBox="1"/>
          <p:nvPr/>
        </p:nvSpPr>
        <p:spPr>
          <a:xfrm>
            <a:off x="4635094" y="3865474"/>
            <a:ext cx="1339596"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 dank je.</a:t>
            </a:r>
            <a:endParaRPr lang="en-US" sz="2400" dirty="0"/>
          </a:p>
        </p:txBody>
      </p:sp>
      <p:sp>
        <p:nvSpPr>
          <p:cNvPr id="19" name="Shape 15"/>
          <p:cNvSpPr/>
          <p:nvPr/>
        </p:nvSpPr>
        <p:spPr>
          <a:xfrm>
            <a:off x="5878982" y="3877666"/>
            <a:ext cx="1595018" cy="371856"/>
          </a:xfrm>
          <a:prstGeom prst="roundRect">
            <a:avLst>
              <a:gd name="adj" fmla="val 12295"/>
            </a:avLst>
          </a:prstGeom>
          <a:solidFill>
            <a:srgbClr val="E6F3DA"/>
          </a:solidFill>
          <a:ln w="12700">
            <a:solidFill>
              <a:srgbClr val="FFFFFF">
                <a:alpha val="0"/>
              </a:srgbClr>
            </a:solidFill>
            <a:prstDash val="solid"/>
          </a:ln>
        </p:spPr>
      </p:sp>
      <p:sp>
        <p:nvSpPr>
          <p:cNvPr id="20" name="Text 16"/>
          <p:cNvSpPr txBox="1"/>
          <p:nvPr/>
        </p:nvSpPr>
        <p:spPr>
          <a:xfrm>
            <a:off x="5878982" y="3865474"/>
            <a:ext cx="1595018"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En met jou?</a:t>
            </a:r>
            <a:endParaRPr lang="en-US" sz="2400" dirty="0"/>
          </a:p>
        </p:txBody>
      </p:sp>
      <p:sp>
        <p:nvSpPr>
          <p:cNvPr id="21" name="Shape 17"/>
          <p:cNvSpPr/>
          <p:nvPr/>
        </p:nvSpPr>
        <p:spPr>
          <a:xfrm>
            <a:off x="3646475" y="3801466"/>
            <a:ext cx="914" cy="76200"/>
          </a:xfrm>
          <a:prstGeom prst="line">
            <a:avLst/>
          </a:prstGeom>
          <a:noFill/>
          <a:ln w="15875">
            <a:solidFill>
              <a:srgbClr val="7AB648"/>
            </a:solidFill>
            <a:prstDash val="solid"/>
          </a:ln>
        </p:spPr>
      </p:sp>
      <p:sp>
        <p:nvSpPr>
          <p:cNvPr id="22" name="Shape 18"/>
          <p:cNvSpPr/>
          <p:nvPr/>
        </p:nvSpPr>
        <p:spPr>
          <a:xfrm>
            <a:off x="3179045" y="3554578"/>
            <a:ext cx="934860" cy="246888"/>
          </a:xfrm>
          <a:prstGeom prst="roundRect">
            <a:avLst>
              <a:gd name="adj" fmla="val 14815"/>
            </a:avLst>
          </a:prstGeom>
          <a:solidFill>
            <a:srgbClr val="7AB648"/>
          </a:solidFill>
          <a:ln w="12700">
            <a:solidFill>
              <a:srgbClr val="FFFFFF">
                <a:alpha val="0"/>
              </a:srgbClr>
            </a:solidFill>
            <a:prstDash val="solid"/>
          </a:ln>
        </p:spPr>
      </p:sp>
      <p:sp>
        <p:nvSpPr>
          <p:cNvPr id="23" name="Text 19"/>
          <p:cNvSpPr txBox="1"/>
          <p:nvPr/>
        </p:nvSpPr>
        <p:spPr>
          <a:xfrm>
            <a:off x="3179045" y="3554578"/>
            <a:ext cx="934860"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HET GAAT …</a:t>
            </a:r>
            <a:endParaRPr lang="en-US" sz="1100" dirty="0"/>
          </a:p>
        </p:txBody>
      </p:sp>
      <p:sp>
        <p:nvSpPr>
          <p:cNvPr id="24" name="Shape 20"/>
          <p:cNvSpPr/>
          <p:nvPr/>
        </p:nvSpPr>
        <p:spPr>
          <a:xfrm flipH="1">
            <a:off x="6676492" y="3801466"/>
            <a:ext cx="914" cy="76200"/>
          </a:xfrm>
          <a:prstGeom prst="line">
            <a:avLst/>
          </a:prstGeom>
          <a:noFill/>
          <a:ln w="15875">
            <a:solidFill>
              <a:srgbClr val="7AB648"/>
            </a:solidFill>
            <a:prstDash val="solid"/>
          </a:ln>
        </p:spPr>
      </p:sp>
      <p:sp>
        <p:nvSpPr>
          <p:cNvPr id="25" name="Shape 21"/>
          <p:cNvSpPr/>
          <p:nvPr/>
        </p:nvSpPr>
        <p:spPr>
          <a:xfrm>
            <a:off x="6177070" y="3554578"/>
            <a:ext cx="998842" cy="246888"/>
          </a:xfrm>
          <a:prstGeom prst="roundRect">
            <a:avLst>
              <a:gd name="adj" fmla="val 14815"/>
            </a:avLst>
          </a:prstGeom>
          <a:solidFill>
            <a:srgbClr val="7AB648"/>
          </a:solidFill>
          <a:ln w="12700">
            <a:solidFill>
              <a:srgbClr val="FFFFFF">
                <a:alpha val="0"/>
              </a:srgbClr>
            </a:solidFill>
            <a:prstDash val="solid"/>
          </a:ln>
        </p:spPr>
      </p:sp>
      <p:sp>
        <p:nvSpPr>
          <p:cNvPr id="26" name="Text 22"/>
          <p:cNvSpPr txBox="1"/>
          <p:nvPr/>
        </p:nvSpPr>
        <p:spPr>
          <a:xfrm>
            <a:off x="6177070" y="3554578"/>
            <a:ext cx="998842"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EN MET JOU?</a:t>
            </a:r>
            <a:endParaRPr lang="en-US" sz="1100" dirty="0"/>
          </a:p>
        </p:txBody>
      </p:sp>
      <p:sp>
        <p:nvSpPr>
          <p:cNvPr id="27" name="Text 23"/>
          <p:cNvSpPr txBox="1"/>
          <p:nvPr/>
        </p:nvSpPr>
        <p:spPr>
          <a:xfrm>
            <a:off x="1691640" y="4609186"/>
            <a:ext cx="1024738" cy="396240"/>
          </a:xfrm>
          <a:prstGeom prst="rect">
            <a:avLst/>
          </a:prstGeom>
          <a:noFill/>
          <a:ln/>
        </p:spPr>
        <p:txBody>
          <a:bodyPr wrap="none" lIns="0" tIns="0" rIns="0" bIns="0" rtlCol="0" anchor="ctr"/>
          <a:lstStyle/>
          <a:p>
            <a:pPr algn="l" indent="0" marL="0">
              <a:buNone/>
            </a:pPr>
            <a:r>
              <a:rPr lang="en-US" sz="2400" b="1" dirty="0">
                <a:solidFill>
                  <a:srgbClr val="6B7280"/>
                </a:solidFill>
                <a:latin typeface="Calibri" pitchFamily="34" charset="0"/>
                <a:ea typeface="Calibri" pitchFamily="34" charset="-122"/>
                <a:cs typeface="Calibri" pitchFamily="34" charset="-120"/>
              </a:rPr>
              <a:t>Pieter:</a:t>
            </a:r>
            <a:endParaRPr lang="en-US" sz="2400" dirty="0"/>
          </a:p>
        </p:txBody>
      </p:sp>
      <p:sp>
        <p:nvSpPr>
          <p:cNvPr id="28" name="Text 24"/>
          <p:cNvSpPr txBox="1"/>
          <p:nvPr/>
        </p:nvSpPr>
        <p:spPr>
          <a:xfrm>
            <a:off x="2620670" y="4609186"/>
            <a:ext cx="2668524"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Ook goed, bedankt!</a:t>
            </a:r>
            <a:endParaRPr lang="en-US" sz="2400" dirty="0"/>
          </a:p>
        </p:txBody>
      </p:sp>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title" hasCustomPrompt="1"/>
          </p:nvPr>
        </p:nvSpPr>
        <p:spPr>
          <a:xfrm>
            <a:off x="1554480" y="384048"/>
            <a:ext cx="10241280" cy="658368"/>
          </a:xfrm>
          <a:prstGeom prst="rect">
            <a:avLst/>
          </a:prstGeom>
          <a:noFill/>
          <a:ln/>
        </p:spPr>
        <p:txBody>
          <a:bodyPr wrap="square" lIns="0" tIns="0" rIns="0" bIns="0" rtlCol="0" anchor="ctr"/>
          <a:lstStyle/>
          <a:p>
            <a:pPr algn="ctr" indent="0" marL="0">
              <a:buNone/>
            </a:pPr>
            <a:r>
              <a:rPr lang="en-US" sz="3000" b="1" dirty="0">
                <a:solidFill>
                  <a:srgbClr val="2B2F38"/>
                </a:solidFill>
              </a:rPr>
              <a:t>Gebruik deze afbeelding als inspiratie</a:t>
            </a:r>
            <a:endParaRPr lang="en-US" sz="3000" dirty="0"/>
          </a:p>
        </p:txBody>
      </p:sp>
      <p:sp>
        <p:nvSpPr>
          <p:cNvPr id="4" name="Shape 1"/>
          <p:cNvSpPr/>
          <p:nvPr/>
        </p:nvSpPr>
        <p:spPr>
          <a:xfrm>
            <a:off x="365760" y="365760"/>
            <a:ext cx="868680" cy="5989320"/>
          </a:xfrm>
          <a:prstGeom prst="roundRect">
            <a:avLst>
              <a:gd name="adj" fmla="val 12632"/>
            </a:avLst>
          </a:prstGeom>
          <a:solidFill>
            <a:srgbClr val="E6F4EA"/>
          </a:solidFill>
          <a:ln w="28575">
            <a:solidFill>
              <a:srgbClr val="6DBE8A"/>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3D8C5A"/>
                </a:solidFill>
                <a:latin typeface="Calibri" pitchFamily="34" charset="0"/>
                <a:ea typeface="Calibri" pitchFamily="34" charset="-122"/>
                <a:cs typeface="Calibri" pitchFamily="34" charset="-120"/>
              </a:rPr>
              <a:t>A1 · Premiers pas</a:t>
            </a:r>
            <a:endParaRPr lang="en-US" sz="3800" dirty="0"/>
          </a:p>
        </p:txBody>
      </p:sp>
      <p:sp>
        <p:nvSpPr>
          <p:cNvPr id="6" name="Text 3"/>
          <p:cNvSpPr txBox="1"/>
          <p:nvPr/>
        </p:nvSpPr>
        <p:spPr>
          <a:xfrm>
            <a:off x="1554480" y="1024128"/>
            <a:ext cx="10241280" cy="365760"/>
          </a:xfrm>
          <a:prstGeom prst="rect">
            <a:avLst/>
          </a:prstGeom>
          <a:noFill/>
          <a:ln/>
        </p:spPr>
        <p:txBody>
          <a:bodyPr wrap="square" lIns="0" tIns="0" rIns="0" bIns="0" rtlCol="0" anchor="ctr"/>
          <a:lstStyle/>
          <a:p>
            <a:pPr algn="ctr" indent="0" marL="0">
              <a:buNone/>
            </a:pPr>
            <a:r>
              <a:rPr lang="en-US" sz="1500" b="1" dirty="0">
                <a:solidFill>
                  <a:srgbClr val="3D8C5A"/>
                </a:solidFill>
                <a:latin typeface="Calibri" pitchFamily="34" charset="0"/>
                <a:ea typeface="Calibri" pitchFamily="34" charset="-122"/>
                <a:cs typeface="Calibri" pitchFamily="34" charset="-120"/>
              </a:rPr>
              <a:t>6 · Een beetje moe</a:t>
            </a:r>
            <a:r>
              <a:rPr lang="en-US" sz="1500" i="1" dirty="0">
                <a:solidFill>
                  <a:srgbClr val="6B7280"/>
                </a:solidFill>
                <a:latin typeface="Calibri" pitchFamily="34" charset="0"/>
                <a:ea typeface="Calibri" pitchFamily="34" charset="-122"/>
                <a:cs typeface="Calibri" pitchFamily="34" charset="-120"/>
              </a:rPr>
              <a:t>   Un peu fatigué·e</a:t>
            </a:r>
            <a:r>
              <a:rPr lang="en-US" sz="1200" dirty="0">
                <a:solidFill>
                  <a:srgbClr val="9AA3B2"/>
                </a:solidFill>
                <a:latin typeface="Calibri" pitchFamily="34" charset="0"/>
                <a:ea typeface="Calibri" pitchFamily="34" charset="-122"/>
                <a:cs typeface="Calibri" pitchFamily="34" charset="-120"/>
              </a:rPr>
              <a:t>   ·   syllabus 1.2 · p. 25</a:t>
            </a:r>
            <a:endParaRPr lang="en-US" sz="1500" dirty="0"/>
          </a:p>
        </p:txBody>
      </p:sp>
      <p:sp>
        <p:nvSpPr>
          <p:cNvPr id="7" name="Shape 4"/>
          <p:cNvSpPr/>
          <p:nvPr/>
        </p:nvSpPr>
        <p:spPr>
          <a:xfrm>
            <a:off x="1596085" y="1504645"/>
            <a:ext cx="4534510" cy="2905735"/>
          </a:xfrm>
          <a:prstGeom prst="roundRect">
            <a:avLst>
              <a:gd name="adj" fmla="val 1259"/>
            </a:avLst>
          </a:prstGeom>
          <a:solidFill>
            <a:srgbClr val="FFFFFF"/>
          </a:solidFill>
          <a:ln w="9525">
            <a:solidFill>
              <a:srgbClr val="E3E7EE"/>
            </a:solidFill>
            <a:prstDash val="solid"/>
          </a:ln>
          <a:effectLst>
            <a:outerShdw sx="100000" sy="100000" kx="0" ky="0" algn="bl" rotWithShape="0" blurRad="127000" dist="50800" dir="5400000">
              <a:srgbClr val="1B2430">
                <a:alpha val="25000"/>
              </a:srgbClr>
            </a:outerShdw>
          </a:effectLst>
        </p:spPr>
      </p:sp>
      <p:pic>
        <p:nvPicPr>
          <p:cNvPr id="8" name="Image 0" descr="/home/user/talenleren/neerlandais1/generateur/img/vijfzinnen/a1_moe_s.jpg">    </p:cNvPr>
          <p:cNvPicPr>
            <a:picLocks noChangeAspect="1"/>
          </p:cNvPicPr>
          <p:nvPr/>
        </p:nvPicPr>
        <p:blipFill>
          <a:blip r:embed="rId1"/>
          <a:stretch>
            <a:fillRect/>
          </a:stretch>
        </p:blipFill>
        <p:spPr>
          <a:xfrm>
            <a:off x="1691640" y="1600200"/>
            <a:ext cx="4343400" cy="2714625"/>
          </a:xfrm>
          <a:prstGeom prst="rect">
            <a:avLst/>
          </a:prstGeom>
        </p:spPr>
      </p:pic>
      <p:sp>
        <p:nvSpPr>
          <p:cNvPr id="9" name="Shape 5"/>
          <p:cNvSpPr/>
          <p:nvPr/>
        </p:nvSpPr>
        <p:spPr>
          <a:xfrm>
            <a:off x="1691640" y="4572000"/>
            <a:ext cx="1600200" cy="365760"/>
          </a:xfrm>
          <a:prstGeom prst="roundRect">
            <a:avLst>
              <a:gd name="adj" fmla="val 50000"/>
            </a:avLst>
          </a:prstGeom>
          <a:solidFill>
            <a:srgbClr val="EAF1FC"/>
          </a:solidFill>
          <a:ln w="12700">
            <a:solidFill>
              <a:srgbClr val="4A7BD0"/>
            </a:solidFill>
            <a:prstDash val="solid"/>
          </a:ln>
        </p:spPr>
      </p:sp>
      <p:pic>
        <p:nvPicPr>
          <p:cNvPr id="10" name="Image 1" descr="PenNib">    </p:cNvPr>
          <p:cNvPicPr>
            <a:picLocks noChangeAspect="1"/>
          </p:cNvPicPr>
          <p:nvPr/>
        </p:nvPicPr>
        <p:blipFill>
          <a:blip r:embed="rId2"/>
          <a:stretch>
            <a:fillRect/>
          </a:stretch>
        </p:blipFill>
        <p:spPr>
          <a:xfrm>
            <a:off x="1819656" y="4654296"/>
            <a:ext cx="201168" cy="201168"/>
          </a:xfrm>
          <a:prstGeom prst="rect">
            <a:avLst/>
          </a:prstGeom>
        </p:spPr>
      </p:pic>
      <p:sp>
        <p:nvSpPr>
          <p:cNvPr id="11" name="Text 6"/>
          <p:cNvSpPr txBox="1"/>
          <p:nvPr/>
        </p:nvSpPr>
        <p:spPr>
          <a:xfrm>
            <a:off x="2075688" y="4572000"/>
            <a:ext cx="1143000" cy="365760"/>
          </a:xfrm>
          <a:prstGeom prst="rect">
            <a:avLst/>
          </a:prstGeom>
          <a:noFill/>
          <a:ln/>
        </p:spPr>
        <p:txBody>
          <a:bodyPr wrap="square" lIns="0" tIns="0" rIns="0" bIns="0" rtlCol="0" anchor="ctr"/>
          <a:lstStyle/>
          <a:p>
            <a:pPr algn="l" indent="0" marL="0">
              <a:buNone/>
            </a:pPr>
            <a:r>
              <a:rPr lang="en-US" sz="1150" b="1" spc="100" kern="0" dirty="0">
                <a:solidFill>
                  <a:srgbClr val="4A7BD0"/>
                </a:solidFill>
                <a:latin typeface="Calibri" pitchFamily="34" charset="0"/>
                <a:ea typeface="Calibri" pitchFamily="34" charset="-122"/>
                <a:cs typeface="Calibri" pitchFamily="34" charset="-120"/>
              </a:rPr>
              <a:t>À L’ÉCRIT</a:t>
            </a:r>
            <a:endParaRPr lang="en-US" sz="1150" dirty="0"/>
          </a:p>
        </p:txBody>
      </p:sp>
      <p:sp>
        <p:nvSpPr>
          <p:cNvPr id="12" name="Text 7"/>
          <p:cNvSpPr txBox="1"/>
          <p:nvPr/>
        </p:nvSpPr>
        <p:spPr>
          <a:xfrm>
            <a:off x="3429000" y="4544568"/>
            <a:ext cx="2651760" cy="731520"/>
          </a:xfrm>
          <a:prstGeom prst="rect">
            <a:avLst/>
          </a:prstGeom>
          <a:noFill/>
          <a:ln/>
        </p:spPr>
        <p:txBody>
          <a:bodyPr wrap="square" lIns="0" tIns="0" rIns="0" bIns="0" rtlCol="0" anchor="t"/>
          <a:lstStyle/>
          <a:p>
            <a:pPr algn="l" indent="0" marL="0">
              <a:buNone/>
            </a:pPr>
            <a:r>
              <a:rPr lang="en-US" sz="1150" i="1" dirty="0">
                <a:solidFill>
                  <a:srgbClr val="6B7280"/>
                </a:solidFill>
                <a:latin typeface="Calibri" pitchFamily="34" charset="0"/>
                <a:ea typeface="Calibri" pitchFamily="34" charset="-122"/>
                <a:cs typeface="Calibri" pitchFamily="34" charset="-120"/>
              </a:rPr>
              <a:t>Lundi matin. Comment vous sentez-vous ? Et pourquoi ?</a:t>
            </a:r>
            <a:endParaRPr lang="en-US" sz="1150" dirty="0"/>
          </a:p>
        </p:txBody>
      </p:sp>
      <p:sp>
        <p:nvSpPr>
          <p:cNvPr id="13" name="Shape 8"/>
          <p:cNvSpPr/>
          <p:nvPr/>
        </p:nvSpPr>
        <p:spPr>
          <a:xfrm>
            <a:off x="6355080" y="1833372"/>
            <a:ext cx="914400" cy="402336"/>
          </a:xfrm>
          <a:prstGeom prst="roundRect">
            <a:avLst>
              <a:gd name="adj" fmla="val 13636"/>
            </a:avLst>
          </a:prstGeom>
          <a:solidFill>
            <a:srgbClr val="5FA873"/>
          </a:solidFill>
          <a:ln w="12700">
            <a:solidFill>
              <a:srgbClr val="FFFFFF">
                <a:alpha val="0"/>
              </a:srgbClr>
            </a:solidFill>
            <a:prstDash val="solid"/>
          </a:ln>
        </p:spPr>
      </p:sp>
      <p:sp>
        <p:nvSpPr>
          <p:cNvPr id="14" name="Text 9"/>
          <p:cNvSpPr txBox="1"/>
          <p:nvPr/>
        </p:nvSpPr>
        <p:spPr>
          <a:xfrm>
            <a:off x="6355080" y="183337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1</a:t>
            </a:r>
            <a:endParaRPr lang="en-US" sz="1600" dirty="0"/>
          </a:p>
        </p:txBody>
      </p:sp>
      <p:sp>
        <p:nvSpPr>
          <p:cNvPr id="15" name="Text 10"/>
          <p:cNvSpPr txBox="1"/>
          <p:nvPr/>
        </p:nvSpPr>
        <p:spPr>
          <a:xfrm>
            <a:off x="7406640" y="1778508"/>
            <a:ext cx="4389120" cy="512064"/>
          </a:xfrm>
          <a:prstGeom prst="rect">
            <a:avLst/>
          </a:prstGeom>
          <a:noFill/>
          <a:ln/>
        </p:spPr>
        <p:txBody>
          <a:bodyPr wrap="square" lIns="0" tIns="0" rIns="0" bIns="0" rtlCol="0" anchor="ctr"/>
          <a:lstStyle/>
          <a:p>
            <a:pPr algn="l" indent="0" marL="0">
              <a:buNone/>
            </a:pPr>
            <a:r>
              <a:rPr lang="en-US" sz="1600" dirty="0">
                <a:solidFill>
                  <a:srgbClr val="2B2F38"/>
                </a:solidFill>
              </a:rPr>
              <a:t>Votre état : </a:t>
            </a:r>
            <a:r>
              <a:rPr lang="en-US" sz="1600" b="1" dirty="0">
                <a:solidFill>
                  <a:srgbClr val="2B2F38"/>
                </a:solidFill>
              </a:rPr>
              <a:t>IK BEN</a:t>
            </a:r>
            <a:r>
              <a:rPr lang="en-US" sz="1600" dirty="0">
                <a:solidFill>
                  <a:srgbClr val="2B2F38"/>
                </a:solidFill>
              </a:rPr>
              <a:t> + nuanceur + adjectif.</a:t>
            </a:r>
            <a:endParaRPr lang="en-US" sz="1600" dirty="0"/>
          </a:p>
        </p:txBody>
      </p:sp>
      <p:sp>
        <p:nvSpPr>
          <p:cNvPr id="16" name="Shape 11"/>
          <p:cNvSpPr/>
          <p:nvPr/>
        </p:nvSpPr>
        <p:spPr>
          <a:xfrm>
            <a:off x="6355080" y="2702052"/>
            <a:ext cx="914400" cy="402336"/>
          </a:xfrm>
          <a:prstGeom prst="roundRect">
            <a:avLst>
              <a:gd name="adj" fmla="val 13636"/>
            </a:avLst>
          </a:prstGeom>
          <a:solidFill>
            <a:srgbClr val="5FA873"/>
          </a:solidFill>
          <a:ln w="12700">
            <a:solidFill>
              <a:srgbClr val="FFFFFF">
                <a:alpha val="0"/>
              </a:srgbClr>
            </a:solidFill>
            <a:prstDash val="solid"/>
          </a:ln>
        </p:spPr>
      </p:sp>
      <p:sp>
        <p:nvSpPr>
          <p:cNvPr id="17" name="Text 12"/>
          <p:cNvSpPr txBox="1"/>
          <p:nvPr/>
        </p:nvSpPr>
        <p:spPr>
          <a:xfrm>
            <a:off x="6355080" y="270205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2</a:t>
            </a:r>
            <a:endParaRPr lang="en-US" sz="1600" dirty="0"/>
          </a:p>
        </p:txBody>
      </p:sp>
      <p:sp>
        <p:nvSpPr>
          <p:cNvPr id="18" name="Text 13"/>
          <p:cNvSpPr txBox="1"/>
          <p:nvPr/>
        </p:nvSpPr>
        <p:spPr>
          <a:xfrm>
            <a:off x="7406640" y="2647188"/>
            <a:ext cx="4389120" cy="512064"/>
          </a:xfrm>
          <a:prstGeom prst="rect">
            <a:avLst/>
          </a:prstGeom>
          <a:noFill/>
          <a:ln/>
        </p:spPr>
        <p:txBody>
          <a:bodyPr wrap="square" lIns="0" tIns="0" rIns="0" bIns="0" rtlCol="0" anchor="ctr"/>
          <a:lstStyle/>
          <a:p>
            <a:pPr algn="l" indent="0" marL="0">
              <a:buNone/>
            </a:pPr>
            <a:r>
              <a:rPr lang="en-US" sz="1600" dirty="0">
                <a:solidFill>
                  <a:srgbClr val="2B2F38"/>
                </a:solidFill>
              </a:rPr>
              <a:t>La raison : </a:t>
            </a:r>
            <a:r>
              <a:rPr lang="en-US" sz="1600" b="1" dirty="0">
                <a:solidFill>
                  <a:srgbClr val="2B2F38"/>
                </a:solidFill>
              </a:rPr>
              <a:t>WANT</a:t>
            </a:r>
            <a:r>
              <a:rPr lang="en-US" sz="1600" dirty="0">
                <a:solidFill>
                  <a:srgbClr val="2B2F38"/>
                </a:solidFill>
              </a:rPr>
              <a:t> + ik heb…</a:t>
            </a:r>
            <a:endParaRPr lang="en-US" sz="1600" dirty="0"/>
          </a:p>
        </p:txBody>
      </p:sp>
      <p:sp>
        <p:nvSpPr>
          <p:cNvPr id="19" name="Shape 14"/>
          <p:cNvSpPr/>
          <p:nvPr/>
        </p:nvSpPr>
        <p:spPr>
          <a:xfrm>
            <a:off x="6355080" y="3570732"/>
            <a:ext cx="914400" cy="402336"/>
          </a:xfrm>
          <a:prstGeom prst="roundRect">
            <a:avLst>
              <a:gd name="adj" fmla="val 13636"/>
            </a:avLst>
          </a:prstGeom>
          <a:solidFill>
            <a:srgbClr val="5FA873"/>
          </a:solidFill>
          <a:ln w="12700">
            <a:solidFill>
              <a:srgbClr val="FFFFFF">
                <a:alpha val="0"/>
              </a:srgbClr>
            </a:solidFill>
            <a:prstDash val="solid"/>
          </a:ln>
        </p:spPr>
      </p:sp>
      <p:sp>
        <p:nvSpPr>
          <p:cNvPr id="20" name="Text 15"/>
          <p:cNvSpPr txBox="1"/>
          <p:nvPr/>
        </p:nvSpPr>
        <p:spPr>
          <a:xfrm>
            <a:off x="6355080" y="357073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3</a:t>
            </a:r>
            <a:endParaRPr lang="en-US" sz="1600" dirty="0"/>
          </a:p>
        </p:txBody>
      </p:sp>
      <p:sp>
        <p:nvSpPr>
          <p:cNvPr id="21" name="Text 16"/>
          <p:cNvSpPr txBox="1"/>
          <p:nvPr/>
        </p:nvSpPr>
        <p:spPr>
          <a:xfrm>
            <a:off x="7406640" y="3515868"/>
            <a:ext cx="4389120" cy="512064"/>
          </a:xfrm>
          <a:prstGeom prst="rect">
            <a:avLst/>
          </a:prstGeom>
          <a:noFill/>
          <a:ln/>
        </p:spPr>
        <p:txBody>
          <a:bodyPr wrap="square" lIns="0" tIns="0" rIns="0" bIns="0" rtlCol="0" anchor="ctr"/>
          <a:lstStyle/>
          <a:p>
            <a:pPr algn="l" indent="0" marL="0">
              <a:buNone/>
            </a:pPr>
            <a:r>
              <a:rPr lang="en-US" sz="1600" dirty="0">
                <a:solidFill>
                  <a:srgbClr val="2B2F38"/>
                </a:solidFill>
              </a:rPr>
              <a:t>Une deuxième émotion : </a:t>
            </a:r>
            <a:r>
              <a:rPr lang="en-US" sz="1600" b="1" dirty="0">
                <a:solidFill>
                  <a:srgbClr val="2B2F38"/>
                </a:solidFill>
              </a:rPr>
              <a:t>IK VOEL ME</a:t>
            </a:r>
            <a:r>
              <a:rPr lang="en-US" sz="1600" dirty="0">
                <a:solidFill>
                  <a:srgbClr val="2B2F38"/>
                </a:solidFill>
              </a:rPr>
              <a:t> + adjectif.</a:t>
            </a:r>
            <a:endParaRPr lang="en-US" sz="1600" dirty="0"/>
          </a:p>
        </p:txBody>
      </p:sp>
      <p:sp>
        <p:nvSpPr>
          <p:cNvPr id="22" name="Shape 17"/>
          <p:cNvSpPr/>
          <p:nvPr/>
        </p:nvSpPr>
        <p:spPr>
          <a:xfrm>
            <a:off x="3246120" y="5440680"/>
            <a:ext cx="6858000" cy="822960"/>
          </a:xfrm>
          <a:prstGeom prst="roundRect">
            <a:avLst>
              <a:gd name="adj" fmla="val 17778"/>
            </a:avLst>
          </a:prstGeom>
          <a:solidFill>
            <a:srgbClr val="EAF5EC"/>
          </a:solidFill>
          <a:ln w="15875">
            <a:solidFill>
              <a:srgbClr val="5FA873"/>
            </a:solidFill>
            <a:prstDash val="solid"/>
          </a:ln>
        </p:spPr>
      </p:sp>
      <p:pic>
        <p:nvPicPr>
          <p:cNvPr id="23" name="Image 2" descr="UserFriends">    </p:cNvPr>
          <p:cNvPicPr>
            <a:picLocks noChangeAspect="1"/>
          </p:cNvPicPr>
          <p:nvPr/>
        </p:nvPicPr>
        <p:blipFill>
          <a:blip r:embed="rId3"/>
          <a:stretch>
            <a:fillRect/>
          </a:stretch>
        </p:blipFill>
        <p:spPr>
          <a:xfrm>
            <a:off x="3520440" y="5660136"/>
            <a:ext cx="384048" cy="384048"/>
          </a:xfrm>
          <a:prstGeom prst="rect">
            <a:avLst/>
          </a:prstGeom>
        </p:spPr>
      </p:pic>
      <p:sp>
        <p:nvSpPr>
          <p:cNvPr id="24" name="Text 18"/>
          <p:cNvSpPr txBox="1"/>
          <p:nvPr/>
        </p:nvSpPr>
        <p:spPr>
          <a:xfrm>
            <a:off x="4114800" y="5440680"/>
            <a:ext cx="5852160" cy="822960"/>
          </a:xfrm>
          <a:prstGeom prst="rect">
            <a:avLst/>
          </a:prstGeom>
          <a:noFill/>
          <a:ln/>
        </p:spPr>
        <p:txBody>
          <a:bodyPr wrap="square" lIns="0" tIns="0" rIns="0" bIns="0" rtlCol="0" anchor="ctr"/>
          <a:lstStyle/>
          <a:p>
            <a:pPr algn="ctr" indent="0" marL="0">
              <a:buNone/>
            </a:pPr>
            <a:r>
              <a:rPr lang="en-US" sz="1800" b="1" dirty="0">
                <a:solidFill>
                  <a:srgbClr val="2E6B44"/>
                </a:solidFill>
                <a:latin typeface="Calibri" pitchFamily="34" charset="0"/>
                <a:ea typeface="Calibri" pitchFamily="34" charset="-122"/>
                <a:cs typeface="Calibri" pitchFamily="34" charset="-120"/>
              </a:rPr>
              <a:t>Lees je tekst voor aan je partner.</a:t>
            </a:r>
            <a:endParaRPr lang="en-US" sz="1800" dirty="0"/>
          </a:p>
          <a:p>
            <a:pPr algn="ctr" indent="0" marL="0">
              <a:buNone/>
            </a:pPr>
            <a:r>
              <a:rPr lang="en-US" sz="1800" b="1" dirty="0">
                <a:solidFill>
                  <a:srgbClr val="2E6B44"/>
                </a:solidFill>
                <a:latin typeface="Calibri" pitchFamily="34" charset="0"/>
                <a:ea typeface="Calibri" pitchFamily="34" charset="-122"/>
                <a:cs typeface="Calibri" pitchFamily="34" charset="-120"/>
              </a:rPr>
              <a:t>Wat denkt hij/zij daarvan?</a:t>
            </a:r>
            <a:endParaRPr lang="en-US" sz="1800" dirty="0"/>
          </a:p>
        </p:txBody>
      </p:sp>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title" hasCustomPrompt="1"/>
          </p:nvPr>
        </p:nvSpPr>
        <p:spPr>
          <a:xfrm>
            <a:off x="1554480" y="384048"/>
            <a:ext cx="10241280" cy="658368"/>
          </a:xfrm>
          <a:prstGeom prst="rect">
            <a:avLst/>
          </a:prstGeom>
          <a:noFill/>
          <a:ln/>
        </p:spPr>
        <p:txBody>
          <a:bodyPr wrap="square" lIns="0" tIns="0" rIns="0" bIns="0" rtlCol="0" anchor="ctr"/>
          <a:lstStyle/>
          <a:p>
            <a:pPr algn="ctr" indent="0" marL="0">
              <a:buNone/>
            </a:pPr>
            <a:r>
              <a:rPr lang="en-US" sz="3000" b="1" dirty="0">
                <a:solidFill>
                  <a:srgbClr val="2B2F38"/>
                </a:solidFill>
              </a:rPr>
              <a:t>Een beetje moe</a:t>
            </a:r>
            <a:endParaRPr lang="en-US" sz="3000" dirty="0"/>
          </a:p>
        </p:txBody>
      </p:sp>
      <p:sp>
        <p:nvSpPr>
          <p:cNvPr id="4" name="Shape 1"/>
          <p:cNvSpPr/>
          <p:nvPr/>
        </p:nvSpPr>
        <p:spPr>
          <a:xfrm>
            <a:off x="365760" y="365760"/>
            <a:ext cx="868680" cy="5989320"/>
          </a:xfrm>
          <a:prstGeom prst="roundRect">
            <a:avLst>
              <a:gd name="adj" fmla="val 12632"/>
            </a:avLst>
          </a:prstGeom>
          <a:solidFill>
            <a:srgbClr val="E6F4EA"/>
          </a:solidFill>
          <a:ln w="28575">
            <a:solidFill>
              <a:srgbClr val="6DBE8A"/>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3D8C5A"/>
                </a:solidFill>
                <a:latin typeface="Calibri" pitchFamily="34" charset="0"/>
                <a:ea typeface="Calibri" pitchFamily="34" charset="-122"/>
                <a:cs typeface="Calibri" pitchFamily="34" charset="-120"/>
              </a:rPr>
              <a:t>A1 · Premiers pas</a:t>
            </a:r>
            <a:endParaRPr lang="en-US" sz="3800" dirty="0"/>
          </a:p>
        </p:txBody>
      </p:sp>
      <p:sp>
        <p:nvSpPr>
          <p:cNvPr id="6" name="Shape 3"/>
          <p:cNvSpPr/>
          <p:nvPr/>
        </p:nvSpPr>
        <p:spPr>
          <a:xfrm>
            <a:off x="2519172" y="1124712"/>
            <a:ext cx="8311896" cy="5277231"/>
          </a:xfrm>
          <a:prstGeom prst="roundRect">
            <a:avLst>
              <a:gd name="adj" fmla="val 693"/>
            </a:avLst>
          </a:prstGeom>
          <a:solidFill>
            <a:srgbClr val="FFFFFF"/>
          </a:solidFill>
          <a:ln w="9525">
            <a:solidFill>
              <a:srgbClr val="E3E7EE"/>
            </a:solidFill>
            <a:prstDash val="solid"/>
          </a:ln>
          <a:effectLst>
            <a:outerShdw sx="100000" sy="100000" kx="0" ky="0" algn="bl" rotWithShape="0" blurRad="177800" dist="63500" dir="5400000">
              <a:srgbClr val="1B2430">
                <a:alpha val="25000"/>
              </a:srgbClr>
            </a:outerShdw>
          </a:effectLst>
        </p:spPr>
      </p:sp>
      <p:pic>
        <p:nvPicPr>
          <p:cNvPr id="7" name="Image 0" descr="/home/user/talenleren/neerlandais1/generateur/img/vijfzinnen/a1_moe.jpg">    </p:cNvPr>
          <p:cNvPicPr>
            <a:picLocks noChangeAspect="1"/>
          </p:cNvPicPr>
          <p:nvPr/>
        </p:nvPicPr>
        <p:blipFill>
          <a:blip r:embed="rId1"/>
          <a:stretch>
            <a:fillRect/>
          </a:stretch>
        </p:blipFill>
        <p:spPr>
          <a:xfrm>
            <a:off x="2628900" y="1234440"/>
            <a:ext cx="8092440" cy="5057775"/>
          </a:xfrm>
          <a:prstGeom prst="rect">
            <a:avLst/>
          </a:prstGeom>
        </p:spPr>
      </p:pic>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1" type="title" hasCustomPrompt="1"/>
          </p:nvPr>
        </p:nvSpPr>
        <p:spPr>
          <a:xfrm>
            <a:off x="1691640" y="347472"/>
            <a:ext cx="8138160" cy="914400"/>
          </a:xfrm>
          <a:prstGeom prst="rect">
            <a:avLst/>
          </a:prstGeom>
          <a:noFill/>
          <a:ln/>
        </p:spPr>
        <p:txBody>
          <a:bodyPr wrap="square" lIns="0" tIns="0" rIns="0" bIns="0" rtlCol="0" anchor="ctr"/>
          <a:lstStyle/>
          <a:p>
            <a:pPr algn="l" indent="0" marL="0">
              <a:buNone/>
            </a:pPr>
            <a:r>
              <a:rPr lang="en-US" sz="2400" b="1" dirty="0">
                <a:solidFill>
                  <a:srgbClr val="2B2F38"/>
                </a:solidFill>
              </a:rPr>
              <a:t>Hier is een voorbeeld van wat je had kunnen denken en schrijven…</a:t>
            </a:r>
            <a:endParaRPr lang="en-US" sz="2400" dirty="0"/>
          </a:p>
        </p:txBody>
      </p:sp>
      <p:sp>
        <p:nvSpPr>
          <p:cNvPr id="4" name="Shape 1"/>
          <p:cNvSpPr/>
          <p:nvPr/>
        </p:nvSpPr>
        <p:spPr>
          <a:xfrm>
            <a:off x="365760" y="365760"/>
            <a:ext cx="868680" cy="5989320"/>
          </a:xfrm>
          <a:prstGeom prst="roundRect">
            <a:avLst>
              <a:gd name="adj" fmla="val 12632"/>
            </a:avLst>
          </a:prstGeom>
          <a:solidFill>
            <a:srgbClr val="E6F4EA"/>
          </a:solidFill>
          <a:ln w="28575">
            <a:solidFill>
              <a:srgbClr val="6DBE8A"/>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3D8C5A"/>
                </a:solidFill>
                <a:latin typeface="Calibri" pitchFamily="34" charset="0"/>
                <a:ea typeface="Calibri" pitchFamily="34" charset="-122"/>
                <a:cs typeface="Calibri" pitchFamily="34" charset="-120"/>
              </a:rPr>
              <a:t>A1 · Premiers pas</a:t>
            </a:r>
            <a:endParaRPr lang="en-US" sz="3800" dirty="0"/>
          </a:p>
        </p:txBody>
      </p:sp>
      <p:sp>
        <p:nvSpPr>
          <p:cNvPr id="6" name="Shape 3"/>
          <p:cNvSpPr/>
          <p:nvPr/>
        </p:nvSpPr>
        <p:spPr>
          <a:xfrm>
            <a:off x="10058400" y="246888"/>
            <a:ext cx="1691640" cy="1091565"/>
          </a:xfrm>
          <a:prstGeom prst="roundRect">
            <a:avLst>
              <a:gd name="adj" fmla="val 3351"/>
            </a:avLst>
          </a:prstGeom>
          <a:solidFill>
            <a:srgbClr val="FFFFFF"/>
          </a:solidFill>
          <a:ln w="9525">
            <a:solidFill>
              <a:srgbClr val="E3E7EE"/>
            </a:solidFill>
            <a:prstDash val="solid"/>
          </a:ln>
          <a:effectLst>
            <a:outerShdw sx="100000" sy="100000" kx="0" ky="0" algn="bl" rotWithShape="0" blurRad="76200" dist="25400" dir="5400000">
              <a:srgbClr val="1B2430">
                <a:alpha val="25000"/>
              </a:srgbClr>
            </a:outerShdw>
          </a:effectLst>
        </p:spPr>
      </p:sp>
      <p:pic>
        <p:nvPicPr>
          <p:cNvPr id="7" name="Image 0" descr="/home/user/talenleren/neerlandais1/generateur/img/vijfzinnen/a1_moe_s.jpg">    </p:cNvPr>
          <p:cNvPicPr>
            <a:picLocks noChangeAspect="1"/>
          </p:cNvPicPr>
          <p:nvPr/>
        </p:nvPicPr>
        <p:blipFill>
          <a:blip r:embed="rId1"/>
          <a:stretch>
            <a:fillRect/>
          </a:stretch>
        </p:blipFill>
        <p:spPr>
          <a:xfrm>
            <a:off x="10104120" y="292608"/>
            <a:ext cx="1600200" cy="1000125"/>
          </a:xfrm>
          <a:prstGeom prst="rect">
            <a:avLst/>
          </a:prstGeom>
        </p:spPr>
      </p:pic>
      <p:sp>
        <p:nvSpPr>
          <p:cNvPr id="8" name="Shape 4"/>
          <p:cNvSpPr/>
          <p:nvPr/>
        </p:nvSpPr>
        <p:spPr>
          <a:xfrm>
            <a:off x="1691640" y="3244901"/>
            <a:ext cx="2917850" cy="371856"/>
          </a:xfrm>
          <a:prstGeom prst="roundRect">
            <a:avLst>
              <a:gd name="adj" fmla="val 12295"/>
            </a:avLst>
          </a:prstGeom>
          <a:solidFill>
            <a:srgbClr val="E6F3DA"/>
          </a:solidFill>
          <a:ln w="12700">
            <a:solidFill>
              <a:srgbClr val="FFFFFF">
                <a:alpha val="0"/>
              </a:srgbClr>
            </a:solidFill>
            <a:prstDash val="solid"/>
          </a:ln>
        </p:spPr>
      </p:sp>
      <p:sp>
        <p:nvSpPr>
          <p:cNvPr id="9" name="Text 5"/>
          <p:cNvSpPr txBox="1"/>
          <p:nvPr/>
        </p:nvSpPr>
        <p:spPr>
          <a:xfrm>
            <a:off x="1691640" y="3232709"/>
            <a:ext cx="2917850"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Ik ben een beetje moe</a:t>
            </a:r>
            <a:endParaRPr lang="en-US" sz="2400" dirty="0"/>
          </a:p>
        </p:txBody>
      </p:sp>
      <p:sp>
        <p:nvSpPr>
          <p:cNvPr id="10" name="Text 6"/>
          <p:cNvSpPr txBox="1"/>
          <p:nvPr/>
        </p:nvSpPr>
        <p:spPr>
          <a:xfrm>
            <a:off x="4609490" y="3232709"/>
            <a:ext cx="259080"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a:t>
            </a:r>
            <a:endParaRPr lang="en-US" sz="2400" dirty="0"/>
          </a:p>
        </p:txBody>
      </p:sp>
      <p:sp>
        <p:nvSpPr>
          <p:cNvPr id="11" name="Shape 7"/>
          <p:cNvSpPr/>
          <p:nvPr/>
        </p:nvSpPr>
        <p:spPr>
          <a:xfrm>
            <a:off x="4772863" y="3244901"/>
            <a:ext cx="2876702" cy="371856"/>
          </a:xfrm>
          <a:prstGeom prst="roundRect">
            <a:avLst>
              <a:gd name="adj" fmla="val 12295"/>
            </a:avLst>
          </a:prstGeom>
          <a:solidFill>
            <a:srgbClr val="E6F3DA"/>
          </a:solidFill>
          <a:ln w="12700">
            <a:solidFill>
              <a:srgbClr val="FFFFFF">
                <a:alpha val="0"/>
              </a:srgbClr>
            </a:solidFill>
            <a:prstDash val="solid"/>
          </a:ln>
        </p:spPr>
      </p:sp>
      <p:sp>
        <p:nvSpPr>
          <p:cNvPr id="12" name="Text 8"/>
          <p:cNvSpPr txBox="1"/>
          <p:nvPr/>
        </p:nvSpPr>
        <p:spPr>
          <a:xfrm>
            <a:off x="4772863" y="3232709"/>
            <a:ext cx="2876702"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want ik heb veel werk</a:t>
            </a:r>
            <a:endParaRPr lang="en-US" sz="2400" dirty="0"/>
          </a:p>
        </p:txBody>
      </p:sp>
      <p:sp>
        <p:nvSpPr>
          <p:cNvPr id="13" name="Text 9"/>
          <p:cNvSpPr txBox="1"/>
          <p:nvPr/>
        </p:nvSpPr>
        <p:spPr>
          <a:xfrm>
            <a:off x="7649566" y="3232709"/>
            <a:ext cx="259690"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a:t>
            </a:r>
            <a:endParaRPr lang="en-US" sz="2400" dirty="0"/>
          </a:p>
        </p:txBody>
      </p:sp>
      <p:sp>
        <p:nvSpPr>
          <p:cNvPr id="14" name="Shape 10"/>
          <p:cNvSpPr/>
          <p:nvPr/>
        </p:nvSpPr>
        <p:spPr>
          <a:xfrm>
            <a:off x="7813548" y="3244901"/>
            <a:ext cx="1394460" cy="371856"/>
          </a:xfrm>
          <a:prstGeom prst="roundRect">
            <a:avLst>
              <a:gd name="adj" fmla="val 12295"/>
            </a:avLst>
          </a:prstGeom>
          <a:solidFill>
            <a:srgbClr val="E6F3DA"/>
          </a:solidFill>
          <a:ln w="12700">
            <a:solidFill>
              <a:srgbClr val="FFFFFF">
                <a:alpha val="0"/>
              </a:srgbClr>
            </a:solidFill>
            <a:prstDash val="solid"/>
          </a:ln>
        </p:spPr>
      </p:sp>
      <p:sp>
        <p:nvSpPr>
          <p:cNvPr id="15" name="Text 11"/>
          <p:cNvSpPr txBox="1"/>
          <p:nvPr/>
        </p:nvSpPr>
        <p:spPr>
          <a:xfrm>
            <a:off x="7813548" y="3232709"/>
            <a:ext cx="1394460"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Ik voel me</a:t>
            </a:r>
            <a:endParaRPr lang="en-US" sz="2400" dirty="0"/>
          </a:p>
        </p:txBody>
      </p:sp>
      <p:sp>
        <p:nvSpPr>
          <p:cNvPr id="16" name="Text 12"/>
          <p:cNvSpPr txBox="1"/>
          <p:nvPr/>
        </p:nvSpPr>
        <p:spPr>
          <a:xfrm>
            <a:off x="9295181" y="3232709"/>
            <a:ext cx="1936394"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ook gestrest…</a:t>
            </a:r>
            <a:endParaRPr lang="en-US" sz="2400" dirty="0"/>
          </a:p>
        </p:txBody>
      </p:sp>
      <p:sp>
        <p:nvSpPr>
          <p:cNvPr id="17" name="Shape 13"/>
          <p:cNvSpPr/>
          <p:nvPr/>
        </p:nvSpPr>
        <p:spPr>
          <a:xfrm>
            <a:off x="3150565" y="3168701"/>
            <a:ext cx="914" cy="76200"/>
          </a:xfrm>
          <a:prstGeom prst="line">
            <a:avLst/>
          </a:prstGeom>
          <a:noFill/>
          <a:ln w="15875">
            <a:solidFill>
              <a:srgbClr val="7AB648"/>
            </a:solidFill>
            <a:prstDash val="solid"/>
          </a:ln>
        </p:spPr>
      </p:sp>
      <p:sp>
        <p:nvSpPr>
          <p:cNvPr id="18" name="Shape 14"/>
          <p:cNvSpPr/>
          <p:nvPr/>
        </p:nvSpPr>
        <p:spPr>
          <a:xfrm>
            <a:off x="2674055" y="2921813"/>
            <a:ext cx="953021" cy="246888"/>
          </a:xfrm>
          <a:prstGeom prst="roundRect">
            <a:avLst>
              <a:gd name="adj" fmla="val 14815"/>
            </a:avLst>
          </a:prstGeom>
          <a:solidFill>
            <a:srgbClr val="7AB648"/>
          </a:solidFill>
          <a:ln w="12700">
            <a:solidFill>
              <a:srgbClr val="FFFFFF">
                <a:alpha val="0"/>
              </a:srgbClr>
            </a:solidFill>
            <a:prstDash val="solid"/>
          </a:ln>
        </p:spPr>
      </p:sp>
      <p:sp>
        <p:nvSpPr>
          <p:cNvPr id="19" name="Text 15"/>
          <p:cNvSpPr txBox="1"/>
          <p:nvPr/>
        </p:nvSpPr>
        <p:spPr>
          <a:xfrm>
            <a:off x="2674055" y="2921813"/>
            <a:ext cx="953021"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IK BEN + adj.</a:t>
            </a:r>
            <a:endParaRPr lang="en-US" sz="1100" dirty="0"/>
          </a:p>
        </p:txBody>
      </p:sp>
      <p:sp>
        <p:nvSpPr>
          <p:cNvPr id="20" name="Shape 16"/>
          <p:cNvSpPr/>
          <p:nvPr/>
        </p:nvSpPr>
        <p:spPr>
          <a:xfrm>
            <a:off x="6211214" y="3168701"/>
            <a:ext cx="914" cy="76200"/>
          </a:xfrm>
          <a:prstGeom prst="line">
            <a:avLst/>
          </a:prstGeom>
          <a:noFill/>
          <a:ln w="15875">
            <a:solidFill>
              <a:srgbClr val="7AB648"/>
            </a:solidFill>
            <a:prstDash val="solid"/>
          </a:ln>
        </p:spPr>
      </p:sp>
      <p:sp>
        <p:nvSpPr>
          <p:cNvPr id="21" name="Shape 17"/>
          <p:cNvSpPr/>
          <p:nvPr/>
        </p:nvSpPr>
        <p:spPr>
          <a:xfrm>
            <a:off x="5915266" y="2921813"/>
            <a:ext cx="591896" cy="246888"/>
          </a:xfrm>
          <a:prstGeom prst="roundRect">
            <a:avLst>
              <a:gd name="adj" fmla="val 14815"/>
            </a:avLst>
          </a:prstGeom>
          <a:solidFill>
            <a:srgbClr val="7AB648"/>
          </a:solidFill>
          <a:ln w="12700">
            <a:solidFill>
              <a:srgbClr val="FFFFFF">
                <a:alpha val="0"/>
              </a:srgbClr>
            </a:solidFill>
            <a:prstDash val="solid"/>
          </a:ln>
        </p:spPr>
      </p:sp>
      <p:sp>
        <p:nvSpPr>
          <p:cNvPr id="22" name="Text 18"/>
          <p:cNvSpPr txBox="1"/>
          <p:nvPr/>
        </p:nvSpPr>
        <p:spPr>
          <a:xfrm>
            <a:off x="5915266" y="2921813"/>
            <a:ext cx="591896"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WANT</a:t>
            </a:r>
            <a:endParaRPr lang="en-US" sz="1100" dirty="0"/>
          </a:p>
        </p:txBody>
      </p:sp>
      <p:sp>
        <p:nvSpPr>
          <p:cNvPr id="23" name="Shape 19"/>
          <p:cNvSpPr/>
          <p:nvPr/>
        </p:nvSpPr>
        <p:spPr>
          <a:xfrm>
            <a:off x="8510778" y="3168701"/>
            <a:ext cx="914" cy="76200"/>
          </a:xfrm>
          <a:prstGeom prst="line">
            <a:avLst/>
          </a:prstGeom>
          <a:noFill/>
          <a:ln w="15875">
            <a:solidFill>
              <a:srgbClr val="7AB648"/>
            </a:solidFill>
            <a:prstDash val="solid"/>
          </a:ln>
        </p:spPr>
      </p:sp>
      <p:sp>
        <p:nvSpPr>
          <p:cNvPr id="24" name="Shape 20"/>
          <p:cNvSpPr/>
          <p:nvPr/>
        </p:nvSpPr>
        <p:spPr>
          <a:xfrm>
            <a:off x="8065351" y="2921813"/>
            <a:ext cx="890854" cy="246888"/>
          </a:xfrm>
          <a:prstGeom prst="roundRect">
            <a:avLst>
              <a:gd name="adj" fmla="val 14815"/>
            </a:avLst>
          </a:prstGeom>
          <a:solidFill>
            <a:srgbClr val="7AB648"/>
          </a:solidFill>
          <a:ln w="12700">
            <a:solidFill>
              <a:srgbClr val="FFFFFF">
                <a:alpha val="0"/>
              </a:srgbClr>
            </a:solidFill>
            <a:prstDash val="solid"/>
          </a:ln>
        </p:spPr>
      </p:sp>
      <p:sp>
        <p:nvSpPr>
          <p:cNvPr id="25" name="Text 21"/>
          <p:cNvSpPr txBox="1"/>
          <p:nvPr/>
        </p:nvSpPr>
        <p:spPr>
          <a:xfrm>
            <a:off x="8065351" y="2921813"/>
            <a:ext cx="890854"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IK VOEL ME</a:t>
            </a:r>
            <a:endParaRPr lang="en-US" sz="1100" dirty="0"/>
          </a:p>
        </p:txBody>
      </p:sp>
      <p:sp>
        <p:nvSpPr>
          <p:cNvPr id="26" name="Text 22"/>
          <p:cNvSpPr txBox="1"/>
          <p:nvPr/>
        </p:nvSpPr>
        <p:spPr>
          <a:xfrm>
            <a:off x="5599633" y="3976421"/>
            <a:ext cx="2379574"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Koffie, alsjeblieft!</a:t>
            </a:r>
            <a:endParaRPr lang="en-US" sz="2400" dirty="0"/>
          </a:p>
        </p:txBody>
      </p:sp>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1" type="title" hasCustomPrompt="1"/>
          </p:nvPr>
        </p:nvSpPr>
        <p:spPr>
          <a:xfrm>
            <a:off x="1554480" y="384048"/>
            <a:ext cx="10241280" cy="658368"/>
          </a:xfrm>
          <a:prstGeom prst="rect">
            <a:avLst/>
          </a:prstGeom>
          <a:noFill/>
          <a:ln/>
        </p:spPr>
        <p:txBody>
          <a:bodyPr wrap="square" lIns="0" tIns="0" rIns="0" bIns="0" rtlCol="0" anchor="ctr"/>
          <a:lstStyle/>
          <a:p>
            <a:pPr algn="ctr" indent="0" marL="0">
              <a:buNone/>
            </a:pPr>
            <a:r>
              <a:rPr lang="en-US" sz="3000" b="1" dirty="0">
                <a:solidFill>
                  <a:srgbClr val="2B2F38"/>
                </a:solidFill>
              </a:rPr>
              <a:t>Gebruik deze afbeelding als inspiratie</a:t>
            </a:r>
            <a:endParaRPr lang="en-US" sz="3000" dirty="0"/>
          </a:p>
        </p:txBody>
      </p:sp>
      <p:sp>
        <p:nvSpPr>
          <p:cNvPr id="4" name="Shape 1"/>
          <p:cNvSpPr/>
          <p:nvPr/>
        </p:nvSpPr>
        <p:spPr>
          <a:xfrm>
            <a:off x="365760" y="365760"/>
            <a:ext cx="868680" cy="5989320"/>
          </a:xfrm>
          <a:prstGeom prst="roundRect">
            <a:avLst>
              <a:gd name="adj" fmla="val 12632"/>
            </a:avLst>
          </a:prstGeom>
          <a:solidFill>
            <a:srgbClr val="E6F4EA"/>
          </a:solidFill>
          <a:ln w="28575">
            <a:solidFill>
              <a:srgbClr val="6DBE8A"/>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3D8C5A"/>
                </a:solidFill>
                <a:latin typeface="Calibri" pitchFamily="34" charset="0"/>
                <a:ea typeface="Calibri" pitchFamily="34" charset="-122"/>
                <a:cs typeface="Calibri" pitchFamily="34" charset="-120"/>
              </a:rPr>
              <a:t>A1 · Premiers pas</a:t>
            </a:r>
            <a:endParaRPr lang="en-US" sz="3800" dirty="0"/>
          </a:p>
        </p:txBody>
      </p:sp>
      <p:sp>
        <p:nvSpPr>
          <p:cNvPr id="6" name="Text 3"/>
          <p:cNvSpPr txBox="1"/>
          <p:nvPr/>
        </p:nvSpPr>
        <p:spPr>
          <a:xfrm>
            <a:off x="1554480" y="1024128"/>
            <a:ext cx="10241280" cy="365760"/>
          </a:xfrm>
          <a:prstGeom prst="rect">
            <a:avLst/>
          </a:prstGeom>
          <a:noFill/>
          <a:ln/>
        </p:spPr>
        <p:txBody>
          <a:bodyPr wrap="square" lIns="0" tIns="0" rIns="0" bIns="0" rtlCol="0" anchor="ctr"/>
          <a:lstStyle/>
          <a:p>
            <a:pPr algn="ctr" indent="0" marL="0">
              <a:buNone/>
            </a:pPr>
            <a:r>
              <a:rPr lang="en-US" sz="1500" b="1" dirty="0">
                <a:solidFill>
                  <a:srgbClr val="3D8C5A"/>
                </a:solidFill>
                <a:latin typeface="Calibri" pitchFamily="34" charset="0"/>
                <a:ea typeface="Calibri" pitchFamily="34" charset="-122"/>
                <a:cs typeface="Calibri" pitchFamily="34" charset="-120"/>
              </a:rPr>
              <a:t>7 · Goedemiddag, meneer Janssens!</a:t>
            </a:r>
            <a:r>
              <a:rPr lang="en-US" sz="1500" i="1" dirty="0">
                <a:solidFill>
                  <a:srgbClr val="6B7280"/>
                </a:solidFill>
                <a:latin typeface="Calibri" pitchFamily="34" charset="0"/>
                <a:ea typeface="Calibri" pitchFamily="34" charset="-122"/>
                <a:cs typeface="Calibri" pitchFamily="34" charset="-120"/>
              </a:rPr>
              <a:t>   Bonjour, Monsieur !</a:t>
            </a:r>
            <a:r>
              <a:rPr lang="en-US" sz="1200" dirty="0">
                <a:solidFill>
                  <a:srgbClr val="9AA3B2"/>
                </a:solidFill>
                <a:latin typeface="Calibri" pitchFamily="34" charset="0"/>
                <a:ea typeface="Calibri" pitchFamily="34" charset="-122"/>
                <a:cs typeface="Calibri" pitchFamily="34" charset="-120"/>
              </a:rPr>
              <a:t>   ·   syllabus 1.2 · p. 21</a:t>
            </a:r>
            <a:endParaRPr lang="en-US" sz="1500" dirty="0"/>
          </a:p>
        </p:txBody>
      </p:sp>
      <p:sp>
        <p:nvSpPr>
          <p:cNvPr id="7" name="Shape 4"/>
          <p:cNvSpPr/>
          <p:nvPr/>
        </p:nvSpPr>
        <p:spPr>
          <a:xfrm>
            <a:off x="1596085" y="1504645"/>
            <a:ext cx="4534510" cy="2905735"/>
          </a:xfrm>
          <a:prstGeom prst="roundRect">
            <a:avLst>
              <a:gd name="adj" fmla="val 1259"/>
            </a:avLst>
          </a:prstGeom>
          <a:solidFill>
            <a:srgbClr val="FFFFFF"/>
          </a:solidFill>
          <a:ln w="9525">
            <a:solidFill>
              <a:srgbClr val="E3E7EE"/>
            </a:solidFill>
            <a:prstDash val="solid"/>
          </a:ln>
          <a:effectLst>
            <a:outerShdw sx="100000" sy="100000" kx="0" ky="0" algn="bl" rotWithShape="0" blurRad="127000" dist="50800" dir="5400000">
              <a:srgbClr val="1B2430">
                <a:alpha val="25000"/>
              </a:srgbClr>
            </a:outerShdw>
          </a:effectLst>
        </p:spPr>
      </p:sp>
      <p:pic>
        <p:nvPicPr>
          <p:cNvPr id="8" name="Image 0" descr="/home/user/talenleren/neerlandais1/generateur/img/vijfzinnen/a1_janssens_s.jpg">    </p:cNvPr>
          <p:cNvPicPr>
            <a:picLocks noChangeAspect="1"/>
          </p:cNvPicPr>
          <p:nvPr/>
        </p:nvPicPr>
        <p:blipFill>
          <a:blip r:embed="rId1"/>
          <a:stretch>
            <a:fillRect/>
          </a:stretch>
        </p:blipFill>
        <p:spPr>
          <a:xfrm>
            <a:off x="1691640" y="1600200"/>
            <a:ext cx="4343400" cy="2714625"/>
          </a:xfrm>
          <a:prstGeom prst="rect">
            <a:avLst/>
          </a:prstGeom>
        </p:spPr>
      </p:pic>
      <p:sp>
        <p:nvSpPr>
          <p:cNvPr id="9" name="Shape 5"/>
          <p:cNvSpPr/>
          <p:nvPr/>
        </p:nvSpPr>
        <p:spPr>
          <a:xfrm>
            <a:off x="1691640" y="4572000"/>
            <a:ext cx="1600200" cy="365760"/>
          </a:xfrm>
          <a:prstGeom prst="roundRect">
            <a:avLst>
              <a:gd name="adj" fmla="val 50000"/>
            </a:avLst>
          </a:prstGeom>
          <a:solidFill>
            <a:srgbClr val="FDF1E6"/>
          </a:solidFill>
          <a:ln w="12700">
            <a:solidFill>
              <a:srgbClr val="D9822B"/>
            </a:solidFill>
            <a:prstDash val="solid"/>
          </a:ln>
        </p:spPr>
      </p:sp>
      <p:pic>
        <p:nvPicPr>
          <p:cNvPr id="10" name="Image 1" descr="Comments">    </p:cNvPr>
          <p:cNvPicPr>
            <a:picLocks noChangeAspect="1"/>
          </p:cNvPicPr>
          <p:nvPr/>
        </p:nvPicPr>
        <p:blipFill>
          <a:blip r:embed="rId2"/>
          <a:stretch>
            <a:fillRect/>
          </a:stretch>
        </p:blipFill>
        <p:spPr>
          <a:xfrm>
            <a:off x="1819656" y="4654296"/>
            <a:ext cx="201168" cy="201168"/>
          </a:xfrm>
          <a:prstGeom prst="rect">
            <a:avLst/>
          </a:prstGeom>
        </p:spPr>
      </p:pic>
      <p:sp>
        <p:nvSpPr>
          <p:cNvPr id="11" name="Text 6"/>
          <p:cNvSpPr txBox="1"/>
          <p:nvPr/>
        </p:nvSpPr>
        <p:spPr>
          <a:xfrm>
            <a:off x="2075688" y="4572000"/>
            <a:ext cx="1143000" cy="365760"/>
          </a:xfrm>
          <a:prstGeom prst="rect">
            <a:avLst/>
          </a:prstGeom>
          <a:noFill/>
          <a:ln/>
        </p:spPr>
        <p:txBody>
          <a:bodyPr wrap="square" lIns="0" tIns="0" rIns="0" bIns="0" rtlCol="0" anchor="ctr"/>
          <a:lstStyle/>
          <a:p>
            <a:pPr algn="l" indent="0" marL="0">
              <a:buNone/>
            </a:pPr>
            <a:r>
              <a:rPr lang="en-US" sz="1150" b="1" spc="100" kern="0" dirty="0">
                <a:solidFill>
                  <a:srgbClr val="D9822B"/>
                </a:solidFill>
                <a:latin typeface="Calibri" pitchFamily="34" charset="0"/>
                <a:ea typeface="Calibri" pitchFamily="34" charset="-122"/>
                <a:cs typeface="Calibri" pitchFamily="34" charset="-120"/>
              </a:rPr>
              <a:t>À L’ORAL</a:t>
            </a:r>
            <a:endParaRPr lang="en-US" sz="1150" dirty="0"/>
          </a:p>
        </p:txBody>
      </p:sp>
      <p:sp>
        <p:nvSpPr>
          <p:cNvPr id="12" name="Text 7"/>
          <p:cNvSpPr txBox="1"/>
          <p:nvPr/>
        </p:nvSpPr>
        <p:spPr>
          <a:xfrm>
            <a:off x="3429000" y="4544568"/>
            <a:ext cx="2651760" cy="731520"/>
          </a:xfrm>
          <a:prstGeom prst="rect">
            <a:avLst/>
          </a:prstGeom>
          <a:noFill/>
          <a:ln/>
        </p:spPr>
        <p:txBody>
          <a:bodyPr wrap="square" lIns="0" tIns="0" rIns="0" bIns="0" rtlCol="0" anchor="t"/>
          <a:lstStyle/>
          <a:p>
            <a:pPr algn="l" indent="0" marL="0">
              <a:buNone/>
            </a:pPr>
            <a:r>
              <a:rPr lang="en-US" sz="1150" i="1" dirty="0">
                <a:solidFill>
                  <a:srgbClr val="6B7280"/>
                </a:solidFill>
                <a:latin typeface="Calibri" pitchFamily="34" charset="0"/>
                <a:ea typeface="Calibri" pitchFamily="34" charset="-122"/>
                <a:cs typeface="Calibri" pitchFamily="34" charset="-120"/>
              </a:rPr>
              <a:t>Pieter croise son professeur, meneer Janssens. Il le vouvoie (U).</a:t>
            </a:r>
            <a:endParaRPr lang="en-US" sz="1150" dirty="0"/>
          </a:p>
        </p:txBody>
      </p:sp>
      <p:sp>
        <p:nvSpPr>
          <p:cNvPr id="13" name="Shape 8"/>
          <p:cNvSpPr/>
          <p:nvPr/>
        </p:nvSpPr>
        <p:spPr>
          <a:xfrm>
            <a:off x="6355080" y="1673352"/>
            <a:ext cx="914400" cy="402336"/>
          </a:xfrm>
          <a:prstGeom prst="roundRect">
            <a:avLst>
              <a:gd name="adj" fmla="val 13636"/>
            </a:avLst>
          </a:prstGeom>
          <a:solidFill>
            <a:srgbClr val="5FA873"/>
          </a:solidFill>
          <a:ln w="12700">
            <a:solidFill>
              <a:srgbClr val="FFFFFF">
                <a:alpha val="0"/>
              </a:srgbClr>
            </a:solidFill>
            <a:prstDash val="solid"/>
          </a:ln>
        </p:spPr>
      </p:sp>
      <p:sp>
        <p:nvSpPr>
          <p:cNvPr id="14" name="Text 9"/>
          <p:cNvSpPr txBox="1"/>
          <p:nvPr/>
        </p:nvSpPr>
        <p:spPr>
          <a:xfrm>
            <a:off x="6355080" y="167335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1</a:t>
            </a:r>
            <a:endParaRPr lang="en-US" sz="1600" dirty="0"/>
          </a:p>
        </p:txBody>
      </p:sp>
      <p:sp>
        <p:nvSpPr>
          <p:cNvPr id="15" name="Text 10"/>
          <p:cNvSpPr txBox="1"/>
          <p:nvPr/>
        </p:nvSpPr>
        <p:spPr>
          <a:xfrm>
            <a:off x="7406640" y="1618488"/>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Saluez poliment : </a:t>
            </a:r>
            <a:r>
              <a:rPr lang="en-US" sz="1450" b="1" dirty="0">
                <a:solidFill>
                  <a:srgbClr val="2B2F38"/>
                </a:solidFill>
              </a:rPr>
              <a:t>GOEDEMIDDAG, MENEER</a:t>
            </a:r>
            <a:r>
              <a:rPr lang="en-US" sz="1450" dirty="0">
                <a:solidFill>
                  <a:srgbClr val="2B2F38"/>
                </a:solidFill>
              </a:rPr>
              <a:t> + nom.</a:t>
            </a:r>
            <a:endParaRPr lang="en-US" sz="1450" dirty="0"/>
          </a:p>
        </p:txBody>
      </p:sp>
      <p:sp>
        <p:nvSpPr>
          <p:cNvPr id="16" name="Shape 11"/>
          <p:cNvSpPr/>
          <p:nvPr/>
        </p:nvSpPr>
        <p:spPr>
          <a:xfrm>
            <a:off x="6355080" y="2404872"/>
            <a:ext cx="914400" cy="402336"/>
          </a:xfrm>
          <a:prstGeom prst="roundRect">
            <a:avLst>
              <a:gd name="adj" fmla="val 13636"/>
            </a:avLst>
          </a:prstGeom>
          <a:solidFill>
            <a:srgbClr val="5FA873"/>
          </a:solidFill>
          <a:ln w="12700">
            <a:solidFill>
              <a:srgbClr val="FFFFFF">
                <a:alpha val="0"/>
              </a:srgbClr>
            </a:solidFill>
            <a:prstDash val="solid"/>
          </a:ln>
        </p:spPr>
      </p:sp>
      <p:sp>
        <p:nvSpPr>
          <p:cNvPr id="17" name="Text 12"/>
          <p:cNvSpPr txBox="1"/>
          <p:nvPr/>
        </p:nvSpPr>
        <p:spPr>
          <a:xfrm>
            <a:off x="6355080" y="240487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2</a:t>
            </a:r>
            <a:endParaRPr lang="en-US" sz="1600" dirty="0"/>
          </a:p>
        </p:txBody>
      </p:sp>
      <p:sp>
        <p:nvSpPr>
          <p:cNvPr id="18" name="Text 13"/>
          <p:cNvSpPr txBox="1"/>
          <p:nvPr/>
        </p:nvSpPr>
        <p:spPr>
          <a:xfrm>
            <a:off x="7406640" y="2350008"/>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Vouvoyez : </a:t>
            </a:r>
            <a:r>
              <a:rPr lang="en-US" sz="1450" b="1" dirty="0">
                <a:solidFill>
                  <a:srgbClr val="2B2F38"/>
                </a:solidFill>
              </a:rPr>
              <a:t>HOE GAAT HET MET U?</a:t>
            </a:r>
            <a:endParaRPr lang="en-US" sz="1450" dirty="0"/>
          </a:p>
        </p:txBody>
      </p:sp>
      <p:sp>
        <p:nvSpPr>
          <p:cNvPr id="19" name="Shape 14"/>
          <p:cNvSpPr/>
          <p:nvPr/>
        </p:nvSpPr>
        <p:spPr>
          <a:xfrm>
            <a:off x="6355080" y="3136392"/>
            <a:ext cx="914400" cy="402336"/>
          </a:xfrm>
          <a:prstGeom prst="roundRect">
            <a:avLst>
              <a:gd name="adj" fmla="val 13636"/>
            </a:avLst>
          </a:prstGeom>
          <a:solidFill>
            <a:srgbClr val="5FA873"/>
          </a:solidFill>
          <a:ln w="12700">
            <a:solidFill>
              <a:srgbClr val="FFFFFF">
                <a:alpha val="0"/>
              </a:srgbClr>
            </a:solidFill>
            <a:prstDash val="solid"/>
          </a:ln>
        </p:spPr>
      </p:sp>
      <p:sp>
        <p:nvSpPr>
          <p:cNvPr id="20" name="Text 15"/>
          <p:cNvSpPr txBox="1"/>
          <p:nvPr/>
        </p:nvSpPr>
        <p:spPr>
          <a:xfrm>
            <a:off x="6355080" y="313639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3</a:t>
            </a:r>
            <a:endParaRPr lang="en-US" sz="1600" dirty="0"/>
          </a:p>
        </p:txBody>
      </p:sp>
      <p:sp>
        <p:nvSpPr>
          <p:cNvPr id="21" name="Text 16"/>
          <p:cNvSpPr txBox="1"/>
          <p:nvPr/>
        </p:nvSpPr>
        <p:spPr>
          <a:xfrm>
            <a:off x="7406640" y="3081528"/>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Répondez avec une raison : </a:t>
            </a:r>
            <a:r>
              <a:rPr lang="en-US" sz="1450" b="1" dirty="0">
                <a:solidFill>
                  <a:srgbClr val="2B2F38"/>
                </a:solidFill>
              </a:rPr>
              <a:t>WANT</a:t>
            </a:r>
            <a:r>
              <a:rPr lang="en-US" sz="1450" dirty="0">
                <a:solidFill>
                  <a:srgbClr val="2B2F38"/>
                </a:solidFill>
              </a:rPr>
              <a:t> + ik heb…</a:t>
            </a:r>
            <a:endParaRPr lang="en-US" sz="1450" dirty="0"/>
          </a:p>
        </p:txBody>
      </p:sp>
      <p:sp>
        <p:nvSpPr>
          <p:cNvPr id="22" name="Shape 17"/>
          <p:cNvSpPr/>
          <p:nvPr/>
        </p:nvSpPr>
        <p:spPr>
          <a:xfrm>
            <a:off x="6355080" y="3867912"/>
            <a:ext cx="914400" cy="402336"/>
          </a:xfrm>
          <a:prstGeom prst="roundRect">
            <a:avLst>
              <a:gd name="adj" fmla="val 13636"/>
            </a:avLst>
          </a:prstGeom>
          <a:solidFill>
            <a:srgbClr val="5FA873"/>
          </a:solidFill>
          <a:ln w="12700">
            <a:solidFill>
              <a:srgbClr val="FFFFFF">
                <a:alpha val="0"/>
              </a:srgbClr>
            </a:solidFill>
            <a:prstDash val="solid"/>
          </a:ln>
        </p:spPr>
      </p:sp>
      <p:sp>
        <p:nvSpPr>
          <p:cNvPr id="23" name="Text 18"/>
          <p:cNvSpPr txBox="1"/>
          <p:nvPr/>
        </p:nvSpPr>
        <p:spPr>
          <a:xfrm>
            <a:off x="6355080" y="386791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4</a:t>
            </a:r>
            <a:endParaRPr lang="en-US" sz="1600" dirty="0"/>
          </a:p>
        </p:txBody>
      </p:sp>
      <p:sp>
        <p:nvSpPr>
          <p:cNvPr id="24" name="Text 19"/>
          <p:cNvSpPr txBox="1"/>
          <p:nvPr/>
        </p:nvSpPr>
        <p:spPr>
          <a:xfrm>
            <a:off x="7406640" y="3813048"/>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Prenez congé : </a:t>
            </a:r>
            <a:r>
              <a:rPr lang="en-US" sz="1450" b="1" dirty="0">
                <a:solidFill>
                  <a:srgbClr val="2B2F38"/>
                </a:solidFill>
              </a:rPr>
              <a:t>TOT STRAKS!</a:t>
            </a:r>
            <a:r>
              <a:rPr lang="en-US" sz="1450" dirty="0">
                <a:solidFill>
                  <a:srgbClr val="2B2F38"/>
                </a:solidFill>
              </a:rPr>
              <a:t> ou </a:t>
            </a:r>
            <a:r>
              <a:rPr lang="en-US" sz="1450" b="1" dirty="0">
                <a:solidFill>
                  <a:srgbClr val="2B2F38"/>
                </a:solidFill>
              </a:rPr>
              <a:t>TOT ZIENS!</a:t>
            </a:r>
            <a:endParaRPr lang="en-US" sz="1450" dirty="0"/>
          </a:p>
        </p:txBody>
      </p:sp>
      <p:sp>
        <p:nvSpPr>
          <p:cNvPr id="25" name="Shape 20"/>
          <p:cNvSpPr/>
          <p:nvPr/>
        </p:nvSpPr>
        <p:spPr>
          <a:xfrm>
            <a:off x="3246120" y="5440680"/>
            <a:ext cx="6858000" cy="822960"/>
          </a:xfrm>
          <a:prstGeom prst="roundRect">
            <a:avLst>
              <a:gd name="adj" fmla="val 17778"/>
            </a:avLst>
          </a:prstGeom>
          <a:solidFill>
            <a:srgbClr val="EAF5EC"/>
          </a:solidFill>
          <a:ln w="15875">
            <a:solidFill>
              <a:srgbClr val="5FA873"/>
            </a:solidFill>
            <a:prstDash val="solid"/>
          </a:ln>
        </p:spPr>
      </p:sp>
      <p:pic>
        <p:nvPicPr>
          <p:cNvPr id="26" name="Image 2" descr="UserFriends">    </p:cNvPr>
          <p:cNvPicPr>
            <a:picLocks noChangeAspect="1"/>
          </p:cNvPicPr>
          <p:nvPr/>
        </p:nvPicPr>
        <p:blipFill>
          <a:blip r:embed="rId3"/>
          <a:stretch>
            <a:fillRect/>
          </a:stretch>
        </p:blipFill>
        <p:spPr>
          <a:xfrm>
            <a:off x="3520440" y="5660136"/>
            <a:ext cx="384048" cy="384048"/>
          </a:xfrm>
          <a:prstGeom prst="rect">
            <a:avLst/>
          </a:prstGeom>
        </p:spPr>
      </p:pic>
      <p:sp>
        <p:nvSpPr>
          <p:cNvPr id="27" name="Text 21"/>
          <p:cNvSpPr txBox="1"/>
          <p:nvPr/>
        </p:nvSpPr>
        <p:spPr>
          <a:xfrm>
            <a:off x="4114800" y="5440680"/>
            <a:ext cx="5852160" cy="822960"/>
          </a:xfrm>
          <a:prstGeom prst="rect">
            <a:avLst/>
          </a:prstGeom>
          <a:noFill/>
          <a:ln/>
        </p:spPr>
        <p:txBody>
          <a:bodyPr wrap="square" lIns="0" tIns="0" rIns="0" bIns="0" rtlCol="0" anchor="ctr"/>
          <a:lstStyle/>
          <a:p>
            <a:pPr algn="ctr" indent="0" marL="0">
              <a:buNone/>
            </a:pPr>
            <a:r>
              <a:rPr lang="en-US" sz="1800" b="1" dirty="0">
                <a:solidFill>
                  <a:srgbClr val="2E6B44"/>
                </a:solidFill>
                <a:latin typeface="Calibri" pitchFamily="34" charset="0"/>
                <a:ea typeface="Calibri" pitchFamily="34" charset="-122"/>
                <a:cs typeface="Calibri" pitchFamily="34" charset="-120"/>
              </a:rPr>
              <a:t>Vertel je verhaal aan je partner.</a:t>
            </a:r>
            <a:endParaRPr lang="en-US" sz="1800" dirty="0"/>
          </a:p>
          <a:p>
            <a:pPr algn="ctr" indent="0" marL="0">
              <a:buNone/>
            </a:pPr>
            <a:r>
              <a:rPr lang="en-US" sz="1800" b="1" dirty="0">
                <a:solidFill>
                  <a:srgbClr val="2E6B44"/>
                </a:solidFill>
                <a:latin typeface="Calibri" pitchFamily="34" charset="0"/>
                <a:ea typeface="Calibri" pitchFamily="34" charset="-122"/>
                <a:cs typeface="Calibri" pitchFamily="34" charset="-120"/>
              </a:rPr>
              <a:t>Wat denkt hij/zij daarvan?</a:t>
            </a:r>
            <a:endParaRPr lang="en-US" sz="1800" dirty="0"/>
          </a:p>
        </p:txBody>
      </p:sp>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1" type="title" hasCustomPrompt="1"/>
          </p:nvPr>
        </p:nvSpPr>
        <p:spPr>
          <a:xfrm>
            <a:off x="1554480" y="384048"/>
            <a:ext cx="10241280" cy="658368"/>
          </a:xfrm>
          <a:prstGeom prst="rect">
            <a:avLst/>
          </a:prstGeom>
          <a:noFill/>
          <a:ln/>
        </p:spPr>
        <p:txBody>
          <a:bodyPr wrap="square" lIns="0" tIns="0" rIns="0" bIns="0" rtlCol="0" anchor="ctr"/>
          <a:lstStyle/>
          <a:p>
            <a:pPr algn="ctr" indent="0" marL="0">
              <a:buNone/>
            </a:pPr>
            <a:r>
              <a:rPr lang="en-US" sz="3000" b="1" dirty="0">
                <a:solidFill>
                  <a:srgbClr val="2B2F38"/>
                </a:solidFill>
              </a:rPr>
              <a:t>Goedemiddag, meneer Janssens!</a:t>
            </a:r>
            <a:endParaRPr lang="en-US" sz="3000" dirty="0"/>
          </a:p>
        </p:txBody>
      </p:sp>
      <p:sp>
        <p:nvSpPr>
          <p:cNvPr id="4" name="Shape 1"/>
          <p:cNvSpPr/>
          <p:nvPr/>
        </p:nvSpPr>
        <p:spPr>
          <a:xfrm>
            <a:off x="365760" y="365760"/>
            <a:ext cx="868680" cy="5989320"/>
          </a:xfrm>
          <a:prstGeom prst="roundRect">
            <a:avLst>
              <a:gd name="adj" fmla="val 12632"/>
            </a:avLst>
          </a:prstGeom>
          <a:solidFill>
            <a:srgbClr val="E6F4EA"/>
          </a:solidFill>
          <a:ln w="28575">
            <a:solidFill>
              <a:srgbClr val="6DBE8A"/>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3D8C5A"/>
                </a:solidFill>
                <a:latin typeface="Calibri" pitchFamily="34" charset="0"/>
                <a:ea typeface="Calibri" pitchFamily="34" charset="-122"/>
                <a:cs typeface="Calibri" pitchFamily="34" charset="-120"/>
              </a:rPr>
              <a:t>A1 · Premiers pas</a:t>
            </a:r>
            <a:endParaRPr lang="en-US" sz="3800" dirty="0"/>
          </a:p>
        </p:txBody>
      </p:sp>
      <p:sp>
        <p:nvSpPr>
          <p:cNvPr id="6" name="Shape 3"/>
          <p:cNvSpPr/>
          <p:nvPr/>
        </p:nvSpPr>
        <p:spPr>
          <a:xfrm>
            <a:off x="2519172" y="1124712"/>
            <a:ext cx="8311896" cy="5277231"/>
          </a:xfrm>
          <a:prstGeom prst="roundRect">
            <a:avLst>
              <a:gd name="adj" fmla="val 693"/>
            </a:avLst>
          </a:prstGeom>
          <a:solidFill>
            <a:srgbClr val="FFFFFF"/>
          </a:solidFill>
          <a:ln w="9525">
            <a:solidFill>
              <a:srgbClr val="E3E7EE"/>
            </a:solidFill>
            <a:prstDash val="solid"/>
          </a:ln>
          <a:effectLst>
            <a:outerShdw sx="100000" sy="100000" kx="0" ky="0" algn="bl" rotWithShape="0" blurRad="177800" dist="63500" dir="5400000">
              <a:srgbClr val="1B2430">
                <a:alpha val="25000"/>
              </a:srgbClr>
            </a:outerShdw>
          </a:effectLst>
        </p:spPr>
      </p:sp>
      <p:pic>
        <p:nvPicPr>
          <p:cNvPr id="7" name="Image 0" descr="/home/user/talenleren/neerlandais1/generateur/img/vijfzinnen/a1_janssens.jpg">    </p:cNvPr>
          <p:cNvPicPr>
            <a:picLocks noChangeAspect="1"/>
          </p:cNvPicPr>
          <p:nvPr/>
        </p:nvPicPr>
        <p:blipFill>
          <a:blip r:embed="rId1"/>
          <a:stretch>
            <a:fillRect/>
          </a:stretch>
        </p:blipFill>
        <p:spPr>
          <a:xfrm>
            <a:off x="2628900" y="1234440"/>
            <a:ext cx="8092440" cy="5057775"/>
          </a:xfrm>
          <a:prstGeom prst="rect">
            <a:avLst/>
          </a:prstGeom>
        </p:spPr>
      </p:pic>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p:nvPr>
            <p:ph idx="101" type="title" hasCustomPrompt="1"/>
          </p:nvPr>
        </p:nvSpPr>
        <p:spPr>
          <a:xfrm>
            <a:off x="1691640" y="347472"/>
            <a:ext cx="8138160" cy="914400"/>
          </a:xfrm>
          <a:prstGeom prst="rect">
            <a:avLst/>
          </a:prstGeom>
          <a:noFill/>
          <a:ln/>
        </p:spPr>
        <p:txBody>
          <a:bodyPr wrap="square" lIns="0" tIns="0" rIns="0" bIns="0" rtlCol="0" anchor="ctr"/>
          <a:lstStyle/>
          <a:p>
            <a:pPr algn="l" indent="0" marL="0">
              <a:buNone/>
            </a:pPr>
            <a:r>
              <a:rPr lang="en-US" sz="2400" b="1" dirty="0">
                <a:solidFill>
                  <a:srgbClr val="2B2F38"/>
                </a:solidFill>
              </a:rPr>
              <a:t>Hier is een voorbeeld van wat je had kunnen denken en zeggen…</a:t>
            </a:r>
            <a:endParaRPr lang="en-US" sz="2400" dirty="0"/>
          </a:p>
        </p:txBody>
      </p:sp>
      <p:sp>
        <p:nvSpPr>
          <p:cNvPr id="4" name="Shape 1"/>
          <p:cNvSpPr/>
          <p:nvPr/>
        </p:nvSpPr>
        <p:spPr>
          <a:xfrm>
            <a:off x="365760" y="365760"/>
            <a:ext cx="868680" cy="5989320"/>
          </a:xfrm>
          <a:prstGeom prst="roundRect">
            <a:avLst>
              <a:gd name="adj" fmla="val 12632"/>
            </a:avLst>
          </a:prstGeom>
          <a:solidFill>
            <a:srgbClr val="E6F4EA"/>
          </a:solidFill>
          <a:ln w="28575">
            <a:solidFill>
              <a:srgbClr val="6DBE8A"/>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3D8C5A"/>
                </a:solidFill>
                <a:latin typeface="Calibri" pitchFamily="34" charset="0"/>
                <a:ea typeface="Calibri" pitchFamily="34" charset="-122"/>
                <a:cs typeface="Calibri" pitchFamily="34" charset="-120"/>
              </a:rPr>
              <a:t>A1 · Premiers pas</a:t>
            </a:r>
            <a:endParaRPr lang="en-US" sz="3800" dirty="0"/>
          </a:p>
        </p:txBody>
      </p:sp>
      <p:sp>
        <p:nvSpPr>
          <p:cNvPr id="6" name="Shape 3"/>
          <p:cNvSpPr/>
          <p:nvPr/>
        </p:nvSpPr>
        <p:spPr>
          <a:xfrm>
            <a:off x="10058400" y="246888"/>
            <a:ext cx="1691640" cy="1091565"/>
          </a:xfrm>
          <a:prstGeom prst="roundRect">
            <a:avLst>
              <a:gd name="adj" fmla="val 3351"/>
            </a:avLst>
          </a:prstGeom>
          <a:solidFill>
            <a:srgbClr val="FFFFFF"/>
          </a:solidFill>
          <a:ln w="9525">
            <a:solidFill>
              <a:srgbClr val="E3E7EE"/>
            </a:solidFill>
            <a:prstDash val="solid"/>
          </a:ln>
          <a:effectLst>
            <a:outerShdw sx="100000" sy="100000" kx="0" ky="0" algn="bl" rotWithShape="0" blurRad="76200" dist="25400" dir="5400000">
              <a:srgbClr val="1B2430">
                <a:alpha val="25000"/>
              </a:srgbClr>
            </a:outerShdw>
          </a:effectLst>
        </p:spPr>
      </p:sp>
      <p:pic>
        <p:nvPicPr>
          <p:cNvPr id="7" name="Image 0" descr="/home/user/talenleren/neerlandais1/generateur/img/vijfzinnen/a1_janssens_s.jpg">    </p:cNvPr>
          <p:cNvPicPr>
            <a:picLocks noChangeAspect="1"/>
          </p:cNvPicPr>
          <p:nvPr/>
        </p:nvPicPr>
        <p:blipFill>
          <a:blip r:embed="rId1"/>
          <a:stretch>
            <a:fillRect/>
          </a:stretch>
        </p:blipFill>
        <p:spPr>
          <a:xfrm>
            <a:off x="10104120" y="292608"/>
            <a:ext cx="1600200" cy="1000125"/>
          </a:xfrm>
          <a:prstGeom prst="rect">
            <a:avLst/>
          </a:prstGeom>
        </p:spPr>
      </p:pic>
      <p:sp>
        <p:nvSpPr>
          <p:cNvPr id="8" name="Text 4"/>
          <p:cNvSpPr txBox="1"/>
          <p:nvPr/>
        </p:nvSpPr>
        <p:spPr>
          <a:xfrm>
            <a:off x="1691640" y="2389022"/>
            <a:ext cx="1024738" cy="396240"/>
          </a:xfrm>
          <a:prstGeom prst="rect">
            <a:avLst/>
          </a:prstGeom>
          <a:noFill/>
          <a:ln/>
        </p:spPr>
        <p:txBody>
          <a:bodyPr wrap="none" lIns="0" tIns="0" rIns="0" bIns="0" rtlCol="0" anchor="ctr"/>
          <a:lstStyle/>
          <a:p>
            <a:pPr algn="l" indent="0" marL="0">
              <a:buNone/>
            </a:pPr>
            <a:r>
              <a:rPr lang="en-US" sz="2400" b="1" dirty="0">
                <a:solidFill>
                  <a:srgbClr val="6B7280"/>
                </a:solidFill>
                <a:latin typeface="Calibri" pitchFamily="34" charset="0"/>
                <a:ea typeface="Calibri" pitchFamily="34" charset="-122"/>
                <a:cs typeface="Calibri" pitchFamily="34" charset="-120"/>
              </a:rPr>
              <a:t>Pieter:</a:t>
            </a:r>
            <a:endParaRPr lang="en-US" sz="2400" dirty="0"/>
          </a:p>
        </p:txBody>
      </p:sp>
      <p:sp>
        <p:nvSpPr>
          <p:cNvPr id="9" name="Shape 5"/>
          <p:cNvSpPr/>
          <p:nvPr/>
        </p:nvSpPr>
        <p:spPr>
          <a:xfrm>
            <a:off x="2620670" y="2401214"/>
            <a:ext cx="4158082" cy="371856"/>
          </a:xfrm>
          <a:prstGeom prst="roundRect">
            <a:avLst>
              <a:gd name="adj" fmla="val 12295"/>
            </a:avLst>
          </a:prstGeom>
          <a:solidFill>
            <a:srgbClr val="E6F3DA"/>
          </a:solidFill>
          <a:ln w="12700">
            <a:solidFill>
              <a:srgbClr val="FFFFFF">
                <a:alpha val="0"/>
              </a:srgbClr>
            </a:solidFill>
            <a:prstDash val="solid"/>
          </a:ln>
        </p:spPr>
      </p:sp>
      <p:sp>
        <p:nvSpPr>
          <p:cNvPr id="10" name="Text 6"/>
          <p:cNvSpPr txBox="1"/>
          <p:nvPr/>
        </p:nvSpPr>
        <p:spPr>
          <a:xfrm>
            <a:off x="2620670" y="2389022"/>
            <a:ext cx="4158082"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Goedemiddag, meneer Janssens</a:t>
            </a:r>
            <a:endParaRPr lang="en-US" sz="2400" dirty="0"/>
          </a:p>
        </p:txBody>
      </p:sp>
      <p:sp>
        <p:nvSpPr>
          <p:cNvPr id="11" name="Text 7"/>
          <p:cNvSpPr txBox="1"/>
          <p:nvPr/>
        </p:nvSpPr>
        <p:spPr>
          <a:xfrm>
            <a:off x="6778752" y="2389022"/>
            <a:ext cx="282245"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a:t>
            </a:r>
            <a:endParaRPr lang="en-US" sz="2400" dirty="0"/>
          </a:p>
        </p:txBody>
      </p:sp>
      <p:sp>
        <p:nvSpPr>
          <p:cNvPr id="12" name="Shape 8"/>
          <p:cNvSpPr/>
          <p:nvPr/>
        </p:nvSpPr>
        <p:spPr>
          <a:xfrm>
            <a:off x="6965290" y="2401214"/>
            <a:ext cx="2662428" cy="371856"/>
          </a:xfrm>
          <a:prstGeom prst="roundRect">
            <a:avLst>
              <a:gd name="adj" fmla="val 12295"/>
            </a:avLst>
          </a:prstGeom>
          <a:solidFill>
            <a:srgbClr val="E6F3DA"/>
          </a:solidFill>
          <a:ln w="12700">
            <a:solidFill>
              <a:srgbClr val="FFFFFF">
                <a:alpha val="0"/>
              </a:srgbClr>
            </a:solidFill>
            <a:prstDash val="solid"/>
          </a:ln>
        </p:spPr>
      </p:sp>
      <p:sp>
        <p:nvSpPr>
          <p:cNvPr id="13" name="Text 9"/>
          <p:cNvSpPr txBox="1"/>
          <p:nvPr/>
        </p:nvSpPr>
        <p:spPr>
          <a:xfrm>
            <a:off x="6965290" y="2389022"/>
            <a:ext cx="2662428"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Hoe gaat het met u?</a:t>
            </a:r>
            <a:endParaRPr lang="en-US" sz="2400" dirty="0"/>
          </a:p>
        </p:txBody>
      </p:sp>
      <p:sp>
        <p:nvSpPr>
          <p:cNvPr id="14" name="Shape 10"/>
          <p:cNvSpPr/>
          <p:nvPr/>
        </p:nvSpPr>
        <p:spPr>
          <a:xfrm>
            <a:off x="4699711" y="2325014"/>
            <a:ext cx="914" cy="76200"/>
          </a:xfrm>
          <a:prstGeom prst="line">
            <a:avLst/>
          </a:prstGeom>
          <a:noFill/>
          <a:ln w="15875">
            <a:solidFill>
              <a:srgbClr val="7AB648"/>
            </a:solidFill>
            <a:prstDash val="solid"/>
          </a:ln>
        </p:spPr>
      </p:sp>
      <p:sp>
        <p:nvSpPr>
          <p:cNvPr id="15" name="Shape 11"/>
          <p:cNvSpPr/>
          <p:nvPr/>
        </p:nvSpPr>
        <p:spPr>
          <a:xfrm>
            <a:off x="4131558" y="2078126"/>
            <a:ext cx="1136307" cy="246888"/>
          </a:xfrm>
          <a:prstGeom prst="roundRect">
            <a:avLst>
              <a:gd name="adj" fmla="val 14815"/>
            </a:avLst>
          </a:prstGeom>
          <a:solidFill>
            <a:srgbClr val="7AB648"/>
          </a:solidFill>
          <a:ln w="12700">
            <a:solidFill>
              <a:srgbClr val="FFFFFF">
                <a:alpha val="0"/>
              </a:srgbClr>
            </a:solidFill>
            <a:prstDash val="solid"/>
          </a:ln>
        </p:spPr>
      </p:sp>
      <p:sp>
        <p:nvSpPr>
          <p:cNvPr id="16" name="Text 12"/>
          <p:cNvSpPr txBox="1"/>
          <p:nvPr/>
        </p:nvSpPr>
        <p:spPr>
          <a:xfrm>
            <a:off x="4131558" y="2078126"/>
            <a:ext cx="1136307"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GOEDEMIDDAG</a:t>
            </a:r>
            <a:endParaRPr lang="en-US" sz="1100" dirty="0"/>
          </a:p>
        </p:txBody>
      </p:sp>
      <p:sp>
        <p:nvSpPr>
          <p:cNvPr id="17" name="Shape 13"/>
          <p:cNvSpPr/>
          <p:nvPr/>
        </p:nvSpPr>
        <p:spPr>
          <a:xfrm>
            <a:off x="8296504" y="2325014"/>
            <a:ext cx="914" cy="76200"/>
          </a:xfrm>
          <a:prstGeom prst="line">
            <a:avLst/>
          </a:prstGeom>
          <a:noFill/>
          <a:ln w="15875">
            <a:solidFill>
              <a:srgbClr val="7AB648"/>
            </a:solidFill>
            <a:prstDash val="solid"/>
          </a:ln>
        </p:spPr>
      </p:sp>
      <p:sp>
        <p:nvSpPr>
          <p:cNvPr id="18" name="Shape 14"/>
          <p:cNvSpPr/>
          <p:nvPr/>
        </p:nvSpPr>
        <p:spPr>
          <a:xfrm>
            <a:off x="7995666" y="2078126"/>
            <a:ext cx="601675" cy="246888"/>
          </a:xfrm>
          <a:prstGeom prst="roundRect">
            <a:avLst>
              <a:gd name="adj" fmla="val 14815"/>
            </a:avLst>
          </a:prstGeom>
          <a:solidFill>
            <a:srgbClr val="7AB648"/>
          </a:solidFill>
          <a:ln w="12700">
            <a:solidFill>
              <a:srgbClr val="FFFFFF">
                <a:alpha val="0"/>
              </a:srgbClr>
            </a:solidFill>
            <a:prstDash val="solid"/>
          </a:ln>
        </p:spPr>
      </p:sp>
      <p:sp>
        <p:nvSpPr>
          <p:cNvPr id="19" name="Text 15"/>
          <p:cNvSpPr txBox="1"/>
          <p:nvPr/>
        </p:nvSpPr>
        <p:spPr>
          <a:xfrm>
            <a:off x="7995666" y="2078126"/>
            <a:ext cx="601675"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MET U</a:t>
            </a:r>
            <a:endParaRPr lang="en-US" sz="1100" dirty="0"/>
          </a:p>
        </p:txBody>
      </p:sp>
      <p:sp>
        <p:nvSpPr>
          <p:cNvPr id="20" name="Text 16"/>
          <p:cNvSpPr txBox="1"/>
          <p:nvPr/>
        </p:nvSpPr>
        <p:spPr>
          <a:xfrm>
            <a:off x="1691640" y="3132734"/>
            <a:ext cx="2431085" cy="396240"/>
          </a:xfrm>
          <a:prstGeom prst="rect">
            <a:avLst/>
          </a:prstGeom>
          <a:noFill/>
          <a:ln/>
        </p:spPr>
        <p:txBody>
          <a:bodyPr wrap="none" lIns="0" tIns="0" rIns="0" bIns="0" rtlCol="0" anchor="ctr"/>
          <a:lstStyle/>
          <a:p>
            <a:pPr algn="l" indent="0" marL="0">
              <a:buNone/>
            </a:pPr>
            <a:r>
              <a:rPr lang="en-US" sz="2400" b="1" dirty="0">
                <a:solidFill>
                  <a:srgbClr val="6B7280"/>
                </a:solidFill>
                <a:latin typeface="Calibri" pitchFamily="34" charset="0"/>
                <a:ea typeface="Calibri" pitchFamily="34" charset="-122"/>
                <a:cs typeface="Calibri" pitchFamily="34" charset="-120"/>
              </a:rPr>
              <a:t>Meneer Janssens:</a:t>
            </a:r>
            <a:endParaRPr lang="en-US" sz="2400" dirty="0"/>
          </a:p>
        </p:txBody>
      </p:sp>
      <p:sp>
        <p:nvSpPr>
          <p:cNvPr id="21" name="Text 17"/>
          <p:cNvSpPr txBox="1"/>
          <p:nvPr/>
        </p:nvSpPr>
        <p:spPr>
          <a:xfrm>
            <a:off x="4027018" y="3132734"/>
            <a:ext cx="3606698"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Goed, dank je. En met jou?</a:t>
            </a:r>
            <a:endParaRPr lang="en-US" sz="2400" dirty="0"/>
          </a:p>
        </p:txBody>
      </p:sp>
      <p:sp>
        <p:nvSpPr>
          <p:cNvPr id="22" name="Text 18"/>
          <p:cNvSpPr txBox="1"/>
          <p:nvPr/>
        </p:nvSpPr>
        <p:spPr>
          <a:xfrm>
            <a:off x="1691640" y="4187342"/>
            <a:ext cx="1024738" cy="396240"/>
          </a:xfrm>
          <a:prstGeom prst="rect">
            <a:avLst/>
          </a:prstGeom>
          <a:noFill/>
          <a:ln/>
        </p:spPr>
        <p:txBody>
          <a:bodyPr wrap="none" lIns="0" tIns="0" rIns="0" bIns="0" rtlCol="0" anchor="ctr"/>
          <a:lstStyle/>
          <a:p>
            <a:pPr algn="l" indent="0" marL="0">
              <a:buNone/>
            </a:pPr>
            <a:r>
              <a:rPr lang="en-US" sz="2400" b="1" dirty="0">
                <a:solidFill>
                  <a:srgbClr val="6B7280"/>
                </a:solidFill>
                <a:latin typeface="Calibri" pitchFamily="34" charset="0"/>
                <a:ea typeface="Calibri" pitchFamily="34" charset="-122"/>
                <a:cs typeface="Calibri" pitchFamily="34" charset="-120"/>
              </a:rPr>
              <a:t>Pieter:</a:t>
            </a:r>
            <a:endParaRPr lang="en-US" sz="2400" dirty="0"/>
          </a:p>
        </p:txBody>
      </p:sp>
      <p:sp>
        <p:nvSpPr>
          <p:cNvPr id="23" name="Text 19"/>
          <p:cNvSpPr txBox="1"/>
          <p:nvPr/>
        </p:nvSpPr>
        <p:spPr>
          <a:xfrm>
            <a:off x="2620670" y="4187342"/>
            <a:ext cx="4006596"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Het kan beter. Ik ben nerveus,</a:t>
            </a:r>
            <a:endParaRPr lang="en-US" sz="2400" dirty="0"/>
          </a:p>
        </p:txBody>
      </p:sp>
      <p:sp>
        <p:nvSpPr>
          <p:cNvPr id="24" name="Shape 20"/>
          <p:cNvSpPr/>
          <p:nvPr/>
        </p:nvSpPr>
        <p:spPr>
          <a:xfrm>
            <a:off x="6531559" y="4199534"/>
            <a:ext cx="5113020" cy="371856"/>
          </a:xfrm>
          <a:prstGeom prst="roundRect">
            <a:avLst>
              <a:gd name="adj" fmla="val 12295"/>
            </a:avLst>
          </a:prstGeom>
          <a:solidFill>
            <a:srgbClr val="E6F3DA"/>
          </a:solidFill>
          <a:ln w="12700">
            <a:solidFill>
              <a:srgbClr val="FFFFFF">
                <a:alpha val="0"/>
              </a:srgbClr>
            </a:solidFill>
            <a:prstDash val="solid"/>
          </a:ln>
        </p:spPr>
      </p:sp>
      <p:sp>
        <p:nvSpPr>
          <p:cNvPr id="25" name="Text 21"/>
          <p:cNvSpPr txBox="1"/>
          <p:nvPr/>
        </p:nvSpPr>
        <p:spPr>
          <a:xfrm>
            <a:off x="6531559" y="4187342"/>
            <a:ext cx="5113020"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want ik heb vanmiddag een presentatie</a:t>
            </a:r>
            <a:endParaRPr lang="en-US" sz="2400" dirty="0"/>
          </a:p>
        </p:txBody>
      </p:sp>
      <p:sp>
        <p:nvSpPr>
          <p:cNvPr id="26" name="Text 22"/>
          <p:cNvSpPr txBox="1"/>
          <p:nvPr/>
        </p:nvSpPr>
        <p:spPr>
          <a:xfrm>
            <a:off x="11644579" y="4187342"/>
            <a:ext cx="259690"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a:t>
            </a:r>
            <a:endParaRPr lang="en-US" sz="2400" dirty="0"/>
          </a:p>
        </p:txBody>
      </p:sp>
      <p:sp>
        <p:nvSpPr>
          <p:cNvPr id="27" name="Shape 23"/>
          <p:cNvSpPr/>
          <p:nvPr/>
        </p:nvSpPr>
        <p:spPr>
          <a:xfrm>
            <a:off x="9088069" y="4123334"/>
            <a:ext cx="914" cy="76200"/>
          </a:xfrm>
          <a:prstGeom prst="line">
            <a:avLst/>
          </a:prstGeom>
          <a:noFill/>
          <a:ln w="15875">
            <a:solidFill>
              <a:srgbClr val="7AB648"/>
            </a:solidFill>
            <a:prstDash val="solid"/>
          </a:ln>
        </p:spPr>
      </p:sp>
      <p:sp>
        <p:nvSpPr>
          <p:cNvPr id="28" name="Shape 24"/>
          <p:cNvSpPr/>
          <p:nvPr/>
        </p:nvSpPr>
        <p:spPr>
          <a:xfrm>
            <a:off x="8792121" y="3876446"/>
            <a:ext cx="591896" cy="246888"/>
          </a:xfrm>
          <a:prstGeom prst="roundRect">
            <a:avLst>
              <a:gd name="adj" fmla="val 14815"/>
            </a:avLst>
          </a:prstGeom>
          <a:solidFill>
            <a:srgbClr val="7AB648"/>
          </a:solidFill>
          <a:ln w="12700">
            <a:solidFill>
              <a:srgbClr val="FFFFFF">
                <a:alpha val="0"/>
              </a:srgbClr>
            </a:solidFill>
            <a:prstDash val="solid"/>
          </a:ln>
        </p:spPr>
      </p:sp>
      <p:sp>
        <p:nvSpPr>
          <p:cNvPr id="29" name="Text 25"/>
          <p:cNvSpPr txBox="1"/>
          <p:nvPr/>
        </p:nvSpPr>
        <p:spPr>
          <a:xfrm>
            <a:off x="8792121" y="3876446"/>
            <a:ext cx="591896"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WANT</a:t>
            </a:r>
            <a:endParaRPr lang="en-US" sz="1100" dirty="0"/>
          </a:p>
        </p:txBody>
      </p:sp>
      <p:sp>
        <p:nvSpPr>
          <p:cNvPr id="30" name="Text 26"/>
          <p:cNvSpPr txBox="1"/>
          <p:nvPr/>
        </p:nvSpPr>
        <p:spPr>
          <a:xfrm>
            <a:off x="1691640" y="5241950"/>
            <a:ext cx="2431085" cy="396240"/>
          </a:xfrm>
          <a:prstGeom prst="rect">
            <a:avLst/>
          </a:prstGeom>
          <a:noFill/>
          <a:ln/>
        </p:spPr>
        <p:txBody>
          <a:bodyPr wrap="none" lIns="0" tIns="0" rIns="0" bIns="0" rtlCol="0" anchor="ctr"/>
          <a:lstStyle/>
          <a:p>
            <a:pPr algn="l" indent="0" marL="0">
              <a:buNone/>
            </a:pPr>
            <a:r>
              <a:rPr lang="en-US" sz="2400" b="1" dirty="0">
                <a:solidFill>
                  <a:srgbClr val="6B7280"/>
                </a:solidFill>
                <a:latin typeface="Calibri" pitchFamily="34" charset="0"/>
                <a:ea typeface="Calibri" pitchFamily="34" charset="-122"/>
                <a:cs typeface="Calibri" pitchFamily="34" charset="-120"/>
              </a:rPr>
              <a:t>Meneer Janssens:</a:t>
            </a:r>
            <a:endParaRPr lang="en-US" sz="2400" dirty="0"/>
          </a:p>
        </p:txBody>
      </p:sp>
      <p:sp>
        <p:nvSpPr>
          <p:cNvPr id="31" name="Text 27"/>
          <p:cNvSpPr txBox="1"/>
          <p:nvPr/>
        </p:nvSpPr>
        <p:spPr>
          <a:xfrm>
            <a:off x="4027018" y="5241950"/>
            <a:ext cx="1110996"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Succes!</a:t>
            </a:r>
            <a:endParaRPr lang="en-US" sz="2400" dirty="0"/>
          </a:p>
        </p:txBody>
      </p:sp>
      <p:sp>
        <p:nvSpPr>
          <p:cNvPr id="32" name="Shape 28"/>
          <p:cNvSpPr/>
          <p:nvPr/>
        </p:nvSpPr>
        <p:spPr>
          <a:xfrm>
            <a:off x="5042306" y="5254142"/>
            <a:ext cx="1335024" cy="371856"/>
          </a:xfrm>
          <a:prstGeom prst="roundRect">
            <a:avLst>
              <a:gd name="adj" fmla="val 12295"/>
            </a:avLst>
          </a:prstGeom>
          <a:solidFill>
            <a:srgbClr val="E6F3DA"/>
          </a:solidFill>
          <a:ln w="12700">
            <a:solidFill>
              <a:srgbClr val="FFFFFF">
                <a:alpha val="0"/>
              </a:srgbClr>
            </a:solidFill>
            <a:prstDash val="solid"/>
          </a:ln>
        </p:spPr>
      </p:sp>
      <p:sp>
        <p:nvSpPr>
          <p:cNvPr id="33" name="Text 29"/>
          <p:cNvSpPr txBox="1"/>
          <p:nvPr/>
        </p:nvSpPr>
        <p:spPr>
          <a:xfrm>
            <a:off x="5042306" y="5241950"/>
            <a:ext cx="1335024"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Tot straks</a:t>
            </a:r>
            <a:endParaRPr lang="en-US" sz="2400" dirty="0"/>
          </a:p>
        </p:txBody>
      </p:sp>
      <p:sp>
        <p:nvSpPr>
          <p:cNvPr id="34" name="Text 30"/>
          <p:cNvSpPr txBox="1"/>
          <p:nvPr/>
        </p:nvSpPr>
        <p:spPr>
          <a:xfrm>
            <a:off x="6377330" y="5241950"/>
            <a:ext cx="1185367"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 Pieter!</a:t>
            </a:r>
            <a:endParaRPr lang="en-US" sz="2400" dirty="0"/>
          </a:p>
        </p:txBody>
      </p:sp>
      <p:sp>
        <p:nvSpPr>
          <p:cNvPr id="35" name="Shape 31"/>
          <p:cNvSpPr/>
          <p:nvPr/>
        </p:nvSpPr>
        <p:spPr>
          <a:xfrm>
            <a:off x="5709818" y="5177942"/>
            <a:ext cx="914" cy="76200"/>
          </a:xfrm>
          <a:prstGeom prst="line">
            <a:avLst/>
          </a:prstGeom>
          <a:noFill/>
          <a:ln w="15875">
            <a:solidFill>
              <a:srgbClr val="7AB648"/>
            </a:solidFill>
            <a:prstDash val="solid"/>
          </a:ln>
        </p:spPr>
      </p:sp>
      <p:sp>
        <p:nvSpPr>
          <p:cNvPr id="36" name="Shape 32"/>
          <p:cNvSpPr/>
          <p:nvPr/>
        </p:nvSpPr>
        <p:spPr>
          <a:xfrm>
            <a:off x="5418271" y="4931054"/>
            <a:ext cx="583095" cy="246888"/>
          </a:xfrm>
          <a:prstGeom prst="roundRect">
            <a:avLst>
              <a:gd name="adj" fmla="val 14815"/>
            </a:avLst>
          </a:prstGeom>
          <a:solidFill>
            <a:srgbClr val="7AB648"/>
          </a:solidFill>
          <a:ln w="12700">
            <a:solidFill>
              <a:srgbClr val="FFFFFF">
                <a:alpha val="0"/>
              </a:srgbClr>
            </a:solidFill>
            <a:prstDash val="solid"/>
          </a:ln>
        </p:spPr>
      </p:sp>
      <p:sp>
        <p:nvSpPr>
          <p:cNvPr id="37" name="Text 33"/>
          <p:cNvSpPr txBox="1"/>
          <p:nvPr/>
        </p:nvSpPr>
        <p:spPr>
          <a:xfrm>
            <a:off x="5418271" y="4931054"/>
            <a:ext cx="583095"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TOT …</a:t>
            </a:r>
            <a:endParaRPr lang="en-US" sz="1100" dirty="0"/>
          </a:p>
        </p:txBody>
      </p:sp>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1"/>
          <p:cNvSpPr/>
          <p:nvPr>
            <p:ph idx="101" type="title" hasCustomPrompt="1"/>
          </p:nvPr>
        </p:nvSpPr>
        <p:spPr>
          <a:xfrm>
            <a:off x="1554480" y="384048"/>
            <a:ext cx="10241280" cy="658368"/>
          </a:xfrm>
          <a:prstGeom prst="rect">
            <a:avLst/>
          </a:prstGeom>
          <a:noFill/>
          <a:ln/>
        </p:spPr>
        <p:txBody>
          <a:bodyPr wrap="square" lIns="0" tIns="0" rIns="0" bIns="0" rtlCol="0" anchor="ctr"/>
          <a:lstStyle/>
          <a:p>
            <a:pPr algn="ctr" indent="0" marL="0">
              <a:buNone/>
            </a:pPr>
            <a:r>
              <a:rPr lang="en-US" sz="3000" b="1" dirty="0">
                <a:solidFill>
                  <a:srgbClr val="2B2F38"/>
                </a:solidFill>
              </a:rPr>
              <a:t>Gebruik deze afbeelding als inspiratie</a:t>
            </a:r>
            <a:endParaRPr lang="en-US" sz="3000" dirty="0"/>
          </a:p>
        </p:txBody>
      </p:sp>
      <p:sp>
        <p:nvSpPr>
          <p:cNvPr id="4" name="Shape 1"/>
          <p:cNvSpPr/>
          <p:nvPr/>
        </p:nvSpPr>
        <p:spPr>
          <a:xfrm>
            <a:off x="365760" y="365760"/>
            <a:ext cx="868680" cy="5989320"/>
          </a:xfrm>
          <a:prstGeom prst="roundRect">
            <a:avLst>
              <a:gd name="adj" fmla="val 12632"/>
            </a:avLst>
          </a:prstGeom>
          <a:solidFill>
            <a:srgbClr val="E6F4EA"/>
          </a:solidFill>
          <a:ln w="28575">
            <a:solidFill>
              <a:srgbClr val="6DBE8A"/>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3D8C5A"/>
                </a:solidFill>
                <a:latin typeface="Calibri" pitchFamily="34" charset="0"/>
                <a:ea typeface="Calibri" pitchFamily="34" charset="-122"/>
                <a:cs typeface="Calibri" pitchFamily="34" charset="-120"/>
              </a:rPr>
              <a:t>A1 · Premiers pas</a:t>
            </a:r>
            <a:endParaRPr lang="en-US" sz="3800" dirty="0"/>
          </a:p>
        </p:txBody>
      </p:sp>
      <p:sp>
        <p:nvSpPr>
          <p:cNvPr id="6" name="Text 3"/>
          <p:cNvSpPr txBox="1"/>
          <p:nvPr/>
        </p:nvSpPr>
        <p:spPr>
          <a:xfrm>
            <a:off x="1554480" y="1024128"/>
            <a:ext cx="10241280" cy="365760"/>
          </a:xfrm>
          <a:prstGeom prst="rect">
            <a:avLst/>
          </a:prstGeom>
          <a:noFill/>
          <a:ln/>
        </p:spPr>
        <p:txBody>
          <a:bodyPr wrap="square" lIns="0" tIns="0" rIns="0" bIns="0" rtlCol="0" anchor="ctr"/>
          <a:lstStyle/>
          <a:p>
            <a:pPr algn="ctr" indent="0" marL="0">
              <a:buNone/>
            </a:pPr>
            <a:r>
              <a:rPr lang="en-US" sz="1500" b="1" dirty="0">
                <a:solidFill>
                  <a:srgbClr val="3D8C5A"/>
                </a:solidFill>
                <a:latin typeface="Calibri" pitchFamily="34" charset="0"/>
                <a:ea typeface="Calibri" pitchFamily="34" charset="-122"/>
                <a:cs typeface="Calibri" pitchFamily="34" charset="-120"/>
              </a:rPr>
              <a:t>8 · Dit ben ik</a:t>
            </a:r>
            <a:r>
              <a:rPr lang="en-US" sz="1500" i="1" dirty="0">
                <a:solidFill>
                  <a:srgbClr val="6B7280"/>
                </a:solidFill>
                <a:latin typeface="Calibri" pitchFamily="34" charset="0"/>
                <a:ea typeface="Calibri" pitchFamily="34" charset="-122"/>
                <a:cs typeface="Calibri" pitchFamily="34" charset="-120"/>
              </a:rPr>
              <a:t>   Voici qui je suis</a:t>
            </a:r>
            <a:r>
              <a:rPr lang="en-US" sz="1200" dirty="0">
                <a:solidFill>
                  <a:srgbClr val="9AA3B2"/>
                </a:solidFill>
                <a:latin typeface="Calibri" pitchFamily="34" charset="0"/>
                <a:ea typeface="Calibri" pitchFamily="34" charset="-122"/>
                <a:cs typeface="Calibri" pitchFamily="34" charset="-120"/>
              </a:rPr>
              <a:t>   ·   syllabus 1.3 · p. 35</a:t>
            </a:r>
            <a:endParaRPr lang="en-US" sz="1500" dirty="0"/>
          </a:p>
        </p:txBody>
      </p:sp>
      <p:sp>
        <p:nvSpPr>
          <p:cNvPr id="7" name="Shape 4"/>
          <p:cNvSpPr/>
          <p:nvPr/>
        </p:nvSpPr>
        <p:spPr>
          <a:xfrm>
            <a:off x="1596085" y="1504645"/>
            <a:ext cx="4534510" cy="2905735"/>
          </a:xfrm>
          <a:prstGeom prst="roundRect">
            <a:avLst>
              <a:gd name="adj" fmla="val 1259"/>
            </a:avLst>
          </a:prstGeom>
          <a:solidFill>
            <a:srgbClr val="FFFFFF"/>
          </a:solidFill>
          <a:ln w="9525">
            <a:solidFill>
              <a:srgbClr val="E3E7EE"/>
            </a:solidFill>
            <a:prstDash val="solid"/>
          </a:ln>
          <a:effectLst>
            <a:outerShdw sx="100000" sy="100000" kx="0" ky="0" algn="bl" rotWithShape="0" blurRad="127000" dist="50800" dir="5400000">
              <a:srgbClr val="1B2430">
                <a:alpha val="25000"/>
              </a:srgbClr>
            </a:outerShdw>
          </a:effectLst>
        </p:spPr>
      </p:sp>
      <p:pic>
        <p:nvPicPr>
          <p:cNvPr id="8" name="Image 0" descr="/home/user/talenleren/neerlandais1/generateur/img/vijfzinnen/a1_ditbenik_s.jpg">    </p:cNvPr>
          <p:cNvPicPr>
            <a:picLocks noChangeAspect="1"/>
          </p:cNvPicPr>
          <p:nvPr/>
        </p:nvPicPr>
        <p:blipFill>
          <a:blip r:embed="rId1"/>
          <a:stretch>
            <a:fillRect/>
          </a:stretch>
        </p:blipFill>
        <p:spPr>
          <a:xfrm>
            <a:off x="1691640" y="1600200"/>
            <a:ext cx="4343400" cy="2714625"/>
          </a:xfrm>
          <a:prstGeom prst="rect">
            <a:avLst/>
          </a:prstGeom>
        </p:spPr>
      </p:pic>
      <p:sp>
        <p:nvSpPr>
          <p:cNvPr id="9" name="Shape 5"/>
          <p:cNvSpPr/>
          <p:nvPr/>
        </p:nvSpPr>
        <p:spPr>
          <a:xfrm>
            <a:off x="1691640" y="4572000"/>
            <a:ext cx="1600200" cy="365760"/>
          </a:xfrm>
          <a:prstGeom prst="roundRect">
            <a:avLst>
              <a:gd name="adj" fmla="val 50000"/>
            </a:avLst>
          </a:prstGeom>
          <a:solidFill>
            <a:srgbClr val="EAF1FC"/>
          </a:solidFill>
          <a:ln w="12700">
            <a:solidFill>
              <a:srgbClr val="4A7BD0"/>
            </a:solidFill>
            <a:prstDash val="solid"/>
          </a:ln>
        </p:spPr>
      </p:sp>
      <p:pic>
        <p:nvPicPr>
          <p:cNvPr id="10" name="Image 1" descr="PenNib">    </p:cNvPr>
          <p:cNvPicPr>
            <a:picLocks noChangeAspect="1"/>
          </p:cNvPicPr>
          <p:nvPr/>
        </p:nvPicPr>
        <p:blipFill>
          <a:blip r:embed="rId2"/>
          <a:stretch>
            <a:fillRect/>
          </a:stretch>
        </p:blipFill>
        <p:spPr>
          <a:xfrm>
            <a:off x="1819656" y="4654296"/>
            <a:ext cx="201168" cy="201168"/>
          </a:xfrm>
          <a:prstGeom prst="rect">
            <a:avLst/>
          </a:prstGeom>
        </p:spPr>
      </p:pic>
      <p:sp>
        <p:nvSpPr>
          <p:cNvPr id="11" name="Text 6"/>
          <p:cNvSpPr txBox="1"/>
          <p:nvPr/>
        </p:nvSpPr>
        <p:spPr>
          <a:xfrm>
            <a:off x="2075688" y="4572000"/>
            <a:ext cx="1143000" cy="365760"/>
          </a:xfrm>
          <a:prstGeom prst="rect">
            <a:avLst/>
          </a:prstGeom>
          <a:noFill/>
          <a:ln/>
        </p:spPr>
        <p:txBody>
          <a:bodyPr wrap="square" lIns="0" tIns="0" rIns="0" bIns="0" rtlCol="0" anchor="ctr"/>
          <a:lstStyle/>
          <a:p>
            <a:pPr algn="l" indent="0" marL="0">
              <a:buNone/>
            </a:pPr>
            <a:r>
              <a:rPr lang="en-US" sz="1150" b="1" spc="100" kern="0" dirty="0">
                <a:solidFill>
                  <a:srgbClr val="4A7BD0"/>
                </a:solidFill>
                <a:latin typeface="Calibri" pitchFamily="34" charset="0"/>
                <a:ea typeface="Calibri" pitchFamily="34" charset="-122"/>
                <a:cs typeface="Calibri" pitchFamily="34" charset="-120"/>
              </a:rPr>
              <a:t>À L’ÉCRIT</a:t>
            </a:r>
            <a:endParaRPr lang="en-US" sz="1150" dirty="0"/>
          </a:p>
        </p:txBody>
      </p:sp>
      <p:sp>
        <p:nvSpPr>
          <p:cNvPr id="12" name="Text 7"/>
          <p:cNvSpPr txBox="1"/>
          <p:nvPr/>
        </p:nvSpPr>
        <p:spPr>
          <a:xfrm>
            <a:off x="3429000" y="4544568"/>
            <a:ext cx="2651760" cy="731520"/>
          </a:xfrm>
          <a:prstGeom prst="rect">
            <a:avLst/>
          </a:prstGeom>
          <a:noFill/>
          <a:ln/>
        </p:spPr>
        <p:txBody>
          <a:bodyPr wrap="square" lIns="0" tIns="0" rIns="0" bIns="0" rtlCol="0" anchor="t"/>
          <a:lstStyle/>
          <a:p>
            <a:pPr algn="l" indent="0" marL="0">
              <a:buNone/>
            </a:pPr>
            <a:r>
              <a:rPr lang="en-US" sz="1150" i="1" dirty="0">
                <a:solidFill>
                  <a:srgbClr val="6B7280"/>
                </a:solidFill>
                <a:latin typeface="Calibri" pitchFamily="34" charset="0"/>
                <a:ea typeface="Calibri" pitchFamily="34" charset="-122"/>
                <a:cs typeface="Calibri" pitchFamily="34" charset="-120"/>
              </a:rPr>
              <a:t>Premier jour du cours. Vous vous présentez à la classe.</a:t>
            </a:r>
            <a:endParaRPr lang="en-US" sz="1150" dirty="0"/>
          </a:p>
        </p:txBody>
      </p:sp>
      <p:sp>
        <p:nvSpPr>
          <p:cNvPr id="13" name="Shape 8"/>
          <p:cNvSpPr/>
          <p:nvPr/>
        </p:nvSpPr>
        <p:spPr>
          <a:xfrm>
            <a:off x="6355080" y="1673352"/>
            <a:ext cx="914400" cy="402336"/>
          </a:xfrm>
          <a:prstGeom prst="roundRect">
            <a:avLst>
              <a:gd name="adj" fmla="val 13636"/>
            </a:avLst>
          </a:prstGeom>
          <a:solidFill>
            <a:srgbClr val="5FA873"/>
          </a:solidFill>
          <a:ln w="12700">
            <a:solidFill>
              <a:srgbClr val="FFFFFF">
                <a:alpha val="0"/>
              </a:srgbClr>
            </a:solidFill>
            <a:prstDash val="solid"/>
          </a:ln>
        </p:spPr>
      </p:sp>
      <p:sp>
        <p:nvSpPr>
          <p:cNvPr id="14" name="Text 9"/>
          <p:cNvSpPr txBox="1"/>
          <p:nvPr/>
        </p:nvSpPr>
        <p:spPr>
          <a:xfrm>
            <a:off x="6355080" y="167335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1</a:t>
            </a:r>
            <a:endParaRPr lang="en-US" sz="1600" dirty="0"/>
          </a:p>
        </p:txBody>
      </p:sp>
      <p:sp>
        <p:nvSpPr>
          <p:cNvPr id="15" name="Text 10"/>
          <p:cNvSpPr txBox="1"/>
          <p:nvPr/>
        </p:nvSpPr>
        <p:spPr>
          <a:xfrm>
            <a:off x="7406640" y="1618488"/>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Votre prénom : </a:t>
            </a:r>
            <a:r>
              <a:rPr lang="en-US" sz="1450" b="1" dirty="0">
                <a:solidFill>
                  <a:srgbClr val="2B2F38"/>
                </a:solidFill>
              </a:rPr>
              <a:t>IK BEN</a:t>
            </a:r>
            <a:r>
              <a:rPr lang="en-US" sz="1450" dirty="0">
                <a:solidFill>
                  <a:srgbClr val="2B2F38"/>
                </a:solidFill>
              </a:rPr>
              <a:t> + prénom.</a:t>
            </a:r>
            <a:endParaRPr lang="en-US" sz="1450" dirty="0"/>
          </a:p>
        </p:txBody>
      </p:sp>
      <p:sp>
        <p:nvSpPr>
          <p:cNvPr id="16" name="Shape 11"/>
          <p:cNvSpPr/>
          <p:nvPr/>
        </p:nvSpPr>
        <p:spPr>
          <a:xfrm>
            <a:off x="6355080" y="2404872"/>
            <a:ext cx="914400" cy="402336"/>
          </a:xfrm>
          <a:prstGeom prst="roundRect">
            <a:avLst>
              <a:gd name="adj" fmla="val 13636"/>
            </a:avLst>
          </a:prstGeom>
          <a:solidFill>
            <a:srgbClr val="5FA873"/>
          </a:solidFill>
          <a:ln w="12700">
            <a:solidFill>
              <a:srgbClr val="FFFFFF">
                <a:alpha val="0"/>
              </a:srgbClr>
            </a:solidFill>
            <a:prstDash val="solid"/>
          </a:ln>
        </p:spPr>
      </p:sp>
      <p:sp>
        <p:nvSpPr>
          <p:cNvPr id="17" name="Text 12"/>
          <p:cNvSpPr txBox="1"/>
          <p:nvPr/>
        </p:nvSpPr>
        <p:spPr>
          <a:xfrm>
            <a:off x="6355080" y="240487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2</a:t>
            </a:r>
            <a:endParaRPr lang="en-US" sz="1600" dirty="0"/>
          </a:p>
        </p:txBody>
      </p:sp>
      <p:sp>
        <p:nvSpPr>
          <p:cNvPr id="18" name="Text 13"/>
          <p:cNvSpPr txBox="1"/>
          <p:nvPr/>
        </p:nvSpPr>
        <p:spPr>
          <a:xfrm>
            <a:off x="7406640" y="2350008"/>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Votre métier ou vos études : </a:t>
            </a:r>
            <a:r>
              <a:rPr lang="en-US" sz="1450" b="1" dirty="0">
                <a:solidFill>
                  <a:srgbClr val="2B2F38"/>
                </a:solidFill>
              </a:rPr>
              <a:t>IK BEN</a:t>
            </a:r>
            <a:r>
              <a:rPr lang="en-US" sz="1450" dirty="0">
                <a:solidFill>
                  <a:srgbClr val="2B2F38"/>
                </a:solidFill>
              </a:rPr>
              <a:t> + métier (sans article).</a:t>
            </a:r>
            <a:endParaRPr lang="en-US" sz="1450" dirty="0"/>
          </a:p>
        </p:txBody>
      </p:sp>
      <p:sp>
        <p:nvSpPr>
          <p:cNvPr id="19" name="Shape 14"/>
          <p:cNvSpPr/>
          <p:nvPr/>
        </p:nvSpPr>
        <p:spPr>
          <a:xfrm>
            <a:off x="6355080" y="3136392"/>
            <a:ext cx="914400" cy="402336"/>
          </a:xfrm>
          <a:prstGeom prst="roundRect">
            <a:avLst>
              <a:gd name="adj" fmla="val 13636"/>
            </a:avLst>
          </a:prstGeom>
          <a:solidFill>
            <a:srgbClr val="5FA873"/>
          </a:solidFill>
          <a:ln w="12700">
            <a:solidFill>
              <a:srgbClr val="FFFFFF">
                <a:alpha val="0"/>
              </a:srgbClr>
            </a:solidFill>
            <a:prstDash val="solid"/>
          </a:ln>
        </p:spPr>
      </p:sp>
      <p:sp>
        <p:nvSpPr>
          <p:cNvPr id="20" name="Text 15"/>
          <p:cNvSpPr txBox="1"/>
          <p:nvPr/>
        </p:nvSpPr>
        <p:spPr>
          <a:xfrm>
            <a:off x="6355080" y="313639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3</a:t>
            </a:r>
            <a:endParaRPr lang="en-US" sz="1600" dirty="0"/>
          </a:p>
        </p:txBody>
      </p:sp>
      <p:sp>
        <p:nvSpPr>
          <p:cNvPr id="21" name="Text 16"/>
          <p:cNvSpPr txBox="1"/>
          <p:nvPr/>
        </p:nvSpPr>
        <p:spPr>
          <a:xfrm>
            <a:off x="7406640" y="3081528"/>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Votre ville ou votre pays : </a:t>
            </a:r>
            <a:r>
              <a:rPr lang="en-US" sz="1450" b="1" dirty="0">
                <a:solidFill>
                  <a:srgbClr val="2B2F38"/>
                </a:solidFill>
              </a:rPr>
              <a:t>IK KOM UIT</a:t>
            </a:r>
            <a:r>
              <a:rPr lang="en-US" sz="1450" dirty="0">
                <a:solidFill>
                  <a:srgbClr val="2B2F38"/>
                </a:solidFill>
              </a:rPr>
              <a:t> …</a:t>
            </a:r>
            <a:endParaRPr lang="en-US" sz="1450" dirty="0"/>
          </a:p>
        </p:txBody>
      </p:sp>
      <p:sp>
        <p:nvSpPr>
          <p:cNvPr id="22" name="Shape 17"/>
          <p:cNvSpPr/>
          <p:nvPr/>
        </p:nvSpPr>
        <p:spPr>
          <a:xfrm>
            <a:off x="6355080" y="3867912"/>
            <a:ext cx="914400" cy="402336"/>
          </a:xfrm>
          <a:prstGeom prst="roundRect">
            <a:avLst>
              <a:gd name="adj" fmla="val 13636"/>
            </a:avLst>
          </a:prstGeom>
          <a:solidFill>
            <a:srgbClr val="5FA873"/>
          </a:solidFill>
          <a:ln w="12700">
            <a:solidFill>
              <a:srgbClr val="FFFFFF">
                <a:alpha val="0"/>
              </a:srgbClr>
            </a:solidFill>
            <a:prstDash val="solid"/>
          </a:ln>
        </p:spPr>
      </p:sp>
      <p:sp>
        <p:nvSpPr>
          <p:cNvPr id="23" name="Text 18"/>
          <p:cNvSpPr txBox="1"/>
          <p:nvPr/>
        </p:nvSpPr>
        <p:spPr>
          <a:xfrm>
            <a:off x="6355080" y="386791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4</a:t>
            </a:r>
            <a:endParaRPr lang="en-US" sz="1600" dirty="0"/>
          </a:p>
        </p:txBody>
      </p:sp>
      <p:sp>
        <p:nvSpPr>
          <p:cNvPr id="24" name="Text 19"/>
          <p:cNvSpPr txBox="1"/>
          <p:nvPr/>
        </p:nvSpPr>
        <p:spPr>
          <a:xfrm>
            <a:off x="7406640" y="3813048"/>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Une chute avec </a:t>
            </a:r>
            <a:r>
              <a:rPr lang="en-US" sz="1450" b="1" dirty="0">
                <a:solidFill>
                  <a:srgbClr val="2B2F38"/>
                </a:solidFill>
              </a:rPr>
              <a:t>IK HEB</a:t>
            </a:r>
            <a:r>
              <a:rPr lang="en-US" sz="1450" dirty="0">
                <a:solidFill>
                  <a:srgbClr val="2B2F38"/>
                </a:solidFill>
              </a:rPr>
              <a:t> …</a:t>
            </a:r>
            <a:endParaRPr lang="en-US" sz="1450" dirty="0"/>
          </a:p>
        </p:txBody>
      </p:sp>
      <p:sp>
        <p:nvSpPr>
          <p:cNvPr id="25" name="Shape 20"/>
          <p:cNvSpPr/>
          <p:nvPr/>
        </p:nvSpPr>
        <p:spPr>
          <a:xfrm>
            <a:off x="3246120" y="5440680"/>
            <a:ext cx="6858000" cy="822960"/>
          </a:xfrm>
          <a:prstGeom prst="roundRect">
            <a:avLst>
              <a:gd name="adj" fmla="val 17778"/>
            </a:avLst>
          </a:prstGeom>
          <a:solidFill>
            <a:srgbClr val="EAF5EC"/>
          </a:solidFill>
          <a:ln w="15875">
            <a:solidFill>
              <a:srgbClr val="5FA873"/>
            </a:solidFill>
            <a:prstDash val="solid"/>
          </a:ln>
        </p:spPr>
      </p:sp>
      <p:pic>
        <p:nvPicPr>
          <p:cNvPr id="26" name="Image 2" descr="UserFriends">    </p:cNvPr>
          <p:cNvPicPr>
            <a:picLocks noChangeAspect="1"/>
          </p:cNvPicPr>
          <p:nvPr/>
        </p:nvPicPr>
        <p:blipFill>
          <a:blip r:embed="rId3"/>
          <a:stretch>
            <a:fillRect/>
          </a:stretch>
        </p:blipFill>
        <p:spPr>
          <a:xfrm>
            <a:off x="3520440" y="5660136"/>
            <a:ext cx="384048" cy="384048"/>
          </a:xfrm>
          <a:prstGeom prst="rect">
            <a:avLst/>
          </a:prstGeom>
        </p:spPr>
      </p:pic>
      <p:sp>
        <p:nvSpPr>
          <p:cNvPr id="27" name="Text 21"/>
          <p:cNvSpPr txBox="1"/>
          <p:nvPr/>
        </p:nvSpPr>
        <p:spPr>
          <a:xfrm>
            <a:off x="4114800" y="5440680"/>
            <a:ext cx="5852160" cy="822960"/>
          </a:xfrm>
          <a:prstGeom prst="rect">
            <a:avLst/>
          </a:prstGeom>
          <a:noFill/>
          <a:ln/>
        </p:spPr>
        <p:txBody>
          <a:bodyPr wrap="square" lIns="0" tIns="0" rIns="0" bIns="0" rtlCol="0" anchor="ctr"/>
          <a:lstStyle/>
          <a:p>
            <a:pPr algn="ctr" indent="0" marL="0">
              <a:buNone/>
            </a:pPr>
            <a:r>
              <a:rPr lang="en-US" sz="1800" b="1" dirty="0">
                <a:solidFill>
                  <a:srgbClr val="2E6B44"/>
                </a:solidFill>
                <a:latin typeface="Calibri" pitchFamily="34" charset="0"/>
                <a:ea typeface="Calibri" pitchFamily="34" charset="-122"/>
                <a:cs typeface="Calibri" pitchFamily="34" charset="-120"/>
              </a:rPr>
              <a:t>Lees je tekst voor aan je partner.</a:t>
            </a:r>
            <a:endParaRPr lang="en-US" sz="1800" dirty="0"/>
          </a:p>
          <a:p>
            <a:pPr algn="ctr" indent="0" marL="0">
              <a:buNone/>
            </a:pPr>
            <a:r>
              <a:rPr lang="en-US" sz="1800" b="1" dirty="0">
                <a:solidFill>
                  <a:srgbClr val="2E6B44"/>
                </a:solidFill>
                <a:latin typeface="Calibri" pitchFamily="34" charset="0"/>
                <a:ea typeface="Calibri" pitchFamily="34" charset="-122"/>
                <a:cs typeface="Calibri" pitchFamily="34" charset="-120"/>
              </a:rPr>
              <a:t>Wat denkt hij/zij daarvan?</a:t>
            </a:r>
            <a:endParaRPr lang="en-US" sz="1800" dirty="0"/>
          </a:p>
        </p:txBody>
      </p:sp>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1"/>
          <p:cNvSpPr/>
          <p:nvPr>
            <p:ph idx="101" type="title" hasCustomPrompt="1"/>
          </p:nvPr>
        </p:nvSpPr>
        <p:spPr>
          <a:xfrm>
            <a:off x="1554480" y="384048"/>
            <a:ext cx="10241280" cy="658368"/>
          </a:xfrm>
          <a:prstGeom prst="rect">
            <a:avLst/>
          </a:prstGeom>
          <a:noFill/>
          <a:ln/>
        </p:spPr>
        <p:txBody>
          <a:bodyPr wrap="square" lIns="0" tIns="0" rIns="0" bIns="0" rtlCol="0" anchor="ctr"/>
          <a:lstStyle/>
          <a:p>
            <a:pPr algn="ctr" indent="0" marL="0">
              <a:buNone/>
            </a:pPr>
            <a:r>
              <a:rPr lang="en-US" sz="3000" b="1" dirty="0">
                <a:solidFill>
                  <a:srgbClr val="2B2F38"/>
                </a:solidFill>
              </a:rPr>
              <a:t>Dit ben ik</a:t>
            </a:r>
            <a:endParaRPr lang="en-US" sz="3000" dirty="0"/>
          </a:p>
        </p:txBody>
      </p:sp>
      <p:sp>
        <p:nvSpPr>
          <p:cNvPr id="4" name="Shape 1"/>
          <p:cNvSpPr/>
          <p:nvPr/>
        </p:nvSpPr>
        <p:spPr>
          <a:xfrm>
            <a:off x="365760" y="365760"/>
            <a:ext cx="868680" cy="5989320"/>
          </a:xfrm>
          <a:prstGeom prst="roundRect">
            <a:avLst>
              <a:gd name="adj" fmla="val 12632"/>
            </a:avLst>
          </a:prstGeom>
          <a:solidFill>
            <a:srgbClr val="E6F4EA"/>
          </a:solidFill>
          <a:ln w="28575">
            <a:solidFill>
              <a:srgbClr val="6DBE8A"/>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3D8C5A"/>
                </a:solidFill>
                <a:latin typeface="Calibri" pitchFamily="34" charset="0"/>
                <a:ea typeface="Calibri" pitchFamily="34" charset="-122"/>
                <a:cs typeface="Calibri" pitchFamily="34" charset="-120"/>
              </a:rPr>
              <a:t>A1 · Premiers pas</a:t>
            </a:r>
            <a:endParaRPr lang="en-US" sz="3800" dirty="0"/>
          </a:p>
        </p:txBody>
      </p:sp>
      <p:sp>
        <p:nvSpPr>
          <p:cNvPr id="6" name="Shape 3"/>
          <p:cNvSpPr/>
          <p:nvPr/>
        </p:nvSpPr>
        <p:spPr>
          <a:xfrm>
            <a:off x="2519172" y="1124712"/>
            <a:ext cx="8311896" cy="5277231"/>
          </a:xfrm>
          <a:prstGeom prst="roundRect">
            <a:avLst>
              <a:gd name="adj" fmla="val 693"/>
            </a:avLst>
          </a:prstGeom>
          <a:solidFill>
            <a:srgbClr val="FFFFFF"/>
          </a:solidFill>
          <a:ln w="9525">
            <a:solidFill>
              <a:srgbClr val="E3E7EE"/>
            </a:solidFill>
            <a:prstDash val="solid"/>
          </a:ln>
          <a:effectLst>
            <a:outerShdw sx="100000" sy="100000" kx="0" ky="0" algn="bl" rotWithShape="0" blurRad="177800" dist="63500" dir="5400000">
              <a:srgbClr val="1B2430">
                <a:alpha val="25000"/>
              </a:srgbClr>
            </a:outerShdw>
          </a:effectLst>
        </p:spPr>
      </p:sp>
      <p:pic>
        <p:nvPicPr>
          <p:cNvPr id="7" name="Image 0" descr="/home/user/talenleren/neerlandais1/generateur/img/vijfzinnen/a1_ditbenik.jpg">    </p:cNvPr>
          <p:cNvPicPr>
            <a:picLocks noChangeAspect="1"/>
          </p:cNvPicPr>
          <p:nvPr/>
        </p:nvPicPr>
        <p:blipFill>
          <a:blip r:embed="rId1"/>
          <a:stretch>
            <a:fillRect/>
          </a:stretch>
        </p:blipFill>
        <p:spPr>
          <a:xfrm>
            <a:off x="2628900" y="1234440"/>
            <a:ext cx="8092440" cy="5057775"/>
          </a:xfrm>
          <a:prstGeom prst="rect">
            <a:avLst/>
          </a:prstGeom>
        </p:spPr>
      </p:pic>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1"/>
          <p:cNvSpPr/>
          <p:nvPr>
            <p:ph idx="101" type="title" hasCustomPrompt="1"/>
          </p:nvPr>
        </p:nvSpPr>
        <p:spPr>
          <a:xfrm>
            <a:off x="1691640" y="347472"/>
            <a:ext cx="8138160" cy="914400"/>
          </a:xfrm>
          <a:prstGeom prst="rect">
            <a:avLst/>
          </a:prstGeom>
          <a:noFill/>
          <a:ln/>
        </p:spPr>
        <p:txBody>
          <a:bodyPr wrap="square" lIns="0" tIns="0" rIns="0" bIns="0" rtlCol="0" anchor="ctr"/>
          <a:lstStyle/>
          <a:p>
            <a:pPr algn="l" indent="0" marL="0">
              <a:buNone/>
            </a:pPr>
            <a:r>
              <a:rPr lang="en-US" sz="2400" b="1" dirty="0">
                <a:solidFill>
                  <a:srgbClr val="2B2F38"/>
                </a:solidFill>
              </a:rPr>
              <a:t>Hier is een voorbeeld van wat je had kunnen denken en schrijven…</a:t>
            </a:r>
            <a:endParaRPr lang="en-US" sz="2400" dirty="0"/>
          </a:p>
        </p:txBody>
      </p:sp>
      <p:sp>
        <p:nvSpPr>
          <p:cNvPr id="4" name="Shape 1"/>
          <p:cNvSpPr/>
          <p:nvPr/>
        </p:nvSpPr>
        <p:spPr>
          <a:xfrm>
            <a:off x="365760" y="365760"/>
            <a:ext cx="868680" cy="5989320"/>
          </a:xfrm>
          <a:prstGeom prst="roundRect">
            <a:avLst>
              <a:gd name="adj" fmla="val 12632"/>
            </a:avLst>
          </a:prstGeom>
          <a:solidFill>
            <a:srgbClr val="E6F4EA"/>
          </a:solidFill>
          <a:ln w="28575">
            <a:solidFill>
              <a:srgbClr val="6DBE8A"/>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3D8C5A"/>
                </a:solidFill>
                <a:latin typeface="Calibri" pitchFamily="34" charset="0"/>
                <a:ea typeface="Calibri" pitchFamily="34" charset="-122"/>
                <a:cs typeface="Calibri" pitchFamily="34" charset="-120"/>
              </a:rPr>
              <a:t>A1 · Premiers pas</a:t>
            </a:r>
            <a:endParaRPr lang="en-US" sz="3800" dirty="0"/>
          </a:p>
        </p:txBody>
      </p:sp>
      <p:sp>
        <p:nvSpPr>
          <p:cNvPr id="6" name="Shape 3"/>
          <p:cNvSpPr/>
          <p:nvPr/>
        </p:nvSpPr>
        <p:spPr>
          <a:xfrm>
            <a:off x="10058400" y="246888"/>
            <a:ext cx="1691640" cy="1091565"/>
          </a:xfrm>
          <a:prstGeom prst="roundRect">
            <a:avLst>
              <a:gd name="adj" fmla="val 3351"/>
            </a:avLst>
          </a:prstGeom>
          <a:solidFill>
            <a:srgbClr val="FFFFFF"/>
          </a:solidFill>
          <a:ln w="9525">
            <a:solidFill>
              <a:srgbClr val="E3E7EE"/>
            </a:solidFill>
            <a:prstDash val="solid"/>
          </a:ln>
          <a:effectLst>
            <a:outerShdw sx="100000" sy="100000" kx="0" ky="0" algn="bl" rotWithShape="0" blurRad="76200" dist="25400" dir="5400000">
              <a:srgbClr val="1B2430">
                <a:alpha val="25000"/>
              </a:srgbClr>
            </a:outerShdw>
          </a:effectLst>
        </p:spPr>
      </p:sp>
      <p:pic>
        <p:nvPicPr>
          <p:cNvPr id="7" name="Image 0" descr="/home/user/talenleren/neerlandais1/generateur/img/vijfzinnen/a1_ditbenik_s.jpg">    </p:cNvPr>
          <p:cNvPicPr>
            <a:picLocks noChangeAspect="1"/>
          </p:cNvPicPr>
          <p:nvPr/>
        </p:nvPicPr>
        <p:blipFill>
          <a:blip r:embed="rId1"/>
          <a:stretch>
            <a:fillRect/>
          </a:stretch>
        </p:blipFill>
        <p:spPr>
          <a:xfrm>
            <a:off x="10104120" y="292608"/>
            <a:ext cx="1600200" cy="1000125"/>
          </a:xfrm>
          <a:prstGeom prst="rect">
            <a:avLst/>
          </a:prstGeom>
        </p:spPr>
      </p:pic>
      <p:sp>
        <p:nvSpPr>
          <p:cNvPr id="8" name="Shape 4"/>
          <p:cNvSpPr/>
          <p:nvPr/>
        </p:nvSpPr>
        <p:spPr>
          <a:xfrm>
            <a:off x="1691640" y="3120542"/>
            <a:ext cx="868680" cy="371856"/>
          </a:xfrm>
          <a:prstGeom prst="roundRect">
            <a:avLst>
              <a:gd name="adj" fmla="val 12295"/>
            </a:avLst>
          </a:prstGeom>
          <a:solidFill>
            <a:srgbClr val="E6F3DA"/>
          </a:solidFill>
          <a:ln w="12700">
            <a:solidFill>
              <a:srgbClr val="FFFFFF">
                <a:alpha val="0"/>
              </a:srgbClr>
            </a:solidFill>
            <a:prstDash val="solid"/>
          </a:ln>
        </p:spPr>
      </p:sp>
      <p:sp>
        <p:nvSpPr>
          <p:cNvPr id="9" name="Text 5"/>
          <p:cNvSpPr txBox="1"/>
          <p:nvPr/>
        </p:nvSpPr>
        <p:spPr>
          <a:xfrm>
            <a:off x="1691640" y="3108350"/>
            <a:ext cx="868680"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Ik ben</a:t>
            </a:r>
            <a:endParaRPr lang="en-US" sz="2400" dirty="0"/>
          </a:p>
        </p:txBody>
      </p:sp>
      <p:sp>
        <p:nvSpPr>
          <p:cNvPr id="10" name="Text 6"/>
          <p:cNvSpPr txBox="1"/>
          <p:nvPr/>
        </p:nvSpPr>
        <p:spPr>
          <a:xfrm>
            <a:off x="2647493" y="3108350"/>
            <a:ext cx="957986"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Sarah.</a:t>
            </a:r>
            <a:endParaRPr lang="en-US" sz="2400" dirty="0"/>
          </a:p>
        </p:txBody>
      </p:sp>
      <p:sp>
        <p:nvSpPr>
          <p:cNvPr id="11" name="Shape 7"/>
          <p:cNvSpPr/>
          <p:nvPr/>
        </p:nvSpPr>
        <p:spPr>
          <a:xfrm>
            <a:off x="3509772" y="3120542"/>
            <a:ext cx="1915058" cy="371856"/>
          </a:xfrm>
          <a:prstGeom prst="roundRect">
            <a:avLst>
              <a:gd name="adj" fmla="val 12295"/>
            </a:avLst>
          </a:prstGeom>
          <a:solidFill>
            <a:srgbClr val="E6F3DA"/>
          </a:solidFill>
          <a:ln w="12700">
            <a:solidFill>
              <a:srgbClr val="FFFFFF">
                <a:alpha val="0"/>
              </a:srgbClr>
            </a:solidFill>
            <a:prstDash val="solid"/>
          </a:ln>
        </p:spPr>
      </p:sp>
      <p:sp>
        <p:nvSpPr>
          <p:cNvPr id="12" name="Text 8"/>
          <p:cNvSpPr txBox="1"/>
          <p:nvPr/>
        </p:nvSpPr>
        <p:spPr>
          <a:xfrm>
            <a:off x="3509772" y="3108350"/>
            <a:ext cx="1915058"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Ik ben student</a:t>
            </a:r>
            <a:endParaRPr lang="en-US" sz="2400" dirty="0"/>
          </a:p>
        </p:txBody>
      </p:sp>
      <p:sp>
        <p:nvSpPr>
          <p:cNvPr id="13" name="Text 9"/>
          <p:cNvSpPr txBox="1"/>
          <p:nvPr/>
        </p:nvSpPr>
        <p:spPr>
          <a:xfrm>
            <a:off x="5424830" y="3108350"/>
            <a:ext cx="259690"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a:t>
            </a:r>
            <a:endParaRPr lang="en-US" sz="2400" dirty="0"/>
          </a:p>
        </p:txBody>
      </p:sp>
      <p:sp>
        <p:nvSpPr>
          <p:cNvPr id="14" name="Shape 10"/>
          <p:cNvSpPr/>
          <p:nvPr/>
        </p:nvSpPr>
        <p:spPr>
          <a:xfrm>
            <a:off x="5588813" y="3120542"/>
            <a:ext cx="1359408" cy="371856"/>
          </a:xfrm>
          <a:prstGeom prst="roundRect">
            <a:avLst>
              <a:gd name="adj" fmla="val 12295"/>
            </a:avLst>
          </a:prstGeom>
          <a:solidFill>
            <a:srgbClr val="E6F3DA"/>
          </a:solidFill>
          <a:ln w="12700">
            <a:solidFill>
              <a:srgbClr val="FFFFFF">
                <a:alpha val="0"/>
              </a:srgbClr>
            </a:solidFill>
            <a:prstDash val="solid"/>
          </a:ln>
        </p:spPr>
      </p:sp>
      <p:sp>
        <p:nvSpPr>
          <p:cNvPr id="15" name="Text 11"/>
          <p:cNvSpPr txBox="1"/>
          <p:nvPr/>
        </p:nvSpPr>
        <p:spPr>
          <a:xfrm>
            <a:off x="5588813" y="3108350"/>
            <a:ext cx="1359408"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Ik kom uit</a:t>
            </a:r>
            <a:endParaRPr lang="en-US" sz="2400" dirty="0"/>
          </a:p>
        </p:txBody>
      </p:sp>
      <p:sp>
        <p:nvSpPr>
          <p:cNvPr id="16" name="Text 12"/>
          <p:cNvSpPr txBox="1"/>
          <p:nvPr/>
        </p:nvSpPr>
        <p:spPr>
          <a:xfrm>
            <a:off x="7035394" y="3108350"/>
            <a:ext cx="865937"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Gent.</a:t>
            </a:r>
            <a:endParaRPr lang="en-US" sz="2400" dirty="0"/>
          </a:p>
        </p:txBody>
      </p:sp>
      <p:sp>
        <p:nvSpPr>
          <p:cNvPr id="17" name="Shape 13"/>
          <p:cNvSpPr/>
          <p:nvPr/>
        </p:nvSpPr>
        <p:spPr>
          <a:xfrm>
            <a:off x="2125980" y="3044342"/>
            <a:ext cx="914" cy="76200"/>
          </a:xfrm>
          <a:prstGeom prst="line">
            <a:avLst/>
          </a:prstGeom>
          <a:noFill/>
          <a:ln w="15875">
            <a:solidFill>
              <a:srgbClr val="7AB648"/>
            </a:solidFill>
            <a:prstDash val="solid"/>
          </a:ln>
        </p:spPr>
      </p:sp>
      <p:sp>
        <p:nvSpPr>
          <p:cNvPr id="18" name="Shape 14"/>
          <p:cNvSpPr/>
          <p:nvPr/>
        </p:nvSpPr>
        <p:spPr>
          <a:xfrm>
            <a:off x="1824304" y="2797454"/>
            <a:ext cx="603352" cy="246888"/>
          </a:xfrm>
          <a:prstGeom prst="roundRect">
            <a:avLst>
              <a:gd name="adj" fmla="val 14815"/>
            </a:avLst>
          </a:prstGeom>
          <a:solidFill>
            <a:srgbClr val="7AB648"/>
          </a:solidFill>
          <a:ln w="12700">
            <a:solidFill>
              <a:srgbClr val="FFFFFF">
                <a:alpha val="0"/>
              </a:srgbClr>
            </a:solidFill>
            <a:prstDash val="solid"/>
          </a:ln>
        </p:spPr>
      </p:sp>
      <p:sp>
        <p:nvSpPr>
          <p:cNvPr id="19" name="Text 15"/>
          <p:cNvSpPr txBox="1"/>
          <p:nvPr/>
        </p:nvSpPr>
        <p:spPr>
          <a:xfrm>
            <a:off x="1824304" y="2797454"/>
            <a:ext cx="603352"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IK BEN</a:t>
            </a:r>
            <a:endParaRPr lang="en-US" sz="1100" dirty="0"/>
          </a:p>
        </p:txBody>
      </p:sp>
      <p:sp>
        <p:nvSpPr>
          <p:cNvPr id="20" name="Shape 16"/>
          <p:cNvSpPr/>
          <p:nvPr/>
        </p:nvSpPr>
        <p:spPr>
          <a:xfrm>
            <a:off x="4467301" y="3044342"/>
            <a:ext cx="914" cy="76200"/>
          </a:xfrm>
          <a:prstGeom prst="line">
            <a:avLst/>
          </a:prstGeom>
          <a:noFill/>
          <a:ln w="15875">
            <a:solidFill>
              <a:srgbClr val="7AB648"/>
            </a:solidFill>
            <a:prstDash val="solid"/>
          </a:ln>
        </p:spPr>
      </p:sp>
      <p:sp>
        <p:nvSpPr>
          <p:cNvPr id="21" name="Shape 17"/>
          <p:cNvSpPr/>
          <p:nvPr/>
        </p:nvSpPr>
        <p:spPr>
          <a:xfrm>
            <a:off x="3905993" y="2797454"/>
            <a:ext cx="1122617" cy="246888"/>
          </a:xfrm>
          <a:prstGeom prst="roundRect">
            <a:avLst>
              <a:gd name="adj" fmla="val 14815"/>
            </a:avLst>
          </a:prstGeom>
          <a:solidFill>
            <a:srgbClr val="7AB648"/>
          </a:solidFill>
          <a:ln w="12700">
            <a:solidFill>
              <a:srgbClr val="FFFFFF">
                <a:alpha val="0"/>
              </a:srgbClr>
            </a:solidFill>
            <a:prstDash val="solid"/>
          </a:ln>
        </p:spPr>
      </p:sp>
      <p:sp>
        <p:nvSpPr>
          <p:cNvPr id="22" name="Text 18"/>
          <p:cNvSpPr txBox="1"/>
          <p:nvPr/>
        </p:nvSpPr>
        <p:spPr>
          <a:xfrm>
            <a:off x="3905993" y="2797454"/>
            <a:ext cx="1122617"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IK BEN + métier</a:t>
            </a:r>
            <a:endParaRPr lang="en-US" sz="1100" dirty="0"/>
          </a:p>
        </p:txBody>
      </p:sp>
      <p:sp>
        <p:nvSpPr>
          <p:cNvPr id="23" name="Shape 19"/>
          <p:cNvSpPr/>
          <p:nvPr/>
        </p:nvSpPr>
        <p:spPr>
          <a:xfrm>
            <a:off x="6268517" y="3044342"/>
            <a:ext cx="914" cy="76200"/>
          </a:xfrm>
          <a:prstGeom prst="line">
            <a:avLst/>
          </a:prstGeom>
          <a:noFill/>
          <a:ln w="15875">
            <a:solidFill>
              <a:srgbClr val="7AB648"/>
            </a:solidFill>
            <a:prstDash val="solid"/>
          </a:ln>
        </p:spPr>
      </p:sp>
      <p:sp>
        <p:nvSpPr>
          <p:cNvPr id="24" name="Shape 20"/>
          <p:cNvSpPr/>
          <p:nvPr/>
        </p:nvSpPr>
        <p:spPr>
          <a:xfrm>
            <a:off x="5825046" y="2797454"/>
            <a:ext cx="886943" cy="246888"/>
          </a:xfrm>
          <a:prstGeom prst="roundRect">
            <a:avLst>
              <a:gd name="adj" fmla="val 14815"/>
            </a:avLst>
          </a:prstGeom>
          <a:solidFill>
            <a:srgbClr val="7AB648"/>
          </a:solidFill>
          <a:ln w="12700">
            <a:solidFill>
              <a:srgbClr val="FFFFFF">
                <a:alpha val="0"/>
              </a:srgbClr>
            </a:solidFill>
            <a:prstDash val="solid"/>
          </a:ln>
        </p:spPr>
      </p:sp>
      <p:sp>
        <p:nvSpPr>
          <p:cNvPr id="25" name="Text 21"/>
          <p:cNvSpPr txBox="1"/>
          <p:nvPr/>
        </p:nvSpPr>
        <p:spPr>
          <a:xfrm>
            <a:off x="5825046" y="2797454"/>
            <a:ext cx="886943"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IK KOM UIT</a:t>
            </a:r>
            <a:endParaRPr lang="en-US" sz="1100" dirty="0"/>
          </a:p>
        </p:txBody>
      </p:sp>
      <p:sp>
        <p:nvSpPr>
          <p:cNvPr id="26" name="Text 22"/>
          <p:cNvSpPr txBox="1"/>
          <p:nvPr/>
        </p:nvSpPr>
        <p:spPr>
          <a:xfrm>
            <a:off x="4446880" y="4162958"/>
            <a:ext cx="491642"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En</a:t>
            </a:r>
            <a:endParaRPr lang="en-US" sz="2400" dirty="0"/>
          </a:p>
        </p:txBody>
      </p:sp>
      <p:sp>
        <p:nvSpPr>
          <p:cNvPr id="27" name="Shape 23"/>
          <p:cNvSpPr/>
          <p:nvPr/>
        </p:nvSpPr>
        <p:spPr>
          <a:xfrm>
            <a:off x="4842815" y="4175150"/>
            <a:ext cx="862279" cy="371856"/>
          </a:xfrm>
          <a:prstGeom prst="roundRect">
            <a:avLst>
              <a:gd name="adj" fmla="val 12295"/>
            </a:avLst>
          </a:prstGeom>
          <a:solidFill>
            <a:srgbClr val="E6F3DA"/>
          </a:solidFill>
          <a:ln w="12700">
            <a:solidFill>
              <a:srgbClr val="FFFFFF">
                <a:alpha val="0"/>
              </a:srgbClr>
            </a:solidFill>
            <a:prstDash val="solid"/>
          </a:ln>
        </p:spPr>
      </p:sp>
      <p:sp>
        <p:nvSpPr>
          <p:cNvPr id="28" name="Text 24"/>
          <p:cNvSpPr txBox="1"/>
          <p:nvPr/>
        </p:nvSpPr>
        <p:spPr>
          <a:xfrm>
            <a:off x="4842815" y="4162958"/>
            <a:ext cx="862279"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ik heb</a:t>
            </a:r>
            <a:endParaRPr lang="en-US" sz="2400" dirty="0"/>
          </a:p>
        </p:txBody>
      </p:sp>
      <p:sp>
        <p:nvSpPr>
          <p:cNvPr id="29" name="Text 25"/>
          <p:cNvSpPr txBox="1"/>
          <p:nvPr/>
        </p:nvSpPr>
        <p:spPr>
          <a:xfrm>
            <a:off x="5792267" y="4162958"/>
            <a:ext cx="3339694"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een kat… en drie fietsen!</a:t>
            </a:r>
            <a:endParaRPr lang="en-US" sz="2400" dirty="0"/>
          </a:p>
        </p:txBody>
      </p:sp>
      <p:sp>
        <p:nvSpPr>
          <p:cNvPr id="30" name="Shape 26"/>
          <p:cNvSpPr/>
          <p:nvPr/>
        </p:nvSpPr>
        <p:spPr>
          <a:xfrm>
            <a:off x="5273954" y="4098950"/>
            <a:ext cx="914" cy="76200"/>
          </a:xfrm>
          <a:prstGeom prst="line">
            <a:avLst/>
          </a:prstGeom>
          <a:noFill/>
          <a:ln w="15875">
            <a:solidFill>
              <a:srgbClr val="7AB648"/>
            </a:solidFill>
            <a:prstDash val="solid"/>
          </a:ln>
        </p:spPr>
      </p:sp>
      <p:sp>
        <p:nvSpPr>
          <p:cNvPr id="31" name="Shape 27"/>
          <p:cNvSpPr/>
          <p:nvPr/>
        </p:nvSpPr>
        <p:spPr>
          <a:xfrm>
            <a:off x="4974234" y="3852062"/>
            <a:ext cx="599440" cy="246888"/>
          </a:xfrm>
          <a:prstGeom prst="roundRect">
            <a:avLst>
              <a:gd name="adj" fmla="val 14815"/>
            </a:avLst>
          </a:prstGeom>
          <a:solidFill>
            <a:srgbClr val="7AB648"/>
          </a:solidFill>
          <a:ln w="12700">
            <a:solidFill>
              <a:srgbClr val="FFFFFF">
                <a:alpha val="0"/>
              </a:srgbClr>
            </a:solidFill>
            <a:prstDash val="solid"/>
          </a:ln>
        </p:spPr>
      </p:sp>
      <p:sp>
        <p:nvSpPr>
          <p:cNvPr id="32" name="Text 28"/>
          <p:cNvSpPr txBox="1"/>
          <p:nvPr/>
        </p:nvSpPr>
        <p:spPr>
          <a:xfrm>
            <a:off x="4974234" y="3852062"/>
            <a:ext cx="599440"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IK HEB</a:t>
            </a:r>
            <a:endParaRPr lang="en-US" sz="1100" dirty="0"/>
          </a:p>
        </p:txBody>
      </p:sp>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1"/>
          <p:cNvSpPr/>
          <p:nvPr>
            <p:ph idx="101" type="title" hasCustomPrompt="1"/>
          </p:nvPr>
        </p:nvSpPr>
        <p:spPr>
          <a:xfrm>
            <a:off x="1554480" y="384048"/>
            <a:ext cx="10241280" cy="658368"/>
          </a:xfrm>
          <a:prstGeom prst="rect">
            <a:avLst/>
          </a:prstGeom>
          <a:noFill/>
          <a:ln/>
        </p:spPr>
        <p:txBody>
          <a:bodyPr wrap="square" lIns="0" tIns="0" rIns="0" bIns="0" rtlCol="0" anchor="ctr"/>
          <a:lstStyle/>
          <a:p>
            <a:pPr algn="ctr" indent="0" marL="0">
              <a:buNone/>
            </a:pPr>
            <a:r>
              <a:rPr lang="en-US" sz="3000" b="1" dirty="0">
                <a:solidFill>
                  <a:srgbClr val="2B2F38"/>
                </a:solidFill>
              </a:rPr>
              <a:t>Gebruik deze afbeelding als inspiratie</a:t>
            </a:r>
            <a:endParaRPr lang="en-US" sz="3000" dirty="0"/>
          </a:p>
        </p:txBody>
      </p:sp>
      <p:sp>
        <p:nvSpPr>
          <p:cNvPr id="4" name="Shape 1"/>
          <p:cNvSpPr/>
          <p:nvPr/>
        </p:nvSpPr>
        <p:spPr>
          <a:xfrm>
            <a:off x="365760" y="365760"/>
            <a:ext cx="868680" cy="5989320"/>
          </a:xfrm>
          <a:prstGeom prst="roundRect">
            <a:avLst>
              <a:gd name="adj" fmla="val 12632"/>
            </a:avLst>
          </a:prstGeom>
          <a:solidFill>
            <a:srgbClr val="E6F4EA"/>
          </a:solidFill>
          <a:ln w="28575">
            <a:solidFill>
              <a:srgbClr val="6DBE8A"/>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3D8C5A"/>
                </a:solidFill>
                <a:latin typeface="Calibri" pitchFamily="34" charset="0"/>
                <a:ea typeface="Calibri" pitchFamily="34" charset="-122"/>
                <a:cs typeface="Calibri" pitchFamily="34" charset="-120"/>
              </a:rPr>
              <a:t>A1 · Premiers pas</a:t>
            </a:r>
            <a:endParaRPr lang="en-US" sz="3800" dirty="0"/>
          </a:p>
        </p:txBody>
      </p:sp>
      <p:sp>
        <p:nvSpPr>
          <p:cNvPr id="6" name="Text 3"/>
          <p:cNvSpPr txBox="1"/>
          <p:nvPr/>
        </p:nvSpPr>
        <p:spPr>
          <a:xfrm>
            <a:off x="1554480" y="1024128"/>
            <a:ext cx="10241280" cy="365760"/>
          </a:xfrm>
          <a:prstGeom prst="rect">
            <a:avLst/>
          </a:prstGeom>
          <a:noFill/>
          <a:ln/>
        </p:spPr>
        <p:txBody>
          <a:bodyPr wrap="square" lIns="0" tIns="0" rIns="0" bIns="0" rtlCol="0" anchor="ctr"/>
          <a:lstStyle/>
          <a:p>
            <a:pPr algn="ctr" indent="0" marL="0">
              <a:buNone/>
            </a:pPr>
            <a:r>
              <a:rPr lang="en-US" sz="1500" b="1" dirty="0">
                <a:solidFill>
                  <a:srgbClr val="3D8C5A"/>
                </a:solidFill>
                <a:latin typeface="Calibri" pitchFamily="34" charset="0"/>
                <a:ea typeface="Calibri" pitchFamily="34" charset="-122"/>
                <a:cs typeface="Calibri" pitchFamily="34" charset="-120"/>
              </a:rPr>
              <a:t>9 · Dit is Emma</a:t>
            </a:r>
            <a:r>
              <a:rPr lang="en-US" sz="1500" i="1" dirty="0">
                <a:solidFill>
                  <a:srgbClr val="6B7280"/>
                </a:solidFill>
                <a:latin typeface="Calibri" pitchFamily="34" charset="0"/>
                <a:ea typeface="Calibri" pitchFamily="34" charset="-122"/>
                <a:cs typeface="Calibri" pitchFamily="34" charset="-120"/>
              </a:rPr>
              <a:t>   Voici Emma</a:t>
            </a:r>
            <a:r>
              <a:rPr lang="en-US" sz="1200" dirty="0">
                <a:solidFill>
                  <a:srgbClr val="9AA3B2"/>
                </a:solidFill>
                <a:latin typeface="Calibri" pitchFamily="34" charset="0"/>
                <a:ea typeface="Calibri" pitchFamily="34" charset="-122"/>
                <a:cs typeface="Calibri" pitchFamily="34" charset="-120"/>
              </a:rPr>
              <a:t>   ·   syllabus 1.3 · p. 37</a:t>
            </a:r>
            <a:endParaRPr lang="en-US" sz="1500" dirty="0"/>
          </a:p>
        </p:txBody>
      </p:sp>
      <p:sp>
        <p:nvSpPr>
          <p:cNvPr id="7" name="Shape 4"/>
          <p:cNvSpPr/>
          <p:nvPr/>
        </p:nvSpPr>
        <p:spPr>
          <a:xfrm>
            <a:off x="1596085" y="1504645"/>
            <a:ext cx="4534510" cy="2905735"/>
          </a:xfrm>
          <a:prstGeom prst="roundRect">
            <a:avLst>
              <a:gd name="adj" fmla="val 1259"/>
            </a:avLst>
          </a:prstGeom>
          <a:solidFill>
            <a:srgbClr val="FFFFFF"/>
          </a:solidFill>
          <a:ln w="9525">
            <a:solidFill>
              <a:srgbClr val="E3E7EE"/>
            </a:solidFill>
            <a:prstDash val="solid"/>
          </a:ln>
          <a:effectLst>
            <a:outerShdw sx="100000" sy="100000" kx="0" ky="0" algn="bl" rotWithShape="0" blurRad="127000" dist="50800" dir="5400000">
              <a:srgbClr val="1B2430">
                <a:alpha val="25000"/>
              </a:srgbClr>
            </a:outerShdw>
          </a:effectLst>
        </p:spPr>
      </p:sp>
      <p:pic>
        <p:nvPicPr>
          <p:cNvPr id="8" name="Image 0" descr="/home/user/talenleren/neerlandais1/generateur/img/vijfzinnen/a1_emma_s.jpg">    </p:cNvPr>
          <p:cNvPicPr>
            <a:picLocks noChangeAspect="1"/>
          </p:cNvPicPr>
          <p:nvPr/>
        </p:nvPicPr>
        <p:blipFill>
          <a:blip r:embed="rId1"/>
          <a:stretch>
            <a:fillRect/>
          </a:stretch>
        </p:blipFill>
        <p:spPr>
          <a:xfrm>
            <a:off x="1691640" y="1600200"/>
            <a:ext cx="4343400" cy="2714625"/>
          </a:xfrm>
          <a:prstGeom prst="rect">
            <a:avLst/>
          </a:prstGeom>
        </p:spPr>
      </p:pic>
      <p:sp>
        <p:nvSpPr>
          <p:cNvPr id="9" name="Shape 5"/>
          <p:cNvSpPr/>
          <p:nvPr/>
        </p:nvSpPr>
        <p:spPr>
          <a:xfrm>
            <a:off x="1691640" y="4572000"/>
            <a:ext cx="1600200" cy="365760"/>
          </a:xfrm>
          <a:prstGeom prst="roundRect">
            <a:avLst>
              <a:gd name="adj" fmla="val 50000"/>
            </a:avLst>
          </a:prstGeom>
          <a:solidFill>
            <a:srgbClr val="EAF1FC"/>
          </a:solidFill>
          <a:ln w="12700">
            <a:solidFill>
              <a:srgbClr val="4A7BD0"/>
            </a:solidFill>
            <a:prstDash val="solid"/>
          </a:ln>
        </p:spPr>
      </p:sp>
      <p:pic>
        <p:nvPicPr>
          <p:cNvPr id="10" name="Image 1" descr="PenNib">    </p:cNvPr>
          <p:cNvPicPr>
            <a:picLocks noChangeAspect="1"/>
          </p:cNvPicPr>
          <p:nvPr/>
        </p:nvPicPr>
        <p:blipFill>
          <a:blip r:embed="rId2"/>
          <a:stretch>
            <a:fillRect/>
          </a:stretch>
        </p:blipFill>
        <p:spPr>
          <a:xfrm>
            <a:off x="1819656" y="4654296"/>
            <a:ext cx="201168" cy="201168"/>
          </a:xfrm>
          <a:prstGeom prst="rect">
            <a:avLst/>
          </a:prstGeom>
        </p:spPr>
      </p:pic>
      <p:sp>
        <p:nvSpPr>
          <p:cNvPr id="11" name="Text 6"/>
          <p:cNvSpPr txBox="1"/>
          <p:nvPr/>
        </p:nvSpPr>
        <p:spPr>
          <a:xfrm>
            <a:off x="2075688" y="4572000"/>
            <a:ext cx="1143000" cy="365760"/>
          </a:xfrm>
          <a:prstGeom prst="rect">
            <a:avLst/>
          </a:prstGeom>
          <a:noFill/>
          <a:ln/>
        </p:spPr>
        <p:txBody>
          <a:bodyPr wrap="square" lIns="0" tIns="0" rIns="0" bIns="0" rtlCol="0" anchor="ctr"/>
          <a:lstStyle/>
          <a:p>
            <a:pPr algn="l" indent="0" marL="0">
              <a:buNone/>
            </a:pPr>
            <a:r>
              <a:rPr lang="en-US" sz="1150" b="1" spc="100" kern="0" dirty="0">
                <a:solidFill>
                  <a:srgbClr val="4A7BD0"/>
                </a:solidFill>
                <a:latin typeface="Calibri" pitchFamily="34" charset="0"/>
                <a:ea typeface="Calibri" pitchFamily="34" charset="-122"/>
                <a:cs typeface="Calibri" pitchFamily="34" charset="-120"/>
              </a:rPr>
              <a:t>À L’ÉCRIT</a:t>
            </a:r>
            <a:endParaRPr lang="en-US" sz="1150" dirty="0"/>
          </a:p>
        </p:txBody>
      </p:sp>
      <p:sp>
        <p:nvSpPr>
          <p:cNvPr id="12" name="Text 7"/>
          <p:cNvSpPr txBox="1"/>
          <p:nvPr/>
        </p:nvSpPr>
        <p:spPr>
          <a:xfrm>
            <a:off x="3429000" y="4544568"/>
            <a:ext cx="2651760" cy="731520"/>
          </a:xfrm>
          <a:prstGeom prst="rect">
            <a:avLst/>
          </a:prstGeom>
          <a:noFill/>
          <a:ln/>
        </p:spPr>
        <p:txBody>
          <a:bodyPr wrap="square" lIns="0" tIns="0" rIns="0" bIns="0" rtlCol="0" anchor="t"/>
          <a:lstStyle/>
          <a:p>
            <a:pPr algn="l" indent="0" marL="0">
              <a:buNone/>
            </a:pPr>
            <a:r>
              <a:rPr lang="en-US" sz="1150" i="1" dirty="0">
                <a:solidFill>
                  <a:srgbClr val="6B7280"/>
                </a:solidFill>
                <a:latin typeface="Calibri" pitchFamily="34" charset="0"/>
                <a:ea typeface="Calibri" pitchFamily="34" charset="-122"/>
                <a:cs typeface="Calibri" pitchFamily="34" charset="-120"/>
              </a:rPr>
              <a:t>Présentez Emma à un·e ami·e. Attention : il / elle → IS, HEEFT.</a:t>
            </a:r>
            <a:endParaRPr lang="en-US" sz="1150" dirty="0"/>
          </a:p>
        </p:txBody>
      </p:sp>
      <p:sp>
        <p:nvSpPr>
          <p:cNvPr id="13" name="Shape 8"/>
          <p:cNvSpPr/>
          <p:nvPr/>
        </p:nvSpPr>
        <p:spPr>
          <a:xfrm>
            <a:off x="6355080" y="1673352"/>
            <a:ext cx="914400" cy="402336"/>
          </a:xfrm>
          <a:prstGeom prst="roundRect">
            <a:avLst>
              <a:gd name="adj" fmla="val 13636"/>
            </a:avLst>
          </a:prstGeom>
          <a:solidFill>
            <a:srgbClr val="5FA873"/>
          </a:solidFill>
          <a:ln w="12700">
            <a:solidFill>
              <a:srgbClr val="FFFFFF">
                <a:alpha val="0"/>
              </a:srgbClr>
            </a:solidFill>
            <a:prstDash val="solid"/>
          </a:ln>
        </p:spPr>
      </p:sp>
      <p:sp>
        <p:nvSpPr>
          <p:cNvPr id="14" name="Text 9"/>
          <p:cNvSpPr txBox="1"/>
          <p:nvPr/>
        </p:nvSpPr>
        <p:spPr>
          <a:xfrm>
            <a:off x="6355080" y="167335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1</a:t>
            </a:r>
            <a:endParaRPr lang="en-US" sz="1600" dirty="0"/>
          </a:p>
        </p:txBody>
      </p:sp>
      <p:sp>
        <p:nvSpPr>
          <p:cNvPr id="15" name="Text 10"/>
          <p:cNvSpPr txBox="1"/>
          <p:nvPr/>
        </p:nvSpPr>
        <p:spPr>
          <a:xfrm>
            <a:off x="7406640" y="1618488"/>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Présentez-la : </a:t>
            </a:r>
            <a:r>
              <a:rPr lang="en-US" sz="1450" b="1" dirty="0">
                <a:solidFill>
                  <a:srgbClr val="2B2F38"/>
                </a:solidFill>
              </a:rPr>
              <a:t>DIT IS</a:t>
            </a:r>
            <a:r>
              <a:rPr lang="en-US" sz="1450" dirty="0">
                <a:solidFill>
                  <a:srgbClr val="2B2F38"/>
                </a:solidFill>
              </a:rPr>
              <a:t> + prénom.</a:t>
            </a:r>
            <a:endParaRPr lang="en-US" sz="1450" dirty="0"/>
          </a:p>
        </p:txBody>
      </p:sp>
      <p:sp>
        <p:nvSpPr>
          <p:cNvPr id="16" name="Shape 11"/>
          <p:cNvSpPr/>
          <p:nvPr/>
        </p:nvSpPr>
        <p:spPr>
          <a:xfrm>
            <a:off x="6355080" y="2404872"/>
            <a:ext cx="914400" cy="402336"/>
          </a:xfrm>
          <a:prstGeom prst="roundRect">
            <a:avLst>
              <a:gd name="adj" fmla="val 13636"/>
            </a:avLst>
          </a:prstGeom>
          <a:solidFill>
            <a:srgbClr val="5FA873"/>
          </a:solidFill>
          <a:ln w="12700">
            <a:solidFill>
              <a:srgbClr val="FFFFFF">
                <a:alpha val="0"/>
              </a:srgbClr>
            </a:solidFill>
            <a:prstDash val="solid"/>
          </a:ln>
        </p:spPr>
      </p:sp>
      <p:sp>
        <p:nvSpPr>
          <p:cNvPr id="17" name="Text 12"/>
          <p:cNvSpPr txBox="1"/>
          <p:nvPr/>
        </p:nvSpPr>
        <p:spPr>
          <a:xfrm>
            <a:off x="6355080" y="240487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2</a:t>
            </a:r>
            <a:endParaRPr lang="en-US" sz="1600" dirty="0"/>
          </a:p>
        </p:txBody>
      </p:sp>
      <p:sp>
        <p:nvSpPr>
          <p:cNvPr id="18" name="Text 13"/>
          <p:cNvSpPr txBox="1"/>
          <p:nvPr/>
        </p:nvSpPr>
        <p:spPr>
          <a:xfrm>
            <a:off x="7406640" y="2350008"/>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Son métier : </a:t>
            </a:r>
            <a:r>
              <a:rPr lang="en-US" sz="1450" b="1" dirty="0">
                <a:solidFill>
                  <a:srgbClr val="2B2F38"/>
                </a:solidFill>
              </a:rPr>
              <a:t>ZIJ IS</a:t>
            </a:r>
            <a:r>
              <a:rPr lang="en-US" sz="1450" dirty="0">
                <a:solidFill>
                  <a:srgbClr val="2B2F38"/>
                </a:solidFill>
              </a:rPr>
              <a:t> + métier.</a:t>
            </a:r>
            <a:endParaRPr lang="en-US" sz="1450" dirty="0"/>
          </a:p>
        </p:txBody>
      </p:sp>
      <p:sp>
        <p:nvSpPr>
          <p:cNvPr id="19" name="Shape 14"/>
          <p:cNvSpPr/>
          <p:nvPr/>
        </p:nvSpPr>
        <p:spPr>
          <a:xfrm>
            <a:off x="6355080" y="3136392"/>
            <a:ext cx="914400" cy="402336"/>
          </a:xfrm>
          <a:prstGeom prst="roundRect">
            <a:avLst>
              <a:gd name="adj" fmla="val 13636"/>
            </a:avLst>
          </a:prstGeom>
          <a:solidFill>
            <a:srgbClr val="5FA873"/>
          </a:solidFill>
          <a:ln w="12700">
            <a:solidFill>
              <a:srgbClr val="FFFFFF">
                <a:alpha val="0"/>
              </a:srgbClr>
            </a:solidFill>
            <a:prstDash val="solid"/>
          </a:ln>
        </p:spPr>
      </p:sp>
      <p:sp>
        <p:nvSpPr>
          <p:cNvPr id="20" name="Text 15"/>
          <p:cNvSpPr txBox="1"/>
          <p:nvPr/>
        </p:nvSpPr>
        <p:spPr>
          <a:xfrm>
            <a:off x="6355080" y="313639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3</a:t>
            </a:r>
            <a:endParaRPr lang="en-US" sz="1600" dirty="0"/>
          </a:p>
        </p:txBody>
      </p:sp>
      <p:sp>
        <p:nvSpPr>
          <p:cNvPr id="21" name="Text 16"/>
          <p:cNvSpPr txBox="1"/>
          <p:nvPr/>
        </p:nvSpPr>
        <p:spPr>
          <a:xfrm>
            <a:off x="7406640" y="3081528"/>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Sa famille : </a:t>
            </a:r>
            <a:r>
              <a:rPr lang="en-US" sz="1450" b="1" dirty="0">
                <a:solidFill>
                  <a:srgbClr val="2B2F38"/>
                </a:solidFill>
              </a:rPr>
              <a:t>ZIJ HEEFT</a:t>
            </a:r>
            <a:r>
              <a:rPr lang="en-US" sz="1450" dirty="0">
                <a:solidFill>
                  <a:srgbClr val="2B2F38"/>
                </a:solidFill>
              </a:rPr>
              <a:t> + een broer / een zus…</a:t>
            </a:r>
            <a:endParaRPr lang="en-US" sz="1450" dirty="0"/>
          </a:p>
        </p:txBody>
      </p:sp>
      <p:sp>
        <p:nvSpPr>
          <p:cNvPr id="22" name="Shape 17"/>
          <p:cNvSpPr/>
          <p:nvPr/>
        </p:nvSpPr>
        <p:spPr>
          <a:xfrm>
            <a:off x="6355080" y="3867912"/>
            <a:ext cx="914400" cy="402336"/>
          </a:xfrm>
          <a:prstGeom prst="roundRect">
            <a:avLst>
              <a:gd name="adj" fmla="val 13636"/>
            </a:avLst>
          </a:prstGeom>
          <a:solidFill>
            <a:srgbClr val="5FA873"/>
          </a:solidFill>
          <a:ln w="12700">
            <a:solidFill>
              <a:srgbClr val="FFFFFF">
                <a:alpha val="0"/>
              </a:srgbClr>
            </a:solidFill>
            <a:prstDash val="solid"/>
          </a:ln>
        </p:spPr>
      </p:sp>
      <p:sp>
        <p:nvSpPr>
          <p:cNvPr id="23" name="Text 18"/>
          <p:cNvSpPr txBox="1"/>
          <p:nvPr/>
        </p:nvSpPr>
        <p:spPr>
          <a:xfrm>
            <a:off x="6355080" y="386791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4</a:t>
            </a:r>
            <a:endParaRPr lang="en-US" sz="1600" dirty="0"/>
          </a:p>
        </p:txBody>
      </p:sp>
      <p:sp>
        <p:nvSpPr>
          <p:cNvPr id="24" name="Text 19"/>
          <p:cNvSpPr txBox="1"/>
          <p:nvPr/>
        </p:nvSpPr>
        <p:spPr>
          <a:xfrm>
            <a:off x="7406640" y="3813048"/>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Une chute : aujourd’hui, elle </a:t>
            </a:r>
            <a:r>
              <a:rPr lang="en-US" sz="1450" b="1" dirty="0">
                <a:solidFill>
                  <a:srgbClr val="2B2F38"/>
                </a:solidFill>
              </a:rPr>
              <a:t>IS</a:t>
            </a:r>
            <a:r>
              <a:rPr lang="en-US" sz="1450" dirty="0">
                <a:solidFill>
                  <a:srgbClr val="2B2F38"/>
                </a:solidFill>
              </a:rPr>
              <a:t> + adjectif.</a:t>
            </a:r>
            <a:endParaRPr lang="en-US" sz="1450" dirty="0"/>
          </a:p>
        </p:txBody>
      </p:sp>
      <p:sp>
        <p:nvSpPr>
          <p:cNvPr id="25" name="Shape 20"/>
          <p:cNvSpPr/>
          <p:nvPr/>
        </p:nvSpPr>
        <p:spPr>
          <a:xfrm>
            <a:off x="3246120" y="5440680"/>
            <a:ext cx="6858000" cy="822960"/>
          </a:xfrm>
          <a:prstGeom prst="roundRect">
            <a:avLst>
              <a:gd name="adj" fmla="val 17778"/>
            </a:avLst>
          </a:prstGeom>
          <a:solidFill>
            <a:srgbClr val="EAF5EC"/>
          </a:solidFill>
          <a:ln w="15875">
            <a:solidFill>
              <a:srgbClr val="5FA873"/>
            </a:solidFill>
            <a:prstDash val="solid"/>
          </a:ln>
        </p:spPr>
      </p:sp>
      <p:pic>
        <p:nvPicPr>
          <p:cNvPr id="26" name="Image 2" descr="UserFriends">    </p:cNvPr>
          <p:cNvPicPr>
            <a:picLocks noChangeAspect="1"/>
          </p:cNvPicPr>
          <p:nvPr/>
        </p:nvPicPr>
        <p:blipFill>
          <a:blip r:embed="rId3"/>
          <a:stretch>
            <a:fillRect/>
          </a:stretch>
        </p:blipFill>
        <p:spPr>
          <a:xfrm>
            <a:off x="3520440" y="5660136"/>
            <a:ext cx="384048" cy="384048"/>
          </a:xfrm>
          <a:prstGeom prst="rect">
            <a:avLst/>
          </a:prstGeom>
        </p:spPr>
      </p:pic>
      <p:sp>
        <p:nvSpPr>
          <p:cNvPr id="27" name="Text 21"/>
          <p:cNvSpPr txBox="1"/>
          <p:nvPr/>
        </p:nvSpPr>
        <p:spPr>
          <a:xfrm>
            <a:off x="4114800" y="5440680"/>
            <a:ext cx="5852160" cy="822960"/>
          </a:xfrm>
          <a:prstGeom prst="rect">
            <a:avLst/>
          </a:prstGeom>
          <a:noFill/>
          <a:ln/>
        </p:spPr>
        <p:txBody>
          <a:bodyPr wrap="square" lIns="0" tIns="0" rIns="0" bIns="0" rtlCol="0" anchor="ctr"/>
          <a:lstStyle/>
          <a:p>
            <a:pPr algn="ctr" indent="0" marL="0">
              <a:buNone/>
            </a:pPr>
            <a:r>
              <a:rPr lang="en-US" sz="1800" b="1" dirty="0">
                <a:solidFill>
                  <a:srgbClr val="2E6B44"/>
                </a:solidFill>
                <a:latin typeface="Calibri" pitchFamily="34" charset="0"/>
                <a:ea typeface="Calibri" pitchFamily="34" charset="-122"/>
                <a:cs typeface="Calibri" pitchFamily="34" charset="-120"/>
              </a:rPr>
              <a:t>Lees je tekst voor aan je partner.</a:t>
            </a:r>
            <a:endParaRPr lang="en-US" sz="1800" dirty="0"/>
          </a:p>
          <a:p>
            <a:pPr algn="ctr" indent="0" marL="0">
              <a:buNone/>
            </a:pPr>
            <a:r>
              <a:rPr lang="en-US" sz="1800" b="1" dirty="0">
                <a:solidFill>
                  <a:srgbClr val="2E6B44"/>
                </a:solidFill>
                <a:latin typeface="Calibri" pitchFamily="34" charset="0"/>
                <a:ea typeface="Calibri" pitchFamily="34" charset="-122"/>
                <a:cs typeface="Calibri" pitchFamily="34" charset="-120"/>
              </a:rPr>
              <a:t>Wat denkt hij/zij daarvan?</a:t>
            </a:r>
            <a:endParaRPr lang="en-US" sz="1800" dirty="0"/>
          </a:p>
        </p:txBody>
      </p:sp>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1"/>
          <p:cNvSpPr/>
          <p:nvPr>
            <p:ph idx="101" type="title" hasCustomPrompt="1"/>
          </p:nvPr>
        </p:nvSpPr>
        <p:spPr>
          <a:xfrm>
            <a:off x="1554480" y="384048"/>
            <a:ext cx="10241280" cy="658368"/>
          </a:xfrm>
          <a:prstGeom prst="rect">
            <a:avLst/>
          </a:prstGeom>
          <a:noFill/>
          <a:ln/>
        </p:spPr>
        <p:txBody>
          <a:bodyPr wrap="square" lIns="0" tIns="0" rIns="0" bIns="0" rtlCol="0" anchor="ctr"/>
          <a:lstStyle/>
          <a:p>
            <a:pPr algn="ctr" indent="0" marL="0">
              <a:buNone/>
            </a:pPr>
            <a:r>
              <a:rPr lang="en-US" sz="3000" b="1" dirty="0">
                <a:solidFill>
                  <a:srgbClr val="2B2F38"/>
                </a:solidFill>
              </a:rPr>
              <a:t>Dit is Emma</a:t>
            </a:r>
            <a:endParaRPr lang="en-US" sz="3000" dirty="0"/>
          </a:p>
        </p:txBody>
      </p:sp>
      <p:sp>
        <p:nvSpPr>
          <p:cNvPr id="4" name="Shape 1"/>
          <p:cNvSpPr/>
          <p:nvPr/>
        </p:nvSpPr>
        <p:spPr>
          <a:xfrm>
            <a:off x="365760" y="365760"/>
            <a:ext cx="868680" cy="5989320"/>
          </a:xfrm>
          <a:prstGeom prst="roundRect">
            <a:avLst>
              <a:gd name="adj" fmla="val 12632"/>
            </a:avLst>
          </a:prstGeom>
          <a:solidFill>
            <a:srgbClr val="E6F4EA"/>
          </a:solidFill>
          <a:ln w="28575">
            <a:solidFill>
              <a:srgbClr val="6DBE8A"/>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3D8C5A"/>
                </a:solidFill>
                <a:latin typeface="Calibri" pitchFamily="34" charset="0"/>
                <a:ea typeface="Calibri" pitchFamily="34" charset="-122"/>
                <a:cs typeface="Calibri" pitchFamily="34" charset="-120"/>
              </a:rPr>
              <a:t>A1 · Premiers pas</a:t>
            </a:r>
            <a:endParaRPr lang="en-US" sz="3800" dirty="0"/>
          </a:p>
        </p:txBody>
      </p:sp>
      <p:sp>
        <p:nvSpPr>
          <p:cNvPr id="6" name="Shape 3"/>
          <p:cNvSpPr/>
          <p:nvPr/>
        </p:nvSpPr>
        <p:spPr>
          <a:xfrm>
            <a:off x="2519172" y="1124712"/>
            <a:ext cx="8311896" cy="5277231"/>
          </a:xfrm>
          <a:prstGeom prst="roundRect">
            <a:avLst>
              <a:gd name="adj" fmla="val 693"/>
            </a:avLst>
          </a:prstGeom>
          <a:solidFill>
            <a:srgbClr val="FFFFFF"/>
          </a:solidFill>
          <a:ln w="9525">
            <a:solidFill>
              <a:srgbClr val="E3E7EE"/>
            </a:solidFill>
            <a:prstDash val="solid"/>
          </a:ln>
          <a:effectLst>
            <a:outerShdw sx="100000" sy="100000" kx="0" ky="0" algn="bl" rotWithShape="0" blurRad="177800" dist="63500" dir="5400000">
              <a:srgbClr val="1B2430">
                <a:alpha val="25000"/>
              </a:srgbClr>
            </a:outerShdw>
          </a:effectLst>
        </p:spPr>
      </p:sp>
      <p:pic>
        <p:nvPicPr>
          <p:cNvPr id="7" name="Image 0" descr="/home/user/talenleren/neerlandais1/generateur/img/vijfzinnen/a1_emma.jpg">    </p:cNvPr>
          <p:cNvPicPr>
            <a:picLocks noChangeAspect="1"/>
          </p:cNvPicPr>
          <p:nvPr/>
        </p:nvPicPr>
        <p:blipFill>
          <a:blip r:embed="rId1"/>
          <a:stretch>
            <a:fillRect/>
          </a:stretch>
        </p:blipFill>
        <p:spPr>
          <a:xfrm>
            <a:off x="2628900" y="1234440"/>
            <a:ext cx="8092440" cy="5057775"/>
          </a:xfrm>
          <a:prstGeom prst="rect">
            <a:avLst/>
          </a:prstGeom>
        </p:spPr>
      </p:pic>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1"/>
          <p:cNvSpPr/>
          <p:nvPr>
            <p:ph idx="101" type="title" hasCustomPrompt="1"/>
          </p:nvPr>
        </p:nvSpPr>
        <p:spPr>
          <a:xfrm>
            <a:off x="1691640" y="347472"/>
            <a:ext cx="8138160" cy="914400"/>
          </a:xfrm>
          <a:prstGeom prst="rect">
            <a:avLst/>
          </a:prstGeom>
          <a:noFill/>
          <a:ln/>
        </p:spPr>
        <p:txBody>
          <a:bodyPr wrap="square" lIns="0" tIns="0" rIns="0" bIns="0" rtlCol="0" anchor="ctr"/>
          <a:lstStyle/>
          <a:p>
            <a:pPr algn="l" indent="0" marL="0">
              <a:buNone/>
            </a:pPr>
            <a:r>
              <a:rPr lang="en-US" sz="2400" b="1" dirty="0">
                <a:solidFill>
                  <a:srgbClr val="2B2F38"/>
                </a:solidFill>
              </a:rPr>
              <a:t>Hier is een voorbeeld van wat je had kunnen denken en schrijven…</a:t>
            </a:r>
            <a:endParaRPr lang="en-US" sz="2400" dirty="0"/>
          </a:p>
        </p:txBody>
      </p:sp>
      <p:sp>
        <p:nvSpPr>
          <p:cNvPr id="4" name="Shape 1"/>
          <p:cNvSpPr/>
          <p:nvPr/>
        </p:nvSpPr>
        <p:spPr>
          <a:xfrm>
            <a:off x="365760" y="365760"/>
            <a:ext cx="868680" cy="5989320"/>
          </a:xfrm>
          <a:prstGeom prst="roundRect">
            <a:avLst>
              <a:gd name="adj" fmla="val 12632"/>
            </a:avLst>
          </a:prstGeom>
          <a:solidFill>
            <a:srgbClr val="E6F4EA"/>
          </a:solidFill>
          <a:ln w="28575">
            <a:solidFill>
              <a:srgbClr val="6DBE8A"/>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3D8C5A"/>
                </a:solidFill>
                <a:latin typeface="Calibri" pitchFamily="34" charset="0"/>
                <a:ea typeface="Calibri" pitchFamily="34" charset="-122"/>
                <a:cs typeface="Calibri" pitchFamily="34" charset="-120"/>
              </a:rPr>
              <a:t>A1 · Premiers pas</a:t>
            </a:r>
            <a:endParaRPr lang="en-US" sz="3800" dirty="0"/>
          </a:p>
        </p:txBody>
      </p:sp>
      <p:sp>
        <p:nvSpPr>
          <p:cNvPr id="6" name="Shape 3"/>
          <p:cNvSpPr/>
          <p:nvPr/>
        </p:nvSpPr>
        <p:spPr>
          <a:xfrm>
            <a:off x="10058400" y="246888"/>
            <a:ext cx="1691640" cy="1091565"/>
          </a:xfrm>
          <a:prstGeom prst="roundRect">
            <a:avLst>
              <a:gd name="adj" fmla="val 3351"/>
            </a:avLst>
          </a:prstGeom>
          <a:solidFill>
            <a:srgbClr val="FFFFFF"/>
          </a:solidFill>
          <a:ln w="9525">
            <a:solidFill>
              <a:srgbClr val="E3E7EE"/>
            </a:solidFill>
            <a:prstDash val="solid"/>
          </a:ln>
          <a:effectLst>
            <a:outerShdw sx="100000" sy="100000" kx="0" ky="0" algn="bl" rotWithShape="0" blurRad="76200" dist="25400" dir="5400000">
              <a:srgbClr val="1B2430">
                <a:alpha val="25000"/>
              </a:srgbClr>
            </a:outerShdw>
          </a:effectLst>
        </p:spPr>
      </p:sp>
      <p:pic>
        <p:nvPicPr>
          <p:cNvPr id="7" name="Image 0" descr="/home/user/talenleren/neerlandais1/generateur/img/vijfzinnen/a1_emma_s.jpg">    </p:cNvPr>
          <p:cNvPicPr>
            <a:picLocks noChangeAspect="1"/>
          </p:cNvPicPr>
          <p:nvPr/>
        </p:nvPicPr>
        <p:blipFill>
          <a:blip r:embed="rId1"/>
          <a:stretch>
            <a:fillRect/>
          </a:stretch>
        </p:blipFill>
        <p:spPr>
          <a:xfrm>
            <a:off x="10104120" y="292608"/>
            <a:ext cx="1600200" cy="1000125"/>
          </a:xfrm>
          <a:prstGeom prst="rect">
            <a:avLst/>
          </a:prstGeom>
        </p:spPr>
      </p:pic>
      <p:sp>
        <p:nvSpPr>
          <p:cNvPr id="8" name="Shape 4"/>
          <p:cNvSpPr/>
          <p:nvPr/>
        </p:nvSpPr>
        <p:spPr>
          <a:xfrm>
            <a:off x="1691640" y="3120542"/>
            <a:ext cx="729691" cy="371856"/>
          </a:xfrm>
          <a:prstGeom prst="roundRect">
            <a:avLst>
              <a:gd name="adj" fmla="val 12295"/>
            </a:avLst>
          </a:prstGeom>
          <a:solidFill>
            <a:srgbClr val="E6F3DA"/>
          </a:solidFill>
          <a:ln w="12700">
            <a:solidFill>
              <a:srgbClr val="FFFFFF">
                <a:alpha val="0"/>
              </a:srgbClr>
            </a:solidFill>
            <a:prstDash val="solid"/>
          </a:ln>
        </p:spPr>
      </p:sp>
      <p:sp>
        <p:nvSpPr>
          <p:cNvPr id="9" name="Text 5"/>
          <p:cNvSpPr txBox="1"/>
          <p:nvPr/>
        </p:nvSpPr>
        <p:spPr>
          <a:xfrm>
            <a:off x="1691640" y="3108350"/>
            <a:ext cx="729691"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Dit is</a:t>
            </a:r>
            <a:endParaRPr lang="en-US" sz="2400" dirty="0"/>
          </a:p>
        </p:txBody>
      </p:sp>
      <p:sp>
        <p:nvSpPr>
          <p:cNvPr id="10" name="Text 6"/>
          <p:cNvSpPr txBox="1"/>
          <p:nvPr/>
        </p:nvSpPr>
        <p:spPr>
          <a:xfrm>
            <a:off x="2508504" y="3108350"/>
            <a:ext cx="1041502"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Emma.</a:t>
            </a:r>
            <a:endParaRPr lang="en-US" sz="2400" dirty="0"/>
          </a:p>
        </p:txBody>
      </p:sp>
      <p:sp>
        <p:nvSpPr>
          <p:cNvPr id="11" name="Shape 7"/>
          <p:cNvSpPr/>
          <p:nvPr/>
        </p:nvSpPr>
        <p:spPr>
          <a:xfrm>
            <a:off x="3454298" y="3120542"/>
            <a:ext cx="1594409" cy="371856"/>
          </a:xfrm>
          <a:prstGeom prst="roundRect">
            <a:avLst>
              <a:gd name="adj" fmla="val 12295"/>
            </a:avLst>
          </a:prstGeom>
          <a:solidFill>
            <a:srgbClr val="E6F3DA"/>
          </a:solidFill>
          <a:ln w="12700">
            <a:solidFill>
              <a:srgbClr val="FFFFFF">
                <a:alpha val="0"/>
              </a:srgbClr>
            </a:solidFill>
            <a:prstDash val="solid"/>
          </a:ln>
        </p:spPr>
      </p:sp>
      <p:sp>
        <p:nvSpPr>
          <p:cNvPr id="12" name="Text 8"/>
          <p:cNvSpPr txBox="1"/>
          <p:nvPr/>
        </p:nvSpPr>
        <p:spPr>
          <a:xfrm>
            <a:off x="3454298" y="3108350"/>
            <a:ext cx="1594409"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Zij is lerares</a:t>
            </a:r>
            <a:endParaRPr lang="en-US" sz="2400" dirty="0"/>
          </a:p>
        </p:txBody>
      </p:sp>
      <p:sp>
        <p:nvSpPr>
          <p:cNvPr id="13" name="Text 9"/>
          <p:cNvSpPr txBox="1"/>
          <p:nvPr/>
        </p:nvSpPr>
        <p:spPr>
          <a:xfrm>
            <a:off x="5048707" y="3108350"/>
            <a:ext cx="259690"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a:t>
            </a:r>
            <a:endParaRPr lang="en-US" sz="2400" dirty="0"/>
          </a:p>
        </p:txBody>
      </p:sp>
      <p:sp>
        <p:nvSpPr>
          <p:cNvPr id="14" name="Shape 10"/>
          <p:cNvSpPr/>
          <p:nvPr/>
        </p:nvSpPr>
        <p:spPr>
          <a:xfrm>
            <a:off x="5212690" y="3120542"/>
            <a:ext cx="1131113" cy="371856"/>
          </a:xfrm>
          <a:prstGeom prst="roundRect">
            <a:avLst>
              <a:gd name="adj" fmla="val 12295"/>
            </a:avLst>
          </a:prstGeom>
          <a:solidFill>
            <a:srgbClr val="E6F3DA"/>
          </a:solidFill>
          <a:ln w="12700">
            <a:solidFill>
              <a:srgbClr val="FFFFFF">
                <a:alpha val="0"/>
              </a:srgbClr>
            </a:solidFill>
            <a:prstDash val="solid"/>
          </a:ln>
        </p:spPr>
      </p:sp>
      <p:sp>
        <p:nvSpPr>
          <p:cNvPr id="15" name="Text 11"/>
          <p:cNvSpPr txBox="1"/>
          <p:nvPr/>
        </p:nvSpPr>
        <p:spPr>
          <a:xfrm>
            <a:off x="5212690" y="3108350"/>
            <a:ext cx="1131113"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Zij heeft</a:t>
            </a:r>
            <a:endParaRPr lang="en-US" sz="2400" dirty="0"/>
          </a:p>
        </p:txBody>
      </p:sp>
      <p:sp>
        <p:nvSpPr>
          <p:cNvPr id="16" name="Text 12"/>
          <p:cNvSpPr txBox="1"/>
          <p:nvPr/>
        </p:nvSpPr>
        <p:spPr>
          <a:xfrm>
            <a:off x="6430975" y="3108350"/>
            <a:ext cx="3173273"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een broer en een hond.</a:t>
            </a:r>
            <a:endParaRPr lang="en-US" sz="2400" dirty="0"/>
          </a:p>
        </p:txBody>
      </p:sp>
      <p:sp>
        <p:nvSpPr>
          <p:cNvPr id="17" name="Shape 13"/>
          <p:cNvSpPr/>
          <p:nvPr/>
        </p:nvSpPr>
        <p:spPr>
          <a:xfrm>
            <a:off x="2056486" y="3044342"/>
            <a:ext cx="914" cy="76200"/>
          </a:xfrm>
          <a:prstGeom prst="line">
            <a:avLst/>
          </a:prstGeom>
          <a:noFill/>
          <a:ln w="15875">
            <a:solidFill>
              <a:srgbClr val="7AB648"/>
            </a:solidFill>
            <a:prstDash val="solid"/>
          </a:ln>
        </p:spPr>
      </p:sp>
      <p:sp>
        <p:nvSpPr>
          <p:cNvPr id="18" name="Shape 14"/>
          <p:cNvSpPr/>
          <p:nvPr/>
        </p:nvSpPr>
        <p:spPr>
          <a:xfrm>
            <a:off x="1782051" y="2797454"/>
            <a:ext cx="548869" cy="246888"/>
          </a:xfrm>
          <a:prstGeom prst="roundRect">
            <a:avLst>
              <a:gd name="adj" fmla="val 14815"/>
            </a:avLst>
          </a:prstGeom>
          <a:solidFill>
            <a:srgbClr val="7AB648"/>
          </a:solidFill>
          <a:ln w="12700">
            <a:solidFill>
              <a:srgbClr val="FFFFFF">
                <a:alpha val="0"/>
              </a:srgbClr>
            </a:solidFill>
            <a:prstDash val="solid"/>
          </a:ln>
        </p:spPr>
      </p:sp>
      <p:sp>
        <p:nvSpPr>
          <p:cNvPr id="19" name="Text 15"/>
          <p:cNvSpPr txBox="1"/>
          <p:nvPr/>
        </p:nvSpPr>
        <p:spPr>
          <a:xfrm>
            <a:off x="1782051" y="2797454"/>
            <a:ext cx="548869"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DIT IS</a:t>
            </a:r>
            <a:endParaRPr lang="en-US" sz="1100" dirty="0"/>
          </a:p>
        </p:txBody>
      </p:sp>
      <p:sp>
        <p:nvSpPr>
          <p:cNvPr id="20" name="Shape 16"/>
          <p:cNvSpPr/>
          <p:nvPr/>
        </p:nvSpPr>
        <p:spPr>
          <a:xfrm>
            <a:off x="4251503" y="3044342"/>
            <a:ext cx="914" cy="76200"/>
          </a:xfrm>
          <a:prstGeom prst="line">
            <a:avLst/>
          </a:prstGeom>
          <a:noFill/>
          <a:ln w="15875">
            <a:solidFill>
              <a:srgbClr val="7AB648"/>
            </a:solidFill>
            <a:prstDash val="solid"/>
          </a:ln>
        </p:spPr>
      </p:sp>
      <p:sp>
        <p:nvSpPr>
          <p:cNvPr id="21" name="Shape 17"/>
          <p:cNvSpPr/>
          <p:nvPr/>
        </p:nvSpPr>
        <p:spPr>
          <a:xfrm>
            <a:off x="3999141" y="2797454"/>
            <a:ext cx="504723" cy="246888"/>
          </a:xfrm>
          <a:prstGeom prst="roundRect">
            <a:avLst>
              <a:gd name="adj" fmla="val 14815"/>
            </a:avLst>
          </a:prstGeom>
          <a:solidFill>
            <a:srgbClr val="7AB648"/>
          </a:solidFill>
          <a:ln w="12700">
            <a:solidFill>
              <a:srgbClr val="FFFFFF">
                <a:alpha val="0"/>
              </a:srgbClr>
            </a:solidFill>
            <a:prstDash val="solid"/>
          </a:ln>
        </p:spPr>
      </p:sp>
      <p:sp>
        <p:nvSpPr>
          <p:cNvPr id="22" name="Text 18"/>
          <p:cNvSpPr txBox="1"/>
          <p:nvPr/>
        </p:nvSpPr>
        <p:spPr>
          <a:xfrm>
            <a:off x="3999141" y="2797454"/>
            <a:ext cx="504723"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ZIJ IS</a:t>
            </a:r>
            <a:endParaRPr lang="en-US" sz="1100" dirty="0"/>
          </a:p>
        </p:txBody>
      </p:sp>
      <p:sp>
        <p:nvSpPr>
          <p:cNvPr id="23" name="Shape 19"/>
          <p:cNvSpPr/>
          <p:nvPr/>
        </p:nvSpPr>
        <p:spPr>
          <a:xfrm>
            <a:off x="5778246" y="3044342"/>
            <a:ext cx="914" cy="76200"/>
          </a:xfrm>
          <a:prstGeom prst="line">
            <a:avLst/>
          </a:prstGeom>
          <a:noFill/>
          <a:ln w="15875">
            <a:solidFill>
              <a:srgbClr val="7AB648"/>
            </a:solidFill>
            <a:prstDash val="solid"/>
          </a:ln>
        </p:spPr>
      </p:sp>
      <p:sp>
        <p:nvSpPr>
          <p:cNvPr id="24" name="Shape 20"/>
          <p:cNvSpPr/>
          <p:nvPr/>
        </p:nvSpPr>
        <p:spPr>
          <a:xfrm>
            <a:off x="5398687" y="2797454"/>
            <a:ext cx="759117" cy="246888"/>
          </a:xfrm>
          <a:prstGeom prst="roundRect">
            <a:avLst>
              <a:gd name="adj" fmla="val 14815"/>
            </a:avLst>
          </a:prstGeom>
          <a:solidFill>
            <a:srgbClr val="7AB648"/>
          </a:solidFill>
          <a:ln w="12700">
            <a:solidFill>
              <a:srgbClr val="FFFFFF">
                <a:alpha val="0"/>
              </a:srgbClr>
            </a:solidFill>
            <a:prstDash val="solid"/>
          </a:ln>
        </p:spPr>
      </p:sp>
      <p:sp>
        <p:nvSpPr>
          <p:cNvPr id="25" name="Text 21"/>
          <p:cNvSpPr txBox="1"/>
          <p:nvPr/>
        </p:nvSpPr>
        <p:spPr>
          <a:xfrm>
            <a:off x="5398687" y="2797454"/>
            <a:ext cx="759117"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ZIJ HEEFT</a:t>
            </a:r>
            <a:endParaRPr lang="en-US" sz="1100" dirty="0"/>
          </a:p>
        </p:txBody>
      </p:sp>
      <p:sp>
        <p:nvSpPr>
          <p:cNvPr id="26" name="Text 22"/>
          <p:cNvSpPr txBox="1"/>
          <p:nvPr/>
        </p:nvSpPr>
        <p:spPr>
          <a:xfrm>
            <a:off x="3760318" y="4162958"/>
            <a:ext cx="1257300"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Vandaag</a:t>
            </a:r>
            <a:endParaRPr lang="en-US" sz="2400" dirty="0"/>
          </a:p>
        </p:txBody>
      </p:sp>
      <p:sp>
        <p:nvSpPr>
          <p:cNvPr id="27" name="Shape 23"/>
          <p:cNvSpPr/>
          <p:nvPr/>
        </p:nvSpPr>
        <p:spPr>
          <a:xfrm>
            <a:off x="4921910" y="4175150"/>
            <a:ext cx="1705661" cy="371856"/>
          </a:xfrm>
          <a:prstGeom prst="roundRect">
            <a:avLst>
              <a:gd name="adj" fmla="val 12295"/>
            </a:avLst>
          </a:prstGeom>
          <a:solidFill>
            <a:srgbClr val="E6F3DA"/>
          </a:solidFill>
          <a:ln w="12700">
            <a:solidFill>
              <a:srgbClr val="FFFFFF">
                <a:alpha val="0"/>
              </a:srgbClr>
            </a:solidFill>
            <a:prstDash val="solid"/>
          </a:ln>
        </p:spPr>
      </p:sp>
      <p:sp>
        <p:nvSpPr>
          <p:cNvPr id="28" name="Text 24"/>
          <p:cNvSpPr txBox="1"/>
          <p:nvPr/>
        </p:nvSpPr>
        <p:spPr>
          <a:xfrm>
            <a:off x="4921910" y="4162958"/>
            <a:ext cx="1705661"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is ze heel blij</a:t>
            </a:r>
            <a:endParaRPr lang="en-US" sz="2400" dirty="0"/>
          </a:p>
        </p:txBody>
      </p:sp>
      <p:sp>
        <p:nvSpPr>
          <p:cNvPr id="29" name="Text 25"/>
          <p:cNvSpPr txBox="1"/>
          <p:nvPr/>
        </p:nvSpPr>
        <p:spPr>
          <a:xfrm>
            <a:off x="6627571" y="4162958"/>
            <a:ext cx="3190951"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 het is haar verjaardag!</a:t>
            </a:r>
            <a:endParaRPr lang="en-US" sz="2400" dirty="0"/>
          </a:p>
        </p:txBody>
      </p:sp>
      <p:sp>
        <p:nvSpPr>
          <p:cNvPr id="30" name="Shape 26"/>
          <p:cNvSpPr/>
          <p:nvPr/>
        </p:nvSpPr>
        <p:spPr>
          <a:xfrm>
            <a:off x="5774741" y="4098950"/>
            <a:ext cx="914" cy="76200"/>
          </a:xfrm>
          <a:prstGeom prst="line">
            <a:avLst/>
          </a:prstGeom>
          <a:noFill/>
          <a:ln w="15875">
            <a:solidFill>
              <a:srgbClr val="7AB648"/>
            </a:solidFill>
            <a:prstDash val="solid"/>
          </a:ln>
        </p:spPr>
      </p:sp>
      <p:sp>
        <p:nvSpPr>
          <p:cNvPr id="31" name="Shape 27"/>
          <p:cNvSpPr/>
          <p:nvPr/>
        </p:nvSpPr>
        <p:spPr>
          <a:xfrm>
            <a:off x="5438489" y="3852062"/>
            <a:ext cx="672503" cy="246888"/>
          </a:xfrm>
          <a:prstGeom prst="roundRect">
            <a:avLst>
              <a:gd name="adj" fmla="val 14815"/>
            </a:avLst>
          </a:prstGeom>
          <a:solidFill>
            <a:srgbClr val="7AB648"/>
          </a:solidFill>
          <a:ln w="12700">
            <a:solidFill>
              <a:srgbClr val="FFFFFF">
                <a:alpha val="0"/>
              </a:srgbClr>
            </a:solidFill>
            <a:prstDash val="solid"/>
          </a:ln>
        </p:spPr>
      </p:sp>
      <p:sp>
        <p:nvSpPr>
          <p:cNvPr id="32" name="Text 28"/>
          <p:cNvSpPr txBox="1"/>
          <p:nvPr/>
        </p:nvSpPr>
        <p:spPr>
          <a:xfrm>
            <a:off x="5438489" y="3852062"/>
            <a:ext cx="672503"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IS + adj.</a:t>
            </a:r>
            <a:endParaRPr lang="en-US" sz="1100" dirty="0"/>
          </a:p>
        </p:txBody>
      </p:sp>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1"/>
          <p:cNvSpPr/>
          <p:nvPr>
            <p:ph idx="101" type="title" hasCustomPrompt="1"/>
          </p:nvPr>
        </p:nvSpPr>
        <p:spPr>
          <a:xfrm>
            <a:off x="1554480" y="384048"/>
            <a:ext cx="10241280" cy="658368"/>
          </a:xfrm>
          <a:prstGeom prst="rect">
            <a:avLst/>
          </a:prstGeom>
          <a:noFill/>
          <a:ln/>
        </p:spPr>
        <p:txBody>
          <a:bodyPr wrap="square" lIns="0" tIns="0" rIns="0" bIns="0" rtlCol="0" anchor="ctr"/>
          <a:lstStyle/>
          <a:p>
            <a:pPr algn="ctr" indent="0" marL="0">
              <a:buNone/>
            </a:pPr>
            <a:r>
              <a:rPr lang="en-US" sz="3000" b="1" dirty="0">
                <a:solidFill>
                  <a:srgbClr val="2B2F38"/>
                </a:solidFill>
              </a:rPr>
              <a:t>Gebruik deze afbeelding als inspiratie</a:t>
            </a:r>
            <a:endParaRPr lang="en-US" sz="3000" dirty="0"/>
          </a:p>
        </p:txBody>
      </p:sp>
      <p:sp>
        <p:nvSpPr>
          <p:cNvPr id="4" name="Shape 1"/>
          <p:cNvSpPr/>
          <p:nvPr/>
        </p:nvSpPr>
        <p:spPr>
          <a:xfrm>
            <a:off x="365760" y="365760"/>
            <a:ext cx="868680" cy="5989320"/>
          </a:xfrm>
          <a:prstGeom prst="roundRect">
            <a:avLst>
              <a:gd name="adj" fmla="val 12632"/>
            </a:avLst>
          </a:prstGeom>
          <a:solidFill>
            <a:srgbClr val="E6F4EA"/>
          </a:solidFill>
          <a:ln w="28575">
            <a:solidFill>
              <a:srgbClr val="6DBE8A"/>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3D8C5A"/>
                </a:solidFill>
                <a:latin typeface="Calibri" pitchFamily="34" charset="0"/>
                <a:ea typeface="Calibri" pitchFamily="34" charset="-122"/>
                <a:cs typeface="Calibri" pitchFamily="34" charset="-120"/>
              </a:rPr>
              <a:t>A1 · Premiers pas</a:t>
            </a:r>
            <a:endParaRPr lang="en-US" sz="3800" dirty="0"/>
          </a:p>
        </p:txBody>
      </p:sp>
      <p:sp>
        <p:nvSpPr>
          <p:cNvPr id="6" name="Text 3"/>
          <p:cNvSpPr txBox="1"/>
          <p:nvPr/>
        </p:nvSpPr>
        <p:spPr>
          <a:xfrm>
            <a:off x="1554480" y="1024128"/>
            <a:ext cx="10241280" cy="365760"/>
          </a:xfrm>
          <a:prstGeom prst="rect">
            <a:avLst/>
          </a:prstGeom>
          <a:noFill/>
          <a:ln/>
        </p:spPr>
        <p:txBody>
          <a:bodyPr wrap="square" lIns="0" tIns="0" rIns="0" bIns="0" rtlCol="0" anchor="ctr"/>
          <a:lstStyle/>
          <a:p>
            <a:pPr algn="ctr" indent="0" marL="0">
              <a:buNone/>
            </a:pPr>
            <a:r>
              <a:rPr lang="en-US" sz="1500" b="1" dirty="0">
                <a:solidFill>
                  <a:srgbClr val="3D8C5A"/>
                </a:solidFill>
                <a:latin typeface="Calibri" pitchFamily="34" charset="0"/>
                <a:ea typeface="Calibri" pitchFamily="34" charset="-122"/>
                <a:cs typeface="Calibri" pitchFamily="34" charset="-120"/>
              </a:rPr>
              <a:t>10 · Ik heb honger!</a:t>
            </a:r>
            <a:r>
              <a:rPr lang="en-US" sz="1500" i="1" dirty="0">
                <a:solidFill>
                  <a:srgbClr val="6B7280"/>
                </a:solidFill>
                <a:latin typeface="Calibri" pitchFamily="34" charset="0"/>
                <a:ea typeface="Calibri" pitchFamily="34" charset="-122"/>
                <a:cs typeface="Calibri" pitchFamily="34" charset="-120"/>
              </a:rPr>
              <a:t>   J’ai faim !</a:t>
            </a:r>
            <a:r>
              <a:rPr lang="en-US" sz="1200" dirty="0">
                <a:solidFill>
                  <a:srgbClr val="9AA3B2"/>
                </a:solidFill>
                <a:latin typeface="Calibri" pitchFamily="34" charset="0"/>
                <a:ea typeface="Calibri" pitchFamily="34" charset="-122"/>
                <a:cs typeface="Calibri" pitchFamily="34" charset="-120"/>
              </a:rPr>
              <a:t>   ·   syllabus 1.3 · p. 41</a:t>
            </a:r>
            <a:endParaRPr lang="en-US" sz="1500" dirty="0"/>
          </a:p>
        </p:txBody>
      </p:sp>
      <p:sp>
        <p:nvSpPr>
          <p:cNvPr id="7" name="Shape 4"/>
          <p:cNvSpPr/>
          <p:nvPr/>
        </p:nvSpPr>
        <p:spPr>
          <a:xfrm>
            <a:off x="1596085" y="1504645"/>
            <a:ext cx="4534510" cy="2905735"/>
          </a:xfrm>
          <a:prstGeom prst="roundRect">
            <a:avLst>
              <a:gd name="adj" fmla="val 1259"/>
            </a:avLst>
          </a:prstGeom>
          <a:solidFill>
            <a:srgbClr val="FFFFFF"/>
          </a:solidFill>
          <a:ln w="9525">
            <a:solidFill>
              <a:srgbClr val="E3E7EE"/>
            </a:solidFill>
            <a:prstDash val="solid"/>
          </a:ln>
          <a:effectLst>
            <a:outerShdw sx="100000" sy="100000" kx="0" ky="0" algn="bl" rotWithShape="0" blurRad="127000" dist="50800" dir="5400000">
              <a:srgbClr val="1B2430">
                <a:alpha val="25000"/>
              </a:srgbClr>
            </a:outerShdw>
          </a:effectLst>
        </p:spPr>
      </p:sp>
      <p:pic>
        <p:nvPicPr>
          <p:cNvPr id="8" name="Image 0" descr="/home/user/talenleren/neerlandais1/generateur/img/vijfzinnen/a1_honger_s.jpg">    </p:cNvPr>
          <p:cNvPicPr>
            <a:picLocks noChangeAspect="1"/>
          </p:cNvPicPr>
          <p:nvPr/>
        </p:nvPicPr>
        <p:blipFill>
          <a:blip r:embed="rId1"/>
          <a:stretch>
            <a:fillRect/>
          </a:stretch>
        </p:blipFill>
        <p:spPr>
          <a:xfrm>
            <a:off x="1691640" y="1600200"/>
            <a:ext cx="4343400" cy="2714625"/>
          </a:xfrm>
          <a:prstGeom prst="rect">
            <a:avLst/>
          </a:prstGeom>
        </p:spPr>
      </p:pic>
      <p:sp>
        <p:nvSpPr>
          <p:cNvPr id="9" name="Shape 5"/>
          <p:cNvSpPr/>
          <p:nvPr/>
        </p:nvSpPr>
        <p:spPr>
          <a:xfrm>
            <a:off x="1691640" y="4572000"/>
            <a:ext cx="1600200" cy="365760"/>
          </a:xfrm>
          <a:prstGeom prst="roundRect">
            <a:avLst>
              <a:gd name="adj" fmla="val 50000"/>
            </a:avLst>
          </a:prstGeom>
          <a:solidFill>
            <a:srgbClr val="FDF1E6"/>
          </a:solidFill>
          <a:ln w="12700">
            <a:solidFill>
              <a:srgbClr val="D9822B"/>
            </a:solidFill>
            <a:prstDash val="solid"/>
          </a:ln>
        </p:spPr>
      </p:sp>
      <p:pic>
        <p:nvPicPr>
          <p:cNvPr id="10" name="Image 1" descr="Comments">    </p:cNvPr>
          <p:cNvPicPr>
            <a:picLocks noChangeAspect="1"/>
          </p:cNvPicPr>
          <p:nvPr/>
        </p:nvPicPr>
        <p:blipFill>
          <a:blip r:embed="rId2"/>
          <a:stretch>
            <a:fillRect/>
          </a:stretch>
        </p:blipFill>
        <p:spPr>
          <a:xfrm>
            <a:off x="1819656" y="4654296"/>
            <a:ext cx="201168" cy="201168"/>
          </a:xfrm>
          <a:prstGeom prst="rect">
            <a:avLst/>
          </a:prstGeom>
        </p:spPr>
      </p:pic>
      <p:sp>
        <p:nvSpPr>
          <p:cNvPr id="11" name="Text 6"/>
          <p:cNvSpPr txBox="1"/>
          <p:nvPr/>
        </p:nvSpPr>
        <p:spPr>
          <a:xfrm>
            <a:off x="2075688" y="4572000"/>
            <a:ext cx="1143000" cy="365760"/>
          </a:xfrm>
          <a:prstGeom prst="rect">
            <a:avLst/>
          </a:prstGeom>
          <a:noFill/>
          <a:ln/>
        </p:spPr>
        <p:txBody>
          <a:bodyPr wrap="square" lIns="0" tIns="0" rIns="0" bIns="0" rtlCol="0" anchor="ctr"/>
          <a:lstStyle/>
          <a:p>
            <a:pPr algn="l" indent="0" marL="0">
              <a:buNone/>
            </a:pPr>
            <a:r>
              <a:rPr lang="en-US" sz="1150" b="1" spc="100" kern="0" dirty="0">
                <a:solidFill>
                  <a:srgbClr val="D9822B"/>
                </a:solidFill>
                <a:latin typeface="Calibri" pitchFamily="34" charset="0"/>
                <a:ea typeface="Calibri" pitchFamily="34" charset="-122"/>
                <a:cs typeface="Calibri" pitchFamily="34" charset="-120"/>
              </a:rPr>
              <a:t>À L’ORAL</a:t>
            </a:r>
            <a:endParaRPr lang="en-US" sz="1150" dirty="0"/>
          </a:p>
        </p:txBody>
      </p:sp>
      <p:sp>
        <p:nvSpPr>
          <p:cNvPr id="12" name="Text 7"/>
          <p:cNvSpPr txBox="1"/>
          <p:nvPr/>
        </p:nvSpPr>
        <p:spPr>
          <a:xfrm>
            <a:off x="3429000" y="4544568"/>
            <a:ext cx="2651760" cy="731520"/>
          </a:xfrm>
          <a:prstGeom prst="rect">
            <a:avLst/>
          </a:prstGeom>
          <a:noFill/>
          <a:ln/>
        </p:spPr>
        <p:txBody>
          <a:bodyPr wrap="square" lIns="0" tIns="0" rIns="0" bIns="0" rtlCol="0" anchor="t"/>
          <a:lstStyle/>
          <a:p>
            <a:pPr algn="l" indent="0" marL="0">
              <a:buNone/>
            </a:pPr>
            <a:r>
              <a:rPr lang="en-US" sz="1150" i="1" dirty="0">
                <a:solidFill>
                  <a:srgbClr val="6B7280"/>
                </a:solidFill>
                <a:latin typeface="Calibri" pitchFamily="34" charset="0"/>
                <a:ea typeface="Calibri" pitchFamily="34" charset="-122"/>
                <a:cs typeface="Calibri" pitchFamily="34" charset="-120"/>
              </a:rPr>
              <a:t>Il est midi. Pieter a faim. Emma a-t-elle quelque chose à manger ?</a:t>
            </a:r>
            <a:endParaRPr lang="en-US" sz="1150" dirty="0"/>
          </a:p>
        </p:txBody>
      </p:sp>
      <p:sp>
        <p:nvSpPr>
          <p:cNvPr id="13" name="Shape 8"/>
          <p:cNvSpPr/>
          <p:nvPr/>
        </p:nvSpPr>
        <p:spPr>
          <a:xfrm>
            <a:off x="6355080" y="1673352"/>
            <a:ext cx="914400" cy="402336"/>
          </a:xfrm>
          <a:prstGeom prst="roundRect">
            <a:avLst>
              <a:gd name="adj" fmla="val 13636"/>
            </a:avLst>
          </a:prstGeom>
          <a:solidFill>
            <a:srgbClr val="5FA873"/>
          </a:solidFill>
          <a:ln w="12700">
            <a:solidFill>
              <a:srgbClr val="FFFFFF">
                <a:alpha val="0"/>
              </a:srgbClr>
            </a:solidFill>
            <a:prstDash val="solid"/>
          </a:ln>
        </p:spPr>
      </p:sp>
      <p:sp>
        <p:nvSpPr>
          <p:cNvPr id="14" name="Text 9"/>
          <p:cNvSpPr txBox="1"/>
          <p:nvPr/>
        </p:nvSpPr>
        <p:spPr>
          <a:xfrm>
            <a:off x="6355080" y="167335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1</a:t>
            </a:r>
            <a:endParaRPr lang="en-US" sz="1600" dirty="0"/>
          </a:p>
        </p:txBody>
      </p:sp>
      <p:sp>
        <p:nvSpPr>
          <p:cNvPr id="15" name="Text 10"/>
          <p:cNvSpPr txBox="1"/>
          <p:nvPr/>
        </p:nvSpPr>
        <p:spPr>
          <a:xfrm>
            <a:off x="7406640" y="1618488"/>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Une sensation : </a:t>
            </a:r>
            <a:r>
              <a:rPr lang="en-US" sz="1450" b="1" dirty="0">
                <a:solidFill>
                  <a:srgbClr val="2B2F38"/>
                </a:solidFill>
              </a:rPr>
              <a:t>IK HEB</a:t>
            </a:r>
            <a:r>
              <a:rPr lang="en-US" sz="1450" dirty="0">
                <a:solidFill>
                  <a:srgbClr val="2B2F38"/>
                </a:solidFill>
              </a:rPr>
              <a:t> honger / dorst.</a:t>
            </a:r>
            <a:endParaRPr lang="en-US" sz="1450" dirty="0"/>
          </a:p>
        </p:txBody>
      </p:sp>
      <p:sp>
        <p:nvSpPr>
          <p:cNvPr id="16" name="Shape 11"/>
          <p:cNvSpPr/>
          <p:nvPr/>
        </p:nvSpPr>
        <p:spPr>
          <a:xfrm>
            <a:off x="6355080" y="2404872"/>
            <a:ext cx="914400" cy="402336"/>
          </a:xfrm>
          <a:prstGeom prst="roundRect">
            <a:avLst>
              <a:gd name="adj" fmla="val 13636"/>
            </a:avLst>
          </a:prstGeom>
          <a:solidFill>
            <a:srgbClr val="5FA873"/>
          </a:solidFill>
          <a:ln w="12700">
            <a:solidFill>
              <a:srgbClr val="FFFFFF">
                <a:alpha val="0"/>
              </a:srgbClr>
            </a:solidFill>
            <a:prstDash val="solid"/>
          </a:ln>
        </p:spPr>
      </p:sp>
      <p:sp>
        <p:nvSpPr>
          <p:cNvPr id="17" name="Text 12"/>
          <p:cNvSpPr txBox="1"/>
          <p:nvPr/>
        </p:nvSpPr>
        <p:spPr>
          <a:xfrm>
            <a:off x="6355080" y="240487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2</a:t>
            </a:r>
            <a:endParaRPr lang="en-US" sz="1600" dirty="0"/>
          </a:p>
        </p:txBody>
      </p:sp>
      <p:sp>
        <p:nvSpPr>
          <p:cNvPr id="18" name="Text 13"/>
          <p:cNvSpPr txBox="1"/>
          <p:nvPr/>
        </p:nvSpPr>
        <p:spPr>
          <a:xfrm>
            <a:off x="7406640" y="2350008"/>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Une question : </a:t>
            </a:r>
            <a:r>
              <a:rPr lang="en-US" sz="1450" b="1" dirty="0">
                <a:solidFill>
                  <a:srgbClr val="2B2F38"/>
                </a:solidFill>
              </a:rPr>
              <a:t>HEB JE</a:t>
            </a:r>
            <a:r>
              <a:rPr lang="en-US" sz="1450" dirty="0">
                <a:solidFill>
                  <a:srgbClr val="2B2F38"/>
                </a:solidFill>
              </a:rPr>
              <a:t> … ?</a:t>
            </a:r>
            <a:endParaRPr lang="en-US" sz="1450" dirty="0"/>
          </a:p>
        </p:txBody>
      </p:sp>
      <p:sp>
        <p:nvSpPr>
          <p:cNvPr id="19" name="Shape 14"/>
          <p:cNvSpPr/>
          <p:nvPr/>
        </p:nvSpPr>
        <p:spPr>
          <a:xfrm>
            <a:off x="6355080" y="3136392"/>
            <a:ext cx="914400" cy="402336"/>
          </a:xfrm>
          <a:prstGeom prst="roundRect">
            <a:avLst>
              <a:gd name="adj" fmla="val 13636"/>
            </a:avLst>
          </a:prstGeom>
          <a:solidFill>
            <a:srgbClr val="5FA873"/>
          </a:solidFill>
          <a:ln w="12700">
            <a:solidFill>
              <a:srgbClr val="FFFFFF">
                <a:alpha val="0"/>
              </a:srgbClr>
            </a:solidFill>
            <a:prstDash val="solid"/>
          </a:ln>
        </p:spPr>
      </p:sp>
      <p:sp>
        <p:nvSpPr>
          <p:cNvPr id="20" name="Text 15"/>
          <p:cNvSpPr txBox="1"/>
          <p:nvPr/>
        </p:nvSpPr>
        <p:spPr>
          <a:xfrm>
            <a:off x="6355080" y="313639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3</a:t>
            </a:r>
            <a:endParaRPr lang="en-US" sz="1600" dirty="0"/>
          </a:p>
        </p:txBody>
      </p:sp>
      <p:sp>
        <p:nvSpPr>
          <p:cNvPr id="21" name="Text 16"/>
          <p:cNvSpPr txBox="1"/>
          <p:nvPr/>
        </p:nvSpPr>
        <p:spPr>
          <a:xfrm>
            <a:off x="7406640" y="3081528"/>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Une réponse négative : </a:t>
            </a:r>
            <a:r>
              <a:rPr lang="en-US" sz="1450" b="1" dirty="0">
                <a:solidFill>
                  <a:srgbClr val="2B2F38"/>
                </a:solidFill>
              </a:rPr>
              <a:t>NEE, IK HEB GEEN</a:t>
            </a:r>
            <a:r>
              <a:rPr lang="en-US" sz="1450" dirty="0">
                <a:solidFill>
                  <a:srgbClr val="2B2F38"/>
                </a:solidFill>
              </a:rPr>
              <a:t> …</a:t>
            </a:r>
            <a:endParaRPr lang="en-US" sz="1450" dirty="0"/>
          </a:p>
        </p:txBody>
      </p:sp>
      <p:sp>
        <p:nvSpPr>
          <p:cNvPr id="22" name="Shape 17"/>
          <p:cNvSpPr/>
          <p:nvPr/>
        </p:nvSpPr>
        <p:spPr>
          <a:xfrm>
            <a:off x="6355080" y="3867912"/>
            <a:ext cx="914400" cy="402336"/>
          </a:xfrm>
          <a:prstGeom prst="roundRect">
            <a:avLst>
              <a:gd name="adj" fmla="val 13636"/>
            </a:avLst>
          </a:prstGeom>
          <a:solidFill>
            <a:srgbClr val="5FA873"/>
          </a:solidFill>
          <a:ln w="12700">
            <a:solidFill>
              <a:srgbClr val="FFFFFF">
                <a:alpha val="0"/>
              </a:srgbClr>
            </a:solidFill>
            <a:prstDash val="solid"/>
          </a:ln>
        </p:spPr>
      </p:sp>
      <p:sp>
        <p:nvSpPr>
          <p:cNvPr id="23" name="Text 18"/>
          <p:cNvSpPr txBox="1"/>
          <p:nvPr/>
        </p:nvSpPr>
        <p:spPr>
          <a:xfrm>
            <a:off x="6355080" y="386791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4</a:t>
            </a:r>
            <a:endParaRPr lang="en-US" sz="1600" dirty="0"/>
          </a:p>
        </p:txBody>
      </p:sp>
      <p:sp>
        <p:nvSpPr>
          <p:cNvPr id="24" name="Text 19"/>
          <p:cNvSpPr txBox="1"/>
          <p:nvPr/>
        </p:nvSpPr>
        <p:spPr>
          <a:xfrm>
            <a:off x="7406640" y="3813048"/>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Une chute avec </a:t>
            </a:r>
            <a:r>
              <a:rPr lang="en-US" sz="1450" b="1" dirty="0">
                <a:solidFill>
                  <a:srgbClr val="2B2F38"/>
                </a:solidFill>
              </a:rPr>
              <a:t>ER IS</a:t>
            </a:r>
            <a:r>
              <a:rPr lang="en-US" sz="1450" dirty="0">
                <a:solidFill>
                  <a:srgbClr val="2B2F38"/>
                </a:solidFill>
              </a:rPr>
              <a:t> …</a:t>
            </a:r>
            <a:endParaRPr lang="en-US" sz="1450" dirty="0"/>
          </a:p>
        </p:txBody>
      </p:sp>
      <p:sp>
        <p:nvSpPr>
          <p:cNvPr id="25" name="Shape 20"/>
          <p:cNvSpPr/>
          <p:nvPr/>
        </p:nvSpPr>
        <p:spPr>
          <a:xfrm>
            <a:off x="3246120" y="5440680"/>
            <a:ext cx="6858000" cy="822960"/>
          </a:xfrm>
          <a:prstGeom prst="roundRect">
            <a:avLst>
              <a:gd name="adj" fmla="val 17778"/>
            </a:avLst>
          </a:prstGeom>
          <a:solidFill>
            <a:srgbClr val="EAF5EC"/>
          </a:solidFill>
          <a:ln w="15875">
            <a:solidFill>
              <a:srgbClr val="5FA873"/>
            </a:solidFill>
            <a:prstDash val="solid"/>
          </a:ln>
        </p:spPr>
      </p:sp>
      <p:pic>
        <p:nvPicPr>
          <p:cNvPr id="26" name="Image 2" descr="UserFriends">    </p:cNvPr>
          <p:cNvPicPr>
            <a:picLocks noChangeAspect="1"/>
          </p:cNvPicPr>
          <p:nvPr/>
        </p:nvPicPr>
        <p:blipFill>
          <a:blip r:embed="rId3"/>
          <a:stretch>
            <a:fillRect/>
          </a:stretch>
        </p:blipFill>
        <p:spPr>
          <a:xfrm>
            <a:off x="3520440" y="5660136"/>
            <a:ext cx="384048" cy="384048"/>
          </a:xfrm>
          <a:prstGeom prst="rect">
            <a:avLst/>
          </a:prstGeom>
        </p:spPr>
      </p:pic>
      <p:sp>
        <p:nvSpPr>
          <p:cNvPr id="27" name="Text 21"/>
          <p:cNvSpPr txBox="1"/>
          <p:nvPr/>
        </p:nvSpPr>
        <p:spPr>
          <a:xfrm>
            <a:off x="4114800" y="5440680"/>
            <a:ext cx="5852160" cy="822960"/>
          </a:xfrm>
          <a:prstGeom prst="rect">
            <a:avLst/>
          </a:prstGeom>
          <a:noFill/>
          <a:ln/>
        </p:spPr>
        <p:txBody>
          <a:bodyPr wrap="square" lIns="0" tIns="0" rIns="0" bIns="0" rtlCol="0" anchor="ctr"/>
          <a:lstStyle/>
          <a:p>
            <a:pPr algn="ctr" indent="0" marL="0">
              <a:buNone/>
            </a:pPr>
            <a:r>
              <a:rPr lang="en-US" sz="1800" b="1" dirty="0">
                <a:solidFill>
                  <a:srgbClr val="2E6B44"/>
                </a:solidFill>
                <a:latin typeface="Calibri" pitchFamily="34" charset="0"/>
                <a:ea typeface="Calibri" pitchFamily="34" charset="-122"/>
                <a:cs typeface="Calibri" pitchFamily="34" charset="-120"/>
              </a:rPr>
              <a:t>Vertel je verhaal aan je partner.</a:t>
            </a:r>
            <a:endParaRPr lang="en-US" sz="1800" dirty="0"/>
          </a:p>
          <a:p>
            <a:pPr algn="ctr" indent="0" marL="0">
              <a:buNone/>
            </a:pPr>
            <a:r>
              <a:rPr lang="en-US" sz="1800" b="1" dirty="0">
                <a:solidFill>
                  <a:srgbClr val="2E6B44"/>
                </a:solidFill>
                <a:latin typeface="Calibri" pitchFamily="34" charset="0"/>
                <a:ea typeface="Calibri" pitchFamily="34" charset="-122"/>
                <a:cs typeface="Calibri" pitchFamily="34" charset="-120"/>
              </a:rPr>
              <a:t>Wat denkt hij/zij daarvan?</a:t>
            </a:r>
            <a:endParaRPr lang="en-US" sz="1800" dirty="0"/>
          </a:p>
        </p:txBody>
      </p:sp>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1"/>
          <p:cNvSpPr/>
          <p:nvPr>
            <p:ph idx="101" type="title" hasCustomPrompt="1"/>
          </p:nvPr>
        </p:nvSpPr>
        <p:spPr>
          <a:xfrm>
            <a:off x="1554480" y="384048"/>
            <a:ext cx="10241280" cy="658368"/>
          </a:xfrm>
          <a:prstGeom prst="rect">
            <a:avLst/>
          </a:prstGeom>
          <a:noFill/>
          <a:ln/>
        </p:spPr>
        <p:txBody>
          <a:bodyPr wrap="square" lIns="0" tIns="0" rIns="0" bIns="0" rtlCol="0" anchor="ctr"/>
          <a:lstStyle/>
          <a:p>
            <a:pPr algn="ctr" indent="0" marL="0">
              <a:buNone/>
            </a:pPr>
            <a:r>
              <a:rPr lang="en-US" sz="3000" b="1" dirty="0">
                <a:solidFill>
                  <a:srgbClr val="2B2F38"/>
                </a:solidFill>
              </a:rPr>
              <a:t>Ik heb honger!</a:t>
            </a:r>
            <a:endParaRPr lang="en-US" sz="3000" dirty="0"/>
          </a:p>
        </p:txBody>
      </p:sp>
      <p:sp>
        <p:nvSpPr>
          <p:cNvPr id="4" name="Shape 1"/>
          <p:cNvSpPr/>
          <p:nvPr/>
        </p:nvSpPr>
        <p:spPr>
          <a:xfrm>
            <a:off x="365760" y="365760"/>
            <a:ext cx="868680" cy="5989320"/>
          </a:xfrm>
          <a:prstGeom prst="roundRect">
            <a:avLst>
              <a:gd name="adj" fmla="val 12632"/>
            </a:avLst>
          </a:prstGeom>
          <a:solidFill>
            <a:srgbClr val="E6F4EA"/>
          </a:solidFill>
          <a:ln w="28575">
            <a:solidFill>
              <a:srgbClr val="6DBE8A"/>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3D8C5A"/>
                </a:solidFill>
                <a:latin typeface="Calibri" pitchFamily="34" charset="0"/>
                <a:ea typeface="Calibri" pitchFamily="34" charset="-122"/>
                <a:cs typeface="Calibri" pitchFamily="34" charset="-120"/>
              </a:rPr>
              <a:t>A1 · Premiers pas</a:t>
            </a:r>
            <a:endParaRPr lang="en-US" sz="3800" dirty="0"/>
          </a:p>
        </p:txBody>
      </p:sp>
      <p:sp>
        <p:nvSpPr>
          <p:cNvPr id="6" name="Shape 3"/>
          <p:cNvSpPr/>
          <p:nvPr/>
        </p:nvSpPr>
        <p:spPr>
          <a:xfrm>
            <a:off x="2519172" y="1124712"/>
            <a:ext cx="8311896" cy="5277231"/>
          </a:xfrm>
          <a:prstGeom prst="roundRect">
            <a:avLst>
              <a:gd name="adj" fmla="val 693"/>
            </a:avLst>
          </a:prstGeom>
          <a:solidFill>
            <a:srgbClr val="FFFFFF"/>
          </a:solidFill>
          <a:ln w="9525">
            <a:solidFill>
              <a:srgbClr val="E3E7EE"/>
            </a:solidFill>
            <a:prstDash val="solid"/>
          </a:ln>
          <a:effectLst>
            <a:outerShdw sx="100000" sy="100000" kx="0" ky="0" algn="bl" rotWithShape="0" blurRad="177800" dist="63500" dir="5400000">
              <a:srgbClr val="1B2430">
                <a:alpha val="25000"/>
              </a:srgbClr>
            </a:outerShdw>
          </a:effectLst>
        </p:spPr>
      </p:sp>
      <p:pic>
        <p:nvPicPr>
          <p:cNvPr id="7" name="Image 0" descr="/home/user/talenleren/neerlandais1/generateur/img/vijfzinnen/a1_honger.jpg">    </p:cNvPr>
          <p:cNvPicPr>
            <a:picLocks noChangeAspect="1"/>
          </p:cNvPicPr>
          <p:nvPr/>
        </p:nvPicPr>
        <p:blipFill>
          <a:blip r:embed="rId1"/>
          <a:stretch>
            <a:fillRect/>
          </a:stretch>
        </p:blipFill>
        <p:spPr>
          <a:xfrm>
            <a:off x="2628900" y="1234440"/>
            <a:ext cx="8092440" cy="5057775"/>
          </a:xfrm>
          <a:prstGeom prst="rect">
            <a:avLst/>
          </a:prstGeom>
        </p:spPr>
      </p:pic>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1"/>
          <p:cNvSpPr/>
          <p:nvPr>
            <p:ph idx="101" type="title" hasCustomPrompt="1"/>
          </p:nvPr>
        </p:nvSpPr>
        <p:spPr>
          <a:xfrm>
            <a:off x="1691640" y="347472"/>
            <a:ext cx="8138160" cy="914400"/>
          </a:xfrm>
          <a:prstGeom prst="rect">
            <a:avLst/>
          </a:prstGeom>
          <a:noFill/>
          <a:ln/>
        </p:spPr>
        <p:txBody>
          <a:bodyPr wrap="square" lIns="0" tIns="0" rIns="0" bIns="0" rtlCol="0" anchor="ctr"/>
          <a:lstStyle/>
          <a:p>
            <a:pPr algn="l" indent="0" marL="0">
              <a:buNone/>
            </a:pPr>
            <a:r>
              <a:rPr lang="en-US" sz="2400" b="1" dirty="0">
                <a:solidFill>
                  <a:srgbClr val="2B2F38"/>
                </a:solidFill>
              </a:rPr>
              <a:t>Hier is een voorbeeld van wat je had kunnen denken en zeggen…</a:t>
            </a:r>
            <a:endParaRPr lang="en-US" sz="2400" dirty="0"/>
          </a:p>
        </p:txBody>
      </p:sp>
      <p:sp>
        <p:nvSpPr>
          <p:cNvPr id="4" name="Shape 1"/>
          <p:cNvSpPr/>
          <p:nvPr/>
        </p:nvSpPr>
        <p:spPr>
          <a:xfrm>
            <a:off x="365760" y="365760"/>
            <a:ext cx="868680" cy="5989320"/>
          </a:xfrm>
          <a:prstGeom prst="roundRect">
            <a:avLst>
              <a:gd name="adj" fmla="val 12632"/>
            </a:avLst>
          </a:prstGeom>
          <a:solidFill>
            <a:srgbClr val="E6F4EA"/>
          </a:solidFill>
          <a:ln w="28575">
            <a:solidFill>
              <a:srgbClr val="6DBE8A"/>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3D8C5A"/>
                </a:solidFill>
                <a:latin typeface="Calibri" pitchFamily="34" charset="0"/>
                <a:ea typeface="Calibri" pitchFamily="34" charset="-122"/>
                <a:cs typeface="Calibri" pitchFamily="34" charset="-120"/>
              </a:rPr>
              <a:t>A1 · Premiers pas</a:t>
            </a:r>
            <a:endParaRPr lang="en-US" sz="3800" dirty="0"/>
          </a:p>
        </p:txBody>
      </p:sp>
      <p:sp>
        <p:nvSpPr>
          <p:cNvPr id="6" name="Shape 3"/>
          <p:cNvSpPr/>
          <p:nvPr/>
        </p:nvSpPr>
        <p:spPr>
          <a:xfrm>
            <a:off x="10058400" y="246888"/>
            <a:ext cx="1691640" cy="1091565"/>
          </a:xfrm>
          <a:prstGeom prst="roundRect">
            <a:avLst>
              <a:gd name="adj" fmla="val 3351"/>
            </a:avLst>
          </a:prstGeom>
          <a:solidFill>
            <a:srgbClr val="FFFFFF"/>
          </a:solidFill>
          <a:ln w="9525">
            <a:solidFill>
              <a:srgbClr val="E3E7EE"/>
            </a:solidFill>
            <a:prstDash val="solid"/>
          </a:ln>
          <a:effectLst>
            <a:outerShdw sx="100000" sy="100000" kx="0" ky="0" algn="bl" rotWithShape="0" blurRad="76200" dist="25400" dir="5400000">
              <a:srgbClr val="1B2430">
                <a:alpha val="25000"/>
              </a:srgbClr>
            </a:outerShdw>
          </a:effectLst>
        </p:spPr>
      </p:sp>
      <p:pic>
        <p:nvPicPr>
          <p:cNvPr id="7" name="Image 0" descr="/home/user/talenleren/neerlandais1/generateur/img/vijfzinnen/a1_honger_s.jpg">    </p:cNvPr>
          <p:cNvPicPr>
            <a:picLocks noChangeAspect="1"/>
          </p:cNvPicPr>
          <p:nvPr/>
        </p:nvPicPr>
        <p:blipFill>
          <a:blip r:embed="rId1"/>
          <a:stretch>
            <a:fillRect/>
          </a:stretch>
        </p:blipFill>
        <p:spPr>
          <a:xfrm>
            <a:off x="10104120" y="292608"/>
            <a:ext cx="1600200" cy="1000125"/>
          </a:xfrm>
          <a:prstGeom prst="rect">
            <a:avLst/>
          </a:prstGeom>
        </p:spPr>
      </p:pic>
      <p:sp>
        <p:nvSpPr>
          <p:cNvPr id="8" name="Text 4"/>
          <p:cNvSpPr txBox="1"/>
          <p:nvPr/>
        </p:nvSpPr>
        <p:spPr>
          <a:xfrm>
            <a:off x="1691640" y="2686507"/>
            <a:ext cx="1024738" cy="396240"/>
          </a:xfrm>
          <a:prstGeom prst="rect">
            <a:avLst/>
          </a:prstGeom>
          <a:noFill/>
          <a:ln/>
        </p:spPr>
        <p:txBody>
          <a:bodyPr wrap="none" lIns="0" tIns="0" rIns="0" bIns="0" rtlCol="0" anchor="ctr"/>
          <a:lstStyle/>
          <a:p>
            <a:pPr algn="l" indent="0" marL="0">
              <a:buNone/>
            </a:pPr>
            <a:r>
              <a:rPr lang="en-US" sz="2400" b="1" dirty="0">
                <a:solidFill>
                  <a:srgbClr val="6B7280"/>
                </a:solidFill>
                <a:latin typeface="Calibri" pitchFamily="34" charset="0"/>
                <a:ea typeface="Calibri" pitchFamily="34" charset="-122"/>
                <a:cs typeface="Calibri" pitchFamily="34" charset="-120"/>
              </a:rPr>
              <a:t>Pieter:</a:t>
            </a:r>
            <a:endParaRPr lang="en-US" sz="2400" dirty="0"/>
          </a:p>
        </p:txBody>
      </p:sp>
      <p:sp>
        <p:nvSpPr>
          <p:cNvPr id="9" name="Shape 5"/>
          <p:cNvSpPr/>
          <p:nvPr/>
        </p:nvSpPr>
        <p:spPr>
          <a:xfrm>
            <a:off x="2620670" y="2698699"/>
            <a:ext cx="868680" cy="371856"/>
          </a:xfrm>
          <a:prstGeom prst="roundRect">
            <a:avLst>
              <a:gd name="adj" fmla="val 12295"/>
            </a:avLst>
          </a:prstGeom>
          <a:solidFill>
            <a:srgbClr val="E6F3DA"/>
          </a:solidFill>
          <a:ln w="12700">
            <a:solidFill>
              <a:srgbClr val="FFFFFF">
                <a:alpha val="0"/>
              </a:srgbClr>
            </a:solidFill>
            <a:prstDash val="solid"/>
          </a:ln>
        </p:spPr>
      </p:sp>
      <p:sp>
        <p:nvSpPr>
          <p:cNvPr id="10" name="Text 6"/>
          <p:cNvSpPr txBox="1"/>
          <p:nvPr/>
        </p:nvSpPr>
        <p:spPr>
          <a:xfrm>
            <a:off x="2620670" y="2686507"/>
            <a:ext cx="868680"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Ik heb</a:t>
            </a:r>
            <a:endParaRPr lang="en-US" sz="2400" dirty="0"/>
          </a:p>
        </p:txBody>
      </p:sp>
      <p:sp>
        <p:nvSpPr>
          <p:cNvPr id="11" name="Text 7"/>
          <p:cNvSpPr txBox="1"/>
          <p:nvPr/>
        </p:nvSpPr>
        <p:spPr>
          <a:xfrm>
            <a:off x="3576523" y="2686507"/>
            <a:ext cx="1164641"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honger!</a:t>
            </a:r>
            <a:endParaRPr lang="en-US" sz="2400" dirty="0"/>
          </a:p>
        </p:txBody>
      </p:sp>
      <p:sp>
        <p:nvSpPr>
          <p:cNvPr id="12" name="Shape 8"/>
          <p:cNvSpPr/>
          <p:nvPr/>
        </p:nvSpPr>
        <p:spPr>
          <a:xfrm>
            <a:off x="4645457" y="2698699"/>
            <a:ext cx="900684" cy="371856"/>
          </a:xfrm>
          <a:prstGeom prst="roundRect">
            <a:avLst>
              <a:gd name="adj" fmla="val 12295"/>
            </a:avLst>
          </a:prstGeom>
          <a:solidFill>
            <a:srgbClr val="E6F3DA"/>
          </a:solidFill>
          <a:ln w="12700">
            <a:solidFill>
              <a:srgbClr val="FFFFFF">
                <a:alpha val="0"/>
              </a:srgbClr>
            </a:solidFill>
            <a:prstDash val="solid"/>
          </a:ln>
        </p:spPr>
      </p:sp>
      <p:sp>
        <p:nvSpPr>
          <p:cNvPr id="13" name="Text 9"/>
          <p:cNvSpPr txBox="1"/>
          <p:nvPr/>
        </p:nvSpPr>
        <p:spPr>
          <a:xfrm>
            <a:off x="4645457" y="2686507"/>
            <a:ext cx="900684"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Heb je</a:t>
            </a:r>
            <a:endParaRPr lang="en-US" sz="2400" dirty="0"/>
          </a:p>
        </p:txBody>
      </p:sp>
      <p:sp>
        <p:nvSpPr>
          <p:cNvPr id="14" name="Text 10"/>
          <p:cNvSpPr txBox="1"/>
          <p:nvPr/>
        </p:nvSpPr>
        <p:spPr>
          <a:xfrm>
            <a:off x="5633314" y="2686507"/>
            <a:ext cx="2792273"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een broodje, Emma?</a:t>
            </a:r>
            <a:endParaRPr lang="en-US" sz="2400" dirty="0"/>
          </a:p>
        </p:txBody>
      </p:sp>
      <p:sp>
        <p:nvSpPr>
          <p:cNvPr id="15" name="Shape 11"/>
          <p:cNvSpPr/>
          <p:nvPr/>
        </p:nvSpPr>
        <p:spPr>
          <a:xfrm>
            <a:off x="3055010" y="2622499"/>
            <a:ext cx="914" cy="76200"/>
          </a:xfrm>
          <a:prstGeom prst="line">
            <a:avLst/>
          </a:prstGeom>
          <a:noFill/>
          <a:ln w="15875">
            <a:solidFill>
              <a:srgbClr val="7AB648"/>
            </a:solidFill>
            <a:prstDash val="solid"/>
          </a:ln>
        </p:spPr>
      </p:sp>
      <p:sp>
        <p:nvSpPr>
          <p:cNvPr id="16" name="Shape 12"/>
          <p:cNvSpPr/>
          <p:nvPr/>
        </p:nvSpPr>
        <p:spPr>
          <a:xfrm>
            <a:off x="2755290" y="2375611"/>
            <a:ext cx="599440" cy="246888"/>
          </a:xfrm>
          <a:prstGeom prst="roundRect">
            <a:avLst>
              <a:gd name="adj" fmla="val 14815"/>
            </a:avLst>
          </a:prstGeom>
          <a:solidFill>
            <a:srgbClr val="7AB648"/>
          </a:solidFill>
          <a:ln w="12700">
            <a:solidFill>
              <a:srgbClr val="FFFFFF">
                <a:alpha val="0"/>
              </a:srgbClr>
            </a:solidFill>
            <a:prstDash val="solid"/>
          </a:ln>
        </p:spPr>
      </p:sp>
      <p:sp>
        <p:nvSpPr>
          <p:cNvPr id="17" name="Text 13"/>
          <p:cNvSpPr txBox="1"/>
          <p:nvPr/>
        </p:nvSpPr>
        <p:spPr>
          <a:xfrm>
            <a:off x="2755290" y="2375611"/>
            <a:ext cx="599440"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IK HEB</a:t>
            </a:r>
            <a:endParaRPr lang="en-US" sz="1100" dirty="0"/>
          </a:p>
        </p:txBody>
      </p:sp>
      <p:sp>
        <p:nvSpPr>
          <p:cNvPr id="18" name="Shape 14"/>
          <p:cNvSpPr/>
          <p:nvPr/>
        </p:nvSpPr>
        <p:spPr>
          <a:xfrm>
            <a:off x="5095799" y="2622499"/>
            <a:ext cx="914" cy="76200"/>
          </a:xfrm>
          <a:prstGeom prst="line">
            <a:avLst/>
          </a:prstGeom>
          <a:noFill/>
          <a:ln w="15875">
            <a:solidFill>
              <a:srgbClr val="7AB648"/>
            </a:solidFill>
            <a:prstDash val="solid"/>
          </a:ln>
        </p:spPr>
      </p:sp>
      <p:sp>
        <p:nvSpPr>
          <p:cNvPr id="19" name="Shape 15"/>
          <p:cNvSpPr/>
          <p:nvPr/>
        </p:nvSpPr>
        <p:spPr>
          <a:xfrm>
            <a:off x="4697940" y="2375611"/>
            <a:ext cx="795719" cy="246888"/>
          </a:xfrm>
          <a:prstGeom prst="roundRect">
            <a:avLst>
              <a:gd name="adj" fmla="val 14815"/>
            </a:avLst>
          </a:prstGeom>
          <a:solidFill>
            <a:srgbClr val="7AB648"/>
          </a:solidFill>
          <a:ln w="12700">
            <a:solidFill>
              <a:srgbClr val="FFFFFF">
                <a:alpha val="0"/>
              </a:srgbClr>
            </a:solidFill>
            <a:prstDash val="solid"/>
          </a:ln>
        </p:spPr>
      </p:sp>
      <p:sp>
        <p:nvSpPr>
          <p:cNvPr id="20" name="Text 16"/>
          <p:cNvSpPr txBox="1"/>
          <p:nvPr/>
        </p:nvSpPr>
        <p:spPr>
          <a:xfrm>
            <a:off x="4697940" y="2375611"/>
            <a:ext cx="795719"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HEB JE …?</a:t>
            </a:r>
            <a:endParaRPr lang="en-US" sz="1100" dirty="0"/>
          </a:p>
        </p:txBody>
      </p:sp>
      <p:sp>
        <p:nvSpPr>
          <p:cNvPr id="21" name="Text 17"/>
          <p:cNvSpPr txBox="1"/>
          <p:nvPr/>
        </p:nvSpPr>
        <p:spPr>
          <a:xfrm>
            <a:off x="1691640" y="3741115"/>
            <a:ext cx="1061923" cy="396240"/>
          </a:xfrm>
          <a:prstGeom prst="rect">
            <a:avLst/>
          </a:prstGeom>
          <a:noFill/>
          <a:ln/>
        </p:spPr>
        <p:txBody>
          <a:bodyPr wrap="none" lIns="0" tIns="0" rIns="0" bIns="0" rtlCol="0" anchor="ctr"/>
          <a:lstStyle/>
          <a:p>
            <a:pPr algn="l" indent="0" marL="0">
              <a:buNone/>
            </a:pPr>
            <a:r>
              <a:rPr lang="en-US" sz="2400" b="1" dirty="0">
                <a:solidFill>
                  <a:srgbClr val="6B7280"/>
                </a:solidFill>
                <a:latin typeface="Calibri" pitchFamily="34" charset="0"/>
                <a:ea typeface="Calibri" pitchFamily="34" charset="-122"/>
                <a:cs typeface="Calibri" pitchFamily="34" charset="-120"/>
              </a:rPr>
              <a:t>Emma:</a:t>
            </a:r>
            <a:endParaRPr lang="en-US" sz="2400" dirty="0"/>
          </a:p>
        </p:txBody>
      </p:sp>
      <p:sp>
        <p:nvSpPr>
          <p:cNvPr id="22" name="Shape 18"/>
          <p:cNvSpPr/>
          <p:nvPr/>
        </p:nvSpPr>
        <p:spPr>
          <a:xfrm>
            <a:off x="2657856" y="3753307"/>
            <a:ext cx="2200961" cy="371856"/>
          </a:xfrm>
          <a:prstGeom prst="roundRect">
            <a:avLst>
              <a:gd name="adj" fmla="val 12295"/>
            </a:avLst>
          </a:prstGeom>
          <a:solidFill>
            <a:srgbClr val="E6F3DA"/>
          </a:solidFill>
          <a:ln w="12700">
            <a:solidFill>
              <a:srgbClr val="FFFFFF">
                <a:alpha val="0"/>
              </a:srgbClr>
            </a:solidFill>
            <a:prstDash val="solid"/>
          </a:ln>
        </p:spPr>
      </p:sp>
      <p:sp>
        <p:nvSpPr>
          <p:cNvPr id="23" name="Text 19"/>
          <p:cNvSpPr txBox="1"/>
          <p:nvPr/>
        </p:nvSpPr>
        <p:spPr>
          <a:xfrm>
            <a:off x="2657856" y="3741115"/>
            <a:ext cx="2200961"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Nee, ik heb geen</a:t>
            </a:r>
            <a:endParaRPr lang="en-US" sz="2400" dirty="0"/>
          </a:p>
        </p:txBody>
      </p:sp>
      <p:sp>
        <p:nvSpPr>
          <p:cNvPr id="24" name="Text 20"/>
          <p:cNvSpPr txBox="1"/>
          <p:nvPr/>
        </p:nvSpPr>
        <p:spPr>
          <a:xfrm>
            <a:off x="4945990" y="3741115"/>
            <a:ext cx="1232002"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broodje.</a:t>
            </a:r>
            <a:endParaRPr lang="en-US" sz="2400" dirty="0"/>
          </a:p>
        </p:txBody>
      </p:sp>
      <p:sp>
        <p:nvSpPr>
          <p:cNvPr id="25" name="Shape 21"/>
          <p:cNvSpPr/>
          <p:nvPr/>
        </p:nvSpPr>
        <p:spPr>
          <a:xfrm>
            <a:off x="3758336" y="3677107"/>
            <a:ext cx="914" cy="76200"/>
          </a:xfrm>
          <a:prstGeom prst="line">
            <a:avLst/>
          </a:prstGeom>
          <a:noFill/>
          <a:ln w="15875">
            <a:solidFill>
              <a:srgbClr val="7AB648"/>
            </a:solidFill>
            <a:prstDash val="solid"/>
          </a:ln>
        </p:spPr>
      </p:sp>
      <p:sp>
        <p:nvSpPr>
          <p:cNvPr id="26" name="Shape 22"/>
          <p:cNvSpPr/>
          <p:nvPr/>
        </p:nvSpPr>
        <p:spPr>
          <a:xfrm>
            <a:off x="3489909" y="3430219"/>
            <a:ext cx="536854" cy="246888"/>
          </a:xfrm>
          <a:prstGeom prst="roundRect">
            <a:avLst>
              <a:gd name="adj" fmla="val 14815"/>
            </a:avLst>
          </a:prstGeom>
          <a:solidFill>
            <a:srgbClr val="7AB648"/>
          </a:solidFill>
          <a:ln w="12700">
            <a:solidFill>
              <a:srgbClr val="FFFFFF">
                <a:alpha val="0"/>
              </a:srgbClr>
            </a:solidFill>
            <a:prstDash val="solid"/>
          </a:ln>
        </p:spPr>
      </p:sp>
      <p:sp>
        <p:nvSpPr>
          <p:cNvPr id="27" name="Text 23"/>
          <p:cNvSpPr txBox="1"/>
          <p:nvPr/>
        </p:nvSpPr>
        <p:spPr>
          <a:xfrm>
            <a:off x="3489909" y="3430219"/>
            <a:ext cx="536854"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GEEN</a:t>
            </a:r>
            <a:endParaRPr lang="en-US" sz="1100" dirty="0"/>
          </a:p>
        </p:txBody>
      </p:sp>
      <p:sp>
        <p:nvSpPr>
          <p:cNvPr id="28" name="Text 24"/>
          <p:cNvSpPr txBox="1"/>
          <p:nvPr/>
        </p:nvSpPr>
        <p:spPr>
          <a:xfrm>
            <a:off x="1691640" y="4795723"/>
            <a:ext cx="1061923" cy="396240"/>
          </a:xfrm>
          <a:prstGeom prst="rect">
            <a:avLst/>
          </a:prstGeom>
          <a:noFill/>
          <a:ln/>
        </p:spPr>
        <p:txBody>
          <a:bodyPr wrap="none" lIns="0" tIns="0" rIns="0" bIns="0" rtlCol="0" anchor="ctr"/>
          <a:lstStyle/>
          <a:p>
            <a:pPr algn="l" indent="0" marL="0">
              <a:buNone/>
            </a:pPr>
            <a:r>
              <a:rPr lang="en-US" sz="2400" b="1" dirty="0">
                <a:solidFill>
                  <a:srgbClr val="6B7280"/>
                </a:solidFill>
                <a:latin typeface="Calibri" pitchFamily="34" charset="0"/>
                <a:ea typeface="Calibri" pitchFamily="34" charset="-122"/>
                <a:cs typeface="Calibri" pitchFamily="34" charset="-120"/>
              </a:rPr>
              <a:t>Emma:</a:t>
            </a:r>
            <a:endParaRPr lang="en-US" sz="2400" dirty="0"/>
          </a:p>
        </p:txBody>
      </p:sp>
      <p:sp>
        <p:nvSpPr>
          <p:cNvPr id="29" name="Text 25"/>
          <p:cNvSpPr txBox="1"/>
          <p:nvPr/>
        </p:nvSpPr>
        <p:spPr>
          <a:xfrm>
            <a:off x="2657856" y="4795723"/>
            <a:ext cx="841858"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Maar</a:t>
            </a:r>
            <a:endParaRPr lang="en-US" sz="2400" dirty="0"/>
          </a:p>
        </p:txBody>
      </p:sp>
      <p:sp>
        <p:nvSpPr>
          <p:cNvPr id="30" name="Shape 26"/>
          <p:cNvSpPr/>
          <p:nvPr/>
        </p:nvSpPr>
        <p:spPr>
          <a:xfrm>
            <a:off x="3404006" y="4807915"/>
            <a:ext cx="618439" cy="371856"/>
          </a:xfrm>
          <a:prstGeom prst="roundRect">
            <a:avLst>
              <a:gd name="adj" fmla="val 12295"/>
            </a:avLst>
          </a:prstGeom>
          <a:solidFill>
            <a:srgbClr val="E6F3DA"/>
          </a:solidFill>
          <a:ln w="12700">
            <a:solidFill>
              <a:srgbClr val="FFFFFF">
                <a:alpha val="0"/>
              </a:srgbClr>
            </a:solidFill>
            <a:prstDash val="solid"/>
          </a:ln>
        </p:spPr>
      </p:sp>
      <p:sp>
        <p:nvSpPr>
          <p:cNvPr id="31" name="Text 27"/>
          <p:cNvSpPr txBox="1"/>
          <p:nvPr/>
        </p:nvSpPr>
        <p:spPr>
          <a:xfrm>
            <a:off x="3404006" y="4795723"/>
            <a:ext cx="618439"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er is</a:t>
            </a:r>
            <a:endParaRPr lang="en-US" sz="2400" dirty="0"/>
          </a:p>
        </p:txBody>
      </p:sp>
      <p:sp>
        <p:nvSpPr>
          <p:cNvPr id="32" name="Text 28"/>
          <p:cNvSpPr txBox="1"/>
          <p:nvPr/>
        </p:nvSpPr>
        <p:spPr>
          <a:xfrm>
            <a:off x="4109618" y="4795723"/>
            <a:ext cx="2333244"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hier een frietkot!</a:t>
            </a:r>
            <a:endParaRPr lang="en-US" sz="2400" dirty="0"/>
          </a:p>
        </p:txBody>
      </p:sp>
      <p:sp>
        <p:nvSpPr>
          <p:cNvPr id="33" name="Shape 29"/>
          <p:cNvSpPr/>
          <p:nvPr/>
        </p:nvSpPr>
        <p:spPr>
          <a:xfrm>
            <a:off x="3713226" y="4731715"/>
            <a:ext cx="914" cy="76200"/>
          </a:xfrm>
          <a:prstGeom prst="line">
            <a:avLst/>
          </a:prstGeom>
          <a:noFill/>
          <a:ln w="15875">
            <a:solidFill>
              <a:srgbClr val="7AB648"/>
            </a:solidFill>
            <a:prstDash val="solid"/>
          </a:ln>
        </p:spPr>
      </p:sp>
      <p:sp>
        <p:nvSpPr>
          <p:cNvPr id="34" name="Shape 30"/>
          <p:cNvSpPr/>
          <p:nvPr/>
        </p:nvSpPr>
        <p:spPr>
          <a:xfrm>
            <a:off x="3462611" y="4484827"/>
            <a:ext cx="501231" cy="246888"/>
          </a:xfrm>
          <a:prstGeom prst="roundRect">
            <a:avLst>
              <a:gd name="adj" fmla="val 14815"/>
            </a:avLst>
          </a:prstGeom>
          <a:solidFill>
            <a:srgbClr val="7AB648"/>
          </a:solidFill>
          <a:ln w="12700">
            <a:solidFill>
              <a:srgbClr val="FFFFFF">
                <a:alpha val="0"/>
              </a:srgbClr>
            </a:solidFill>
            <a:prstDash val="solid"/>
          </a:ln>
        </p:spPr>
      </p:sp>
      <p:sp>
        <p:nvSpPr>
          <p:cNvPr id="35" name="Text 31"/>
          <p:cNvSpPr txBox="1"/>
          <p:nvPr/>
        </p:nvSpPr>
        <p:spPr>
          <a:xfrm>
            <a:off x="3462611" y="4484827"/>
            <a:ext cx="501231"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ER IS</a:t>
            </a:r>
            <a:endParaRPr lang="en-US" sz="1100" dirty="0"/>
          </a:p>
        </p:txBody>
      </p:sp>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1"/>
          <p:cNvSpPr/>
          <p:nvPr>
            <p:ph idx="101" type="title" hasCustomPrompt="1"/>
          </p:nvPr>
        </p:nvSpPr>
        <p:spPr>
          <a:xfrm>
            <a:off x="1554480" y="384048"/>
            <a:ext cx="10241280" cy="658368"/>
          </a:xfrm>
          <a:prstGeom prst="rect">
            <a:avLst/>
          </a:prstGeom>
          <a:noFill/>
          <a:ln/>
        </p:spPr>
        <p:txBody>
          <a:bodyPr wrap="square" lIns="0" tIns="0" rIns="0" bIns="0" rtlCol="0" anchor="ctr"/>
          <a:lstStyle/>
          <a:p>
            <a:pPr algn="ctr" indent="0" marL="0">
              <a:buNone/>
            </a:pPr>
            <a:r>
              <a:rPr lang="en-US" sz="3000" b="1" dirty="0">
                <a:solidFill>
                  <a:srgbClr val="2B2F38"/>
                </a:solidFill>
              </a:rPr>
              <a:t>Gebruik deze afbeelding als inspiratie</a:t>
            </a:r>
            <a:endParaRPr lang="en-US" sz="3000" dirty="0"/>
          </a:p>
        </p:txBody>
      </p:sp>
      <p:sp>
        <p:nvSpPr>
          <p:cNvPr id="4" name="Shape 1"/>
          <p:cNvSpPr/>
          <p:nvPr/>
        </p:nvSpPr>
        <p:spPr>
          <a:xfrm>
            <a:off x="365760" y="365760"/>
            <a:ext cx="868680" cy="5989320"/>
          </a:xfrm>
          <a:prstGeom prst="roundRect">
            <a:avLst>
              <a:gd name="adj" fmla="val 12632"/>
            </a:avLst>
          </a:prstGeom>
          <a:solidFill>
            <a:srgbClr val="E6F4EA"/>
          </a:solidFill>
          <a:ln w="28575">
            <a:solidFill>
              <a:srgbClr val="6DBE8A"/>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3D8C5A"/>
                </a:solidFill>
                <a:latin typeface="Calibri" pitchFamily="34" charset="0"/>
                <a:ea typeface="Calibri" pitchFamily="34" charset="-122"/>
                <a:cs typeface="Calibri" pitchFamily="34" charset="-120"/>
              </a:rPr>
              <a:t>A1 · Premiers pas</a:t>
            </a:r>
            <a:endParaRPr lang="en-US" sz="3800" dirty="0"/>
          </a:p>
        </p:txBody>
      </p:sp>
      <p:sp>
        <p:nvSpPr>
          <p:cNvPr id="6" name="Text 3"/>
          <p:cNvSpPr txBox="1"/>
          <p:nvPr/>
        </p:nvSpPr>
        <p:spPr>
          <a:xfrm>
            <a:off x="1554480" y="1024128"/>
            <a:ext cx="10241280" cy="365760"/>
          </a:xfrm>
          <a:prstGeom prst="rect">
            <a:avLst/>
          </a:prstGeom>
          <a:noFill/>
          <a:ln/>
        </p:spPr>
        <p:txBody>
          <a:bodyPr wrap="square" lIns="0" tIns="0" rIns="0" bIns="0" rtlCol="0" anchor="ctr"/>
          <a:lstStyle/>
          <a:p>
            <a:pPr algn="ctr" indent="0" marL="0">
              <a:buNone/>
            </a:pPr>
            <a:r>
              <a:rPr lang="en-US" sz="1500" b="1" dirty="0">
                <a:solidFill>
                  <a:srgbClr val="3D8C5A"/>
                </a:solidFill>
                <a:latin typeface="Calibri" pitchFamily="34" charset="0"/>
                <a:ea typeface="Calibri" pitchFamily="34" charset="-122"/>
                <a:cs typeface="Calibri" pitchFamily="34" charset="-120"/>
              </a:rPr>
              <a:t>11 · In de klas</a:t>
            </a:r>
            <a:r>
              <a:rPr lang="en-US" sz="1500" i="1" dirty="0">
                <a:solidFill>
                  <a:srgbClr val="6B7280"/>
                </a:solidFill>
                <a:latin typeface="Calibri" pitchFamily="34" charset="0"/>
                <a:ea typeface="Calibri" pitchFamily="34" charset="-122"/>
                <a:cs typeface="Calibri" pitchFamily="34" charset="-120"/>
              </a:rPr>
              <a:t>   En classe</a:t>
            </a:r>
            <a:r>
              <a:rPr lang="en-US" sz="1200" dirty="0">
                <a:solidFill>
                  <a:srgbClr val="9AA3B2"/>
                </a:solidFill>
                <a:latin typeface="Calibri" pitchFamily="34" charset="0"/>
                <a:ea typeface="Calibri" pitchFamily="34" charset="-122"/>
                <a:cs typeface="Calibri" pitchFamily="34" charset="-120"/>
              </a:rPr>
              <a:t>   ·   syllabus 1.3 · p. 39</a:t>
            </a:r>
            <a:endParaRPr lang="en-US" sz="1500" dirty="0"/>
          </a:p>
        </p:txBody>
      </p:sp>
      <p:sp>
        <p:nvSpPr>
          <p:cNvPr id="7" name="Shape 4"/>
          <p:cNvSpPr/>
          <p:nvPr/>
        </p:nvSpPr>
        <p:spPr>
          <a:xfrm>
            <a:off x="1596085" y="1504645"/>
            <a:ext cx="4534510" cy="2905735"/>
          </a:xfrm>
          <a:prstGeom prst="roundRect">
            <a:avLst>
              <a:gd name="adj" fmla="val 1259"/>
            </a:avLst>
          </a:prstGeom>
          <a:solidFill>
            <a:srgbClr val="FFFFFF"/>
          </a:solidFill>
          <a:ln w="9525">
            <a:solidFill>
              <a:srgbClr val="E3E7EE"/>
            </a:solidFill>
            <a:prstDash val="solid"/>
          </a:ln>
          <a:effectLst>
            <a:outerShdw sx="100000" sy="100000" kx="0" ky="0" algn="bl" rotWithShape="0" blurRad="127000" dist="50800" dir="5400000">
              <a:srgbClr val="1B2430">
                <a:alpha val="25000"/>
              </a:srgbClr>
            </a:outerShdw>
          </a:effectLst>
        </p:spPr>
      </p:sp>
      <p:pic>
        <p:nvPicPr>
          <p:cNvPr id="8" name="Image 0" descr="/home/user/talenleren/neerlandais1/generateur/img/vijfzinnen/a1_klas_s.jpg">    </p:cNvPr>
          <p:cNvPicPr>
            <a:picLocks noChangeAspect="1"/>
          </p:cNvPicPr>
          <p:nvPr/>
        </p:nvPicPr>
        <p:blipFill>
          <a:blip r:embed="rId1"/>
          <a:stretch>
            <a:fillRect/>
          </a:stretch>
        </p:blipFill>
        <p:spPr>
          <a:xfrm>
            <a:off x="1691640" y="1600200"/>
            <a:ext cx="4343400" cy="2714625"/>
          </a:xfrm>
          <a:prstGeom prst="rect">
            <a:avLst/>
          </a:prstGeom>
        </p:spPr>
      </p:pic>
      <p:sp>
        <p:nvSpPr>
          <p:cNvPr id="9" name="Shape 5"/>
          <p:cNvSpPr/>
          <p:nvPr/>
        </p:nvSpPr>
        <p:spPr>
          <a:xfrm>
            <a:off x="1691640" y="4572000"/>
            <a:ext cx="1600200" cy="365760"/>
          </a:xfrm>
          <a:prstGeom prst="roundRect">
            <a:avLst>
              <a:gd name="adj" fmla="val 50000"/>
            </a:avLst>
          </a:prstGeom>
          <a:solidFill>
            <a:srgbClr val="EAF1FC"/>
          </a:solidFill>
          <a:ln w="12700">
            <a:solidFill>
              <a:srgbClr val="4A7BD0"/>
            </a:solidFill>
            <a:prstDash val="solid"/>
          </a:ln>
        </p:spPr>
      </p:sp>
      <p:pic>
        <p:nvPicPr>
          <p:cNvPr id="10" name="Image 1" descr="PenNib">    </p:cNvPr>
          <p:cNvPicPr>
            <a:picLocks noChangeAspect="1"/>
          </p:cNvPicPr>
          <p:nvPr/>
        </p:nvPicPr>
        <p:blipFill>
          <a:blip r:embed="rId2"/>
          <a:stretch>
            <a:fillRect/>
          </a:stretch>
        </p:blipFill>
        <p:spPr>
          <a:xfrm>
            <a:off x="1819656" y="4654296"/>
            <a:ext cx="201168" cy="201168"/>
          </a:xfrm>
          <a:prstGeom prst="rect">
            <a:avLst/>
          </a:prstGeom>
        </p:spPr>
      </p:pic>
      <p:sp>
        <p:nvSpPr>
          <p:cNvPr id="11" name="Text 6"/>
          <p:cNvSpPr txBox="1"/>
          <p:nvPr/>
        </p:nvSpPr>
        <p:spPr>
          <a:xfrm>
            <a:off x="2075688" y="4572000"/>
            <a:ext cx="1143000" cy="365760"/>
          </a:xfrm>
          <a:prstGeom prst="rect">
            <a:avLst/>
          </a:prstGeom>
          <a:noFill/>
          <a:ln/>
        </p:spPr>
        <p:txBody>
          <a:bodyPr wrap="square" lIns="0" tIns="0" rIns="0" bIns="0" rtlCol="0" anchor="ctr"/>
          <a:lstStyle/>
          <a:p>
            <a:pPr algn="l" indent="0" marL="0">
              <a:buNone/>
            </a:pPr>
            <a:r>
              <a:rPr lang="en-US" sz="1150" b="1" spc="100" kern="0" dirty="0">
                <a:solidFill>
                  <a:srgbClr val="4A7BD0"/>
                </a:solidFill>
                <a:latin typeface="Calibri" pitchFamily="34" charset="0"/>
                <a:ea typeface="Calibri" pitchFamily="34" charset="-122"/>
                <a:cs typeface="Calibri" pitchFamily="34" charset="-120"/>
              </a:rPr>
              <a:t>À L’ÉCRIT</a:t>
            </a:r>
            <a:endParaRPr lang="en-US" sz="1150" dirty="0"/>
          </a:p>
        </p:txBody>
      </p:sp>
      <p:sp>
        <p:nvSpPr>
          <p:cNvPr id="12" name="Text 7"/>
          <p:cNvSpPr txBox="1"/>
          <p:nvPr/>
        </p:nvSpPr>
        <p:spPr>
          <a:xfrm>
            <a:off x="3429000" y="4544568"/>
            <a:ext cx="2651760" cy="731520"/>
          </a:xfrm>
          <a:prstGeom prst="rect">
            <a:avLst/>
          </a:prstGeom>
          <a:noFill/>
          <a:ln/>
        </p:spPr>
        <p:txBody>
          <a:bodyPr wrap="square" lIns="0" tIns="0" rIns="0" bIns="0" rtlCol="0" anchor="t"/>
          <a:lstStyle/>
          <a:p>
            <a:pPr algn="l" indent="0" marL="0">
              <a:buNone/>
            </a:pPr>
            <a:r>
              <a:rPr lang="en-US" sz="1150" i="1" dirty="0">
                <a:solidFill>
                  <a:srgbClr val="6B7280"/>
                </a:solidFill>
                <a:latin typeface="Calibri" pitchFamily="34" charset="0"/>
                <a:ea typeface="Calibri" pitchFamily="34" charset="-122"/>
                <a:cs typeface="Calibri" pitchFamily="34" charset="-120"/>
              </a:rPr>
              <a:t>Regardez la classe. Qu’est-ce qu’il y a ?</a:t>
            </a:r>
            <a:endParaRPr lang="en-US" sz="1150" dirty="0"/>
          </a:p>
        </p:txBody>
      </p:sp>
      <p:sp>
        <p:nvSpPr>
          <p:cNvPr id="13" name="Shape 8"/>
          <p:cNvSpPr/>
          <p:nvPr/>
        </p:nvSpPr>
        <p:spPr>
          <a:xfrm>
            <a:off x="6355080" y="1673352"/>
            <a:ext cx="914400" cy="402336"/>
          </a:xfrm>
          <a:prstGeom prst="roundRect">
            <a:avLst>
              <a:gd name="adj" fmla="val 13636"/>
            </a:avLst>
          </a:prstGeom>
          <a:solidFill>
            <a:srgbClr val="5FA873"/>
          </a:solidFill>
          <a:ln w="12700">
            <a:solidFill>
              <a:srgbClr val="FFFFFF">
                <a:alpha val="0"/>
              </a:srgbClr>
            </a:solidFill>
            <a:prstDash val="solid"/>
          </a:ln>
        </p:spPr>
      </p:sp>
      <p:sp>
        <p:nvSpPr>
          <p:cNvPr id="14" name="Text 9"/>
          <p:cNvSpPr txBox="1"/>
          <p:nvPr/>
        </p:nvSpPr>
        <p:spPr>
          <a:xfrm>
            <a:off x="6355080" y="167335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1</a:t>
            </a:r>
            <a:endParaRPr lang="en-US" sz="1600" dirty="0"/>
          </a:p>
        </p:txBody>
      </p:sp>
      <p:sp>
        <p:nvSpPr>
          <p:cNvPr id="15" name="Text 10"/>
          <p:cNvSpPr txBox="1"/>
          <p:nvPr/>
        </p:nvSpPr>
        <p:spPr>
          <a:xfrm>
            <a:off x="7406640" y="1618488"/>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Une chose : </a:t>
            </a:r>
            <a:r>
              <a:rPr lang="en-US" sz="1450" b="1" dirty="0">
                <a:solidFill>
                  <a:srgbClr val="2B2F38"/>
                </a:solidFill>
              </a:rPr>
              <a:t>ER IS</a:t>
            </a:r>
            <a:r>
              <a:rPr lang="en-US" sz="1450" dirty="0">
                <a:solidFill>
                  <a:srgbClr val="2B2F38"/>
                </a:solidFill>
              </a:rPr>
              <a:t> + een + nom.</a:t>
            </a:r>
            <a:endParaRPr lang="en-US" sz="1450" dirty="0"/>
          </a:p>
        </p:txBody>
      </p:sp>
      <p:sp>
        <p:nvSpPr>
          <p:cNvPr id="16" name="Shape 11"/>
          <p:cNvSpPr/>
          <p:nvPr/>
        </p:nvSpPr>
        <p:spPr>
          <a:xfrm>
            <a:off x="6355080" y="2404872"/>
            <a:ext cx="914400" cy="402336"/>
          </a:xfrm>
          <a:prstGeom prst="roundRect">
            <a:avLst>
              <a:gd name="adj" fmla="val 13636"/>
            </a:avLst>
          </a:prstGeom>
          <a:solidFill>
            <a:srgbClr val="5FA873"/>
          </a:solidFill>
          <a:ln w="12700">
            <a:solidFill>
              <a:srgbClr val="FFFFFF">
                <a:alpha val="0"/>
              </a:srgbClr>
            </a:solidFill>
            <a:prstDash val="solid"/>
          </a:ln>
        </p:spPr>
      </p:sp>
      <p:sp>
        <p:nvSpPr>
          <p:cNvPr id="17" name="Text 12"/>
          <p:cNvSpPr txBox="1"/>
          <p:nvPr/>
        </p:nvSpPr>
        <p:spPr>
          <a:xfrm>
            <a:off x="6355080" y="240487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2</a:t>
            </a:r>
            <a:endParaRPr lang="en-US" sz="1600" dirty="0"/>
          </a:p>
        </p:txBody>
      </p:sp>
      <p:sp>
        <p:nvSpPr>
          <p:cNvPr id="18" name="Text 13"/>
          <p:cNvSpPr txBox="1"/>
          <p:nvPr/>
        </p:nvSpPr>
        <p:spPr>
          <a:xfrm>
            <a:off x="7406640" y="2350008"/>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Plusieurs choses : </a:t>
            </a:r>
            <a:r>
              <a:rPr lang="en-US" sz="1450" b="1" dirty="0">
                <a:solidFill>
                  <a:srgbClr val="2B2F38"/>
                </a:solidFill>
              </a:rPr>
              <a:t>ER ZIJN</a:t>
            </a:r>
            <a:r>
              <a:rPr lang="en-US" sz="1450" dirty="0">
                <a:solidFill>
                  <a:srgbClr val="2B2F38"/>
                </a:solidFill>
              </a:rPr>
              <a:t> + nombre + pluriel.</a:t>
            </a:r>
            <a:endParaRPr lang="en-US" sz="1450" dirty="0"/>
          </a:p>
        </p:txBody>
      </p:sp>
      <p:sp>
        <p:nvSpPr>
          <p:cNvPr id="19" name="Shape 14"/>
          <p:cNvSpPr/>
          <p:nvPr/>
        </p:nvSpPr>
        <p:spPr>
          <a:xfrm>
            <a:off x="6355080" y="3136392"/>
            <a:ext cx="914400" cy="402336"/>
          </a:xfrm>
          <a:prstGeom prst="roundRect">
            <a:avLst>
              <a:gd name="adj" fmla="val 13636"/>
            </a:avLst>
          </a:prstGeom>
          <a:solidFill>
            <a:srgbClr val="5FA873"/>
          </a:solidFill>
          <a:ln w="12700">
            <a:solidFill>
              <a:srgbClr val="FFFFFF">
                <a:alpha val="0"/>
              </a:srgbClr>
            </a:solidFill>
            <a:prstDash val="solid"/>
          </a:ln>
        </p:spPr>
      </p:sp>
      <p:sp>
        <p:nvSpPr>
          <p:cNvPr id="20" name="Text 15"/>
          <p:cNvSpPr txBox="1"/>
          <p:nvPr/>
        </p:nvSpPr>
        <p:spPr>
          <a:xfrm>
            <a:off x="6355080" y="313639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3</a:t>
            </a:r>
            <a:endParaRPr lang="en-US" sz="1600" dirty="0"/>
          </a:p>
        </p:txBody>
      </p:sp>
      <p:sp>
        <p:nvSpPr>
          <p:cNvPr id="21" name="Text 16"/>
          <p:cNvSpPr txBox="1"/>
          <p:nvPr/>
        </p:nvSpPr>
        <p:spPr>
          <a:xfrm>
            <a:off x="7406640" y="3081528"/>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Une personne : </a:t>
            </a:r>
            <a:r>
              <a:rPr lang="en-US" sz="1450" b="1" dirty="0">
                <a:solidFill>
                  <a:srgbClr val="2B2F38"/>
                </a:solidFill>
              </a:rPr>
              <a:t>DE LERAAR IS</a:t>
            </a:r>
            <a:r>
              <a:rPr lang="en-US" sz="1450" dirty="0">
                <a:solidFill>
                  <a:srgbClr val="2B2F38"/>
                </a:solidFill>
              </a:rPr>
              <a:t> + adjectif.</a:t>
            </a:r>
            <a:endParaRPr lang="en-US" sz="1450" dirty="0"/>
          </a:p>
        </p:txBody>
      </p:sp>
      <p:sp>
        <p:nvSpPr>
          <p:cNvPr id="22" name="Shape 17"/>
          <p:cNvSpPr/>
          <p:nvPr/>
        </p:nvSpPr>
        <p:spPr>
          <a:xfrm>
            <a:off x="6355080" y="3867912"/>
            <a:ext cx="914400" cy="402336"/>
          </a:xfrm>
          <a:prstGeom prst="roundRect">
            <a:avLst>
              <a:gd name="adj" fmla="val 13636"/>
            </a:avLst>
          </a:prstGeom>
          <a:solidFill>
            <a:srgbClr val="5FA873"/>
          </a:solidFill>
          <a:ln w="12700">
            <a:solidFill>
              <a:srgbClr val="FFFFFF">
                <a:alpha val="0"/>
              </a:srgbClr>
            </a:solidFill>
            <a:prstDash val="solid"/>
          </a:ln>
        </p:spPr>
      </p:sp>
      <p:sp>
        <p:nvSpPr>
          <p:cNvPr id="23" name="Text 18"/>
          <p:cNvSpPr txBox="1"/>
          <p:nvPr/>
        </p:nvSpPr>
        <p:spPr>
          <a:xfrm>
            <a:off x="6355080" y="386791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4</a:t>
            </a:r>
            <a:endParaRPr lang="en-US" sz="1600" dirty="0"/>
          </a:p>
        </p:txBody>
      </p:sp>
      <p:sp>
        <p:nvSpPr>
          <p:cNvPr id="24" name="Text 19"/>
          <p:cNvSpPr txBox="1"/>
          <p:nvPr/>
        </p:nvSpPr>
        <p:spPr>
          <a:xfrm>
            <a:off x="7406640" y="3813048"/>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Une chute avec </a:t>
            </a:r>
            <a:r>
              <a:rPr lang="en-US" sz="1450" b="1" dirty="0">
                <a:solidFill>
                  <a:srgbClr val="2B2F38"/>
                </a:solidFill>
              </a:rPr>
              <a:t>GEEN</a:t>
            </a:r>
            <a:r>
              <a:rPr lang="en-US" sz="1450" dirty="0">
                <a:solidFill>
                  <a:srgbClr val="2B2F38"/>
                </a:solidFill>
              </a:rPr>
              <a:t>.</a:t>
            </a:r>
            <a:endParaRPr lang="en-US" sz="1450" dirty="0"/>
          </a:p>
        </p:txBody>
      </p:sp>
      <p:sp>
        <p:nvSpPr>
          <p:cNvPr id="25" name="Shape 20"/>
          <p:cNvSpPr/>
          <p:nvPr/>
        </p:nvSpPr>
        <p:spPr>
          <a:xfrm>
            <a:off x="3246120" y="5440680"/>
            <a:ext cx="6858000" cy="822960"/>
          </a:xfrm>
          <a:prstGeom prst="roundRect">
            <a:avLst>
              <a:gd name="adj" fmla="val 17778"/>
            </a:avLst>
          </a:prstGeom>
          <a:solidFill>
            <a:srgbClr val="EAF5EC"/>
          </a:solidFill>
          <a:ln w="15875">
            <a:solidFill>
              <a:srgbClr val="5FA873"/>
            </a:solidFill>
            <a:prstDash val="solid"/>
          </a:ln>
        </p:spPr>
      </p:sp>
      <p:pic>
        <p:nvPicPr>
          <p:cNvPr id="26" name="Image 2" descr="UserFriends">    </p:cNvPr>
          <p:cNvPicPr>
            <a:picLocks noChangeAspect="1"/>
          </p:cNvPicPr>
          <p:nvPr/>
        </p:nvPicPr>
        <p:blipFill>
          <a:blip r:embed="rId3"/>
          <a:stretch>
            <a:fillRect/>
          </a:stretch>
        </p:blipFill>
        <p:spPr>
          <a:xfrm>
            <a:off x="3520440" y="5660136"/>
            <a:ext cx="384048" cy="384048"/>
          </a:xfrm>
          <a:prstGeom prst="rect">
            <a:avLst/>
          </a:prstGeom>
        </p:spPr>
      </p:pic>
      <p:sp>
        <p:nvSpPr>
          <p:cNvPr id="27" name="Text 21"/>
          <p:cNvSpPr txBox="1"/>
          <p:nvPr/>
        </p:nvSpPr>
        <p:spPr>
          <a:xfrm>
            <a:off x="4114800" y="5440680"/>
            <a:ext cx="5852160" cy="822960"/>
          </a:xfrm>
          <a:prstGeom prst="rect">
            <a:avLst/>
          </a:prstGeom>
          <a:noFill/>
          <a:ln/>
        </p:spPr>
        <p:txBody>
          <a:bodyPr wrap="square" lIns="0" tIns="0" rIns="0" bIns="0" rtlCol="0" anchor="ctr"/>
          <a:lstStyle/>
          <a:p>
            <a:pPr algn="ctr" indent="0" marL="0">
              <a:buNone/>
            </a:pPr>
            <a:r>
              <a:rPr lang="en-US" sz="1800" b="1" dirty="0">
                <a:solidFill>
                  <a:srgbClr val="2E6B44"/>
                </a:solidFill>
                <a:latin typeface="Calibri" pitchFamily="34" charset="0"/>
                <a:ea typeface="Calibri" pitchFamily="34" charset="-122"/>
                <a:cs typeface="Calibri" pitchFamily="34" charset="-120"/>
              </a:rPr>
              <a:t>Lees je tekst voor aan je partner.</a:t>
            </a:r>
            <a:endParaRPr lang="en-US" sz="1800" dirty="0"/>
          </a:p>
          <a:p>
            <a:pPr algn="ctr" indent="0" marL="0">
              <a:buNone/>
            </a:pPr>
            <a:r>
              <a:rPr lang="en-US" sz="1800" b="1" dirty="0">
                <a:solidFill>
                  <a:srgbClr val="2E6B44"/>
                </a:solidFill>
                <a:latin typeface="Calibri" pitchFamily="34" charset="0"/>
                <a:ea typeface="Calibri" pitchFamily="34" charset="-122"/>
                <a:cs typeface="Calibri" pitchFamily="34" charset="-120"/>
              </a:rPr>
              <a:t>Wat denkt hij/zij daarvan?</a:t>
            </a:r>
            <a:endParaRPr lang="en-US" sz="1800" dirty="0"/>
          </a:p>
        </p:txBody>
      </p:sp>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1"/>
          <p:cNvSpPr/>
          <p:nvPr>
            <p:ph idx="101" type="title" hasCustomPrompt="1"/>
          </p:nvPr>
        </p:nvSpPr>
        <p:spPr>
          <a:xfrm>
            <a:off x="1554480" y="384048"/>
            <a:ext cx="10241280" cy="658368"/>
          </a:xfrm>
          <a:prstGeom prst="rect">
            <a:avLst/>
          </a:prstGeom>
          <a:noFill/>
          <a:ln/>
        </p:spPr>
        <p:txBody>
          <a:bodyPr wrap="square" lIns="0" tIns="0" rIns="0" bIns="0" rtlCol="0" anchor="ctr"/>
          <a:lstStyle/>
          <a:p>
            <a:pPr algn="ctr" indent="0" marL="0">
              <a:buNone/>
            </a:pPr>
            <a:r>
              <a:rPr lang="en-US" sz="3000" b="1" dirty="0">
                <a:solidFill>
                  <a:srgbClr val="2B2F38"/>
                </a:solidFill>
              </a:rPr>
              <a:t>In de klas</a:t>
            </a:r>
            <a:endParaRPr lang="en-US" sz="3000" dirty="0"/>
          </a:p>
        </p:txBody>
      </p:sp>
      <p:sp>
        <p:nvSpPr>
          <p:cNvPr id="4" name="Shape 1"/>
          <p:cNvSpPr/>
          <p:nvPr/>
        </p:nvSpPr>
        <p:spPr>
          <a:xfrm>
            <a:off x="365760" y="365760"/>
            <a:ext cx="868680" cy="5989320"/>
          </a:xfrm>
          <a:prstGeom prst="roundRect">
            <a:avLst>
              <a:gd name="adj" fmla="val 12632"/>
            </a:avLst>
          </a:prstGeom>
          <a:solidFill>
            <a:srgbClr val="E6F4EA"/>
          </a:solidFill>
          <a:ln w="28575">
            <a:solidFill>
              <a:srgbClr val="6DBE8A"/>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3D8C5A"/>
                </a:solidFill>
                <a:latin typeface="Calibri" pitchFamily="34" charset="0"/>
                <a:ea typeface="Calibri" pitchFamily="34" charset="-122"/>
                <a:cs typeface="Calibri" pitchFamily="34" charset="-120"/>
              </a:rPr>
              <a:t>A1 · Premiers pas</a:t>
            </a:r>
            <a:endParaRPr lang="en-US" sz="3800" dirty="0"/>
          </a:p>
        </p:txBody>
      </p:sp>
      <p:sp>
        <p:nvSpPr>
          <p:cNvPr id="6" name="Shape 3"/>
          <p:cNvSpPr/>
          <p:nvPr/>
        </p:nvSpPr>
        <p:spPr>
          <a:xfrm>
            <a:off x="2519172" y="1124712"/>
            <a:ext cx="8311896" cy="5277231"/>
          </a:xfrm>
          <a:prstGeom prst="roundRect">
            <a:avLst>
              <a:gd name="adj" fmla="val 693"/>
            </a:avLst>
          </a:prstGeom>
          <a:solidFill>
            <a:srgbClr val="FFFFFF"/>
          </a:solidFill>
          <a:ln w="9525">
            <a:solidFill>
              <a:srgbClr val="E3E7EE"/>
            </a:solidFill>
            <a:prstDash val="solid"/>
          </a:ln>
          <a:effectLst>
            <a:outerShdw sx="100000" sy="100000" kx="0" ky="0" algn="bl" rotWithShape="0" blurRad="177800" dist="63500" dir="5400000">
              <a:srgbClr val="1B2430">
                <a:alpha val="25000"/>
              </a:srgbClr>
            </a:outerShdw>
          </a:effectLst>
        </p:spPr>
      </p:sp>
      <p:pic>
        <p:nvPicPr>
          <p:cNvPr id="7" name="Image 0" descr="/home/user/talenleren/neerlandais1/generateur/img/vijfzinnen/a1_klas.jpg">    </p:cNvPr>
          <p:cNvPicPr>
            <a:picLocks noChangeAspect="1"/>
          </p:cNvPicPr>
          <p:nvPr/>
        </p:nvPicPr>
        <p:blipFill>
          <a:blip r:embed="rId1"/>
          <a:stretch>
            <a:fillRect/>
          </a:stretch>
        </p:blipFill>
        <p:spPr>
          <a:xfrm>
            <a:off x="2628900" y="1234440"/>
            <a:ext cx="8092440" cy="5057775"/>
          </a:xfrm>
          <a:prstGeom prst="rect">
            <a:avLst/>
          </a:prstGeom>
        </p:spPr>
      </p:pic>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1"/>
          <p:cNvSpPr/>
          <p:nvPr>
            <p:ph idx="101" type="title" hasCustomPrompt="1"/>
          </p:nvPr>
        </p:nvSpPr>
        <p:spPr>
          <a:xfrm>
            <a:off x="1691640" y="347472"/>
            <a:ext cx="8138160" cy="914400"/>
          </a:xfrm>
          <a:prstGeom prst="rect">
            <a:avLst/>
          </a:prstGeom>
          <a:noFill/>
          <a:ln/>
        </p:spPr>
        <p:txBody>
          <a:bodyPr wrap="square" lIns="0" tIns="0" rIns="0" bIns="0" rtlCol="0" anchor="ctr"/>
          <a:lstStyle/>
          <a:p>
            <a:pPr algn="l" indent="0" marL="0">
              <a:buNone/>
            </a:pPr>
            <a:r>
              <a:rPr lang="en-US" sz="2400" b="1" dirty="0">
                <a:solidFill>
                  <a:srgbClr val="2B2F38"/>
                </a:solidFill>
              </a:rPr>
              <a:t>Hier is een voorbeeld van wat je had kunnen denken en schrijven…</a:t>
            </a:r>
            <a:endParaRPr lang="en-US" sz="2400" dirty="0"/>
          </a:p>
        </p:txBody>
      </p:sp>
      <p:sp>
        <p:nvSpPr>
          <p:cNvPr id="4" name="Shape 1"/>
          <p:cNvSpPr/>
          <p:nvPr/>
        </p:nvSpPr>
        <p:spPr>
          <a:xfrm>
            <a:off x="365760" y="365760"/>
            <a:ext cx="868680" cy="5989320"/>
          </a:xfrm>
          <a:prstGeom prst="roundRect">
            <a:avLst>
              <a:gd name="adj" fmla="val 12632"/>
            </a:avLst>
          </a:prstGeom>
          <a:solidFill>
            <a:srgbClr val="E6F4EA"/>
          </a:solidFill>
          <a:ln w="28575">
            <a:solidFill>
              <a:srgbClr val="6DBE8A"/>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3D8C5A"/>
                </a:solidFill>
                <a:latin typeface="Calibri" pitchFamily="34" charset="0"/>
                <a:ea typeface="Calibri" pitchFamily="34" charset="-122"/>
                <a:cs typeface="Calibri" pitchFamily="34" charset="-120"/>
              </a:rPr>
              <a:t>A1 · Premiers pas</a:t>
            </a:r>
            <a:endParaRPr lang="en-US" sz="3800" dirty="0"/>
          </a:p>
        </p:txBody>
      </p:sp>
      <p:sp>
        <p:nvSpPr>
          <p:cNvPr id="6" name="Shape 3"/>
          <p:cNvSpPr/>
          <p:nvPr/>
        </p:nvSpPr>
        <p:spPr>
          <a:xfrm>
            <a:off x="10058400" y="246888"/>
            <a:ext cx="1691640" cy="1091565"/>
          </a:xfrm>
          <a:prstGeom prst="roundRect">
            <a:avLst>
              <a:gd name="adj" fmla="val 3351"/>
            </a:avLst>
          </a:prstGeom>
          <a:solidFill>
            <a:srgbClr val="FFFFFF"/>
          </a:solidFill>
          <a:ln w="9525">
            <a:solidFill>
              <a:srgbClr val="E3E7EE"/>
            </a:solidFill>
            <a:prstDash val="solid"/>
          </a:ln>
          <a:effectLst>
            <a:outerShdw sx="100000" sy="100000" kx="0" ky="0" algn="bl" rotWithShape="0" blurRad="76200" dist="25400" dir="5400000">
              <a:srgbClr val="1B2430">
                <a:alpha val="25000"/>
              </a:srgbClr>
            </a:outerShdw>
          </a:effectLst>
        </p:spPr>
      </p:sp>
      <p:pic>
        <p:nvPicPr>
          <p:cNvPr id="7" name="Image 0" descr="/home/user/talenleren/neerlandais1/generateur/img/vijfzinnen/a1_klas_s.jpg">    </p:cNvPr>
          <p:cNvPicPr>
            <a:picLocks noChangeAspect="1"/>
          </p:cNvPicPr>
          <p:nvPr/>
        </p:nvPicPr>
        <p:blipFill>
          <a:blip r:embed="rId1"/>
          <a:stretch>
            <a:fillRect/>
          </a:stretch>
        </p:blipFill>
        <p:spPr>
          <a:xfrm>
            <a:off x="10104120" y="292608"/>
            <a:ext cx="1600200" cy="1000125"/>
          </a:xfrm>
          <a:prstGeom prst="rect">
            <a:avLst/>
          </a:prstGeom>
        </p:spPr>
      </p:pic>
      <p:sp>
        <p:nvSpPr>
          <p:cNvPr id="8" name="Shape 4"/>
          <p:cNvSpPr/>
          <p:nvPr/>
        </p:nvSpPr>
        <p:spPr>
          <a:xfrm>
            <a:off x="1691640" y="3120542"/>
            <a:ext cx="613867" cy="371856"/>
          </a:xfrm>
          <a:prstGeom prst="roundRect">
            <a:avLst>
              <a:gd name="adj" fmla="val 12295"/>
            </a:avLst>
          </a:prstGeom>
          <a:solidFill>
            <a:srgbClr val="E6F3DA"/>
          </a:solidFill>
          <a:ln w="12700">
            <a:solidFill>
              <a:srgbClr val="FFFFFF">
                <a:alpha val="0"/>
              </a:srgbClr>
            </a:solidFill>
            <a:prstDash val="solid"/>
          </a:ln>
        </p:spPr>
      </p:sp>
      <p:sp>
        <p:nvSpPr>
          <p:cNvPr id="9" name="Text 5"/>
          <p:cNvSpPr txBox="1"/>
          <p:nvPr/>
        </p:nvSpPr>
        <p:spPr>
          <a:xfrm>
            <a:off x="1691640" y="3108350"/>
            <a:ext cx="613867"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Er is</a:t>
            </a:r>
            <a:endParaRPr lang="en-US" sz="2400" dirty="0"/>
          </a:p>
        </p:txBody>
      </p:sp>
      <p:sp>
        <p:nvSpPr>
          <p:cNvPr id="10" name="Text 6"/>
          <p:cNvSpPr txBox="1"/>
          <p:nvPr/>
        </p:nvSpPr>
        <p:spPr>
          <a:xfrm>
            <a:off x="2392680" y="3108350"/>
            <a:ext cx="2157984"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een groot bord.</a:t>
            </a:r>
            <a:endParaRPr lang="en-US" sz="2400" dirty="0"/>
          </a:p>
        </p:txBody>
      </p:sp>
      <p:sp>
        <p:nvSpPr>
          <p:cNvPr id="11" name="Shape 7"/>
          <p:cNvSpPr/>
          <p:nvPr/>
        </p:nvSpPr>
        <p:spPr>
          <a:xfrm>
            <a:off x="4454957" y="3120542"/>
            <a:ext cx="854659" cy="371856"/>
          </a:xfrm>
          <a:prstGeom prst="roundRect">
            <a:avLst>
              <a:gd name="adj" fmla="val 12295"/>
            </a:avLst>
          </a:prstGeom>
          <a:solidFill>
            <a:srgbClr val="E6F3DA"/>
          </a:solidFill>
          <a:ln w="12700">
            <a:solidFill>
              <a:srgbClr val="FFFFFF">
                <a:alpha val="0"/>
              </a:srgbClr>
            </a:solidFill>
            <a:prstDash val="solid"/>
          </a:ln>
        </p:spPr>
      </p:sp>
      <p:sp>
        <p:nvSpPr>
          <p:cNvPr id="12" name="Text 8"/>
          <p:cNvSpPr txBox="1"/>
          <p:nvPr/>
        </p:nvSpPr>
        <p:spPr>
          <a:xfrm>
            <a:off x="4454957" y="3108350"/>
            <a:ext cx="854659"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Er zijn</a:t>
            </a:r>
            <a:endParaRPr lang="en-US" sz="2400" dirty="0"/>
          </a:p>
        </p:txBody>
      </p:sp>
      <p:sp>
        <p:nvSpPr>
          <p:cNvPr id="13" name="Text 9"/>
          <p:cNvSpPr txBox="1"/>
          <p:nvPr/>
        </p:nvSpPr>
        <p:spPr>
          <a:xfrm>
            <a:off x="5396789" y="3108350"/>
            <a:ext cx="3629254"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twaalf studenten. De leraar</a:t>
            </a:r>
            <a:endParaRPr lang="en-US" sz="2400" dirty="0"/>
          </a:p>
        </p:txBody>
      </p:sp>
      <p:sp>
        <p:nvSpPr>
          <p:cNvPr id="14" name="Shape 10"/>
          <p:cNvSpPr/>
          <p:nvPr/>
        </p:nvSpPr>
        <p:spPr>
          <a:xfrm>
            <a:off x="8930335" y="3120542"/>
            <a:ext cx="2306422" cy="371856"/>
          </a:xfrm>
          <a:prstGeom prst="roundRect">
            <a:avLst>
              <a:gd name="adj" fmla="val 12295"/>
            </a:avLst>
          </a:prstGeom>
          <a:solidFill>
            <a:srgbClr val="E6F3DA"/>
          </a:solidFill>
          <a:ln w="12700">
            <a:solidFill>
              <a:srgbClr val="FFFFFF">
                <a:alpha val="0"/>
              </a:srgbClr>
            </a:solidFill>
            <a:prstDash val="solid"/>
          </a:ln>
        </p:spPr>
      </p:sp>
      <p:sp>
        <p:nvSpPr>
          <p:cNvPr id="15" name="Text 11"/>
          <p:cNvSpPr txBox="1"/>
          <p:nvPr/>
        </p:nvSpPr>
        <p:spPr>
          <a:xfrm>
            <a:off x="8930335" y="3108350"/>
            <a:ext cx="2306422"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is heel vriendelijk</a:t>
            </a:r>
            <a:endParaRPr lang="en-US" sz="2400" dirty="0"/>
          </a:p>
        </p:txBody>
      </p:sp>
      <p:sp>
        <p:nvSpPr>
          <p:cNvPr id="16" name="Text 12"/>
          <p:cNvSpPr txBox="1"/>
          <p:nvPr/>
        </p:nvSpPr>
        <p:spPr>
          <a:xfrm>
            <a:off x="11236757" y="3108350"/>
            <a:ext cx="259690"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a:t>
            </a:r>
            <a:endParaRPr lang="en-US" sz="2400" dirty="0"/>
          </a:p>
        </p:txBody>
      </p:sp>
      <p:sp>
        <p:nvSpPr>
          <p:cNvPr id="17" name="Shape 13"/>
          <p:cNvSpPr/>
          <p:nvPr/>
        </p:nvSpPr>
        <p:spPr>
          <a:xfrm>
            <a:off x="1998574" y="3044342"/>
            <a:ext cx="914" cy="76200"/>
          </a:xfrm>
          <a:prstGeom prst="line">
            <a:avLst/>
          </a:prstGeom>
          <a:noFill/>
          <a:ln w="15875">
            <a:solidFill>
              <a:srgbClr val="7AB648"/>
            </a:solidFill>
            <a:prstDash val="solid"/>
          </a:ln>
        </p:spPr>
      </p:sp>
      <p:sp>
        <p:nvSpPr>
          <p:cNvPr id="18" name="Shape 14"/>
          <p:cNvSpPr/>
          <p:nvPr/>
        </p:nvSpPr>
        <p:spPr>
          <a:xfrm>
            <a:off x="1747958" y="2797454"/>
            <a:ext cx="501231" cy="246888"/>
          </a:xfrm>
          <a:prstGeom prst="roundRect">
            <a:avLst>
              <a:gd name="adj" fmla="val 14815"/>
            </a:avLst>
          </a:prstGeom>
          <a:solidFill>
            <a:srgbClr val="7AB648"/>
          </a:solidFill>
          <a:ln w="12700">
            <a:solidFill>
              <a:srgbClr val="FFFFFF">
                <a:alpha val="0"/>
              </a:srgbClr>
            </a:solidFill>
            <a:prstDash val="solid"/>
          </a:ln>
        </p:spPr>
      </p:sp>
      <p:sp>
        <p:nvSpPr>
          <p:cNvPr id="19" name="Text 15"/>
          <p:cNvSpPr txBox="1"/>
          <p:nvPr/>
        </p:nvSpPr>
        <p:spPr>
          <a:xfrm>
            <a:off x="1747958" y="2797454"/>
            <a:ext cx="501231"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ER IS</a:t>
            </a:r>
            <a:endParaRPr lang="en-US" sz="1100" dirty="0"/>
          </a:p>
        </p:txBody>
      </p:sp>
      <p:sp>
        <p:nvSpPr>
          <p:cNvPr id="20" name="Shape 16"/>
          <p:cNvSpPr/>
          <p:nvPr/>
        </p:nvSpPr>
        <p:spPr>
          <a:xfrm>
            <a:off x="4882286" y="3044342"/>
            <a:ext cx="914" cy="76200"/>
          </a:xfrm>
          <a:prstGeom prst="line">
            <a:avLst/>
          </a:prstGeom>
          <a:noFill/>
          <a:ln w="15875">
            <a:solidFill>
              <a:srgbClr val="7AB648"/>
            </a:solidFill>
            <a:prstDash val="solid"/>
          </a:ln>
        </p:spPr>
      </p:sp>
      <p:sp>
        <p:nvSpPr>
          <p:cNvPr id="21" name="Shape 17"/>
          <p:cNvSpPr/>
          <p:nvPr/>
        </p:nvSpPr>
        <p:spPr>
          <a:xfrm>
            <a:off x="4562170" y="2797454"/>
            <a:ext cx="640232" cy="246888"/>
          </a:xfrm>
          <a:prstGeom prst="roundRect">
            <a:avLst>
              <a:gd name="adj" fmla="val 14815"/>
            </a:avLst>
          </a:prstGeom>
          <a:solidFill>
            <a:srgbClr val="7AB648"/>
          </a:solidFill>
          <a:ln w="12700">
            <a:solidFill>
              <a:srgbClr val="FFFFFF">
                <a:alpha val="0"/>
              </a:srgbClr>
            </a:solidFill>
            <a:prstDash val="solid"/>
          </a:ln>
        </p:spPr>
      </p:sp>
      <p:sp>
        <p:nvSpPr>
          <p:cNvPr id="22" name="Text 18"/>
          <p:cNvSpPr txBox="1"/>
          <p:nvPr/>
        </p:nvSpPr>
        <p:spPr>
          <a:xfrm>
            <a:off x="4562170" y="2797454"/>
            <a:ext cx="640232"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ER ZIJN</a:t>
            </a:r>
            <a:endParaRPr lang="en-US" sz="1100" dirty="0"/>
          </a:p>
        </p:txBody>
      </p:sp>
      <p:sp>
        <p:nvSpPr>
          <p:cNvPr id="23" name="Shape 19"/>
          <p:cNvSpPr/>
          <p:nvPr/>
        </p:nvSpPr>
        <p:spPr>
          <a:xfrm>
            <a:off x="10083546" y="3044342"/>
            <a:ext cx="914" cy="76200"/>
          </a:xfrm>
          <a:prstGeom prst="line">
            <a:avLst/>
          </a:prstGeom>
          <a:noFill/>
          <a:ln w="15875">
            <a:solidFill>
              <a:srgbClr val="7AB648"/>
            </a:solidFill>
            <a:prstDash val="solid"/>
          </a:ln>
        </p:spPr>
      </p:sp>
      <p:sp>
        <p:nvSpPr>
          <p:cNvPr id="24" name="Shape 20"/>
          <p:cNvSpPr/>
          <p:nvPr/>
        </p:nvSpPr>
        <p:spPr>
          <a:xfrm>
            <a:off x="9747294" y="2797454"/>
            <a:ext cx="672503" cy="246888"/>
          </a:xfrm>
          <a:prstGeom prst="roundRect">
            <a:avLst>
              <a:gd name="adj" fmla="val 14815"/>
            </a:avLst>
          </a:prstGeom>
          <a:solidFill>
            <a:srgbClr val="7AB648"/>
          </a:solidFill>
          <a:ln w="12700">
            <a:solidFill>
              <a:srgbClr val="FFFFFF">
                <a:alpha val="0"/>
              </a:srgbClr>
            </a:solidFill>
            <a:prstDash val="solid"/>
          </a:ln>
        </p:spPr>
      </p:sp>
      <p:sp>
        <p:nvSpPr>
          <p:cNvPr id="25" name="Text 21"/>
          <p:cNvSpPr txBox="1"/>
          <p:nvPr/>
        </p:nvSpPr>
        <p:spPr>
          <a:xfrm>
            <a:off x="9747294" y="2797454"/>
            <a:ext cx="672503"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IS + adj.</a:t>
            </a:r>
            <a:endParaRPr lang="en-US" sz="1100" dirty="0"/>
          </a:p>
        </p:txBody>
      </p:sp>
      <p:sp>
        <p:nvSpPr>
          <p:cNvPr id="26" name="Text 22"/>
          <p:cNvSpPr txBox="1"/>
          <p:nvPr/>
        </p:nvSpPr>
        <p:spPr>
          <a:xfrm>
            <a:off x="5214061" y="4162958"/>
            <a:ext cx="1463650"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Maar er is</a:t>
            </a:r>
            <a:endParaRPr lang="en-US" sz="2400" dirty="0"/>
          </a:p>
        </p:txBody>
      </p:sp>
      <p:sp>
        <p:nvSpPr>
          <p:cNvPr id="27" name="Shape 23"/>
          <p:cNvSpPr/>
          <p:nvPr/>
        </p:nvSpPr>
        <p:spPr>
          <a:xfrm>
            <a:off x="6582004" y="4175150"/>
            <a:ext cx="706222" cy="371856"/>
          </a:xfrm>
          <a:prstGeom prst="roundRect">
            <a:avLst>
              <a:gd name="adj" fmla="val 12295"/>
            </a:avLst>
          </a:prstGeom>
          <a:solidFill>
            <a:srgbClr val="E6F3DA"/>
          </a:solidFill>
          <a:ln w="12700">
            <a:solidFill>
              <a:srgbClr val="FFFFFF">
                <a:alpha val="0"/>
              </a:srgbClr>
            </a:solidFill>
            <a:prstDash val="solid"/>
          </a:ln>
        </p:spPr>
      </p:sp>
      <p:sp>
        <p:nvSpPr>
          <p:cNvPr id="28" name="Text 24"/>
          <p:cNvSpPr txBox="1"/>
          <p:nvPr/>
        </p:nvSpPr>
        <p:spPr>
          <a:xfrm>
            <a:off x="6582004" y="4162958"/>
            <a:ext cx="706222"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geen</a:t>
            </a:r>
            <a:endParaRPr lang="en-US" sz="2400" dirty="0"/>
          </a:p>
        </p:txBody>
      </p:sp>
      <p:sp>
        <p:nvSpPr>
          <p:cNvPr id="29" name="Text 25"/>
          <p:cNvSpPr txBox="1"/>
          <p:nvPr/>
        </p:nvSpPr>
        <p:spPr>
          <a:xfrm>
            <a:off x="7375398" y="4162958"/>
            <a:ext cx="989381"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koffie!</a:t>
            </a:r>
            <a:endParaRPr lang="en-US" sz="2400" dirty="0"/>
          </a:p>
        </p:txBody>
      </p:sp>
      <p:sp>
        <p:nvSpPr>
          <p:cNvPr id="30" name="Shape 26"/>
          <p:cNvSpPr/>
          <p:nvPr/>
        </p:nvSpPr>
        <p:spPr>
          <a:xfrm>
            <a:off x="6935114" y="4098950"/>
            <a:ext cx="914" cy="76200"/>
          </a:xfrm>
          <a:prstGeom prst="line">
            <a:avLst/>
          </a:prstGeom>
          <a:noFill/>
          <a:ln w="15875">
            <a:solidFill>
              <a:srgbClr val="7AB648"/>
            </a:solidFill>
            <a:prstDash val="solid"/>
          </a:ln>
        </p:spPr>
      </p:sp>
      <p:sp>
        <p:nvSpPr>
          <p:cNvPr id="31" name="Shape 27"/>
          <p:cNvSpPr/>
          <p:nvPr/>
        </p:nvSpPr>
        <p:spPr>
          <a:xfrm>
            <a:off x="6666687" y="3852062"/>
            <a:ext cx="536854" cy="246888"/>
          </a:xfrm>
          <a:prstGeom prst="roundRect">
            <a:avLst>
              <a:gd name="adj" fmla="val 14815"/>
            </a:avLst>
          </a:prstGeom>
          <a:solidFill>
            <a:srgbClr val="7AB648"/>
          </a:solidFill>
          <a:ln w="12700">
            <a:solidFill>
              <a:srgbClr val="FFFFFF">
                <a:alpha val="0"/>
              </a:srgbClr>
            </a:solidFill>
            <a:prstDash val="solid"/>
          </a:ln>
        </p:spPr>
      </p:sp>
      <p:sp>
        <p:nvSpPr>
          <p:cNvPr id="32" name="Text 28"/>
          <p:cNvSpPr txBox="1"/>
          <p:nvPr/>
        </p:nvSpPr>
        <p:spPr>
          <a:xfrm>
            <a:off x="6666687" y="3852062"/>
            <a:ext cx="536854"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GEEN</a:t>
            </a:r>
            <a:endParaRPr lang="en-US" sz="1100" dirty="0"/>
          </a:p>
        </p:txBody>
      </p:sp>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1"/>
          <p:cNvSpPr/>
          <p:nvPr>
            <p:ph idx="101" type="title" hasCustomPrompt="1"/>
          </p:nvPr>
        </p:nvSpPr>
        <p:spPr>
          <a:xfrm>
            <a:off x="1554480" y="384048"/>
            <a:ext cx="10241280" cy="658368"/>
          </a:xfrm>
          <a:prstGeom prst="rect">
            <a:avLst/>
          </a:prstGeom>
          <a:noFill/>
          <a:ln/>
        </p:spPr>
        <p:txBody>
          <a:bodyPr wrap="square" lIns="0" tIns="0" rIns="0" bIns="0" rtlCol="0" anchor="ctr"/>
          <a:lstStyle/>
          <a:p>
            <a:pPr algn="ctr" indent="0" marL="0">
              <a:buNone/>
            </a:pPr>
            <a:r>
              <a:rPr lang="en-US" sz="3000" b="1" dirty="0">
                <a:solidFill>
                  <a:srgbClr val="2B2F38"/>
                </a:solidFill>
              </a:rPr>
              <a:t>Gebruik deze afbeelding als inspiratie</a:t>
            </a:r>
            <a:endParaRPr lang="en-US" sz="3000" dirty="0"/>
          </a:p>
        </p:txBody>
      </p:sp>
      <p:sp>
        <p:nvSpPr>
          <p:cNvPr id="4" name="Shape 1"/>
          <p:cNvSpPr/>
          <p:nvPr/>
        </p:nvSpPr>
        <p:spPr>
          <a:xfrm>
            <a:off x="365760" y="365760"/>
            <a:ext cx="868680" cy="5989320"/>
          </a:xfrm>
          <a:prstGeom prst="roundRect">
            <a:avLst>
              <a:gd name="adj" fmla="val 12632"/>
            </a:avLst>
          </a:prstGeom>
          <a:solidFill>
            <a:srgbClr val="E6F4EA"/>
          </a:solidFill>
          <a:ln w="28575">
            <a:solidFill>
              <a:srgbClr val="6DBE8A"/>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3D8C5A"/>
                </a:solidFill>
                <a:latin typeface="Calibri" pitchFamily="34" charset="0"/>
                <a:ea typeface="Calibri" pitchFamily="34" charset="-122"/>
                <a:cs typeface="Calibri" pitchFamily="34" charset="-120"/>
              </a:rPr>
              <a:t>A1 · Premiers pas</a:t>
            </a:r>
            <a:endParaRPr lang="en-US" sz="3800" dirty="0"/>
          </a:p>
        </p:txBody>
      </p:sp>
      <p:sp>
        <p:nvSpPr>
          <p:cNvPr id="6" name="Text 3"/>
          <p:cNvSpPr txBox="1"/>
          <p:nvPr/>
        </p:nvSpPr>
        <p:spPr>
          <a:xfrm>
            <a:off x="1554480" y="1024128"/>
            <a:ext cx="10241280" cy="365760"/>
          </a:xfrm>
          <a:prstGeom prst="rect">
            <a:avLst/>
          </a:prstGeom>
          <a:noFill/>
          <a:ln/>
        </p:spPr>
        <p:txBody>
          <a:bodyPr wrap="square" lIns="0" tIns="0" rIns="0" bIns="0" rtlCol="0" anchor="ctr"/>
          <a:lstStyle/>
          <a:p>
            <a:pPr algn="ctr" indent="0" marL="0">
              <a:buNone/>
            </a:pPr>
            <a:r>
              <a:rPr lang="en-US" sz="1500" b="1" dirty="0">
                <a:solidFill>
                  <a:srgbClr val="3D8C5A"/>
                </a:solidFill>
                <a:latin typeface="Calibri" pitchFamily="34" charset="0"/>
                <a:ea typeface="Calibri" pitchFamily="34" charset="-122"/>
                <a:cs typeface="Calibri" pitchFamily="34" charset="-120"/>
              </a:rPr>
              <a:t>12 · Tot straks!</a:t>
            </a:r>
            <a:r>
              <a:rPr lang="en-US" sz="1500" i="1" dirty="0">
                <a:solidFill>
                  <a:srgbClr val="6B7280"/>
                </a:solidFill>
                <a:latin typeface="Calibri" pitchFamily="34" charset="0"/>
                <a:ea typeface="Calibri" pitchFamily="34" charset="-122"/>
                <a:cs typeface="Calibri" pitchFamily="34" charset="-120"/>
              </a:rPr>
              <a:t>   À tout à l’heure !</a:t>
            </a:r>
            <a:r>
              <a:rPr lang="en-US" sz="1200" dirty="0">
                <a:solidFill>
                  <a:srgbClr val="9AA3B2"/>
                </a:solidFill>
                <a:latin typeface="Calibri" pitchFamily="34" charset="0"/>
                <a:ea typeface="Calibri" pitchFamily="34" charset="-122"/>
                <a:cs typeface="Calibri" pitchFamily="34" charset="-120"/>
              </a:rPr>
              <a:t>   ·   syllabus 1.4 · p. 51</a:t>
            </a:r>
            <a:endParaRPr lang="en-US" sz="1500" dirty="0"/>
          </a:p>
        </p:txBody>
      </p:sp>
      <p:sp>
        <p:nvSpPr>
          <p:cNvPr id="7" name="Shape 4"/>
          <p:cNvSpPr/>
          <p:nvPr/>
        </p:nvSpPr>
        <p:spPr>
          <a:xfrm>
            <a:off x="1596085" y="1504645"/>
            <a:ext cx="4534510" cy="2905735"/>
          </a:xfrm>
          <a:prstGeom prst="roundRect">
            <a:avLst>
              <a:gd name="adj" fmla="val 1259"/>
            </a:avLst>
          </a:prstGeom>
          <a:solidFill>
            <a:srgbClr val="FFFFFF"/>
          </a:solidFill>
          <a:ln w="9525">
            <a:solidFill>
              <a:srgbClr val="E3E7EE"/>
            </a:solidFill>
            <a:prstDash val="solid"/>
          </a:ln>
          <a:effectLst>
            <a:outerShdw sx="100000" sy="100000" kx="0" ky="0" algn="bl" rotWithShape="0" blurRad="127000" dist="50800" dir="5400000">
              <a:srgbClr val="1B2430">
                <a:alpha val="25000"/>
              </a:srgbClr>
            </a:outerShdw>
          </a:effectLst>
        </p:spPr>
      </p:sp>
      <p:pic>
        <p:nvPicPr>
          <p:cNvPr id="8" name="Image 0" descr="/home/user/talenleren/neerlandais1/generateur/img/vijfzinnen/a1_totstraks_s.jpg">    </p:cNvPr>
          <p:cNvPicPr>
            <a:picLocks noChangeAspect="1"/>
          </p:cNvPicPr>
          <p:nvPr/>
        </p:nvPicPr>
        <p:blipFill>
          <a:blip r:embed="rId1"/>
          <a:stretch>
            <a:fillRect/>
          </a:stretch>
        </p:blipFill>
        <p:spPr>
          <a:xfrm>
            <a:off x="1691640" y="1600200"/>
            <a:ext cx="4343400" cy="2714625"/>
          </a:xfrm>
          <a:prstGeom prst="rect">
            <a:avLst/>
          </a:prstGeom>
        </p:spPr>
      </p:pic>
      <p:sp>
        <p:nvSpPr>
          <p:cNvPr id="9" name="Shape 5"/>
          <p:cNvSpPr/>
          <p:nvPr/>
        </p:nvSpPr>
        <p:spPr>
          <a:xfrm>
            <a:off x="1691640" y="4572000"/>
            <a:ext cx="1600200" cy="365760"/>
          </a:xfrm>
          <a:prstGeom prst="roundRect">
            <a:avLst>
              <a:gd name="adj" fmla="val 50000"/>
            </a:avLst>
          </a:prstGeom>
          <a:solidFill>
            <a:srgbClr val="FDF1E6"/>
          </a:solidFill>
          <a:ln w="12700">
            <a:solidFill>
              <a:srgbClr val="D9822B"/>
            </a:solidFill>
            <a:prstDash val="solid"/>
          </a:ln>
        </p:spPr>
      </p:sp>
      <p:pic>
        <p:nvPicPr>
          <p:cNvPr id="10" name="Image 1" descr="Comments">    </p:cNvPr>
          <p:cNvPicPr>
            <a:picLocks noChangeAspect="1"/>
          </p:cNvPicPr>
          <p:nvPr/>
        </p:nvPicPr>
        <p:blipFill>
          <a:blip r:embed="rId2"/>
          <a:stretch>
            <a:fillRect/>
          </a:stretch>
        </p:blipFill>
        <p:spPr>
          <a:xfrm>
            <a:off x="1819656" y="4654296"/>
            <a:ext cx="201168" cy="201168"/>
          </a:xfrm>
          <a:prstGeom prst="rect">
            <a:avLst/>
          </a:prstGeom>
        </p:spPr>
      </p:pic>
      <p:sp>
        <p:nvSpPr>
          <p:cNvPr id="11" name="Text 6"/>
          <p:cNvSpPr txBox="1"/>
          <p:nvPr/>
        </p:nvSpPr>
        <p:spPr>
          <a:xfrm>
            <a:off x="2075688" y="4572000"/>
            <a:ext cx="1143000" cy="365760"/>
          </a:xfrm>
          <a:prstGeom prst="rect">
            <a:avLst/>
          </a:prstGeom>
          <a:noFill/>
          <a:ln/>
        </p:spPr>
        <p:txBody>
          <a:bodyPr wrap="square" lIns="0" tIns="0" rIns="0" bIns="0" rtlCol="0" anchor="ctr"/>
          <a:lstStyle/>
          <a:p>
            <a:pPr algn="l" indent="0" marL="0">
              <a:buNone/>
            </a:pPr>
            <a:r>
              <a:rPr lang="en-US" sz="1150" b="1" spc="100" kern="0" dirty="0">
                <a:solidFill>
                  <a:srgbClr val="D9822B"/>
                </a:solidFill>
                <a:latin typeface="Calibri" pitchFamily="34" charset="0"/>
                <a:ea typeface="Calibri" pitchFamily="34" charset="-122"/>
                <a:cs typeface="Calibri" pitchFamily="34" charset="-120"/>
              </a:rPr>
              <a:t>À L’ORAL</a:t>
            </a:r>
            <a:endParaRPr lang="en-US" sz="1150" dirty="0"/>
          </a:p>
        </p:txBody>
      </p:sp>
      <p:sp>
        <p:nvSpPr>
          <p:cNvPr id="12" name="Text 7"/>
          <p:cNvSpPr txBox="1"/>
          <p:nvPr/>
        </p:nvSpPr>
        <p:spPr>
          <a:xfrm>
            <a:off x="3429000" y="4544568"/>
            <a:ext cx="2651760" cy="731520"/>
          </a:xfrm>
          <a:prstGeom prst="rect">
            <a:avLst/>
          </a:prstGeom>
          <a:noFill/>
          <a:ln/>
        </p:spPr>
        <p:txBody>
          <a:bodyPr wrap="square" lIns="0" tIns="0" rIns="0" bIns="0" rtlCol="0" anchor="t"/>
          <a:lstStyle/>
          <a:p>
            <a:pPr algn="l" indent="0" marL="0">
              <a:buNone/>
            </a:pPr>
            <a:r>
              <a:rPr lang="en-US" sz="1150" i="1" dirty="0">
                <a:solidFill>
                  <a:srgbClr val="6B7280"/>
                </a:solidFill>
                <a:latin typeface="Calibri" pitchFamily="34" charset="0"/>
                <a:ea typeface="Calibri" pitchFamily="34" charset="-122"/>
                <a:cs typeface="Calibri" pitchFamily="34" charset="-120"/>
              </a:rPr>
              <a:t>Votre cours commence dans deux minutes. Vous quittez Pieter à la cafétéria.</a:t>
            </a:r>
            <a:endParaRPr lang="en-US" sz="1150" dirty="0"/>
          </a:p>
        </p:txBody>
      </p:sp>
      <p:sp>
        <p:nvSpPr>
          <p:cNvPr id="13" name="Shape 8"/>
          <p:cNvSpPr/>
          <p:nvPr/>
        </p:nvSpPr>
        <p:spPr>
          <a:xfrm>
            <a:off x="6355080" y="1673352"/>
            <a:ext cx="914400" cy="402336"/>
          </a:xfrm>
          <a:prstGeom prst="roundRect">
            <a:avLst>
              <a:gd name="adj" fmla="val 13636"/>
            </a:avLst>
          </a:prstGeom>
          <a:solidFill>
            <a:srgbClr val="5FA873"/>
          </a:solidFill>
          <a:ln w="12700">
            <a:solidFill>
              <a:srgbClr val="FFFFFF">
                <a:alpha val="0"/>
              </a:srgbClr>
            </a:solidFill>
            <a:prstDash val="solid"/>
          </a:ln>
        </p:spPr>
      </p:sp>
      <p:sp>
        <p:nvSpPr>
          <p:cNvPr id="14" name="Text 9"/>
          <p:cNvSpPr txBox="1"/>
          <p:nvPr/>
        </p:nvSpPr>
        <p:spPr>
          <a:xfrm>
            <a:off x="6355080" y="167335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1</a:t>
            </a:r>
            <a:endParaRPr lang="en-US" sz="1600" dirty="0"/>
          </a:p>
        </p:txBody>
      </p:sp>
      <p:sp>
        <p:nvSpPr>
          <p:cNvPr id="15" name="Text 10"/>
          <p:cNvSpPr txBox="1"/>
          <p:nvPr/>
        </p:nvSpPr>
        <p:spPr>
          <a:xfrm>
            <a:off x="7406640" y="1618488"/>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Une raison : </a:t>
            </a:r>
            <a:r>
              <a:rPr lang="en-US" sz="1450" b="1" dirty="0">
                <a:solidFill>
                  <a:srgbClr val="2B2F38"/>
                </a:solidFill>
              </a:rPr>
              <a:t>IK HEB GEEN TIJD</a:t>
            </a:r>
            <a:r>
              <a:rPr lang="en-US" sz="1450" dirty="0">
                <a:solidFill>
                  <a:srgbClr val="2B2F38"/>
                </a:solidFill>
              </a:rPr>
              <a:t>.</a:t>
            </a:r>
            <a:endParaRPr lang="en-US" sz="1450" dirty="0"/>
          </a:p>
        </p:txBody>
      </p:sp>
      <p:sp>
        <p:nvSpPr>
          <p:cNvPr id="16" name="Shape 11"/>
          <p:cNvSpPr/>
          <p:nvPr/>
        </p:nvSpPr>
        <p:spPr>
          <a:xfrm>
            <a:off x="6355080" y="2404872"/>
            <a:ext cx="914400" cy="402336"/>
          </a:xfrm>
          <a:prstGeom prst="roundRect">
            <a:avLst>
              <a:gd name="adj" fmla="val 13636"/>
            </a:avLst>
          </a:prstGeom>
          <a:solidFill>
            <a:srgbClr val="5FA873"/>
          </a:solidFill>
          <a:ln w="12700">
            <a:solidFill>
              <a:srgbClr val="FFFFFF">
                <a:alpha val="0"/>
              </a:srgbClr>
            </a:solidFill>
            <a:prstDash val="solid"/>
          </a:ln>
        </p:spPr>
      </p:sp>
      <p:sp>
        <p:nvSpPr>
          <p:cNvPr id="17" name="Text 12"/>
          <p:cNvSpPr txBox="1"/>
          <p:nvPr/>
        </p:nvSpPr>
        <p:spPr>
          <a:xfrm>
            <a:off x="6355080" y="240487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2</a:t>
            </a:r>
            <a:endParaRPr lang="en-US" sz="1600" dirty="0"/>
          </a:p>
        </p:txBody>
      </p:sp>
      <p:sp>
        <p:nvSpPr>
          <p:cNvPr id="18" name="Text 13"/>
          <p:cNvSpPr txBox="1"/>
          <p:nvPr/>
        </p:nvSpPr>
        <p:spPr>
          <a:xfrm>
            <a:off x="7406640" y="2350008"/>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Ce qui se passe : </a:t>
            </a:r>
            <a:r>
              <a:rPr lang="en-US" sz="1450" b="1" dirty="0">
                <a:solidFill>
                  <a:srgbClr val="2B2F38"/>
                </a:solidFill>
              </a:rPr>
              <a:t>MIJN LES BEGINT ZO</a:t>
            </a:r>
            <a:r>
              <a:rPr lang="en-US" sz="1450" dirty="0">
                <a:solidFill>
                  <a:srgbClr val="2B2F38"/>
                </a:solidFill>
              </a:rPr>
              <a:t>.</a:t>
            </a:r>
            <a:endParaRPr lang="en-US" sz="1450" dirty="0"/>
          </a:p>
        </p:txBody>
      </p:sp>
      <p:sp>
        <p:nvSpPr>
          <p:cNvPr id="19" name="Shape 14"/>
          <p:cNvSpPr/>
          <p:nvPr/>
        </p:nvSpPr>
        <p:spPr>
          <a:xfrm>
            <a:off x="6355080" y="3136392"/>
            <a:ext cx="914400" cy="402336"/>
          </a:xfrm>
          <a:prstGeom prst="roundRect">
            <a:avLst>
              <a:gd name="adj" fmla="val 13636"/>
            </a:avLst>
          </a:prstGeom>
          <a:solidFill>
            <a:srgbClr val="5FA873"/>
          </a:solidFill>
          <a:ln w="12700">
            <a:solidFill>
              <a:srgbClr val="FFFFFF">
                <a:alpha val="0"/>
              </a:srgbClr>
            </a:solidFill>
            <a:prstDash val="solid"/>
          </a:ln>
        </p:spPr>
      </p:sp>
      <p:sp>
        <p:nvSpPr>
          <p:cNvPr id="20" name="Text 15"/>
          <p:cNvSpPr txBox="1"/>
          <p:nvPr/>
        </p:nvSpPr>
        <p:spPr>
          <a:xfrm>
            <a:off x="6355080" y="313639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3</a:t>
            </a:r>
            <a:endParaRPr lang="en-US" sz="1600" dirty="0"/>
          </a:p>
        </p:txBody>
      </p:sp>
      <p:sp>
        <p:nvSpPr>
          <p:cNvPr id="21" name="Text 16"/>
          <p:cNvSpPr txBox="1"/>
          <p:nvPr/>
        </p:nvSpPr>
        <p:spPr>
          <a:xfrm>
            <a:off x="7406640" y="3081528"/>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Le prochain rendez-vous : </a:t>
            </a:r>
            <a:r>
              <a:rPr lang="en-US" sz="1450" b="1" dirty="0">
                <a:solidFill>
                  <a:srgbClr val="2B2F38"/>
                </a:solidFill>
              </a:rPr>
              <a:t>TOT STRAKS!</a:t>
            </a:r>
            <a:r>
              <a:rPr lang="en-US" sz="1450" dirty="0">
                <a:solidFill>
                  <a:srgbClr val="2B2F38"/>
                </a:solidFill>
              </a:rPr>
              <a:t> ou </a:t>
            </a:r>
            <a:r>
              <a:rPr lang="en-US" sz="1450" b="1" dirty="0">
                <a:solidFill>
                  <a:srgbClr val="2B2F38"/>
                </a:solidFill>
              </a:rPr>
              <a:t>TOT ZO!</a:t>
            </a:r>
            <a:endParaRPr lang="en-US" sz="1450" dirty="0"/>
          </a:p>
        </p:txBody>
      </p:sp>
      <p:sp>
        <p:nvSpPr>
          <p:cNvPr id="22" name="Shape 17"/>
          <p:cNvSpPr/>
          <p:nvPr/>
        </p:nvSpPr>
        <p:spPr>
          <a:xfrm>
            <a:off x="6355080" y="3867912"/>
            <a:ext cx="914400" cy="402336"/>
          </a:xfrm>
          <a:prstGeom prst="roundRect">
            <a:avLst>
              <a:gd name="adj" fmla="val 13636"/>
            </a:avLst>
          </a:prstGeom>
          <a:solidFill>
            <a:srgbClr val="5FA873"/>
          </a:solidFill>
          <a:ln w="12700">
            <a:solidFill>
              <a:srgbClr val="FFFFFF">
                <a:alpha val="0"/>
              </a:srgbClr>
            </a:solidFill>
            <a:prstDash val="solid"/>
          </a:ln>
        </p:spPr>
      </p:sp>
      <p:sp>
        <p:nvSpPr>
          <p:cNvPr id="23" name="Text 18"/>
          <p:cNvSpPr txBox="1"/>
          <p:nvPr/>
        </p:nvSpPr>
        <p:spPr>
          <a:xfrm>
            <a:off x="6355080" y="386791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4</a:t>
            </a:r>
            <a:endParaRPr lang="en-US" sz="1600" dirty="0"/>
          </a:p>
        </p:txBody>
      </p:sp>
      <p:sp>
        <p:nvSpPr>
          <p:cNvPr id="24" name="Text 19"/>
          <p:cNvSpPr txBox="1"/>
          <p:nvPr/>
        </p:nvSpPr>
        <p:spPr>
          <a:xfrm>
            <a:off x="7406640" y="3813048"/>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Un dernier mot : </a:t>
            </a:r>
            <a:r>
              <a:rPr lang="en-US" sz="1450" b="1" dirty="0">
                <a:solidFill>
                  <a:srgbClr val="2B2F38"/>
                </a:solidFill>
              </a:rPr>
              <a:t>DAG</a:t>
            </a:r>
            <a:r>
              <a:rPr lang="en-US" sz="1450" dirty="0">
                <a:solidFill>
                  <a:srgbClr val="2B2F38"/>
                </a:solidFill>
              </a:rPr>
              <a:t> + prénom !</a:t>
            </a:r>
            <a:endParaRPr lang="en-US" sz="1450" dirty="0"/>
          </a:p>
        </p:txBody>
      </p:sp>
      <p:sp>
        <p:nvSpPr>
          <p:cNvPr id="25" name="Shape 20"/>
          <p:cNvSpPr/>
          <p:nvPr/>
        </p:nvSpPr>
        <p:spPr>
          <a:xfrm>
            <a:off x="3246120" y="5440680"/>
            <a:ext cx="6858000" cy="822960"/>
          </a:xfrm>
          <a:prstGeom prst="roundRect">
            <a:avLst>
              <a:gd name="adj" fmla="val 17778"/>
            </a:avLst>
          </a:prstGeom>
          <a:solidFill>
            <a:srgbClr val="EAF5EC"/>
          </a:solidFill>
          <a:ln w="15875">
            <a:solidFill>
              <a:srgbClr val="5FA873"/>
            </a:solidFill>
            <a:prstDash val="solid"/>
          </a:ln>
        </p:spPr>
      </p:sp>
      <p:pic>
        <p:nvPicPr>
          <p:cNvPr id="26" name="Image 2" descr="UserFriends">    </p:cNvPr>
          <p:cNvPicPr>
            <a:picLocks noChangeAspect="1"/>
          </p:cNvPicPr>
          <p:nvPr/>
        </p:nvPicPr>
        <p:blipFill>
          <a:blip r:embed="rId3"/>
          <a:stretch>
            <a:fillRect/>
          </a:stretch>
        </p:blipFill>
        <p:spPr>
          <a:xfrm>
            <a:off x="3520440" y="5660136"/>
            <a:ext cx="384048" cy="384048"/>
          </a:xfrm>
          <a:prstGeom prst="rect">
            <a:avLst/>
          </a:prstGeom>
        </p:spPr>
      </p:pic>
      <p:sp>
        <p:nvSpPr>
          <p:cNvPr id="27" name="Text 21"/>
          <p:cNvSpPr txBox="1"/>
          <p:nvPr/>
        </p:nvSpPr>
        <p:spPr>
          <a:xfrm>
            <a:off x="4114800" y="5440680"/>
            <a:ext cx="5852160" cy="822960"/>
          </a:xfrm>
          <a:prstGeom prst="rect">
            <a:avLst/>
          </a:prstGeom>
          <a:noFill/>
          <a:ln/>
        </p:spPr>
        <p:txBody>
          <a:bodyPr wrap="square" lIns="0" tIns="0" rIns="0" bIns="0" rtlCol="0" anchor="ctr"/>
          <a:lstStyle/>
          <a:p>
            <a:pPr algn="ctr" indent="0" marL="0">
              <a:buNone/>
            </a:pPr>
            <a:r>
              <a:rPr lang="en-US" sz="1800" b="1" dirty="0">
                <a:solidFill>
                  <a:srgbClr val="2E6B44"/>
                </a:solidFill>
                <a:latin typeface="Calibri" pitchFamily="34" charset="0"/>
                <a:ea typeface="Calibri" pitchFamily="34" charset="-122"/>
                <a:cs typeface="Calibri" pitchFamily="34" charset="-120"/>
              </a:rPr>
              <a:t>Vertel je verhaal aan je partner.</a:t>
            </a:r>
            <a:endParaRPr lang="en-US" sz="1800" dirty="0"/>
          </a:p>
          <a:p>
            <a:pPr algn="ctr" indent="0" marL="0">
              <a:buNone/>
            </a:pPr>
            <a:r>
              <a:rPr lang="en-US" sz="1800" b="1" dirty="0">
                <a:solidFill>
                  <a:srgbClr val="2E6B44"/>
                </a:solidFill>
                <a:latin typeface="Calibri" pitchFamily="34" charset="0"/>
                <a:ea typeface="Calibri" pitchFamily="34" charset="-122"/>
                <a:cs typeface="Calibri" pitchFamily="34" charset="-120"/>
              </a:rPr>
              <a:t>Wat denkt hij/zij daarvan?</a:t>
            </a:r>
            <a:endParaRPr lang="en-US" sz="1800" dirty="0"/>
          </a:p>
        </p:txBody>
      </p:sp>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1"/>
          <p:cNvSpPr/>
          <p:nvPr>
            <p:ph idx="101" type="title" hasCustomPrompt="1"/>
          </p:nvPr>
        </p:nvSpPr>
        <p:spPr>
          <a:xfrm>
            <a:off x="1554480" y="384048"/>
            <a:ext cx="10241280" cy="658368"/>
          </a:xfrm>
          <a:prstGeom prst="rect">
            <a:avLst/>
          </a:prstGeom>
          <a:noFill/>
          <a:ln/>
        </p:spPr>
        <p:txBody>
          <a:bodyPr wrap="square" lIns="0" tIns="0" rIns="0" bIns="0" rtlCol="0" anchor="ctr"/>
          <a:lstStyle/>
          <a:p>
            <a:pPr algn="ctr" indent="0" marL="0">
              <a:buNone/>
            </a:pPr>
            <a:r>
              <a:rPr lang="en-US" sz="3000" b="1" dirty="0">
                <a:solidFill>
                  <a:srgbClr val="2B2F38"/>
                </a:solidFill>
              </a:rPr>
              <a:t>Tot straks!</a:t>
            </a:r>
            <a:endParaRPr lang="en-US" sz="3000" dirty="0"/>
          </a:p>
        </p:txBody>
      </p:sp>
      <p:sp>
        <p:nvSpPr>
          <p:cNvPr id="4" name="Shape 1"/>
          <p:cNvSpPr/>
          <p:nvPr/>
        </p:nvSpPr>
        <p:spPr>
          <a:xfrm>
            <a:off x="365760" y="365760"/>
            <a:ext cx="868680" cy="5989320"/>
          </a:xfrm>
          <a:prstGeom prst="roundRect">
            <a:avLst>
              <a:gd name="adj" fmla="val 12632"/>
            </a:avLst>
          </a:prstGeom>
          <a:solidFill>
            <a:srgbClr val="E6F4EA"/>
          </a:solidFill>
          <a:ln w="28575">
            <a:solidFill>
              <a:srgbClr val="6DBE8A"/>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3D8C5A"/>
                </a:solidFill>
                <a:latin typeface="Calibri" pitchFamily="34" charset="0"/>
                <a:ea typeface="Calibri" pitchFamily="34" charset="-122"/>
                <a:cs typeface="Calibri" pitchFamily="34" charset="-120"/>
              </a:rPr>
              <a:t>A1 · Premiers pas</a:t>
            </a:r>
            <a:endParaRPr lang="en-US" sz="3800" dirty="0"/>
          </a:p>
        </p:txBody>
      </p:sp>
      <p:sp>
        <p:nvSpPr>
          <p:cNvPr id="6" name="Shape 3"/>
          <p:cNvSpPr/>
          <p:nvPr/>
        </p:nvSpPr>
        <p:spPr>
          <a:xfrm>
            <a:off x="2519172" y="1124712"/>
            <a:ext cx="8311896" cy="5277231"/>
          </a:xfrm>
          <a:prstGeom prst="roundRect">
            <a:avLst>
              <a:gd name="adj" fmla="val 693"/>
            </a:avLst>
          </a:prstGeom>
          <a:solidFill>
            <a:srgbClr val="FFFFFF"/>
          </a:solidFill>
          <a:ln w="9525">
            <a:solidFill>
              <a:srgbClr val="E3E7EE"/>
            </a:solidFill>
            <a:prstDash val="solid"/>
          </a:ln>
          <a:effectLst>
            <a:outerShdw sx="100000" sy="100000" kx="0" ky="0" algn="bl" rotWithShape="0" blurRad="177800" dist="63500" dir="5400000">
              <a:srgbClr val="1B2430">
                <a:alpha val="25000"/>
              </a:srgbClr>
            </a:outerShdw>
          </a:effectLst>
        </p:spPr>
      </p:sp>
      <p:pic>
        <p:nvPicPr>
          <p:cNvPr id="7" name="Image 0" descr="/home/user/talenleren/neerlandais1/generateur/img/vijfzinnen/a1_totstraks.jpg">    </p:cNvPr>
          <p:cNvPicPr>
            <a:picLocks noChangeAspect="1"/>
          </p:cNvPicPr>
          <p:nvPr/>
        </p:nvPicPr>
        <p:blipFill>
          <a:blip r:embed="rId1"/>
          <a:stretch>
            <a:fillRect/>
          </a:stretch>
        </p:blipFill>
        <p:spPr>
          <a:xfrm>
            <a:off x="2628900" y="1234440"/>
            <a:ext cx="8092440" cy="5057775"/>
          </a:xfrm>
          <a:prstGeom prst="rect">
            <a:avLst/>
          </a:prstGeom>
        </p:spPr>
      </p:pic>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1"/>
          <p:cNvSpPr/>
          <p:nvPr>
            <p:ph idx="101" type="title" hasCustomPrompt="1"/>
          </p:nvPr>
        </p:nvSpPr>
        <p:spPr>
          <a:xfrm>
            <a:off x="1691640" y="347472"/>
            <a:ext cx="8138160" cy="914400"/>
          </a:xfrm>
          <a:prstGeom prst="rect">
            <a:avLst/>
          </a:prstGeom>
          <a:noFill/>
          <a:ln/>
        </p:spPr>
        <p:txBody>
          <a:bodyPr wrap="square" lIns="0" tIns="0" rIns="0" bIns="0" rtlCol="0" anchor="ctr"/>
          <a:lstStyle/>
          <a:p>
            <a:pPr algn="l" indent="0" marL="0">
              <a:buNone/>
            </a:pPr>
            <a:r>
              <a:rPr lang="en-US" sz="2400" b="1" dirty="0">
                <a:solidFill>
                  <a:srgbClr val="2B2F38"/>
                </a:solidFill>
              </a:rPr>
              <a:t>Hier is een voorbeeld van wat je had kunnen denken en zeggen…</a:t>
            </a:r>
            <a:endParaRPr lang="en-US" sz="2400" dirty="0"/>
          </a:p>
        </p:txBody>
      </p:sp>
      <p:sp>
        <p:nvSpPr>
          <p:cNvPr id="4" name="Shape 1"/>
          <p:cNvSpPr/>
          <p:nvPr/>
        </p:nvSpPr>
        <p:spPr>
          <a:xfrm>
            <a:off x="365760" y="365760"/>
            <a:ext cx="868680" cy="5989320"/>
          </a:xfrm>
          <a:prstGeom prst="roundRect">
            <a:avLst>
              <a:gd name="adj" fmla="val 12632"/>
            </a:avLst>
          </a:prstGeom>
          <a:solidFill>
            <a:srgbClr val="E6F4EA"/>
          </a:solidFill>
          <a:ln w="28575">
            <a:solidFill>
              <a:srgbClr val="6DBE8A"/>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3D8C5A"/>
                </a:solidFill>
                <a:latin typeface="Calibri" pitchFamily="34" charset="0"/>
                <a:ea typeface="Calibri" pitchFamily="34" charset="-122"/>
                <a:cs typeface="Calibri" pitchFamily="34" charset="-120"/>
              </a:rPr>
              <a:t>A1 · Premiers pas</a:t>
            </a:r>
            <a:endParaRPr lang="en-US" sz="3800" dirty="0"/>
          </a:p>
        </p:txBody>
      </p:sp>
      <p:sp>
        <p:nvSpPr>
          <p:cNvPr id="6" name="Shape 3"/>
          <p:cNvSpPr/>
          <p:nvPr/>
        </p:nvSpPr>
        <p:spPr>
          <a:xfrm>
            <a:off x="10058400" y="246888"/>
            <a:ext cx="1691640" cy="1091565"/>
          </a:xfrm>
          <a:prstGeom prst="roundRect">
            <a:avLst>
              <a:gd name="adj" fmla="val 3351"/>
            </a:avLst>
          </a:prstGeom>
          <a:solidFill>
            <a:srgbClr val="FFFFFF"/>
          </a:solidFill>
          <a:ln w="9525">
            <a:solidFill>
              <a:srgbClr val="E3E7EE"/>
            </a:solidFill>
            <a:prstDash val="solid"/>
          </a:ln>
          <a:effectLst>
            <a:outerShdw sx="100000" sy="100000" kx="0" ky="0" algn="bl" rotWithShape="0" blurRad="76200" dist="25400" dir="5400000">
              <a:srgbClr val="1B2430">
                <a:alpha val="25000"/>
              </a:srgbClr>
            </a:outerShdw>
          </a:effectLst>
        </p:spPr>
      </p:sp>
      <p:pic>
        <p:nvPicPr>
          <p:cNvPr id="7" name="Image 0" descr="/home/user/talenleren/neerlandais1/generateur/img/vijfzinnen/a1_totstraks_s.jpg">    </p:cNvPr>
          <p:cNvPicPr>
            <a:picLocks noChangeAspect="1"/>
          </p:cNvPicPr>
          <p:nvPr/>
        </p:nvPicPr>
        <p:blipFill>
          <a:blip r:embed="rId1"/>
          <a:stretch>
            <a:fillRect/>
          </a:stretch>
        </p:blipFill>
        <p:spPr>
          <a:xfrm>
            <a:off x="10104120" y="292608"/>
            <a:ext cx="1600200" cy="1000125"/>
          </a:xfrm>
          <a:prstGeom prst="rect">
            <a:avLst/>
          </a:prstGeom>
        </p:spPr>
      </p:pic>
      <p:sp>
        <p:nvSpPr>
          <p:cNvPr id="8" name="Text 4"/>
          <p:cNvSpPr txBox="1"/>
          <p:nvPr/>
        </p:nvSpPr>
        <p:spPr>
          <a:xfrm>
            <a:off x="1691640" y="3108350"/>
            <a:ext cx="910438"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Sorry,</a:t>
            </a:r>
            <a:endParaRPr lang="en-US" sz="2400" dirty="0"/>
          </a:p>
        </p:txBody>
      </p:sp>
      <p:sp>
        <p:nvSpPr>
          <p:cNvPr id="9" name="Shape 5"/>
          <p:cNvSpPr/>
          <p:nvPr/>
        </p:nvSpPr>
        <p:spPr>
          <a:xfrm>
            <a:off x="2506370" y="3120542"/>
            <a:ext cx="2036978" cy="371856"/>
          </a:xfrm>
          <a:prstGeom prst="roundRect">
            <a:avLst>
              <a:gd name="adj" fmla="val 12295"/>
            </a:avLst>
          </a:prstGeom>
          <a:solidFill>
            <a:srgbClr val="E6F3DA"/>
          </a:solidFill>
          <a:ln w="12700">
            <a:solidFill>
              <a:srgbClr val="FFFFFF">
                <a:alpha val="0"/>
              </a:srgbClr>
            </a:solidFill>
            <a:prstDash val="solid"/>
          </a:ln>
        </p:spPr>
      </p:sp>
      <p:sp>
        <p:nvSpPr>
          <p:cNvPr id="10" name="Text 6"/>
          <p:cNvSpPr txBox="1"/>
          <p:nvPr/>
        </p:nvSpPr>
        <p:spPr>
          <a:xfrm>
            <a:off x="2506370" y="3108350"/>
            <a:ext cx="2036978"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ik heb geen tijd</a:t>
            </a:r>
            <a:endParaRPr lang="en-US" sz="2400" dirty="0"/>
          </a:p>
        </p:txBody>
      </p:sp>
      <p:sp>
        <p:nvSpPr>
          <p:cNvPr id="11" name="Text 7"/>
          <p:cNvSpPr txBox="1"/>
          <p:nvPr/>
        </p:nvSpPr>
        <p:spPr>
          <a:xfrm>
            <a:off x="4543349" y="3108350"/>
            <a:ext cx="259690"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a:t>
            </a:r>
            <a:endParaRPr lang="en-US" sz="2400" dirty="0"/>
          </a:p>
        </p:txBody>
      </p:sp>
      <p:sp>
        <p:nvSpPr>
          <p:cNvPr id="12" name="Shape 8"/>
          <p:cNvSpPr/>
          <p:nvPr/>
        </p:nvSpPr>
        <p:spPr>
          <a:xfrm>
            <a:off x="4707331" y="3120542"/>
            <a:ext cx="2321662" cy="371856"/>
          </a:xfrm>
          <a:prstGeom prst="roundRect">
            <a:avLst>
              <a:gd name="adj" fmla="val 12295"/>
            </a:avLst>
          </a:prstGeom>
          <a:solidFill>
            <a:srgbClr val="E6F3DA"/>
          </a:solidFill>
          <a:ln w="12700">
            <a:solidFill>
              <a:srgbClr val="FFFFFF">
                <a:alpha val="0"/>
              </a:srgbClr>
            </a:solidFill>
            <a:prstDash val="solid"/>
          </a:ln>
        </p:spPr>
      </p:sp>
      <p:sp>
        <p:nvSpPr>
          <p:cNvPr id="13" name="Text 9"/>
          <p:cNvSpPr txBox="1"/>
          <p:nvPr/>
        </p:nvSpPr>
        <p:spPr>
          <a:xfrm>
            <a:off x="4707331" y="3108350"/>
            <a:ext cx="2321662"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Mijn les begint zo</a:t>
            </a:r>
            <a:endParaRPr lang="en-US" sz="2400" dirty="0"/>
          </a:p>
        </p:txBody>
      </p:sp>
      <p:sp>
        <p:nvSpPr>
          <p:cNvPr id="14" name="Text 10"/>
          <p:cNvSpPr txBox="1"/>
          <p:nvPr/>
        </p:nvSpPr>
        <p:spPr>
          <a:xfrm>
            <a:off x="7028993" y="3108350"/>
            <a:ext cx="282245"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a:t>
            </a:r>
            <a:endParaRPr lang="en-US" sz="2400" dirty="0"/>
          </a:p>
        </p:txBody>
      </p:sp>
      <p:sp>
        <p:nvSpPr>
          <p:cNvPr id="15" name="Shape 11"/>
          <p:cNvSpPr/>
          <p:nvPr/>
        </p:nvSpPr>
        <p:spPr>
          <a:xfrm>
            <a:off x="3524860" y="3044342"/>
            <a:ext cx="914" cy="76200"/>
          </a:xfrm>
          <a:prstGeom prst="line">
            <a:avLst/>
          </a:prstGeom>
          <a:noFill/>
          <a:ln w="15875">
            <a:solidFill>
              <a:srgbClr val="7AB648"/>
            </a:solidFill>
            <a:prstDash val="solid"/>
          </a:ln>
        </p:spPr>
      </p:sp>
      <p:sp>
        <p:nvSpPr>
          <p:cNvPr id="16" name="Shape 12"/>
          <p:cNvSpPr/>
          <p:nvPr/>
        </p:nvSpPr>
        <p:spPr>
          <a:xfrm>
            <a:off x="3120295" y="2797454"/>
            <a:ext cx="809130" cy="246888"/>
          </a:xfrm>
          <a:prstGeom prst="roundRect">
            <a:avLst>
              <a:gd name="adj" fmla="val 14815"/>
            </a:avLst>
          </a:prstGeom>
          <a:solidFill>
            <a:srgbClr val="7AB648"/>
          </a:solidFill>
          <a:ln w="12700">
            <a:solidFill>
              <a:srgbClr val="FFFFFF">
                <a:alpha val="0"/>
              </a:srgbClr>
            </a:solidFill>
            <a:prstDash val="solid"/>
          </a:ln>
        </p:spPr>
      </p:sp>
      <p:sp>
        <p:nvSpPr>
          <p:cNvPr id="17" name="Text 13"/>
          <p:cNvSpPr txBox="1"/>
          <p:nvPr/>
        </p:nvSpPr>
        <p:spPr>
          <a:xfrm>
            <a:off x="3120295" y="2797454"/>
            <a:ext cx="809130"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GEEN TIJD</a:t>
            </a:r>
            <a:endParaRPr lang="en-US" sz="1100" dirty="0"/>
          </a:p>
        </p:txBody>
      </p:sp>
      <p:sp>
        <p:nvSpPr>
          <p:cNvPr id="18" name="Shape 14"/>
          <p:cNvSpPr/>
          <p:nvPr/>
        </p:nvSpPr>
        <p:spPr>
          <a:xfrm>
            <a:off x="5868162" y="3044342"/>
            <a:ext cx="914" cy="76200"/>
          </a:xfrm>
          <a:prstGeom prst="line">
            <a:avLst/>
          </a:prstGeom>
          <a:noFill/>
          <a:ln w="15875">
            <a:solidFill>
              <a:srgbClr val="7AB648"/>
            </a:solidFill>
            <a:prstDash val="solid"/>
          </a:ln>
        </p:spPr>
      </p:sp>
      <p:sp>
        <p:nvSpPr>
          <p:cNvPr id="19" name="Shape 15"/>
          <p:cNvSpPr/>
          <p:nvPr/>
        </p:nvSpPr>
        <p:spPr>
          <a:xfrm>
            <a:off x="5445017" y="2797454"/>
            <a:ext cx="846290" cy="246888"/>
          </a:xfrm>
          <a:prstGeom prst="roundRect">
            <a:avLst>
              <a:gd name="adj" fmla="val 14815"/>
            </a:avLst>
          </a:prstGeom>
          <a:solidFill>
            <a:srgbClr val="7AB648"/>
          </a:solidFill>
          <a:ln w="12700">
            <a:solidFill>
              <a:srgbClr val="FFFFFF">
                <a:alpha val="0"/>
              </a:srgbClr>
            </a:solidFill>
            <a:prstDash val="solid"/>
          </a:ln>
        </p:spPr>
      </p:sp>
      <p:sp>
        <p:nvSpPr>
          <p:cNvPr id="20" name="Text 16"/>
          <p:cNvSpPr txBox="1"/>
          <p:nvPr/>
        </p:nvSpPr>
        <p:spPr>
          <a:xfrm>
            <a:off x="5445017" y="2797454"/>
            <a:ext cx="846290"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BEGINT ZO</a:t>
            </a:r>
            <a:endParaRPr lang="en-US" sz="1100" dirty="0"/>
          </a:p>
        </p:txBody>
      </p:sp>
      <p:sp>
        <p:nvSpPr>
          <p:cNvPr id="21" name="Shape 17"/>
          <p:cNvSpPr/>
          <p:nvPr/>
        </p:nvSpPr>
        <p:spPr>
          <a:xfrm>
            <a:off x="5184953" y="4175150"/>
            <a:ext cx="1335024" cy="371856"/>
          </a:xfrm>
          <a:prstGeom prst="roundRect">
            <a:avLst>
              <a:gd name="adj" fmla="val 12295"/>
            </a:avLst>
          </a:prstGeom>
          <a:solidFill>
            <a:srgbClr val="E6F3DA"/>
          </a:solidFill>
          <a:ln w="12700">
            <a:solidFill>
              <a:srgbClr val="FFFFFF">
                <a:alpha val="0"/>
              </a:srgbClr>
            </a:solidFill>
            <a:prstDash val="solid"/>
          </a:ln>
        </p:spPr>
      </p:sp>
      <p:sp>
        <p:nvSpPr>
          <p:cNvPr id="22" name="Text 18"/>
          <p:cNvSpPr txBox="1"/>
          <p:nvPr/>
        </p:nvSpPr>
        <p:spPr>
          <a:xfrm>
            <a:off x="5184953" y="4162958"/>
            <a:ext cx="1335024"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Tot straks</a:t>
            </a:r>
            <a:endParaRPr lang="en-US" sz="2400" dirty="0"/>
          </a:p>
        </p:txBody>
      </p:sp>
      <p:sp>
        <p:nvSpPr>
          <p:cNvPr id="23" name="Text 19"/>
          <p:cNvSpPr txBox="1"/>
          <p:nvPr/>
        </p:nvSpPr>
        <p:spPr>
          <a:xfrm>
            <a:off x="6519977" y="4162958"/>
            <a:ext cx="282245"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a:t>
            </a:r>
            <a:endParaRPr lang="en-US" sz="2400" dirty="0"/>
          </a:p>
        </p:txBody>
      </p:sp>
      <p:sp>
        <p:nvSpPr>
          <p:cNvPr id="24" name="Shape 20"/>
          <p:cNvSpPr/>
          <p:nvPr/>
        </p:nvSpPr>
        <p:spPr>
          <a:xfrm>
            <a:off x="6706514" y="4175150"/>
            <a:ext cx="1405128" cy="371856"/>
          </a:xfrm>
          <a:prstGeom prst="roundRect">
            <a:avLst>
              <a:gd name="adj" fmla="val 12295"/>
            </a:avLst>
          </a:prstGeom>
          <a:solidFill>
            <a:srgbClr val="E6F3DA"/>
          </a:solidFill>
          <a:ln w="12700">
            <a:solidFill>
              <a:srgbClr val="FFFFFF">
                <a:alpha val="0"/>
              </a:srgbClr>
            </a:solidFill>
            <a:prstDash val="solid"/>
          </a:ln>
        </p:spPr>
      </p:sp>
      <p:sp>
        <p:nvSpPr>
          <p:cNvPr id="25" name="Text 21"/>
          <p:cNvSpPr txBox="1"/>
          <p:nvPr/>
        </p:nvSpPr>
        <p:spPr>
          <a:xfrm>
            <a:off x="6706514" y="4162958"/>
            <a:ext cx="1405128"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Dag Pieter</a:t>
            </a:r>
            <a:endParaRPr lang="en-US" sz="2400" dirty="0"/>
          </a:p>
        </p:txBody>
      </p:sp>
      <p:sp>
        <p:nvSpPr>
          <p:cNvPr id="26" name="Text 22"/>
          <p:cNvSpPr txBox="1"/>
          <p:nvPr/>
        </p:nvSpPr>
        <p:spPr>
          <a:xfrm>
            <a:off x="8111642" y="4162958"/>
            <a:ext cx="282245"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a:t>
            </a:r>
            <a:endParaRPr lang="en-US" sz="2400" dirty="0"/>
          </a:p>
        </p:txBody>
      </p:sp>
      <p:sp>
        <p:nvSpPr>
          <p:cNvPr id="27" name="Shape 23"/>
          <p:cNvSpPr/>
          <p:nvPr/>
        </p:nvSpPr>
        <p:spPr>
          <a:xfrm>
            <a:off x="5852465" y="4098950"/>
            <a:ext cx="914" cy="76200"/>
          </a:xfrm>
          <a:prstGeom prst="line">
            <a:avLst/>
          </a:prstGeom>
          <a:noFill/>
          <a:ln w="15875">
            <a:solidFill>
              <a:srgbClr val="7AB648"/>
            </a:solidFill>
            <a:prstDash val="solid"/>
          </a:ln>
        </p:spPr>
      </p:sp>
      <p:sp>
        <p:nvSpPr>
          <p:cNvPr id="28" name="Shape 24"/>
          <p:cNvSpPr/>
          <p:nvPr/>
        </p:nvSpPr>
        <p:spPr>
          <a:xfrm>
            <a:off x="5390064" y="3852062"/>
            <a:ext cx="924801" cy="246888"/>
          </a:xfrm>
          <a:prstGeom prst="roundRect">
            <a:avLst>
              <a:gd name="adj" fmla="val 14815"/>
            </a:avLst>
          </a:prstGeom>
          <a:solidFill>
            <a:srgbClr val="7AB648"/>
          </a:solidFill>
          <a:ln w="12700">
            <a:solidFill>
              <a:srgbClr val="FFFFFF">
                <a:alpha val="0"/>
              </a:srgbClr>
            </a:solidFill>
            <a:prstDash val="solid"/>
          </a:ln>
        </p:spPr>
      </p:sp>
      <p:sp>
        <p:nvSpPr>
          <p:cNvPr id="29" name="Text 25"/>
          <p:cNvSpPr txBox="1"/>
          <p:nvPr/>
        </p:nvSpPr>
        <p:spPr>
          <a:xfrm>
            <a:off x="5390064" y="3852062"/>
            <a:ext cx="924801"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TOT STRAKS</a:t>
            </a:r>
            <a:endParaRPr lang="en-US" sz="1100" dirty="0"/>
          </a:p>
        </p:txBody>
      </p:sp>
      <p:sp>
        <p:nvSpPr>
          <p:cNvPr id="30" name="Shape 26"/>
          <p:cNvSpPr/>
          <p:nvPr/>
        </p:nvSpPr>
        <p:spPr>
          <a:xfrm>
            <a:off x="7409078" y="4098950"/>
            <a:ext cx="914" cy="76200"/>
          </a:xfrm>
          <a:prstGeom prst="line">
            <a:avLst/>
          </a:prstGeom>
          <a:noFill/>
          <a:ln w="15875">
            <a:solidFill>
              <a:srgbClr val="7AB648"/>
            </a:solidFill>
            <a:prstDash val="solid"/>
          </a:ln>
        </p:spPr>
      </p:sp>
      <p:sp>
        <p:nvSpPr>
          <p:cNvPr id="31" name="Shape 27"/>
          <p:cNvSpPr/>
          <p:nvPr/>
        </p:nvSpPr>
        <p:spPr>
          <a:xfrm>
            <a:off x="7168521" y="3852062"/>
            <a:ext cx="481114" cy="246888"/>
          </a:xfrm>
          <a:prstGeom prst="roundRect">
            <a:avLst>
              <a:gd name="adj" fmla="val 14815"/>
            </a:avLst>
          </a:prstGeom>
          <a:solidFill>
            <a:srgbClr val="7AB648"/>
          </a:solidFill>
          <a:ln w="12700">
            <a:solidFill>
              <a:srgbClr val="FFFFFF">
                <a:alpha val="0"/>
              </a:srgbClr>
            </a:solidFill>
            <a:prstDash val="solid"/>
          </a:ln>
        </p:spPr>
      </p:sp>
      <p:sp>
        <p:nvSpPr>
          <p:cNvPr id="32" name="Text 28"/>
          <p:cNvSpPr txBox="1"/>
          <p:nvPr/>
        </p:nvSpPr>
        <p:spPr>
          <a:xfrm>
            <a:off x="7168521" y="3852062"/>
            <a:ext cx="481114"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DAG</a:t>
            </a:r>
            <a:endParaRPr lang="en-US" sz="1100" dirty="0"/>
          </a:p>
        </p:txBody>
      </p:sp>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1"/>
          <p:cNvSpPr/>
          <p:nvPr>
            <p:ph idx="101" type="title" hasCustomPrompt="1"/>
          </p:nvPr>
        </p:nvSpPr>
        <p:spPr>
          <a:xfrm>
            <a:off x="1554480" y="384048"/>
            <a:ext cx="10241280" cy="658368"/>
          </a:xfrm>
          <a:prstGeom prst="rect">
            <a:avLst/>
          </a:prstGeom>
          <a:noFill/>
          <a:ln/>
        </p:spPr>
        <p:txBody>
          <a:bodyPr wrap="square" lIns="0" tIns="0" rIns="0" bIns="0" rtlCol="0" anchor="ctr"/>
          <a:lstStyle/>
          <a:p>
            <a:pPr algn="ctr" indent="0" marL="0">
              <a:buNone/>
            </a:pPr>
            <a:r>
              <a:rPr lang="en-US" sz="3000" b="1" dirty="0">
                <a:solidFill>
                  <a:srgbClr val="2B2F38"/>
                </a:solidFill>
              </a:rPr>
              <a:t>Gebruik deze afbeelding als inspiratie</a:t>
            </a:r>
            <a:endParaRPr lang="en-US" sz="3000" dirty="0"/>
          </a:p>
        </p:txBody>
      </p:sp>
      <p:sp>
        <p:nvSpPr>
          <p:cNvPr id="4" name="Shape 1"/>
          <p:cNvSpPr/>
          <p:nvPr/>
        </p:nvSpPr>
        <p:spPr>
          <a:xfrm>
            <a:off x="365760" y="365760"/>
            <a:ext cx="868680" cy="5989320"/>
          </a:xfrm>
          <a:prstGeom prst="roundRect">
            <a:avLst>
              <a:gd name="adj" fmla="val 12632"/>
            </a:avLst>
          </a:prstGeom>
          <a:solidFill>
            <a:srgbClr val="E6F4EA"/>
          </a:solidFill>
          <a:ln w="28575">
            <a:solidFill>
              <a:srgbClr val="6DBE8A"/>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3D8C5A"/>
                </a:solidFill>
                <a:latin typeface="Calibri" pitchFamily="34" charset="0"/>
                <a:ea typeface="Calibri" pitchFamily="34" charset="-122"/>
                <a:cs typeface="Calibri" pitchFamily="34" charset="-120"/>
              </a:rPr>
              <a:t>A1 · Premiers pas</a:t>
            </a:r>
            <a:endParaRPr lang="en-US" sz="3800" dirty="0"/>
          </a:p>
        </p:txBody>
      </p:sp>
      <p:sp>
        <p:nvSpPr>
          <p:cNvPr id="6" name="Text 3"/>
          <p:cNvSpPr txBox="1"/>
          <p:nvPr/>
        </p:nvSpPr>
        <p:spPr>
          <a:xfrm>
            <a:off x="1554480" y="1024128"/>
            <a:ext cx="10241280" cy="365760"/>
          </a:xfrm>
          <a:prstGeom prst="rect">
            <a:avLst/>
          </a:prstGeom>
          <a:noFill/>
          <a:ln/>
        </p:spPr>
        <p:txBody>
          <a:bodyPr wrap="square" lIns="0" tIns="0" rIns="0" bIns="0" rtlCol="0" anchor="ctr"/>
          <a:lstStyle/>
          <a:p>
            <a:pPr algn="ctr" indent="0" marL="0">
              <a:buNone/>
            </a:pPr>
            <a:r>
              <a:rPr lang="en-US" sz="1500" b="1" dirty="0">
                <a:solidFill>
                  <a:srgbClr val="3D8C5A"/>
                </a:solidFill>
                <a:latin typeface="Calibri" pitchFamily="34" charset="0"/>
                <a:ea typeface="Calibri" pitchFamily="34" charset="-122"/>
                <a:cs typeface="Calibri" pitchFamily="34" charset="-120"/>
              </a:rPr>
              <a:t>13 · Fijne avond!</a:t>
            </a:r>
            <a:r>
              <a:rPr lang="en-US" sz="1500" i="1" dirty="0">
                <a:solidFill>
                  <a:srgbClr val="6B7280"/>
                </a:solidFill>
                <a:latin typeface="Calibri" pitchFamily="34" charset="0"/>
                <a:ea typeface="Calibri" pitchFamily="34" charset="-122"/>
                <a:cs typeface="Calibri" pitchFamily="34" charset="-120"/>
              </a:rPr>
              <a:t>   Bonne soirée !</a:t>
            </a:r>
            <a:r>
              <a:rPr lang="en-US" sz="1200" dirty="0">
                <a:solidFill>
                  <a:srgbClr val="9AA3B2"/>
                </a:solidFill>
                <a:latin typeface="Calibri" pitchFamily="34" charset="0"/>
                <a:ea typeface="Calibri" pitchFamily="34" charset="-122"/>
                <a:cs typeface="Calibri" pitchFamily="34" charset="-120"/>
              </a:rPr>
              <a:t>   ·   syllabus 1.4 · p. 52</a:t>
            </a:r>
            <a:endParaRPr lang="en-US" sz="1500" dirty="0"/>
          </a:p>
        </p:txBody>
      </p:sp>
      <p:sp>
        <p:nvSpPr>
          <p:cNvPr id="7" name="Shape 4"/>
          <p:cNvSpPr/>
          <p:nvPr/>
        </p:nvSpPr>
        <p:spPr>
          <a:xfrm>
            <a:off x="1596085" y="1504645"/>
            <a:ext cx="4534510" cy="2905735"/>
          </a:xfrm>
          <a:prstGeom prst="roundRect">
            <a:avLst>
              <a:gd name="adj" fmla="val 1259"/>
            </a:avLst>
          </a:prstGeom>
          <a:solidFill>
            <a:srgbClr val="FFFFFF"/>
          </a:solidFill>
          <a:ln w="9525">
            <a:solidFill>
              <a:srgbClr val="E3E7EE"/>
            </a:solidFill>
            <a:prstDash val="solid"/>
          </a:ln>
          <a:effectLst>
            <a:outerShdw sx="100000" sy="100000" kx="0" ky="0" algn="bl" rotWithShape="0" blurRad="127000" dist="50800" dir="5400000">
              <a:srgbClr val="1B2430">
                <a:alpha val="25000"/>
              </a:srgbClr>
            </a:outerShdw>
          </a:effectLst>
        </p:spPr>
      </p:sp>
      <p:pic>
        <p:nvPicPr>
          <p:cNvPr id="8" name="Image 0" descr="/home/user/talenleren/neerlandais1/generateur/img/vijfzinnen/a1_fijneavond_s.jpg">    </p:cNvPr>
          <p:cNvPicPr>
            <a:picLocks noChangeAspect="1"/>
          </p:cNvPicPr>
          <p:nvPr/>
        </p:nvPicPr>
        <p:blipFill>
          <a:blip r:embed="rId1"/>
          <a:stretch>
            <a:fillRect/>
          </a:stretch>
        </p:blipFill>
        <p:spPr>
          <a:xfrm>
            <a:off x="1691640" y="1600200"/>
            <a:ext cx="4343400" cy="2714625"/>
          </a:xfrm>
          <a:prstGeom prst="rect">
            <a:avLst/>
          </a:prstGeom>
        </p:spPr>
      </p:pic>
      <p:sp>
        <p:nvSpPr>
          <p:cNvPr id="9" name="Shape 5"/>
          <p:cNvSpPr/>
          <p:nvPr/>
        </p:nvSpPr>
        <p:spPr>
          <a:xfrm>
            <a:off x="1691640" y="4572000"/>
            <a:ext cx="1600200" cy="365760"/>
          </a:xfrm>
          <a:prstGeom prst="roundRect">
            <a:avLst>
              <a:gd name="adj" fmla="val 50000"/>
            </a:avLst>
          </a:prstGeom>
          <a:solidFill>
            <a:srgbClr val="FDF1E6"/>
          </a:solidFill>
          <a:ln w="12700">
            <a:solidFill>
              <a:srgbClr val="D9822B"/>
            </a:solidFill>
            <a:prstDash val="solid"/>
          </a:ln>
        </p:spPr>
      </p:sp>
      <p:pic>
        <p:nvPicPr>
          <p:cNvPr id="10" name="Image 1" descr="Comments">    </p:cNvPr>
          <p:cNvPicPr>
            <a:picLocks noChangeAspect="1"/>
          </p:cNvPicPr>
          <p:nvPr/>
        </p:nvPicPr>
        <p:blipFill>
          <a:blip r:embed="rId2"/>
          <a:stretch>
            <a:fillRect/>
          </a:stretch>
        </p:blipFill>
        <p:spPr>
          <a:xfrm>
            <a:off x="1819656" y="4654296"/>
            <a:ext cx="201168" cy="201168"/>
          </a:xfrm>
          <a:prstGeom prst="rect">
            <a:avLst/>
          </a:prstGeom>
        </p:spPr>
      </p:pic>
      <p:sp>
        <p:nvSpPr>
          <p:cNvPr id="11" name="Text 6"/>
          <p:cNvSpPr txBox="1"/>
          <p:nvPr/>
        </p:nvSpPr>
        <p:spPr>
          <a:xfrm>
            <a:off x="2075688" y="4572000"/>
            <a:ext cx="1143000" cy="365760"/>
          </a:xfrm>
          <a:prstGeom prst="rect">
            <a:avLst/>
          </a:prstGeom>
          <a:noFill/>
          <a:ln/>
        </p:spPr>
        <p:txBody>
          <a:bodyPr wrap="square" lIns="0" tIns="0" rIns="0" bIns="0" rtlCol="0" anchor="ctr"/>
          <a:lstStyle/>
          <a:p>
            <a:pPr algn="l" indent="0" marL="0">
              <a:buNone/>
            </a:pPr>
            <a:r>
              <a:rPr lang="en-US" sz="1150" b="1" spc="100" kern="0" dirty="0">
                <a:solidFill>
                  <a:srgbClr val="D9822B"/>
                </a:solidFill>
                <a:latin typeface="Calibri" pitchFamily="34" charset="0"/>
                <a:ea typeface="Calibri" pitchFamily="34" charset="-122"/>
                <a:cs typeface="Calibri" pitchFamily="34" charset="-120"/>
              </a:rPr>
              <a:t>À L’ORAL</a:t>
            </a:r>
            <a:endParaRPr lang="en-US" sz="1150" dirty="0"/>
          </a:p>
        </p:txBody>
      </p:sp>
      <p:sp>
        <p:nvSpPr>
          <p:cNvPr id="12" name="Text 7"/>
          <p:cNvSpPr txBox="1"/>
          <p:nvPr/>
        </p:nvSpPr>
        <p:spPr>
          <a:xfrm>
            <a:off x="3429000" y="4544568"/>
            <a:ext cx="2651760" cy="731520"/>
          </a:xfrm>
          <a:prstGeom prst="rect">
            <a:avLst/>
          </a:prstGeom>
          <a:noFill/>
          <a:ln/>
        </p:spPr>
        <p:txBody>
          <a:bodyPr wrap="square" lIns="0" tIns="0" rIns="0" bIns="0" rtlCol="0" anchor="t"/>
          <a:lstStyle/>
          <a:p>
            <a:pPr algn="l" indent="0" marL="0">
              <a:buNone/>
            </a:pPr>
            <a:r>
              <a:rPr lang="en-US" sz="1150" i="1" dirty="0">
                <a:solidFill>
                  <a:srgbClr val="6B7280"/>
                </a:solidFill>
                <a:latin typeface="Calibri" pitchFamily="34" charset="0"/>
                <a:ea typeface="Calibri" pitchFamily="34" charset="-122"/>
                <a:cs typeface="Calibri" pitchFamily="34" charset="-120"/>
              </a:rPr>
              <a:t>Il est 18 h. La journée de travail est finie. Vous revoyez vos collègues demain.</a:t>
            </a:r>
            <a:endParaRPr lang="en-US" sz="1150" dirty="0"/>
          </a:p>
        </p:txBody>
      </p:sp>
      <p:sp>
        <p:nvSpPr>
          <p:cNvPr id="13" name="Shape 8"/>
          <p:cNvSpPr/>
          <p:nvPr/>
        </p:nvSpPr>
        <p:spPr>
          <a:xfrm>
            <a:off x="6355080" y="1673352"/>
            <a:ext cx="914400" cy="402336"/>
          </a:xfrm>
          <a:prstGeom prst="roundRect">
            <a:avLst>
              <a:gd name="adj" fmla="val 13636"/>
            </a:avLst>
          </a:prstGeom>
          <a:solidFill>
            <a:srgbClr val="5FA873"/>
          </a:solidFill>
          <a:ln w="12700">
            <a:solidFill>
              <a:srgbClr val="FFFFFF">
                <a:alpha val="0"/>
              </a:srgbClr>
            </a:solidFill>
            <a:prstDash val="solid"/>
          </a:ln>
        </p:spPr>
      </p:sp>
      <p:sp>
        <p:nvSpPr>
          <p:cNvPr id="14" name="Text 9"/>
          <p:cNvSpPr txBox="1"/>
          <p:nvPr/>
        </p:nvSpPr>
        <p:spPr>
          <a:xfrm>
            <a:off x="6355080" y="167335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1</a:t>
            </a:r>
            <a:endParaRPr lang="en-US" sz="1600" dirty="0"/>
          </a:p>
        </p:txBody>
      </p:sp>
      <p:sp>
        <p:nvSpPr>
          <p:cNvPr id="15" name="Text 10"/>
          <p:cNvSpPr txBox="1"/>
          <p:nvPr/>
        </p:nvSpPr>
        <p:spPr>
          <a:xfrm>
            <a:off x="7406640" y="1618488"/>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Votre état : </a:t>
            </a:r>
            <a:r>
              <a:rPr lang="en-US" sz="1450" b="1" dirty="0">
                <a:solidFill>
                  <a:srgbClr val="2B2F38"/>
                </a:solidFill>
              </a:rPr>
              <a:t>IK BEN MOE</a:t>
            </a:r>
            <a:r>
              <a:rPr lang="en-US" sz="1450" dirty="0">
                <a:solidFill>
                  <a:srgbClr val="2B2F38"/>
                </a:solidFill>
              </a:rPr>
              <a:t>.</a:t>
            </a:r>
            <a:endParaRPr lang="en-US" sz="1450" dirty="0"/>
          </a:p>
        </p:txBody>
      </p:sp>
      <p:sp>
        <p:nvSpPr>
          <p:cNvPr id="16" name="Shape 11"/>
          <p:cNvSpPr/>
          <p:nvPr/>
        </p:nvSpPr>
        <p:spPr>
          <a:xfrm>
            <a:off x="6355080" y="2404872"/>
            <a:ext cx="914400" cy="402336"/>
          </a:xfrm>
          <a:prstGeom prst="roundRect">
            <a:avLst>
              <a:gd name="adj" fmla="val 13636"/>
            </a:avLst>
          </a:prstGeom>
          <a:solidFill>
            <a:srgbClr val="5FA873"/>
          </a:solidFill>
          <a:ln w="12700">
            <a:solidFill>
              <a:srgbClr val="FFFFFF">
                <a:alpha val="0"/>
              </a:srgbClr>
            </a:solidFill>
            <a:prstDash val="solid"/>
          </a:ln>
        </p:spPr>
      </p:sp>
      <p:sp>
        <p:nvSpPr>
          <p:cNvPr id="17" name="Text 12"/>
          <p:cNvSpPr txBox="1"/>
          <p:nvPr/>
        </p:nvSpPr>
        <p:spPr>
          <a:xfrm>
            <a:off x="6355080" y="240487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2</a:t>
            </a:r>
            <a:endParaRPr lang="en-US" sz="1600" dirty="0"/>
          </a:p>
        </p:txBody>
      </p:sp>
      <p:sp>
        <p:nvSpPr>
          <p:cNvPr id="18" name="Text 13"/>
          <p:cNvSpPr txBox="1"/>
          <p:nvPr/>
        </p:nvSpPr>
        <p:spPr>
          <a:xfrm>
            <a:off x="7406640" y="2350008"/>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Ce que vous faites : </a:t>
            </a:r>
            <a:r>
              <a:rPr lang="en-US" sz="1450" b="1" dirty="0">
                <a:solidFill>
                  <a:srgbClr val="2B2F38"/>
                </a:solidFill>
              </a:rPr>
              <a:t>IK GA NAAR HUIS</a:t>
            </a:r>
            <a:r>
              <a:rPr lang="en-US" sz="1450" dirty="0">
                <a:solidFill>
                  <a:srgbClr val="2B2F38"/>
                </a:solidFill>
              </a:rPr>
              <a:t>.</a:t>
            </a:r>
            <a:endParaRPr lang="en-US" sz="1450" dirty="0"/>
          </a:p>
        </p:txBody>
      </p:sp>
      <p:sp>
        <p:nvSpPr>
          <p:cNvPr id="19" name="Shape 14"/>
          <p:cNvSpPr/>
          <p:nvPr/>
        </p:nvSpPr>
        <p:spPr>
          <a:xfrm>
            <a:off x="6355080" y="3136392"/>
            <a:ext cx="914400" cy="402336"/>
          </a:xfrm>
          <a:prstGeom prst="roundRect">
            <a:avLst>
              <a:gd name="adj" fmla="val 13636"/>
            </a:avLst>
          </a:prstGeom>
          <a:solidFill>
            <a:srgbClr val="5FA873"/>
          </a:solidFill>
          <a:ln w="12700">
            <a:solidFill>
              <a:srgbClr val="FFFFFF">
                <a:alpha val="0"/>
              </a:srgbClr>
            </a:solidFill>
            <a:prstDash val="solid"/>
          </a:ln>
        </p:spPr>
      </p:sp>
      <p:sp>
        <p:nvSpPr>
          <p:cNvPr id="20" name="Text 15"/>
          <p:cNvSpPr txBox="1"/>
          <p:nvPr/>
        </p:nvSpPr>
        <p:spPr>
          <a:xfrm>
            <a:off x="6355080" y="313639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3</a:t>
            </a:r>
            <a:endParaRPr lang="en-US" sz="1600" dirty="0"/>
          </a:p>
        </p:txBody>
      </p:sp>
      <p:sp>
        <p:nvSpPr>
          <p:cNvPr id="21" name="Text 16"/>
          <p:cNvSpPr txBox="1"/>
          <p:nvPr/>
        </p:nvSpPr>
        <p:spPr>
          <a:xfrm>
            <a:off x="7406640" y="3081528"/>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Un souhait : </a:t>
            </a:r>
            <a:r>
              <a:rPr lang="en-US" sz="1450" b="1" dirty="0">
                <a:solidFill>
                  <a:srgbClr val="2B2F38"/>
                </a:solidFill>
              </a:rPr>
              <a:t>FIJNE AVOND!</a:t>
            </a:r>
            <a:endParaRPr lang="en-US" sz="1450" dirty="0"/>
          </a:p>
        </p:txBody>
      </p:sp>
      <p:sp>
        <p:nvSpPr>
          <p:cNvPr id="22" name="Shape 17"/>
          <p:cNvSpPr/>
          <p:nvPr/>
        </p:nvSpPr>
        <p:spPr>
          <a:xfrm>
            <a:off x="6355080" y="3867912"/>
            <a:ext cx="914400" cy="402336"/>
          </a:xfrm>
          <a:prstGeom prst="roundRect">
            <a:avLst>
              <a:gd name="adj" fmla="val 13636"/>
            </a:avLst>
          </a:prstGeom>
          <a:solidFill>
            <a:srgbClr val="5FA873"/>
          </a:solidFill>
          <a:ln w="12700">
            <a:solidFill>
              <a:srgbClr val="FFFFFF">
                <a:alpha val="0"/>
              </a:srgbClr>
            </a:solidFill>
            <a:prstDash val="solid"/>
          </a:ln>
        </p:spPr>
      </p:sp>
      <p:sp>
        <p:nvSpPr>
          <p:cNvPr id="23" name="Text 18"/>
          <p:cNvSpPr txBox="1"/>
          <p:nvPr/>
        </p:nvSpPr>
        <p:spPr>
          <a:xfrm>
            <a:off x="6355080" y="386791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4</a:t>
            </a:r>
            <a:endParaRPr lang="en-US" sz="1600" dirty="0"/>
          </a:p>
        </p:txBody>
      </p:sp>
      <p:sp>
        <p:nvSpPr>
          <p:cNvPr id="24" name="Text 19"/>
          <p:cNvSpPr txBox="1"/>
          <p:nvPr/>
        </p:nvSpPr>
        <p:spPr>
          <a:xfrm>
            <a:off x="7406640" y="3813048"/>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Le prochain rendez-vous : </a:t>
            </a:r>
            <a:r>
              <a:rPr lang="en-US" sz="1450" b="1" dirty="0">
                <a:solidFill>
                  <a:srgbClr val="2B2F38"/>
                </a:solidFill>
              </a:rPr>
              <a:t>TOT MORGEN!</a:t>
            </a:r>
            <a:endParaRPr lang="en-US" sz="1450" dirty="0"/>
          </a:p>
        </p:txBody>
      </p:sp>
      <p:sp>
        <p:nvSpPr>
          <p:cNvPr id="25" name="Shape 20"/>
          <p:cNvSpPr/>
          <p:nvPr/>
        </p:nvSpPr>
        <p:spPr>
          <a:xfrm>
            <a:off x="3246120" y="5440680"/>
            <a:ext cx="6858000" cy="822960"/>
          </a:xfrm>
          <a:prstGeom prst="roundRect">
            <a:avLst>
              <a:gd name="adj" fmla="val 17778"/>
            </a:avLst>
          </a:prstGeom>
          <a:solidFill>
            <a:srgbClr val="EAF5EC"/>
          </a:solidFill>
          <a:ln w="15875">
            <a:solidFill>
              <a:srgbClr val="5FA873"/>
            </a:solidFill>
            <a:prstDash val="solid"/>
          </a:ln>
        </p:spPr>
      </p:sp>
      <p:pic>
        <p:nvPicPr>
          <p:cNvPr id="26" name="Image 2" descr="UserFriends">    </p:cNvPr>
          <p:cNvPicPr>
            <a:picLocks noChangeAspect="1"/>
          </p:cNvPicPr>
          <p:nvPr/>
        </p:nvPicPr>
        <p:blipFill>
          <a:blip r:embed="rId3"/>
          <a:stretch>
            <a:fillRect/>
          </a:stretch>
        </p:blipFill>
        <p:spPr>
          <a:xfrm>
            <a:off x="3520440" y="5660136"/>
            <a:ext cx="384048" cy="384048"/>
          </a:xfrm>
          <a:prstGeom prst="rect">
            <a:avLst/>
          </a:prstGeom>
        </p:spPr>
      </p:pic>
      <p:sp>
        <p:nvSpPr>
          <p:cNvPr id="27" name="Text 21"/>
          <p:cNvSpPr txBox="1"/>
          <p:nvPr/>
        </p:nvSpPr>
        <p:spPr>
          <a:xfrm>
            <a:off x="4114800" y="5440680"/>
            <a:ext cx="5852160" cy="822960"/>
          </a:xfrm>
          <a:prstGeom prst="rect">
            <a:avLst/>
          </a:prstGeom>
          <a:noFill/>
          <a:ln/>
        </p:spPr>
        <p:txBody>
          <a:bodyPr wrap="square" lIns="0" tIns="0" rIns="0" bIns="0" rtlCol="0" anchor="ctr"/>
          <a:lstStyle/>
          <a:p>
            <a:pPr algn="ctr" indent="0" marL="0">
              <a:buNone/>
            </a:pPr>
            <a:r>
              <a:rPr lang="en-US" sz="1800" b="1" dirty="0">
                <a:solidFill>
                  <a:srgbClr val="2E6B44"/>
                </a:solidFill>
                <a:latin typeface="Calibri" pitchFamily="34" charset="0"/>
                <a:ea typeface="Calibri" pitchFamily="34" charset="-122"/>
                <a:cs typeface="Calibri" pitchFamily="34" charset="-120"/>
              </a:rPr>
              <a:t>Vertel je verhaal aan je partner.</a:t>
            </a:r>
            <a:endParaRPr lang="en-US" sz="1800" dirty="0"/>
          </a:p>
          <a:p>
            <a:pPr algn="ctr" indent="0" marL="0">
              <a:buNone/>
            </a:pPr>
            <a:r>
              <a:rPr lang="en-US" sz="1800" b="1" dirty="0">
                <a:solidFill>
                  <a:srgbClr val="2E6B44"/>
                </a:solidFill>
                <a:latin typeface="Calibri" pitchFamily="34" charset="0"/>
                <a:ea typeface="Calibri" pitchFamily="34" charset="-122"/>
                <a:cs typeface="Calibri" pitchFamily="34" charset="-120"/>
              </a:rPr>
              <a:t>Wat denkt hij/zij daarvan?</a:t>
            </a:r>
            <a:endParaRPr lang="en-US" sz="1800" dirty="0"/>
          </a:p>
        </p:txBody>
      </p:sp>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1"/>
          <p:cNvSpPr/>
          <p:nvPr>
            <p:ph idx="101" type="title" hasCustomPrompt="1"/>
          </p:nvPr>
        </p:nvSpPr>
        <p:spPr>
          <a:xfrm>
            <a:off x="1554480" y="384048"/>
            <a:ext cx="10241280" cy="658368"/>
          </a:xfrm>
          <a:prstGeom prst="rect">
            <a:avLst/>
          </a:prstGeom>
          <a:noFill/>
          <a:ln/>
        </p:spPr>
        <p:txBody>
          <a:bodyPr wrap="square" lIns="0" tIns="0" rIns="0" bIns="0" rtlCol="0" anchor="ctr"/>
          <a:lstStyle/>
          <a:p>
            <a:pPr algn="ctr" indent="0" marL="0">
              <a:buNone/>
            </a:pPr>
            <a:r>
              <a:rPr lang="en-US" sz="3000" b="1" dirty="0">
                <a:solidFill>
                  <a:srgbClr val="2B2F38"/>
                </a:solidFill>
              </a:rPr>
              <a:t>Fijne avond!</a:t>
            </a:r>
            <a:endParaRPr lang="en-US" sz="3000" dirty="0"/>
          </a:p>
        </p:txBody>
      </p:sp>
      <p:sp>
        <p:nvSpPr>
          <p:cNvPr id="4" name="Shape 1"/>
          <p:cNvSpPr/>
          <p:nvPr/>
        </p:nvSpPr>
        <p:spPr>
          <a:xfrm>
            <a:off x="365760" y="365760"/>
            <a:ext cx="868680" cy="5989320"/>
          </a:xfrm>
          <a:prstGeom prst="roundRect">
            <a:avLst>
              <a:gd name="adj" fmla="val 12632"/>
            </a:avLst>
          </a:prstGeom>
          <a:solidFill>
            <a:srgbClr val="E6F4EA"/>
          </a:solidFill>
          <a:ln w="28575">
            <a:solidFill>
              <a:srgbClr val="6DBE8A"/>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3D8C5A"/>
                </a:solidFill>
                <a:latin typeface="Calibri" pitchFamily="34" charset="0"/>
                <a:ea typeface="Calibri" pitchFamily="34" charset="-122"/>
                <a:cs typeface="Calibri" pitchFamily="34" charset="-120"/>
              </a:rPr>
              <a:t>A1 · Premiers pas</a:t>
            </a:r>
            <a:endParaRPr lang="en-US" sz="3800" dirty="0"/>
          </a:p>
        </p:txBody>
      </p:sp>
      <p:sp>
        <p:nvSpPr>
          <p:cNvPr id="6" name="Shape 3"/>
          <p:cNvSpPr/>
          <p:nvPr/>
        </p:nvSpPr>
        <p:spPr>
          <a:xfrm>
            <a:off x="2519172" y="1124712"/>
            <a:ext cx="8311896" cy="5277231"/>
          </a:xfrm>
          <a:prstGeom prst="roundRect">
            <a:avLst>
              <a:gd name="adj" fmla="val 693"/>
            </a:avLst>
          </a:prstGeom>
          <a:solidFill>
            <a:srgbClr val="FFFFFF"/>
          </a:solidFill>
          <a:ln w="9525">
            <a:solidFill>
              <a:srgbClr val="E3E7EE"/>
            </a:solidFill>
            <a:prstDash val="solid"/>
          </a:ln>
          <a:effectLst>
            <a:outerShdw sx="100000" sy="100000" kx="0" ky="0" algn="bl" rotWithShape="0" blurRad="177800" dist="63500" dir="5400000">
              <a:srgbClr val="1B2430">
                <a:alpha val="25000"/>
              </a:srgbClr>
            </a:outerShdw>
          </a:effectLst>
        </p:spPr>
      </p:sp>
      <p:pic>
        <p:nvPicPr>
          <p:cNvPr id="7" name="Image 0" descr="/home/user/talenleren/neerlandais1/generateur/img/vijfzinnen/a1_fijneavond.jpg">    </p:cNvPr>
          <p:cNvPicPr>
            <a:picLocks noChangeAspect="1"/>
          </p:cNvPicPr>
          <p:nvPr/>
        </p:nvPicPr>
        <p:blipFill>
          <a:blip r:embed="rId1"/>
          <a:stretch>
            <a:fillRect/>
          </a:stretch>
        </p:blipFill>
        <p:spPr>
          <a:xfrm>
            <a:off x="2628900" y="1234440"/>
            <a:ext cx="8092440" cy="5057775"/>
          </a:xfrm>
          <a:prstGeom prst="rect">
            <a:avLst/>
          </a:prstGeom>
        </p:spPr>
      </p:pic>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1"/>
          <p:cNvSpPr/>
          <p:nvPr>
            <p:ph idx="101" type="title" hasCustomPrompt="1"/>
          </p:nvPr>
        </p:nvSpPr>
        <p:spPr>
          <a:xfrm>
            <a:off x="1691640" y="347472"/>
            <a:ext cx="8138160" cy="914400"/>
          </a:xfrm>
          <a:prstGeom prst="rect">
            <a:avLst/>
          </a:prstGeom>
          <a:noFill/>
          <a:ln/>
        </p:spPr>
        <p:txBody>
          <a:bodyPr wrap="square" lIns="0" tIns="0" rIns="0" bIns="0" rtlCol="0" anchor="ctr"/>
          <a:lstStyle/>
          <a:p>
            <a:pPr algn="l" indent="0" marL="0">
              <a:buNone/>
            </a:pPr>
            <a:r>
              <a:rPr lang="en-US" sz="2400" b="1" dirty="0">
                <a:solidFill>
                  <a:srgbClr val="2B2F38"/>
                </a:solidFill>
              </a:rPr>
              <a:t>Hier is een voorbeeld van wat je had kunnen denken en zeggen…</a:t>
            </a:r>
            <a:endParaRPr lang="en-US" sz="2400" dirty="0"/>
          </a:p>
        </p:txBody>
      </p:sp>
      <p:sp>
        <p:nvSpPr>
          <p:cNvPr id="4" name="Shape 1"/>
          <p:cNvSpPr/>
          <p:nvPr/>
        </p:nvSpPr>
        <p:spPr>
          <a:xfrm>
            <a:off x="365760" y="365760"/>
            <a:ext cx="868680" cy="5989320"/>
          </a:xfrm>
          <a:prstGeom prst="roundRect">
            <a:avLst>
              <a:gd name="adj" fmla="val 12632"/>
            </a:avLst>
          </a:prstGeom>
          <a:solidFill>
            <a:srgbClr val="E6F4EA"/>
          </a:solidFill>
          <a:ln w="28575">
            <a:solidFill>
              <a:srgbClr val="6DBE8A"/>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3D8C5A"/>
                </a:solidFill>
                <a:latin typeface="Calibri" pitchFamily="34" charset="0"/>
                <a:ea typeface="Calibri" pitchFamily="34" charset="-122"/>
                <a:cs typeface="Calibri" pitchFamily="34" charset="-120"/>
              </a:rPr>
              <a:t>A1 · Premiers pas</a:t>
            </a:r>
            <a:endParaRPr lang="en-US" sz="3800" dirty="0"/>
          </a:p>
        </p:txBody>
      </p:sp>
      <p:sp>
        <p:nvSpPr>
          <p:cNvPr id="6" name="Shape 3"/>
          <p:cNvSpPr/>
          <p:nvPr/>
        </p:nvSpPr>
        <p:spPr>
          <a:xfrm>
            <a:off x="10058400" y="246888"/>
            <a:ext cx="1691640" cy="1091565"/>
          </a:xfrm>
          <a:prstGeom prst="roundRect">
            <a:avLst>
              <a:gd name="adj" fmla="val 3351"/>
            </a:avLst>
          </a:prstGeom>
          <a:solidFill>
            <a:srgbClr val="FFFFFF"/>
          </a:solidFill>
          <a:ln w="9525">
            <a:solidFill>
              <a:srgbClr val="E3E7EE"/>
            </a:solidFill>
            <a:prstDash val="solid"/>
          </a:ln>
          <a:effectLst>
            <a:outerShdw sx="100000" sy="100000" kx="0" ky="0" algn="bl" rotWithShape="0" blurRad="76200" dist="25400" dir="5400000">
              <a:srgbClr val="1B2430">
                <a:alpha val="25000"/>
              </a:srgbClr>
            </a:outerShdw>
          </a:effectLst>
        </p:spPr>
      </p:sp>
      <p:pic>
        <p:nvPicPr>
          <p:cNvPr id="7" name="Image 0" descr="/home/user/talenleren/neerlandais1/generateur/img/vijfzinnen/a1_fijneavond_s.jpg">    </p:cNvPr>
          <p:cNvPicPr>
            <a:picLocks noChangeAspect="1"/>
          </p:cNvPicPr>
          <p:nvPr/>
        </p:nvPicPr>
        <p:blipFill>
          <a:blip r:embed="rId1"/>
          <a:stretch>
            <a:fillRect/>
          </a:stretch>
        </p:blipFill>
        <p:spPr>
          <a:xfrm>
            <a:off x="10104120" y="292608"/>
            <a:ext cx="1600200" cy="1000125"/>
          </a:xfrm>
          <a:prstGeom prst="rect">
            <a:avLst/>
          </a:prstGeom>
        </p:spPr>
      </p:pic>
      <p:sp>
        <p:nvSpPr>
          <p:cNvPr id="8" name="Text 4"/>
          <p:cNvSpPr txBox="1"/>
          <p:nvPr/>
        </p:nvSpPr>
        <p:spPr>
          <a:xfrm>
            <a:off x="1691640" y="3108350"/>
            <a:ext cx="695554"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Pfff,</a:t>
            </a:r>
            <a:endParaRPr lang="en-US" sz="2400" dirty="0"/>
          </a:p>
        </p:txBody>
      </p:sp>
      <p:sp>
        <p:nvSpPr>
          <p:cNvPr id="9" name="Shape 5"/>
          <p:cNvSpPr/>
          <p:nvPr/>
        </p:nvSpPr>
        <p:spPr>
          <a:xfrm>
            <a:off x="2291486" y="3120542"/>
            <a:ext cx="1496263" cy="371856"/>
          </a:xfrm>
          <a:prstGeom prst="roundRect">
            <a:avLst>
              <a:gd name="adj" fmla="val 12295"/>
            </a:avLst>
          </a:prstGeom>
          <a:solidFill>
            <a:srgbClr val="E6F3DA"/>
          </a:solidFill>
          <a:ln w="12700">
            <a:solidFill>
              <a:srgbClr val="FFFFFF">
                <a:alpha val="0"/>
              </a:srgbClr>
            </a:solidFill>
            <a:prstDash val="solid"/>
          </a:ln>
        </p:spPr>
      </p:sp>
      <p:sp>
        <p:nvSpPr>
          <p:cNvPr id="10" name="Text 6"/>
          <p:cNvSpPr txBox="1"/>
          <p:nvPr/>
        </p:nvSpPr>
        <p:spPr>
          <a:xfrm>
            <a:off x="2291486" y="3108350"/>
            <a:ext cx="1496263"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ik ben moe</a:t>
            </a:r>
            <a:endParaRPr lang="en-US" sz="2400" dirty="0"/>
          </a:p>
        </p:txBody>
      </p:sp>
      <p:sp>
        <p:nvSpPr>
          <p:cNvPr id="11" name="Text 7"/>
          <p:cNvSpPr txBox="1"/>
          <p:nvPr/>
        </p:nvSpPr>
        <p:spPr>
          <a:xfrm>
            <a:off x="3787750" y="3108350"/>
            <a:ext cx="259690"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a:t>
            </a:r>
            <a:endParaRPr lang="en-US" sz="2400" dirty="0"/>
          </a:p>
        </p:txBody>
      </p:sp>
      <p:sp>
        <p:nvSpPr>
          <p:cNvPr id="12" name="Shape 8"/>
          <p:cNvSpPr/>
          <p:nvPr/>
        </p:nvSpPr>
        <p:spPr>
          <a:xfrm>
            <a:off x="3951732" y="3120542"/>
            <a:ext cx="1917802" cy="371856"/>
          </a:xfrm>
          <a:prstGeom prst="roundRect">
            <a:avLst>
              <a:gd name="adj" fmla="val 12295"/>
            </a:avLst>
          </a:prstGeom>
          <a:solidFill>
            <a:srgbClr val="E6F3DA"/>
          </a:solidFill>
          <a:ln w="12700">
            <a:solidFill>
              <a:srgbClr val="FFFFFF">
                <a:alpha val="0"/>
              </a:srgbClr>
            </a:solidFill>
            <a:prstDash val="solid"/>
          </a:ln>
        </p:spPr>
      </p:sp>
      <p:sp>
        <p:nvSpPr>
          <p:cNvPr id="13" name="Text 9"/>
          <p:cNvSpPr txBox="1"/>
          <p:nvPr/>
        </p:nvSpPr>
        <p:spPr>
          <a:xfrm>
            <a:off x="3951732" y="3108350"/>
            <a:ext cx="1917802"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Ik ga naar huis</a:t>
            </a:r>
            <a:endParaRPr lang="en-US" sz="2400" dirty="0"/>
          </a:p>
        </p:txBody>
      </p:sp>
      <p:sp>
        <p:nvSpPr>
          <p:cNvPr id="14" name="Text 10"/>
          <p:cNvSpPr txBox="1"/>
          <p:nvPr/>
        </p:nvSpPr>
        <p:spPr>
          <a:xfrm>
            <a:off x="5869534" y="3108350"/>
            <a:ext cx="259690"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a:t>
            </a:r>
            <a:endParaRPr lang="en-US" sz="2400" dirty="0"/>
          </a:p>
        </p:txBody>
      </p:sp>
      <p:sp>
        <p:nvSpPr>
          <p:cNvPr id="15" name="Shape 11"/>
          <p:cNvSpPr/>
          <p:nvPr/>
        </p:nvSpPr>
        <p:spPr>
          <a:xfrm>
            <a:off x="6033516" y="3120542"/>
            <a:ext cx="1556004" cy="371856"/>
          </a:xfrm>
          <a:prstGeom prst="roundRect">
            <a:avLst>
              <a:gd name="adj" fmla="val 12295"/>
            </a:avLst>
          </a:prstGeom>
          <a:solidFill>
            <a:srgbClr val="E6F3DA"/>
          </a:solidFill>
          <a:ln w="12700">
            <a:solidFill>
              <a:srgbClr val="FFFFFF">
                <a:alpha val="0"/>
              </a:srgbClr>
            </a:solidFill>
            <a:prstDash val="solid"/>
          </a:ln>
        </p:spPr>
      </p:sp>
      <p:sp>
        <p:nvSpPr>
          <p:cNvPr id="16" name="Text 12"/>
          <p:cNvSpPr txBox="1"/>
          <p:nvPr/>
        </p:nvSpPr>
        <p:spPr>
          <a:xfrm>
            <a:off x="6033516" y="3108350"/>
            <a:ext cx="1556004"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Fijne avond</a:t>
            </a:r>
            <a:endParaRPr lang="en-US" sz="2400" dirty="0"/>
          </a:p>
        </p:txBody>
      </p:sp>
      <p:sp>
        <p:nvSpPr>
          <p:cNvPr id="17" name="Text 13"/>
          <p:cNvSpPr txBox="1"/>
          <p:nvPr/>
        </p:nvSpPr>
        <p:spPr>
          <a:xfrm>
            <a:off x="7589520" y="3108350"/>
            <a:ext cx="1489253"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 allemaal!</a:t>
            </a:r>
            <a:endParaRPr lang="en-US" sz="2400" dirty="0"/>
          </a:p>
        </p:txBody>
      </p:sp>
      <p:sp>
        <p:nvSpPr>
          <p:cNvPr id="18" name="Shape 14"/>
          <p:cNvSpPr/>
          <p:nvPr/>
        </p:nvSpPr>
        <p:spPr>
          <a:xfrm>
            <a:off x="3039618" y="3044342"/>
            <a:ext cx="914" cy="76200"/>
          </a:xfrm>
          <a:prstGeom prst="line">
            <a:avLst/>
          </a:prstGeom>
          <a:noFill/>
          <a:ln w="15875">
            <a:solidFill>
              <a:srgbClr val="7AB648"/>
            </a:solidFill>
            <a:prstDash val="solid"/>
          </a:ln>
        </p:spPr>
      </p:sp>
      <p:sp>
        <p:nvSpPr>
          <p:cNvPr id="19" name="Shape 15"/>
          <p:cNvSpPr/>
          <p:nvPr/>
        </p:nvSpPr>
        <p:spPr>
          <a:xfrm>
            <a:off x="2579802" y="2797454"/>
            <a:ext cx="919632" cy="246888"/>
          </a:xfrm>
          <a:prstGeom prst="roundRect">
            <a:avLst>
              <a:gd name="adj" fmla="val 14815"/>
            </a:avLst>
          </a:prstGeom>
          <a:solidFill>
            <a:srgbClr val="7AB648"/>
          </a:solidFill>
          <a:ln w="12700">
            <a:solidFill>
              <a:srgbClr val="FFFFFF">
                <a:alpha val="0"/>
              </a:srgbClr>
            </a:solidFill>
            <a:prstDash val="solid"/>
          </a:ln>
        </p:spPr>
      </p:sp>
      <p:sp>
        <p:nvSpPr>
          <p:cNvPr id="20" name="Text 16"/>
          <p:cNvSpPr txBox="1"/>
          <p:nvPr/>
        </p:nvSpPr>
        <p:spPr>
          <a:xfrm>
            <a:off x="2579802" y="2797454"/>
            <a:ext cx="919632"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IK BEN MOE</a:t>
            </a:r>
            <a:endParaRPr lang="en-US" sz="1100" dirty="0"/>
          </a:p>
        </p:txBody>
      </p:sp>
      <p:sp>
        <p:nvSpPr>
          <p:cNvPr id="21" name="Shape 17"/>
          <p:cNvSpPr/>
          <p:nvPr/>
        </p:nvSpPr>
        <p:spPr>
          <a:xfrm>
            <a:off x="4910633" y="3044342"/>
            <a:ext cx="914" cy="76200"/>
          </a:xfrm>
          <a:prstGeom prst="line">
            <a:avLst/>
          </a:prstGeom>
          <a:noFill/>
          <a:ln w="15875">
            <a:solidFill>
              <a:srgbClr val="7AB648"/>
            </a:solidFill>
            <a:prstDash val="solid"/>
          </a:ln>
        </p:spPr>
      </p:sp>
      <p:sp>
        <p:nvSpPr>
          <p:cNvPr id="22" name="Shape 18"/>
          <p:cNvSpPr/>
          <p:nvPr/>
        </p:nvSpPr>
        <p:spPr>
          <a:xfrm>
            <a:off x="4473727" y="2797454"/>
            <a:ext cx="873811" cy="246888"/>
          </a:xfrm>
          <a:prstGeom prst="roundRect">
            <a:avLst>
              <a:gd name="adj" fmla="val 14815"/>
            </a:avLst>
          </a:prstGeom>
          <a:solidFill>
            <a:srgbClr val="7AB648"/>
          </a:solidFill>
          <a:ln w="12700">
            <a:solidFill>
              <a:srgbClr val="FFFFFF">
                <a:alpha val="0"/>
              </a:srgbClr>
            </a:solidFill>
            <a:prstDash val="solid"/>
          </a:ln>
        </p:spPr>
      </p:sp>
      <p:sp>
        <p:nvSpPr>
          <p:cNvPr id="23" name="Text 19"/>
          <p:cNvSpPr txBox="1"/>
          <p:nvPr/>
        </p:nvSpPr>
        <p:spPr>
          <a:xfrm>
            <a:off x="4473727" y="2797454"/>
            <a:ext cx="873811"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NAAR HUIS</a:t>
            </a:r>
            <a:endParaRPr lang="en-US" sz="1100" dirty="0"/>
          </a:p>
        </p:txBody>
      </p:sp>
      <p:sp>
        <p:nvSpPr>
          <p:cNvPr id="24" name="Shape 20"/>
          <p:cNvSpPr/>
          <p:nvPr/>
        </p:nvSpPr>
        <p:spPr>
          <a:xfrm>
            <a:off x="6811518" y="3044342"/>
            <a:ext cx="914" cy="76200"/>
          </a:xfrm>
          <a:prstGeom prst="line">
            <a:avLst/>
          </a:prstGeom>
          <a:noFill/>
          <a:ln w="15875">
            <a:solidFill>
              <a:srgbClr val="7AB648"/>
            </a:solidFill>
            <a:prstDash val="solid"/>
          </a:ln>
        </p:spPr>
      </p:sp>
      <p:sp>
        <p:nvSpPr>
          <p:cNvPr id="25" name="Shape 21"/>
          <p:cNvSpPr/>
          <p:nvPr/>
        </p:nvSpPr>
        <p:spPr>
          <a:xfrm>
            <a:off x="6311189" y="2797454"/>
            <a:ext cx="1000658" cy="246888"/>
          </a:xfrm>
          <a:prstGeom prst="roundRect">
            <a:avLst>
              <a:gd name="adj" fmla="val 14815"/>
            </a:avLst>
          </a:prstGeom>
          <a:solidFill>
            <a:srgbClr val="7AB648"/>
          </a:solidFill>
          <a:ln w="12700">
            <a:solidFill>
              <a:srgbClr val="FFFFFF">
                <a:alpha val="0"/>
              </a:srgbClr>
            </a:solidFill>
            <a:prstDash val="solid"/>
          </a:ln>
        </p:spPr>
      </p:sp>
      <p:sp>
        <p:nvSpPr>
          <p:cNvPr id="26" name="Text 22"/>
          <p:cNvSpPr txBox="1"/>
          <p:nvPr/>
        </p:nvSpPr>
        <p:spPr>
          <a:xfrm>
            <a:off x="6311189" y="2797454"/>
            <a:ext cx="1000658"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FIJNE AVOND</a:t>
            </a:r>
            <a:endParaRPr lang="en-US" sz="1100" dirty="0"/>
          </a:p>
        </p:txBody>
      </p:sp>
      <p:sp>
        <p:nvSpPr>
          <p:cNvPr id="27" name="Shape 23"/>
          <p:cNvSpPr/>
          <p:nvPr/>
        </p:nvSpPr>
        <p:spPr>
          <a:xfrm>
            <a:off x="5867095" y="4175150"/>
            <a:ext cx="1562405" cy="371856"/>
          </a:xfrm>
          <a:prstGeom prst="roundRect">
            <a:avLst>
              <a:gd name="adj" fmla="val 12295"/>
            </a:avLst>
          </a:prstGeom>
          <a:solidFill>
            <a:srgbClr val="E6F3DA"/>
          </a:solidFill>
          <a:ln w="12700">
            <a:solidFill>
              <a:srgbClr val="FFFFFF">
                <a:alpha val="0"/>
              </a:srgbClr>
            </a:solidFill>
            <a:prstDash val="solid"/>
          </a:ln>
        </p:spPr>
      </p:sp>
      <p:sp>
        <p:nvSpPr>
          <p:cNvPr id="28" name="Text 24"/>
          <p:cNvSpPr txBox="1"/>
          <p:nvPr/>
        </p:nvSpPr>
        <p:spPr>
          <a:xfrm>
            <a:off x="5867095" y="4162958"/>
            <a:ext cx="1562405"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Tot morgen</a:t>
            </a:r>
            <a:endParaRPr lang="en-US" sz="2400" dirty="0"/>
          </a:p>
        </p:txBody>
      </p:sp>
      <p:sp>
        <p:nvSpPr>
          <p:cNvPr id="29" name="Text 25"/>
          <p:cNvSpPr txBox="1"/>
          <p:nvPr/>
        </p:nvSpPr>
        <p:spPr>
          <a:xfrm>
            <a:off x="7429500" y="4162958"/>
            <a:ext cx="282245"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a:t>
            </a:r>
            <a:endParaRPr lang="en-US" sz="2400" dirty="0"/>
          </a:p>
        </p:txBody>
      </p:sp>
      <p:sp>
        <p:nvSpPr>
          <p:cNvPr id="30" name="Shape 26"/>
          <p:cNvSpPr/>
          <p:nvPr/>
        </p:nvSpPr>
        <p:spPr>
          <a:xfrm>
            <a:off x="6648298" y="4098950"/>
            <a:ext cx="914" cy="76200"/>
          </a:xfrm>
          <a:prstGeom prst="line">
            <a:avLst/>
          </a:prstGeom>
          <a:noFill/>
          <a:ln w="15875">
            <a:solidFill>
              <a:srgbClr val="7AB648"/>
            </a:solidFill>
            <a:prstDash val="solid"/>
          </a:ln>
        </p:spPr>
      </p:sp>
      <p:sp>
        <p:nvSpPr>
          <p:cNvPr id="31" name="Shape 27"/>
          <p:cNvSpPr/>
          <p:nvPr/>
        </p:nvSpPr>
        <p:spPr>
          <a:xfrm>
            <a:off x="6134208" y="3852062"/>
            <a:ext cx="1028179" cy="246888"/>
          </a:xfrm>
          <a:prstGeom prst="roundRect">
            <a:avLst>
              <a:gd name="adj" fmla="val 14815"/>
            </a:avLst>
          </a:prstGeom>
          <a:solidFill>
            <a:srgbClr val="7AB648"/>
          </a:solidFill>
          <a:ln w="12700">
            <a:solidFill>
              <a:srgbClr val="FFFFFF">
                <a:alpha val="0"/>
              </a:srgbClr>
            </a:solidFill>
            <a:prstDash val="solid"/>
          </a:ln>
        </p:spPr>
      </p:sp>
      <p:sp>
        <p:nvSpPr>
          <p:cNvPr id="32" name="Text 28"/>
          <p:cNvSpPr txBox="1"/>
          <p:nvPr/>
        </p:nvSpPr>
        <p:spPr>
          <a:xfrm>
            <a:off x="6134208" y="3852062"/>
            <a:ext cx="1028179"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TOT MORGEN</a:t>
            </a:r>
            <a:endParaRPr lang="en-US" sz="1100" dirty="0"/>
          </a:p>
        </p:txBody>
      </p:sp>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1"/>
          <p:cNvSpPr/>
          <p:nvPr>
            <p:ph idx="101" type="title" hasCustomPrompt="1"/>
          </p:nvPr>
        </p:nvSpPr>
        <p:spPr>
          <a:xfrm>
            <a:off x="1554480" y="384048"/>
            <a:ext cx="10241280" cy="658368"/>
          </a:xfrm>
          <a:prstGeom prst="rect">
            <a:avLst/>
          </a:prstGeom>
          <a:noFill/>
          <a:ln/>
        </p:spPr>
        <p:txBody>
          <a:bodyPr wrap="square" lIns="0" tIns="0" rIns="0" bIns="0" rtlCol="0" anchor="ctr"/>
          <a:lstStyle/>
          <a:p>
            <a:pPr algn="ctr" indent="0" marL="0">
              <a:buNone/>
            </a:pPr>
            <a:r>
              <a:rPr lang="en-US" sz="3000" b="1" dirty="0">
                <a:solidFill>
                  <a:srgbClr val="2B2F38"/>
                </a:solidFill>
              </a:rPr>
              <a:t>Gebruik deze afbeelding als inspiratie</a:t>
            </a:r>
            <a:endParaRPr lang="en-US" sz="3000" dirty="0"/>
          </a:p>
        </p:txBody>
      </p:sp>
      <p:sp>
        <p:nvSpPr>
          <p:cNvPr id="4" name="Shape 1"/>
          <p:cNvSpPr/>
          <p:nvPr/>
        </p:nvSpPr>
        <p:spPr>
          <a:xfrm>
            <a:off x="365760" y="365760"/>
            <a:ext cx="868680" cy="5989320"/>
          </a:xfrm>
          <a:prstGeom prst="roundRect">
            <a:avLst>
              <a:gd name="adj" fmla="val 12632"/>
            </a:avLst>
          </a:prstGeom>
          <a:solidFill>
            <a:srgbClr val="E6F4EA"/>
          </a:solidFill>
          <a:ln w="28575">
            <a:solidFill>
              <a:srgbClr val="6DBE8A"/>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3D8C5A"/>
                </a:solidFill>
                <a:latin typeface="Calibri" pitchFamily="34" charset="0"/>
                <a:ea typeface="Calibri" pitchFamily="34" charset="-122"/>
                <a:cs typeface="Calibri" pitchFamily="34" charset="-120"/>
              </a:rPr>
              <a:t>A1 · Premiers pas</a:t>
            </a:r>
            <a:endParaRPr lang="en-US" sz="3800" dirty="0"/>
          </a:p>
        </p:txBody>
      </p:sp>
      <p:sp>
        <p:nvSpPr>
          <p:cNvPr id="6" name="Text 3"/>
          <p:cNvSpPr txBox="1"/>
          <p:nvPr/>
        </p:nvSpPr>
        <p:spPr>
          <a:xfrm>
            <a:off x="1554480" y="1024128"/>
            <a:ext cx="10241280" cy="365760"/>
          </a:xfrm>
          <a:prstGeom prst="rect">
            <a:avLst/>
          </a:prstGeom>
          <a:noFill/>
          <a:ln/>
        </p:spPr>
        <p:txBody>
          <a:bodyPr wrap="square" lIns="0" tIns="0" rIns="0" bIns="0" rtlCol="0" anchor="ctr"/>
          <a:lstStyle/>
          <a:p>
            <a:pPr algn="ctr" indent="0" marL="0">
              <a:buNone/>
            </a:pPr>
            <a:r>
              <a:rPr lang="en-US" sz="1500" b="1" dirty="0">
                <a:solidFill>
                  <a:srgbClr val="3D8C5A"/>
                </a:solidFill>
                <a:latin typeface="Calibri" pitchFamily="34" charset="0"/>
                <a:ea typeface="Calibri" pitchFamily="34" charset="-122"/>
                <a:cs typeface="Calibri" pitchFamily="34" charset="-120"/>
              </a:rPr>
              <a:t>14 · Stel jezelf voor</a:t>
            </a:r>
            <a:r>
              <a:rPr lang="en-US" sz="1500" i="1" dirty="0">
                <a:solidFill>
                  <a:srgbClr val="6B7280"/>
                </a:solidFill>
                <a:latin typeface="Calibri" pitchFamily="34" charset="0"/>
                <a:ea typeface="Calibri" pitchFamily="34" charset="-122"/>
                <a:cs typeface="Calibri" pitchFamily="34" charset="-120"/>
              </a:rPr>
              <a:t>   Présentez-vous</a:t>
            </a:r>
            <a:r>
              <a:rPr lang="en-US" sz="1200" dirty="0">
                <a:solidFill>
                  <a:srgbClr val="9AA3B2"/>
                </a:solidFill>
                <a:latin typeface="Calibri" pitchFamily="34" charset="0"/>
                <a:ea typeface="Calibri" pitchFamily="34" charset="-122"/>
                <a:cs typeface="Calibri" pitchFamily="34" charset="-120"/>
              </a:rPr>
              <a:t>   ·   syllabus synthèse · p. 57</a:t>
            </a:r>
            <a:endParaRPr lang="en-US" sz="1500" dirty="0"/>
          </a:p>
        </p:txBody>
      </p:sp>
      <p:sp>
        <p:nvSpPr>
          <p:cNvPr id="7" name="Shape 4"/>
          <p:cNvSpPr/>
          <p:nvPr/>
        </p:nvSpPr>
        <p:spPr>
          <a:xfrm>
            <a:off x="1596085" y="1504645"/>
            <a:ext cx="4534510" cy="2905735"/>
          </a:xfrm>
          <a:prstGeom prst="roundRect">
            <a:avLst>
              <a:gd name="adj" fmla="val 1259"/>
            </a:avLst>
          </a:prstGeom>
          <a:solidFill>
            <a:srgbClr val="FFFFFF"/>
          </a:solidFill>
          <a:ln w="9525">
            <a:solidFill>
              <a:srgbClr val="E3E7EE"/>
            </a:solidFill>
            <a:prstDash val="solid"/>
          </a:ln>
          <a:effectLst>
            <a:outerShdw sx="100000" sy="100000" kx="0" ky="0" algn="bl" rotWithShape="0" blurRad="127000" dist="50800" dir="5400000">
              <a:srgbClr val="1B2430">
                <a:alpha val="25000"/>
              </a:srgbClr>
            </a:outerShdw>
          </a:effectLst>
        </p:spPr>
      </p:sp>
      <p:pic>
        <p:nvPicPr>
          <p:cNvPr id="8" name="Image 0" descr="/home/user/talenleren/neerlandais1/generateur/img/vijfzinnen/a1_steljezelfvoor_s.jpg">    </p:cNvPr>
          <p:cNvPicPr>
            <a:picLocks noChangeAspect="1"/>
          </p:cNvPicPr>
          <p:nvPr/>
        </p:nvPicPr>
        <p:blipFill>
          <a:blip r:embed="rId1"/>
          <a:stretch>
            <a:fillRect/>
          </a:stretch>
        </p:blipFill>
        <p:spPr>
          <a:xfrm>
            <a:off x="1691640" y="1600200"/>
            <a:ext cx="4343400" cy="2714625"/>
          </a:xfrm>
          <a:prstGeom prst="rect">
            <a:avLst/>
          </a:prstGeom>
        </p:spPr>
      </p:pic>
      <p:sp>
        <p:nvSpPr>
          <p:cNvPr id="9" name="Shape 5"/>
          <p:cNvSpPr/>
          <p:nvPr/>
        </p:nvSpPr>
        <p:spPr>
          <a:xfrm>
            <a:off x="1691640" y="4572000"/>
            <a:ext cx="1600200" cy="365760"/>
          </a:xfrm>
          <a:prstGeom prst="roundRect">
            <a:avLst>
              <a:gd name="adj" fmla="val 50000"/>
            </a:avLst>
          </a:prstGeom>
          <a:solidFill>
            <a:srgbClr val="FDF1E6"/>
          </a:solidFill>
          <a:ln w="12700">
            <a:solidFill>
              <a:srgbClr val="D9822B"/>
            </a:solidFill>
            <a:prstDash val="solid"/>
          </a:ln>
        </p:spPr>
      </p:sp>
      <p:pic>
        <p:nvPicPr>
          <p:cNvPr id="10" name="Image 1" descr="Comments">    </p:cNvPr>
          <p:cNvPicPr>
            <a:picLocks noChangeAspect="1"/>
          </p:cNvPicPr>
          <p:nvPr/>
        </p:nvPicPr>
        <p:blipFill>
          <a:blip r:embed="rId2"/>
          <a:stretch>
            <a:fillRect/>
          </a:stretch>
        </p:blipFill>
        <p:spPr>
          <a:xfrm>
            <a:off x="1819656" y="4654296"/>
            <a:ext cx="201168" cy="201168"/>
          </a:xfrm>
          <a:prstGeom prst="rect">
            <a:avLst/>
          </a:prstGeom>
        </p:spPr>
      </p:pic>
      <p:sp>
        <p:nvSpPr>
          <p:cNvPr id="11" name="Text 6"/>
          <p:cNvSpPr txBox="1"/>
          <p:nvPr/>
        </p:nvSpPr>
        <p:spPr>
          <a:xfrm>
            <a:off x="2075688" y="4572000"/>
            <a:ext cx="1143000" cy="365760"/>
          </a:xfrm>
          <a:prstGeom prst="rect">
            <a:avLst/>
          </a:prstGeom>
          <a:noFill/>
          <a:ln/>
        </p:spPr>
        <p:txBody>
          <a:bodyPr wrap="square" lIns="0" tIns="0" rIns="0" bIns="0" rtlCol="0" anchor="ctr"/>
          <a:lstStyle/>
          <a:p>
            <a:pPr algn="l" indent="0" marL="0">
              <a:buNone/>
            </a:pPr>
            <a:r>
              <a:rPr lang="en-US" sz="1150" b="1" spc="100" kern="0" dirty="0">
                <a:solidFill>
                  <a:srgbClr val="D9822B"/>
                </a:solidFill>
                <a:latin typeface="Calibri" pitchFamily="34" charset="0"/>
                <a:ea typeface="Calibri" pitchFamily="34" charset="-122"/>
                <a:cs typeface="Calibri" pitchFamily="34" charset="-120"/>
              </a:rPr>
              <a:t>À L’ORAL</a:t>
            </a:r>
            <a:endParaRPr lang="en-US" sz="1150" dirty="0"/>
          </a:p>
        </p:txBody>
      </p:sp>
      <p:sp>
        <p:nvSpPr>
          <p:cNvPr id="12" name="Text 7"/>
          <p:cNvSpPr txBox="1"/>
          <p:nvPr/>
        </p:nvSpPr>
        <p:spPr>
          <a:xfrm>
            <a:off x="3429000" y="4544568"/>
            <a:ext cx="2651760" cy="731520"/>
          </a:xfrm>
          <a:prstGeom prst="rect">
            <a:avLst/>
          </a:prstGeom>
          <a:noFill/>
          <a:ln/>
        </p:spPr>
        <p:txBody>
          <a:bodyPr wrap="square" lIns="0" tIns="0" rIns="0" bIns="0" rtlCol="0" anchor="t"/>
          <a:lstStyle/>
          <a:p>
            <a:pPr algn="l" indent="0" marL="0">
              <a:buNone/>
            </a:pPr>
            <a:r>
              <a:rPr lang="en-US" sz="1150" i="1" dirty="0">
                <a:solidFill>
                  <a:srgbClr val="6B7280"/>
                </a:solidFill>
                <a:latin typeface="Calibri" pitchFamily="34" charset="0"/>
                <a:ea typeface="Calibri" pitchFamily="34" charset="-122"/>
                <a:cs typeface="Calibri" pitchFamily="34" charset="-120"/>
              </a:rPr>
              <a:t>La synthèse du palier : vous vous présentez à un autre binôme, sans notes.</a:t>
            </a:r>
            <a:endParaRPr lang="en-US" sz="1150" dirty="0"/>
          </a:p>
        </p:txBody>
      </p:sp>
      <p:sp>
        <p:nvSpPr>
          <p:cNvPr id="13" name="Shape 8"/>
          <p:cNvSpPr/>
          <p:nvPr/>
        </p:nvSpPr>
        <p:spPr>
          <a:xfrm>
            <a:off x="6355080" y="1627632"/>
            <a:ext cx="914400" cy="402336"/>
          </a:xfrm>
          <a:prstGeom prst="roundRect">
            <a:avLst>
              <a:gd name="adj" fmla="val 13636"/>
            </a:avLst>
          </a:prstGeom>
          <a:solidFill>
            <a:srgbClr val="5FA873"/>
          </a:solidFill>
          <a:ln w="12700">
            <a:solidFill>
              <a:srgbClr val="FFFFFF">
                <a:alpha val="0"/>
              </a:srgbClr>
            </a:solidFill>
            <a:prstDash val="solid"/>
          </a:ln>
        </p:spPr>
      </p:sp>
      <p:sp>
        <p:nvSpPr>
          <p:cNvPr id="14" name="Text 9"/>
          <p:cNvSpPr txBox="1"/>
          <p:nvPr/>
        </p:nvSpPr>
        <p:spPr>
          <a:xfrm>
            <a:off x="6355080" y="162763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1</a:t>
            </a:r>
            <a:endParaRPr lang="en-US" sz="1600" dirty="0"/>
          </a:p>
        </p:txBody>
      </p:sp>
      <p:sp>
        <p:nvSpPr>
          <p:cNvPr id="15" name="Text 10"/>
          <p:cNvSpPr txBox="1"/>
          <p:nvPr/>
        </p:nvSpPr>
        <p:spPr>
          <a:xfrm>
            <a:off x="7406640" y="1572768"/>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Une </a:t>
            </a:r>
            <a:r>
              <a:rPr lang="en-US" sz="1450" b="1" dirty="0">
                <a:solidFill>
                  <a:srgbClr val="2B2F38"/>
                </a:solidFill>
              </a:rPr>
              <a:t>salutation</a:t>
            </a:r>
            <a:r>
              <a:rPr lang="en-US" sz="1450" dirty="0">
                <a:solidFill>
                  <a:srgbClr val="2B2F38"/>
                </a:solidFill>
              </a:rPr>
              <a:t> selon le moment de la journée.</a:t>
            </a:r>
            <a:endParaRPr lang="en-US" sz="1450" dirty="0"/>
          </a:p>
        </p:txBody>
      </p:sp>
      <p:sp>
        <p:nvSpPr>
          <p:cNvPr id="16" name="Shape 11"/>
          <p:cNvSpPr/>
          <p:nvPr/>
        </p:nvSpPr>
        <p:spPr>
          <a:xfrm>
            <a:off x="6355080" y="2231136"/>
            <a:ext cx="914400" cy="402336"/>
          </a:xfrm>
          <a:prstGeom prst="roundRect">
            <a:avLst>
              <a:gd name="adj" fmla="val 13636"/>
            </a:avLst>
          </a:prstGeom>
          <a:solidFill>
            <a:srgbClr val="5FA873"/>
          </a:solidFill>
          <a:ln w="12700">
            <a:solidFill>
              <a:srgbClr val="FFFFFF">
                <a:alpha val="0"/>
              </a:srgbClr>
            </a:solidFill>
            <a:prstDash val="solid"/>
          </a:ln>
        </p:spPr>
      </p:sp>
      <p:sp>
        <p:nvSpPr>
          <p:cNvPr id="17" name="Text 12"/>
          <p:cNvSpPr txBox="1"/>
          <p:nvPr/>
        </p:nvSpPr>
        <p:spPr>
          <a:xfrm>
            <a:off x="6355080" y="2231136"/>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2</a:t>
            </a:r>
            <a:endParaRPr lang="en-US" sz="1600" dirty="0"/>
          </a:p>
        </p:txBody>
      </p:sp>
      <p:sp>
        <p:nvSpPr>
          <p:cNvPr id="18" name="Text 13"/>
          <p:cNvSpPr txBox="1"/>
          <p:nvPr/>
        </p:nvSpPr>
        <p:spPr>
          <a:xfrm>
            <a:off x="7406640" y="2176272"/>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Votre identité avec </a:t>
            </a:r>
            <a:r>
              <a:rPr lang="en-US" sz="1450" b="1" dirty="0">
                <a:solidFill>
                  <a:srgbClr val="2B2F38"/>
                </a:solidFill>
              </a:rPr>
              <a:t>ZIJN</a:t>
            </a:r>
            <a:r>
              <a:rPr lang="en-US" sz="1450" dirty="0">
                <a:solidFill>
                  <a:srgbClr val="2B2F38"/>
                </a:solidFill>
              </a:rPr>
              <a:t> : Ik ben…</a:t>
            </a:r>
            <a:endParaRPr lang="en-US" sz="1450" dirty="0"/>
          </a:p>
        </p:txBody>
      </p:sp>
      <p:sp>
        <p:nvSpPr>
          <p:cNvPr id="19" name="Shape 14"/>
          <p:cNvSpPr/>
          <p:nvPr/>
        </p:nvSpPr>
        <p:spPr>
          <a:xfrm>
            <a:off x="6355080" y="2834640"/>
            <a:ext cx="914400" cy="402336"/>
          </a:xfrm>
          <a:prstGeom prst="roundRect">
            <a:avLst>
              <a:gd name="adj" fmla="val 13636"/>
            </a:avLst>
          </a:prstGeom>
          <a:solidFill>
            <a:srgbClr val="5FA873"/>
          </a:solidFill>
          <a:ln w="12700">
            <a:solidFill>
              <a:srgbClr val="FFFFFF">
                <a:alpha val="0"/>
              </a:srgbClr>
            </a:solidFill>
            <a:prstDash val="solid"/>
          </a:ln>
        </p:spPr>
      </p:sp>
      <p:sp>
        <p:nvSpPr>
          <p:cNvPr id="20" name="Text 15"/>
          <p:cNvSpPr txBox="1"/>
          <p:nvPr/>
        </p:nvSpPr>
        <p:spPr>
          <a:xfrm>
            <a:off x="6355080" y="2834640"/>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3</a:t>
            </a:r>
            <a:endParaRPr lang="en-US" sz="1600" dirty="0"/>
          </a:p>
        </p:txBody>
      </p:sp>
      <p:sp>
        <p:nvSpPr>
          <p:cNvPr id="21" name="Text 16"/>
          <p:cNvSpPr txBox="1"/>
          <p:nvPr/>
        </p:nvSpPr>
        <p:spPr>
          <a:xfrm>
            <a:off x="7406640" y="2779776"/>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Ce que vous avez avec </a:t>
            </a:r>
            <a:r>
              <a:rPr lang="en-US" sz="1450" b="1" dirty="0">
                <a:solidFill>
                  <a:srgbClr val="2B2F38"/>
                </a:solidFill>
              </a:rPr>
              <a:t>HEBBEN</a:t>
            </a:r>
            <a:r>
              <a:rPr lang="en-US" sz="1450" dirty="0">
                <a:solidFill>
                  <a:srgbClr val="2B2F38"/>
                </a:solidFill>
              </a:rPr>
              <a:t> : Ik heb…</a:t>
            </a:r>
            <a:endParaRPr lang="en-US" sz="1450" dirty="0"/>
          </a:p>
        </p:txBody>
      </p:sp>
      <p:sp>
        <p:nvSpPr>
          <p:cNvPr id="22" name="Shape 17"/>
          <p:cNvSpPr/>
          <p:nvPr/>
        </p:nvSpPr>
        <p:spPr>
          <a:xfrm>
            <a:off x="6355080" y="3438144"/>
            <a:ext cx="914400" cy="402336"/>
          </a:xfrm>
          <a:prstGeom prst="roundRect">
            <a:avLst>
              <a:gd name="adj" fmla="val 13636"/>
            </a:avLst>
          </a:prstGeom>
          <a:solidFill>
            <a:srgbClr val="5FA873"/>
          </a:solidFill>
          <a:ln w="12700">
            <a:solidFill>
              <a:srgbClr val="FFFFFF">
                <a:alpha val="0"/>
              </a:srgbClr>
            </a:solidFill>
            <a:prstDash val="solid"/>
          </a:ln>
        </p:spPr>
      </p:sp>
      <p:sp>
        <p:nvSpPr>
          <p:cNvPr id="23" name="Text 18"/>
          <p:cNvSpPr txBox="1"/>
          <p:nvPr/>
        </p:nvSpPr>
        <p:spPr>
          <a:xfrm>
            <a:off x="6355080" y="3438144"/>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4</a:t>
            </a:r>
            <a:endParaRPr lang="en-US" sz="1600" dirty="0"/>
          </a:p>
        </p:txBody>
      </p:sp>
      <p:sp>
        <p:nvSpPr>
          <p:cNvPr id="24" name="Text 19"/>
          <p:cNvSpPr txBox="1"/>
          <p:nvPr/>
        </p:nvSpPr>
        <p:spPr>
          <a:xfrm>
            <a:off x="7406640" y="3383280"/>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Un contraste : </a:t>
            </a:r>
            <a:r>
              <a:rPr lang="en-US" sz="1450" b="1" dirty="0">
                <a:solidFill>
                  <a:srgbClr val="2B2F38"/>
                </a:solidFill>
              </a:rPr>
              <a:t>JIJ</a:t>
            </a:r>
            <a:r>
              <a:rPr lang="en-US" sz="1450" dirty="0">
                <a:solidFill>
                  <a:srgbClr val="2B2F38"/>
                </a:solidFill>
              </a:rPr>
              <a:t> …, </a:t>
            </a:r>
            <a:r>
              <a:rPr lang="en-US" sz="1450" b="1" dirty="0">
                <a:solidFill>
                  <a:srgbClr val="2B2F38"/>
                </a:solidFill>
              </a:rPr>
              <a:t>MAAR IK</a:t>
            </a:r>
            <a:r>
              <a:rPr lang="en-US" sz="1450" dirty="0">
                <a:solidFill>
                  <a:srgbClr val="2B2F38"/>
                </a:solidFill>
              </a:rPr>
              <a:t> …</a:t>
            </a:r>
            <a:endParaRPr lang="en-US" sz="1450" dirty="0"/>
          </a:p>
        </p:txBody>
      </p:sp>
      <p:sp>
        <p:nvSpPr>
          <p:cNvPr id="25" name="Shape 20"/>
          <p:cNvSpPr/>
          <p:nvPr/>
        </p:nvSpPr>
        <p:spPr>
          <a:xfrm>
            <a:off x="6355080" y="4041648"/>
            <a:ext cx="914400" cy="402336"/>
          </a:xfrm>
          <a:prstGeom prst="roundRect">
            <a:avLst>
              <a:gd name="adj" fmla="val 13636"/>
            </a:avLst>
          </a:prstGeom>
          <a:solidFill>
            <a:srgbClr val="5FA873"/>
          </a:solidFill>
          <a:ln w="12700">
            <a:solidFill>
              <a:srgbClr val="FFFFFF">
                <a:alpha val="0"/>
              </a:srgbClr>
            </a:solidFill>
            <a:prstDash val="solid"/>
          </a:ln>
        </p:spPr>
      </p:sp>
      <p:sp>
        <p:nvSpPr>
          <p:cNvPr id="26" name="Text 21"/>
          <p:cNvSpPr txBox="1"/>
          <p:nvPr/>
        </p:nvSpPr>
        <p:spPr>
          <a:xfrm>
            <a:off x="6355080" y="4041648"/>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5</a:t>
            </a:r>
            <a:endParaRPr lang="en-US" sz="1600" dirty="0"/>
          </a:p>
        </p:txBody>
      </p:sp>
      <p:sp>
        <p:nvSpPr>
          <p:cNvPr id="27" name="Text 22"/>
          <p:cNvSpPr txBox="1"/>
          <p:nvPr/>
        </p:nvSpPr>
        <p:spPr>
          <a:xfrm>
            <a:off x="7406640" y="3986784"/>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Une formule de </a:t>
            </a:r>
            <a:r>
              <a:rPr lang="en-US" sz="1450" b="1" dirty="0">
                <a:solidFill>
                  <a:srgbClr val="2B2F38"/>
                </a:solidFill>
              </a:rPr>
              <a:t>congé</a:t>
            </a:r>
            <a:r>
              <a:rPr lang="en-US" sz="1450" dirty="0">
                <a:solidFill>
                  <a:srgbClr val="2B2F38"/>
                </a:solidFill>
              </a:rPr>
              <a:t> selon le contexte.</a:t>
            </a:r>
            <a:endParaRPr lang="en-US" sz="1450" dirty="0"/>
          </a:p>
        </p:txBody>
      </p:sp>
      <p:sp>
        <p:nvSpPr>
          <p:cNvPr id="28" name="Shape 23"/>
          <p:cNvSpPr/>
          <p:nvPr/>
        </p:nvSpPr>
        <p:spPr>
          <a:xfrm>
            <a:off x="3246120" y="5440680"/>
            <a:ext cx="6858000" cy="822960"/>
          </a:xfrm>
          <a:prstGeom prst="roundRect">
            <a:avLst>
              <a:gd name="adj" fmla="val 17778"/>
            </a:avLst>
          </a:prstGeom>
          <a:solidFill>
            <a:srgbClr val="EAF5EC"/>
          </a:solidFill>
          <a:ln w="15875">
            <a:solidFill>
              <a:srgbClr val="5FA873"/>
            </a:solidFill>
            <a:prstDash val="solid"/>
          </a:ln>
        </p:spPr>
      </p:sp>
      <p:pic>
        <p:nvPicPr>
          <p:cNvPr id="29" name="Image 2" descr="UserFriends">    </p:cNvPr>
          <p:cNvPicPr>
            <a:picLocks noChangeAspect="1"/>
          </p:cNvPicPr>
          <p:nvPr/>
        </p:nvPicPr>
        <p:blipFill>
          <a:blip r:embed="rId3"/>
          <a:stretch>
            <a:fillRect/>
          </a:stretch>
        </p:blipFill>
        <p:spPr>
          <a:xfrm>
            <a:off x="3520440" y="5660136"/>
            <a:ext cx="384048" cy="384048"/>
          </a:xfrm>
          <a:prstGeom prst="rect">
            <a:avLst/>
          </a:prstGeom>
        </p:spPr>
      </p:pic>
      <p:sp>
        <p:nvSpPr>
          <p:cNvPr id="30" name="Text 24"/>
          <p:cNvSpPr txBox="1"/>
          <p:nvPr/>
        </p:nvSpPr>
        <p:spPr>
          <a:xfrm>
            <a:off x="4114800" y="5440680"/>
            <a:ext cx="5852160" cy="822960"/>
          </a:xfrm>
          <a:prstGeom prst="rect">
            <a:avLst/>
          </a:prstGeom>
          <a:noFill/>
          <a:ln/>
        </p:spPr>
        <p:txBody>
          <a:bodyPr wrap="square" lIns="0" tIns="0" rIns="0" bIns="0" rtlCol="0" anchor="ctr"/>
          <a:lstStyle/>
          <a:p>
            <a:pPr algn="ctr" indent="0" marL="0">
              <a:buNone/>
            </a:pPr>
            <a:r>
              <a:rPr lang="en-US" sz="1800" b="1" dirty="0">
                <a:solidFill>
                  <a:srgbClr val="2E6B44"/>
                </a:solidFill>
                <a:latin typeface="Calibri" pitchFamily="34" charset="0"/>
                <a:ea typeface="Calibri" pitchFamily="34" charset="-122"/>
                <a:cs typeface="Calibri" pitchFamily="34" charset="-120"/>
              </a:rPr>
              <a:t>Vertel je verhaal aan je partner.</a:t>
            </a:r>
            <a:endParaRPr lang="en-US" sz="1800" dirty="0"/>
          </a:p>
          <a:p>
            <a:pPr algn="ctr" indent="0" marL="0">
              <a:buNone/>
            </a:pPr>
            <a:r>
              <a:rPr lang="en-US" sz="1800" b="1" dirty="0">
                <a:solidFill>
                  <a:srgbClr val="2E6B44"/>
                </a:solidFill>
                <a:latin typeface="Calibri" pitchFamily="34" charset="0"/>
                <a:ea typeface="Calibri" pitchFamily="34" charset="-122"/>
                <a:cs typeface="Calibri" pitchFamily="34" charset="-120"/>
              </a:rPr>
              <a:t>Wat denkt hij/zij daarvan?</a:t>
            </a:r>
            <a:endParaRPr lang="en-US" sz="1800" dirty="0"/>
          </a:p>
        </p:txBody>
      </p:sp>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1"/>
          <p:cNvSpPr/>
          <p:nvPr>
            <p:ph idx="101" type="title" hasCustomPrompt="1"/>
          </p:nvPr>
        </p:nvSpPr>
        <p:spPr>
          <a:xfrm>
            <a:off x="1554480" y="384048"/>
            <a:ext cx="10241280" cy="658368"/>
          </a:xfrm>
          <a:prstGeom prst="rect">
            <a:avLst/>
          </a:prstGeom>
          <a:noFill/>
          <a:ln/>
        </p:spPr>
        <p:txBody>
          <a:bodyPr wrap="square" lIns="0" tIns="0" rIns="0" bIns="0" rtlCol="0" anchor="ctr"/>
          <a:lstStyle/>
          <a:p>
            <a:pPr algn="ctr" indent="0" marL="0">
              <a:buNone/>
            </a:pPr>
            <a:r>
              <a:rPr lang="en-US" sz="3000" b="1" dirty="0">
                <a:solidFill>
                  <a:srgbClr val="2B2F38"/>
                </a:solidFill>
              </a:rPr>
              <a:t>Stel jezelf voor</a:t>
            </a:r>
            <a:endParaRPr lang="en-US" sz="3000" dirty="0"/>
          </a:p>
        </p:txBody>
      </p:sp>
      <p:sp>
        <p:nvSpPr>
          <p:cNvPr id="4" name="Shape 1"/>
          <p:cNvSpPr/>
          <p:nvPr/>
        </p:nvSpPr>
        <p:spPr>
          <a:xfrm>
            <a:off x="365760" y="365760"/>
            <a:ext cx="868680" cy="5989320"/>
          </a:xfrm>
          <a:prstGeom prst="roundRect">
            <a:avLst>
              <a:gd name="adj" fmla="val 12632"/>
            </a:avLst>
          </a:prstGeom>
          <a:solidFill>
            <a:srgbClr val="E6F4EA"/>
          </a:solidFill>
          <a:ln w="28575">
            <a:solidFill>
              <a:srgbClr val="6DBE8A"/>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3D8C5A"/>
                </a:solidFill>
                <a:latin typeface="Calibri" pitchFamily="34" charset="0"/>
                <a:ea typeface="Calibri" pitchFamily="34" charset="-122"/>
                <a:cs typeface="Calibri" pitchFamily="34" charset="-120"/>
              </a:rPr>
              <a:t>A1 · Premiers pas</a:t>
            </a:r>
            <a:endParaRPr lang="en-US" sz="3800" dirty="0"/>
          </a:p>
        </p:txBody>
      </p:sp>
      <p:sp>
        <p:nvSpPr>
          <p:cNvPr id="6" name="Shape 3"/>
          <p:cNvSpPr/>
          <p:nvPr/>
        </p:nvSpPr>
        <p:spPr>
          <a:xfrm>
            <a:off x="2519172" y="1124712"/>
            <a:ext cx="8311896" cy="5277231"/>
          </a:xfrm>
          <a:prstGeom prst="roundRect">
            <a:avLst>
              <a:gd name="adj" fmla="val 693"/>
            </a:avLst>
          </a:prstGeom>
          <a:solidFill>
            <a:srgbClr val="FFFFFF"/>
          </a:solidFill>
          <a:ln w="9525">
            <a:solidFill>
              <a:srgbClr val="E3E7EE"/>
            </a:solidFill>
            <a:prstDash val="solid"/>
          </a:ln>
          <a:effectLst>
            <a:outerShdw sx="100000" sy="100000" kx="0" ky="0" algn="bl" rotWithShape="0" blurRad="177800" dist="63500" dir="5400000">
              <a:srgbClr val="1B2430">
                <a:alpha val="25000"/>
              </a:srgbClr>
            </a:outerShdw>
          </a:effectLst>
        </p:spPr>
      </p:sp>
      <p:pic>
        <p:nvPicPr>
          <p:cNvPr id="7" name="Image 0" descr="/home/user/talenleren/neerlandais1/generateur/img/vijfzinnen/a1_steljezelfvoor.jpg">    </p:cNvPr>
          <p:cNvPicPr>
            <a:picLocks noChangeAspect="1"/>
          </p:cNvPicPr>
          <p:nvPr/>
        </p:nvPicPr>
        <p:blipFill>
          <a:blip r:embed="rId1"/>
          <a:stretch>
            <a:fillRect/>
          </a:stretch>
        </p:blipFill>
        <p:spPr>
          <a:xfrm>
            <a:off x="2628900" y="1234440"/>
            <a:ext cx="8092440" cy="5057775"/>
          </a:xfrm>
          <a:prstGeom prst="rect">
            <a:avLst/>
          </a:prstGeom>
        </p:spPr>
      </p:pic>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1"/>
          <p:cNvSpPr/>
          <p:nvPr>
            <p:ph idx="101" type="title" hasCustomPrompt="1"/>
          </p:nvPr>
        </p:nvSpPr>
        <p:spPr>
          <a:xfrm>
            <a:off x="1691640" y="347472"/>
            <a:ext cx="8138160" cy="914400"/>
          </a:xfrm>
          <a:prstGeom prst="rect">
            <a:avLst/>
          </a:prstGeom>
          <a:noFill/>
          <a:ln/>
        </p:spPr>
        <p:txBody>
          <a:bodyPr wrap="square" lIns="0" tIns="0" rIns="0" bIns="0" rtlCol="0" anchor="ctr"/>
          <a:lstStyle/>
          <a:p>
            <a:pPr algn="l" indent="0" marL="0">
              <a:buNone/>
            </a:pPr>
            <a:r>
              <a:rPr lang="en-US" sz="2400" b="1" dirty="0">
                <a:solidFill>
                  <a:srgbClr val="2B2F38"/>
                </a:solidFill>
              </a:rPr>
              <a:t>Hier is een voorbeeld van wat je had kunnen denken en zeggen…</a:t>
            </a:r>
            <a:endParaRPr lang="en-US" sz="2400" dirty="0"/>
          </a:p>
        </p:txBody>
      </p:sp>
      <p:sp>
        <p:nvSpPr>
          <p:cNvPr id="4" name="Shape 1"/>
          <p:cNvSpPr/>
          <p:nvPr/>
        </p:nvSpPr>
        <p:spPr>
          <a:xfrm>
            <a:off x="365760" y="365760"/>
            <a:ext cx="868680" cy="5989320"/>
          </a:xfrm>
          <a:prstGeom prst="roundRect">
            <a:avLst>
              <a:gd name="adj" fmla="val 12632"/>
            </a:avLst>
          </a:prstGeom>
          <a:solidFill>
            <a:srgbClr val="E6F4EA"/>
          </a:solidFill>
          <a:ln w="28575">
            <a:solidFill>
              <a:srgbClr val="6DBE8A"/>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3D8C5A"/>
                </a:solidFill>
                <a:latin typeface="Calibri" pitchFamily="34" charset="0"/>
                <a:ea typeface="Calibri" pitchFamily="34" charset="-122"/>
                <a:cs typeface="Calibri" pitchFamily="34" charset="-120"/>
              </a:rPr>
              <a:t>A1 · Premiers pas</a:t>
            </a:r>
            <a:endParaRPr lang="en-US" sz="3800" dirty="0"/>
          </a:p>
        </p:txBody>
      </p:sp>
      <p:sp>
        <p:nvSpPr>
          <p:cNvPr id="6" name="Shape 3"/>
          <p:cNvSpPr/>
          <p:nvPr/>
        </p:nvSpPr>
        <p:spPr>
          <a:xfrm>
            <a:off x="10058400" y="246888"/>
            <a:ext cx="1691640" cy="1091565"/>
          </a:xfrm>
          <a:prstGeom prst="roundRect">
            <a:avLst>
              <a:gd name="adj" fmla="val 3351"/>
            </a:avLst>
          </a:prstGeom>
          <a:solidFill>
            <a:srgbClr val="FFFFFF"/>
          </a:solidFill>
          <a:ln w="9525">
            <a:solidFill>
              <a:srgbClr val="E3E7EE"/>
            </a:solidFill>
            <a:prstDash val="solid"/>
          </a:ln>
          <a:effectLst>
            <a:outerShdw sx="100000" sy="100000" kx="0" ky="0" algn="bl" rotWithShape="0" blurRad="76200" dist="25400" dir="5400000">
              <a:srgbClr val="1B2430">
                <a:alpha val="25000"/>
              </a:srgbClr>
            </a:outerShdw>
          </a:effectLst>
        </p:spPr>
      </p:sp>
      <p:pic>
        <p:nvPicPr>
          <p:cNvPr id="7" name="Image 0" descr="/home/user/talenleren/neerlandais1/generateur/img/vijfzinnen/a1_steljezelfvoor_s.jpg">    </p:cNvPr>
          <p:cNvPicPr>
            <a:picLocks noChangeAspect="1"/>
          </p:cNvPicPr>
          <p:nvPr/>
        </p:nvPicPr>
        <p:blipFill>
          <a:blip r:embed="rId1"/>
          <a:stretch>
            <a:fillRect/>
          </a:stretch>
        </p:blipFill>
        <p:spPr>
          <a:xfrm>
            <a:off x="10104120" y="292608"/>
            <a:ext cx="1600200" cy="1000125"/>
          </a:xfrm>
          <a:prstGeom prst="rect">
            <a:avLst/>
          </a:prstGeom>
        </p:spPr>
      </p:pic>
      <p:sp>
        <p:nvSpPr>
          <p:cNvPr id="8" name="Shape 4"/>
          <p:cNvSpPr/>
          <p:nvPr/>
        </p:nvSpPr>
        <p:spPr>
          <a:xfrm>
            <a:off x="1691640" y="2779166"/>
            <a:ext cx="1865071" cy="371856"/>
          </a:xfrm>
          <a:prstGeom prst="roundRect">
            <a:avLst>
              <a:gd name="adj" fmla="val 12295"/>
            </a:avLst>
          </a:prstGeom>
          <a:solidFill>
            <a:srgbClr val="E6F3DA"/>
          </a:solidFill>
          <a:ln w="12700">
            <a:solidFill>
              <a:srgbClr val="FFFFFF">
                <a:alpha val="0"/>
              </a:srgbClr>
            </a:solidFill>
            <a:prstDash val="solid"/>
          </a:ln>
        </p:spPr>
      </p:sp>
      <p:sp>
        <p:nvSpPr>
          <p:cNvPr id="9" name="Text 5"/>
          <p:cNvSpPr txBox="1"/>
          <p:nvPr/>
        </p:nvSpPr>
        <p:spPr>
          <a:xfrm>
            <a:off x="1691640" y="2766974"/>
            <a:ext cx="1865071"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Goedemiddag</a:t>
            </a:r>
            <a:endParaRPr lang="en-US" sz="2400" dirty="0"/>
          </a:p>
        </p:txBody>
      </p:sp>
      <p:sp>
        <p:nvSpPr>
          <p:cNvPr id="10" name="Text 6"/>
          <p:cNvSpPr txBox="1"/>
          <p:nvPr/>
        </p:nvSpPr>
        <p:spPr>
          <a:xfrm>
            <a:off x="3556711" y="2766974"/>
            <a:ext cx="282245"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a:t>
            </a:r>
            <a:endParaRPr lang="en-US" sz="2400" dirty="0"/>
          </a:p>
        </p:txBody>
      </p:sp>
      <p:sp>
        <p:nvSpPr>
          <p:cNvPr id="11" name="Shape 7"/>
          <p:cNvSpPr/>
          <p:nvPr/>
        </p:nvSpPr>
        <p:spPr>
          <a:xfrm>
            <a:off x="3743249" y="2779166"/>
            <a:ext cx="868680" cy="371856"/>
          </a:xfrm>
          <a:prstGeom prst="roundRect">
            <a:avLst>
              <a:gd name="adj" fmla="val 12295"/>
            </a:avLst>
          </a:prstGeom>
          <a:solidFill>
            <a:srgbClr val="E6F3DA"/>
          </a:solidFill>
          <a:ln w="12700">
            <a:solidFill>
              <a:srgbClr val="FFFFFF">
                <a:alpha val="0"/>
              </a:srgbClr>
            </a:solidFill>
            <a:prstDash val="solid"/>
          </a:ln>
        </p:spPr>
      </p:sp>
      <p:sp>
        <p:nvSpPr>
          <p:cNvPr id="12" name="Text 8"/>
          <p:cNvSpPr txBox="1"/>
          <p:nvPr/>
        </p:nvSpPr>
        <p:spPr>
          <a:xfrm>
            <a:off x="3743249" y="2766974"/>
            <a:ext cx="868680"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Ik ben</a:t>
            </a:r>
            <a:endParaRPr lang="en-US" sz="2400" dirty="0"/>
          </a:p>
        </p:txBody>
      </p:sp>
      <p:sp>
        <p:nvSpPr>
          <p:cNvPr id="13" name="Text 9"/>
          <p:cNvSpPr txBox="1"/>
          <p:nvPr/>
        </p:nvSpPr>
        <p:spPr>
          <a:xfrm>
            <a:off x="4699102" y="2766974"/>
            <a:ext cx="3671621"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Lucas en ik kom uit Namen.</a:t>
            </a:r>
            <a:endParaRPr lang="en-US" sz="2400" dirty="0"/>
          </a:p>
        </p:txBody>
      </p:sp>
      <p:sp>
        <p:nvSpPr>
          <p:cNvPr id="14" name="Shape 10"/>
          <p:cNvSpPr/>
          <p:nvPr/>
        </p:nvSpPr>
        <p:spPr>
          <a:xfrm>
            <a:off x="8275015" y="2779166"/>
            <a:ext cx="868680" cy="371856"/>
          </a:xfrm>
          <a:prstGeom prst="roundRect">
            <a:avLst>
              <a:gd name="adj" fmla="val 12295"/>
            </a:avLst>
          </a:prstGeom>
          <a:solidFill>
            <a:srgbClr val="E6F3DA"/>
          </a:solidFill>
          <a:ln w="12700">
            <a:solidFill>
              <a:srgbClr val="FFFFFF">
                <a:alpha val="0"/>
              </a:srgbClr>
            </a:solidFill>
            <a:prstDash val="solid"/>
          </a:ln>
        </p:spPr>
      </p:sp>
      <p:sp>
        <p:nvSpPr>
          <p:cNvPr id="15" name="Text 11"/>
          <p:cNvSpPr txBox="1"/>
          <p:nvPr/>
        </p:nvSpPr>
        <p:spPr>
          <a:xfrm>
            <a:off x="8275015" y="2766974"/>
            <a:ext cx="868680"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Ik heb</a:t>
            </a:r>
            <a:endParaRPr lang="en-US" sz="2400" dirty="0"/>
          </a:p>
        </p:txBody>
      </p:sp>
      <p:sp>
        <p:nvSpPr>
          <p:cNvPr id="16" name="Text 12"/>
          <p:cNvSpPr txBox="1"/>
          <p:nvPr/>
        </p:nvSpPr>
        <p:spPr>
          <a:xfrm>
            <a:off x="9230868" y="2766974"/>
            <a:ext cx="2644140"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twee katten en een</a:t>
            </a:r>
            <a:endParaRPr lang="en-US" sz="2400" dirty="0"/>
          </a:p>
        </p:txBody>
      </p:sp>
      <p:sp>
        <p:nvSpPr>
          <p:cNvPr id="17" name="Shape 13"/>
          <p:cNvSpPr/>
          <p:nvPr/>
        </p:nvSpPr>
        <p:spPr>
          <a:xfrm>
            <a:off x="2624176" y="2702966"/>
            <a:ext cx="914" cy="76200"/>
          </a:xfrm>
          <a:prstGeom prst="line">
            <a:avLst/>
          </a:prstGeom>
          <a:noFill/>
          <a:ln w="15875">
            <a:solidFill>
              <a:srgbClr val="7AB648"/>
            </a:solidFill>
            <a:prstDash val="solid"/>
          </a:ln>
        </p:spPr>
      </p:sp>
      <p:sp>
        <p:nvSpPr>
          <p:cNvPr id="18" name="Shape 14"/>
          <p:cNvSpPr/>
          <p:nvPr/>
        </p:nvSpPr>
        <p:spPr>
          <a:xfrm>
            <a:off x="2140541" y="2456078"/>
            <a:ext cx="967270" cy="246888"/>
          </a:xfrm>
          <a:prstGeom prst="roundRect">
            <a:avLst>
              <a:gd name="adj" fmla="val 14815"/>
            </a:avLst>
          </a:prstGeom>
          <a:solidFill>
            <a:srgbClr val="7AB648"/>
          </a:solidFill>
          <a:ln w="12700">
            <a:solidFill>
              <a:srgbClr val="FFFFFF">
                <a:alpha val="0"/>
              </a:srgbClr>
            </a:solidFill>
            <a:prstDash val="solid"/>
          </a:ln>
        </p:spPr>
      </p:sp>
      <p:sp>
        <p:nvSpPr>
          <p:cNvPr id="19" name="Text 15"/>
          <p:cNvSpPr txBox="1"/>
          <p:nvPr/>
        </p:nvSpPr>
        <p:spPr>
          <a:xfrm>
            <a:off x="2140541" y="2456078"/>
            <a:ext cx="967270"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SALUTATION</a:t>
            </a:r>
            <a:endParaRPr lang="en-US" sz="1100" dirty="0"/>
          </a:p>
        </p:txBody>
      </p:sp>
      <p:sp>
        <p:nvSpPr>
          <p:cNvPr id="20" name="Shape 16"/>
          <p:cNvSpPr/>
          <p:nvPr/>
        </p:nvSpPr>
        <p:spPr>
          <a:xfrm>
            <a:off x="4177589" y="2702966"/>
            <a:ext cx="914" cy="76200"/>
          </a:xfrm>
          <a:prstGeom prst="line">
            <a:avLst/>
          </a:prstGeom>
          <a:noFill/>
          <a:ln w="15875">
            <a:solidFill>
              <a:srgbClr val="7AB648"/>
            </a:solidFill>
            <a:prstDash val="solid"/>
          </a:ln>
        </p:spPr>
      </p:sp>
      <p:sp>
        <p:nvSpPr>
          <p:cNvPr id="21" name="Shape 17"/>
          <p:cNvSpPr/>
          <p:nvPr/>
        </p:nvSpPr>
        <p:spPr>
          <a:xfrm>
            <a:off x="3946671" y="2456078"/>
            <a:ext cx="461836" cy="246888"/>
          </a:xfrm>
          <a:prstGeom prst="roundRect">
            <a:avLst>
              <a:gd name="adj" fmla="val 14815"/>
            </a:avLst>
          </a:prstGeom>
          <a:solidFill>
            <a:srgbClr val="7AB648"/>
          </a:solidFill>
          <a:ln w="12700">
            <a:solidFill>
              <a:srgbClr val="FFFFFF">
                <a:alpha val="0"/>
              </a:srgbClr>
            </a:solidFill>
            <a:prstDash val="solid"/>
          </a:ln>
        </p:spPr>
      </p:sp>
      <p:sp>
        <p:nvSpPr>
          <p:cNvPr id="22" name="Text 18"/>
          <p:cNvSpPr txBox="1"/>
          <p:nvPr/>
        </p:nvSpPr>
        <p:spPr>
          <a:xfrm>
            <a:off x="3946671" y="2456078"/>
            <a:ext cx="461836"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ZIJN</a:t>
            </a:r>
            <a:endParaRPr lang="en-US" sz="1100" dirty="0"/>
          </a:p>
        </p:txBody>
      </p:sp>
      <p:sp>
        <p:nvSpPr>
          <p:cNvPr id="23" name="Shape 19"/>
          <p:cNvSpPr/>
          <p:nvPr/>
        </p:nvSpPr>
        <p:spPr>
          <a:xfrm>
            <a:off x="8709355" y="2702966"/>
            <a:ext cx="914" cy="76200"/>
          </a:xfrm>
          <a:prstGeom prst="line">
            <a:avLst/>
          </a:prstGeom>
          <a:noFill/>
          <a:ln w="15875">
            <a:solidFill>
              <a:srgbClr val="7AB648"/>
            </a:solidFill>
            <a:prstDash val="solid"/>
          </a:ln>
        </p:spPr>
      </p:sp>
      <p:sp>
        <p:nvSpPr>
          <p:cNvPr id="24" name="Shape 20"/>
          <p:cNvSpPr/>
          <p:nvPr/>
        </p:nvSpPr>
        <p:spPr>
          <a:xfrm>
            <a:off x="8362975" y="2456078"/>
            <a:ext cx="692760" cy="246888"/>
          </a:xfrm>
          <a:prstGeom prst="roundRect">
            <a:avLst>
              <a:gd name="adj" fmla="val 14815"/>
            </a:avLst>
          </a:prstGeom>
          <a:solidFill>
            <a:srgbClr val="7AB648"/>
          </a:solidFill>
          <a:ln w="12700">
            <a:solidFill>
              <a:srgbClr val="FFFFFF">
                <a:alpha val="0"/>
              </a:srgbClr>
            </a:solidFill>
            <a:prstDash val="solid"/>
          </a:ln>
        </p:spPr>
      </p:sp>
      <p:sp>
        <p:nvSpPr>
          <p:cNvPr id="25" name="Text 21"/>
          <p:cNvSpPr txBox="1"/>
          <p:nvPr/>
        </p:nvSpPr>
        <p:spPr>
          <a:xfrm>
            <a:off x="8362975" y="2456078"/>
            <a:ext cx="692760"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HEBBEN</a:t>
            </a:r>
            <a:endParaRPr lang="en-US" sz="1100" dirty="0"/>
          </a:p>
        </p:txBody>
      </p:sp>
      <p:sp>
        <p:nvSpPr>
          <p:cNvPr id="26" name="Text 22"/>
          <p:cNvSpPr txBox="1"/>
          <p:nvPr/>
        </p:nvSpPr>
        <p:spPr>
          <a:xfrm>
            <a:off x="1691640" y="3620414"/>
            <a:ext cx="1610563"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fiets. Sorry,</a:t>
            </a:r>
            <a:endParaRPr lang="en-US" sz="2400" dirty="0"/>
          </a:p>
        </p:txBody>
      </p:sp>
      <p:sp>
        <p:nvSpPr>
          <p:cNvPr id="27" name="Shape 23"/>
          <p:cNvSpPr/>
          <p:nvPr/>
        </p:nvSpPr>
        <p:spPr>
          <a:xfrm>
            <a:off x="3206496" y="3632606"/>
            <a:ext cx="1468222" cy="371856"/>
          </a:xfrm>
          <a:prstGeom prst="roundRect">
            <a:avLst>
              <a:gd name="adj" fmla="val 12295"/>
            </a:avLst>
          </a:prstGeom>
          <a:solidFill>
            <a:srgbClr val="E6F3DA"/>
          </a:solidFill>
          <a:ln w="12700">
            <a:solidFill>
              <a:srgbClr val="FFFFFF">
                <a:alpha val="0"/>
              </a:srgbClr>
            </a:solidFill>
            <a:prstDash val="solid"/>
          </a:ln>
        </p:spPr>
      </p:sp>
      <p:sp>
        <p:nvSpPr>
          <p:cNvPr id="28" name="Text 24"/>
          <p:cNvSpPr txBox="1"/>
          <p:nvPr/>
        </p:nvSpPr>
        <p:spPr>
          <a:xfrm>
            <a:off x="3206496" y="3620414"/>
            <a:ext cx="1468222"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jij hebt tijd</a:t>
            </a:r>
            <a:endParaRPr lang="en-US" sz="2400" dirty="0"/>
          </a:p>
        </p:txBody>
      </p:sp>
      <p:sp>
        <p:nvSpPr>
          <p:cNvPr id="29" name="Text 25"/>
          <p:cNvSpPr txBox="1"/>
          <p:nvPr/>
        </p:nvSpPr>
        <p:spPr>
          <a:xfrm>
            <a:off x="4674718" y="3620414"/>
            <a:ext cx="259080"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a:t>
            </a:r>
            <a:endParaRPr lang="en-US" sz="2400" dirty="0"/>
          </a:p>
        </p:txBody>
      </p:sp>
      <p:sp>
        <p:nvSpPr>
          <p:cNvPr id="30" name="Shape 26"/>
          <p:cNvSpPr/>
          <p:nvPr/>
        </p:nvSpPr>
        <p:spPr>
          <a:xfrm>
            <a:off x="4838090" y="3632606"/>
            <a:ext cx="1605382" cy="371856"/>
          </a:xfrm>
          <a:prstGeom prst="roundRect">
            <a:avLst>
              <a:gd name="adj" fmla="val 12295"/>
            </a:avLst>
          </a:prstGeom>
          <a:solidFill>
            <a:srgbClr val="E6F3DA"/>
          </a:solidFill>
          <a:ln w="12700">
            <a:solidFill>
              <a:srgbClr val="FFFFFF">
                <a:alpha val="0"/>
              </a:srgbClr>
            </a:solidFill>
            <a:prstDash val="solid"/>
          </a:ln>
        </p:spPr>
      </p:sp>
      <p:sp>
        <p:nvSpPr>
          <p:cNvPr id="31" name="Text 27"/>
          <p:cNvSpPr txBox="1"/>
          <p:nvPr/>
        </p:nvSpPr>
        <p:spPr>
          <a:xfrm>
            <a:off x="4838090" y="3620414"/>
            <a:ext cx="1605382"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maar ik niet</a:t>
            </a:r>
            <a:endParaRPr lang="en-US" sz="2400" dirty="0"/>
          </a:p>
        </p:txBody>
      </p:sp>
      <p:sp>
        <p:nvSpPr>
          <p:cNvPr id="32" name="Text 28"/>
          <p:cNvSpPr txBox="1"/>
          <p:nvPr/>
        </p:nvSpPr>
        <p:spPr>
          <a:xfrm>
            <a:off x="6443472" y="3620414"/>
            <a:ext cx="282245"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a:t>
            </a:r>
            <a:endParaRPr lang="en-US" sz="2400" dirty="0"/>
          </a:p>
        </p:txBody>
      </p:sp>
      <p:sp>
        <p:nvSpPr>
          <p:cNvPr id="33" name="Shape 29"/>
          <p:cNvSpPr/>
          <p:nvPr/>
        </p:nvSpPr>
        <p:spPr>
          <a:xfrm>
            <a:off x="3940607" y="3556406"/>
            <a:ext cx="914" cy="76200"/>
          </a:xfrm>
          <a:prstGeom prst="line">
            <a:avLst/>
          </a:prstGeom>
          <a:noFill/>
          <a:ln w="15875">
            <a:solidFill>
              <a:srgbClr val="7AB648"/>
            </a:solidFill>
            <a:prstDash val="solid"/>
          </a:ln>
        </p:spPr>
      </p:sp>
      <p:sp>
        <p:nvSpPr>
          <p:cNvPr id="34" name="Shape 30"/>
          <p:cNvSpPr/>
          <p:nvPr/>
        </p:nvSpPr>
        <p:spPr>
          <a:xfrm>
            <a:off x="3700539" y="3309518"/>
            <a:ext cx="480136" cy="246888"/>
          </a:xfrm>
          <a:prstGeom prst="roundRect">
            <a:avLst>
              <a:gd name="adj" fmla="val 14815"/>
            </a:avLst>
          </a:prstGeom>
          <a:solidFill>
            <a:srgbClr val="7AB648"/>
          </a:solidFill>
          <a:ln w="12700">
            <a:solidFill>
              <a:srgbClr val="FFFFFF">
                <a:alpha val="0"/>
              </a:srgbClr>
            </a:solidFill>
            <a:prstDash val="solid"/>
          </a:ln>
        </p:spPr>
      </p:sp>
      <p:sp>
        <p:nvSpPr>
          <p:cNvPr id="35" name="Text 31"/>
          <p:cNvSpPr txBox="1"/>
          <p:nvPr/>
        </p:nvSpPr>
        <p:spPr>
          <a:xfrm>
            <a:off x="3700539" y="3309518"/>
            <a:ext cx="480136"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JIJ …</a:t>
            </a:r>
            <a:endParaRPr lang="en-US" sz="1100" dirty="0"/>
          </a:p>
        </p:txBody>
      </p:sp>
      <p:sp>
        <p:nvSpPr>
          <p:cNvPr id="36" name="Shape 32"/>
          <p:cNvSpPr/>
          <p:nvPr/>
        </p:nvSpPr>
        <p:spPr>
          <a:xfrm>
            <a:off x="5640781" y="3556406"/>
            <a:ext cx="914" cy="76200"/>
          </a:xfrm>
          <a:prstGeom prst="line">
            <a:avLst/>
          </a:prstGeom>
          <a:noFill/>
          <a:ln w="15875">
            <a:solidFill>
              <a:srgbClr val="7AB648"/>
            </a:solidFill>
            <a:prstDash val="solid"/>
          </a:ln>
        </p:spPr>
      </p:sp>
      <p:sp>
        <p:nvSpPr>
          <p:cNvPr id="37" name="Shape 33"/>
          <p:cNvSpPr/>
          <p:nvPr/>
        </p:nvSpPr>
        <p:spPr>
          <a:xfrm>
            <a:off x="5273377" y="3309518"/>
            <a:ext cx="734809" cy="246888"/>
          </a:xfrm>
          <a:prstGeom prst="roundRect">
            <a:avLst>
              <a:gd name="adj" fmla="val 14815"/>
            </a:avLst>
          </a:prstGeom>
          <a:solidFill>
            <a:srgbClr val="7AB648"/>
          </a:solidFill>
          <a:ln w="12700">
            <a:solidFill>
              <a:srgbClr val="FFFFFF">
                <a:alpha val="0"/>
              </a:srgbClr>
            </a:solidFill>
            <a:prstDash val="solid"/>
          </a:ln>
        </p:spPr>
      </p:sp>
      <p:sp>
        <p:nvSpPr>
          <p:cNvPr id="38" name="Text 34"/>
          <p:cNvSpPr txBox="1"/>
          <p:nvPr/>
        </p:nvSpPr>
        <p:spPr>
          <a:xfrm>
            <a:off x="5273377" y="3309518"/>
            <a:ext cx="734809"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MAAR IK</a:t>
            </a:r>
            <a:endParaRPr lang="en-US" sz="1100" dirty="0"/>
          </a:p>
        </p:txBody>
      </p:sp>
      <p:sp>
        <p:nvSpPr>
          <p:cNvPr id="39" name="Shape 35"/>
          <p:cNvSpPr/>
          <p:nvPr/>
        </p:nvSpPr>
        <p:spPr>
          <a:xfrm>
            <a:off x="5867095" y="4687214"/>
            <a:ext cx="1562405" cy="371856"/>
          </a:xfrm>
          <a:prstGeom prst="roundRect">
            <a:avLst>
              <a:gd name="adj" fmla="val 12295"/>
            </a:avLst>
          </a:prstGeom>
          <a:solidFill>
            <a:srgbClr val="E6F3DA"/>
          </a:solidFill>
          <a:ln w="12700">
            <a:solidFill>
              <a:srgbClr val="FFFFFF">
                <a:alpha val="0"/>
              </a:srgbClr>
            </a:solidFill>
            <a:prstDash val="solid"/>
          </a:ln>
        </p:spPr>
      </p:sp>
      <p:sp>
        <p:nvSpPr>
          <p:cNvPr id="40" name="Text 36"/>
          <p:cNvSpPr txBox="1"/>
          <p:nvPr/>
        </p:nvSpPr>
        <p:spPr>
          <a:xfrm>
            <a:off x="5867095" y="4675022"/>
            <a:ext cx="1562405"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Tot morgen</a:t>
            </a:r>
            <a:endParaRPr lang="en-US" sz="2400" dirty="0"/>
          </a:p>
        </p:txBody>
      </p:sp>
      <p:sp>
        <p:nvSpPr>
          <p:cNvPr id="41" name="Text 37"/>
          <p:cNvSpPr txBox="1"/>
          <p:nvPr/>
        </p:nvSpPr>
        <p:spPr>
          <a:xfrm>
            <a:off x="7429500" y="4675022"/>
            <a:ext cx="282245"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a:t>
            </a:r>
            <a:endParaRPr lang="en-US" sz="2400" dirty="0"/>
          </a:p>
        </p:txBody>
      </p:sp>
      <p:sp>
        <p:nvSpPr>
          <p:cNvPr id="42" name="Shape 38"/>
          <p:cNvSpPr/>
          <p:nvPr/>
        </p:nvSpPr>
        <p:spPr>
          <a:xfrm>
            <a:off x="6648298" y="4611014"/>
            <a:ext cx="914" cy="76200"/>
          </a:xfrm>
          <a:prstGeom prst="line">
            <a:avLst/>
          </a:prstGeom>
          <a:noFill/>
          <a:ln w="15875">
            <a:solidFill>
              <a:srgbClr val="7AB648"/>
            </a:solidFill>
            <a:prstDash val="solid"/>
          </a:ln>
        </p:spPr>
      </p:sp>
      <p:sp>
        <p:nvSpPr>
          <p:cNvPr id="43" name="Shape 39"/>
          <p:cNvSpPr/>
          <p:nvPr/>
        </p:nvSpPr>
        <p:spPr>
          <a:xfrm>
            <a:off x="6329788" y="4364126"/>
            <a:ext cx="637019" cy="246888"/>
          </a:xfrm>
          <a:prstGeom prst="roundRect">
            <a:avLst>
              <a:gd name="adj" fmla="val 14815"/>
            </a:avLst>
          </a:prstGeom>
          <a:solidFill>
            <a:srgbClr val="7AB648"/>
          </a:solidFill>
          <a:ln w="12700">
            <a:solidFill>
              <a:srgbClr val="FFFFFF">
                <a:alpha val="0"/>
              </a:srgbClr>
            </a:solidFill>
            <a:prstDash val="solid"/>
          </a:ln>
        </p:spPr>
      </p:sp>
      <p:sp>
        <p:nvSpPr>
          <p:cNvPr id="44" name="Text 40"/>
          <p:cNvSpPr txBox="1"/>
          <p:nvPr/>
        </p:nvSpPr>
        <p:spPr>
          <a:xfrm>
            <a:off x="6329788" y="4364126"/>
            <a:ext cx="637019"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CONGÉ</a:t>
            </a:r>
            <a:endParaRPr lang="en-US" sz="1100" dirty="0"/>
          </a:p>
        </p:txBody>
      </p:sp>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1"/>
          <p:cNvSpPr/>
          <p:nvPr>
            <p:ph idx="101" type="title" hasCustomPrompt="1"/>
          </p:nvPr>
        </p:nvSpPr>
        <p:spPr>
          <a:xfrm>
            <a:off x="1554480" y="384048"/>
            <a:ext cx="10241280" cy="658368"/>
          </a:xfrm>
          <a:prstGeom prst="rect">
            <a:avLst/>
          </a:prstGeom>
          <a:noFill/>
          <a:ln/>
        </p:spPr>
        <p:txBody>
          <a:bodyPr wrap="square" lIns="0" tIns="0" rIns="0" bIns="0" rtlCol="0" anchor="ctr"/>
          <a:lstStyle/>
          <a:p>
            <a:pPr algn="ctr" indent="0" marL="0">
              <a:buNone/>
            </a:pPr>
            <a:r>
              <a:rPr lang="en-US" sz="3000" b="1" dirty="0">
                <a:solidFill>
                  <a:srgbClr val="2B2F38"/>
                </a:solidFill>
              </a:rPr>
              <a:t>Grammaire · palier A1</a:t>
            </a:r>
            <a:endParaRPr lang="en-US" sz="3000" dirty="0"/>
          </a:p>
        </p:txBody>
      </p:sp>
      <p:sp>
        <p:nvSpPr>
          <p:cNvPr id="4" name="Shape 1"/>
          <p:cNvSpPr/>
          <p:nvPr/>
        </p:nvSpPr>
        <p:spPr>
          <a:xfrm>
            <a:off x="365760" y="365760"/>
            <a:ext cx="868680" cy="5989320"/>
          </a:xfrm>
          <a:prstGeom prst="roundRect">
            <a:avLst>
              <a:gd name="adj" fmla="val 12632"/>
            </a:avLst>
          </a:prstGeom>
          <a:solidFill>
            <a:srgbClr val="E4EEFB"/>
          </a:solidFill>
          <a:ln w="28575">
            <a:solidFill>
              <a:srgbClr val="6FA0DC"/>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3E6FB0"/>
                </a:solidFill>
                <a:latin typeface="Calibri" pitchFamily="34" charset="0"/>
                <a:ea typeface="Calibri" pitchFamily="34" charset="-122"/>
                <a:cs typeface="Calibri" pitchFamily="34" charset="-120"/>
              </a:rPr>
              <a:t>A1 · Grammaire</a:t>
            </a:r>
            <a:endParaRPr lang="en-US" sz="3800" dirty="0"/>
          </a:p>
        </p:txBody>
      </p:sp>
      <p:sp>
        <p:nvSpPr>
          <p:cNvPr id="6" name="Shape 3"/>
          <p:cNvSpPr/>
          <p:nvPr/>
        </p:nvSpPr>
        <p:spPr>
          <a:xfrm>
            <a:off x="1554480" y="1371600"/>
            <a:ext cx="3017520" cy="4892040"/>
          </a:xfrm>
          <a:prstGeom prst="roundRect">
            <a:avLst>
              <a:gd name="adj" fmla="val 3636"/>
            </a:avLst>
          </a:prstGeom>
          <a:solidFill>
            <a:srgbClr val="E4EEFB"/>
          </a:solidFill>
          <a:ln w="15875">
            <a:solidFill>
              <a:srgbClr val="6FA0DC"/>
            </a:solidFill>
            <a:prstDash val="solid"/>
          </a:ln>
        </p:spPr>
      </p:sp>
      <p:sp>
        <p:nvSpPr>
          <p:cNvPr id="7" name="Text 4"/>
          <p:cNvSpPr txBox="1"/>
          <p:nvPr/>
        </p:nvSpPr>
        <p:spPr>
          <a:xfrm>
            <a:off x="1737360" y="1481328"/>
            <a:ext cx="2743200" cy="411480"/>
          </a:xfrm>
          <a:prstGeom prst="rect">
            <a:avLst/>
          </a:prstGeom>
          <a:noFill/>
          <a:ln/>
        </p:spPr>
        <p:txBody>
          <a:bodyPr wrap="square" lIns="0" tIns="0" rIns="0" bIns="0" rtlCol="0" anchor="ctr"/>
          <a:lstStyle/>
          <a:p>
            <a:pPr algn="l" indent="0" marL="0">
              <a:buNone/>
            </a:pPr>
            <a:r>
              <a:rPr lang="en-US" sz="1600" b="1" dirty="0">
                <a:solidFill>
                  <a:srgbClr val="3E6FB0"/>
                </a:solidFill>
                <a:latin typeface="Calibri" pitchFamily="34" charset="0"/>
                <a:ea typeface="Calibri" pitchFamily="34" charset="-122"/>
                <a:cs typeface="Calibri" pitchFamily="34" charset="-120"/>
              </a:rPr>
              <a:t>Ce qu’on travaille</a:t>
            </a:r>
            <a:endParaRPr lang="en-US" sz="1600" dirty="0"/>
          </a:p>
        </p:txBody>
      </p:sp>
      <p:sp>
        <p:nvSpPr>
          <p:cNvPr id="8" name="Text 5"/>
          <p:cNvSpPr txBox="1"/>
          <p:nvPr/>
        </p:nvSpPr>
        <p:spPr>
          <a:xfrm>
            <a:off x="1737360" y="1920240"/>
            <a:ext cx="2743200" cy="3749040"/>
          </a:xfrm>
          <a:prstGeom prst="rect">
            <a:avLst/>
          </a:prstGeom>
          <a:noFill/>
          <a:ln/>
        </p:spPr>
        <p:txBody>
          <a:bodyPr wrap="square" lIns="0" tIns="0" rIns="0" bIns="0" rtlCol="0" anchor="t"/>
          <a:lstStyle/>
          <a:p>
            <a:pPr algn="l" marL="177800" indent="-177800">
              <a:spcAft>
                <a:spcPts val="500"/>
              </a:spcAft>
              <a:buSzPct val="100000"/>
              <a:buChar char="•"/>
            </a:pPr>
            <a:r>
              <a:rPr lang="en-US" sz="1250" b="1" dirty="0">
                <a:solidFill>
                  <a:srgbClr val="2B2F38"/>
                </a:solidFill>
              </a:rPr>
              <a:t>de / het / een</a:t>
            </a:r>
            <a:endParaRPr lang="en-US" sz="1250" dirty="0"/>
          </a:p>
          <a:p>
            <a:pPr algn="l" marL="177800" indent="-177800">
              <a:spcAft>
                <a:spcPts val="500"/>
              </a:spcAft>
              <a:buSzPct val="100000"/>
              <a:buChar char="•"/>
            </a:pPr>
            <a:r>
              <a:rPr lang="en-US" sz="1250" dirty="0">
                <a:solidFill>
                  <a:srgbClr val="2B2F38"/>
                </a:solidFill>
              </a:rPr>
              <a:t>le </a:t>
            </a:r>
            <a:r>
              <a:rPr lang="en-US" sz="1250" b="1" dirty="0">
                <a:solidFill>
                  <a:srgbClr val="2B2F38"/>
                </a:solidFill>
              </a:rPr>
              <a:t>pluriel</a:t>
            </a:r>
            <a:r>
              <a:rPr lang="en-US" sz="1250" dirty="0">
                <a:solidFill>
                  <a:srgbClr val="2B2F38"/>
                </a:solidFill>
              </a:rPr>
              <a:t> : -en, -s</a:t>
            </a:r>
            <a:endParaRPr lang="en-US" sz="1250" dirty="0"/>
          </a:p>
          <a:p>
            <a:pPr algn="l" marL="177800" indent="-177800">
              <a:spcAft>
                <a:spcPts val="500"/>
              </a:spcAft>
              <a:buSzPct val="100000"/>
              <a:buChar char="•"/>
            </a:pPr>
            <a:r>
              <a:rPr lang="en-US" sz="1250" b="1" dirty="0">
                <a:solidFill>
                  <a:srgbClr val="2B2F38"/>
                </a:solidFill>
              </a:rPr>
              <a:t>deze · dit · die · dat</a:t>
            </a:r>
            <a:r>
              <a:rPr lang="en-US" sz="1250" dirty="0">
                <a:solidFill>
                  <a:srgbClr val="2B2F38"/>
                </a:solidFill>
              </a:rPr>
              <a:t> · </a:t>
            </a:r>
            <a:r>
              <a:rPr lang="en-US" sz="1250" b="1" dirty="0">
                <a:solidFill>
                  <a:srgbClr val="2B2F38"/>
                </a:solidFill>
              </a:rPr>
              <a:t>mijn…</a:t>
            </a:r>
            <a:endParaRPr lang="en-US" sz="1250" dirty="0"/>
          </a:p>
          <a:p>
            <a:pPr algn="l" marL="177800" indent="-177800">
              <a:spcAft>
                <a:spcPts val="500"/>
              </a:spcAft>
              <a:buSzPct val="100000"/>
              <a:buChar char="•"/>
            </a:pPr>
            <a:r>
              <a:rPr lang="en-US" sz="1250" dirty="0">
                <a:solidFill>
                  <a:srgbClr val="2B2F38"/>
                </a:solidFill>
              </a:rPr>
              <a:t>l’</a:t>
            </a:r>
            <a:r>
              <a:rPr lang="en-US" sz="1250" b="1" dirty="0">
                <a:solidFill>
                  <a:srgbClr val="2B2F38"/>
                </a:solidFill>
              </a:rPr>
              <a:t>adjectif</a:t>
            </a:r>
            <a:r>
              <a:rPr lang="en-US" sz="1250" dirty="0">
                <a:solidFill>
                  <a:srgbClr val="2B2F38"/>
                </a:solidFill>
              </a:rPr>
              <a:t> : -e devant le nom</a:t>
            </a:r>
            <a:endParaRPr lang="en-US" sz="1250" dirty="0"/>
          </a:p>
          <a:p>
            <a:pPr algn="l" marL="177800" indent="-177800">
              <a:spcAft>
                <a:spcPts val="500"/>
              </a:spcAft>
              <a:buSzPct val="100000"/>
              <a:buChar char="•"/>
            </a:pPr>
            <a:r>
              <a:rPr lang="en-US" sz="1250" b="1" dirty="0">
                <a:solidFill>
                  <a:srgbClr val="2B2F38"/>
                </a:solidFill>
              </a:rPr>
              <a:t>vraagwoorden</a:t>
            </a:r>
            <a:r>
              <a:rPr lang="en-US" sz="1250" dirty="0">
                <a:solidFill>
                  <a:srgbClr val="2B2F38"/>
                </a:solidFill>
              </a:rPr>
              <a:t> : wie, wat, waar…</a:t>
            </a:r>
            <a:endParaRPr lang="en-US" sz="1250" dirty="0"/>
          </a:p>
          <a:p>
            <a:pPr algn="l" marL="177800" indent="-177800">
              <a:spcAft>
                <a:spcPts val="500"/>
              </a:spcAft>
              <a:buSzPct val="100000"/>
              <a:buChar char="•"/>
            </a:pPr>
            <a:r>
              <a:rPr lang="en-US" sz="1250" b="1" dirty="0">
                <a:solidFill>
                  <a:srgbClr val="2B2F38"/>
                </a:solidFill>
              </a:rPr>
              <a:t>niet</a:t>
            </a:r>
            <a:r>
              <a:rPr lang="en-US" sz="1250" dirty="0">
                <a:solidFill>
                  <a:srgbClr val="2B2F38"/>
                </a:solidFill>
              </a:rPr>
              <a:t> ou </a:t>
            </a:r>
            <a:r>
              <a:rPr lang="en-US" sz="1250" b="1" dirty="0">
                <a:solidFill>
                  <a:srgbClr val="2B2F38"/>
                </a:solidFill>
              </a:rPr>
              <a:t>geen</a:t>
            </a:r>
            <a:r>
              <a:rPr lang="en-US" sz="1250" dirty="0">
                <a:solidFill>
                  <a:srgbClr val="2B2F38"/>
                </a:solidFill>
              </a:rPr>
              <a:t> ?</a:t>
            </a:r>
            <a:endParaRPr lang="en-US" sz="1250" dirty="0"/>
          </a:p>
          <a:p>
            <a:pPr algn="l" marL="177800" indent="-177800">
              <a:spcAft>
                <a:spcPts val="500"/>
              </a:spcAft>
              <a:buSzPct val="100000"/>
              <a:buChar char="•"/>
            </a:pPr>
            <a:r>
              <a:rPr lang="en-US" sz="1250" b="1" dirty="0">
                <a:solidFill>
                  <a:srgbClr val="2B2F38"/>
                </a:solidFill>
              </a:rPr>
              <a:t>l’heure</a:t>
            </a:r>
            <a:r>
              <a:rPr lang="en-US" sz="1250" dirty="0">
                <a:solidFill>
                  <a:srgbClr val="2B2F38"/>
                </a:solidFill>
              </a:rPr>
              <a:t> : om … uur, half …</a:t>
            </a:r>
            <a:endParaRPr lang="en-US" sz="1250" dirty="0"/>
          </a:p>
          <a:p>
            <a:pPr algn="l" marL="177800" indent="-177800">
              <a:spcAft>
                <a:spcPts val="500"/>
              </a:spcAft>
              <a:buSzPct val="100000"/>
              <a:buChar char="•"/>
            </a:pPr>
            <a:r>
              <a:rPr lang="en-US" sz="1250" b="1" dirty="0">
                <a:solidFill>
                  <a:srgbClr val="2B2F38"/>
                </a:solidFill>
              </a:rPr>
              <a:t>in · op · bij · naar</a:t>
            </a:r>
            <a:endParaRPr lang="en-US" sz="1250" dirty="0"/>
          </a:p>
          <a:p>
            <a:pPr algn="l" marL="177800" indent="-177800">
              <a:spcAft>
                <a:spcPts val="500"/>
              </a:spcAft>
              <a:buSzPct val="100000"/>
              <a:buChar char="•"/>
            </a:pPr>
            <a:r>
              <a:rPr lang="en-US" sz="1250" dirty="0">
                <a:solidFill>
                  <a:srgbClr val="2B2F38"/>
                </a:solidFill>
              </a:rPr>
              <a:t>les </a:t>
            </a:r>
            <a:r>
              <a:rPr lang="en-US" sz="1250" b="1" dirty="0">
                <a:solidFill>
                  <a:srgbClr val="2B2F38"/>
                </a:solidFill>
              </a:rPr>
              <a:t>diminutifs</a:t>
            </a:r>
            <a:r>
              <a:rPr lang="en-US" sz="1250" dirty="0">
                <a:solidFill>
                  <a:srgbClr val="2B2F38"/>
                </a:solidFill>
              </a:rPr>
              <a:t> (-je)</a:t>
            </a:r>
            <a:endParaRPr lang="en-US" sz="1250" dirty="0"/>
          </a:p>
          <a:p>
            <a:pPr algn="l" marL="177800" indent="-177800">
              <a:spcAft>
                <a:spcPts val="500"/>
              </a:spcAft>
              <a:buSzPct val="100000"/>
              <a:buChar char="•"/>
            </a:pPr>
            <a:r>
              <a:rPr lang="en-US" sz="1250" dirty="0">
                <a:solidFill>
                  <a:srgbClr val="2B2F38"/>
                </a:solidFill>
              </a:rPr>
              <a:t>l’</a:t>
            </a:r>
            <a:r>
              <a:rPr lang="en-US" sz="1250" b="1" dirty="0">
                <a:solidFill>
                  <a:srgbClr val="2B2F38"/>
                </a:solidFill>
              </a:rPr>
              <a:t>impératif</a:t>
            </a:r>
            <a:r>
              <a:rPr lang="en-US" sz="1250" dirty="0">
                <a:solidFill>
                  <a:srgbClr val="2B2F38"/>
                </a:solidFill>
              </a:rPr>
              <a:t> poli</a:t>
            </a:r>
            <a:endParaRPr lang="en-US" sz="1250" dirty="0"/>
          </a:p>
        </p:txBody>
      </p:sp>
      <p:sp>
        <p:nvSpPr>
          <p:cNvPr id="9" name="Text 6"/>
          <p:cNvSpPr txBox="1"/>
          <p:nvPr/>
        </p:nvSpPr>
        <p:spPr>
          <a:xfrm>
            <a:off x="1737360" y="5760720"/>
            <a:ext cx="2743200" cy="365760"/>
          </a:xfrm>
          <a:prstGeom prst="rect">
            <a:avLst/>
          </a:prstGeom>
          <a:noFill/>
          <a:ln/>
        </p:spPr>
        <p:txBody>
          <a:bodyPr wrap="square" lIns="0" tIns="0" rIns="0" bIns="0" rtlCol="0" anchor="ctr"/>
          <a:lstStyle/>
          <a:p>
            <a:pPr algn="l" indent="0" marL="0">
              <a:buNone/>
            </a:pPr>
            <a:r>
              <a:rPr lang="en-US" sz="1100" i="1" dirty="0">
                <a:solidFill>
                  <a:srgbClr val="3E6FB0"/>
                </a:solidFill>
                <a:latin typeface="Calibri" pitchFamily="34" charset="0"/>
                <a:ea typeface="Calibri" pitchFamily="34" charset="-122"/>
                <a:cs typeface="Calibri" pitchFamily="34" charset="-120"/>
              </a:rPr>
              <a:t>syllabus, section 2 · p. 58 – 67</a:t>
            </a:r>
            <a:endParaRPr lang="en-US" sz="1100" dirty="0"/>
          </a:p>
        </p:txBody>
      </p:sp>
      <p:sp>
        <p:nvSpPr>
          <p:cNvPr id="10" name="Shape 7"/>
          <p:cNvSpPr/>
          <p:nvPr/>
        </p:nvSpPr>
        <p:spPr>
          <a:xfrm>
            <a:off x="4809744" y="1695498"/>
            <a:ext cx="1707642" cy="1094708"/>
          </a:xfrm>
          <a:prstGeom prst="roundRect">
            <a:avLst>
              <a:gd name="adj" fmla="val 3341"/>
            </a:avLst>
          </a:prstGeom>
          <a:solidFill>
            <a:srgbClr val="FFFFFF"/>
          </a:solidFill>
          <a:ln w="9525">
            <a:solidFill>
              <a:srgbClr val="E3E7EE"/>
            </a:solidFill>
            <a:prstDash val="solid"/>
          </a:ln>
          <a:effectLst>
            <a:outerShdw sx="100000" sy="100000" kx="0" ky="0" algn="bl" rotWithShape="0" blurRad="63500" dist="25400" dir="5400000">
              <a:srgbClr val="1B2430">
                <a:alpha val="25000"/>
              </a:srgbClr>
            </a:outerShdw>
          </a:effectLst>
        </p:spPr>
      </p:sp>
      <p:pic>
        <p:nvPicPr>
          <p:cNvPr id="11" name="Image 0" descr="/home/user/talenleren/neerlandais1/generateur/img/vijfzinnen/a1_ontbijttafel_s.jpg">    </p:cNvPr>
          <p:cNvPicPr>
            <a:picLocks noChangeAspect="1"/>
          </p:cNvPicPr>
          <p:nvPr/>
        </p:nvPicPr>
        <p:blipFill>
          <a:blip r:embed="rId1"/>
          <a:stretch>
            <a:fillRect/>
          </a:stretch>
        </p:blipFill>
        <p:spPr>
          <a:xfrm>
            <a:off x="4846320" y="1732074"/>
            <a:ext cx="1634490" cy="1021556"/>
          </a:xfrm>
          <a:prstGeom prst="rect">
            <a:avLst/>
          </a:prstGeom>
        </p:spPr>
      </p:pic>
      <p:sp>
        <p:nvSpPr>
          <p:cNvPr id="12" name="Text 8"/>
          <p:cNvSpPr txBox="1"/>
          <p:nvPr/>
        </p:nvSpPr>
        <p:spPr>
          <a:xfrm>
            <a:off x="4818888" y="2817638"/>
            <a:ext cx="1689354" cy="274320"/>
          </a:xfrm>
          <a:prstGeom prst="rect">
            <a:avLst/>
          </a:prstGeom>
          <a:noFill/>
          <a:ln/>
        </p:spPr>
        <p:txBody>
          <a:bodyPr wrap="square" lIns="0" tIns="0" rIns="0" bIns="0" rtlCol="0" anchor="t"/>
          <a:lstStyle/>
          <a:p>
            <a:pPr algn="l" indent="0" marL="0">
              <a:buNone/>
            </a:pPr>
            <a:r>
              <a:rPr lang="en-US" sz="1050" b="1" dirty="0">
                <a:solidFill>
                  <a:srgbClr val="2B2F38"/>
                </a:solidFill>
                <a:latin typeface="Calibri" pitchFamily="34" charset="0"/>
                <a:ea typeface="Calibri" pitchFamily="34" charset="-122"/>
                <a:cs typeface="Calibri" pitchFamily="34" charset="-120"/>
              </a:rPr>
              <a:t>15 · De of het?</a:t>
            </a:r>
            <a:endParaRPr lang="en-US" sz="1050" dirty="0"/>
          </a:p>
        </p:txBody>
      </p:sp>
      <p:pic>
        <p:nvPicPr>
          <p:cNvPr id="13" name="Image 1" descr="PenNib">    </p:cNvPr>
          <p:cNvPicPr>
            <a:picLocks noChangeAspect="1"/>
          </p:cNvPicPr>
          <p:nvPr/>
        </p:nvPicPr>
        <p:blipFill>
          <a:blip r:embed="rId2"/>
          <a:stretch>
            <a:fillRect/>
          </a:stretch>
        </p:blipFill>
        <p:spPr>
          <a:xfrm>
            <a:off x="6261354" y="1786938"/>
            <a:ext cx="155448" cy="155448"/>
          </a:xfrm>
          <a:prstGeom prst="rect">
            <a:avLst/>
          </a:prstGeom>
        </p:spPr>
      </p:pic>
      <p:sp>
        <p:nvSpPr>
          <p:cNvPr id="14" name="Shape 9"/>
          <p:cNvSpPr/>
          <p:nvPr/>
        </p:nvSpPr>
        <p:spPr>
          <a:xfrm>
            <a:off x="6581394" y="1695498"/>
            <a:ext cx="1707642" cy="1094708"/>
          </a:xfrm>
          <a:prstGeom prst="roundRect">
            <a:avLst>
              <a:gd name="adj" fmla="val 3341"/>
            </a:avLst>
          </a:prstGeom>
          <a:solidFill>
            <a:srgbClr val="FFFFFF"/>
          </a:solidFill>
          <a:ln w="9525">
            <a:solidFill>
              <a:srgbClr val="E3E7EE"/>
            </a:solidFill>
            <a:prstDash val="solid"/>
          </a:ln>
          <a:effectLst>
            <a:outerShdw sx="100000" sy="100000" kx="0" ky="0" algn="bl" rotWithShape="0" blurRad="63500" dist="25400" dir="5400000">
              <a:srgbClr val="1B2430">
                <a:alpha val="25000"/>
              </a:srgbClr>
            </a:outerShdw>
          </a:effectLst>
        </p:spPr>
      </p:sp>
      <p:pic>
        <p:nvPicPr>
          <p:cNvPr id="15" name="Image 2" descr="/home/user/talenleren/neerlandais1/generateur/img/vijfzinnen/a1_bakker_s.jpg">    </p:cNvPr>
          <p:cNvPicPr>
            <a:picLocks noChangeAspect="1"/>
          </p:cNvPicPr>
          <p:nvPr/>
        </p:nvPicPr>
        <p:blipFill>
          <a:blip r:embed="rId3"/>
          <a:stretch>
            <a:fillRect/>
          </a:stretch>
        </p:blipFill>
        <p:spPr>
          <a:xfrm>
            <a:off x="6617970" y="1732074"/>
            <a:ext cx="1634490" cy="1021556"/>
          </a:xfrm>
          <a:prstGeom prst="rect">
            <a:avLst/>
          </a:prstGeom>
        </p:spPr>
      </p:pic>
      <p:sp>
        <p:nvSpPr>
          <p:cNvPr id="16" name="Text 10"/>
          <p:cNvSpPr txBox="1"/>
          <p:nvPr/>
        </p:nvSpPr>
        <p:spPr>
          <a:xfrm>
            <a:off x="6590538" y="2817638"/>
            <a:ext cx="1689354" cy="274320"/>
          </a:xfrm>
          <a:prstGeom prst="rect">
            <a:avLst/>
          </a:prstGeom>
          <a:noFill/>
          <a:ln/>
        </p:spPr>
        <p:txBody>
          <a:bodyPr wrap="square" lIns="0" tIns="0" rIns="0" bIns="0" rtlCol="0" anchor="t"/>
          <a:lstStyle/>
          <a:p>
            <a:pPr algn="l" indent="0" marL="0">
              <a:buNone/>
            </a:pPr>
            <a:r>
              <a:rPr lang="en-US" sz="1050" b="1" dirty="0">
                <a:solidFill>
                  <a:srgbClr val="2B2F38"/>
                </a:solidFill>
                <a:latin typeface="Calibri" pitchFamily="34" charset="0"/>
                <a:ea typeface="Calibri" pitchFamily="34" charset="-122"/>
                <a:cs typeface="Calibri" pitchFamily="34" charset="-120"/>
              </a:rPr>
              <a:t>16 · Bij de bakker</a:t>
            </a:r>
            <a:endParaRPr lang="en-US" sz="1050" dirty="0"/>
          </a:p>
        </p:txBody>
      </p:sp>
      <p:pic>
        <p:nvPicPr>
          <p:cNvPr id="17" name="Image 3" descr="PenNib">    </p:cNvPr>
          <p:cNvPicPr>
            <a:picLocks noChangeAspect="1"/>
          </p:cNvPicPr>
          <p:nvPr/>
        </p:nvPicPr>
        <p:blipFill>
          <a:blip r:embed="rId4"/>
          <a:stretch>
            <a:fillRect/>
          </a:stretch>
        </p:blipFill>
        <p:spPr>
          <a:xfrm>
            <a:off x="8033004" y="1786938"/>
            <a:ext cx="155448" cy="155448"/>
          </a:xfrm>
          <a:prstGeom prst="rect">
            <a:avLst/>
          </a:prstGeom>
        </p:spPr>
      </p:pic>
      <p:sp>
        <p:nvSpPr>
          <p:cNvPr id="18" name="Shape 11"/>
          <p:cNvSpPr/>
          <p:nvPr/>
        </p:nvSpPr>
        <p:spPr>
          <a:xfrm>
            <a:off x="8353044" y="1695498"/>
            <a:ext cx="1707642" cy="1094708"/>
          </a:xfrm>
          <a:prstGeom prst="roundRect">
            <a:avLst>
              <a:gd name="adj" fmla="val 3341"/>
            </a:avLst>
          </a:prstGeom>
          <a:solidFill>
            <a:srgbClr val="FFFFFF"/>
          </a:solidFill>
          <a:ln w="9525">
            <a:solidFill>
              <a:srgbClr val="E3E7EE"/>
            </a:solidFill>
            <a:prstDash val="solid"/>
          </a:ln>
          <a:effectLst>
            <a:outerShdw sx="100000" sy="100000" kx="0" ky="0" algn="bl" rotWithShape="0" blurRad="63500" dist="25400" dir="5400000">
              <a:srgbClr val="1B2430">
                <a:alpha val="25000"/>
              </a:srgbClr>
            </a:outerShdw>
          </a:effectLst>
        </p:spPr>
      </p:sp>
      <p:pic>
        <p:nvPicPr>
          <p:cNvPr id="19" name="Image 4" descr="/home/user/talenleren/neerlandais1/generateur/img/vijfzinnen/a1_spullen_s.jpg">    </p:cNvPr>
          <p:cNvPicPr>
            <a:picLocks noChangeAspect="1"/>
          </p:cNvPicPr>
          <p:nvPr/>
        </p:nvPicPr>
        <p:blipFill>
          <a:blip r:embed="rId5"/>
          <a:stretch>
            <a:fillRect/>
          </a:stretch>
        </p:blipFill>
        <p:spPr>
          <a:xfrm>
            <a:off x="8389620" y="1732074"/>
            <a:ext cx="1634490" cy="1021556"/>
          </a:xfrm>
          <a:prstGeom prst="rect">
            <a:avLst/>
          </a:prstGeom>
        </p:spPr>
      </p:pic>
      <p:sp>
        <p:nvSpPr>
          <p:cNvPr id="20" name="Text 12"/>
          <p:cNvSpPr txBox="1"/>
          <p:nvPr/>
        </p:nvSpPr>
        <p:spPr>
          <a:xfrm>
            <a:off x="8362188" y="2817638"/>
            <a:ext cx="1689354" cy="274320"/>
          </a:xfrm>
          <a:prstGeom prst="rect">
            <a:avLst/>
          </a:prstGeom>
          <a:noFill/>
          <a:ln/>
        </p:spPr>
        <p:txBody>
          <a:bodyPr wrap="square" lIns="0" tIns="0" rIns="0" bIns="0" rtlCol="0" anchor="t"/>
          <a:lstStyle/>
          <a:p>
            <a:pPr algn="l" indent="0" marL="0">
              <a:buNone/>
            </a:pPr>
            <a:r>
              <a:rPr lang="en-US" sz="1050" b="1" dirty="0">
                <a:solidFill>
                  <a:srgbClr val="2B2F38"/>
                </a:solidFill>
                <a:latin typeface="Calibri" pitchFamily="34" charset="0"/>
                <a:ea typeface="Calibri" pitchFamily="34" charset="-122"/>
                <a:cs typeface="Calibri" pitchFamily="34" charset="-120"/>
              </a:rPr>
              <a:t>17 · Waar is mijn gsm?</a:t>
            </a:r>
            <a:endParaRPr lang="en-US" sz="1050" dirty="0"/>
          </a:p>
        </p:txBody>
      </p:sp>
      <p:pic>
        <p:nvPicPr>
          <p:cNvPr id="21" name="Image 5" descr="Comments">    </p:cNvPr>
          <p:cNvPicPr>
            <a:picLocks noChangeAspect="1"/>
          </p:cNvPicPr>
          <p:nvPr/>
        </p:nvPicPr>
        <p:blipFill>
          <a:blip r:embed="rId6"/>
          <a:stretch>
            <a:fillRect/>
          </a:stretch>
        </p:blipFill>
        <p:spPr>
          <a:xfrm>
            <a:off x="9804654" y="1786938"/>
            <a:ext cx="155448" cy="155448"/>
          </a:xfrm>
          <a:prstGeom prst="rect">
            <a:avLst/>
          </a:prstGeom>
        </p:spPr>
      </p:pic>
      <p:sp>
        <p:nvSpPr>
          <p:cNvPr id="22" name="Shape 13"/>
          <p:cNvSpPr/>
          <p:nvPr/>
        </p:nvSpPr>
        <p:spPr>
          <a:xfrm>
            <a:off x="10124694" y="1695498"/>
            <a:ext cx="1707642" cy="1094708"/>
          </a:xfrm>
          <a:prstGeom prst="roundRect">
            <a:avLst>
              <a:gd name="adj" fmla="val 3341"/>
            </a:avLst>
          </a:prstGeom>
          <a:solidFill>
            <a:srgbClr val="FFFFFF"/>
          </a:solidFill>
          <a:ln w="9525">
            <a:solidFill>
              <a:srgbClr val="E3E7EE"/>
            </a:solidFill>
            <a:prstDash val="solid"/>
          </a:ln>
          <a:effectLst>
            <a:outerShdw sx="100000" sy="100000" kx="0" ky="0" algn="bl" rotWithShape="0" blurRad="63500" dist="25400" dir="5400000">
              <a:srgbClr val="1B2430">
                <a:alpha val="25000"/>
              </a:srgbClr>
            </a:outerShdw>
          </a:effectLst>
        </p:spPr>
      </p:sp>
      <p:pic>
        <p:nvPicPr>
          <p:cNvPr id="23" name="Image 6" descr="/home/user/talenleren/neerlandais1/generateur/img/vijfzinnen/a1_huisvansarah_s.jpg">    </p:cNvPr>
          <p:cNvPicPr>
            <a:picLocks noChangeAspect="1"/>
          </p:cNvPicPr>
          <p:nvPr/>
        </p:nvPicPr>
        <p:blipFill>
          <a:blip r:embed="rId7"/>
          <a:stretch>
            <a:fillRect/>
          </a:stretch>
        </p:blipFill>
        <p:spPr>
          <a:xfrm>
            <a:off x="10161270" y="1732074"/>
            <a:ext cx="1634490" cy="1021556"/>
          </a:xfrm>
          <a:prstGeom prst="rect">
            <a:avLst/>
          </a:prstGeom>
        </p:spPr>
      </p:pic>
      <p:sp>
        <p:nvSpPr>
          <p:cNvPr id="24" name="Text 14"/>
          <p:cNvSpPr txBox="1"/>
          <p:nvPr/>
        </p:nvSpPr>
        <p:spPr>
          <a:xfrm>
            <a:off x="10133838" y="2817638"/>
            <a:ext cx="1689354" cy="274320"/>
          </a:xfrm>
          <a:prstGeom prst="rect">
            <a:avLst/>
          </a:prstGeom>
          <a:noFill/>
          <a:ln/>
        </p:spPr>
        <p:txBody>
          <a:bodyPr wrap="square" lIns="0" tIns="0" rIns="0" bIns="0" rtlCol="0" anchor="t"/>
          <a:lstStyle/>
          <a:p>
            <a:pPr algn="l" indent="0" marL="0">
              <a:buNone/>
            </a:pPr>
            <a:r>
              <a:rPr lang="en-US" sz="1050" b="1" dirty="0">
                <a:solidFill>
                  <a:srgbClr val="2B2F38"/>
                </a:solidFill>
                <a:latin typeface="Calibri" pitchFamily="34" charset="0"/>
                <a:ea typeface="Calibri" pitchFamily="34" charset="-122"/>
                <a:cs typeface="Calibri" pitchFamily="34" charset="-120"/>
              </a:rPr>
              <a:t>18 · Het huis van Sarah</a:t>
            </a:r>
            <a:endParaRPr lang="en-US" sz="1050" dirty="0"/>
          </a:p>
        </p:txBody>
      </p:sp>
      <p:pic>
        <p:nvPicPr>
          <p:cNvPr id="25" name="Image 7" descr="PenNib">    </p:cNvPr>
          <p:cNvPicPr>
            <a:picLocks noChangeAspect="1"/>
          </p:cNvPicPr>
          <p:nvPr/>
        </p:nvPicPr>
        <p:blipFill>
          <a:blip r:embed="rId8"/>
          <a:stretch>
            <a:fillRect/>
          </a:stretch>
        </p:blipFill>
        <p:spPr>
          <a:xfrm>
            <a:off x="11576304" y="1786938"/>
            <a:ext cx="155448" cy="155448"/>
          </a:xfrm>
          <a:prstGeom prst="rect">
            <a:avLst/>
          </a:prstGeom>
        </p:spPr>
      </p:pic>
      <p:sp>
        <p:nvSpPr>
          <p:cNvPr id="26" name="Shape 15"/>
          <p:cNvSpPr/>
          <p:nvPr/>
        </p:nvSpPr>
        <p:spPr>
          <a:xfrm>
            <a:off x="4809744" y="3101102"/>
            <a:ext cx="1707642" cy="1094708"/>
          </a:xfrm>
          <a:prstGeom prst="roundRect">
            <a:avLst>
              <a:gd name="adj" fmla="val 3341"/>
            </a:avLst>
          </a:prstGeom>
          <a:solidFill>
            <a:srgbClr val="FFFFFF"/>
          </a:solidFill>
          <a:ln w="9525">
            <a:solidFill>
              <a:srgbClr val="E3E7EE"/>
            </a:solidFill>
            <a:prstDash val="solid"/>
          </a:ln>
          <a:effectLst>
            <a:outerShdw sx="100000" sy="100000" kx="0" ky="0" algn="bl" rotWithShape="0" blurRad="63500" dist="25400" dir="5400000">
              <a:srgbClr val="1B2430">
                <a:alpha val="25000"/>
              </a:srgbClr>
            </a:outerShdw>
          </a:effectLst>
        </p:spPr>
      </p:sp>
      <p:pic>
        <p:nvPicPr>
          <p:cNvPr id="27" name="Image 8" descr="/home/user/talenleren/neerlandais1/generateur/img/vijfzinnen/a1_vragen_s.jpg">    </p:cNvPr>
          <p:cNvPicPr>
            <a:picLocks noChangeAspect="1"/>
          </p:cNvPicPr>
          <p:nvPr/>
        </p:nvPicPr>
        <p:blipFill>
          <a:blip r:embed="rId9"/>
          <a:stretch>
            <a:fillRect/>
          </a:stretch>
        </p:blipFill>
        <p:spPr>
          <a:xfrm>
            <a:off x="4846320" y="3137678"/>
            <a:ext cx="1634490" cy="1021556"/>
          </a:xfrm>
          <a:prstGeom prst="rect">
            <a:avLst/>
          </a:prstGeom>
        </p:spPr>
      </p:pic>
      <p:sp>
        <p:nvSpPr>
          <p:cNvPr id="28" name="Text 16"/>
          <p:cNvSpPr txBox="1"/>
          <p:nvPr/>
        </p:nvSpPr>
        <p:spPr>
          <a:xfrm>
            <a:off x="4818888" y="4223242"/>
            <a:ext cx="1689354" cy="274320"/>
          </a:xfrm>
          <a:prstGeom prst="rect">
            <a:avLst/>
          </a:prstGeom>
          <a:noFill/>
          <a:ln/>
        </p:spPr>
        <p:txBody>
          <a:bodyPr wrap="square" lIns="0" tIns="0" rIns="0" bIns="0" rtlCol="0" anchor="t"/>
          <a:lstStyle/>
          <a:p>
            <a:pPr algn="l" indent="0" marL="0">
              <a:buNone/>
            </a:pPr>
            <a:r>
              <a:rPr lang="en-US" sz="1050" b="1" dirty="0">
                <a:solidFill>
                  <a:srgbClr val="2B2F38"/>
                </a:solidFill>
                <a:latin typeface="Calibri" pitchFamily="34" charset="0"/>
                <a:ea typeface="Calibri" pitchFamily="34" charset="-122"/>
                <a:cs typeface="Calibri" pitchFamily="34" charset="-120"/>
              </a:rPr>
              <a:t>19 · Hoe heet je?</a:t>
            </a:r>
            <a:endParaRPr lang="en-US" sz="1050" dirty="0"/>
          </a:p>
        </p:txBody>
      </p:sp>
      <p:pic>
        <p:nvPicPr>
          <p:cNvPr id="29" name="Image 9" descr="Comments">    </p:cNvPr>
          <p:cNvPicPr>
            <a:picLocks noChangeAspect="1"/>
          </p:cNvPicPr>
          <p:nvPr/>
        </p:nvPicPr>
        <p:blipFill>
          <a:blip r:embed="rId10"/>
          <a:stretch>
            <a:fillRect/>
          </a:stretch>
        </p:blipFill>
        <p:spPr>
          <a:xfrm>
            <a:off x="6261354" y="3192542"/>
            <a:ext cx="155448" cy="155448"/>
          </a:xfrm>
          <a:prstGeom prst="rect">
            <a:avLst/>
          </a:prstGeom>
        </p:spPr>
      </p:pic>
      <p:sp>
        <p:nvSpPr>
          <p:cNvPr id="30" name="Shape 17"/>
          <p:cNvSpPr/>
          <p:nvPr/>
        </p:nvSpPr>
        <p:spPr>
          <a:xfrm>
            <a:off x="6581394" y="3101102"/>
            <a:ext cx="1707642" cy="1094708"/>
          </a:xfrm>
          <a:prstGeom prst="roundRect">
            <a:avLst>
              <a:gd name="adj" fmla="val 3341"/>
            </a:avLst>
          </a:prstGeom>
          <a:solidFill>
            <a:srgbClr val="FFFFFF"/>
          </a:solidFill>
          <a:ln w="9525">
            <a:solidFill>
              <a:srgbClr val="E3E7EE"/>
            </a:solidFill>
            <a:prstDash val="solid"/>
          </a:ln>
          <a:effectLst>
            <a:outerShdw sx="100000" sy="100000" kx="0" ky="0" algn="bl" rotWithShape="0" blurRad="63500" dist="25400" dir="5400000">
              <a:srgbClr val="1B2430">
                <a:alpha val="25000"/>
              </a:srgbClr>
            </a:outerShdw>
          </a:effectLst>
        </p:spPr>
      </p:sp>
      <p:pic>
        <p:nvPicPr>
          <p:cNvPr id="31" name="Image 10" descr="/home/user/talenleren/neerlandais1/generateur/img/vijfzinnen/a1_slechtedag_s.jpg">    </p:cNvPr>
          <p:cNvPicPr>
            <a:picLocks noChangeAspect="1"/>
          </p:cNvPicPr>
          <p:nvPr/>
        </p:nvPicPr>
        <p:blipFill>
          <a:blip r:embed="rId11"/>
          <a:stretch>
            <a:fillRect/>
          </a:stretch>
        </p:blipFill>
        <p:spPr>
          <a:xfrm>
            <a:off x="6617970" y="3137678"/>
            <a:ext cx="1634490" cy="1021556"/>
          </a:xfrm>
          <a:prstGeom prst="rect">
            <a:avLst/>
          </a:prstGeom>
        </p:spPr>
      </p:pic>
      <p:sp>
        <p:nvSpPr>
          <p:cNvPr id="32" name="Text 18"/>
          <p:cNvSpPr txBox="1"/>
          <p:nvPr/>
        </p:nvSpPr>
        <p:spPr>
          <a:xfrm>
            <a:off x="6590538" y="4223242"/>
            <a:ext cx="1689354" cy="274320"/>
          </a:xfrm>
          <a:prstGeom prst="rect">
            <a:avLst/>
          </a:prstGeom>
          <a:noFill/>
          <a:ln/>
        </p:spPr>
        <p:txBody>
          <a:bodyPr wrap="square" lIns="0" tIns="0" rIns="0" bIns="0" rtlCol="0" anchor="t"/>
          <a:lstStyle/>
          <a:p>
            <a:pPr algn="l" indent="0" marL="0">
              <a:buNone/>
            </a:pPr>
            <a:r>
              <a:rPr lang="en-US" sz="1050" b="1" dirty="0">
                <a:solidFill>
                  <a:srgbClr val="2B2F38"/>
                </a:solidFill>
                <a:latin typeface="Calibri" pitchFamily="34" charset="0"/>
                <a:ea typeface="Calibri" pitchFamily="34" charset="-122"/>
                <a:cs typeface="Calibri" pitchFamily="34" charset="-120"/>
              </a:rPr>
              <a:t>20 · Een slechte dag</a:t>
            </a:r>
            <a:endParaRPr lang="en-US" sz="1050" dirty="0"/>
          </a:p>
        </p:txBody>
      </p:sp>
      <p:pic>
        <p:nvPicPr>
          <p:cNvPr id="33" name="Image 11" descr="PenNib">    </p:cNvPr>
          <p:cNvPicPr>
            <a:picLocks noChangeAspect="1"/>
          </p:cNvPicPr>
          <p:nvPr/>
        </p:nvPicPr>
        <p:blipFill>
          <a:blip r:embed="rId12"/>
          <a:stretch>
            <a:fillRect/>
          </a:stretch>
        </p:blipFill>
        <p:spPr>
          <a:xfrm>
            <a:off x="8033004" y="3192542"/>
            <a:ext cx="155448" cy="155448"/>
          </a:xfrm>
          <a:prstGeom prst="rect">
            <a:avLst/>
          </a:prstGeom>
        </p:spPr>
      </p:pic>
      <p:sp>
        <p:nvSpPr>
          <p:cNvPr id="34" name="Shape 19"/>
          <p:cNvSpPr/>
          <p:nvPr/>
        </p:nvSpPr>
        <p:spPr>
          <a:xfrm>
            <a:off x="8353044" y="3101102"/>
            <a:ext cx="1707642" cy="1094708"/>
          </a:xfrm>
          <a:prstGeom prst="roundRect">
            <a:avLst>
              <a:gd name="adj" fmla="val 3341"/>
            </a:avLst>
          </a:prstGeom>
          <a:solidFill>
            <a:srgbClr val="FFFFFF"/>
          </a:solidFill>
          <a:ln w="9525">
            <a:solidFill>
              <a:srgbClr val="E3E7EE"/>
            </a:solidFill>
            <a:prstDash val="solid"/>
          </a:ln>
          <a:effectLst>
            <a:outerShdw sx="100000" sy="100000" kx="0" ky="0" algn="bl" rotWithShape="0" blurRad="63500" dist="25400" dir="5400000">
              <a:srgbClr val="1B2430">
                <a:alpha val="25000"/>
              </a:srgbClr>
            </a:outerShdw>
          </a:effectLst>
        </p:spPr>
      </p:sp>
      <p:pic>
        <p:nvPicPr>
          <p:cNvPr id="35" name="Image 12" descr="/home/user/talenleren/neerlandais1/generateur/img/vijfzinnen/a1_hoelaat_s.jpg">    </p:cNvPr>
          <p:cNvPicPr>
            <a:picLocks noChangeAspect="1"/>
          </p:cNvPicPr>
          <p:nvPr/>
        </p:nvPicPr>
        <p:blipFill>
          <a:blip r:embed="rId13"/>
          <a:stretch>
            <a:fillRect/>
          </a:stretch>
        </p:blipFill>
        <p:spPr>
          <a:xfrm>
            <a:off x="8389620" y="3137678"/>
            <a:ext cx="1634490" cy="1021556"/>
          </a:xfrm>
          <a:prstGeom prst="rect">
            <a:avLst/>
          </a:prstGeom>
        </p:spPr>
      </p:pic>
      <p:sp>
        <p:nvSpPr>
          <p:cNvPr id="36" name="Text 20"/>
          <p:cNvSpPr txBox="1"/>
          <p:nvPr/>
        </p:nvSpPr>
        <p:spPr>
          <a:xfrm>
            <a:off x="8362188" y="4223242"/>
            <a:ext cx="1689354" cy="274320"/>
          </a:xfrm>
          <a:prstGeom prst="rect">
            <a:avLst/>
          </a:prstGeom>
          <a:noFill/>
          <a:ln/>
        </p:spPr>
        <p:txBody>
          <a:bodyPr wrap="square" lIns="0" tIns="0" rIns="0" bIns="0" rtlCol="0" anchor="t"/>
          <a:lstStyle/>
          <a:p>
            <a:pPr algn="l" indent="0" marL="0">
              <a:buNone/>
            </a:pPr>
            <a:r>
              <a:rPr lang="en-US" sz="1050" b="1" dirty="0">
                <a:solidFill>
                  <a:srgbClr val="2B2F38"/>
                </a:solidFill>
                <a:latin typeface="Calibri" pitchFamily="34" charset="0"/>
                <a:ea typeface="Calibri" pitchFamily="34" charset="-122"/>
                <a:cs typeface="Calibri" pitchFamily="34" charset="-120"/>
              </a:rPr>
              <a:t>21 · Hoe laat is het?</a:t>
            </a:r>
            <a:endParaRPr lang="en-US" sz="1050" dirty="0"/>
          </a:p>
        </p:txBody>
      </p:sp>
      <p:pic>
        <p:nvPicPr>
          <p:cNvPr id="37" name="Image 13" descr="Comments">    </p:cNvPr>
          <p:cNvPicPr>
            <a:picLocks noChangeAspect="1"/>
          </p:cNvPicPr>
          <p:nvPr/>
        </p:nvPicPr>
        <p:blipFill>
          <a:blip r:embed="rId14"/>
          <a:stretch>
            <a:fillRect/>
          </a:stretch>
        </p:blipFill>
        <p:spPr>
          <a:xfrm>
            <a:off x="9804654" y="3192542"/>
            <a:ext cx="155448" cy="155448"/>
          </a:xfrm>
          <a:prstGeom prst="rect">
            <a:avLst/>
          </a:prstGeom>
        </p:spPr>
      </p:pic>
      <p:sp>
        <p:nvSpPr>
          <p:cNvPr id="38" name="Shape 21"/>
          <p:cNvSpPr/>
          <p:nvPr/>
        </p:nvSpPr>
        <p:spPr>
          <a:xfrm>
            <a:off x="10124694" y="3101102"/>
            <a:ext cx="1707642" cy="1094708"/>
          </a:xfrm>
          <a:prstGeom prst="roundRect">
            <a:avLst>
              <a:gd name="adj" fmla="val 3341"/>
            </a:avLst>
          </a:prstGeom>
          <a:solidFill>
            <a:srgbClr val="FFFFFF"/>
          </a:solidFill>
          <a:ln w="9525">
            <a:solidFill>
              <a:srgbClr val="E3E7EE"/>
            </a:solidFill>
            <a:prstDash val="solid"/>
          </a:ln>
          <a:effectLst>
            <a:outerShdw sx="100000" sy="100000" kx="0" ky="0" algn="bl" rotWithShape="0" blurRad="63500" dist="25400" dir="5400000">
              <a:srgbClr val="1B2430">
                <a:alpha val="25000"/>
              </a:srgbClr>
            </a:outerShdw>
          </a:effectLst>
        </p:spPr>
      </p:sp>
      <p:pic>
        <p:nvPicPr>
          <p:cNvPr id="39" name="Image 14" descr="/home/user/talenleren/neerlandais1/generateur/img/vijfzinnen/a1_kat_s.jpg">    </p:cNvPr>
          <p:cNvPicPr>
            <a:picLocks noChangeAspect="1"/>
          </p:cNvPicPr>
          <p:nvPr/>
        </p:nvPicPr>
        <p:blipFill>
          <a:blip r:embed="rId15"/>
          <a:stretch>
            <a:fillRect/>
          </a:stretch>
        </p:blipFill>
        <p:spPr>
          <a:xfrm>
            <a:off x="10161270" y="3137678"/>
            <a:ext cx="1634490" cy="1021556"/>
          </a:xfrm>
          <a:prstGeom prst="rect">
            <a:avLst/>
          </a:prstGeom>
        </p:spPr>
      </p:pic>
      <p:sp>
        <p:nvSpPr>
          <p:cNvPr id="40" name="Text 22"/>
          <p:cNvSpPr txBox="1"/>
          <p:nvPr/>
        </p:nvSpPr>
        <p:spPr>
          <a:xfrm>
            <a:off x="10133838" y="4223242"/>
            <a:ext cx="1689354" cy="274320"/>
          </a:xfrm>
          <a:prstGeom prst="rect">
            <a:avLst/>
          </a:prstGeom>
          <a:noFill/>
          <a:ln/>
        </p:spPr>
        <p:txBody>
          <a:bodyPr wrap="square" lIns="0" tIns="0" rIns="0" bIns="0" rtlCol="0" anchor="t"/>
          <a:lstStyle/>
          <a:p>
            <a:pPr algn="l" indent="0" marL="0">
              <a:buNone/>
            </a:pPr>
            <a:r>
              <a:rPr lang="en-US" sz="1050" b="1" dirty="0">
                <a:solidFill>
                  <a:srgbClr val="2B2F38"/>
                </a:solidFill>
                <a:latin typeface="Calibri" pitchFamily="34" charset="0"/>
                <a:ea typeface="Calibri" pitchFamily="34" charset="-122"/>
                <a:cs typeface="Calibri" pitchFamily="34" charset="-120"/>
              </a:rPr>
              <a:t>22 · Waar is de kat?</a:t>
            </a:r>
            <a:endParaRPr lang="en-US" sz="1050" dirty="0"/>
          </a:p>
        </p:txBody>
      </p:sp>
      <p:pic>
        <p:nvPicPr>
          <p:cNvPr id="41" name="Image 15" descr="PenNib">    </p:cNvPr>
          <p:cNvPicPr>
            <a:picLocks noChangeAspect="1"/>
          </p:cNvPicPr>
          <p:nvPr/>
        </p:nvPicPr>
        <p:blipFill>
          <a:blip r:embed="rId16"/>
          <a:stretch>
            <a:fillRect/>
          </a:stretch>
        </p:blipFill>
        <p:spPr>
          <a:xfrm>
            <a:off x="11576304" y="3192542"/>
            <a:ext cx="155448" cy="155448"/>
          </a:xfrm>
          <a:prstGeom prst="rect">
            <a:avLst/>
          </a:prstGeom>
        </p:spPr>
      </p:pic>
      <p:sp>
        <p:nvSpPr>
          <p:cNvPr id="42" name="Shape 23"/>
          <p:cNvSpPr/>
          <p:nvPr/>
        </p:nvSpPr>
        <p:spPr>
          <a:xfrm>
            <a:off x="4809744" y="4506706"/>
            <a:ext cx="1707642" cy="1094708"/>
          </a:xfrm>
          <a:prstGeom prst="roundRect">
            <a:avLst>
              <a:gd name="adj" fmla="val 3341"/>
            </a:avLst>
          </a:prstGeom>
          <a:solidFill>
            <a:srgbClr val="FFFFFF"/>
          </a:solidFill>
          <a:ln w="9525">
            <a:solidFill>
              <a:srgbClr val="E3E7EE"/>
            </a:solidFill>
            <a:prstDash val="solid"/>
          </a:ln>
          <a:effectLst>
            <a:outerShdw sx="100000" sy="100000" kx="0" ky="0" algn="bl" rotWithShape="0" blurRad="63500" dist="25400" dir="5400000">
              <a:srgbClr val="1B2430">
                <a:alpha val="25000"/>
              </a:srgbClr>
            </a:outerShdw>
          </a:effectLst>
        </p:spPr>
      </p:sp>
      <p:pic>
        <p:nvPicPr>
          <p:cNvPr id="43" name="Image 16" descr="/home/user/talenleren/neerlandais1/generateur/img/vijfzinnen/a1_kopje_s.jpg">    </p:cNvPr>
          <p:cNvPicPr>
            <a:picLocks noChangeAspect="1"/>
          </p:cNvPicPr>
          <p:nvPr/>
        </p:nvPicPr>
        <p:blipFill>
          <a:blip r:embed="rId17"/>
          <a:stretch>
            <a:fillRect/>
          </a:stretch>
        </p:blipFill>
        <p:spPr>
          <a:xfrm>
            <a:off x="4846320" y="4543282"/>
            <a:ext cx="1634490" cy="1021556"/>
          </a:xfrm>
          <a:prstGeom prst="rect">
            <a:avLst/>
          </a:prstGeom>
        </p:spPr>
      </p:pic>
      <p:sp>
        <p:nvSpPr>
          <p:cNvPr id="44" name="Text 24"/>
          <p:cNvSpPr txBox="1"/>
          <p:nvPr/>
        </p:nvSpPr>
        <p:spPr>
          <a:xfrm>
            <a:off x="4818888" y="5628846"/>
            <a:ext cx="1689354" cy="274320"/>
          </a:xfrm>
          <a:prstGeom prst="rect">
            <a:avLst/>
          </a:prstGeom>
          <a:noFill/>
          <a:ln/>
        </p:spPr>
        <p:txBody>
          <a:bodyPr wrap="square" lIns="0" tIns="0" rIns="0" bIns="0" rtlCol="0" anchor="t"/>
          <a:lstStyle/>
          <a:p>
            <a:pPr algn="l" indent="0" marL="0">
              <a:buNone/>
            </a:pPr>
            <a:r>
              <a:rPr lang="en-US" sz="1050" b="1" dirty="0">
                <a:solidFill>
                  <a:srgbClr val="2B2F38"/>
                </a:solidFill>
                <a:latin typeface="Calibri" pitchFamily="34" charset="0"/>
                <a:ea typeface="Calibri" pitchFamily="34" charset="-122"/>
                <a:cs typeface="Calibri" pitchFamily="34" charset="-120"/>
              </a:rPr>
              <a:t>23 · Een kopje koffie</a:t>
            </a:r>
            <a:endParaRPr lang="en-US" sz="1050" dirty="0"/>
          </a:p>
        </p:txBody>
      </p:sp>
      <p:pic>
        <p:nvPicPr>
          <p:cNvPr id="45" name="Image 17" descr="Comments">    </p:cNvPr>
          <p:cNvPicPr>
            <a:picLocks noChangeAspect="1"/>
          </p:cNvPicPr>
          <p:nvPr/>
        </p:nvPicPr>
        <p:blipFill>
          <a:blip r:embed="rId18"/>
          <a:stretch>
            <a:fillRect/>
          </a:stretch>
        </p:blipFill>
        <p:spPr>
          <a:xfrm>
            <a:off x="6261354" y="4598146"/>
            <a:ext cx="155448" cy="155448"/>
          </a:xfrm>
          <a:prstGeom prst="rect">
            <a:avLst/>
          </a:prstGeom>
        </p:spPr>
      </p:pic>
      <p:sp>
        <p:nvSpPr>
          <p:cNvPr id="46" name="Shape 25"/>
          <p:cNvSpPr/>
          <p:nvPr/>
        </p:nvSpPr>
        <p:spPr>
          <a:xfrm>
            <a:off x="6581394" y="4506706"/>
            <a:ext cx="1707642" cy="1094708"/>
          </a:xfrm>
          <a:prstGeom prst="roundRect">
            <a:avLst>
              <a:gd name="adj" fmla="val 3341"/>
            </a:avLst>
          </a:prstGeom>
          <a:solidFill>
            <a:srgbClr val="FFFFFF"/>
          </a:solidFill>
          <a:ln w="9525">
            <a:solidFill>
              <a:srgbClr val="E3E7EE"/>
            </a:solidFill>
            <a:prstDash val="solid"/>
          </a:ln>
          <a:effectLst>
            <a:outerShdw sx="100000" sy="100000" kx="0" ky="0" algn="bl" rotWithShape="0" blurRad="63500" dist="25400" dir="5400000">
              <a:srgbClr val="1B2430">
                <a:alpha val="25000"/>
              </a:srgbClr>
            </a:outerShdw>
          </a:effectLst>
        </p:spPr>
      </p:sp>
      <p:pic>
        <p:nvPicPr>
          <p:cNvPr id="47" name="Image 18" descr="/home/user/talenleren/neerlandais1/generateur/img/vijfzinnen/a1_kommaarbinnen_s.jpg">    </p:cNvPr>
          <p:cNvPicPr>
            <a:picLocks noChangeAspect="1"/>
          </p:cNvPicPr>
          <p:nvPr/>
        </p:nvPicPr>
        <p:blipFill>
          <a:blip r:embed="rId19"/>
          <a:stretch>
            <a:fillRect/>
          </a:stretch>
        </p:blipFill>
        <p:spPr>
          <a:xfrm>
            <a:off x="6617970" y="4543282"/>
            <a:ext cx="1634490" cy="1021556"/>
          </a:xfrm>
          <a:prstGeom prst="rect">
            <a:avLst/>
          </a:prstGeom>
        </p:spPr>
      </p:pic>
      <p:sp>
        <p:nvSpPr>
          <p:cNvPr id="48" name="Text 26"/>
          <p:cNvSpPr txBox="1"/>
          <p:nvPr/>
        </p:nvSpPr>
        <p:spPr>
          <a:xfrm>
            <a:off x="6590538" y="5628846"/>
            <a:ext cx="1689354" cy="274320"/>
          </a:xfrm>
          <a:prstGeom prst="rect">
            <a:avLst/>
          </a:prstGeom>
          <a:noFill/>
          <a:ln/>
        </p:spPr>
        <p:txBody>
          <a:bodyPr wrap="square" lIns="0" tIns="0" rIns="0" bIns="0" rtlCol="0" anchor="t"/>
          <a:lstStyle/>
          <a:p>
            <a:pPr algn="l" indent="0" marL="0">
              <a:buNone/>
            </a:pPr>
            <a:r>
              <a:rPr lang="en-US" sz="1050" b="1" dirty="0">
                <a:solidFill>
                  <a:srgbClr val="2B2F38"/>
                </a:solidFill>
                <a:latin typeface="Calibri" pitchFamily="34" charset="0"/>
                <a:ea typeface="Calibri" pitchFamily="34" charset="-122"/>
                <a:cs typeface="Calibri" pitchFamily="34" charset="-120"/>
              </a:rPr>
              <a:t>24 · Kom maar binnen!</a:t>
            </a:r>
            <a:endParaRPr lang="en-US" sz="1050" dirty="0"/>
          </a:p>
        </p:txBody>
      </p:sp>
      <p:pic>
        <p:nvPicPr>
          <p:cNvPr id="49" name="Image 19" descr="Comments">    </p:cNvPr>
          <p:cNvPicPr>
            <a:picLocks noChangeAspect="1"/>
          </p:cNvPicPr>
          <p:nvPr/>
        </p:nvPicPr>
        <p:blipFill>
          <a:blip r:embed="rId20"/>
          <a:stretch>
            <a:fillRect/>
          </a:stretch>
        </p:blipFill>
        <p:spPr>
          <a:xfrm>
            <a:off x="8033004" y="4598146"/>
            <a:ext cx="155448" cy="155448"/>
          </a:xfrm>
          <a:prstGeom prst="rect">
            <a:avLst/>
          </a:prstGeom>
        </p:spPr>
      </p:pic>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1"/>
          <p:cNvSpPr/>
          <p:nvPr>
            <p:ph idx="101" type="title" hasCustomPrompt="1"/>
          </p:nvPr>
        </p:nvSpPr>
        <p:spPr>
          <a:xfrm>
            <a:off x="1554480" y="384048"/>
            <a:ext cx="10241280" cy="658368"/>
          </a:xfrm>
          <a:prstGeom prst="rect">
            <a:avLst/>
          </a:prstGeom>
          <a:noFill/>
          <a:ln/>
        </p:spPr>
        <p:txBody>
          <a:bodyPr wrap="square" lIns="0" tIns="0" rIns="0" bIns="0" rtlCol="0" anchor="ctr"/>
          <a:lstStyle/>
          <a:p>
            <a:pPr algn="ctr" indent="0" marL="0">
              <a:buNone/>
            </a:pPr>
            <a:r>
              <a:rPr lang="en-US" sz="3000" b="1" dirty="0">
                <a:solidFill>
                  <a:srgbClr val="2B2F38"/>
                </a:solidFill>
              </a:rPr>
              <a:t>Gebruik deze afbeelding als inspiratie</a:t>
            </a:r>
            <a:endParaRPr lang="en-US" sz="3000" dirty="0"/>
          </a:p>
        </p:txBody>
      </p:sp>
      <p:sp>
        <p:nvSpPr>
          <p:cNvPr id="4" name="Shape 1"/>
          <p:cNvSpPr/>
          <p:nvPr/>
        </p:nvSpPr>
        <p:spPr>
          <a:xfrm>
            <a:off x="365760" y="365760"/>
            <a:ext cx="868680" cy="5989320"/>
          </a:xfrm>
          <a:prstGeom prst="roundRect">
            <a:avLst>
              <a:gd name="adj" fmla="val 12632"/>
            </a:avLst>
          </a:prstGeom>
          <a:solidFill>
            <a:srgbClr val="E4EEFB"/>
          </a:solidFill>
          <a:ln w="28575">
            <a:solidFill>
              <a:srgbClr val="6FA0DC"/>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3E6FB0"/>
                </a:solidFill>
                <a:latin typeface="Calibri" pitchFamily="34" charset="0"/>
                <a:ea typeface="Calibri" pitchFamily="34" charset="-122"/>
                <a:cs typeface="Calibri" pitchFamily="34" charset="-120"/>
              </a:rPr>
              <a:t>A1 · Grammaire</a:t>
            </a:r>
            <a:endParaRPr lang="en-US" sz="3800" dirty="0"/>
          </a:p>
        </p:txBody>
      </p:sp>
      <p:sp>
        <p:nvSpPr>
          <p:cNvPr id="6" name="Text 3"/>
          <p:cNvSpPr txBox="1"/>
          <p:nvPr/>
        </p:nvSpPr>
        <p:spPr>
          <a:xfrm>
            <a:off x="1554480" y="1024128"/>
            <a:ext cx="10241280" cy="365760"/>
          </a:xfrm>
          <a:prstGeom prst="rect">
            <a:avLst/>
          </a:prstGeom>
          <a:noFill/>
          <a:ln/>
        </p:spPr>
        <p:txBody>
          <a:bodyPr wrap="square" lIns="0" tIns="0" rIns="0" bIns="0" rtlCol="0" anchor="ctr"/>
          <a:lstStyle/>
          <a:p>
            <a:pPr algn="ctr" indent="0" marL="0">
              <a:buNone/>
            </a:pPr>
            <a:r>
              <a:rPr lang="en-US" sz="1500" b="1" dirty="0">
                <a:solidFill>
                  <a:srgbClr val="3E6FB0"/>
                </a:solidFill>
                <a:latin typeface="Calibri" pitchFamily="34" charset="0"/>
                <a:ea typeface="Calibri" pitchFamily="34" charset="-122"/>
                <a:cs typeface="Calibri" pitchFamily="34" charset="-120"/>
              </a:rPr>
              <a:t>15 · De of het?</a:t>
            </a:r>
            <a:r>
              <a:rPr lang="en-US" sz="1500" i="1" dirty="0">
                <a:solidFill>
                  <a:srgbClr val="6B7280"/>
                </a:solidFill>
                <a:latin typeface="Calibri" pitchFamily="34" charset="0"/>
                <a:ea typeface="Calibri" pitchFamily="34" charset="-122"/>
                <a:cs typeface="Calibri" pitchFamily="34" charset="-120"/>
              </a:rPr>
              <a:t>   De ou het ?</a:t>
            </a:r>
            <a:r>
              <a:rPr lang="en-US" sz="1200" dirty="0">
                <a:solidFill>
                  <a:srgbClr val="9AA3B2"/>
                </a:solidFill>
                <a:latin typeface="Calibri" pitchFamily="34" charset="0"/>
                <a:ea typeface="Calibri" pitchFamily="34" charset="-122"/>
                <a:cs typeface="Calibri" pitchFamily="34" charset="-120"/>
              </a:rPr>
              <a:t>   ·   syllabus fiche 01 · p. 58</a:t>
            </a:r>
            <a:endParaRPr lang="en-US" sz="1500" dirty="0"/>
          </a:p>
        </p:txBody>
      </p:sp>
      <p:sp>
        <p:nvSpPr>
          <p:cNvPr id="7" name="Shape 4"/>
          <p:cNvSpPr/>
          <p:nvPr/>
        </p:nvSpPr>
        <p:spPr>
          <a:xfrm>
            <a:off x="1596085" y="1504645"/>
            <a:ext cx="4534510" cy="2905735"/>
          </a:xfrm>
          <a:prstGeom prst="roundRect">
            <a:avLst>
              <a:gd name="adj" fmla="val 1259"/>
            </a:avLst>
          </a:prstGeom>
          <a:solidFill>
            <a:srgbClr val="FFFFFF"/>
          </a:solidFill>
          <a:ln w="9525">
            <a:solidFill>
              <a:srgbClr val="E3E7EE"/>
            </a:solidFill>
            <a:prstDash val="solid"/>
          </a:ln>
          <a:effectLst>
            <a:outerShdw sx="100000" sy="100000" kx="0" ky="0" algn="bl" rotWithShape="0" blurRad="127000" dist="50800" dir="5400000">
              <a:srgbClr val="1B2430">
                <a:alpha val="25000"/>
              </a:srgbClr>
            </a:outerShdw>
          </a:effectLst>
        </p:spPr>
      </p:sp>
      <p:pic>
        <p:nvPicPr>
          <p:cNvPr id="8" name="Image 0" descr="/home/user/talenleren/neerlandais1/generateur/img/vijfzinnen/a1_ontbijttafel_s.jpg">    </p:cNvPr>
          <p:cNvPicPr>
            <a:picLocks noChangeAspect="1"/>
          </p:cNvPicPr>
          <p:nvPr/>
        </p:nvPicPr>
        <p:blipFill>
          <a:blip r:embed="rId1"/>
          <a:stretch>
            <a:fillRect/>
          </a:stretch>
        </p:blipFill>
        <p:spPr>
          <a:xfrm>
            <a:off x="1691640" y="1600200"/>
            <a:ext cx="4343400" cy="2714625"/>
          </a:xfrm>
          <a:prstGeom prst="rect">
            <a:avLst/>
          </a:prstGeom>
        </p:spPr>
      </p:pic>
      <p:sp>
        <p:nvSpPr>
          <p:cNvPr id="9" name="Shape 5"/>
          <p:cNvSpPr/>
          <p:nvPr/>
        </p:nvSpPr>
        <p:spPr>
          <a:xfrm>
            <a:off x="1691640" y="4572000"/>
            <a:ext cx="1600200" cy="365760"/>
          </a:xfrm>
          <a:prstGeom prst="roundRect">
            <a:avLst>
              <a:gd name="adj" fmla="val 50000"/>
            </a:avLst>
          </a:prstGeom>
          <a:solidFill>
            <a:srgbClr val="EAF1FC"/>
          </a:solidFill>
          <a:ln w="12700">
            <a:solidFill>
              <a:srgbClr val="4A7BD0"/>
            </a:solidFill>
            <a:prstDash val="solid"/>
          </a:ln>
        </p:spPr>
      </p:sp>
      <p:pic>
        <p:nvPicPr>
          <p:cNvPr id="10" name="Image 1" descr="PenNib">    </p:cNvPr>
          <p:cNvPicPr>
            <a:picLocks noChangeAspect="1"/>
          </p:cNvPicPr>
          <p:nvPr/>
        </p:nvPicPr>
        <p:blipFill>
          <a:blip r:embed="rId2"/>
          <a:stretch>
            <a:fillRect/>
          </a:stretch>
        </p:blipFill>
        <p:spPr>
          <a:xfrm>
            <a:off x="1819656" y="4654296"/>
            <a:ext cx="201168" cy="201168"/>
          </a:xfrm>
          <a:prstGeom prst="rect">
            <a:avLst/>
          </a:prstGeom>
        </p:spPr>
      </p:pic>
      <p:sp>
        <p:nvSpPr>
          <p:cNvPr id="11" name="Text 6"/>
          <p:cNvSpPr txBox="1"/>
          <p:nvPr/>
        </p:nvSpPr>
        <p:spPr>
          <a:xfrm>
            <a:off x="2075688" y="4572000"/>
            <a:ext cx="1143000" cy="365760"/>
          </a:xfrm>
          <a:prstGeom prst="rect">
            <a:avLst/>
          </a:prstGeom>
          <a:noFill/>
          <a:ln/>
        </p:spPr>
        <p:txBody>
          <a:bodyPr wrap="square" lIns="0" tIns="0" rIns="0" bIns="0" rtlCol="0" anchor="ctr"/>
          <a:lstStyle/>
          <a:p>
            <a:pPr algn="l" indent="0" marL="0">
              <a:buNone/>
            </a:pPr>
            <a:r>
              <a:rPr lang="en-US" sz="1150" b="1" spc="100" kern="0" dirty="0">
                <a:solidFill>
                  <a:srgbClr val="4A7BD0"/>
                </a:solidFill>
                <a:latin typeface="Calibri" pitchFamily="34" charset="0"/>
                <a:ea typeface="Calibri" pitchFamily="34" charset="-122"/>
                <a:cs typeface="Calibri" pitchFamily="34" charset="-120"/>
              </a:rPr>
              <a:t>À L’ÉCRIT</a:t>
            </a:r>
            <a:endParaRPr lang="en-US" sz="1150" dirty="0"/>
          </a:p>
        </p:txBody>
      </p:sp>
      <p:sp>
        <p:nvSpPr>
          <p:cNvPr id="12" name="Text 7"/>
          <p:cNvSpPr txBox="1"/>
          <p:nvPr/>
        </p:nvSpPr>
        <p:spPr>
          <a:xfrm>
            <a:off x="3429000" y="4544568"/>
            <a:ext cx="2651760" cy="731520"/>
          </a:xfrm>
          <a:prstGeom prst="rect">
            <a:avLst/>
          </a:prstGeom>
          <a:noFill/>
          <a:ln/>
        </p:spPr>
        <p:txBody>
          <a:bodyPr wrap="square" lIns="0" tIns="0" rIns="0" bIns="0" rtlCol="0" anchor="t"/>
          <a:lstStyle/>
          <a:p>
            <a:pPr algn="l" indent="0" marL="0">
              <a:buNone/>
            </a:pPr>
            <a:r>
              <a:rPr lang="en-US" sz="1150" i="1" dirty="0">
                <a:solidFill>
                  <a:srgbClr val="6B7280"/>
                </a:solidFill>
                <a:latin typeface="Calibri" pitchFamily="34" charset="0"/>
                <a:ea typeface="Calibri" pitchFamily="34" charset="-122"/>
                <a:cs typeface="Calibri" pitchFamily="34" charset="-120"/>
              </a:rPr>
              <a:t>Le petit-déjeuner chez Emma. Décrivez la table.</a:t>
            </a:r>
            <a:endParaRPr lang="en-US" sz="1150" dirty="0"/>
          </a:p>
        </p:txBody>
      </p:sp>
      <p:sp>
        <p:nvSpPr>
          <p:cNvPr id="13" name="Shape 8"/>
          <p:cNvSpPr/>
          <p:nvPr/>
        </p:nvSpPr>
        <p:spPr>
          <a:xfrm>
            <a:off x="6355080" y="1673352"/>
            <a:ext cx="914400" cy="402336"/>
          </a:xfrm>
          <a:prstGeom prst="roundRect">
            <a:avLst>
              <a:gd name="adj" fmla="val 13636"/>
            </a:avLst>
          </a:prstGeom>
          <a:solidFill>
            <a:srgbClr val="5FA873"/>
          </a:solidFill>
          <a:ln w="12700">
            <a:solidFill>
              <a:srgbClr val="FFFFFF">
                <a:alpha val="0"/>
              </a:srgbClr>
            </a:solidFill>
            <a:prstDash val="solid"/>
          </a:ln>
        </p:spPr>
      </p:sp>
      <p:sp>
        <p:nvSpPr>
          <p:cNvPr id="14" name="Text 9"/>
          <p:cNvSpPr txBox="1"/>
          <p:nvPr/>
        </p:nvSpPr>
        <p:spPr>
          <a:xfrm>
            <a:off x="6355080" y="167335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1</a:t>
            </a:r>
            <a:endParaRPr lang="en-US" sz="1600" dirty="0"/>
          </a:p>
        </p:txBody>
      </p:sp>
      <p:sp>
        <p:nvSpPr>
          <p:cNvPr id="15" name="Text 10"/>
          <p:cNvSpPr txBox="1"/>
          <p:nvPr/>
        </p:nvSpPr>
        <p:spPr>
          <a:xfrm>
            <a:off x="7406640" y="1618488"/>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Un mot en </a:t>
            </a:r>
            <a:r>
              <a:rPr lang="en-US" sz="1450" b="1" dirty="0">
                <a:solidFill>
                  <a:srgbClr val="2B2F38"/>
                </a:solidFill>
              </a:rPr>
              <a:t>DE</a:t>
            </a:r>
            <a:r>
              <a:rPr lang="en-US" sz="1450" dirty="0">
                <a:solidFill>
                  <a:srgbClr val="2B2F38"/>
                </a:solidFill>
              </a:rPr>
              <a:t> + </a:t>
            </a:r>
            <a:r>
              <a:rPr lang="en-US" sz="1450" b="1" dirty="0">
                <a:solidFill>
                  <a:srgbClr val="2B2F38"/>
                </a:solidFill>
              </a:rPr>
              <a:t>IS</a:t>
            </a:r>
            <a:r>
              <a:rPr lang="en-US" sz="1450" dirty="0">
                <a:solidFill>
                  <a:srgbClr val="2B2F38"/>
                </a:solidFill>
              </a:rPr>
              <a:t> + adjectif.</a:t>
            </a:r>
            <a:endParaRPr lang="en-US" sz="1450" dirty="0"/>
          </a:p>
        </p:txBody>
      </p:sp>
      <p:sp>
        <p:nvSpPr>
          <p:cNvPr id="16" name="Shape 11"/>
          <p:cNvSpPr/>
          <p:nvPr/>
        </p:nvSpPr>
        <p:spPr>
          <a:xfrm>
            <a:off x="6355080" y="2404872"/>
            <a:ext cx="914400" cy="402336"/>
          </a:xfrm>
          <a:prstGeom prst="roundRect">
            <a:avLst>
              <a:gd name="adj" fmla="val 13636"/>
            </a:avLst>
          </a:prstGeom>
          <a:solidFill>
            <a:srgbClr val="5FA873"/>
          </a:solidFill>
          <a:ln w="12700">
            <a:solidFill>
              <a:srgbClr val="FFFFFF">
                <a:alpha val="0"/>
              </a:srgbClr>
            </a:solidFill>
            <a:prstDash val="solid"/>
          </a:ln>
        </p:spPr>
      </p:sp>
      <p:sp>
        <p:nvSpPr>
          <p:cNvPr id="17" name="Text 12"/>
          <p:cNvSpPr txBox="1"/>
          <p:nvPr/>
        </p:nvSpPr>
        <p:spPr>
          <a:xfrm>
            <a:off x="6355080" y="240487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2</a:t>
            </a:r>
            <a:endParaRPr lang="en-US" sz="1600" dirty="0"/>
          </a:p>
        </p:txBody>
      </p:sp>
      <p:sp>
        <p:nvSpPr>
          <p:cNvPr id="18" name="Text 13"/>
          <p:cNvSpPr txBox="1"/>
          <p:nvPr/>
        </p:nvSpPr>
        <p:spPr>
          <a:xfrm>
            <a:off x="7406640" y="2350008"/>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Un mot en </a:t>
            </a:r>
            <a:r>
              <a:rPr lang="en-US" sz="1450" b="1" dirty="0">
                <a:solidFill>
                  <a:srgbClr val="2B2F38"/>
                </a:solidFill>
              </a:rPr>
              <a:t>HET</a:t>
            </a:r>
            <a:r>
              <a:rPr lang="en-US" sz="1450" dirty="0">
                <a:solidFill>
                  <a:srgbClr val="2B2F38"/>
                </a:solidFill>
              </a:rPr>
              <a:t> + </a:t>
            </a:r>
            <a:r>
              <a:rPr lang="en-US" sz="1450" b="1" dirty="0">
                <a:solidFill>
                  <a:srgbClr val="2B2F38"/>
                </a:solidFill>
              </a:rPr>
              <a:t>IS</a:t>
            </a:r>
            <a:r>
              <a:rPr lang="en-US" sz="1450" dirty="0">
                <a:solidFill>
                  <a:srgbClr val="2B2F38"/>
                </a:solidFill>
              </a:rPr>
              <a:t> + adjectif.</a:t>
            </a:r>
            <a:endParaRPr lang="en-US" sz="1450" dirty="0"/>
          </a:p>
        </p:txBody>
      </p:sp>
      <p:sp>
        <p:nvSpPr>
          <p:cNvPr id="19" name="Shape 14"/>
          <p:cNvSpPr/>
          <p:nvPr/>
        </p:nvSpPr>
        <p:spPr>
          <a:xfrm>
            <a:off x="6355080" y="3136392"/>
            <a:ext cx="914400" cy="402336"/>
          </a:xfrm>
          <a:prstGeom prst="roundRect">
            <a:avLst>
              <a:gd name="adj" fmla="val 13636"/>
            </a:avLst>
          </a:prstGeom>
          <a:solidFill>
            <a:srgbClr val="5FA873"/>
          </a:solidFill>
          <a:ln w="12700">
            <a:solidFill>
              <a:srgbClr val="FFFFFF">
                <a:alpha val="0"/>
              </a:srgbClr>
            </a:solidFill>
            <a:prstDash val="solid"/>
          </a:ln>
        </p:spPr>
      </p:sp>
      <p:sp>
        <p:nvSpPr>
          <p:cNvPr id="20" name="Text 15"/>
          <p:cNvSpPr txBox="1"/>
          <p:nvPr/>
        </p:nvSpPr>
        <p:spPr>
          <a:xfrm>
            <a:off x="6355080" y="313639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3</a:t>
            </a:r>
            <a:endParaRPr lang="en-US" sz="1600" dirty="0"/>
          </a:p>
        </p:txBody>
      </p:sp>
      <p:sp>
        <p:nvSpPr>
          <p:cNvPr id="21" name="Text 16"/>
          <p:cNvSpPr txBox="1"/>
          <p:nvPr/>
        </p:nvSpPr>
        <p:spPr>
          <a:xfrm>
            <a:off x="7406640" y="3081528"/>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Une chose avec </a:t>
            </a:r>
            <a:r>
              <a:rPr lang="en-US" sz="1450" b="1" dirty="0">
                <a:solidFill>
                  <a:srgbClr val="2B2F38"/>
                </a:solidFill>
              </a:rPr>
              <a:t>EEN</a:t>
            </a:r>
            <a:r>
              <a:rPr lang="en-US" sz="1450" dirty="0">
                <a:solidFill>
                  <a:srgbClr val="2B2F38"/>
                </a:solidFill>
              </a:rPr>
              <a:t> : Er is een…</a:t>
            </a:r>
            <a:endParaRPr lang="en-US" sz="1450" dirty="0"/>
          </a:p>
        </p:txBody>
      </p:sp>
      <p:sp>
        <p:nvSpPr>
          <p:cNvPr id="22" name="Shape 17"/>
          <p:cNvSpPr/>
          <p:nvPr/>
        </p:nvSpPr>
        <p:spPr>
          <a:xfrm>
            <a:off x="6355080" y="3867912"/>
            <a:ext cx="914400" cy="402336"/>
          </a:xfrm>
          <a:prstGeom prst="roundRect">
            <a:avLst>
              <a:gd name="adj" fmla="val 13636"/>
            </a:avLst>
          </a:prstGeom>
          <a:solidFill>
            <a:srgbClr val="5FA873"/>
          </a:solidFill>
          <a:ln w="12700">
            <a:solidFill>
              <a:srgbClr val="FFFFFF">
                <a:alpha val="0"/>
              </a:srgbClr>
            </a:solidFill>
            <a:prstDash val="solid"/>
          </a:ln>
        </p:spPr>
      </p:sp>
      <p:sp>
        <p:nvSpPr>
          <p:cNvPr id="23" name="Text 18"/>
          <p:cNvSpPr txBox="1"/>
          <p:nvPr/>
        </p:nvSpPr>
        <p:spPr>
          <a:xfrm>
            <a:off x="6355080" y="386791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4</a:t>
            </a:r>
            <a:endParaRPr lang="en-US" sz="1600" dirty="0"/>
          </a:p>
        </p:txBody>
      </p:sp>
      <p:sp>
        <p:nvSpPr>
          <p:cNvPr id="24" name="Text 19"/>
          <p:cNvSpPr txBox="1"/>
          <p:nvPr/>
        </p:nvSpPr>
        <p:spPr>
          <a:xfrm>
            <a:off x="7406640" y="3813048"/>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Une chute avec un </a:t>
            </a:r>
            <a:r>
              <a:rPr lang="en-US" sz="1450" b="1" dirty="0">
                <a:solidFill>
                  <a:srgbClr val="2B2F38"/>
                </a:solidFill>
              </a:rPr>
              <a:t>pluriel</a:t>
            </a:r>
            <a:r>
              <a:rPr lang="en-US" sz="1450" dirty="0">
                <a:solidFill>
                  <a:srgbClr val="2B2F38"/>
                </a:solidFill>
              </a:rPr>
              <a:t> : toujours </a:t>
            </a:r>
            <a:r>
              <a:rPr lang="en-US" sz="1450" b="1" dirty="0">
                <a:solidFill>
                  <a:srgbClr val="2B2F38"/>
                </a:solidFill>
              </a:rPr>
              <a:t>DE</a:t>
            </a:r>
            <a:r>
              <a:rPr lang="en-US" sz="1450" dirty="0">
                <a:solidFill>
                  <a:srgbClr val="2B2F38"/>
                </a:solidFill>
              </a:rPr>
              <a:t> !</a:t>
            </a:r>
            <a:endParaRPr lang="en-US" sz="1450" dirty="0"/>
          </a:p>
        </p:txBody>
      </p:sp>
      <p:sp>
        <p:nvSpPr>
          <p:cNvPr id="25" name="Shape 20"/>
          <p:cNvSpPr/>
          <p:nvPr/>
        </p:nvSpPr>
        <p:spPr>
          <a:xfrm>
            <a:off x="3246120" y="5440680"/>
            <a:ext cx="6858000" cy="822960"/>
          </a:xfrm>
          <a:prstGeom prst="roundRect">
            <a:avLst>
              <a:gd name="adj" fmla="val 17778"/>
            </a:avLst>
          </a:prstGeom>
          <a:solidFill>
            <a:srgbClr val="EAF5EC"/>
          </a:solidFill>
          <a:ln w="15875">
            <a:solidFill>
              <a:srgbClr val="5FA873"/>
            </a:solidFill>
            <a:prstDash val="solid"/>
          </a:ln>
        </p:spPr>
      </p:sp>
      <p:pic>
        <p:nvPicPr>
          <p:cNvPr id="26" name="Image 2" descr="UserFriends">    </p:cNvPr>
          <p:cNvPicPr>
            <a:picLocks noChangeAspect="1"/>
          </p:cNvPicPr>
          <p:nvPr/>
        </p:nvPicPr>
        <p:blipFill>
          <a:blip r:embed="rId3"/>
          <a:stretch>
            <a:fillRect/>
          </a:stretch>
        </p:blipFill>
        <p:spPr>
          <a:xfrm>
            <a:off x="3520440" y="5660136"/>
            <a:ext cx="384048" cy="384048"/>
          </a:xfrm>
          <a:prstGeom prst="rect">
            <a:avLst/>
          </a:prstGeom>
        </p:spPr>
      </p:pic>
      <p:sp>
        <p:nvSpPr>
          <p:cNvPr id="27" name="Text 21"/>
          <p:cNvSpPr txBox="1"/>
          <p:nvPr/>
        </p:nvSpPr>
        <p:spPr>
          <a:xfrm>
            <a:off x="4114800" y="5440680"/>
            <a:ext cx="5852160" cy="822960"/>
          </a:xfrm>
          <a:prstGeom prst="rect">
            <a:avLst/>
          </a:prstGeom>
          <a:noFill/>
          <a:ln/>
        </p:spPr>
        <p:txBody>
          <a:bodyPr wrap="square" lIns="0" tIns="0" rIns="0" bIns="0" rtlCol="0" anchor="ctr"/>
          <a:lstStyle/>
          <a:p>
            <a:pPr algn="ctr" indent="0" marL="0">
              <a:buNone/>
            </a:pPr>
            <a:r>
              <a:rPr lang="en-US" sz="1800" b="1" dirty="0">
                <a:solidFill>
                  <a:srgbClr val="2E6B44"/>
                </a:solidFill>
                <a:latin typeface="Calibri" pitchFamily="34" charset="0"/>
                <a:ea typeface="Calibri" pitchFamily="34" charset="-122"/>
                <a:cs typeface="Calibri" pitchFamily="34" charset="-120"/>
              </a:rPr>
              <a:t>Lees je tekst voor aan je partner.</a:t>
            </a:r>
            <a:endParaRPr lang="en-US" sz="1800" dirty="0"/>
          </a:p>
          <a:p>
            <a:pPr algn="ctr" indent="0" marL="0">
              <a:buNone/>
            </a:pPr>
            <a:r>
              <a:rPr lang="en-US" sz="1800" b="1" dirty="0">
                <a:solidFill>
                  <a:srgbClr val="2E6B44"/>
                </a:solidFill>
                <a:latin typeface="Calibri" pitchFamily="34" charset="0"/>
                <a:ea typeface="Calibri" pitchFamily="34" charset="-122"/>
                <a:cs typeface="Calibri" pitchFamily="34" charset="-120"/>
              </a:rPr>
              <a:t>Wat denkt hij/zij daarvan?</a:t>
            </a:r>
            <a:endParaRPr lang="en-US" sz="1800" dirty="0"/>
          </a:p>
        </p:txBody>
      </p:sp>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1"/>
          <p:cNvSpPr/>
          <p:nvPr>
            <p:ph idx="101" type="title" hasCustomPrompt="1"/>
          </p:nvPr>
        </p:nvSpPr>
        <p:spPr>
          <a:xfrm>
            <a:off x="1554480" y="384048"/>
            <a:ext cx="10241280" cy="658368"/>
          </a:xfrm>
          <a:prstGeom prst="rect">
            <a:avLst/>
          </a:prstGeom>
          <a:noFill/>
          <a:ln/>
        </p:spPr>
        <p:txBody>
          <a:bodyPr wrap="square" lIns="0" tIns="0" rIns="0" bIns="0" rtlCol="0" anchor="ctr"/>
          <a:lstStyle/>
          <a:p>
            <a:pPr algn="ctr" indent="0" marL="0">
              <a:buNone/>
            </a:pPr>
            <a:r>
              <a:rPr lang="en-US" sz="3000" b="1" dirty="0">
                <a:solidFill>
                  <a:srgbClr val="2B2F38"/>
                </a:solidFill>
              </a:rPr>
              <a:t>De of het?</a:t>
            </a:r>
            <a:endParaRPr lang="en-US" sz="3000" dirty="0"/>
          </a:p>
        </p:txBody>
      </p:sp>
      <p:sp>
        <p:nvSpPr>
          <p:cNvPr id="4" name="Shape 1"/>
          <p:cNvSpPr/>
          <p:nvPr/>
        </p:nvSpPr>
        <p:spPr>
          <a:xfrm>
            <a:off x="365760" y="365760"/>
            <a:ext cx="868680" cy="5989320"/>
          </a:xfrm>
          <a:prstGeom prst="roundRect">
            <a:avLst>
              <a:gd name="adj" fmla="val 12632"/>
            </a:avLst>
          </a:prstGeom>
          <a:solidFill>
            <a:srgbClr val="E4EEFB"/>
          </a:solidFill>
          <a:ln w="28575">
            <a:solidFill>
              <a:srgbClr val="6FA0DC"/>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3E6FB0"/>
                </a:solidFill>
                <a:latin typeface="Calibri" pitchFamily="34" charset="0"/>
                <a:ea typeface="Calibri" pitchFamily="34" charset="-122"/>
                <a:cs typeface="Calibri" pitchFamily="34" charset="-120"/>
              </a:rPr>
              <a:t>A1 · Grammaire</a:t>
            </a:r>
            <a:endParaRPr lang="en-US" sz="3800" dirty="0"/>
          </a:p>
        </p:txBody>
      </p:sp>
      <p:sp>
        <p:nvSpPr>
          <p:cNvPr id="6" name="Shape 3"/>
          <p:cNvSpPr/>
          <p:nvPr/>
        </p:nvSpPr>
        <p:spPr>
          <a:xfrm>
            <a:off x="2519172" y="1124712"/>
            <a:ext cx="8311896" cy="5277231"/>
          </a:xfrm>
          <a:prstGeom prst="roundRect">
            <a:avLst>
              <a:gd name="adj" fmla="val 693"/>
            </a:avLst>
          </a:prstGeom>
          <a:solidFill>
            <a:srgbClr val="FFFFFF"/>
          </a:solidFill>
          <a:ln w="9525">
            <a:solidFill>
              <a:srgbClr val="E3E7EE"/>
            </a:solidFill>
            <a:prstDash val="solid"/>
          </a:ln>
          <a:effectLst>
            <a:outerShdw sx="100000" sy="100000" kx="0" ky="0" algn="bl" rotWithShape="0" blurRad="177800" dist="63500" dir="5400000">
              <a:srgbClr val="1B2430">
                <a:alpha val="25000"/>
              </a:srgbClr>
            </a:outerShdw>
          </a:effectLst>
        </p:spPr>
      </p:sp>
      <p:pic>
        <p:nvPicPr>
          <p:cNvPr id="7" name="Image 0" descr="/home/user/talenleren/neerlandais1/generateur/img/vijfzinnen/a1_ontbijttafel.jpg">    </p:cNvPr>
          <p:cNvPicPr>
            <a:picLocks noChangeAspect="1"/>
          </p:cNvPicPr>
          <p:nvPr/>
        </p:nvPicPr>
        <p:blipFill>
          <a:blip r:embed="rId1"/>
          <a:stretch>
            <a:fillRect/>
          </a:stretch>
        </p:blipFill>
        <p:spPr>
          <a:xfrm>
            <a:off x="2628900" y="1234440"/>
            <a:ext cx="8092440" cy="5057775"/>
          </a:xfrm>
          <a:prstGeom prst="rect">
            <a:avLst/>
          </a:prstGeom>
        </p:spPr>
      </p:pic>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1"/>
          <p:cNvSpPr/>
          <p:nvPr>
            <p:ph idx="101" type="title" hasCustomPrompt="1"/>
          </p:nvPr>
        </p:nvSpPr>
        <p:spPr>
          <a:xfrm>
            <a:off x="1691640" y="347472"/>
            <a:ext cx="8138160" cy="914400"/>
          </a:xfrm>
          <a:prstGeom prst="rect">
            <a:avLst/>
          </a:prstGeom>
          <a:noFill/>
          <a:ln/>
        </p:spPr>
        <p:txBody>
          <a:bodyPr wrap="square" lIns="0" tIns="0" rIns="0" bIns="0" rtlCol="0" anchor="ctr"/>
          <a:lstStyle/>
          <a:p>
            <a:pPr algn="l" indent="0" marL="0">
              <a:buNone/>
            </a:pPr>
            <a:r>
              <a:rPr lang="en-US" sz="2400" b="1" dirty="0">
                <a:solidFill>
                  <a:srgbClr val="2B2F38"/>
                </a:solidFill>
              </a:rPr>
              <a:t>Hier is een voorbeeld van wat je had kunnen denken en schrijven…</a:t>
            </a:r>
            <a:endParaRPr lang="en-US" sz="2400" dirty="0"/>
          </a:p>
        </p:txBody>
      </p:sp>
      <p:sp>
        <p:nvSpPr>
          <p:cNvPr id="4" name="Shape 1"/>
          <p:cNvSpPr/>
          <p:nvPr/>
        </p:nvSpPr>
        <p:spPr>
          <a:xfrm>
            <a:off x="365760" y="365760"/>
            <a:ext cx="868680" cy="5989320"/>
          </a:xfrm>
          <a:prstGeom prst="roundRect">
            <a:avLst>
              <a:gd name="adj" fmla="val 12632"/>
            </a:avLst>
          </a:prstGeom>
          <a:solidFill>
            <a:srgbClr val="E4EEFB"/>
          </a:solidFill>
          <a:ln w="28575">
            <a:solidFill>
              <a:srgbClr val="6FA0DC"/>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3E6FB0"/>
                </a:solidFill>
                <a:latin typeface="Calibri" pitchFamily="34" charset="0"/>
                <a:ea typeface="Calibri" pitchFamily="34" charset="-122"/>
                <a:cs typeface="Calibri" pitchFamily="34" charset="-120"/>
              </a:rPr>
              <a:t>A1 · Grammaire</a:t>
            </a:r>
            <a:endParaRPr lang="en-US" sz="3800" dirty="0"/>
          </a:p>
        </p:txBody>
      </p:sp>
      <p:sp>
        <p:nvSpPr>
          <p:cNvPr id="6" name="Shape 3"/>
          <p:cNvSpPr/>
          <p:nvPr/>
        </p:nvSpPr>
        <p:spPr>
          <a:xfrm>
            <a:off x="10058400" y="246888"/>
            <a:ext cx="1691640" cy="1091565"/>
          </a:xfrm>
          <a:prstGeom prst="roundRect">
            <a:avLst>
              <a:gd name="adj" fmla="val 3351"/>
            </a:avLst>
          </a:prstGeom>
          <a:solidFill>
            <a:srgbClr val="FFFFFF"/>
          </a:solidFill>
          <a:ln w="9525">
            <a:solidFill>
              <a:srgbClr val="E3E7EE"/>
            </a:solidFill>
            <a:prstDash val="solid"/>
          </a:ln>
          <a:effectLst>
            <a:outerShdw sx="100000" sy="100000" kx="0" ky="0" algn="bl" rotWithShape="0" blurRad="76200" dist="25400" dir="5400000">
              <a:srgbClr val="1B2430">
                <a:alpha val="25000"/>
              </a:srgbClr>
            </a:outerShdw>
          </a:effectLst>
        </p:spPr>
      </p:sp>
      <p:pic>
        <p:nvPicPr>
          <p:cNvPr id="7" name="Image 0" descr="/home/user/talenleren/neerlandais1/generateur/img/vijfzinnen/a1_ontbijttafel_s.jpg">    </p:cNvPr>
          <p:cNvPicPr>
            <a:picLocks noChangeAspect="1"/>
          </p:cNvPicPr>
          <p:nvPr/>
        </p:nvPicPr>
        <p:blipFill>
          <a:blip r:embed="rId1"/>
          <a:stretch>
            <a:fillRect/>
          </a:stretch>
        </p:blipFill>
        <p:spPr>
          <a:xfrm>
            <a:off x="10104120" y="292608"/>
            <a:ext cx="1600200" cy="1000125"/>
          </a:xfrm>
          <a:prstGeom prst="rect">
            <a:avLst/>
          </a:prstGeom>
        </p:spPr>
      </p:pic>
      <p:sp>
        <p:nvSpPr>
          <p:cNvPr id="8" name="Shape 4"/>
          <p:cNvSpPr/>
          <p:nvPr/>
        </p:nvSpPr>
        <p:spPr>
          <a:xfrm>
            <a:off x="1691640" y="3120542"/>
            <a:ext cx="1236878" cy="371856"/>
          </a:xfrm>
          <a:prstGeom prst="roundRect">
            <a:avLst>
              <a:gd name="adj" fmla="val 12295"/>
            </a:avLst>
          </a:prstGeom>
          <a:solidFill>
            <a:srgbClr val="E6F3DA"/>
          </a:solidFill>
          <a:ln w="12700">
            <a:solidFill>
              <a:srgbClr val="FFFFFF">
                <a:alpha val="0"/>
              </a:srgbClr>
            </a:solidFill>
            <a:prstDash val="solid"/>
          </a:ln>
        </p:spPr>
      </p:sp>
      <p:sp>
        <p:nvSpPr>
          <p:cNvPr id="9" name="Text 5"/>
          <p:cNvSpPr txBox="1"/>
          <p:nvPr/>
        </p:nvSpPr>
        <p:spPr>
          <a:xfrm>
            <a:off x="1691640" y="3108350"/>
            <a:ext cx="1236878"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De koffie</a:t>
            </a:r>
            <a:endParaRPr lang="en-US" sz="2400" dirty="0"/>
          </a:p>
        </p:txBody>
      </p:sp>
      <p:sp>
        <p:nvSpPr>
          <p:cNvPr id="10" name="Text 6"/>
          <p:cNvSpPr txBox="1"/>
          <p:nvPr/>
        </p:nvSpPr>
        <p:spPr>
          <a:xfrm>
            <a:off x="3015691" y="3108350"/>
            <a:ext cx="1101852"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is heet.</a:t>
            </a:r>
            <a:endParaRPr lang="en-US" sz="2400" dirty="0"/>
          </a:p>
        </p:txBody>
      </p:sp>
      <p:sp>
        <p:nvSpPr>
          <p:cNvPr id="11" name="Shape 7"/>
          <p:cNvSpPr/>
          <p:nvPr/>
        </p:nvSpPr>
        <p:spPr>
          <a:xfrm>
            <a:off x="4021836" y="3120542"/>
            <a:ext cx="1375258" cy="371856"/>
          </a:xfrm>
          <a:prstGeom prst="roundRect">
            <a:avLst>
              <a:gd name="adj" fmla="val 12295"/>
            </a:avLst>
          </a:prstGeom>
          <a:solidFill>
            <a:srgbClr val="E6F3DA"/>
          </a:solidFill>
          <a:ln w="12700">
            <a:solidFill>
              <a:srgbClr val="FFFFFF">
                <a:alpha val="0"/>
              </a:srgbClr>
            </a:solidFill>
            <a:prstDash val="solid"/>
          </a:ln>
        </p:spPr>
      </p:sp>
      <p:sp>
        <p:nvSpPr>
          <p:cNvPr id="12" name="Text 8"/>
          <p:cNvSpPr txBox="1"/>
          <p:nvPr/>
        </p:nvSpPr>
        <p:spPr>
          <a:xfrm>
            <a:off x="4021836" y="3108350"/>
            <a:ext cx="1375258"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Het brood</a:t>
            </a:r>
            <a:endParaRPr lang="en-US" sz="2400" dirty="0"/>
          </a:p>
        </p:txBody>
      </p:sp>
      <p:sp>
        <p:nvSpPr>
          <p:cNvPr id="13" name="Text 9"/>
          <p:cNvSpPr txBox="1"/>
          <p:nvPr/>
        </p:nvSpPr>
        <p:spPr>
          <a:xfrm>
            <a:off x="5484266" y="3108350"/>
            <a:ext cx="1669999"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is vers. Er is</a:t>
            </a:r>
            <a:endParaRPr lang="en-US" sz="2400" dirty="0"/>
          </a:p>
        </p:txBody>
      </p:sp>
      <p:sp>
        <p:nvSpPr>
          <p:cNvPr id="14" name="Shape 10"/>
          <p:cNvSpPr/>
          <p:nvPr/>
        </p:nvSpPr>
        <p:spPr>
          <a:xfrm>
            <a:off x="7058558" y="3120542"/>
            <a:ext cx="1573378" cy="371856"/>
          </a:xfrm>
          <a:prstGeom prst="roundRect">
            <a:avLst>
              <a:gd name="adj" fmla="val 12295"/>
            </a:avLst>
          </a:prstGeom>
          <a:solidFill>
            <a:srgbClr val="E6F3DA"/>
          </a:solidFill>
          <a:ln w="12700">
            <a:solidFill>
              <a:srgbClr val="FFFFFF">
                <a:alpha val="0"/>
              </a:srgbClr>
            </a:solidFill>
            <a:prstDash val="solid"/>
          </a:ln>
        </p:spPr>
      </p:sp>
      <p:sp>
        <p:nvSpPr>
          <p:cNvPr id="15" name="Text 11"/>
          <p:cNvSpPr txBox="1"/>
          <p:nvPr/>
        </p:nvSpPr>
        <p:spPr>
          <a:xfrm>
            <a:off x="7058558" y="3108350"/>
            <a:ext cx="1573378"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een banaan</a:t>
            </a:r>
            <a:endParaRPr lang="en-US" sz="2400" dirty="0"/>
          </a:p>
        </p:txBody>
      </p:sp>
      <p:sp>
        <p:nvSpPr>
          <p:cNvPr id="16" name="Text 12"/>
          <p:cNvSpPr txBox="1"/>
          <p:nvPr/>
        </p:nvSpPr>
        <p:spPr>
          <a:xfrm>
            <a:off x="8719109" y="3108350"/>
            <a:ext cx="1694078"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voor Emma.</a:t>
            </a:r>
            <a:endParaRPr lang="en-US" sz="2400" dirty="0"/>
          </a:p>
        </p:txBody>
      </p:sp>
      <p:sp>
        <p:nvSpPr>
          <p:cNvPr id="17" name="Shape 13"/>
          <p:cNvSpPr/>
          <p:nvPr/>
        </p:nvSpPr>
        <p:spPr>
          <a:xfrm>
            <a:off x="2310079" y="3044342"/>
            <a:ext cx="914" cy="76200"/>
          </a:xfrm>
          <a:prstGeom prst="line">
            <a:avLst/>
          </a:prstGeom>
          <a:noFill/>
          <a:ln w="15875">
            <a:solidFill>
              <a:srgbClr val="7AB648"/>
            </a:solidFill>
            <a:prstDash val="solid"/>
          </a:ln>
        </p:spPr>
      </p:sp>
      <p:sp>
        <p:nvSpPr>
          <p:cNvPr id="18" name="Shape 14"/>
          <p:cNvSpPr/>
          <p:nvPr/>
        </p:nvSpPr>
        <p:spPr>
          <a:xfrm>
            <a:off x="2122259" y="2797454"/>
            <a:ext cx="375641" cy="246888"/>
          </a:xfrm>
          <a:prstGeom prst="roundRect">
            <a:avLst>
              <a:gd name="adj" fmla="val 14815"/>
            </a:avLst>
          </a:prstGeom>
          <a:solidFill>
            <a:srgbClr val="7AB648"/>
          </a:solidFill>
          <a:ln w="12700">
            <a:solidFill>
              <a:srgbClr val="FFFFFF">
                <a:alpha val="0"/>
              </a:srgbClr>
            </a:solidFill>
            <a:prstDash val="solid"/>
          </a:ln>
        </p:spPr>
      </p:sp>
      <p:sp>
        <p:nvSpPr>
          <p:cNvPr id="19" name="Text 15"/>
          <p:cNvSpPr txBox="1"/>
          <p:nvPr/>
        </p:nvSpPr>
        <p:spPr>
          <a:xfrm>
            <a:off x="2122259" y="2797454"/>
            <a:ext cx="375641"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DE</a:t>
            </a:r>
            <a:endParaRPr lang="en-US" sz="1100" dirty="0"/>
          </a:p>
        </p:txBody>
      </p:sp>
      <p:sp>
        <p:nvSpPr>
          <p:cNvPr id="20" name="Shape 16"/>
          <p:cNvSpPr/>
          <p:nvPr/>
        </p:nvSpPr>
        <p:spPr>
          <a:xfrm>
            <a:off x="4709465" y="3044342"/>
            <a:ext cx="914" cy="76200"/>
          </a:xfrm>
          <a:prstGeom prst="line">
            <a:avLst/>
          </a:prstGeom>
          <a:noFill/>
          <a:ln w="15875">
            <a:solidFill>
              <a:srgbClr val="7AB648"/>
            </a:solidFill>
            <a:prstDash val="solid"/>
          </a:ln>
        </p:spPr>
      </p:sp>
      <p:sp>
        <p:nvSpPr>
          <p:cNvPr id="21" name="Shape 17"/>
          <p:cNvSpPr/>
          <p:nvPr/>
        </p:nvSpPr>
        <p:spPr>
          <a:xfrm>
            <a:off x="4486999" y="2797454"/>
            <a:ext cx="444932" cy="246888"/>
          </a:xfrm>
          <a:prstGeom prst="roundRect">
            <a:avLst>
              <a:gd name="adj" fmla="val 14815"/>
            </a:avLst>
          </a:prstGeom>
          <a:solidFill>
            <a:srgbClr val="7AB648"/>
          </a:solidFill>
          <a:ln w="12700">
            <a:solidFill>
              <a:srgbClr val="FFFFFF">
                <a:alpha val="0"/>
              </a:srgbClr>
            </a:solidFill>
            <a:prstDash val="solid"/>
          </a:ln>
        </p:spPr>
      </p:sp>
      <p:sp>
        <p:nvSpPr>
          <p:cNvPr id="22" name="Text 18"/>
          <p:cNvSpPr txBox="1"/>
          <p:nvPr/>
        </p:nvSpPr>
        <p:spPr>
          <a:xfrm>
            <a:off x="4486999" y="2797454"/>
            <a:ext cx="444932"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HET</a:t>
            </a:r>
            <a:endParaRPr lang="en-US" sz="1100" dirty="0"/>
          </a:p>
        </p:txBody>
      </p:sp>
      <p:sp>
        <p:nvSpPr>
          <p:cNvPr id="23" name="Shape 19"/>
          <p:cNvSpPr/>
          <p:nvPr/>
        </p:nvSpPr>
        <p:spPr>
          <a:xfrm>
            <a:off x="7845247" y="3044342"/>
            <a:ext cx="914" cy="76200"/>
          </a:xfrm>
          <a:prstGeom prst="line">
            <a:avLst/>
          </a:prstGeom>
          <a:noFill/>
          <a:ln w="15875">
            <a:solidFill>
              <a:srgbClr val="7AB648"/>
            </a:solidFill>
            <a:prstDash val="solid"/>
          </a:ln>
        </p:spPr>
      </p:sp>
      <p:sp>
        <p:nvSpPr>
          <p:cNvPr id="24" name="Shape 20"/>
          <p:cNvSpPr/>
          <p:nvPr/>
        </p:nvSpPr>
        <p:spPr>
          <a:xfrm>
            <a:off x="7621314" y="2797454"/>
            <a:ext cx="447866" cy="246888"/>
          </a:xfrm>
          <a:prstGeom prst="roundRect">
            <a:avLst>
              <a:gd name="adj" fmla="val 14815"/>
            </a:avLst>
          </a:prstGeom>
          <a:solidFill>
            <a:srgbClr val="7AB648"/>
          </a:solidFill>
          <a:ln w="12700">
            <a:solidFill>
              <a:srgbClr val="FFFFFF">
                <a:alpha val="0"/>
              </a:srgbClr>
            </a:solidFill>
            <a:prstDash val="solid"/>
          </a:ln>
        </p:spPr>
      </p:sp>
      <p:sp>
        <p:nvSpPr>
          <p:cNvPr id="25" name="Text 21"/>
          <p:cNvSpPr txBox="1"/>
          <p:nvPr/>
        </p:nvSpPr>
        <p:spPr>
          <a:xfrm>
            <a:off x="7621314" y="2797454"/>
            <a:ext cx="447866"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EEN</a:t>
            </a:r>
            <a:endParaRPr lang="en-US" sz="1100" dirty="0"/>
          </a:p>
        </p:txBody>
      </p:sp>
      <p:sp>
        <p:nvSpPr>
          <p:cNvPr id="26" name="Text 22"/>
          <p:cNvSpPr txBox="1"/>
          <p:nvPr/>
        </p:nvSpPr>
        <p:spPr>
          <a:xfrm>
            <a:off x="4759147" y="4162958"/>
            <a:ext cx="854050"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Help!</a:t>
            </a:r>
            <a:endParaRPr lang="en-US" sz="2400" dirty="0"/>
          </a:p>
        </p:txBody>
      </p:sp>
      <p:sp>
        <p:nvSpPr>
          <p:cNvPr id="27" name="Shape 23"/>
          <p:cNvSpPr/>
          <p:nvPr/>
        </p:nvSpPr>
        <p:spPr>
          <a:xfrm>
            <a:off x="5517490" y="4175150"/>
            <a:ext cx="1331062" cy="371856"/>
          </a:xfrm>
          <a:prstGeom prst="roundRect">
            <a:avLst>
              <a:gd name="adj" fmla="val 12295"/>
            </a:avLst>
          </a:prstGeom>
          <a:solidFill>
            <a:srgbClr val="E6F3DA"/>
          </a:solidFill>
          <a:ln w="12700">
            <a:solidFill>
              <a:srgbClr val="FFFFFF">
                <a:alpha val="0"/>
              </a:srgbClr>
            </a:solidFill>
            <a:prstDash val="solid"/>
          </a:ln>
        </p:spPr>
      </p:sp>
      <p:sp>
        <p:nvSpPr>
          <p:cNvPr id="28" name="Text 24"/>
          <p:cNvSpPr txBox="1"/>
          <p:nvPr/>
        </p:nvSpPr>
        <p:spPr>
          <a:xfrm>
            <a:off x="5517490" y="4162958"/>
            <a:ext cx="1331062"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De katten</a:t>
            </a:r>
            <a:endParaRPr lang="en-US" sz="2400" dirty="0"/>
          </a:p>
        </p:txBody>
      </p:sp>
      <p:sp>
        <p:nvSpPr>
          <p:cNvPr id="29" name="Text 25"/>
          <p:cNvSpPr txBox="1"/>
          <p:nvPr/>
        </p:nvSpPr>
        <p:spPr>
          <a:xfrm>
            <a:off x="6935724" y="4162958"/>
            <a:ext cx="1883969"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eten de kaas!</a:t>
            </a:r>
            <a:endParaRPr lang="en-US" sz="2400" dirty="0"/>
          </a:p>
        </p:txBody>
      </p:sp>
      <p:sp>
        <p:nvSpPr>
          <p:cNvPr id="30" name="Shape 26"/>
          <p:cNvSpPr/>
          <p:nvPr/>
        </p:nvSpPr>
        <p:spPr>
          <a:xfrm>
            <a:off x="6183020" y="4098950"/>
            <a:ext cx="914" cy="76200"/>
          </a:xfrm>
          <a:prstGeom prst="line">
            <a:avLst/>
          </a:prstGeom>
          <a:noFill/>
          <a:ln w="15875">
            <a:solidFill>
              <a:srgbClr val="7AB648"/>
            </a:solidFill>
            <a:prstDash val="solid"/>
          </a:ln>
        </p:spPr>
      </p:sp>
      <p:sp>
        <p:nvSpPr>
          <p:cNvPr id="31" name="Shape 27"/>
          <p:cNvSpPr/>
          <p:nvPr/>
        </p:nvSpPr>
        <p:spPr>
          <a:xfrm>
            <a:off x="5742343" y="3852062"/>
            <a:ext cx="881355" cy="246888"/>
          </a:xfrm>
          <a:prstGeom prst="roundRect">
            <a:avLst>
              <a:gd name="adj" fmla="val 14815"/>
            </a:avLst>
          </a:prstGeom>
          <a:solidFill>
            <a:srgbClr val="7AB648"/>
          </a:solidFill>
          <a:ln w="12700">
            <a:solidFill>
              <a:srgbClr val="FFFFFF">
                <a:alpha val="0"/>
              </a:srgbClr>
            </a:solidFill>
            <a:prstDash val="solid"/>
          </a:ln>
        </p:spPr>
      </p:sp>
      <p:sp>
        <p:nvSpPr>
          <p:cNvPr id="32" name="Text 28"/>
          <p:cNvSpPr txBox="1"/>
          <p:nvPr/>
        </p:nvSpPr>
        <p:spPr>
          <a:xfrm>
            <a:off x="5742343" y="3852062"/>
            <a:ext cx="881355"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DE + pluriel</a:t>
            </a:r>
            <a:endParaRPr lang="en-US" sz="1100" dirty="0"/>
          </a:p>
        </p:txBody>
      </p:sp>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1"/>
          <p:cNvSpPr/>
          <p:nvPr>
            <p:ph idx="101" type="title" hasCustomPrompt="1"/>
          </p:nvPr>
        </p:nvSpPr>
        <p:spPr>
          <a:xfrm>
            <a:off x="1554480" y="384048"/>
            <a:ext cx="10241280" cy="658368"/>
          </a:xfrm>
          <a:prstGeom prst="rect">
            <a:avLst/>
          </a:prstGeom>
          <a:noFill/>
          <a:ln/>
        </p:spPr>
        <p:txBody>
          <a:bodyPr wrap="square" lIns="0" tIns="0" rIns="0" bIns="0" rtlCol="0" anchor="ctr"/>
          <a:lstStyle/>
          <a:p>
            <a:pPr algn="ctr" indent="0" marL="0">
              <a:buNone/>
            </a:pPr>
            <a:r>
              <a:rPr lang="en-US" sz="3000" b="1" dirty="0">
                <a:solidFill>
                  <a:srgbClr val="2B2F38"/>
                </a:solidFill>
              </a:rPr>
              <a:t>Gebruik deze afbeelding als inspiratie</a:t>
            </a:r>
            <a:endParaRPr lang="en-US" sz="3000" dirty="0"/>
          </a:p>
        </p:txBody>
      </p:sp>
      <p:sp>
        <p:nvSpPr>
          <p:cNvPr id="4" name="Shape 1"/>
          <p:cNvSpPr/>
          <p:nvPr/>
        </p:nvSpPr>
        <p:spPr>
          <a:xfrm>
            <a:off x="365760" y="365760"/>
            <a:ext cx="868680" cy="5989320"/>
          </a:xfrm>
          <a:prstGeom prst="roundRect">
            <a:avLst>
              <a:gd name="adj" fmla="val 12632"/>
            </a:avLst>
          </a:prstGeom>
          <a:solidFill>
            <a:srgbClr val="E4EEFB"/>
          </a:solidFill>
          <a:ln w="28575">
            <a:solidFill>
              <a:srgbClr val="6FA0DC"/>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3E6FB0"/>
                </a:solidFill>
                <a:latin typeface="Calibri" pitchFamily="34" charset="0"/>
                <a:ea typeface="Calibri" pitchFamily="34" charset="-122"/>
                <a:cs typeface="Calibri" pitchFamily="34" charset="-120"/>
              </a:rPr>
              <a:t>A1 · Grammaire</a:t>
            </a:r>
            <a:endParaRPr lang="en-US" sz="3800" dirty="0"/>
          </a:p>
        </p:txBody>
      </p:sp>
      <p:sp>
        <p:nvSpPr>
          <p:cNvPr id="6" name="Text 3"/>
          <p:cNvSpPr txBox="1"/>
          <p:nvPr/>
        </p:nvSpPr>
        <p:spPr>
          <a:xfrm>
            <a:off x="1554480" y="1024128"/>
            <a:ext cx="10241280" cy="365760"/>
          </a:xfrm>
          <a:prstGeom prst="rect">
            <a:avLst/>
          </a:prstGeom>
          <a:noFill/>
          <a:ln/>
        </p:spPr>
        <p:txBody>
          <a:bodyPr wrap="square" lIns="0" tIns="0" rIns="0" bIns="0" rtlCol="0" anchor="ctr"/>
          <a:lstStyle/>
          <a:p>
            <a:pPr algn="ctr" indent="0" marL="0">
              <a:buNone/>
            </a:pPr>
            <a:r>
              <a:rPr lang="en-US" sz="1500" b="1" dirty="0">
                <a:solidFill>
                  <a:srgbClr val="3E6FB0"/>
                </a:solidFill>
                <a:latin typeface="Calibri" pitchFamily="34" charset="0"/>
                <a:ea typeface="Calibri" pitchFamily="34" charset="-122"/>
                <a:cs typeface="Calibri" pitchFamily="34" charset="-120"/>
              </a:rPr>
              <a:t>16 · Bij de bakker</a:t>
            </a:r>
            <a:r>
              <a:rPr lang="en-US" sz="1500" i="1" dirty="0">
                <a:solidFill>
                  <a:srgbClr val="6B7280"/>
                </a:solidFill>
                <a:latin typeface="Calibri" pitchFamily="34" charset="0"/>
                <a:ea typeface="Calibri" pitchFamily="34" charset="-122"/>
                <a:cs typeface="Calibri" pitchFamily="34" charset="-120"/>
              </a:rPr>
              <a:t>   Chez le boulanger</a:t>
            </a:r>
            <a:r>
              <a:rPr lang="en-US" sz="1200" dirty="0">
                <a:solidFill>
                  <a:srgbClr val="9AA3B2"/>
                </a:solidFill>
                <a:latin typeface="Calibri" pitchFamily="34" charset="0"/>
                <a:ea typeface="Calibri" pitchFamily="34" charset="-122"/>
                <a:cs typeface="Calibri" pitchFamily="34" charset="-120"/>
              </a:rPr>
              <a:t>   ·   syllabus fiche 02 · p. 59</a:t>
            </a:r>
            <a:endParaRPr lang="en-US" sz="1500" dirty="0"/>
          </a:p>
        </p:txBody>
      </p:sp>
      <p:sp>
        <p:nvSpPr>
          <p:cNvPr id="7" name="Shape 4"/>
          <p:cNvSpPr/>
          <p:nvPr/>
        </p:nvSpPr>
        <p:spPr>
          <a:xfrm>
            <a:off x="1596085" y="1504645"/>
            <a:ext cx="4534510" cy="2905735"/>
          </a:xfrm>
          <a:prstGeom prst="roundRect">
            <a:avLst>
              <a:gd name="adj" fmla="val 1259"/>
            </a:avLst>
          </a:prstGeom>
          <a:solidFill>
            <a:srgbClr val="FFFFFF"/>
          </a:solidFill>
          <a:ln w="9525">
            <a:solidFill>
              <a:srgbClr val="E3E7EE"/>
            </a:solidFill>
            <a:prstDash val="solid"/>
          </a:ln>
          <a:effectLst>
            <a:outerShdw sx="100000" sy="100000" kx="0" ky="0" algn="bl" rotWithShape="0" blurRad="127000" dist="50800" dir="5400000">
              <a:srgbClr val="1B2430">
                <a:alpha val="25000"/>
              </a:srgbClr>
            </a:outerShdw>
          </a:effectLst>
        </p:spPr>
      </p:sp>
      <p:pic>
        <p:nvPicPr>
          <p:cNvPr id="8" name="Image 0" descr="/home/user/talenleren/neerlandais1/generateur/img/vijfzinnen/a1_bakker_s.jpg">    </p:cNvPr>
          <p:cNvPicPr>
            <a:picLocks noChangeAspect="1"/>
          </p:cNvPicPr>
          <p:nvPr/>
        </p:nvPicPr>
        <p:blipFill>
          <a:blip r:embed="rId1"/>
          <a:stretch>
            <a:fillRect/>
          </a:stretch>
        </p:blipFill>
        <p:spPr>
          <a:xfrm>
            <a:off x="1691640" y="1600200"/>
            <a:ext cx="4343400" cy="2714625"/>
          </a:xfrm>
          <a:prstGeom prst="rect">
            <a:avLst/>
          </a:prstGeom>
        </p:spPr>
      </p:pic>
      <p:sp>
        <p:nvSpPr>
          <p:cNvPr id="9" name="Shape 5"/>
          <p:cNvSpPr/>
          <p:nvPr/>
        </p:nvSpPr>
        <p:spPr>
          <a:xfrm>
            <a:off x="1691640" y="4572000"/>
            <a:ext cx="1600200" cy="365760"/>
          </a:xfrm>
          <a:prstGeom prst="roundRect">
            <a:avLst>
              <a:gd name="adj" fmla="val 50000"/>
            </a:avLst>
          </a:prstGeom>
          <a:solidFill>
            <a:srgbClr val="EAF1FC"/>
          </a:solidFill>
          <a:ln w="12700">
            <a:solidFill>
              <a:srgbClr val="4A7BD0"/>
            </a:solidFill>
            <a:prstDash val="solid"/>
          </a:ln>
        </p:spPr>
      </p:sp>
      <p:pic>
        <p:nvPicPr>
          <p:cNvPr id="10" name="Image 1" descr="PenNib">    </p:cNvPr>
          <p:cNvPicPr>
            <a:picLocks noChangeAspect="1"/>
          </p:cNvPicPr>
          <p:nvPr/>
        </p:nvPicPr>
        <p:blipFill>
          <a:blip r:embed="rId2"/>
          <a:stretch>
            <a:fillRect/>
          </a:stretch>
        </p:blipFill>
        <p:spPr>
          <a:xfrm>
            <a:off x="1819656" y="4654296"/>
            <a:ext cx="201168" cy="201168"/>
          </a:xfrm>
          <a:prstGeom prst="rect">
            <a:avLst/>
          </a:prstGeom>
        </p:spPr>
      </p:pic>
      <p:sp>
        <p:nvSpPr>
          <p:cNvPr id="11" name="Text 6"/>
          <p:cNvSpPr txBox="1"/>
          <p:nvPr/>
        </p:nvSpPr>
        <p:spPr>
          <a:xfrm>
            <a:off x="2075688" y="4572000"/>
            <a:ext cx="1143000" cy="365760"/>
          </a:xfrm>
          <a:prstGeom prst="rect">
            <a:avLst/>
          </a:prstGeom>
          <a:noFill/>
          <a:ln/>
        </p:spPr>
        <p:txBody>
          <a:bodyPr wrap="square" lIns="0" tIns="0" rIns="0" bIns="0" rtlCol="0" anchor="ctr"/>
          <a:lstStyle/>
          <a:p>
            <a:pPr algn="l" indent="0" marL="0">
              <a:buNone/>
            </a:pPr>
            <a:r>
              <a:rPr lang="en-US" sz="1150" b="1" spc="100" kern="0" dirty="0">
                <a:solidFill>
                  <a:srgbClr val="4A7BD0"/>
                </a:solidFill>
                <a:latin typeface="Calibri" pitchFamily="34" charset="0"/>
                <a:ea typeface="Calibri" pitchFamily="34" charset="-122"/>
                <a:cs typeface="Calibri" pitchFamily="34" charset="-120"/>
              </a:rPr>
              <a:t>À L’ÉCRIT</a:t>
            </a:r>
            <a:endParaRPr lang="en-US" sz="1150" dirty="0"/>
          </a:p>
        </p:txBody>
      </p:sp>
      <p:sp>
        <p:nvSpPr>
          <p:cNvPr id="12" name="Text 7"/>
          <p:cNvSpPr txBox="1"/>
          <p:nvPr/>
        </p:nvSpPr>
        <p:spPr>
          <a:xfrm>
            <a:off x="3429000" y="4544568"/>
            <a:ext cx="2651760" cy="731520"/>
          </a:xfrm>
          <a:prstGeom prst="rect">
            <a:avLst/>
          </a:prstGeom>
          <a:noFill/>
          <a:ln/>
        </p:spPr>
        <p:txBody>
          <a:bodyPr wrap="square" lIns="0" tIns="0" rIns="0" bIns="0" rtlCol="0" anchor="t"/>
          <a:lstStyle/>
          <a:p>
            <a:pPr algn="l" indent="0" marL="0">
              <a:buNone/>
            </a:pPr>
            <a:r>
              <a:rPr lang="en-US" sz="1150" i="1" dirty="0">
                <a:solidFill>
                  <a:srgbClr val="6B7280"/>
                </a:solidFill>
                <a:latin typeface="Calibri" pitchFamily="34" charset="0"/>
                <a:ea typeface="Calibri" pitchFamily="34" charset="-122"/>
                <a:cs typeface="Calibri" pitchFamily="34" charset="-120"/>
              </a:rPr>
              <a:t>Dimanche matin, vous achetez le petit-déjeuner pour toute la famille.</a:t>
            </a:r>
            <a:endParaRPr lang="en-US" sz="1150" dirty="0"/>
          </a:p>
        </p:txBody>
      </p:sp>
      <p:sp>
        <p:nvSpPr>
          <p:cNvPr id="13" name="Shape 8"/>
          <p:cNvSpPr/>
          <p:nvPr/>
        </p:nvSpPr>
        <p:spPr>
          <a:xfrm>
            <a:off x="6355080" y="1673352"/>
            <a:ext cx="914400" cy="402336"/>
          </a:xfrm>
          <a:prstGeom prst="roundRect">
            <a:avLst>
              <a:gd name="adj" fmla="val 13636"/>
            </a:avLst>
          </a:prstGeom>
          <a:solidFill>
            <a:srgbClr val="5FA873"/>
          </a:solidFill>
          <a:ln w="12700">
            <a:solidFill>
              <a:srgbClr val="FFFFFF">
                <a:alpha val="0"/>
              </a:srgbClr>
            </a:solidFill>
            <a:prstDash val="solid"/>
          </a:ln>
        </p:spPr>
      </p:sp>
      <p:sp>
        <p:nvSpPr>
          <p:cNvPr id="14" name="Text 9"/>
          <p:cNvSpPr txBox="1"/>
          <p:nvPr/>
        </p:nvSpPr>
        <p:spPr>
          <a:xfrm>
            <a:off x="6355080" y="167335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1</a:t>
            </a:r>
            <a:endParaRPr lang="en-US" sz="1600" dirty="0"/>
          </a:p>
        </p:txBody>
      </p:sp>
      <p:sp>
        <p:nvSpPr>
          <p:cNvPr id="15" name="Text 10"/>
          <p:cNvSpPr txBox="1"/>
          <p:nvPr/>
        </p:nvSpPr>
        <p:spPr>
          <a:xfrm>
            <a:off x="7406640" y="1618488"/>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Un pluriel en </a:t>
            </a:r>
            <a:r>
              <a:rPr lang="en-US" sz="1450" b="1" dirty="0">
                <a:solidFill>
                  <a:srgbClr val="2B2F38"/>
                </a:solidFill>
              </a:rPr>
              <a:t>-EN</a:t>
            </a:r>
            <a:r>
              <a:rPr lang="en-US" sz="1450" dirty="0">
                <a:solidFill>
                  <a:srgbClr val="2B2F38"/>
                </a:solidFill>
              </a:rPr>
              <a:t> : twee brod</a:t>
            </a:r>
            <a:r>
              <a:rPr lang="en-US" sz="1450" b="1" dirty="0">
                <a:solidFill>
                  <a:srgbClr val="2B2F38"/>
                </a:solidFill>
              </a:rPr>
              <a:t>en</a:t>
            </a:r>
            <a:r>
              <a:rPr lang="en-US" sz="1450" dirty="0">
                <a:solidFill>
                  <a:srgbClr val="2B2F38"/>
                </a:solidFill>
              </a:rPr>
              <a:t>…</a:t>
            </a:r>
            <a:endParaRPr lang="en-US" sz="1450" dirty="0"/>
          </a:p>
        </p:txBody>
      </p:sp>
      <p:sp>
        <p:nvSpPr>
          <p:cNvPr id="16" name="Shape 11"/>
          <p:cNvSpPr/>
          <p:nvPr/>
        </p:nvSpPr>
        <p:spPr>
          <a:xfrm>
            <a:off x="6355080" y="2404872"/>
            <a:ext cx="914400" cy="402336"/>
          </a:xfrm>
          <a:prstGeom prst="roundRect">
            <a:avLst>
              <a:gd name="adj" fmla="val 13636"/>
            </a:avLst>
          </a:prstGeom>
          <a:solidFill>
            <a:srgbClr val="5FA873"/>
          </a:solidFill>
          <a:ln w="12700">
            <a:solidFill>
              <a:srgbClr val="FFFFFF">
                <a:alpha val="0"/>
              </a:srgbClr>
            </a:solidFill>
            <a:prstDash val="solid"/>
          </a:ln>
        </p:spPr>
      </p:sp>
      <p:sp>
        <p:nvSpPr>
          <p:cNvPr id="17" name="Text 12"/>
          <p:cNvSpPr txBox="1"/>
          <p:nvPr/>
        </p:nvSpPr>
        <p:spPr>
          <a:xfrm>
            <a:off x="6355080" y="240487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2</a:t>
            </a:r>
            <a:endParaRPr lang="en-US" sz="1600" dirty="0"/>
          </a:p>
        </p:txBody>
      </p:sp>
      <p:sp>
        <p:nvSpPr>
          <p:cNvPr id="18" name="Text 13"/>
          <p:cNvSpPr txBox="1"/>
          <p:nvPr/>
        </p:nvSpPr>
        <p:spPr>
          <a:xfrm>
            <a:off x="7406640" y="2350008"/>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Un pluriel en </a:t>
            </a:r>
            <a:r>
              <a:rPr lang="en-US" sz="1450" b="1" dirty="0">
                <a:solidFill>
                  <a:srgbClr val="2B2F38"/>
                </a:solidFill>
              </a:rPr>
              <a:t>-S</a:t>
            </a:r>
            <a:r>
              <a:rPr lang="en-US" sz="1450" dirty="0">
                <a:solidFill>
                  <a:srgbClr val="2B2F38"/>
                </a:solidFill>
              </a:rPr>
              <a:t> : zes croissant</a:t>
            </a:r>
            <a:r>
              <a:rPr lang="en-US" sz="1450" b="1" dirty="0">
                <a:solidFill>
                  <a:srgbClr val="2B2F38"/>
                </a:solidFill>
              </a:rPr>
              <a:t>s</a:t>
            </a:r>
            <a:r>
              <a:rPr lang="en-US" sz="1450" dirty="0">
                <a:solidFill>
                  <a:srgbClr val="2B2F38"/>
                </a:solidFill>
              </a:rPr>
              <a:t>…</a:t>
            </a:r>
            <a:endParaRPr lang="en-US" sz="1450" dirty="0"/>
          </a:p>
        </p:txBody>
      </p:sp>
      <p:sp>
        <p:nvSpPr>
          <p:cNvPr id="19" name="Shape 14"/>
          <p:cNvSpPr/>
          <p:nvPr/>
        </p:nvSpPr>
        <p:spPr>
          <a:xfrm>
            <a:off x="6355080" y="3136392"/>
            <a:ext cx="914400" cy="402336"/>
          </a:xfrm>
          <a:prstGeom prst="roundRect">
            <a:avLst>
              <a:gd name="adj" fmla="val 13636"/>
            </a:avLst>
          </a:prstGeom>
          <a:solidFill>
            <a:srgbClr val="5FA873"/>
          </a:solidFill>
          <a:ln w="12700">
            <a:solidFill>
              <a:srgbClr val="FFFFFF">
                <a:alpha val="0"/>
              </a:srgbClr>
            </a:solidFill>
            <a:prstDash val="solid"/>
          </a:ln>
        </p:spPr>
      </p:sp>
      <p:sp>
        <p:nvSpPr>
          <p:cNvPr id="20" name="Text 15"/>
          <p:cNvSpPr txBox="1"/>
          <p:nvPr/>
        </p:nvSpPr>
        <p:spPr>
          <a:xfrm>
            <a:off x="6355080" y="313639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3</a:t>
            </a:r>
            <a:endParaRPr lang="en-US" sz="1600" dirty="0"/>
          </a:p>
        </p:txBody>
      </p:sp>
      <p:sp>
        <p:nvSpPr>
          <p:cNvPr id="21" name="Text 16"/>
          <p:cNvSpPr txBox="1"/>
          <p:nvPr/>
        </p:nvSpPr>
        <p:spPr>
          <a:xfrm>
            <a:off x="7406640" y="3081528"/>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Une question : </a:t>
            </a:r>
            <a:r>
              <a:rPr lang="en-US" sz="1450" b="1" dirty="0">
                <a:solidFill>
                  <a:srgbClr val="2B2F38"/>
                </a:solidFill>
              </a:rPr>
              <a:t>HOEVEEL KOSTEN</a:t>
            </a:r>
            <a:r>
              <a:rPr lang="en-US" sz="1450" dirty="0">
                <a:solidFill>
                  <a:srgbClr val="2B2F38"/>
                </a:solidFill>
              </a:rPr>
              <a:t> … ?</a:t>
            </a:r>
            <a:endParaRPr lang="en-US" sz="1450" dirty="0"/>
          </a:p>
        </p:txBody>
      </p:sp>
      <p:sp>
        <p:nvSpPr>
          <p:cNvPr id="22" name="Shape 17"/>
          <p:cNvSpPr/>
          <p:nvPr/>
        </p:nvSpPr>
        <p:spPr>
          <a:xfrm>
            <a:off x="6355080" y="3867912"/>
            <a:ext cx="914400" cy="402336"/>
          </a:xfrm>
          <a:prstGeom prst="roundRect">
            <a:avLst>
              <a:gd name="adj" fmla="val 13636"/>
            </a:avLst>
          </a:prstGeom>
          <a:solidFill>
            <a:srgbClr val="5FA873"/>
          </a:solidFill>
          <a:ln w="12700">
            <a:solidFill>
              <a:srgbClr val="FFFFFF">
                <a:alpha val="0"/>
              </a:srgbClr>
            </a:solidFill>
            <a:prstDash val="solid"/>
          </a:ln>
        </p:spPr>
      </p:sp>
      <p:sp>
        <p:nvSpPr>
          <p:cNvPr id="23" name="Text 18"/>
          <p:cNvSpPr txBox="1"/>
          <p:nvPr/>
        </p:nvSpPr>
        <p:spPr>
          <a:xfrm>
            <a:off x="6355080" y="386791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4</a:t>
            </a:r>
            <a:endParaRPr lang="en-US" sz="1600" dirty="0"/>
          </a:p>
        </p:txBody>
      </p:sp>
      <p:sp>
        <p:nvSpPr>
          <p:cNvPr id="24" name="Text 19"/>
          <p:cNvSpPr txBox="1"/>
          <p:nvPr/>
        </p:nvSpPr>
        <p:spPr>
          <a:xfrm>
            <a:off x="7406640" y="3813048"/>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Une chute avec un pluriel irrégulier : kind</a:t>
            </a:r>
            <a:r>
              <a:rPr lang="en-US" sz="1450" b="1" dirty="0">
                <a:solidFill>
                  <a:srgbClr val="2B2F38"/>
                </a:solidFill>
              </a:rPr>
              <a:t>eren</a:t>
            </a:r>
            <a:r>
              <a:rPr lang="en-US" sz="1450" dirty="0">
                <a:solidFill>
                  <a:srgbClr val="2B2F38"/>
                </a:solidFill>
              </a:rPr>
              <a:t>, ei</a:t>
            </a:r>
            <a:r>
              <a:rPr lang="en-US" sz="1450" b="1" dirty="0">
                <a:solidFill>
                  <a:srgbClr val="2B2F38"/>
                </a:solidFill>
              </a:rPr>
              <a:t>eren</a:t>
            </a:r>
            <a:r>
              <a:rPr lang="en-US" sz="1450" dirty="0">
                <a:solidFill>
                  <a:srgbClr val="2B2F38"/>
                </a:solidFill>
              </a:rPr>
              <a:t>.</a:t>
            </a:r>
            <a:endParaRPr lang="en-US" sz="1450" dirty="0"/>
          </a:p>
        </p:txBody>
      </p:sp>
      <p:sp>
        <p:nvSpPr>
          <p:cNvPr id="25" name="Shape 20"/>
          <p:cNvSpPr/>
          <p:nvPr/>
        </p:nvSpPr>
        <p:spPr>
          <a:xfrm>
            <a:off x="3246120" y="5440680"/>
            <a:ext cx="6858000" cy="822960"/>
          </a:xfrm>
          <a:prstGeom prst="roundRect">
            <a:avLst>
              <a:gd name="adj" fmla="val 17778"/>
            </a:avLst>
          </a:prstGeom>
          <a:solidFill>
            <a:srgbClr val="EAF5EC"/>
          </a:solidFill>
          <a:ln w="15875">
            <a:solidFill>
              <a:srgbClr val="5FA873"/>
            </a:solidFill>
            <a:prstDash val="solid"/>
          </a:ln>
        </p:spPr>
      </p:sp>
      <p:pic>
        <p:nvPicPr>
          <p:cNvPr id="26" name="Image 2" descr="UserFriends">    </p:cNvPr>
          <p:cNvPicPr>
            <a:picLocks noChangeAspect="1"/>
          </p:cNvPicPr>
          <p:nvPr/>
        </p:nvPicPr>
        <p:blipFill>
          <a:blip r:embed="rId3"/>
          <a:stretch>
            <a:fillRect/>
          </a:stretch>
        </p:blipFill>
        <p:spPr>
          <a:xfrm>
            <a:off x="3520440" y="5660136"/>
            <a:ext cx="384048" cy="384048"/>
          </a:xfrm>
          <a:prstGeom prst="rect">
            <a:avLst/>
          </a:prstGeom>
        </p:spPr>
      </p:pic>
      <p:sp>
        <p:nvSpPr>
          <p:cNvPr id="27" name="Text 21"/>
          <p:cNvSpPr txBox="1"/>
          <p:nvPr/>
        </p:nvSpPr>
        <p:spPr>
          <a:xfrm>
            <a:off x="4114800" y="5440680"/>
            <a:ext cx="5852160" cy="822960"/>
          </a:xfrm>
          <a:prstGeom prst="rect">
            <a:avLst/>
          </a:prstGeom>
          <a:noFill/>
          <a:ln/>
        </p:spPr>
        <p:txBody>
          <a:bodyPr wrap="square" lIns="0" tIns="0" rIns="0" bIns="0" rtlCol="0" anchor="ctr"/>
          <a:lstStyle/>
          <a:p>
            <a:pPr algn="ctr" indent="0" marL="0">
              <a:buNone/>
            </a:pPr>
            <a:r>
              <a:rPr lang="en-US" sz="1800" b="1" dirty="0">
                <a:solidFill>
                  <a:srgbClr val="2E6B44"/>
                </a:solidFill>
                <a:latin typeface="Calibri" pitchFamily="34" charset="0"/>
                <a:ea typeface="Calibri" pitchFamily="34" charset="-122"/>
                <a:cs typeface="Calibri" pitchFamily="34" charset="-120"/>
              </a:rPr>
              <a:t>Lees je tekst voor aan je partner.</a:t>
            </a:r>
            <a:endParaRPr lang="en-US" sz="1800" dirty="0"/>
          </a:p>
          <a:p>
            <a:pPr algn="ctr" indent="0" marL="0">
              <a:buNone/>
            </a:pPr>
            <a:r>
              <a:rPr lang="en-US" sz="1800" b="1" dirty="0">
                <a:solidFill>
                  <a:srgbClr val="2E6B44"/>
                </a:solidFill>
                <a:latin typeface="Calibri" pitchFamily="34" charset="0"/>
                <a:ea typeface="Calibri" pitchFamily="34" charset="-122"/>
                <a:cs typeface="Calibri" pitchFamily="34" charset="-120"/>
              </a:rPr>
              <a:t>Wat denkt hij/zij daarvan?</a:t>
            </a:r>
            <a:endParaRPr lang="en-US" sz="1800" dirty="0"/>
          </a:p>
        </p:txBody>
      </p:sp>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1"/>
          <p:cNvSpPr/>
          <p:nvPr>
            <p:ph idx="101" type="title" hasCustomPrompt="1"/>
          </p:nvPr>
        </p:nvSpPr>
        <p:spPr>
          <a:xfrm>
            <a:off x="1554480" y="384048"/>
            <a:ext cx="10241280" cy="658368"/>
          </a:xfrm>
          <a:prstGeom prst="rect">
            <a:avLst/>
          </a:prstGeom>
          <a:noFill/>
          <a:ln/>
        </p:spPr>
        <p:txBody>
          <a:bodyPr wrap="square" lIns="0" tIns="0" rIns="0" bIns="0" rtlCol="0" anchor="ctr"/>
          <a:lstStyle/>
          <a:p>
            <a:pPr algn="ctr" indent="0" marL="0">
              <a:buNone/>
            </a:pPr>
            <a:r>
              <a:rPr lang="en-US" sz="3000" b="1" dirty="0">
                <a:solidFill>
                  <a:srgbClr val="2B2F38"/>
                </a:solidFill>
              </a:rPr>
              <a:t>Bij de bakker</a:t>
            </a:r>
            <a:endParaRPr lang="en-US" sz="3000" dirty="0"/>
          </a:p>
        </p:txBody>
      </p:sp>
      <p:sp>
        <p:nvSpPr>
          <p:cNvPr id="4" name="Shape 1"/>
          <p:cNvSpPr/>
          <p:nvPr/>
        </p:nvSpPr>
        <p:spPr>
          <a:xfrm>
            <a:off x="365760" y="365760"/>
            <a:ext cx="868680" cy="5989320"/>
          </a:xfrm>
          <a:prstGeom prst="roundRect">
            <a:avLst>
              <a:gd name="adj" fmla="val 12632"/>
            </a:avLst>
          </a:prstGeom>
          <a:solidFill>
            <a:srgbClr val="E4EEFB"/>
          </a:solidFill>
          <a:ln w="28575">
            <a:solidFill>
              <a:srgbClr val="6FA0DC"/>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3E6FB0"/>
                </a:solidFill>
                <a:latin typeface="Calibri" pitchFamily="34" charset="0"/>
                <a:ea typeface="Calibri" pitchFamily="34" charset="-122"/>
                <a:cs typeface="Calibri" pitchFamily="34" charset="-120"/>
              </a:rPr>
              <a:t>A1 · Grammaire</a:t>
            </a:r>
            <a:endParaRPr lang="en-US" sz="3800" dirty="0"/>
          </a:p>
        </p:txBody>
      </p:sp>
      <p:sp>
        <p:nvSpPr>
          <p:cNvPr id="6" name="Shape 3"/>
          <p:cNvSpPr/>
          <p:nvPr/>
        </p:nvSpPr>
        <p:spPr>
          <a:xfrm>
            <a:off x="2519172" y="1124712"/>
            <a:ext cx="8311896" cy="5277231"/>
          </a:xfrm>
          <a:prstGeom prst="roundRect">
            <a:avLst>
              <a:gd name="adj" fmla="val 693"/>
            </a:avLst>
          </a:prstGeom>
          <a:solidFill>
            <a:srgbClr val="FFFFFF"/>
          </a:solidFill>
          <a:ln w="9525">
            <a:solidFill>
              <a:srgbClr val="E3E7EE"/>
            </a:solidFill>
            <a:prstDash val="solid"/>
          </a:ln>
          <a:effectLst>
            <a:outerShdw sx="100000" sy="100000" kx="0" ky="0" algn="bl" rotWithShape="0" blurRad="177800" dist="63500" dir="5400000">
              <a:srgbClr val="1B2430">
                <a:alpha val="25000"/>
              </a:srgbClr>
            </a:outerShdw>
          </a:effectLst>
        </p:spPr>
      </p:sp>
      <p:pic>
        <p:nvPicPr>
          <p:cNvPr id="7" name="Image 0" descr="/home/user/talenleren/neerlandais1/generateur/img/vijfzinnen/a1_bakker.jpg">    </p:cNvPr>
          <p:cNvPicPr>
            <a:picLocks noChangeAspect="1"/>
          </p:cNvPicPr>
          <p:nvPr/>
        </p:nvPicPr>
        <p:blipFill>
          <a:blip r:embed="rId1"/>
          <a:stretch>
            <a:fillRect/>
          </a:stretch>
        </p:blipFill>
        <p:spPr>
          <a:xfrm>
            <a:off x="2628900" y="1234440"/>
            <a:ext cx="8092440" cy="5057775"/>
          </a:xfrm>
          <a:prstGeom prst="rect">
            <a:avLst/>
          </a:prstGeom>
        </p:spPr>
      </p:pic>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1"/>
          <p:cNvSpPr/>
          <p:nvPr>
            <p:ph idx="101" type="title" hasCustomPrompt="1"/>
          </p:nvPr>
        </p:nvSpPr>
        <p:spPr>
          <a:xfrm>
            <a:off x="1691640" y="347472"/>
            <a:ext cx="8138160" cy="914400"/>
          </a:xfrm>
          <a:prstGeom prst="rect">
            <a:avLst/>
          </a:prstGeom>
          <a:noFill/>
          <a:ln/>
        </p:spPr>
        <p:txBody>
          <a:bodyPr wrap="square" lIns="0" tIns="0" rIns="0" bIns="0" rtlCol="0" anchor="ctr"/>
          <a:lstStyle/>
          <a:p>
            <a:pPr algn="l" indent="0" marL="0">
              <a:buNone/>
            </a:pPr>
            <a:r>
              <a:rPr lang="en-US" sz="2400" b="1" dirty="0">
                <a:solidFill>
                  <a:srgbClr val="2B2F38"/>
                </a:solidFill>
              </a:rPr>
              <a:t>Hier is een voorbeeld van wat je had kunnen denken en schrijven…</a:t>
            </a:r>
            <a:endParaRPr lang="en-US" sz="2400" dirty="0"/>
          </a:p>
        </p:txBody>
      </p:sp>
      <p:sp>
        <p:nvSpPr>
          <p:cNvPr id="4" name="Shape 1"/>
          <p:cNvSpPr/>
          <p:nvPr/>
        </p:nvSpPr>
        <p:spPr>
          <a:xfrm>
            <a:off x="365760" y="365760"/>
            <a:ext cx="868680" cy="5989320"/>
          </a:xfrm>
          <a:prstGeom prst="roundRect">
            <a:avLst>
              <a:gd name="adj" fmla="val 12632"/>
            </a:avLst>
          </a:prstGeom>
          <a:solidFill>
            <a:srgbClr val="E4EEFB"/>
          </a:solidFill>
          <a:ln w="28575">
            <a:solidFill>
              <a:srgbClr val="6FA0DC"/>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3E6FB0"/>
                </a:solidFill>
                <a:latin typeface="Calibri" pitchFamily="34" charset="0"/>
                <a:ea typeface="Calibri" pitchFamily="34" charset="-122"/>
                <a:cs typeface="Calibri" pitchFamily="34" charset="-120"/>
              </a:rPr>
              <a:t>A1 · Grammaire</a:t>
            </a:r>
            <a:endParaRPr lang="en-US" sz="3800" dirty="0"/>
          </a:p>
        </p:txBody>
      </p:sp>
      <p:sp>
        <p:nvSpPr>
          <p:cNvPr id="6" name="Shape 3"/>
          <p:cNvSpPr/>
          <p:nvPr/>
        </p:nvSpPr>
        <p:spPr>
          <a:xfrm>
            <a:off x="10058400" y="246888"/>
            <a:ext cx="1691640" cy="1091565"/>
          </a:xfrm>
          <a:prstGeom prst="roundRect">
            <a:avLst>
              <a:gd name="adj" fmla="val 3351"/>
            </a:avLst>
          </a:prstGeom>
          <a:solidFill>
            <a:srgbClr val="FFFFFF"/>
          </a:solidFill>
          <a:ln w="9525">
            <a:solidFill>
              <a:srgbClr val="E3E7EE"/>
            </a:solidFill>
            <a:prstDash val="solid"/>
          </a:ln>
          <a:effectLst>
            <a:outerShdw sx="100000" sy="100000" kx="0" ky="0" algn="bl" rotWithShape="0" blurRad="76200" dist="25400" dir="5400000">
              <a:srgbClr val="1B2430">
                <a:alpha val="25000"/>
              </a:srgbClr>
            </a:outerShdw>
          </a:effectLst>
        </p:spPr>
      </p:sp>
      <p:pic>
        <p:nvPicPr>
          <p:cNvPr id="7" name="Image 0" descr="/home/user/talenleren/neerlandais1/generateur/img/vijfzinnen/a1_bakker_s.jpg">    </p:cNvPr>
          <p:cNvPicPr>
            <a:picLocks noChangeAspect="1"/>
          </p:cNvPicPr>
          <p:nvPr/>
        </p:nvPicPr>
        <p:blipFill>
          <a:blip r:embed="rId1"/>
          <a:stretch>
            <a:fillRect/>
          </a:stretch>
        </p:blipFill>
        <p:spPr>
          <a:xfrm>
            <a:off x="10104120" y="292608"/>
            <a:ext cx="1600200" cy="1000125"/>
          </a:xfrm>
          <a:prstGeom prst="rect">
            <a:avLst/>
          </a:prstGeom>
        </p:spPr>
      </p:pic>
      <p:sp>
        <p:nvSpPr>
          <p:cNvPr id="8" name="Text 4"/>
          <p:cNvSpPr txBox="1"/>
          <p:nvPr/>
        </p:nvSpPr>
        <p:spPr>
          <a:xfrm>
            <a:off x="1691640" y="3108350"/>
            <a:ext cx="1816303"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Ik koop twee</a:t>
            </a:r>
            <a:endParaRPr lang="en-US" sz="2400" dirty="0"/>
          </a:p>
        </p:txBody>
      </p:sp>
      <p:sp>
        <p:nvSpPr>
          <p:cNvPr id="9" name="Shape 5"/>
          <p:cNvSpPr/>
          <p:nvPr/>
        </p:nvSpPr>
        <p:spPr>
          <a:xfrm>
            <a:off x="3412236" y="3120542"/>
            <a:ext cx="1007974" cy="371856"/>
          </a:xfrm>
          <a:prstGeom prst="roundRect">
            <a:avLst>
              <a:gd name="adj" fmla="val 12295"/>
            </a:avLst>
          </a:prstGeom>
          <a:solidFill>
            <a:srgbClr val="E6F3DA"/>
          </a:solidFill>
          <a:ln w="12700">
            <a:solidFill>
              <a:srgbClr val="FFFFFF">
                <a:alpha val="0"/>
              </a:srgbClr>
            </a:solidFill>
            <a:prstDash val="solid"/>
          </a:ln>
        </p:spPr>
      </p:sp>
      <p:sp>
        <p:nvSpPr>
          <p:cNvPr id="10" name="Text 6"/>
          <p:cNvSpPr txBox="1"/>
          <p:nvPr/>
        </p:nvSpPr>
        <p:spPr>
          <a:xfrm>
            <a:off x="3412236" y="3108350"/>
            <a:ext cx="1007974"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broden</a:t>
            </a:r>
            <a:endParaRPr lang="en-US" sz="2400" dirty="0"/>
          </a:p>
        </p:txBody>
      </p:sp>
      <p:sp>
        <p:nvSpPr>
          <p:cNvPr id="11" name="Text 7"/>
          <p:cNvSpPr txBox="1"/>
          <p:nvPr/>
        </p:nvSpPr>
        <p:spPr>
          <a:xfrm>
            <a:off x="4507382" y="3108350"/>
            <a:ext cx="973226"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en zes</a:t>
            </a:r>
            <a:endParaRPr lang="en-US" sz="2400" dirty="0"/>
          </a:p>
        </p:txBody>
      </p:sp>
      <p:sp>
        <p:nvSpPr>
          <p:cNvPr id="12" name="Shape 8"/>
          <p:cNvSpPr/>
          <p:nvPr/>
        </p:nvSpPr>
        <p:spPr>
          <a:xfrm>
            <a:off x="5384902" y="3120542"/>
            <a:ext cx="1350874" cy="371856"/>
          </a:xfrm>
          <a:prstGeom prst="roundRect">
            <a:avLst>
              <a:gd name="adj" fmla="val 12295"/>
            </a:avLst>
          </a:prstGeom>
          <a:solidFill>
            <a:srgbClr val="E6F3DA"/>
          </a:solidFill>
          <a:ln w="12700">
            <a:solidFill>
              <a:srgbClr val="FFFFFF">
                <a:alpha val="0"/>
              </a:srgbClr>
            </a:solidFill>
            <a:prstDash val="solid"/>
          </a:ln>
        </p:spPr>
      </p:sp>
      <p:sp>
        <p:nvSpPr>
          <p:cNvPr id="13" name="Text 9"/>
          <p:cNvSpPr txBox="1"/>
          <p:nvPr/>
        </p:nvSpPr>
        <p:spPr>
          <a:xfrm>
            <a:off x="5384902" y="3108350"/>
            <a:ext cx="1350874"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croissants</a:t>
            </a:r>
            <a:endParaRPr lang="en-US" sz="2400" dirty="0"/>
          </a:p>
        </p:txBody>
      </p:sp>
      <p:sp>
        <p:nvSpPr>
          <p:cNvPr id="14" name="Text 10"/>
          <p:cNvSpPr txBox="1"/>
          <p:nvPr/>
        </p:nvSpPr>
        <p:spPr>
          <a:xfrm>
            <a:off x="6735775" y="3108350"/>
            <a:ext cx="259690"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a:t>
            </a:r>
            <a:endParaRPr lang="en-US" sz="2400" dirty="0"/>
          </a:p>
        </p:txBody>
      </p:sp>
      <p:sp>
        <p:nvSpPr>
          <p:cNvPr id="15" name="Shape 11"/>
          <p:cNvSpPr/>
          <p:nvPr/>
        </p:nvSpPr>
        <p:spPr>
          <a:xfrm>
            <a:off x="6899758" y="3120542"/>
            <a:ext cx="2050390" cy="371856"/>
          </a:xfrm>
          <a:prstGeom prst="roundRect">
            <a:avLst>
              <a:gd name="adj" fmla="val 12295"/>
            </a:avLst>
          </a:prstGeom>
          <a:solidFill>
            <a:srgbClr val="E6F3DA"/>
          </a:solidFill>
          <a:ln w="12700">
            <a:solidFill>
              <a:srgbClr val="FFFFFF">
                <a:alpha val="0"/>
              </a:srgbClr>
            </a:solidFill>
            <a:prstDash val="solid"/>
          </a:ln>
        </p:spPr>
      </p:sp>
      <p:sp>
        <p:nvSpPr>
          <p:cNvPr id="16" name="Text 12"/>
          <p:cNvSpPr txBox="1"/>
          <p:nvPr/>
        </p:nvSpPr>
        <p:spPr>
          <a:xfrm>
            <a:off x="6899758" y="3108350"/>
            <a:ext cx="2050390"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Hoeveel kosten</a:t>
            </a:r>
            <a:endParaRPr lang="en-US" sz="2400" dirty="0"/>
          </a:p>
        </p:txBody>
      </p:sp>
      <p:sp>
        <p:nvSpPr>
          <p:cNvPr id="17" name="Text 13"/>
          <p:cNvSpPr txBox="1"/>
          <p:nvPr/>
        </p:nvSpPr>
        <p:spPr>
          <a:xfrm>
            <a:off x="9037320" y="3108350"/>
            <a:ext cx="1637386"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de taarten?</a:t>
            </a:r>
            <a:endParaRPr lang="en-US" sz="2400" dirty="0"/>
          </a:p>
        </p:txBody>
      </p:sp>
      <p:sp>
        <p:nvSpPr>
          <p:cNvPr id="18" name="Shape 14"/>
          <p:cNvSpPr/>
          <p:nvPr/>
        </p:nvSpPr>
        <p:spPr>
          <a:xfrm>
            <a:off x="3916223" y="3044342"/>
            <a:ext cx="914" cy="76200"/>
          </a:xfrm>
          <a:prstGeom prst="line">
            <a:avLst/>
          </a:prstGeom>
          <a:noFill/>
          <a:ln w="15875">
            <a:solidFill>
              <a:srgbClr val="7AB648"/>
            </a:solidFill>
            <a:prstDash val="solid"/>
          </a:ln>
        </p:spPr>
      </p:sp>
      <p:sp>
        <p:nvSpPr>
          <p:cNvPr id="19" name="Shape 15"/>
          <p:cNvSpPr/>
          <p:nvPr/>
        </p:nvSpPr>
        <p:spPr>
          <a:xfrm>
            <a:off x="3705003" y="2797454"/>
            <a:ext cx="422440" cy="246888"/>
          </a:xfrm>
          <a:prstGeom prst="roundRect">
            <a:avLst>
              <a:gd name="adj" fmla="val 14815"/>
            </a:avLst>
          </a:prstGeom>
          <a:solidFill>
            <a:srgbClr val="7AB648"/>
          </a:solidFill>
          <a:ln w="12700">
            <a:solidFill>
              <a:srgbClr val="FFFFFF">
                <a:alpha val="0"/>
              </a:srgbClr>
            </a:solidFill>
            <a:prstDash val="solid"/>
          </a:ln>
        </p:spPr>
      </p:sp>
      <p:sp>
        <p:nvSpPr>
          <p:cNvPr id="20" name="Text 16"/>
          <p:cNvSpPr txBox="1"/>
          <p:nvPr/>
        </p:nvSpPr>
        <p:spPr>
          <a:xfrm>
            <a:off x="3705003" y="2797454"/>
            <a:ext cx="422440"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-EN</a:t>
            </a:r>
            <a:endParaRPr lang="en-US" sz="1100" dirty="0"/>
          </a:p>
        </p:txBody>
      </p:sp>
      <p:sp>
        <p:nvSpPr>
          <p:cNvPr id="21" name="Shape 17"/>
          <p:cNvSpPr/>
          <p:nvPr/>
        </p:nvSpPr>
        <p:spPr>
          <a:xfrm>
            <a:off x="6060338" y="3044342"/>
            <a:ext cx="914" cy="76200"/>
          </a:xfrm>
          <a:prstGeom prst="line">
            <a:avLst/>
          </a:prstGeom>
          <a:noFill/>
          <a:ln w="15875">
            <a:solidFill>
              <a:srgbClr val="7AB648"/>
            </a:solidFill>
            <a:prstDash val="solid"/>
          </a:ln>
        </p:spPr>
      </p:sp>
      <p:sp>
        <p:nvSpPr>
          <p:cNvPr id="22" name="Shape 18"/>
          <p:cNvSpPr/>
          <p:nvPr/>
        </p:nvSpPr>
        <p:spPr>
          <a:xfrm>
            <a:off x="5896197" y="2797454"/>
            <a:ext cx="328282" cy="246888"/>
          </a:xfrm>
          <a:prstGeom prst="roundRect">
            <a:avLst>
              <a:gd name="adj" fmla="val 14815"/>
            </a:avLst>
          </a:prstGeom>
          <a:solidFill>
            <a:srgbClr val="7AB648"/>
          </a:solidFill>
          <a:ln w="12700">
            <a:solidFill>
              <a:srgbClr val="FFFFFF">
                <a:alpha val="0"/>
              </a:srgbClr>
            </a:solidFill>
            <a:prstDash val="solid"/>
          </a:ln>
        </p:spPr>
      </p:sp>
      <p:sp>
        <p:nvSpPr>
          <p:cNvPr id="23" name="Text 19"/>
          <p:cNvSpPr txBox="1"/>
          <p:nvPr/>
        </p:nvSpPr>
        <p:spPr>
          <a:xfrm>
            <a:off x="5896197" y="2797454"/>
            <a:ext cx="328282"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-S</a:t>
            </a:r>
            <a:endParaRPr lang="en-US" sz="1100" dirty="0"/>
          </a:p>
        </p:txBody>
      </p:sp>
      <p:sp>
        <p:nvSpPr>
          <p:cNvPr id="24" name="Shape 20"/>
          <p:cNvSpPr/>
          <p:nvPr/>
        </p:nvSpPr>
        <p:spPr>
          <a:xfrm>
            <a:off x="7924952" y="3044342"/>
            <a:ext cx="914" cy="76200"/>
          </a:xfrm>
          <a:prstGeom prst="line">
            <a:avLst/>
          </a:prstGeom>
          <a:noFill/>
          <a:ln w="15875">
            <a:solidFill>
              <a:srgbClr val="7AB648"/>
            </a:solidFill>
            <a:prstDash val="solid"/>
          </a:ln>
        </p:spPr>
      </p:sp>
      <p:sp>
        <p:nvSpPr>
          <p:cNvPr id="25" name="Shape 21"/>
          <p:cNvSpPr/>
          <p:nvPr/>
        </p:nvSpPr>
        <p:spPr>
          <a:xfrm>
            <a:off x="7550842" y="2797454"/>
            <a:ext cx="748221" cy="246888"/>
          </a:xfrm>
          <a:prstGeom prst="roundRect">
            <a:avLst>
              <a:gd name="adj" fmla="val 14815"/>
            </a:avLst>
          </a:prstGeom>
          <a:solidFill>
            <a:srgbClr val="7AB648"/>
          </a:solidFill>
          <a:ln w="12700">
            <a:solidFill>
              <a:srgbClr val="FFFFFF">
                <a:alpha val="0"/>
              </a:srgbClr>
            </a:solidFill>
            <a:prstDash val="solid"/>
          </a:ln>
        </p:spPr>
      </p:sp>
      <p:sp>
        <p:nvSpPr>
          <p:cNvPr id="26" name="Text 22"/>
          <p:cNvSpPr txBox="1"/>
          <p:nvPr/>
        </p:nvSpPr>
        <p:spPr>
          <a:xfrm>
            <a:off x="7550842" y="2797454"/>
            <a:ext cx="748221"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HOEVEEL</a:t>
            </a:r>
            <a:endParaRPr lang="en-US" sz="1100" dirty="0"/>
          </a:p>
        </p:txBody>
      </p:sp>
      <p:sp>
        <p:nvSpPr>
          <p:cNvPr id="27" name="Text 23"/>
          <p:cNvSpPr txBox="1"/>
          <p:nvPr/>
        </p:nvSpPr>
        <p:spPr>
          <a:xfrm>
            <a:off x="3847033" y="4162958"/>
            <a:ext cx="1510589"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Ik heb vier</a:t>
            </a:r>
            <a:endParaRPr lang="en-US" sz="2400" dirty="0"/>
          </a:p>
        </p:txBody>
      </p:sp>
      <p:sp>
        <p:nvSpPr>
          <p:cNvPr id="28" name="Shape 24"/>
          <p:cNvSpPr/>
          <p:nvPr/>
        </p:nvSpPr>
        <p:spPr>
          <a:xfrm>
            <a:off x="5261915" y="4175150"/>
            <a:ext cx="1218590" cy="371856"/>
          </a:xfrm>
          <a:prstGeom prst="roundRect">
            <a:avLst>
              <a:gd name="adj" fmla="val 12295"/>
            </a:avLst>
          </a:prstGeom>
          <a:solidFill>
            <a:srgbClr val="E6F3DA"/>
          </a:solidFill>
          <a:ln w="12700">
            <a:solidFill>
              <a:srgbClr val="FFFFFF">
                <a:alpha val="0"/>
              </a:srgbClr>
            </a:solidFill>
            <a:prstDash val="solid"/>
          </a:ln>
        </p:spPr>
      </p:sp>
      <p:sp>
        <p:nvSpPr>
          <p:cNvPr id="29" name="Text 25"/>
          <p:cNvSpPr txBox="1"/>
          <p:nvPr/>
        </p:nvSpPr>
        <p:spPr>
          <a:xfrm>
            <a:off x="5261915" y="4162958"/>
            <a:ext cx="1218590"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kinderen</a:t>
            </a:r>
            <a:endParaRPr lang="en-US" sz="2400" dirty="0"/>
          </a:p>
        </p:txBody>
      </p:sp>
      <p:sp>
        <p:nvSpPr>
          <p:cNvPr id="30" name="Text 26"/>
          <p:cNvSpPr txBox="1"/>
          <p:nvPr/>
        </p:nvSpPr>
        <p:spPr>
          <a:xfrm>
            <a:off x="6480505" y="4162958"/>
            <a:ext cx="3251302"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 en ze hebben honger!</a:t>
            </a:r>
            <a:endParaRPr lang="en-US" sz="2400" dirty="0"/>
          </a:p>
        </p:txBody>
      </p:sp>
      <p:sp>
        <p:nvSpPr>
          <p:cNvPr id="31" name="Shape 27"/>
          <p:cNvSpPr/>
          <p:nvPr/>
        </p:nvSpPr>
        <p:spPr>
          <a:xfrm>
            <a:off x="5871210" y="4098950"/>
            <a:ext cx="914" cy="76200"/>
          </a:xfrm>
          <a:prstGeom prst="line">
            <a:avLst/>
          </a:prstGeom>
          <a:noFill/>
          <a:ln w="15875">
            <a:solidFill>
              <a:srgbClr val="7AB648"/>
            </a:solidFill>
            <a:prstDash val="solid"/>
          </a:ln>
        </p:spPr>
      </p:sp>
      <p:sp>
        <p:nvSpPr>
          <p:cNvPr id="32" name="Shape 28"/>
          <p:cNvSpPr/>
          <p:nvPr/>
        </p:nvSpPr>
        <p:spPr>
          <a:xfrm>
            <a:off x="5586578" y="3852062"/>
            <a:ext cx="569265" cy="246888"/>
          </a:xfrm>
          <a:prstGeom prst="roundRect">
            <a:avLst>
              <a:gd name="adj" fmla="val 14815"/>
            </a:avLst>
          </a:prstGeom>
          <a:solidFill>
            <a:srgbClr val="7AB648"/>
          </a:solidFill>
          <a:ln w="12700">
            <a:solidFill>
              <a:srgbClr val="FFFFFF">
                <a:alpha val="0"/>
              </a:srgbClr>
            </a:solidFill>
            <a:prstDash val="solid"/>
          </a:ln>
        </p:spPr>
      </p:sp>
      <p:sp>
        <p:nvSpPr>
          <p:cNvPr id="33" name="Text 29"/>
          <p:cNvSpPr txBox="1"/>
          <p:nvPr/>
        </p:nvSpPr>
        <p:spPr>
          <a:xfrm>
            <a:off x="5586578" y="3852062"/>
            <a:ext cx="569265"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-EREN</a:t>
            </a:r>
            <a:endParaRPr lang="en-US" sz="1100" dirty="0"/>
          </a:p>
        </p:txBody>
      </p:sp>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1"/>
          <p:cNvSpPr/>
          <p:nvPr>
            <p:ph idx="101" type="title" hasCustomPrompt="1"/>
          </p:nvPr>
        </p:nvSpPr>
        <p:spPr>
          <a:xfrm>
            <a:off x="1554480" y="384048"/>
            <a:ext cx="10241280" cy="658368"/>
          </a:xfrm>
          <a:prstGeom prst="rect">
            <a:avLst/>
          </a:prstGeom>
          <a:noFill/>
          <a:ln/>
        </p:spPr>
        <p:txBody>
          <a:bodyPr wrap="square" lIns="0" tIns="0" rIns="0" bIns="0" rtlCol="0" anchor="ctr"/>
          <a:lstStyle/>
          <a:p>
            <a:pPr algn="ctr" indent="0" marL="0">
              <a:buNone/>
            </a:pPr>
            <a:r>
              <a:rPr lang="en-US" sz="3000" b="1" dirty="0">
                <a:solidFill>
                  <a:srgbClr val="2B2F38"/>
                </a:solidFill>
              </a:rPr>
              <a:t>Gebruik deze afbeelding als inspiratie</a:t>
            </a:r>
            <a:endParaRPr lang="en-US" sz="3000" dirty="0"/>
          </a:p>
        </p:txBody>
      </p:sp>
      <p:sp>
        <p:nvSpPr>
          <p:cNvPr id="4" name="Shape 1"/>
          <p:cNvSpPr/>
          <p:nvPr/>
        </p:nvSpPr>
        <p:spPr>
          <a:xfrm>
            <a:off x="365760" y="365760"/>
            <a:ext cx="868680" cy="5989320"/>
          </a:xfrm>
          <a:prstGeom prst="roundRect">
            <a:avLst>
              <a:gd name="adj" fmla="val 12632"/>
            </a:avLst>
          </a:prstGeom>
          <a:solidFill>
            <a:srgbClr val="E4EEFB"/>
          </a:solidFill>
          <a:ln w="28575">
            <a:solidFill>
              <a:srgbClr val="6FA0DC"/>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3E6FB0"/>
                </a:solidFill>
                <a:latin typeface="Calibri" pitchFamily="34" charset="0"/>
                <a:ea typeface="Calibri" pitchFamily="34" charset="-122"/>
                <a:cs typeface="Calibri" pitchFamily="34" charset="-120"/>
              </a:rPr>
              <a:t>A1 · Grammaire</a:t>
            </a:r>
            <a:endParaRPr lang="en-US" sz="3800" dirty="0"/>
          </a:p>
        </p:txBody>
      </p:sp>
      <p:sp>
        <p:nvSpPr>
          <p:cNvPr id="6" name="Text 3"/>
          <p:cNvSpPr txBox="1"/>
          <p:nvPr/>
        </p:nvSpPr>
        <p:spPr>
          <a:xfrm>
            <a:off x="1554480" y="1024128"/>
            <a:ext cx="10241280" cy="365760"/>
          </a:xfrm>
          <a:prstGeom prst="rect">
            <a:avLst/>
          </a:prstGeom>
          <a:noFill/>
          <a:ln/>
        </p:spPr>
        <p:txBody>
          <a:bodyPr wrap="square" lIns="0" tIns="0" rIns="0" bIns="0" rtlCol="0" anchor="ctr"/>
          <a:lstStyle/>
          <a:p>
            <a:pPr algn="ctr" indent="0" marL="0">
              <a:buNone/>
            </a:pPr>
            <a:r>
              <a:rPr lang="en-US" sz="1500" b="1" dirty="0">
                <a:solidFill>
                  <a:srgbClr val="3E6FB0"/>
                </a:solidFill>
                <a:latin typeface="Calibri" pitchFamily="34" charset="0"/>
                <a:ea typeface="Calibri" pitchFamily="34" charset="-122"/>
                <a:cs typeface="Calibri" pitchFamily="34" charset="-120"/>
              </a:rPr>
              <a:t>17 · Waar is mijn gsm?</a:t>
            </a:r>
            <a:r>
              <a:rPr lang="en-US" sz="1500" i="1" dirty="0">
                <a:solidFill>
                  <a:srgbClr val="6B7280"/>
                </a:solidFill>
                <a:latin typeface="Calibri" pitchFamily="34" charset="0"/>
                <a:ea typeface="Calibri" pitchFamily="34" charset="-122"/>
                <a:cs typeface="Calibri" pitchFamily="34" charset="-120"/>
              </a:rPr>
              <a:t>   Où est mon portable ?</a:t>
            </a:r>
            <a:r>
              <a:rPr lang="en-US" sz="1200" dirty="0">
                <a:solidFill>
                  <a:srgbClr val="9AA3B2"/>
                </a:solidFill>
                <a:latin typeface="Calibri" pitchFamily="34" charset="0"/>
                <a:ea typeface="Calibri" pitchFamily="34" charset="-122"/>
                <a:cs typeface="Calibri" pitchFamily="34" charset="-120"/>
              </a:rPr>
              <a:t>   ·   syllabus fiche 03 · p. 60</a:t>
            </a:r>
            <a:endParaRPr lang="en-US" sz="1500" dirty="0"/>
          </a:p>
        </p:txBody>
      </p:sp>
      <p:sp>
        <p:nvSpPr>
          <p:cNvPr id="7" name="Shape 4"/>
          <p:cNvSpPr/>
          <p:nvPr/>
        </p:nvSpPr>
        <p:spPr>
          <a:xfrm>
            <a:off x="1596085" y="1504645"/>
            <a:ext cx="4534510" cy="2905735"/>
          </a:xfrm>
          <a:prstGeom prst="roundRect">
            <a:avLst>
              <a:gd name="adj" fmla="val 1259"/>
            </a:avLst>
          </a:prstGeom>
          <a:solidFill>
            <a:srgbClr val="FFFFFF"/>
          </a:solidFill>
          <a:ln w="9525">
            <a:solidFill>
              <a:srgbClr val="E3E7EE"/>
            </a:solidFill>
            <a:prstDash val="solid"/>
          </a:ln>
          <a:effectLst>
            <a:outerShdw sx="100000" sy="100000" kx="0" ky="0" algn="bl" rotWithShape="0" blurRad="127000" dist="50800" dir="5400000">
              <a:srgbClr val="1B2430">
                <a:alpha val="25000"/>
              </a:srgbClr>
            </a:outerShdw>
          </a:effectLst>
        </p:spPr>
      </p:sp>
      <p:pic>
        <p:nvPicPr>
          <p:cNvPr id="8" name="Image 0" descr="/home/user/talenleren/neerlandais1/generateur/img/vijfzinnen/a1_spullen_s.jpg">    </p:cNvPr>
          <p:cNvPicPr>
            <a:picLocks noChangeAspect="1"/>
          </p:cNvPicPr>
          <p:nvPr/>
        </p:nvPicPr>
        <p:blipFill>
          <a:blip r:embed="rId1"/>
          <a:stretch>
            <a:fillRect/>
          </a:stretch>
        </p:blipFill>
        <p:spPr>
          <a:xfrm>
            <a:off x="1691640" y="1600200"/>
            <a:ext cx="4343400" cy="2714625"/>
          </a:xfrm>
          <a:prstGeom prst="rect">
            <a:avLst/>
          </a:prstGeom>
        </p:spPr>
      </p:pic>
      <p:sp>
        <p:nvSpPr>
          <p:cNvPr id="9" name="Shape 5"/>
          <p:cNvSpPr/>
          <p:nvPr/>
        </p:nvSpPr>
        <p:spPr>
          <a:xfrm>
            <a:off x="1691640" y="4572000"/>
            <a:ext cx="1600200" cy="365760"/>
          </a:xfrm>
          <a:prstGeom prst="roundRect">
            <a:avLst>
              <a:gd name="adj" fmla="val 50000"/>
            </a:avLst>
          </a:prstGeom>
          <a:solidFill>
            <a:srgbClr val="FDF1E6"/>
          </a:solidFill>
          <a:ln w="12700">
            <a:solidFill>
              <a:srgbClr val="D9822B"/>
            </a:solidFill>
            <a:prstDash val="solid"/>
          </a:ln>
        </p:spPr>
      </p:sp>
      <p:pic>
        <p:nvPicPr>
          <p:cNvPr id="10" name="Image 1" descr="Comments">    </p:cNvPr>
          <p:cNvPicPr>
            <a:picLocks noChangeAspect="1"/>
          </p:cNvPicPr>
          <p:nvPr/>
        </p:nvPicPr>
        <p:blipFill>
          <a:blip r:embed="rId2"/>
          <a:stretch>
            <a:fillRect/>
          </a:stretch>
        </p:blipFill>
        <p:spPr>
          <a:xfrm>
            <a:off x="1819656" y="4654296"/>
            <a:ext cx="201168" cy="201168"/>
          </a:xfrm>
          <a:prstGeom prst="rect">
            <a:avLst/>
          </a:prstGeom>
        </p:spPr>
      </p:pic>
      <p:sp>
        <p:nvSpPr>
          <p:cNvPr id="11" name="Text 6"/>
          <p:cNvSpPr txBox="1"/>
          <p:nvPr/>
        </p:nvSpPr>
        <p:spPr>
          <a:xfrm>
            <a:off x="2075688" y="4572000"/>
            <a:ext cx="1143000" cy="365760"/>
          </a:xfrm>
          <a:prstGeom prst="rect">
            <a:avLst/>
          </a:prstGeom>
          <a:noFill/>
          <a:ln/>
        </p:spPr>
        <p:txBody>
          <a:bodyPr wrap="square" lIns="0" tIns="0" rIns="0" bIns="0" rtlCol="0" anchor="ctr"/>
          <a:lstStyle/>
          <a:p>
            <a:pPr algn="l" indent="0" marL="0">
              <a:buNone/>
            </a:pPr>
            <a:r>
              <a:rPr lang="en-US" sz="1150" b="1" spc="100" kern="0" dirty="0">
                <a:solidFill>
                  <a:srgbClr val="D9822B"/>
                </a:solidFill>
                <a:latin typeface="Calibri" pitchFamily="34" charset="0"/>
                <a:ea typeface="Calibri" pitchFamily="34" charset="-122"/>
                <a:cs typeface="Calibri" pitchFamily="34" charset="-120"/>
              </a:rPr>
              <a:t>À L’ORAL</a:t>
            </a:r>
            <a:endParaRPr lang="en-US" sz="1150" dirty="0"/>
          </a:p>
        </p:txBody>
      </p:sp>
      <p:sp>
        <p:nvSpPr>
          <p:cNvPr id="12" name="Text 7"/>
          <p:cNvSpPr txBox="1"/>
          <p:nvPr/>
        </p:nvSpPr>
        <p:spPr>
          <a:xfrm>
            <a:off x="3429000" y="4544568"/>
            <a:ext cx="2651760" cy="731520"/>
          </a:xfrm>
          <a:prstGeom prst="rect">
            <a:avLst/>
          </a:prstGeom>
          <a:noFill/>
          <a:ln/>
        </p:spPr>
        <p:txBody>
          <a:bodyPr wrap="square" lIns="0" tIns="0" rIns="0" bIns="0" rtlCol="0" anchor="t"/>
          <a:lstStyle/>
          <a:p>
            <a:pPr algn="l" indent="0" marL="0">
              <a:buNone/>
            </a:pPr>
            <a:r>
              <a:rPr lang="en-US" sz="1150" i="1" dirty="0">
                <a:solidFill>
                  <a:srgbClr val="6B7280"/>
                </a:solidFill>
                <a:latin typeface="Calibri" pitchFamily="34" charset="0"/>
                <a:ea typeface="Calibri" pitchFamily="34" charset="-122"/>
                <a:cs typeface="Calibri" pitchFamily="34" charset="-120"/>
              </a:rPr>
              <a:t>Après le cours, des objets traînent sur la table. À qui sont-ils ?</a:t>
            </a:r>
            <a:endParaRPr lang="en-US" sz="1150" dirty="0"/>
          </a:p>
        </p:txBody>
      </p:sp>
      <p:sp>
        <p:nvSpPr>
          <p:cNvPr id="13" name="Shape 8"/>
          <p:cNvSpPr/>
          <p:nvPr/>
        </p:nvSpPr>
        <p:spPr>
          <a:xfrm>
            <a:off x="6355080" y="1673352"/>
            <a:ext cx="914400" cy="402336"/>
          </a:xfrm>
          <a:prstGeom prst="roundRect">
            <a:avLst>
              <a:gd name="adj" fmla="val 13636"/>
            </a:avLst>
          </a:prstGeom>
          <a:solidFill>
            <a:srgbClr val="5FA873"/>
          </a:solidFill>
          <a:ln w="12700">
            <a:solidFill>
              <a:srgbClr val="FFFFFF">
                <a:alpha val="0"/>
              </a:srgbClr>
            </a:solidFill>
            <a:prstDash val="solid"/>
          </a:ln>
        </p:spPr>
      </p:sp>
      <p:sp>
        <p:nvSpPr>
          <p:cNvPr id="14" name="Text 9"/>
          <p:cNvSpPr txBox="1"/>
          <p:nvPr/>
        </p:nvSpPr>
        <p:spPr>
          <a:xfrm>
            <a:off x="6355080" y="167335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1</a:t>
            </a:r>
            <a:endParaRPr lang="en-US" sz="1600" dirty="0"/>
          </a:p>
        </p:txBody>
      </p:sp>
      <p:sp>
        <p:nvSpPr>
          <p:cNvPr id="15" name="Text 10"/>
          <p:cNvSpPr txBox="1"/>
          <p:nvPr/>
        </p:nvSpPr>
        <p:spPr>
          <a:xfrm>
            <a:off x="7406640" y="1618488"/>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Un mot en DE : </a:t>
            </a:r>
            <a:r>
              <a:rPr lang="en-US" sz="1450" b="1" dirty="0">
                <a:solidFill>
                  <a:srgbClr val="2B2F38"/>
                </a:solidFill>
              </a:rPr>
              <a:t>DEZE</a:t>
            </a:r>
            <a:r>
              <a:rPr lang="en-US" sz="1450" dirty="0">
                <a:solidFill>
                  <a:srgbClr val="2B2F38"/>
                </a:solidFill>
              </a:rPr>
              <a:t> (ici) ou </a:t>
            </a:r>
            <a:r>
              <a:rPr lang="en-US" sz="1450" b="1" dirty="0">
                <a:solidFill>
                  <a:srgbClr val="2B2F38"/>
                </a:solidFill>
              </a:rPr>
              <a:t>DIE</a:t>
            </a:r>
            <a:r>
              <a:rPr lang="en-US" sz="1450" dirty="0">
                <a:solidFill>
                  <a:srgbClr val="2B2F38"/>
                </a:solidFill>
              </a:rPr>
              <a:t> (là) + nom.</a:t>
            </a:r>
            <a:endParaRPr lang="en-US" sz="1450" dirty="0"/>
          </a:p>
        </p:txBody>
      </p:sp>
      <p:sp>
        <p:nvSpPr>
          <p:cNvPr id="16" name="Shape 11"/>
          <p:cNvSpPr/>
          <p:nvPr/>
        </p:nvSpPr>
        <p:spPr>
          <a:xfrm>
            <a:off x="6355080" y="2404872"/>
            <a:ext cx="914400" cy="402336"/>
          </a:xfrm>
          <a:prstGeom prst="roundRect">
            <a:avLst>
              <a:gd name="adj" fmla="val 13636"/>
            </a:avLst>
          </a:prstGeom>
          <a:solidFill>
            <a:srgbClr val="5FA873"/>
          </a:solidFill>
          <a:ln w="12700">
            <a:solidFill>
              <a:srgbClr val="FFFFFF">
                <a:alpha val="0"/>
              </a:srgbClr>
            </a:solidFill>
            <a:prstDash val="solid"/>
          </a:ln>
        </p:spPr>
      </p:sp>
      <p:sp>
        <p:nvSpPr>
          <p:cNvPr id="17" name="Text 12"/>
          <p:cNvSpPr txBox="1"/>
          <p:nvPr/>
        </p:nvSpPr>
        <p:spPr>
          <a:xfrm>
            <a:off x="6355080" y="240487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2</a:t>
            </a:r>
            <a:endParaRPr lang="en-US" sz="1600" dirty="0"/>
          </a:p>
        </p:txBody>
      </p:sp>
      <p:sp>
        <p:nvSpPr>
          <p:cNvPr id="18" name="Text 13"/>
          <p:cNvSpPr txBox="1"/>
          <p:nvPr/>
        </p:nvSpPr>
        <p:spPr>
          <a:xfrm>
            <a:off x="7406640" y="2350008"/>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Un mot en HET : </a:t>
            </a:r>
            <a:r>
              <a:rPr lang="en-US" sz="1450" b="1" dirty="0">
                <a:solidFill>
                  <a:srgbClr val="2B2F38"/>
                </a:solidFill>
              </a:rPr>
              <a:t>DIT</a:t>
            </a:r>
            <a:r>
              <a:rPr lang="en-US" sz="1450" dirty="0">
                <a:solidFill>
                  <a:srgbClr val="2B2F38"/>
                </a:solidFill>
              </a:rPr>
              <a:t> (ici) ou </a:t>
            </a:r>
            <a:r>
              <a:rPr lang="en-US" sz="1450" b="1" dirty="0">
                <a:solidFill>
                  <a:srgbClr val="2B2F38"/>
                </a:solidFill>
              </a:rPr>
              <a:t>DAT</a:t>
            </a:r>
            <a:r>
              <a:rPr lang="en-US" sz="1450" dirty="0">
                <a:solidFill>
                  <a:srgbClr val="2B2F38"/>
                </a:solidFill>
              </a:rPr>
              <a:t> (là) + nom.</a:t>
            </a:r>
            <a:endParaRPr lang="en-US" sz="1450" dirty="0"/>
          </a:p>
        </p:txBody>
      </p:sp>
      <p:sp>
        <p:nvSpPr>
          <p:cNvPr id="19" name="Shape 14"/>
          <p:cNvSpPr/>
          <p:nvPr/>
        </p:nvSpPr>
        <p:spPr>
          <a:xfrm>
            <a:off x="6355080" y="3136392"/>
            <a:ext cx="914400" cy="402336"/>
          </a:xfrm>
          <a:prstGeom prst="roundRect">
            <a:avLst>
              <a:gd name="adj" fmla="val 13636"/>
            </a:avLst>
          </a:prstGeom>
          <a:solidFill>
            <a:srgbClr val="5FA873"/>
          </a:solidFill>
          <a:ln w="12700">
            <a:solidFill>
              <a:srgbClr val="FFFFFF">
                <a:alpha val="0"/>
              </a:srgbClr>
            </a:solidFill>
            <a:prstDash val="solid"/>
          </a:ln>
        </p:spPr>
      </p:sp>
      <p:sp>
        <p:nvSpPr>
          <p:cNvPr id="20" name="Text 15"/>
          <p:cNvSpPr txBox="1"/>
          <p:nvPr/>
        </p:nvSpPr>
        <p:spPr>
          <a:xfrm>
            <a:off x="6355080" y="313639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3</a:t>
            </a:r>
            <a:endParaRPr lang="en-US" sz="1600" dirty="0"/>
          </a:p>
        </p:txBody>
      </p:sp>
      <p:sp>
        <p:nvSpPr>
          <p:cNvPr id="21" name="Text 16"/>
          <p:cNvSpPr txBox="1"/>
          <p:nvPr/>
        </p:nvSpPr>
        <p:spPr>
          <a:xfrm>
            <a:off x="7406640" y="3081528"/>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Un possessif : </a:t>
            </a:r>
            <a:r>
              <a:rPr lang="en-US" sz="1450" b="1" dirty="0">
                <a:solidFill>
                  <a:srgbClr val="2B2F38"/>
                </a:solidFill>
              </a:rPr>
              <a:t>MIJN, JOUW, ZIJN, HAAR</a:t>
            </a:r>
            <a:r>
              <a:rPr lang="en-US" sz="1450" dirty="0">
                <a:solidFill>
                  <a:srgbClr val="2B2F38"/>
                </a:solidFill>
              </a:rPr>
              <a:t>…</a:t>
            </a:r>
            <a:endParaRPr lang="en-US" sz="1450" dirty="0"/>
          </a:p>
        </p:txBody>
      </p:sp>
      <p:sp>
        <p:nvSpPr>
          <p:cNvPr id="22" name="Shape 17"/>
          <p:cNvSpPr/>
          <p:nvPr/>
        </p:nvSpPr>
        <p:spPr>
          <a:xfrm>
            <a:off x="6355080" y="3867912"/>
            <a:ext cx="914400" cy="402336"/>
          </a:xfrm>
          <a:prstGeom prst="roundRect">
            <a:avLst>
              <a:gd name="adj" fmla="val 13636"/>
            </a:avLst>
          </a:prstGeom>
          <a:solidFill>
            <a:srgbClr val="5FA873"/>
          </a:solidFill>
          <a:ln w="12700">
            <a:solidFill>
              <a:srgbClr val="FFFFFF">
                <a:alpha val="0"/>
              </a:srgbClr>
            </a:solidFill>
            <a:prstDash val="solid"/>
          </a:ln>
        </p:spPr>
      </p:sp>
      <p:sp>
        <p:nvSpPr>
          <p:cNvPr id="23" name="Text 18"/>
          <p:cNvSpPr txBox="1"/>
          <p:nvPr/>
        </p:nvSpPr>
        <p:spPr>
          <a:xfrm>
            <a:off x="6355080" y="386791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4</a:t>
            </a:r>
            <a:endParaRPr lang="en-US" sz="1600" dirty="0"/>
          </a:p>
        </p:txBody>
      </p:sp>
      <p:sp>
        <p:nvSpPr>
          <p:cNvPr id="24" name="Text 19"/>
          <p:cNvSpPr txBox="1"/>
          <p:nvPr/>
        </p:nvSpPr>
        <p:spPr>
          <a:xfrm>
            <a:off x="7406640" y="3813048"/>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Une chute : </a:t>
            </a:r>
            <a:r>
              <a:rPr lang="en-US" sz="1450" b="1" dirty="0">
                <a:solidFill>
                  <a:srgbClr val="2B2F38"/>
                </a:solidFill>
              </a:rPr>
              <a:t>WAAR IS</a:t>
            </a:r>
            <a:r>
              <a:rPr lang="en-US" sz="1450" dirty="0">
                <a:solidFill>
                  <a:srgbClr val="2B2F38"/>
                </a:solidFill>
              </a:rPr>
              <a:t> + possessif + nom ?</a:t>
            </a:r>
            <a:endParaRPr lang="en-US" sz="1450" dirty="0"/>
          </a:p>
        </p:txBody>
      </p:sp>
      <p:sp>
        <p:nvSpPr>
          <p:cNvPr id="25" name="Shape 20"/>
          <p:cNvSpPr/>
          <p:nvPr/>
        </p:nvSpPr>
        <p:spPr>
          <a:xfrm>
            <a:off x="3246120" y="5440680"/>
            <a:ext cx="6858000" cy="822960"/>
          </a:xfrm>
          <a:prstGeom prst="roundRect">
            <a:avLst>
              <a:gd name="adj" fmla="val 17778"/>
            </a:avLst>
          </a:prstGeom>
          <a:solidFill>
            <a:srgbClr val="EAF5EC"/>
          </a:solidFill>
          <a:ln w="15875">
            <a:solidFill>
              <a:srgbClr val="5FA873"/>
            </a:solidFill>
            <a:prstDash val="solid"/>
          </a:ln>
        </p:spPr>
      </p:sp>
      <p:pic>
        <p:nvPicPr>
          <p:cNvPr id="26" name="Image 2" descr="UserFriends">    </p:cNvPr>
          <p:cNvPicPr>
            <a:picLocks noChangeAspect="1"/>
          </p:cNvPicPr>
          <p:nvPr/>
        </p:nvPicPr>
        <p:blipFill>
          <a:blip r:embed="rId3"/>
          <a:stretch>
            <a:fillRect/>
          </a:stretch>
        </p:blipFill>
        <p:spPr>
          <a:xfrm>
            <a:off x="3520440" y="5660136"/>
            <a:ext cx="384048" cy="384048"/>
          </a:xfrm>
          <a:prstGeom prst="rect">
            <a:avLst/>
          </a:prstGeom>
        </p:spPr>
      </p:pic>
      <p:sp>
        <p:nvSpPr>
          <p:cNvPr id="27" name="Text 21"/>
          <p:cNvSpPr txBox="1"/>
          <p:nvPr/>
        </p:nvSpPr>
        <p:spPr>
          <a:xfrm>
            <a:off x="4114800" y="5440680"/>
            <a:ext cx="5852160" cy="822960"/>
          </a:xfrm>
          <a:prstGeom prst="rect">
            <a:avLst/>
          </a:prstGeom>
          <a:noFill/>
          <a:ln/>
        </p:spPr>
        <p:txBody>
          <a:bodyPr wrap="square" lIns="0" tIns="0" rIns="0" bIns="0" rtlCol="0" anchor="ctr"/>
          <a:lstStyle/>
          <a:p>
            <a:pPr algn="ctr" indent="0" marL="0">
              <a:buNone/>
            </a:pPr>
            <a:r>
              <a:rPr lang="en-US" sz="1800" b="1" dirty="0">
                <a:solidFill>
                  <a:srgbClr val="2E6B44"/>
                </a:solidFill>
                <a:latin typeface="Calibri" pitchFamily="34" charset="0"/>
                <a:ea typeface="Calibri" pitchFamily="34" charset="-122"/>
                <a:cs typeface="Calibri" pitchFamily="34" charset="-120"/>
              </a:rPr>
              <a:t>Vertel je verhaal aan je partner.</a:t>
            </a:r>
            <a:endParaRPr lang="en-US" sz="1800" dirty="0"/>
          </a:p>
          <a:p>
            <a:pPr algn="ctr" indent="0" marL="0">
              <a:buNone/>
            </a:pPr>
            <a:r>
              <a:rPr lang="en-US" sz="1800" b="1" dirty="0">
                <a:solidFill>
                  <a:srgbClr val="2E6B44"/>
                </a:solidFill>
                <a:latin typeface="Calibri" pitchFamily="34" charset="0"/>
                <a:ea typeface="Calibri" pitchFamily="34" charset="-122"/>
                <a:cs typeface="Calibri" pitchFamily="34" charset="-120"/>
              </a:rPr>
              <a:t>Wat denkt hij/zij daarvan?</a:t>
            </a:r>
            <a:endParaRPr lang="en-US" sz="1800" dirty="0"/>
          </a:p>
        </p:txBody>
      </p:sp>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1"/>
          <p:cNvSpPr/>
          <p:nvPr>
            <p:ph idx="101" type="title" hasCustomPrompt="1"/>
          </p:nvPr>
        </p:nvSpPr>
        <p:spPr>
          <a:xfrm>
            <a:off x="1554480" y="384048"/>
            <a:ext cx="10241280" cy="658368"/>
          </a:xfrm>
          <a:prstGeom prst="rect">
            <a:avLst/>
          </a:prstGeom>
          <a:noFill/>
          <a:ln/>
        </p:spPr>
        <p:txBody>
          <a:bodyPr wrap="square" lIns="0" tIns="0" rIns="0" bIns="0" rtlCol="0" anchor="ctr"/>
          <a:lstStyle/>
          <a:p>
            <a:pPr algn="ctr" indent="0" marL="0">
              <a:buNone/>
            </a:pPr>
            <a:r>
              <a:rPr lang="en-US" sz="3000" b="1" dirty="0">
                <a:solidFill>
                  <a:srgbClr val="2B2F38"/>
                </a:solidFill>
              </a:rPr>
              <a:t>Waar is mijn gsm?</a:t>
            </a:r>
            <a:endParaRPr lang="en-US" sz="3000" dirty="0"/>
          </a:p>
        </p:txBody>
      </p:sp>
      <p:sp>
        <p:nvSpPr>
          <p:cNvPr id="4" name="Shape 1"/>
          <p:cNvSpPr/>
          <p:nvPr/>
        </p:nvSpPr>
        <p:spPr>
          <a:xfrm>
            <a:off x="365760" y="365760"/>
            <a:ext cx="868680" cy="5989320"/>
          </a:xfrm>
          <a:prstGeom prst="roundRect">
            <a:avLst>
              <a:gd name="adj" fmla="val 12632"/>
            </a:avLst>
          </a:prstGeom>
          <a:solidFill>
            <a:srgbClr val="E4EEFB"/>
          </a:solidFill>
          <a:ln w="28575">
            <a:solidFill>
              <a:srgbClr val="6FA0DC"/>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3E6FB0"/>
                </a:solidFill>
                <a:latin typeface="Calibri" pitchFamily="34" charset="0"/>
                <a:ea typeface="Calibri" pitchFamily="34" charset="-122"/>
                <a:cs typeface="Calibri" pitchFamily="34" charset="-120"/>
              </a:rPr>
              <a:t>A1 · Grammaire</a:t>
            </a:r>
            <a:endParaRPr lang="en-US" sz="3800" dirty="0"/>
          </a:p>
        </p:txBody>
      </p:sp>
      <p:sp>
        <p:nvSpPr>
          <p:cNvPr id="6" name="Shape 3"/>
          <p:cNvSpPr/>
          <p:nvPr/>
        </p:nvSpPr>
        <p:spPr>
          <a:xfrm>
            <a:off x="2519172" y="1124712"/>
            <a:ext cx="8311896" cy="5277231"/>
          </a:xfrm>
          <a:prstGeom prst="roundRect">
            <a:avLst>
              <a:gd name="adj" fmla="val 693"/>
            </a:avLst>
          </a:prstGeom>
          <a:solidFill>
            <a:srgbClr val="FFFFFF"/>
          </a:solidFill>
          <a:ln w="9525">
            <a:solidFill>
              <a:srgbClr val="E3E7EE"/>
            </a:solidFill>
            <a:prstDash val="solid"/>
          </a:ln>
          <a:effectLst>
            <a:outerShdw sx="100000" sy="100000" kx="0" ky="0" algn="bl" rotWithShape="0" blurRad="177800" dist="63500" dir="5400000">
              <a:srgbClr val="1B2430">
                <a:alpha val="25000"/>
              </a:srgbClr>
            </a:outerShdw>
          </a:effectLst>
        </p:spPr>
      </p:sp>
      <p:pic>
        <p:nvPicPr>
          <p:cNvPr id="7" name="Image 0" descr="/home/user/talenleren/neerlandais1/generateur/img/vijfzinnen/a1_spullen.jpg">    </p:cNvPr>
          <p:cNvPicPr>
            <a:picLocks noChangeAspect="1"/>
          </p:cNvPicPr>
          <p:nvPr/>
        </p:nvPicPr>
        <p:blipFill>
          <a:blip r:embed="rId1"/>
          <a:stretch>
            <a:fillRect/>
          </a:stretch>
        </p:blipFill>
        <p:spPr>
          <a:xfrm>
            <a:off x="2628900" y="1234440"/>
            <a:ext cx="8092440" cy="5057775"/>
          </a:xfrm>
          <a:prstGeom prst="rect">
            <a:avLst/>
          </a:prstGeom>
        </p:spPr>
      </p:pic>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1"/>
          <p:cNvSpPr/>
          <p:nvPr>
            <p:ph idx="101" type="title" hasCustomPrompt="1"/>
          </p:nvPr>
        </p:nvSpPr>
        <p:spPr>
          <a:xfrm>
            <a:off x="1691640" y="347472"/>
            <a:ext cx="8138160" cy="914400"/>
          </a:xfrm>
          <a:prstGeom prst="rect">
            <a:avLst/>
          </a:prstGeom>
          <a:noFill/>
          <a:ln/>
        </p:spPr>
        <p:txBody>
          <a:bodyPr wrap="square" lIns="0" tIns="0" rIns="0" bIns="0" rtlCol="0" anchor="ctr"/>
          <a:lstStyle/>
          <a:p>
            <a:pPr algn="l" indent="0" marL="0">
              <a:buNone/>
            </a:pPr>
            <a:r>
              <a:rPr lang="en-US" sz="2400" b="1" dirty="0">
                <a:solidFill>
                  <a:srgbClr val="2B2F38"/>
                </a:solidFill>
              </a:rPr>
              <a:t>Hier is een voorbeeld van wat je had kunnen denken en zeggen…</a:t>
            </a:r>
            <a:endParaRPr lang="en-US" sz="2400" dirty="0"/>
          </a:p>
        </p:txBody>
      </p:sp>
      <p:sp>
        <p:nvSpPr>
          <p:cNvPr id="4" name="Shape 1"/>
          <p:cNvSpPr/>
          <p:nvPr/>
        </p:nvSpPr>
        <p:spPr>
          <a:xfrm>
            <a:off x="365760" y="365760"/>
            <a:ext cx="868680" cy="5989320"/>
          </a:xfrm>
          <a:prstGeom prst="roundRect">
            <a:avLst>
              <a:gd name="adj" fmla="val 12632"/>
            </a:avLst>
          </a:prstGeom>
          <a:solidFill>
            <a:srgbClr val="E4EEFB"/>
          </a:solidFill>
          <a:ln w="28575">
            <a:solidFill>
              <a:srgbClr val="6FA0DC"/>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3E6FB0"/>
                </a:solidFill>
                <a:latin typeface="Calibri" pitchFamily="34" charset="0"/>
                <a:ea typeface="Calibri" pitchFamily="34" charset="-122"/>
                <a:cs typeface="Calibri" pitchFamily="34" charset="-120"/>
              </a:rPr>
              <a:t>A1 · Grammaire</a:t>
            </a:r>
            <a:endParaRPr lang="en-US" sz="3800" dirty="0"/>
          </a:p>
        </p:txBody>
      </p:sp>
      <p:sp>
        <p:nvSpPr>
          <p:cNvPr id="6" name="Shape 3"/>
          <p:cNvSpPr/>
          <p:nvPr/>
        </p:nvSpPr>
        <p:spPr>
          <a:xfrm>
            <a:off x="10058400" y="246888"/>
            <a:ext cx="1691640" cy="1091565"/>
          </a:xfrm>
          <a:prstGeom prst="roundRect">
            <a:avLst>
              <a:gd name="adj" fmla="val 3351"/>
            </a:avLst>
          </a:prstGeom>
          <a:solidFill>
            <a:srgbClr val="FFFFFF"/>
          </a:solidFill>
          <a:ln w="9525">
            <a:solidFill>
              <a:srgbClr val="E3E7EE"/>
            </a:solidFill>
            <a:prstDash val="solid"/>
          </a:ln>
          <a:effectLst>
            <a:outerShdw sx="100000" sy="100000" kx="0" ky="0" algn="bl" rotWithShape="0" blurRad="76200" dist="25400" dir="5400000">
              <a:srgbClr val="1B2430">
                <a:alpha val="25000"/>
              </a:srgbClr>
            </a:outerShdw>
          </a:effectLst>
        </p:spPr>
      </p:sp>
      <p:pic>
        <p:nvPicPr>
          <p:cNvPr id="7" name="Image 0" descr="/home/user/talenleren/neerlandais1/generateur/img/vijfzinnen/a1_spullen_s.jpg">    </p:cNvPr>
          <p:cNvPicPr>
            <a:picLocks noChangeAspect="1"/>
          </p:cNvPicPr>
          <p:nvPr/>
        </p:nvPicPr>
        <p:blipFill>
          <a:blip r:embed="rId1"/>
          <a:stretch>
            <a:fillRect/>
          </a:stretch>
        </p:blipFill>
        <p:spPr>
          <a:xfrm>
            <a:off x="10104120" y="292608"/>
            <a:ext cx="1600200" cy="1000125"/>
          </a:xfrm>
          <a:prstGeom prst="rect">
            <a:avLst/>
          </a:prstGeom>
        </p:spPr>
      </p:pic>
      <p:sp>
        <p:nvSpPr>
          <p:cNvPr id="8" name="Shape 4"/>
          <p:cNvSpPr/>
          <p:nvPr/>
        </p:nvSpPr>
        <p:spPr>
          <a:xfrm>
            <a:off x="1691640" y="3120542"/>
            <a:ext cx="1260653" cy="371856"/>
          </a:xfrm>
          <a:prstGeom prst="roundRect">
            <a:avLst>
              <a:gd name="adj" fmla="val 12295"/>
            </a:avLst>
          </a:prstGeom>
          <a:solidFill>
            <a:srgbClr val="E6F3DA"/>
          </a:solidFill>
          <a:ln w="12700">
            <a:solidFill>
              <a:srgbClr val="FFFFFF">
                <a:alpha val="0"/>
              </a:srgbClr>
            </a:solidFill>
            <a:prstDash val="solid"/>
          </a:ln>
        </p:spPr>
      </p:sp>
      <p:sp>
        <p:nvSpPr>
          <p:cNvPr id="9" name="Text 5"/>
          <p:cNvSpPr txBox="1"/>
          <p:nvPr/>
        </p:nvSpPr>
        <p:spPr>
          <a:xfrm>
            <a:off x="1691640" y="3108350"/>
            <a:ext cx="1260653"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Deze pen</a:t>
            </a:r>
            <a:endParaRPr lang="en-US" sz="2400" dirty="0"/>
          </a:p>
        </p:txBody>
      </p:sp>
      <p:sp>
        <p:nvSpPr>
          <p:cNvPr id="10" name="Text 6"/>
          <p:cNvSpPr txBox="1"/>
          <p:nvPr/>
        </p:nvSpPr>
        <p:spPr>
          <a:xfrm>
            <a:off x="3039466" y="3108350"/>
            <a:ext cx="1806854"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is van Pieter.</a:t>
            </a:r>
            <a:endParaRPr lang="en-US" sz="2400" dirty="0"/>
          </a:p>
        </p:txBody>
      </p:sp>
      <p:sp>
        <p:nvSpPr>
          <p:cNvPr id="11" name="Shape 7"/>
          <p:cNvSpPr/>
          <p:nvPr/>
        </p:nvSpPr>
        <p:spPr>
          <a:xfrm>
            <a:off x="4750613" y="3120542"/>
            <a:ext cx="1235964" cy="371856"/>
          </a:xfrm>
          <a:prstGeom prst="roundRect">
            <a:avLst>
              <a:gd name="adj" fmla="val 12295"/>
            </a:avLst>
          </a:prstGeom>
          <a:solidFill>
            <a:srgbClr val="E6F3DA"/>
          </a:solidFill>
          <a:ln w="12700">
            <a:solidFill>
              <a:srgbClr val="FFFFFF">
                <a:alpha val="0"/>
              </a:srgbClr>
            </a:solidFill>
            <a:prstDash val="solid"/>
          </a:ln>
        </p:spPr>
      </p:sp>
      <p:sp>
        <p:nvSpPr>
          <p:cNvPr id="12" name="Text 8"/>
          <p:cNvSpPr txBox="1"/>
          <p:nvPr/>
        </p:nvSpPr>
        <p:spPr>
          <a:xfrm>
            <a:off x="4750613" y="3108350"/>
            <a:ext cx="1235964"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Dat boek</a:t>
            </a:r>
            <a:endParaRPr lang="en-US" sz="2400" dirty="0"/>
          </a:p>
        </p:txBody>
      </p:sp>
      <p:sp>
        <p:nvSpPr>
          <p:cNvPr id="13" name="Text 9"/>
          <p:cNvSpPr txBox="1"/>
          <p:nvPr/>
        </p:nvSpPr>
        <p:spPr>
          <a:xfrm>
            <a:off x="6073750" y="3108350"/>
            <a:ext cx="1848917"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is van Emma.</a:t>
            </a:r>
            <a:endParaRPr lang="en-US" sz="2400" dirty="0"/>
          </a:p>
        </p:txBody>
      </p:sp>
      <p:sp>
        <p:nvSpPr>
          <p:cNvPr id="14" name="Shape 10"/>
          <p:cNvSpPr/>
          <p:nvPr/>
        </p:nvSpPr>
        <p:spPr>
          <a:xfrm>
            <a:off x="7826959" y="3120542"/>
            <a:ext cx="1121054" cy="371856"/>
          </a:xfrm>
          <a:prstGeom prst="roundRect">
            <a:avLst>
              <a:gd name="adj" fmla="val 12295"/>
            </a:avLst>
          </a:prstGeom>
          <a:solidFill>
            <a:srgbClr val="E6F3DA"/>
          </a:solidFill>
          <a:ln w="12700">
            <a:solidFill>
              <a:srgbClr val="FFFFFF">
                <a:alpha val="0"/>
              </a:srgbClr>
            </a:solidFill>
            <a:prstDash val="solid"/>
          </a:ln>
        </p:spPr>
      </p:sp>
      <p:sp>
        <p:nvSpPr>
          <p:cNvPr id="15" name="Text 11"/>
          <p:cNvSpPr txBox="1"/>
          <p:nvPr/>
        </p:nvSpPr>
        <p:spPr>
          <a:xfrm>
            <a:off x="7826959" y="3108350"/>
            <a:ext cx="1121054"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Mijn tas</a:t>
            </a:r>
            <a:endParaRPr lang="en-US" sz="2400" dirty="0"/>
          </a:p>
        </p:txBody>
      </p:sp>
      <p:sp>
        <p:nvSpPr>
          <p:cNvPr id="16" name="Text 12"/>
          <p:cNvSpPr txBox="1"/>
          <p:nvPr/>
        </p:nvSpPr>
        <p:spPr>
          <a:xfrm>
            <a:off x="9035186" y="3108350"/>
            <a:ext cx="1024433"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is hier.</a:t>
            </a:r>
            <a:endParaRPr lang="en-US" sz="2400" dirty="0"/>
          </a:p>
        </p:txBody>
      </p:sp>
      <p:sp>
        <p:nvSpPr>
          <p:cNvPr id="17" name="Shape 13"/>
          <p:cNvSpPr/>
          <p:nvPr/>
        </p:nvSpPr>
        <p:spPr>
          <a:xfrm>
            <a:off x="2321966" y="3044342"/>
            <a:ext cx="914" cy="76200"/>
          </a:xfrm>
          <a:prstGeom prst="line">
            <a:avLst/>
          </a:prstGeom>
          <a:noFill/>
          <a:ln w="15875">
            <a:solidFill>
              <a:srgbClr val="7AB648"/>
            </a:solidFill>
            <a:prstDash val="solid"/>
          </a:ln>
        </p:spPr>
      </p:sp>
      <p:sp>
        <p:nvSpPr>
          <p:cNvPr id="18" name="Shape 14"/>
          <p:cNvSpPr/>
          <p:nvPr/>
        </p:nvSpPr>
        <p:spPr>
          <a:xfrm>
            <a:off x="2066671" y="2797454"/>
            <a:ext cx="510591" cy="246888"/>
          </a:xfrm>
          <a:prstGeom prst="roundRect">
            <a:avLst>
              <a:gd name="adj" fmla="val 14815"/>
            </a:avLst>
          </a:prstGeom>
          <a:solidFill>
            <a:srgbClr val="7AB648"/>
          </a:solidFill>
          <a:ln w="12700">
            <a:solidFill>
              <a:srgbClr val="FFFFFF">
                <a:alpha val="0"/>
              </a:srgbClr>
            </a:solidFill>
            <a:prstDash val="solid"/>
          </a:ln>
        </p:spPr>
      </p:sp>
      <p:sp>
        <p:nvSpPr>
          <p:cNvPr id="19" name="Text 15"/>
          <p:cNvSpPr txBox="1"/>
          <p:nvPr/>
        </p:nvSpPr>
        <p:spPr>
          <a:xfrm>
            <a:off x="2066671" y="2797454"/>
            <a:ext cx="510591"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DEZE</a:t>
            </a:r>
            <a:endParaRPr lang="en-US" sz="1100" dirty="0"/>
          </a:p>
        </p:txBody>
      </p:sp>
      <p:sp>
        <p:nvSpPr>
          <p:cNvPr id="20" name="Shape 16"/>
          <p:cNvSpPr/>
          <p:nvPr/>
        </p:nvSpPr>
        <p:spPr>
          <a:xfrm>
            <a:off x="5368595" y="3044342"/>
            <a:ext cx="914" cy="76200"/>
          </a:xfrm>
          <a:prstGeom prst="line">
            <a:avLst/>
          </a:prstGeom>
          <a:noFill/>
          <a:ln w="15875">
            <a:solidFill>
              <a:srgbClr val="7AB648"/>
            </a:solidFill>
            <a:prstDash val="solid"/>
          </a:ln>
        </p:spPr>
      </p:sp>
      <p:sp>
        <p:nvSpPr>
          <p:cNvPr id="21" name="Shape 17"/>
          <p:cNvSpPr/>
          <p:nvPr/>
        </p:nvSpPr>
        <p:spPr>
          <a:xfrm>
            <a:off x="5137956" y="2797454"/>
            <a:ext cx="461277" cy="246888"/>
          </a:xfrm>
          <a:prstGeom prst="roundRect">
            <a:avLst>
              <a:gd name="adj" fmla="val 14815"/>
            </a:avLst>
          </a:prstGeom>
          <a:solidFill>
            <a:srgbClr val="7AB648"/>
          </a:solidFill>
          <a:ln w="12700">
            <a:solidFill>
              <a:srgbClr val="FFFFFF">
                <a:alpha val="0"/>
              </a:srgbClr>
            </a:solidFill>
            <a:prstDash val="solid"/>
          </a:ln>
        </p:spPr>
      </p:sp>
      <p:sp>
        <p:nvSpPr>
          <p:cNvPr id="22" name="Text 18"/>
          <p:cNvSpPr txBox="1"/>
          <p:nvPr/>
        </p:nvSpPr>
        <p:spPr>
          <a:xfrm>
            <a:off x="5137956" y="2797454"/>
            <a:ext cx="461277"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DAT</a:t>
            </a:r>
            <a:endParaRPr lang="en-US" sz="1100" dirty="0"/>
          </a:p>
        </p:txBody>
      </p:sp>
      <p:sp>
        <p:nvSpPr>
          <p:cNvPr id="23" name="Shape 19"/>
          <p:cNvSpPr/>
          <p:nvPr/>
        </p:nvSpPr>
        <p:spPr>
          <a:xfrm>
            <a:off x="8387486" y="3044342"/>
            <a:ext cx="914" cy="76200"/>
          </a:xfrm>
          <a:prstGeom prst="line">
            <a:avLst/>
          </a:prstGeom>
          <a:noFill/>
          <a:ln w="15875">
            <a:solidFill>
              <a:srgbClr val="7AB648"/>
            </a:solidFill>
            <a:prstDash val="solid"/>
          </a:ln>
        </p:spPr>
      </p:sp>
      <p:sp>
        <p:nvSpPr>
          <p:cNvPr id="24" name="Shape 20"/>
          <p:cNvSpPr/>
          <p:nvPr/>
        </p:nvSpPr>
        <p:spPr>
          <a:xfrm>
            <a:off x="8128908" y="2797454"/>
            <a:ext cx="517157" cy="246888"/>
          </a:xfrm>
          <a:prstGeom prst="roundRect">
            <a:avLst>
              <a:gd name="adj" fmla="val 14815"/>
            </a:avLst>
          </a:prstGeom>
          <a:solidFill>
            <a:srgbClr val="7AB648"/>
          </a:solidFill>
          <a:ln w="12700">
            <a:solidFill>
              <a:srgbClr val="FFFFFF">
                <a:alpha val="0"/>
              </a:srgbClr>
            </a:solidFill>
            <a:prstDash val="solid"/>
          </a:ln>
        </p:spPr>
      </p:sp>
      <p:sp>
        <p:nvSpPr>
          <p:cNvPr id="25" name="Text 21"/>
          <p:cNvSpPr txBox="1"/>
          <p:nvPr/>
        </p:nvSpPr>
        <p:spPr>
          <a:xfrm>
            <a:off x="8128908" y="2797454"/>
            <a:ext cx="517157"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MIJN</a:t>
            </a:r>
            <a:endParaRPr lang="en-US" sz="1100" dirty="0"/>
          </a:p>
        </p:txBody>
      </p:sp>
      <p:sp>
        <p:nvSpPr>
          <p:cNvPr id="26" name="Text 22"/>
          <p:cNvSpPr txBox="1"/>
          <p:nvPr/>
        </p:nvSpPr>
        <p:spPr>
          <a:xfrm>
            <a:off x="5100066" y="4162958"/>
            <a:ext cx="841858"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Maar</a:t>
            </a:r>
            <a:endParaRPr lang="en-US" sz="2400" dirty="0"/>
          </a:p>
        </p:txBody>
      </p:sp>
      <p:sp>
        <p:nvSpPr>
          <p:cNvPr id="27" name="Shape 23"/>
          <p:cNvSpPr/>
          <p:nvPr/>
        </p:nvSpPr>
        <p:spPr>
          <a:xfrm>
            <a:off x="5846216" y="4175150"/>
            <a:ext cx="2209190" cy="371856"/>
          </a:xfrm>
          <a:prstGeom prst="roundRect">
            <a:avLst>
              <a:gd name="adj" fmla="val 12295"/>
            </a:avLst>
          </a:prstGeom>
          <a:solidFill>
            <a:srgbClr val="E6F3DA"/>
          </a:solidFill>
          <a:ln w="12700">
            <a:solidFill>
              <a:srgbClr val="FFFFFF">
                <a:alpha val="0"/>
              </a:srgbClr>
            </a:solidFill>
            <a:prstDash val="solid"/>
          </a:ln>
        </p:spPr>
      </p:sp>
      <p:sp>
        <p:nvSpPr>
          <p:cNvPr id="28" name="Text 24"/>
          <p:cNvSpPr txBox="1"/>
          <p:nvPr/>
        </p:nvSpPr>
        <p:spPr>
          <a:xfrm>
            <a:off x="5846216" y="4162958"/>
            <a:ext cx="2209190"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waar is mijn gsm</a:t>
            </a:r>
            <a:endParaRPr lang="en-US" sz="2400" dirty="0"/>
          </a:p>
        </p:txBody>
      </p:sp>
      <p:sp>
        <p:nvSpPr>
          <p:cNvPr id="29" name="Text 25"/>
          <p:cNvSpPr txBox="1"/>
          <p:nvPr/>
        </p:nvSpPr>
        <p:spPr>
          <a:xfrm>
            <a:off x="8055407" y="4162958"/>
            <a:ext cx="423367"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a:t>
            </a:r>
            <a:endParaRPr lang="en-US" sz="2400" dirty="0"/>
          </a:p>
        </p:txBody>
      </p:sp>
      <p:sp>
        <p:nvSpPr>
          <p:cNvPr id="30" name="Shape 26"/>
          <p:cNvSpPr/>
          <p:nvPr/>
        </p:nvSpPr>
        <p:spPr>
          <a:xfrm>
            <a:off x="6950812" y="4098950"/>
            <a:ext cx="914" cy="76200"/>
          </a:xfrm>
          <a:prstGeom prst="line">
            <a:avLst/>
          </a:prstGeom>
          <a:noFill/>
          <a:ln w="15875">
            <a:solidFill>
              <a:srgbClr val="7AB648"/>
            </a:solidFill>
            <a:prstDash val="solid"/>
          </a:ln>
        </p:spPr>
      </p:sp>
      <p:sp>
        <p:nvSpPr>
          <p:cNvPr id="31" name="Shape 27"/>
          <p:cNvSpPr/>
          <p:nvPr/>
        </p:nvSpPr>
        <p:spPr>
          <a:xfrm>
            <a:off x="6488551" y="3852062"/>
            <a:ext cx="924522" cy="246888"/>
          </a:xfrm>
          <a:prstGeom prst="roundRect">
            <a:avLst>
              <a:gd name="adj" fmla="val 14815"/>
            </a:avLst>
          </a:prstGeom>
          <a:solidFill>
            <a:srgbClr val="7AB648"/>
          </a:solidFill>
          <a:ln w="12700">
            <a:solidFill>
              <a:srgbClr val="FFFFFF">
                <a:alpha val="0"/>
              </a:srgbClr>
            </a:solidFill>
            <a:prstDash val="solid"/>
          </a:ln>
        </p:spPr>
      </p:sp>
      <p:sp>
        <p:nvSpPr>
          <p:cNvPr id="32" name="Text 28"/>
          <p:cNvSpPr txBox="1"/>
          <p:nvPr/>
        </p:nvSpPr>
        <p:spPr>
          <a:xfrm>
            <a:off x="6488551" y="3852062"/>
            <a:ext cx="924522"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WAAR IS …?</a:t>
            </a:r>
            <a:endParaRPr lang="en-US" sz="1100" dirty="0"/>
          </a:p>
        </p:txBody>
      </p:sp>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1"/>
          <p:cNvSpPr/>
          <p:nvPr>
            <p:ph idx="101" type="title" hasCustomPrompt="1"/>
          </p:nvPr>
        </p:nvSpPr>
        <p:spPr>
          <a:xfrm>
            <a:off x="1554480" y="384048"/>
            <a:ext cx="10241280" cy="658368"/>
          </a:xfrm>
          <a:prstGeom prst="rect">
            <a:avLst/>
          </a:prstGeom>
          <a:noFill/>
          <a:ln/>
        </p:spPr>
        <p:txBody>
          <a:bodyPr wrap="square" lIns="0" tIns="0" rIns="0" bIns="0" rtlCol="0" anchor="ctr"/>
          <a:lstStyle/>
          <a:p>
            <a:pPr algn="ctr" indent="0" marL="0">
              <a:buNone/>
            </a:pPr>
            <a:r>
              <a:rPr lang="en-US" sz="3000" b="1" dirty="0">
                <a:solidFill>
                  <a:srgbClr val="2B2F38"/>
                </a:solidFill>
              </a:rPr>
              <a:t>Gebruik deze afbeelding als inspiratie</a:t>
            </a:r>
            <a:endParaRPr lang="en-US" sz="3000" dirty="0"/>
          </a:p>
        </p:txBody>
      </p:sp>
      <p:sp>
        <p:nvSpPr>
          <p:cNvPr id="4" name="Shape 1"/>
          <p:cNvSpPr/>
          <p:nvPr/>
        </p:nvSpPr>
        <p:spPr>
          <a:xfrm>
            <a:off x="365760" y="365760"/>
            <a:ext cx="868680" cy="5989320"/>
          </a:xfrm>
          <a:prstGeom prst="roundRect">
            <a:avLst>
              <a:gd name="adj" fmla="val 12632"/>
            </a:avLst>
          </a:prstGeom>
          <a:solidFill>
            <a:srgbClr val="E4EEFB"/>
          </a:solidFill>
          <a:ln w="28575">
            <a:solidFill>
              <a:srgbClr val="6FA0DC"/>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3E6FB0"/>
                </a:solidFill>
                <a:latin typeface="Calibri" pitchFamily="34" charset="0"/>
                <a:ea typeface="Calibri" pitchFamily="34" charset="-122"/>
                <a:cs typeface="Calibri" pitchFamily="34" charset="-120"/>
              </a:rPr>
              <a:t>A1 · Grammaire</a:t>
            </a:r>
            <a:endParaRPr lang="en-US" sz="3800" dirty="0"/>
          </a:p>
        </p:txBody>
      </p:sp>
      <p:sp>
        <p:nvSpPr>
          <p:cNvPr id="6" name="Text 3"/>
          <p:cNvSpPr txBox="1"/>
          <p:nvPr/>
        </p:nvSpPr>
        <p:spPr>
          <a:xfrm>
            <a:off x="1554480" y="1024128"/>
            <a:ext cx="10241280" cy="365760"/>
          </a:xfrm>
          <a:prstGeom prst="rect">
            <a:avLst/>
          </a:prstGeom>
          <a:noFill/>
          <a:ln/>
        </p:spPr>
        <p:txBody>
          <a:bodyPr wrap="square" lIns="0" tIns="0" rIns="0" bIns="0" rtlCol="0" anchor="ctr"/>
          <a:lstStyle/>
          <a:p>
            <a:pPr algn="ctr" indent="0" marL="0">
              <a:buNone/>
            </a:pPr>
            <a:r>
              <a:rPr lang="en-US" sz="1500" b="1" dirty="0">
                <a:solidFill>
                  <a:srgbClr val="3E6FB0"/>
                </a:solidFill>
                <a:latin typeface="Calibri" pitchFamily="34" charset="0"/>
                <a:ea typeface="Calibri" pitchFamily="34" charset="-122"/>
                <a:cs typeface="Calibri" pitchFamily="34" charset="-120"/>
              </a:rPr>
              <a:t>18 · Het huis van Sarah</a:t>
            </a:r>
            <a:r>
              <a:rPr lang="en-US" sz="1500" i="1" dirty="0">
                <a:solidFill>
                  <a:srgbClr val="6B7280"/>
                </a:solidFill>
                <a:latin typeface="Calibri" pitchFamily="34" charset="0"/>
                <a:ea typeface="Calibri" pitchFamily="34" charset="-122"/>
                <a:cs typeface="Calibri" pitchFamily="34" charset="-120"/>
              </a:rPr>
              <a:t>   La maison de Sarah</a:t>
            </a:r>
            <a:r>
              <a:rPr lang="en-US" sz="1200" dirty="0">
                <a:solidFill>
                  <a:srgbClr val="9AA3B2"/>
                </a:solidFill>
                <a:latin typeface="Calibri" pitchFamily="34" charset="0"/>
                <a:ea typeface="Calibri" pitchFamily="34" charset="-122"/>
                <a:cs typeface="Calibri" pitchFamily="34" charset="-120"/>
              </a:rPr>
              <a:t>   ·   syllabus fiche 04 · p. 61</a:t>
            </a:r>
            <a:endParaRPr lang="en-US" sz="1500" dirty="0"/>
          </a:p>
        </p:txBody>
      </p:sp>
      <p:sp>
        <p:nvSpPr>
          <p:cNvPr id="7" name="Shape 4"/>
          <p:cNvSpPr/>
          <p:nvPr/>
        </p:nvSpPr>
        <p:spPr>
          <a:xfrm>
            <a:off x="1596085" y="1504645"/>
            <a:ext cx="4534510" cy="2905735"/>
          </a:xfrm>
          <a:prstGeom prst="roundRect">
            <a:avLst>
              <a:gd name="adj" fmla="val 1259"/>
            </a:avLst>
          </a:prstGeom>
          <a:solidFill>
            <a:srgbClr val="FFFFFF"/>
          </a:solidFill>
          <a:ln w="9525">
            <a:solidFill>
              <a:srgbClr val="E3E7EE"/>
            </a:solidFill>
            <a:prstDash val="solid"/>
          </a:ln>
          <a:effectLst>
            <a:outerShdw sx="100000" sy="100000" kx="0" ky="0" algn="bl" rotWithShape="0" blurRad="127000" dist="50800" dir="5400000">
              <a:srgbClr val="1B2430">
                <a:alpha val="25000"/>
              </a:srgbClr>
            </a:outerShdw>
          </a:effectLst>
        </p:spPr>
      </p:sp>
      <p:pic>
        <p:nvPicPr>
          <p:cNvPr id="8" name="Image 0" descr="/home/user/talenleren/neerlandais1/generateur/img/vijfzinnen/a1_huisvansarah_s.jpg">    </p:cNvPr>
          <p:cNvPicPr>
            <a:picLocks noChangeAspect="1"/>
          </p:cNvPicPr>
          <p:nvPr/>
        </p:nvPicPr>
        <p:blipFill>
          <a:blip r:embed="rId1"/>
          <a:stretch>
            <a:fillRect/>
          </a:stretch>
        </p:blipFill>
        <p:spPr>
          <a:xfrm>
            <a:off x="1691640" y="1600200"/>
            <a:ext cx="4343400" cy="2714625"/>
          </a:xfrm>
          <a:prstGeom prst="rect">
            <a:avLst/>
          </a:prstGeom>
        </p:spPr>
      </p:pic>
      <p:sp>
        <p:nvSpPr>
          <p:cNvPr id="9" name="Shape 5"/>
          <p:cNvSpPr/>
          <p:nvPr/>
        </p:nvSpPr>
        <p:spPr>
          <a:xfrm>
            <a:off x="1691640" y="4572000"/>
            <a:ext cx="1600200" cy="365760"/>
          </a:xfrm>
          <a:prstGeom prst="roundRect">
            <a:avLst>
              <a:gd name="adj" fmla="val 50000"/>
            </a:avLst>
          </a:prstGeom>
          <a:solidFill>
            <a:srgbClr val="EAF1FC"/>
          </a:solidFill>
          <a:ln w="12700">
            <a:solidFill>
              <a:srgbClr val="4A7BD0"/>
            </a:solidFill>
            <a:prstDash val="solid"/>
          </a:ln>
        </p:spPr>
      </p:sp>
      <p:pic>
        <p:nvPicPr>
          <p:cNvPr id="10" name="Image 1" descr="PenNib">    </p:cNvPr>
          <p:cNvPicPr>
            <a:picLocks noChangeAspect="1"/>
          </p:cNvPicPr>
          <p:nvPr/>
        </p:nvPicPr>
        <p:blipFill>
          <a:blip r:embed="rId2"/>
          <a:stretch>
            <a:fillRect/>
          </a:stretch>
        </p:blipFill>
        <p:spPr>
          <a:xfrm>
            <a:off x="1819656" y="4654296"/>
            <a:ext cx="201168" cy="201168"/>
          </a:xfrm>
          <a:prstGeom prst="rect">
            <a:avLst/>
          </a:prstGeom>
        </p:spPr>
      </p:pic>
      <p:sp>
        <p:nvSpPr>
          <p:cNvPr id="11" name="Text 6"/>
          <p:cNvSpPr txBox="1"/>
          <p:nvPr/>
        </p:nvSpPr>
        <p:spPr>
          <a:xfrm>
            <a:off x="2075688" y="4572000"/>
            <a:ext cx="1143000" cy="365760"/>
          </a:xfrm>
          <a:prstGeom prst="rect">
            <a:avLst/>
          </a:prstGeom>
          <a:noFill/>
          <a:ln/>
        </p:spPr>
        <p:txBody>
          <a:bodyPr wrap="square" lIns="0" tIns="0" rIns="0" bIns="0" rtlCol="0" anchor="ctr"/>
          <a:lstStyle/>
          <a:p>
            <a:pPr algn="l" indent="0" marL="0">
              <a:buNone/>
            </a:pPr>
            <a:r>
              <a:rPr lang="en-US" sz="1150" b="1" spc="100" kern="0" dirty="0">
                <a:solidFill>
                  <a:srgbClr val="4A7BD0"/>
                </a:solidFill>
                <a:latin typeface="Calibri" pitchFamily="34" charset="0"/>
                <a:ea typeface="Calibri" pitchFamily="34" charset="-122"/>
                <a:cs typeface="Calibri" pitchFamily="34" charset="-120"/>
              </a:rPr>
              <a:t>À L’ÉCRIT</a:t>
            </a:r>
            <a:endParaRPr lang="en-US" sz="1150" dirty="0"/>
          </a:p>
        </p:txBody>
      </p:sp>
      <p:sp>
        <p:nvSpPr>
          <p:cNvPr id="12" name="Text 7"/>
          <p:cNvSpPr txBox="1"/>
          <p:nvPr/>
        </p:nvSpPr>
        <p:spPr>
          <a:xfrm>
            <a:off x="3429000" y="4544568"/>
            <a:ext cx="2651760" cy="731520"/>
          </a:xfrm>
          <a:prstGeom prst="rect">
            <a:avLst/>
          </a:prstGeom>
          <a:noFill/>
          <a:ln/>
        </p:spPr>
        <p:txBody>
          <a:bodyPr wrap="square" lIns="0" tIns="0" rIns="0" bIns="0" rtlCol="0" anchor="t"/>
          <a:lstStyle/>
          <a:p>
            <a:pPr algn="l" indent="0" marL="0">
              <a:buNone/>
            </a:pPr>
            <a:r>
              <a:rPr lang="en-US" sz="1150" i="1" dirty="0">
                <a:solidFill>
                  <a:srgbClr val="6B7280"/>
                </a:solidFill>
                <a:latin typeface="Calibri" pitchFamily="34" charset="0"/>
                <a:ea typeface="Calibri" pitchFamily="34" charset="-122"/>
                <a:cs typeface="Calibri" pitchFamily="34" charset="-120"/>
              </a:rPr>
              <a:t>Voici la maison de Sarah. Décrivez-la.</a:t>
            </a:r>
            <a:endParaRPr lang="en-US" sz="1150" dirty="0"/>
          </a:p>
        </p:txBody>
      </p:sp>
      <p:sp>
        <p:nvSpPr>
          <p:cNvPr id="13" name="Shape 8"/>
          <p:cNvSpPr/>
          <p:nvPr/>
        </p:nvSpPr>
        <p:spPr>
          <a:xfrm>
            <a:off x="6355080" y="1673352"/>
            <a:ext cx="914400" cy="402336"/>
          </a:xfrm>
          <a:prstGeom prst="roundRect">
            <a:avLst>
              <a:gd name="adj" fmla="val 13636"/>
            </a:avLst>
          </a:prstGeom>
          <a:solidFill>
            <a:srgbClr val="5FA873"/>
          </a:solidFill>
          <a:ln w="12700">
            <a:solidFill>
              <a:srgbClr val="FFFFFF">
                <a:alpha val="0"/>
              </a:srgbClr>
            </a:solidFill>
            <a:prstDash val="solid"/>
          </a:ln>
        </p:spPr>
      </p:sp>
      <p:sp>
        <p:nvSpPr>
          <p:cNvPr id="14" name="Text 9"/>
          <p:cNvSpPr txBox="1"/>
          <p:nvPr/>
        </p:nvSpPr>
        <p:spPr>
          <a:xfrm>
            <a:off x="6355080" y="167335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1</a:t>
            </a:r>
            <a:endParaRPr lang="en-US" sz="1600" dirty="0"/>
          </a:p>
        </p:txBody>
      </p:sp>
      <p:sp>
        <p:nvSpPr>
          <p:cNvPr id="15" name="Text 10"/>
          <p:cNvSpPr txBox="1"/>
          <p:nvPr/>
        </p:nvSpPr>
        <p:spPr>
          <a:xfrm>
            <a:off x="7406640" y="1618488"/>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Après le verbe, pas de -e : het huis </a:t>
            </a:r>
            <a:r>
              <a:rPr lang="en-US" sz="1450" b="1" dirty="0">
                <a:solidFill>
                  <a:srgbClr val="2B2F38"/>
                </a:solidFill>
              </a:rPr>
              <a:t>IS GROOT</a:t>
            </a:r>
            <a:r>
              <a:rPr lang="en-US" sz="1450" dirty="0">
                <a:solidFill>
                  <a:srgbClr val="2B2F38"/>
                </a:solidFill>
              </a:rPr>
              <a:t>.</a:t>
            </a:r>
            <a:endParaRPr lang="en-US" sz="1450" dirty="0"/>
          </a:p>
        </p:txBody>
      </p:sp>
      <p:sp>
        <p:nvSpPr>
          <p:cNvPr id="16" name="Shape 11"/>
          <p:cNvSpPr/>
          <p:nvPr/>
        </p:nvSpPr>
        <p:spPr>
          <a:xfrm>
            <a:off x="6355080" y="2404872"/>
            <a:ext cx="914400" cy="402336"/>
          </a:xfrm>
          <a:prstGeom prst="roundRect">
            <a:avLst>
              <a:gd name="adj" fmla="val 13636"/>
            </a:avLst>
          </a:prstGeom>
          <a:solidFill>
            <a:srgbClr val="5FA873"/>
          </a:solidFill>
          <a:ln w="12700">
            <a:solidFill>
              <a:srgbClr val="FFFFFF">
                <a:alpha val="0"/>
              </a:srgbClr>
            </a:solidFill>
            <a:prstDash val="solid"/>
          </a:ln>
        </p:spPr>
      </p:sp>
      <p:sp>
        <p:nvSpPr>
          <p:cNvPr id="17" name="Text 12"/>
          <p:cNvSpPr txBox="1"/>
          <p:nvPr/>
        </p:nvSpPr>
        <p:spPr>
          <a:xfrm>
            <a:off x="6355080" y="240487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2</a:t>
            </a:r>
            <a:endParaRPr lang="en-US" sz="1600" dirty="0"/>
          </a:p>
        </p:txBody>
      </p:sp>
      <p:sp>
        <p:nvSpPr>
          <p:cNvPr id="18" name="Text 13"/>
          <p:cNvSpPr txBox="1"/>
          <p:nvPr/>
        </p:nvSpPr>
        <p:spPr>
          <a:xfrm>
            <a:off x="7406640" y="2350008"/>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Devant un nom, </a:t>
            </a:r>
            <a:r>
              <a:rPr lang="en-US" sz="1450" b="1" dirty="0">
                <a:solidFill>
                  <a:srgbClr val="2B2F38"/>
                </a:solidFill>
              </a:rPr>
              <a:t>-E</a:t>
            </a:r>
            <a:r>
              <a:rPr lang="en-US" sz="1450" dirty="0">
                <a:solidFill>
                  <a:srgbClr val="2B2F38"/>
                </a:solidFill>
              </a:rPr>
              <a:t> : een rod</a:t>
            </a:r>
            <a:r>
              <a:rPr lang="en-US" sz="1450" b="1" dirty="0">
                <a:solidFill>
                  <a:srgbClr val="2B2F38"/>
                </a:solidFill>
              </a:rPr>
              <a:t>e</a:t>
            </a:r>
            <a:r>
              <a:rPr lang="en-US" sz="1450" dirty="0">
                <a:solidFill>
                  <a:srgbClr val="2B2F38"/>
                </a:solidFill>
              </a:rPr>
              <a:t> deur.</a:t>
            </a:r>
            <a:endParaRPr lang="en-US" sz="1450" dirty="0"/>
          </a:p>
        </p:txBody>
      </p:sp>
      <p:sp>
        <p:nvSpPr>
          <p:cNvPr id="19" name="Shape 14"/>
          <p:cNvSpPr/>
          <p:nvPr/>
        </p:nvSpPr>
        <p:spPr>
          <a:xfrm>
            <a:off x="6355080" y="3136392"/>
            <a:ext cx="914400" cy="402336"/>
          </a:xfrm>
          <a:prstGeom prst="roundRect">
            <a:avLst>
              <a:gd name="adj" fmla="val 13636"/>
            </a:avLst>
          </a:prstGeom>
          <a:solidFill>
            <a:srgbClr val="5FA873"/>
          </a:solidFill>
          <a:ln w="12700">
            <a:solidFill>
              <a:srgbClr val="FFFFFF">
                <a:alpha val="0"/>
              </a:srgbClr>
            </a:solidFill>
            <a:prstDash val="solid"/>
          </a:ln>
        </p:spPr>
      </p:sp>
      <p:sp>
        <p:nvSpPr>
          <p:cNvPr id="20" name="Text 15"/>
          <p:cNvSpPr txBox="1"/>
          <p:nvPr/>
        </p:nvSpPr>
        <p:spPr>
          <a:xfrm>
            <a:off x="6355080" y="313639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3</a:t>
            </a:r>
            <a:endParaRPr lang="en-US" sz="1600" dirty="0"/>
          </a:p>
        </p:txBody>
      </p:sp>
      <p:sp>
        <p:nvSpPr>
          <p:cNvPr id="21" name="Text 16"/>
          <p:cNvSpPr txBox="1"/>
          <p:nvPr/>
        </p:nvSpPr>
        <p:spPr>
          <a:xfrm>
            <a:off x="7406640" y="3081528"/>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Exception : </a:t>
            </a:r>
            <a:r>
              <a:rPr lang="en-US" sz="1450" b="1" dirty="0">
                <a:solidFill>
                  <a:srgbClr val="2B2F38"/>
                </a:solidFill>
              </a:rPr>
              <a:t>EEN</a:t>
            </a:r>
            <a:r>
              <a:rPr lang="en-US" sz="1450" dirty="0">
                <a:solidFill>
                  <a:srgbClr val="2B2F38"/>
                </a:solidFill>
              </a:rPr>
              <a:t> + adjectif + mot en HET (pas de -e).</a:t>
            </a:r>
            <a:endParaRPr lang="en-US" sz="1450" dirty="0"/>
          </a:p>
        </p:txBody>
      </p:sp>
      <p:sp>
        <p:nvSpPr>
          <p:cNvPr id="22" name="Shape 17"/>
          <p:cNvSpPr/>
          <p:nvPr/>
        </p:nvSpPr>
        <p:spPr>
          <a:xfrm>
            <a:off x="6355080" y="3867912"/>
            <a:ext cx="914400" cy="402336"/>
          </a:xfrm>
          <a:prstGeom prst="roundRect">
            <a:avLst>
              <a:gd name="adj" fmla="val 13636"/>
            </a:avLst>
          </a:prstGeom>
          <a:solidFill>
            <a:srgbClr val="5FA873"/>
          </a:solidFill>
          <a:ln w="12700">
            <a:solidFill>
              <a:srgbClr val="FFFFFF">
                <a:alpha val="0"/>
              </a:srgbClr>
            </a:solidFill>
            <a:prstDash val="solid"/>
          </a:ln>
        </p:spPr>
      </p:sp>
      <p:sp>
        <p:nvSpPr>
          <p:cNvPr id="23" name="Text 18"/>
          <p:cNvSpPr txBox="1"/>
          <p:nvPr/>
        </p:nvSpPr>
        <p:spPr>
          <a:xfrm>
            <a:off x="6355080" y="386791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4</a:t>
            </a:r>
            <a:endParaRPr lang="en-US" sz="1600" dirty="0"/>
          </a:p>
        </p:txBody>
      </p:sp>
      <p:sp>
        <p:nvSpPr>
          <p:cNvPr id="24" name="Text 19"/>
          <p:cNvSpPr txBox="1"/>
          <p:nvPr/>
        </p:nvSpPr>
        <p:spPr>
          <a:xfrm>
            <a:off x="7406640" y="3813048"/>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Une chute avec un adjectif au </a:t>
            </a:r>
            <a:r>
              <a:rPr lang="en-US" sz="1450" b="1" dirty="0">
                <a:solidFill>
                  <a:srgbClr val="2B2F38"/>
                </a:solidFill>
              </a:rPr>
              <a:t>pluriel</a:t>
            </a:r>
            <a:r>
              <a:rPr lang="en-US" sz="1450" dirty="0">
                <a:solidFill>
                  <a:srgbClr val="2B2F38"/>
                </a:solidFill>
              </a:rPr>
              <a:t> (+ -e).</a:t>
            </a:r>
            <a:endParaRPr lang="en-US" sz="1450" dirty="0"/>
          </a:p>
        </p:txBody>
      </p:sp>
      <p:sp>
        <p:nvSpPr>
          <p:cNvPr id="25" name="Shape 20"/>
          <p:cNvSpPr/>
          <p:nvPr/>
        </p:nvSpPr>
        <p:spPr>
          <a:xfrm>
            <a:off x="3246120" y="5440680"/>
            <a:ext cx="6858000" cy="822960"/>
          </a:xfrm>
          <a:prstGeom prst="roundRect">
            <a:avLst>
              <a:gd name="adj" fmla="val 17778"/>
            </a:avLst>
          </a:prstGeom>
          <a:solidFill>
            <a:srgbClr val="EAF5EC"/>
          </a:solidFill>
          <a:ln w="15875">
            <a:solidFill>
              <a:srgbClr val="5FA873"/>
            </a:solidFill>
            <a:prstDash val="solid"/>
          </a:ln>
        </p:spPr>
      </p:sp>
      <p:pic>
        <p:nvPicPr>
          <p:cNvPr id="26" name="Image 2" descr="UserFriends">    </p:cNvPr>
          <p:cNvPicPr>
            <a:picLocks noChangeAspect="1"/>
          </p:cNvPicPr>
          <p:nvPr/>
        </p:nvPicPr>
        <p:blipFill>
          <a:blip r:embed="rId3"/>
          <a:stretch>
            <a:fillRect/>
          </a:stretch>
        </p:blipFill>
        <p:spPr>
          <a:xfrm>
            <a:off x="3520440" y="5660136"/>
            <a:ext cx="384048" cy="384048"/>
          </a:xfrm>
          <a:prstGeom prst="rect">
            <a:avLst/>
          </a:prstGeom>
        </p:spPr>
      </p:pic>
      <p:sp>
        <p:nvSpPr>
          <p:cNvPr id="27" name="Text 21"/>
          <p:cNvSpPr txBox="1"/>
          <p:nvPr/>
        </p:nvSpPr>
        <p:spPr>
          <a:xfrm>
            <a:off x="4114800" y="5440680"/>
            <a:ext cx="5852160" cy="822960"/>
          </a:xfrm>
          <a:prstGeom prst="rect">
            <a:avLst/>
          </a:prstGeom>
          <a:noFill/>
          <a:ln/>
        </p:spPr>
        <p:txBody>
          <a:bodyPr wrap="square" lIns="0" tIns="0" rIns="0" bIns="0" rtlCol="0" anchor="ctr"/>
          <a:lstStyle/>
          <a:p>
            <a:pPr algn="ctr" indent="0" marL="0">
              <a:buNone/>
            </a:pPr>
            <a:r>
              <a:rPr lang="en-US" sz="1800" b="1" dirty="0">
                <a:solidFill>
                  <a:srgbClr val="2E6B44"/>
                </a:solidFill>
                <a:latin typeface="Calibri" pitchFamily="34" charset="0"/>
                <a:ea typeface="Calibri" pitchFamily="34" charset="-122"/>
                <a:cs typeface="Calibri" pitchFamily="34" charset="-120"/>
              </a:rPr>
              <a:t>Lees je tekst voor aan je partner.</a:t>
            </a:r>
            <a:endParaRPr lang="en-US" sz="1800" dirty="0"/>
          </a:p>
          <a:p>
            <a:pPr algn="ctr" indent="0" marL="0">
              <a:buNone/>
            </a:pPr>
            <a:r>
              <a:rPr lang="en-US" sz="1800" b="1" dirty="0">
                <a:solidFill>
                  <a:srgbClr val="2E6B44"/>
                </a:solidFill>
                <a:latin typeface="Calibri" pitchFamily="34" charset="0"/>
                <a:ea typeface="Calibri" pitchFamily="34" charset="-122"/>
                <a:cs typeface="Calibri" pitchFamily="34" charset="-120"/>
              </a:rPr>
              <a:t>Wat denkt hij/zij daarvan?</a:t>
            </a:r>
            <a:endParaRPr lang="en-US" sz="1800" dirty="0"/>
          </a:p>
        </p:txBody>
      </p:sp>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1"/>
          <p:cNvSpPr/>
          <p:nvPr>
            <p:ph idx="101" type="title" hasCustomPrompt="1"/>
          </p:nvPr>
        </p:nvSpPr>
        <p:spPr>
          <a:xfrm>
            <a:off x="1554480" y="384048"/>
            <a:ext cx="10241280" cy="658368"/>
          </a:xfrm>
          <a:prstGeom prst="rect">
            <a:avLst/>
          </a:prstGeom>
          <a:noFill/>
          <a:ln/>
        </p:spPr>
        <p:txBody>
          <a:bodyPr wrap="square" lIns="0" tIns="0" rIns="0" bIns="0" rtlCol="0" anchor="ctr"/>
          <a:lstStyle/>
          <a:p>
            <a:pPr algn="ctr" indent="0" marL="0">
              <a:buNone/>
            </a:pPr>
            <a:r>
              <a:rPr lang="en-US" sz="3000" b="1" dirty="0">
                <a:solidFill>
                  <a:srgbClr val="2B2F38"/>
                </a:solidFill>
              </a:rPr>
              <a:t>Het huis van Sarah</a:t>
            </a:r>
            <a:endParaRPr lang="en-US" sz="3000" dirty="0"/>
          </a:p>
        </p:txBody>
      </p:sp>
      <p:sp>
        <p:nvSpPr>
          <p:cNvPr id="4" name="Shape 1"/>
          <p:cNvSpPr/>
          <p:nvPr/>
        </p:nvSpPr>
        <p:spPr>
          <a:xfrm>
            <a:off x="365760" y="365760"/>
            <a:ext cx="868680" cy="5989320"/>
          </a:xfrm>
          <a:prstGeom prst="roundRect">
            <a:avLst>
              <a:gd name="adj" fmla="val 12632"/>
            </a:avLst>
          </a:prstGeom>
          <a:solidFill>
            <a:srgbClr val="E4EEFB"/>
          </a:solidFill>
          <a:ln w="28575">
            <a:solidFill>
              <a:srgbClr val="6FA0DC"/>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3E6FB0"/>
                </a:solidFill>
                <a:latin typeface="Calibri" pitchFamily="34" charset="0"/>
                <a:ea typeface="Calibri" pitchFamily="34" charset="-122"/>
                <a:cs typeface="Calibri" pitchFamily="34" charset="-120"/>
              </a:rPr>
              <a:t>A1 · Grammaire</a:t>
            </a:r>
            <a:endParaRPr lang="en-US" sz="3800" dirty="0"/>
          </a:p>
        </p:txBody>
      </p:sp>
      <p:sp>
        <p:nvSpPr>
          <p:cNvPr id="6" name="Shape 3"/>
          <p:cNvSpPr/>
          <p:nvPr/>
        </p:nvSpPr>
        <p:spPr>
          <a:xfrm>
            <a:off x="2519172" y="1124712"/>
            <a:ext cx="8311896" cy="5277231"/>
          </a:xfrm>
          <a:prstGeom prst="roundRect">
            <a:avLst>
              <a:gd name="adj" fmla="val 693"/>
            </a:avLst>
          </a:prstGeom>
          <a:solidFill>
            <a:srgbClr val="FFFFFF"/>
          </a:solidFill>
          <a:ln w="9525">
            <a:solidFill>
              <a:srgbClr val="E3E7EE"/>
            </a:solidFill>
            <a:prstDash val="solid"/>
          </a:ln>
          <a:effectLst>
            <a:outerShdw sx="100000" sy="100000" kx="0" ky="0" algn="bl" rotWithShape="0" blurRad="177800" dist="63500" dir="5400000">
              <a:srgbClr val="1B2430">
                <a:alpha val="25000"/>
              </a:srgbClr>
            </a:outerShdw>
          </a:effectLst>
        </p:spPr>
      </p:sp>
      <p:pic>
        <p:nvPicPr>
          <p:cNvPr id="7" name="Image 0" descr="/home/user/talenleren/neerlandais1/generateur/img/vijfzinnen/a1_huisvansarah.jpg">    </p:cNvPr>
          <p:cNvPicPr>
            <a:picLocks noChangeAspect="1"/>
          </p:cNvPicPr>
          <p:nvPr/>
        </p:nvPicPr>
        <p:blipFill>
          <a:blip r:embed="rId1"/>
          <a:stretch>
            <a:fillRect/>
          </a:stretch>
        </p:blipFill>
        <p:spPr>
          <a:xfrm>
            <a:off x="2628900" y="1234440"/>
            <a:ext cx="8092440" cy="5057775"/>
          </a:xfrm>
          <a:prstGeom prst="rect">
            <a:avLst/>
          </a:prstGeom>
        </p:spPr>
      </p:pic>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1"/>
          <p:cNvSpPr/>
          <p:nvPr>
            <p:ph idx="101" type="title" hasCustomPrompt="1"/>
          </p:nvPr>
        </p:nvSpPr>
        <p:spPr>
          <a:xfrm>
            <a:off x="1691640" y="347472"/>
            <a:ext cx="8138160" cy="914400"/>
          </a:xfrm>
          <a:prstGeom prst="rect">
            <a:avLst/>
          </a:prstGeom>
          <a:noFill/>
          <a:ln/>
        </p:spPr>
        <p:txBody>
          <a:bodyPr wrap="square" lIns="0" tIns="0" rIns="0" bIns="0" rtlCol="0" anchor="ctr"/>
          <a:lstStyle/>
          <a:p>
            <a:pPr algn="l" indent="0" marL="0">
              <a:buNone/>
            </a:pPr>
            <a:r>
              <a:rPr lang="en-US" sz="2400" b="1" dirty="0">
                <a:solidFill>
                  <a:srgbClr val="2B2F38"/>
                </a:solidFill>
              </a:rPr>
              <a:t>Hier is een voorbeeld van wat je had kunnen denken en schrijven…</a:t>
            </a:r>
            <a:endParaRPr lang="en-US" sz="2400" dirty="0"/>
          </a:p>
        </p:txBody>
      </p:sp>
      <p:sp>
        <p:nvSpPr>
          <p:cNvPr id="4" name="Shape 1"/>
          <p:cNvSpPr/>
          <p:nvPr/>
        </p:nvSpPr>
        <p:spPr>
          <a:xfrm>
            <a:off x="365760" y="365760"/>
            <a:ext cx="868680" cy="5989320"/>
          </a:xfrm>
          <a:prstGeom prst="roundRect">
            <a:avLst>
              <a:gd name="adj" fmla="val 12632"/>
            </a:avLst>
          </a:prstGeom>
          <a:solidFill>
            <a:srgbClr val="E4EEFB"/>
          </a:solidFill>
          <a:ln w="28575">
            <a:solidFill>
              <a:srgbClr val="6FA0DC"/>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3E6FB0"/>
                </a:solidFill>
                <a:latin typeface="Calibri" pitchFamily="34" charset="0"/>
                <a:ea typeface="Calibri" pitchFamily="34" charset="-122"/>
                <a:cs typeface="Calibri" pitchFamily="34" charset="-120"/>
              </a:rPr>
              <a:t>A1 · Grammaire</a:t>
            </a:r>
            <a:endParaRPr lang="en-US" sz="3800" dirty="0"/>
          </a:p>
        </p:txBody>
      </p:sp>
      <p:sp>
        <p:nvSpPr>
          <p:cNvPr id="6" name="Shape 3"/>
          <p:cNvSpPr/>
          <p:nvPr/>
        </p:nvSpPr>
        <p:spPr>
          <a:xfrm>
            <a:off x="10058400" y="246888"/>
            <a:ext cx="1691640" cy="1091565"/>
          </a:xfrm>
          <a:prstGeom prst="roundRect">
            <a:avLst>
              <a:gd name="adj" fmla="val 3351"/>
            </a:avLst>
          </a:prstGeom>
          <a:solidFill>
            <a:srgbClr val="FFFFFF"/>
          </a:solidFill>
          <a:ln w="9525">
            <a:solidFill>
              <a:srgbClr val="E3E7EE"/>
            </a:solidFill>
            <a:prstDash val="solid"/>
          </a:ln>
          <a:effectLst>
            <a:outerShdw sx="100000" sy="100000" kx="0" ky="0" algn="bl" rotWithShape="0" blurRad="76200" dist="25400" dir="5400000">
              <a:srgbClr val="1B2430">
                <a:alpha val="25000"/>
              </a:srgbClr>
            </a:outerShdw>
          </a:effectLst>
        </p:spPr>
      </p:sp>
      <p:pic>
        <p:nvPicPr>
          <p:cNvPr id="7" name="Image 0" descr="/home/user/talenleren/neerlandais1/generateur/img/vijfzinnen/a1_huisvansarah_s.jpg">    </p:cNvPr>
          <p:cNvPicPr>
            <a:picLocks noChangeAspect="1"/>
          </p:cNvPicPr>
          <p:nvPr/>
        </p:nvPicPr>
        <p:blipFill>
          <a:blip r:embed="rId1"/>
          <a:stretch>
            <a:fillRect/>
          </a:stretch>
        </p:blipFill>
        <p:spPr>
          <a:xfrm>
            <a:off x="10104120" y="292608"/>
            <a:ext cx="1600200" cy="1000125"/>
          </a:xfrm>
          <a:prstGeom prst="rect">
            <a:avLst/>
          </a:prstGeom>
        </p:spPr>
      </p:pic>
      <p:sp>
        <p:nvSpPr>
          <p:cNvPr id="8" name="Text 4"/>
          <p:cNvSpPr txBox="1"/>
          <p:nvPr/>
        </p:nvSpPr>
        <p:spPr>
          <a:xfrm>
            <a:off x="1691640" y="3108350"/>
            <a:ext cx="2539594"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Het huis van Sarah</a:t>
            </a:r>
            <a:endParaRPr lang="en-US" sz="2400" dirty="0"/>
          </a:p>
        </p:txBody>
      </p:sp>
      <p:sp>
        <p:nvSpPr>
          <p:cNvPr id="9" name="Shape 5"/>
          <p:cNvSpPr/>
          <p:nvPr/>
        </p:nvSpPr>
        <p:spPr>
          <a:xfrm>
            <a:off x="4135526" y="3120542"/>
            <a:ext cx="1043330" cy="371856"/>
          </a:xfrm>
          <a:prstGeom prst="roundRect">
            <a:avLst>
              <a:gd name="adj" fmla="val 12295"/>
            </a:avLst>
          </a:prstGeom>
          <a:solidFill>
            <a:srgbClr val="E6F3DA"/>
          </a:solidFill>
          <a:ln w="12700">
            <a:solidFill>
              <a:srgbClr val="FFFFFF">
                <a:alpha val="0"/>
              </a:srgbClr>
            </a:solidFill>
            <a:prstDash val="solid"/>
          </a:ln>
        </p:spPr>
      </p:sp>
      <p:sp>
        <p:nvSpPr>
          <p:cNvPr id="10" name="Text 6"/>
          <p:cNvSpPr txBox="1"/>
          <p:nvPr/>
        </p:nvSpPr>
        <p:spPr>
          <a:xfrm>
            <a:off x="4135526" y="3108350"/>
            <a:ext cx="1043330"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is groot</a:t>
            </a:r>
            <a:endParaRPr lang="en-US" sz="2400" dirty="0"/>
          </a:p>
        </p:txBody>
      </p:sp>
      <p:sp>
        <p:nvSpPr>
          <p:cNvPr id="11" name="Text 7"/>
          <p:cNvSpPr txBox="1"/>
          <p:nvPr/>
        </p:nvSpPr>
        <p:spPr>
          <a:xfrm>
            <a:off x="5178857" y="3108350"/>
            <a:ext cx="1536497"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 Het heeft</a:t>
            </a:r>
            <a:endParaRPr lang="en-US" sz="2400" dirty="0"/>
          </a:p>
        </p:txBody>
      </p:sp>
      <p:sp>
        <p:nvSpPr>
          <p:cNvPr id="12" name="Shape 8"/>
          <p:cNvSpPr/>
          <p:nvPr/>
        </p:nvSpPr>
        <p:spPr>
          <a:xfrm>
            <a:off x="6619646" y="3120542"/>
            <a:ext cx="1877568" cy="371856"/>
          </a:xfrm>
          <a:prstGeom prst="roundRect">
            <a:avLst>
              <a:gd name="adj" fmla="val 12295"/>
            </a:avLst>
          </a:prstGeom>
          <a:solidFill>
            <a:srgbClr val="E6F3DA"/>
          </a:solidFill>
          <a:ln w="12700">
            <a:solidFill>
              <a:srgbClr val="FFFFFF">
                <a:alpha val="0"/>
              </a:srgbClr>
            </a:solidFill>
            <a:prstDash val="solid"/>
          </a:ln>
        </p:spPr>
      </p:sp>
      <p:sp>
        <p:nvSpPr>
          <p:cNvPr id="13" name="Text 9"/>
          <p:cNvSpPr txBox="1"/>
          <p:nvPr/>
        </p:nvSpPr>
        <p:spPr>
          <a:xfrm>
            <a:off x="6619646" y="3108350"/>
            <a:ext cx="1877568"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een rode deur</a:t>
            </a:r>
            <a:endParaRPr lang="en-US" sz="2400" dirty="0"/>
          </a:p>
        </p:txBody>
      </p:sp>
      <p:sp>
        <p:nvSpPr>
          <p:cNvPr id="14" name="Text 10"/>
          <p:cNvSpPr txBox="1"/>
          <p:nvPr/>
        </p:nvSpPr>
        <p:spPr>
          <a:xfrm>
            <a:off x="8584387" y="3108350"/>
            <a:ext cx="494690"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en</a:t>
            </a:r>
            <a:endParaRPr lang="en-US" sz="2400" dirty="0"/>
          </a:p>
        </p:txBody>
      </p:sp>
      <p:sp>
        <p:nvSpPr>
          <p:cNvPr id="15" name="Shape 11"/>
          <p:cNvSpPr/>
          <p:nvPr/>
        </p:nvSpPr>
        <p:spPr>
          <a:xfrm>
            <a:off x="8983370" y="3120542"/>
            <a:ext cx="2175967" cy="371856"/>
          </a:xfrm>
          <a:prstGeom prst="roundRect">
            <a:avLst>
              <a:gd name="adj" fmla="val 12295"/>
            </a:avLst>
          </a:prstGeom>
          <a:solidFill>
            <a:srgbClr val="E6F3DA"/>
          </a:solidFill>
          <a:ln w="12700">
            <a:solidFill>
              <a:srgbClr val="FFFFFF">
                <a:alpha val="0"/>
              </a:srgbClr>
            </a:solidFill>
            <a:prstDash val="solid"/>
          </a:ln>
        </p:spPr>
      </p:sp>
      <p:sp>
        <p:nvSpPr>
          <p:cNvPr id="16" name="Text 12"/>
          <p:cNvSpPr txBox="1"/>
          <p:nvPr/>
        </p:nvSpPr>
        <p:spPr>
          <a:xfrm>
            <a:off x="8983370" y="3108350"/>
            <a:ext cx="2175967"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een klein balkon</a:t>
            </a:r>
            <a:endParaRPr lang="en-US" sz="2400" dirty="0"/>
          </a:p>
        </p:txBody>
      </p:sp>
      <p:sp>
        <p:nvSpPr>
          <p:cNvPr id="17" name="Text 13"/>
          <p:cNvSpPr txBox="1"/>
          <p:nvPr/>
        </p:nvSpPr>
        <p:spPr>
          <a:xfrm>
            <a:off x="11159338" y="3108350"/>
            <a:ext cx="259690"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a:t>
            </a:r>
            <a:endParaRPr lang="en-US" sz="2400" dirty="0"/>
          </a:p>
        </p:txBody>
      </p:sp>
      <p:sp>
        <p:nvSpPr>
          <p:cNvPr id="18" name="Shape 14"/>
          <p:cNvSpPr/>
          <p:nvPr/>
        </p:nvSpPr>
        <p:spPr>
          <a:xfrm>
            <a:off x="4657192" y="3044342"/>
            <a:ext cx="914" cy="76200"/>
          </a:xfrm>
          <a:prstGeom prst="line">
            <a:avLst/>
          </a:prstGeom>
          <a:noFill/>
          <a:ln w="15875">
            <a:solidFill>
              <a:srgbClr val="7AB648"/>
            </a:solidFill>
            <a:prstDash val="solid"/>
          </a:ln>
        </p:spPr>
      </p:sp>
      <p:sp>
        <p:nvSpPr>
          <p:cNvPr id="19" name="Shape 15"/>
          <p:cNvSpPr/>
          <p:nvPr/>
        </p:nvSpPr>
        <p:spPr>
          <a:xfrm>
            <a:off x="4320940" y="2797454"/>
            <a:ext cx="672503" cy="246888"/>
          </a:xfrm>
          <a:prstGeom prst="roundRect">
            <a:avLst>
              <a:gd name="adj" fmla="val 14815"/>
            </a:avLst>
          </a:prstGeom>
          <a:solidFill>
            <a:srgbClr val="7AB648"/>
          </a:solidFill>
          <a:ln w="12700">
            <a:solidFill>
              <a:srgbClr val="FFFFFF">
                <a:alpha val="0"/>
              </a:srgbClr>
            </a:solidFill>
            <a:prstDash val="solid"/>
          </a:ln>
        </p:spPr>
      </p:sp>
      <p:sp>
        <p:nvSpPr>
          <p:cNvPr id="20" name="Text 16"/>
          <p:cNvSpPr txBox="1"/>
          <p:nvPr/>
        </p:nvSpPr>
        <p:spPr>
          <a:xfrm>
            <a:off x="4320940" y="2797454"/>
            <a:ext cx="672503"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IS + adj.</a:t>
            </a:r>
            <a:endParaRPr lang="en-US" sz="1100" dirty="0"/>
          </a:p>
        </p:txBody>
      </p:sp>
      <p:sp>
        <p:nvSpPr>
          <p:cNvPr id="21" name="Shape 17"/>
          <p:cNvSpPr/>
          <p:nvPr/>
        </p:nvSpPr>
        <p:spPr>
          <a:xfrm>
            <a:off x="7558430" y="3044342"/>
            <a:ext cx="914" cy="76200"/>
          </a:xfrm>
          <a:prstGeom prst="line">
            <a:avLst/>
          </a:prstGeom>
          <a:noFill/>
          <a:ln w="15875">
            <a:solidFill>
              <a:srgbClr val="7AB648"/>
            </a:solidFill>
            <a:prstDash val="solid"/>
          </a:ln>
        </p:spPr>
      </p:sp>
      <p:sp>
        <p:nvSpPr>
          <p:cNvPr id="22" name="Shape 18"/>
          <p:cNvSpPr/>
          <p:nvPr/>
        </p:nvSpPr>
        <p:spPr>
          <a:xfrm>
            <a:off x="7218407" y="2797454"/>
            <a:ext cx="680047" cy="246888"/>
          </a:xfrm>
          <a:prstGeom prst="roundRect">
            <a:avLst>
              <a:gd name="adj" fmla="val 14815"/>
            </a:avLst>
          </a:prstGeom>
          <a:solidFill>
            <a:srgbClr val="7AB648"/>
          </a:solidFill>
          <a:ln w="12700">
            <a:solidFill>
              <a:srgbClr val="FFFFFF">
                <a:alpha val="0"/>
              </a:srgbClr>
            </a:solidFill>
            <a:prstDash val="solid"/>
          </a:ln>
        </p:spPr>
      </p:sp>
      <p:sp>
        <p:nvSpPr>
          <p:cNvPr id="23" name="Text 19"/>
          <p:cNvSpPr txBox="1"/>
          <p:nvPr/>
        </p:nvSpPr>
        <p:spPr>
          <a:xfrm>
            <a:off x="7218407" y="2797454"/>
            <a:ext cx="680047"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adj. + -E</a:t>
            </a:r>
            <a:endParaRPr lang="en-US" sz="1100" dirty="0"/>
          </a:p>
        </p:txBody>
      </p:sp>
      <p:sp>
        <p:nvSpPr>
          <p:cNvPr id="24" name="Shape 20"/>
          <p:cNvSpPr/>
          <p:nvPr/>
        </p:nvSpPr>
        <p:spPr>
          <a:xfrm>
            <a:off x="10071354" y="3044342"/>
            <a:ext cx="914" cy="76200"/>
          </a:xfrm>
          <a:prstGeom prst="line">
            <a:avLst/>
          </a:prstGeom>
          <a:noFill/>
          <a:ln w="15875">
            <a:solidFill>
              <a:srgbClr val="7AB648"/>
            </a:solidFill>
            <a:prstDash val="solid"/>
          </a:ln>
        </p:spPr>
      </p:sp>
      <p:sp>
        <p:nvSpPr>
          <p:cNvPr id="25" name="Shape 21"/>
          <p:cNvSpPr/>
          <p:nvPr/>
        </p:nvSpPr>
        <p:spPr>
          <a:xfrm>
            <a:off x="9493491" y="2797454"/>
            <a:ext cx="1155725" cy="246888"/>
          </a:xfrm>
          <a:prstGeom prst="roundRect">
            <a:avLst>
              <a:gd name="adj" fmla="val 14815"/>
            </a:avLst>
          </a:prstGeom>
          <a:solidFill>
            <a:srgbClr val="7AB648"/>
          </a:solidFill>
          <a:ln w="12700">
            <a:solidFill>
              <a:srgbClr val="FFFFFF">
                <a:alpha val="0"/>
              </a:srgbClr>
            </a:solidFill>
            <a:prstDash val="solid"/>
          </a:ln>
        </p:spPr>
      </p:sp>
      <p:sp>
        <p:nvSpPr>
          <p:cNvPr id="26" name="Text 22"/>
          <p:cNvSpPr txBox="1"/>
          <p:nvPr/>
        </p:nvSpPr>
        <p:spPr>
          <a:xfrm>
            <a:off x="9493491" y="2797454"/>
            <a:ext cx="1155725"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EEN + adj. + HET</a:t>
            </a:r>
            <a:endParaRPr lang="en-US" sz="1100" dirty="0"/>
          </a:p>
        </p:txBody>
      </p:sp>
      <p:sp>
        <p:nvSpPr>
          <p:cNvPr id="27" name="Text 23"/>
          <p:cNvSpPr txBox="1"/>
          <p:nvPr/>
        </p:nvSpPr>
        <p:spPr>
          <a:xfrm>
            <a:off x="4451147" y="4162958"/>
            <a:ext cx="1928470"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En in de tuin?</a:t>
            </a:r>
            <a:endParaRPr lang="en-US" sz="2400" dirty="0"/>
          </a:p>
        </p:txBody>
      </p:sp>
      <p:sp>
        <p:nvSpPr>
          <p:cNvPr id="28" name="Shape 24"/>
          <p:cNvSpPr/>
          <p:nvPr/>
        </p:nvSpPr>
        <p:spPr>
          <a:xfrm>
            <a:off x="6283909" y="4175150"/>
            <a:ext cx="2561539" cy="371856"/>
          </a:xfrm>
          <a:prstGeom prst="roundRect">
            <a:avLst>
              <a:gd name="adj" fmla="val 12295"/>
            </a:avLst>
          </a:prstGeom>
          <a:solidFill>
            <a:srgbClr val="E6F3DA"/>
          </a:solidFill>
          <a:ln w="12700">
            <a:solidFill>
              <a:srgbClr val="FFFFFF">
                <a:alpha val="0"/>
              </a:srgbClr>
            </a:solidFill>
            <a:prstDash val="solid"/>
          </a:ln>
        </p:spPr>
      </p:sp>
      <p:sp>
        <p:nvSpPr>
          <p:cNvPr id="29" name="Text 25"/>
          <p:cNvSpPr txBox="1"/>
          <p:nvPr/>
        </p:nvSpPr>
        <p:spPr>
          <a:xfrm>
            <a:off x="6283909" y="4162958"/>
            <a:ext cx="2561539"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Twee grote honden</a:t>
            </a:r>
            <a:endParaRPr lang="en-US" sz="2400" dirty="0"/>
          </a:p>
        </p:txBody>
      </p:sp>
      <p:sp>
        <p:nvSpPr>
          <p:cNvPr id="30" name="Text 26"/>
          <p:cNvSpPr txBox="1"/>
          <p:nvPr/>
        </p:nvSpPr>
        <p:spPr>
          <a:xfrm>
            <a:off x="8845448" y="4162958"/>
            <a:ext cx="282245"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a:t>
            </a:r>
            <a:endParaRPr lang="en-US" sz="2400" dirty="0"/>
          </a:p>
        </p:txBody>
      </p:sp>
      <p:sp>
        <p:nvSpPr>
          <p:cNvPr id="31" name="Shape 27"/>
          <p:cNvSpPr/>
          <p:nvPr/>
        </p:nvSpPr>
        <p:spPr>
          <a:xfrm>
            <a:off x="7564679" y="4098950"/>
            <a:ext cx="914" cy="76200"/>
          </a:xfrm>
          <a:prstGeom prst="line">
            <a:avLst/>
          </a:prstGeom>
          <a:noFill/>
          <a:ln w="15875">
            <a:solidFill>
              <a:srgbClr val="7AB648"/>
            </a:solidFill>
            <a:prstDash val="solid"/>
          </a:ln>
        </p:spPr>
      </p:sp>
      <p:sp>
        <p:nvSpPr>
          <p:cNvPr id="32" name="Shape 28"/>
          <p:cNvSpPr/>
          <p:nvPr/>
        </p:nvSpPr>
        <p:spPr>
          <a:xfrm>
            <a:off x="7146633" y="3852062"/>
            <a:ext cx="836092" cy="246888"/>
          </a:xfrm>
          <a:prstGeom prst="roundRect">
            <a:avLst>
              <a:gd name="adj" fmla="val 14815"/>
            </a:avLst>
          </a:prstGeom>
          <a:solidFill>
            <a:srgbClr val="7AB648"/>
          </a:solidFill>
          <a:ln w="12700">
            <a:solidFill>
              <a:srgbClr val="FFFFFF">
                <a:alpha val="0"/>
              </a:srgbClr>
            </a:solidFill>
            <a:prstDash val="solid"/>
          </a:ln>
        </p:spPr>
      </p:sp>
      <p:sp>
        <p:nvSpPr>
          <p:cNvPr id="33" name="Text 29"/>
          <p:cNvSpPr txBox="1"/>
          <p:nvPr/>
        </p:nvSpPr>
        <p:spPr>
          <a:xfrm>
            <a:off x="7146633" y="3852062"/>
            <a:ext cx="836092"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pluriel + -E</a:t>
            </a:r>
            <a:endParaRPr lang="en-US" sz="1100" dirty="0"/>
          </a:p>
        </p:txBody>
      </p:sp>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1"/>
          <p:cNvSpPr/>
          <p:nvPr>
            <p:ph idx="101" type="title" hasCustomPrompt="1"/>
          </p:nvPr>
        </p:nvSpPr>
        <p:spPr>
          <a:xfrm>
            <a:off x="1554480" y="384048"/>
            <a:ext cx="10241280" cy="658368"/>
          </a:xfrm>
          <a:prstGeom prst="rect">
            <a:avLst/>
          </a:prstGeom>
          <a:noFill/>
          <a:ln/>
        </p:spPr>
        <p:txBody>
          <a:bodyPr wrap="square" lIns="0" tIns="0" rIns="0" bIns="0" rtlCol="0" anchor="ctr"/>
          <a:lstStyle/>
          <a:p>
            <a:pPr algn="ctr" indent="0" marL="0">
              <a:buNone/>
            </a:pPr>
            <a:r>
              <a:rPr lang="en-US" sz="3000" b="1" dirty="0">
                <a:solidFill>
                  <a:srgbClr val="2B2F38"/>
                </a:solidFill>
              </a:rPr>
              <a:t>Gebruik deze afbeelding als inspiratie</a:t>
            </a:r>
            <a:endParaRPr lang="en-US" sz="3000" dirty="0"/>
          </a:p>
        </p:txBody>
      </p:sp>
      <p:sp>
        <p:nvSpPr>
          <p:cNvPr id="4" name="Shape 1"/>
          <p:cNvSpPr/>
          <p:nvPr/>
        </p:nvSpPr>
        <p:spPr>
          <a:xfrm>
            <a:off x="365760" y="365760"/>
            <a:ext cx="868680" cy="5989320"/>
          </a:xfrm>
          <a:prstGeom prst="roundRect">
            <a:avLst>
              <a:gd name="adj" fmla="val 12632"/>
            </a:avLst>
          </a:prstGeom>
          <a:solidFill>
            <a:srgbClr val="E4EEFB"/>
          </a:solidFill>
          <a:ln w="28575">
            <a:solidFill>
              <a:srgbClr val="6FA0DC"/>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3E6FB0"/>
                </a:solidFill>
                <a:latin typeface="Calibri" pitchFamily="34" charset="0"/>
                <a:ea typeface="Calibri" pitchFamily="34" charset="-122"/>
                <a:cs typeface="Calibri" pitchFamily="34" charset="-120"/>
              </a:rPr>
              <a:t>A1 · Grammaire</a:t>
            </a:r>
            <a:endParaRPr lang="en-US" sz="3800" dirty="0"/>
          </a:p>
        </p:txBody>
      </p:sp>
      <p:sp>
        <p:nvSpPr>
          <p:cNvPr id="6" name="Text 3"/>
          <p:cNvSpPr txBox="1"/>
          <p:nvPr/>
        </p:nvSpPr>
        <p:spPr>
          <a:xfrm>
            <a:off x="1554480" y="1024128"/>
            <a:ext cx="10241280" cy="365760"/>
          </a:xfrm>
          <a:prstGeom prst="rect">
            <a:avLst/>
          </a:prstGeom>
          <a:noFill/>
          <a:ln/>
        </p:spPr>
        <p:txBody>
          <a:bodyPr wrap="square" lIns="0" tIns="0" rIns="0" bIns="0" rtlCol="0" anchor="ctr"/>
          <a:lstStyle/>
          <a:p>
            <a:pPr algn="ctr" indent="0" marL="0">
              <a:buNone/>
            </a:pPr>
            <a:r>
              <a:rPr lang="en-US" sz="1500" b="1" dirty="0">
                <a:solidFill>
                  <a:srgbClr val="3E6FB0"/>
                </a:solidFill>
                <a:latin typeface="Calibri" pitchFamily="34" charset="0"/>
                <a:ea typeface="Calibri" pitchFamily="34" charset="-122"/>
                <a:cs typeface="Calibri" pitchFamily="34" charset="-120"/>
              </a:rPr>
              <a:t>19 · Hoe heet je?</a:t>
            </a:r>
            <a:r>
              <a:rPr lang="en-US" sz="1500" i="1" dirty="0">
                <a:solidFill>
                  <a:srgbClr val="6B7280"/>
                </a:solidFill>
                <a:latin typeface="Calibri" pitchFamily="34" charset="0"/>
                <a:ea typeface="Calibri" pitchFamily="34" charset="-122"/>
                <a:cs typeface="Calibri" pitchFamily="34" charset="-120"/>
              </a:rPr>
              <a:t>   Comment t’appelles-tu ?</a:t>
            </a:r>
            <a:r>
              <a:rPr lang="en-US" sz="1200" dirty="0">
                <a:solidFill>
                  <a:srgbClr val="9AA3B2"/>
                </a:solidFill>
                <a:latin typeface="Calibri" pitchFamily="34" charset="0"/>
                <a:ea typeface="Calibri" pitchFamily="34" charset="-122"/>
                <a:cs typeface="Calibri" pitchFamily="34" charset="-120"/>
              </a:rPr>
              <a:t>   ·   syllabus fiche 05 · p. 62</a:t>
            </a:r>
            <a:endParaRPr lang="en-US" sz="1500" dirty="0"/>
          </a:p>
        </p:txBody>
      </p:sp>
      <p:sp>
        <p:nvSpPr>
          <p:cNvPr id="7" name="Shape 4"/>
          <p:cNvSpPr/>
          <p:nvPr/>
        </p:nvSpPr>
        <p:spPr>
          <a:xfrm>
            <a:off x="1596085" y="1504645"/>
            <a:ext cx="4534510" cy="2905735"/>
          </a:xfrm>
          <a:prstGeom prst="roundRect">
            <a:avLst>
              <a:gd name="adj" fmla="val 1259"/>
            </a:avLst>
          </a:prstGeom>
          <a:solidFill>
            <a:srgbClr val="FFFFFF"/>
          </a:solidFill>
          <a:ln w="9525">
            <a:solidFill>
              <a:srgbClr val="E3E7EE"/>
            </a:solidFill>
            <a:prstDash val="solid"/>
          </a:ln>
          <a:effectLst>
            <a:outerShdw sx="100000" sy="100000" kx="0" ky="0" algn="bl" rotWithShape="0" blurRad="127000" dist="50800" dir="5400000">
              <a:srgbClr val="1B2430">
                <a:alpha val="25000"/>
              </a:srgbClr>
            </a:outerShdw>
          </a:effectLst>
        </p:spPr>
      </p:sp>
      <p:pic>
        <p:nvPicPr>
          <p:cNvPr id="8" name="Image 0" descr="/home/user/talenleren/neerlandais1/generateur/img/vijfzinnen/a1_vragen_s.jpg">    </p:cNvPr>
          <p:cNvPicPr>
            <a:picLocks noChangeAspect="1"/>
          </p:cNvPicPr>
          <p:nvPr/>
        </p:nvPicPr>
        <p:blipFill>
          <a:blip r:embed="rId1"/>
          <a:stretch>
            <a:fillRect/>
          </a:stretch>
        </p:blipFill>
        <p:spPr>
          <a:xfrm>
            <a:off x="1691640" y="1600200"/>
            <a:ext cx="4343400" cy="2714625"/>
          </a:xfrm>
          <a:prstGeom prst="rect">
            <a:avLst/>
          </a:prstGeom>
        </p:spPr>
      </p:pic>
      <p:sp>
        <p:nvSpPr>
          <p:cNvPr id="9" name="Shape 5"/>
          <p:cNvSpPr/>
          <p:nvPr/>
        </p:nvSpPr>
        <p:spPr>
          <a:xfrm>
            <a:off x="1691640" y="4572000"/>
            <a:ext cx="1600200" cy="365760"/>
          </a:xfrm>
          <a:prstGeom prst="roundRect">
            <a:avLst>
              <a:gd name="adj" fmla="val 50000"/>
            </a:avLst>
          </a:prstGeom>
          <a:solidFill>
            <a:srgbClr val="FDF1E6"/>
          </a:solidFill>
          <a:ln w="12700">
            <a:solidFill>
              <a:srgbClr val="D9822B"/>
            </a:solidFill>
            <a:prstDash val="solid"/>
          </a:ln>
        </p:spPr>
      </p:sp>
      <p:pic>
        <p:nvPicPr>
          <p:cNvPr id="10" name="Image 1" descr="Comments">    </p:cNvPr>
          <p:cNvPicPr>
            <a:picLocks noChangeAspect="1"/>
          </p:cNvPicPr>
          <p:nvPr/>
        </p:nvPicPr>
        <p:blipFill>
          <a:blip r:embed="rId2"/>
          <a:stretch>
            <a:fillRect/>
          </a:stretch>
        </p:blipFill>
        <p:spPr>
          <a:xfrm>
            <a:off x="1819656" y="4654296"/>
            <a:ext cx="201168" cy="201168"/>
          </a:xfrm>
          <a:prstGeom prst="rect">
            <a:avLst/>
          </a:prstGeom>
        </p:spPr>
      </p:pic>
      <p:sp>
        <p:nvSpPr>
          <p:cNvPr id="11" name="Text 6"/>
          <p:cNvSpPr txBox="1"/>
          <p:nvPr/>
        </p:nvSpPr>
        <p:spPr>
          <a:xfrm>
            <a:off x="2075688" y="4572000"/>
            <a:ext cx="1143000" cy="365760"/>
          </a:xfrm>
          <a:prstGeom prst="rect">
            <a:avLst/>
          </a:prstGeom>
          <a:noFill/>
          <a:ln/>
        </p:spPr>
        <p:txBody>
          <a:bodyPr wrap="square" lIns="0" tIns="0" rIns="0" bIns="0" rtlCol="0" anchor="ctr"/>
          <a:lstStyle/>
          <a:p>
            <a:pPr algn="l" indent="0" marL="0">
              <a:buNone/>
            </a:pPr>
            <a:r>
              <a:rPr lang="en-US" sz="1150" b="1" spc="100" kern="0" dirty="0">
                <a:solidFill>
                  <a:srgbClr val="D9822B"/>
                </a:solidFill>
                <a:latin typeface="Calibri" pitchFamily="34" charset="0"/>
                <a:ea typeface="Calibri" pitchFamily="34" charset="-122"/>
                <a:cs typeface="Calibri" pitchFamily="34" charset="-120"/>
              </a:rPr>
              <a:t>À L’ORAL</a:t>
            </a:r>
            <a:endParaRPr lang="en-US" sz="1150" dirty="0"/>
          </a:p>
        </p:txBody>
      </p:sp>
      <p:sp>
        <p:nvSpPr>
          <p:cNvPr id="12" name="Text 7"/>
          <p:cNvSpPr txBox="1"/>
          <p:nvPr/>
        </p:nvSpPr>
        <p:spPr>
          <a:xfrm>
            <a:off x="3429000" y="4544568"/>
            <a:ext cx="2651760" cy="731520"/>
          </a:xfrm>
          <a:prstGeom prst="rect">
            <a:avLst/>
          </a:prstGeom>
          <a:noFill/>
          <a:ln/>
        </p:spPr>
        <p:txBody>
          <a:bodyPr wrap="square" lIns="0" tIns="0" rIns="0" bIns="0" rtlCol="0" anchor="t"/>
          <a:lstStyle/>
          <a:p>
            <a:pPr algn="l" indent="0" marL="0">
              <a:buNone/>
            </a:pPr>
            <a:r>
              <a:rPr lang="en-US" sz="1150" i="1" dirty="0">
                <a:solidFill>
                  <a:srgbClr val="6B7280"/>
                </a:solidFill>
                <a:latin typeface="Calibri" pitchFamily="34" charset="0"/>
                <a:ea typeface="Calibri" pitchFamily="34" charset="-122"/>
                <a:cs typeface="Calibri" pitchFamily="34" charset="-120"/>
              </a:rPr>
              <a:t>Une nouvelle étudiante arrive en classe. Posez-lui des questions.</a:t>
            </a:r>
            <a:endParaRPr lang="en-US" sz="1150" dirty="0"/>
          </a:p>
        </p:txBody>
      </p:sp>
      <p:sp>
        <p:nvSpPr>
          <p:cNvPr id="13" name="Shape 8"/>
          <p:cNvSpPr/>
          <p:nvPr/>
        </p:nvSpPr>
        <p:spPr>
          <a:xfrm>
            <a:off x="6355080" y="1673352"/>
            <a:ext cx="914400" cy="402336"/>
          </a:xfrm>
          <a:prstGeom prst="roundRect">
            <a:avLst>
              <a:gd name="adj" fmla="val 13636"/>
            </a:avLst>
          </a:prstGeom>
          <a:solidFill>
            <a:srgbClr val="5FA873"/>
          </a:solidFill>
          <a:ln w="12700">
            <a:solidFill>
              <a:srgbClr val="FFFFFF">
                <a:alpha val="0"/>
              </a:srgbClr>
            </a:solidFill>
            <a:prstDash val="solid"/>
          </a:ln>
        </p:spPr>
      </p:sp>
      <p:sp>
        <p:nvSpPr>
          <p:cNvPr id="14" name="Text 9"/>
          <p:cNvSpPr txBox="1"/>
          <p:nvPr/>
        </p:nvSpPr>
        <p:spPr>
          <a:xfrm>
            <a:off x="6355080" y="167335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1</a:t>
            </a:r>
            <a:endParaRPr lang="en-US" sz="1600" dirty="0"/>
          </a:p>
        </p:txBody>
      </p:sp>
      <p:sp>
        <p:nvSpPr>
          <p:cNvPr id="15" name="Text 10"/>
          <p:cNvSpPr txBox="1"/>
          <p:nvPr/>
        </p:nvSpPr>
        <p:spPr>
          <a:xfrm>
            <a:off x="7406640" y="1618488"/>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Son nom : </a:t>
            </a:r>
            <a:r>
              <a:rPr lang="en-US" sz="1450" b="1" dirty="0">
                <a:solidFill>
                  <a:srgbClr val="2B2F38"/>
                </a:solidFill>
              </a:rPr>
              <a:t>HOE HEET JE?</a:t>
            </a:r>
            <a:endParaRPr lang="en-US" sz="1450" dirty="0"/>
          </a:p>
        </p:txBody>
      </p:sp>
      <p:sp>
        <p:nvSpPr>
          <p:cNvPr id="16" name="Shape 11"/>
          <p:cNvSpPr/>
          <p:nvPr/>
        </p:nvSpPr>
        <p:spPr>
          <a:xfrm>
            <a:off x="6355080" y="2404872"/>
            <a:ext cx="914400" cy="402336"/>
          </a:xfrm>
          <a:prstGeom prst="roundRect">
            <a:avLst>
              <a:gd name="adj" fmla="val 13636"/>
            </a:avLst>
          </a:prstGeom>
          <a:solidFill>
            <a:srgbClr val="5FA873"/>
          </a:solidFill>
          <a:ln w="12700">
            <a:solidFill>
              <a:srgbClr val="FFFFFF">
                <a:alpha val="0"/>
              </a:srgbClr>
            </a:solidFill>
            <a:prstDash val="solid"/>
          </a:ln>
        </p:spPr>
      </p:sp>
      <p:sp>
        <p:nvSpPr>
          <p:cNvPr id="17" name="Text 12"/>
          <p:cNvSpPr txBox="1"/>
          <p:nvPr/>
        </p:nvSpPr>
        <p:spPr>
          <a:xfrm>
            <a:off x="6355080" y="240487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2</a:t>
            </a:r>
            <a:endParaRPr lang="en-US" sz="1600" dirty="0"/>
          </a:p>
        </p:txBody>
      </p:sp>
      <p:sp>
        <p:nvSpPr>
          <p:cNvPr id="18" name="Text 13"/>
          <p:cNvSpPr txBox="1"/>
          <p:nvPr/>
        </p:nvSpPr>
        <p:spPr>
          <a:xfrm>
            <a:off x="7406640" y="2350008"/>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Son domicile : </a:t>
            </a:r>
            <a:r>
              <a:rPr lang="en-US" sz="1450" b="1" dirty="0">
                <a:solidFill>
                  <a:srgbClr val="2B2F38"/>
                </a:solidFill>
              </a:rPr>
              <a:t>WAAR WOON JE?</a:t>
            </a:r>
            <a:endParaRPr lang="en-US" sz="1450" dirty="0"/>
          </a:p>
        </p:txBody>
      </p:sp>
      <p:sp>
        <p:nvSpPr>
          <p:cNvPr id="19" name="Shape 14"/>
          <p:cNvSpPr/>
          <p:nvPr/>
        </p:nvSpPr>
        <p:spPr>
          <a:xfrm>
            <a:off x="6355080" y="3136392"/>
            <a:ext cx="914400" cy="402336"/>
          </a:xfrm>
          <a:prstGeom prst="roundRect">
            <a:avLst>
              <a:gd name="adj" fmla="val 13636"/>
            </a:avLst>
          </a:prstGeom>
          <a:solidFill>
            <a:srgbClr val="5FA873"/>
          </a:solidFill>
          <a:ln w="12700">
            <a:solidFill>
              <a:srgbClr val="FFFFFF">
                <a:alpha val="0"/>
              </a:srgbClr>
            </a:solidFill>
            <a:prstDash val="solid"/>
          </a:ln>
        </p:spPr>
      </p:sp>
      <p:sp>
        <p:nvSpPr>
          <p:cNvPr id="20" name="Text 15"/>
          <p:cNvSpPr txBox="1"/>
          <p:nvPr/>
        </p:nvSpPr>
        <p:spPr>
          <a:xfrm>
            <a:off x="6355080" y="313639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3</a:t>
            </a:r>
            <a:endParaRPr lang="en-US" sz="1600" dirty="0"/>
          </a:p>
        </p:txBody>
      </p:sp>
      <p:sp>
        <p:nvSpPr>
          <p:cNvPr id="21" name="Text 16"/>
          <p:cNvSpPr txBox="1"/>
          <p:nvPr/>
        </p:nvSpPr>
        <p:spPr>
          <a:xfrm>
            <a:off x="7406640" y="3081528"/>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Une question oui / non : le </a:t>
            </a:r>
            <a:r>
              <a:rPr lang="en-US" sz="1450" b="1" dirty="0">
                <a:solidFill>
                  <a:srgbClr val="2B2F38"/>
                </a:solidFill>
              </a:rPr>
              <a:t>verbe</a:t>
            </a:r>
            <a:r>
              <a:rPr lang="en-US" sz="1450" dirty="0">
                <a:solidFill>
                  <a:srgbClr val="2B2F38"/>
                </a:solidFill>
              </a:rPr>
              <a:t> en premier.</a:t>
            </a:r>
            <a:endParaRPr lang="en-US" sz="1450" dirty="0"/>
          </a:p>
        </p:txBody>
      </p:sp>
      <p:sp>
        <p:nvSpPr>
          <p:cNvPr id="22" name="Shape 17"/>
          <p:cNvSpPr/>
          <p:nvPr/>
        </p:nvSpPr>
        <p:spPr>
          <a:xfrm>
            <a:off x="6355080" y="3867912"/>
            <a:ext cx="914400" cy="402336"/>
          </a:xfrm>
          <a:prstGeom prst="roundRect">
            <a:avLst>
              <a:gd name="adj" fmla="val 13636"/>
            </a:avLst>
          </a:prstGeom>
          <a:solidFill>
            <a:srgbClr val="5FA873"/>
          </a:solidFill>
          <a:ln w="12700">
            <a:solidFill>
              <a:srgbClr val="FFFFFF">
                <a:alpha val="0"/>
              </a:srgbClr>
            </a:solidFill>
            <a:prstDash val="solid"/>
          </a:ln>
        </p:spPr>
      </p:sp>
      <p:sp>
        <p:nvSpPr>
          <p:cNvPr id="23" name="Text 18"/>
          <p:cNvSpPr txBox="1"/>
          <p:nvPr/>
        </p:nvSpPr>
        <p:spPr>
          <a:xfrm>
            <a:off x="6355080" y="386791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4</a:t>
            </a:r>
            <a:endParaRPr lang="en-US" sz="1600" dirty="0"/>
          </a:p>
        </p:txBody>
      </p:sp>
      <p:sp>
        <p:nvSpPr>
          <p:cNvPr id="24" name="Text 19"/>
          <p:cNvSpPr txBox="1"/>
          <p:nvPr/>
        </p:nvSpPr>
        <p:spPr>
          <a:xfrm>
            <a:off x="7406640" y="3813048"/>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Une chute : </a:t>
            </a:r>
            <a:r>
              <a:rPr lang="en-US" sz="1450" b="1" dirty="0">
                <a:solidFill>
                  <a:srgbClr val="2B2F38"/>
                </a:solidFill>
              </a:rPr>
              <a:t>WAT</a:t>
            </a:r>
            <a:r>
              <a:rPr lang="en-US" sz="1450" dirty="0">
                <a:solidFill>
                  <a:srgbClr val="2B2F38"/>
                </a:solidFill>
              </a:rPr>
              <a:t> + verbe + </a:t>
            </a:r>
            <a:r>
              <a:rPr lang="en-US" sz="1450" b="1" dirty="0">
                <a:solidFill>
                  <a:srgbClr val="2B2F38"/>
                </a:solidFill>
              </a:rPr>
              <a:t>JE</a:t>
            </a:r>
            <a:r>
              <a:rPr lang="en-US" sz="1450" dirty="0">
                <a:solidFill>
                  <a:srgbClr val="2B2F38"/>
                </a:solidFill>
              </a:rPr>
              <a:t> ?</a:t>
            </a:r>
            <a:endParaRPr lang="en-US" sz="1450" dirty="0"/>
          </a:p>
        </p:txBody>
      </p:sp>
      <p:sp>
        <p:nvSpPr>
          <p:cNvPr id="25" name="Shape 20"/>
          <p:cNvSpPr/>
          <p:nvPr/>
        </p:nvSpPr>
        <p:spPr>
          <a:xfrm>
            <a:off x="3246120" y="5440680"/>
            <a:ext cx="6858000" cy="822960"/>
          </a:xfrm>
          <a:prstGeom prst="roundRect">
            <a:avLst>
              <a:gd name="adj" fmla="val 17778"/>
            </a:avLst>
          </a:prstGeom>
          <a:solidFill>
            <a:srgbClr val="EAF5EC"/>
          </a:solidFill>
          <a:ln w="15875">
            <a:solidFill>
              <a:srgbClr val="5FA873"/>
            </a:solidFill>
            <a:prstDash val="solid"/>
          </a:ln>
        </p:spPr>
      </p:sp>
      <p:pic>
        <p:nvPicPr>
          <p:cNvPr id="26" name="Image 2" descr="UserFriends">    </p:cNvPr>
          <p:cNvPicPr>
            <a:picLocks noChangeAspect="1"/>
          </p:cNvPicPr>
          <p:nvPr/>
        </p:nvPicPr>
        <p:blipFill>
          <a:blip r:embed="rId3"/>
          <a:stretch>
            <a:fillRect/>
          </a:stretch>
        </p:blipFill>
        <p:spPr>
          <a:xfrm>
            <a:off x="3520440" y="5660136"/>
            <a:ext cx="384048" cy="384048"/>
          </a:xfrm>
          <a:prstGeom prst="rect">
            <a:avLst/>
          </a:prstGeom>
        </p:spPr>
      </p:pic>
      <p:sp>
        <p:nvSpPr>
          <p:cNvPr id="27" name="Text 21"/>
          <p:cNvSpPr txBox="1"/>
          <p:nvPr/>
        </p:nvSpPr>
        <p:spPr>
          <a:xfrm>
            <a:off x="4114800" y="5440680"/>
            <a:ext cx="5852160" cy="822960"/>
          </a:xfrm>
          <a:prstGeom prst="rect">
            <a:avLst/>
          </a:prstGeom>
          <a:noFill/>
          <a:ln/>
        </p:spPr>
        <p:txBody>
          <a:bodyPr wrap="square" lIns="0" tIns="0" rIns="0" bIns="0" rtlCol="0" anchor="ctr"/>
          <a:lstStyle/>
          <a:p>
            <a:pPr algn="ctr" indent="0" marL="0">
              <a:buNone/>
            </a:pPr>
            <a:r>
              <a:rPr lang="en-US" sz="1800" b="1" dirty="0">
                <a:solidFill>
                  <a:srgbClr val="2E6B44"/>
                </a:solidFill>
                <a:latin typeface="Calibri" pitchFamily="34" charset="0"/>
                <a:ea typeface="Calibri" pitchFamily="34" charset="-122"/>
                <a:cs typeface="Calibri" pitchFamily="34" charset="-120"/>
              </a:rPr>
              <a:t>Vertel je verhaal aan je partner.</a:t>
            </a:r>
            <a:endParaRPr lang="en-US" sz="1800" dirty="0"/>
          </a:p>
          <a:p>
            <a:pPr algn="ctr" indent="0" marL="0">
              <a:buNone/>
            </a:pPr>
            <a:r>
              <a:rPr lang="en-US" sz="1800" b="1" dirty="0">
                <a:solidFill>
                  <a:srgbClr val="2E6B44"/>
                </a:solidFill>
                <a:latin typeface="Calibri" pitchFamily="34" charset="0"/>
                <a:ea typeface="Calibri" pitchFamily="34" charset="-122"/>
                <a:cs typeface="Calibri" pitchFamily="34" charset="-120"/>
              </a:rPr>
              <a:t>Wat denkt hij/zij daarvan?</a:t>
            </a:r>
            <a:endParaRPr lang="en-US" sz="1800" dirty="0"/>
          </a:p>
        </p:txBody>
      </p:sp>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1"/>
          <p:cNvSpPr/>
          <p:nvPr>
            <p:ph idx="101" type="title" hasCustomPrompt="1"/>
          </p:nvPr>
        </p:nvSpPr>
        <p:spPr>
          <a:xfrm>
            <a:off x="1554480" y="384048"/>
            <a:ext cx="10241280" cy="658368"/>
          </a:xfrm>
          <a:prstGeom prst="rect">
            <a:avLst/>
          </a:prstGeom>
          <a:noFill/>
          <a:ln/>
        </p:spPr>
        <p:txBody>
          <a:bodyPr wrap="square" lIns="0" tIns="0" rIns="0" bIns="0" rtlCol="0" anchor="ctr"/>
          <a:lstStyle/>
          <a:p>
            <a:pPr algn="ctr" indent="0" marL="0">
              <a:buNone/>
            </a:pPr>
            <a:r>
              <a:rPr lang="en-US" sz="3000" b="1" dirty="0">
                <a:solidFill>
                  <a:srgbClr val="2B2F38"/>
                </a:solidFill>
              </a:rPr>
              <a:t>Hoe heet je?</a:t>
            </a:r>
            <a:endParaRPr lang="en-US" sz="3000" dirty="0"/>
          </a:p>
        </p:txBody>
      </p:sp>
      <p:sp>
        <p:nvSpPr>
          <p:cNvPr id="4" name="Shape 1"/>
          <p:cNvSpPr/>
          <p:nvPr/>
        </p:nvSpPr>
        <p:spPr>
          <a:xfrm>
            <a:off x="365760" y="365760"/>
            <a:ext cx="868680" cy="5989320"/>
          </a:xfrm>
          <a:prstGeom prst="roundRect">
            <a:avLst>
              <a:gd name="adj" fmla="val 12632"/>
            </a:avLst>
          </a:prstGeom>
          <a:solidFill>
            <a:srgbClr val="E4EEFB"/>
          </a:solidFill>
          <a:ln w="28575">
            <a:solidFill>
              <a:srgbClr val="6FA0DC"/>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3E6FB0"/>
                </a:solidFill>
                <a:latin typeface="Calibri" pitchFamily="34" charset="0"/>
                <a:ea typeface="Calibri" pitchFamily="34" charset="-122"/>
                <a:cs typeface="Calibri" pitchFamily="34" charset="-120"/>
              </a:rPr>
              <a:t>A1 · Grammaire</a:t>
            </a:r>
            <a:endParaRPr lang="en-US" sz="3800" dirty="0"/>
          </a:p>
        </p:txBody>
      </p:sp>
      <p:sp>
        <p:nvSpPr>
          <p:cNvPr id="6" name="Shape 3"/>
          <p:cNvSpPr/>
          <p:nvPr/>
        </p:nvSpPr>
        <p:spPr>
          <a:xfrm>
            <a:off x="2519172" y="1124712"/>
            <a:ext cx="8311896" cy="5277231"/>
          </a:xfrm>
          <a:prstGeom prst="roundRect">
            <a:avLst>
              <a:gd name="adj" fmla="val 693"/>
            </a:avLst>
          </a:prstGeom>
          <a:solidFill>
            <a:srgbClr val="FFFFFF"/>
          </a:solidFill>
          <a:ln w="9525">
            <a:solidFill>
              <a:srgbClr val="E3E7EE"/>
            </a:solidFill>
            <a:prstDash val="solid"/>
          </a:ln>
          <a:effectLst>
            <a:outerShdw sx="100000" sy="100000" kx="0" ky="0" algn="bl" rotWithShape="0" blurRad="177800" dist="63500" dir="5400000">
              <a:srgbClr val="1B2430">
                <a:alpha val="25000"/>
              </a:srgbClr>
            </a:outerShdw>
          </a:effectLst>
        </p:spPr>
      </p:sp>
      <p:pic>
        <p:nvPicPr>
          <p:cNvPr id="7" name="Image 0" descr="/home/user/talenleren/neerlandais1/generateur/img/vijfzinnen/a1_vragen.jpg">    </p:cNvPr>
          <p:cNvPicPr>
            <a:picLocks noChangeAspect="1"/>
          </p:cNvPicPr>
          <p:nvPr/>
        </p:nvPicPr>
        <p:blipFill>
          <a:blip r:embed="rId1"/>
          <a:stretch>
            <a:fillRect/>
          </a:stretch>
        </p:blipFill>
        <p:spPr>
          <a:xfrm>
            <a:off x="2628900" y="1234440"/>
            <a:ext cx="8092440" cy="5057775"/>
          </a:xfrm>
          <a:prstGeom prst="rect">
            <a:avLst/>
          </a:prstGeom>
        </p:spPr>
      </p:pic>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1"/>
          <p:cNvSpPr/>
          <p:nvPr>
            <p:ph idx="101" type="title" hasCustomPrompt="1"/>
          </p:nvPr>
        </p:nvSpPr>
        <p:spPr>
          <a:xfrm>
            <a:off x="1691640" y="347472"/>
            <a:ext cx="8138160" cy="914400"/>
          </a:xfrm>
          <a:prstGeom prst="rect">
            <a:avLst/>
          </a:prstGeom>
          <a:noFill/>
          <a:ln/>
        </p:spPr>
        <p:txBody>
          <a:bodyPr wrap="square" lIns="0" tIns="0" rIns="0" bIns="0" rtlCol="0" anchor="ctr"/>
          <a:lstStyle/>
          <a:p>
            <a:pPr algn="l" indent="0" marL="0">
              <a:buNone/>
            </a:pPr>
            <a:r>
              <a:rPr lang="en-US" sz="2400" b="1" dirty="0">
                <a:solidFill>
                  <a:srgbClr val="2B2F38"/>
                </a:solidFill>
              </a:rPr>
              <a:t>Hier is een voorbeeld van wat je had kunnen denken en zeggen…</a:t>
            </a:r>
            <a:endParaRPr lang="en-US" sz="2400" dirty="0"/>
          </a:p>
        </p:txBody>
      </p:sp>
      <p:sp>
        <p:nvSpPr>
          <p:cNvPr id="4" name="Shape 1"/>
          <p:cNvSpPr/>
          <p:nvPr/>
        </p:nvSpPr>
        <p:spPr>
          <a:xfrm>
            <a:off x="365760" y="365760"/>
            <a:ext cx="868680" cy="5989320"/>
          </a:xfrm>
          <a:prstGeom prst="roundRect">
            <a:avLst>
              <a:gd name="adj" fmla="val 12632"/>
            </a:avLst>
          </a:prstGeom>
          <a:solidFill>
            <a:srgbClr val="E4EEFB"/>
          </a:solidFill>
          <a:ln w="28575">
            <a:solidFill>
              <a:srgbClr val="6FA0DC"/>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3E6FB0"/>
                </a:solidFill>
                <a:latin typeface="Calibri" pitchFamily="34" charset="0"/>
                <a:ea typeface="Calibri" pitchFamily="34" charset="-122"/>
                <a:cs typeface="Calibri" pitchFamily="34" charset="-120"/>
              </a:rPr>
              <a:t>A1 · Grammaire</a:t>
            </a:r>
            <a:endParaRPr lang="en-US" sz="3800" dirty="0"/>
          </a:p>
        </p:txBody>
      </p:sp>
      <p:sp>
        <p:nvSpPr>
          <p:cNvPr id="6" name="Shape 3"/>
          <p:cNvSpPr/>
          <p:nvPr/>
        </p:nvSpPr>
        <p:spPr>
          <a:xfrm>
            <a:off x="10058400" y="246888"/>
            <a:ext cx="1691640" cy="1091565"/>
          </a:xfrm>
          <a:prstGeom prst="roundRect">
            <a:avLst>
              <a:gd name="adj" fmla="val 3351"/>
            </a:avLst>
          </a:prstGeom>
          <a:solidFill>
            <a:srgbClr val="FFFFFF"/>
          </a:solidFill>
          <a:ln w="9525">
            <a:solidFill>
              <a:srgbClr val="E3E7EE"/>
            </a:solidFill>
            <a:prstDash val="solid"/>
          </a:ln>
          <a:effectLst>
            <a:outerShdw sx="100000" sy="100000" kx="0" ky="0" algn="bl" rotWithShape="0" blurRad="76200" dist="25400" dir="5400000">
              <a:srgbClr val="1B2430">
                <a:alpha val="25000"/>
              </a:srgbClr>
            </a:outerShdw>
          </a:effectLst>
        </p:spPr>
      </p:sp>
      <p:pic>
        <p:nvPicPr>
          <p:cNvPr id="7" name="Image 0" descr="/home/user/talenleren/neerlandais1/generateur/img/vijfzinnen/a1_vragen_s.jpg">    </p:cNvPr>
          <p:cNvPicPr>
            <a:picLocks noChangeAspect="1"/>
          </p:cNvPicPr>
          <p:nvPr/>
        </p:nvPicPr>
        <p:blipFill>
          <a:blip r:embed="rId1"/>
          <a:stretch>
            <a:fillRect/>
          </a:stretch>
        </p:blipFill>
        <p:spPr>
          <a:xfrm>
            <a:off x="10104120" y="292608"/>
            <a:ext cx="1600200" cy="1000125"/>
          </a:xfrm>
          <a:prstGeom prst="rect">
            <a:avLst/>
          </a:prstGeom>
        </p:spPr>
      </p:pic>
      <p:sp>
        <p:nvSpPr>
          <p:cNvPr id="8" name="Text 4"/>
          <p:cNvSpPr txBox="1"/>
          <p:nvPr/>
        </p:nvSpPr>
        <p:spPr>
          <a:xfrm>
            <a:off x="1691640" y="2264664"/>
            <a:ext cx="1281989"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 Hallo!</a:t>
            </a:r>
            <a:endParaRPr lang="en-US" sz="2400" dirty="0"/>
          </a:p>
        </p:txBody>
      </p:sp>
      <p:sp>
        <p:nvSpPr>
          <p:cNvPr id="9" name="Shape 5"/>
          <p:cNvSpPr/>
          <p:nvPr/>
        </p:nvSpPr>
        <p:spPr>
          <a:xfrm>
            <a:off x="2877922" y="2276856"/>
            <a:ext cx="1545946" cy="371856"/>
          </a:xfrm>
          <a:prstGeom prst="roundRect">
            <a:avLst>
              <a:gd name="adj" fmla="val 12295"/>
            </a:avLst>
          </a:prstGeom>
          <a:solidFill>
            <a:srgbClr val="E6F3DA"/>
          </a:solidFill>
          <a:ln w="12700">
            <a:solidFill>
              <a:srgbClr val="FFFFFF">
                <a:alpha val="0"/>
              </a:srgbClr>
            </a:solidFill>
            <a:prstDash val="solid"/>
          </a:ln>
        </p:spPr>
      </p:sp>
      <p:sp>
        <p:nvSpPr>
          <p:cNvPr id="10" name="Text 6"/>
          <p:cNvSpPr txBox="1"/>
          <p:nvPr/>
        </p:nvSpPr>
        <p:spPr>
          <a:xfrm>
            <a:off x="2877922" y="2264664"/>
            <a:ext cx="1545946"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Hoe heet je</a:t>
            </a:r>
            <a:endParaRPr lang="en-US" sz="2400" dirty="0"/>
          </a:p>
        </p:txBody>
      </p:sp>
      <p:sp>
        <p:nvSpPr>
          <p:cNvPr id="11" name="Text 7"/>
          <p:cNvSpPr txBox="1"/>
          <p:nvPr/>
        </p:nvSpPr>
        <p:spPr>
          <a:xfrm>
            <a:off x="4423867" y="2264664"/>
            <a:ext cx="1314298"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 — Lisa.</a:t>
            </a:r>
            <a:endParaRPr lang="en-US" sz="2400" dirty="0"/>
          </a:p>
        </p:txBody>
      </p:sp>
      <p:sp>
        <p:nvSpPr>
          <p:cNvPr id="12" name="Shape 8"/>
          <p:cNvSpPr/>
          <p:nvPr/>
        </p:nvSpPr>
        <p:spPr>
          <a:xfrm>
            <a:off x="3650894" y="2200656"/>
            <a:ext cx="914" cy="76200"/>
          </a:xfrm>
          <a:prstGeom prst="line">
            <a:avLst/>
          </a:prstGeom>
          <a:noFill/>
          <a:ln w="15875">
            <a:solidFill>
              <a:srgbClr val="7AB648"/>
            </a:solidFill>
            <a:prstDash val="solid"/>
          </a:ln>
        </p:spPr>
      </p:sp>
      <p:sp>
        <p:nvSpPr>
          <p:cNvPr id="13" name="Shape 9"/>
          <p:cNvSpPr/>
          <p:nvPr/>
        </p:nvSpPr>
        <p:spPr>
          <a:xfrm>
            <a:off x="3415786" y="1953768"/>
            <a:ext cx="470218" cy="246888"/>
          </a:xfrm>
          <a:prstGeom prst="roundRect">
            <a:avLst>
              <a:gd name="adj" fmla="val 14815"/>
            </a:avLst>
          </a:prstGeom>
          <a:solidFill>
            <a:srgbClr val="7AB648"/>
          </a:solidFill>
          <a:ln w="12700">
            <a:solidFill>
              <a:srgbClr val="FFFFFF">
                <a:alpha val="0"/>
              </a:srgbClr>
            </a:solidFill>
            <a:prstDash val="solid"/>
          </a:ln>
        </p:spPr>
      </p:sp>
      <p:sp>
        <p:nvSpPr>
          <p:cNvPr id="14" name="Text 10"/>
          <p:cNvSpPr txBox="1"/>
          <p:nvPr/>
        </p:nvSpPr>
        <p:spPr>
          <a:xfrm>
            <a:off x="3415786" y="1953768"/>
            <a:ext cx="470218"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HOE</a:t>
            </a:r>
            <a:endParaRPr lang="en-US" sz="1100" dirty="0"/>
          </a:p>
        </p:txBody>
      </p:sp>
      <p:sp>
        <p:nvSpPr>
          <p:cNvPr id="15" name="Text 11"/>
          <p:cNvSpPr txBox="1"/>
          <p:nvPr/>
        </p:nvSpPr>
        <p:spPr>
          <a:xfrm>
            <a:off x="1691640" y="3319272"/>
            <a:ext cx="458724"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a:t>
            </a:r>
            <a:endParaRPr lang="en-US" sz="2400" dirty="0"/>
          </a:p>
        </p:txBody>
      </p:sp>
      <p:sp>
        <p:nvSpPr>
          <p:cNvPr id="16" name="Shape 12"/>
          <p:cNvSpPr/>
          <p:nvPr/>
        </p:nvSpPr>
        <p:spPr>
          <a:xfrm>
            <a:off x="2054657" y="3331464"/>
            <a:ext cx="1864462" cy="371856"/>
          </a:xfrm>
          <a:prstGeom prst="roundRect">
            <a:avLst>
              <a:gd name="adj" fmla="val 12295"/>
            </a:avLst>
          </a:prstGeom>
          <a:solidFill>
            <a:srgbClr val="E6F3DA"/>
          </a:solidFill>
          <a:ln w="12700">
            <a:solidFill>
              <a:srgbClr val="FFFFFF">
                <a:alpha val="0"/>
              </a:srgbClr>
            </a:solidFill>
            <a:prstDash val="solid"/>
          </a:ln>
        </p:spPr>
      </p:sp>
      <p:sp>
        <p:nvSpPr>
          <p:cNvPr id="17" name="Text 13"/>
          <p:cNvSpPr txBox="1"/>
          <p:nvPr/>
        </p:nvSpPr>
        <p:spPr>
          <a:xfrm>
            <a:off x="2054657" y="3319272"/>
            <a:ext cx="1864462"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Waar woon je</a:t>
            </a:r>
            <a:endParaRPr lang="en-US" sz="2400" dirty="0"/>
          </a:p>
        </p:txBody>
      </p:sp>
      <p:sp>
        <p:nvSpPr>
          <p:cNvPr id="18" name="Text 14"/>
          <p:cNvSpPr txBox="1"/>
          <p:nvPr/>
        </p:nvSpPr>
        <p:spPr>
          <a:xfrm>
            <a:off x="3919118" y="3319272"/>
            <a:ext cx="1781251"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 — In Gent.</a:t>
            </a:r>
            <a:endParaRPr lang="en-US" sz="2400" dirty="0"/>
          </a:p>
        </p:txBody>
      </p:sp>
      <p:sp>
        <p:nvSpPr>
          <p:cNvPr id="19" name="Shape 15"/>
          <p:cNvSpPr/>
          <p:nvPr/>
        </p:nvSpPr>
        <p:spPr>
          <a:xfrm>
            <a:off x="2986888" y="3255264"/>
            <a:ext cx="914" cy="76200"/>
          </a:xfrm>
          <a:prstGeom prst="line">
            <a:avLst/>
          </a:prstGeom>
          <a:noFill/>
          <a:ln w="15875">
            <a:solidFill>
              <a:srgbClr val="7AB648"/>
            </a:solidFill>
            <a:prstDash val="solid"/>
          </a:ln>
        </p:spPr>
      </p:sp>
      <p:sp>
        <p:nvSpPr>
          <p:cNvPr id="20" name="Shape 16"/>
          <p:cNvSpPr/>
          <p:nvPr/>
        </p:nvSpPr>
        <p:spPr>
          <a:xfrm>
            <a:off x="2689892" y="3008376"/>
            <a:ext cx="593992" cy="246888"/>
          </a:xfrm>
          <a:prstGeom prst="roundRect">
            <a:avLst>
              <a:gd name="adj" fmla="val 14815"/>
            </a:avLst>
          </a:prstGeom>
          <a:solidFill>
            <a:srgbClr val="7AB648"/>
          </a:solidFill>
          <a:ln w="12700">
            <a:solidFill>
              <a:srgbClr val="FFFFFF">
                <a:alpha val="0"/>
              </a:srgbClr>
            </a:solidFill>
            <a:prstDash val="solid"/>
          </a:ln>
        </p:spPr>
      </p:sp>
      <p:sp>
        <p:nvSpPr>
          <p:cNvPr id="21" name="Text 17"/>
          <p:cNvSpPr txBox="1"/>
          <p:nvPr/>
        </p:nvSpPr>
        <p:spPr>
          <a:xfrm>
            <a:off x="2689892" y="3008376"/>
            <a:ext cx="593992"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WAAR</a:t>
            </a:r>
            <a:endParaRPr lang="en-US" sz="1100" dirty="0"/>
          </a:p>
        </p:txBody>
      </p:sp>
      <p:sp>
        <p:nvSpPr>
          <p:cNvPr id="22" name="Text 18"/>
          <p:cNvSpPr txBox="1"/>
          <p:nvPr/>
        </p:nvSpPr>
        <p:spPr>
          <a:xfrm>
            <a:off x="1691640" y="4373880"/>
            <a:ext cx="458724"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a:t>
            </a:r>
            <a:endParaRPr lang="en-US" sz="2400" dirty="0"/>
          </a:p>
        </p:txBody>
      </p:sp>
      <p:sp>
        <p:nvSpPr>
          <p:cNvPr id="23" name="Shape 19"/>
          <p:cNvSpPr/>
          <p:nvPr/>
        </p:nvSpPr>
        <p:spPr>
          <a:xfrm>
            <a:off x="2054657" y="4386072"/>
            <a:ext cx="1260348" cy="371856"/>
          </a:xfrm>
          <a:prstGeom prst="roundRect">
            <a:avLst>
              <a:gd name="adj" fmla="val 12295"/>
            </a:avLst>
          </a:prstGeom>
          <a:solidFill>
            <a:srgbClr val="E6F3DA"/>
          </a:solidFill>
          <a:ln w="12700">
            <a:solidFill>
              <a:srgbClr val="FFFFFF">
                <a:alpha val="0"/>
              </a:srgbClr>
            </a:solidFill>
            <a:prstDash val="solid"/>
          </a:ln>
        </p:spPr>
      </p:sp>
      <p:sp>
        <p:nvSpPr>
          <p:cNvPr id="24" name="Text 20"/>
          <p:cNvSpPr txBox="1"/>
          <p:nvPr/>
        </p:nvSpPr>
        <p:spPr>
          <a:xfrm>
            <a:off x="2054657" y="4373880"/>
            <a:ext cx="1260348"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Spreek je</a:t>
            </a:r>
            <a:endParaRPr lang="en-US" sz="2400" dirty="0"/>
          </a:p>
        </p:txBody>
      </p:sp>
      <p:sp>
        <p:nvSpPr>
          <p:cNvPr id="25" name="Text 21"/>
          <p:cNvSpPr txBox="1"/>
          <p:nvPr/>
        </p:nvSpPr>
        <p:spPr>
          <a:xfrm>
            <a:off x="3402178" y="4373880"/>
            <a:ext cx="3270199"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Frans? — Ja, een beetje.</a:t>
            </a:r>
            <a:endParaRPr lang="en-US" sz="2400" dirty="0"/>
          </a:p>
        </p:txBody>
      </p:sp>
      <p:sp>
        <p:nvSpPr>
          <p:cNvPr id="26" name="Shape 22"/>
          <p:cNvSpPr/>
          <p:nvPr/>
        </p:nvSpPr>
        <p:spPr>
          <a:xfrm>
            <a:off x="2684831" y="4309872"/>
            <a:ext cx="914" cy="76200"/>
          </a:xfrm>
          <a:prstGeom prst="line">
            <a:avLst/>
          </a:prstGeom>
          <a:noFill/>
          <a:ln w="15875">
            <a:solidFill>
              <a:srgbClr val="7AB648"/>
            </a:solidFill>
            <a:prstDash val="solid"/>
          </a:ln>
        </p:spPr>
      </p:sp>
      <p:sp>
        <p:nvSpPr>
          <p:cNvPr id="27" name="Shape 23"/>
          <p:cNvSpPr/>
          <p:nvPr/>
        </p:nvSpPr>
        <p:spPr>
          <a:xfrm>
            <a:off x="2263572" y="4062984"/>
            <a:ext cx="842518" cy="246888"/>
          </a:xfrm>
          <a:prstGeom prst="roundRect">
            <a:avLst>
              <a:gd name="adj" fmla="val 14815"/>
            </a:avLst>
          </a:prstGeom>
          <a:solidFill>
            <a:srgbClr val="7AB648"/>
          </a:solidFill>
          <a:ln w="12700">
            <a:solidFill>
              <a:srgbClr val="FFFFFF">
                <a:alpha val="0"/>
              </a:srgbClr>
            </a:solidFill>
            <a:prstDash val="solid"/>
          </a:ln>
        </p:spPr>
      </p:sp>
      <p:sp>
        <p:nvSpPr>
          <p:cNvPr id="28" name="Text 24"/>
          <p:cNvSpPr txBox="1"/>
          <p:nvPr/>
        </p:nvSpPr>
        <p:spPr>
          <a:xfrm>
            <a:off x="2263572" y="4062984"/>
            <a:ext cx="842518"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VERBE + JE</a:t>
            </a:r>
            <a:endParaRPr lang="en-US" sz="1100" dirty="0"/>
          </a:p>
        </p:txBody>
      </p:sp>
      <p:sp>
        <p:nvSpPr>
          <p:cNvPr id="29" name="Text 25"/>
          <p:cNvSpPr txBox="1"/>
          <p:nvPr/>
        </p:nvSpPr>
        <p:spPr>
          <a:xfrm>
            <a:off x="1691640" y="5428488"/>
            <a:ext cx="458724"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a:t>
            </a:r>
            <a:endParaRPr lang="en-US" sz="2400" dirty="0"/>
          </a:p>
        </p:txBody>
      </p:sp>
      <p:sp>
        <p:nvSpPr>
          <p:cNvPr id="30" name="Shape 26"/>
          <p:cNvSpPr/>
          <p:nvPr/>
        </p:nvSpPr>
        <p:spPr>
          <a:xfrm>
            <a:off x="2054657" y="5440680"/>
            <a:ext cx="1649578" cy="371856"/>
          </a:xfrm>
          <a:prstGeom prst="roundRect">
            <a:avLst>
              <a:gd name="adj" fmla="val 12295"/>
            </a:avLst>
          </a:prstGeom>
          <a:solidFill>
            <a:srgbClr val="E6F3DA"/>
          </a:solidFill>
          <a:ln w="12700">
            <a:solidFill>
              <a:srgbClr val="FFFFFF">
                <a:alpha val="0"/>
              </a:srgbClr>
            </a:solidFill>
            <a:prstDash val="solid"/>
          </a:ln>
        </p:spPr>
      </p:sp>
      <p:sp>
        <p:nvSpPr>
          <p:cNvPr id="31" name="Text 27"/>
          <p:cNvSpPr txBox="1"/>
          <p:nvPr/>
        </p:nvSpPr>
        <p:spPr>
          <a:xfrm>
            <a:off x="2054657" y="5428488"/>
            <a:ext cx="1649578"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Wat drink je</a:t>
            </a:r>
            <a:endParaRPr lang="en-US" sz="2400" dirty="0"/>
          </a:p>
        </p:txBody>
      </p:sp>
      <p:sp>
        <p:nvSpPr>
          <p:cNvPr id="32" name="Text 28"/>
          <p:cNvSpPr txBox="1"/>
          <p:nvPr/>
        </p:nvSpPr>
        <p:spPr>
          <a:xfrm>
            <a:off x="3704234" y="5428488"/>
            <a:ext cx="3712464"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 — Thee… met veel suiker!</a:t>
            </a:r>
            <a:endParaRPr lang="en-US" sz="2400" dirty="0"/>
          </a:p>
        </p:txBody>
      </p:sp>
      <p:sp>
        <p:nvSpPr>
          <p:cNvPr id="33" name="Shape 29"/>
          <p:cNvSpPr/>
          <p:nvPr/>
        </p:nvSpPr>
        <p:spPr>
          <a:xfrm>
            <a:off x="2879446" y="5364480"/>
            <a:ext cx="914" cy="76200"/>
          </a:xfrm>
          <a:prstGeom prst="line">
            <a:avLst/>
          </a:prstGeom>
          <a:noFill/>
          <a:ln w="15875">
            <a:solidFill>
              <a:srgbClr val="7AB648"/>
            </a:solidFill>
            <a:prstDash val="solid"/>
          </a:ln>
        </p:spPr>
      </p:sp>
      <p:sp>
        <p:nvSpPr>
          <p:cNvPr id="34" name="Shape 30"/>
          <p:cNvSpPr/>
          <p:nvPr/>
        </p:nvSpPr>
        <p:spPr>
          <a:xfrm>
            <a:off x="2629529" y="5117592"/>
            <a:ext cx="499834" cy="246888"/>
          </a:xfrm>
          <a:prstGeom prst="roundRect">
            <a:avLst>
              <a:gd name="adj" fmla="val 14815"/>
            </a:avLst>
          </a:prstGeom>
          <a:solidFill>
            <a:srgbClr val="7AB648"/>
          </a:solidFill>
          <a:ln w="12700">
            <a:solidFill>
              <a:srgbClr val="FFFFFF">
                <a:alpha val="0"/>
              </a:srgbClr>
            </a:solidFill>
            <a:prstDash val="solid"/>
          </a:ln>
        </p:spPr>
      </p:sp>
      <p:sp>
        <p:nvSpPr>
          <p:cNvPr id="35" name="Text 31"/>
          <p:cNvSpPr txBox="1"/>
          <p:nvPr/>
        </p:nvSpPr>
        <p:spPr>
          <a:xfrm>
            <a:off x="2629529" y="5117592"/>
            <a:ext cx="499834"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WAT</a:t>
            </a:r>
            <a:endParaRPr lang="en-US" sz="1100" dirty="0"/>
          </a:p>
        </p:txBody>
      </p:sp>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1"/>
          <p:cNvSpPr/>
          <p:nvPr>
            <p:ph idx="101" type="title" hasCustomPrompt="1"/>
          </p:nvPr>
        </p:nvSpPr>
        <p:spPr>
          <a:xfrm>
            <a:off x="1554480" y="384048"/>
            <a:ext cx="10241280" cy="658368"/>
          </a:xfrm>
          <a:prstGeom prst="rect">
            <a:avLst/>
          </a:prstGeom>
          <a:noFill/>
          <a:ln/>
        </p:spPr>
        <p:txBody>
          <a:bodyPr wrap="square" lIns="0" tIns="0" rIns="0" bIns="0" rtlCol="0" anchor="ctr"/>
          <a:lstStyle/>
          <a:p>
            <a:pPr algn="ctr" indent="0" marL="0">
              <a:buNone/>
            </a:pPr>
            <a:r>
              <a:rPr lang="en-US" sz="3000" b="1" dirty="0">
                <a:solidFill>
                  <a:srgbClr val="2B2F38"/>
                </a:solidFill>
              </a:rPr>
              <a:t>Gebruik deze afbeelding als inspiratie</a:t>
            </a:r>
            <a:endParaRPr lang="en-US" sz="3000" dirty="0"/>
          </a:p>
        </p:txBody>
      </p:sp>
      <p:sp>
        <p:nvSpPr>
          <p:cNvPr id="4" name="Shape 1"/>
          <p:cNvSpPr/>
          <p:nvPr/>
        </p:nvSpPr>
        <p:spPr>
          <a:xfrm>
            <a:off x="365760" y="365760"/>
            <a:ext cx="868680" cy="5989320"/>
          </a:xfrm>
          <a:prstGeom prst="roundRect">
            <a:avLst>
              <a:gd name="adj" fmla="val 12632"/>
            </a:avLst>
          </a:prstGeom>
          <a:solidFill>
            <a:srgbClr val="E4EEFB"/>
          </a:solidFill>
          <a:ln w="28575">
            <a:solidFill>
              <a:srgbClr val="6FA0DC"/>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3E6FB0"/>
                </a:solidFill>
                <a:latin typeface="Calibri" pitchFamily="34" charset="0"/>
                <a:ea typeface="Calibri" pitchFamily="34" charset="-122"/>
                <a:cs typeface="Calibri" pitchFamily="34" charset="-120"/>
              </a:rPr>
              <a:t>A1 · Grammaire</a:t>
            </a:r>
            <a:endParaRPr lang="en-US" sz="3800" dirty="0"/>
          </a:p>
        </p:txBody>
      </p:sp>
      <p:sp>
        <p:nvSpPr>
          <p:cNvPr id="6" name="Text 3"/>
          <p:cNvSpPr txBox="1"/>
          <p:nvPr/>
        </p:nvSpPr>
        <p:spPr>
          <a:xfrm>
            <a:off x="1554480" y="1024128"/>
            <a:ext cx="10241280" cy="365760"/>
          </a:xfrm>
          <a:prstGeom prst="rect">
            <a:avLst/>
          </a:prstGeom>
          <a:noFill/>
          <a:ln/>
        </p:spPr>
        <p:txBody>
          <a:bodyPr wrap="square" lIns="0" tIns="0" rIns="0" bIns="0" rtlCol="0" anchor="ctr"/>
          <a:lstStyle/>
          <a:p>
            <a:pPr algn="ctr" indent="0" marL="0">
              <a:buNone/>
            </a:pPr>
            <a:r>
              <a:rPr lang="en-US" sz="1500" b="1" dirty="0">
                <a:solidFill>
                  <a:srgbClr val="3E6FB0"/>
                </a:solidFill>
                <a:latin typeface="Calibri" pitchFamily="34" charset="0"/>
                <a:ea typeface="Calibri" pitchFamily="34" charset="-122"/>
                <a:cs typeface="Calibri" pitchFamily="34" charset="-120"/>
              </a:rPr>
              <a:t>20 · Een slechte dag</a:t>
            </a:r>
            <a:r>
              <a:rPr lang="en-US" sz="1500" i="1" dirty="0">
                <a:solidFill>
                  <a:srgbClr val="6B7280"/>
                </a:solidFill>
                <a:latin typeface="Calibri" pitchFamily="34" charset="0"/>
                <a:ea typeface="Calibri" pitchFamily="34" charset="-122"/>
                <a:cs typeface="Calibri" pitchFamily="34" charset="-120"/>
              </a:rPr>
              <a:t>   Une mauvaise journée</a:t>
            </a:r>
            <a:r>
              <a:rPr lang="en-US" sz="1200" dirty="0">
                <a:solidFill>
                  <a:srgbClr val="9AA3B2"/>
                </a:solidFill>
                <a:latin typeface="Calibri" pitchFamily="34" charset="0"/>
                <a:ea typeface="Calibri" pitchFamily="34" charset="-122"/>
                <a:cs typeface="Calibri" pitchFamily="34" charset="-120"/>
              </a:rPr>
              <a:t>   ·   syllabus fiche 06 · p. 63</a:t>
            </a:r>
            <a:endParaRPr lang="en-US" sz="1500" dirty="0"/>
          </a:p>
        </p:txBody>
      </p:sp>
      <p:sp>
        <p:nvSpPr>
          <p:cNvPr id="7" name="Shape 4"/>
          <p:cNvSpPr/>
          <p:nvPr/>
        </p:nvSpPr>
        <p:spPr>
          <a:xfrm>
            <a:off x="1596085" y="1504645"/>
            <a:ext cx="4534510" cy="2905735"/>
          </a:xfrm>
          <a:prstGeom prst="roundRect">
            <a:avLst>
              <a:gd name="adj" fmla="val 1259"/>
            </a:avLst>
          </a:prstGeom>
          <a:solidFill>
            <a:srgbClr val="FFFFFF"/>
          </a:solidFill>
          <a:ln w="9525">
            <a:solidFill>
              <a:srgbClr val="E3E7EE"/>
            </a:solidFill>
            <a:prstDash val="solid"/>
          </a:ln>
          <a:effectLst>
            <a:outerShdw sx="100000" sy="100000" kx="0" ky="0" algn="bl" rotWithShape="0" blurRad="127000" dist="50800" dir="5400000">
              <a:srgbClr val="1B2430">
                <a:alpha val="25000"/>
              </a:srgbClr>
            </a:outerShdw>
          </a:effectLst>
        </p:spPr>
      </p:sp>
      <p:pic>
        <p:nvPicPr>
          <p:cNvPr id="8" name="Image 0" descr="/home/user/talenleren/neerlandais1/generateur/img/vijfzinnen/a1_slechtedag_s.jpg">    </p:cNvPr>
          <p:cNvPicPr>
            <a:picLocks noChangeAspect="1"/>
          </p:cNvPicPr>
          <p:nvPr/>
        </p:nvPicPr>
        <p:blipFill>
          <a:blip r:embed="rId1"/>
          <a:stretch>
            <a:fillRect/>
          </a:stretch>
        </p:blipFill>
        <p:spPr>
          <a:xfrm>
            <a:off x="1691640" y="1600200"/>
            <a:ext cx="4343400" cy="2714625"/>
          </a:xfrm>
          <a:prstGeom prst="rect">
            <a:avLst/>
          </a:prstGeom>
        </p:spPr>
      </p:pic>
      <p:sp>
        <p:nvSpPr>
          <p:cNvPr id="9" name="Shape 5"/>
          <p:cNvSpPr/>
          <p:nvPr/>
        </p:nvSpPr>
        <p:spPr>
          <a:xfrm>
            <a:off x="1691640" y="4572000"/>
            <a:ext cx="1600200" cy="365760"/>
          </a:xfrm>
          <a:prstGeom prst="roundRect">
            <a:avLst>
              <a:gd name="adj" fmla="val 50000"/>
            </a:avLst>
          </a:prstGeom>
          <a:solidFill>
            <a:srgbClr val="EAF1FC"/>
          </a:solidFill>
          <a:ln w="12700">
            <a:solidFill>
              <a:srgbClr val="4A7BD0"/>
            </a:solidFill>
            <a:prstDash val="solid"/>
          </a:ln>
        </p:spPr>
      </p:sp>
      <p:pic>
        <p:nvPicPr>
          <p:cNvPr id="10" name="Image 1" descr="PenNib">    </p:cNvPr>
          <p:cNvPicPr>
            <a:picLocks noChangeAspect="1"/>
          </p:cNvPicPr>
          <p:nvPr/>
        </p:nvPicPr>
        <p:blipFill>
          <a:blip r:embed="rId2"/>
          <a:stretch>
            <a:fillRect/>
          </a:stretch>
        </p:blipFill>
        <p:spPr>
          <a:xfrm>
            <a:off x="1819656" y="4654296"/>
            <a:ext cx="201168" cy="201168"/>
          </a:xfrm>
          <a:prstGeom prst="rect">
            <a:avLst/>
          </a:prstGeom>
        </p:spPr>
      </p:pic>
      <p:sp>
        <p:nvSpPr>
          <p:cNvPr id="11" name="Text 6"/>
          <p:cNvSpPr txBox="1"/>
          <p:nvPr/>
        </p:nvSpPr>
        <p:spPr>
          <a:xfrm>
            <a:off x="2075688" y="4572000"/>
            <a:ext cx="1143000" cy="365760"/>
          </a:xfrm>
          <a:prstGeom prst="rect">
            <a:avLst/>
          </a:prstGeom>
          <a:noFill/>
          <a:ln/>
        </p:spPr>
        <p:txBody>
          <a:bodyPr wrap="square" lIns="0" tIns="0" rIns="0" bIns="0" rtlCol="0" anchor="ctr"/>
          <a:lstStyle/>
          <a:p>
            <a:pPr algn="l" indent="0" marL="0">
              <a:buNone/>
            </a:pPr>
            <a:r>
              <a:rPr lang="en-US" sz="1150" b="1" spc="100" kern="0" dirty="0">
                <a:solidFill>
                  <a:srgbClr val="4A7BD0"/>
                </a:solidFill>
                <a:latin typeface="Calibri" pitchFamily="34" charset="0"/>
                <a:ea typeface="Calibri" pitchFamily="34" charset="-122"/>
                <a:cs typeface="Calibri" pitchFamily="34" charset="-120"/>
              </a:rPr>
              <a:t>À L’ÉCRIT</a:t>
            </a:r>
            <a:endParaRPr lang="en-US" sz="1150" dirty="0"/>
          </a:p>
        </p:txBody>
      </p:sp>
      <p:sp>
        <p:nvSpPr>
          <p:cNvPr id="12" name="Text 7"/>
          <p:cNvSpPr txBox="1"/>
          <p:nvPr/>
        </p:nvSpPr>
        <p:spPr>
          <a:xfrm>
            <a:off x="3429000" y="4544568"/>
            <a:ext cx="2651760" cy="731520"/>
          </a:xfrm>
          <a:prstGeom prst="rect">
            <a:avLst/>
          </a:prstGeom>
          <a:noFill/>
          <a:ln/>
        </p:spPr>
        <p:txBody>
          <a:bodyPr wrap="square" lIns="0" tIns="0" rIns="0" bIns="0" rtlCol="0" anchor="t"/>
          <a:lstStyle/>
          <a:p>
            <a:pPr algn="l" indent="0" marL="0">
              <a:buNone/>
            </a:pPr>
            <a:r>
              <a:rPr lang="en-US" sz="1150" i="1" dirty="0">
                <a:solidFill>
                  <a:srgbClr val="6B7280"/>
                </a:solidFill>
                <a:latin typeface="Calibri" pitchFamily="34" charset="0"/>
                <a:ea typeface="Calibri" pitchFamily="34" charset="-122"/>
                <a:cs typeface="Calibri" pitchFamily="34" charset="-120"/>
              </a:rPr>
              <a:t>Lundi, rien ne va ! Racontez votre journée catastrophe.</a:t>
            </a:r>
            <a:endParaRPr lang="en-US" sz="1150" dirty="0"/>
          </a:p>
        </p:txBody>
      </p:sp>
      <p:sp>
        <p:nvSpPr>
          <p:cNvPr id="13" name="Shape 8"/>
          <p:cNvSpPr/>
          <p:nvPr/>
        </p:nvSpPr>
        <p:spPr>
          <a:xfrm>
            <a:off x="6355080" y="1673352"/>
            <a:ext cx="914400" cy="402336"/>
          </a:xfrm>
          <a:prstGeom prst="roundRect">
            <a:avLst>
              <a:gd name="adj" fmla="val 13636"/>
            </a:avLst>
          </a:prstGeom>
          <a:solidFill>
            <a:srgbClr val="5FA873"/>
          </a:solidFill>
          <a:ln w="12700">
            <a:solidFill>
              <a:srgbClr val="FFFFFF">
                <a:alpha val="0"/>
              </a:srgbClr>
            </a:solidFill>
            <a:prstDash val="solid"/>
          </a:ln>
        </p:spPr>
      </p:sp>
      <p:sp>
        <p:nvSpPr>
          <p:cNvPr id="14" name="Text 9"/>
          <p:cNvSpPr txBox="1"/>
          <p:nvPr/>
        </p:nvSpPr>
        <p:spPr>
          <a:xfrm>
            <a:off x="6355080" y="167335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1</a:t>
            </a:r>
            <a:endParaRPr lang="en-US" sz="1600" dirty="0"/>
          </a:p>
        </p:txBody>
      </p:sp>
      <p:sp>
        <p:nvSpPr>
          <p:cNvPr id="15" name="Text 10"/>
          <p:cNvSpPr txBox="1"/>
          <p:nvPr/>
        </p:nvSpPr>
        <p:spPr>
          <a:xfrm>
            <a:off x="7406640" y="1618488"/>
            <a:ext cx="4389120" cy="512064"/>
          </a:xfrm>
          <a:prstGeom prst="rect">
            <a:avLst/>
          </a:prstGeom>
          <a:noFill/>
          <a:ln/>
        </p:spPr>
        <p:txBody>
          <a:bodyPr wrap="square" lIns="0" tIns="0" rIns="0" bIns="0" rtlCol="0" anchor="ctr"/>
          <a:lstStyle/>
          <a:p>
            <a:pPr algn="l" indent="0" marL="0">
              <a:buNone/>
            </a:pPr>
            <a:r>
              <a:rPr lang="en-US" sz="1450" b="1" dirty="0">
                <a:solidFill>
                  <a:srgbClr val="2B2F38"/>
                </a:solidFill>
              </a:rPr>
              <a:t>GEEN</a:t>
            </a:r>
            <a:r>
              <a:rPr lang="en-US" sz="1450" dirty="0">
                <a:solidFill>
                  <a:srgbClr val="2B2F38"/>
                </a:solidFill>
              </a:rPr>
              <a:t> devant un nom (au lieu de een / ∅).</a:t>
            </a:r>
            <a:endParaRPr lang="en-US" sz="1450" dirty="0"/>
          </a:p>
        </p:txBody>
      </p:sp>
      <p:sp>
        <p:nvSpPr>
          <p:cNvPr id="16" name="Shape 11"/>
          <p:cNvSpPr/>
          <p:nvPr/>
        </p:nvSpPr>
        <p:spPr>
          <a:xfrm>
            <a:off x="6355080" y="2404872"/>
            <a:ext cx="914400" cy="402336"/>
          </a:xfrm>
          <a:prstGeom prst="roundRect">
            <a:avLst>
              <a:gd name="adj" fmla="val 13636"/>
            </a:avLst>
          </a:prstGeom>
          <a:solidFill>
            <a:srgbClr val="5FA873"/>
          </a:solidFill>
          <a:ln w="12700">
            <a:solidFill>
              <a:srgbClr val="FFFFFF">
                <a:alpha val="0"/>
              </a:srgbClr>
            </a:solidFill>
            <a:prstDash val="solid"/>
          </a:ln>
        </p:spPr>
      </p:sp>
      <p:sp>
        <p:nvSpPr>
          <p:cNvPr id="17" name="Text 12"/>
          <p:cNvSpPr txBox="1"/>
          <p:nvPr/>
        </p:nvSpPr>
        <p:spPr>
          <a:xfrm>
            <a:off x="6355080" y="240487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2</a:t>
            </a:r>
            <a:endParaRPr lang="en-US" sz="1600" dirty="0"/>
          </a:p>
        </p:txBody>
      </p:sp>
      <p:sp>
        <p:nvSpPr>
          <p:cNvPr id="18" name="Text 13"/>
          <p:cNvSpPr txBox="1"/>
          <p:nvPr/>
        </p:nvSpPr>
        <p:spPr>
          <a:xfrm>
            <a:off x="7406640" y="2350008"/>
            <a:ext cx="4389120" cy="512064"/>
          </a:xfrm>
          <a:prstGeom prst="rect">
            <a:avLst/>
          </a:prstGeom>
          <a:noFill/>
          <a:ln/>
        </p:spPr>
        <p:txBody>
          <a:bodyPr wrap="square" lIns="0" tIns="0" rIns="0" bIns="0" rtlCol="0" anchor="ctr"/>
          <a:lstStyle/>
          <a:p>
            <a:pPr algn="l" indent="0" marL="0">
              <a:buNone/>
            </a:pPr>
            <a:r>
              <a:rPr lang="en-US" sz="1450" b="1" dirty="0">
                <a:solidFill>
                  <a:srgbClr val="2B2F38"/>
                </a:solidFill>
              </a:rPr>
              <a:t>NIET</a:t>
            </a:r>
            <a:r>
              <a:rPr lang="en-US" sz="1450" dirty="0">
                <a:solidFill>
                  <a:srgbClr val="2B2F38"/>
                </a:solidFill>
              </a:rPr>
              <a:t> après le verbe, à la fin.</a:t>
            </a:r>
            <a:endParaRPr lang="en-US" sz="1450" dirty="0"/>
          </a:p>
        </p:txBody>
      </p:sp>
      <p:sp>
        <p:nvSpPr>
          <p:cNvPr id="19" name="Shape 14"/>
          <p:cNvSpPr/>
          <p:nvPr/>
        </p:nvSpPr>
        <p:spPr>
          <a:xfrm>
            <a:off x="6355080" y="3136392"/>
            <a:ext cx="914400" cy="402336"/>
          </a:xfrm>
          <a:prstGeom prst="roundRect">
            <a:avLst>
              <a:gd name="adj" fmla="val 13636"/>
            </a:avLst>
          </a:prstGeom>
          <a:solidFill>
            <a:srgbClr val="5FA873"/>
          </a:solidFill>
          <a:ln w="12700">
            <a:solidFill>
              <a:srgbClr val="FFFFFF">
                <a:alpha val="0"/>
              </a:srgbClr>
            </a:solidFill>
            <a:prstDash val="solid"/>
          </a:ln>
        </p:spPr>
      </p:sp>
      <p:sp>
        <p:nvSpPr>
          <p:cNvPr id="20" name="Text 15"/>
          <p:cNvSpPr txBox="1"/>
          <p:nvPr/>
        </p:nvSpPr>
        <p:spPr>
          <a:xfrm>
            <a:off x="6355080" y="313639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3</a:t>
            </a:r>
            <a:endParaRPr lang="en-US" sz="1600" dirty="0"/>
          </a:p>
        </p:txBody>
      </p:sp>
      <p:sp>
        <p:nvSpPr>
          <p:cNvPr id="21" name="Text 16"/>
          <p:cNvSpPr txBox="1"/>
          <p:nvPr/>
        </p:nvSpPr>
        <p:spPr>
          <a:xfrm>
            <a:off x="7406640" y="3081528"/>
            <a:ext cx="4389120" cy="512064"/>
          </a:xfrm>
          <a:prstGeom prst="rect">
            <a:avLst/>
          </a:prstGeom>
          <a:noFill/>
          <a:ln/>
        </p:spPr>
        <p:txBody>
          <a:bodyPr wrap="square" lIns="0" tIns="0" rIns="0" bIns="0" rtlCol="0" anchor="ctr"/>
          <a:lstStyle/>
          <a:p>
            <a:pPr algn="l" indent="0" marL="0">
              <a:buNone/>
            </a:pPr>
            <a:r>
              <a:rPr lang="en-US" sz="1450" b="1" dirty="0">
                <a:solidFill>
                  <a:srgbClr val="2B2F38"/>
                </a:solidFill>
              </a:rPr>
              <a:t>NIET</a:t>
            </a:r>
            <a:r>
              <a:rPr lang="en-US" sz="1450" dirty="0">
                <a:solidFill>
                  <a:srgbClr val="2B2F38"/>
                </a:solidFill>
              </a:rPr>
              <a:t> devant un adjectif.</a:t>
            </a:r>
            <a:endParaRPr lang="en-US" sz="1450" dirty="0"/>
          </a:p>
        </p:txBody>
      </p:sp>
      <p:sp>
        <p:nvSpPr>
          <p:cNvPr id="22" name="Shape 17"/>
          <p:cNvSpPr/>
          <p:nvPr/>
        </p:nvSpPr>
        <p:spPr>
          <a:xfrm>
            <a:off x="6355080" y="3867912"/>
            <a:ext cx="914400" cy="402336"/>
          </a:xfrm>
          <a:prstGeom prst="roundRect">
            <a:avLst>
              <a:gd name="adj" fmla="val 13636"/>
            </a:avLst>
          </a:prstGeom>
          <a:solidFill>
            <a:srgbClr val="5FA873"/>
          </a:solidFill>
          <a:ln w="12700">
            <a:solidFill>
              <a:srgbClr val="FFFFFF">
                <a:alpha val="0"/>
              </a:srgbClr>
            </a:solidFill>
            <a:prstDash val="solid"/>
          </a:ln>
        </p:spPr>
      </p:sp>
      <p:sp>
        <p:nvSpPr>
          <p:cNvPr id="23" name="Text 18"/>
          <p:cNvSpPr txBox="1"/>
          <p:nvPr/>
        </p:nvSpPr>
        <p:spPr>
          <a:xfrm>
            <a:off x="6355080" y="386791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4</a:t>
            </a:r>
            <a:endParaRPr lang="en-US" sz="1600" dirty="0"/>
          </a:p>
        </p:txBody>
      </p:sp>
      <p:sp>
        <p:nvSpPr>
          <p:cNvPr id="24" name="Text 19"/>
          <p:cNvSpPr txBox="1"/>
          <p:nvPr/>
        </p:nvSpPr>
        <p:spPr>
          <a:xfrm>
            <a:off x="7406640" y="3813048"/>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Une chute positive avec </a:t>
            </a:r>
            <a:r>
              <a:rPr lang="en-US" sz="1450" b="1" dirty="0">
                <a:solidFill>
                  <a:srgbClr val="2B2F38"/>
                </a:solidFill>
              </a:rPr>
              <a:t>MAAR</a:t>
            </a:r>
            <a:r>
              <a:rPr lang="en-US" sz="1450" dirty="0">
                <a:solidFill>
                  <a:srgbClr val="2B2F38"/>
                </a:solidFill>
              </a:rPr>
              <a:t> !</a:t>
            </a:r>
            <a:endParaRPr lang="en-US" sz="1450" dirty="0"/>
          </a:p>
        </p:txBody>
      </p:sp>
      <p:sp>
        <p:nvSpPr>
          <p:cNvPr id="25" name="Shape 20"/>
          <p:cNvSpPr/>
          <p:nvPr/>
        </p:nvSpPr>
        <p:spPr>
          <a:xfrm>
            <a:off x="3246120" y="5440680"/>
            <a:ext cx="6858000" cy="822960"/>
          </a:xfrm>
          <a:prstGeom prst="roundRect">
            <a:avLst>
              <a:gd name="adj" fmla="val 17778"/>
            </a:avLst>
          </a:prstGeom>
          <a:solidFill>
            <a:srgbClr val="EAF5EC"/>
          </a:solidFill>
          <a:ln w="15875">
            <a:solidFill>
              <a:srgbClr val="5FA873"/>
            </a:solidFill>
            <a:prstDash val="solid"/>
          </a:ln>
        </p:spPr>
      </p:sp>
      <p:pic>
        <p:nvPicPr>
          <p:cNvPr id="26" name="Image 2" descr="UserFriends">    </p:cNvPr>
          <p:cNvPicPr>
            <a:picLocks noChangeAspect="1"/>
          </p:cNvPicPr>
          <p:nvPr/>
        </p:nvPicPr>
        <p:blipFill>
          <a:blip r:embed="rId3"/>
          <a:stretch>
            <a:fillRect/>
          </a:stretch>
        </p:blipFill>
        <p:spPr>
          <a:xfrm>
            <a:off x="3520440" y="5660136"/>
            <a:ext cx="384048" cy="384048"/>
          </a:xfrm>
          <a:prstGeom prst="rect">
            <a:avLst/>
          </a:prstGeom>
        </p:spPr>
      </p:pic>
      <p:sp>
        <p:nvSpPr>
          <p:cNvPr id="27" name="Text 21"/>
          <p:cNvSpPr txBox="1"/>
          <p:nvPr/>
        </p:nvSpPr>
        <p:spPr>
          <a:xfrm>
            <a:off x="4114800" y="5440680"/>
            <a:ext cx="5852160" cy="822960"/>
          </a:xfrm>
          <a:prstGeom prst="rect">
            <a:avLst/>
          </a:prstGeom>
          <a:noFill/>
          <a:ln/>
        </p:spPr>
        <p:txBody>
          <a:bodyPr wrap="square" lIns="0" tIns="0" rIns="0" bIns="0" rtlCol="0" anchor="ctr"/>
          <a:lstStyle/>
          <a:p>
            <a:pPr algn="ctr" indent="0" marL="0">
              <a:buNone/>
            </a:pPr>
            <a:r>
              <a:rPr lang="en-US" sz="1800" b="1" dirty="0">
                <a:solidFill>
                  <a:srgbClr val="2E6B44"/>
                </a:solidFill>
                <a:latin typeface="Calibri" pitchFamily="34" charset="0"/>
                <a:ea typeface="Calibri" pitchFamily="34" charset="-122"/>
                <a:cs typeface="Calibri" pitchFamily="34" charset="-120"/>
              </a:rPr>
              <a:t>Lees je tekst voor aan je partner.</a:t>
            </a:r>
            <a:endParaRPr lang="en-US" sz="1800" dirty="0"/>
          </a:p>
          <a:p>
            <a:pPr algn="ctr" indent="0" marL="0">
              <a:buNone/>
            </a:pPr>
            <a:r>
              <a:rPr lang="en-US" sz="1800" b="1" dirty="0">
                <a:solidFill>
                  <a:srgbClr val="2E6B44"/>
                </a:solidFill>
                <a:latin typeface="Calibri" pitchFamily="34" charset="0"/>
                <a:ea typeface="Calibri" pitchFamily="34" charset="-122"/>
                <a:cs typeface="Calibri" pitchFamily="34" charset="-120"/>
              </a:rPr>
              <a:t>Wat denkt hij/zij daarvan?</a:t>
            </a:r>
            <a:endParaRPr lang="en-US" sz="1800" dirty="0"/>
          </a:p>
        </p:txBody>
      </p:sp>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1"/>
          <p:cNvSpPr/>
          <p:nvPr>
            <p:ph idx="101" type="title" hasCustomPrompt="1"/>
          </p:nvPr>
        </p:nvSpPr>
        <p:spPr>
          <a:xfrm>
            <a:off x="1554480" y="384048"/>
            <a:ext cx="10241280" cy="658368"/>
          </a:xfrm>
          <a:prstGeom prst="rect">
            <a:avLst/>
          </a:prstGeom>
          <a:noFill/>
          <a:ln/>
        </p:spPr>
        <p:txBody>
          <a:bodyPr wrap="square" lIns="0" tIns="0" rIns="0" bIns="0" rtlCol="0" anchor="ctr"/>
          <a:lstStyle/>
          <a:p>
            <a:pPr algn="ctr" indent="0" marL="0">
              <a:buNone/>
            </a:pPr>
            <a:r>
              <a:rPr lang="en-US" sz="3000" b="1" dirty="0">
                <a:solidFill>
                  <a:srgbClr val="2B2F38"/>
                </a:solidFill>
              </a:rPr>
              <a:t>Een slechte dag</a:t>
            </a:r>
            <a:endParaRPr lang="en-US" sz="3000" dirty="0"/>
          </a:p>
        </p:txBody>
      </p:sp>
      <p:sp>
        <p:nvSpPr>
          <p:cNvPr id="4" name="Shape 1"/>
          <p:cNvSpPr/>
          <p:nvPr/>
        </p:nvSpPr>
        <p:spPr>
          <a:xfrm>
            <a:off x="365760" y="365760"/>
            <a:ext cx="868680" cy="5989320"/>
          </a:xfrm>
          <a:prstGeom prst="roundRect">
            <a:avLst>
              <a:gd name="adj" fmla="val 12632"/>
            </a:avLst>
          </a:prstGeom>
          <a:solidFill>
            <a:srgbClr val="E4EEFB"/>
          </a:solidFill>
          <a:ln w="28575">
            <a:solidFill>
              <a:srgbClr val="6FA0DC"/>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3E6FB0"/>
                </a:solidFill>
                <a:latin typeface="Calibri" pitchFamily="34" charset="0"/>
                <a:ea typeface="Calibri" pitchFamily="34" charset="-122"/>
                <a:cs typeface="Calibri" pitchFamily="34" charset="-120"/>
              </a:rPr>
              <a:t>A1 · Grammaire</a:t>
            </a:r>
            <a:endParaRPr lang="en-US" sz="3800" dirty="0"/>
          </a:p>
        </p:txBody>
      </p:sp>
      <p:sp>
        <p:nvSpPr>
          <p:cNvPr id="6" name="Shape 3"/>
          <p:cNvSpPr/>
          <p:nvPr/>
        </p:nvSpPr>
        <p:spPr>
          <a:xfrm>
            <a:off x="2519172" y="1124712"/>
            <a:ext cx="8311896" cy="5277231"/>
          </a:xfrm>
          <a:prstGeom prst="roundRect">
            <a:avLst>
              <a:gd name="adj" fmla="val 693"/>
            </a:avLst>
          </a:prstGeom>
          <a:solidFill>
            <a:srgbClr val="FFFFFF"/>
          </a:solidFill>
          <a:ln w="9525">
            <a:solidFill>
              <a:srgbClr val="E3E7EE"/>
            </a:solidFill>
            <a:prstDash val="solid"/>
          </a:ln>
          <a:effectLst>
            <a:outerShdw sx="100000" sy="100000" kx="0" ky="0" algn="bl" rotWithShape="0" blurRad="177800" dist="63500" dir="5400000">
              <a:srgbClr val="1B2430">
                <a:alpha val="25000"/>
              </a:srgbClr>
            </a:outerShdw>
          </a:effectLst>
        </p:spPr>
      </p:sp>
      <p:pic>
        <p:nvPicPr>
          <p:cNvPr id="7" name="Image 0" descr="/home/user/talenleren/neerlandais1/generateur/img/vijfzinnen/a1_slechtedag.jpg">    </p:cNvPr>
          <p:cNvPicPr>
            <a:picLocks noChangeAspect="1"/>
          </p:cNvPicPr>
          <p:nvPr/>
        </p:nvPicPr>
        <p:blipFill>
          <a:blip r:embed="rId1"/>
          <a:stretch>
            <a:fillRect/>
          </a:stretch>
        </p:blipFill>
        <p:spPr>
          <a:xfrm>
            <a:off x="2628900" y="1234440"/>
            <a:ext cx="8092440" cy="5057775"/>
          </a:xfrm>
          <a:prstGeom prst="rect">
            <a:avLst/>
          </a:prstGeom>
        </p:spPr>
      </p:pic>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1"/>
          <p:cNvSpPr/>
          <p:nvPr>
            <p:ph idx="101" type="title" hasCustomPrompt="1"/>
          </p:nvPr>
        </p:nvSpPr>
        <p:spPr>
          <a:xfrm>
            <a:off x="1691640" y="347472"/>
            <a:ext cx="8138160" cy="914400"/>
          </a:xfrm>
          <a:prstGeom prst="rect">
            <a:avLst/>
          </a:prstGeom>
          <a:noFill/>
          <a:ln/>
        </p:spPr>
        <p:txBody>
          <a:bodyPr wrap="square" lIns="0" tIns="0" rIns="0" bIns="0" rtlCol="0" anchor="ctr"/>
          <a:lstStyle/>
          <a:p>
            <a:pPr algn="l" indent="0" marL="0">
              <a:buNone/>
            </a:pPr>
            <a:r>
              <a:rPr lang="en-US" sz="2400" b="1" dirty="0">
                <a:solidFill>
                  <a:srgbClr val="2B2F38"/>
                </a:solidFill>
              </a:rPr>
              <a:t>Hier is een voorbeeld van wat je had kunnen denken en schrijven…</a:t>
            </a:r>
            <a:endParaRPr lang="en-US" sz="2400" dirty="0"/>
          </a:p>
        </p:txBody>
      </p:sp>
      <p:sp>
        <p:nvSpPr>
          <p:cNvPr id="4" name="Shape 1"/>
          <p:cNvSpPr/>
          <p:nvPr/>
        </p:nvSpPr>
        <p:spPr>
          <a:xfrm>
            <a:off x="365760" y="365760"/>
            <a:ext cx="868680" cy="5989320"/>
          </a:xfrm>
          <a:prstGeom prst="roundRect">
            <a:avLst>
              <a:gd name="adj" fmla="val 12632"/>
            </a:avLst>
          </a:prstGeom>
          <a:solidFill>
            <a:srgbClr val="E4EEFB"/>
          </a:solidFill>
          <a:ln w="28575">
            <a:solidFill>
              <a:srgbClr val="6FA0DC"/>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3E6FB0"/>
                </a:solidFill>
                <a:latin typeface="Calibri" pitchFamily="34" charset="0"/>
                <a:ea typeface="Calibri" pitchFamily="34" charset="-122"/>
                <a:cs typeface="Calibri" pitchFamily="34" charset="-120"/>
              </a:rPr>
              <a:t>A1 · Grammaire</a:t>
            </a:r>
            <a:endParaRPr lang="en-US" sz="3800" dirty="0"/>
          </a:p>
        </p:txBody>
      </p:sp>
      <p:sp>
        <p:nvSpPr>
          <p:cNvPr id="6" name="Shape 3"/>
          <p:cNvSpPr/>
          <p:nvPr/>
        </p:nvSpPr>
        <p:spPr>
          <a:xfrm>
            <a:off x="10058400" y="246888"/>
            <a:ext cx="1691640" cy="1091565"/>
          </a:xfrm>
          <a:prstGeom prst="roundRect">
            <a:avLst>
              <a:gd name="adj" fmla="val 3351"/>
            </a:avLst>
          </a:prstGeom>
          <a:solidFill>
            <a:srgbClr val="FFFFFF"/>
          </a:solidFill>
          <a:ln w="9525">
            <a:solidFill>
              <a:srgbClr val="E3E7EE"/>
            </a:solidFill>
            <a:prstDash val="solid"/>
          </a:ln>
          <a:effectLst>
            <a:outerShdw sx="100000" sy="100000" kx="0" ky="0" algn="bl" rotWithShape="0" blurRad="76200" dist="25400" dir="5400000">
              <a:srgbClr val="1B2430">
                <a:alpha val="25000"/>
              </a:srgbClr>
            </a:outerShdw>
          </a:effectLst>
        </p:spPr>
      </p:sp>
      <p:pic>
        <p:nvPicPr>
          <p:cNvPr id="7" name="Image 0" descr="/home/user/talenleren/neerlandais1/generateur/img/vijfzinnen/a1_slechtedag_s.jpg">    </p:cNvPr>
          <p:cNvPicPr>
            <a:picLocks noChangeAspect="1"/>
          </p:cNvPicPr>
          <p:nvPr/>
        </p:nvPicPr>
        <p:blipFill>
          <a:blip r:embed="rId1"/>
          <a:stretch>
            <a:fillRect/>
          </a:stretch>
        </p:blipFill>
        <p:spPr>
          <a:xfrm>
            <a:off x="10104120" y="292608"/>
            <a:ext cx="1600200" cy="1000125"/>
          </a:xfrm>
          <a:prstGeom prst="rect">
            <a:avLst/>
          </a:prstGeom>
        </p:spPr>
      </p:pic>
      <p:sp>
        <p:nvSpPr>
          <p:cNvPr id="8" name="Text 4"/>
          <p:cNvSpPr txBox="1"/>
          <p:nvPr/>
        </p:nvSpPr>
        <p:spPr>
          <a:xfrm>
            <a:off x="1691640" y="3108350"/>
            <a:ext cx="957377"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Ik heb</a:t>
            </a:r>
            <a:endParaRPr lang="en-US" sz="2400" dirty="0"/>
          </a:p>
        </p:txBody>
      </p:sp>
      <p:sp>
        <p:nvSpPr>
          <p:cNvPr id="9" name="Shape 5"/>
          <p:cNvSpPr/>
          <p:nvPr/>
        </p:nvSpPr>
        <p:spPr>
          <a:xfrm>
            <a:off x="2553310" y="3120542"/>
            <a:ext cx="1506322" cy="371856"/>
          </a:xfrm>
          <a:prstGeom prst="roundRect">
            <a:avLst>
              <a:gd name="adj" fmla="val 12295"/>
            </a:avLst>
          </a:prstGeom>
          <a:solidFill>
            <a:srgbClr val="E6F3DA"/>
          </a:solidFill>
          <a:ln w="12700">
            <a:solidFill>
              <a:srgbClr val="FFFFFF">
                <a:alpha val="0"/>
              </a:srgbClr>
            </a:solidFill>
            <a:prstDash val="solid"/>
          </a:ln>
        </p:spPr>
      </p:sp>
      <p:sp>
        <p:nvSpPr>
          <p:cNvPr id="10" name="Text 6"/>
          <p:cNvSpPr txBox="1"/>
          <p:nvPr/>
        </p:nvSpPr>
        <p:spPr>
          <a:xfrm>
            <a:off x="2553310" y="3108350"/>
            <a:ext cx="1506322"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geen koffie</a:t>
            </a:r>
            <a:endParaRPr lang="en-US" sz="2400" dirty="0"/>
          </a:p>
        </p:txBody>
      </p:sp>
      <p:sp>
        <p:nvSpPr>
          <p:cNvPr id="11" name="Text 7"/>
          <p:cNvSpPr txBox="1"/>
          <p:nvPr/>
        </p:nvSpPr>
        <p:spPr>
          <a:xfrm>
            <a:off x="4059631" y="3108350"/>
            <a:ext cx="1944624"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 De bus komt</a:t>
            </a:r>
            <a:endParaRPr lang="en-US" sz="2400" dirty="0"/>
          </a:p>
        </p:txBody>
      </p:sp>
      <p:sp>
        <p:nvSpPr>
          <p:cNvPr id="12" name="Shape 8"/>
          <p:cNvSpPr/>
          <p:nvPr/>
        </p:nvSpPr>
        <p:spPr>
          <a:xfrm>
            <a:off x="5908548" y="3120542"/>
            <a:ext cx="589178" cy="371856"/>
          </a:xfrm>
          <a:prstGeom prst="roundRect">
            <a:avLst>
              <a:gd name="adj" fmla="val 12295"/>
            </a:avLst>
          </a:prstGeom>
          <a:solidFill>
            <a:srgbClr val="E6F3DA"/>
          </a:solidFill>
          <a:ln w="12700">
            <a:solidFill>
              <a:srgbClr val="FFFFFF">
                <a:alpha val="0"/>
              </a:srgbClr>
            </a:solidFill>
            <a:prstDash val="solid"/>
          </a:ln>
        </p:spPr>
      </p:sp>
      <p:sp>
        <p:nvSpPr>
          <p:cNvPr id="13" name="Text 9"/>
          <p:cNvSpPr txBox="1"/>
          <p:nvPr/>
        </p:nvSpPr>
        <p:spPr>
          <a:xfrm>
            <a:off x="5908548" y="3108350"/>
            <a:ext cx="589178"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niet</a:t>
            </a:r>
            <a:endParaRPr lang="en-US" sz="2400" dirty="0"/>
          </a:p>
        </p:txBody>
      </p:sp>
      <p:sp>
        <p:nvSpPr>
          <p:cNvPr id="14" name="Text 10"/>
          <p:cNvSpPr txBox="1"/>
          <p:nvPr/>
        </p:nvSpPr>
        <p:spPr>
          <a:xfrm>
            <a:off x="6497726" y="3108350"/>
            <a:ext cx="1067105"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 Het is</a:t>
            </a:r>
            <a:endParaRPr lang="en-US" sz="2400" dirty="0"/>
          </a:p>
        </p:txBody>
      </p:sp>
      <p:sp>
        <p:nvSpPr>
          <p:cNvPr id="15" name="Shape 11"/>
          <p:cNvSpPr/>
          <p:nvPr/>
        </p:nvSpPr>
        <p:spPr>
          <a:xfrm>
            <a:off x="7469124" y="3120542"/>
            <a:ext cx="1391717" cy="371856"/>
          </a:xfrm>
          <a:prstGeom prst="roundRect">
            <a:avLst>
              <a:gd name="adj" fmla="val 12295"/>
            </a:avLst>
          </a:prstGeom>
          <a:solidFill>
            <a:srgbClr val="E6F3DA"/>
          </a:solidFill>
          <a:ln w="12700">
            <a:solidFill>
              <a:srgbClr val="FFFFFF">
                <a:alpha val="0"/>
              </a:srgbClr>
            </a:solidFill>
            <a:prstDash val="solid"/>
          </a:ln>
        </p:spPr>
      </p:sp>
      <p:sp>
        <p:nvSpPr>
          <p:cNvPr id="16" name="Text 12"/>
          <p:cNvSpPr txBox="1"/>
          <p:nvPr/>
        </p:nvSpPr>
        <p:spPr>
          <a:xfrm>
            <a:off x="7469124" y="3108350"/>
            <a:ext cx="1391717"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niet warm</a:t>
            </a:r>
            <a:endParaRPr lang="en-US" sz="2400" dirty="0"/>
          </a:p>
        </p:txBody>
      </p:sp>
      <p:sp>
        <p:nvSpPr>
          <p:cNvPr id="17" name="Text 13"/>
          <p:cNvSpPr txBox="1"/>
          <p:nvPr/>
        </p:nvSpPr>
        <p:spPr>
          <a:xfrm>
            <a:off x="8860841" y="3108350"/>
            <a:ext cx="1767840"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 het regent!</a:t>
            </a:r>
            <a:endParaRPr lang="en-US" sz="2400" dirty="0"/>
          </a:p>
        </p:txBody>
      </p:sp>
      <p:sp>
        <p:nvSpPr>
          <p:cNvPr id="18" name="Shape 14"/>
          <p:cNvSpPr/>
          <p:nvPr/>
        </p:nvSpPr>
        <p:spPr>
          <a:xfrm>
            <a:off x="3306470" y="3044342"/>
            <a:ext cx="914" cy="76200"/>
          </a:xfrm>
          <a:prstGeom prst="line">
            <a:avLst/>
          </a:prstGeom>
          <a:noFill/>
          <a:ln w="15875">
            <a:solidFill>
              <a:srgbClr val="7AB648"/>
            </a:solidFill>
            <a:prstDash val="solid"/>
          </a:ln>
        </p:spPr>
      </p:sp>
      <p:sp>
        <p:nvSpPr>
          <p:cNvPr id="19" name="Shape 15"/>
          <p:cNvSpPr/>
          <p:nvPr/>
        </p:nvSpPr>
        <p:spPr>
          <a:xfrm>
            <a:off x="3038043" y="2797454"/>
            <a:ext cx="536854" cy="246888"/>
          </a:xfrm>
          <a:prstGeom prst="roundRect">
            <a:avLst>
              <a:gd name="adj" fmla="val 14815"/>
            </a:avLst>
          </a:prstGeom>
          <a:solidFill>
            <a:srgbClr val="7AB648"/>
          </a:solidFill>
          <a:ln w="12700">
            <a:solidFill>
              <a:srgbClr val="FFFFFF">
                <a:alpha val="0"/>
              </a:srgbClr>
            </a:solidFill>
            <a:prstDash val="solid"/>
          </a:ln>
        </p:spPr>
      </p:sp>
      <p:sp>
        <p:nvSpPr>
          <p:cNvPr id="20" name="Text 16"/>
          <p:cNvSpPr txBox="1"/>
          <p:nvPr/>
        </p:nvSpPr>
        <p:spPr>
          <a:xfrm>
            <a:off x="3038043" y="2797454"/>
            <a:ext cx="536854"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GEEN</a:t>
            </a:r>
            <a:endParaRPr lang="en-US" sz="1100" dirty="0"/>
          </a:p>
        </p:txBody>
      </p:sp>
      <p:sp>
        <p:nvSpPr>
          <p:cNvPr id="21" name="Shape 17"/>
          <p:cNvSpPr/>
          <p:nvPr/>
        </p:nvSpPr>
        <p:spPr>
          <a:xfrm>
            <a:off x="6203137" y="3044342"/>
            <a:ext cx="914" cy="76200"/>
          </a:xfrm>
          <a:prstGeom prst="line">
            <a:avLst/>
          </a:prstGeom>
          <a:noFill/>
          <a:ln w="15875">
            <a:solidFill>
              <a:srgbClr val="7AB648"/>
            </a:solidFill>
            <a:prstDash val="solid"/>
          </a:ln>
        </p:spPr>
      </p:sp>
      <p:sp>
        <p:nvSpPr>
          <p:cNvPr id="22" name="Shape 18"/>
          <p:cNvSpPr/>
          <p:nvPr/>
        </p:nvSpPr>
        <p:spPr>
          <a:xfrm>
            <a:off x="5823928" y="2797454"/>
            <a:ext cx="758419" cy="246888"/>
          </a:xfrm>
          <a:prstGeom prst="roundRect">
            <a:avLst>
              <a:gd name="adj" fmla="val 14815"/>
            </a:avLst>
          </a:prstGeom>
          <a:solidFill>
            <a:srgbClr val="7AB648"/>
          </a:solidFill>
          <a:ln w="12700">
            <a:solidFill>
              <a:srgbClr val="FFFFFF">
                <a:alpha val="0"/>
              </a:srgbClr>
            </a:solidFill>
            <a:prstDash val="solid"/>
          </a:ln>
        </p:spPr>
      </p:sp>
      <p:sp>
        <p:nvSpPr>
          <p:cNvPr id="23" name="Text 19"/>
          <p:cNvSpPr txBox="1"/>
          <p:nvPr/>
        </p:nvSpPr>
        <p:spPr>
          <a:xfrm>
            <a:off x="5823928" y="2797454"/>
            <a:ext cx="758419"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NIET (fin)</a:t>
            </a:r>
            <a:endParaRPr lang="en-US" sz="1100" dirty="0"/>
          </a:p>
        </p:txBody>
      </p:sp>
      <p:sp>
        <p:nvSpPr>
          <p:cNvPr id="24" name="Shape 20"/>
          <p:cNvSpPr/>
          <p:nvPr/>
        </p:nvSpPr>
        <p:spPr>
          <a:xfrm>
            <a:off x="8164982" y="3044342"/>
            <a:ext cx="914" cy="76200"/>
          </a:xfrm>
          <a:prstGeom prst="line">
            <a:avLst/>
          </a:prstGeom>
          <a:noFill/>
          <a:ln w="15875">
            <a:solidFill>
              <a:srgbClr val="7AB648"/>
            </a:solidFill>
            <a:prstDash val="solid"/>
          </a:ln>
        </p:spPr>
      </p:sp>
      <p:sp>
        <p:nvSpPr>
          <p:cNvPr id="25" name="Shape 21"/>
          <p:cNvSpPr/>
          <p:nvPr/>
        </p:nvSpPr>
        <p:spPr>
          <a:xfrm>
            <a:off x="7747076" y="2797454"/>
            <a:ext cx="835812" cy="246888"/>
          </a:xfrm>
          <a:prstGeom prst="roundRect">
            <a:avLst>
              <a:gd name="adj" fmla="val 14815"/>
            </a:avLst>
          </a:prstGeom>
          <a:solidFill>
            <a:srgbClr val="7AB648"/>
          </a:solidFill>
          <a:ln w="12700">
            <a:solidFill>
              <a:srgbClr val="FFFFFF">
                <a:alpha val="0"/>
              </a:srgbClr>
            </a:solidFill>
            <a:prstDash val="solid"/>
          </a:ln>
        </p:spPr>
      </p:sp>
      <p:sp>
        <p:nvSpPr>
          <p:cNvPr id="26" name="Text 22"/>
          <p:cNvSpPr txBox="1"/>
          <p:nvPr/>
        </p:nvSpPr>
        <p:spPr>
          <a:xfrm>
            <a:off x="7747076" y="2797454"/>
            <a:ext cx="835812"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NIET + adj.</a:t>
            </a:r>
            <a:endParaRPr lang="en-US" sz="1100" dirty="0"/>
          </a:p>
        </p:txBody>
      </p:sp>
      <p:sp>
        <p:nvSpPr>
          <p:cNvPr id="27" name="Shape 23"/>
          <p:cNvSpPr/>
          <p:nvPr/>
        </p:nvSpPr>
        <p:spPr>
          <a:xfrm>
            <a:off x="4870552" y="4175150"/>
            <a:ext cx="767182" cy="371856"/>
          </a:xfrm>
          <a:prstGeom prst="roundRect">
            <a:avLst>
              <a:gd name="adj" fmla="val 12295"/>
            </a:avLst>
          </a:prstGeom>
          <a:solidFill>
            <a:srgbClr val="E6F3DA"/>
          </a:solidFill>
          <a:ln w="12700">
            <a:solidFill>
              <a:srgbClr val="FFFFFF">
                <a:alpha val="0"/>
              </a:srgbClr>
            </a:solidFill>
            <a:prstDash val="solid"/>
          </a:ln>
        </p:spPr>
      </p:sp>
      <p:sp>
        <p:nvSpPr>
          <p:cNvPr id="28" name="Text 24"/>
          <p:cNvSpPr txBox="1"/>
          <p:nvPr/>
        </p:nvSpPr>
        <p:spPr>
          <a:xfrm>
            <a:off x="4870552" y="4162958"/>
            <a:ext cx="767182"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Maar</a:t>
            </a:r>
            <a:endParaRPr lang="en-US" sz="2400" dirty="0"/>
          </a:p>
        </p:txBody>
      </p:sp>
      <p:sp>
        <p:nvSpPr>
          <p:cNvPr id="29" name="Text 25"/>
          <p:cNvSpPr txBox="1"/>
          <p:nvPr/>
        </p:nvSpPr>
        <p:spPr>
          <a:xfrm>
            <a:off x="5724906" y="4162958"/>
            <a:ext cx="2983382"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vanavond eet ik pizza!</a:t>
            </a:r>
            <a:endParaRPr lang="en-US" sz="2400" dirty="0"/>
          </a:p>
        </p:txBody>
      </p:sp>
      <p:sp>
        <p:nvSpPr>
          <p:cNvPr id="30" name="Shape 26"/>
          <p:cNvSpPr/>
          <p:nvPr/>
        </p:nvSpPr>
        <p:spPr>
          <a:xfrm>
            <a:off x="5254142" y="4098950"/>
            <a:ext cx="914" cy="76200"/>
          </a:xfrm>
          <a:prstGeom prst="line">
            <a:avLst/>
          </a:prstGeom>
          <a:noFill/>
          <a:ln w="15875">
            <a:solidFill>
              <a:srgbClr val="7AB648"/>
            </a:solidFill>
            <a:prstDash val="solid"/>
          </a:ln>
        </p:spPr>
      </p:sp>
      <p:sp>
        <p:nvSpPr>
          <p:cNvPr id="31" name="Shape 27"/>
          <p:cNvSpPr/>
          <p:nvPr/>
        </p:nvSpPr>
        <p:spPr>
          <a:xfrm>
            <a:off x="4959382" y="3852062"/>
            <a:ext cx="589521" cy="246888"/>
          </a:xfrm>
          <a:prstGeom prst="roundRect">
            <a:avLst>
              <a:gd name="adj" fmla="val 14815"/>
            </a:avLst>
          </a:prstGeom>
          <a:solidFill>
            <a:srgbClr val="7AB648"/>
          </a:solidFill>
          <a:ln w="12700">
            <a:solidFill>
              <a:srgbClr val="FFFFFF">
                <a:alpha val="0"/>
              </a:srgbClr>
            </a:solidFill>
            <a:prstDash val="solid"/>
          </a:ln>
        </p:spPr>
      </p:sp>
      <p:sp>
        <p:nvSpPr>
          <p:cNvPr id="32" name="Text 28"/>
          <p:cNvSpPr txBox="1"/>
          <p:nvPr/>
        </p:nvSpPr>
        <p:spPr>
          <a:xfrm>
            <a:off x="4959382" y="3852062"/>
            <a:ext cx="589521"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MAAR</a:t>
            </a:r>
            <a:endParaRPr lang="en-US" sz="1100" dirty="0"/>
          </a:p>
        </p:txBody>
      </p:sp>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1"/>
          <p:cNvSpPr/>
          <p:nvPr>
            <p:ph idx="101" type="title" hasCustomPrompt="1"/>
          </p:nvPr>
        </p:nvSpPr>
        <p:spPr>
          <a:xfrm>
            <a:off x="1554480" y="384048"/>
            <a:ext cx="10241280" cy="658368"/>
          </a:xfrm>
          <a:prstGeom prst="rect">
            <a:avLst/>
          </a:prstGeom>
          <a:noFill/>
          <a:ln/>
        </p:spPr>
        <p:txBody>
          <a:bodyPr wrap="square" lIns="0" tIns="0" rIns="0" bIns="0" rtlCol="0" anchor="ctr"/>
          <a:lstStyle/>
          <a:p>
            <a:pPr algn="ctr" indent="0" marL="0">
              <a:buNone/>
            </a:pPr>
            <a:r>
              <a:rPr lang="en-US" sz="3000" b="1" dirty="0">
                <a:solidFill>
                  <a:srgbClr val="2B2F38"/>
                </a:solidFill>
              </a:rPr>
              <a:t>Gebruik deze afbeelding als inspiratie</a:t>
            </a:r>
            <a:endParaRPr lang="en-US" sz="3000" dirty="0"/>
          </a:p>
        </p:txBody>
      </p:sp>
      <p:sp>
        <p:nvSpPr>
          <p:cNvPr id="4" name="Shape 1"/>
          <p:cNvSpPr/>
          <p:nvPr/>
        </p:nvSpPr>
        <p:spPr>
          <a:xfrm>
            <a:off x="365760" y="365760"/>
            <a:ext cx="868680" cy="5989320"/>
          </a:xfrm>
          <a:prstGeom prst="roundRect">
            <a:avLst>
              <a:gd name="adj" fmla="val 12632"/>
            </a:avLst>
          </a:prstGeom>
          <a:solidFill>
            <a:srgbClr val="E4EEFB"/>
          </a:solidFill>
          <a:ln w="28575">
            <a:solidFill>
              <a:srgbClr val="6FA0DC"/>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3E6FB0"/>
                </a:solidFill>
                <a:latin typeface="Calibri" pitchFamily="34" charset="0"/>
                <a:ea typeface="Calibri" pitchFamily="34" charset="-122"/>
                <a:cs typeface="Calibri" pitchFamily="34" charset="-120"/>
              </a:rPr>
              <a:t>A1 · Grammaire</a:t>
            </a:r>
            <a:endParaRPr lang="en-US" sz="3800" dirty="0"/>
          </a:p>
        </p:txBody>
      </p:sp>
      <p:sp>
        <p:nvSpPr>
          <p:cNvPr id="6" name="Text 3"/>
          <p:cNvSpPr txBox="1"/>
          <p:nvPr/>
        </p:nvSpPr>
        <p:spPr>
          <a:xfrm>
            <a:off x="1554480" y="1024128"/>
            <a:ext cx="10241280" cy="365760"/>
          </a:xfrm>
          <a:prstGeom prst="rect">
            <a:avLst/>
          </a:prstGeom>
          <a:noFill/>
          <a:ln/>
        </p:spPr>
        <p:txBody>
          <a:bodyPr wrap="square" lIns="0" tIns="0" rIns="0" bIns="0" rtlCol="0" anchor="ctr"/>
          <a:lstStyle/>
          <a:p>
            <a:pPr algn="ctr" indent="0" marL="0">
              <a:buNone/>
            </a:pPr>
            <a:r>
              <a:rPr lang="en-US" sz="1500" b="1" dirty="0">
                <a:solidFill>
                  <a:srgbClr val="3E6FB0"/>
                </a:solidFill>
                <a:latin typeface="Calibri" pitchFamily="34" charset="0"/>
                <a:ea typeface="Calibri" pitchFamily="34" charset="-122"/>
                <a:cs typeface="Calibri" pitchFamily="34" charset="-120"/>
              </a:rPr>
              <a:t>21 · Hoe laat is het?</a:t>
            </a:r>
            <a:r>
              <a:rPr lang="en-US" sz="1500" i="1" dirty="0">
                <a:solidFill>
                  <a:srgbClr val="6B7280"/>
                </a:solidFill>
                <a:latin typeface="Calibri" pitchFamily="34" charset="0"/>
                <a:ea typeface="Calibri" pitchFamily="34" charset="-122"/>
                <a:cs typeface="Calibri" pitchFamily="34" charset="-120"/>
              </a:rPr>
              <a:t>   Quelle heure est-il ?</a:t>
            </a:r>
            <a:r>
              <a:rPr lang="en-US" sz="1200" dirty="0">
                <a:solidFill>
                  <a:srgbClr val="9AA3B2"/>
                </a:solidFill>
                <a:latin typeface="Calibri" pitchFamily="34" charset="0"/>
                <a:ea typeface="Calibri" pitchFamily="34" charset="-122"/>
                <a:cs typeface="Calibri" pitchFamily="34" charset="-120"/>
              </a:rPr>
              <a:t>   ·   syllabus fiche 07 · p. 64</a:t>
            </a:r>
            <a:endParaRPr lang="en-US" sz="1500" dirty="0"/>
          </a:p>
        </p:txBody>
      </p:sp>
      <p:sp>
        <p:nvSpPr>
          <p:cNvPr id="7" name="Shape 4"/>
          <p:cNvSpPr/>
          <p:nvPr/>
        </p:nvSpPr>
        <p:spPr>
          <a:xfrm>
            <a:off x="1596085" y="1504645"/>
            <a:ext cx="4534510" cy="2905735"/>
          </a:xfrm>
          <a:prstGeom prst="roundRect">
            <a:avLst>
              <a:gd name="adj" fmla="val 1259"/>
            </a:avLst>
          </a:prstGeom>
          <a:solidFill>
            <a:srgbClr val="FFFFFF"/>
          </a:solidFill>
          <a:ln w="9525">
            <a:solidFill>
              <a:srgbClr val="E3E7EE"/>
            </a:solidFill>
            <a:prstDash val="solid"/>
          </a:ln>
          <a:effectLst>
            <a:outerShdw sx="100000" sy="100000" kx="0" ky="0" algn="bl" rotWithShape="0" blurRad="127000" dist="50800" dir="5400000">
              <a:srgbClr val="1B2430">
                <a:alpha val="25000"/>
              </a:srgbClr>
            </a:outerShdw>
          </a:effectLst>
        </p:spPr>
      </p:sp>
      <p:pic>
        <p:nvPicPr>
          <p:cNvPr id="8" name="Image 0" descr="/home/user/talenleren/neerlandais1/generateur/img/vijfzinnen/a1_hoelaat_s.jpg">    </p:cNvPr>
          <p:cNvPicPr>
            <a:picLocks noChangeAspect="1"/>
          </p:cNvPicPr>
          <p:nvPr/>
        </p:nvPicPr>
        <p:blipFill>
          <a:blip r:embed="rId1"/>
          <a:stretch>
            <a:fillRect/>
          </a:stretch>
        </p:blipFill>
        <p:spPr>
          <a:xfrm>
            <a:off x="1691640" y="1600200"/>
            <a:ext cx="4343400" cy="2714625"/>
          </a:xfrm>
          <a:prstGeom prst="rect">
            <a:avLst/>
          </a:prstGeom>
        </p:spPr>
      </p:pic>
      <p:sp>
        <p:nvSpPr>
          <p:cNvPr id="9" name="Shape 5"/>
          <p:cNvSpPr/>
          <p:nvPr/>
        </p:nvSpPr>
        <p:spPr>
          <a:xfrm>
            <a:off x="1691640" y="4572000"/>
            <a:ext cx="1600200" cy="365760"/>
          </a:xfrm>
          <a:prstGeom prst="roundRect">
            <a:avLst>
              <a:gd name="adj" fmla="val 50000"/>
            </a:avLst>
          </a:prstGeom>
          <a:solidFill>
            <a:srgbClr val="FDF1E6"/>
          </a:solidFill>
          <a:ln w="12700">
            <a:solidFill>
              <a:srgbClr val="D9822B"/>
            </a:solidFill>
            <a:prstDash val="solid"/>
          </a:ln>
        </p:spPr>
      </p:sp>
      <p:pic>
        <p:nvPicPr>
          <p:cNvPr id="10" name="Image 1" descr="Comments">    </p:cNvPr>
          <p:cNvPicPr>
            <a:picLocks noChangeAspect="1"/>
          </p:cNvPicPr>
          <p:nvPr/>
        </p:nvPicPr>
        <p:blipFill>
          <a:blip r:embed="rId2"/>
          <a:stretch>
            <a:fillRect/>
          </a:stretch>
        </p:blipFill>
        <p:spPr>
          <a:xfrm>
            <a:off x="1819656" y="4654296"/>
            <a:ext cx="201168" cy="201168"/>
          </a:xfrm>
          <a:prstGeom prst="rect">
            <a:avLst/>
          </a:prstGeom>
        </p:spPr>
      </p:pic>
      <p:sp>
        <p:nvSpPr>
          <p:cNvPr id="11" name="Text 6"/>
          <p:cNvSpPr txBox="1"/>
          <p:nvPr/>
        </p:nvSpPr>
        <p:spPr>
          <a:xfrm>
            <a:off x="2075688" y="4572000"/>
            <a:ext cx="1143000" cy="365760"/>
          </a:xfrm>
          <a:prstGeom prst="rect">
            <a:avLst/>
          </a:prstGeom>
          <a:noFill/>
          <a:ln/>
        </p:spPr>
        <p:txBody>
          <a:bodyPr wrap="square" lIns="0" tIns="0" rIns="0" bIns="0" rtlCol="0" anchor="ctr"/>
          <a:lstStyle/>
          <a:p>
            <a:pPr algn="l" indent="0" marL="0">
              <a:buNone/>
            </a:pPr>
            <a:r>
              <a:rPr lang="en-US" sz="1150" b="1" spc="100" kern="0" dirty="0">
                <a:solidFill>
                  <a:srgbClr val="D9822B"/>
                </a:solidFill>
                <a:latin typeface="Calibri" pitchFamily="34" charset="0"/>
                <a:ea typeface="Calibri" pitchFamily="34" charset="-122"/>
                <a:cs typeface="Calibri" pitchFamily="34" charset="-120"/>
              </a:rPr>
              <a:t>À L’ORAL</a:t>
            </a:r>
            <a:endParaRPr lang="en-US" sz="1150" dirty="0"/>
          </a:p>
        </p:txBody>
      </p:sp>
      <p:sp>
        <p:nvSpPr>
          <p:cNvPr id="12" name="Text 7"/>
          <p:cNvSpPr txBox="1"/>
          <p:nvPr/>
        </p:nvSpPr>
        <p:spPr>
          <a:xfrm>
            <a:off x="3429000" y="4544568"/>
            <a:ext cx="2651760" cy="731520"/>
          </a:xfrm>
          <a:prstGeom prst="rect">
            <a:avLst/>
          </a:prstGeom>
          <a:noFill/>
          <a:ln/>
        </p:spPr>
        <p:txBody>
          <a:bodyPr wrap="square" lIns="0" tIns="0" rIns="0" bIns="0" rtlCol="0" anchor="t"/>
          <a:lstStyle/>
          <a:p>
            <a:pPr algn="l" indent="0" marL="0">
              <a:buNone/>
            </a:pPr>
            <a:r>
              <a:rPr lang="en-US" sz="1150" i="1" dirty="0">
                <a:solidFill>
                  <a:srgbClr val="6B7280"/>
                </a:solidFill>
                <a:latin typeface="Calibri" pitchFamily="34" charset="0"/>
                <a:ea typeface="Calibri" pitchFamily="34" charset="-122"/>
                <a:cs typeface="Calibri" pitchFamily="34" charset="-120"/>
              </a:rPr>
              <a:t>Emma est en retard ce matin. Racontez.</a:t>
            </a:r>
            <a:endParaRPr lang="en-US" sz="1150" dirty="0"/>
          </a:p>
        </p:txBody>
      </p:sp>
      <p:sp>
        <p:nvSpPr>
          <p:cNvPr id="13" name="Shape 8"/>
          <p:cNvSpPr/>
          <p:nvPr/>
        </p:nvSpPr>
        <p:spPr>
          <a:xfrm>
            <a:off x="6355080" y="1673352"/>
            <a:ext cx="914400" cy="402336"/>
          </a:xfrm>
          <a:prstGeom prst="roundRect">
            <a:avLst>
              <a:gd name="adj" fmla="val 13636"/>
            </a:avLst>
          </a:prstGeom>
          <a:solidFill>
            <a:srgbClr val="5FA873"/>
          </a:solidFill>
          <a:ln w="12700">
            <a:solidFill>
              <a:srgbClr val="FFFFFF">
                <a:alpha val="0"/>
              </a:srgbClr>
            </a:solidFill>
            <a:prstDash val="solid"/>
          </a:ln>
        </p:spPr>
      </p:sp>
      <p:sp>
        <p:nvSpPr>
          <p:cNvPr id="14" name="Text 9"/>
          <p:cNvSpPr txBox="1"/>
          <p:nvPr/>
        </p:nvSpPr>
        <p:spPr>
          <a:xfrm>
            <a:off x="6355080" y="167335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1</a:t>
            </a:r>
            <a:endParaRPr lang="en-US" sz="1600" dirty="0"/>
          </a:p>
        </p:txBody>
      </p:sp>
      <p:sp>
        <p:nvSpPr>
          <p:cNvPr id="15" name="Text 10"/>
          <p:cNvSpPr txBox="1"/>
          <p:nvPr/>
        </p:nvSpPr>
        <p:spPr>
          <a:xfrm>
            <a:off x="7406640" y="1618488"/>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Un jour : </a:t>
            </a:r>
            <a:r>
              <a:rPr lang="en-US" sz="1450" b="1" dirty="0">
                <a:solidFill>
                  <a:srgbClr val="2B2F38"/>
                </a:solidFill>
              </a:rPr>
              <a:t>OP</a:t>
            </a:r>
            <a:r>
              <a:rPr lang="en-US" sz="1450" dirty="0">
                <a:solidFill>
                  <a:srgbClr val="2B2F38"/>
                </a:solidFill>
              </a:rPr>
              <a:t> + jour.</a:t>
            </a:r>
            <a:endParaRPr lang="en-US" sz="1450" dirty="0"/>
          </a:p>
        </p:txBody>
      </p:sp>
      <p:sp>
        <p:nvSpPr>
          <p:cNvPr id="16" name="Shape 11"/>
          <p:cNvSpPr/>
          <p:nvPr/>
        </p:nvSpPr>
        <p:spPr>
          <a:xfrm>
            <a:off x="6355080" y="2404872"/>
            <a:ext cx="914400" cy="402336"/>
          </a:xfrm>
          <a:prstGeom prst="roundRect">
            <a:avLst>
              <a:gd name="adj" fmla="val 13636"/>
            </a:avLst>
          </a:prstGeom>
          <a:solidFill>
            <a:srgbClr val="5FA873"/>
          </a:solidFill>
          <a:ln w="12700">
            <a:solidFill>
              <a:srgbClr val="FFFFFF">
                <a:alpha val="0"/>
              </a:srgbClr>
            </a:solidFill>
            <a:prstDash val="solid"/>
          </a:ln>
        </p:spPr>
      </p:sp>
      <p:sp>
        <p:nvSpPr>
          <p:cNvPr id="17" name="Text 12"/>
          <p:cNvSpPr txBox="1"/>
          <p:nvPr/>
        </p:nvSpPr>
        <p:spPr>
          <a:xfrm>
            <a:off x="6355080" y="240487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2</a:t>
            </a:r>
            <a:endParaRPr lang="en-US" sz="1600" dirty="0"/>
          </a:p>
        </p:txBody>
      </p:sp>
      <p:sp>
        <p:nvSpPr>
          <p:cNvPr id="18" name="Text 13"/>
          <p:cNvSpPr txBox="1"/>
          <p:nvPr/>
        </p:nvSpPr>
        <p:spPr>
          <a:xfrm>
            <a:off x="7406640" y="2350008"/>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Un rendez-vous : </a:t>
            </a:r>
            <a:r>
              <a:rPr lang="en-US" sz="1450" b="1" dirty="0">
                <a:solidFill>
                  <a:srgbClr val="2B2F38"/>
                </a:solidFill>
              </a:rPr>
              <a:t>OM</a:t>
            </a:r>
            <a:r>
              <a:rPr lang="en-US" sz="1450" dirty="0">
                <a:solidFill>
                  <a:srgbClr val="2B2F38"/>
                </a:solidFill>
              </a:rPr>
              <a:t> + heure.</a:t>
            </a:r>
            <a:endParaRPr lang="en-US" sz="1450" dirty="0"/>
          </a:p>
        </p:txBody>
      </p:sp>
      <p:sp>
        <p:nvSpPr>
          <p:cNvPr id="19" name="Shape 14"/>
          <p:cNvSpPr/>
          <p:nvPr/>
        </p:nvSpPr>
        <p:spPr>
          <a:xfrm>
            <a:off x="6355080" y="3136392"/>
            <a:ext cx="914400" cy="402336"/>
          </a:xfrm>
          <a:prstGeom prst="roundRect">
            <a:avLst>
              <a:gd name="adj" fmla="val 13636"/>
            </a:avLst>
          </a:prstGeom>
          <a:solidFill>
            <a:srgbClr val="5FA873"/>
          </a:solidFill>
          <a:ln w="12700">
            <a:solidFill>
              <a:srgbClr val="FFFFFF">
                <a:alpha val="0"/>
              </a:srgbClr>
            </a:solidFill>
            <a:prstDash val="solid"/>
          </a:ln>
        </p:spPr>
      </p:sp>
      <p:sp>
        <p:nvSpPr>
          <p:cNvPr id="20" name="Text 15"/>
          <p:cNvSpPr txBox="1"/>
          <p:nvPr/>
        </p:nvSpPr>
        <p:spPr>
          <a:xfrm>
            <a:off x="6355080" y="313639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3</a:t>
            </a:r>
            <a:endParaRPr lang="en-US" sz="1600" dirty="0"/>
          </a:p>
        </p:txBody>
      </p:sp>
      <p:sp>
        <p:nvSpPr>
          <p:cNvPr id="21" name="Text 16"/>
          <p:cNvSpPr txBox="1"/>
          <p:nvPr/>
        </p:nvSpPr>
        <p:spPr>
          <a:xfrm>
            <a:off x="7406640" y="3081528"/>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L’heure : </a:t>
            </a:r>
            <a:r>
              <a:rPr lang="en-US" sz="1450" b="1" dirty="0">
                <a:solidFill>
                  <a:srgbClr val="2B2F38"/>
                </a:solidFill>
              </a:rPr>
              <a:t>HET IS</a:t>
            </a:r>
            <a:r>
              <a:rPr lang="en-US" sz="1450" dirty="0">
                <a:solidFill>
                  <a:srgbClr val="2B2F38"/>
                </a:solidFill>
              </a:rPr>
              <a:t> + half / kwart over / kwart voor…</a:t>
            </a:r>
            <a:endParaRPr lang="en-US" sz="1450" dirty="0"/>
          </a:p>
        </p:txBody>
      </p:sp>
      <p:sp>
        <p:nvSpPr>
          <p:cNvPr id="22" name="Shape 17"/>
          <p:cNvSpPr/>
          <p:nvPr/>
        </p:nvSpPr>
        <p:spPr>
          <a:xfrm>
            <a:off x="6355080" y="3867912"/>
            <a:ext cx="914400" cy="402336"/>
          </a:xfrm>
          <a:prstGeom prst="roundRect">
            <a:avLst>
              <a:gd name="adj" fmla="val 13636"/>
            </a:avLst>
          </a:prstGeom>
          <a:solidFill>
            <a:srgbClr val="5FA873"/>
          </a:solidFill>
          <a:ln w="12700">
            <a:solidFill>
              <a:srgbClr val="FFFFFF">
                <a:alpha val="0"/>
              </a:srgbClr>
            </a:solidFill>
            <a:prstDash val="solid"/>
          </a:ln>
        </p:spPr>
      </p:sp>
      <p:sp>
        <p:nvSpPr>
          <p:cNvPr id="23" name="Text 18"/>
          <p:cNvSpPr txBox="1"/>
          <p:nvPr/>
        </p:nvSpPr>
        <p:spPr>
          <a:xfrm>
            <a:off x="6355080" y="386791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4</a:t>
            </a:r>
            <a:endParaRPr lang="en-US" sz="1600" dirty="0"/>
          </a:p>
        </p:txBody>
      </p:sp>
      <p:sp>
        <p:nvSpPr>
          <p:cNvPr id="24" name="Text 19"/>
          <p:cNvSpPr txBox="1"/>
          <p:nvPr/>
        </p:nvSpPr>
        <p:spPr>
          <a:xfrm>
            <a:off x="7406640" y="3813048"/>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Une chute avec un </a:t>
            </a:r>
            <a:r>
              <a:rPr lang="en-US" sz="1450" b="1" dirty="0">
                <a:solidFill>
                  <a:srgbClr val="2B2F38"/>
                </a:solidFill>
              </a:rPr>
              <a:t>nombre</a:t>
            </a:r>
            <a:r>
              <a:rPr lang="en-US" sz="1450" dirty="0">
                <a:solidFill>
                  <a:srgbClr val="2B2F38"/>
                </a:solidFill>
              </a:rPr>
              <a:t> au-dessus de 20.</a:t>
            </a:r>
            <a:endParaRPr lang="en-US" sz="1450" dirty="0"/>
          </a:p>
        </p:txBody>
      </p:sp>
      <p:sp>
        <p:nvSpPr>
          <p:cNvPr id="25" name="Shape 20"/>
          <p:cNvSpPr/>
          <p:nvPr/>
        </p:nvSpPr>
        <p:spPr>
          <a:xfrm>
            <a:off x="3246120" y="5440680"/>
            <a:ext cx="6858000" cy="822960"/>
          </a:xfrm>
          <a:prstGeom prst="roundRect">
            <a:avLst>
              <a:gd name="adj" fmla="val 17778"/>
            </a:avLst>
          </a:prstGeom>
          <a:solidFill>
            <a:srgbClr val="EAF5EC"/>
          </a:solidFill>
          <a:ln w="15875">
            <a:solidFill>
              <a:srgbClr val="5FA873"/>
            </a:solidFill>
            <a:prstDash val="solid"/>
          </a:ln>
        </p:spPr>
      </p:sp>
      <p:pic>
        <p:nvPicPr>
          <p:cNvPr id="26" name="Image 2" descr="UserFriends">    </p:cNvPr>
          <p:cNvPicPr>
            <a:picLocks noChangeAspect="1"/>
          </p:cNvPicPr>
          <p:nvPr/>
        </p:nvPicPr>
        <p:blipFill>
          <a:blip r:embed="rId3"/>
          <a:stretch>
            <a:fillRect/>
          </a:stretch>
        </p:blipFill>
        <p:spPr>
          <a:xfrm>
            <a:off x="3520440" y="5660136"/>
            <a:ext cx="384048" cy="384048"/>
          </a:xfrm>
          <a:prstGeom prst="rect">
            <a:avLst/>
          </a:prstGeom>
        </p:spPr>
      </p:pic>
      <p:sp>
        <p:nvSpPr>
          <p:cNvPr id="27" name="Text 21"/>
          <p:cNvSpPr txBox="1"/>
          <p:nvPr/>
        </p:nvSpPr>
        <p:spPr>
          <a:xfrm>
            <a:off x="4114800" y="5440680"/>
            <a:ext cx="5852160" cy="822960"/>
          </a:xfrm>
          <a:prstGeom prst="rect">
            <a:avLst/>
          </a:prstGeom>
          <a:noFill/>
          <a:ln/>
        </p:spPr>
        <p:txBody>
          <a:bodyPr wrap="square" lIns="0" tIns="0" rIns="0" bIns="0" rtlCol="0" anchor="ctr"/>
          <a:lstStyle/>
          <a:p>
            <a:pPr algn="ctr" indent="0" marL="0">
              <a:buNone/>
            </a:pPr>
            <a:r>
              <a:rPr lang="en-US" sz="1800" b="1" dirty="0">
                <a:solidFill>
                  <a:srgbClr val="2E6B44"/>
                </a:solidFill>
                <a:latin typeface="Calibri" pitchFamily="34" charset="0"/>
                <a:ea typeface="Calibri" pitchFamily="34" charset="-122"/>
                <a:cs typeface="Calibri" pitchFamily="34" charset="-120"/>
              </a:rPr>
              <a:t>Vertel je verhaal aan je partner.</a:t>
            </a:r>
            <a:endParaRPr lang="en-US" sz="1800" dirty="0"/>
          </a:p>
          <a:p>
            <a:pPr algn="ctr" indent="0" marL="0">
              <a:buNone/>
            </a:pPr>
            <a:r>
              <a:rPr lang="en-US" sz="1800" b="1" dirty="0">
                <a:solidFill>
                  <a:srgbClr val="2E6B44"/>
                </a:solidFill>
                <a:latin typeface="Calibri" pitchFamily="34" charset="0"/>
                <a:ea typeface="Calibri" pitchFamily="34" charset="-122"/>
                <a:cs typeface="Calibri" pitchFamily="34" charset="-120"/>
              </a:rPr>
              <a:t>Wat denkt hij/zij daarvan?</a:t>
            </a:r>
            <a:endParaRPr lang="en-US" sz="1800" dirty="0"/>
          </a:p>
        </p:txBody>
      </p:sp>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1"/>
          <p:cNvSpPr/>
          <p:nvPr>
            <p:ph idx="101" type="title" hasCustomPrompt="1"/>
          </p:nvPr>
        </p:nvSpPr>
        <p:spPr>
          <a:xfrm>
            <a:off x="1554480" y="384048"/>
            <a:ext cx="10241280" cy="658368"/>
          </a:xfrm>
          <a:prstGeom prst="rect">
            <a:avLst/>
          </a:prstGeom>
          <a:noFill/>
          <a:ln/>
        </p:spPr>
        <p:txBody>
          <a:bodyPr wrap="square" lIns="0" tIns="0" rIns="0" bIns="0" rtlCol="0" anchor="ctr"/>
          <a:lstStyle/>
          <a:p>
            <a:pPr algn="ctr" indent="0" marL="0">
              <a:buNone/>
            </a:pPr>
            <a:r>
              <a:rPr lang="en-US" sz="3000" b="1" dirty="0">
                <a:solidFill>
                  <a:srgbClr val="2B2F38"/>
                </a:solidFill>
              </a:rPr>
              <a:t>Hoe laat is het?</a:t>
            </a:r>
            <a:endParaRPr lang="en-US" sz="3000" dirty="0"/>
          </a:p>
        </p:txBody>
      </p:sp>
      <p:sp>
        <p:nvSpPr>
          <p:cNvPr id="4" name="Shape 1"/>
          <p:cNvSpPr/>
          <p:nvPr/>
        </p:nvSpPr>
        <p:spPr>
          <a:xfrm>
            <a:off x="365760" y="365760"/>
            <a:ext cx="868680" cy="5989320"/>
          </a:xfrm>
          <a:prstGeom prst="roundRect">
            <a:avLst>
              <a:gd name="adj" fmla="val 12632"/>
            </a:avLst>
          </a:prstGeom>
          <a:solidFill>
            <a:srgbClr val="E4EEFB"/>
          </a:solidFill>
          <a:ln w="28575">
            <a:solidFill>
              <a:srgbClr val="6FA0DC"/>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3E6FB0"/>
                </a:solidFill>
                <a:latin typeface="Calibri" pitchFamily="34" charset="0"/>
                <a:ea typeface="Calibri" pitchFamily="34" charset="-122"/>
                <a:cs typeface="Calibri" pitchFamily="34" charset="-120"/>
              </a:rPr>
              <a:t>A1 · Grammaire</a:t>
            </a:r>
            <a:endParaRPr lang="en-US" sz="3800" dirty="0"/>
          </a:p>
        </p:txBody>
      </p:sp>
      <p:sp>
        <p:nvSpPr>
          <p:cNvPr id="6" name="Shape 3"/>
          <p:cNvSpPr/>
          <p:nvPr/>
        </p:nvSpPr>
        <p:spPr>
          <a:xfrm>
            <a:off x="2519172" y="1124712"/>
            <a:ext cx="8311896" cy="5277231"/>
          </a:xfrm>
          <a:prstGeom prst="roundRect">
            <a:avLst>
              <a:gd name="adj" fmla="val 693"/>
            </a:avLst>
          </a:prstGeom>
          <a:solidFill>
            <a:srgbClr val="FFFFFF"/>
          </a:solidFill>
          <a:ln w="9525">
            <a:solidFill>
              <a:srgbClr val="E3E7EE"/>
            </a:solidFill>
            <a:prstDash val="solid"/>
          </a:ln>
          <a:effectLst>
            <a:outerShdw sx="100000" sy="100000" kx="0" ky="0" algn="bl" rotWithShape="0" blurRad="177800" dist="63500" dir="5400000">
              <a:srgbClr val="1B2430">
                <a:alpha val="25000"/>
              </a:srgbClr>
            </a:outerShdw>
          </a:effectLst>
        </p:spPr>
      </p:sp>
      <p:pic>
        <p:nvPicPr>
          <p:cNvPr id="7" name="Image 0" descr="/home/user/talenleren/neerlandais1/generateur/img/vijfzinnen/a1_hoelaat.jpg">    </p:cNvPr>
          <p:cNvPicPr>
            <a:picLocks noChangeAspect="1"/>
          </p:cNvPicPr>
          <p:nvPr/>
        </p:nvPicPr>
        <p:blipFill>
          <a:blip r:embed="rId1"/>
          <a:stretch>
            <a:fillRect/>
          </a:stretch>
        </p:blipFill>
        <p:spPr>
          <a:xfrm>
            <a:off x="2628900" y="1234440"/>
            <a:ext cx="8092440" cy="5057775"/>
          </a:xfrm>
          <a:prstGeom prst="rect">
            <a:avLst/>
          </a:prstGeom>
        </p:spPr>
      </p:pic>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1"/>
          <p:cNvSpPr/>
          <p:nvPr>
            <p:ph idx="101" type="title" hasCustomPrompt="1"/>
          </p:nvPr>
        </p:nvSpPr>
        <p:spPr>
          <a:xfrm>
            <a:off x="1691640" y="347472"/>
            <a:ext cx="8138160" cy="914400"/>
          </a:xfrm>
          <a:prstGeom prst="rect">
            <a:avLst/>
          </a:prstGeom>
          <a:noFill/>
          <a:ln/>
        </p:spPr>
        <p:txBody>
          <a:bodyPr wrap="square" lIns="0" tIns="0" rIns="0" bIns="0" rtlCol="0" anchor="ctr"/>
          <a:lstStyle/>
          <a:p>
            <a:pPr algn="l" indent="0" marL="0">
              <a:buNone/>
            </a:pPr>
            <a:r>
              <a:rPr lang="en-US" sz="2400" b="1" dirty="0">
                <a:solidFill>
                  <a:srgbClr val="2B2F38"/>
                </a:solidFill>
              </a:rPr>
              <a:t>Hier is een voorbeeld van wat je had kunnen denken en zeggen…</a:t>
            </a:r>
            <a:endParaRPr lang="en-US" sz="2400" dirty="0"/>
          </a:p>
        </p:txBody>
      </p:sp>
      <p:sp>
        <p:nvSpPr>
          <p:cNvPr id="4" name="Shape 1"/>
          <p:cNvSpPr/>
          <p:nvPr/>
        </p:nvSpPr>
        <p:spPr>
          <a:xfrm>
            <a:off x="365760" y="365760"/>
            <a:ext cx="868680" cy="5989320"/>
          </a:xfrm>
          <a:prstGeom prst="roundRect">
            <a:avLst>
              <a:gd name="adj" fmla="val 12632"/>
            </a:avLst>
          </a:prstGeom>
          <a:solidFill>
            <a:srgbClr val="E4EEFB"/>
          </a:solidFill>
          <a:ln w="28575">
            <a:solidFill>
              <a:srgbClr val="6FA0DC"/>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3E6FB0"/>
                </a:solidFill>
                <a:latin typeface="Calibri" pitchFamily="34" charset="0"/>
                <a:ea typeface="Calibri" pitchFamily="34" charset="-122"/>
                <a:cs typeface="Calibri" pitchFamily="34" charset="-120"/>
              </a:rPr>
              <a:t>A1 · Grammaire</a:t>
            </a:r>
            <a:endParaRPr lang="en-US" sz="3800" dirty="0"/>
          </a:p>
        </p:txBody>
      </p:sp>
      <p:sp>
        <p:nvSpPr>
          <p:cNvPr id="6" name="Shape 3"/>
          <p:cNvSpPr/>
          <p:nvPr/>
        </p:nvSpPr>
        <p:spPr>
          <a:xfrm>
            <a:off x="10058400" y="246888"/>
            <a:ext cx="1691640" cy="1091565"/>
          </a:xfrm>
          <a:prstGeom prst="roundRect">
            <a:avLst>
              <a:gd name="adj" fmla="val 3351"/>
            </a:avLst>
          </a:prstGeom>
          <a:solidFill>
            <a:srgbClr val="FFFFFF"/>
          </a:solidFill>
          <a:ln w="9525">
            <a:solidFill>
              <a:srgbClr val="E3E7EE"/>
            </a:solidFill>
            <a:prstDash val="solid"/>
          </a:ln>
          <a:effectLst>
            <a:outerShdw sx="100000" sy="100000" kx="0" ky="0" algn="bl" rotWithShape="0" blurRad="76200" dist="25400" dir="5400000">
              <a:srgbClr val="1B2430">
                <a:alpha val="25000"/>
              </a:srgbClr>
            </a:outerShdw>
          </a:effectLst>
        </p:spPr>
      </p:sp>
      <p:pic>
        <p:nvPicPr>
          <p:cNvPr id="7" name="Image 0" descr="/home/user/talenleren/neerlandais1/generateur/img/vijfzinnen/a1_hoelaat_s.jpg">    </p:cNvPr>
          <p:cNvPicPr>
            <a:picLocks noChangeAspect="1"/>
          </p:cNvPicPr>
          <p:nvPr/>
        </p:nvPicPr>
        <p:blipFill>
          <a:blip r:embed="rId1"/>
          <a:stretch>
            <a:fillRect/>
          </a:stretch>
        </p:blipFill>
        <p:spPr>
          <a:xfrm>
            <a:off x="10104120" y="292608"/>
            <a:ext cx="1600200" cy="1000125"/>
          </a:xfrm>
          <a:prstGeom prst="rect">
            <a:avLst/>
          </a:prstGeom>
        </p:spPr>
      </p:pic>
      <p:sp>
        <p:nvSpPr>
          <p:cNvPr id="8" name="Shape 4"/>
          <p:cNvSpPr/>
          <p:nvPr/>
        </p:nvSpPr>
        <p:spPr>
          <a:xfrm>
            <a:off x="1691640" y="3120542"/>
            <a:ext cx="1701394" cy="371856"/>
          </a:xfrm>
          <a:prstGeom prst="roundRect">
            <a:avLst>
              <a:gd name="adj" fmla="val 12295"/>
            </a:avLst>
          </a:prstGeom>
          <a:solidFill>
            <a:srgbClr val="E6F3DA"/>
          </a:solidFill>
          <a:ln w="12700">
            <a:solidFill>
              <a:srgbClr val="FFFFFF">
                <a:alpha val="0"/>
              </a:srgbClr>
            </a:solidFill>
            <a:prstDash val="solid"/>
          </a:ln>
        </p:spPr>
      </p:sp>
      <p:sp>
        <p:nvSpPr>
          <p:cNvPr id="9" name="Text 5"/>
          <p:cNvSpPr txBox="1"/>
          <p:nvPr/>
        </p:nvSpPr>
        <p:spPr>
          <a:xfrm>
            <a:off x="1691640" y="3108350"/>
            <a:ext cx="1701394"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Op maandag</a:t>
            </a:r>
            <a:endParaRPr lang="en-US" sz="2400" dirty="0"/>
          </a:p>
        </p:txBody>
      </p:sp>
      <p:sp>
        <p:nvSpPr>
          <p:cNvPr id="10" name="Text 6"/>
          <p:cNvSpPr txBox="1"/>
          <p:nvPr/>
        </p:nvSpPr>
        <p:spPr>
          <a:xfrm>
            <a:off x="3480206" y="3108350"/>
            <a:ext cx="2138782"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heeft Emma les</a:t>
            </a:r>
            <a:endParaRPr lang="en-US" sz="2400" dirty="0"/>
          </a:p>
        </p:txBody>
      </p:sp>
      <p:sp>
        <p:nvSpPr>
          <p:cNvPr id="11" name="Shape 7"/>
          <p:cNvSpPr/>
          <p:nvPr/>
        </p:nvSpPr>
        <p:spPr>
          <a:xfrm>
            <a:off x="5523281" y="3120542"/>
            <a:ext cx="1855013" cy="371856"/>
          </a:xfrm>
          <a:prstGeom prst="roundRect">
            <a:avLst>
              <a:gd name="adj" fmla="val 12295"/>
            </a:avLst>
          </a:prstGeom>
          <a:solidFill>
            <a:srgbClr val="E6F3DA"/>
          </a:solidFill>
          <a:ln w="12700">
            <a:solidFill>
              <a:srgbClr val="FFFFFF">
                <a:alpha val="0"/>
              </a:srgbClr>
            </a:solidFill>
            <a:prstDash val="solid"/>
          </a:ln>
        </p:spPr>
      </p:sp>
      <p:sp>
        <p:nvSpPr>
          <p:cNvPr id="12" name="Text 8"/>
          <p:cNvSpPr txBox="1"/>
          <p:nvPr/>
        </p:nvSpPr>
        <p:spPr>
          <a:xfrm>
            <a:off x="5523281" y="3108350"/>
            <a:ext cx="1855013"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om negen uur</a:t>
            </a:r>
            <a:endParaRPr lang="en-US" sz="2400" dirty="0"/>
          </a:p>
        </p:txBody>
      </p:sp>
      <p:sp>
        <p:nvSpPr>
          <p:cNvPr id="13" name="Text 9"/>
          <p:cNvSpPr txBox="1"/>
          <p:nvPr/>
        </p:nvSpPr>
        <p:spPr>
          <a:xfrm>
            <a:off x="7378294" y="3108350"/>
            <a:ext cx="846734"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 Oei,</a:t>
            </a:r>
            <a:endParaRPr lang="en-US" sz="2400" dirty="0"/>
          </a:p>
        </p:txBody>
      </p:sp>
      <p:sp>
        <p:nvSpPr>
          <p:cNvPr id="14" name="Shape 10"/>
          <p:cNvSpPr/>
          <p:nvPr/>
        </p:nvSpPr>
        <p:spPr>
          <a:xfrm>
            <a:off x="8129321" y="3120542"/>
            <a:ext cx="2181454" cy="371856"/>
          </a:xfrm>
          <a:prstGeom prst="roundRect">
            <a:avLst>
              <a:gd name="adj" fmla="val 12295"/>
            </a:avLst>
          </a:prstGeom>
          <a:solidFill>
            <a:srgbClr val="E6F3DA"/>
          </a:solidFill>
          <a:ln w="12700">
            <a:solidFill>
              <a:srgbClr val="FFFFFF">
                <a:alpha val="0"/>
              </a:srgbClr>
            </a:solidFill>
            <a:prstDash val="solid"/>
          </a:ln>
        </p:spPr>
      </p:sp>
      <p:sp>
        <p:nvSpPr>
          <p:cNvPr id="15" name="Text 11"/>
          <p:cNvSpPr txBox="1"/>
          <p:nvPr/>
        </p:nvSpPr>
        <p:spPr>
          <a:xfrm>
            <a:off x="8129321" y="3108350"/>
            <a:ext cx="2181454"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het is half negen</a:t>
            </a:r>
            <a:endParaRPr lang="en-US" sz="2400" dirty="0"/>
          </a:p>
        </p:txBody>
      </p:sp>
      <p:sp>
        <p:nvSpPr>
          <p:cNvPr id="16" name="Text 12"/>
          <p:cNvSpPr txBox="1"/>
          <p:nvPr/>
        </p:nvSpPr>
        <p:spPr>
          <a:xfrm>
            <a:off x="10310774" y="3108350"/>
            <a:ext cx="282245"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a:t>
            </a:r>
            <a:endParaRPr lang="en-US" sz="2400" dirty="0"/>
          </a:p>
        </p:txBody>
      </p:sp>
      <p:sp>
        <p:nvSpPr>
          <p:cNvPr id="17" name="Shape 13"/>
          <p:cNvSpPr/>
          <p:nvPr/>
        </p:nvSpPr>
        <p:spPr>
          <a:xfrm>
            <a:off x="2542337" y="3044342"/>
            <a:ext cx="914" cy="76200"/>
          </a:xfrm>
          <a:prstGeom prst="line">
            <a:avLst/>
          </a:prstGeom>
          <a:noFill/>
          <a:ln w="15875">
            <a:solidFill>
              <a:srgbClr val="7AB648"/>
            </a:solidFill>
            <a:prstDash val="solid"/>
          </a:ln>
        </p:spPr>
      </p:sp>
      <p:sp>
        <p:nvSpPr>
          <p:cNvPr id="18" name="Shape 14"/>
          <p:cNvSpPr/>
          <p:nvPr/>
        </p:nvSpPr>
        <p:spPr>
          <a:xfrm>
            <a:off x="2164175" y="2797454"/>
            <a:ext cx="756323" cy="246888"/>
          </a:xfrm>
          <a:prstGeom prst="roundRect">
            <a:avLst>
              <a:gd name="adj" fmla="val 14815"/>
            </a:avLst>
          </a:prstGeom>
          <a:solidFill>
            <a:srgbClr val="7AB648"/>
          </a:solidFill>
          <a:ln w="12700">
            <a:solidFill>
              <a:srgbClr val="FFFFFF">
                <a:alpha val="0"/>
              </a:srgbClr>
            </a:solidFill>
            <a:prstDash val="solid"/>
          </a:ln>
        </p:spPr>
      </p:sp>
      <p:sp>
        <p:nvSpPr>
          <p:cNvPr id="19" name="Text 15"/>
          <p:cNvSpPr txBox="1"/>
          <p:nvPr/>
        </p:nvSpPr>
        <p:spPr>
          <a:xfrm>
            <a:off x="2164175" y="2797454"/>
            <a:ext cx="756323"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OP + jour</a:t>
            </a:r>
            <a:endParaRPr lang="en-US" sz="1100" dirty="0"/>
          </a:p>
        </p:txBody>
      </p:sp>
      <p:sp>
        <p:nvSpPr>
          <p:cNvPr id="20" name="Shape 16"/>
          <p:cNvSpPr/>
          <p:nvPr/>
        </p:nvSpPr>
        <p:spPr>
          <a:xfrm>
            <a:off x="6450787" y="3044342"/>
            <a:ext cx="914" cy="76200"/>
          </a:xfrm>
          <a:prstGeom prst="line">
            <a:avLst/>
          </a:prstGeom>
          <a:noFill/>
          <a:ln w="15875">
            <a:solidFill>
              <a:srgbClr val="7AB648"/>
            </a:solidFill>
            <a:prstDash val="solid"/>
          </a:ln>
        </p:spPr>
      </p:sp>
      <p:sp>
        <p:nvSpPr>
          <p:cNvPr id="21" name="Shape 17"/>
          <p:cNvSpPr/>
          <p:nvPr/>
        </p:nvSpPr>
        <p:spPr>
          <a:xfrm>
            <a:off x="5996349" y="2797454"/>
            <a:ext cx="908876" cy="246888"/>
          </a:xfrm>
          <a:prstGeom prst="roundRect">
            <a:avLst>
              <a:gd name="adj" fmla="val 14815"/>
            </a:avLst>
          </a:prstGeom>
          <a:solidFill>
            <a:srgbClr val="7AB648"/>
          </a:solidFill>
          <a:ln w="12700">
            <a:solidFill>
              <a:srgbClr val="FFFFFF">
                <a:alpha val="0"/>
              </a:srgbClr>
            </a:solidFill>
            <a:prstDash val="solid"/>
          </a:ln>
        </p:spPr>
      </p:sp>
      <p:sp>
        <p:nvSpPr>
          <p:cNvPr id="22" name="Text 18"/>
          <p:cNvSpPr txBox="1"/>
          <p:nvPr/>
        </p:nvSpPr>
        <p:spPr>
          <a:xfrm>
            <a:off x="5996349" y="2797454"/>
            <a:ext cx="908876"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OM + heure</a:t>
            </a:r>
            <a:endParaRPr lang="en-US" sz="1100" dirty="0"/>
          </a:p>
        </p:txBody>
      </p:sp>
      <p:sp>
        <p:nvSpPr>
          <p:cNvPr id="23" name="Shape 19"/>
          <p:cNvSpPr/>
          <p:nvPr/>
        </p:nvSpPr>
        <p:spPr>
          <a:xfrm>
            <a:off x="9220048" y="3044342"/>
            <a:ext cx="914" cy="76200"/>
          </a:xfrm>
          <a:prstGeom prst="line">
            <a:avLst/>
          </a:prstGeom>
          <a:noFill/>
          <a:ln w="15875">
            <a:solidFill>
              <a:srgbClr val="7AB648"/>
            </a:solidFill>
            <a:prstDash val="solid"/>
          </a:ln>
        </p:spPr>
      </p:sp>
      <p:sp>
        <p:nvSpPr>
          <p:cNvPr id="24" name="Shape 20"/>
          <p:cNvSpPr/>
          <p:nvPr/>
        </p:nvSpPr>
        <p:spPr>
          <a:xfrm>
            <a:off x="8864657" y="2797454"/>
            <a:ext cx="710781" cy="246888"/>
          </a:xfrm>
          <a:prstGeom prst="roundRect">
            <a:avLst>
              <a:gd name="adj" fmla="val 14815"/>
            </a:avLst>
          </a:prstGeom>
          <a:solidFill>
            <a:srgbClr val="7AB648"/>
          </a:solidFill>
          <a:ln w="12700">
            <a:solidFill>
              <a:srgbClr val="FFFFFF">
                <a:alpha val="0"/>
              </a:srgbClr>
            </a:solidFill>
            <a:prstDash val="solid"/>
          </a:ln>
        </p:spPr>
      </p:sp>
      <p:sp>
        <p:nvSpPr>
          <p:cNvPr id="25" name="Text 21"/>
          <p:cNvSpPr txBox="1"/>
          <p:nvPr/>
        </p:nvSpPr>
        <p:spPr>
          <a:xfrm>
            <a:off x="8864657" y="2797454"/>
            <a:ext cx="710781"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HET IS …</a:t>
            </a:r>
            <a:endParaRPr lang="en-US" sz="1100" dirty="0"/>
          </a:p>
        </p:txBody>
      </p:sp>
      <p:sp>
        <p:nvSpPr>
          <p:cNvPr id="26" name="Text 22"/>
          <p:cNvSpPr txBox="1"/>
          <p:nvPr/>
        </p:nvSpPr>
        <p:spPr>
          <a:xfrm>
            <a:off x="3397453" y="4162958"/>
            <a:ext cx="2409444"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En haar bus heeft</a:t>
            </a:r>
            <a:endParaRPr lang="en-US" sz="2400" dirty="0"/>
          </a:p>
        </p:txBody>
      </p:sp>
      <p:sp>
        <p:nvSpPr>
          <p:cNvPr id="27" name="Shape 23"/>
          <p:cNvSpPr/>
          <p:nvPr/>
        </p:nvSpPr>
        <p:spPr>
          <a:xfrm>
            <a:off x="5711190" y="4175150"/>
            <a:ext cx="1698346" cy="371856"/>
          </a:xfrm>
          <a:prstGeom prst="roundRect">
            <a:avLst>
              <a:gd name="adj" fmla="val 12295"/>
            </a:avLst>
          </a:prstGeom>
          <a:solidFill>
            <a:srgbClr val="E6F3DA"/>
          </a:solidFill>
          <a:ln w="12700">
            <a:solidFill>
              <a:srgbClr val="FFFFFF">
                <a:alpha val="0"/>
              </a:srgbClr>
            </a:solidFill>
            <a:prstDash val="solid"/>
          </a:ln>
        </p:spPr>
      </p:sp>
      <p:sp>
        <p:nvSpPr>
          <p:cNvPr id="28" name="Text 24"/>
          <p:cNvSpPr txBox="1"/>
          <p:nvPr/>
        </p:nvSpPr>
        <p:spPr>
          <a:xfrm>
            <a:off x="5711190" y="4162958"/>
            <a:ext cx="1698346"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vijfentwintig</a:t>
            </a:r>
            <a:endParaRPr lang="en-US" sz="2400" dirty="0"/>
          </a:p>
        </p:txBody>
      </p:sp>
      <p:sp>
        <p:nvSpPr>
          <p:cNvPr id="29" name="Text 25"/>
          <p:cNvSpPr txBox="1"/>
          <p:nvPr/>
        </p:nvSpPr>
        <p:spPr>
          <a:xfrm>
            <a:off x="7496708" y="4162958"/>
            <a:ext cx="2684678"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minuten vertraging!</a:t>
            </a:r>
            <a:endParaRPr lang="en-US" sz="2400" dirty="0"/>
          </a:p>
        </p:txBody>
      </p:sp>
      <p:sp>
        <p:nvSpPr>
          <p:cNvPr id="30" name="Shape 26"/>
          <p:cNvSpPr/>
          <p:nvPr/>
        </p:nvSpPr>
        <p:spPr>
          <a:xfrm>
            <a:off x="6560363" y="4098950"/>
            <a:ext cx="914" cy="76200"/>
          </a:xfrm>
          <a:prstGeom prst="line">
            <a:avLst/>
          </a:prstGeom>
          <a:noFill/>
          <a:ln w="15875">
            <a:solidFill>
              <a:srgbClr val="7AB648"/>
            </a:solidFill>
            <a:prstDash val="solid"/>
          </a:ln>
        </p:spPr>
      </p:sp>
      <p:sp>
        <p:nvSpPr>
          <p:cNvPr id="31" name="Shape 27"/>
          <p:cNvSpPr/>
          <p:nvPr/>
        </p:nvSpPr>
        <p:spPr>
          <a:xfrm>
            <a:off x="6183738" y="3852062"/>
            <a:ext cx="753250" cy="246888"/>
          </a:xfrm>
          <a:prstGeom prst="roundRect">
            <a:avLst>
              <a:gd name="adj" fmla="val 14815"/>
            </a:avLst>
          </a:prstGeom>
          <a:solidFill>
            <a:srgbClr val="7AB648"/>
          </a:solidFill>
          <a:ln w="12700">
            <a:solidFill>
              <a:srgbClr val="FFFFFF">
                <a:alpha val="0"/>
              </a:srgbClr>
            </a:solidFill>
            <a:prstDash val="solid"/>
          </a:ln>
        </p:spPr>
      </p:sp>
      <p:sp>
        <p:nvSpPr>
          <p:cNvPr id="32" name="Text 28"/>
          <p:cNvSpPr txBox="1"/>
          <p:nvPr/>
        </p:nvSpPr>
        <p:spPr>
          <a:xfrm>
            <a:off x="6183738" y="3852062"/>
            <a:ext cx="753250"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NOMBRE</a:t>
            </a:r>
            <a:endParaRPr lang="en-US" sz="1100" dirty="0"/>
          </a:p>
        </p:txBody>
      </p:sp>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1"/>
          <p:cNvSpPr/>
          <p:nvPr>
            <p:ph idx="101" type="title" hasCustomPrompt="1"/>
          </p:nvPr>
        </p:nvSpPr>
        <p:spPr>
          <a:xfrm>
            <a:off x="1554480" y="384048"/>
            <a:ext cx="10241280" cy="658368"/>
          </a:xfrm>
          <a:prstGeom prst="rect">
            <a:avLst/>
          </a:prstGeom>
          <a:noFill/>
          <a:ln/>
        </p:spPr>
        <p:txBody>
          <a:bodyPr wrap="square" lIns="0" tIns="0" rIns="0" bIns="0" rtlCol="0" anchor="ctr"/>
          <a:lstStyle/>
          <a:p>
            <a:pPr algn="ctr" indent="0" marL="0">
              <a:buNone/>
            </a:pPr>
            <a:r>
              <a:rPr lang="en-US" sz="3000" b="1" dirty="0">
                <a:solidFill>
                  <a:srgbClr val="2B2F38"/>
                </a:solidFill>
              </a:rPr>
              <a:t>Gebruik deze afbeelding als inspiratie</a:t>
            </a:r>
            <a:endParaRPr lang="en-US" sz="3000" dirty="0"/>
          </a:p>
        </p:txBody>
      </p:sp>
      <p:sp>
        <p:nvSpPr>
          <p:cNvPr id="4" name="Shape 1"/>
          <p:cNvSpPr/>
          <p:nvPr/>
        </p:nvSpPr>
        <p:spPr>
          <a:xfrm>
            <a:off x="365760" y="365760"/>
            <a:ext cx="868680" cy="5989320"/>
          </a:xfrm>
          <a:prstGeom prst="roundRect">
            <a:avLst>
              <a:gd name="adj" fmla="val 12632"/>
            </a:avLst>
          </a:prstGeom>
          <a:solidFill>
            <a:srgbClr val="E4EEFB"/>
          </a:solidFill>
          <a:ln w="28575">
            <a:solidFill>
              <a:srgbClr val="6FA0DC"/>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3E6FB0"/>
                </a:solidFill>
                <a:latin typeface="Calibri" pitchFamily="34" charset="0"/>
                <a:ea typeface="Calibri" pitchFamily="34" charset="-122"/>
                <a:cs typeface="Calibri" pitchFamily="34" charset="-120"/>
              </a:rPr>
              <a:t>A1 · Grammaire</a:t>
            </a:r>
            <a:endParaRPr lang="en-US" sz="3800" dirty="0"/>
          </a:p>
        </p:txBody>
      </p:sp>
      <p:sp>
        <p:nvSpPr>
          <p:cNvPr id="6" name="Text 3"/>
          <p:cNvSpPr txBox="1"/>
          <p:nvPr/>
        </p:nvSpPr>
        <p:spPr>
          <a:xfrm>
            <a:off x="1554480" y="1024128"/>
            <a:ext cx="10241280" cy="365760"/>
          </a:xfrm>
          <a:prstGeom prst="rect">
            <a:avLst/>
          </a:prstGeom>
          <a:noFill/>
          <a:ln/>
        </p:spPr>
        <p:txBody>
          <a:bodyPr wrap="square" lIns="0" tIns="0" rIns="0" bIns="0" rtlCol="0" anchor="ctr"/>
          <a:lstStyle/>
          <a:p>
            <a:pPr algn="ctr" indent="0" marL="0">
              <a:buNone/>
            </a:pPr>
            <a:r>
              <a:rPr lang="en-US" sz="1500" b="1" dirty="0">
                <a:solidFill>
                  <a:srgbClr val="3E6FB0"/>
                </a:solidFill>
                <a:latin typeface="Calibri" pitchFamily="34" charset="0"/>
                <a:ea typeface="Calibri" pitchFamily="34" charset="-122"/>
                <a:cs typeface="Calibri" pitchFamily="34" charset="-120"/>
              </a:rPr>
              <a:t>22 · Waar is de kat?</a:t>
            </a:r>
            <a:r>
              <a:rPr lang="en-US" sz="1500" i="1" dirty="0">
                <a:solidFill>
                  <a:srgbClr val="6B7280"/>
                </a:solidFill>
                <a:latin typeface="Calibri" pitchFamily="34" charset="0"/>
                <a:ea typeface="Calibri" pitchFamily="34" charset="-122"/>
                <a:cs typeface="Calibri" pitchFamily="34" charset="-120"/>
              </a:rPr>
              <a:t>   Où est le chat ?</a:t>
            </a:r>
            <a:r>
              <a:rPr lang="en-US" sz="1200" dirty="0">
                <a:solidFill>
                  <a:srgbClr val="9AA3B2"/>
                </a:solidFill>
                <a:latin typeface="Calibri" pitchFamily="34" charset="0"/>
                <a:ea typeface="Calibri" pitchFamily="34" charset="-122"/>
                <a:cs typeface="Calibri" pitchFamily="34" charset="-120"/>
              </a:rPr>
              <a:t>   ·   syllabus fiche 08 · p. 65</a:t>
            </a:r>
            <a:endParaRPr lang="en-US" sz="1500" dirty="0"/>
          </a:p>
        </p:txBody>
      </p:sp>
      <p:sp>
        <p:nvSpPr>
          <p:cNvPr id="7" name="Shape 4"/>
          <p:cNvSpPr/>
          <p:nvPr/>
        </p:nvSpPr>
        <p:spPr>
          <a:xfrm>
            <a:off x="1596085" y="1504645"/>
            <a:ext cx="4534510" cy="2905735"/>
          </a:xfrm>
          <a:prstGeom prst="roundRect">
            <a:avLst>
              <a:gd name="adj" fmla="val 1259"/>
            </a:avLst>
          </a:prstGeom>
          <a:solidFill>
            <a:srgbClr val="FFFFFF"/>
          </a:solidFill>
          <a:ln w="9525">
            <a:solidFill>
              <a:srgbClr val="E3E7EE"/>
            </a:solidFill>
            <a:prstDash val="solid"/>
          </a:ln>
          <a:effectLst>
            <a:outerShdw sx="100000" sy="100000" kx="0" ky="0" algn="bl" rotWithShape="0" blurRad="127000" dist="50800" dir="5400000">
              <a:srgbClr val="1B2430">
                <a:alpha val="25000"/>
              </a:srgbClr>
            </a:outerShdw>
          </a:effectLst>
        </p:spPr>
      </p:sp>
      <p:pic>
        <p:nvPicPr>
          <p:cNvPr id="8" name="Image 0" descr="/home/user/talenleren/neerlandais1/generateur/img/vijfzinnen/a1_kat_s.jpg">    </p:cNvPr>
          <p:cNvPicPr>
            <a:picLocks noChangeAspect="1"/>
          </p:cNvPicPr>
          <p:nvPr/>
        </p:nvPicPr>
        <p:blipFill>
          <a:blip r:embed="rId1"/>
          <a:stretch>
            <a:fillRect/>
          </a:stretch>
        </p:blipFill>
        <p:spPr>
          <a:xfrm>
            <a:off x="1691640" y="1600200"/>
            <a:ext cx="4343400" cy="2714625"/>
          </a:xfrm>
          <a:prstGeom prst="rect">
            <a:avLst/>
          </a:prstGeom>
        </p:spPr>
      </p:pic>
      <p:sp>
        <p:nvSpPr>
          <p:cNvPr id="9" name="Shape 5"/>
          <p:cNvSpPr/>
          <p:nvPr/>
        </p:nvSpPr>
        <p:spPr>
          <a:xfrm>
            <a:off x="1691640" y="4572000"/>
            <a:ext cx="1600200" cy="365760"/>
          </a:xfrm>
          <a:prstGeom prst="roundRect">
            <a:avLst>
              <a:gd name="adj" fmla="val 50000"/>
            </a:avLst>
          </a:prstGeom>
          <a:solidFill>
            <a:srgbClr val="EAF1FC"/>
          </a:solidFill>
          <a:ln w="12700">
            <a:solidFill>
              <a:srgbClr val="4A7BD0"/>
            </a:solidFill>
            <a:prstDash val="solid"/>
          </a:ln>
        </p:spPr>
      </p:sp>
      <p:pic>
        <p:nvPicPr>
          <p:cNvPr id="10" name="Image 1" descr="PenNib">    </p:cNvPr>
          <p:cNvPicPr>
            <a:picLocks noChangeAspect="1"/>
          </p:cNvPicPr>
          <p:nvPr/>
        </p:nvPicPr>
        <p:blipFill>
          <a:blip r:embed="rId2"/>
          <a:stretch>
            <a:fillRect/>
          </a:stretch>
        </p:blipFill>
        <p:spPr>
          <a:xfrm>
            <a:off x="1819656" y="4654296"/>
            <a:ext cx="201168" cy="201168"/>
          </a:xfrm>
          <a:prstGeom prst="rect">
            <a:avLst/>
          </a:prstGeom>
        </p:spPr>
      </p:pic>
      <p:sp>
        <p:nvSpPr>
          <p:cNvPr id="11" name="Text 6"/>
          <p:cNvSpPr txBox="1"/>
          <p:nvPr/>
        </p:nvSpPr>
        <p:spPr>
          <a:xfrm>
            <a:off x="2075688" y="4572000"/>
            <a:ext cx="1143000" cy="365760"/>
          </a:xfrm>
          <a:prstGeom prst="rect">
            <a:avLst/>
          </a:prstGeom>
          <a:noFill/>
          <a:ln/>
        </p:spPr>
        <p:txBody>
          <a:bodyPr wrap="square" lIns="0" tIns="0" rIns="0" bIns="0" rtlCol="0" anchor="ctr"/>
          <a:lstStyle/>
          <a:p>
            <a:pPr algn="l" indent="0" marL="0">
              <a:buNone/>
            </a:pPr>
            <a:r>
              <a:rPr lang="en-US" sz="1150" b="1" spc="100" kern="0" dirty="0">
                <a:solidFill>
                  <a:srgbClr val="4A7BD0"/>
                </a:solidFill>
                <a:latin typeface="Calibri" pitchFamily="34" charset="0"/>
                <a:ea typeface="Calibri" pitchFamily="34" charset="-122"/>
                <a:cs typeface="Calibri" pitchFamily="34" charset="-120"/>
              </a:rPr>
              <a:t>À L’ÉCRIT</a:t>
            </a:r>
            <a:endParaRPr lang="en-US" sz="1150" dirty="0"/>
          </a:p>
        </p:txBody>
      </p:sp>
      <p:sp>
        <p:nvSpPr>
          <p:cNvPr id="12" name="Text 7"/>
          <p:cNvSpPr txBox="1"/>
          <p:nvPr/>
        </p:nvSpPr>
        <p:spPr>
          <a:xfrm>
            <a:off x="3429000" y="4544568"/>
            <a:ext cx="2651760" cy="731520"/>
          </a:xfrm>
          <a:prstGeom prst="rect">
            <a:avLst/>
          </a:prstGeom>
          <a:noFill/>
          <a:ln/>
        </p:spPr>
        <p:txBody>
          <a:bodyPr wrap="square" lIns="0" tIns="0" rIns="0" bIns="0" rtlCol="0" anchor="t"/>
          <a:lstStyle/>
          <a:p>
            <a:pPr algn="l" indent="0" marL="0">
              <a:buNone/>
            </a:pPr>
            <a:r>
              <a:rPr lang="en-US" sz="1150" i="1" dirty="0">
                <a:solidFill>
                  <a:srgbClr val="6B7280"/>
                </a:solidFill>
                <a:latin typeface="Calibri" pitchFamily="34" charset="0"/>
                <a:ea typeface="Calibri" pitchFamily="34" charset="-122"/>
                <a:cs typeface="Calibri" pitchFamily="34" charset="-120"/>
              </a:rPr>
              <a:t>Le chat de Sarah se cache partout ! Où est-il ?</a:t>
            </a:r>
            <a:endParaRPr lang="en-US" sz="1150" dirty="0"/>
          </a:p>
        </p:txBody>
      </p:sp>
      <p:sp>
        <p:nvSpPr>
          <p:cNvPr id="13" name="Shape 8"/>
          <p:cNvSpPr/>
          <p:nvPr/>
        </p:nvSpPr>
        <p:spPr>
          <a:xfrm>
            <a:off x="6355080" y="1673352"/>
            <a:ext cx="914400" cy="402336"/>
          </a:xfrm>
          <a:prstGeom prst="roundRect">
            <a:avLst>
              <a:gd name="adj" fmla="val 13636"/>
            </a:avLst>
          </a:prstGeom>
          <a:solidFill>
            <a:srgbClr val="5FA873"/>
          </a:solidFill>
          <a:ln w="12700">
            <a:solidFill>
              <a:srgbClr val="FFFFFF">
                <a:alpha val="0"/>
              </a:srgbClr>
            </a:solidFill>
            <a:prstDash val="solid"/>
          </a:ln>
        </p:spPr>
      </p:sp>
      <p:sp>
        <p:nvSpPr>
          <p:cNvPr id="14" name="Text 9"/>
          <p:cNvSpPr txBox="1"/>
          <p:nvPr/>
        </p:nvSpPr>
        <p:spPr>
          <a:xfrm>
            <a:off x="6355080" y="167335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1</a:t>
            </a:r>
            <a:endParaRPr lang="en-US" sz="1600" dirty="0"/>
          </a:p>
        </p:txBody>
      </p:sp>
      <p:sp>
        <p:nvSpPr>
          <p:cNvPr id="15" name="Text 10"/>
          <p:cNvSpPr txBox="1"/>
          <p:nvPr/>
        </p:nvSpPr>
        <p:spPr>
          <a:xfrm>
            <a:off x="7406640" y="1618488"/>
            <a:ext cx="4389120" cy="512064"/>
          </a:xfrm>
          <a:prstGeom prst="rect">
            <a:avLst/>
          </a:prstGeom>
          <a:noFill/>
          <a:ln/>
        </p:spPr>
        <p:txBody>
          <a:bodyPr wrap="square" lIns="0" tIns="0" rIns="0" bIns="0" rtlCol="0" anchor="ctr"/>
          <a:lstStyle/>
          <a:p>
            <a:pPr algn="l" indent="0" marL="0">
              <a:buNone/>
            </a:pPr>
            <a:r>
              <a:rPr lang="en-US" sz="1450" b="1" dirty="0">
                <a:solidFill>
                  <a:srgbClr val="2B2F38"/>
                </a:solidFill>
              </a:rPr>
              <a:t>OP</a:t>
            </a:r>
            <a:r>
              <a:rPr lang="en-US" sz="1450" dirty="0">
                <a:solidFill>
                  <a:srgbClr val="2B2F38"/>
                </a:solidFill>
              </a:rPr>
              <a:t> : sur une surface.</a:t>
            </a:r>
            <a:endParaRPr lang="en-US" sz="1450" dirty="0"/>
          </a:p>
        </p:txBody>
      </p:sp>
      <p:sp>
        <p:nvSpPr>
          <p:cNvPr id="16" name="Shape 11"/>
          <p:cNvSpPr/>
          <p:nvPr/>
        </p:nvSpPr>
        <p:spPr>
          <a:xfrm>
            <a:off x="6355080" y="2404872"/>
            <a:ext cx="914400" cy="402336"/>
          </a:xfrm>
          <a:prstGeom prst="roundRect">
            <a:avLst>
              <a:gd name="adj" fmla="val 13636"/>
            </a:avLst>
          </a:prstGeom>
          <a:solidFill>
            <a:srgbClr val="5FA873"/>
          </a:solidFill>
          <a:ln w="12700">
            <a:solidFill>
              <a:srgbClr val="FFFFFF">
                <a:alpha val="0"/>
              </a:srgbClr>
            </a:solidFill>
            <a:prstDash val="solid"/>
          </a:ln>
        </p:spPr>
      </p:sp>
      <p:sp>
        <p:nvSpPr>
          <p:cNvPr id="17" name="Text 12"/>
          <p:cNvSpPr txBox="1"/>
          <p:nvPr/>
        </p:nvSpPr>
        <p:spPr>
          <a:xfrm>
            <a:off x="6355080" y="240487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2</a:t>
            </a:r>
            <a:endParaRPr lang="en-US" sz="1600" dirty="0"/>
          </a:p>
        </p:txBody>
      </p:sp>
      <p:sp>
        <p:nvSpPr>
          <p:cNvPr id="18" name="Text 13"/>
          <p:cNvSpPr txBox="1"/>
          <p:nvPr/>
        </p:nvSpPr>
        <p:spPr>
          <a:xfrm>
            <a:off x="7406640" y="2350008"/>
            <a:ext cx="4389120" cy="512064"/>
          </a:xfrm>
          <a:prstGeom prst="rect">
            <a:avLst/>
          </a:prstGeom>
          <a:noFill/>
          <a:ln/>
        </p:spPr>
        <p:txBody>
          <a:bodyPr wrap="square" lIns="0" tIns="0" rIns="0" bIns="0" rtlCol="0" anchor="ctr"/>
          <a:lstStyle/>
          <a:p>
            <a:pPr algn="l" indent="0" marL="0">
              <a:buNone/>
            </a:pPr>
            <a:r>
              <a:rPr lang="en-US" sz="1450" b="1" dirty="0">
                <a:solidFill>
                  <a:srgbClr val="2B2F38"/>
                </a:solidFill>
              </a:rPr>
              <a:t>IN</a:t>
            </a:r>
            <a:r>
              <a:rPr lang="en-US" sz="1450" dirty="0">
                <a:solidFill>
                  <a:srgbClr val="2B2F38"/>
                </a:solidFill>
              </a:rPr>
              <a:t> : dans, à l’intérieur.</a:t>
            </a:r>
            <a:endParaRPr lang="en-US" sz="1450" dirty="0"/>
          </a:p>
        </p:txBody>
      </p:sp>
      <p:sp>
        <p:nvSpPr>
          <p:cNvPr id="19" name="Shape 14"/>
          <p:cNvSpPr/>
          <p:nvPr/>
        </p:nvSpPr>
        <p:spPr>
          <a:xfrm>
            <a:off x="6355080" y="3136392"/>
            <a:ext cx="914400" cy="402336"/>
          </a:xfrm>
          <a:prstGeom prst="roundRect">
            <a:avLst>
              <a:gd name="adj" fmla="val 13636"/>
            </a:avLst>
          </a:prstGeom>
          <a:solidFill>
            <a:srgbClr val="5FA873"/>
          </a:solidFill>
          <a:ln w="12700">
            <a:solidFill>
              <a:srgbClr val="FFFFFF">
                <a:alpha val="0"/>
              </a:srgbClr>
            </a:solidFill>
            <a:prstDash val="solid"/>
          </a:ln>
        </p:spPr>
      </p:sp>
      <p:sp>
        <p:nvSpPr>
          <p:cNvPr id="20" name="Text 15"/>
          <p:cNvSpPr txBox="1"/>
          <p:nvPr/>
        </p:nvSpPr>
        <p:spPr>
          <a:xfrm>
            <a:off x="6355080" y="313639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3</a:t>
            </a:r>
            <a:endParaRPr lang="en-US" sz="1600" dirty="0"/>
          </a:p>
        </p:txBody>
      </p:sp>
      <p:sp>
        <p:nvSpPr>
          <p:cNvPr id="21" name="Text 16"/>
          <p:cNvSpPr txBox="1"/>
          <p:nvPr/>
        </p:nvSpPr>
        <p:spPr>
          <a:xfrm>
            <a:off x="7406640" y="3081528"/>
            <a:ext cx="4389120" cy="512064"/>
          </a:xfrm>
          <a:prstGeom prst="rect">
            <a:avLst/>
          </a:prstGeom>
          <a:noFill/>
          <a:ln/>
        </p:spPr>
        <p:txBody>
          <a:bodyPr wrap="square" lIns="0" tIns="0" rIns="0" bIns="0" rtlCol="0" anchor="ctr"/>
          <a:lstStyle/>
          <a:p>
            <a:pPr algn="l" indent="0" marL="0">
              <a:buNone/>
            </a:pPr>
            <a:r>
              <a:rPr lang="en-US" sz="1450" b="1" dirty="0">
                <a:solidFill>
                  <a:srgbClr val="2B2F38"/>
                </a:solidFill>
              </a:rPr>
              <a:t>BIJ</a:t>
            </a:r>
            <a:r>
              <a:rPr lang="en-US" sz="1450" dirty="0">
                <a:solidFill>
                  <a:srgbClr val="2B2F38"/>
                </a:solidFill>
              </a:rPr>
              <a:t> : chez, près de.</a:t>
            </a:r>
            <a:endParaRPr lang="en-US" sz="1450" dirty="0"/>
          </a:p>
        </p:txBody>
      </p:sp>
      <p:sp>
        <p:nvSpPr>
          <p:cNvPr id="22" name="Shape 17"/>
          <p:cNvSpPr/>
          <p:nvPr/>
        </p:nvSpPr>
        <p:spPr>
          <a:xfrm>
            <a:off x="6355080" y="3867912"/>
            <a:ext cx="914400" cy="402336"/>
          </a:xfrm>
          <a:prstGeom prst="roundRect">
            <a:avLst>
              <a:gd name="adj" fmla="val 13636"/>
            </a:avLst>
          </a:prstGeom>
          <a:solidFill>
            <a:srgbClr val="5FA873"/>
          </a:solidFill>
          <a:ln w="12700">
            <a:solidFill>
              <a:srgbClr val="FFFFFF">
                <a:alpha val="0"/>
              </a:srgbClr>
            </a:solidFill>
            <a:prstDash val="solid"/>
          </a:ln>
        </p:spPr>
      </p:sp>
      <p:sp>
        <p:nvSpPr>
          <p:cNvPr id="23" name="Text 18"/>
          <p:cNvSpPr txBox="1"/>
          <p:nvPr/>
        </p:nvSpPr>
        <p:spPr>
          <a:xfrm>
            <a:off x="6355080" y="386791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4</a:t>
            </a:r>
            <a:endParaRPr lang="en-US" sz="1600" dirty="0"/>
          </a:p>
        </p:txBody>
      </p:sp>
      <p:sp>
        <p:nvSpPr>
          <p:cNvPr id="24" name="Text 19"/>
          <p:cNvSpPr txBox="1"/>
          <p:nvPr/>
        </p:nvSpPr>
        <p:spPr>
          <a:xfrm>
            <a:off x="7406640" y="3813048"/>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Une chute avec </a:t>
            </a:r>
            <a:r>
              <a:rPr lang="en-US" sz="1450" b="1" dirty="0">
                <a:solidFill>
                  <a:srgbClr val="2B2F38"/>
                </a:solidFill>
              </a:rPr>
              <a:t>NAAR</a:t>
            </a:r>
            <a:r>
              <a:rPr lang="en-US" sz="1450" dirty="0">
                <a:solidFill>
                  <a:srgbClr val="2B2F38"/>
                </a:solidFill>
              </a:rPr>
              <a:t> (un mouvement) !</a:t>
            </a:r>
            <a:endParaRPr lang="en-US" sz="1450" dirty="0"/>
          </a:p>
        </p:txBody>
      </p:sp>
      <p:sp>
        <p:nvSpPr>
          <p:cNvPr id="25" name="Shape 20"/>
          <p:cNvSpPr/>
          <p:nvPr/>
        </p:nvSpPr>
        <p:spPr>
          <a:xfrm>
            <a:off x="3246120" y="5440680"/>
            <a:ext cx="6858000" cy="822960"/>
          </a:xfrm>
          <a:prstGeom prst="roundRect">
            <a:avLst>
              <a:gd name="adj" fmla="val 17778"/>
            </a:avLst>
          </a:prstGeom>
          <a:solidFill>
            <a:srgbClr val="EAF5EC"/>
          </a:solidFill>
          <a:ln w="15875">
            <a:solidFill>
              <a:srgbClr val="5FA873"/>
            </a:solidFill>
            <a:prstDash val="solid"/>
          </a:ln>
        </p:spPr>
      </p:sp>
      <p:pic>
        <p:nvPicPr>
          <p:cNvPr id="26" name="Image 2" descr="UserFriends">    </p:cNvPr>
          <p:cNvPicPr>
            <a:picLocks noChangeAspect="1"/>
          </p:cNvPicPr>
          <p:nvPr/>
        </p:nvPicPr>
        <p:blipFill>
          <a:blip r:embed="rId3"/>
          <a:stretch>
            <a:fillRect/>
          </a:stretch>
        </p:blipFill>
        <p:spPr>
          <a:xfrm>
            <a:off x="3520440" y="5660136"/>
            <a:ext cx="384048" cy="384048"/>
          </a:xfrm>
          <a:prstGeom prst="rect">
            <a:avLst/>
          </a:prstGeom>
        </p:spPr>
      </p:pic>
      <p:sp>
        <p:nvSpPr>
          <p:cNvPr id="27" name="Text 21"/>
          <p:cNvSpPr txBox="1"/>
          <p:nvPr/>
        </p:nvSpPr>
        <p:spPr>
          <a:xfrm>
            <a:off x="4114800" y="5440680"/>
            <a:ext cx="5852160" cy="822960"/>
          </a:xfrm>
          <a:prstGeom prst="rect">
            <a:avLst/>
          </a:prstGeom>
          <a:noFill/>
          <a:ln/>
        </p:spPr>
        <p:txBody>
          <a:bodyPr wrap="square" lIns="0" tIns="0" rIns="0" bIns="0" rtlCol="0" anchor="ctr"/>
          <a:lstStyle/>
          <a:p>
            <a:pPr algn="ctr" indent="0" marL="0">
              <a:buNone/>
            </a:pPr>
            <a:r>
              <a:rPr lang="en-US" sz="1800" b="1" dirty="0">
                <a:solidFill>
                  <a:srgbClr val="2E6B44"/>
                </a:solidFill>
                <a:latin typeface="Calibri" pitchFamily="34" charset="0"/>
                <a:ea typeface="Calibri" pitchFamily="34" charset="-122"/>
                <a:cs typeface="Calibri" pitchFamily="34" charset="-120"/>
              </a:rPr>
              <a:t>Lees je tekst voor aan je partner.</a:t>
            </a:r>
            <a:endParaRPr lang="en-US" sz="1800" dirty="0"/>
          </a:p>
          <a:p>
            <a:pPr algn="ctr" indent="0" marL="0">
              <a:buNone/>
            </a:pPr>
            <a:r>
              <a:rPr lang="en-US" sz="1800" b="1" dirty="0">
                <a:solidFill>
                  <a:srgbClr val="2E6B44"/>
                </a:solidFill>
                <a:latin typeface="Calibri" pitchFamily="34" charset="0"/>
                <a:ea typeface="Calibri" pitchFamily="34" charset="-122"/>
                <a:cs typeface="Calibri" pitchFamily="34" charset="-120"/>
              </a:rPr>
              <a:t>Wat denkt hij/zij daarvan?</a:t>
            </a:r>
            <a:endParaRPr lang="en-US" sz="1800" dirty="0"/>
          </a:p>
        </p:txBody>
      </p:sp>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1"/>
          <p:cNvSpPr/>
          <p:nvPr>
            <p:ph idx="101" type="title" hasCustomPrompt="1"/>
          </p:nvPr>
        </p:nvSpPr>
        <p:spPr>
          <a:xfrm>
            <a:off x="1554480" y="384048"/>
            <a:ext cx="10241280" cy="658368"/>
          </a:xfrm>
          <a:prstGeom prst="rect">
            <a:avLst/>
          </a:prstGeom>
          <a:noFill/>
          <a:ln/>
        </p:spPr>
        <p:txBody>
          <a:bodyPr wrap="square" lIns="0" tIns="0" rIns="0" bIns="0" rtlCol="0" anchor="ctr"/>
          <a:lstStyle/>
          <a:p>
            <a:pPr algn="ctr" indent="0" marL="0">
              <a:buNone/>
            </a:pPr>
            <a:r>
              <a:rPr lang="en-US" sz="3000" b="1" dirty="0">
                <a:solidFill>
                  <a:srgbClr val="2B2F38"/>
                </a:solidFill>
              </a:rPr>
              <a:t>Waar is de kat?</a:t>
            </a:r>
            <a:endParaRPr lang="en-US" sz="3000" dirty="0"/>
          </a:p>
        </p:txBody>
      </p:sp>
      <p:sp>
        <p:nvSpPr>
          <p:cNvPr id="4" name="Shape 1"/>
          <p:cNvSpPr/>
          <p:nvPr/>
        </p:nvSpPr>
        <p:spPr>
          <a:xfrm>
            <a:off x="365760" y="365760"/>
            <a:ext cx="868680" cy="5989320"/>
          </a:xfrm>
          <a:prstGeom prst="roundRect">
            <a:avLst>
              <a:gd name="adj" fmla="val 12632"/>
            </a:avLst>
          </a:prstGeom>
          <a:solidFill>
            <a:srgbClr val="E4EEFB"/>
          </a:solidFill>
          <a:ln w="28575">
            <a:solidFill>
              <a:srgbClr val="6FA0DC"/>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3E6FB0"/>
                </a:solidFill>
                <a:latin typeface="Calibri" pitchFamily="34" charset="0"/>
                <a:ea typeface="Calibri" pitchFamily="34" charset="-122"/>
                <a:cs typeface="Calibri" pitchFamily="34" charset="-120"/>
              </a:rPr>
              <a:t>A1 · Grammaire</a:t>
            </a:r>
            <a:endParaRPr lang="en-US" sz="3800" dirty="0"/>
          </a:p>
        </p:txBody>
      </p:sp>
      <p:sp>
        <p:nvSpPr>
          <p:cNvPr id="6" name="Shape 3"/>
          <p:cNvSpPr/>
          <p:nvPr/>
        </p:nvSpPr>
        <p:spPr>
          <a:xfrm>
            <a:off x="2519172" y="1124712"/>
            <a:ext cx="8311896" cy="5277231"/>
          </a:xfrm>
          <a:prstGeom prst="roundRect">
            <a:avLst>
              <a:gd name="adj" fmla="val 693"/>
            </a:avLst>
          </a:prstGeom>
          <a:solidFill>
            <a:srgbClr val="FFFFFF"/>
          </a:solidFill>
          <a:ln w="9525">
            <a:solidFill>
              <a:srgbClr val="E3E7EE"/>
            </a:solidFill>
            <a:prstDash val="solid"/>
          </a:ln>
          <a:effectLst>
            <a:outerShdw sx="100000" sy="100000" kx="0" ky="0" algn="bl" rotWithShape="0" blurRad="177800" dist="63500" dir="5400000">
              <a:srgbClr val="1B2430">
                <a:alpha val="25000"/>
              </a:srgbClr>
            </a:outerShdw>
          </a:effectLst>
        </p:spPr>
      </p:sp>
      <p:pic>
        <p:nvPicPr>
          <p:cNvPr id="7" name="Image 0" descr="/home/user/talenleren/neerlandais1/generateur/img/vijfzinnen/a1_kat.jpg">    </p:cNvPr>
          <p:cNvPicPr>
            <a:picLocks noChangeAspect="1"/>
          </p:cNvPicPr>
          <p:nvPr/>
        </p:nvPicPr>
        <p:blipFill>
          <a:blip r:embed="rId1"/>
          <a:stretch>
            <a:fillRect/>
          </a:stretch>
        </p:blipFill>
        <p:spPr>
          <a:xfrm>
            <a:off x="2628900" y="1234440"/>
            <a:ext cx="8092440" cy="5057775"/>
          </a:xfrm>
          <a:prstGeom prst="rect">
            <a:avLst/>
          </a:prstGeom>
        </p:spPr>
      </p:pic>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1"/>
          <p:cNvSpPr/>
          <p:nvPr>
            <p:ph idx="101" type="title" hasCustomPrompt="1"/>
          </p:nvPr>
        </p:nvSpPr>
        <p:spPr>
          <a:xfrm>
            <a:off x="1691640" y="347472"/>
            <a:ext cx="8138160" cy="914400"/>
          </a:xfrm>
          <a:prstGeom prst="rect">
            <a:avLst/>
          </a:prstGeom>
          <a:noFill/>
          <a:ln/>
        </p:spPr>
        <p:txBody>
          <a:bodyPr wrap="square" lIns="0" tIns="0" rIns="0" bIns="0" rtlCol="0" anchor="ctr"/>
          <a:lstStyle/>
          <a:p>
            <a:pPr algn="l" indent="0" marL="0">
              <a:buNone/>
            </a:pPr>
            <a:r>
              <a:rPr lang="en-US" sz="2400" b="1" dirty="0">
                <a:solidFill>
                  <a:srgbClr val="2B2F38"/>
                </a:solidFill>
              </a:rPr>
              <a:t>Hier is een voorbeeld van wat je had kunnen denken en schrijven…</a:t>
            </a:r>
            <a:endParaRPr lang="en-US" sz="2400" dirty="0"/>
          </a:p>
        </p:txBody>
      </p:sp>
      <p:sp>
        <p:nvSpPr>
          <p:cNvPr id="4" name="Shape 1"/>
          <p:cNvSpPr/>
          <p:nvPr/>
        </p:nvSpPr>
        <p:spPr>
          <a:xfrm>
            <a:off x="365760" y="365760"/>
            <a:ext cx="868680" cy="5989320"/>
          </a:xfrm>
          <a:prstGeom prst="roundRect">
            <a:avLst>
              <a:gd name="adj" fmla="val 12632"/>
            </a:avLst>
          </a:prstGeom>
          <a:solidFill>
            <a:srgbClr val="E4EEFB"/>
          </a:solidFill>
          <a:ln w="28575">
            <a:solidFill>
              <a:srgbClr val="6FA0DC"/>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3E6FB0"/>
                </a:solidFill>
                <a:latin typeface="Calibri" pitchFamily="34" charset="0"/>
                <a:ea typeface="Calibri" pitchFamily="34" charset="-122"/>
                <a:cs typeface="Calibri" pitchFamily="34" charset="-120"/>
              </a:rPr>
              <a:t>A1 · Grammaire</a:t>
            </a:r>
            <a:endParaRPr lang="en-US" sz="3800" dirty="0"/>
          </a:p>
        </p:txBody>
      </p:sp>
      <p:sp>
        <p:nvSpPr>
          <p:cNvPr id="6" name="Shape 3"/>
          <p:cNvSpPr/>
          <p:nvPr/>
        </p:nvSpPr>
        <p:spPr>
          <a:xfrm>
            <a:off x="10058400" y="246888"/>
            <a:ext cx="1691640" cy="1091565"/>
          </a:xfrm>
          <a:prstGeom prst="roundRect">
            <a:avLst>
              <a:gd name="adj" fmla="val 3351"/>
            </a:avLst>
          </a:prstGeom>
          <a:solidFill>
            <a:srgbClr val="FFFFFF"/>
          </a:solidFill>
          <a:ln w="9525">
            <a:solidFill>
              <a:srgbClr val="E3E7EE"/>
            </a:solidFill>
            <a:prstDash val="solid"/>
          </a:ln>
          <a:effectLst>
            <a:outerShdw sx="100000" sy="100000" kx="0" ky="0" algn="bl" rotWithShape="0" blurRad="76200" dist="25400" dir="5400000">
              <a:srgbClr val="1B2430">
                <a:alpha val="25000"/>
              </a:srgbClr>
            </a:outerShdw>
          </a:effectLst>
        </p:spPr>
      </p:sp>
      <p:pic>
        <p:nvPicPr>
          <p:cNvPr id="7" name="Image 0" descr="/home/user/talenleren/neerlandais1/generateur/img/vijfzinnen/a1_kat_s.jpg">    </p:cNvPr>
          <p:cNvPicPr>
            <a:picLocks noChangeAspect="1"/>
          </p:cNvPicPr>
          <p:nvPr/>
        </p:nvPicPr>
        <p:blipFill>
          <a:blip r:embed="rId1"/>
          <a:stretch>
            <a:fillRect/>
          </a:stretch>
        </p:blipFill>
        <p:spPr>
          <a:xfrm>
            <a:off x="10104120" y="292608"/>
            <a:ext cx="1600200" cy="1000125"/>
          </a:xfrm>
          <a:prstGeom prst="rect">
            <a:avLst/>
          </a:prstGeom>
        </p:spPr>
      </p:pic>
      <p:sp>
        <p:nvSpPr>
          <p:cNvPr id="8" name="Text 4"/>
          <p:cNvSpPr txBox="1"/>
          <p:nvPr/>
        </p:nvSpPr>
        <p:spPr>
          <a:xfrm>
            <a:off x="1691640" y="3108350"/>
            <a:ext cx="1960474"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Eerst is de kat</a:t>
            </a:r>
            <a:endParaRPr lang="en-US" sz="2400" dirty="0"/>
          </a:p>
        </p:txBody>
      </p:sp>
      <p:sp>
        <p:nvSpPr>
          <p:cNvPr id="9" name="Shape 5"/>
          <p:cNvSpPr/>
          <p:nvPr/>
        </p:nvSpPr>
        <p:spPr>
          <a:xfrm>
            <a:off x="3556406" y="3120542"/>
            <a:ext cx="1454810" cy="371856"/>
          </a:xfrm>
          <a:prstGeom prst="roundRect">
            <a:avLst>
              <a:gd name="adj" fmla="val 12295"/>
            </a:avLst>
          </a:prstGeom>
          <a:solidFill>
            <a:srgbClr val="E6F3DA"/>
          </a:solidFill>
          <a:ln w="12700">
            <a:solidFill>
              <a:srgbClr val="FFFFFF">
                <a:alpha val="0"/>
              </a:srgbClr>
            </a:solidFill>
            <a:prstDash val="solid"/>
          </a:ln>
        </p:spPr>
      </p:sp>
      <p:sp>
        <p:nvSpPr>
          <p:cNvPr id="10" name="Text 6"/>
          <p:cNvSpPr txBox="1"/>
          <p:nvPr/>
        </p:nvSpPr>
        <p:spPr>
          <a:xfrm>
            <a:off x="3556406" y="3108350"/>
            <a:ext cx="1454810"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op de tafel</a:t>
            </a:r>
            <a:endParaRPr lang="en-US" sz="2400" dirty="0"/>
          </a:p>
        </p:txBody>
      </p:sp>
      <p:sp>
        <p:nvSpPr>
          <p:cNvPr id="11" name="Text 7"/>
          <p:cNvSpPr txBox="1"/>
          <p:nvPr/>
        </p:nvSpPr>
        <p:spPr>
          <a:xfrm>
            <a:off x="5011217" y="3108350"/>
            <a:ext cx="1506931"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 Dan is hij</a:t>
            </a:r>
            <a:endParaRPr lang="en-US" sz="2400" dirty="0"/>
          </a:p>
        </p:txBody>
      </p:sp>
      <p:sp>
        <p:nvSpPr>
          <p:cNvPr id="12" name="Shape 8"/>
          <p:cNvSpPr/>
          <p:nvPr/>
        </p:nvSpPr>
        <p:spPr>
          <a:xfrm>
            <a:off x="6422441" y="3120542"/>
            <a:ext cx="1398118" cy="371856"/>
          </a:xfrm>
          <a:prstGeom prst="roundRect">
            <a:avLst>
              <a:gd name="adj" fmla="val 12295"/>
            </a:avLst>
          </a:prstGeom>
          <a:solidFill>
            <a:srgbClr val="E6F3DA"/>
          </a:solidFill>
          <a:ln w="12700">
            <a:solidFill>
              <a:srgbClr val="FFFFFF">
                <a:alpha val="0"/>
              </a:srgbClr>
            </a:solidFill>
            <a:prstDash val="solid"/>
          </a:ln>
        </p:spPr>
      </p:sp>
      <p:sp>
        <p:nvSpPr>
          <p:cNvPr id="13" name="Text 9"/>
          <p:cNvSpPr txBox="1"/>
          <p:nvPr/>
        </p:nvSpPr>
        <p:spPr>
          <a:xfrm>
            <a:off x="6422441" y="3108350"/>
            <a:ext cx="1398118"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in de doos</a:t>
            </a:r>
            <a:endParaRPr lang="en-US" sz="2400" dirty="0"/>
          </a:p>
        </p:txBody>
      </p:sp>
      <p:sp>
        <p:nvSpPr>
          <p:cNvPr id="14" name="Text 10"/>
          <p:cNvSpPr txBox="1"/>
          <p:nvPr/>
        </p:nvSpPr>
        <p:spPr>
          <a:xfrm>
            <a:off x="7820558" y="3108350"/>
            <a:ext cx="1924507"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 Nu slaapt hij</a:t>
            </a:r>
            <a:endParaRPr lang="en-US" sz="2400" dirty="0"/>
          </a:p>
        </p:txBody>
      </p:sp>
      <p:sp>
        <p:nvSpPr>
          <p:cNvPr id="15" name="Shape 11"/>
          <p:cNvSpPr/>
          <p:nvPr/>
        </p:nvSpPr>
        <p:spPr>
          <a:xfrm>
            <a:off x="9649358" y="3120542"/>
            <a:ext cx="1625498" cy="371856"/>
          </a:xfrm>
          <a:prstGeom prst="roundRect">
            <a:avLst>
              <a:gd name="adj" fmla="val 12295"/>
            </a:avLst>
          </a:prstGeom>
          <a:solidFill>
            <a:srgbClr val="E6F3DA"/>
          </a:solidFill>
          <a:ln w="12700">
            <a:solidFill>
              <a:srgbClr val="FFFFFF">
                <a:alpha val="0"/>
              </a:srgbClr>
            </a:solidFill>
            <a:prstDash val="solid"/>
          </a:ln>
        </p:spPr>
      </p:sp>
      <p:sp>
        <p:nvSpPr>
          <p:cNvPr id="16" name="Text 12"/>
          <p:cNvSpPr txBox="1"/>
          <p:nvPr/>
        </p:nvSpPr>
        <p:spPr>
          <a:xfrm>
            <a:off x="9649358" y="3108350"/>
            <a:ext cx="1625498"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bij het raam</a:t>
            </a:r>
            <a:endParaRPr lang="en-US" sz="2400" dirty="0"/>
          </a:p>
        </p:txBody>
      </p:sp>
      <p:sp>
        <p:nvSpPr>
          <p:cNvPr id="17" name="Text 13"/>
          <p:cNvSpPr txBox="1"/>
          <p:nvPr/>
        </p:nvSpPr>
        <p:spPr>
          <a:xfrm>
            <a:off x="11274857" y="3108350"/>
            <a:ext cx="259690"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a:t>
            </a:r>
            <a:endParaRPr lang="en-US" sz="2400" dirty="0"/>
          </a:p>
        </p:txBody>
      </p:sp>
      <p:sp>
        <p:nvSpPr>
          <p:cNvPr id="18" name="Shape 14"/>
          <p:cNvSpPr/>
          <p:nvPr/>
        </p:nvSpPr>
        <p:spPr>
          <a:xfrm>
            <a:off x="4283812" y="3044342"/>
            <a:ext cx="914" cy="76200"/>
          </a:xfrm>
          <a:prstGeom prst="line">
            <a:avLst/>
          </a:prstGeom>
          <a:noFill/>
          <a:ln w="15875">
            <a:solidFill>
              <a:srgbClr val="7AB648"/>
            </a:solidFill>
            <a:prstDash val="solid"/>
          </a:ln>
        </p:spPr>
      </p:sp>
      <p:sp>
        <p:nvSpPr>
          <p:cNvPr id="19" name="Shape 15"/>
          <p:cNvSpPr/>
          <p:nvPr/>
        </p:nvSpPr>
        <p:spPr>
          <a:xfrm>
            <a:off x="4089705" y="2797454"/>
            <a:ext cx="388214" cy="246888"/>
          </a:xfrm>
          <a:prstGeom prst="roundRect">
            <a:avLst>
              <a:gd name="adj" fmla="val 14815"/>
            </a:avLst>
          </a:prstGeom>
          <a:solidFill>
            <a:srgbClr val="7AB648"/>
          </a:solidFill>
          <a:ln w="12700">
            <a:solidFill>
              <a:srgbClr val="FFFFFF">
                <a:alpha val="0"/>
              </a:srgbClr>
            </a:solidFill>
            <a:prstDash val="solid"/>
          </a:ln>
        </p:spPr>
      </p:sp>
      <p:sp>
        <p:nvSpPr>
          <p:cNvPr id="20" name="Text 16"/>
          <p:cNvSpPr txBox="1"/>
          <p:nvPr/>
        </p:nvSpPr>
        <p:spPr>
          <a:xfrm>
            <a:off x="4089705" y="2797454"/>
            <a:ext cx="388214"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OP</a:t>
            </a:r>
            <a:endParaRPr lang="en-US" sz="1100" dirty="0"/>
          </a:p>
        </p:txBody>
      </p:sp>
      <p:sp>
        <p:nvSpPr>
          <p:cNvPr id="21" name="Shape 17"/>
          <p:cNvSpPr/>
          <p:nvPr/>
        </p:nvSpPr>
        <p:spPr>
          <a:xfrm>
            <a:off x="7121500" y="3044342"/>
            <a:ext cx="914" cy="76200"/>
          </a:xfrm>
          <a:prstGeom prst="line">
            <a:avLst/>
          </a:prstGeom>
          <a:noFill/>
          <a:ln w="15875">
            <a:solidFill>
              <a:srgbClr val="7AB648"/>
            </a:solidFill>
            <a:prstDash val="solid"/>
          </a:ln>
        </p:spPr>
      </p:sp>
      <p:sp>
        <p:nvSpPr>
          <p:cNvPr id="22" name="Shape 18"/>
          <p:cNvSpPr/>
          <p:nvPr/>
        </p:nvSpPr>
        <p:spPr>
          <a:xfrm>
            <a:off x="6947091" y="2797454"/>
            <a:ext cx="348818" cy="246888"/>
          </a:xfrm>
          <a:prstGeom prst="roundRect">
            <a:avLst>
              <a:gd name="adj" fmla="val 14815"/>
            </a:avLst>
          </a:prstGeom>
          <a:solidFill>
            <a:srgbClr val="7AB648"/>
          </a:solidFill>
          <a:ln w="12700">
            <a:solidFill>
              <a:srgbClr val="FFFFFF">
                <a:alpha val="0"/>
              </a:srgbClr>
            </a:solidFill>
            <a:prstDash val="solid"/>
          </a:ln>
        </p:spPr>
      </p:sp>
      <p:sp>
        <p:nvSpPr>
          <p:cNvPr id="23" name="Text 19"/>
          <p:cNvSpPr txBox="1"/>
          <p:nvPr/>
        </p:nvSpPr>
        <p:spPr>
          <a:xfrm>
            <a:off x="6947091" y="2797454"/>
            <a:ext cx="348818"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IN</a:t>
            </a:r>
            <a:endParaRPr lang="en-US" sz="1100" dirty="0"/>
          </a:p>
        </p:txBody>
      </p:sp>
      <p:sp>
        <p:nvSpPr>
          <p:cNvPr id="24" name="Shape 20"/>
          <p:cNvSpPr/>
          <p:nvPr/>
        </p:nvSpPr>
        <p:spPr>
          <a:xfrm>
            <a:off x="10462108" y="3044342"/>
            <a:ext cx="914" cy="76200"/>
          </a:xfrm>
          <a:prstGeom prst="line">
            <a:avLst/>
          </a:prstGeom>
          <a:noFill/>
          <a:ln w="15875">
            <a:solidFill>
              <a:srgbClr val="7AB648"/>
            </a:solidFill>
            <a:prstDash val="solid"/>
          </a:ln>
        </p:spPr>
      </p:sp>
      <p:sp>
        <p:nvSpPr>
          <p:cNvPr id="25" name="Shape 21"/>
          <p:cNvSpPr/>
          <p:nvPr/>
        </p:nvSpPr>
        <p:spPr>
          <a:xfrm>
            <a:off x="10271423" y="2797454"/>
            <a:ext cx="381368" cy="246888"/>
          </a:xfrm>
          <a:prstGeom prst="roundRect">
            <a:avLst>
              <a:gd name="adj" fmla="val 14815"/>
            </a:avLst>
          </a:prstGeom>
          <a:solidFill>
            <a:srgbClr val="7AB648"/>
          </a:solidFill>
          <a:ln w="12700">
            <a:solidFill>
              <a:srgbClr val="FFFFFF">
                <a:alpha val="0"/>
              </a:srgbClr>
            </a:solidFill>
            <a:prstDash val="solid"/>
          </a:ln>
        </p:spPr>
      </p:sp>
      <p:sp>
        <p:nvSpPr>
          <p:cNvPr id="26" name="Text 22"/>
          <p:cNvSpPr txBox="1"/>
          <p:nvPr/>
        </p:nvSpPr>
        <p:spPr>
          <a:xfrm>
            <a:off x="10271423" y="2797454"/>
            <a:ext cx="381368"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BIJ</a:t>
            </a:r>
            <a:endParaRPr lang="en-US" sz="1100" dirty="0"/>
          </a:p>
        </p:txBody>
      </p:sp>
      <p:sp>
        <p:nvSpPr>
          <p:cNvPr id="27" name="Text 23"/>
          <p:cNvSpPr txBox="1"/>
          <p:nvPr/>
        </p:nvSpPr>
        <p:spPr>
          <a:xfrm>
            <a:off x="3722370" y="4162958"/>
            <a:ext cx="2084832"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En nu? Hij gaat</a:t>
            </a:r>
            <a:endParaRPr lang="en-US" sz="2400" dirty="0"/>
          </a:p>
        </p:txBody>
      </p:sp>
      <p:sp>
        <p:nvSpPr>
          <p:cNvPr id="28" name="Shape 24"/>
          <p:cNvSpPr/>
          <p:nvPr/>
        </p:nvSpPr>
        <p:spPr>
          <a:xfrm>
            <a:off x="5711495" y="4175150"/>
            <a:ext cx="2045818" cy="371856"/>
          </a:xfrm>
          <a:prstGeom prst="roundRect">
            <a:avLst>
              <a:gd name="adj" fmla="val 12295"/>
            </a:avLst>
          </a:prstGeom>
          <a:solidFill>
            <a:srgbClr val="E6F3DA"/>
          </a:solidFill>
          <a:ln w="12700">
            <a:solidFill>
              <a:srgbClr val="FFFFFF">
                <a:alpha val="0"/>
              </a:srgbClr>
            </a:solidFill>
            <a:prstDash val="solid"/>
          </a:ln>
        </p:spPr>
      </p:sp>
      <p:sp>
        <p:nvSpPr>
          <p:cNvPr id="29" name="Text 25"/>
          <p:cNvSpPr txBox="1"/>
          <p:nvPr/>
        </p:nvSpPr>
        <p:spPr>
          <a:xfrm>
            <a:off x="5711495" y="4162958"/>
            <a:ext cx="2045818"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naar de keuken</a:t>
            </a:r>
            <a:endParaRPr lang="en-US" sz="2400" dirty="0"/>
          </a:p>
        </p:txBody>
      </p:sp>
      <p:sp>
        <p:nvSpPr>
          <p:cNvPr id="30" name="Text 26"/>
          <p:cNvSpPr txBox="1"/>
          <p:nvPr/>
        </p:nvSpPr>
        <p:spPr>
          <a:xfrm>
            <a:off x="7757312" y="4162958"/>
            <a:ext cx="2099158"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 daar is de vis!</a:t>
            </a:r>
            <a:endParaRPr lang="en-US" sz="2400" dirty="0"/>
          </a:p>
        </p:txBody>
      </p:sp>
      <p:sp>
        <p:nvSpPr>
          <p:cNvPr id="31" name="Shape 27"/>
          <p:cNvSpPr/>
          <p:nvPr/>
        </p:nvSpPr>
        <p:spPr>
          <a:xfrm>
            <a:off x="6734404" y="4098950"/>
            <a:ext cx="914" cy="76200"/>
          </a:xfrm>
          <a:prstGeom prst="line">
            <a:avLst/>
          </a:prstGeom>
          <a:noFill/>
          <a:ln w="15875">
            <a:solidFill>
              <a:srgbClr val="7AB648"/>
            </a:solidFill>
            <a:prstDash val="solid"/>
          </a:ln>
        </p:spPr>
      </p:sp>
      <p:sp>
        <p:nvSpPr>
          <p:cNvPr id="32" name="Shape 28"/>
          <p:cNvSpPr/>
          <p:nvPr/>
        </p:nvSpPr>
        <p:spPr>
          <a:xfrm>
            <a:off x="6454661" y="3852062"/>
            <a:ext cx="559486" cy="246888"/>
          </a:xfrm>
          <a:prstGeom prst="roundRect">
            <a:avLst>
              <a:gd name="adj" fmla="val 14815"/>
            </a:avLst>
          </a:prstGeom>
          <a:solidFill>
            <a:srgbClr val="7AB648"/>
          </a:solidFill>
          <a:ln w="12700">
            <a:solidFill>
              <a:srgbClr val="FFFFFF">
                <a:alpha val="0"/>
              </a:srgbClr>
            </a:solidFill>
            <a:prstDash val="solid"/>
          </a:ln>
        </p:spPr>
      </p:sp>
      <p:sp>
        <p:nvSpPr>
          <p:cNvPr id="33" name="Text 29"/>
          <p:cNvSpPr txBox="1"/>
          <p:nvPr/>
        </p:nvSpPr>
        <p:spPr>
          <a:xfrm>
            <a:off x="6454661" y="3852062"/>
            <a:ext cx="559486"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NAAR</a:t>
            </a:r>
            <a:endParaRPr lang="en-US" sz="1100" dirty="0"/>
          </a:p>
        </p:txBody>
      </p:sp>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1"/>
          <p:cNvSpPr/>
          <p:nvPr>
            <p:ph idx="101" type="title" hasCustomPrompt="1"/>
          </p:nvPr>
        </p:nvSpPr>
        <p:spPr>
          <a:xfrm>
            <a:off x="1554480" y="384048"/>
            <a:ext cx="10241280" cy="658368"/>
          </a:xfrm>
          <a:prstGeom prst="rect">
            <a:avLst/>
          </a:prstGeom>
          <a:noFill/>
          <a:ln/>
        </p:spPr>
        <p:txBody>
          <a:bodyPr wrap="square" lIns="0" tIns="0" rIns="0" bIns="0" rtlCol="0" anchor="ctr"/>
          <a:lstStyle/>
          <a:p>
            <a:pPr algn="ctr" indent="0" marL="0">
              <a:buNone/>
            </a:pPr>
            <a:r>
              <a:rPr lang="en-US" sz="3000" b="1" dirty="0">
                <a:solidFill>
                  <a:srgbClr val="2B2F38"/>
                </a:solidFill>
              </a:rPr>
              <a:t>Gebruik deze afbeelding als inspiratie</a:t>
            </a:r>
            <a:endParaRPr lang="en-US" sz="3000" dirty="0"/>
          </a:p>
        </p:txBody>
      </p:sp>
      <p:sp>
        <p:nvSpPr>
          <p:cNvPr id="4" name="Shape 1"/>
          <p:cNvSpPr/>
          <p:nvPr/>
        </p:nvSpPr>
        <p:spPr>
          <a:xfrm>
            <a:off x="365760" y="365760"/>
            <a:ext cx="868680" cy="5989320"/>
          </a:xfrm>
          <a:prstGeom prst="roundRect">
            <a:avLst>
              <a:gd name="adj" fmla="val 12632"/>
            </a:avLst>
          </a:prstGeom>
          <a:solidFill>
            <a:srgbClr val="E4EEFB"/>
          </a:solidFill>
          <a:ln w="28575">
            <a:solidFill>
              <a:srgbClr val="6FA0DC"/>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3E6FB0"/>
                </a:solidFill>
                <a:latin typeface="Calibri" pitchFamily="34" charset="0"/>
                <a:ea typeface="Calibri" pitchFamily="34" charset="-122"/>
                <a:cs typeface="Calibri" pitchFamily="34" charset="-120"/>
              </a:rPr>
              <a:t>A1 · Grammaire</a:t>
            </a:r>
            <a:endParaRPr lang="en-US" sz="3800" dirty="0"/>
          </a:p>
        </p:txBody>
      </p:sp>
      <p:sp>
        <p:nvSpPr>
          <p:cNvPr id="6" name="Text 3"/>
          <p:cNvSpPr txBox="1"/>
          <p:nvPr/>
        </p:nvSpPr>
        <p:spPr>
          <a:xfrm>
            <a:off x="1554480" y="1024128"/>
            <a:ext cx="10241280" cy="365760"/>
          </a:xfrm>
          <a:prstGeom prst="rect">
            <a:avLst/>
          </a:prstGeom>
          <a:noFill/>
          <a:ln/>
        </p:spPr>
        <p:txBody>
          <a:bodyPr wrap="square" lIns="0" tIns="0" rIns="0" bIns="0" rtlCol="0" anchor="ctr"/>
          <a:lstStyle/>
          <a:p>
            <a:pPr algn="ctr" indent="0" marL="0">
              <a:buNone/>
            </a:pPr>
            <a:r>
              <a:rPr lang="en-US" sz="1500" b="1" dirty="0">
                <a:solidFill>
                  <a:srgbClr val="3E6FB0"/>
                </a:solidFill>
                <a:latin typeface="Calibri" pitchFamily="34" charset="0"/>
                <a:ea typeface="Calibri" pitchFamily="34" charset="-122"/>
                <a:cs typeface="Calibri" pitchFamily="34" charset="-120"/>
              </a:rPr>
              <a:t>23 · Een kopje koffie</a:t>
            </a:r>
            <a:r>
              <a:rPr lang="en-US" sz="1500" i="1" dirty="0">
                <a:solidFill>
                  <a:srgbClr val="6B7280"/>
                </a:solidFill>
                <a:latin typeface="Calibri" pitchFamily="34" charset="0"/>
                <a:ea typeface="Calibri" pitchFamily="34" charset="-122"/>
                <a:cs typeface="Calibri" pitchFamily="34" charset="-120"/>
              </a:rPr>
              <a:t>   Un petit café</a:t>
            </a:r>
            <a:r>
              <a:rPr lang="en-US" sz="1200" dirty="0">
                <a:solidFill>
                  <a:srgbClr val="9AA3B2"/>
                </a:solidFill>
                <a:latin typeface="Calibri" pitchFamily="34" charset="0"/>
                <a:ea typeface="Calibri" pitchFamily="34" charset="-122"/>
                <a:cs typeface="Calibri" pitchFamily="34" charset="-120"/>
              </a:rPr>
              <a:t>   ·   syllabus fiche 09 · p. 66</a:t>
            </a:r>
            <a:endParaRPr lang="en-US" sz="1500" dirty="0"/>
          </a:p>
        </p:txBody>
      </p:sp>
      <p:sp>
        <p:nvSpPr>
          <p:cNvPr id="7" name="Shape 4"/>
          <p:cNvSpPr/>
          <p:nvPr/>
        </p:nvSpPr>
        <p:spPr>
          <a:xfrm>
            <a:off x="1596085" y="1504645"/>
            <a:ext cx="4534510" cy="2905735"/>
          </a:xfrm>
          <a:prstGeom prst="roundRect">
            <a:avLst>
              <a:gd name="adj" fmla="val 1259"/>
            </a:avLst>
          </a:prstGeom>
          <a:solidFill>
            <a:srgbClr val="FFFFFF"/>
          </a:solidFill>
          <a:ln w="9525">
            <a:solidFill>
              <a:srgbClr val="E3E7EE"/>
            </a:solidFill>
            <a:prstDash val="solid"/>
          </a:ln>
          <a:effectLst>
            <a:outerShdw sx="100000" sy="100000" kx="0" ky="0" algn="bl" rotWithShape="0" blurRad="127000" dist="50800" dir="5400000">
              <a:srgbClr val="1B2430">
                <a:alpha val="25000"/>
              </a:srgbClr>
            </a:outerShdw>
          </a:effectLst>
        </p:spPr>
      </p:sp>
      <p:pic>
        <p:nvPicPr>
          <p:cNvPr id="8" name="Image 0" descr="/home/user/talenleren/neerlandais1/generateur/img/vijfzinnen/a1_kopje_s.jpg">    </p:cNvPr>
          <p:cNvPicPr>
            <a:picLocks noChangeAspect="1"/>
          </p:cNvPicPr>
          <p:nvPr/>
        </p:nvPicPr>
        <p:blipFill>
          <a:blip r:embed="rId1"/>
          <a:stretch>
            <a:fillRect/>
          </a:stretch>
        </p:blipFill>
        <p:spPr>
          <a:xfrm>
            <a:off x="1691640" y="1600200"/>
            <a:ext cx="4343400" cy="2714625"/>
          </a:xfrm>
          <a:prstGeom prst="rect">
            <a:avLst/>
          </a:prstGeom>
        </p:spPr>
      </p:pic>
      <p:sp>
        <p:nvSpPr>
          <p:cNvPr id="9" name="Shape 5"/>
          <p:cNvSpPr/>
          <p:nvPr/>
        </p:nvSpPr>
        <p:spPr>
          <a:xfrm>
            <a:off x="1691640" y="4572000"/>
            <a:ext cx="1600200" cy="365760"/>
          </a:xfrm>
          <a:prstGeom prst="roundRect">
            <a:avLst>
              <a:gd name="adj" fmla="val 50000"/>
            </a:avLst>
          </a:prstGeom>
          <a:solidFill>
            <a:srgbClr val="FDF1E6"/>
          </a:solidFill>
          <a:ln w="12700">
            <a:solidFill>
              <a:srgbClr val="D9822B"/>
            </a:solidFill>
            <a:prstDash val="solid"/>
          </a:ln>
        </p:spPr>
      </p:sp>
      <p:pic>
        <p:nvPicPr>
          <p:cNvPr id="10" name="Image 1" descr="Comments">    </p:cNvPr>
          <p:cNvPicPr>
            <a:picLocks noChangeAspect="1"/>
          </p:cNvPicPr>
          <p:nvPr/>
        </p:nvPicPr>
        <p:blipFill>
          <a:blip r:embed="rId2"/>
          <a:stretch>
            <a:fillRect/>
          </a:stretch>
        </p:blipFill>
        <p:spPr>
          <a:xfrm>
            <a:off x="1819656" y="4654296"/>
            <a:ext cx="201168" cy="201168"/>
          </a:xfrm>
          <a:prstGeom prst="rect">
            <a:avLst/>
          </a:prstGeom>
        </p:spPr>
      </p:pic>
      <p:sp>
        <p:nvSpPr>
          <p:cNvPr id="11" name="Text 6"/>
          <p:cNvSpPr txBox="1"/>
          <p:nvPr/>
        </p:nvSpPr>
        <p:spPr>
          <a:xfrm>
            <a:off x="2075688" y="4572000"/>
            <a:ext cx="1143000" cy="365760"/>
          </a:xfrm>
          <a:prstGeom prst="rect">
            <a:avLst/>
          </a:prstGeom>
          <a:noFill/>
          <a:ln/>
        </p:spPr>
        <p:txBody>
          <a:bodyPr wrap="square" lIns="0" tIns="0" rIns="0" bIns="0" rtlCol="0" anchor="ctr"/>
          <a:lstStyle/>
          <a:p>
            <a:pPr algn="l" indent="0" marL="0">
              <a:buNone/>
            </a:pPr>
            <a:r>
              <a:rPr lang="en-US" sz="1150" b="1" spc="100" kern="0" dirty="0">
                <a:solidFill>
                  <a:srgbClr val="D9822B"/>
                </a:solidFill>
                <a:latin typeface="Calibri" pitchFamily="34" charset="0"/>
                <a:ea typeface="Calibri" pitchFamily="34" charset="-122"/>
                <a:cs typeface="Calibri" pitchFamily="34" charset="-120"/>
              </a:rPr>
              <a:t>À L’ORAL</a:t>
            </a:r>
            <a:endParaRPr lang="en-US" sz="1150" dirty="0"/>
          </a:p>
        </p:txBody>
      </p:sp>
      <p:sp>
        <p:nvSpPr>
          <p:cNvPr id="12" name="Text 7"/>
          <p:cNvSpPr txBox="1"/>
          <p:nvPr/>
        </p:nvSpPr>
        <p:spPr>
          <a:xfrm>
            <a:off x="3429000" y="4544568"/>
            <a:ext cx="2651760" cy="731520"/>
          </a:xfrm>
          <a:prstGeom prst="rect">
            <a:avLst/>
          </a:prstGeom>
          <a:noFill/>
          <a:ln/>
        </p:spPr>
        <p:txBody>
          <a:bodyPr wrap="square" lIns="0" tIns="0" rIns="0" bIns="0" rtlCol="0" anchor="t"/>
          <a:lstStyle/>
          <a:p>
            <a:pPr algn="l" indent="0" marL="0">
              <a:buNone/>
            </a:pPr>
            <a:r>
              <a:rPr lang="en-US" sz="1150" i="1" dirty="0">
                <a:solidFill>
                  <a:srgbClr val="6B7280"/>
                </a:solidFill>
                <a:latin typeface="Calibri" pitchFamily="34" charset="0"/>
                <a:ea typeface="Calibri" pitchFamily="34" charset="-122"/>
                <a:cs typeface="Calibri" pitchFamily="34" charset="-120"/>
              </a:rPr>
              <a:t>Sur une petite terrasse, Emma et Pieter commandent. Tout est « petit » !</a:t>
            </a:r>
            <a:endParaRPr lang="en-US" sz="1150" dirty="0"/>
          </a:p>
        </p:txBody>
      </p:sp>
      <p:sp>
        <p:nvSpPr>
          <p:cNvPr id="13" name="Shape 8"/>
          <p:cNvSpPr/>
          <p:nvPr/>
        </p:nvSpPr>
        <p:spPr>
          <a:xfrm>
            <a:off x="6355080" y="1673352"/>
            <a:ext cx="914400" cy="402336"/>
          </a:xfrm>
          <a:prstGeom prst="roundRect">
            <a:avLst>
              <a:gd name="adj" fmla="val 13636"/>
            </a:avLst>
          </a:prstGeom>
          <a:solidFill>
            <a:srgbClr val="5FA873"/>
          </a:solidFill>
          <a:ln w="12700">
            <a:solidFill>
              <a:srgbClr val="FFFFFF">
                <a:alpha val="0"/>
              </a:srgbClr>
            </a:solidFill>
            <a:prstDash val="solid"/>
          </a:ln>
        </p:spPr>
      </p:sp>
      <p:sp>
        <p:nvSpPr>
          <p:cNvPr id="14" name="Text 9"/>
          <p:cNvSpPr txBox="1"/>
          <p:nvPr/>
        </p:nvSpPr>
        <p:spPr>
          <a:xfrm>
            <a:off x="6355080" y="167335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1</a:t>
            </a:r>
            <a:endParaRPr lang="en-US" sz="1600" dirty="0"/>
          </a:p>
        </p:txBody>
      </p:sp>
      <p:sp>
        <p:nvSpPr>
          <p:cNvPr id="15" name="Text 10"/>
          <p:cNvSpPr txBox="1"/>
          <p:nvPr/>
        </p:nvSpPr>
        <p:spPr>
          <a:xfrm>
            <a:off x="7406640" y="1618488"/>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Une boisson au diminutif : </a:t>
            </a:r>
            <a:r>
              <a:rPr lang="en-US" sz="1450" b="1" dirty="0">
                <a:solidFill>
                  <a:srgbClr val="2B2F38"/>
                </a:solidFill>
              </a:rPr>
              <a:t>EEN KOPJE</a:t>
            </a:r>
            <a:r>
              <a:rPr lang="en-US" sz="1450" dirty="0">
                <a:solidFill>
                  <a:srgbClr val="2B2F38"/>
                </a:solidFill>
              </a:rPr>
              <a:t>, </a:t>
            </a:r>
            <a:r>
              <a:rPr lang="en-US" sz="1450" b="1" dirty="0">
                <a:solidFill>
                  <a:srgbClr val="2B2F38"/>
                </a:solidFill>
              </a:rPr>
              <a:t>EEN GLAASJE</a:t>
            </a:r>
            <a:r>
              <a:rPr lang="en-US" sz="1450" dirty="0">
                <a:solidFill>
                  <a:srgbClr val="2B2F38"/>
                </a:solidFill>
              </a:rPr>
              <a:t>…</a:t>
            </a:r>
            <a:endParaRPr lang="en-US" sz="1450" dirty="0"/>
          </a:p>
        </p:txBody>
      </p:sp>
      <p:sp>
        <p:nvSpPr>
          <p:cNvPr id="16" name="Shape 11"/>
          <p:cNvSpPr/>
          <p:nvPr/>
        </p:nvSpPr>
        <p:spPr>
          <a:xfrm>
            <a:off x="6355080" y="2404872"/>
            <a:ext cx="914400" cy="402336"/>
          </a:xfrm>
          <a:prstGeom prst="roundRect">
            <a:avLst>
              <a:gd name="adj" fmla="val 13636"/>
            </a:avLst>
          </a:prstGeom>
          <a:solidFill>
            <a:srgbClr val="5FA873"/>
          </a:solidFill>
          <a:ln w="12700">
            <a:solidFill>
              <a:srgbClr val="FFFFFF">
                <a:alpha val="0"/>
              </a:srgbClr>
            </a:solidFill>
            <a:prstDash val="solid"/>
          </a:ln>
        </p:spPr>
      </p:sp>
      <p:sp>
        <p:nvSpPr>
          <p:cNvPr id="17" name="Text 12"/>
          <p:cNvSpPr txBox="1"/>
          <p:nvPr/>
        </p:nvSpPr>
        <p:spPr>
          <a:xfrm>
            <a:off x="6355080" y="240487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2</a:t>
            </a:r>
            <a:endParaRPr lang="en-US" sz="1600" dirty="0"/>
          </a:p>
        </p:txBody>
      </p:sp>
      <p:sp>
        <p:nvSpPr>
          <p:cNvPr id="18" name="Text 13"/>
          <p:cNvSpPr txBox="1"/>
          <p:nvPr/>
        </p:nvSpPr>
        <p:spPr>
          <a:xfrm>
            <a:off x="7406640" y="2350008"/>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Un en-cas au diminutif : </a:t>
            </a:r>
            <a:r>
              <a:rPr lang="en-US" sz="1450" b="1" dirty="0">
                <a:solidFill>
                  <a:srgbClr val="2B2F38"/>
                </a:solidFill>
              </a:rPr>
              <a:t>EEN BROODJE</a:t>
            </a:r>
            <a:r>
              <a:rPr lang="en-US" sz="1450" dirty="0">
                <a:solidFill>
                  <a:srgbClr val="2B2F38"/>
                </a:solidFill>
              </a:rPr>
              <a:t>, </a:t>
            </a:r>
            <a:r>
              <a:rPr lang="en-US" sz="1450" b="1" dirty="0">
                <a:solidFill>
                  <a:srgbClr val="2B2F38"/>
                </a:solidFill>
              </a:rPr>
              <a:t>EEN KOEKJE</a:t>
            </a:r>
            <a:r>
              <a:rPr lang="en-US" sz="1450" dirty="0">
                <a:solidFill>
                  <a:srgbClr val="2B2F38"/>
                </a:solidFill>
              </a:rPr>
              <a:t>…</a:t>
            </a:r>
            <a:endParaRPr lang="en-US" sz="1450" dirty="0"/>
          </a:p>
        </p:txBody>
      </p:sp>
      <p:sp>
        <p:nvSpPr>
          <p:cNvPr id="19" name="Shape 14"/>
          <p:cNvSpPr/>
          <p:nvPr/>
        </p:nvSpPr>
        <p:spPr>
          <a:xfrm>
            <a:off x="6355080" y="3136392"/>
            <a:ext cx="914400" cy="402336"/>
          </a:xfrm>
          <a:prstGeom prst="roundRect">
            <a:avLst>
              <a:gd name="adj" fmla="val 13636"/>
            </a:avLst>
          </a:prstGeom>
          <a:solidFill>
            <a:srgbClr val="5FA873"/>
          </a:solidFill>
          <a:ln w="12700">
            <a:solidFill>
              <a:srgbClr val="FFFFFF">
                <a:alpha val="0"/>
              </a:srgbClr>
            </a:solidFill>
            <a:prstDash val="solid"/>
          </a:ln>
        </p:spPr>
      </p:sp>
      <p:sp>
        <p:nvSpPr>
          <p:cNvPr id="20" name="Text 15"/>
          <p:cNvSpPr txBox="1"/>
          <p:nvPr/>
        </p:nvSpPr>
        <p:spPr>
          <a:xfrm>
            <a:off x="6355080" y="313639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3</a:t>
            </a:r>
            <a:endParaRPr lang="en-US" sz="1600" dirty="0"/>
          </a:p>
        </p:txBody>
      </p:sp>
      <p:sp>
        <p:nvSpPr>
          <p:cNvPr id="21" name="Text 16"/>
          <p:cNvSpPr txBox="1"/>
          <p:nvPr/>
        </p:nvSpPr>
        <p:spPr>
          <a:xfrm>
            <a:off x="7406640" y="3081528"/>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Le diminutif est toujours </a:t>
            </a:r>
            <a:r>
              <a:rPr lang="en-US" sz="1450" b="1" dirty="0">
                <a:solidFill>
                  <a:srgbClr val="2B2F38"/>
                </a:solidFill>
              </a:rPr>
              <a:t>HET</a:t>
            </a:r>
            <a:r>
              <a:rPr lang="en-US" sz="1450" dirty="0">
                <a:solidFill>
                  <a:srgbClr val="2B2F38"/>
                </a:solidFill>
              </a:rPr>
              <a:t>.</a:t>
            </a:r>
            <a:endParaRPr lang="en-US" sz="1450" dirty="0"/>
          </a:p>
        </p:txBody>
      </p:sp>
      <p:sp>
        <p:nvSpPr>
          <p:cNvPr id="22" name="Shape 17"/>
          <p:cNvSpPr/>
          <p:nvPr/>
        </p:nvSpPr>
        <p:spPr>
          <a:xfrm>
            <a:off x="6355080" y="3867912"/>
            <a:ext cx="914400" cy="402336"/>
          </a:xfrm>
          <a:prstGeom prst="roundRect">
            <a:avLst>
              <a:gd name="adj" fmla="val 13636"/>
            </a:avLst>
          </a:prstGeom>
          <a:solidFill>
            <a:srgbClr val="5FA873"/>
          </a:solidFill>
          <a:ln w="12700">
            <a:solidFill>
              <a:srgbClr val="FFFFFF">
                <a:alpha val="0"/>
              </a:srgbClr>
            </a:solidFill>
            <a:prstDash val="solid"/>
          </a:ln>
        </p:spPr>
      </p:sp>
      <p:sp>
        <p:nvSpPr>
          <p:cNvPr id="23" name="Text 18"/>
          <p:cNvSpPr txBox="1"/>
          <p:nvPr/>
        </p:nvSpPr>
        <p:spPr>
          <a:xfrm>
            <a:off x="6355080" y="386791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4</a:t>
            </a:r>
            <a:endParaRPr lang="en-US" sz="1600" dirty="0"/>
          </a:p>
        </p:txBody>
      </p:sp>
      <p:sp>
        <p:nvSpPr>
          <p:cNvPr id="24" name="Text 19"/>
          <p:cNvSpPr txBox="1"/>
          <p:nvPr/>
        </p:nvSpPr>
        <p:spPr>
          <a:xfrm>
            <a:off x="7406640" y="3813048"/>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Une chute avec un diminutif au </a:t>
            </a:r>
            <a:r>
              <a:rPr lang="en-US" sz="1450" b="1" dirty="0">
                <a:solidFill>
                  <a:srgbClr val="2B2F38"/>
                </a:solidFill>
              </a:rPr>
              <a:t>pluriel</a:t>
            </a:r>
            <a:r>
              <a:rPr lang="en-US" sz="1450" dirty="0">
                <a:solidFill>
                  <a:srgbClr val="2B2F38"/>
                </a:solidFill>
              </a:rPr>
              <a:t> (-s).</a:t>
            </a:r>
            <a:endParaRPr lang="en-US" sz="1450" dirty="0"/>
          </a:p>
        </p:txBody>
      </p:sp>
      <p:sp>
        <p:nvSpPr>
          <p:cNvPr id="25" name="Shape 20"/>
          <p:cNvSpPr/>
          <p:nvPr/>
        </p:nvSpPr>
        <p:spPr>
          <a:xfrm>
            <a:off x="3246120" y="5440680"/>
            <a:ext cx="6858000" cy="822960"/>
          </a:xfrm>
          <a:prstGeom prst="roundRect">
            <a:avLst>
              <a:gd name="adj" fmla="val 17778"/>
            </a:avLst>
          </a:prstGeom>
          <a:solidFill>
            <a:srgbClr val="EAF5EC"/>
          </a:solidFill>
          <a:ln w="15875">
            <a:solidFill>
              <a:srgbClr val="5FA873"/>
            </a:solidFill>
            <a:prstDash val="solid"/>
          </a:ln>
        </p:spPr>
      </p:sp>
      <p:pic>
        <p:nvPicPr>
          <p:cNvPr id="26" name="Image 2" descr="UserFriends">    </p:cNvPr>
          <p:cNvPicPr>
            <a:picLocks noChangeAspect="1"/>
          </p:cNvPicPr>
          <p:nvPr/>
        </p:nvPicPr>
        <p:blipFill>
          <a:blip r:embed="rId3"/>
          <a:stretch>
            <a:fillRect/>
          </a:stretch>
        </p:blipFill>
        <p:spPr>
          <a:xfrm>
            <a:off x="3520440" y="5660136"/>
            <a:ext cx="384048" cy="384048"/>
          </a:xfrm>
          <a:prstGeom prst="rect">
            <a:avLst/>
          </a:prstGeom>
        </p:spPr>
      </p:pic>
      <p:sp>
        <p:nvSpPr>
          <p:cNvPr id="27" name="Text 21"/>
          <p:cNvSpPr txBox="1"/>
          <p:nvPr/>
        </p:nvSpPr>
        <p:spPr>
          <a:xfrm>
            <a:off x="4114800" y="5440680"/>
            <a:ext cx="5852160" cy="822960"/>
          </a:xfrm>
          <a:prstGeom prst="rect">
            <a:avLst/>
          </a:prstGeom>
          <a:noFill/>
          <a:ln/>
        </p:spPr>
        <p:txBody>
          <a:bodyPr wrap="square" lIns="0" tIns="0" rIns="0" bIns="0" rtlCol="0" anchor="ctr"/>
          <a:lstStyle/>
          <a:p>
            <a:pPr algn="ctr" indent="0" marL="0">
              <a:buNone/>
            </a:pPr>
            <a:r>
              <a:rPr lang="en-US" sz="1800" b="1" dirty="0">
                <a:solidFill>
                  <a:srgbClr val="2E6B44"/>
                </a:solidFill>
                <a:latin typeface="Calibri" pitchFamily="34" charset="0"/>
                <a:ea typeface="Calibri" pitchFamily="34" charset="-122"/>
                <a:cs typeface="Calibri" pitchFamily="34" charset="-120"/>
              </a:rPr>
              <a:t>Vertel je verhaal aan je partner.</a:t>
            </a:r>
            <a:endParaRPr lang="en-US" sz="1800" dirty="0"/>
          </a:p>
          <a:p>
            <a:pPr algn="ctr" indent="0" marL="0">
              <a:buNone/>
            </a:pPr>
            <a:r>
              <a:rPr lang="en-US" sz="1800" b="1" dirty="0">
                <a:solidFill>
                  <a:srgbClr val="2E6B44"/>
                </a:solidFill>
                <a:latin typeface="Calibri" pitchFamily="34" charset="0"/>
                <a:ea typeface="Calibri" pitchFamily="34" charset="-122"/>
                <a:cs typeface="Calibri" pitchFamily="34" charset="-120"/>
              </a:rPr>
              <a:t>Wat denkt hij/zij daarvan?</a:t>
            </a:r>
            <a:endParaRPr lang="en-US" sz="1800" dirty="0"/>
          </a:p>
        </p:txBody>
      </p:sp>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1"/>
          <p:cNvSpPr/>
          <p:nvPr>
            <p:ph idx="101" type="title" hasCustomPrompt="1"/>
          </p:nvPr>
        </p:nvSpPr>
        <p:spPr>
          <a:xfrm>
            <a:off x="1554480" y="384048"/>
            <a:ext cx="10241280" cy="658368"/>
          </a:xfrm>
          <a:prstGeom prst="rect">
            <a:avLst/>
          </a:prstGeom>
          <a:noFill/>
          <a:ln/>
        </p:spPr>
        <p:txBody>
          <a:bodyPr wrap="square" lIns="0" tIns="0" rIns="0" bIns="0" rtlCol="0" anchor="ctr"/>
          <a:lstStyle/>
          <a:p>
            <a:pPr algn="ctr" indent="0" marL="0">
              <a:buNone/>
            </a:pPr>
            <a:r>
              <a:rPr lang="en-US" sz="3000" b="1" dirty="0">
                <a:solidFill>
                  <a:srgbClr val="2B2F38"/>
                </a:solidFill>
              </a:rPr>
              <a:t>Een kopje koffie</a:t>
            </a:r>
            <a:endParaRPr lang="en-US" sz="3000" dirty="0"/>
          </a:p>
        </p:txBody>
      </p:sp>
      <p:sp>
        <p:nvSpPr>
          <p:cNvPr id="4" name="Shape 1"/>
          <p:cNvSpPr/>
          <p:nvPr/>
        </p:nvSpPr>
        <p:spPr>
          <a:xfrm>
            <a:off x="365760" y="365760"/>
            <a:ext cx="868680" cy="5989320"/>
          </a:xfrm>
          <a:prstGeom prst="roundRect">
            <a:avLst>
              <a:gd name="adj" fmla="val 12632"/>
            </a:avLst>
          </a:prstGeom>
          <a:solidFill>
            <a:srgbClr val="E4EEFB"/>
          </a:solidFill>
          <a:ln w="28575">
            <a:solidFill>
              <a:srgbClr val="6FA0DC"/>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3E6FB0"/>
                </a:solidFill>
                <a:latin typeface="Calibri" pitchFamily="34" charset="0"/>
                <a:ea typeface="Calibri" pitchFamily="34" charset="-122"/>
                <a:cs typeface="Calibri" pitchFamily="34" charset="-120"/>
              </a:rPr>
              <a:t>A1 · Grammaire</a:t>
            </a:r>
            <a:endParaRPr lang="en-US" sz="3800" dirty="0"/>
          </a:p>
        </p:txBody>
      </p:sp>
      <p:sp>
        <p:nvSpPr>
          <p:cNvPr id="6" name="Shape 3"/>
          <p:cNvSpPr/>
          <p:nvPr/>
        </p:nvSpPr>
        <p:spPr>
          <a:xfrm>
            <a:off x="2519172" y="1124712"/>
            <a:ext cx="8311896" cy="5277231"/>
          </a:xfrm>
          <a:prstGeom prst="roundRect">
            <a:avLst>
              <a:gd name="adj" fmla="val 693"/>
            </a:avLst>
          </a:prstGeom>
          <a:solidFill>
            <a:srgbClr val="FFFFFF"/>
          </a:solidFill>
          <a:ln w="9525">
            <a:solidFill>
              <a:srgbClr val="E3E7EE"/>
            </a:solidFill>
            <a:prstDash val="solid"/>
          </a:ln>
          <a:effectLst>
            <a:outerShdw sx="100000" sy="100000" kx="0" ky="0" algn="bl" rotWithShape="0" blurRad="177800" dist="63500" dir="5400000">
              <a:srgbClr val="1B2430">
                <a:alpha val="25000"/>
              </a:srgbClr>
            </a:outerShdw>
          </a:effectLst>
        </p:spPr>
      </p:sp>
      <p:pic>
        <p:nvPicPr>
          <p:cNvPr id="7" name="Image 0" descr="/home/user/talenleren/neerlandais1/generateur/img/vijfzinnen/a1_kopje.jpg">    </p:cNvPr>
          <p:cNvPicPr>
            <a:picLocks noChangeAspect="1"/>
          </p:cNvPicPr>
          <p:nvPr/>
        </p:nvPicPr>
        <p:blipFill>
          <a:blip r:embed="rId1"/>
          <a:stretch>
            <a:fillRect/>
          </a:stretch>
        </p:blipFill>
        <p:spPr>
          <a:xfrm>
            <a:off x="2628900" y="1234440"/>
            <a:ext cx="8092440" cy="5057775"/>
          </a:xfrm>
          <a:prstGeom prst="rect">
            <a:avLst/>
          </a:prstGeom>
        </p:spPr>
      </p:pic>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1"/>
          <p:cNvSpPr/>
          <p:nvPr>
            <p:ph idx="101" type="title" hasCustomPrompt="1"/>
          </p:nvPr>
        </p:nvSpPr>
        <p:spPr>
          <a:xfrm>
            <a:off x="1691640" y="347472"/>
            <a:ext cx="8138160" cy="914400"/>
          </a:xfrm>
          <a:prstGeom prst="rect">
            <a:avLst/>
          </a:prstGeom>
          <a:noFill/>
          <a:ln/>
        </p:spPr>
        <p:txBody>
          <a:bodyPr wrap="square" lIns="0" tIns="0" rIns="0" bIns="0" rtlCol="0" anchor="ctr"/>
          <a:lstStyle/>
          <a:p>
            <a:pPr algn="l" indent="0" marL="0">
              <a:buNone/>
            </a:pPr>
            <a:r>
              <a:rPr lang="en-US" sz="2400" b="1" dirty="0">
                <a:solidFill>
                  <a:srgbClr val="2B2F38"/>
                </a:solidFill>
              </a:rPr>
              <a:t>Hier is een voorbeeld van wat je had kunnen denken en zeggen…</a:t>
            </a:r>
            <a:endParaRPr lang="en-US" sz="2400" dirty="0"/>
          </a:p>
        </p:txBody>
      </p:sp>
      <p:sp>
        <p:nvSpPr>
          <p:cNvPr id="4" name="Shape 1"/>
          <p:cNvSpPr/>
          <p:nvPr/>
        </p:nvSpPr>
        <p:spPr>
          <a:xfrm>
            <a:off x="365760" y="365760"/>
            <a:ext cx="868680" cy="5989320"/>
          </a:xfrm>
          <a:prstGeom prst="roundRect">
            <a:avLst>
              <a:gd name="adj" fmla="val 12632"/>
            </a:avLst>
          </a:prstGeom>
          <a:solidFill>
            <a:srgbClr val="E4EEFB"/>
          </a:solidFill>
          <a:ln w="28575">
            <a:solidFill>
              <a:srgbClr val="6FA0DC"/>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3E6FB0"/>
                </a:solidFill>
                <a:latin typeface="Calibri" pitchFamily="34" charset="0"/>
                <a:ea typeface="Calibri" pitchFamily="34" charset="-122"/>
                <a:cs typeface="Calibri" pitchFamily="34" charset="-120"/>
              </a:rPr>
              <a:t>A1 · Grammaire</a:t>
            </a:r>
            <a:endParaRPr lang="en-US" sz="3800" dirty="0"/>
          </a:p>
        </p:txBody>
      </p:sp>
      <p:sp>
        <p:nvSpPr>
          <p:cNvPr id="6" name="Shape 3"/>
          <p:cNvSpPr/>
          <p:nvPr/>
        </p:nvSpPr>
        <p:spPr>
          <a:xfrm>
            <a:off x="10058400" y="246888"/>
            <a:ext cx="1691640" cy="1091565"/>
          </a:xfrm>
          <a:prstGeom prst="roundRect">
            <a:avLst>
              <a:gd name="adj" fmla="val 3351"/>
            </a:avLst>
          </a:prstGeom>
          <a:solidFill>
            <a:srgbClr val="FFFFFF"/>
          </a:solidFill>
          <a:ln w="9525">
            <a:solidFill>
              <a:srgbClr val="E3E7EE"/>
            </a:solidFill>
            <a:prstDash val="solid"/>
          </a:ln>
          <a:effectLst>
            <a:outerShdw sx="100000" sy="100000" kx="0" ky="0" algn="bl" rotWithShape="0" blurRad="76200" dist="25400" dir="5400000">
              <a:srgbClr val="1B2430">
                <a:alpha val="25000"/>
              </a:srgbClr>
            </a:outerShdw>
          </a:effectLst>
        </p:spPr>
      </p:sp>
      <p:pic>
        <p:nvPicPr>
          <p:cNvPr id="7" name="Image 0" descr="/home/user/talenleren/neerlandais1/generateur/img/vijfzinnen/a1_kopje_s.jpg">    </p:cNvPr>
          <p:cNvPicPr>
            <a:picLocks noChangeAspect="1"/>
          </p:cNvPicPr>
          <p:nvPr/>
        </p:nvPicPr>
        <p:blipFill>
          <a:blip r:embed="rId1"/>
          <a:stretch>
            <a:fillRect/>
          </a:stretch>
        </p:blipFill>
        <p:spPr>
          <a:xfrm>
            <a:off x="10104120" y="292608"/>
            <a:ext cx="1600200" cy="1000125"/>
          </a:xfrm>
          <a:prstGeom prst="rect">
            <a:avLst/>
          </a:prstGeom>
        </p:spPr>
      </p:pic>
      <p:sp>
        <p:nvSpPr>
          <p:cNvPr id="8" name="Text 4"/>
          <p:cNvSpPr txBox="1"/>
          <p:nvPr/>
        </p:nvSpPr>
        <p:spPr>
          <a:xfrm>
            <a:off x="1691640" y="3108350"/>
            <a:ext cx="1616354"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Ik wil graag</a:t>
            </a:r>
            <a:endParaRPr lang="en-US" sz="2400" dirty="0"/>
          </a:p>
        </p:txBody>
      </p:sp>
      <p:sp>
        <p:nvSpPr>
          <p:cNvPr id="9" name="Shape 5"/>
          <p:cNvSpPr/>
          <p:nvPr/>
        </p:nvSpPr>
        <p:spPr>
          <a:xfrm>
            <a:off x="3212287" y="3120542"/>
            <a:ext cx="2135734" cy="371856"/>
          </a:xfrm>
          <a:prstGeom prst="roundRect">
            <a:avLst>
              <a:gd name="adj" fmla="val 12295"/>
            </a:avLst>
          </a:prstGeom>
          <a:solidFill>
            <a:srgbClr val="E6F3DA"/>
          </a:solidFill>
          <a:ln w="12700">
            <a:solidFill>
              <a:srgbClr val="FFFFFF">
                <a:alpha val="0"/>
              </a:srgbClr>
            </a:solidFill>
            <a:prstDash val="solid"/>
          </a:ln>
        </p:spPr>
      </p:sp>
      <p:sp>
        <p:nvSpPr>
          <p:cNvPr id="10" name="Text 6"/>
          <p:cNvSpPr txBox="1"/>
          <p:nvPr/>
        </p:nvSpPr>
        <p:spPr>
          <a:xfrm>
            <a:off x="3212287" y="3108350"/>
            <a:ext cx="2135734"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een kopje koffie</a:t>
            </a:r>
            <a:endParaRPr lang="en-US" sz="2400" dirty="0"/>
          </a:p>
        </p:txBody>
      </p:sp>
      <p:sp>
        <p:nvSpPr>
          <p:cNvPr id="11" name="Text 7"/>
          <p:cNvSpPr txBox="1"/>
          <p:nvPr/>
        </p:nvSpPr>
        <p:spPr>
          <a:xfrm>
            <a:off x="5435194" y="3108350"/>
            <a:ext cx="494690"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en</a:t>
            </a:r>
            <a:endParaRPr lang="en-US" sz="2400" dirty="0"/>
          </a:p>
        </p:txBody>
      </p:sp>
      <p:sp>
        <p:nvSpPr>
          <p:cNvPr id="12" name="Shape 8"/>
          <p:cNvSpPr/>
          <p:nvPr/>
        </p:nvSpPr>
        <p:spPr>
          <a:xfrm>
            <a:off x="5834177" y="3120542"/>
            <a:ext cx="1625194" cy="371856"/>
          </a:xfrm>
          <a:prstGeom prst="roundRect">
            <a:avLst>
              <a:gd name="adj" fmla="val 12295"/>
            </a:avLst>
          </a:prstGeom>
          <a:solidFill>
            <a:srgbClr val="E6F3DA"/>
          </a:solidFill>
          <a:ln w="12700">
            <a:solidFill>
              <a:srgbClr val="FFFFFF">
                <a:alpha val="0"/>
              </a:srgbClr>
            </a:solidFill>
            <a:prstDash val="solid"/>
          </a:ln>
        </p:spPr>
      </p:sp>
      <p:sp>
        <p:nvSpPr>
          <p:cNvPr id="13" name="Text 9"/>
          <p:cNvSpPr txBox="1"/>
          <p:nvPr/>
        </p:nvSpPr>
        <p:spPr>
          <a:xfrm>
            <a:off x="5834177" y="3108350"/>
            <a:ext cx="1625194"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een broodje</a:t>
            </a:r>
            <a:endParaRPr lang="en-US" sz="2400" dirty="0"/>
          </a:p>
        </p:txBody>
      </p:sp>
      <p:sp>
        <p:nvSpPr>
          <p:cNvPr id="14" name="Text 10"/>
          <p:cNvSpPr txBox="1"/>
          <p:nvPr/>
        </p:nvSpPr>
        <p:spPr>
          <a:xfrm>
            <a:off x="7459370" y="3108350"/>
            <a:ext cx="259690"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a:t>
            </a:r>
            <a:endParaRPr lang="en-US" sz="2400" dirty="0"/>
          </a:p>
        </p:txBody>
      </p:sp>
      <p:sp>
        <p:nvSpPr>
          <p:cNvPr id="15" name="Shape 11"/>
          <p:cNvSpPr/>
          <p:nvPr/>
        </p:nvSpPr>
        <p:spPr>
          <a:xfrm>
            <a:off x="7623353" y="3120542"/>
            <a:ext cx="1606296" cy="371856"/>
          </a:xfrm>
          <a:prstGeom prst="roundRect">
            <a:avLst>
              <a:gd name="adj" fmla="val 12295"/>
            </a:avLst>
          </a:prstGeom>
          <a:solidFill>
            <a:srgbClr val="E6F3DA"/>
          </a:solidFill>
          <a:ln w="12700">
            <a:solidFill>
              <a:srgbClr val="FFFFFF">
                <a:alpha val="0"/>
              </a:srgbClr>
            </a:solidFill>
            <a:prstDash val="solid"/>
          </a:ln>
        </p:spPr>
      </p:sp>
      <p:sp>
        <p:nvSpPr>
          <p:cNvPr id="16" name="Text 12"/>
          <p:cNvSpPr txBox="1"/>
          <p:nvPr/>
        </p:nvSpPr>
        <p:spPr>
          <a:xfrm>
            <a:off x="7623353" y="3108350"/>
            <a:ext cx="1606296"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Het broodje</a:t>
            </a:r>
            <a:endParaRPr lang="en-US" sz="2400" dirty="0"/>
          </a:p>
        </p:txBody>
      </p:sp>
      <p:sp>
        <p:nvSpPr>
          <p:cNvPr id="17" name="Text 13"/>
          <p:cNvSpPr txBox="1"/>
          <p:nvPr/>
        </p:nvSpPr>
        <p:spPr>
          <a:xfrm>
            <a:off x="9316822" y="3108350"/>
            <a:ext cx="1316126"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is lekker!</a:t>
            </a:r>
            <a:endParaRPr lang="en-US" sz="2400" dirty="0"/>
          </a:p>
        </p:txBody>
      </p:sp>
      <p:sp>
        <p:nvSpPr>
          <p:cNvPr id="18" name="Shape 14"/>
          <p:cNvSpPr/>
          <p:nvPr/>
        </p:nvSpPr>
        <p:spPr>
          <a:xfrm>
            <a:off x="4280154" y="3044342"/>
            <a:ext cx="914" cy="76200"/>
          </a:xfrm>
          <a:prstGeom prst="line">
            <a:avLst/>
          </a:prstGeom>
          <a:noFill/>
          <a:ln w="15875">
            <a:solidFill>
              <a:srgbClr val="7AB648"/>
            </a:solidFill>
            <a:prstDash val="solid"/>
          </a:ln>
        </p:spPr>
      </p:sp>
      <p:sp>
        <p:nvSpPr>
          <p:cNvPr id="19" name="Shape 15"/>
          <p:cNvSpPr/>
          <p:nvPr/>
        </p:nvSpPr>
        <p:spPr>
          <a:xfrm>
            <a:off x="3990632" y="2797454"/>
            <a:ext cx="579044" cy="246888"/>
          </a:xfrm>
          <a:prstGeom prst="roundRect">
            <a:avLst>
              <a:gd name="adj" fmla="val 14815"/>
            </a:avLst>
          </a:prstGeom>
          <a:solidFill>
            <a:srgbClr val="7AB648"/>
          </a:solidFill>
          <a:ln w="12700">
            <a:solidFill>
              <a:srgbClr val="FFFFFF">
                <a:alpha val="0"/>
              </a:srgbClr>
            </a:solidFill>
            <a:prstDash val="solid"/>
          </a:ln>
        </p:spPr>
      </p:sp>
      <p:sp>
        <p:nvSpPr>
          <p:cNvPr id="20" name="Text 16"/>
          <p:cNvSpPr txBox="1"/>
          <p:nvPr/>
        </p:nvSpPr>
        <p:spPr>
          <a:xfrm>
            <a:off x="3990632" y="2797454"/>
            <a:ext cx="579044"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KOPJE</a:t>
            </a:r>
            <a:endParaRPr lang="en-US" sz="1100" dirty="0"/>
          </a:p>
        </p:txBody>
      </p:sp>
      <p:sp>
        <p:nvSpPr>
          <p:cNvPr id="21" name="Shape 17"/>
          <p:cNvSpPr/>
          <p:nvPr/>
        </p:nvSpPr>
        <p:spPr>
          <a:xfrm>
            <a:off x="6646774" y="3044342"/>
            <a:ext cx="914" cy="76200"/>
          </a:xfrm>
          <a:prstGeom prst="line">
            <a:avLst/>
          </a:prstGeom>
          <a:noFill/>
          <a:ln w="15875">
            <a:solidFill>
              <a:srgbClr val="7AB648"/>
            </a:solidFill>
            <a:prstDash val="solid"/>
          </a:ln>
        </p:spPr>
      </p:sp>
      <p:sp>
        <p:nvSpPr>
          <p:cNvPr id="22" name="Shape 18"/>
          <p:cNvSpPr/>
          <p:nvPr/>
        </p:nvSpPr>
        <p:spPr>
          <a:xfrm>
            <a:off x="6262884" y="2797454"/>
            <a:ext cx="767779" cy="246888"/>
          </a:xfrm>
          <a:prstGeom prst="roundRect">
            <a:avLst>
              <a:gd name="adj" fmla="val 14815"/>
            </a:avLst>
          </a:prstGeom>
          <a:solidFill>
            <a:srgbClr val="7AB648"/>
          </a:solidFill>
          <a:ln w="12700">
            <a:solidFill>
              <a:srgbClr val="FFFFFF">
                <a:alpha val="0"/>
              </a:srgbClr>
            </a:solidFill>
            <a:prstDash val="solid"/>
          </a:ln>
        </p:spPr>
      </p:sp>
      <p:sp>
        <p:nvSpPr>
          <p:cNvPr id="23" name="Text 19"/>
          <p:cNvSpPr txBox="1"/>
          <p:nvPr/>
        </p:nvSpPr>
        <p:spPr>
          <a:xfrm>
            <a:off x="6262884" y="2797454"/>
            <a:ext cx="767779"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BROODJE</a:t>
            </a:r>
            <a:endParaRPr lang="en-US" sz="1100" dirty="0"/>
          </a:p>
        </p:txBody>
      </p:sp>
      <p:sp>
        <p:nvSpPr>
          <p:cNvPr id="24" name="Shape 20"/>
          <p:cNvSpPr/>
          <p:nvPr/>
        </p:nvSpPr>
        <p:spPr>
          <a:xfrm>
            <a:off x="8426501" y="3044342"/>
            <a:ext cx="914" cy="76200"/>
          </a:xfrm>
          <a:prstGeom prst="line">
            <a:avLst/>
          </a:prstGeom>
          <a:noFill/>
          <a:ln w="15875">
            <a:solidFill>
              <a:srgbClr val="7AB648"/>
            </a:solidFill>
            <a:prstDash val="solid"/>
          </a:ln>
        </p:spPr>
      </p:sp>
      <p:sp>
        <p:nvSpPr>
          <p:cNvPr id="25" name="Shape 21"/>
          <p:cNvSpPr/>
          <p:nvPr/>
        </p:nvSpPr>
        <p:spPr>
          <a:xfrm>
            <a:off x="8059096" y="2797454"/>
            <a:ext cx="734809" cy="246888"/>
          </a:xfrm>
          <a:prstGeom prst="roundRect">
            <a:avLst>
              <a:gd name="adj" fmla="val 14815"/>
            </a:avLst>
          </a:prstGeom>
          <a:solidFill>
            <a:srgbClr val="7AB648"/>
          </a:solidFill>
          <a:ln w="12700">
            <a:solidFill>
              <a:srgbClr val="FFFFFF">
                <a:alpha val="0"/>
              </a:srgbClr>
            </a:solidFill>
            <a:prstDash val="solid"/>
          </a:ln>
        </p:spPr>
      </p:sp>
      <p:sp>
        <p:nvSpPr>
          <p:cNvPr id="26" name="Text 22"/>
          <p:cNvSpPr txBox="1"/>
          <p:nvPr/>
        </p:nvSpPr>
        <p:spPr>
          <a:xfrm>
            <a:off x="8059096" y="2797454"/>
            <a:ext cx="734809"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HET + -JE</a:t>
            </a:r>
            <a:endParaRPr lang="en-US" sz="1100" dirty="0"/>
          </a:p>
        </p:txBody>
      </p:sp>
      <p:sp>
        <p:nvSpPr>
          <p:cNvPr id="27" name="Text 23"/>
          <p:cNvSpPr txBox="1"/>
          <p:nvPr/>
        </p:nvSpPr>
        <p:spPr>
          <a:xfrm>
            <a:off x="4724248" y="4162958"/>
            <a:ext cx="1109167"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En nu…</a:t>
            </a:r>
            <a:endParaRPr lang="en-US" sz="2400" dirty="0"/>
          </a:p>
        </p:txBody>
      </p:sp>
      <p:sp>
        <p:nvSpPr>
          <p:cNvPr id="28" name="Shape 24"/>
          <p:cNvSpPr/>
          <p:nvPr/>
        </p:nvSpPr>
        <p:spPr>
          <a:xfrm>
            <a:off x="5737708" y="4175150"/>
            <a:ext cx="1426769" cy="371856"/>
          </a:xfrm>
          <a:prstGeom prst="roundRect">
            <a:avLst>
              <a:gd name="adj" fmla="val 12295"/>
            </a:avLst>
          </a:prstGeom>
          <a:solidFill>
            <a:srgbClr val="E6F3DA"/>
          </a:solidFill>
          <a:ln w="12700">
            <a:solidFill>
              <a:srgbClr val="FFFFFF">
                <a:alpha val="0"/>
              </a:srgbClr>
            </a:solidFill>
            <a:prstDash val="solid"/>
          </a:ln>
        </p:spPr>
      </p:sp>
      <p:sp>
        <p:nvSpPr>
          <p:cNvPr id="29" name="Text 25"/>
          <p:cNvSpPr txBox="1"/>
          <p:nvPr/>
        </p:nvSpPr>
        <p:spPr>
          <a:xfrm>
            <a:off x="5737708" y="4162958"/>
            <a:ext cx="1426769"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twee ijsjes</a:t>
            </a:r>
            <a:endParaRPr lang="en-US" sz="2400" dirty="0"/>
          </a:p>
        </p:txBody>
      </p:sp>
      <p:sp>
        <p:nvSpPr>
          <p:cNvPr id="30" name="Text 26"/>
          <p:cNvSpPr txBox="1"/>
          <p:nvPr/>
        </p:nvSpPr>
        <p:spPr>
          <a:xfrm>
            <a:off x="7164476" y="4162958"/>
            <a:ext cx="1690116"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 alstublieft!</a:t>
            </a:r>
            <a:endParaRPr lang="en-US" sz="2400" dirty="0"/>
          </a:p>
        </p:txBody>
      </p:sp>
      <p:sp>
        <p:nvSpPr>
          <p:cNvPr id="31" name="Shape 27"/>
          <p:cNvSpPr/>
          <p:nvPr/>
        </p:nvSpPr>
        <p:spPr>
          <a:xfrm>
            <a:off x="6451092" y="4098950"/>
            <a:ext cx="914" cy="76200"/>
          </a:xfrm>
          <a:prstGeom prst="line">
            <a:avLst/>
          </a:prstGeom>
          <a:noFill/>
          <a:ln w="15875">
            <a:solidFill>
              <a:srgbClr val="7AB648"/>
            </a:solidFill>
            <a:prstDash val="solid"/>
          </a:ln>
        </p:spPr>
      </p:sp>
      <p:sp>
        <p:nvSpPr>
          <p:cNvPr id="32" name="Shape 28"/>
          <p:cNvSpPr/>
          <p:nvPr/>
        </p:nvSpPr>
        <p:spPr>
          <a:xfrm>
            <a:off x="6229744" y="3852062"/>
            <a:ext cx="442697" cy="246888"/>
          </a:xfrm>
          <a:prstGeom prst="roundRect">
            <a:avLst>
              <a:gd name="adj" fmla="val 14815"/>
            </a:avLst>
          </a:prstGeom>
          <a:solidFill>
            <a:srgbClr val="7AB648"/>
          </a:solidFill>
          <a:ln w="12700">
            <a:solidFill>
              <a:srgbClr val="FFFFFF">
                <a:alpha val="0"/>
              </a:srgbClr>
            </a:solidFill>
            <a:prstDash val="solid"/>
          </a:ln>
        </p:spPr>
      </p:sp>
      <p:sp>
        <p:nvSpPr>
          <p:cNvPr id="33" name="Text 29"/>
          <p:cNvSpPr txBox="1"/>
          <p:nvPr/>
        </p:nvSpPr>
        <p:spPr>
          <a:xfrm>
            <a:off x="6229744" y="3852062"/>
            <a:ext cx="442697"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-JES</a:t>
            </a:r>
            <a:endParaRPr lang="en-US" sz="1100" dirty="0"/>
          </a:p>
        </p:txBody>
      </p:sp>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1"/>
          <p:cNvSpPr/>
          <p:nvPr>
            <p:ph idx="101" type="title" hasCustomPrompt="1"/>
          </p:nvPr>
        </p:nvSpPr>
        <p:spPr>
          <a:xfrm>
            <a:off x="1554480" y="384048"/>
            <a:ext cx="10241280" cy="658368"/>
          </a:xfrm>
          <a:prstGeom prst="rect">
            <a:avLst/>
          </a:prstGeom>
          <a:noFill/>
          <a:ln/>
        </p:spPr>
        <p:txBody>
          <a:bodyPr wrap="square" lIns="0" tIns="0" rIns="0" bIns="0" rtlCol="0" anchor="ctr"/>
          <a:lstStyle/>
          <a:p>
            <a:pPr algn="ctr" indent="0" marL="0">
              <a:buNone/>
            </a:pPr>
            <a:r>
              <a:rPr lang="en-US" sz="3000" b="1" dirty="0">
                <a:solidFill>
                  <a:srgbClr val="2B2F38"/>
                </a:solidFill>
              </a:rPr>
              <a:t>Gebruik deze afbeelding als inspiratie</a:t>
            </a:r>
            <a:endParaRPr lang="en-US" sz="3000" dirty="0"/>
          </a:p>
        </p:txBody>
      </p:sp>
      <p:sp>
        <p:nvSpPr>
          <p:cNvPr id="4" name="Shape 1"/>
          <p:cNvSpPr/>
          <p:nvPr/>
        </p:nvSpPr>
        <p:spPr>
          <a:xfrm>
            <a:off x="365760" y="365760"/>
            <a:ext cx="868680" cy="5989320"/>
          </a:xfrm>
          <a:prstGeom prst="roundRect">
            <a:avLst>
              <a:gd name="adj" fmla="val 12632"/>
            </a:avLst>
          </a:prstGeom>
          <a:solidFill>
            <a:srgbClr val="E4EEFB"/>
          </a:solidFill>
          <a:ln w="28575">
            <a:solidFill>
              <a:srgbClr val="6FA0DC"/>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3E6FB0"/>
                </a:solidFill>
                <a:latin typeface="Calibri" pitchFamily="34" charset="0"/>
                <a:ea typeface="Calibri" pitchFamily="34" charset="-122"/>
                <a:cs typeface="Calibri" pitchFamily="34" charset="-120"/>
              </a:rPr>
              <a:t>A1 · Grammaire</a:t>
            </a:r>
            <a:endParaRPr lang="en-US" sz="3800" dirty="0"/>
          </a:p>
        </p:txBody>
      </p:sp>
      <p:sp>
        <p:nvSpPr>
          <p:cNvPr id="6" name="Text 3"/>
          <p:cNvSpPr txBox="1"/>
          <p:nvPr/>
        </p:nvSpPr>
        <p:spPr>
          <a:xfrm>
            <a:off x="1554480" y="1024128"/>
            <a:ext cx="10241280" cy="365760"/>
          </a:xfrm>
          <a:prstGeom prst="rect">
            <a:avLst/>
          </a:prstGeom>
          <a:noFill/>
          <a:ln/>
        </p:spPr>
        <p:txBody>
          <a:bodyPr wrap="square" lIns="0" tIns="0" rIns="0" bIns="0" rtlCol="0" anchor="ctr"/>
          <a:lstStyle/>
          <a:p>
            <a:pPr algn="ctr" indent="0" marL="0">
              <a:buNone/>
            </a:pPr>
            <a:r>
              <a:rPr lang="en-US" sz="1500" b="1" dirty="0">
                <a:solidFill>
                  <a:srgbClr val="3E6FB0"/>
                </a:solidFill>
                <a:latin typeface="Calibri" pitchFamily="34" charset="0"/>
                <a:ea typeface="Calibri" pitchFamily="34" charset="-122"/>
                <a:cs typeface="Calibri" pitchFamily="34" charset="-120"/>
              </a:rPr>
              <a:t>24 · Kom maar binnen!</a:t>
            </a:r>
            <a:r>
              <a:rPr lang="en-US" sz="1500" i="1" dirty="0">
                <a:solidFill>
                  <a:srgbClr val="6B7280"/>
                </a:solidFill>
                <a:latin typeface="Calibri" pitchFamily="34" charset="0"/>
                <a:ea typeface="Calibri" pitchFamily="34" charset="-122"/>
                <a:cs typeface="Calibri" pitchFamily="34" charset="-120"/>
              </a:rPr>
              <a:t>   Entrez donc !</a:t>
            </a:r>
            <a:r>
              <a:rPr lang="en-US" sz="1200" dirty="0">
                <a:solidFill>
                  <a:srgbClr val="9AA3B2"/>
                </a:solidFill>
                <a:latin typeface="Calibri" pitchFamily="34" charset="0"/>
                <a:ea typeface="Calibri" pitchFamily="34" charset="-122"/>
                <a:cs typeface="Calibri" pitchFamily="34" charset="-120"/>
              </a:rPr>
              <a:t>   ·   syllabus fiche 10 · p. 67</a:t>
            </a:r>
            <a:endParaRPr lang="en-US" sz="1500" dirty="0"/>
          </a:p>
        </p:txBody>
      </p:sp>
      <p:sp>
        <p:nvSpPr>
          <p:cNvPr id="7" name="Shape 4"/>
          <p:cNvSpPr/>
          <p:nvPr/>
        </p:nvSpPr>
        <p:spPr>
          <a:xfrm>
            <a:off x="1596085" y="1504645"/>
            <a:ext cx="4534510" cy="2905735"/>
          </a:xfrm>
          <a:prstGeom prst="roundRect">
            <a:avLst>
              <a:gd name="adj" fmla="val 1259"/>
            </a:avLst>
          </a:prstGeom>
          <a:solidFill>
            <a:srgbClr val="FFFFFF"/>
          </a:solidFill>
          <a:ln w="9525">
            <a:solidFill>
              <a:srgbClr val="E3E7EE"/>
            </a:solidFill>
            <a:prstDash val="solid"/>
          </a:ln>
          <a:effectLst>
            <a:outerShdw sx="100000" sy="100000" kx="0" ky="0" algn="bl" rotWithShape="0" blurRad="127000" dist="50800" dir="5400000">
              <a:srgbClr val="1B2430">
                <a:alpha val="25000"/>
              </a:srgbClr>
            </a:outerShdw>
          </a:effectLst>
        </p:spPr>
      </p:sp>
      <p:pic>
        <p:nvPicPr>
          <p:cNvPr id="8" name="Image 0" descr="/home/user/talenleren/neerlandais1/generateur/img/vijfzinnen/a1_kommaarbinnen_s.jpg">    </p:cNvPr>
          <p:cNvPicPr>
            <a:picLocks noChangeAspect="1"/>
          </p:cNvPicPr>
          <p:nvPr/>
        </p:nvPicPr>
        <p:blipFill>
          <a:blip r:embed="rId1"/>
          <a:stretch>
            <a:fillRect/>
          </a:stretch>
        </p:blipFill>
        <p:spPr>
          <a:xfrm>
            <a:off x="1691640" y="1600200"/>
            <a:ext cx="4343400" cy="2714625"/>
          </a:xfrm>
          <a:prstGeom prst="rect">
            <a:avLst/>
          </a:prstGeom>
        </p:spPr>
      </p:pic>
      <p:sp>
        <p:nvSpPr>
          <p:cNvPr id="9" name="Shape 5"/>
          <p:cNvSpPr/>
          <p:nvPr/>
        </p:nvSpPr>
        <p:spPr>
          <a:xfrm>
            <a:off x="1691640" y="4572000"/>
            <a:ext cx="1600200" cy="365760"/>
          </a:xfrm>
          <a:prstGeom prst="roundRect">
            <a:avLst>
              <a:gd name="adj" fmla="val 50000"/>
            </a:avLst>
          </a:prstGeom>
          <a:solidFill>
            <a:srgbClr val="FDF1E6"/>
          </a:solidFill>
          <a:ln w="12700">
            <a:solidFill>
              <a:srgbClr val="D9822B"/>
            </a:solidFill>
            <a:prstDash val="solid"/>
          </a:ln>
        </p:spPr>
      </p:sp>
      <p:pic>
        <p:nvPicPr>
          <p:cNvPr id="10" name="Image 1" descr="Comments">    </p:cNvPr>
          <p:cNvPicPr>
            <a:picLocks noChangeAspect="1"/>
          </p:cNvPicPr>
          <p:nvPr/>
        </p:nvPicPr>
        <p:blipFill>
          <a:blip r:embed="rId2"/>
          <a:stretch>
            <a:fillRect/>
          </a:stretch>
        </p:blipFill>
        <p:spPr>
          <a:xfrm>
            <a:off x="1819656" y="4654296"/>
            <a:ext cx="201168" cy="201168"/>
          </a:xfrm>
          <a:prstGeom prst="rect">
            <a:avLst/>
          </a:prstGeom>
        </p:spPr>
      </p:pic>
      <p:sp>
        <p:nvSpPr>
          <p:cNvPr id="11" name="Text 6"/>
          <p:cNvSpPr txBox="1"/>
          <p:nvPr/>
        </p:nvSpPr>
        <p:spPr>
          <a:xfrm>
            <a:off x="2075688" y="4572000"/>
            <a:ext cx="1143000" cy="365760"/>
          </a:xfrm>
          <a:prstGeom prst="rect">
            <a:avLst/>
          </a:prstGeom>
          <a:noFill/>
          <a:ln/>
        </p:spPr>
        <p:txBody>
          <a:bodyPr wrap="square" lIns="0" tIns="0" rIns="0" bIns="0" rtlCol="0" anchor="ctr"/>
          <a:lstStyle/>
          <a:p>
            <a:pPr algn="l" indent="0" marL="0">
              <a:buNone/>
            </a:pPr>
            <a:r>
              <a:rPr lang="en-US" sz="1150" b="1" spc="100" kern="0" dirty="0">
                <a:solidFill>
                  <a:srgbClr val="D9822B"/>
                </a:solidFill>
                <a:latin typeface="Calibri" pitchFamily="34" charset="0"/>
                <a:ea typeface="Calibri" pitchFamily="34" charset="-122"/>
                <a:cs typeface="Calibri" pitchFamily="34" charset="-120"/>
              </a:rPr>
              <a:t>À L’ORAL</a:t>
            </a:r>
            <a:endParaRPr lang="en-US" sz="1150" dirty="0"/>
          </a:p>
        </p:txBody>
      </p:sp>
      <p:sp>
        <p:nvSpPr>
          <p:cNvPr id="12" name="Text 7"/>
          <p:cNvSpPr txBox="1"/>
          <p:nvPr/>
        </p:nvSpPr>
        <p:spPr>
          <a:xfrm>
            <a:off x="3429000" y="4544568"/>
            <a:ext cx="2651760" cy="731520"/>
          </a:xfrm>
          <a:prstGeom prst="rect">
            <a:avLst/>
          </a:prstGeom>
          <a:noFill/>
          <a:ln/>
        </p:spPr>
        <p:txBody>
          <a:bodyPr wrap="square" lIns="0" tIns="0" rIns="0" bIns="0" rtlCol="0" anchor="t"/>
          <a:lstStyle/>
          <a:p>
            <a:pPr algn="l" indent="0" marL="0">
              <a:buNone/>
            </a:pPr>
            <a:r>
              <a:rPr lang="en-US" sz="1150" i="1" dirty="0">
                <a:solidFill>
                  <a:srgbClr val="6B7280"/>
                </a:solidFill>
                <a:latin typeface="Calibri" pitchFamily="34" charset="0"/>
                <a:ea typeface="Calibri" pitchFamily="34" charset="-122"/>
                <a:cs typeface="Calibri" pitchFamily="34" charset="-120"/>
              </a:rPr>
              <a:t>Vous êtes le ou la professeur·e. Donnez des consignes à la classe… gentiment !</a:t>
            </a:r>
            <a:endParaRPr lang="en-US" sz="1150" dirty="0"/>
          </a:p>
        </p:txBody>
      </p:sp>
      <p:sp>
        <p:nvSpPr>
          <p:cNvPr id="13" name="Shape 8"/>
          <p:cNvSpPr/>
          <p:nvPr/>
        </p:nvSpPr>
        <p:spPr>
          <a:xfrm>
            <a:off x="6355080" y="1673352"/>
            <a:ext cx="914400" cy="402336"/>
          </a:xfrm>
          <a:prstGeom prst="roundRect">
            <a:avLst>
              <a:gd name="adj" fmla="val 13636"/>
            </a:avLst>
          </a:prstGeom>
          <a:solidFill>
            <a:srgbClr val="5FA873"/>
          </a:solidFill>
          <a:ln w="12700">
            <a:solidFill>
              <a:srgbClr val="FFFFFF">
                <a:alpha val="0"/>
              </a:srgbClr>
            </a:solidFill>
            <a:prstDash val="solid"/>
          </a:ln>
        </p:spPr>
      </p:sp>
      <p:sp>
        <p:nvSpPr>
          <p:cNvPr id="14" name="Text 9"/>
          <p:cNvSpPr txBox="1"/>
          <p:nvPr/>
        </p:nvSpPr>
        <p:spPr>
          <a:xfrm>
            <a:off x="6355080" y="167335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1</a:t>
            </a:r>
            <a:endParaRPr lang="en-US" sz="1600" dirty="0"/>
          </a:p>
        </p:txBody>
      </p:sp>
      <p:sp>
        <p:nvSpPr>
          <p:cNvPr id="15" name="Text 10"/>
          <p:cNvSpPr txBox="1"/>
          <p:nvPr/>
        </p:nvSpPr>
        <p:spPr>
          <a:xfrm>
            <a:off x="7406640" y="1618488"/>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Une invitation avec </a:t>
            </a:r>
            <a:r>
              <a:rPr lang="en-US" sz="1450" b="1" dirty="0">
                <a:solidFill>
                  <a:srgbClr val="2B2F38"/>
                </a:solidFill>
              </a:rPr>
              <a:t>MAAR</a:t>
            </a:r>
            <a:r>
              <a:rPr lang="en-US" sz="1450" dirty="0">
                <a:solidFill>
                  <a:srgbClr val="2B2F38"/>
                </a:solidFill>
              </a:rPr>
              <a:t> : Kom maar binnen!</a:t>
            </a:r>
            <a:endParaRPr lang="en-US" sz="1450" dirty="0"/>
          </a:p>
        </p:txBody>
      </p:sp>
      <p:sp>
        <p:nvSpPr>
          <p:cNvPr id="16" name="Shape 11"/>
          <p:cNvSpPr/>
          <p:nvPr/>
        </p:nvSpPr>
        <p:spPr>
          <a:xfrm>
            <a:off x="6355080" y="2404872"/>
            <a:ext cx="914400" cy="402336"/>
          </a:xfrm>
          <a:prstGeom prst="roundRect">
            <a:avLst>
              <a:gd name="adj" fmla="val 13636"/>
            </a:avLst>
          </a:prstGeom>
          <a:solidFill>
            <a:srgbClr val="5FA873"/>
          </a:solidFill>
          <a:ln w="12700">
            <a:solidFill>
              <a:srgbClr val="FFFFFF">
                <a:alpha val="0"/>
              </a:srgbClr>
            </a:solidFill>
            <a:prstDash val="solid"/>
          </a:ln>
        </p:spPr>
      </p:sp>
      <p:sp>
        <p:nvSpPr>
          <p:cNvPr id="17" name="Text 12"/>
          <p:cNvSpPr txBox="1"/>
          <p:nvPr/>
        </p:nvSpPr>
        <p:spPr>
          <a:xfrm>
            <a:off x="6355080" y="240487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2</a:t>
            </a:r>
            <a:endParaRPr lang="en-US" sz="1600" dirty="0"/>
          </a:p>
        </p:txBody>
      </p:sp>
      <p:sp>
        <p:nvSpPr>
          <p:cNvPr id="18" name="Text 13"/>
          <p:cNvSpPr txBox="1"/>
          <p:nvPr/>
        </p:nvSpPr>
        <p:spPr>
          <a:xfrm>
            <a:off x="7406640" y="2350008"/>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Un impératif : le radical du verbe.</a:t>
            </a:r>
            <a:endParaRPr lang="en-US" sz="1450" dirty="0"/>
          </a:p>
        </p:txBody>
      </p:sp>
      <p:sp>
        <p:nvSpPr>
          <p:cNvPr id="19" name="Shape 14"/>
          <p:cNvSpPr/>
          <p:nvPr/>
        </p:nvSpPr>
        <p:spPr>
          <a:xfrm>
            <a:off x="6355080" y="3136392"/>
            <a:ext cx="914400" cy="402336"/>
          </a:xfrm>
          <a:prstGeom prst="roundRect">
            <a:avLst>
              <a:gd name="adj" fmla="val 13636"/>
            </a:avLst>
          </a:prstGeom>
          <a:solidFill>
            <a:srgbClr val="5FA873"/>
          </a:solidFill>
          <a:ln w="12700">
            <a:solidFill>
              <a:srgbClr val="FFFFFF">
                <a:alpha val="0"/>
              </a:srgbClr>
            </a:solidFill>
            <a:prstDash val="solid"/>
          </a:ln>
        </p:spPr>
      </p:sp>
      <p:sp>
        <p:nvSpPr>
          <p:cNvPr id="20" name="Text 15"/>
          <p:cNvSpPr txBox="1"/>
          <p:nvPr/>
        </p:nvSpPr>
        <p:spPr>
          <a:xfrm>
            <a:off x="6355080" y="313639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3</a:t>
            </a:r>
            <a:endParaRPr lang="en-US" sz="1600" dirty="0"/>
          </a:p>
        </p:txBody>
      </p:sp>
      <p:sp>
        <p:nvSpPr>
          <p:cNvPr id="21" name="Text 16"/>
          <p:cNvSpPr txBox="1"/>
          <p:nvPr/>
        </p:nvSpPr>
        <p:spPr>
          <a:xfrm>
            <a:off x="7406640" y="3081528"/>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Avec </a:t>
            </a:r>
            <a:r>
              <a:rPr lang="en-US" sz="1450" b="1" dirty="0">
                <a:solidFill>
                  <a:srgbClr val="2B2F38"/>
                </a:solidFill>
              </a:rPr>
              <a:t>EVEN</a:t>
            </a:r>
            <a:r>
              <a:rPr lang="en-US" sz="1450" dirty="0">
                <a:solidFill>
                  <a:srgbClr val="2B2F38"/>
                </a:solidFill>
              </a:rPr>
              <a:t> : un instant.</a:t>
            </a:r>
            <a:endParaRPr lang="en-US" sz="1450" dirty="0"/>
          </a:p>
        </p:txBody>
      </p:sp>
      <p:sp>
        <p:nvSpPr>
          <p:cNvPr id="22" name="Shape 17"/>
          <p:cNvSpPr/>
          <p:nvPr/>
        </p:nvSpPr>
        <p:spPr>
          <a:xfrm>
            <a:off x="6355080" y="3867912"/>
            <a:ext cx="914400" cy="402336"/>
          </a:xfrm>
          <a:prstGeom prst="roundRect">
            <a:avLst>
              <a:gd name="adj" fmla="val 13636"/>
            </a:avLst>
          </a:prstGeom>
          <a:solidFill>
            <a:srgbClr val="5FA873"/>
          </a:solidFill>
          <a:ln w="12700">
            <a:solidFill>
              <a:srgbClr val="FFFFFF">
                <a:alpha val="0"/>
              </a:srgbClr>
            </a:solidFill>
            <a:prstDash val="solid"/>
          </a:ln>
        </p:spPr>
      </p:sp>
      <p:sp>
        <p:nvSpPr>
          <p:cNvPr id="23" name="Text 18"/>
          <p:cNvSpPr txBox="1"/>
          <p:nvPr/>
        </p:nvSpPr>
        <p:spPr>
          <a:xfrm>
            <a:off x="6355080" y="386791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4</a:t>
            </a:r>
            <a:endParaRPr lang="en-US" sz="1600" dirty="0"/>
          </a:p>
        </p:txBody>
      </p:sp>
      <p:sp>
        <p:nvSpPr>
          <p:cNvPr id="24" name="Text 19"/>
          <p:cNvSpPr txBox="1"/>
          <p:nvPr/>
        </p:nvSpPr>
        <p:spPr>
          <a:xfrm>
            <a:off x="7406640" y="3813048"/>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Une chute polie avec </a:t>
            </a:r>
            <a:r>
              <a:rPr lang="en-US" sz="1450" b="1" dirty="0">
                <a:solidFill>
                  <a:srgbClr val="2B2F38"/>
                </a:solidFill>
              </a:rPr>
              <a:t>ALSJEBLIEFT</a:t>
            </a:r>
            <a:r>
              <a:rPr lang="en-US" sz="1450" dirty="0">
                <a:solidFill>
                  <a:srgbClr val="2B2F38"/>
                </a:solidFill>
              </a:rPr>
              <a:t>.</a:t>
            </a:r>
            <a:endParaRPr lang="en-US" sz="1450" dirty="0"/>
          </a:p>
        </p:txBody>
      </p:sp>
      <p:sp>
        <p:nvSpPr>
          <p:cNvPr id="25" name="Shape 20"/>
          <p:cNvSpPr/>
          <p:nvPr/>
        </p:nvSpPr>
        <p:spPr>
          <a:xfrm>
            <a:off x="3246120" y="5440680"/>
            <a:ext cx="6858000" cy="822960"/>
          </a:xfrm>
          <a:prstGeom prst="roundRect">
            <a:avLst>
              <a:gd name="adj" fmla="val 17778"/>
            </a:avLst>
          </a:prstGeom>
          <a:solidFill>
            <a:srgbClr val="EAF5EC"/>
          </a:solidFill>
          <a:ln w="15875">
            <a:solidFill>
              <a:srgbClr val="5FA873"/>
            </a:solidFill>
            <a:prstDash val="solid"/>
          </a:ln>
        </p:spPr>
      </p:sp>
      <p:pic>
        <p:nvPicPr>
          <p:cNvPr id="26" name="Image 2" descr="UserFriends">    </p:cNvPr>
          <p:cNvPicPr>
            <a:picLocks noChangeAspect="1"/>
          </p:cNvPicPr>
          <p:nvPr/>
        </p:nvPicPr>
        <p:blipFill>
          <a:blip r:embed="rId3"/>
          <a:stretch>
            <a:fillRect/>
          </a:stretch>
        </p:blipFill>
        <p:spPr>
          <a:xfrm>
            <a:off x="3520440" y="5660136"/>
            <a:ext cx="384048" cy="384048"/>
          </a:xfrm>
          <a:prstGeom prst="rect">
            <a:avLst/>
          </a:prstGeom>
        </p:spPr>
      </p:pic>
      <p:sp>
        <p:nvSpPr>
          <p:cNvPr id="27" name="Text 21"/>
          <p:cNvSpPr txBox="1"/>
          <p:nvPr/>
        </p:nvSpPr>
        <p:spPr>
          <a:xfrm>
            <a:off x="4114800" y="5440680"/>
            <a:ext cx="5852160" cy="822960"/>
          </a:xfrm>
          <a:prstGeom prst="rect">
            <a:avLst/>
          </a:prstGeom>
          <a:noFill/>
          <a:ln/>
        </p:spPr>
        <p:txBody>
          <a:bodyPr wrap="square" lIns="0" tIns="0" rIns="0" bIns="0" rtlCol="0" anchor="ctr"/>
          <a:lstStyle/>
          <a:p>
            <a:pPr algn="ctr" indent="0" marL="0">
              <a:buNone/>
            </a:pPr>
            <a:r>
              <a:rPr lang="en-US" sz="1800" b="1" dirty="0">
                <a:solidFill>
                  <a:srgbClr val="2E6B44"/>
                </a:solidFill>
                <a:latin typeface="Calibri" pitchFamily="34" charset="0"/>
                <a:ea typeface="Calibri" pitchFamily="34" charset="-122"/>
                <a:cs typeface="Calibri" pitchFamily="34" charset="-120"/>
              </a:rPr>
              <a:t>Vertel je verhaal aan je partner.</a:t>
            </a:r>
            <a:endParaRPr lang="en-US" sz="1800" dirty="0"/>
          </a:p>
          <a:p>
            <a:pPr algn="ctr" indent="0" marL="0">
              <a:buNone/>
            </a:pPr>
            <a:r>
              <a:rPr lang="en-US" sz="1800" b="1" dirty="0">
                <a:solidFill>
                  <a:srgbClr val="2E6B44"/>
                </a:solidFill>
                <a:latin typeface="Calibri" pitchFamily="34" charset="0"/>
                <a:ea typeface="Calibri" pitchFamily="34" charset="-122"/>
                <a:cs typeface="Calibri" pitchFamily="34" charset="-120"/>
              </a:rPr>
              <a:t>Wat denkt hij/zij daarvan?</a:t>
            </a:r>
            <a:endParaRPr lang="en-US" sz="1800" dirty="0"/>
          </a:p>
        </p:txBody>
      </p:sp>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1"/>
          <p:cNvSpPr/>
          <p:nvPr>
            <p:ph idx="101" type="title" hasCustomPrompt="1"/>
          </p:nvPr>
        </p:nvSpPr>
        <p:spPr>
          <a:xfrm>
            <a:off x="1554480" y="384048"/>
            <a:ext cx="10241280" cy="658368"/>
          </a:xfrm>
          <a:prstGeom prst="rect">
            <a:avLst/>
          </a:prstGeom>
          <a:noFill/>
          <a:ln/>
        </p:spPr>
        <p:txBody>
          <a:bodyPr wrap="square" lIns="0" tIns="0" rIns="0" bIns="0" rtlCol="0" anchor="ctr"/>
          <a:lstStyle/>
          <a:p>
            <a:pPr algn="ctr" indent="0" marL="0">
              <a:buNone/>
            </a:pPr>
            <a:r>
              <a:rPr lang="en-US" sz="3000" b="1" dirty="0">
                <a:solidFill>
                  <a:srgbClr val="2B2F38"/>
                </a:solidFill>
              </a:rPr>
              <a:t>Kom maar binnen!</a:t>
            </a:r>
            <a:endParaRPr lang="en-US" sz="3000" dirty="0"/>
          </a:p>
        </p:txBody>
      </p:sp>
      <p:sp>
        <p:nvSpPr>
          <p:cNvPr id="4" name="Shape 1"/>
          <p:cNvSpPr/>
          <p:nvPr/>
        </p:nvSpPr>
        <p:spPr>
          <a:xfrm>
            <a:off x="365760" y="365760"/>
            <a:ext cx="868680" cy="5989320"/>
          </a:xfrm>
          <a:prstGeom prst="roundRect">
            <a:avLst>
              <a:gd name="adj" fmla="val 12632"/>
            </a:avLst>
          </a:prstGeom>
          <a:solidFill>
            <a:srgbClr val="E4EEFB"/>
          </a:solidFill>
          <a:ln w="28575">
            <a:solidFill>
              <a:srgbClr val="6FA0DC"/>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3E6FB0"/>
                </a:solidFill>
                <a:latin typeface="Calibri" pitchFamily="34" charset="0"/>
                <a:ea typeface="Calibri" pitchFamily="34" charset="-122"/>
                <a:cs typeface="Calibri" pitchFamily="34" charset="-120"/>
              </a:rPr>
              <a:t>A1 · Grammaire</a:t>
            </a:r>
            <a:endParaRPr lang="en-US" sz="3800" dirty="0"/>
          </a:p>
        </p:txBody>
      </p:sp>
      <p:sp>
        <p:nvSpPr>
          <p:cNvPr id="6" name="Shape 3"/>
          <p:cNvSpPr/>
          <p:nvPr/>
        </p:nvSpPr>
        <p:spPr>
          <a:xfrm>
            <a:off x="2519172" y="1124712"/>
            <a:ext cx="8311896" cy="5277231"/>
          </a:xfrm>
          <a:prstGeom prst="roundRect">
            <a:avLst>
              <a:gd name="adj" fmla="val 693"/>
            </a:avLst>
          </a:prstGeom>
          <a:solidFill>
            <a:srgbClr val="FFFFFF"/>
          </a:solidFill>
          <a:ln w="9525">
            <a:solidFill>
              <a:srgbClr val="E3E7EE"/>
            </a:solidFill>
            <a:prstDash val="solid"/>
          </a:ln>
          <a:effectLst>
            <a:outerShdw sx="100000" sy="100000" kx="0" ky="0" algn="bl" rotWithShape="0" blurRad="177800" dist="63500" dir="5400000">
              <a:srgbClr val="1B2430">
                <a:alpha val="25000"/>
              </a:srgbClr>
            </a:outerShdw>
          </a:effectLst>
        </p:spPr>
      </p:sp>
      <p:pic>
        <p:nvPicPr>
          <p:cNvPr id="7" name="Image 0" descr="/home/user/talenleren/neerlandais1/generateur/img/vijfzinnen/a1_kommaarbinnen.jpg">    </p:cNvPr>
          <p:cNvPicPr>
            <a:picLocks noChangeAspect="1"/>
          </p:cNvPicPr>
          <p:nvPr/>
        </p:nvPicPr>
        <p:blipFill>
          <a:blip r:embed="rId1"/>
          <a:stretch>
            <a:fillRect/>
          </a:stretch>
        </p:blipFill>
        <p:spPr>
          <a:xfrm>
            <a:off x="2628900" y="1234440"/>
            <a:ext cx="8092440" cy="5057775"/>
          </a:xfrm>
          <a:prstGeom prst="rect">
            <a:avLst/>
          </a:prstGeom>
        </p:spPr>
      </p:pic>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1"/>
          <p:cNvSpPr/>
          <p:nvPr>
            <p:ph idx="101" type="title" hasCustomPrompt="1"/>
          </p:nvPr>
        </p:nvSpPr>
        <p:spPr>
          <a:xfrm>
            <a:off x="1691640" y="347472"/>
            <a:ext cx="8138160" cy="914400"/>
          </a:xfrm>
          <a:prstGeom prst="rect">
            <a:avLst/>
          </a:prstGeom>
          <a:noFill/>
          <a:ln/>
        </p:spPr>
        <p:txBody>
          <a:bodyPr wrap="square" lIns="0" tIns="0" rIns="0" bIns="0" rtlCol="0" anchor="ctr"/>
          <a:lstStyle/>
          <a:p>
            <a:pPr algn="l" indent="0" marL="0">
              <a:buNone/>
            </a:pPr>
            <a:r>
              <a:rPr lang="en-US" sz="2400" b="1" dirty="0">
                <a:solidFill>
                  <a:srgbClr val="2B2F38"/>
                </a:solidFill>
              </a:rPr>
              <a:t>Hier is een voorbeeld van wat je had kunnen denken en zeggen…</a:t>
            </a:r>
            <a:endParaRPr lang="en-US" sz="2400" dirty="0"/>
          </a:p>
        </p:txBody>
      </p:sp>
      <p:sp>
        <p:nvSpPr>
          <p:cNvPr id="4" name="Shape 1"/>
          <p:cNvSpPr/>
          <p:nvPr/>
        </p:nvSpPr>
        <p:spPr>
          <a:xfrm>
            <a:off x="365760" y="365760"/>
            <a:ext cx="868680" cy="5989320"/>
          </a:xfrm>
          <a:prstGeom prst="roundRect">
            <a:avLst>
              <a:gd name="adj" fmla="val 12632"/>
            </a:avLst>
          </a:prstGeom>
          <a:solidFill>
            <a:srgbClr val="E4EEFB"/>
          </a:solidFill>
          <a:ln w="28575">
            <a:solidFill>
              <a:srgbClr val="6FA0DC"/>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3E6FB0"/>
                </a:solidFill>
                <a:latin typeface="Calibri" pitchFamily="34" charset="0"/>
                <a:ea typeface="Calibri" pitchFamily="34" charset="-122"/>
                <a:cs typeface="Calibri" pitchFamily="34" charset="-120"/>
              </a:rPr>
              <a:t>A1 · Grammaire</a:t>
            </a:r>
            <a:endParaRPr lang="en-US" sz="3800" dirty="0"/>
          </a:p>
        </p:txBody>
      </p:sp>
      <p:sp>
        <p:nvSpPr>
          <p:cNvPr id="6" name="Shape 3"/>
          <p:cNvSpPr/>
          <p:nvPr/>
        </p:nvSpPr>
        <p:spPr>
          <a:xfrm>
            <a:off x="10058400" y="246888"/>
            <a:ext cx="1691640" cy="1091565"/>
          </a:xfrm>
          <a:prstGeom prst="roundRect">
            <a:avLst>
              <a:gd name="adj" fmla="val 3351"/>
            </a:avLst>
          </a:prstGeom>
          <a:solidFill>
            <a:srgbClr val="FFFFFF"/>
          </a:solidFill>
          <a:ln w="9525">
            <a:solidFill>
              <a:srgbClr val="E3E7EE"/>
            </a:solidFill>
            <a:prstDash val="solid"/>
          </a:ln>
          <a:effectLst>
            <a:outerShdw sx="100000" sy="100000" kx="0" ky="0" algn="bl" rotWithShape="0" blurRad="76200" dist="25400" dir="5400000">
              <a:srgbClr val="1B2430">
                <a:alpha val="25000"/>
              </a:srgbClr>
            </a:outerShdw>
          </a:effectLst>
        </p:spPr>
      </p:sp>
      <p:pic>
        <p:nvPicPr>
          <p:cNvPr id="7" name="Image 0" descr="/home/user/talenleren/neerlandais1/generateur/img/vijfzinnen/a1_kommaarbinnen_s.jpg">    </p:cNvPr>
          <p:cNvPicPr>
            <a:picLocks noChangeAspect="1"/>
          </p:cNvPicPr>
          <p:nvPr/>
        </p:nvPicPr>
        <p:blipFill>
          <a:blip r:embed="rId1"/>
          <a:stretch>
            <a:fillRect/>
          </a:stretch>
        </p:blipFill>
        <p:spPr>
          <a:xfrm>
            <a:off x="10104120" y="292608"/>
            <a:ext cx="1600200" cy="1000125"/>
          </a:xfrm>
          <a:prstGeom prst="rect">
            <a:avLst/>
          </a:prstGeom>
        </p:spPr>
      </p:pic>
      <p:sp>
        <p:nvSpPr>
          <p:cNvPr id="8" name="Text 4"/>
          <p:cNvSpPr txBox="1"/>
          <p:nvPr/>
        </p:nvSpPr>
        <p:spPr>
          <a:xfrm>
            <a:off x="1691640" y="3108350"/>
            <a:ext cx="2064715"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Goedemorgen!</a:t>
            </a:r>
            <a:endParaRPr lang="en-US" sz="2400" dirty="0"/>
          </a:p>
        </p:txBody>
      </p:sp>
      <p:sp>
        <p:nvSpPr>
          <p:cNvPr id="9" name="Shape 5"/>
          <p:cNvSpPr/>
          <p:nvPr/>
        </p:nvSpPr>
        <p:spPr>
          <a:xfrm>
            <a:off x="3660648" y="3120542"/>
            <a:ext cx="2347874" cy="371856"/>
          </a:xfrm>
          <a:prstGeom prst="roundRect">
            <a:avLst>
              <a:gd name="adj" fmla="val 12295"/>
            </a:avLst>
          </a:prstGeom>
          <a:solidFill>
            <a:srgbClr val="E6F3DA"/>
          </a:solidFill>
          <a:ln w="12700">
            <a:solidFill>
              <a:srgbClr val="FFFFFF">
                <a:alpha val="0"/>
              </a:srgbClr>
            </a:solidFill>
            <a:prstDash val="solid"/>
          </a:ln>
        </p:spPr>
      </p:sp>
      <p:sp>
        <p:nvSpPr>
          <p:cNvPr id="10" name="Text 6"/>
          <p:cNvSpPr txBox="1"/>
          <p:nvPr/>
        </p:nvSpPr>
        <p:spPr>
          <a:xfrm>
            <a:off x="3660648" y="3108350"/>
            <a:ext cx="2347874"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Kom maar binnen</a:t>
            </a:r>
            <a:endParaRPr lang="en-US" sz="2400" dirty="0"/>
          </a:p>
        </p:txBody>
      </p:sp>
      <p:sp>
        <p:nvSpPr>
          <p:cNvPr id="11" name="Text 7"/>
          <p:cNvSpPr txBox="1"/>
          <p:nvPr/>
        </p:nvSpPr>
        <p:spPr>
          <a:xfrm>
            <a:off x="6008522" y="3108350"/>
            <a:ext cx="282245"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a:t>
            </a:r>
            <a:endParaRPr lang="en-US" sz="2400" dirty="0"/>
          </a:p>
        </p:txBody>
      </p:sp>
      <p:sp>
        <p:nvSpPr>
          <p:cNvPr id="12" name="Shape 8"/>
          <p:cNvSpPr/>
          <p:nvPr/>
        </p:nvSpPr>
        <p:spPr>
          <a:xfrm>
            <a:off x="6195060" y="3120542"/>
            <a:ext cx="778154" cy="371856"/>
          </a:xfrm>
          <a:prstGeom prst="roundRect">
            <a:avLst>
              <a:gd name="adj" fmla="val 12295"/>
            </a:avLst>
          </a:prstGeom>
          <a:solidFill>
            <a:srgbClr val="E6F3DA"/>
          </a:solidFill>
          <a:ln w="12700">
            <a:solidFill>
              <a:srgbClr val="FFFFFF">
                <a:alpha val="0"/>
              </a:srgbClr>
            </a:solidFill>
            <a:prstDash val="solid"/>
          </a:ln>
        </p:spPr>
      </p:sp>
      <p:sp>
        <p:nvSpPr>
          <p:cNvPr id="13" name="Text 9"/>
          <p:cNvSpPr txBox="1"/>
          <p:nvPr/>
        </p:nvSpPr>
        <p:spPr>
          <a:xfrm>
            <a:off x="6195060" y="3108350"/>
            <a:ext cx="778154"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Open</a:t>
            </a:r>
            <a:endParaRPr lang="en-US" sz="2400" dirty="0"/>
          </a:p>
        </p:txBody>
      </p:sp>
      <p:sp>
        <p:nvSpPr>
          <p:cNvPr id="14" name="Text 10"/>
          <p:cNvSpPr txBox="1"/>
          <p:nvPr/>
        </p:nvSpPr>
        <p:spPr>
          <a:xfrm>
            <a:off x="7060387" y="3108350"/>
            <a:ext cx="1182624"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je boek.</a:t>
            </a:r>
            <a:endParaRPr lang="en-US" sz="2400" dirty="0"/>
          </a:p>
        </p:txBody>
      </p:sp>
      <p:sp>
        <p:nvSpPr>
          <p:cNvPr id="15" name="Shape 11"/>
          <p:cNvSpPr/>
          <p:nvPr/>
        </p:nvSpPr>
        <p:spPr>
          <a:xfrm>
            <a:off x="8147304" y="3120542"/>
            <a:ext cx="1631290" cy="371856"/>
          </a:xfrm>
          <a:prstGeom prst="roundRect">
            <a:avLst>
              <a:gd name="adj" fmla="val 12295"/>
            </a:avLst>
          </a:prstGeom>
          <a:solidFill>
            <a:srgbClr val="E6F3DA"/>
          </a:solidFill>
          <a:ln w="12700">
            <a:solidFill>
              <a:srgbClr val="FFFFFF">
                <a:alpha val="0"/>
              </a:srgbClr>
            </a:solidFill>
            <a:prstDash val="solid"/>
          </a:ln>
        </p:spPr>
      </p:sp>
      <p:sp>
        <p:nvSpPr>
          <p:cNvPr id="16" name="Text 12"/>
          <p:cNvSpPr txBox="1"/>
          <p:nvPr/>
        </p:nvSpPr>
        <p:spPr>
          <a:xfrm>
            <a:off x="8147304" y="3108350"/>
            <a:ext cx="1631290"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Luister even</a:t>
            </a:r>
            <a:endParaRPr lang="en-US" sz="2400" dirty="0"/>
          </a:p>
        </p:txBody>
      </p:sp>
      <p:sp>
        <p:nvSpPr>
          <p:cNvPr id="17" name="Text 13"/>
          <p:cNvSpPr txBox="1"/>
          <p:nvPr/>
        </p:nvSpPr>
        <p:spPr>
          <a:xfrm>
            <a:off x="9778594" y="3108350"/>
            <a:ext cx="282245"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a:t>
            </a:r>
            <a:endParaRPr lang="en-US" sz="2400" dirty="0"/>
          </a:p>
        </p:txBody>
      </p:sp>
      <p:sp>
        <p:nvSpPr>
          <p:cNvPr id="18" name="Shape 14"/>
          <p:cNvSpPr/>
          <p:nvPr/>
        </p:nvSpPr>
        <p:spPr>
          <a:xfrm>
            <a:off x="4834585" y="3044342"/>
            <a:ext cx="914" cy="76200"/>
          </a:xfrm>
          <a:prstGeom prst="line">
            <a:avLst/>
          </a:prstGeom>
          <a:noFill/>
          <a:ln w="15875">
            <a:solidFill>
              <a:srgbClr val="7AB648"/>
            </a:solidFill>
            <a:prstDash val="solid"/>
          </a:ln>
        </p:spPr>
      </p:sp>
      <p:sp>
        <p:nvSpPr>
          <p:cNvPr id="19" name="Shape 15"/>
          <p:cNvSpPr/>
          <p:nvPr/>
        </p:nvSpPr>
        <p:spPr>
          <a:xfrm>
            <a:off x="4539825" y="2797454"/>
            <a:ext cx="589521" cy="246888"/>
          </a:xfrm>
          <a:prstGeom prst="roundRect">
            <a:avLst>
              <a:gd name="adj" fmla="val 14815"/>
            </a:avLst>
          </a:prstGeom>
          <a:solidFill>
            <a:srgbClr val="7AB648"/>
          </a:solidFill>
          <a:ln w="12700">
            <a:solidFill>
              <a:srgbClr val="FFFFFF">
                <a:alpha val="0"/>
              </a:srgbClr>
            </a:solidFill>
            <a:prstDash val="solid"/>
          </a:ln>
        </p:spPr>
      </p:sp>
      <p:sp>
        <p:nvSpPr>
          <p:cNvPr id="20" name="Text 16"/>
          <p:cNvSpPr txBox="1"/>
          <p:nvPr/>
        </p:nvSpPr>
        <p:spPr>
          <a:xfrm>
            <a:off x="4539825" y="2797454"/>
            <a:ext cx="589521"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MAAR</a:t>
            </a:r>
            <a:endParaRPr lang="en-US" sz="1100" dirty="0"/>
          </a:p>
        </p:txBody>
      </p:sp>
      <p:sp>
        <p:nvSpPr>
          <p:cNvPr id="21" name="Shape 17"/>
          <p:cNvSpPr/>
          <p:nvPr/>
        </p:nvSpPr>
        <p:spPr>
          <a:xfrm>
            <a:off x="6584137" y="3044342"/>
            <a:ext cx="914" cy="76200"/>
          </a:xfrm>
          <a:prstGeom prst="line">
            <a:avLst/>
          </a:prstGeom>
          <a:noFill/>
          <a:ln w="15875">
            <a:solidFill>
              <a:srgbClr val="7AB648"/>
            </a:solidFill>
            <a:prstDash val="solid"/>
          </a:ln>
        </p:spPr>
      </p:sp>
      <p:sp>
        <p:nvSpPr>
          <p:cNvPr id="22" name="Shape 18"/>
          <p:cNvSpPr/>
          <p:nvPr/>
        </p:nvSpPr>
        <p:spPr>
          <a:xfrm>
            <a:off x="6156522" y="2797454"/>
            <a:ext cx="855231" cy="246888"/>
          </a:xfrm>
          <a:prstGeom prst="roundRect">
            <a:avLst>
              <a:gd name="adj" fmla="val 14815"/>
            </a:avLst>
          </a:prstGeom>
          <a:solidFill>
            <a:srgbClr val="7AB648"/>
          </a:solidFill>
          <a:ln w="12700">
            <a:solidFill>
              <a:srgbClr val="FFFFFF">
                <a:alpha val="0"/>
              </a:srgbClr>
            </a:solidFill>
            <a:prstDash val="solid"/>
          </a:ln>
        </p:spPr>
      </p:sp>
      <p:sp>
        <p:nvSpPr>
          <p:cNvPr id="23" name="Text 19"/>
          <p:cNvSpPr txBox="1"/>
          <p:nvPr/>
        </p:nvSpPr>
        <p:spPr>
          <a:xfrm>
            <a:off x="6156522" y="2797454"/>
            <a:ext cx="855231"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IMPÉRATIF</a:t>
            </a:r>
            <a:endParaRPr lang="en-US" sz="1100" dirty="0"/>
          </a:p>
        </p:txBody>
      </p:sp>
      <p:sp>
        <p:nvSpPr>
          <p:cNvPr id="24" name="Shape 20"/>
          <p:cNvSpPr/>
          <p:nvPr/>
        </p:nvSpPr>
        <p:spPr>
          <a:xfrm>
            <a:off x="8962949" y="3044342"/>
            <a:ext cx="914" cy="76200"/>
          </a:xfrm>
          <a:prstGeom prst="line">
            <a:avLst/>
          </a:prstGeom>
          <a:noFill/>
          <a:ln w="15875">
            <a:solidFill>
              <a:srgbClr val="7AB648"/>
            </a:solidFill>
            <a:prstDash val="solid"/>
          </a:ln>
        </p:spPr>
      </p:sp>
      <p:sp>
        <p:nvSpPr>
          <p:cNvPr id="25" name="Shape 21"/>
          <p:cNvSpPr/>
          <p:nvPr/>
        </p:nvSpPr>
        <p:spPr>
          <a:xfrm>
            <a:off x="8697735" y="2797454"/>
            <a:ext cx="530428" cy="246888"/>
          </a:xfrm>
          <a:prstGeom prst="roundRect">
            <a:avLst>
              <a:gd name="adj" fmla="val 14815"/>
            </a:avLst>
          </a:prstGeom>
          <a:solidFill>
            <a:srgbClr val="7AB648"/>
          </a:solidFill>
          <a:ln w="12700">
            <a:solidFill>
              <a:srgbClr val="FFFFFF">
                <a:alpha val="0"/>
              </a:srgbClr>
            </a:solidFill>
            <a:prstDash val="solid"/>
          </a:ln>
        </p:spPr>
      </p:sp>
      <p:sp>
        <p:nvSpPr>
          <p:cNvPr id="26" name="Text 22"/>
          <p:cNvSpPr txBox="1"/>
          <p:nvPr/>
        </p:nvSpPr>
        <p:spPr>
          <a:xfrm>
            <a:off x="8697735" y="2797454"/>
            <a:ext cx="530428"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EVEN</a:t>
            </a:r>
            <a:endParaRPr lang="en-US" sz="1100" dirty="0"/>
          </a:p>
        </p:txBody>
      </p:sp>
      <p:sp>
        <p:nvSpPr>
          <p:cNvPr id="27" name="Text 23"/>
          <p:cNvSpPr txBox="1"/>
          <p:nvPr/>
        </p:nvSpPr>
        <p:spPr>
          <a:xfrm>
            <a:off x="4433926" y="4162958"/>
            <a:ext cx="3185770"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En stop je gsm in je tas,</a:t>
            </a:r>
            <a:endParaRPr lang="en-US" sz="2400" dirty="0"/>
          </a:p>
        </p:txBody>
      </p:sp>
      <p:sp>
        <p:nvSpPr>
          <p:cNvPr id="28" name="Shape 24"/>
          <p:cNvSpPr/>
          <p:nvPr/>
        </p:nvSpPr>
        <p:spPr>
          <a:xfrm>
            <a:off x="7523988" y="4175150"/>
            <a:ext cx="1338682" cy="371856"/>
          </a:xfrm>
          <a:prstGeom prst="roundRect">
            <a:avLst>
              <a:gd name="adj" fmla="val 12295"/>
            </a:avLst>
          </a:prstGeom>
          <a:solidFill>
            <a:srgbClr val="E6F3DA"/>
          </a:solidFill>
          <a:ln w="12700">
            <a:solidFill>
              <a:srgbClr val="FFFFFF">
                <a:alpha val="0"/>
              </a:srgbClr>
            </a:solidFill>
            <a:prstDash val="solid"/>
          </a:ln>
        </p:spPr>
      </p:sp>
      <p:sp>
        <p:nvSpPr>
          <p:cNvPr id="29" name="Text 25"/>
          <p:cNvSpPr txBox="1"/>
          <p:nvPr/>
        </p:nvSpPr>
        <p:spPr>
          <a:xfrm>
            <a:off x="7523988" y="4162958"/>
            <a:ext cx="1338682"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alsjeblieft</a:t>
            </a:r>
            <a:endParaRPr lang="en-US" sz="2400" dirty="0"/>
          </a:p>
        </p:txBody>
      </p:sp>
      <p:sp>
        <p:nvSpPr>
          <p:cNvPr id="30" name="Text 26"/>
          <p:cNvSpPr txBox="1"/>
          <p:nvPr/>
        </p:nvSpPr>
        <p:spPr>
          <a:xfrm>
            <a:off x="8862670" y="4162958"/>
            <a:ext cx="282245"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a:t>
            </a:r>
            <a:endParaRPr lang="en-US" sz="2400" dirty="0"/>
          </a:p>
        </p:txBody>
      </p:sp>
      <p:sp>
        <p:nvSpPr>
          <p:cNvPr id="31" name="Shape 27"/>
          <p:cNvSpPr/>
          <p:nvPr/>
        </p:nvSpPr>
        <p:spPr>
          <a:xfrm>
            <a:off x="8193329" y="4098950"/>
            <a:ext cx="914" cy="76200"/>
          </a:xfrm>
          <a:prstGeom prst="line">
            <a:avLst/>
          </a:prstGeom>
          <a:noFill/>
          <a:ln w="15875">
            <a:solidFill>
              <a:srgbClr val="7AB648"/>
            </a:solidFill>
            <a:prstDash val="solid"/>
          </a:ln>
        </p:spPr>
      </p:sp>
      <p:sp>
        <p:nvSpPr>
          <p:cNvPr id="32" name="Shape 28"/>
          <p:cNvSpPr/>
          <p:nvPr/>
        </p:nvSpPr>
        <p:spPr>
          <a:xfrm>
            <a:off x="7733373" y="3852062"/>
            <a:ext cx="919912" cy="246888"/>
          </a:xfrm>
          <a:prstGeom prst="roundRect">
            <a:avLst>
              <a:gd name="adj" fmla="val 14815"/>
            </a:avLst>
          </a:prstGeom>
          <a:solidFill>
            <a:srgbClr val="7AB648"/>
          </a:solidFill>
          <a:ln w="12700">
            <a:solidFill>
              <a:srgbClr val="FFFFFF">
                <a:alpha val="0"/>
              </a:srgbClr>
            </a:solidFill>
            <a:prstDash val="solid"/>
          </a:ln>
        </p:spPr>
      </p:sp>
      <p:sp>
        <p:nvSpPr>
          <p:cNvPr id="33" name="Text 29"/>
          <p:cNvSpPr txBox="1"/>
          <p:nvPr/>
        </p:nvSpPr>
        <p:spPr>
          <a:xfrm>
            <a:off x="7733373" y="3852062"/>
            <a:ext cx="919912"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ALSJEBLIEFT</a:t>
            </a:r>
            <a:endParaRPr lang="en-US" sz="1100" dirty="0"/>
          </a:p>
        </p:txBody>
      </p:sp>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1"/>
          <p:cNvSpPr/>
          <p:nvPr>
            <p:ph idx="101" type="title" hasCustomPrompt="1"/>
          </p:nvPr>
        </p:nvSpPr>
        <p:spPr>
          <a:xfrm>
            <a:off x="1554480" y="384048"/>
            <a:ext cx="10241280" cy="658368"/>
          </a:xfrm>
          <a:prstGeom prst="rect">
            <a:avLst/>
          </a:prstGeom>
          <a:noFill/>
          <a:ln/>
        </p:spPr>
        <p:txBody>
          <a:bodyPr wrap="square" lIns="0" tIns="0" rIns="0" bIns="0" rtlCol="0" anchor="ctr"/>
          <a:lstStyle/>
          <a:p>
            <a:pPr algn="ctr" indent="0" marL="0">
              <a:buNone/>
            </a:pPr>
            <a:r>
              <a:rPr lang="en-US" sz="3000" b="1" dirty="0">
                <a:solidFill>
                  <a:srgbClr val="2B2F38"/>
                </a:solidFill>
              </a:rPr>
              <a:t>Vocabulaire thématique</a:t>
            </a:r>
            <a:endParaRPr lang="en-US" sz="3000" dirty="0"/>
          </a:p>
        </p:txBody>
      </p:sp>
      <p:sp>
        <p:nvSpPr>
          <p:cNvPr id="4" name="Shape 1"/>
          <p:cNvSpPr/>
          <p:nvPr/>
        </p:nvSpPr>
        <p:spPr>
          <a:xfrm>
            <a:off x="365760" y="365760"/>
            <a:ext cx="868680" cy="5989320"/>
          </a:xfrm>
          <a:prstGeom prst="roundRect">
            <a:avLst>
              <a:gd name="adj" fmla="val 12632"/>
            </a:avLst>
          </a:prstGeom>
          <a:solidFill>
            <a:srgbClr val="FDF1E4"/>
          </a:solidFill>
          <a:ln w="28575">
            <a:solidFill>
              <a:srgbClr val="F0A15E"/>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B9661F"/>
                </a:solidFill>
                <a:latin typeface="Calibri" pitchFamily="34" charset="0"/>
                <a:ea typeface="Calibri" pitchFamily="34" charset="-122"/>
                <a:cs typeface="Calibri" pitchFamily="34" charset="-120"/>
              </a:rPr>
              <a:t>A1 · Vocabulaire</a:t>
            </a:r>
            <a:endParaRPr lang="en-US" sz="3800" dirty="0"/>
          </a:p>
        </p:txBody>
      </p:sp>
      <p:sp>
        <p:nvSpPr>
          <p:cNvPr id="6" name="Shape 3"/>
          <p:cNvSpPr/>
          <p:nvPr/>
        </p:nvSpPr>
        <p:spPr>
          <a:xfrm>
            <a:off x="1554480" y="1371600"/>
            <a:ext cx="3017520" cy="4892040"/>
          </a:xfrm>
          <a:prstGeom prst="roundRect">
            <a:avLst>
              <a:gd name="adj" fmla="val 3636"/>
            </a:avLst>
          </a:prstGeom>
          <a:solidFill>
            <a:srgbClr val="FDF1E4"/>
          </a:solidFill>
          <a:ln w="15875">
            <a:solidFill>
              <a:srgbClr val="F0A15E"/>
            </a:solidFill>
            <a:prstDash val="solid"/>
          </a:ln>
        </p:spPr>
      </p:sp>
      <p:sp>
        <p:nvSpPr>
          <p:cNvPr id="7" name="Text 4"/>
          <p:cNvSpPr txBox="1"/>
          <p:nvPr/>
        </p:nvSpPr>
        <p:spPr>
          <a:xfrm>
            <a:off x="1737360" y="1481328"/>
            <a:ext cx="2743200" cy="411480"/>
          </a:xfrm>
          <a:prstGeom prst="rect">
            <a:avLst/>
          </a:prstGeom>
          <a:noFill/>
          <a:ln/>
        </p:spPr>
        <p:txBody>
          <a:bodyPr wrap="square" lIns="0" tIns="0" rIns="0" bIns="0" rtlCol="0" anchor="ctr"/>
          <a:lstStyle/>
          <a:p>
            <a:pPr algn="l" indent="0" marL="0">
              <a:buNone/>
            </a:pPr>
            <a:r>
              <a:rPr lang="en-US" sz="1600" b="1" dirty="0">
                <a:solidFill>
                  <a:srgbClr val="B9661F"/>
                </a:solidFill>
                <a:latin typeface="Calibri" pitchFamily="34" charset="0"/>
                <a:ea typeface="Calibri" pitchFamily="34" charset="-122"/>
                <a:cs typeface="Calibri" pitchFamily="34" charset="-120"/>
              </a:rPr>
              <a:t>Ce qu’on travaille</a:t>
            </a:r>
            <a:endParaRPr lang="en-US" sz="1600" dirty="0"/>
          </a:p>
        </p:txBody>
      </p:sp>
      <p:sp>
        <p:nvSpPr>
          <p:cNvPr id="8" name="Text 5"/>
          <p:cNvSpPr txBox="1"/>
          <p:nvPr/>
        </p:nvSpPr>
        <p:spPr>
          <a:xfrm>
            <a:off x="1737360" y="1920240"/>
            <a:ext cx="2743200" cy="3749040"/>
          </a:xfrm>
          <a:prstGeom prst="rect">
            <a:avLst/>
          </a:prstGeom>
          <a:noFill/>
          <a:ln/>
        </p:spPr>
        <p:txBody>
          <a:bodyPr wrap="square" lIns="0" tIns="0" rIns="0" bIns="0" rtlCol="0" anchor="t"/>
          <a:lstStyle/>
          <a:p>
            <a:pPr algn="l" marL="177800" indent="-177800">
              <a:spcAft>
                <a:spcPts val="500"/>
              </a:spcAft>
              <a:buSzPct val="100000"/>
              <a:buChar char="•"/>
            </a:pPr>
            <a:r>
              <a:rPr lang="en-US" sz="1250" dirty="0">
                <a:solidFill>
                  <a:srgbClr val="2B2F38"/>
                </a:solidFill>
              </a:rPr>
              <a:t>se </a:t>
            </a:r>
            <a:r>
              <a:rPr lang="en-US" sz="1250" b="1" dirty="0">
                <a:solidFill>
                  <a:srgbClr val="2B2F38"/>
                </a:solidFill>
              </a:rPr>
              <a:t>présenter</a:t>
            </a:r>
            <a:endParaRPr lang="en-US" sz="1250" dirty="0"/>
          </a:p>
          <a:p>
            <a:pPr algn="l" marL="177800" indent="-177800">
              <a:spcAft>
                <a:spcPts val="500"/>
              </a:spcAft>
              <a:buSzPct val="100000"/>
              <a:buChar char="•"/>
            </a:pPr>
            <a:r>
              <a:rPr lang="en-US" sz="1250" dirty="0">
                <a:solidFill>
                  <a:srgbClr val="2B2F38"/>
                </a:solidFill>
              </a:rPr>
              <a:t>la </a:t>
            </a:r>
            <a:r>
              <a:rPr lang="en-US" sz="1250" b="1" dirty="0">
                <a:solidFill>
                  <a:srgbClr val="2B2F38"/>
                </a:solidFill>
              </a:rPr>
              <a:t>famille</a:t>
            </a:r>
            <a:endParaRPr lang="en-US" sz="1250" dirty="0"/>
          </a:p>
          <a:p>
            <a:pPr algn="l" marL="177800" indent="-177800">
              <a:spcAft>
                <a:spcPts val="500"/>
              </a:spcAft>
              <a:buSzPct val="100000"/>
              <a:buChar char="•"/>
            </a:pPr>
            <a:r>
              <a:rPr lang="en-US" sz="1250" dirty="0">
                <a:solidFill>
                  <a:srgbClr val="2B2F38"/>
                </a:solidFill>
              </a:rPr>
              <a:t>la </a:t>
            </a:r>
            <a:r>
              <a:rPr lang="en-US" sz="1250" b="1" dirty="0">
                <a:solidFill>
                  <a:srgbClr val="2B2F38"/>
                </a:solidFill>
              </a:rPr>
              <a:t>ville</a:t>
            </a:r>
            <a:r>
              <a:rPr lang="en-US" sz="1250" dirty="0">
                <a:solidFill>
                  <a:srgbClr val="2B2F38"/>
                </a:solidFill>
              </a:rPr>
              <a:t> et les transports</a:t>
            </a:r>
            <a:endParaRPr lang="en-US" sz="1250" dirty="0"/>
          </a:p>
          <a:p>
            <a:pPr algn="l" marL="177800" indent="-177800">
              <a:spcAft>
                <a:spcPts val="500"/>
              </a:spcAft>
              <a:buSzPct val="100000"/>
              <a:buChar char="•"/>
            </a:pPr>
            <a:r>
              <a:rPr lang="en-US" sz="1250" dirty="0">
                <a:solidFill>
                  <a:srgbClr val="2B2F38"/>
                </a:solidFill>
              </a:rPr>
              <a:t>manger &amp; boire</a:t>
            </a:r>
            <a:endParaRPr lang="en-US" sz="1250" dirty="0"/>
          </a:p>
          <a:p>
            <a:pPr algn="l" marL="177800" indent="-177800">
              <a:spcAft>
                <a:spcPts val="500"/>
              </a:spcAft>
              <a:buSzPct val="100000"/>
              <a:buChar char="•"/>
            </a:pPr>
            <a:r>
              <a:rPr lang="en-US" sz="1250" dirty="0">
                <a:solidFill>
                  <a:srgbClr val="2B2F38"/>
                </a:solidFill>
              </a:rPr>
              <a:t>faire les </a:t>
            </a:r>
            <a:r>
              <a:rPr lang="en-US" sz="1250" b="1" dirty="0">
                <a:solidFill>
                  <a:srgbClr val="2B2F38"/>
                </a:solidFill>
              </a:rPr>
              <a:t>courses</a:t>
            </a:r>
            <a:endParaRPr lang="en-US" sz="1250" dirty="0"/>
          </a:p>
          <a:p>
            <a:pPr algn="l" marL="177800" indent="-177800">
              <a:spcAft>
                <a:spcPts val="500"/>
              </a:spcAft>
              <a:buSzPct val="100000"/>
              <a:buChar char="•"/>
            </a:pPr>
            <a:r>
              <a:rPr lang="en-US" sz="1250" dirty="0">
                <a:solidFill>
                  <a:srgbClr val="2B2F38"/>
                </a:solidFill>
              </a:rPr>
              <a:t>la </a:t>
            </a:r>
            <a:r>
              <a:rPr lang="en-US" sz="1250" b="1" dirty="0">
                <a:solidFill>
                  <a:srgbClr val="2B2F38"/>
                </a:solidFill>
              </a:rPr>
              <a:t>santé</a:t>
            </a:r>
            <a:r>
              <a:rPr lang="en-US" sz="1250" dirty="0">
                <a:solidFill>
                  <a:srgbClr val="2B2F38"/>
                </a:solidFill>
              </a:rPr>
              <a:t> et le corps</a:t>
            </a:r>
            <a:endParaRPr lang="en-US" sz="1250" dirty="0"/>
          </a:p>
          <a:p>
            <a:pPr algn="l" marL="177800" indent="-177800">
              <a:spcAft>
                <a:spcPts val="500"/>
              </a:spcAft>
              <a:buSzPct val="100000"/>
              <a:buChar char="•"/>
            </a:pPr>
            <a:r>
              <a:rPr lang="en-US" sz="1250" dirty="0">
                <a:solidFill>
                  <a:srgbClr val="2B2F38"/>
                </a:solidFill>
              </a:rPr>
              <a:t>le </a:t>
            </a:r>
            <a:r>
              <a:rPr lang="en-US" sz="1250" b="1" dirty="0">
                <a:solidFill>
                  <a:srgbClr val="2B2F38"/>
                </a:solidFill>
              </a:rPr>
              <a:t>travail</a:t>
            </a:r>
            <a:endParaRPr lang="en-US" sz="1250" dirty="0"/>
          </a:p>
          <a:p>
            <a:pPr algn="l" marL="177800" indent="-177800">
              <a:spcAft>
                <a:spcPts val="500"/>
              </a:spcAft>
              <a:buSzPct val="100000"/>
              <a:buChar char="•"/>
            </a:pPr>
            <a:r>
              <a:rPr lang="en-US" sz="1250" b="1" dirty="0">
                <a:solidFill>
                  <a:srgbClr val="2B2F38"/>
                </a:solidFill>
              </a:rPr>
              <a:t>téléphone</a:t>
            </a:r>
            <a:r>
              <a:rPr lang="en-US" sz="1250" dirty="0">
                <a:solidFill>
                  <a:srgbClr val="2B2F38"/>
                </a:solidFill>
              </a:rPr>
              <a:t> &amp; mail</a:t>
            </a:r>
            <a:endParaRPr lang="en-US" sz="1250" dirty="0"/>
          </a:p>
          <a:p>
            <a:pPr algn="l" marL="177800" indent="-177800">
              <a:spcAft>
                <a:spcPts val="500"/>
              </a:spcAft>
              <a:buSzPct val="100000"/>
              <a:buChar char="•"/>
            </a:pPr>
            <a:r>
              <a:rPr lang="en-US" sz="1250" dirty="0">
                <a:solidFill>
                  <a:srgbClr val="2B2F38"/>
                </a:solidFill>
              </a:rPr>
              <a:t>l’</a:t>
            </a:r>
            <a:r>
              <a:rPr lang="en-US" sz="1250" b="1" dirty="0">
                <a:solidFill>
                  <a:srgbClr val="2B2F38"/>
                </a:solidFill>
              </a:rPr>
              <a:t>administration</a:t>
            </a:r>
            <a:endParaRPr lang="en-US" sz="1250" dirty="0"/>
          </a:p>
          <a:p>
            <a:pPr algn="l" marL="177800" indent="-177800">
              <a:spcAft>
                <a:spcPts val="500"/>
              </a:spcAft>
              <a:buSzPct val="100000"/>
              <a:buChar char="•"/>
            </a:pPr>
            <a:r>
              <a:rPr lang="en-US" sz="1250" dirty="0">
                <a:solidFill>
                  <a:srgbClr val="2B2F38"/>
                </a:solidFill>
              </a:rPr>
              <a:t>le </a:t>
            </a:r>
            <a:r>
              <a:rPr lang="en-US" sz="1250" b="1" dirty="0">
                <a:solidFill>
                  <a:srgbClr val="2B2F38"/>
                </a:solidFill>
              </a:rPr>
              <a:t>temps</a:t>
            </a:r>
            <a:r>
              <a:rPr lang="en-US" sz="1250" dirty="0">
                <a:solidFill>
                  <a:srgbClr val="2B2F38"/>
                </a:solidFill>
              </a:rPr>
              <a:t> &amp; la météo</a:t>
            </a:r>
            <a:endParaRPr lang="en-US" sz="1250" dirty="0"/>
          </a:p>
          <a:p>
            <a:pPr algn="l" marL="177800" indent="-177800">
              <a:spcAft>
                <a:spcPts val="500"/>
              </a:spcAft>
              <a:buSzPct val="100000"/>
              <a:buChar char="•"/>
            </a:pPr>
            <a:r>
              <a:rPr lang="en-US" sz="1250" dirty="0">
                <a:solidFill>
                  <a:srgbClr val="2B2F38"/>
                </a:solidFill>
              </a:rPr>
              <a:t>les </a:t>
            </a:r>
            <a:r>
              <a:rPr lang="en-US" sz="1250" b="1" dirty="0">
                <a:solidFill>
                  <a:srgbClr val="2B2F38"/>
                </a:solidFill>
              </a:rPr>
              <a:t>sentiments</a:t>
            </a:r>
            <a:endParaRPr lang="en-US" sz="1250" dirty="0"/>
          </a:p>
        </p:txBody>
      </p:sp>
      <p:sp>
        <p:nvSpPr>
          <p:cNvPr id="9" name="Text 6"/>
          <p:cNvSpPr txBox="1"/>
          <p:nvPr/>
        </p:nvSpPr>
        <p:spPr>
          <a:xfrm>
            <a:off x="1737360" y="5760720"/>
            <a:ext cx="2743200" cy="365760"/>
          </a:xfrm>
          <a:prstGeom prst="rect">
            <a:avLst/>
          </a:prstGeom>
          <a:noFill/>
          <a:ln/>
        </p:spPr>
        <p:txBody>
          <a:bodyPr wrap="square" lIns="0" tIns="0" rIns="0" bIns="0" rtlCol="0" anchor="ctr"/>
          <a:lstStyle/>
          <a:p>
            <a:pPr algn="l" indent="0" marL="0">
              <a:buNone/>
            </a:pPr>
            <a:r>
              <a:rPr lang="en-US" sz="1100" i="1" dirty="0">
                <a:solidFill>
                  <a:srgbClr val="B9661F"/>
                </a:solidFill>
                <a:latin typeface="Calibri" pitchFamily="34" charset="0"/>
                <a:ea typeface="Calibri" pitchFamily="34" charset="-122"/>
                <a:cs typeface="Calibri" pitchFamily="34" charset="-120"/>
              </a:rPr>
              <a:t>syllabus, section 3 · p. 78 – 88</a:t>
            </a:r>
            <a:endParaRPr lang="en-US" sz="1100" dirty="0"/>
          </a:p>
        </p:txBody>
      </p:sp>
      <p:sp>
        <p:nvSpPr>
          <p:cNvPr id="10" name="Shape 7"/>
          <p:cNvSpPr/>
          <p:nvPr/>
        </p:nvSpPr>
        <p:spPr>
          <a:xfrm>
            <a:off x="4809744" y="1695498"/>
            <a:ext cx="1707642" cy="1094708"/>
          </a:xfrm>
          <a:prstGeom prst="roundRect">
            <a:avLst>
              <a:gd name="adj" fmla="val 3341"/>
            </a:avLst>
          </a:prstGeom>
          <a:solidFill>
            <a:srgbClr val="FFFFFF"/>
          </a:solidFill>
          <a:ln w="9525">
            <a:solidFill>
              <a:srgbClr val="E3E7EE"/>
            </a:solidFill>
            <a:prstDash val="solid"/>
          </a:ln>
          <a:effectLst>
            <a:outerShdw sx="100000" sy="100000" kx="0" ky="0" algn="bl" rotWithShape="0" blurRad="63500" dist="25400" dir="5400000">
              <a:srgbClr val="1B2430">
                <a:alpha val="25000"/>
              </a:srgbClr>
            </a:outerShdw>
          </a:effectLst>
        </p:spPr>
      </p:sp>
      <p:pic>
        <p:nvPicPr>
          <p:cNvPr id="11" name="Image 0" descr="/home/user/talenleren/neerlandais1/generateur/img/vijfzinnen/a1_aangenaam_s.jpg">    </p:cNvPr>
          <p:cNvPicPr>
            <a:picLocks noChangeAspect="1"/>
          </p:cNvPicPr>
          <p:nvPr/>
        </p:nvPicPr>
        <p:blipFill>
          <a:blip r:embed="rId1"/>
          <a:stretch>
            <a:fillRect/>
          </a:stretch>
        </p:blipFill>
        <p:spPr>
          <a:xfrm>
            <a:off x="4846320" y="1732074"/>
            <a:ext cx="1634490" cy="1021556"/>
          </a:xfrm>
          <a:prstGeom prst="rect">
            <a:avLst/>
          </a:prstGeom>
        </p:spPr>
      </p:pic>
      <p:sp>
        <p:nvSpPr>
          <p:cNvPr id="12" name="Text 8"/>
          <p:cNvSpPr txBox="1"/>
          <p:nvPr/>
        </p:nvSpPr>
        <p:spPr>
          <a:xfrm>
            <a:off x="4818888" y="2817638"/>
            <a:ext cx="1689354" cy="274320"/>
          </a:xfrm>
          <a:prstGeom prst="rect">
            <a:avLst/>
          </a:prstGeom>
          <a:noFill/>
          <a:ln/>
        </p:spPr>
        <p:txBody>
          <a:bodyPr wrap="square" lIns="0" tIns="0" rIns="0" bIns="0" rtlCol="0" anchor="t"/>
          <a:lstStyle/>
          <a:p>
            <a:pPr algn="l" indent="0" marL="0">
              <a:buNone/>
            </a:pPr>
            <a:r>
              <a:rPr lang="en-US" sz="1050" b="1" dirty="0">
                <a:solidFill>
                  <a:srgbClr val="2B2F38"/>
                </a:solidFill>
                <a:latin typeface="Calibri" pitchFamily="34" charset="0"/>
                <a:ea typeface="Calibri" pitchFamily="34" charset="-122"/>
                <a:cs typeface="Calibri" pitchFamily="34" charset="-120"/>
              </a:rPr>
              <a:t>25 · Aangenaam!</a:t>
            </a:r>
            <a:endParaRPr lang="en-US" sz="1050" dirty="0"/>
          </a:p>
        </p:txBody>
      </p:sp>
      <p:pic>
        <p:nvPicPr>
          <p:cNvPr id="13" name="Image 1" descr="Comments">    </p:cNvPr>
          <p:cNvPicPr>
            <a:picLocks noChangeAspect="1"/>
          </p:cNvPicPr>
          <p:nvPr/>
        </p:nvPicPr>
        <p:blipFill>
          <a:blip r:embed="rId2"/>
          <a:stretch>
            <a:fillRect/>
          </a:stretch>
        </p:blipFill>
        <p:spPr>
          <a:xfrm>
            <a:off x="6261354" y="1786938"/>
            <a:ext cx="155448" cy="155448"/>
          </a:xfrm>
          <a:prstGeom prst="rect">
            <a:avLst/>
          </a:prstGeom>
        </p:spPr>
      </p:pic>
      <p:sp>
        <p:nvSpPr>
          <p:cNvPr id="14" name="Shape 9"/>
          <p:cNvSpPr/>
          <p:nvPr/>
        </p:nvSpPr>
        <p:spPr>
          <a:xfrm>
            <a:off x="6581394" y="1695498"/>
            <a:ext cx="1707642" cy="1094708"/>
          </a:xfrm>
          <a:prstGeom prst="roundRect">
            <a:avLst>
              <a:gd name="adj" fmla="val 3341"/>
            </a:avLst>
          </a:prstGeom>
          <a:solidFill>
            <a:srgbClr val="FFFFFF"/>
          </a:solidFill>
          <a:ln w="9525">
            <a:solidFill>
              <a:srgbClr val="E3E7EE"/>
            </a:solidFill>
            <a:prstDash val="solid"/>
          </a:ln>
          <a:effectLst>
            <a:outerShdw sx="100000" sy="100000" kx="0" ky="0" algn="bl" rotWithShape="0" blurRad="63500" dist="25400" dir="5400000">
              <a:srgbClr val="1B2430">
                <a:alpha val="25000"/>
              </a:srgbClr>
            </a:outerShdw>
          </a:effectLst>
        </p:spPr>
      </p:sp>
      <p:pic>
        <p:nvPicPr>
          <p:cNvPr id="15" name="Image 2" descr="/home/user/talenleren/neerlandais1/generateur/img/vijfzinnen/a1_oma_s.jpg">    </p:cNvPr>
          <p:cNvPicPr>
            <a:picLocks noChangeAspect="1"/>
          </p:cNvPicPr>
          <p:nvPr/>
        </p:nvPicPr>
        <p:blipFill>
          <a:blip r:embed="rId3"/>
          <a:stretch>
            <a:fillRect/>
          </a:stretch>
        </p:blipFill>
        <p:spPr>
          <a:xfrm>
            <a:off x="6617970" y="1732074"/>
            <a:ext cx="1634490" cy="1021556"/>
          </a:xfrm>
          <a:prstGeom prst="rect">
            <a:avLst/>
          </a:prstGeom>
        </p:spPr>
      </p:pic>
      <p:sp>
        <p:nvSpPr>
          <p:cNvPr id="16" name="Text 10"/>
          <p:cNvSpPr txBox="1"/>
          <p:nvPr/>
        </p:nvSpPr>
        <p:spPr>
          <a:xfrm>
            <a:off x="6590538" y="2817638"/>
            <a:ext cx="1689354" cy="274320"/>
          </a:xfrm>
          <a:prstGeom prst="rect">
            <a:avLst/>
          </a:prstGeom>
          <a:noFill/>
          <a:ln/>
        </p:spPr>
        <p:txBody>
          <a:bodyPr wrap="square" lIns="0" tIns="0" rIns="0" bIns="0" rtlCol="0" anchor="t"/>
          <a:lstStyle/>
          <a:p>
            <a:pPr algn="l" indent="0" marL="0">
              <a:buNone/>
            </a:pPr>
            <a:r>
              <a:rPr lang="en-US" sz="1050" b="1" dirty="0">
                <a:solidFill>
                  <a:srgbClr val="2B2F38"/>
                </a:solidFill>
                <a:latin typeface="Calibri" pitchFamily="34" charset="0"/>
                <a:ea typeface="Calibri" pitchFamily="34" charset="-122"/>
                <a:cs typeface="Calibri" pitchFamily="34" charset="-120"/>
              </a:rPr>
              <a:t>26 · Bij oma op zondag</a:t>
            </a:r>
            <a:endParaRPr lang="en-US" sz="1050" dirty="0"/>
          </a:p>
        </p:txBody>
      </p:sp>
      <p:pic>
        <p:nvPicPr>
          <p:cNvPr id="17" name="Image 3" descr="PenNib">    </p:cNvPr>
          <p:cNvPicPr>
            <a:picLocks noChangeAspect="1"/>
          </p:cNvPicPr>
          <p:nvPr/>
        </p:nvPicPr>
        <p:blipFill>
          <a:blip r:embed="rId4"/>
          <a:stretch>
            <a:fillRect/>
          </a:stretch>
        </p:blipFill>
        <p:spPr>
          <a:xfrm>
            <a:off x="8033004" y="1786938"/>
            <a:ext cx="155448" cy="155448"/>
          </a:xfrm>
          <a:prstGeom prst="rect">
            <a:avLst/>
          </a:prstGeom>
        </p:spPr>
      </p:pic>
      <p:sp>
        <p:nvSpPr>
          <p:cNvPr id="18" name="Shape 11"/>
          <p:cNvSpPr/>
          <p:nvPr/>
        </p:nvSpPr>
        <p:spPr>
          <a:xfrm>
            <a:off x="8353044" y="1695498"/>
            <a:ext cx="1707642" cy="1094708"/>
          </a:xfrm>
          <a:prstGeom prst="roundRect">
            <a:avLst>
              <a:gd name="adj" fmla="val 3341"/>
            </a:avLst>
          </a:prstGeom>
          <a:solidFill>
            <a:srgbClr val="FFFFFF"/>
          </a:solidFill>
          <a:ln w="9525">
            <a:solidFill>
              <a:srgbClr val="E3E7EE"/>
            </a:solidFill>
            <a:prstDash val="solid"/>
          </a:ln>
          <a:effectLst>
            <a:outerShdw sx="100000" sy="100000" kx="0" ky="0" algn="bl" rotWithShape="0" blurRad="63500" dist="25400" dir="5400000">
              <a:srgbClr val="1B2430">
                <a:alpha val="25000"/>
              </a:srgbClr>
            </a:outerShdw>
          </a:effectLst>
        </p:spPr>
      </p:sp>
      <p:pic>
        <p:nvPicPr>
          <p:cNvPr id="19" name="Image 4" descr="/home/user/talenleren/neerlandais1/generateur/img/vijfzinnen/a1_stad_s.jpg">    </p:cNvPr>
          <p:cNvPicPr>
            <a:picLocks noChangeAspect="1"/>
          </p:cNvPicPr>
          <p:nvPr/>
        </p:nvPicPr>
        <p:blipFill>
          <a:blip r:embed="rId5"/>
          <a:stretch>
            <a:fillRect/>
          </a:stretch>
        </p:blipFill>
        <p:spPr>
          <a:xfrm>
            <a:off x="8389620" y="1732074"/>
            <a:ext cx="1634490" cy="1021556"/>
          </a:xfrm>
          <a:prstGeom prst="rect">
            <a:avLst/>
          </a:prstGeom>
        </p:spPr>
      </p:pic>
      <p:sp>
        <p:nvSpPr>
          <p:cNvPr id="20" name="Text 12"/>
          <p:cNvSpPr txBox="1"/>
          <p:nvPr/>
        </p:nvSpPr>
        <p:spPr>
          <a:xfrm>
            <a:off x="8362188" y="2817638"/>
            <a:ext cx="1689354" cy="274320"/>
          </a:xfrm>
          <a:prstGeom prst="rect">
            <a:avLst/>
          </a:prstGeom>
          <a:noFill/>
          <a:ln/>
        </p:spPr>
        <p:txBody>
          <a:bodyPr wrap="square" lIns="0" tIns="0" rIns="0" bIns="0" rtlCol="0" anchor="t"/>
          <a:lstStyle/>
          <a:p>
            <a:pPr algn="l" indent="0" marL="0">
              <a:buNone/>
            </a:pPr>
            <a:r>
              <a:rPr lang="en-US" sz="1050" b="1" dirty="0">
                <a:solidFill>
                  <a:srgbClr val="2B2F38"/>
                </a:solidFill>
                <a:latin typeface="Calibri" pitchFamily="34" charset="0"/>
                <a:ea typeface="Calibri" pitchFamily="34" charset="-122"/>
                <a:cs typeface="Calibri" pitchFamily="34" charset="-120"/>
              </a:rPr>
              <a:t>27 · Met de fiets naar het werk</a:t>
            </a:r>
            <a:endParaRPr lang="en-US" sz="1050" dirty="0"/>
          </a:p>
        </p:txBody>
      </p:sp>
      <p:pic>
        <p:nvPicPr>
          <p:cNvPr id="21" name="Image 5" descr="Comments">    </p:cNvPr>
          <p:cNvPicPr>
            <a:picLocks noChangeAspect="1"/>
          </p:cNvPicPr>
          <p:nvPr/>
        </p:nvPicPr>
        <p:blipFill>
          <a:blip r:embed="rId6"/>
          <a:stretch>
            <a:fillRect/>
          </a:stretch>
        </p:blipFill>
        <p:spPr>
          <a:xfrm>
            <a:off x="9804654" y="1786938"/>
            <a:ext cx="155448" cy="155448"/>
          </a:xfrm>
          <a:prstGeom prst="rect">
            <a:avLst/>
          </a:prstGeom>
        </p:spPr>
      </p:pic>
      <p:sp>
        <p:nvSpPr>
          <p:cNvPr id="22" name="Shape 13"/>
          <p:cNvSpPr/>
          <p:nvPr/>
        </p:nvSpPr>
        <p:spPr>
          <a:xfrm>
            <a:off x="10124694" y="1695498"/>
            <a:ext cx="1707642" cy="1094708"/>
          </a:xfrm>
          <a:prstGeom prst="roundRect">
            <a:avLst>
              <a:gd name="adj" fmla="val 3341"/>
            </a:avLst>
          </a:prstGeom>
          <a:solidFill>
            <a:srgbClr val="FFFFFF"/>
          </a:solidFill>
          <a:ln w="9525">
            <a:solidFill>
              <a:srgbClr val="E3E7EE"/>
            </a:solidFill>
            <a:prstDash val="solid"/>
          </a:ln>
          <a:effectLst>
            <a:outerShdw sx="100000" sy="100000" kx="0" ky="0" algn="bl" rotWithShape="0" blurRad="63500" dist="25400" dir="5400000">
              <a:srgbClr val="1B2430">
                <a:alpha val="25000"/>
              </a:srgbClr>
            </a:outerShdw>
          </a:effectLst>
        </p:spPr>
      </p:sp>
      <p:pic>
        <p:nvPicPr>
          <p:cNvPr id="23" name="Image 6" descr="/home/user/talenleren/neerlandais1/generateur/img/vijfzinnen/a1_avondeten_s.jpg">    </p:cNvPr>
          <p:cNvPicPr>
            <a:picLocks noChangeAspect="1"/>
          </p:cNvPicPr>
          <p:nvPr/>
        </p:nvPicPr>
        <p:blipFill>
          <a:blip r:embed="rId7"/>
          <a:stretch>
            <a:fillRect/>
          </a:stretch>
        </p:blipFill>
        <p:spPr>
          <a:xfrm>
            <a:off x="10161270" y="1732074"/>
            <a:ext cx="1634490" cy="1021556"/>
          </a:xfrm>
          <a:prstGeom prst="rect">
            <a:avLst/>
          </a:prstGeom>
        </p:spPr>
      </p:pic>
      <p:sp>
        <p:nvSpPr>
          <p:cNvPr id="24" name="Text 14"/>
          <p:cNvSpPr txBox="1"/>
          <p:nvPr/>
        </p:nvSpPr>
        <p:spPr>
          <a:xfrm>
            <a:off x="10133838" y="2817638"/>
            <a:ext cx="1689354" cy="274320"/>
          </a:xfrm>
          <a:prstGeom prst="rect">
            <a:avLst/>
          </a:prstGeom>
          <a:noFill/>
          <a:ln/>
        </p:spPr>
        <p:txBody>
          <a:bodyPr wrap="square" lIns="0" tIns="0" rIns="0" bIns="0" rtlCol="0" anchor="t"/>
          <a:lstStyle/>
          <a:p>
            <a:pPr algn="l" indent="0" marL="0">
              <a:buNone/>
            </a:pPr>
            <a:r>
              <a:rPr lang="en-US" sz="1050" b="1" dirty="0">
                <a:solidFill>
                  <a:srgbClr val="2B2F38"/>
                </a:solidFill>
                <a:latin typeface="Calibri" pitchFamily="34" charset="0"/>
                <a:ea typeface="Calibri" pitchFamily="34" charset="-122"/>
                <a:cs typeface="Calibri" pitchFamily="34" charset="-120"/>
              </a:rPr>
              <a:t>28 · Wat eten we vanavond?</a:t>
            </a:r>
            <a:endParaRPr lang="en-US" sz="1050" dirty="0"/>
          </a:p>
        </p:txBody>
      </p:sp>
      <p:pic>
        <p:nvPicPr>
          <p:cNvPr id="25" name="Image 7" descr="PenNib">    </p:cNvPr>
          <p:cNvPicPr>
            <a:picLocks noChangeAspect="1"/>
          </p:cNvPicPr>
          <p:nvPr/>
        </p:nvPicPr>
        <p:blipFill>
          <a:blip r:embed="rId8"/>
          <a:stretch>
            <a:fillRect/>
          </a:stretch>
        </p:blipFill>
        <p:spPr>
          <a:xfrm>
            <a:off x="11576304" y="1786938"/>
            <a:ext cx="155448" cy="155448"/>
          </a:xfrm>
          <a:prstGeom prst="rect">
            <a:avLst/>
          </a:prstGeom>
        </p:spPr>
      </p:pic>
      <p:sp>
        <p:nvSpPr>
          <p:cNvPr id="26" name="Shape 15"/>
          <p:cNvSpPr/>
          <p:nvPr/>
        </p:nvSpPr>
        <p:spPr>
          <a:xfrm>
            <a:off x="4809744" y="3101102"/>
            <a:ext cx="1707642" cy="1094708"/>
          </a:xfrm>
          <a:prstGeom prst="roundRect">
            <a:avLst>
              <a:gd name="adj" fmla="val 3341"/>
            </a:avLst>
          </a:prstGeom>
          <a:solidFill>
            <a:srgbClr val="FFFFFF"/>
          </a:solidFill>
          <a:ln w="9525">
            <a:solidFill>
              <a:srgbClr val="E3E7EE"/>
            </a:solidFill>
            <a:prstDash val="solid"/>
          </a:ln>
          <a:effectLst>
            <a:outerShdw sx="100000" sy="100000" kx="0" ky="0" algn="bl" rotWithShape="0" blurRad="63500" dist="25400" dir="5400000">
              <a:srgbClr val="1B2430">
                <a:alpha val="25000"/>
              </a:srgbClr>
            </a:outerShdw>
          </a:effectLst>
        </p:spPr>
      </p:sp>
      <p:pic>
        <p:nvPicPr>
          <p:cNvPr id="27" name="Image 8" descr="/home/user/talenleren/neerlandais1/generateur/img/vijfzinnen/a1_supermarkt_s.jpg">    </p:cNvPr>
          <p:cNvPicPr>
            <a:picLocks noChangeAspect="1"/>
          </p:cNvPicPr>
          <p:nvPr/>
        </p:nvPicPr>
        <p:blipFill>
          <a:blip r:embed="rId9"/>
          <a:stretch>
            <a:fillRect/>
          </a:stretch>
        </p:blipFill>
        <p:spPr>
          <a:xfrm>
            <a:off x="4846320" y="3137678"/>
            <a:ext cx="1634490" cy="1021556"/>
          </a:xfrm>
          <a:prstGeom prst="rect">
            <a:avLst/>
          </a:prstGeom>
        </p:spPr>
      </p:pic>
      <p:sp>
        <p:nvSpPr>
          <p:cNvPr id="28" name="Text 16"/>
          <p:cNvSpPr txBox="1"/>
          <p:nvPr/>
        </p:nvSpPr>
        <p:spPr>
          <a:xfrm>
            <a:off x="4818888" y="4223242"/>
            <a:ext cx="1689354" cy="274320"/>
          </a:xfrm>
          <a:prstGeom prst="rect">
            <a:avLst/>
          </a:prstGeom>
          <a:noFill/>
          <a:ln/>
        </p:spPr>
        <p:txBody>
          <a:bodyPr wrap="square" lIns="0" tIns="0" rIns="0" bIns="0" rtlCol="0" anchor="t"/>
          <a:lstStyle/>
          <a:p>
            <a:pPr algn="l" indent="0" marL="0">
              <a:buNone/>
            </a:pPr>
            <a:r>
              <a:rPr lang="en-US" sz="1050" b="1" dirty="0">
                <a:solidFill>
                  <a:srgbClr val="2B2F38"/>
                </a:solidFill>
                <a:latin typeface="Calibri" pitchFamily="34" charset="0"/>
                <a:ea typeface="Calibri" pitchFamily="34" charset="-122"/>
                <a:cs typeface="Calibri" pitchFamily="34" charset="-120"/>
              </a:rPr>
              <a:t>29 · In de supermarkt</a:t>
            </a:r>
            <a:endParaRPr lang="en-US" sz="1050" dirty="0"/>
          </a:p>
        </p:txBody>
      </p:sp>
      <p:pic>
        <p:nvPicPr>
          <p:cNvPr id="29" name="Image 9" descr="Comments">    </p:cNvPr>
          <p:cNvPicPr>
            <a:picLocks noChangeAspect="1"/>
          </p:cNvPicPr>
          <p:nvPr/>
        </p:nvPicPr>
        <p:blipFill>
          <a:blip r:embed="rId10"/>
          <a:stretch>
            <a:fillRect/>
          </a:stretch>
        </p:blipFill>
        <p:spPr>
          <a:xfrm>
            <a:off x="6261354" y="3192542"/>
            <a:ext cx="155448" cy="155448"/>
          </a:xfrm>
          <a:prstGeom prst="rect">
            <a:avLst/>
          </a:prstGeom>
        </p:spPr>
      </p:pic>
      <p:sp>
        <p:nvSpPr>
          <p:cNvPr id="30" name="Shape 17"/>
          <p:cNvSpPr/>
          <p:nvPr/>
        </p:nvSpPr>
        <p:spPr>
          <a:xfrm>
            <a:off x="6581394" y="3101102"/>
            <a:ext cx="1707642" cy="1094708"/>
          </a:xfrm>
          <a:prstGeom prst="roundRect">
            <a:avLst>
              <a:gd name="adj" fmla="val 3341"/>
            </a:avLst>
          </a:prstGeom>
          <a:solidFill>
            <a:srgbClr val="FFFFFF"/>
          </a:solidFill>
          <a:ln w="9525">
            <a:solidFill>
              <a:srgbClr val="E3E7EE"/>
            </a:solidFill>
            <a:prstDash val="solid"/>
          </a:ln>
          <a:effectLst>
            <a:outerShdw sx="100000" sy="100000" kx="0" ky="0" algn="bl" rotWithShape="0" blurRad="63500" dist="25400" dir="5400000">
              <a:srgbClr val="1B2430">
                <a:alpha val="25000"/>
              </a:srgbClr>
            </a:outerShdw>
          </a:effectLst>
        </p:spPr>
      </p:sp>
      <p:pic>
        <p:nvPicPr>
          <p:cNvPr id="31" name="Image 10" descr="/home/user/talenleren/neerlandais1/generateur/img/vijfzinnen/a1_ziek_s.jpg">    </p:cNvPr>
          <p:cNvPicPr>
            <a:picLocks noChangeAspect="1"/>
          </p:cNvPicPr>
          <p:nvPr/>
        </p:nvPicPr>
        <p:blipFill>
          <a:blip r:embed="rId11"/>
          <a:stretch>
            <a:fillRect/>
          </a:stretch>
        </p:blipFill>
        <p:spPr>
          <a:xfrm>
            <a:off x="6617970" y="3137678"/>
            <a:ext cx="1634490" cy="1021556"/>
          </a:xfrm>
          <a:prstGeom prst="rect">
            <a:avLst/>
          </a:prstGeom>
        </p:spPr>
      </p:pic>
      <p:sp>
        <p:nvSpPr>
          <p:cNvPr id="32" name="Text 18"/>
          <p:cNvSpPr txBox="1"/>
          <p:nvPr/>
        </p:nvSpPr>
        <p:spPr>
          <a:xfrm>
            <a:off x="6590538" y="4223242"/>
            <a:ext cx="1689354" cy="274320"/>
          </a:xfrm>
          <a:prstGeom prst="rect">
            <a:avLst/>
          </a:prstGeom>
          <a:noFill/>
          <a:ln/>
        </p:spPr>
        <p:txBody>
          <a:bodyPr wrap="square" lIns="0" tIns="0" rIns="0" bIns="0" rtlCol="0" anchor="t"/>
          <a:lstStyle/>
          <a:p>
            <a:pPr algn="l" indent="0" marL="0">
              <a:buNone/>
            </a:pPr>
            <a:r>
              <a:rPr lang="en-US" sz="1050" b="1" dirty="0">
                <a:solidFill>
                  <a:srgbClr val="2B2F38"/>
                </a:solidFill>
                <a:latin typeface="Calibri" pitchFamily="34" charset="0"/>
                <a:ea typeface="Calibri" pitchFamily="34" charset="-122"/>
                <a:cs typeface="Calibri" pitchFamily="34" charset="-120"/>
              </a:rPr>
              <a:t>30 · Ik ben ziek</a:t>
            </a:r>
            <a:endParaRPr lang="en-US" sz="1050" dirty="0"/>
          </a:p>
        </p:txBody>
      </p:sp>
      <p:pic>
        <p:nvPicPr>
          <p:cNvPr id="33" name="Image 11" descr="Comments">    </p:cNvPr>
          <p:cNvPicPr>
            <a:picLocks noChangeAspect="1"/>
          </p:cNvPicPr>
          <p:nvPr/>
        </p:nvPicPr>
        <p:blipFill>
          <a:blip r:embed="rId12"/>
          <a:stretch>
            <a:fillRect/>
          </a:stretch>
        </p:blipFill>
        <p:spPr>
          <a:xfrm>
            <a:off x="8033004" y="3192542"/>
            <a:ext cx="155448" cy="155448"/>
          </a:xfrm>
          <a:prstGeom prst="rect">
            <a:avLst/>
          </a:prstGeom>
        </p:spPr>
      </p:pic>
      <p:sp>
        <p:nvSpPr>
          <p:cNvPr id="34" name="Shape 19"/>
          <p:cNvSpPr/>
          <p:nvPr/>
        </p:nvSpPr>
        <p:spPr>
          <a:xfrm>
            <a:off x="8353044" y="3101102"/>
            <a:ext cx="1707642" cy="1094708"/>
          </a:xfrm>
          <a:prstGeom prst="roundRect">
            <a:avLst>
              <a:gd name="adj" fmla="val 3341"/>
            </a:avLst>
          </a:prstGeom>
          <a:solidFill>
            <a:srgbClr val="FFFFFF"/>
          </a:solidFill>
          <a:ln w="9525">
            <a:solidFill>
              <a:srgbClr val="E3E7EE"/>
            </a:solidFill>
            <a:prstDash val="solid"/>
          </a:ln>
          <a:effectLst>
            <a:outerShdw sx="100000" sy="100000" kx="0" ky="0" algn="bl" rotWithShape="0" blurRad="63500" dist="25400" dir="5400000">
              <a:srgbClr val="1B2430">
                <a:alpha val="25000"/>
              </a:srgbClr>
            </a:outerShdw>
          </a:effectLst>
        </p:spPr>
      </p:sp>
      <p:pic>
        <p:nvPicPr>
          <p:cNvPr id="35" name="Image 12" descr="/home/user/talenleren/neerlandais1/generateur/img/vijfzinnen/a1_kantoor_s.jpg">    </p:cNvPr>
          <p:cNvPicPr>
            <a:picLocks noChangeAspect="1"/>
          </p:cNvPicPr>
          <p:nvPr/>
        </p:nvPicPr>
        <p:blipFill>
          <a:blip r:embed="rId13"/>
          <a:stretch>
            <a:fillRect/>
          </a:stretch>
        </p:blipFill>
        <p:spPr>
          <a:xfrm>
            <a:off x="8389620" y="3137678"/>
            <a:ext cx="1634490" cy="1021556"/>
          </a:xfrm>
          <a:prstGeom prst="rect">
            <a:avLst/>
          </a:prstGeom>
        </p:spPr>
      </p:pic>
      <p:sp>
        <p:nvSpPr>
          <p:cNvPr id="36" name="Text 20"/>
          <p:cNvSpPr txBox="1"/>
          <p:nvPr/>
        </p:nvSpPr>
        <p:spPr>
          <a:xfrm>
            <a:off x="8362188" y="4223242"/>
            <a:ext cx="1689354" cy="274320"/>
          </a:xfrm>
          <a:prstGeom prst="rect">
            <a:avLst/>
          </a:prstGeom>
          <a:noFill/>
          <a:ln/>
        </p:spPr>
        <p:txBody>
          <a:bodyPr wrap="square" lIns="0" tIns="0" rIns="0" bIns="0" rtlCol="0" anchor="t"/>
          <a:lstStyle/>
          <a:p>
            <a:pPr algn="l" indent="0" marL="0">
              <a:buNone/>
            </a:pPr>
            <a:r>
              <a:rPr lang="en-US" sz="1050" b="1" dirty="0">
                <a:solidFill>
                  <a:srgbClr val="2B2F38"/>
                </a:solidFill>
                <a:latin typeface="Calibri" pitchFamily="34" charset="0"/>
                <a:ea typeface="Calibri" pitchFamily="34" charset="-122"/>
                <a:cs typeface="Calibri" pitchFamily="34" charset="-120"/>
              </a:rPr>
              <a:t>31 · Op kantoor</a:t>
            </a:r>
            <a:endParaRPr lang="en-US" sz="1050" dirty="0"/>
          </a:p>
        </p:txBody>
      </p:sp>
      <p:pic>
        <p:nvPicPr>
          <p:cNvPr id="37" name="Image 13" descr="PenNib">    </p:cNvPr>
          <p:cNvPicPr>
            <a:picLocks noChangeAspect="1"/>
          </p:cNvPicPr>
          <p:nvPr/>
        </p:nvPicPr>
        <p:blipFill>
          <a:blip r:embed="rId14"/>
          <a:stretch>
            <a:fillRect/>
          </a:stretch>
        </p:blipFill>
        <p:spPr>
          <a:xfrm>
            <a:off x="9804654" y="3192542"/>
            <a:ext cx="155448" cy="155448"/>
          </a:xfrm>
          <a:prstGeom prst="rect">
            <a:avLst/>
          </a:prstGeom>
        </p:spPr>
      </p:pic>
      <p:sp>
        <p:nvSpPr>
          <p:cNvPr id="38" name="Shape 21"/>
          <p:cNvSpPr/>
          <p:nvPr/>
        </p:nvSpPr>
        <p:spPr>
          <a:xfrm>
            <a:off x="10124694" y="3101102"/>
            <a:ext cx="1707642" cy="1094708"/>
          </a:xfrm>
          <a:prstGeom prst="roundRect">
            <a:avLst>
              <a:gd name="adj" fmla="val 3341"/>
            </a:avLst>
          </a:prstGeom>
          <a:solidFill>
            <a:srgbClr val="FFFFFF"/>
          </a:solidFill>
          <a:ln w="9525">
            <a:solidFill>
              <a:srgbClr val="E3E7EE"/>
            </a:solidFill>
            <a:prstDash val="solid"/>
          </a:ln>
          <a:effectLst>
            <a:outerShdw sx="100000" sy="100000" kx="0" ky="0" algn="bl" rotWithShape="0" blurRad="63500" dist="25400" dir="5400000">
              <a:srgbClr val="1B2430">
                <a:alpha val="25000"/>
              </a:srgbClr>
            </a:outerShdw>
          </a:effectLst>
        </p:spPr>
      </p:sp>
      <p:pic>
        <p:nvPicPr>
          <p:cNvPr id="39" name="Image 14" descr="/home/user/talenleren/neerlandais1/generateur/img/vijfzinnen/a1_berichtje_s.jpg">    </p:cNvPr>
          <p:cNvPicPr>
            <a:picLocks noChangeAspect="1"/>
          </p:cNvPicPr>
          <p:nvPr/>
        </p:nvPicPr>
        <p:blipFill>
          <a:blip r:embed="rId15"/>
          <a:stretch>
            <a:fillRect/>
          </a:stretch>
        </p:blipFill>
        <p:spPr>
          <a:xfrm>
            <a:off x="10161270" y="3137678"/>
            <a:ext cx="1634490" cy="1021556"/>
          </a:xfrm>
          <a:prstGeom prst="rect">
            <a:avLst/>
          </a:prstGeom>
        </p:spPr>
      </p:pic>
      <p:sp>
        <p:nvSpPr>
          <p:cNvPr id="40" name="Text 22"/>
          <p:cNvSpPr txBox="1"/>
          <p:nvPr/>
        </p:nvSpPr>
        <p:spPr>
          <a:xfrm>
            <a:off x="10133838" y="4223242"/>
            <a:ext cx="1689354" cy="274320"/>
          </a:xfrm>
          <a:prstGeom prst="rect">
            <a:avLst/>
          </a:prstGeom>
          <a:noFill/>
          <a:ln/>
        </p:spPr>
        <p:txBody>
          <a:bodyPr wrap="square" lIns="0" tIns="0" rIns="0" bIns="0" rtlCol="0" anchor="t"/>
          <a:lstStyle/>
          <a:p>
            <a:pPr algn="l" indent="0" marL="0">
              <a:buNone/>
            </a:pPr>
            <a:r>
              <a:rPr lang="en-US" sz="1050" b="1" dirty="0">
                <a:solidFill>
                  <a:srgbClr val="2B2F38"/>
                </a:solidFill>
                <a:latin typeface="Calibri" pitchFamily="34" charset="0"/>
                <a:ea typeface="Calibri" pitchFamily="34" charset="-122"/>
                <a:cs typeface="Calibri" pitchFamily="34" charset="-120"/>
              </a:rPr>
              <a:t>32 · Een berichtje</a:t>
            </a:r>
            <a:endParaRPr lang="en-US" sz="1050" dirty="0"/>
          </a:p>
        </p:txBody>
      </p:sp>
      <p:pic>
        <p:nvPicPr>
          <p:cNvPr id="41" name="Image 15" descr="PenNib">    </p:cNvPr>
          <p:cNvPicPr>
            <a:picLocks noChangeAspect="1"/>
          </p:cNvPicPr>
          <p:nvPr/>
        </p:nvPicPr>
        <p:blipFill>
          <a:blip r:embed="rId16"/>
          <a:stretch>
            <a:fillRect/>
          </a:stretch>
        </p:blipFill>
        <p:spPr>
          <a:xfrm>
            <a:off x="11576304" y="3192542"/>
            <a:ext cx="155448" cy="155448"/>
          </a:xfrm>
          <a:prstGeom prst="rect">
            <a:avLst/>
          </a:prstGeom>
        </p:spPr>
      </p:pic>
      <p:sp>
        <p:nvSpPr>
          <p:cNvPr id="42" name="Shape 23"/>
          <p:cNvSpPr/>
          <p:nvPr/>
        </p:nvSpPr>
        <p:spPr>
          <a:xfrm>
            <a:off x="4809744" y="4506706"/>
            <a:ext cx="1707642" cy="1094708"/>
          </a:xfrm>
          <a:prstGeom prst="roundRect">
            <a:avLst>
              <a:gd name="adj" fmla="val 3341"/>
            </a:avLst>
          </a:prstGeom>
          <a:solidFill>
            <a:srgbClr val="FFFFFF"/>
          </a:solidFill>
          <a:ln w="9525">
            <a:solidFill>
              <a:srgbClr val="E3E7EE"/>
            </a:solidFill>
            <a:prstDash val="solid"/>
          </a:ln>
          <a:effectLst>
            <a:outerShdw sx="100000" sy="100000" kx="0" ky="0" algn="bl" rotWithShape="0" blurRad="63500" dist="25400" dir="5400000">
              <a:srgbClr val="1B2430">
                <a:alpha val="25000"/>
              </a:srgbClr>
            </a:outerShdw>
          </a:effectLst>
        </p:spPr>
      </p:sp>
      <p:pic>
        <p:nvPicPr>
          <p:cNvPr id="43" name="Image 16" descr="/home/user/talenleren/neerlandais1/generateur/img/vijfzinnen/a1_gemeentehuis_s.jpg">    </p:cNvPr>
          <p:cNvPicPr>
            <a:picLocks noChangeAspect="1"/>
          </p:cNvPicPr>
          <p:nvPr/>
        </p:nvPicPr>
        <p:blipFill>
          <a:blip r:embed="rId17"/>
          <a:stretch>
            <a:fillRect/>
          </a:stretch>
        </p:blipFill>
        <p:spPr>
          <a:xfrm>
            <a:off x="4846320" y="4543282"/>
            <a:ext cx="1634490" cy="1021556"/>
          </a:xfrm>
          <a:prstGeom prst="rect">
            <a:avLst/>
          </a:prstGeom>
        </p:spPr>
      </p:pic>
      <p:sp>
        <p:nvSpPr>
          <p:cNvPr id="44" name="Text 24"/>
          <p:cNvSpPr txBox="1"/>
          <p:nvPr/>
        </p:nvSpPr>
        <p:spPr>
          <a:xfrm>
            <a:off x="4818888" y="5628846"/>
            <a:ext cx="1689354" cy="274320"/>
          </a:xfrm>
          <a:prstGeom prst="rect">
            <a:avLst/>
          </a:prstGeom>
          <a:noFill/>
          <a:ln/>
        </p:spPr>
        <p:txBody>
          <a:bodyPr wrap="square" lIns="0" tIns="0" rIns="0" bIns="0" rtlCol="0" anchor="t"/>
          <a:lstStyle/>
          <a:p>
            <a:pPr algn="l" indent="0" marL="0">
              <a:buNone/>
            </a:pPr>
            <a:r>
              <a:rPr lang="en-US" sz="1050" b="1" dirty="0">
                <a:solidFill>
                  <a:srgbClr val="2B2F38"/>
                </a:solidFill>
                <a:latin typeface="Calibri" pitchFamily="34" charset="0"/>
                <a:ea typeface="Calibri" pitchFamily="34" charset="-122"/>
                <a:cs typeface="Calibri" pitchFamily="34" charset="-120"/>
              </a:rPr>
              <a:t>33 · Op het gemeentehuis</a:t>
            </a:r>
            <a:endParaRPr lang="en-US" sz="1050" dirty="0"/>
          </a:p>
        </p:txBody>
      </p:sp>
      <p:pic>
        <p:nvPicPr>
          <p:cNvPr id="45" name="Image 17" descr="Comments">    </p:cNvPr>
          <p:cNvPicPr>
            <a:picLocks noChangeAspect="1"/>
          </p:cNvPicPr>
          <p:nvPr/>
        </p:nvPicPr>
        <p:blipFill>
          <a:blip r:embed="rId18"/>
          <a:stretch>
            <a:fillRect/>
          </a:stretch>
        </p:blipFill>
        <p:spPr>
          <a:xfrm>
            <a:off x="6261354" y="4598146"/>
            <a:ext cx="155448" cy="155448"/>
          </a:xfrm>
          <a:prstGeom prst="rect">
            <a:avLst/>
          </a:prstGeom>
        </p:spPr>
      </p:pic>
      <p:sp>
        <p:nvSpPr>
          <p:cNvPr id="46" name="Shape 25"/>
          <p:cNvSpPr/>
          <p:nvPr/>
        </p:nvSpPr>
        <p:spPr>
          <a:xfrm>
            <a:off x="6581394" y="4506706"/>
            <a:ext cx="1707642" cy="1094708"/>
          </a:xfrm>
          <a:prstGeom prst="roundRect">
            <a:avLst>
              <a:gd name="adj" fmla="val 3341"/>
            </a:avLst>
          </a:prstGeom>
          <a:solidFill>
            <a:srgbClr val="FFFFFF"/>
          </a:solidFill>
          <a:ln w="9525">
            <a:solidFill>
              <a:srgbClr val="E3E7EE"/>
            </a:solidFill>
            <a:prstDash val="solid"/>
          </a:ln>
          <a:effectLst>
            <a:outerShdw sx="100000" sy="100000" kx="0" ky="0" algn="bl" rotWithShape="0" blurRad="63500" dist="25400" dir="5400000">
              <a:srgbClr val="1B2430">
                <a:alpha val="25000"/>
              </a:srgbClr>
            </a:outerShdw>
          </a:effectLst>
        </p:spPr>
      </p:sp>
      <p:pic>
        <p:nvPicPr>
          <p:cNvPr id="47" name="Image 18" descr="/home/user/talenleren/neerlandais1/generateur/img/vijfzinnen/a1_winter_s.jpg">    </p:cNvPr>
          <p:cNvPicPr>
            <a:picLocks noChangeAspect="1"/>
          </p:cNvPicPr>
          <p:nvPr/>
        </p:nvPicPr>
        <p:blipFill>
          <a:blip r:embed="rId19"/>
          <a:stretch>
            <a:fillRect/>
          </a:stretch>
        </p:blipFill>
        <p:spPr>
          <a:xfrm>
            <a:off x="6617970" y="4543282"/>
            <a:ext cx="1634490" cy="1021556"/>
          </a:xfrm>
          <a:prstGeom prst="rect">
            <a:avLst/>
          </a:prstGeom>
        </p:spPr>
      </p:pic>
      <p:sp>
        <p:nvSpPr>
          <p:cNvPr id="48" name="Text 26"/>
          <p:cNvSpPr txBox="1"/>
          <p:nvPr/>
        </p:nvSpPr>
        <p:spPr>
          <a:xfrm>
            <a:off x="6590538" y="5628846"/>
            <a:ext cx="1689354" cy="274320"/>
          </a:xfrm>
          <a:prstGeom prst="rect">
            <a:avLst/>
          </a:prstGeom>
          <a:noFill/>
          <a:ln/>
        </p:spPr>
        <p:txBody>
          <a:bodyPr wrap="square" lIns="0" tIns="0" rIns="0" bIns="0" rtlCol="0" anchor="t"/>
          <a:lstStyle/>
          <a:p>
            <a:pPr algn="l" indent="0" marL="0">
              <a:buNone/>
            </a:pPr>
            <a:r>
              <a:rPr lang="en-US" sz="1050" b="1" dirty="0">
                <a:solidFill>
                  <a:srgbClr val="2B2F38"/>
                </a:solidFill>
                <a:latin typeface="Calibri" pitchFamily="34" charset="0"/>
                <a:ea typeface="Calibri" pitchFamily="34" charset="-122"/>
                <a:cs typeface="Calibri" pitchFamily="34" charset="-120"/>
              </a:rPr>
              <a:t>34 · Het is winter!</a:t>
            </a:r>
            <a:endParaRPr lang="en-US" sz="1050" dirty="0"/>
          </a:p>
        </p:txBody>
      </p:sp>
      <p:pic>
        <p:nvPicPr>
          <p:cNvPr id="49" name="Image 19" descr="Comments">    </p:cNvPr>
          <p:cNvPicPr>
            <a:picLocks noChangeAspect="1"/>
          </p:cNvPicPr>
          <p:nvPr/>
        </p:nvPicPr>
        <p:blipFill>
          <a:blip r:embed="rId20"/>
          <a:stretch>
            <a:fillRect/>
          </a:stretch>
        </p:blipFill>
        <p:spPr>
          <a:xfrm>
            <a:off x="8033004" y="4598146"/>
            <a:ext cx="155448" cy="155448"/>
          </a:xfrm>
          <a:prstGeom prst="rect">
            <a:avLst/>
          </a:prstGeom>
        </p:spPr>
      </p:pic>
      <p:sp>
        <p:nvSpPr>
          <p:cNvPr id="50" name="Shape 27"/>
          <p:cNvSpPr/>
          <p:nvPr/>
        </p:nvSpPr>
        <p:spPr>
          <a:xfrm>
            <a:off x="8353044" y="4506706"/>
            <a:ext cx="1707642" cy="1094708"/>
          </a:xfrm>
          <a:prstGeom prst="roundRect">
            <a:avLst>
              <a:gd name="adj" fmla="val 3341"/>
            </a:avLst>
          </a:prstGeom>
          <a:solidFill>
            <a:srgbClr val="FFFFFF"/>
          </a:solidFill>
          <a:ln w="9525">
            <a:solidFill>
              <a:srgbClr val="E3E7EE"/>
            </a:solidFill>
            <a:prstDash val="solid"/>
          </a:ln>
          <a:effectLst>
            <a:outerShdw sx="100000" sy="100000" kx="0" ky="0" algn="bl" rotWithShape="0" blurRad="63500" dist="25400" dir="5400000">
              <a:srgbClr val="1B2430">
                <a:alpha val="25000"/>
              </a:srgbClr>
            </a:outerShdw>
          </a:effectLst>
        </p:spPr>
      </p:sp>
      <p:pic>
        <p:nvPicPr>
          <p:cNvPr id="51" name="Image 20" descr="/home/user/talenleren/neerlandais1/generateur/img/vijfzinnen/a1_karaoke_s.jpg">    </p:cNvPr>
          <p:cNvPicPr>
            <a:picLocks noChangeAspect="1"/>
          </p:cNvPicPr>
          <p:nvPr/>
        </p:nvPicPr>
        <p:blipFill>
          <a:blip r:embed="rId21"/>
          <a:stretch>
            <a:fillRect/>
          </a:stretch>
        </p:blipFill>
        <p:spPr>
          <a:xfrm>
            <a:off x="8389620" y="4543282"/>
            <a:ext cx="1634490" cy="1021556"/>
          </a:xfrm>
          <a:prstGeom prst="rect">
            <a:avLst/>
          </a:prstGeom>
        </p:spPr>
      </p:pic>
      <p:sp>
        <p:nvSpPr>
          <p:cNvPr id="52" name="Text 28"/>
          <p:cNvSpPr txBox="1"/>
          <p:nvPr/>
        </p:nvSpPr>
        <p:spPr>
          <a:xfrm>
            <a:off x="8362188" y="5628846"/>
            <a:ext cx="1689354" cy="274320"/>
          </a:xfrm>
          <a:prstGeom prst="rect">
            <a:avLst/>
          </a:prstGeom>
          <a:noFill/>
          <a:ln/>
        </p:spPr>
        <p:txBody>
          <a:bodyPr wrap="square" lIns="0" tIns="0" rIns="0" bIns="0" rtlCol="0" anchor="t"/>
          <a:lstStyle/>
          <a:p>
            <a:pPr algn="l" indent="0" marL="0">
              <a:buNone/>
            </a:pPr>
            <a:r>
              <a:rPr lang="en-US" sz="1050" b="1" dirty="0">
                <a:solidFill>
                  <a:srgbClr val="2B2F38"/>
                </a:solidFill>
                <a:latin typeface="Calibri" pitchFamily="34" charset="0"/>
                <a:ea typeface="Calibri" pitchFamily="34" charset="-122"/>
                <a:cs typeface="Calibri" pitchFamily="34" charset="-120"/>
              </a:rPr>
              <a:t>35 · Karaoke!</a:t>
            </a:r>
            <a:endParaRPr lang="en-US" sz="1050" dirty="0"/>
          </a:p>
        </p:txBody>
      </p:sp>
      <p:pic>
        <p:nvPicPr>
          <p:cNvPr id="53" name="Image 21" descr="Comments">    </p:cNvPr>
          <p:cNvPicPr>
            <a:picLocks noChangeAspect="1"/>
          </p:cNvPicPr>
          <p:nvPr/>
        </p:nvPicPr>
        <p:blipFill>
          <a:blip r:embed="rId22"/>
          <a:stretch>
            <a:fillRect/>
          </a:stretch>
        </p:blipFill>
        <p:spPr>
          <a:xfrm>
            <a:off x="9804654" y="4598146"/>
            <a:ext cx="155448" cy="155448"/>
          </a:xfrm>
          <a:prstGeom prst="rect">
            <a:avLst/>
          </a:prstGeom>
        </p:spPr>
      </p:pic>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1"/>
          <p:cNvSpPr/>
          <p:nvPr>
            <p:ph idx="101" type="title" hasCustomPrompt="1"/>
          </p:nvPr>
        </p:nvSpPr>
        <p:spPr>
          <a:xfrm>
            <a:off x="1554480" y="384048"/>
            <a:ext cx="10241280" cy="658368"/>
          </a:xfrm>
          <a:prstGeom prst="rect">
            <a:avLst/>
          </a:prstGeom>
          <a:noFill/>
          <a:ln/>
        </p:spPr>
        <p:txBody>
          <a:bodyPr wrap="square" lIns="0" tIns="0" rIns="0" bIns="0" rtlCol="0" anchor="ctr"/>
          <a:lstStyle/>
          <a:p>
            <a:pPr algn="ctr" indent="0" marL="0">
              <a:buNone/>
            </a:pPr>
            <a:r>
              <a:rPr lang="en-US" sz="3000" b="1" dirty="0">
                <a:solidFill>
                  <a:srgbClr val="2B2F38"/>
                </a:solidFill>
              </a:rPr>
              <a:t>Gebruik deze afbeelding als inspiratie</a:t>
            </a:r>
            <a:endParaRPr lang="en-US" sz="3000" dirty="0"/>
          </a:p>
        </p:txBody>
      </p:sp>
      <p:sp>
        <p:nvSpPr>
          <p:cNvPr id="4" name="Shape 1"/>
          <p:cNvSpPr/>
          <p:nvPr/>
        </p:nvSpPr>
        <p:spPr>
          <a:xfrm>
            <a:off x="365760" y="365760"/>
            <a:ext cx="868680" cy="5989320"/>
          </a:xfrm>
          <a:prstGeom prst="roundRect">
            <a:avLst>
              <a:gd name="adj" fmla="val 12632"/>
            </a:avLst>
          </a:prstGeom>
          <a:solidFill>
            <a:srgbClr val="FDF1E4"/>
          </a:solidFill>
          <a:ln w="28575">
            <a:solidFill>
              <a:srgbClr val="F0A15E"/>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B9661F"/>
                </a:solidFill>
                <a:latin typeface="Calibri" pitchFamily="34" charset="0"/>
                <a:ea typeface="Calibri" pitchFamily="34" charset="-122"/>
                <a:cs typeface="Calibri" pitchFamily="34" charset="-120"/>
              </a:rPr>
              <a:t>A1 · Vocabulaire</a:t>
            </a:r>
            <a:endParaRPr lang="en-US" sz="3800" dirty="0"/>
          </a:p>
        </p:txBody>
      </p:sp>
      <p:sp>
        <p:nvSpPr>
          <p:cNvPr id="6" name="Text 3"/>
          <p:cNvSpPr txBox="1"/>
          <p:nvPr/>
        </p:nvSpPr>
        <p:spPr>
          <a:xfrm>
            <a:off x="1554480" y="1024128"/>
            <a:ext cx="10241280" cy="365760"/>
          </a:xfrm>
          <a:prstGeom prst="rect">
            <a:avLst/>
          </a:prstGeom>
          <a:noFill/>
          <a:ln/>
        </p:spPr>
        <p:txBody>
          <a:bodyPr wrap="square" lIns="0" tIns="0" rIns="0" bIns="0" rtlCol="0" anchor="ctr"/>
          <a:lstStyle/>
          <a:p>
            <a:pPr algn="ctr" indent="0" marL="0">
              <a:buNone/>
            </a:pPr>
            <a:r>
              <a:rPr lang="en-US" sz="1500" b="1" dirty="0">
                <a:solidFill>
                  <a:srgbClr val="B9661F"/>
                </a:solidFill>
                <a:latin typeface="Calibri" pitchFamily="34" charset="0"/>
                <a:ea typeface="Calibri" pitchFamily="34" charset="-122"/>
                <a:cs typeface="Calibri" pitchFamily="34" charset="-120"/>
              </a:rPr>
              <a:t>25 · Aangenaam!</a:t>
            </a:r>
            <a:r>
              <a:rPr lang="en-US" sz="1500" i="1" dirty="0">
                <a:solidFill>
                  <a:srgbClr val="6B7280"/>
                </a:solidFill>
                <a:latin typeface="Calibri" pitchFamily="34" charset="0"/>
                <a:ea typeface="Calibri" pitchFamily="34" charset="-122"/>
                <a:cs typeface="Calibri" pitchFamily="34" charset="-120"/>
              </a:rPr>
              <a:t>   Enchanté·e !</a:t>
            </a:r>
            <a:r>
              <a:rPr lang="en-US" sz="1200" dirty="0">
                <a:solidFill>
                  <a:srgbClr val="9AA3B2"/>
                </a:solidFill>
                <a:latin typeface="Calibri" pitchFamily="34" charset="0"/>
                <a:ea typeface="Calibri" pitchFamily="34" charset="-122"/>
                <a:cs typeface="Calibri" pitchFamily="34" charset="-120"/>
              </a:rPr>
              <a:t>   ·   syllabus vocabulaire 01 · p. 78</a:t>
            </a:r>
            <a:endParaRPr lang="en-US" sz="1500" dirty="0"/>
          </a:p>
        </p:txBody>
      </p:sp>
      <p:sp>
        <p:nvSpPr>
          <p:cNvPr id="7" name="Shape 4"/>
          <p:cNvSpPr/>
          <p:nvPr/>
        </p:nvSpPr>
        <p:spPr>
          <a:xfrm>
            <a:off x="1596085" y="1504645"/>
            <a:ext cx="4534510" cy="2905735"/>
          </a:xfrm>
          <a:prstGeom prst="roundRect">
            <a:avLst>
              <a:gd name="adj" fmla="val 1259"/>
            </a:avLst>
          </a:prstGeom>
          <a:solidFill>
            <a:srgbClr val="FFFFFF"/>
          </a:solidFill>
          <a:ln w="9525">
            <a:solidFill>
              <a:srgbClr val="E3E7EE"/>
            </a:solidFill>
            <a:prstDash val="solid"/>
          </a:ln>
          <a:effectLst>
            <a:outerShdw sx="100000" sy="100000" kx="0" ky="0" algn="bl" rotWithShape="0" blurRad="127000" dist="50800" dir="5400000">
              <a:srgbClr val="1B2430">
                <a:alpha val="25000"/>
              </a:srgbClr>
            </a:outerShdw>
          </a:effectLst>
        </p:spPr>
      </p:sp>
      <p:pic>
        <p:nvPicPr>
          <p:cNvPr id="8" name="Image 0" descr="/home/user/talenleren/neerlandais1/generateur/img/vijfzinnen/a1_aangenaam_s.jpg">    </p:cNvPr>
          <p:cNvPicPr>
            <a:picLocks noChangeAspect="1"/>
          </p:cNvPicPr>
          <p:nvPr/>
        </p:nvPicPr>
        <p:blipFill>
          <a:blip r:embed="rId1"/>
          <a:stretch>
            <a:fillRect/>
          </a:stretch>
        </p:blipFill>
        <p:spPr>
          <a:xfrm>
            <a:off x="1691640" y="1600200"/>
            <a:ext cx="4343400" cy="2714625"/>
          </a:xfrm>
          <a:prstGeom prst="rect">
            <a:avLst/>
          </a:prstGeom>
        </p:spPr>
      </p:pic>
      <p:sp>
        <p:nvSpPr>
          <p:cNvPr id="9" name="Shape 5"/>
          <p:cNvSpPr/>
          <p:nvPr/>
        </p:nvSpPr>
        <p:spPr>
          <a:xfrm>
            <a:off x="1691640" y="4572000"/>
            <a:ext cx="1600200" cy="365760"/>
          </a:xfrm>
          <a:prstGeom prst="roundRect">
            <a:avLst>
              <a:gd name="adj" fmla="val 50000"/>
            </a:avLst>
          </a:prstGeom>
          <a:solidFill>
            <a:srgbClr val="FDF1E6"/>
          </a:solidFill>
          <a:ln w="12700">
            <a:solidFill>
              <a:srgbClr val="D9822B"/>
            </a:solidFill>
            <a:prstDash val="solid"/>
          </a:ln>
        </p:spPr>
      </p:sp>
      <p:pic>
        <p:nvPicPr>
          <p:cNvPr id="10" name="Image 1" descr="Comments">    </p:cNvPr>
          <p:cNvPicPr>
            <a:picLocks noChangeAspect="1"/>
          </p:cNvPicPr>
          <p:nvPr/>
        </p:nvPicPr>
        <p:blipFill>
          <a:blip r:embed="rId2"/>
          <a:stretch>
            <a:fillRect/>
          </a:stretch>
        </p:blipFill>
        <p:spPr>
          <a:xfrm>
            <a:off x="1819656" y="4654296"/>
            <a:ext cx="201168" cy="201168"/>
          </a:xfrm>
          <a:prstGeom prst="rect">
            <a:avLst/>
          </a:prstGeom>
        </p:spPr>
      </p:pic>
      <p:sp>
        <p:nvSpPr>
          <p:cNvPr id="11" name="Text 6"/>
          <p:cNvSpPr txBox="1"/>
          <p:nvPr/>
        </p:nvSpPr>
        <p:spPr>
          <a:xfrm>
            <a:off x="2075688" y="4572000"/>
            <a:ext cx="1143000" cy="365760"/>
          </a:xfrm>
          <a:prstGeom prst="rect">
            <a:avLst/>
          </a:prstGeom>
          <a:noFill/>
          <a:ln/>
        </p:spPr>
        <p:txBody>
          <a:bodyPr wrap="square" lIns="0" tIns="0" rIns="0" bIns="0" rtlCol="0" anchor="ctr"/>
          <a:lstStyle/>
          <a:p>
            <a:pPr algn="l" indent="0" marL="0">
              <a:buNone/>
            </a:pPr>
            <a:r>
              <a:rPr lang="en-US" sz="1150" b="1" spc="100" kern="0" dirty="0">
                <a:solidFill>
                  <a:srgbClr val="D9822B"/>
                </a:solidFill>
                <a:latin typeface="Calibri" pitchFamily="34" charset="0"/>
                <a:ea typeface="Calibri" pitchFamily="34" charset="-122"/>
                <a:cs typeface="Calibri" pitchFamily="34" charset="-120"/>
              </a:rPr>
              <a:t>À L’ORAL</a:t>
            </a:r>
            <a:endParaRPr lang="en-US" sz="1150" dirty="0"/>
          </a:p>
        </p:txBody>
      </p:sp>
      <p:sp>
        <p:nvSpPr>
          <p:cNvPr id="12" name="Text 7"/>
          <p:cNvSpPr txBox="1"/>
          <p:nvPr/>
        </p:nvSpPr>
        <p:spPr>
          <a:xfrm>
            <a:off x="3429000" y="4544568"/>
            <a:ext cx="2651760" cy="731520"/>
          </a:xfrm>
          <a:prstGeom prst="rect">
            <a:avLst/>
          </a:prstGeom>
          <a:noFill/>
          <a:ln/>
        </p:spPr>
        <p:txBody>
          <a:bodyPr wrap="square" lIns="0" tIns="0" rIns="0" bIns="0" rtlCol="0" anchor="t"/>
          <a:lstStyle/>
          <a:p>
            <a:pPr algn="l" indent="0" marL="0">
              <a:buNone/>
            </a:pPr>
            <a:r>
              <a:rPr lang="en-US" sz="1150" i="1" dirty="0">
                <a:solidFill>
                  <a:srgbClr val="6B7280"/>
                </a:solidFill>
                <a:latin typeface="Calibri" pitchFamily="34" charset="0"/>
                <a:ea typeface="Calibri" pitchFamily="34" charset="-122"/>
                <a:cs typeface="Calibri" pitchFamily="34" charset="-120"/>
              </a:rPr>
              <a:t>Une réception professionnelle. Vous rencontrez quelqu’un et vous échangez vos cartes de visite.</a:t>
            </a:r>
            <a:endParaRPr lang="en-US" sz="1150" dirty="0"/>
          </a:p>
        </p:txBody>
      </p:sp>
      <p:sp>
        <p:nvSpPr>
          <p:cNvPr id="13" name="Shape 8"/>
          <p:cNvSpPr/>
          <p:nvPr/>
        </p:nvSpPr>
        <p:spPr>
          <a:xfrm>
            <a:off x="6355080" y="1673352"/>
            <a:ext cx="914400" cy="402336"/>
          </a:xfrm>
          <a:prstGeom prst="roundRect">
            <a:avLst>
              <a:gd name="adj" fmla="val 13636"/>
            </a:avLst>
          </a:prstGeom>
          <a:solidFill>
            <a:srgbClr val="5FA873"/>
          </a:solidFill>
          <a:ln w="12700">
            <a:solidFill>
              <a:srgbClr val="FFFFFF">
                <a:alpha val="0"/>
              </a:srgbClr>
            </a:solidFill>
            <a:prstDash val="solid"/>
          </a:ln>
        </p:spPr>
      </p:sp>
      <p:sp>
        <p:nvSpPr>
          <p:cNvPr id="14" name="Text 9"/>
          <p:cNvSpPr txBox="1"/>
          <p:nvPr/>
        </p:nvSpPr>
        <p:spPr>
          <a:xfrm>
            <a:off x="6355080" y="167335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1</a:t>
            </a:r>
            <a:endParaRPr lang="en-US" sz="1600" dirty="0"/>
          </a:p>
        </p:txBody>
      </p:sp>
      <p:sp>
        <p:nvSpPr>
          <p:cNvPr id="15" name="Text 10"/>
          <p:cNvSpPr txBox="1"/>
          <p:nvPr/>
        </p:nvSpPr>
        <p:spPr>
          <a:xfrm>
            <a:off x="7406640" y="1618488"/>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Serrez la main : </a:t>
            </a:r>
            <a:r>
              <a:rPr lang="en-US" sz="1450" b="1" dirty="0">
                <a:solidFill>
                  <a:srgbClr val="2B2F38"/>
                </a:solidFill>
              </a:rPr>
              <a:t>AANGENAAM</a:t>
            </a:r>
            <a:r>
              <a:rPr lang="en-US" sz="1450" dirty="0">
                <a:solidFill>
                  <a:srgbClr val="2B2F38"/>
                </a:solidFill>
              </a:rPr>
              <a:t>, ik ben…</a:t>
            </a:r>
            <a:endParaRPr lang="en-US" sz="1450" dirty="0"/>
          </a:p>
        </p:txBody>
      </p:sp>
      <p:sp>
        <p:nvSpPr>
          <p:cNvPr id="16" name="Shape 11"/>
          <p:cNvSpPr/>
          <p:nvPr/>
        </p:nvSpPr>
        <p:spPr>
          <a:xfrm>
            <a:off x="6355080" y="2404872"/>
            <a:ext cx="914400" cy="402336"/>
          </a:xfrm>
          <a:prstGeom prst="roundRect">
            <a:avLst>
              <a:gd name="adj" fmla="val 13636"/>
            </a:avLst>
          </a:prstGeom>
          <a:solidFill>
            <a:srgbClr val="5FA873"/>
          </a:solidFill>
          <a:ln w="12700">
            <a:solidFill>
              <a:srgbClr val="FFFFFF">
                <a:alpha val="0"/>
              </a:srgbClr>
            </a:solidFill>
            <a:prstDash val="solid"/>
          </a:ln>
        </p:spPr>
      </p:sp>
      <p:sp>
        <p:nvSpPr>
          <p:cNvPr id="17" name="Text 12"/>
          <p:cNvSpPr txBox="1"/>
          <p:nvPr/>
        </p:nvSpPr>
        <p:spPr>
          <a:xfrm>
            <a:off x="6355080" y="240487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2</a:t>
            </a:r>
            <a:endParaRPr lang="en-US" sz="1600" dirty="0"/>
          </a:p>
        </p:txBody>
      </p:sp>
      <p:sp>
        <p:nvSpPr>
          <p:cNvPr id="18" name="Text 13"/>
          <p:cNvSpPr txBox="1"/>
          <p:nvPr/>
        </p:nvSpPr>
        <p:spPr>
          <a:xfrm>
            <a:off x="7406640" y="2350008"/>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Votre profession : </a:t>
            </a:r>
            <a:r>
              <a:rPr lang="en-US" sz="1450" b="1" dirty="0">
                <a:solidFill>
                  <a:srgbClr val="2B2F38"/>
                </a:solidFill>
              </a:rPr>
              <a:t>IK BEN</a:t>
            </a:r>
            <a:r>
              <a:rPr lang="en-US" sz="1450" dirty="0">
                <a:solidFill>
                  <a:srgbClr val="2B2F38"/>
                </a:solidFill>
              </a:rPr>
              <a:t> + métier.</a:t>
            </a:r>
            <a:endParaRPr lang="en-US" sz="1450" dirty="0"/>
          </a:p>
        </p:txBody>
      </p:sp>
      <p:sp>
        <p:nvSpPr>
          <p:cNvPr id="19" name="Shape 14"/>
          <p:cNvSpPr/>
          <p:nvPr/>
        </p:nvSpPr>
        <p:spPr>
          <a:xfrm>
            <a:off x="6355080" y="3136392"/>
            <a:ext cx="914400" cy="402336"/>
          </a:xfrm>
          <a:prstGeom prst="roundRect">
            <a:avLst>
              <a:gd name="adj" fmla="val 13636"/>
            </a:avLst>
          </a:prstGeom>
          <a:solidFill>
            <a:srgbClr val="5FA873"/>
          </a:solidFill>
          <a:ln w="12700">
            <a:solidFill>
              <a:srgbClr val="FFFFFF">
                <a:alpha val="0"/>
              </a:srgbClr>
            </a:solidFill>
            <a:prstDash val="solid"/>
          </a:ln>
        </p:spPr>
      </p:sp>
      <p:sp>
        <p:nvSpPr>
          <p:cNvPr id="20" name="Text 15"/>
          <p:cNvSpPr txBox="1"/>
          <p:nvPr/>
        </p:nvSpPr>
        <p:spPr>
          <a:xfrm>
            <a:off x="6355080" y="313639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3</a:t>
            </a:r>
            <a:endParaRPr lang="en-US" sz="1600" dirty="0"/>
          </a:p>
        </p:txBody>
      </p:sp>
      <p:sp>
        <p:nvSpPr>
          <p:cNvPr id="21" name="Text 16"/>
          <p:cNvSpPr txBox="1"/>
          <p:nvPr/>
        </p:nvSpPr>
        <p:spPr>
          <a:xfrm>
            <a:off x="7406640" y="3081528"/>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Vos langues : </a:t>
            </a:r>
            <a:r>
              <a:rPr lang="en-US" sz="1450" b="1" dirty="0">
                <a:solidFill>
                  <a:srgbClr val="2B2F38"/>
                </a:solidFill>
              </a:rPr>
              <a:t>IK SPREEK</a:t>
            </a:r>
            <a:r>
              <a:rPr lang="en-US" sz="1450" dirty="0">
                <a:solidFill>
                  <a:srgbClr val="2B2F38"/>
                </a:solidFill>
              </a:rPr>
              <a:t> …</a:t>
            </a:r>
            <a:endParaRPr lang="en-US" sz="1450" dirty="0"/>
          </a:p>
        </p:txBody>
      </p:sp>
      <p:sp>
        <p:nvSpPr>
          <p:cNvPr id="22" name="Shape 17"/>
          <p:cNvSpPr/>
          <p:nvPr/>
        </p:nvSpPr>
        <p:spPr>
          <a:xfrm>
            <a:off x="6355080" y="3867912"/>
            <a:ext cx="914400" cy="402336"/>
          </a:xfrm>
          <a:prstGeom prst="roundRect">
            <a:avLst>
              <a:gd name="adj" fmla="val 13636"/>
            </a:avLst>
          </a:prstGeom>
          <a:solidFill>
            <a:srgbClr val="5FA873"/>
          </a:solidFill>
          <a:ln w="12700">
            <a:solidFill>
              <a:srgbClr val="FFFFFF">
                <a:alpha val="0"/>
              </a:srgbClr>
            </a:solidFill>
            <a:prstDash val="solid"/>
          </a:ln>
        </p:spPr>
      </p:sp>
      <p:sp>
        <p:nvSpPr>
          <p:cNvPr id="23" name="Text 18"/>
          <p:cNvSpPr txBox="1"/>
          <p:nvPr/>
        </p:nvSpPr>
        <p:spPr>
          <a:xfrm>
            <a:off x="6355080" y="386791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4</a:t>
            </a:r>
            <a:endParaRPr lang="en-US" sz="1600" dirty="0"/>
          </a:p>
        </p:txBody>
      </p:sp>
      <p:sp>
        <p:nvSpPr>
          <p:cNvPr id="24" name="Text 19"/>
          <p:cNvSpPr txBox="1"/>
          <p:nvPr/>
        </p:nvSpPr>
        <p:spPr>
          <a:xfrm>
            <a:off x="7406640" y="3813048"/>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Une chute avec </a:t>
            </a:r>
            <a:r>
              <a:rPr lang="en-US" sz="1450" b="1" dirty="0">
                <a:solidFill>
                  <a:srgbClr val="2B2F38"/>
                </a:solidFill>
              </a:rPr>
              <a:t>MIJN VISITEKAARTJE</a:t>
            </a:r>
            <a:r>
              <a:rPr lang="en-US" sz="1450" dirty="0">
                <a:solidFill>
                  <a:srgbClr val="2B2F38"/>
                </a:solidFill>
              </a:rPr>
              <a:t>.</a:t>
            </a:r>
            <a:endParaRPr lang="en-US" sz="1450" dirty="0"/>
          </a:p>
        </p:txBody>
      </p:sp>
      <p:sp>
        <p:nvSpPr>
          <p:cNvPr id="25" name="Shape 20"/>
          <p:cNvSpPr/>
          <p:nvPr/>
        </p:nvSpPr>
        <p:spPr>
          <a:xfrm>
            <a:off x="3246120" y="5440680"/>
            <a:ext cx="6858000" cy="822960"/>
          </a:xfrm>
          <a:prstGeom prst="roundRect">
            <a:avLst>
              <a:gd name="adj" fmla="val 17778"/>
            </a:avLst>
          </a:prstGeom>
          <a:solidFill>
            <a:srgbClr val="EAF5EC"/>
          </a:solidFill>
          <a:ln w="15875">
            <a:solidFill>
              <a:srgbClr val="5FA873"/>
            </a:solidFill>
            <a:prstDash val="solid"/>
          </a:ln>
        </p:spPr>
      </p:sp>
      <p:pic>
        <p:nvPicPr>
          <p:cNvPr id="26" name="Image 2" descr="UserFriends">    </p:cNvPr>
          <p:cNvPicPr>
            <a:picLocks noChangeAspect="1"/>
          </p:cNvPicPr>
          <p:nvPr/>
        </p:nvPicPr>
        <p:blipFill>
          <a:blip r:embed="rId3"/>
          <a:stretch>
            <a:fillRect/>
          </a:stretch>
        </p:blipFill>
        <p:spPr>
          <a:xfrm>
            <a:off x="3520440" y="5660136"/>
            <a:ext cx="384048" cy="384048"/>
          </a:xfrm>
          <a:prstGeom prst="rect">
            <a:avLst/>
          </a:prstGeom>
        </p:spPr>
      </p:pic>
      <p:sp>
        <p:nvSpPr>
          <p:cNvPr id="27" name="Text 21"/>
          <p:cNvSpPr txBox="1"/>
          <p:nvPr/>
        </p:nvSpPr>
        <p:spPr>
          <a:xfrm>
            <a:off x="4114800" y="5440680"/>
            <a:ext cx="5852160" cy="822960"/>
          </a:xfrm>
          <a:prstGeom prst="rect">
            <a:avLst/>
          </a:prstGeom>
          <a:noFill/>
          <a:ln/>
        </p:spPr>
        <p:txBody>
          <a:bodyPr wrap="square" lIns="0" tIns="0" rIns="0" bIns="0" rtlCol="0" anchor="ctr"/>
          <a:lstStyle/>
          <a:p>
            <a:pPr algn="ctr" indent="0" marL="0">
              <a:buNone/>
            </a:pPr>
            <a:r>
              <a:rPr lang="en-US" sz="1800" b="1" dirty="0">
                <a:solidFill>
                  <a:srgbClr val="2E6B44"/>
                </a:solidFill>
                <a:latin typeface="Calibri" pitchFamily="34" charset="0"/>
                <a:ea typeface="Calibri" pitchFamily="34" charset="-122"/>
                <a:cs typeface="Calibri" pitchFamily="34" charset="-120"/>
              </a:rPr>
              <a:t>Vertel je verhaal aan je partner.</a:t>
            </a:r>
            <a:endParaRPr lang="en-US" sz="1800" dirty="0"/>
          </a:p>
          <a:p>
            <a:pPr algn="ctr" indent="0" marL="0">
              <a:buNone/>
            </a:pPr>
            <a:r>
              <a:rPr lang="en-US" sz="1800" b="1" dirty="0">
                <a:solidFill>
                  <a:srgbClr val="2E6B44"/>
                </a:solidFill>
                <a:latin typeface="Calibri" pitchFamily="34" charset="0"/>
                <a:ea typeface="Calibri" pitchFamily="34" charset="-122"/>
                <a:cs typeface="Calibri" pitchFamily="34" charset="-120"/>
              </a:rPr>
              <a:t>Wat denkt hij/zij daarvan?</a:t>
            </a:r>
            <a:endParaRPr lang="en-US" sz="1800" dirty="0"/>
          </a:p>
        </p:txBody>
      </p:sp>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ext 1"/>
          <p:cNvSpPr/>
          <p:nvPr>
            <p:ph idx="101" type="title" hasCustomPrompt="1"/>
          </p:nvPr>
        </p:nvSpPr>
        <p:spPr>
          <a:xfrm>
            <a:off x="1554480" y="384048"/>
            <a:ext cx="10241280" cy="658368"/>
          </a:xfrm>
          <a:prstGeom prst="rect">
            <a:avLst/>
          </a:prstGeom>
          <a:noFill/>
          <a:ln/>
        </p:spPr>
        <p:txBody>
          <a:bodyPr wrap="square" lIns="0" tIns="0" rIns="0" bIns="0" rtlCol="0" anchor="ctr"/>
          <a:lstStyle/>
          <a:p>
            <a:pPr algn="ctr" indent="0" marL="0">
              <a:buNone/>
            </a:pPr>
            <a:r>
              <a:rPr lang="en-US" sz="3000" b="1" dirty="0">
                <a:solidFill>
                  <a:srgbClr val="2B2F38"/>
                </a:solidFill>
              </a:rPr>
              <a:t>Aangenaam!</a:t>
            </a:r>
            <a:endParaRPr lang="en-US" sz="3000" dirty="0"/>
          </a:p>
        </p:txBody>
      </p:sp>
      <p:sp>
        <p:nvSpPr>
          <p:cNvPr id="4" name="Shape 1"/>
          <p:cNvSpPr/>
          <p:nvPr/>
        </p:nvSpPr>
        <p:spPr>
          <a:xfrm>
            <a:off x="365760" y="365760"/>
            <a:ext cx="868680" cy="5989320"/>
          </a:xfrm>
          <a:prstGeom prst="roundRect">
            <a:avLst>
              <a:gd name="adj" fmla="val 12632"/>
            </a:avLst>
          </a:prstGeom>
          <a:solidFill>
            <a:srgbClr val="FDF1E4"/>
          </a:solidFill>
          <a:ln w="28575">
            <a:solidFill>
              <a:srgbClr val="F0A15E"/>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B9661F"/>
                </a:solidFill>
                <a:latin typeface="Calibri" pitchFamily="34" charset="0"/>
                <a:ea typeface="Calibri" pitchFamily="34" charset="-122"/>
                <a:cs typeface="Calibri" pitchFamily="34" charset="-120"/>
              </a:rPr>
              <a:t>A1 · Vocabulaire</a:t>
            </a:r>
            <a:endParaRPr lang="en-US" sz="3800" dirty="0"/>
          </a:p>
        </p:txBody>
      </p:sp>
      <p:sp>
        <p:nvSpPr>
          <p:cNvPr id="6" name="Shape 3"/>
          <p:cNvSpPr/>
          <p:nvPr/>
        </p:nvSpPr>
        <p:spPr>
          <a:xfrm>
            <a:off x="2519172" y="1124712"/>
            <a:ext cx="8311896" cy="5277231"/>
          </a:xfrm>
          <a:prstGeom prst="roundRect">
            <a:avLst>
              <a:gd name="adj" fmla="val 693"/>
            </a:avLst>
          </a:prstGeom>
          <a:solidFill>
            <a:srgbClr val="FFFFFF"/>
          </a:solidFill>
          <a:ln w="9525">
            <a:solidFill>
              <a:srgbClr val="E3E7EE"/>
            </a:solidFill>
            <a:prstDash val="solid"/>
          </a:ln>
          <a:effectLst>
            <a:outerShdw sx="100000" sy="100000" kx="0" ky="0" algn="bl" rotWithShape="0" blurRad="177800" dist="63500" dir="5400000">
              <a:srgbClr val="1B2430">
                <a:alpha val="25000"/>
              </a:srgbClr>
            </a:outerShdw>
          </a:effectLst>
        </p:spPr>
      </p:sp>
      <p:pic>
        <p:nvPicPr>
          <p:cNvPr id="7" name="Image 0" descr="/home/user/talenleren/neerlandais1/generateur/img/vijfzinnen/a1_aangenaam.jpg">    </p:cNvPr>
          <p:cNvPicPr>
            <a:picLocks noChangeAspect="1"/>
          </p:cNvPicPr>
          <p:nvPr/>
        </p:nvPicPr>
        <p:blipFill>
          <a:blip r:embed="rId1"/>
          <a:stretch>
            <a:fillRect/>
          </a:stretch>
        </p:blipFill>
        <p:spPr>
          <a:xfrm>
            <a:off x="2628900" y="1234440"/>
            <a:ext cx="8092440" cy="5057775"/>
          </a:xfrm>
          <a:prstGeom prst="rect">
            <a:avLst/>
          </a:prstGeom>
        </p:spPr>
      </p:pic>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1"/>
          <p:cNvSpPr/>
          <p:nvPr>
            <p:ph idx="101" type="title" hasCustomPrompt="1"/>
          </p:nvPr>
        </p:nvSpPr>
        <p:spPr>
          <a:xfrm>
            <a:off x="1691640" y="347472"/>
            <a:ext cx="8138160" cy="914400"/>
          </a:xfrm>
          <a:prstGeom prst="rect">
            <a:avLst/>
          </a:prstGeom>
          <a:noFill/>
          <a:ln/>
        </p:spPr>
        <p:txBody>
          <a:bodyPr wrap="square" lIns="0" tIns="0" rIns="0" bIns="0" rtlCol="0" anchor="ctr"/>
          <a:lstStyle/>
          <a:p>
            <a:pPr algn="l" indent="0" marL="0">
              <a:buNone/>
            </a:pPr>
            <a:r>
              <a:rPr lang="en-US" sz="2400" b="1" dirty="0">
                <a:solidFill>
                  <a:srgbClr val="2B2F38"/>
                </a:solidFill>
              </a:rPr>
              <a:t>Hier is een voorbeeld van wat je had kunnen denken en zeggen…</a:t>
            </a:r>
            <a:endParaRPr lang="en-US" sz="2400" dirty="0"/>
          </a:p>
        </p:txBody>
      </p:sp>
      <p:sp>
        <p:nvSpPr>
          <p:cNvPr id="4" name="Shape 1"/>
          <p:cNvSpPr/>
          <p:nvPr/>
        </p:nvSpPr>
        <p:spPr>
          <a:xfrm>
            <a:off x="365760" y="365760"/>
            <a:ext cx="868680" cy="5989320"/>
          </a:xfrm>
          <a:prstGeom prst="roundRect">
            <a:avLst>
              <a:gd name="adj" fmla="val 12632"/>
            </a:avLst>
          </a:prstGeom>
          <a:solidFill>
            <a:srgbClr val="FDF1E4"/>
          </a:solidFill>
          <a:ln w="28575">
            <a:solidFill>
              <a:srgbClr val="F0A15E"/>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B9661F"/>
                </a:solidFill>
                <a:latin typeface="Calibri" pitchFamily="34" charset="0"/>
                <a:ea typeface="Calibri" pitchFamily="34" charset="-122"/>
                <a:cs typeface="Calibri" pitchFamily="34" charset="-120"/>
              </a:rPr>
              <a:t>A1 · Vocabulaire</a:t>
            </a:r>
            <a:endParaRPr lang="en-US" sz="3800" dirty="0"/>
          </a:p>
        </p:txBody>
      </p:sp>
      <p:sp>
        <p:nvSpPr>
          <p:cNvPr id="6" name="Shape 3"/>
          <p:cNvSpPr/>
          <p:nvPr/>
        </p:nvSpPr>
        <p:spPr>
          <a:xfrm>
            <a:off x="10058400" y="246888"/>
            <a:ext cx="1691640" cy="1091565"/>
          </a:xfrm>
          <a:prstGeom prst="roundRect">
            <a:avLst>
              <a:gd name="adj" fmla="val 3351"/>
            </a:avLst>
          </a:prstGeom>
          <a:solidFill>
            <a:srgbClr val="FFFFFF"/>
          </a:solidFill>
          <a:ln w="9525">
            <a:solidFill>
              <a:srgbClr val="E3E7EE"/>
            </a:solidFill>
            <a:prstDash val="solid"/>
          </a:ln>
          <a:effectLst>
            <a:outerShdw sx="100000" sy="100000" kx="0" ky="0" algn="bl" rotWithShape="0" blurRad="76200" dist="25400" dir="5400000">
              <a:srgbClr val="1B2430">
                <a:alpha val="25000"/>
              </a:srgbClr>
            </a:outerShdw>
          </a:effectLst>
        </p:spPr>
      </p:sp>
      <p:pic>
        <p:nvPicPr>
          <p:cNvPr id="7" name="Image 0" descr="/home/user/talenleren/neerlandais1/generateur/img/vijfzinnen/a1_aangenaam_s.jpg">    </p:cNvPr>
          <p:cNvPicPr>
            <a:picLocks noChangeAspect="1"/>
          </p:cNvPicPr>
          <p:nvPr/>
        </p:nvPicPr>
        <p:blipFill>
          <a:blip r:embed="rId1"/>
          <a:stretch>
            <a:fillRect/>
          </a:stretch>
        </p:blipFill>
        <p:spPr>
          <a:xfrm>
            <a:off x="10104120" y="292608"/>
            <a:ext cx="1600200" cy="1000125"/>
          </a:xfrm>
          <a:prstGeom prst="rect">
            <a:avLst/>
          </a:prstGeom>
        </p:spPr>
      </p:pic>
      <p:sp>
        <p:nvSpPr>
          <p:cNvPr id="8" name="Shape 4"/>
          <p:cNvSpPr/>
          <p:nvPr/>
        </p:nvSpPr>
        <p:spPr>
          <a:xfrm>
            <a:off x="1691640" y="2779166"/>
            <a:ext cx="1600810" cy="371856"/>
          </a:xfrm>
          <a:prstGeom prst="roundRect">
            <a:avLst>
              <a:gd name="adj" fmla="val 12295"/>
            </a:avLst>
          </a:prstGeom>
          <a:solidFill>
            <a:srgbClr val="E6F3DA"/>
          </a:solidFill>
          <a:ln w="12700">
            <a:solidFill>
              <a:srgbClr val="FFFFFF">
                <a:alpha val="0"/>
              </a:srgbClr>
            </a:solidFill>
            <a:prstDash val="solid"/>
          </a:ln>
        </p:spPr>
      </p:sp>
      <p:sp>
        <p:nvSpPr>
          <p:cNvPr id="9" name="Text 5"/>
          <p:cNvSpPr txBox="1"/>
          <p:nvPr/>
        </p:nvSpPr>
        <p:spPr>
          <a:xfrm>
            <a:off x="1691640" y="2766974"/>
            <a:ext cx="1600810"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Aangenaam</a:t>
            </a:r>
            <a:endParaRPr lang="en-US" sz="2400" dirty="0"/>
          </a:p>
        </p:txBody>
      </p:sp>
      <p:sp>
        <p:nvSpPr>
          <p:cNvPr id="10" name="Text 6"/>
          <p:cNvSpPr txBox="1"/>
          <p:nvPr/>
        </p:nvSpPr>
        <p:spPr>
          <a:xfrm>
            <a:off x="3292450" y="2766974"/>
            <a:ext cx="2692298"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 ik ben Tom. Ik ben</a:t>
            </a:r>
            <a:endParaRPr lang="en-US" sz="2400" dirty="0"/>
          </a:p>
        </p:txBody>
      </p:sp>
      <p:sp>
        <p:nvSpPr>
          <p:cNvPr id="11" name="Shape 7"/>
          <p:cNvSpPr/>
          <p:nvPr/>
        </p:nvSpPr>
        <p:spPr>
          <a:xfrm>
            <a:off x="5889041" y="2779166"/>
            <a:ext cx="1295095" cy="371856"/>
          </a:xfrm>
          <a:prstGeom prst="roundRect">
            <a:avLst>
              <a:gd name="adj" fmla="val 12295"/>
            </a:avLst>
          </a:prstGeom>
          <a:solidFill>
            <a:srgbClr val="E6F3DA"/>
          </a:solidFill>
          <a:ln w="12700">
            <a:solidFill>
              <a:srgbClr val="FFFFFF">
                <a:alpha val="0"/>
              </a:srgbClr>
            </a:solidFill>
            <a:prstDash val="solid"/>
          </a:ln>
        </p:spPr>
      </p:sp>
      <p:sp>
        <p:nvSpPr>
          <p:cNvPr id="12" name="Text 8"/>
          <p:cNvSpPr txBox="1"/>
          <p:nvPr/>
        </p:nvSpPr>
        <p:spPr>
          <a:xfrm>
            <a:off x="5889041" y="2766974"/>
            <a:ext cx="1295095"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verpleger</a:t>
            </a:r>
            <a:endParaRPr lang="en-US" sz="2400" dirty="0"/>
          </a:p>
        </p:txBody>
      </p:sp>
      <p:sp>
        <p:nvSpPr>
          <p:cNvPr id="13" name="Text 9"/>
          <p:cNvSpPr txBox="1"/>
          <p:nvPr/>
        </p:nvSpPr>
        <p:spPr>
          <a:xfrm>
            <a:off x="7184136" y="2766974"/>
            <a:ext cx="1477366"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 Ik spreek</a:t>
            </a:r>
            <a:endParaRPr lang="en-US" sz="2400" dirty="0"/>
          </a:p>
        </p:txBody>
      </p:sp>
      <p:sp>
        <p:nvSpPr>
          <p:cNvPr id="14" name="Shape 10"/>
          <p:cNvSpPr/>
          <p:nvPr/>
        </p:nvSpPr>
        <p:spPr>
          <a:xfrm>
            <a:off x="2492045" y="2702966"/>
            <a:ext cx="914" cy="76200"/>
          </a:xfrm>
          <a:prstGeom prst="line">
            <a:avLst/>
          </a:prstGeom>
          <a:noFill/>
          <a:ln w="15875">
            <a:solidFill>
              <a:srgbClr val="7AB648"/>
            </a:solidFill>
            <a:prstDash val="solid"/>
          </a:ln>
        </p:spPr>
      </p:sp>
      <p:sp>
        <p:nvSpPr>
          <p:cNvPr id="15" name="Shape 11"/>
          <p:cNvSpPr/>
          <p:nvPr/>
        </p:nvSpPr>
        <p:spPr>
          <a:xfrm>
            <a:off x="1981308" y="2456078"/>
            <a:ext cx="1021474" cy="246888"/>
          </a:xfrm>
          <a:prstGeom prst="roundRect">
            <a:avLst>
              <a:gd name="adj" fmla="val 14815"/>
            </a:avLst>
          </a:prstGeom>
          <a:solidFill>
            <a:srgbClr val="7AB648"/>
          </a:solidFill>
          <a:ln w="12700">
            <a:solidFill>
              <a:srgbClr val="FFFFFF">
                <a:alpha val="0"/>
              </a:srgbClr>
            </a:solidFill>
            <a:prstDash val="solid"/>
          </a:ln>
        </p:spPr>
      </p:sp>
      <p:sp>
        <p:nvSpPr>
          <p:cNvPr id="16" name="Text 12"/>
          <p:cNvSpPr txBox="1"/>
          <p:nvPr/>
        </p:nvSpPr>
        <p:spPr>
          <a:xfrm>
            <a:off x="1981308" y="2456078"/>
            <a:ext cx="1021474"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AANGENAAM</a:t>
            </a:r>
            <a:endParaRPr lang="en-US" sz="1100" dirty="0"/>
          </a:p>
        </p:txBody>
      </p:sp>
      <p:sp>
        <p:nvSpPr>
          <p:cNvPr id="17" name="Shape 13"/>
          <p:cNvSpPr/>
          <p:nvPr/>
        </p:nvSpPr>
        <p:spPr>
          <a:xfrm>
            <a:off x="6536588" y="2702966"/>
            <a:ext cx="914" cy="76200"/>
          </a:xfrm>
          <a:prstGeom prst="line">
            <a:avLst/>
          </a:prstGeom>
          <a:noFill/>
          <a:ln w="15875">
            <a:solidFill>
              <a:srgbClr val="7AB648"/>
            </a:solidFill>
            <a:prstDash val="solid"/>
          </a:ln>
        </p:spPr>
      </p:sp>
      <p:sp>
        <p:nvSpPr>
          <p:cNvPr id="18" name="Shape 14"/>
          <p:cNvSpPr/>
          <p:nvPr/>
        </p:nvSpPr>
        <p:spPr>
          <a:xfrm>
            <a:off x="6195797" y="2456078"/>
            <a:ext cx="681584" cy="246888"/>
          </a:xfrm>
          <a:prstGeom prst="roundRect">
            <a:avLst>
              <a:gd name="adj" fmla="val 14815"/>
            </a:avLst>
          </a:prstGeom>
          <a:solidFill>
            <a:srgbClr val="7AB648"/>
          </a:solidFill>
          <a:ln w="12700">
            <a:solidFill>
              <a:srgbClr val="FFFFFF">
                <a:alpha val="0"/>
              </a:srgbClr>
            </a:solidFill>
            <a:prstDash val="solid"/>
          </a:ln>
        </p:spPr>
      </p:sp>
      <p:sp>
        <p:nvSpPr>
          <p:cNvPr id="19" name="Text 15"/>
          <p:cNvSpPr txBox="1"/>
          <p:nvPr/>
        </p:nvSpPr>
        <p:spPr>
          <a:xfrm>
            <a:off x="6195797" y="2456078"/>
            <a:ext cx="681584"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BEROEP</a:t>
            </a:r>
            <a:endParaRPr lang="en-US" sz="1100" dirty="0"/>
          </a:p>
        </p:txBody>
      </p:sp>
      <p:sp>
        <p:nvSpPr>
          <p:cNvPr id="20" name="Shape 16"/>
          <p:cNvSpPr/>
          <p:nvPr/>
        </p:nvSpPr>
        <p:spPr>
          <a:xfrm>
            <a:off x="1691640" y="3632606"/>
            <a:ext cx="4099255" cy="371856"/>
          </a:xfrm>
          <a:prstGeom prst="roundRect">
            <a:avLst>
              <a:gd name="adj" fmla="val 12295"/>
            </a:avLst>
          </a:prstGeom>
          <a:solidFill>
            <a:srgbClr val="E6F3DA"/>
          </a:solidFill>
          <a:ln w="12700">
            <a:solidFill>
              <a:srgbClr val="FFFFFF">
                <a:alpha val="0"/>
              </a:srgbClr>
            </a:solidFill>
            <a:prstDash val="solid"/>
          </a:ln>
        </p:spPr>
      </p:sp>
      <p:sp>
        <p:nvSpPr>
          <p:cNvPr id="21" name="Text 17"/>
          <p:cNvSpPr txBox="1"/>
          <p:nvPr/>
        </p:nvSpPr>
        <p:spPr>
          <a:xfrm>
            <a:off x="1691640" y="3620414"/>
            <a:ext cx="4099255"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Frans en een beetje Nederlands</a:t>
            </a:r>
            <a:endParaRPr lang="en-US" sz="2400" dirty="0"/>
          </a:p>
        </p:txBody>
      </p:sp>
      <p:sp>
        <p:nvSpPr>
          <p:cNvPr id="22" name="Text 18"/>
          <p:cNvSpPr txBox="1"/>
          <p:nvPr/>
        </p:nvSpPr>
        <p:spPr>
          <a:xfrm>
            <a:off x="5790895" y="3620414"/>
            <a:ext cx="259690"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a:t>
            </a:r>
            <a:endParaRPr lang="en-US" sz="2400" dirty="0"/>
          </a:p>
        </p:txBody>
      </p:sp>
      <p:sp>
        <p:nvSpPr>
          <p:cNvPr id="23" name="Shape 19"/>
          <p:cNvSpPr/>
          <p:nvPr/>
        </p:nvSpPr>
        <p:spPr>
          <a:xfrm>
            <a:off x="3741268" y="3556406"/>
            <a:ext cx="914" cy="76200"/>
          </a:xfrm>
          <a:prstGeom prst="line">
            <a:avLst/>
          </a:prstGeom>
          <a:noFill/>
          <a:ln w="15875">
            <a:solidFill>
              <a:srgbClr val="7AB648"/>
            </a:solidFill>
            <a:prstDash val="solid"/>
          </a:ln>
        </p:spPr>
      </p:sp>
      <p:sp>
        <p:nvSpPr>
          <p:cNvPr id="24" name="Shape 20"/>
          <p:cNvSpPr/>
          <p:nvPr/>
        </p:nvSpPr>
        <p:spPr>
          <a:xfrm>
            <a:off x="3482759" y="3309518"/>
            <a:ext cx="517017" cy="246888"/>
          </a:xfrm>
          <a:prstGeom prst="roundRect">
            <a:avLst>
              <a:gd name="adj" fmla="val 14815"/>
            </a:avLst>
          </a:prstGeom>
          <a:solidFill>
            <a:srgbClr val="7AB648"/>
          </a:solidFill>
          <a:ln w="12700">
            <a:solidFill>
              <a:srgbClr val="FFFFFF">
                <a:alpha val="0"/>
              </a:srgbClr>
            </a:solidFill>
            <a:prstDash val="solid"/>
          </a:ln>
        </p:spPr>
      </p:sp>
      <p:sp>
        <p:nvSpPr>
          <p:cNvPr id="25" name="Text 21"/>
          <p:cNvSpPr txBox="1"/>
          <p:nvPr/>
        </p:nvSpPr>
        <p:spPr>
          <a:xfrm>
            <a:off x="3482759" y="3309518"/>
            <a:ext cx="517017"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TAAL</a:t>
            </a:r>
            <a:endParaRPr lang="en-US" sz="1100" dirty="0"/>
          </a:p>
        </p:txBody>
      </p:sp>
      <p:sp>
        <p:nvSpPr>
          <p:cNvPr id="26" name="Text 22"/>
          <p:cNvSpPr txBox="1"/>
          <p:nvPr/>
        </p:nvSpPr>
        <p:spPr>
          <a:xfrm>
            <a:off x="3245968" y="4675022"/>
            <a:ext cx="977494"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Hier is</a:t>
            </a:r>
            <a:endParaRPr lang="en-US" sz="2400" dirty="0"/>
          </a:p>
        </p:txBody>
      </p:sp>
      <p:sp>
        <p:nvSpPr>
          <p:cNvPr id="27" name="Shape 23"/>
          <p:cNvSpPr/>
          <p:nvPr/>
        </p:nvSpPr>
        <p:spPr>
          <a:xfrm>
            <a:off x="4127754" y="4687214"/>
            <a:ext cx="2291791" cy="371856"/>
          </a:xfrm>
          <a:prstGeom prst="roundRect">
            <a:avLst>
              <a:gd name="adj" fmla="val 12295"/>
            </a:avLst>
          </a:prstGeom>
          <a:solidFill>
            <a:srgbClr val="E6F3DA"/>
          </a:solidFill>
          <a:ln w="12700">
            <a:solidFill>
              <a:srgbClr val="FFFFFF">
                <a:alpha val="0"/>
              </a:srgbClr>
            </a:solidFill>
            <a:prstDash val="solid"/>
          </a:ln>
        </p:spPr>
      </p:sp>
      <p:sp>
        <p:nvSpPr>
          <p:cNvPr id="28" name="Text 24"/>
          <p:cNvSpPr txBox="1"/>
          <p:nvPr/>
        </p:nvSpPr>
        <p:spPr>
          <a:xfrm>
            <a:off x="4127754" y="4675022"/>
            <a:ext cx="2291791"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mijn visitekaartje</a:t>
            </a:r>
            <a:endParaRPr lang="en-US" sz="2400" dirty="0"/>
          </a:p>
        </p:txBody>
      </p:sp>
      <p:sp>
        <p:nvSpPr>
          <p:cNvPr id="29" name="Text 25"/>
          <p:cNvSpPr txBox="1"/>
          <p:nvPr/>
        </p:nvSpPr>
        <p:spPr>
          <a:xfrm>
            <a:off x="6419545" y="4675022"/>
            <a:ext cx="3913327"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 met mijn telefoonnummer!</a:t>
            </a:r>
            <a:endParaRPr lang="en-US" sz="2400" dirty="0"/>
          </a:p>
        </p:txBody>
      </p:sp>
      <p:sp>
        <p:nvSpPr>
          <p:cNvPr id="30" name="Shape 26"/>
          <p:cNvSpPr/>
          <p:nvPr/>
        </p:nvSpPr>
        <p:spPr>
          <a:xfrm>
            <a:off x="5273650" y="4611014"/>
            <a:ext cx="914" cy="76200"/>
          </a:xfrm>
          <a:prstGeom prst="line">
            <a:avLst/>
          </a:prstGeom>
          <a:noFill/>
          <a:ln w="15875">
            <a:solidFill>
              <a:srgbClr val="7AB648"/>
            </a:solidFill>
            <a:prstDash val="solid"/>
          </a:ln>
        </p:spPr>
      </p:sp>
      <p:sp>
        <p:nvSpPr>
          <p:cNvPr id="31" name="Shape 27"/>
          <p:cNvSpPr/>
          <p:nvPr/>
        </p:nvSpPr>
        <p:spPr>
          <a:xfrm>
            <a:off x="4729664" y="4364126"/>
            <a:ext cx="1087971" cy="246888"/>
          </a:xfrm>
          <a:prstGeom prst="roundRect">
            <a:avLst>
              <a:gd name="adj" fmla="val 14815"/>
            </a:avLst>
          </a:prstGeom>
          <a:solidFill>
            <a:srgbClr val="7AB648"/>
          </a:solidFill>
          <a:ln w="12700">
            <a:solidFill>
              <a:srgbClr val="FFFFFF">
                <a:alpha val="0"/>
              </a:srgbClr>
            </a:solidFill>
            <a:prstDash val="solid"/>
          </a:ln>
        </p:spPr>
      </p:sp>
      <p:sp>
        <p:nvSpPr>
          <p:cNvPr id="32" name="Text 28"/>
          <p:cNvSpPr txBox="1"/>
          <p:nvPr/>
        </p:nvSpPr>
        <p:spPr>
          <a:xfrm>
            <a:off x="4729664" y="4364126"/>
            <a:ext cx="1087971"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VISITEKAARTJE</a:t>
            </a:r>
            <a:endParaRPr lang="en-US" sz="1100" dirty="0"/>
          </a:p>
        </p:txBody>
      </p:sp>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82</a:t>
            </a:fld>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Text 1"/>
          <p:cNvSpPr/>
          <p:nvPr>
            <p:ph idx="101" type="title" hasCustomPrompt="1"/>
          </p:nvPr>
        </p:nvSpPr>
        <p:spPr>
          <a:xfrm>
            <a:off x="1554480" y="384048"/>
            <a:ext cx="10241280" cy="658368"/>
          </a:xfrm>
          <a:prstGeom prst="rect">
            <a:avLst/>
          </a:prstGeom>
          <a:noFill/>
          <a:ln/>
        </p:spPr>
        <p:txBody>
          <a:bodyPr wrap="square" lIns="0" tIns="0" rIns="0" bIns="0" rtlCol="0" anchor="ctr"/>
          <a:lstStyle/>
          <a:p>
            <a:pPr algn="ctr" indent="0" marL="0">
              <a:buNone/>
            </a:pPr>
            <a:r>
              <a:rPr lang="en-US" sz="3000" b="1" dirty="0">
                <a:solidFill>
                  <a:srgbClr val="2B2F38"/>
                </a:solidFill>
              </a:rPr>
              <a:t>Gebruik deze afbeelding als inspiratie</a:t>
            </a:r>
            <a:endParaRPr lang="en-US" sz="3000" dirty="0"/>
          </a:p>
        </p:txBody>
      </p:sp>
      <p:sp>
        <p:nvSpPr>
          <p:cNvPr id="4" name="Shape 1"/>
          <p:cNvSpPr/>
          <p:nvPr/>
        </p:nvSpPr>
        <p:spPr>
          <a:xfrm>
            <a:off x="365760" y="365760"/>
            <a:ext cx="868680" cy="5989320"/>
          </a:xfrm>
          <a:prstGeom prst="roundRect">
            <a:avLst>
              <a:gd name="adj" fmla="val 12632"/>
            </a:avLst>
          </a:prstGeom>
          <a:solidFill>
            <a:srgbClr val="FDF1E4"/>
          </a:solidFill>
          <a:ln w="28575">
            <a:solidFill>
              <a:srgbClr val="F0A15E"/>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B9661F"/>
                </a:solidFill>
                <a:latin typeface="Calibri" pitchFamily="34" charset="0"/>
                <a:ea typeface="Calibri" pitchFamily="34" charset="-122"/>
                <a:cs typeface="Calibri" pitchFamily="34" charset="-120"/>
              </a:rPr>
              <a:t>A1 · Vocabulaire</a:t>
            </a:r>
            <a:endParaRPr lang="en-US" sz="3800" dirty="0"/>
          </a:p>
        </p:txBody>
      </p:sp>
      <p:sp>
        <p:nvSpPr>
          <p:cNvPr id="6" name="Text 3"/>
          <p:cNvSpPr txBox="1"/>
          <p:nvPr/>
        </p:nvSpPr>
        <p:spPr>
          <a:xfrm>
            <a:off x="1554480" y="1024128"/>
            <a:ext cx="10241280" cy="365760"/>
          </a:xfrm>
          <a:prstGeom prst="rect">
            <a:avLst/>
          </a:prstGeom>
          <a:noFill/>
          <a:ln/>
        </p:spPr>
        <p:txBody>
          <a:bodyPr wrap="square" lIns="0" tIns="0" rIns="0" bIns="0" rtlCol="0" anchor="ctr"/>
          <a:lstStyle/>
          <a:p>
            <a:pPr algn="ctr" indent="0" marL="0">
              <a:buNone/>
            </a:pPr>
            <a:r>
              <a:rPr lang="en-US" sz="1500" b="1" dirty="0">
                <a:solidFill>
                  <a:srgbClr val="B9661F"/>
                </a:solidFill>
                <a:latin typeface="Calibri" pitchFamily="34" charset="0"/>
                <a:ea typeface="Calibri" pitchFamily="34" charset="-122"/>
                <a:cs typeface="Calibri" pitchFamily="34" charset="-120"/>
              </a:rPr>
              <a:t>26 · Bij oma op zondag</a:t>
            </a:r>
            <a:r>
              <a:rPr lang="en-US" sz="1500" i="1" dirty="0">
                <a:solidFill>
                  <a:srgbClr val="6B7280"/>
                </a:solidFill>
                <a:latin typeface="Calibri" pitchFamily="34" charset="0"/>
                <a:ea typeface="Calibri" pitchFamily="34" charset="-122"/>
                <a:cs typeface="Calibri" pitchFamily="34" charset="-120"/>
              </a:rPr>
              <a:t>   Le dimanche chez la grand-mère</a:t>
            </a:r>
            <a:r>
              <a:rPr lang="en-US" sz="1200" dirty="0">
                <a:solidFill>
                  <a:srgbClr val="9AA3B2"/>
                </a:solidFill>
                <a:latin typeface="Calibri" pitchFamily="34" charset="0"/>
                <a:ea typeface="Calibri" pitchFamily="34" charset="-122"/>
                <a:cs typeface="Calibri" pitchFamily="34" charset="-120"/>
              </a:rPr>
              <a:t>   ·   syllabus vocabulaire 02 · p. 79</a:t>
            </a:r>
            <a:endParaRPr lang="en-US" sz="1500" dirty="0"/>
          </a:p>
        </p:txBody>
      </p:sp>
      <p:sp>
        <p:nvSpPr>
          <p:cNvPr id="7" name="Shape 4"/>
          <p:cNvSpPr/>
          <p:nvPr/>
        </p:nvSpPr>
        <p:spPr>
          <a:xfrm>
            <a:off x="1596085" y="1504645"/>
            <a:ext cx="4534510" cy="2905735"/>
          </a:xfrm>
          <a:prstGeom prst="roundRect">
            <a:avLst>
              <a:gd name="adj" fmla="val 1259"/>
            </a:avLst>
          </a:prstGeom>
          <a:solidFill>
            <a:srgbClr val="FFFFFF"/>
          </a:solidFill>
          <a:ln w="9525">
            <a:solidFill>
              <a:srgbClr val="E3E7EE"/>
            </a:solidFill>
            <a:prstDash val="solid"/>
          </a:ln>
          <a:effectLst>
            <a:outerShdw sx="100000" sy="100000" kx="0" ky="0" algn="bl" rotWithShape="0" blurRad="127000" dist="50800" dir="5400000">
              <a:srgbClr val="1B2430">
                <a:alpha val="25000"/>
              </a:srgbClr>
            </a:outerShdw>
          </a:effectLst>
        </p:spPr>
      </p:sp>
      <p:pic>
        <p:nvPicPr>
          <p:cNvPr id="8" name="Image 0" descr="/home/user/talenleren/neerlandais1/generateur/img/vijfzinnen/a1_oma_s.jpg">    </p:cNvPr>
          <p:cNvPicPr>
            <a:picLocks noChangeAspect="1"/>
          </p:cNvPicPr>
          <p:nvPr/>
        </p:nvPicPr>
        <p:blipFill>
          <a:blip r:embed="rId1"/>
          <a:stretch>
            <a:fillRect/>
          </a:stretch>
        </p:blipFill>
        <p:spPr>
          <a:xfrm>
            <a:off x="1691640" y="1600200"/>
            <a:ext cx="4343400" cy="2714625"/>
          </a:xfrm>
          <a:prstGeom prst="rect">
            <a:avLst/>
          </a:prstGeom>
        </p:spPr>
      </p:pic>
      <p:sp>
        <p:nvSpPr>
          <p:cNvPr id="9" name="Shape 5"/>
          <p:cNvSpPr/>
          <p:nvPr/>
        </p:nvSpPr>
        <p:spPr>
          <a:xfrm>
            <a:off x="1691640" y="4572000"/>
            <a:ext cx="1600200" cy="365760"/>
          </a:xfrm>
          <a:prstGeom prst="roundRect">
            <a:avLst>
              <a:gd name="adj" fmla="val 50000"/>
            </a:avLst>
          </a:prstGeom>
          <a:solidFill>
            <a:srgbClr val="EAF1FC"/>
          </a:solidFill>
          <a:ln w="12700">
            <a:solidFill>
              <a:srgbClr val="4A7BD0"/>
            </a:solidFill>
            <a:prstDash val="solid"/>
          </a:ln>
        </p:spPr>
      </p:sp>
      <p:pic>
        <p:nvPicPr>
          <p:cNvPr id="10" name="Image 1" descr="PenNib">    </p:cNvPr>
          <p:cNvPicPr>
            <a:picLocks noChangeAspect="1"/>
          </p:cNvPicPr>
          <p:nvPr/>
        </p:nvPicPr>
        <p:blipFill>
          <a:blip r:embed="rId2"/>
          <a:stretch>
            <a:fillRect/>
          </a:stretch>
        </p:blipFill>
        <p:spPr>
          <a:xfrm>
            <a:off x="1819656" y="4654296"/>
            <a:ext cx="201168" cy="201168"/>
          </a:xfrm>
          <a:prstGeom prst="rect">
            <a:avLst/>
          </a:prstGeom>
        </p:spPr>
      </p:pic>
      <p:sp>
        <p:nvSpPr>
          <p:cNvPr id="11" name="Text 6"/>
          <p:cNvSpPr txBox="1"/>
          <p:nvPr/>
        </p:nvSpPr>
        <p:spPr>
          <a:xfrm>
            <a:off x="2075688" y="4572000"/>
            <a:ext cx="1143000" cy="365760"/>
          </a:xfrm>
          <a:prstGeom prst="rect">
            <a:avLst/>
          </a:prstGeom>
          <a:noFill/>
          <a:ln/>
        </p:spPr>
        <p:txBody>
          <a:bodyPr wrap="square" lIns="0" tIns="0" rIns="0" bIns="0" rtlCol="0" anchor="ctr"/>
          <a:lstStyle/>
          <a:p>
            <a:pPr algn="l" indent="0" marL="0">
              <a:buNone/>
            </a:pPr>
            <a:r>
              <a:rPr lang="en-US" sz="1150" b="1" spc="100" kern="0" dirty="0">
                <a:solidFill>
                  <a:srgbClr val="4A7BD0"/>
                </a:solidFill>
                <a:latin typeface="Calibri" pitchFamily="34" charset="0"/>
                <a:ea typeface="Calibri" pitchFamily="34" charset="-122"/>
                <a:cs typeface="Calibri" pitchFamily="34" charset="-120"/>
              </a:rPr>
              <a:t>À L’ÉCRIT</a:t>
            </a:r>
            <a:endParaRPr lang="en-US" sz="1150" dirty="0"/>
          </a:p>
        </p:txBody>
      </p:sp>
      <p:sp>
        <p:nvSpPr>
          <p:cNvPr id="12" name="Text 7"/>
          <p:cNvSpPr txBox="1"/>
          <p:nvPr/>
        </p:nvSpPr>
        <p:spPr>
          <a:xfrm>
            <a:off x="3429000" y="4544568"/>
            <a:ext cx="2651760" cy="731520"/>
          </a:xfrm>
          <a:prstGeom prst="rect">
            <a:avLst/>
          </a:prstGeom>
          <a:noFill/>
          <a:ln/>
        </p:spPr>
        <p:txBody>
          <a:bodyPr wrap="square" lIns="0" tIns="0" rIns="0" bIns="0" rtlCol="0" anchor="t"/>
          <a:lstStyle/>
          <a:p>
            <a:pPr algn="l" indent="0" marL="0">
              <a:buNone/>
            </a:pPr>
            <a:r>
              <a:rPr lang="en-US" sz="1150" i="1" dirty="0">
                <a:solidFill>
                  <a:srgbClr val="6B7280"/>
                </a:solidFill>
                <a:latin typeface="Calibri" pitchFamily="34" charset="0"/>
                <a:ea typeface="Calibri" pitchFamily="34" charset="-122"/>
                <a:cs typeface="Calibri" pitchFamily="34" charset="-120"/>
              </a:rPr>
              <a:t>Dimanche, toute la famille mange chez la grand-mère. Présentez votre famille.</a:t>
            </a:r>
            <a:endParaRPr lang="en-US" sz="1150" dirty="0"/>
          </a:p>
        </p:txBody>
      </p:sp>
      <p:sp>
        <p:nvSpPr>
          <p:cNvPr id="13" name="Shape 8"/>
          <p:cNvSpPr/>
          <p:nvPr/>
        </p:nvSpPr>
        <p:spPr>
          <a:xfrm>
            <a:off x="6355080" y="1673352"/>
            <a:ext cx="914400" cy="402336"/>
          </a:xfrm>
          <a:prstGeom prst="roundRect">
            <a:avLst>
              <a:gd name="adj" fmla="val 13636"/>
            </a:avLst>
          </a:prstGeom>
          <a:solidFill>
            <a:srgbClr val="5FA873"/>
          </a:solidFill>
          <a:ln w="12700">
            <a:solidFill>
              <a:srgbClr val="FFFFFF">
                <a:alpha val="0"/>
              </a:srgbClr>
            </a:solidFill>
            <a:prstDash val="solid"/>
          </a:ln>
        </p:spPr>
      </p:sp>
      <p:sp>
        <p:nvSpPr>
          <p:cNvPr id="14" name="Text 9"/>
          <p:cNvSpPr txBox="1"/>
          <p:nvPr/>
        </p:nvSpPr>
        <p:spPr>
          <a:xfrm>
            <a:off x="6355080" y="167335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1</a:t>
            </a:r>
            <a:endParaRPr lang="en-US" sz="1600" dirty="0"/>
          </a:p>
        </p:txBody>
      </p:sp>
      <p:sp>
        <p:nvSpPr>
          <p:cNvPr id="15" name="Text 10"/>
          <p:cNvSpPr txBox="1"/>
          <p:nvPr/>
        </p:nvSpPr>
        <p:spPr>
          <a:xfrm>
            <a:off x="7406640" y="1618488"/>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Les parents : </a:t>
            </a:r>
            <a:r>
              <a:rPr lang="en-US" sz="1450" b="1" dirty="0">
                <a:solidFill>
                  <a:srgbClr val="2B2F38"/>
                </a:solidFill>
              </a:rPr>
              <a:t>MIJN VADER</a:t>
            </a:r>
            <a:r>
              <a:rPr lang="en-US" sz="1450" dirty="0">
                <a:solidFill>
                  <a:srgbClr val="2B2F38"/>
                </a:solidFill>
              </a:rPr>
              <a:t> / </a:t>
            </a:r>
            <a:r>
              <a:rPr lang="en-US" sz="1450" b="1" dirty="0">
                <a:solidFill>
                  <a:srgbClr val="2B2F38"/>
                </a:solidFill>
              </a:rPr>
              <a:t>MIJN MOEDER</a:t>
            </a:r>
            <a:r>
              <a:rPr lang="en-US" sz="1450" dirty="0">
                <a:solidFill>
                  <a:srgbClr val="2B2F38"/>
                </a:solidFill>
              </a:rPr>
              <a:t> …</a:t>
            </a:r>
            <a:endParaRPr lang="en-US" sz="1450" dirty="0"/>
          </a:p>
        </p:txBody>
      </p:sp>
      <p:sp>
        <p:nvSpPr>
          <p:cNvPr id="16" name="Shape 11"/>
          <p:cNvSpPr/>
          <p:nvPr/>
        </p:nvSpPr>
        <p:spPr>
          <a:xfrm>
            <a:off x="6355080" y="2404872"/>
            <a:ext cx="914400" cy="402336"/>
          </a:xfrm>
          <a:prstGeom prst="roundRect">
            <a:avLst>
              <a:gd name="adj" fmla="val 13636"/>
            </a:avLst>
          </a:prstGeom>
          <a:solidFill>
            <a:srgbClr val="5FA873"/>
          </a:solidFill>
          <a:ln w="12700">
            <a:solidFill>
              <a:srgbClr val="FFFFFF">
                <a:alpha val="0"/>
              </a:srgbClr>
            </a:solidFill>
            <a:prstDash val="solid"/>
          </a:ln>
        </p:spPr>
      </p:sp>
      <p:sp>
        <p:nvSpPr>
          <p:cNvPr id="17" name="Text 12"/>
          <p:cNvSpPr txBox="1"/>
          <p:nvPr/>
        </p:nvSpPr>
        <p:spPr>
          <a:xfrm>
            <a:off x="6355080" y="240487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2</a:t>
            </a:r>
            <a:endParaRPr lang="en-US" sz="1600" dirty="0"/>
          </a:p>
        </p:txBody>
      </p:sp>
      <p:sp>
        <p:nvSpPr>
          <p:cNvPr id="18" name="Text 13"/>
          <p:cNvSpPr txBox="1"/>
          <p:nvPr/>
        </p:nvSpPr>
        <p:spPr>
          <a:xfrm>
            <a:off x="7406640" y="2350008"/>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Les frères et sœurs : </a:t>
            </a:r>
            <a:r>
              <a:rPr lang="en-US" sz="1450" b="1" dirty="0">
                <a:solidFill>
                  <a:srgbClr val="2B2F38"/>
                </a:solidFill>
              </a:rPr>
              <a:t>IK HEB</a:t>
            </a:r>
            <a:r>
              <a:rPr lang="en-US" sz="1450" dirty="0">
                <a:solidFill>
                  <a:srgbClr val="2B2F38"/>
                </a:solidFill>
              </a:rPr>
              <a:t> een broer / een zus…</a:t>
            </a:r>
            <a:endParaRPr lang="en-US" sz="1450" dirty="0"/>
          </a:p>
        </p:txBody>
      </p:sp>
      <p:sp>
        <p:nvSpPr>
          <p:cNvPr id="19" name="Shape 14"/>
          <p:cNvSpPr/>
          <p:nvPr/>
        </p:nvSpPr>
        <p:spPr>
          <a:xfrm>
            <a:off x="6355080" y="3136392"/>
            <a:ext cx="914400" cy="402336"/>
          </a:xfrm>
          <a:prstGeom prst="roundRect">
            <a:avLst>
              <a:gd name="adj" fmla="val 13636"/>
            </a:avLst>
          </a:prstGeom>
          <a:solidFill>
            <a:srgbClr val="5FA873"/>
          </a:solidFill>
          <a:ln w="12700">
            <a:solidFill>
              <a:srgbClr val="FFFFFF">
                <a:alpha val="0"/>
              </a:srgbClr>
            </a:solidFill>
            <a:prstDash val="solid"/>
          </a:ln>
        </p:spPr>
      </p:sp>
      <p:sp>
        <p:nvSpPr>
          <p:cNvPr id="20" name="Text 15"/>
          <p:cNvSpPr txBox="1"/>
          <p:nvPr/>
        </p:nvSpPr>
        <p:spPr>
          <a:xfrm>
            <a:off x="6355080" y="313639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3</a:t>
            </a:r>
            <a:endParaRPr lang="en-US" sz="1600" dirty="0"/>
          </a:p>
        </p:txBody>
      </p:sp>
      <p:sp>
        <p:nvSpPr>
          <p:cNvPr id="21" name="Text 16"/>
          <p:cNvSpPr txBox="1"/>
          <p:nvPr/>
        </p:nvSpPr>
        <p:spPr>
          <a:xfrm>
            <a:off x="7406640" y="3081528"/>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Les grands-parents : </a:t>
            </a:r>
            <a:r>
              <a:rPr lang="en-US" sz="1450" b="1" dirty="0">
                <a:solidFill>
                  <a:srgbClr val="2B2F38"/>
                </a:solidFill>
              </a:rPr>
              <a:t>MIJN OMA</a:t>
            </a:r>
            <a:r>
              <a:rPr lang="en-US" sz="1450" dirty="0">
                <a:solidFill>
                  <a:srgbClr val="2B2F38"/>
                </a:solidFill>
              </a:rPr>
              <a:t> / </a:t>
            </a:r>
            <a:r>
              <a:rPr lang="en-US" sz="1450" b="1" dirty="0">
                <a:solidFill>
                  <a:srgbClr val="2B2F38"/>
                </a:solidFill>
              </a:rPr>
              <a:t>MIJN OPA</a:t>
            </a:r>
            <a:r>
              <a:rPr lang="en-US" sz="1450" dirty="0">
                <a:solidFill>
                  <a:srgbClr val="2B2F38"/>
                </a:solidFill>
              </a:rPr>
              <a:t> …</a:t>
            </a:r>
            <a:endParaRPr lang="en-US" sz="1450" dirty="0"/>
          </a:p>
        </p:txBody>
      </p:sp>
      <p:sp>
        <p:nvSpPr>
          <p:cNvPr id="22" name="Shape 17"/>
          <p:cNvSpPr/>
          <p:nvPr/>
        </p:nvSpPr>
        <p:spPr>
          <a:xfrm>
            <a:off x="6355080" y="3867912"/>
            <a:ext cx="914400" cy="402336"/>
          </a:xfrm>
          <a:prstGeom prst="roundRect">
            <a:avLst>
              <a:gd name="adj" fmla="val 13636"/>
            </a:avLst>
          </a:prstGeom>
          <a:solidFill>
            <a:srgbClr val="5FA873"/>
          </a:solidFill>
          <a:ln w="12700">
            <a:solidFill>
              <a:srgbClr val="FFFFFF">
                <a:alpha val="0"/>
              </a:srgbClr>
            </a:solidFill>
            <a:prstDash val="solid"/>
          </a:ln>
        </p:spPr>
      </p:sp>
      <p:sp>
        <p:nvSpPr>
          <p:cNvPr id="23" name="Text 18"/>
          <p:cNvSpPr txBox="1"/>
          <p:nvPr/>
        </p:nvSpPr>
        <p:spPr>
          <a:xfrm>
            <a:off x="6355080" y="386791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4</a:t>
            </a:r>
            <a:endParaRPr lang="en-US" sz="1600" dirty="0"/>
          </a:p>
        </p:txBody>
      </p:sp>
      <p:sp>
        <p:nvSpPr>
          <p:cNvPr id="24" name="Text 19"/>
          <p:cNvSpPr txBox="1"/>
          <p:nvPr/>
        </p:nvSpPr>
        <p:spPr>
          <a:xfrm>
            <a:off x="7406640" y="3813048"/>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Une chute avec </a:t>
            </a:r>
            <a:r>
              <a:rPr lang="en-US" sz="1450" b="1" dirty="0">
                <a:solidFill>
                  <a:srgbClr val="2B2F38"/>
                </a:solidFill>
              </a:rPr>
              <a:t>DE BABY</a:t>
            </a:r>
            <a:r>
              <a:rPr lang="en-US" sz="1450" dirty="0">
                <a:solidFill>
                  <a:srgbClr val="2B2F38"/>
                </a:solidFill>
              </a:rPr>
              <a:t> ou un animal !</a:t>
            </a:r>
            <a:endParaRPr lang="en-US" sz="1450" dirty="0"/>
          </a:p>
        </p:txBody>
      </p:sp>
      <p:sp>
        <p:nvSpPr>
          <p:cNvPr id="25" name="Shape 20"/>
          <p:cNvSpPr/>
          <p:nvPr/>
        </p:nvSpPr>
        <p:spPr>
          <a:xfrm>
            <a:off x="3246120" y="5440680"/>
            <a:ext cx="6858000" cy="822960"/>
          </a:xfrm>
          <a:prstGeom prst="roundRect">
            <a:avLst>
              <a:gd name="adj" fmla="val 17778"/>
            </a:avLst>
          </a:prstGeom>
          <a:solidFill>
            <a:srgbClr val="EAF5EC"/>
          </a:solidFill>
          <a:ln w="15875">
            <a:solidFill>
              <a:srgbClr val="5FA873"/>
            </a:solidFill>
            <a:prstDash val="solid"/>
          </a:ln>
        </p:spPr>
      </p:sp>
      <p:pic>
        <p:nvPicPr>
          <p:cNvPr id="26" name="Image 2" descr="UserFriends">    </p:cNvPr>
          <p:cNvPicPr>
            <a:picLocks noChangeAspect="1"/>
          </p:cNvPicPr>
          <p:nvPr/>
        </p:nvPicPr>
        <p:blipFill>
          <a:blip r:embed="rId3"/>
          <a:stretch>
            <a:fillRect/>
          </a:stretch>
        </p:blipFill>
        <p:spPr>
          <a:xfrm>
            <a:off x="3520440" y="5660136"/>
            <a:ext cx="384048" cy="384048"/>
          </a:xfrm>
          <a:prstGeom prst="rect">
            <a:avLst/>
          </a:prstGeom>
        </p:spPr>
      </p:pic>
      <p:sp>
        <p:nvSpPr>
          <p:cNvPr id="27" name="Text 21"/>
          <p:cNvSpPr txBox="1"/>
          <p:nvPr/>
        </p:nvSpPr>
        <p:spPr>
          <a:xfrm>
            <a:off x="4114800" y="5440680"/>
            <a:ext cx="5852160" cy="822960"/>
          </a:xfrm>
          <a:prstGeom prst="rect">
            <a:avLst/>
          </a:prstGeom>
          <a:noFill/>
          <a:ln/>
        </p:spPr>
        <p:txBody>
          <a:bodyPr wrap="square" lIns="0" tIns="0" rIns="0" bIns="0" rtlCol="0" anchor="ctr"/>
          <a:lstStyle/>
          <a:p>
            <a:pPr algn="ctr" indent="0" marL="0">
              <a:buNone/>
            </a:pPr>
            <a:r>
              <a:rPr lang="en-US" sz="1800" b="1" dirty="0">
                <a:solidFill>
                  <a:srgbClr val="2E6B44"/>
                </a:solidFill>
                <a:latin typeface="Calibri" pitchFamily="34" charset="0"/>
                <a:ea typeface="Calibri" pitchFamily="34" charset="-122"/>
                <a:cs typeface="Calibri" pitchFamily="34" charset="-120"/>
              </a:rPr>
              <a:t>Lees je tekst voor aan je partner.</a:t>
            </a:r>
            <a:endParaRPr lang="en-US" sz="1800" dirty="0"/>
          </a:p>
          <a:p>
            <a:pPr algn="ctr" indent="0" marL="0">
              <a:buNone/>
            </a:pPr>
            <a:r>
              <a:rPr lang="en-US" sz="1800" b="1" dirty="0">
                <a:solidFill>
                  <a:srgbClr val="2E6B44"/>
                </a:solidFill>
                <a:latin typeface="Calibri" pitchFamily="34" charset="0"/>
                <a:ea typeface="Calibri" pitchFamily="34" charset="-122"/>
                <a:cs typeface="Calibri" pitchFamily="34" charset="-120"/>
              </a:rPr>
              <a:t>Wat denkt hij/zij daarvan?</a:t>
            </a:r>
            <a:endParaRPr lang="en-US" sz="1800" dirty="0"/>
          </a:p>
        </p:txBody>
      </p:sp>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83</a:t>
            </a:fld>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sp>
        <p:nvSpPr>
          <p:cNvPr id="2" name="Text 1"/>
          <p:cNvSpPr/>
          <p:nvPr>
            <p:ph idx="101" type="title" hasCustomPrompt="1"/>
          </p:nvPr>
        </p:nvSpPr>
        <p:spPr>
          <a:xfrm>
            <a:off x="1554480" y="384048"/>
            <a:ext cx="10241280" cy="658368"/>
          </a:xfrm>
          <a:prstGeom prst="rect">
            <a:avLst/>
          </a:prstGeom>
          <a:noFill/>
          <a:ln/>
        </p:spPr>
        <p:txBody>
          <a:bodyPr wrap="square" lIns="0" tIns="0" rIns="0" bIns="0" rtlCol="0" anchor="ctr"/>
          <a:lstStyle/>
          <a:p>
            <a:pPr algn="ctr" indent="0" marL="0">
              <a:buNone/>
            </a:pPr>
            <a:r>
              <a:rPr lang="en-US" sz="3000" b="1" dirty="0">
                <a:solidFill>
                  <a:srgbClr val="2B2F38"/>
                </a:solidFill>
              </a:rPr>
              <a:t>Bij oma op zondag</a:t>
            </a:r>
            <a:endParaRPr lang="en-US" sz="3000" dirty="0"/>
          </a:p>
        </p:txBody>
      </p:sp>
      <p:sp>
        <p:nvSpPr>
          <p:cNvPr id="4" name="Shape 1"/>
          <p:cNvSpPr/>
          <p:nvPr/>
        </p:nvSpPr>
        <p:spPr>
          <a:xfrm>
            <a:off x="365760" y="365760"/>
            <a:ext cx="868680" cy="5989320"/>
          </a:xfrm>
          <a:prstGeom prst="roundRect">
            <a:avLst>
              <a:gd name="adj" fmla="val 12632"/>
            </a:avLst>
          </a:prstGeom>
          <a:solidFill>
            <a:srgbClr val="FDF1E4"/>
          </a:solidFill>
          <a:ln w="28575">
            <a:solidFill>
              <a:srgbClr val="F0A15E"/>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B9661F"/>
                </a:solidFill>
                <a:latin typeface="Calibri" pitchFamily="34" charset="0"/>
                <a:ea typeface="Calibri" pitchFamily="34" charset="-122"/>
                <a:cs typeface="Calibri" pitchFamily="34" charset="-120"/>
              </a:rPr>
              <a:t>A1 · Vocabulaire</a:t>
            </a:r>
            <a:endParaRPr lang="en-US" sz="3800" dirty="0"/>
          </a:p>
        </p:txBody>
      </p:sp>
      <p:sp>
        <p:nvSpPr>
          <p:cNvPr id="6" name="Shape 3"/>
          <p:cNvSpPr/>
          <p:nvPr/>
        </p:nvSpPr>
        <p:spPr>
          <a:xfrm>
            <a:off x="2519172" y="1124712"/>
            <a:ext cx="8311896" cy="5277231"/>
          </a:xfrm>
          <a:prstGeom prst="roundRect">
            <a:avLst>
              <a:gd name="adj" fmla="val 693"/>
            </a:avLst>
          </a:prstGeom>
          <a:solidFill>
            <a:srgbClr val="FFFFFF"/>
          </a:solidFill>
          <a:ln w="9525">
            <a:solidFill>
              <a:srgbClr val="E3E7EE"/>
            </a:solidFill>
            <a:prstDash val="solid"/>
          </a:ln>
          <a:effectLst>
            <a:outerShdw sx="100000" sy="100000" kx="0" ky="0" algn="bl" rotWithShape="0" blurRad="177800" dist="63500" dir="5400000">
              <a:srgbClr val="1B2430">
                <a:alpha val="25000"/>
              </a:srgbClr>
            </a:outerShdw>
          </a:effectLst>
        </p:spPr>
      </p:sp>
      <p:pic>
        <p:nvPicPr>
          <p:cNvPr id="7" name="Image 0" descr="/home/user/talenleren/neerlandais1/generateur/img/vijfzinnen/a1_oma.jpg">    </p:cNvPr>
          <p:cNvPicPr>
            <a:picLocks noChangeAspect="1"/>
          </p:cNvPicPr>
          <p:nvPr/>
        </p:nvPicPr>
        <p:blipFill>
          <a:blip r:embed="rId1"/>
          <a:stretch>
            <a:fillRect/>
          </a:stretch>
        </p:blipFill>
        <p:spPr>
          <a:xfrm>
            <a:off x="2628900" y="1234440"/>
            <a:ext cx="8092440" cy="5057775"/>
          </a:xfrm>
          <a:prstGeom prst="rect">
            <a:avLst/>
          </a:prstGeom>
        </p:spPr>
      </p:pic>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84</a:t>
            </a:fld>
            <a:endParaRPr 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sp>
        <p:nvSpPr>
          <p:cNvPr id="2" name="Text 1"/>
          <p:cNvSpPr/>
          <p:nvPr>
            <p:ph idx="101" type="title" hasCustomPrompt="1"/>
          </p:nvPr>
        </p:nvSpPr>
        <p:spPr>
          <a:xfrm>
            <a:off x="1691640" y="347472"/>
            <a:ext cx="8138160" cy="914400"/>
          </a:xfrm>
          <a:prstGeom prst="rect">
            <a:avLst/>
          </a:prstGeom>
          <a:noFill/>
          <a:ln/>
        </p:spPr>
        <p:txBody>
          <a:bodyPr wrap="square" lIns="0" tIns="0" rIns="0" bIns="0" rtlCol="0" anchor="ctr"/>
          <a:lstStyle/>
          <a:p>
            <a:pPr algn="l" indent="0" marL="0">
              <a:buNone/>
            </a:pPr>
            <a:r>
              <a:rPr lang="en-US" sz="2400" b="1" dirty="0">
                <a:solidFill>
                  <a:srgbClr val="2B2F38"/>
                </a:solidFill>
              </a:rPr>
              <a:t>Hier is een voorbeeld van wat je had kunnen denken en schrijven…</a:t>
            </a:r>
            <a:endParaRPr lang="en-US" sz="2400" dirty="0"/>
          </a:p>
        </p:txBody>
      </p:sp>
      <p:sp>
        <p:nvSpPr>
          <p:cNvPr id="4" name="Shape 1"/>
          <p:cNvSpPr/>
          <p:nvPr/>
        </p:nvSpPr>
        <p:spPr>
          <a:xfrm>
            <a:off x="365760" y="365760"/>
            <a:ext cx="868680" cy="5989320"/>
          </a:xfrm>
          <a:prstGeom prst="roundRect">
            <a:avLst>
              <a:gd name="adj" fmla="val 12632"/>
            </a:avLst>
          </a:prstGeom>
          <a:solidFill>
            <a:srgbClr val="FDF1E4"/>
          </a:solidFill>
          <a:ln w="28575">
            <a:solidFill>
              <a:srgbClr val="F0A15E"/>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B9661F"/>
                </a:solidFill>
                <a:latin typeface="Calibri" pitchFamily="34" charset="0"/>
                <a:ea typeface="Calibri" pitchFamily="34" charset="-122"/>
                <a:cs typeface="Calibri" pitchFamily="34" charset="-120"/>
              </a:rPr>
              <a:t>A1 · Vocabulaire</a:t>
            </a:r>
            <a:endParaRPr lang="en-US" sz="3800" dirty="0"/>
          </a:p>
        </p:txBody>
      </p:sp>
      <p:sp>
        <p:nvSpPr>
          <p:cNvPr id="6" name="Shape 3"/>
          <p:cNvSpPr/>
          <p:nvPr/>
        </p:nvSpPr>
        <p:spPr>
          <a:xfrm>
            <a:off x="10058400" y="246888"/>
            <a:ext cx="1691640" cy="1091565"/>
          </a:xfrm>
          <a:prstGeom prst="roundRect">
            <a:avLst>
              <a:gd name="adj" fmla="val 3351"/>
            </a:avLst>
          </a:prstGeom>
          <a:solidFill>
            <a:srgbClr val="FFFFFF"/>
          </a:solidFill>
          <a:ln w="9525">
            <a:solidFill>
              <a:srgbClr val="E3E7EE"/>
            </a:solidFill>
            <a:prstDash val="solid"/>
          </a:ln>
          <a:effectLst>
            <a:outerShdw sx="100000" sy="100000" kx="0" ky="0" algn="bl" rotWithShape="0" blurRad="76200" dist="25400" dir="5400000">
              <a:srgbClr val="1B2430">
                <a:alpha val="25000"/>
              </a:srgbClr>
            </a:outerShdw>
          </a:effectLst>
        </p:spPr>
      </p:sp>
      <p:pic>
        <p:nvPicPr>
          <p:cNvPr id="7" name="Image 0" descr="/home/user/talenleren/neerlandais1/generateur/img/vijfzinnen/a1_oma_s.jpg">    </p:cNvPr>
          <p:cNvPicPr>
            <a:picLocks noChangeAspect="1"/>
          </p:cNvPicPr>
          <p:nvPr/>
        </p:nvPicPr>
        <p:blipFill>
          <a:blip r:embed="rId1"/>
          <a:stretch>
            <a:fillRect/>
          </a:stretch>
        </p:blipFill>
        <p:spPr>
          <a:xfrm>
            <a:off x="10104120" y="292608"/>
            <a:ext cx="1600200" cy="1000125"/>
          </a:xfrm>
          <a:prstGeom prst="rect">
            <a:avLst/>
          </a:prstGeom>
        </p:spPr>
      </p:pic>
      <p:sp>
        <p:nvSpPr>
          <p:cNvPr id="8" name="Shape 4"/>
          <p:cNvSpPr/>
          <p:nvPr/>
        </p:nvSpPr>
        <p:spPr>
          <a:xfrm>
            <a:off x="1691640" y="2779166"/>
            <a:ext cx="1463040" cy="371856"/>
          </a:xfrm>
          <a:prstGeom prst="roundRect">
            <a:avLst>
              <a:gd name="adj" fmla="val 12295"/>
            </a:avLst>
          </a:prstGeom>
          <a:solidFill>
            <a:srgbClr val="E6F3DA"/>
          </a:solidFill>
          <a:ln w="12700">
            <a:solidFill>
              <a:srgbClr val="FFFFFF">
                <a:alpha val="0"/>
              </a:srgbClr>
            </a:solidFill>
            <a:prstDash val="solid"/>
          </a:ln>
        </p:spPr>
      </p:sp>
      <p:sp>
        <p:nvSpPr>
          <p:cNvPr id="9" name="Text 5"/>
          <p:cNvSpPr txBox="1"/>
          <p:nvPr/>
        </p:nvSpPr>
        <p:spPr>
          <a:xfrm>
            <a:off x="1691640" y="2766974"/>
            <a:ext cx="1463040"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Mijn vader</a:t>
            </a:r>
            <a:endParaRPr lang="en-US" sz="2400" dirty="0"/>
          </a:p>
        </p:txBody>
      </p:sp>
      <p:sp>
        <p:nvSpPr>
          <p:cNvPr id="10" name="Text 6"/>
          <p:cNvSpPr txBox="1"/>
          <p:nvPr/>
        </p:nvSpPr>
        <p:spPr>
          <a:xfrm>
            <a:off x="3241853" y="2766974"/>
            <a:ext cx="1296314"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is kok en</a:t>
            </a:r>
            <a:endParaRPr lang="en-US" sz="2400" dirty="0"/>
          </a:p>
        </p:txBody>
      </p:sp>
      <p:sp>
        <p:nvSpPr>
          <p:cNvPr id="11" name="Shape 7"/>
          <p:cNvSpPr/>
          <p:nvPr/>
        </p:nvSpPr>
        <p:spPr>
          <a:xfrm>
            <a:off x="4442460" y="2779166"/>
            <a:ext cx="1714805" cy="371856"/>
          </a:xfrm>
          <a:prstGeom prst="roundRect">
            <a:avLst>
              <a:gd name="adj" fmla="val 12295"/>
            </a:avLst>
          </a:prstGeom>
          <a:solidFill>
            <a:srgbClr val="E6F3DA"/>
          </a:solidFill>
          <a:ln w="12700">
            <a:solidFill>
              <a:srgbClr val="FFFFFF">
                <a:alpha val="0"/>
              </a:srgbClr>
            </a:solidFill>
            <a:prstDash val="solid"/>
          </a:ln>
        </p:spPr>
      </p:sp>
      <p:sp>
        <p:nvSpPr>
          <p:cNvPr id="12" name="Text 8"/>
          <p:cNvSpPr txBox="1"/>
          <p:nvPr/>
        </p:nvSpPr>
        <p:spPr>
          <a:xfrm>
            <a:off x="4442460" y="2766974"/>
            <a:ext cx="1714805"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mijn moeder</a:t>
            </a:r>
            <a:endParaRPr lang="en-US" sz="2400" dirty="0"/>
          </a:p>
        </p:txBody>
      </p:sp>
      <p:sp>
        <p:nvSpPr>
          <p:cNvPr id="13" name="Text 9"/>
          <p:cNvSpPr txBox="1"/>
          <p:nvPr/>
        </p:nvSpPr>
        <p:spPr>
          <a:xfrm>
            <a:off x="6244438" y="2766974"/>
            <a:ext cx="2217420"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is dokter. Ik heb</a:t>
            </a:r>
            <a:endParaRPr lang="en-US" sz="2400" dirty="0"/>
          </a:p>
        </p:txBody>
      </p:sp>
      <p:sp>
        <p:nvSpPr>
          <p:cNvPr id="14" name="Shape 10"/>
          <p:cNvSpPr/>
          <p:nvPr/>
        </p:nvSpPr>
        <p:spPr>
          <a:xfrm>
            <a:off x="8366150" y="2779166"/>
            <a:ext cx="1036930" cy="371856"/>
          </a:xfrm>
          <a:prstGeom prst="roundRect">
            <a:avLst>
              <a:gd name="adj" fmla="val 12295"/>
            </a:avLst>
          </a:prstGeom>
          <a:solidFill>
            <a:srgbClr val="E6F3DA"/>
          </a:solidFill>
          <a:ln w="12700">
            <a:solidFill>
              <a:srgbClr val="FFFFFF">
                <a:alpha val="0"/>
              </a:srgbClr>
            </a:solidFill>
            <a:prstDash val="solid"/>
          </a:ln>
        </p:spPr>
      </p:sp>
      <p:sp>
        <p:nvSpPr>
          <p:cNvPr id="15" name="Text 11"/>
          <p:cNvSpPr txBox="1"/>
          <p:nvPr/>
        </p:nvSpPr>
        <p:spPr>
          <a:xfrm>
            <a:off x="8366150" y="2766974"/>
            <a:ext cx="1036930"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een zus</a:t>
            </a:r>
            <a:endParaRPr lang="en-US" sz="2400" dirty="0"/>
          </a:p>
        </p:txBody>
      </p:sp>
      <p:sp>
        <p:nvSpPr>
          <p:cNvPr id="16" name="Text 12"/>
          <p:cNvSpPr txBox="1"/>
          <p:nvPr/>
        </p:nvSpPr>
        <p:spPr>
          <a:xfrm>
            <a:off x="9490253" y="2766974"/>
            <a:ext cx="494690"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en</a:t>
            </a:r>
            <a:endParaRPr lang="en-US" sz="2400" dirty="0"/>
          </a:p>
        </p:txBody>
      </p:sp>
      <p:sp>
        <p:nvSpPr>
          <p:cNvPr id="17" name="Shape 13"/>
          <p:cNvSpPr/>
          <p:nvPr/>
        </p:nvSpPr>
        <p:spPr>
          <a:xfrm>
            <a:off x="9889236" y="2779166"/>
            <a:ext cx="1328014" cy="371856"/>
          </a:xfrm>
          <a:prstGeom prst="roundRect">
            <a:avLst>
              <a:gd name="adj" fmla="val 12295"/>
            </a:avLst>
          </a:prstGeom>
          <a:solidFill>
            <a:srgbClr val="E6F3DA"/>
          </a:solidFill>
          <a:ln w="12700">
            <a:solidFill>
              <a:srgbClr val="FFFFFF">
                <a:alpha val="0"/>
              </a:srgbClr>
            </a:solidFill>
            <a:prstDash val="solid"/>
          </a:ln>
        </p:spPr>
      </p:sp>
      <p:sp>
        <p:nvSpPr>
          <p:cNvPr id="18" name="Text 14"/>
          <p:cNvSpPr txBox="1"/>
          <p:nvPr/>
        </p:nvSpPr>
        <p:spPr>
          <a:xfrm>
            <a:off x="9889236" y="2766974"/>
            <a:ext cx="1328014"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een broer</a:t>
            </a:r>
            <a:endParaRPr lang="en-US" sz="2400" dirty="0"/>
          </a:p>
        </p:txBody>
      </p:sp>
      <p:sp>
        <p:nvSpPr>
          <p:cNvPr id="19" name="Text 15"/>
          <p:cNvSpPr txBox="1"/>
          <p:nvPr/>
        </p:nvSpPr>
        <p:spPr>
          <a:xfrm>
            <a:off x="11217250" y="2766974"/>
            <a:ext cx="259690"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a:t>
            </a:r>
            <a:endParaRPr lang="en-US" sz="2400" dirty="0"/>
          </a:p>
        </p:txBody>
      </p:sp>
      <p:sp>
        <p:nvSpPr>
          <p:cNvPr id="20" name="Shape 16"/>
          <p:cNvSpPr/>
          <p:nvPr/>
        </p:nvSpPr>
        <p:spPr>
          <a:xfrm>
            <a:off x="2423160" y="2702966"/>
            <a:ext cx="914" cy="76200"/>
          </a:xfrm>
          <a:prstGeom prst="line">
            <a:avLst/>
          </a:prstGeom>
          <a:noFill/>
          <a:ln w="15875">
            <a:solidFill>
              <a:srgbClr val="7AB648"/>
            </a:solidFill>
            <a:prstDash val="solid"/>
          </a:ln>
        </p:spPr>
      </p:sp>
      <p:sp>
        <p:nvSpPr>
          <p:cNvPr id="21" name="Shape 17"/>
          <p:cNvSpPr/>
          <p:nvPr/>
        </p:nvSpPr>
        <p:spPr>
          <a:xfrm>
            <a:off x="2070144" y="2456078"/>
            <a:ext cx="706031" cy="246888"/>
          </a:xfrm>
          <a:prstGeom prst="roundRect">
            <a:avLst>
              <a:gd name="adj" fmla="val 14815"/>
            </a:avLst>
          </a:prstGeom>
          <a:solidFill>
            <a:srgbClr val="7AB648"/>
          </a:solidFill>
          <a:ln w="12700">
            <a:solidFill>
              <a:srgbClr val="FFFFFF">
                <a:alpha val="0"/>
              </a:srgbClr>
            </a:solidFill>
            <a:prstDash val="solid"/>
          </a:ln>
        </p:spPr>
      </p:sp>
      <p:sp>
        <p:nvSpPr>
          <p:cNvPr id="22" name="Text 18"/>
          <p:cNvSpPr txBox="1"/>
          <p:nvPr/>
        </p:nvSpPr>
        <p:spPr>
          <a:xfrm>
            <a:off x="2070144" y="2456078"/>
            <a:ext cx="706031"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OUDERS</a:t>
            </a:r>
            <a:endParaRPr lang="en-US" sz="1100" dirty="0"/>
          </a:p>
        </p:txBody>
      </p:sp>
      <p:sp>
        <p:nvSpPr>
          <p:cNvPr id="23" name="Shape 19"/>
          <p:cNvSpPr/>
          <p:nvPr/>
        </p:nvSpPr>
        <p:spPr>
          <a:xfrm>
            <a:off x="5299862" y="2702966"/>
            <a:ext cx="914" cy="76200"/>
          </a:xfrm>
          <a:prstGeom prst="line">
            <a:avLst/>
          </a:prstGeom>
          <a:noFill/>
          <a:ln w="15875">
            <a:solidFill>
              <a:srgbClr val="7AB648"/>
            </a:solidFill>
            <a:prstDash val="solid"/>
          </a:ln>
        </p:spPr>
      </p:sp>
      <p:sp>
        <p:nvSpPr>
          <p:cNvPr id="24" name="Shape 20"/>
          <p:cNvSpPr/>
          <p:nvPr/>
        </p:nvSpPr>
        <p:spPr>
          <a:xfrm>
            <a:off x="4946847" y="2456078"/>
            <a:ext cx="706031" cy="246888"/>
          </a:xfrm>
          <a:prstGeom prst="roundRect">
            <a:avLst>
              <a:gd name="adj" fmla="val 14815"/>
            </a:avLst>
          </a:prstGeom>
          <a:solidFill>
            <a:srgbClr val="7AB648"/>
          </a:solidFill>
          <a:ln w="12700">
            <a:solidFill>
              <a:srgbClr val="FFFFFF">
                <a:alpha val="0"/>
              </a:srgbClr>
            </a:solidFill>
            <a:prstDash val="solid"/>
          </a:ln>
        </p:spPr>
      </p:sp>
      <p:sp>
        <p:nvSpPr>
          <p:cNvPr id="25" name="Text 21"/>
          <p:cNvSpPr txBox="1"/>
          <p:nvPr/>
        </p:nvSpPr>
        <p:spPr>
          <a:xfrm>
            <a:off x="4946847" y="2456078"/>
            <a:ext cx="706031"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OUDERS</a:t>
            </a:r>
            <a:endParaRPr lang="en-US" sz="1100" dirty="0"/>
          </a:p>
        </p:txBody>
      </p:sp>
      <p:sp>
        <p:nvSpPr>
          <p:cNvPr id="26" name="Shape 22"/>
          <p:cNvSpPr/>
          <p:nvPr/>
        </p:nvSpPr>
        <p:spPr>
          <a:xfrm>
            <a:off x="8884615" y="2702966"/>
            <a:ext cx="914" cy="76200"/>
          </a:xfrm>
          <a:prstGeom prst="line">
            <a:avLst/>
          </a:prstGeom>
          <a:noFill/>
          <a:ln w="15875">
            <a:solidFill>
              <a:srgbClr val="7AB648"/>
            </a:solidFill>
            <a:prstDash val="solid"/>
          </a:ln>
        </p:spPr>
      </p:sp>
      <p:sp>
        <p:nvSpPr>
          <p:cNvPr id="27" name="Shape 23"/>
          <p:cNvSpPr/>
          <p:nvPr/>
        </p:nvSpPr>
        <p:spPr>
          <a:xfrm>
            <a:off x="8662848" y="2456078"/>
            <a:ext cx="443535" cy="246888"/>
          </a:xfrm>
          <a:prstGeom prst="roundRect">
            <a:avLst>
              <a:gd name="adj" fmla="val 14815"/>
            </a:avLst>
          </a:prstGeom>
          <a:solidFill>
            <a:srgbClr val="7AB648"/>
          </a:solidFill>
          <a:ln w="12700">
            <a:solidFill>
              <a:srgbClr val="FFFFFF">
                <a:alpha val="0"/>
              </a:srgbClr>
            </a:solidFill>
            <a:prstDash val="solid"/>
          </a:ln>
        </p:spPr>
      </p:sp>
      <p:sp>
        <p:nvSpPr>
          <p:cNvPr id="28" name="Text 24"/>
          <p:cNvSpPr txBox="1"/>
          <p:nvPr/>
        </p:nvSpPr>
        <p:spPr>
          <a:xfrm>
            <a:off x="8662848" y="2456078"/>
            <a:ext cx="443535"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ZUS</a:t>
            </a:r>
            <a:endParaRPr lang="en-US" sz="1100" dirty="0"/>
          </a:p>
        </p:txBody>
      </p:sp>
      <p:sp>
        <p:nvSpPr>
          <p:cNvPr id="29" name="Shape 25"/>
          <p:cNvSpPr/>
          <p:nvPr/>
        </p:nvSpPr>
        <p:spPr>
          <a:xfrm>
            <a:off x="10553243" y="2702966"/>
            <a:ext cx="914" cy="76200"/>
          </a:xfrm>
          <a:prstGeom prst="line">
            <a:avLst/>
          </a:prstGeom>
          <a:noFill/>
          <a:ln w="15875">
            <a:solidFill>
              <a:srgbClr val="7AB648"/>
            </a:solidFill>
            <a:prstDash val="solid"/>
          </a:ln>
        </p:spPr>
      </p:sp>
      <p:sp>
        <p:nvSpPr>
          <p:cNvPr id="30" name="Shape 26"/>
          <p:cNvSpPr/>
          <p:nvPr/>
        </p:nvSpPr>
        <p:spPr>
          <a:xfrm>
            <a:off x="10244372" y="2456078"/>
            <a:ext cx="617741" cy="246888"/>
          </a:xfrm>
          <a:prstGeom prst="roundRect">
            <a:avLst>
              <a:gd name="adj" fmla="val 14815"/>
            </a:avLst>
          </a:prstGeom>
          <a:solidFill>
            <a:srgbClr val="7AB648"/>
          </a:solidFill>
          <a:ln w="12700">
            <a:solidFill>
              <a:srgbClr val="FFFFFF">
                <a:alpha val="0"/>
              </a:srgbClr>
            </a:solidFill>
            <a:prstDash val="solid"/>
          </a:ln>
        </p:spPr>
      </p:sp>
      <p:sp>
        <p:nvSpPr>
          <p:cNvPr id="31" name="Text 27"/>
          <p:cNvSpPr txBox="1"/>
          <p:nvPr/>
        </p:nvSpPr>
        <p:spPr>
          <a:xfrm>
            <a:off x="10244372" y="2456078"/>
            <a:ext cx="617741"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BROER</a:t>
            </a:r>
            <a:endParaRPr lang="en-US" sz="1100" dirty="0"/>
          </a:p>
        </p:txBody>
      </p:sp>
      <p:sp>
        <p:nvSpPr>
          <p:cNvPr id="32" name="Shape 28"/>
          <p:cNvSpPr/>
          <p:nvPr/>
        </p:nvSpPr>
        <p:spPr>
          <a:xfrm>
            <a:off x="1691640" y="3632606"/>
            <a:ext cx="1305458" cy="371856"/>
          </a:xfrm>
          <a:prstGeom prst="roundRect">
            <a:avLst>
              <a:gd name="adj" fmla="val 12295"/>
            </a:avLst>
          </a:prstGeom>
          <a:solidFill>
            <a:srgbClr val="E6F3DA"/>
          </a:solidFill>
          <a:ln w="12700">
            <a:solidFill>
              <a:srgbClr val="FFFFFF">
                <a:alpha val="0"/>
              </a:srgbClr>
            </a:solidFill>
            <a:prstDash val="solid"/>
          </a:ln>
        </p:spPr>
      </p:sp>
      <p:sp>
        <p:nvSpPr>
          <p:cNvPr id="33" name="Text 29"/>
          <p:cNvSpPr txBox="1"/>
          <p:nvPr/>
        </p:nvSpPr>
        <p:spPr>
          <a:xfrm>
            <a:off x="1691640" y="3620414"/>
            <a:ext cx="1305458"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Mijn oma</a:t>
            </a:r>
            <a:endParaRPr lang="en-US" sz="2400" dirty="0"/>
          </a:p>
        </p:txBody>
      </p:sp>
      <p:sp>
        <p:nvSpPr>
          <p:cNvPr id="34" name="Text 30"/>
          <p:cNvSpPr txBox="1"/>
          <p:nvPr/>
        </p:nvSpPr>
        <p:spPr>
          <a:xfrm>
            <a:off x="3084271" y="3620414"/>
            <a:ext cx="2425903"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kookt heel lekker.</a:t>
            </a:r>
            <a:endParaRPr lang="en-US" sz="2400" dirty="0"/>
          </a:p>
        </p:txBody>
      </p:sp>
      <p:sp>
        <p:nvSpPr>
          <p:cNvPr id="35" name="Shape 31"/>
          <p:cNvSpPr/>
          <p:nvPr/>
        </p:nvSpPr>
        <p:spPr>
          <a:xfrm>
            <a:off x="2344369" y="3556406"/>
            <a:ext cx="914" cy="76200"/>
          </a:xfrm>
          <a:prstGeom prst="line">
            <a:avLst/>
          </a:prstGeom>
          <a:noFill/>
          <a:ln w="15875">
            <a:solidFill>
              <a:srgbClr val="7AB648"/>
            </a:solidFill>
            <a:prstDash val="solid"/>
          </a:ln>
        </p:spPr>
      </p:sp>
      <p:sp>
        <p:nvSpPr>
          <p:cNvPr id="36" name="Shape 32"/>
          <p:cNvSpPr/>
          <p:nvPr/>
        </p:nvSpPr>
        <p:spPr>
          <a:xfrm>
            <a:off x="2084045" y="3309518"/>
            <a:ext cx="520649" cy="246888"/>
          </a:xfrm>
          <a:prstGeom prst="roundRect">
            <a:avLst>
              <a:gd name="adj" fmla="val 14815"/>
            </a:avLst>
          </a:prstGeom>
          <a:solidFill>
            <a:srgbClr val="7AB648"/>
          </a:solidFill>
          <a:ln w="12700">
            <a:solidFill>
              <a:srgbClr val="FFFFFF">
                <a:alpha val="0"/>
              </a:srgbClr>
            </a:solidFill>
            <a:prstDash val="solid"/>
          </a:ln>
        </p:spPr>
      </p:sp>
      <p:sp>
        <p:nvSpPr>
          <p:cNvPr id="37" name="Text 33"/>
          <p:cNvSpPr txBox="1"/>
          <p:nvPr/>
        </p:nvSpPr>
        <p:spPr>
          <a:xfrm>
            <a:off x="2084045" y="3309518"/>
            <a:ext cx="520649"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OMA</a:t>
            </a:r>
            <a:endParaRPr lang="en-US" sz="1100" dirty="0"/>
          </a:p>
        </p:txBody>
      </p:sp>
      <p:sp>
        <p:nvSpPr>
          <p:cNvPr id="38" name="Text 34"/>
          <p:cNvSpPr txBox="1"/>
          <p:nvPr/>
        </p:nvSpPr>
        <p:spPr>
          <a:xfrm>
            <a:off x="4649724" y="4675022"/>
            <a:ext cx="491642"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En</a:t>
            </a:r>
            <a:endParaRPr lang="en-US" sz="2400" dirty="0"/>
          </a:p>
        </p:txBody>
      </p:sp>
      <p:sp>
        <p:nvSpPr>
          <p:cNvPr id="39" name="Shape 35"/>
          <p:cNvSpPr/>
          <p:nvPr/>
        </p:nvSpPr>
        <p:spPr>
          <a:xfrm>
            <a:off x="5045659" y="4687214"/>
            <a:ext cx="1099718" cy="371856"/>
          </a:xfrm>
          <a:prstGeom prst="roundRect">
            <a:avLst>
              <a:gd name="adj" fmla="val 12295"/>
            </a:avLst>
          </a:prstGeom>
          <a:solidFill>
            <a:srgbClr val="E6F3DA"/>
          </a:solidFill>
          <a:ln w="12700">
            <a:solidFill>
              <a:srgbClr val="FFFFFF">
                <a:alpha val="0"/>
              </a:srgbClr>
            </a:solidFill>
            <a:prstDash val="solid"/>
          </a:ln>
        </p:spPr>
      </p:sp>
      <p:sp>
        <p:nvSpPr>
          <p:cNvPr id="40" name="Text 36"/>
          <p:cNvSpPr txBox="1"/>
          <p:nvPr/>
        </p:nvSpPr>
        <p:spPr>
          <a:xfrm>
            <a:off x="5045659" y="4675022"/>
            <a:ext cx="1099718"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de baby</a:t>
            </a:r>
            <a:endParaRPr lang="en-US" sz="2400" dirty="0"/>
          </a:p>
        </p:txBody>
      </p:sp>
      <p:sp>
        <p:nvSpPr>
          <p:cNvPr id="41" name="Text 37"/>
          <p:cNvSpPr txBox="1"/>
          <p:nvPr/>
        </p:nvSpPr>
        <p:spPr>
          <a:xfrm>
            <a:off x="6145378" y="4675022"/>
            <a:ext cx="2783738"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 Hij eet alle frieten!</a:t>
            </a:r>
            <a:endParaRPr lang="en-US" sz="2400" dirty="0"/>
          </a:p>
        </p:txBody>
      </p:sp>
      <p:sp>
        <p:nvSpPr>
          <p:cNvPr id="42" name="Shape 38"/>
          <p:cNvSpPr/>
          <p:nvPr/>
        </p:nvSpPr>
        <p:spPr>
          <a:xfrm>
            <a:off x="5595518" y="4611014"/>
            <a:ext cx="914" cy="76200"/>
          </a:xfrm>
          <a:prstGeom prst="line">
            <a:avLst/>
          </a:prstGeom>
          <a:noFill/>
          <a:ln w="15875">
            <a:solidFill>
              <a:srgbClr val="7AB648"/>
            </a:solidFill>
            <a:prstDash val="solid"/>
          </a:ln>
        </p:spPr>
      </p:sp>
      <p:sp>
        <p:nvSpPr>
          <p:cNvPr id="43" name="Shape 39"/>
          <p:cNvSpPr/>
          <p:nvPr/>
        </p:nvSpPr>
        <p:spPr>
          <a:xfrm>
            <a:off x="5234889" y="4364126"/>
            <a:ext cx="721258" cy="246888"/>
          </a:xfrm>
          <a:prstGeom prst="roundRect">
            <a:avLst>
              <a:gd name="adj" fmla="val 14815"/>
            </a:avLst>
          </a:prstGeom>
          <a:solidFill>
            <a:srgbClr val="7AB648"/>
          </a:solidFill>
          <a:ln w="12700">
            <a:solidFill>
              <a:srgbClr val="FFFFFF">
                <a:alpha val="0"/>
              </a:srgbClr>
            </a:solidFill>
            <a:prstDash val="solid"/>
          </a:ln>
        </p:spPr>
      </p:sp>
      <p:sp>
        <p:nvSpPr>
          <p:cNvPr id="44" name="Text 40"/>
          <p:cNvSpPr txBox="1"/>
          <p:nvPr/>
        </p:nvSpPr>
        <p:spPr>
          <a:xfrm>
            <a:off x="5234889" y="4364126"/>
            <a:ext cx="721258"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DE BABY</a:t>
            </a:r>
            <a:endParaRPr lang="en-US" sz="1100" dirty="0"/>
          </a:p>
        </p:txBody>
      </p:sp>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85</a:t>
            </a:fld>
            <a:endParaRPr 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sp>
        <p:nvSpPr>
          <p:cNvPr id="2" name="Text 1"/>
          <p:cNvSpPr/>
          <p:nvPr>
            <p:ph idx="101" type="title" hasCustomPrompt="1"/>
          </p:nvPr>
        </p:nvSpPr>
        <p:spPr>
          <a:xfrm>
            <a:off x="1554480" y="384048"/>
            <a:ext cx="10241280" cy="658368"/>
          </a:xfrm>
          <a:prstGeom prst="rect">
            <a:avLst/>
          </a:prstGeom>
          <a:noFill/>
          <a:ln/>
        </p:spPr>
        <p:txBody>
          <a:bodyPr wrap="square" lIns="0" tIns="0" rIns="0" bIns="0" rtlCol="0" anchor="ctr"/>
          <a:lstStyle/>
          <a:p>
            <a:pPr algn="ctr" indent="0" marL="0">
              <a:buNone/>
            </a:pPr>
            <a:r>
              <a:rPr lang="en-US" sz="3000" b="1" dirty="0">
                <a:solidFill>
                  <a:srgbClr val="2B2F38"/>
                </a:solidFill>
              </a:rPr>
              <a:t>Gebruik deze afbeelding als inspiratie</a:t>
            </a:r>
            <a:endParaRPr lang="en-US" sz="3000" dirty="0"/>
          </a:p>
        </p:txBody>
      </p:sp>
      <p:sp>
        <p:nvSpPr>
          <p:cNvPr id="4" name="Shape 1"/>
          <p:cNvSpPr/>
          <p:nvPr/>
        </p:nvSpPr>
        <p:spPr>
          <a:xfrm>
            <a:off x="365760" y="365760"/>
            <a:ext cx="868680" cy="5989320"/>
          </a:xfrm>
          <a:prstGeom prst="roundRect">
            <a:avLst>
              <a:gd name="adj" fmla="val 12632"/>
            </a:avLst>
          </a:prstGeom>
          <a:solidFill>
            <a:srgbClr val="FDF1E4"/>
          </a:solidFill>
          <a:ln w="28575">
            <a:solidFill>
              <a:srgbClr val="F0A15E"/>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B9661F"/>
                </a:solidFill>
                <a:latin typeface="Calibri" pitchFamily="34" charset="0"/>
                <a:ea typeface="Calibri" pitchFamily="34" charset="-122"/>
                <a:cs typeface="Calibri" pitchFamily="34" charset="-120"/>
              </a:rPr>
              <a:t>A1 · Vocabulaire</a:t>
            </a:r>
            <a:endParaRPr lang="en-US" sz="3800" dirty="0"/>
          </a:p>
        </p:txBody>
      </p:sp>
      <p:sp>
        <p:nvSpPr>
          <p:cNvPr id="6" name="Text 3"/>
          <p:cNvSpPr txBox="1"/>
          <p:nvPr/>
        </p:nvSpPr>
        <p:spPr>
          <a:xfrm>
            <a:off x="1554480" y="1024128"/>
            <a:ext cx="10241280" cy="365760"/>
          </a:xfrm>
          <a:prstGeom prst="rect">
            <a:avLst/>
          </a:prstGeom>
          <a:noFill/>
          <a:ln/>
        </p:spPr>
        <p:txBody>
          <a:bodyPr wrap="square" lIns="0" tIns="0" rIns="0" bIns="0" rtlCol="0" anchor="ctr"/>
          <a:lstStyle/>
          <a:p>
            <a:pPr algn="ctr" indent="0" marL="0">
              <a:buNone/>
            </a:pPr>
            <a:r>
              <a:rPr lang="en-US" sz="1500" b="1" dirty="0">
                <a:solidFill>
                  <a:srgbClr val="B9661F"/>
                </a:solidFill>
                <a:latin typeface="Calibri" pitchFamily="34" charset="0"/>
                <a:ea typeface="Calibri" pitchFamily="34" charset="-122"/>
                <a:cs typeface="Calibri" pitchFamily="34" charset="-120"/>
              </a:rPr>
              <a:t>27 · Met de fiets naar het werk</a:t>
            </a:r>
            <a:r>
              <a:rPr lang="en-US" sz="1500" i="1" dirty="0">
                <a:solidFill>
                  <a:srgbClr val="6B7280"/>
                </a:solidFill>
                <a:latin typeface="Calibri" pitchFamily="34" charset="0"/>
                <a:ea typeface="Calibri" pitchFamily="34" charset="-122"/>
                <a:cs typeface="Calibri" pitchFamily="34" charset="-120"/>
              </a:rPr>
              <a:t>   À vélo au travail</a:t>
            </a:r>
            <a:r>
              <a:rPr lang="en-US" sz="1200" dirty="0">
                <a:solidFill>
                  <a:srgbClr val="9AA3B2"/>
                </a:solidFill>
                <a:latin typeface="Calibri" pitchFamily="34" charset="0"/>
                <a:ea typeface="Calibri" pitchFamily="34" charset="-122"/>
                <a:cs typeface="Calibri" pitchFamily="34" charset="-120"/>
              </a:rPr>
              <a:t>   ·   syllabus vocabulaire 03 · p. 80</a:t>
            </a:r>
            <a:endParaRPr lang="en-US" sz="1500" dirty="0"/>
          </a:p>
        </p:txBody>
      </p:sp>
      <p:sp>
        <p:nvSpPr>
          <p:cNvPr id="7" name="Shape 4"/>
          <p:cNvSpPr/>
          <p:nvPr/>
        </p:nvSpPr>
        <p:spPr>
          <a:xfrm>
            <a:off x="1596085" y="1504645"/>
            <a:ext cx="4534510" cy="2905735"/>
          </a:xfrm>
          <a:prstGeom prst="roundRect">
            <a:avLst>
              <a:gd name="adj" fmla="val 1259"/>
            </a:avLst>
          </a:prstGeom>
          <a:solidFill>
            <a:srgbClr val="FFFFFF"/>
          </a:solidFill>
          <a:ln w="9525">
            <a:solidFill>
              <a:srgbClr val="E3E7EE"/>
            </a:solidFill>
            <a:prstDash val="solid"/>
          </a:ln>
          <a:effectLst>
            <a:outerShdw sx="100000" sy="100000" kx="0" ky="0" algn="bl" rotWithShape="0" blurRad="127000" dist="50800" dir="5400000">
              <a:srgbClr val="1B2430">
                <a:alpha val="25000"/>
              </a:srgbClr>
            </a:outerShdw>
          </a:effectLst>
        </p:spPr>
      </p:sp>
      <p:pic>
        <p:nvPicPr>
          <p:cNvPr id="8" name="Image 0" descr="/home/user/talenleren/neerlandais1/generateur/img/vijfzinnen/a1_stad_s.jpg">    </p:cNvPr>
          <p:cNvPicPr>
            <a:picLocks noChangeAspect="1"/>
          </p:cNvPicPr>
          <p:nvPr/>
        </p:nvPicPr>
        <p:blipFill>
          <a:blip r:embed="rId1"/>
          <a:stretch>
            <a:fillRect/>
          </a:stretch>
        </p:blipFill>
        <p:spPr>
          <a:xfrm>
            <a:off x="1691640" y="1600200"/>
            <a:ext cx="4343400" cy="2714625"/>
          </a:xfrm>
          <a:prstGeom prst="rect">
            <a:avLst/>
          </a:prstGeom>
        </p:spPr>
      </p:pic>
      <p:sp>
        <p:nvSpPr>
          <p:cNvPr id="9" name="Shape 5"/>
          <p:cNvSpPr/>
          <p:nvPr/>
        </p:nvSpPr>
        <p:spPr>
          <a:xfrm>
            <a:off x="1691640" y="4572000"/>
            <a:ext cx="1600200" cy="365760"/>
          </a:xfrm>
          <a:prstGeom prst="roundRect">
            <a:avLst>
              <a:gd name="adj" fmla="val 50000"/>
            </a:avLst>
          </a:prstGeom>
          <a:solidFill>
            <a:srgbClr val="FDF1E6"/>
          </a:solidFill>
          <a:ln w="12700">
            <a:solidFill>
              <a:srgbClr val="D9822B"/>
            </a:solidFill>
            <a:prstDash val="solid"/>
          </a:ln>
        </p:spPr>
      </p:sp>
      <p:pic>
        <p:nvPicPr>
          <p:cNvPr id="10" name="Image 1" descr="Comments">    </p:cNvPr>
          <p:cNvPicPr>
            <a:picLocks noChangeAspect="1"/>
          </p:cNvPicPr>
          <p:nvPr/>
        </p:nvPicPr>
        <p:blipFill>
          <a:blip r:embed="rId2"/>
          <a:stretch>
            <a:fillRect/>
          </a:stretch>
        </p:blipFill>
        <p:spPr>
          <a:xfrm>
            <a:off x="1819656" y="4654296"/>
            <a:ext cx="201168" cy="201168"/>
          </a:xfrm>
          <a:prstGeom prst="rect">
            <a:avLst/>
          </a:prstGeom>
        </p:spPr>
      </p:pic>
      <p:sp>
        <p:nvSpPr>
          <p:cNvPr id="11" name="Text 6"/>
          <p:cNvSpPr txBox="1"/>
          <p:nvPr/>
        </p:nvSpPr>
        <p:spPr>
          <a:xfrm>
            <a:off x="2075688" y="4572000"/>
            <a:ext cx="1143000" cy="365760"/>
          </a:xfrm>
          <a:prstGeom prst="rect">
            <a:avLst/>
          </a:prstGeom>
          <a:noFill/>
          <a:ln/>
        </p:spPr>
        <p:txBody>
          <a:bodyPr wrap="square" lIns="0" tIns="0" rIns="0" bIns="0" rtlCol="0" anchor="ctr"/>
          <a:lstStyle/>
          <a:p>
            <a:pPr algn="l" indent="0" marL="0">
              <a:buNone/>
            </a:pPr>
            <a:r>
              <a:rPr lang="en-US" sz="1150" b="1" spc="100" kern="0" dirty="0">
                <a:solidFill>
                  <a:srgbClr val="D9822B"/>
                </a:solidFill>
                <a:latin typeface="Calibri" pitchFamily="34" charset="0"/>
                <a:ea typeface="Calibri" pitchFamily="34" charset="-122"/>
                <a:cs typeface="Calibri" pitchFamily="34" charset="-120"/>
              </a:rPr>
              <a:t>À L’ORAL</a:t>
            </a:r>
            <a:endParaRPr lang="en-US" sz="1150" dirty="0"/>
          </a:p>
        </p:txBody>
      </p:sp>
      <p:sp>
        <p:nvSpPr>
          <p:cNvPr id="12" name="Text 7"/>
          <p:cNvSpPr txBox="1"/>
          <p:nvPr/>
        </p:nvSpPr>
        <p:spPr>
          <a:xfrm>
            <a:off x="3429000" y="4544568"/>
            <a:ext cx="2651760" cy="731520"/>
          </a:xfrm>
          <a:prstGeom prst="rect">
            <a:avLst/>
          </a:prstGeom>
          <a:noFill/>
          <a:ln/>
        </p:spPr>
        <p:txBody>
          <a:bodyPr wrap="square" lIns="0" tIns="0" rIns="0" bIns="0" rtlCol="0" anchor="t"/>
          <a:lstStyle/>
          <a:p>
            <a:pPr algn="l" indent="0" marL="0">
              <a:buNone/>
            </a:pPr>
            <a:r>
              <a:rPr lang="en-US" sz="1150" i="1" dirty="0">
                <a:solidFill>
                  <a:srgbClr val="6B7280"/>
                </a:solidFill>
                <a:latin typeface="Calibri" pitchFamily="34" charset="0"/>
                <a:ea typeface="Calibri" pitchFamily="34" charset="-122"/>
                <a:cs typeface="Calibri" pitchFamily="34" charset="-120"/>
              </a:rPr>
              <a:t>Vous habitez en ville. Comment allez-vous au travail ?</a:t>
            </a:r>
            <a:endParaRPr lang="en-US" sz="1150" dirty="0"/>
          </a:p>
        </p:txBody>
      </p:sp>
      <p:sp>
        <p:nvSpPr>
          <p:cNvPr id="13" name="Shape 8"/>
          <p:cNvSpPr/>
          <p:nvPr/>
        </p:nvSpPr>
        <p:spPr>
          <a:xfrm>
            <a:off x="6355080" y="1673352"/>
            <a:ext cx="914400" cy="402336"/>
          </a:xfrm>
          <a:prstGeom prst="roundRect">
            <a:avLst>
              <a:gd name="adj" fmla="val 13636"/>
            </a:avLst>
          </a:prstGeom>
          <a:solidFill>
            <a:srgbClr val="5FA873"/>
          </a:solidFill>
          <a:ln w="12700">
            <a:solidFill>
              <a:srgbClr val="FFFFFF">
                <a:alpha val="0"/>
              </a:srgbClr>
            </a:solidFill>
            <a:prstDash val="solid"/>
          </a:ln>
        </p:spPr>
      </p:sp>
      <p:sp>
        <p:nvSpPr>
          <p:cNvPr id="14" name="Text 9"/>
          <p:cNvSpPr txBox="1"/>
          <p:nvPr/>
        </p:nvSpPr>
        <p:spPr>
          <a:xfrm>
            <a:off x="6355080" y="167335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1</a:t>
            </a:r>
            <a:endParaRPr lang="en-US" sz="1600" dirty="0"/>
          </a:p>
        </p:txBody>
      </p:sp>
      <p:sp>
        <p:nvSpPr>
          <p:cNvPr id="15" name="Text 10"/>
          <p:cNvSpPr txBox="1"/>
          <p:nvPr/>
        </p:nvSpPr>
        <p:spPr>
          <a:xfrm>
            <a:off x="7406640" y="1618488"/>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Votre ville : </a:t>
            </a:r>
            <a:r>
              <a:rPr lang="en-US" sz="1450" b="1" dirty="0">
                <a:solidFill>
                  <a:srgbClr val="2B2F38"/>
                </a:solidFill>
              </a:rPr>
              <a:t>IK WOON IN</a:t>
            </a:r>
            <a:r>
              <a:rPr lang="en-US" sz="1450" dirty="0">
                <a:solidFill>
                  <a:srgbClr val="2B2F38"/>
                </a:solidFill>
              </a:rPr>
              <a:t> …</a:t>
            </a:r>
            <a:endParaRPr lang="en-US" sz="1450" dirty="0"/>
          </a:p>
        </p:txBody>
      </p:sp>
      <p:sp>
        <p:nvSpPr>
          <p:cNvPr id="16" name="Shape 11"/>
          <p:cNvSpPr/>
          <p:nvPr/>
        </p:nvSpPr>
        <p:spPr>
          <a:xfrm>
            <a:off x="6355080" y="2404872"/>
            <a:ext cx="914400" cy="402336"/>
          </a:xfrm>
          <a:prstGeom prst="roundRect">
            <a:avLst>
              <a:gd name="adj" fmla="val 13636"/>
            </a:avLst>
          </a:prstGeom>
          <a:solidFill>
            <a:srgbClr val="5FA873"/>
          </a:solidFill>
          <a:ln w="12700">
            <a:solidFill>
              <a:srgbClr val="FFFFFF">
                <a:alpha val="0"/>
              </a:srgbClr>
            </a:solidFill>
            <a:prstDash val="solid"/>
          </a:ln>
        </p:spPr>
      </p:sp>
      <p:sp>
        <p:nvSpPr>
          <p:cNvPr id="17" name="Text 12"/>
          <p:cNvSpPr txBox="1"/>
          <p:nvPr/>
        </p:nvSpPr>
        <p:spPr>
          <a:xfrm>
            <a:off x="6355080" y="240487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2</a:t>
            </a:r>
            <a:endParaRPr lang="en-US" sz="1600" dirty="0"/>
          </a:p>
        </p:txBody>
      </p:sp>
      <p:sp>
        <p:nvSpPr>
          <p:cNvPr id="18" name="Text 13"/>
          <p:cNvSpPr txBox="1"/>
          <p:nvPr/>
        </p:nvSpPr>
        <p:spPr>
          <a:xfrm>
            <a:off x="7406640" y="2350008"/>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Le transport : </a:t>
            </a:r>
            <a:r>
              <a:rPr lang="en-US" sz="1450" b="1" dirty="0">
                <a:solidFill>
                  <a:srgbClr val="2B2F38"/>
                </a:solidFill>
              </a:rPr>
              <a:t>MET DE</a:t>
            </a:r>
            <a:r>
              <a:rPr lang="en-US" sz="1450" dirty="0">
                <a:solidFill>
                  <a:srgbClr val="2B2F38"/>
                </a:solidFill>
              </a:rPr>
              <a:t> fiets / tram / bus / trein.</a:t>
            </a:r>
            <a:endParaRPr lang="en-US" sz="1450" dirty="0"/>
          </a:p>
        </p:txBody>
      </p:sp>
      <p:sp>
        <p:nvSpPr>
          <p:cNvPr id="19" name="Shape 14"/>
          <p:cNvSpPr/>
          <p:nvPr/>
        </p:nvSpPr>
        <p:spPr>
          <a:xfrm>
            <a:off x="6355080" y="3136392"/>
            <a:ext cx="914400" cy="402336"/>
          </a:xfrm>
          <a:prstGeom prst="roundRect">
            <a:avLst>
              <a:gd name="adj" fmla="val 13636"/>
            </a:avLst>
          </a:prstGeom>
          <a:solidFill>
            <a:srgbClr val="5FA873"/>
          </a:solidFill>
          <a:ln w="12700">
            <a:solidFill>
              <a:srgbClr val="FFFFFF">
                <a:alpha val="0"/>
              </a:srgbClr>
            </a:solidFill>
            <a:prstDash val="solid"/>
          </a:ln>
        </p:spPr>
      </p:sp>
      <p:sp>
        <p:nvSpPr>
          <p:cNvPr id="20" name="Text 15"/>
          <p:cNvSpPr txBox="1"/>
          <p:nvPr/>
        </p:nvSpPr>
        <p:spPr>
          <a:xfrm>
            <a:off x="6355080" y="313639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3</a:t>
            </a:r>
            <a:endParaRPr lang="en-US" sz="1600" dirty="0"/>
          </a:p>
        </p:txBody>
      </p:sp>
      <p:sp>
        <p:nvSpPr>
          <p:cNvPr id="21" name="Text 16"/>
          <p:cNvSpPr txBox="1"/>
          <p:nvPr/>
        </p:nvSpPr>
        <p:spPr>
          <a:xfrm>
            <a:off x="7406640" y="3081528"/>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Un lieu de la ville : het station, de brug, de kerk…</a:t>
            </a:r>
            <a:endParaRPr lang="en-US" sz="1450" dirty="0"/>
          </a:p>
        </p:txBody>
      </p:sp>
      <p:sp>
        <p:nvSpPr>
          <p:cNvPr id="22" name="Shape 17"/>
          <p:cNvSpPr/>
          <p:nvPr/>
        </p:nvSpPr>
        <p:spPr>
          <a:xfrm>
            <a:off x="6355080" y="3867912"/>
            <a:ext cx="914400" cy="402336"/>
          </a:xfrm>
          <a:prstGeom prst="roundRect">
            <a:avLst>
              <a:gd name="adj" fmla="val 13636"/>
            </a:avLst>
          </a:prstGeom>
          <a:solidFill>
            <a:srgbClr val="5FA873"/>
          </a:solidFill>
          <a:ln w="12700">
            <a:solidFill>
              <a:srgbClr val="FFFFFF">
                <a:alpha val="0"/>
              </a:srgbClr>
            </a:solidFill>
            <a:prstDash val="solid"/>
          </a:ln>
        </p:spPr>
      </p:sp>
      <p:sp>
        <p:nvSpPr>
          <p:cNvPr id="23" name="Text 18"/>
          <p:cNvSpPr txBox="1"/>
          <p:nvPr/>
        </p:nvSpPr>
        <p:spPr>
          <a:xfrm>
            <a:off x="6355080" y="386791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4</a:t>
            </a:r>
            <a:endParaRPr lang="en-US" sz="1600" dirty="0"/>
          </a:p>
        </p:txBody>
      </p:sp>
      <p:sp>
        <p:nvSpPr>
          <p:cNvPr id="24" name="Text 19"/>
          <p:cNvSpPr txBox="1"/>
          <p:nvPr/>
        </p:nvSpPr>
        <p:spPr>
          <a:xfrm>
            <a:off x="7406640" y="3813048"/>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Une chute avec </a:t>
            </a:r>
            <a:r>
              <a:rPr lang="en-US" sz="1450" b="1" dirty="0">
                <a:solidFill>
                  <a:srgbClr val="2B2F38"/>
                </a:solidFill>
              </a:rPr>
              <a:t>HET VERKEERSLICHT</a:t>
            </a:r>
            <a:r>
              <a:rPr lang="en-US" sz="1450" dirty="0">
                <a:solidFill>
                  <a:srgbClr val="2B2F38"/>
                </a:solidFill>
              </a:rPr>
              <a:t>.</a:t>
            </a:r>
            <a:endParaRPr lang="en-US" sz="1450" dirty="0"/>
          </a:p>
        </p:txBody>
      </p:sp>
      <p:sp>
        <p:nvSpPr>
          <p:cNvPr id="25" name="Shape 20"/>
          <p:cNvSpPr/>
          <p:nvPr/>
        </p:nvSpPr>
        <p:spPr>
          <a:xfrm>
            <a:off x="3246120" y="5440680"/>
            <a:ext cx="6858000" cy="822960"/>
          </a:xfrm>
          <a:prstGeom prst="roundRect">
            <a:avLst>
              <a:gd name="adj" fmla="val 17778"/>
            </a:avLst>
          </a:prstGeom>
          <a:solidFill>
            <a:srgbClr val="EAF5EC"/>
          </a:solidFill>
          <a:ln w="15875">
            <a:solidFill>
              <a:srgbClr val="5FA873"/>
            </a:solidFill>
            <a:prstDash val="solid"/>
          </a:ln>
        </p:spPr>
      </p:sp>
      <p:pic>
        <p:nvPicPr>
          <p:cNvPr id="26" name="Image 2" descr="UserFriends">    </p:cNvPr>
          <p:cNvPicPr>
            <a:picLocks noChangeAspect="1"/>
          </p:cNvPicPr>
          <p:nvPr/>
        </p:nvPicPr>
        <p:blipFill>
          <a:blip r:embed="rId3"/>
          <a:stretch>
            <a:fillRect/>
          </a:stretch>
        </p:blipFill>
        <p:spPr>
          <a:xfrm>
            <a:off x="3520440" y="5660136"/>
            <a:ext cx="384048" cy="384048"/>
          </a:xfrm>
          <a:prstGeom prst="rect">
            <a:avLst/>
          </a:prstGeom>
        </p:spPr>
      </p:pic>
      <p:sp>
        <p:nvSpPr>
          <p:cNvPr id="27" name="Text 21"/>
          <p:cNvSpPr txBox="1"/>
          <p:nvPr/>
        </p:nvSpPr>
        <p:spPr>
          <a:xfrm>
            <a:off x="4114800" y="5440680"/>
            <a:ext cx="5852160" cy="822960"/>
          </a:xfrm>
          <a:prstGeom prst="rect">
            <a:avLst/>
          </a:prstGeom>
          <a:noFill/>
          <a:ln/>
        </p:spPr>
        <p:txBody>
          <a:bodyPr wrap="square" lIns="0" tIns="0" rIns="0" bIns="0" rtlCol="0" anchor="ctr"/>
          <a:lstStyle/>
          <a:p>
            <a:pPr algn="ctr" indent="0" marL="0">
              <a:buNone/>
            </a:pPr>
            <a:r>
              <a:rPr lang="en-US" sz="1800" b="1" dirty="0">
                <a:solidFill>
                  <a:srgbClr val="2E6B44"/>
                </a:solidFill>
                <a:latin typeface="Calibri" pitchFamily="34" charset="0"/>
                <a:ea typeface="Calibri" pitchFamily="34" charset="-122"/>
                <a:cs typeface="Calibri" pitchFamily="34" charset="-120"/>
              </a:rPr>
              <a:t>Vertel je verhaal aan je partner.</a:t>
            </a:r>
            <a:endParaRPr lang="en-US" sz="1800" dirty="0"/>
          </a:p>
          <a:p>
            <a:pPr algn="ctr" indent="0" marL="0">
              <a:buNone/>
            </a:pPr>
            <a:r>
              <a:rPr lang="en-US" sz="1800" b="1" dirty="0">
                <a:solidFill>
                  <a:srgbClr val="2E6B44"/>
                </a:solidFill>
                <a:latin typeface="Calibri" pitchFamily="34" charset="0"/>
                <a:ea typeface="Calibri" pitchFamily="34" charset="-122"/>
                <a:cs typeface="Calibri" pitchFamily="34" charset="-120"/>
              </a:rPr>
              <a:t>Wat denkt hij/zij daarvan?</a:t>
            </a:r>
            <a:endParaRPr lang="en-US" sz="1800" dirty="0"/>
          </a:p>
        </p:txBody>
      </p:sp>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86</a:t>
            </a:fld>
            <a:endParaRPr 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spTree>
      <p:nvGrpSpPr>
        <p:cNvPr id="1" name=""/>
        <p:cNvGrpSpPr/>
        <p:nvPr/>
      </p:nvGrpSpPr>
      <p:grpSpPr>
        <a:xfrm>
          <a:off x="0" y="0"/>
          <a:ext cx="0" cy="0"/>
          <a:chOff x="0" y="0"/>
          <a:chExt cx="0" cy="0"/>
        </a:xfrm>
      </p:grpSpPr>
      <p:sp>
        <p:nvSpPr>
          <p:cNvPr id="2" name="Text 1"/>
          <p:cNvSpPr/>
          <p:nvPr>
            <p:ph idx="101" type="title" hasCustomPrompt="1"/>
          </p:nvPr>
        </p:nvSpPr>
        <p:spPr>
          <a:xfrm>
            <a:off x="1554480" y="384048"/>
            <a:ext cx="10241280" cy="658368"/>
          </a:xfrm>
          <a:prstGeom prst="rect">
            <a:avLst/>
          </a:prstGeom>
          <a:noFill/>
          <a:ln/>
        </p:spPr>
        <p:txBody>
          <a:bodyPr wrap="square" lIns="0" tIns="0" rIns="0" bIns="0" rtlCol="0" anchor="ctr"/>
          <a:lstStyle/>
          <a:p>
            <a:pPr algn="ctr" indent="0" marL="0">
              <a:buNone/>
            </a:pPr>
            <a:r>
              <a:rPr lang="en-US" sz="3000" b="1" dirty="0">
                <a:solidFill>
                  <a:srgbClr val="2B2F38"/>
                </a:solidFill>
              </a:rPr>
              <a:t>Met de fiets naar het werk</a:t>
            </a:r>
            <a:endParaRPr lang="en-US" sz="3000" dirty="0"/>
          </a:p>
        </p:txBody>
      </p:sp>
      <p:sp>
        <p:nvSpPr>
          <p:cNvPr id="4" name="Shape 1"/>
          <p:cNvSpPr/>
          <p:nvPr/>
        </p:nvSpPr>
        <p:spPr>
          <a:xfrm>
            <a:off x="365760" y="365760"/>
            <a:ext cx="868680" cy="5989320"/>
          </a:xfrm>
          <a:prstGeom prst="roundRect">
            <a:avLst>
              <a:gd name="adj" fmla="val 12632"/>
            </a:avLst>
          </a:prstGeom>
          <a:solidFill>
            <a:srgbClr val="FDF1E4"/>
          </a:solidFill>
          <a:ln w="28575">
            <a:solidFill>
              <a:srgbClr val="F0A15E"/>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B9661F"/>
                </a:solidFill>
                <a:latin typeface="Calibri" pitchFamily="34" charset="0"/>
                <a:ea typeface="Calibri" pitchFamily="34" charset="-122"/>
                <a:cs typeface="Calibri" pitchFamily="34" charset="-120"/>
              </a:rPr>
              <a:t>A1 · Vocabulaire</a:t>
            </a:r>
            <a:endParaRPr lang="en-US" sz="3800" dirty="0"/>
          </a:p>
        </p:txBody>
      </p:sp>
      <p:sp>
        <p:nvSpPr>
          <p:cNvPr id="6" name="Shape 3"/>
          <p:cNvSpPr/>
          <p:nvPr/>
        </p:nvSpPr>
        <p:spPr>
          <a:xfrm>
            <a:off x="2519172" y="1124712"/>
            <a:ext cx="8311896" cy="5277231"/>
          </a:xfrm>
          <a:prstGeom prst="roundRect">
            <a:avLst>
              <a:gd name="adj" fmla="val 693"/>
            </a:avLst>
          </a:prstGeom>
          <a:solidFill>
            <a:srgbClr val="FFFFFF"/>
          </a:solidFill>
          <a:ln w="9525">
            <a:solidFill>
              <a:srgbClr val="E3E7EE"/>
            </a:solidFill>
            <a:prstDash val="solid"/>
          </a:ln>
          <a:effectLst>
            <a:outerShdw sx="100000" sy="100000" kx="0" ky="0" algn="bl" rotWithShape="0" blurRad="177800" dist="63500" dir="5400000">
              <a:srgbClr val="1B2430">
                <a:alpha val="25000"/>
              </a:srgbClr>
            </a:outerShdw>
          </a:effectLst>
        </p:spPr>
      </p:sp>
      <p:pic>
        <p:nvPicPr>
          <p:cNvPr id="7" name="Image 0" descr="/home/user/talenleren/neerlandais1/generateur/img/vijfzinnen/a1_stad.jpg">    </p:cNvPr>
          <p:cNvPicPr>
            <a:picLocks noChangeAspect="1"/>
          </p:cNvPicPr>
          <p:nvPr/>
        </p:nvPicPr>
        <p:blipFill>
          <a:blip r:embed="rId1"/>
          <a:stretch>
            <a:fillRect/>
          </a:stretch>
        </p:blipFill>
        <p:spPr>
          <a:xfrm>
            <a:off x="2628900" y="1234440"/>
            <a:ext cx="8092440" cy="5057775"/>
          </a:xfrm>
          <a:prstGeom prst="rect">
            <a:avLst/>
          </a:prstGeom>
        </p:spPr>
      </p:pic>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87</a:t>
            </a:fld>
            <a:endParaRPr 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spTree>
      <p:nvGrpSpPr>
        <p:cNvPr id="1" name=""/>
        <p:cNvGrpSpPr/>
        <p:nvPr/>
      </p:nvGrpSpPr>
      <p:grpSpPr>
        <a:xfrm>
          <a:off x="0" y="0"/>
          <a:ext cx="0" cy="0"/>
          <a:chOff x="0" y="0"/>
          <a:chExt cx="0" cy="0"/>
        </a:xfrm>
      </p:grpSpPr>
      <p:sp>
        <p:nvSpPr>
          <p:cNvPr id="2" name="Text 1"/>
          <p:cNvSpPr/>
          <p:nvPr>
            <p:ph idx="101" type="title" hasCustomPrompt="1"/>
          </p:nvPr>
        </p:nvSpPr>
        <p:spPr>
          <a:xfrm>
            <a:off x="1691640" y="347472"/>
            <a:ext cx="8138160" cy="914400"/>
          </a:xfrm>
          <a:prstGeom prst="rect">
            <a:avLst/>
          </a:prstGeom>
          <a:noFill/>
          <a:ln/>
        </p:spPr>
        <p:txBody>
          <a:bodyPr wrap="square" lIns="0" tIns="0" rIns="0" bIns="0" rtlCol="0" anchor="ctr"/>
          <a:lstStyle/>
          <a:p>
            <a:pPr algn="l" indent="0" marL="0">
              <a:buNone/>
            </a:pPr>
            <a:r>
              <a:rPr lang="en-US" sz="2400" b="1" dirty="0">
                <a:solidFill>
                  <a:srgbClr val="2B2F38"/>
                </a:solidFill>
              </a:rPr>
              <a:t>Hier is een voorbeeld van wat je had kunnen denken en zeggen…</a:t>
            </a:r>
            <a:endParaRPr lang="en-US" sz="2400" dirty="0"/>
          </a:p>
        </p:txBody>
      </p:sp>
      <p:sp>
        <p:nvSpPr>
          <p:cNvPr id="4" name="Shape 1"/>
          <p:cNvSpPr/>
          <p:nvPr/>
        </p:nvSpPr>
        <p:spPr>
          <a:xfrm>
            <a:off x="365760" y="365760"/>
            <a:ext cx="868680" cy="5989320"/>
          </a:xfrm>
          <a:prstGeom prst="roundRect">
            <a:avLst>
              <a:gd name="adj" fmla="val 12632"/>
            </a:avLst>
          </a:prstGeom>
          <a:solidFill>
            <a:srgbClr val="FDF1E4"/>
          </a:solidFill>
          <a:ln w="28575">
            <a:solidFill>
              <a:srgbClr val="F0A15E"/>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B9661F"/>
                </a:solidFill>
                <a:latin typeface="Calibri" pitchFamily="34" charset="0"/>
                <a:ea typeface="Calibri" pitchFamily="34" charset="-122"/>
                <a:cs typeface="Calibri" pitchFamily="34" charset="-120"/>
              </a:rPr>
              <a:t>A1 · Vocabulaire</a:t>
            </a:r>
            <a:endParaRPr lang="en-US" sz="3800" dirty="0"/>
          </a:p>
        </p:txBody>
      </p:sp>
      <p:sp>
        <p:nvSpPr>
          <p:cNvPr id="6" name="Shape 3"/>
          <p:cNvSpPr/>
          <p:nvPr/>
        </p:nvSpPr>
        <p:spPr>
          <a:xfrm>
            <a:off x="10058400" y="246888"/>
            <a:ext cx="1691640" cy="1091565"/>
          </a:xfrm>
          <a:prstGeom prst="roundRect">
            <a:avLst>
              <a:gd name="adj" fmla="val 3351"/>
            </a:avLst>
          </a:prstGeom>
          <a:solidFill>
            <a:srgbClr val="FFFFFF"/>
          </a:solidFill>
          <a:ln w="9525">
            <a:solidFill>
              <a:srgbClr val="E3E7EE"/>
            </a:solidFill>
            <a:prstDash val="solid"/>
          </a:ln>
          <a:effectLst>
            <a:outerShdw sx="100000" sy="100000" kx="0" ky="0" algn="bl" rotWithShape="0" blurRad="76200" dist="25400" dir="5400000">
              <a:srgbClr val="1B2430">
                <a:alpha val="25000"/>
              </a:srgbClr>
            </a:outerShdw>
          </a:effectLst>
        </p:spPr>
      </p:sp>
      <p:pic>
        <p:nvPicPr>
          <p:cNvPr id="7" name="Image 0" descr="/home/user/talenleren/neerlandais1/generateur/img/vijfzinnen/a1_stad_s.jpg">    </p:cNvPr>
          <p:cNvPicPr>
            <a:picLocks noChangeAspect="1"/>
          </p:cNvPicPr>
          <p:nvPr/>
        </p:nvPicPr>
        <p:blipFill>
          <a:blip r:embed="rId1"/>
          <a:stretch>
            <a:fillRect/>
          </a:stretch>
        </p:blipFill>
        <p:spPr>
          <a:xfrm>
            <a:off x="10104120" y="292608"/>
            <a:ext cx="1600200" cy="1000125"/>
          </a:xfrm>
          <a:prstGeom prst="rect">
            <a:avLst/>
          </a:prstGeom>
        </p:spPr>
      </p:pic>
      <p:sp>
        <p:nvSpPr>
          <p:cNvPr id="8" name="Shape 4"/>
          <p:cNvSpPr/>
          <p:nvPr/>
        </p:nvSpPr>
        <p:spPr>
          <a:xfrm>
            <a:off x="1691640" y="2779166"/>
            <a:ext cx="1414272" cy="371856"/>
          </a:xfrm>
          <a:prstGeom prst="roundRect">
            <a:avLst>
              <a:gd name="adj" fmla="val 12295"/>
            </a:avLst>
          </a:prstGeom>
          <a:solidFill>
            <a:srgbClr val="E6F3DA"/>
          </a:solidFill>
          <a:ln w="12700">
            <a:solidFill>
              <a:srgbClr val="FFFFFF">
                <a:alpha val="0"/>
              </a:srgbClr>
            </a:solidFill>
            <a:prstDash val="solid"/>
          </a:ln>
        </p:spPr>
      </p:sp>
      <p:sp>
        <p:nvSpPr>
          <p:cNvPr id="9" name="Text 5"/>
          <p:cNvSpPr txBox="1"/>
          <p:nvPr/>
        </p:nvSpPr>
        <p:spPr>
          <a:xfrm>
            <a:off x="1691640" y="2766974"/>
            <a:ext cx="1414272"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Ik woon in</a:t>
            </a:r>
            <a:endParaRPr lang="en-US" sz="2400" dirty="0"/>
          </a:p>
        </p:txBody>
      </p:sp>
      <p:sp>
        <p:nvSpPr>
          <p:cNvPr id="10" name="Text 6"/>
          <p:cNvSpPr txBox="1"/>
          <p:nvPr/>
        </p:nvSpPr>
        <p:spPr>
          <a:xfrm>
            <a:off x="3193085" y="2766974"/>
            <a:ext cx="2325624"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Antwerpen. Ik ga</a:t>
            </a:r>
            <a:endParaRPr lang="en-US" sz="2400" dirty="0"/>
          </a:p>
        </p:txBody>
      </p:sp>
      <p:sp>
        <p:nvSpPr>
          <p:cNvPr id="11" name="Shape 7"/>
          <p:cNvSpPr/>
          <p:nvPr/>
        </p:nvSpPr>
        <p:spPr>
          <a:xfrm>
            <a:off x="5423002" y="2779166"/>
            <a:ext cx="1605077" cy="371856"/>
          </a:xfrm>
          <a:prstGeom prst="roundRect">
            <a:avLst>
              <a:gd name="adj" fmla="val 12295"/>
            </a:avLst>
          </a:prstGeom>
          <a:solidFill>
            <a:srgbClr val="E6F3DA"/>
          </a:solidFill>
          <a:ln w="12700">
            <a:solidFill>
              <a:srgbClr val="FFFFFF">
                <a:alpha val="0"/>
              </a:srgbClr>
            </a:solidFill>
            <a:prstDash val="solid"/>
          </a:ln>
        </p:spPr>
      </p:sp>
      <p:sp>
        <p:nvSpPr>
          <p:cNvPr id="12" name="Text 8"/>
          <p:cNvSpPr txBox="1"/>
          <p:nvPr/>
        </p:nvSpPr>
        <p:spPr>
          <a:xfrm>
            <a:off x="5423002" y="2766974"/>
            <a:ext cx="1605077"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met de fiets</a:t>
            </a:r>
            <a:endParaRPr lang="en-US" sz="2400" dirty="0"/>
          </a:p>
        </p:txBody>
      </p:sp>
      <p:sp>
        <p:nvSpPr>
          <p:cNvPr id="13" name="Text 9"/>
          <p:cNvSpPr txBox="1"/>
          <p:nvPr/>
        </p:nvSpPr>
        <p:spPr>
          <a:xfrm>
            <a:off x="7115251" y="2766974"/>
            <a:ext cx="3592678"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naar het werk. Ik fiets naar</a:t>
            </a:r>
            <a:endParaRPr lang="en-US" sz="2400" dirty="0"/>
          </a:p>
        </p:txBody>
      </p:sp>
      <p:sp>
        <p:nvSpPr>
          <p:cNvPr id="14" name="Shape 10"/>
          <p:cNvSpPr/>
          <p:nvPr/>
        </p:nvSpPr>
        <p:spPr>
          <a:xfrm>
            <a:off x="2398776" y="2702966"/>
            <a:ext cx="914" cy="76200"/>
          </a:xfrm>
          <a:prstGeom prst="line">
            <a:avLst/>
          </a:prstGeom>
          <a:noFill/>
          <a:ln w="15875">
            <a:solidFill>
              <a:srgbClr val="7AB648"/>
            </a:solidFill>
            <a:prstDash val="solid"/>
          </a:ln>
        </p:spPr>
      </p:sp>
      <p:sp>
        <p:nvSpPr>
          <p:cNvPr id="15" name="Shape 11"/>
          <p:cNvSpPr/>
          <p:nvPr/>
        </p:nvSpPr>
        <p:spPr>
          <a:xfrm>
            <a:off x="2004828" y="2456078"/>
            <a:ext cx="787895" cy="246888"/>
          </a:xfrm>
          <a:prstGeom prst="roundRect">
            <a:avLst>
              <a:gd name="adj" fmla="val 14815"/>
            </a:avLst>
          </a:prstGeom>
          <a:solidFill>
            <a:srgbClr val="7AB648"/>
          </a:solidFill>
          <a:ln w="12700">
            <a:solidFill>
              <a:srgbClr val="FFFFFF">
                <a:alpha val="0"/>
              </a:srgbClr>
            </a:solidFill>
            <a:prstDash val="solid"/>
          </a:ln>
        </p:spPr>
      </p:sp>
      <p:sp>
        <p:nvSpPr>
          <p:cNvPr id="16" name="Text 12"/>
          <p:cNvSpPr txBox="1"/>
          <p:nvPr/>
        </p:nvSpPr>
        <p:spPr>
          <a:xfrm>
            <a:off x="2004828" y="2456078"/>
            <a:ext cx="787895"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WOON IN</a:t>
            </a:r>
            <a:endParaRPr lang="en-US" sz="1100" dirty="0"/>
          </a:p>
        </p:txBody>
      </p:sp>
      <p:sp>
        <p:nvSpPr>
          <p:cNvPr id="17" name="Shape 13"/>
          <p:cNvSpPr/>
          <p:nvPr/>
        </p:nvSpPr>
        <p:spPr>
          <a:xfrm>
            <a:off x="6225540" y="2702966"/>
            <a:ext cx="914" cy="76200"/>
          </a:xfrm>
          <a:prstGeom prst="line">
            <a:avLst/>
          </a:prstGeom>
          <a:noFill/>
          <a:ln w="15875">
            <a:solidFill>
              <a:srgbClr val="7AB648"/>
            </a:solidFill>
            <a:prstDash val="solid"/>
          </a:ln>
        </p:spPr>
      </p:sp>
      <p:sp>
        <p:nvSpPr>
          <p:cNvPr id="18" name="Shape 14"/>
          <p:cNvSpPr/>
          <p:nvPr/>
        </p:nvSpPr>
        <p:spPr>
          <a:xfrm>
            <a:off x="5892222" y="2456078"/>
            <a:ext cx="666636" cy="246888"/>
          </a:xfrm>
          <a:prstGeom prst="roundRect">
            <a:avLst>
              <a:gd name="adj" fmla="val 14815"/>
            </a:avLst>
          </a:prstGeom>
          <a:solidFill>
            <a:srgbClr val="7AB648"/>
          </a:solidFill>
          <a:ln w="12700">
            <a:solidFill>
              <a:srgbClr val="FFFFFF">
                <a:alpha val="0"/>
              </a:srgbClr>
            </a:solidFill>
            <a:prstDash val="solid"/>
          </a:ln>
        </p:spPr>
      </p:sp>
      <p:sp>
        <p:nvSpPr>
          <p:cNvPr id="19" name="Text 15"/>
          <p:cNvSpPr txBox="1"/>
          <p:nvPr/>
        </p:nvSpPr>
        <p:spPr>
          <a:xfrm>
            <a:off x="5892222" y="2456078"/>
            <a:ext cx="666636"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MET DE</a:t>
            </a:r>
            <a:endParaRPr lang="en-US" sz="1100" dirty="0"/>
          </a:p>
        </p:txBody>
      </p:sp>
      <p:sp>
        <p:nvSpPr>
          <p:cNvPr id="20" name="Shape 16"/>
          <p:cNvSpPr/>
          <p:nvPr/>
        </p:nvSpPr>
        <p:spPr>
          <a:xfrm>
            <a:off x="1691640" y="3632606"/>
            <a:ext cx="1469441" cy="371856"/>
          </a:xfrm>
          <a:prstGeom prst="roundRect">
            <a:avLst>
              <a:gd name="adj" fmla="val 12295"/>
            </a:avLst>
          </a:prstGeom>
          <a:solidFill>
            <a:srgbClr val="E6F3DA"/>
          </a:solidFill>
          <a:ln w="12700">
            <a:solidFill>
              <a:srgbClr val="FFFFFF">
                <a:alpha val="0"/>
              </a:srgbClr>
            </a:solidFill>
            <a:prstDash val="solid"/>
          </a:ln>
        </p:spPr>
      </p:sp>
      <p:sp>
        <p:nvSpPr>
          <p:cNvPr id="21" name="Text 17"/>
          <p:cNvSpPr txBox="1"/>
          <p:nvPr/>
        </p:nvSpPr>
        <p:spPr>
          <a:xfrm>
            <a:off x="1691640" y="3620414"/>
            <a:ext cx="1469441"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het station</a:t>
            </a:r>
            <a:endParaRPr lang="en-US" sz="2400" dirty="0"/>
          </a:p>
        </p:txBody>
      </p:sp>
      <p:sp>
        <p:nvSpPr>
          <p:cNvPr id="22" name="Text 18"/>
          <p:cNvSpPr txBox="1"/>
          <p:nvPr/>
        </p:nvSpPr>
        <p:spPr>
          <a:xfrm>
            <a:off x="3248254" y="3620414"/>
            <a:ext cx="1138428"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en over</a:t>
            </a:r>
            <a:endParaRPr lang="en-US" sz="2400" dirty="0"/>
          </a:p>
        </p:txBody>
      </p:sp>
      <p:sp>
        <p:nvSpPr>
          <p:cNvPr id="23" name="Shape 19"/>
          <p:cNvSpPr/>
          <p:nvPr/>
        </p:nvSpPr>
        <p:spPr>
          <a:xfrm>
            <a:off x="4290974" y="3632606"/>
            <a:ext cx="1057351" cy="371856"/>
          </a:xfrm>
          <a:prstGeom prst="roundRect">
            <a:avLst>
              <a:gd name="adj" fmla="val 12295"/>
            </a:avLst>
          </a:prstGeom>
          <a:solidFill>
            <a:srgbClr val="E6F3DA"/>
          </a:solidFill>
          <a:ln w="12700">
            <a:solidFill>
              <a:srgbClr val="FFFFFF">
                <a:alpha val="0"/>
              </a:srgbClr>
            </a:solidFill>
            <a:prstDash val="solid"/>
          </a:ln>
        </p:spPr>
      </p:sp>
      <p:sp>
        <p:nvSpPr>
          <p:cNvPr id="24" name="Text 20"/>
          <p:cNvSpPr txBox="1"/>
          <p:nvPr/>
        </p:nvSpPr>
        <p:spPr>
          <a:xfrm>
            <a:off x="4290974" y="3620414"/>
            <a:ext cx="1057351"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de brug</a:t>
            </a:r>
            <a:endParaRPr lang="en-US" sz="2400" dirty="0"/>
          </a:p>
        </p:txBody>
      </p:sp>
      <p:sp>
        <p:nvSpPr>
          <p:cNvPr id="25" name="Text 21"/>
          <p:cNvSpPr txBox="1"/>
          <p:nvPr/>
        </p:nvSpPr>
        <p:spPr>
          <a:xfrm>
            <a:off x="5348326" y="3620414"/>
            <a:ext cx="259690"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a:t>
            </a:r>
            <a:endParaRPr lang="en-US" sz="2400" dirty="0"/>
          </a:p>
        </p:txBody>
      </p:sp>
      <p:sp>
        <p:nvSpPr>
          <p:cNvPr id="26" name="Shape 22"/>
          <p:cNvSpPr/>
          <p:nvPr/>
        </p:nvSpPr>
        <p:spPr>
          <a:xfrm>
            <a:off x="2426360" y="3556406"/>
            <a:ext cx="914" cy="76200"/>
          </a:xfrm>
          <a:prstGeom prst="line">
            <a:avLst/>
          </a:prstGeom>
          <a:noFill/>
          <a:ln w="15875">
            <a:solidFill>
              <a:srgbClr val="7AB648"/>
            </a:solidFill>
            <a:prstDash val="solid"/>
          </a:ln>
        </p:spPr>
      </p:sp>
      <p:sp>
        <p:nvSpPr>
          <p:cNvPr id="27" name="Shape 23"/>
          <p:cNvSpPr/>
          <p:nvPr/>
        </p:nvSpPr>
        <p:spPr>
          <a:xfrm>
            <a:off x="1988337" y="3309518"/>
            <a:ext cx="876046" cy="246888"/>
          </a:xfrm>
          <a:prstGeom prst="roundRect">
            <a:avLst>
              <a:gd name="adj" fmla="val 14815"/>
            </a:avLst>
          </a:prstGeom>
          <a:solidFill>
            <a:srgbClr val="7AB648"/>
          </a:solidFill>
          <a:ln w="12700">
            <a:solidFill>
              <a:srgbClr val="FFFFFF">
                <a:alpha val="0"/>
              </a:srgbClr>
            </a:solidFill>
            <a:prstDash val="solid"/>
          </a:ln>
        </p:spPr>
      </p:sp>
      <p:sp>
        <p:nvSpPr>
          <p:cNvPr id="28" name="Text 24"/>
          <p:cNvSpPr txBox="1"/>
          <p:nvPr/>
        </p:nvSpPr>
        <p:spPr>
          <a:xfrm>
            <a:off x="1988337" y="3309518"/>
            <a:ext cx="876046"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IN DE STAD</a:t>
            </a:r>
            <a:endParaRPr lang="en-US" sz="1100" dirty="0"/>
          </a:p>
        </p:txBody>
      </p:sp>
      <p:sp>
        <p:nvSpPr>
          <p:cNvPr id="29" name="Shape 25"/>
          <p:cNvSpPr/>
          <p:nvPr/>
        </p:nvSpPr>
        <p:spPr>
          <a:xfrm>
            <a:off x="4819650" y="3556406"/>
            <a:ext cx="914" cy="76200"/>
          </a:xfrm>
          <a:prstGeom prst="line">
            <a:avLst/>
          </a:prstGeom>
          <a:noFill/>
          <a:ln w="15875">
            <a:solidFill>
              <a:srgbClr val="7AB648"/>
            </a:solidFill>
            <a:prstDash val="solid"/>
          </a:ln>
        </p:spPr>
      </p:sp>
      <p:sp>
        <p:nvSpPr>
          <p:cNvPr id="30" name="Shape 26"/>
          <p:cNvSpPr/>
          <p:nvPr/>
        </p:nvSpPr>
        <p:spPr>
          <a:xfrm>
            <a:off x="4381627" y="3309518"/>
            <a:ext cx="876046" cy="246888"/>
          </a:xfrm>
          <a:prstGeom prst="roundRect">
            <a:avLst>
              <a:gd name="adj" fmla="val 14815"/>
            </a:avLst>
          </a:prstGeom>
          <a:solidFill>
            <a:srgbClr val="7AB648"/>
          </a:solidFill>
          <a:ln w="12700">
            <a:solidFill>
              <a:srgbClr val="FFFFFF">
                <a:alpha val="0"/>
              </a:srgbClr>
            </a:solidFill>
            <a:prstDash val="solid"/>
          </a:ln>
        </p:spPr>
      </p:sp>
      <p:sp>
        <p:nvSpPr>
          <p:cNvPr id="31" name="Text 27"/>
          <p:cNvSpPr txBox="1"/>
          <p:nvPr/>
        </p:nvSpPr>
        <p:spPr>
          <a:xfrm>
            <a:off x="4381627" y="3309518"/>
            <a:ext cx="876046"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IN DE STAD</a:t>
            </a:r>
            <a:endParaRPr lang="en-US" sz="1100" dirty="0"/>
          </a:p>
        </p:txBody>
      </p:sp>
      <p:sp>
        <p:nvSpPr>
          <p:cNvPr id="32" name="Text 28"/>
          <p:cNvSpPr txBox="1"/>
          <p:nvPr/>
        </p:nvSpPr>
        <p:spPr>
          <a:xfrm>
            <a:off x="3512058" y="4675022"/>
            <a:ext cx="841858"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Maar</a:t>
            </a:r>
            <a:endParaRPr lang="en-US" sz="2400" dirty="0"/>
          </a:p>
        </p:txBody>
      </p:sp>
      <p:sp>
        <p:nvSpPr>
          <p:cNvPr id="33" name="Shape 29"/>
          <p:cNvSpPr/>
          <p:nvPr/>
        </p:nvSpPr>
        <p:spPr>
          <a:xfrm>
            <a:off x="4258208" y="4687214"/>
            <a:ext cx="2218334" cy="371856"/>
          </a:xfrm>
          <a:prstGeom prst="roundRect">
            <a:avLst>
              <a:gd name="adj" fmla="val 12295"/>
            </a:avLst>
          </a:prstGeom>
          <a:solidFill>
            <a:srgbClr val="E6F3DA"/>
          </a:solidFill>
          <a:ln w="12700">
            <a:solidFill>
              <a:srgbClr val="FFFFFF">
                <a:alpha val="0"/>
              </a:srgbClr>
            </a:solidFill>
            <a:prstDash val="solid"/>
          </a:ln>
        </p:spPr>
      </p:sp>
      <p:sp>
        <p:nvSpPr>
          <p:cNvPr id="34" name="Text 30"/>
          <p:cNvSpPr txBox="1"/>
          <p:nvPr/>
        </p:nvSpPr>
        <p:spPr>
          <a:xfrm>
            <a:off x="4258208" y="4675022"/>
            <a:ext cx="2218334"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het verkeerslicht</a:t>
            </a:r>
            <a:endParaRPr lang="en-US" sz="2400" dirty="0"/>
          </a:p>
        </p:txBody>
      </p:sp>
      <p:sp>
        <p:nvSpPr>
          <p:cNvPr id="35" name="Text 31"/>
          <p:cNvSpPr txBox="1"/>
          <p:nvPr/>
        </p:nvSpPr>
        <p:spPr>
          <a:xfrm>
            <a:off x="6563716" y="4675022"/>
            <a:ext cx="3503066"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is rood… en ik ben te laat!</a:t>
            </a:r>
            <a:endParaRPr lang="en-US" sz="2400" dirty="0"/>
          </a:p>
        </p:txBody>
      </p:sp>
      <p:sp>
        <p:nvSpPr>
          <p:cNvPr id="36" name="Shape 32"/>
          <p:cNvSpPr/>
          <p:nvPr/>
        </p:nvSpPr>
        <p:spPr>
          <a:xfrm>
            <a:off x="5367376" y="4611014"/>
            <a:ext cx="914" cy="76200"/>
          </a:xfrm>
          <a:prstGeom prst="line">
            <a:avLst/>
          </a:prstGeom>
          <a:noFill/>
          <a:ln w="15875">
            <a:solidFill>
              <a:srgbClr val="7AB648"/>
            </a:solidFill>
            <a:prstDash val="solid"/>
          </a:ln>
        </p:spPr>
      </p:sp>
      <p:sp>
        <p:nvSpPr>
          <p:cNvPr id="37" name="Shape 33"/>
          <p:cNvSpPr/>
          <p:nvPr/>
        </p:nvSpPr>
        <p:spPr>
          <a:xfrm>
            <a:off x="4800410" y="4364126"/>
            <a:ext cx="1133932" cy="246888"/>
          </a:xfrm>
          <a:prstGeom prst="roundRect">
            <a:avLst>
              <a:gd name="adj" fmla="val 14815"/>
            </a:avLst>
          </a:prstGeom>
          <a:solidFill>
            <a:srgbClr val="7AB648"/>
          </a:solidFill>
          <a:ln w="12700">
            <a:solidFill>
              <a:srgbClr val="FFFFFF">
                <a:alpha val="0"/>
              </a:srgbClr>
            </a:solidFill>
            <a:prstDash val="solid"/>
          </a:ln>
        </p:spPr>
      </p:sp>
      <p:sp>
        <p:nvSpPr>
          <p:cNvPr id="38" name="Text 34"/>
          <p:cNvSpPr txBox="1"/>
          <p:nvPr/>
        </p:nvSpPr>
        <p:spPr>
          <a:xfrm>
            <a:off x="4800410" y="4364126"/>
            <a:ext cx="1133932"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VERKEERSLICHT</a:t>
            </a:r>
            <a:endParaRPr lang="en-US" sz="1100" dirty="0"/>
          </a:p>
        </p:txBody>
      </p:sp>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88</a:t>
            </a:fld>
            <a:endParaRPr lang="en-US"/>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spTree>
      <p:nvGrpSpPr>
        <p:cNvPr id="1" name=""/>
        <p:cNvGrpSpPr/>
        <p:nvPr/>
      </p:nvGrpSpPr>
      <p:grpSpPr>
        <a:xfrm>
          <a:off x="0" y="0"/>
          <a:ext cx="0" cy="0"/>
          <a:chOff x="0" y="0"/>
          <a:chExt cx="0" cy="0"/>
        </a:xfrm>
      </p:grpSpPr>
      <p:sp>
        <p:nvSpPr>
          <p:cNvPr id="2" name="Text 1"/>
          <p:cNvSpPr/>
          <p:nvPr>
            <p:ph idx="101" type="title" hasCustomPrompt="1"/>
          </p:nvPr>
        </p:nvSpPr>
        <p:spPr>
          <a:xfrm>
            <a:off x="1554480" y="384048"/>
            <a:ext cx="10241280" cy="658368"/>
          </a:xfrm>
          <a:prstGeom prst="rect">
            <a:avLst/>
          </a:prstGeom>
          <a:noFill/>
          <a:ln/>
        </p:spPr>
        <p:txBody>
          <a:bodyPr wrap="square" lIns="0" tIns="0" rIns="0" bIns="0" rtlCol="0" anchor="ctr"/>
          <a:lstStyle/>
          <a:p>
            <a:pPr algn="ctr" indent="0" marL="0">
              <a:buNone/>
            </a:pPr>
            <a:r>
              <a:rPr lang="en-US" sz="3000" b="1" dirty="0">
                <a:solidFill>
                  <a:srgbClr val="2B2F38"/>
                </a:solidFill>
              </a:rPr>
              <a:t>Gebruik deze afbeelding als inspiratie</a:t>
            </a:r>
            <a:endParaRPr lang="en-US" sz="3000" dirty="0"/>
          </a:p>
        </p:txBody>
      </p:sp>
      <p:sp>
        <p:nvSpPr>
          <p:cNvPr id="4" name="Shape 1"/>
          <p:cNvSpPr/>
          <p:nvPr/>
        </p:nvSpPr>
        <p:spPr>
          <a:xfrm>
            <a:off x="365760" y="365760"/>
            <a:ext cx="868680" cy="5989320"/>
          </a:xfrm>
          <a:prstGeom prst="roundRect">
            <a:avLst>
              <a:gd name="adj" fmla="val 12632"/>
            </a:avLst>
          </a:prstGeom>
          <a:solidFill>
            <a:srgbClr val="FDF1E4"/>
          </a:solidFill>
          <a:ln w="28575">
            <a:solidFill>
              <a:srgbClr val="F0A15E"/>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B9661F"/>
                </a:solidFill>
                <a:latin typeface="Calibri" pitchFamily="34" charset="0"/>
                <a:ea typeface="Calibri" pitchFamily="34" charset="-122"/>
                <a:cs typeface="Calibri" pitchFamily="34" charset="-120"/>
              </a:rPr>
              <a:t>A1 · Vocabulaire</a:t>
            </a:r>
            <a:endParaRPr lang="en-US" sz="3800" dirty="0"/>
          </a:p>
        </p:txBody>
      </p:sp>
      <p:sp>
        <p:nvSpPr>
          <p:cNvPr id="6" name="Text 3"/>
          <p:cNvSpPr txBox="1"/>
          <p:nvPr/>
        </p:nvSpPr>
        <p:spPr>
          <a:xfrm>
            <a:off x="1554480" y="1024128"/>
            <a:ext cx="10241280" cy="365760"/>
          </a:xfrm>
          <a:prstGeom prst="rect">
            <a:avLst/>
          </a:prstGeom>
          <a:noFill/>
          <a:ln/>
        </p:spPr>
        <p:txBody>
          <a:bodyPr wrap="square" lIns="0" tIns="0" rIns="0" bIns="0" rtlCol="0" anchor="ctr"/>
          <a:lstStyle/>
          <a:p>
            <a:pPr algn="ctr" indent="0" marL="0">
              <a:buNone/>
            </a:pPr>
            <a:r>
              <a:rPr lang="en-US" sz="1500" b="1" dirty="0">
                <a:solidFill>
                  <a:srgbClr val="B9661F"/>
                </a:solidFill>
                <a:latin typeface="Calibri" pitchFamily="34" charset="0"/>
                <a:ea typeface="Calibri" pitchFamily="34" charset="-122"/>
                <a:cs typeface="Calibri" pitchFamily="34" charset="-120"/>
              </a:rPr>
              <a:t>28 · Wat eten we vanavond?</a:t>
            </a:r>
            <a:r>
              <a:rPr lang="en-US" sz="1500" i="1" dirty="0">
                <a:solidFill>
                  <a:srgbClr val="6B7280"/>
                </a:solidFill>
                <a:latin typeface="Calibri" pitchFamily="34" charset="0"/>
                <a:ea typeface="Calibri" pitchFamily="34" charset="-122"/>
                <a:cs typeface="Calibri" pitchFamily="34" charset="-120"/>
              </a:rPr>
              <a:t>   Qu’est-ce qu’on mange ce soir ?</a:t>
            </a:r>
            <a:r>
              <a:rPr lang="en-US" sz="1200" dirty="0">
                <a:solidFill>
                  <a:srgbClr val="9AA3B2"/>
                </a:solidFill>
                <a:latin typeface="Calibri" pitchFamily="34" charset="0"/>
                <a:ea typeface="Calibri" pitchFamily="34" charset="-122"/>
                <a:cs typeface="Calibri" pitchFamily="34" charset="-120"/>
              </a:rPr>
              <a:t>   ·   syllabus vocabulaire 04 · p. 81</a:t>
            </a:r>
            <a:endParaRPr lang="en-US" sz="1500" dirty="0"/>
          </a:p>
        </p:txBody>
      </p:sp>
      <p:sp>
        <p:nvSpPr>
          <p:cNvPr id="7" name="Shape 4"/>
          <p:cNvSpPr/>
          <p:nvPr/>
        </p:nvSpPr>
        <p:spPr>
          <a:xfrm>
            <a:off x="1596085" y="1504645"/>
            <a:ext cx="4534510" cy="2905735"/>
          </a:xfrm>
          <a:prstGeom prst="roundRect">
            <a:avLst>
              <a:gd name="adj" fmla="val 1259"/>
            </a:avLst>
          </a:prstGeom>
          <a:solidFill>
            <a:srgbClr val="FFFFFF"/>
          </a:solidFill>
          <a:ln w="9525">
            <a:solidFill>
              <a:srgbClr val="E3E7EE"/>
            </a:solidFill>
            <a:prstDash val="solid"/>
          </a:ln>
          <a:effectLst>
            <a:outerShdw sx="100000" sy="100000" kx="0" ky="0" algn="bl" rotWithShape="0" blurRad="127000" dist="50800" dir="5400000">
              <a:srgbClr val="1B2430">
                <a:alpha val="25000"/>
              </a:srgbClr>
            </a:outerShdw>
          </a:effectLst>
        </p:spPr>
      </p:sp>
      <p:pic>
        <p:nvPicPr>
          <p:cNvPr id="8" name="Image 0" descr="/home/user/talenleren/neerlandais1/generateur/img/vijfzinnen/a1_avondeten_s.jpg">    </p:cNvPr>
          <p:cNvPicPr>
            <a:picLocks noChangeAspect="1"/>
          </p:cNvPicPr>
          <p:nvPr/>
        </p:nvPicPr>
        <p:blipFill>
          <a:blip r:embed="rId1"/>
          <a:stretch>
            <a:fillRect/>
          </a:stretch>
        </p:blipFill>
        <p:spPr>
          <a:xfrm>
            <a:off x="1691640" y="1600200"/>
            <a:ext cx="4343400" cy="2714625"/>
          </a:xfrm>
          <a:prstGeom prst="rect">
            <a:avLst/>
          </a:prstGeom>
        </p:spPr>
      </p:pic>
      <p:sp>
        <p:nvSpPr>
          <p:cNvPr id="9" name="Shape 5"/>
          <p:cNvSpPr/>
          <p:nvPr/>
        </p:nvSpPr>
        <p:spPr>
          <a:xfrm>
            <a:off x="1691640" y="4572000"/>
            <a:ext cx="1600200" cy="365760"/>
          </a:xfrm>
          <a:prstGeom prst="roundRect">
            <a:avLst>
              <a:gd name="adj" fmla="val 50000"/>
            </a:avLst>
          </a:prstGeom>
          <a:solidFill>
            <a:srgbClr val="EAF1FC"/>
          </a:solidFill>
          <a:ln w="12700">
            <a:solidFill>
              <a:srgbClr val="4A7BD0"/>
            </a:solidFill>
            <a:prstDash val="solid"/>
          </a:ln>
        </p:spPr>
      </p:sp>
      <p:pic>
        <p:nvPicPr>
          <p:cNvPr id="10" name="Image 1" descr="PenNib">    </p:cNvPr>
          <p:cNvPicPr>
            <a:picLocks noChangeAspect="1"/>
          </p:cNvPicPr>
          <p:nvPr/>
        </p:nvPicPr>
        <p:blipFill>
          <a:blip r:embed="rId2"/>
          <a:stretch>
            <a:fillRect/>
          </a:stretch>
        </p:blipFill>
        <p:spPr>
          <a:xfrm>
            <a:off x="1819656" y="4654296"/>
            <a:ext cx="201168" cy="201168"/>
          </a:xfrm>
          <a:prstGeom prst="rect">
            <a:avLst/>
          </a:prstGeom>
        </p:spPr>
      </p:pic>
      <p:sp>
        <p:nvSpPr>
          <p:cNvPr id="11" name="Text 6"/>
          <p:cNvSpPr txBox="1"/>
          <p:nvPr/>
        </p:nvSpPr>
        <p:spPr>
          <a:xfrm>
            <a:off x="2075688" y="4572000"/>
            <a:ext cx="1143000" cy="365760"/>
          </a:xfrm>
          <a:prstGeom prst="rect">
            <a:avLst/>
          </a:prstGeom>
          <a:noFill/>
          <a:ln/>
        </p:spPr>
        <p:txBody>
          <a:bodyPr wrap="square" lIns="0" tIns="0" rIns="0" bIns="0" rtlCol="0" anchor="ctr"/>
          <a:lstStyle/>
          <a:p>
            <a:pPr algn="l" indent="0" marL="0">
              <a:buNone/>
            </a:pPr>
            <a:r>
              <a:rPr lang="en-US" sz="1150" b="1" spc="100" kern="0" dirty="0">
                <a:solidFill>
                  <a:srgbClr val="4A7BD0"/>
                </a:solidFill>
                <a:latin typeface="Calibri" pitchFamily="34" charset="0"/>
                <a:ea typeface="Calibri" pitchFamily="34" charset="-122"/>
                <a:cs typeface="Calibri" pitchFamily="34" charset="-120"/>
              </a:rPr>
              <a:t>À L’ÉCRIT</a:t>
            </a:r>
            <a:endParaRPr lang="en-US" sz="1150" dirty="0"/>
          </a:p>
        </p:txBody>
      </p:sp>
      <p:sp>
        <p:nvSpPr>
          <p:cNvPr id="12" name="Text 7"/>
          <p:cNvSpPr txBox="1"/>
          <p:nvPr/>
        </p:nvSpPr>
        <p:spPr>
          <a:xfrm>
            <a:off x="3429000" y="4544568"/>
            <a:ext cx="2651760" cy="731520"/>
          </a:xfrm>
          <a:prstGeom prst="rect">
            <a:avLst/>
          </a:prstGeom>
          <a:noFill/>
          <a:ln/>
        </p:spPr>
        <p:txBody>
          <a:bodyPr wrap="square" lIns="0" tIns="0" rIns="0" bIns="0" rtlCol="0" anchor="t"/>
          <a:lstStyle/>
          <a:p>
            <a:pPr algn="l" indent="0" marL="0">
              <a:buNone/>
            </a:pPr>
            <a:r>
              <a:rPr lang="en-US" sz="1150" i="1" dirty="0">
                <a:solidFill>
                  <a:srgbClr val="6B7280"/>
                </a:solidFill>
                <a:latin typeface="Calibri" pitchFamily="34" charset="0"/>
                <a:ea typeface="Calibri" pitchFamily="34" charset="-122"/>
                <a:cs typeface="Calibri" pitchFamily="34" charset="-120"/>
              </a:rPr>
              <a:t>Des ami·es viennent dîner. Vous préparez le repas.</a:t>
            </a:r>
            <a:endParaRPr lang="en-US" sz="1150" dirty="0"/>
          </a:p>
        </p:txBody>
      </p:sp>
      <p:sp>
        <p:nvSpPr>
          <p:cNvPr id="13" name="Shape 8"/>
          <p:cNvSpPr/>
          <p:nvPr/>
        </p:nvSpPr>
        <p:spPr>
          <a:xfrm>
            <a:off x="6355080" y="1673352"/>
            <a:ext cx="914400" cy="402336"/>
          </a:xfrm>
          <a:prstGeom prst="roundRect">
            <a:avLst>
              <a:gd name="adj" fmla="val 13636"/>
            </a:avLst>
          </a:prstGeom>
          <a:solidFill>
            <a:srgbClr val="5FA873"/>
          </a:solidFill>
          <a:ln w="12700">
            <a:solidFill>
              <a:srgbClr val="FFFFFF">
                <a:alpha val="0"/>
              </a:srgbClr>
            </a:solidFill>
            <a:prstDash val="solid"/>
          </a:ln>
        </p:spPr>
      </p:sp>
      <p:sp>
        <p:nvSpPr>
          <p:cNvPr id="14" name="Text 9"/>
          <p:cNvSpPr txBox="1"/>
          <p:nvPr/>
        </p:nvSpPr>
        <p:spPr>
          <a:xfrm>
            <a:off x="6355080" y="167335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1</a:t>
            </a:r>
            <a:endParaRPr lang="en-US" sz="1600" dirty="0"/>
          </a:p>
        </p:txBody>
      </p:sp>
      <p:sp>
        <p:nvSpPr>
          <p:cNvPr id="15" name="Text 10"/>
          <p:cNvSpPr txBox="1"/>
          <p:nvPr/>
        </p:nvSpPr>
        <p:spPr>
          <a:xfrm>
            <a:off x="7406640" y="1618488"/>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Le plat : </a:t>
            </a:r>
            <a:r>
              <a:rPr lang="en-US" sz="1450" b="1" dirty="0">
                <a:solidFill>
                  <a:srgbClr val="2B2F38"/>
                </a:solidFill>
              </a:rPr>
              <a:t>IK KOOK</a:t>
            </a:r>
            <a:r>
              <a:rPr lang="en-US" sz="1450" dirty="0">
                <a:solidFill>
                  <a:srgbClr val="2B2F38"/>
                </a:solidFill>
              </a:rPr>
              <a:t> + vis / vlees / soep…</a:t>
            </a:r>
            <a:endParaRPr lang="en-US" sz="1450" dirty="0"/>
          </a:p>
        </p:txBody>
      </p:sp>
      <p:sp>
        <p:nvSpPr>
          <p:cNvPr id="16" name="Shape 11"/>
          <p:cNvSpPr/>
          <p:nvPr/>
        </p:nvSpPr>
        <p:spPr>
          <a:xfrm>
            <a:off x="6355080" y="2404872"/>
            <a:ext cx="914400" cy="402336"/>
          </a:xfrm>
          <a:prstGeom prst="roundRect">
            <a:avLst>
              <a:gd name="adj" fmla="val 13636"/>
            </a:avLst>
          </a:prstGeom>
          <a:solidFill>
            <a:srgbClr val="5FA873"/>
          </a:solidFill>
          <a:ln w="12700">
            <a:solidFill>
              <a:srgbClr val="FFFFFF">
                <a:alpha val="0"/>
              </a:srgbClr>
            </a:solidFill>
            <a:prstDash val="solid"/>
          </a:ln>
        </p:spPr>
      </p:sp>
      <p:sp>
        <p:nvSpPr>
          <p:cNvPr id="17" name="Text 12"/>
          <p:cNvSpPr txBox="1"/>
          <p:nvPr/>
        </p:nvSpPr>
        <p:spPr>
          <a:xfrm>
            <a:off x="6355080" y="240487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2</a:t>
            </a:r>
            <a:endParaRPr lang="en-US" sz="1600" dirty="0"/>
          </a:p>
        </p:txBody>
      </p:sp>
      <p:sp>
        <p:nvSpPr>
          <p:cNvPr id="18" name="Text 13"/>
          <p:cNvSpPr txBox="1"/>
          <p:nvPr/>
        </p:nvSpPr>
        <p:spPr>
          <a:xfrm>
            <a:off x="7406640" y="2350008"/>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L’accompagnement : </a:t>
            </a:r>
            <a:r>
              <a:rPr lang="en-US" sz="1450" b="1" dirty="0">
                <a:solidFill>
                  <a:srgbClr val="2B2F38"/>
                </a:solidFill>
              </a:rPr>
              <a:t>MET</a:t>
            </a:r>
            <a:r>
              <a:rPr lang="en-US" sz="1450" dirty="0">
                <a:solidFill>
                  <a:srgbClr val="2B2F38"/>
                </a:solidFill>
              </a:rPr>
              <a:t> + groenten / frieten…</a:t>
            </a:r>
            <a:endParaRPr lang="en-US" sz="1450" dirty="0"/>
          </a:p>
        </p:txBody>
      </p:sp>
      <p:sp>
        <p:nvSpPr>
          <p:cNvPr id="19" name="Shape 14"/>
          <p:cNvSpPr/>
          <p:nvPr/>
        </p:nvSpPr>
        <p:spPr>
          <a:xfrm>
            <a:off x="6355080" y="3136392"/>
            <a:ext cx="914400" cy="402336"/>
          </a:xfrm>
          <a:prstGeom prst="roundRect">
            <a:avLst>
              <a:gd name="adj" fmla="val 13636"/>
            </a:avLst>
          </a:prstGeom>
          <a:solidFill>
            <a:srgbClr val="5FA873"/>
          </a:solidFill>
          <a:ln w="12700">
            <a:solidFill>
              <a:srgbClr val="FFFFFF">
                <a:alpha val="0"/>
              </a:srgbClr>
            </a:solidFill>
            <a:prstDash val="solid"/>
          </a:ln>
        </p:spPr>
      </p:sp>
      <p:sp>
        <p:nvSpPr>
          <p:cNvPr id="20" name="Text 15"/>
          <p:cNvSpPr txBox="1"/>
          <p:nvPr/>
        </p:nvSpPr>
        <p:spPr>
          <a:xfrm>
            <a:off x="6355080" y="313639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3</a:t>
            </a:r>
            <a:endParaRPr lang="en-US" sz="1600" dirty="0"/>
          </a:p>
        </p:txBody>
      </p:sp>
      <p:sp>
        <p:nvSpPr>
          <p:cNvPr id="21" name="Text 16"/>
          <p:cNvSpPr txBox="1"/>
          <p:nvPr/>
        </p:nvSpPr>
        <p:spPr>
          <a:xfrm>
            <a:off x="7406640" y="3081528"/>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La boisson : </a:t>
            </a:r>
            <a:r>
              <a:rPr lang="en-US" sz="1450" b="1" dirty="0">
                <a:solidFill>
                  <a:srgbClr val="2B2F38"/>
                </a:solidFill>
              </a:rPr>
              <a:t>WE DRINKEN</a:t>
            </a:r>
            <a:r>
              <a:rPr lang="en-US" sz="1450" dirty="0">
                <a:solidFill>
                  <a:srgbClr val="2B2F38"/>
                </a:solidFill>
              </a:rPr>
              <a:t> …</a:t>
            </a:r>
            <a:endParaRPr lang="en-US" sz="1450" dirty="0"/>
          </a:p>
        </p:txBody>
      </p:sp>
      <p:sp>
        <p:nvSpPr>
          <p:cNvPr id="22" name="Shape 17"/>
          <p:cNvSpPr/>
          <p:nvPr/>
        </p:nvSpPr>
        <p:spPr>
          <a:xfrm>
            <a:off x="6355080" y="3867912"/>
            <a:ext cx="914400" cy="402336"/>
          </a:xfrm>
          <a:prstGeom prst="roundRect">
            <a:avLst>
              <a:gd name="adj" fmla="val 13636"/>
            </a:avLst>
          </a:prstGeom>
          <a:solidFill>
            <a:srgbClr val="5FA873"/>
          </a:solidFill>
          <a:ln w="12700">
            <a:solidFill>
              <a:srgbClr val="FFFFFF">
                <a:alpha val="0"/>
              </a:srgbClr>
            </a:solidFill>
            <a:prstDash val="solid"/>
          </a:ln>
        </p:spPr>
      </p:sp>
      <p:sp>
        <p:nvSpPr>
          <p:cNvPr id="23" name="Text 18"/>
          <p:cNvSpPr txBox="1"/>
          <p:nvPr/>
        </p:nvSpPr>
        <p:spPr>
          <a:xfrm>
            <a:off x="6355080" y="386791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4</a:t>
            </a:r>
            <a:endParaRPr lang="en-US" sz="1600" dirty="0"/>
          </a:p>
        </p:txBody>
      </p:sp>
      <p:sp>
        <p:nvSpPr>
          <p:cNvPr id="24" name="Text 19"/>
          <p:cNvSpPr txBox="1"/>
          <p:nvPr/>
        </p:nvSpPr>
        <p:spPr>
          <a:xfrm>
            <a:off x="7406640" y="3813048"/>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Une chute avec </a:t>
            </a:r>
            <a:r>
              <a:rPr lang="en-US" sz="1450" b="1" dirty="0">
                <a:solidFill>
                  <a:srgbClr val="2B2F38"/>
                </a:solidFill>
              </a:rPr>
              <a:t>LEKKER</a:t>
            </a:r>
            <a:r>
              <a:rPr lang="en-US" sz="1450" dirty="0">
                <a:solidFill>
                  <a:srgbClr val="2B2F38"/>
                </a:solidFill>
              </a:rPr>
              <a:t> (ou pas !).</a:t>
            </a:r>
            <a:endParaRPr lang="en-US" sz="1450" dirty="0"/>
          </a:p>
        </p:txBody>
      </p:sp>
      <p:sp>
        <p:nvSpPr>
          <p:cNvPr id="25" name="Shape 20"/>
          <p:cNvSpPr/>
          <p:nvPr/>
        </p:nvSpPr>
        <p:spPr>
          <a:xfrm>
            <a:off x="3246120" y="5440680"/>
            <a:ext cx="6858000" cy="822960"/>
          </a:xfrm>
          <a:prstGeom prst="roundRect">
            <a:avLst>
              <a:gd name="adj" fmla="val 17778"/>
            </a:avLst>
          </a:prstGeom>
          <a:solidFill>
            <a:srgbClr val="EAF5EC"/>
          </a:solidFill>
          <a:ln w="15875">
            <a:solidFill>
              <a:srgbClr val="5FA873"/>
            </a:solidFill>
            <a:prstDash val="solid"/>
          </a:ln>
        </p:spPr>
      </p:sp>
      <p:pic>
        <p:nvPicPr>
          <p:cNvPr id="26" name="Image 2" descr="UserFriends">    </p:cNvPr>
          <p:cNvPicPr>
            <a:picLocks noChangeAspect="1"/>
          </p:cNvPicPr>
          <p:nvPr/>
        </p:nvPicPr>
        <p:blipFill>
          <a:blip r:embed="rId3"/>
          <a:stretch>
            <a:fillRect/>
          </a:stretch>
        </p:blipFill>
        <p:spPr>
          <a:xfrm>
            <a:off x="3520440" y="5660136"/>
            <a:ext cx="384048" cy="384048"/>
          </a:xfrm>
          <a:prstGeom prst="rect">
            <a:avLst/>
          </a:prstGeom>
        </p:spPr>
      </p:pic>
      <p:sp>
        <p:nvSpPr>
          <p:cNvPr id="27" name="Text 21"/>
          <p:cNvSpPr txBox="1"/>
          <p:nvPr/>
        </p:nvSpPr>
        <p:spPr>
          <a:xfrm>
            <a:off x="4114800" y="5440680"/>
            <a:ext cx="5852160" cy="822960"/>
          </a:xfrm>
          <a:prstGeom prst="rect">
            <a:avLst/>
          </a:prstGeom>
          <a:noFill/>
          <a:ln/>
        </p:spPr>
        <p:txBody>
          <a:bodyPr wrap="square" lIns="0" tIns="0" rIns="0" bIns="0" rtlCol="0" anchor="ctr"/>
          <a:lstStyle/>
          <a:p>
            <a:pPr algn="ctr" indent="0" marL="0">
              <a:buNone/>
            </a:pPr>
            <a:r>
              <a:rPr lang="en-US" sz="1800" b="1" dirty="0">
                <a:solidFill>
                  <a:srgbClr val="2E6B44"/>
                </a:solidFill>
                <a:latin typeface="Calibri" pitchFamily="34" charset="0"/>
                <a:ea typeface="Calibri" pitchFamily="34" charset="-122"/>
                <a:cs typeface="Calibri" pitchFamily="34" charset="-120"/>
              </a:rPr>
              <a:t>Lees je tekst voor aan je partner.</a:t>
            </a:r>
            <a:endParaRPr lang="en-US" sz="1800" dirty="0"/>
          </a:p>
          <a:p>
            <a:pPr algn="ctr" indent="0" marL="0">
              <a:buNone/>
            </a:pPr>
            <a:r>
              <a:rPr lang="en-US" sz="1800" b="1" dirty="0">
                <a:solidFill>
                  <a:srgbClr val="2E6B44"/>
                </a:solidFill>
                <a:latin typeface="Calibri" pitchFamily="34" charset="0"/>
                <a:ea typeface="Calibri" pitchFamily="34" charset="-122"/>
                <a:cs typeface="Calibri" pitchFamily="34" charset="-120"/>
              </a:rPr>
              <a:t>Wat denkt hij/zij daarvan?</a:t>
            </a:r>
            <a:endParaRPr lang="en-US" sz="1800" dirty="0"/>
          </a:p>
        </p:txBody>
      </p:sp>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89</a:t>
            </a:fld>
            <a:endParaRPr 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spTree>
      <p:nvGrpSpPr>
        <p:cNvPr id="1" name=""/>
        <p:cNvGrpSpPr/>
        <p:nvPr/>
      </p:nvGrpSpPr>
      <p:grpSpPr>
        <a:xfrm>
          <a:off x="0" y="0"/>
          <a:ext cx="0" cy="0"/>
          <a:chOff x="0" y="0"/>
          <a:chExt cx="0" cy="0"/>
        </a:xfrm>
      </p:grpSpPr>
      <p:sp>
        <p:nvSpPr>
          <p:cNvPr id="2" name="Text 1"/>
          <p:cNvSpPr/>
          <p:nvPr>
            <p:ph idx="101" type="title" hasCustomPrompt="1"/>
          </p:nvPr>
        </p:nvSpPr>
        <p:spPr>
          <a:xfrm>
            <a:off x="1554480" y="384048"/>
            <a:ext cx="10241280" cy="658368"/>
          </a:xfrm>
          <a:prstGeom prst="rect">
            <a:avLst/>
          </a:prstGeom>
          <a:noFill/>
          <a:ln/>
        </p:spPr>
        <p:txBody>
          <a:bodyPr wrap="square" lIns="0" tIns="0" rIns="0" bIns="0" rtlCol="0" anchor="ctr"/>
          <a:lstStyle/>
          <a:p>
            <a:pPr algn="ctr" indent="0" marL="0">
              <a:buNone/>
            </a:pPr>
            <a:r>
              <a:rPr lang="en-US" sz="3000" b="1" dirty="0">
                <a:solidFill>
                  <a:srgbClr val="2B2F38"/>
                </a:solidFill>
              </a:rPr>
              <a:t>Wat eten we vanavond?</a:t>
            </a:r>
            <a:endParaRPr lang="en-US" sz="3000" dirty="0"/>
          </a:p>
        </p:txBody>
      </p:sp>
      <p:sp>
        <p:nvSpPr>
          <p:cNvPr id="4" name="Shape 1"/>
          <p:cNvSpPr/>
          <p:nvPr/>
        </p:nvSpPr>
        <p:spPr>
          <a:xfrm>
            <a:off x="365760" y="365760"/>
            <a:ext cx="868680" cy="5989320"/>
          </a:xfrm>
          <a:prstGeom prst="roundRect">
            <a:avLst>
              <a:gd name="adj" fmla="val 12632"/>
            </a:avLst>
          </a:prstGeom>
          <a:solidFill>
            <a:srgbClr val="FDF1E4"/>
          </a:solidFill>
          <a:ln w="28575">
            <a:solidFill>
              <a:srgbClr val="F0A15E"/>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B9661F"/>
                </a:solidFill>
                <a:latin typeface="Calibri" pitchFamily="34" charset="0"/>
                <a:ea typeface="Calibri" pitchFamily="34" charset="-122"/>
                <a:cs typeface="Calibri" pitchFamily="34" charset="-120"/>
              </a:rPr>
              <a:t>A1 · Vocabulaire</a:t>
            </a:r>
            <a:endParaRPr lang="en-US" sz="3800" dirty="0"/>
          </a:p>
        </p:txBody>
      </p:sp>
      <p:sp>
        <p:nvSpPr>
          <p:cNvPr id="6" name="Shape 3"/>
          <p:cNvSpPr/>
          <p:nvPr/>
        </p:nvSpPr>
        <p:spPr>
          <a:xfrm>
            <a:off x="2519172" y="1124712"/>
            <a:ext cx="8311896" cy="5277231"/>
          </a:xfrm>
          <a:prstGeom prst="roundRect">
            <a:avLst>
              <a:gd name="adj" fmla="val 693"/>
            </a:avLst>
          </a:prstGeom>
          <a:solidFill>
            <a:srgbClr val="FFFFFF"/>
          </a:solidFill>
          <a:ln w="9525">
            <a:solidFill>
              <a:srgbClr val="E3E7EE"/>
            </a:solidFill>
            <a:prstDash val="solid"/>
          </a:ln>
          <a:effectLst>
            <a:outerShdw sx="100000" sy="100000" kx="0" ky="0" algn="bl" rotWithShape="0" blurRad="177800" dist="63500" dir="5400000">
              <a:srgbClr val="1B2430">
                <a:alpha val="25000"/>
              </a:srgbClr>
            </a:outerShdw>
          </a:effectLst>
        </p:spPr>
      </p:sp>
      <p:pic>
        <p:nvPicPr>
          <p:cNvPr id="7" name="Image 0" descr="/home/user/talenleren/neerlandais1/generateur/img/vijfzinnen/a1_avondeten.jpg">    </p:cNvPr>
          <p:cNvPicPr>
            <a:picLocks noChangeAspect="1"/>
          </p:cNvPicPr>
          <p:nvPr/>
        </p:nvPicPr>
        <p:blipFill>
          <a:blip r:embed="rId1"/>
          <a:stretch>
            <a:fillRect/>
          </a:stretch>
        </p:blipFill>
        <p:spPr>
          <a:xfrm>
            <a:off x="2628900" y="1234440"/>
            <a:ext cx="8092440" cy="5057775"/>
          </a:xfrm>
          <a:prstGeom prst="rect">
            <a:avLst/>
          </a:prstGeom>
        </p:spPr>
      </p:pic>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90</a:t>
            </a:fld>
            <a:endParaRPr lang="en-US"/>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spTree>
      <p:nvGrpSpPr>
        <p:cNvPr id="1" name=""/>
        <p:cNvGrpSpPr/>
        <p:nvPr/>
      </p:nvGrpSpPr>
      <p:grpSpPr>
        <a:xfrm>
          <a:off x="0" y="0"/>
          <a:ext cx="0" cy="0"/>
          <a:chOff x="0" y="0"/>
          <a:chExt cx="0" cy="0"/>
        </a:xfrm>
      </p:grpSpPr>
      <p:sp>
        <p:nvSpPr>
          <p:cNvPr id="2" name="Text 1"/>
          <p:cNvSpPr/>
          <p:nvPr>
            <p:ph idx="101" type="title" hasCustomPrompt="1"/>
          </p:nvPr>
        </p:nvSpPr>
        <p:spPr>
          <a:xfrm>
            <a:off x="1691640" y="347472"/>
            <a:ext cx="8138160" cy="914400"/>
          </a:xfrm>
          <a:prstGeom prst="rect">
            <a:avLst/>
          </a:prstGeom>
          <a:noFill/>
          <a:ln/>
        </p:spPr>
        <p:txBody>
          <a:bodyPr wrap="square" lIns="0" tIns="0" rIns="0" bIns="0" rtlCol="0" anchor="ctr"/>
          <a:lstStyle/>
          <a:p>
            <a:pPr algn="l" indent="0" marL="0">
              <a:buNone/>
            </a:pPr>
            <a:r>
              <a:rPr lang="en-US" sz="2400" b="1" dirty="0">
                <a:solidFill>
                  <a:srgbClr val="2B2F38"/>
                </a:solidFill>
              </a:rPr>
              <a:t>Hier is een voorbeeld van wat je had kunnen denken en schrijven…</a:t>
            </a:r>
            <a:endParaRPr lang="en-US" sz="2400" dirty="0"/>
          </a:p>
        </p:txBody>
      </p:sp>
      <p:sp>
        <p:nvSpPr>
          <p:cNvPr id="4" name="Shape 1"/>
          <p:cNvSpPr/>
          <p:nvPr/>
        </p:nvSpPr>
        <p:spPr>
          <a:xfrm>
            <a:off x="365760" y="365760"/>
            <a:ext cx="868680" cy="5989320"/>
          </a:xfrm>
          <a:prstGeom prst="roundRect">
            <a:avLst>
              <a:gd name="adj" fmla="val 12632"/>
            </a:avLst>
          </a:prstGeom>
          <a:solidFill>
            <a:srgbClr val="FDF1E4"/>
          </a:solidFill>
          <a:ln w="28575">
            <a:solidFill>
              <a:srgbClr val="F0A15E"/>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B9661F"/>
                </a:solidFill>
                <a:latin typeface="Calibri" pitchFamily="34" charset="0"/>
                <a:ea typeface="Calibri" pitchFamily="34" charset="-122"/>
                <a:cs typeface="Calibri" pitchFamily="34" charset="-120"/>
              </a:rPr>
              <a:t>A1 · Vocabulaire</a:t>
            </a:r>
            <a:endParaRPr lang="en-US" sz="3800" dirty="0"/>
          </a:p>
        </p:txBody>
      </p:sp>
      <p:sp>
        <p:nvSpPr>
          <p:cNvPr id="6" name="Shape 3"/>
          <p:cNvSpPr/>
          <p:nvPr/>
        </p:nvSpPr>
        <p:spPr>
          <a:xfrm>
            <a:off x="10058400" y="246888"/>
            <a:ext cx="1691640" cy="1091565"/>
          </a:xfrm>
          <a:prstGeom prst="roundRect">
            <a:avLst>
              <a:gd name="adj" fmla="val 3351"/>
            </a:avLst>
          </a:prstGeom>
          <a:solidFill>
            <a:srgbClr val="FFFFFF"/>
          </a:solidFill>
          <a:ln w="9525">
            <a:solidFill>
              <a:srgbClr val="E3E7EE"/>
            </a:solidFill>
            <a:prstDash val="solid"/>
          </a:ln>
          <a:effectLst>
            <a:outerShdw sx="100000" sy="100000" kx="0" ky="0" algn="bl" rotWithShape="0" blurRad="76200" dist="25400" dir="5400000">
              <a:srgbClr val="1B2430">
                <a:alpha val="25000"/>
              </a:srgbClr>
            </a:outerShdw>
          </a:effectLst>
        </p:spPr>
      </p:sp>
      <p:pic>
        <p:nvPicPr>
          <p:cNvPr id="7" name="Image 0" descr="/home/user/talenleren/neerlandais1/generateur/img/vijfzinnen/a1_avondeten_s.jpg">    </p:cNvPr>
          <p:cNvPicPr>
            <a:picLocks noChangeAspect="1"/>
          </p:cNvPicPr>
          <p:nvPr/>
        </p:nvPicPr>
        <p:blipFill>
          <a:blip r:embed="rId1"/>
          <a:stretch>
            <a:fillRect/>
          </a:stretch>
        </p:blipFill>
        <p:spPr>
          <a:xfrm>
            <a:off x="10104120" y="292608"/>
            <a:ext cx="1600200" cy="1000125"/>
          </a:xfrm>
          <a:prstGeom prst="rect">
            <a:avLst/>
          </a:prstGeom>
        </p:spPr>
      </p:pic>
      <p:sp>
        <p:nvSpPr>
          <p:cNvPr id="8" name="Text 4"/>
          <p:cNvSpPr txBox="1"/>
          <p:nvPr/>
        </p:nvSpPr>
        <p:spPr>
          <a:xfrm>
            <a:off x="1691640" y="3108350"/>
            <a:ext cx="1426159"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Vanavond</a:t>
            </a:r>
            <a:endParaRPr lang="en-US" sz="2400" dirty="0"/>
          </a:p>
        </p:txBody>
      </p:sp>
      <p:sp>
        <p:nvSpPr>
          <p:cNvPr id="9" name="Shape 5"/>
          <p:cNvSpPr/>
          <p:nvPr/>
        </p:nvSpPr>
        <p:spPr>
          <a:xfrm>
            <a:off x="3022092" y="3120542"/>
            <a:ext cx="1002182" cy="371856"/>
          </a:xfrm>
          <a:prstGeom prst="roundRect">
            <a:avLst>
              <a:gd name="adj" fmla="val 12295"/>
            </a:avLst>
          </a:prstGeom>
          <a:solidFill>
            <a:srgbClr val="E6F3DA"/>
          </a:solidFill>
          <a:ln w="12700">
            <a:solidFill>
              <a:srgbClr val="FFFFFF">
                <a:alpha val="0"/>
              </a:srgbClr>
            </a:solidFill>
            <a:prstDash val="solid"/>
          </a:ln>
        </p:spPr>
      </p:sp>
      <p:sp>
        <p:nvSpPr>
          <p:cNvPr id="10" name="Text 6"/>
          <p:cNvSpPr txBox="1"/>
          <p:nvPr/>
        </p:nvSpPr>
        <p:spPr>
          <a:xfrm>
            <a:off x="3022092" y="3108350"/>
            <a:ext cx="1002182"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kook ik</a:t>
            </a:r>
            <a:endParaRPr lang="en-US" sz="2400" dirty="0"/>
          </a:p>
        </p:txBody>
      </p:sp>
      <p:sp>
        <p:nvSpPr>
          <p:cNvPr id="11" name="Text 7"/>
          <p:cNvSpPr txBox="1"/>
          <p:nvPr/>
        </p:nvSpPr>
        <p:spPr>
          <a:xfrm>
            <a:off x="4111447" y="3108350"/>
            <a:ext cx="509930"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vis</a:t>
            </a:r>
            <a:endParaRPr lang="en-US" sz="2400" dirty="0"/>
          </a:p>
        </p:txBody>
      </p:sp>
      <p:sp>
        <p:nvSpPr>
          <p:cNvPr id="12" name="Shape 8"/>
          <p:cNvSpPr/>
          <p:nvPr/>
        </p:nvSpPr>
        <p:spPr>
          <a:xfrm>
            <a:off x="4525670" y="3120542"/>
            <a:ext cx="1823618" cy="371856"/>
          </a:xfrm>
          <a:prstGeom prst="roundRect">
            <a:avLst>
              <a:gd name="adj" fmla="val 12295"/>
            </a:avLst>
          </a:prstGeom>
          <a:solidFill>
            <a:srgbClr val="E6F3DA"/>
          </a:solidFill>
          <a:ln w="12700">
            <a:solidFill>
              <a:srgbClr val="FFFFFF">
                <a:alpha val="0"/>
              </a:srgbClr>
            </a:solidFill>
            <a:prstDash val="solid"/>
          </a:ln>
        </p:spPr>
      </p:sp>
      <p:sp>
        <p:nvSpPr>
          <p:cNvPr id="13" name="Text 9"/>
          <p:cNvSpPr txBox="1"/>
          <p:nvPr/>
        </p:nvSpPr>
        <p:spPr>
          <a:xfrm>
            <a:off x="4525670" y="3108350"/>
            <a:ext cx="1823618"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met groenten</a:t>
            </a:r>
            <a:endParaRPr lang="en-US" sz="2400" dirty="0"/>
          </a:p>
        </p:txBody>
      </p:sp>
      <p:sp>
        <p:nvSpPr>
          <p:cNvPr id="14" name="Text 10"/>
          <p:cNvSpPr txBox="1"/>
          <p:nvPr/>
        </p:nvSpPr>
        <p:spPr>
          <a:xfrm>
            <a:off x="6349289" y="3108350"/>
            <a:ext cx="259690"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a:t>
            </a:r>
            <a:endParaRPr lang="en-US" sz="2400" dirty="0"/>
          </a:p>
        </p:txBody>
      </p:sp>
      <p:sp>
        <p:nvSpPr>
          <p:cNvPr id="15" name="Shape 11"/>
          <p:cNvSpPr/>
          <p:nvPr/>
        </p:nvSpPr>
        <p:spPr>
          <a:xfrm>
            <a:off x="6513271" y="3120542"/>
            <a:ext cx="1563624" cy="371856"/>
          </a:xfrm>
          <a:prstGeom prst="roundRect">
            <a:avLst>
              <a:gd name="adj" fmla="val 12295"/>
            </a:avLst>
          </a:prstGeom>
          <a:solidFill>
            <a:srgbClr val="E6F3DA"/>
          </a:solidFill>
          <a:ln w="12700">
            <a:solidFill>
              <a:srgbClr val="FFFFFF">
                <a:alpha val="0"/>
              </a:srgbClr>
            </a:solidFill>
            <a:prstDash val="solid"/>
          </a:ln>
        </p:spPr>
      </p:sp>
      <p:sp>
        <p:nvSpPr>
          <p:cNvPr id="16" name="Text 12"/>
          <p:cNvSpPr txBox="1"/>
          <p:nvPr/>
        </p:nvSpPr>
        <p:spPr>
          <a:xfrm>
            <a:off x="6513271" y="3108350"/>
            <a:ext cx="1563624"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We drinken</a:t>
            </a:r>
            <a:endParaRPr lang="en-US" sz="2400" dirty="0"/>
          </a:p>
        </p:txBody>
      </p:sp>
      <p:sp>
        <p:nvSpPr>
          <p:cNvPr id="17" name="Text 13"/>
          <p:cNvSpPr txBox="1"/>
          <p:nvPr/>
        </p:nvSpPr>
        <p:spPr>
          <a:xfrm>
            <a:off x="8164068" y="3108350"/>
            <a:ext cx="3419246"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water en een beetje wijn.</a:t>
            </a:r>
            <a:endParaRPr lang="en-US" sz="2400" dirty="0"/>
          </a:p>
        </p:txBody>
      </p:sp>
      <p:sp>
        <p:nvSpPr>
          <p:cNvPr id="18" name="Shape 14"/>
          <p:cNvSpPr/>
          <p:nvPr/>
        </p:nvSpPr>
        <p:spPr>
          <a:xfrm>
            <a:off x="3523183" y="3044342"/>
            <a:ext cx="914" cy="76200"/>
          </a:xfrm>
          <a:prstGeom prst="line">
            <a:avLst/>
          </a:prstGeom>
          <a:noFill/>
          <a:ln w="15875">
            <a:solidFill>
              <a:srgbClr val="7AB648"/>
            </a:solidFill>
            <a:prstDash val="solid"/>
          </a:ln>
        </p:spPr>
      </p:sp>
      <p:sp>
        <p:nvSpPr>
          <p:cNvPr id="19" name="Shape 15"/>
          <p:cNvSpPr/>
          <p:nvPr/>
        </p:nvSpPr>
        <p:spPr>
          <a:xfrm>
            <a:off x="3169958" y="2797454"/>
            <a:ext cx="706450" cy="246888"/>
          </a:xfrm>
          <a:prstGeom prst="roundRect">
            <a:avLst>
              <a:gd name="adj" fmla="val 14815"/>
            </a:avLst>
          </a:prstGeom>
          <a:solidFill>
            <a:srgbClr val="7AB648"/>
          </a:solidFill>
          <a:ln w="12700">
            <a:solidFill>
              <a:srgbClr val="FFFFFF">
                <a:alpha val="0"/>
              </a:srgbClr>
            </a:solidFill>
            <a:prstDash val="solid"/>
          </a:ln>
        </p:spPr>
      </p:sp>
      <p:sp>
        <p:nvSpPr>
          <p:cNvPr id="20" name="Text 16"/>
          <p:cNvSpPr txBox="1"/>
          <p:nvPr/>
        </p:nvSpPr>
        <p:spPr>
          <a:xfrm>
            <a:off x="3169958" y="2797454"/>
            <a:ext cx="706450"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IK KOOK</a:t>
            </a:r>
            <a:endParaRPr lang="en-US" sz="1100" dirty="0"/>
          </a:p>
        </p:txBody>
      </p:sp>
      <p:sp>
        <p:nvSpPr>
          <p:cNvPr id="21" name="Shape 17"/>
          <p:cNvSpPr/>
          <p:nvPr/>
        </p:nvSpPr>
        <p:spPr>
          <a:xfrm>
            <a:off x="5437480" y="3044342"/>
            <a:ext cx="914" cy="76200"/>
          </a:xfrm>
          <a:prstGeom prst="line">
            <a:avLst/>
          </a:prstGeom>
          <a:noFill/>
          <a:ln w="15875">
            <a:solidFill>
              <a:srgbClr val="7AB648"/>
            </a:solidFill>
            <a:prstDash val="solid"/>
          </a:ln>
        </p:spPr>
      </p:sp>
      <p:sp>
        <p:nvSpPr>
          <p:cNvPr id="22" name="Shape 18"/>
          <p:cNvSpPr/>
          <p:nvPr/>
        </p:nvSpPr>
        <p:spPr>
          <a:xfrm>
            <a:off x="5198040" y="2797454"/>
            <a:ext cx="478879" cy="246888"/>
          </a:xfrm>
          <a:prstGeom prst="roundRect">
            <a:avLst>
              <a:gd name="adj" fmla="val 14815"/>
            </a:avLst>
          </a:prstGeom>
          <a:solidFill>
            <a:srgbClr val="7AB648"/>
          </a:solidFill>
          <a:ln w="12700">
            <a:solidFill>
              <a:srgbClr val="FFFFFF">
                <a:alpha val="0"/>
              </a:srgbClr>
            </a:solidFill>
            <a:prstDash val="solid"/>
          </a:ln>
        </p:spPr>
      </p:sp>
      <p:sp>
        <p:nvSpPr>
          <p:cNvPr id="23" name="Text 19"/>
          <p:cNvSpPr txBox="1"/>
          <p:nvPr/>
        </p:nvSpPr>
        <p:spPr>
          <a:xfrm>
            <a:off x="5198040" y="2797454"/>
            <a:ext cx="478879"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MET</a:t>
            </a:r>
            <a:endParaRPr lang="en-US" sz="1100" dirty="0"/>
          </a:p>
        </p:txBody>
      </p:sp>
      <p:sp>
        <p:nvSpPr>
          <p:cNvPr id="24" name="Shape 20"/>
          <p:cNvSpPr/>
          <p:nvPr/>
        </p:nvSpPr>
        <p:spPr>
          <a:xfrm>
            <a:off x="7295083" y="3044342"/>
            <a:ext cx="914" cy="76200"/>
          </a:xfrm>
          <a:prstGeom prst="line">
            <a:avLst/>
          </a:prstGeom>
          <a:noFill/>
          <a:ln w="15875">
            <a:solidFill>
              <a:srgbClr val="7AB648"/>
            </a:solidFill>
            <a:prstDash val="solid"/>
          </a:ln>
        </p:spPr>
      </p:sp>
      <p:sp>
        <p:nvSpPr>
          <p:cNvPr id="25" name="Shape 21"/>
          <p:cNvSpPr/>
          <p:nvPr/>
        </p:nvSpPr>
        <p:spPr>
          <a:xfrm>
            <a:off x="6805860" y="2797454"/>
            <a:ext cx="978446" cy="246888"/>
          </a:xfrm>
          <a:prstGeom prst="roundRect">
            <a:avLst>
              <a:gd name="adj" fmla="val 14815"/>
            </a:avLst>
          </a:prstGeom>
          <a:solidFill>
            <a:srgbClr val="7AB648"/>
          </a:solidFill>
          <a:ln w="12700">
            <a:solidFill>
              <a:srgbClr val="FFFFFF">
                <a:alpha val="0"/>
              </a:srgbClr>
            </a:solidFill>
            <a:prstDash val="solid"/>
          </a:ln>
        </p:spPr>
      </p:sp>
      <p:sp>
        <p:nvSpPr>
          <p:cNvPr id="26" name="Text 22"/>
          <p:cNvSpPr txBox="1"/>
          <p:nvPr/>
        </p:nvSpPr>
        <p:spPr>
          <a:xfrm>
            <a:off x="6805860" y="2797454"/>
            <a:ext cx="978446"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WE DRINKEN</a:t>
            </a:r>
            <a:endParaRPr lang="en-US" sz="1100" dirty="0"/>
          </a:p>
        </p:txBody>
      </p:sp>
      <p:sp>
        <p:nvSpPr>
          <p:cNvPr id="27" name="Text 23"/>
          <p:cNvSpPr txBox="1"/>
          <p:nvPr/>
        </p:nvSpPr>
        <p:spPr>
          <a:xfrm>
            <a:off x="3510991" y="4162958"/>
            <a:ext cx="2634082"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Oei, de vis is zwart:</a:t>
            </a:r>
            <a:endParaRPr lang="en-US" sz="2400" dirty="0"/>
          </a:p>
        </p:txBody>
      </p:sp>
      <p:sp>
        <p:nvSpPr>
          <p:cNvPr id="28" name="Shape 24"/>
          <p:cNvSpPr/>
          <p:nvPr/>
        </p:nvSpPr>
        <p:spPr>
          <a:xfrm>
            <a:off x="6049366" y="4175150"/>
            <a:ext cx="1440485" cy="371856"/>
          </a:xfrm>
          <a:prstGeom prst="roundRect">
            <a:avLst>
              <a:gd name="adj" fmla="val 12295"/>
            </a:avLst>
          </a:prstGeom>
          <a:solidFill>
            <a:srgbClr val="E6F3DA"/>
          </a:solidFill>
          <a:ln w="12700">
            <a:solidFill>
              <a:srgbClr val="FFFFFF">
                <a:alpha val="0"/>
              </a:srgbClr>
            </a:solidFill>
            <a:prstDash val="solid"/>
          </a:ln>
        </p:spPr>
      </p:sp>
      <p:sp>
        <p:nvSpPr>
          <p:cNvPr id="29" name="Text 25"/>
          <p:cNvSpPr txBox="1"/>
          <p:nvPr/>
        </p:nvSpPr>
        <p:spPr>
          <a:xfrm>
            <a:off x="6049366" y="4162958"/>
            <a:ext cx="1440485"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niet lekker</a:t>
            </a:r>
            <a:endParaRPr lang="en-US" sz="2400" dirty="0"/>
          </a:p>
        </p:txBody>
      </p:sp>
      <p:sp>
        <p:nvSpPr>
          <p:cNvPr id="30" name="Text 26"/>
          <p:cNvSpPr txBox="1"/>
          <p:nvPr/>
        </p:nvSpPr>
        <p:spPr>
          <a:xfrm>
            <a:off x="7489850" y="4162958"/>
            <a:ext cx="2577998"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 We eten frieten!</a:t>
            </a:r>
            <a:endParaRPr lang="en-US" sz="2400" dirty="0"/>
          </a:p>
        </p:txBody>
      </p:sp>
      <p:sp>
        <p:nvSpPr>
          <p:cNvPr id="31" name="Shape 27"/>
          <p:cNvSpPr/>
          <p:nvPr/>
        </p:nvSpPr>
        <p:spPr>
          <a:xfrm>
            <a:off x="6769608" y="4098950"/>
            <a:ext cx="914" cy="76200"/>
          </a:xfrm>
          <a:prstGeom prst="line">
            <a:avLst/>
          </a:prstGeom>
          <a:noFill/>
          <a:ln w="15875">
            <a:solidFill>
              <a:srgbClr val="7AB648"/>
            </a:solidFill>
            <a:prstDash val="solid"/>
          </a:ln>
        </p:spPr>
      </p:sp>
      <p:sp>
        <p:nvSpPr>
          <p:cNvPr id="32" name="Shape 28"/>
          <p:cNvSpPr/>
          <p:nvPr/>
        </p:nvSpPr>
        <p:spPr>
          <a:xfrm>
            <a:off x="6446418" y="3852062"/>
            <a:ext cx="646379" cy="246888"/>
          </a:xfrm>
          <a:prstGeom prst="roundRect">
            <a:avLst>
              <a:gd name="adj" fmla="val 14815"/>
            </a:avLst>
          </a:prstGeom>
          <a:solidFill>
            <a:srgbClr val="7AB648"/>
          </a:solidFill>
          <a:ln w="12700">
            <a:solidFill>
              <a:srgbClr val="FFFFFF">
                <a:alpha val="0"/>
              </a:srgbClr>
            </a:solidFill>
            <a:prstDash val="solid"/>
          </a:ln>
        </p:spPr>
      </p:sp>
      <p:sp>
        <p:nvSpPr>
          <p:cNvPr id="33" name="Text 29"/>
          <p:cNvSpPr txBox="1"/>
          <p:nvPr/>
        </p:nvSpPr>
        <p:spPr>
          <a:xfrm>
            <a:off x="6446418" y="3852062"/>
            <a:ext cx="646379"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LEKKER</a:t>
            </a:r>
            <a:endParaRPr lang="en-US" sz="1100" dirty="0"/>
          </a:p>
        </p:txBody>
      </p:sp>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91</a:t>
            </a:fld>
            <a:endParaRPr lang="en-US"/>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spTree>
      <p:nvGrpSpPr>
        <p:cNvPr id="1" name=""/>
        <p:cNvGrpSpPr/>
        <p:nvPr/>
      </p:nvGrpSpPr>
      <p:grpSpPr>
        <a:xfrm>
          <a:off x="0" y="0"/>
          <a:ext cx="0" cy="0"/>
          <a:chOff x="0" y="0"/>
          <a:chExt cx="0" cy="0"/>
        </a:xfrm>
      </p:grpSpPr>
      <p:sp>
        <p:nvSpPr>
          <p:cNvPr id="2" name="Text 1"/>
          <p:cNvSpPr/>
          <p:nvPr>
            <p:ph idx="101" type="title" hasCustomPrompt="1"/>
          </p:nvPr>
        </p:nvSpPr>
        <p:spPr>
          <a:xfrm>
            <a:off x="1554480" y="384048"/>
            <a:ext cx="10241280" cy="658368"/>
          </a:xfrm>
          <a:prstGeom prst="rect">
            <a:avLst/>
          </a:prstGeom>
          <a:noFill/>
          <a:ln/>
        </p:spPr>
        <p:txBody>
          <a:bodyPr wrap="square" lIns="0" tIns="0" rIns="0" bIns="0" rtlCol="0" anchor="ctr"/>
          <a:lstStyle/>
          <a:p>
            <a:pPr algn="ctr" indent="0" marL="0">
              <a:buNone/>
            </a:pPr>
            <a:r>
              <a:rPr lang="en-US" sz="3000" b="1" dirty="0">
                <a:solidFill>
                  <a:srgbClr val="2B2F38"/>
                </a:solidFill>
              </a:rPr>
              <a:t>Gebruik deze afbeelding als inspiratie</a:t>
            </a:r>
            <a:endParaRPr lang="en-US" sz="3000" dirty="0"/>
          </a:p>
        </p:txBody>
      </p:sp>
      <p:sp>
        <p:nvSpPr>
          <p:cNvPr id="4" name="Shape 1"/>
          <p:cNvSpPr/>
          <p:nvPr/>
        </p:nvSpPr>
        <p:spPr>
          <a:xfrm>
            <a:off x="365760" y="365760"/>
            <a:ext cx="868680" cy="5989320"/>
          </a:xfrm>
          <a:prstGeom prst="roundRect">
            <a:avLst>
              <a:gd name="adj" fmla="val 12632"/>
            </a:avLst>
          </a:prstGeom>
          <a:solidFill>
            <a:srgbClr val="FDF1E4"/>
          </a:solidFill>
          <a:ln w="28575">
            <a:solidFill>
              <a:srgbClr val="F0A15E"/>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B9661F"/>
                </a:solidFill>
                <a:latin typeface="Calibri" pitchFamily="34" charset="0"/>
                <a:ea typeface="Calibri" pitchFamily="34" charset="-122"/>
                <a:cs typeface="Calibri" pitchFamily="34" charset="-120"/>
              </a:rPr>
              <a:t>A1 · Vocabulaire</a:t>
            </a:r>
            <a:endParaRPr lang="en-US" sz="3800" dirty="0"/>
          </a:p>
        </p:txBody>
      </p:sp>
      <p:sp>
        <p:nvSpPr>
          <p:cNvPr id="6" name="Text 3"/>
          <p:cNvSpPr txBox="1"/>
          <p:nvPr/>
        </p:nvSpPr>
        <p:spPr>
          <a:xfrm>
            <a:off x="1554480" y="1024128"/>
            <a:ext cx="10241280" cy="365760"/>
          </a:xfrm>
          <a:prstGeom prst="rect">
            <a:avLst/>
          </a:prstGeom>
          <a:noFill/>
          <a:ln/>
        </p:spPr>
        <p:txBody>
          <a:bodyPr wrap="square" lIns="0" tIns="0" rIns="0" bIns="0" rtlCol="0" anchor="ctr"/>
          <a:lstStyle/>
          <a:p>
            <a:pPr algn="ctr" indent="0" marL="0">
              <a:buNone/>
            </a:pPr>
            <a:r>
              <a:rPr lang="en-US" sz="1500" b="1" dirty="0">
                <a:solidFill>
                  <a:srgbClr val="B9661F"/>
                </a:solidFill>
                <a:latin typeface="Calibri" pitchFamily="34" charset="0"/>
                <a:ea typeface="Calibri" pitchFamily="34" charset="-122"/>
                <a:cs typeface="Calibri" pitchFamily="34" charset="-120"/>
              </a:rPr>
              <a:t>29 · In de supermarkt</a:t>
            </a:r>
            <a:r>
              <a:rPr lang="en-US" sz="1500" i="1" dirty="0">
                <a:solidFill>
                  <a:srgbClr val="6B7280"/>
                </a:solidFill>
                <a:latin typeface="Calibri" pitchFamily="34" charset="0"/>
                <a:ea typeface="Calibri" pitchFamily="34" charset="-122"/>
                <a:cs typeface="Calibri" pitchFamily="34" charset="-120"/>
              </a:rPr>
              <a:t>   Au supermarché</a:t>
            </a:r>
            <a:r>
              <a:rPr lang="en-US" sz="1200" dirty="0">
                <a:solidFill>
                  <a:srgbClr val="9AA3B2"/>
                </a:solidFill>
                <a:latin typeface="Calibri" pitchFamily="34" charset="0"/>
                <a:ea typeface="Calibri" pitchFamily="34" charset="-122"/>
                <a:cs typeface="Calibri" pitchFamily="34" charset="-120"/>
              </a:rPr>
              <a:t>   ·   syllabus vocabulaire 05 · p. 82</a:t>
            </a:r>
            <a:endParaRPr lang="en-US" sz="1500" dirty="0"/>
          </a:p>
        </p:txBody>
      </p:sp>
      <p:sp>
        <p:nvSpPr>
          <p:cNvPr id="7" name="Shape 4"/>
          <p:cNvSpPr/>
          <p:nvPr/>
        </p:nvSpPr>
        <p:spPr>
          <a:xfrm>
            <a:off x="1596085" y="1504645"/>
            <a:ext cx="4534510" cy="2905735"/>
          </a:xfrm>
          <a:prstGeom prst="roundRect">
            <a:avLst>
              <a:gd name="adj" fmla="val 1259"/>
            </a:avLst>
          </a:prstGeom>
          <a:solidFill>
            <a:srgbClr val="FFFFFF"/>
          </a:solidFill>
          <a:ln w="9525">
            <a:solidFill>
              <a:srgbClr val="E3E7EE"/>
            </a:solidFill>
            <a:prstDash val="solid"/>
          </a:ln>
          <a:effectLst>
            <a:outerShdw sx="100000" sy="100000" kx="0" ky="0" algn="bl" rotWithShape="0" blurRad="127000" dist="50800" dir="5400000">
              <a:srgbClr val="1B2430">
                <a:alpha val="25000"/>
              </a:srgbClr>
            </a:outerShdw>
          </a:effectLst>
        </p:spPr>
      </p:sp>
      <p:pic>
        <p:nvPicPr>
          <p:cNvPr id="8" name="Image 0" descr="/home/user/talenleren/neerlandais1/generateur/img/vijfzinnen/a1_supermarkt_s.jpg">    </p:cNvPr>
          <p:cNvPicPr>
            <a:picLocks noChangeAspect="1"/>
          </p:cNvPicPr>
          <p:nvPr/>
        </p:nvPicPr>
        <p:blipFill>
          <a:blip r:embed="rId1"/>
          <a:stretch>
            <a:fillRect/>
          </a:stretch>
        </p:blipFill>
        <p:spPr>
          <a:xfrm>
            <a:off x="1691640" y="1600200"/>
            <a:ext cx="4343400" cy="2714625"/>
          </a:xfrm>
          <a:prstGeom prst="rect">
            <a:avLst/>
          </a:prstGeom>
        </p:spPr>
      </p:pic>
      <p:sp>
        <p:nvSpPr>
          <p:cNvPr id="9" name="Shape 5"/>
          <p:cNvSpPr/>
          <p:nvPr/>
        </p:nvSpPr>
        <p:spPr>
          <a:xfrm>
            <a:off x="1691640" y="4572000"/>
            <a:ext cx="1600200" cy="365760"/>
          </a:xfrm>
          <a:prstGeom prst="roundRect">
            <a:avLst>
              <a:gd name="adj" fmla="val 50000"/>
            </a:avLst>
          </a:prstGeom>
          <a:solidFill>
            <a:srgbClr val="FDF1E6"/>
          </a:solidFill>
          <a:ln w="12700">
            <a:solidFill>
              <a:srgbClr val="D9822B"/>
            </a:solidFill>
            <a:prstDash val="solid"/>
          </a:ln>
        </p:spPr>
      </p:sp>
      <p:pic>
        <p:nvPicPr>
          <p:cNvPr id="10" name="Image 1" descr="Comments">    </p:cNvPr>
          <p:cNvPicPr>
            <a:picLocks noChangeAspect="1"/>
          </p:cNvPicPr>
          <p:nvPr/>
        </p:nvPicPr>
        <p:blipFill>
          <a:blip r:embed="rId2"/>
          <a:stretch>
            <a:fillRect/>
          </a:stretch>
        </p:blipFill>
        <p:spPr>
          <a:xfrm>
            <a:off x="1819656" y="4654296"/>
            <a:ext cx="201168" cy="201168"/>
          </a:xfrm>
          <a:prstGeom prst="rect">
            <a:avLst/>
          </a:prstGeom>
        </p:spPr>
      </p:pic>
      <p:sp>
        <p:nvSpPr>
          <p:cNvPr id="11" name="Text 6"/>
          <p:cNvSpPr txBox="1"/>
          <p:nvPr/>
        </p:nvSpPr>
        <p:spPr>
          <a:xfrm>
            <a:off x="2075688" y="4572000"/>
            <a:ext cx="1143000" cy="365760"/>
          </a:xfrm>
          <a:prstGeom prst="rect">
            <a:avLst/>
          </a:prstGeom>
          <a:noFill/>
          <a:ln/>
        </p:spPr>
        <p:txBody>
          <a:bodyPr wrap="square" lIns="0" tIns="0" rIns="0" bIns="0" rtlCol="0" anchor="ctr"/>
          <a:lstStyle/>
          <a:p>
            <a:pPr algn="l" indent="0" marL="0">
              <a:buNone/>
            </a:pPr>
            <a:r>
              <a:rPr lang="en-US" sz="1150" b="1" spc="100" kern="0" dirty="0">
                <a:solidFill>
                  <a:srgbClr val="D9822B"/>
                </a:solidFill>
                <a:latin typeface="Calibri" pitchFamily="34" charset="0"/>
                <a:ea typeface="Calibri" pitchFamily="34" charset="-122"/>
                <a:cs typeface="Calibri" pitchFamily="34" charset="-120"/>
              </a:rPr>
              <a:t>À L’ORAL</a:t>
            </a:r>
            <a:endParaRPr lang="en-US" sz="1150" dirty="0"/>
          </a:p>
        </p:txBody>
      </p:sp>
      <p:sp>
        <p:nvSpPr>
          <p:cNvPr id="12" name="Text 7"/>
          <p:cNvSpPr txBox="1"/>
          <p:nvPr/>
        </p:nvSpPr>
        <p:spPr>
          <a:xfrm>
            <a:off x="3429000" y="4544568"/>
            <a:ext cx="2651760" cy="731520"/>
          </a:xfrm>
          <a:prstGeom prst="rect">
            <a:avLst/>
          </a:prstGeom>
          <a:noFill/>
          <a:ln/>
        </p:spPr>
        <p:txBody>
          <a:bodyPr wrap="square" lIns="0" tIns="0" rIns="0" bIns="0" rtlCol="0" anchor="t"/>
          <a:lstStyle/>
          <a:p>
            <a:pPr algn="l" indent="0" marL="0">
              <a:buNone/>
            </a:pPr>
            <a:r>
              <a:rPr lang="en-US" sz="1150" i="1" dirty="0">
                <a:solidFill>
                  <a:srgbClr val="6B7280"/>
                </a:solidFill>
                <a:latin typeface="Calibri" pitchFamily="34" charset="0"/>
                <a:ea typeface="Calibri" pitchFamily="34" charset="-122"/>
                <a:cs typeface="Calibri" pitchFamily="34" charset="-120"/>
              </a:rPr>
              <a:t>Vous faites les courses de la semaine. Au moment de payer…</a:t>
            </a:r>
            <a:endParaRPr lang="en-US" sz="1150" dirty="0"/>
          </a:p>
        </p:txBody>
      </p:sp>
      <p:sp>
        <p:nvSpPr>
          <p:cNvPr id="13" name="Shape 8"/>
          <p:cNvSpPr/>
          <p:nvPr/>
        </p:nvSpPr>
        <p:spPr>
          <a:xfrm>
            <a:off x="6355080" y="1673352"/>
            <a:ext cx="914400" cy="402336"/>
          </a:xfrm>
          <a:prstGeom prst="roundRect">
            <a:avLst>
              <a:gd name="adj" fmla="val 13636"/>
            </a:avLst>
          </a:prstGeom>
          <a:solidFill>
            <a:srgbClr val="5FA873"/>
          </a:solidFill>
          <a:ln w="12700">
            <a:solidFill>
              <a:srgbClr val="FFFFFF">
                <a:alpha val="0"/>
              </a:srgbClr>
            </a:solidFill>
            <a:prstDash val="solid"/>
          </a:ln>
        </p:spPr>
      </p:sp>
      <p:sp>
        <p:nvSpPr>
          <p:cNvPr id="14" name="Text 9"/>
          <p:cNvSpPr txBox="1"/>
          <p:nvPr/>
        </p:nvSpPr>
        <p:spPr>
          <a:xfrm>
            <a:off x="6355080" y="167335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1</a:t>
            </a:r>
            <a:endParaRPr lang="en-US" sz="1600" dirty="0"/>
          </a:p>
        </p:txBody>
      </p:sp>
      <p:sp>
        <p:nvSpPr>
          <p:cNvPr id="15" name="Text 10"/>
          <p:cNvSpPr txBox="1"/>
          <p:nvPr/>
        </p:nvSpPr>
        <p:spPr>
          <a:xfrm>
            <a:off x="7406640" y="1618488"/>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Ce que vous achetez : </a:t>
            </a:r>
            <a:r>
              <a:rPr lang="en-US" sz="1450" b="1" dirty="0">
                <a:solidFill>
                  <a:srgbClr val="2B2F38"/>
                </a:solidFill>
              </a:rPr>
              <a:t>IK KOOP</a:t>
            </a:r>
            <a:r>
              <a:rPr lang="en-US" sz="1450" dirty="0">
                <a:solidFill>
                  <a:srgbClr val="2B2F38"/>
                </a:solidFill>
              </a:rPr>
              <a:t> …</a:t>
            </a:r>
            <a:endParaRPr lang="en-US" sz="1450" dirty="0"/>
          </a:p>
        </p:txBody>
      </p:sp>
      <p:sp>
        <p:nvSpPr>
          <p:cNvPr id="16" name="Shape 11"/>
          <p:cNvSpPr/>
          <p:nvPr/>
        </p:nvSpPr>
        <p:spPr>
          <a:xfrm>
            <a:off x="6355080" y="2404872"/>
            <a:ext cx="914400" cy="402336"/>
          </a:xfrm>
          <a:prstGeom prst="roundRect">
            <a:avLst>
              <a:gd name="adj" fmla="val 13636"/>
            </a:avLst>
          </a:prstGeom>
          <a:solidFill>
            <a:srgbClr val="5FA873"/>
          </a:solidFill>
          <a:ln w="12700">
            <a:solidFill>
              <a:srgbClr val="FFFFFF">
                <a:alpha val="0"/>
              </a:srgbClr>
            </a:solidFill>
            <a:prstDash val="solid"/>
          </a:ln>
        </p:spPr>
      </p:sp>
      <p:sp>
        <p:nvSpPr>
          <p:cNvPr id="17" name="Text 12"/>
          <p:cNvSpPr txBox="1"/>
          <p:nvPr/>
        </p:nvSpPr>
        <p:spPr>
          <a:xfrm>
            <a:off x="6355080" y="240487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2</a:t>
            </a:r>
            <a:endParaRPr lang="en-US" sz="1600" dirty="0"/>
          </a:p>
        </p:txBody>
      </p:sp>
      <p:sp>
        <p:nvSpPr>
          <p:cNvPr id="18" name="Text 13"/>
          <p:cNvSpPr txBox="1"/>
          <p:nvPr/>
        </p:nvSpPr>
        <p:spPr>
          <a:xfrm>
            <a:off x="7406640" y="2350008"/>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Où vous allez : </a:t>
            </a:r>
            <a:r>
              <a:rPr lang="en-US" sz="1450" b="1" dirty="0">
                <a:solidFill>
                  <a:srgbClr val="2B2F38"/>
                </a:solidFill>
              </a:rPr>
              <a:t>NAAR DE KASSA</a:t>
            </a:r>
            <a:r>
              <a:rPr lang="en-US" sz="1450" dirty="0">
                <a:solidFill>
                  <a:srgbClr val="2B2F38"/>
                </a:solidFill>
              </a:rPr>
              <a:t>.</a:t>
            </a:r>
            <a:endParaRPr lang="en-US" sz="1450" dirty="0"/>
          </a:p>
        </p:txBody>
      </p:sp>
      <p:sp>
        <p:nvSpPr>
          <p:cNvPr id="19" name="Shape 14"/>
          <p:cNvSpPr/>
          <p:nvPr/>
        </p:nvSpPr>
        <p:spPr>
          <a:xfrm>
            <a:off x="6355080" y="3136392"/>
            <a:ext cx="914400" cy="402336"/>
          </a:xfrm>
          <a:prstGeom prst="roundRect">
            <a:avLst>
              <a:gd name="adj" fmla="val 13636"/>
            </a:avLst>
          </a:prstGeom>
          <a:solidFill>
            <a:srgbClr val="5FA873"/>
          </a:solidFill>
          <a:ln w="12700">
            <a:solidFill>
              <a:srgbClr val="FFFFFF">
                <a:alpha val="0"/>
              </a:srgbClr>
            </a:solidFill>
            <a:prstDash val="solid"/>
          </a:ln>
        </p:spPr>
      </p:sp>
      <p:sp>
        <p:nvSpPr>
          <p:cNvPr id="20" name="Text 15"/>
          <p:cNvSpPr txBox="1"/>
          <p:nvPr/>
        </p:nvSpPr>
        <p:spPr>
          <a:xfrm>
            <a:off x="6355080" y="313639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3</a:t>
            </a:r>
            <a:endParaRPr lang="en-US" sz="1600" dirty="0"/>
          </a:p>
        </p:txBody>
      </p:sp>
      <p:sp>
        <p:nvSpPr>
          <p:cNvPr id="21" name="Text 16"/>
          <p:cNvSpPr txBox="1"/>
          <p:nvPr/>
        </p:nvSpPr>
        <p:spPr>
          <a:xfrm>
            <a:off x="7406640" y="3081528"/>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Le prix : </a:t>
            </a:r>
            <a:r>
              <a:rPr lang="en-US" sz="1450" b="1" dirty="0">
                <a:solidFill>
                  <a:srgbClr val="2B2F38"/>
                </a:solidFill>
              </a:rPr>
              <a:t>HET KOST</a:t>
            </a:r>
            <a:r>
              <a:rPr lang="en-US" sz="1450" dirty="0">
                <a:solidFill>
                  <a:srgbClr val="2B2F38"/>
                </a:solidFill>
              </a:rPr>
              <a:t> … euro.</a:t>
            </a:r>
            <a:endParaRPr lang="en-US" sz="1450" dirty="0"/>
          </a:p>
        </p:txBody>
      </p:sp>
      <p:sp>
        <p:nvSpPr>
          <p:cNvPr id="22" name="Shape 17"/>
          <p:cNvSpPr/>
          <p:nvPr/>
        </p:nvSpPr>
        <p:spPr>
          <a:xfrm>
            <a:off x="6355080" y="3867912"/>
            <a:ext cx="914400" cy="402336"/>
          </a:xfrm>
          <a:prstGeom prst="roundRect">
            <a:avLst>
              <a:gd name="adj" fmla="val 13636"/>
            </a:avLst>
          </a:prstGeom>
          <a:solidFill>
            <a:srgbClr val="5FA873"/>
          </a:solidFill>
          <a:ln w="12700">
            <a:solidFill>
              <a:srgbClr val="FFFFFF">
                <a:alpha val="0"/>
              </a:srgbClr>
            </a:solidFill>
            <a:prstDash val="solid"/>
          </a:ln>
        </p:spPr>
      </p:sp>
      <p:sp>
        <p:nvSpPr>
          <p:cNvPr id="23" name="Text 18"/>
          <p:cNvSpPr txBox="1"/>
          <p:nvPr/>
        </p:nvSpPr>
        <p:spPr>
          <a:xfrm>
            <a:off x="6355080" y="386791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4</a:t>
            </a:r>
            <a:endParaRPr lang="en-US" sz="1600" dirty="0"/>
          </a:p>
        </p:txBody>
      </p:sp>
      <p:sp>
        <p:nvSpPr>
          <p:cNvPr id="24" name="Text 19"/>
          <p:cNvSpPr txBox="1"/>
          <p:nvPr/>
        </p:nvSpPr>
        <p:spPr>
          <a:xfrm>
            <a:off x="7406640" y="3813048"/>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Une chute avec </a:t>
            </a:r>
            <a:r>
              <a:rPr lang="en-US" sz="1450" b="1" dirty="0">
                <a:solidFill>
                  <a:srgbClr val="2B2F38"/>
                </a:solidFill>
              </a:rPr>
              <a:t>HET KASTICKET</a:t>
            </a:r>
            <a:r>
              <a:rPr lang="en-US" sz="1450" dirty="0">
                <a:solidFill>
                  <a:srgbClr val="2B2F38"/>
                </a:solidFill>
              </a:rPr>
              <a:t>.</a:t>
            </a:r>
            <a:endParaRPr lang="en-US" sz="1450" dirty="0"/>
          </a:p>
        </p:txBody>
      </p:sp>
      <p:sp>
        <p:nvSpPr>
          <p:cNvPr id="25" name="Shape 20"/>
          <p:cNvSpPr/>
          <p:nvPr/>
        </p:nvSpPr>
        <p:spPr>
          <a:xfrm>
            <a:off x="3246120" y="5440680"/>
            <a:ext cx="6858000" cy="822960"/>
          </a:xfrm>
          <a:prstGeom prst="roundRect">
            <a:avLst>
              <a:gd name="adj" fmla="val 17778"/>
            </a:avLst>
          </a:prstGeom>
          <a:solidFill>
            <a:srgbClr val="EAF5EC"/>
          </a:solidFill>
          <a:ln w="15875">
            <a:solidFill>
              <a:srgbClr val="5FA873"/>
            </a:solidFill>
            <a:prstDash val="solid"/>
          </a:ln>
        </p:spPr>
      </p:sp>
      <p:pic>
        <p:nvPicPr>
          <p:cNvPr id="26" name="Image 2" descr="UserFriends">    </p:cNvPr>
          <p:cNvPicPr>
            <a:picLocks noChangeAspect="1"/>
          </p:cNvPicPr>
          <p:nvPr/>
        </p:nvPicPr>
        <p:blipFill>
          <a:blip r:embed="rId3"/>
          <a:stretch>
            <a:fillRect/>
          </a:stretch>
        </p:blipFill>
        <p:spPr>
          <a:xfrm>
            <a:off x="3520440" y="5660136"/>
            <a:ext cx="384048" cy="384048"/>
          </a:xfrm>
          <a:prstGeom prst="rect">
            <a:avLst/>
          </a:prstGeom>
        </p:spPr>
      </p:pic>
      <p:sp>
        <p:nvSpPr>
          <p:cNvPr id="27" name="Text 21"/>
          <p:cNvSpPr txBox="1"/>
          <p:nvPr/>
        </p:nvSpPr>
        <p:spPr>
          <a:xfrm>
            <a:off x="4114800" y="5440680"/>
            <a:ext cx="5852160" cy="822960"/>
          </a:xfrm>
          <a:prstGeom prst="rect">
            <a:avLst/>
          </a:prstGeom>
          <a:noFill/>
          <a:ln/>
        </p:spPr>
        <p:txBody>
          <a:bodyPr wrap="square" lIns="0" tIns="0" rIns="0" bIns="0" rtlCol="0" anchor="ctr"/>
          <a:lstStyle/>
          <a:p>
            <a:pPr algn="ctr" indent="0" marL="0">
              <a:buNone/>
            </a:pPr>
            <a:r>
              <a:rPr lang="en-US" sz="1800" b="1" dirty="0">
                <a:solidFill>
                  <a:srgbClr val="2E6B44"/>
                </a:solidFill>
                <a:latin typeface="Calibri" pitchFamily="34" charset="0"/>
                <a:ea typeface="Calibri" pitchFamily="34" charset="-122"/>
                <a:cs typeface="Calibri" pitchFamily="34" charset="-120"/>
              </a:rPr>
              <a:t>Vertel je verhaal aan je partner.</a:t>
            </a:r>
            <a:endParaRPr lang="en-US" sz="1800" dirty="0"/>
          </a:p>
          <a:p>
            <a:pPr algn="ctr" indent="0" marL="0">
              <a:buNone/>
            </a:pPr>
            <a:r>
              <a:rPr lang="en-US" sz="1800" b="1" dirty="0">
                <a:solidFill>
                  <a:srgbClr val="2E6B44"/>
                </a:solidFill>
                <a:latin typeface="Calibri" pitchFamily="34" charset="0"/>
                <a:ea typeface="Calibri" pitchFamily="34" charset="-122"/>
                <a:cs typeface="Calibri" pitchFamily="34" charset="-120"/>
              </a:rPr>
              <a:t>Wat denkt hij/zij daarvan?</a:t>
            </a:r>
            <a:endParaRPr lang="en-US" sz="1800" dirty="0"/>
          </a:p>
        </p:txBody>
      </p:sp>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92</a:t>
            </a:fld>
            <a:endParaRPr lang="en-US"/>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spTree>
      <p:nvGrpSpPr>
        <p:cNvPr id="1" name=""/>
        <p:cNvGrpSpPr/>
        <p:nvPr/>
      </p:nvGrpSpPr>
      <p:grpSpPr>
        <a:xfrm>
          <a:off x="0" y="0"/>
          <a:ext cx="0" cy="0"/>
          <a:chOff x="0" y="0"/>
          <a:chExt cx="0" cy="0"/>
        </a:xfrm>
      </p:grpSpPr>
      <p:sp>
        <p:nvSpPr>
          <p:cNvPr id="2" name="Text 1"/>
          <p:cNvSpPr/>
          <p:nvPr>
            <p:ph idx="101" type="title" hasCustomPrompt="1"/>
          </p:nvPr>
        </p:nvSpPr>
        <p:spPr>
          <a:xfrm>
            <a:off x="1554480" y="384048"/>
            <a:ext cx="10241280" cy="658368"/>
          </a:xfrm>
          <a:prstGeom prst="rect">
            <a:avLst/>
          </a:prstGeom>
          <a:noFill/>
          <a:ln/>
        </p:spPr>
        <p:txBody>
          <a:bodyPr wrap="square" lIns="0" tIns="0" rIns="0" bIns="0" rtlCol="0" anchor="ctr"/>
          <a:lstStyle/>
          <a:p>
            <a:pPr algn="ctr" indent="0" marL="0">
              <a:buNone/>
            </a:pPr>
            <a:r>
              <a:rPr lang="en-US" sz="3000" b="1" dirty="0">
                <a:solidFill>
                  <a:srgbClr val="2B2F38"/>
                </a:solidFill>
              </a:rPr>
              <a:t>In de supermarkt</a:t>
            </a:r>
            <a:endParaRPr lang="en-US" sz="3000" dirty="0"/>
          </a:p>
        </p:txBody>
      </p:sp>
      <p:sp>
        <p:nvSpPr>
          <p:cNvPr id="4" name="Shape 1"/>
          <p:cNvSpPr/>
          <p:nvPr/>
        </p:nvSpPr>
        <p:spPr>
          <a:xfrm>
            <a:off x="365760" y="365760"/>
            <a:ext cx="868680" cy="5989320"/>
          </a:xfrm>
          <a:prstGeom prst="roundRect">
            <a:avLst>
              <a:gd name="adj" fmla="val 12632"/>
            </a:avLst>
          </a:prstGeom>
          <a:solidFill>
            <a:srgbClr val="FDF1E4"/>
          </a:solidFill>
          <a:ln w="28575">
            <a:solidFill>
              <a:srgbClr val="F0A15E"/>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B9661F"/>
                </a:solidFill>
                <a:latin typeface="Calibri" pitchFamily="34" charset="0"/>
                <a:ea typeface="Calibri" pitchFamily="34" charset="-122"/>
                <a:cs typeface="Calibri" pitchFamily="34" charset="-120"/>
              </a:rPr>
              <a:t>A1 · Vocabulaire</a:t>
            </a:r>
            <a:endParaRPr lang="en-US" sz="3800" dirty="0"/>
          </a:p>
        </p:txBody>
      </p:sp>
      <p:sp>
        <p:nvSpPr>
          <p:cNvPr id="6" name="Shape 3"/>
          <p:cNvSpPr/>
          <p:nvPr/>
        </p:nvSpPr>
        <p:spPr>
          <a:xfrm>
            <a:off x="2519172" y="1124712"/>
            <a:ext cx="8311896" cy="5277231"/>
          </a:xfrm>
          <a:prstGeom prst="roundRect">
            <a:avLst>
              <a:gd name="adj" fmla="val 693"/>
            </a:avLst>
          </a:prstGeom>
          <a:solidFill>
            <a:srgbClr val="FFFFFF"/>
          </a:solidFill>
          <a:ln w="9525">
            <a:solidFill>
              <a:srgbClr val="E3E7EE"/>
            </a:solidFill>
            <a:prstDash val="solid"/>
          </a:ln>
          <a:effectLst>
            <a:outerShdw sx="100000" sy="100000" kx="0" ky="0" algn="bl" rotWithShape="0" blurRad="177800" dist="63500" dir="5400000">
              <a:srgbClr val="1B2430">
                <a:alpha val="25000"/>
              </a:srgbClr>
            </a:outerShdw>
          </a:effectLst>
        </p:spPr>
      </p:sp>
      <p:pic>
        <p:nvPicPr>
          <p:cNvPr id="7" name="Image 0" descr="/home/user/talenleren/neerlandais1/generateur/img/vijfzinnen/a1_supermarkt.jpg">    </p:cNvPr>
          <p:cNvPicPr>
            <a:picLocks noChangeAspect="1"/>
          </p:cNvPicPr>
          <p:nvPr/>
        </p:nvPicPr>
        <p:blipFill>
          <a:blip r:embed="rId1"/>
          <a:stretch>
            <a:fillRect/>
          </a:stretch>
        </p:blipFill>
        <p:spPr>
          <a:xfrm>
            <a:off x="2628900" y="1234440"/>
            <a:ext cx="8092440" cy="5057775"/>
          </a:xfrm>
          <a:prstGeom prst="rect">
            <a:avLst/>
          </a:prstGeom>
        </p:spPr>
      </p:pic>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93</a:t>
            </a:fld>
            <a:endParaRPr lang="en-US"/>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spTree>
      <p:nvGrpSpPr>
        <p:cNvPr id="1" name=""/>
        <p:cNvGrpSpPr/>
        <p:nvPr/>
      </p:nvGrpSpPr>
      <p:grpSpPr>
        <a:xfrm>
          <a:off x="0" y="0"/>
          <a:ext cx="0" cy="0"/>
          <a:chOff x="0" y="0"/>
          <a:chExt cx="0" cy="0"/>
        </a:xfrm>
      </p:grpSpPr>
      <p:sp>
        <p:nvSpPr>
          <p:cNvPr id="2" name="Text 1"/>
          <p:cNvSpPr/>
          <p:nvPr>
            <p:ph idx="101" type="title" hasCustomPrompt="1"/>
          </p:nvPr>
        </p:nvSpPr>
        <p:spPr>
          <a:xfrm>
            <a:off x="1691640" y="347472"/>
            <a:ext cx="8138160" cy="914400"/>
          </a:xfrm>
          <a:prstGeom prst="rect">
            <a:avLst/>
          </a:prstGeom>
          <a:noFill/>
          <a:ln/>
        </p:spPr>
        <p:txBody>
          <a:bodyPr wrap="square" lIns="0" tIns="0" rIns="0" bIns="0" rtlCol="0" anchor="ctr"/>
          <a:lstStyle/>
          <a:p>
            <a:pPr algn="l" indent="0" marL="0">
              <a:buNone/>
            </a:pPr>
            <a:r>
              <a:rPr lang="en-US" sz="2400" b="1" dirty="0">
                <a:solidFill>
                  <a:srgbClr val="2B2F38"/>
                </a:solidFill>
              </a:rPr>
              <a:t>Hier is een voorbeeld van wat je had kunnen denken en zeggen…</a:t>
            </a:r>
            <a:endParaRPr lang="en-US" sz="2400" dirty="0"/>
          </a:p>
        </p:txBody>
      </p:sp>
      <p:sp>
        <p:nvSpPr>
          <p:cNvPr id="4" name="Shape 1"/>
          <p:cNvSpPr/>
          <p:nvPr/>
        </p:nvSpPr>
        <p:spPr>
          <a:xfrm>
            <a:off x="365760" y="365760"/>
            <a:ext cx="868680" cy="5989320"/>
          </a:xfrm>
          <a:prstGeom prst="roundRect">
            <a:avLst>
              <a:gd name="adj" fmla="val 12632"/>
            </a:avLst>
          </a:prstGeom>
          <a:solidFill>
            <a:srgbClr val="FDF1E4"/>
          </a:solidFill>
          <a:ln w="28575">
            <a:solidFill>
              <a:srgbClr val="F0A15E"/>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B9661F"/>
                </a:solidFill>
                <a:latin typeface="Calibri" pitchFamily="34" charset="0"/>
                <a:ea typeface="Calibri" pitchFamily="34" charset="-122"/>
                <a:cs typeface="Calibri" pitchFamily="34" charset="-120"/>
              </a:rPr>
              <a:t>A1 · Vocabulaire</a:t>
            </a:r>
            <a:endParaRPr lang="en-US" sz="3800" dirty="0"/>
          </a:p>
        </p:txBody>
      </p:sp>
      <p:sp>
        <p:nvSpPr>
          <p:cNvPr id="6" name="Shape 3"/>
          <p:cNvSpPr/>
          <p:nvPr/>
        </p:nvSpPr>
        <p:spPr>
          <a:xfrm>
            <a:off x="10058400" y="246888"/>
            <a:ext cx="1691640" cy="1091565"/>
          </a:xfrm>
          <a:prstGeom prst="roundRect">
            <a:avLst>
              <a:gd name="adj" fmla="val 3351"/>
            </a:avLst>
          </a:prstGeom>
          <a:solidFill>
            <a:srgbClr val="FFFFFF"/>
          </a:solidFill>
          <a:ln w="9525">
            <a:solidFill>
              <a:srgbClr val="E3E7EE"/>
            </a:solidFill>
            <a:prstDash val="solid"/>
          </a:ln>
          <a:effectLst>
            <a:outerShdw sx="100000" sy="100000" kx="0" ky="0" algn="bl" rotWithShape="0" blurRad="76200" dist="25400" dir="5400000">
              <a:srgbClr val="1B2430">
                <a:alpha val="25000"/>
              </a:srgbClr>
            </a:outerShdw>
          </a:effectLst>
        </p:spPr>
      </p:sp>
      <p:pic>
        <p:nvPicPr>
          <p:cNvPr id="7" name="Image 0" descr="/home/user/talenleren/neerlandais1/generateur/img/vijfzinnen/a1_supermarkt_s.jpg">    </p:cNvPr>
          <p:cNvPicPr>
            <a:picLocks noChangeAspect="1"/>
          </p:cNvPicPr>
          <p:nvPr/>
        </p:nvPicPr>
        <p:blipFill>
          <a:blip r:embed="rId1"/>
          <a:stretch>
            <a:fillRect/>
          </a:stretch>
        </p:blipFill>
        <p:spPr>
          <a:xfrm>
            <a:off x="10104120" y="292608"/>
            <a:ext cx="1600200" cy="1000125"/>
          </a:xfrm>
          <a:prstGeom prst="rect">
            <a:avLst/>
          </a:prstGeom>
        </p:spPr>
      </p:pic>
      <p:sp>
        <p:nvSpPr>
          <p:cNvPr id="8" name="Shape 4"/>
          <p:cNvSpPr/>
          <p:nvPr/>
        </p:nvSpPr>
        <p:spPr>
          <a:xfrm>
            <a:off x="1691640" y="2779166"/>
            <a:ext cx="1025957" cy="371856"/>
          </a:xfrm>
          <a:prstGeom prst="roundRect">
            <a:avLst>
              <a:gd name="adj" fmla="val 12295"/>
            </a:avLst>
          </a:prstGeom>
          <a:solidFill>
            <a:srgbClr val="E6F3DA"/>
          </a:solidFill>
          <a:ln w="12700">
            <a:solidFill>
              <a:srgbClr val="FFFFFF">
                <a:alpha val="0"/>
              </a:srgbClr>
            </a:solidFill>
            <a:prstDash val="solid"/>
          </a:ln>
        </p:spPr>
      </p:sp>
      <p:sp>
        <p:nvSpPr>
          <p:cNvPr id="9" name="Text 5"/>
          <p:cNvSpPr txBox="1"/>
          <p:nvPr/>
        </p:nvSpPr>
        <p:spPr>
          <a:xfrm>
            <a:off x="1691640" y="2766974"/>
            <a:ext cx="1025957"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Ik koop</a:t>
            </a:r>
            <a:endParaRPr lang="en-US" sz="2400" dirty="0"/>
          </a:p>
        </p:txBody>
      </p:sp>
      <p:sp>
        <p:nvSpPr>
          <p:cNvPr id="10" name="Text 6"/>
          <p:cNvSpPr txBox="1"/>
          <p:nvPr/>
        </p:nvSpPr>
        <p:spPr>
          <a:xfrm>
            <a:off x="2804770" y="2766974"/>
            <a:ext cx="7181088"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een fles water, melk en drie blikken tomaten. Dan ga ik</a:t>
            </a:r>
            <a:endParaRPr lang="en-US" sz="2400" dirty="0"/>
          </a:p>
        </p:txBody>
      </p:sp>
      <p:sp>
        <p:nvSpPr>
          <p:cNvPr id="11" name="Shape 7"/>
          <p:cNvSpPr/>
          <p:nvPr/>
        </p:nvSpPr>
        <p:spPr>
          <a:xfrm>
            <a:off x="9890150" y="2779166"/>
            <a:ext cx="1809902" cy="371856"/>
          </a:xfrm>
          <a:prstGeom prst="roundRect">
            <a:avLst>
              <a:gd name="adj" fmla="val 12295"/>
            </a:avLst>
          </a:prstGeom>
          <a:solidFill>
            <a:srgbClr val="E6F3DA"/>
          </a:solidFill>
          <a:ln w="12700">
            <a:solidFill>
              <a:srgbClr val="FFFFFF">
                <a:alpha val="0"/>
              </a:srgbClr>
            </a:solidFill>
            <a:prstDash val="solid"/>
          </a:ln>
        </p:spPr>
      </p:sp>
      <p:sp>
        <p:nvSpPr>
          <p:cNvPr id="12" name="Text 8"/>
          <p:cNvSpPr txBox="1"/>
          <p:nvPr/>
        </p:nvSpPr>
        <p:spPr>
          <a:xfrm>
            <a:off x="9890150" y="2766974"/>
            <a:ext cx="1809902"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naar de kassa</a:t>
            </a:r>
            <a:endParaRPr lang="en-US" sz="2400" dirty="0"/>
          </a:p>
        </p:txBody>
      </p:sp>
      <p:sp>
        <p:nvSpPr>
          <p:cNvPr id="13" name="Text 9"/>
          <p:cNvSpPr txBox="1"/>
          <p:nvPr/>
        </p:nvSpPr>
        <p:spPr>
          <a:xfrm>
            <a:off x="11700053" y="2766974"/>
            <a:ext cx="259690"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a:t>
            </a:r>
            <a:endParaRPr lang="en-US" sz="2400" dirty="0"/>
          </a:p>
        </p:txBody>
      </p:sp>
      <p:sp>
        <p:nvSpPr>
          <p:cNvPr id="14" name="Shape 10"/>
          <p:cNvSpPr/>
          <p:nvPr/>
        </p:nvSpPr>
        <p:spPr>
          <a:xfrm>
            <a:off x="2204618" y="2702966"/>
            <a:ext cx="914" cy="76200"/>
          </a:xfrm>
          <a:prstGeom prst="line">
            <a:avLst/>
          </a:prstGeom>
          <a:noFill/>
          <a:ln w="15875">
            <a:solidFill>
              <a:srgbClr val="7AB648"/>
            </a:solidFill>
            <a:prstDash val="solid"/>
          </a:ln>
        </p:spPr>
      </p:sp>
      <p:sp>
        <p:nvSpPr>
          <p:cNvPr id="15" name="Shape 11"/>
          <p:cNvSpPr/>
          <p:nvPr/>
        </p:nvSpPr>
        <p:spPr>
          <a:xfrm>
            <a:off x="1852441" y="2456078"/>
            <a:ext cx="704355" cy="246888"/>
          </a:xfrm>
          <a:prstGeom prst="roundRect">
            <a:avLst>
              <a:gd name="adj" fmla="val 14815"/>
            </a:avLst>
          </a:prstGeom>
          <a:solidFill>
            <a:srgbClr val="7AB648"/>
          </a:solidFill>
          <a:ln w="12700">
            <a:solidFill>
              <a:srgbClr val="FFFFFF">
                <a:alpha val="0"/>
              </a:srgbClr>
            </a:solidFill>
            <a:prstDash val="solid"/>
          </a:ln>
        </p:spPr>
      </p:sp>
      <p:sp>
        <p:nvSpPr>
          <p:cNvPr id="16" name="Text 12"/>
          <p:cNvSpPr txBox="1"/>
          <p:nvPr/>
        </p:nvSpPr>
        <p:spPr>
          <a:xfrm>
            <a:off x="1852441" y="2456078"/>
            <a:ext cx="704355"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IK KOOP</a:t>
            </a:r>
            <a:endParaRPr lang="en-US" sz="1100" dirty="0"/>
          </a:p>
        </p:txBody>
      </p:sp>
      <p:sp>
        <p:nvSpPr>
          <p:cNvPr id="17" name="Shape 13"/>
          <p:cNvSpPr/>
          <p:nvPr/>
        </p:nvSpPr>
        <p:spPr>
          <a:xfrm>
            <a:off x="10795102" y="2702966"/>
            <a:ext cx="914" cy="76200"/>
          </a:xfrm>
          <a:prstGeom prst="line">
            <a:avLst/>
          </a:prstGeom>
          <a:noFill/>
          <a:ln w="15875">
            <a:solidFill>
              <a:srgbClr val="7AB648"/>
            </a:solidFill>
            <a:prstDash val="solid"/>
          </a:ln>
        </p:spPr>
      </p:sp>
      <p:sp>
        <p:nvSpPr>
          <p:cNvPr id="18" name="Shape 14"/>
          <p:cNvSpPr/>
          <p:nvPr/>
        </p:nvSpPr>
        <p:spPr>
          <a:xfrm>
            <a:off x="10496429" y="2456078"/>
            <a:ext cx="597345" cy="246888"/>
          </a:xfrm>
          <a:prstGeom prst="roundRect">
            <a:avLst>
              <a:gd name="adj" fmla="val 14815"/>
            </a:avLst>
          </a:prstGeom>
          <a:solidFill>
            <a:srgbClr val="7AB648"/>
          </a:solidFill>
          <a:ln w="12700">
            <a:solidFill>
              <a:srgbClr val="FFFFFF">
                <a:alpha val="0"/>
              </a:srgbClr>
            </a:solidFill>
            <a:prstDash val="solid"/>
          </a:ln>
        </p:spPr>
      </p:sp>
      <p:sp>
        <p:nvSpPr>
          <p:cNvPr id="19" name="Text 15"/>
          <p:cNvSpPr txBox="1"/>
          <p:nvPr/>
        </p:nvSpPr>
        <p:spPr>
          <a:xfrm>
            <a:off x="10496429" y="2456078"/>
            <a:ext cx="597345"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KASSA</a:t>
            </a:r>
            <a:endParaRPr lang="en-US" sz="1100" dirty="0"/>
          </a:p>
        </p:txBody>
      </p:sp>
      <p:sp>
        <p:nvSpPr>
          <p:cNvPr id="20" name="Shape 16"/>
          <p:cNvSpPr/>
          <p:nvPr/>
        </p:nvSpPr>
        <p:spPr>
          <a:xfrm>
            <a:off x="1691640" y="3632606"/>
            <a:ext cx="1149401" cy="371856"/>
          </a:xfrm>
          <a:prstGeom prst="roundRect">
            <a:avLst>
              <a:gd name="adj" fmla="val 12295"/>
            </a:avLst>
          </a:prstGeom>
          <a:solidFill>
            <a:srgbClr val="E6F3DA"/>
          </a:solidFill>
          <a:ln w="12700">
            <a:solidFill>
              <a:srgbClr val="FFFFFF">
                <a:alpha val="0"/>
              </a:srgbClr>
            </a:solidFill>
            <a:prstDash val="solid"/>
          </a:ln>
        </p:spPr>
      </p:sp>
      <p:sp>
        <p:nvSpPr>
          <p:cNvPr id="21" name="Text 17"/>
          <p:cNvSpPr txBox="1"/>
          <p:nvPr/>
        </p:nvSpPr>
        <p:spPr>
          <a:xfrm>
            <a:off x="1691640" y="3620414"/>
            <a:ext cx="1149401"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Het kost</a:t>
            </a:r>
            <a:endParaRPr lang="en-US" sz="2400" dirty="0"/>
          </a:p>
        </p:txBody>
      </p:sp>
      <p:sp>
        <p:nvSpPr>
          <p:cNvPr id="22" name="Text 18"/>
          <p:cNvSpPr txBox="1"/>
          <p:nvPr/>
        </p:nvSpPr>
        <p:spPr>
          <a:xfrm>
            <a:off x="2928214" y="3620414"/>
            <a:ext cx="2724607"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tweeënveertig euro.</a:t>
            </a:r>
            <a:endParaRPr lang="en-US" sz="2400" dirty="0"/>
          </a:p>
        </p:txBody>
      </p:sp>
      <p:sp>
        <p:nvSpPr>
          <p:cNvPr id="23" name="Shape 19"/>
          <p:cNvSpPr/>
          <p:nvPr/>
        </p:nvSpPr>
        <p:spPr>
          <a:xfrm>
            <a:off x="2266340" y="3556406"/>
            <a:ext cx="914" cy="76200"/>
          </a:xfrm>
          <a:prstGeom prst="line">
            <a:avLst/>
          </a:prstGeom>
          <a:noFill/>
          <a:ln w="15875">
            <a:solidFill>
              <a:srgbClr val="7AB648"/>
            </a:solidFill>
            <a:prstDash val="solid"/>
          </a:ln>
        </p:spPr>
      </p:sp>
      <p:sp>
        <p:nvSpPr>
          <p:cNvPr id="24" name="Shape 20"/>
          <p:cNvSpPr/>
          <p:nvPr/>
        </p:nvSpPr>
        <p:spPr>
          <a:xfrm>
            <a:off x="2005317" y="3309518"/>
            <a:ext cx="522046" cy="246888"/>
          </a:xfrm>
          <a:prstGeom prst="roundRect">
            <a:avLst>
              <a:gd name="adj" fmla="val 14815"/>
            </a:avLst>
          </a:prstGeom>
          <a:solidFill>
            <a:srgbClr val="7AB648"/>
          </a:solidFill>
          <a:ln w="12700">
            <a:solidFill>
              <a:srgbClr val="FFFFFF">
                <a:alpha val="0"/>
              </a:srgbClr>
            </a:solidFill>
            <a:prstDash val="solid"/>
          </a:ln>
        </p:spPr>
      </p:sp>
      <p:sp>
        <p:nvSpPr>
          <p:cNvPr id="25" name="Text 21"/>
          <p:cNvSpPr txBox="1"/>
          <p:nvPr/>
        </p:nvSpPr>
        <p:spPr>
          <a:xfrm>
            <a:off x="2005317" y="3309518"/>
            <a:ext cx="522046"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PRIJS</a:t>
            </a:r>
            <a:endParaRPr lang="en-US" sz="1100" dirty="0"/>
          </a:p>
        </p:txBody>
      </p:sp>
      <p:sp>
        <p:nvSpPr>
          <p:cNvPr id="26" name="Shape 22"/>
          <p:cNvSpPr/>
          <p:nvPr/>
        </p:nvSpPr>
        <p:spPr>
          <a:xfrm>
            <a:off x="4637989" y="4687214"/>
            <a:ext cx="1743761" cy="371856"/>
          </a:xfrm>
          <a:prstGeom prst="roundRect">
            <a:avLst>
              <a:gd name="adj" fmla="val 12295"/>
            </a:avLst>
          </a:prstGeom>
          <a:solidFill>
            <a:srgbClr val="E6F3DA"/>
          </a:solidFill>
          <a:ln w="12700">
            <a:solidFill>
              <a:srgbClr val="FFFFFF">
                <a:alpha val="0"/>
              </a:srgbClr>
            </a:solidFill>
            <a:prstDash val="solid"/>
          </a:ln>
        </p:spPr>
      </p:sp>
      <p:sp>
        <p:nvSpPr>
          <p:cNvPr id="27" name="Text 23"/>
          <p:cNvSpPr txBox="1"/>
          <p:nvPr/>
        </p:nvSpPr>
        <p:spPr>
          <a:xfrm>
            <a:off x="4637989" y="4675022"/>
            <a:ext cx="1743761"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Het kasticket</a:t>
            </a:r>
            <a:endParaRPr lang="en-US" sz="2400" dirty="0"/>
          </a:p>
        </p:txBody>
      </p:sp>
      <p:sp>
        <p:nvSpPr>
          <p:cNvPr id="28" name="Text 24"/>
          <p:cNvSpPr txBox="1"/>
          <p:nvPr/>
        </p:nvSpPr>
        <p:spPr>
          <a:xfrm>
            <a:off x="6468923" y="4675022"/>
            <a:ext cx="2471928"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is één meter lang!</a:t>
            </a:r>
            <a:endParaRPr lang="en-US" sz="2400" dirty="0"/>
          </a:p>
        </p:txBody>
      </p:sp>
      <p:sp>
        <p:nvSpPr>
          <p:cNvPr id="29" name="Shape 25"/>
          <p:cNvSpPr/>
          <p:nvPr/>
        </p:nvSpPr>
        <p:spPr>
          <a:xfrm>
            <a:off x="5509870" y="4611014"/>
            <a:ext cx="914" cy="76200"/>
          </a:xfrm>
          <a:prstGeom prst="line">
            <a:avLst/>
          </a:prstGeom>
          <a:noFill/>
          <a:ln w="15875">
            <a:solidFill>
              <a:srgbClr val="7AB648"/>
            </a:solidFill>
            <a:prstDash val="solid"/>
          </a:ln>
        </p:spPr>
      </p:sp>
      <p:sp>
        <p:nvSpPr>
          <p:cNvPr id="30" name="Shape 26"/>
          <p:cNvSpPr/>
          <p:nvPr/>
        </p:nvSpPr>
        <p:spPr>
          <a:xfrm>
            <a:off x="5089519" y="4364126"/>
            <a:ext cx="840702" cy="246888"/>
          </a:xfrm>
          <a:prstGeom prst="roundRect">
            <a:avLst>
              <a:gd name="adj" fmla="val 14815"/>
            </a:avLst>
          </a:prstGeom>
          <a:solidFill>
            <a:srgbClr val="7AB648"/>
          </a:solidFill>
          <a:ln w="12700">
            <a:solidFill>
              <a:srgbClr val="FFFFFF">
                <a:alpha val="0"/>
              </a:srgbClr>
            </a:solidFill>
            <a:prstDash val="solid"/>
          </a:ln>
        </p:spPr>
      </p:sp>
      <p:sp>
        <p:nvSpPr>
          <p:cNvPr id="31" name="Text 27"/>
          <p:cNvSpPr txBox="1"/>
          <p:nvPr/>
        </p:nvSpPr>
        <p:spPr>
          <a:xfrm>
            <a:off x="5089519" y="4364126"/>
            <a:ext cx="840702"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KASTICKET</a:t>
            </a:r>
            <a:endParaRPr lang="en-US" sz="1100" dirty="0"/>
          </a:p>
        </p:txBody>
      </p:sp>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94</a:t>
            </a:fld>
            <a:endParaRPr lang="en-US"/>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spTree>
      <p:nvGrpSpPr>
        <p:cNvPr id="1" name=""/>
        <p:cNvGrpSpPr/>
        <p:nvPr/>
      </p:nvGrpSpPr>
      <p:grpSpPr>
        <a:xfrm>
          <a:off x="0" y="0"/>
          <a:ext cx="0" cy="0"/>
          <a:chOff x="0" y="0"/>
          <a:chExt cx="0" cy="0"/>
        </a:xfrm>
      </p:grpSpPr>
      <p:sp>
        <p:nvSpPr>
          <p:cNvPr id="2" name="Text 1"/>
          <p:cNvSpPr/>
          <p:nvPr>
            <p:ph idx="101" type="title" hasCustomPrompt="1"/>
          </p:nvPr>
        </p:nvSpPr>
        <p:spPr>
          <a:xfrm>
            <a:off x="1554480" y="384048"/>
            <a:ext cx="10241280" cy="658368"/>
          </a:xfrm>
          <a:prstGeom prst="rect">
            <a:avLst/>
          </a:prstGeom>
          <a:noFill/>
          <a:ln/>
        </p:spPr>
        <p:txBody>
          <a:bodyPr wrap="square" lIns="0" tIns="0" rIns="0" bIns="0" rtlCol="0" anchor="ctr"/>
          <a:lstStyle/>
          <a:p>
            <a:pPr algn="ctr" indent="0" marL="0">
              <a:buNone/>
            </a:pPr>
            <a:r>
              <a:rPr lang="en-US" sz="3000" b="1" dirty="0">
                <a:solidFill>
                  <a:srgbClr val="2B2F38"/>
                </a:solidFill>
              </a:rPr>
              <a:t>Gebruik deze afbeelding als inspiratie</a:t>
            </a:r>
            <a:endParaRPr lang="en-US" sz="3000" dirty="0"/>
          </a:p>
        </p:txBody>
      </p:sp>
      <p:sp>
        <p:nvSpPr>
          <p:cNvPr id="4" name="Shape 1"/>
          <p:cNvSpPr/>
          <p:nvPr/>
        </p:nvSpPr>
        <p:spPr>
          <a:xfrm>
            <a:off x="365760" y="365760"/>
            <a:ext cx="868680" cy="5989320"/>
          </a:xfrm>
          <a:prstGeom prst="roundRect">
            <a:avLst>
              <a:gd name="adj" fmla="val 12632"/>
            </a:avLst>
          </a:prstGeom>
          <a:solidFill>
            <a:srgbClr val="FDF1E4"/>
          </a:solidFill>
          <a:ln w="28575">
            <a:solidFill>
              <a:srgbClr val="F0A15E"/>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B9661F"/>
                </a:solidFill>
                <a:latin typeface="Calibri" pitchFamily="34" charset="0"/>
                <a:ea typeface="Calibri" pitchFamily="34" charset="-122"/>
                <a:cs typeface="Calibri" pitchFamily="34" charset="-120"/>
              </a:rPr>
              <a:t>A1 · Vocabulaire</a:t>
            </a:r>
            <a:endParaRPr lang="en-US" sz="3800" dirty="0"/>
          </a:p>
        </p:txBody>
      </p:sp>
      <p:sp>
        <p:nvSpPr>
          <p:cNvPr id="6" name="Text 3"/>
          <p:cNvSpPr txBox="1"/>
          <p:nvPr/>
        </p:nvSpPr>
        <p:spPr>
          <a:xfrm>
            <a:off x="1554480" y="1024128"/>
            <a:ext cx="10241280" cy="365760"/>
          </a:xfrm>
          <a:prstGeom prst="rect">
            <a:avLst/>
          </a:prstGeom>
          <a:noFill/>
          <a:ln/>
        </p:spPr>
        <p:txBody>
          <a:bodyPr wrap="square" lIns="0" tIns="0" rIns="0" bIns="0" rtlCol="0" anchor="ctr"/>
          <a:lstStyle/>
          <a:p>
            <a:pPr algn="ctr" indent="0" marL="0">
              <a:buNone/>
            </a:pPr>
            <a:r>
              <a:rPr lang="en-US" sz="1500" b="1" dirty="0">
                <a:solidFill>
                  <a:srgbClr val="B9661F"/>
                </a:solidFill>
                <a:latin typeface="Calibri" pitchFamily="34" charset="0"/>
                <a:ea typeface="Calibri" pitchFamily="34" charset="-122"/>
                <a:cs typeface="Calibri" pitchFamily="34" charset="-120"/>
              </a:rPr>
              <a:t>30 · Ik ben ziek</a:t>
            </a:r>
            <a:r>
              <a:rPr lang="en-US" sz="1500" i="1" dirty="0">
                <a:solidFill>
                  <a:srgbClr val="6B7280"/>
                </a:solidFill>
                <a:latin typeface="Calibri" pitchFamily="34" charset="0"/>
                <a:ea typeface="Calibri" pitchFamily="34" charset="-122"/>
                <a:cs typeface="Calibri" pitchFamily="34" charset="-120"/>
              </a:rPr>
              <a:t>   Je suis malade</a:t>
            </a:r>
            <a:r>
              <a:rPr lang="en-US" sz="1200" dirty="0">
                <a:solidFill>
                  <a:srgbClr val="9AA3B2"/>
                </a:solidFill>
                <a:latin typeface="Calibri" pitchFamily="34" charset="0"/>
                <a:ea typeface="Calibri" pitchFamily="34" charset="-122"/>
                <a:cs typeface="Calibri" pitchFamily="34" charset="-120"/>
              </a:rPr>
              <a:t>   ·   syllabus vocabulaire 06 · p. 83</a:t>
            </a:r>
            <a:endParaRPr lang="en-US" sz="1500" dirty="0"/>
          </a:p>
        </p:txBody>
      </p:sp>
      <p:sp>
        <p:nvSpPr>
          <p:cNvPr id="7" name="Shape 4"/>
          <p:cNvSpPr/>
          <p:nvPr/>
        </p:nvSpPr>
        <p:spPr>
          <a:xfrm>
            <a:off x="1596085" y="1504645"/>
            <a:ext cx="4534510" cy="2905735"/>
          </a:xfrm>
          <a:prstGeom prst="roundRect">
            <a:avLst>
              <a:gd name="adj" fmla="val 1259"/>
            </a:avLst>
          </a:prstGeom>
          <a:solidFill>
            <a:srgbClr val="FFFFFF"/>
          </a:solidFill>
          <a:ln w="9525">
            <a:solidFill>
              <a:srgbClr val="E3E7EE"/>
            </a:solidFill>
            <a:prstDash val="solid"/>
          </a:ln>
          <a:effectLst>
            <a:outerShdw sx="100000" sy="100000" kx="0" ky="0" algn="bl" rotWithShape="0" blurRad="127000" dist="50800" dir="5400000">
              <a:srgbClr val="1B2430">
                <a:alpha val="25000"/>
              </a:srgbClr>
            </a:outerShdw>
          </a:effectLst>
        </p:spPr>
      </p:sp>
      <p:pic>
        <p:nvPicPr>
          <p:cNvPr id="8" name="Image 0" descr="/home/user/talenleren/neerlandais1/generateur/img/vijfzinnen/a1_ziek_s.jpg">    </p:cNvPr>
          <p:cNvPicPr>
            <a:picLocks noChangeAspect="1"/>
          </p:cNvPicPr>
          <p:nvPr/>
        </p:nvPicPr>
        <p:blipFill>
          <a:blip r:embed="rId1"/>
          <a:stretch>
            <a:fillRect/>
          </a:stretch>
        </p:blipFill>
        <p:spPr>
          <a:xfrm>
            <a:off x="1691640" y="1600200"/>
            <a:ext cx="4343400" cy="2714625"/>
          </a:xfrm>
          <a:prstGeom prst="rect">
            <a:avLst/>
          </a:prstGeom>
        </p:spPr>
      </p:pic>
      <p:sp>
        <p:nvSpPr>
          <p:cNvPr id="9" name="Shape 5"/>
          <p:cNvSpPr/>
          <p:nvPr/>
        </p:nvSpPr>
        <p:spPr>
          <a:xfrm>
            <a:off x="1691640" y="4572000"/>
            <a:ext cx="1600200" cy="365760"/>
          </a:xfrm>
          <a:prstGeom prst="roundRect">
            <a:avLst>
              <a:gd name="adj" fmla="val 50000"/>
            </a:avLst>
          </a:prstGeom>
          <a:solidFill>
            <a:srgbClr val="FDF1E6"/>
          </a:solidFill>
          <a:ln w="12700">
            <a:solidFill>
              <a:srgbClr val="D9822B"/>
            </a:solidFill>
            <a:prstDash val="solid"/>
          </a:ln>
        </p:spPr>
      </p:sp>
      <p:pic>
        <p:nvPicPr>
          <p:cNvPr id="10" name="Image 1" descr="Comments">    </p:cNvPr>
          <p:cNvPicPr>
            <a:picLocks noChangeAspect="1"/>
          </p:cNvPicPr>
          <p:nvPr/>
        </p:nvPicPr>
        <p:blipFill>
          <a:blip r:embed="rId2"/>
          <a:stretch>
            <a:fillRect/>
          </a:stretch>
        </p:blipFill>
        <p:spPr>
          <a:xfrm>
            <a:off x="1819656" y="4654296"/>
            <a:ext cx="201168" cy="201168"/>
          </a:xfrm>
          <a:prstGeom prst="rect">
            <a:avLst/>
          </a:prstGeom>
        </p:spPr>
      </p:pic>
      <p:sp>
        <p:nvSpPr>
          <p:cNvPr id="11" name="Text 6"/>
          <p:cNvSpPr txBox="1"/>
          <p:nvPr/>
        </p:nvSpPr>
        <p:spPr>
          <a:xfrm>
            <a:off x="2075688" y="4572000"/>
            <a:ext cx="1143000" cy="365760"/>
          </a:xfrm>
          <a:prstGeom prst="rect">
            <a:avLst/>
          </a:prstGeom>
          <a:noFill/>
          <a:ln/>
        </p:spPr>
        <p:txBody>
          <a:bodyPr wrap="square" lIns="0" tIns="0" rIns="0" bIns="0" rtlCol="0" anchor="ctr"/>
          <a:lstStyle/>
          <a:p>
            <a:pPr algn="l" indent="0" marL="0">
              <a:buNone/>
            </a:pPr>
            <a:r>
              <a:rPr lang="en-US" sz="1150" b="1" spc="100" kern="0" dirty="0">
                <a:solidFill>
                  <a:srgbClr val="D9822B"/>
                </a:solidFill>
                <a:latin typeface="Calibri" pitchFamily="34" charset="0"/>
                <a:ea typeface="Calibri" pitchFamily="34" charset="-122"/>
                <a:cs typeface="Calibri" pitchFamily="34" charset="-120"/>
              </a:rPr>
              <a:t>À L’ORAL</a:t>
            </a:r>
            <a:endParaRPr lang="en-US" sz="1150" dirty="0"/>
          </a:p>
        </p:txBody>
      </p:sp>
      <p:sp>
        <p:nvSpPr>
          <p:cNvPr id="12" name="Text 7"/>
          <p:cNvSpPr txBox="1"/>
          <p:nvPr/>
        </p:nvSpPr>
        <p:spPr>
          <a:xfrm>
            <a:off x="3429000" y="4544568"/>
            <a:ext cx="2651760" cy="731520"/>
          </a:xfrm>
          <a:prstGeom prst="rect">
            <a:avLst/>
          </a:prstGeom>
          <a:noFill/>
          <a:ln/>
        </p:spPr>
        <p:txBody>
          <a:bodyPr wrap="square" lIns="0" tIns="0" rIns="0" bIns="0" rtlCol="0" anchor="t"/>
          <a:lstStyle/>
          <a:p>
            <a:pPr algn="l" indent="0" marL="0">
              <a:buNone/>
            </a:pPr>
            <a:r>
              <a:rPr lang="en-US" sz="1150" i="1" dirty="0">
                <a:solidFill>
                  <a:srgbClr val="6B7280"/>
                </a:solidFill>
                <a:latin typeface="Calibri" pitchFamily="34" charset="0"/>
                <a:ea typeface="Calibri" pitchFamily="34" charset="-122"/>
                <a:cs typeface="Calibri" pitchFamily="34" charset="-120"/>
              </a:rPr>
              <a:t>Vous êtes au lit, malade. Vous téléphonez à votre collègue.</a:t>
            </a:r>
            <a:endParaRPr lang="en-US" sz="1150" dirty="0"/>
          </a:p>
        </p:txBody>
      </p:sp>
      <p:sp>
        <p:nvSpPr>
          <p:cNvPr id="13" name="Shape 8"/>
          <p:cNvSpPr/>
          <p:nvPr/>
        </p:nvSpPr>
        <p:spPr>
          <a:xfrm>
            <a:off x="6355080" y="1673352"/>
            <a:ext cx="914400" cy="402336"/>
          </a:xfrm>
          <a:prstGeom prst="roundRect">
            <a:avLst>
              <a:gd name="adj" fmla="val 13636"/>
            </a:avLst>
          </a:prstGeom>
          <a:solidFill>
            <a:srgbClr val="5FA873"/>
          </a:solidFill>
          <a:ln w="12700">
            <a:solidFill>
              <a:srgbClr val="FFFFFF">
                <a:alpha val="0"/>
              </a:srgbClr>
            </a:solidFill>
            <a:prstDash val="solid"/>
          </a:ln>
        </p:spPr>
      </p:sp>
      <p:sp>
        <p:nvSpPr>
          <p:cNvPr id="14" name="Text 9"/>
          <p:cNvSpPr txBox="1"/>
          <p:nvPr/>
        </p:nvSpPr>
        <p:spPr>
          <a:xfrm>
            <a:off x="6355080" y="167335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1</a:t>
            </a:r>
            <a:endParaRPr lang="en-US" sz="1600" dirty="0"/>
          </a:p>
        </p:txBody>
      </p:sp>
      <p:sp>
        <p:nvSpPr>
          <p:cNvPr id="15" name="Text 10"/>
          <p:cNvSpPr txBox="1"/>
          <p:nvPr/>
        </p:nvSpPr>
        <p:spPr>
          <a:xfrm>
            <a:off x="7406640" y="1618488"/>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Votre état : </a:t>
            </a:r>
            <a:r>
              <a:rPr lang="en-US" sz="1450" b="1" dirty="0">
                <a:solidFill>
                  <a:srgbClr val="2B2F38"/>
                </a:solidFill>
              </a:rPr>
              <a:t>IK BEN ZIEK</a:t>
            </a:r>
            <a:r>
              <a:rPr lang="en-US" sz="1450" dirty="0">
                <a:solidFill>
                  <a:srgbClr val="2B2F38"/>
                </a:solidFill>
              </a:rPr>
              <a:t>.</a:t>
            </a:r>
            <a:endParaRPr lang="en-US" sz="1450" dirty="0"/>
          </a:p>
        </p:txBody>
      </p:sp>
      <p:sp>
        <p:nvSpPr>
          <p:cNvPr id="16" name="Shape 11"/>
          <p:cNvSpPr/>
          <p:nvPr/>
        </p:nvSpPr>
        <p:spPr>
          <a:xfrm>
            <a:off x="6355080" y="2404872"/>
            <a:ext cx="914400" cy="402336"/>
          </a:xfrm>
          <a:prstGeom prst="roundRect">
            <a:avLst>
              <a:gd name="adj" fmla="val 13636"/>
            </a:avLst>
          </a:prstGeom>
          <a:solidFill>
            <a:srgbClr val="5FA873"/>
          </a:solidFill>
          <a:ln w="12700">
            <a:solidFill>
              <a:srgbClr val="FFFFFF">
                <a:alpha val="0"/>
              </a:srgbClr>
            </a:solidFill>
            <a:prstDash val="solid"/>
          </a:ln>
        </p:spPr>
      </p:sp>
      <p:sp>
        <p:nvSpPr>
          <p:cNvPr id="17" name="Text 12"/>
          <p:cNvSpPr txBox="1"/>
          <p:nvPr/>
        </p:nvSpPr>
        <p:spPr>
          <a:xfrm>
            <a:off x="6355080" y="240487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2</a:t>
            </a:r>
            <a:endParaRPr lang="en-US" sz="1600" dirty="0"/>
          </a:p>
        </p:txBody>
      </p:sp>
      <p:sp>
        <p:nvSpPr>
          <p:cNvPr id="18" name="Text 13"/>
          <p:cNvSpPr txBox="1"/>
          <p:nvPr/>
        </p:nvSpPr>
        <p:spPr>
          <a:xfrm>
            <a:off x="7406640" y="2350008"/>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Où vous avez mal : </a:t>
            </a:r>
            <a:r>
              <a:rPr lang="en-US" sz="1450" b="1" dirty="0">
                <a:solidFill>
                  <a:srgbClr val="2B2F38"/>
                </a:solidFill>
              </a:rPr>
              <a:t>MIJN</a:t>
            </a:r>
            <a:r>
              <a:rPr lang="en-US" sz="1450" dirty="0">
                <a:solidFill>
                  <a:srgbClr val="2B2F38"/>
                </a:solidFill>
              </a:rPr>
              <a:t> … </a:t>
            </a:r>
            <a:r>
              <a:rPr lang="en-US" sz="1450" b="1" dirty="0">
                <a:solidFill>
                  <a:srgbClr val="2B2F38"/>
                </a:solidFill>
              </a:rPr>
              <a:t>DOET PIJN</a:t>
            </a:r>
            <a:r>
              <a:rPr lang="en-US" sz="1450" dirty="0">
                <a:solidFill>
                  <a:srgbClr val="2B2F38"/>
                </a:solidFill>
              </a:rPr>
              <a:t>.</a:t>
            </a:r>
            <a:endParaRPr lang="en-US" sz="1450" dirty="0"/>
          </a:p>
        </p:txBody>
      </p:sp>
      <p:sp>
        <p:nvSpPr>
          <p:cNvPr id="19" name="Shape 14"/>
          <p:cNvSpPr/>
          <p:nvPr/>
        </p:nvSpPr>
        <p:spPr>
          <a:xfrm>
            <a:off x="6355080" y="3136392"/>
            <a:ext cx="914400" cy="402336"/>
          </a:xfrm>
          <a:prstGeom prst="roundRect">
            <a:avLst>
              <a:gd name="adj" fmla="val 13636"/>
            </a:avLst>
          </a:prstGeom>
          <a:solidFill>
            <a:srgbClr val="5FA873"/>
          </a:solidFill>
          <a:ln w="12700">
            <a:solidFill>
              <a:srgbClr val="FFFFFF">
                <a:alpha val="0"/>
              </a:srgbClr>
            </a:solidFill>
            <a:prstDash val="solid"/>
          </a:ln>
        </p:spPr>
      </p:sp>
      <p:sp>
        <p:nvSpPr>
          <p:cNvPr id="20" name="Text 15"/>
          <p:cNvSpPr txBox="1"/>
          <p:nvPr/>
        </p:nvSpPr>
        <p:spPr>
          <a:xfrm>
            <a:off x="6355080" y="313639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3</a:t>
            </a:r>
            <a:endParaRPr lang="en-US" sz="1600" dirty="0"/>
          </a:p>
        </p:txBody>
      </p:sp>
      <p:sp>
        <p:nvSpPr>
          <p:cNvPr id="21" name="Text 16"/>
          <p:cNvSpPr txBox="1"/>
          <p:nvPr/>
        </p:nvSpPr>
        <p:spPr>
          <a:xfrm>
            <a:off x="7406640" y="3081528"/>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Un symptôme : </a:t>
            </a:r>
            <a:r>
              <a:rPr lang="en-US" sz="1450" b="1" dirty="0">
                <a:solidFill>
                  <a:srgbClr val="2B2F38"/>
                </a:solidFill>
              </a:rPr>
              <a:t>IK HEB KOORTS</a:t>
            </a:r>
            <a:r>
              <a:rPr lang="en-US" sz="1450" dirty="0">
                <a:solidFill>
                  <a:srgbClr val="2B2F38"/>
                </a:solidFill>
              </a:rPr>
              <a:t>.</a:t>
            </a:r>
            <a:endParaRPr lang="en-US" sz="1450" dirty="0"/>
          </a:p>
        </p:txBody>
      </p:sp>
      <p:sp>
        <p:nvSpPr>
          <p:cNvPr id="22" name="Shape 17"/>
          <p:cNvSpPr/>
          <p:nvPr/>
        </p:nvSpPr>
        <p:spPr>
          <a:xfrm>
            <a:off x="6355080" y="3867912"/>
            <a:ext cx="914400" cy="402336"/>
          </a:xfrm>
          <a:prstGeom prst="roundRect">
            <a:avLst>
              <a:gd name="adj" fmla="val 13636"/>
            </a:avLst>
          </a:prstGeom>
          <a:solidFill>
            <a:srgbClr val="5FA873"/>
          </a:solidFill>
          <a:ln w="12700">
            <a:solidFill>
              <a:srgbClr val="FFFFFF">
                <a:alpha val="0"/>
              </a:srgbClr>
            </a:solidFill>
            <a:prstDash val="solid"/>
          </a:ln>
        </p:spPr>
      </p:sp>
      <p:sp>
        <p:nvSpPr>
          <p:cNvPr id="23" name="Text 18"/>
          <p:cNvSpPr txBox="1"/>
          <p:nvPr/>
        </p:nvSpPr>
        <p:spPr>
          <a:xfrm>
            <a:off x="6355080" y="386791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4</a:t>
            </a:r>
            <a:endParaRPr lang="en-US" sz="1600" dirty="0"/>
          </a:p>
        </p:txBody>
      </p:sp>
      <p:sp>
        <p:nvSpPr>
          <p:cNvPr id="24" name="Text 19"/>
          <p:cNvSpPr txBox="1"/>
          <p:nvPr/>
        </p:nvSpPr>
        <p:spPr>
          <a:xfrm>
            <a:off x="7406640" y="3813048"/>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Une chute : </a:t>
            </a:r>
            <a:r>
              <a:rPr lang="en-US" sz="1450" b="1" dirty="0">
                <a:solidFill>
                  <a:srgbClr val="2B2F38"/>
                </a:solidFill>
              </a:rPr>
              <a:t>IK GA NAAR</a:t>
            </a:r>
            <a:r>
              <a:rPr lang="en-US" sz="1450" dirty="0">
                <a:solidFill>
                  <a:srgbClr val="2B2F38"/>
                </a:solidFill>
              </a:rPr>
              <a:t> de dokter / de apotheek…</a:t>
            </a:r>
            <a:endParaRPr lang="en-US" sz="1450" dirty="0"/>
          </a:p>
        </p:txBody>
      </p:sp>
      <p:sp>
        <p:nvSpPr>
          <p:cNvPr id="25" name="Shape 20"/>
          <p:cNvSpPr/>
          <p:nvPr/>
        </p:nvSpPr>
        <p:spPr>
          <a:xfrm>
            <a:off x="3246120" y="5440680"/>
            <a:ext cx="6858000" cy="822960"/>
          </a:xfrm>
          <a:prstGeom prst="roundRect">
            <a:avLst>
              <a:gd name="adj" fmla="val 17778"/>
            </a:avLst>
          </a:prstGeom>
          <a:solidFill>
            <a:srgbClr val="EAF5EC"/>
          </a:solidFill>
          <a:ln w="15875">
            <a:solidFill>
              <a:srgbClr val="5FA873"/>
            </a:solidFill>
            <a:prstDash val="solid"/>
          </a:ln>
        </p:spPr>
      </p:sp>
      <p:pic>
        <p:nvPicPr>
          <p:cNvPr id="26" name="Image 2" descr="UserFriends">    </p:cNvPr>
          <p:cNvPicPr>
            <a:picLocks noChangeAspect="1"/>
          </p:cNvPicPr>
          <p:nvPr/>
        </p:nvPicPr>
        <p:blipFill>
          <a:blip r:embed="rId3"/>
          <a:stretch>
            <a:fillRect/>
          </a:stretch>
        </p:blipFill>
        <p:spPr>
          <a:xfrm>
            <a:off x="3520440" y="5660136"/>
            <a:ext cx="384048" cy="384048"/>
          </a:xfrm>
          <a:prstGeom prst="rect">
            <a:avLst/>
          </a:prstGeom>
        </p:spPr>
      </p:pic>
      <p:sp>
        <p:nvSpPr>
          <p:cNvPr id="27" name="Text 21"/>
          <p:cNvSpPr txBox="1"/>
          <p:nvPr/>
        </p:nvSpPr>
        <p:spPr>
          <a:xfrm>
            <a:off x="4114800" y="5440680"/>
            <a:ext cx="5852160" cy="822960"/>
          </a:xfrm>
          <a:prstGeom prst="rect">
            <a:avLst/>
          </a:prstGeom>
          <a:noFill/>
          <a:ln/>
        </p:spPr>
        <p:txBody>
          <a:bodyPr wrap="square" lIns="0" tIns="0" rIns="0" bIns="0" rtlCol="0" anchor="ctr"/>
          <a:lstStyle/>
          <a:p>
            <a:pPr algn="ctr" indent="0" marL="0">
              <a:buNone/>
            </a:pPr>
            <a:r>
              <a:rPr lang="en-US" sz="1800" b="1" dirty="0">
                <a:solidFill>
                  <a:srgbClr val="2E6B44"/>
                </a:solidFill>
                <a:latin typeface="Calibri" pitchFamily="34" charset="0"/>
                <a:ea typeface="Calibri" pitchFamily="34" charset="-122"/>
                <a:cs typeface="Calibri" pitchFamily="34" charset="-120"/>
              </a:rPr>
              <a:t>Vertel je verhaal aan je partner.</a:t>
            </a:r>
            <a:endParaRPr lang="en-US" sz="1800" dirty="0"/>
          </a:p>
          <a:p>
            <a:pPr algn="ctr" indent="0" marL="0">
              <a:buNone/>
            </a:pPr>
            <a:r>
              <a:rPr lang="en-US" sz="1800" b="1" dirty="0">
                <a:solidFill>
                  <a:srgbClr val="2E6B44"/>
                </a:solidFill>
                <a:latin typeface="Calibri" pitchFamily="34" charset="0"/>
                <a:ea typeface="Calibri" pitchFamily="34" charset="-122"/>
                <a:cs typeface="Calibri" pitchFamily="34" charset="-120"/>
              </a:rPr>
              <a:t>Wat denkt hij/zij daarvan?</a:t>
            </a:r>
            <a:endParaRPr lang="en-US" sz="1800" dirty="0"/>
          </a:p>
        </p:txBody>
      </p:sp>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95</a:t>
            </a:fld>
            <a:endParaRPr lang="en-US"/>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spTree>
      <p:nvGrpSpPr>
        <p:cNvPr id="1" name=""/>
        <p:cNvGrpSpPr/>
        <p:nvPr/>
      </p:nvGrpSpPr>
      <p:grpSpPr>
        <a:xfrm>
          <a:off x="0" y="0"/>
          <a:ext cx="0" cy="0"/>
          <a:chOff x="0" y="0"/>
          <a:chExt cx="0" cy="0"/>
        </a:xfrm>
      </p:grpSpPr>
      <p:sp>
        <p:nvSpPr>
          <p:cNvPr id="2" name="Text 1"/>
          <p:cNvSpPr/>
          <p:nvPr>
            <p:ph idx="101" type="title" hasCustomPrompt="1"/>
          </p:nvPr>
        </p:nvSpPr>
        <p:spPr>
          <a:xfrm>
            <a:off x="1554480" y="384048"/>
            <a:ext cx="10241280" cy="658368"/>
          </a:xfrm>
          <a:prstGeom prst="rect">
            <a:avLst/>
          </a:prstGeom>
          <a:noFill/>
          <a:ln/>
        </p:spPr>
        <p:txBody>
          <a:bodyPr wrap="square" lIns="0" tIns="0" rIns="0" bIns="0" rtlCol="0" anchor="ctr"/>
          <a:lstStyle/>
          <a:p>
            <a:pPr algn="ctr" indent="0" marL="0">
              <a:buNone/>
            </a:pPr>
            <a:r>
              <a:rPr lang="en-US" sz="3000" b="1" dirty="0">
                <a:solidFill>
                  <a:srgbClr val="2B2F38"/>
                </a:solidFill>
              </a:rPr>
              <a:t>Ik ben ziek</a:t>
            </a:r>
            <a:endParaRPr lang="en-US" sz="3000" dirty="0"/>
          </a:p>
        </p:txBody>
      </p:sp>
      <p:sp>
        <p:nvSpPr>
          <p:cNvPr id="4" name="Shape 1"/>
          <p:cNvSpPr/>
          <p:nvPr/>
        </p:nvSpPr>
        <p:spPr>
          <a:xfrm>
            <a:off x="365760" y="365760"/>
            <a:ext cx="868680" cy="5989320"/>
          </a:xfrm>
          <a:prstGeom prst="roundRect">
            <a:avLst>
              <a:gd name="adj" fmla="val 12632"/>
            </a:avLst>
          </a:prstGeom>
          <a:solidFill>
            <a:srgbClr val="FDF1E4"/>
          </a:solidFill>
          <a:ln w="28575">
            <a:solidFill>
              <a:srgbClr val="F0A15E"/>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B9661F"/>
                </a:solidFill>
                <a:latin typeface="Calibri" pitchFamily="34" charset="0"/>
                <a:ea typeface="Calibri" pitchFamily="34" charset="-122"/>
                <a:cs typeface="Calibri" pitchFamily="34" charset="-120"/>
              </a:rPr>
              <a:t>A1 · Vocabulaire</a:t>
            </a:r>
            <a:endParaRPr lang="en-US" sz="3800" dirty="0"/>
          </a:p>
        </p:txBody>
      </p:sp>
      <p:sp>
        <p:nvSpPr>
          <p:cNvPr id="6" name="Shape 3"/>
          <p:cNvSpPr/>
          <p:nvPr/>
        </p:nvSpPr>
        <p:spPr>
          <a:xfrm>
            <a:off x="2519172" y="1124712"/>
            <a:ext cx="8311896" cy="5277231"/>
          </a:xfrm>
          <a:prstGeom prst="roundRect">
            <a:avLst>
              <a:gd name="adj" fmla="val 693"/>
            </a:avLst>
          </a:prstGeom>
          <a:solidFill>
            <a:srgbClr val="FFFFFF"/>
          </a:solidFill>
          <a:ln w="9525">
            <a:solidFill>
              <a:srgbClr val="E3E7EE"/>
            </a:solidFill>
            <a:prstDash val="solid"/>
          </a:ln>
          <a:effectLst>
            <a:outerShdw sx="100000" sy="100000" kx="0" ky="0" algn="bl" rotWithShape="0" blurRad="177800" dist="63500" dir="5400000">
              <a:srgbClr val="1B2430">
                <a:alpha val="25000"/>
              </a:srgbClr>
            </a:outerShdw>
          </a:effectLst>
        </p:spPr>
      </p:sp>
      <p:pic>
        <p:nvPicPr>
          <p:cNvPr id="7" name="Image 0" descr="/home/user/talenleren/neerlandais1/generateur/img/vijfzinnen/a1_ziek.jpg">    </p:cNvPr>
          <p:cNvPicPr>
            <a:picLocks noChangeAspect="1"/>
          </p:cNvPicPr>
          <p:nvPr/>
        </p:nvPicPr>
        <p:blipFill>
          <a:blip r:embed="rId1"/>
          <a:stretch>
            <a:fillRect/>
          </a:stretch>
        </p:blipFill>
        <p:spPr>
          <a:xfrm>
            <a:off x="2628900" y="1234440"/>
            <a:ext cx="8092440" cy="5057775"/>
          </a:xfrm>
          <a:prstGeom prst="rect">
            <a:avLst/>
          </a:prstGeom>
        </p:spPr>
      </p:pic>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96</a:t>
            </a:fld>
            <a:endParaRPr lang="en-US"/>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spTree>
      <p:nvGrpSpPr>
        <p:cNvPr id="1" name=""/>
        <p:cNvGrpSpPr/>
        <p:nvPr/>
      </p:nvGrpSpPr>
      <p:grpSpPr>
        <a:xfrm>
          <a:off x="0" y="0"/>
          <a:ext cx="0" cy="0"/>
          <a:chOff x="0" y="0"/>
          <a:chExt cx="0" cy="0"/>
        </a:xfrm>
      </p:grpSpPr>
      <p:sp>
        <p:nvSpPr>
          <p:cNvPr id="2" name="Text 1"/>
          <p:cNvSpPr/>
          <p:nvPr>
            <p:ph idx="101" type="title" hasCustomPrompt="1"/>
          </p:nvPr>
        </p:nvSpPr>
        <p:spPr>
          <a:xfrm>
            <a:off x="1691640" y="347472"/>
            <a:ext cx="8138160" cy="914400"/>
          </a:xfrm>
          <a:prstGeom prst="rect">
            <a:avLst/>
          </a:prstGeom>
          <a:noFill/>
          <a:ln/>
        </p:spPr>
        <p:txBody>
          <a:bodyPr wrap="square" lIns="0" tIns="0" rIns="0" bIns="0" rtlCol="0" anchor="ctr"/>
          <a:lstStyle/>
          <a:p>
            <a:pPr algn="l" indent="0" marL="0">
              <a:buNone/>
            </a:pPr>
            <a:r>
              <a:rPr lang="en-US" sz="2400" b="1" dirty="0">
                <a:solidFill>
                  <a:srgbClr val="2B2F38"/>
                </a:solidFill>
              </a:rPr>
              <a:t>Hier is een voorbeeld van wat je had kunnen denken en zeggen…</a:t>
            </a:r>
            <a:endParaRPr lang="en-US" sz="2400" dirty="0"/>
          </a:p>
        </p:txBody>
      </p:sp>
      <p:sp>
        <p:nvSpPr>
          <p:cNvPr id="4" name="Shape 1"/>
          <p:cNvSpPr/>
          <p:nvPr/>
        </p:nvSpPr>
        <p:spPr>
          <a:xfrm>
            <a:off x="365760" y="365760"/>
            <a:ext cx="868680" cy="5989320"/>
          </a:xfrm>
          <a:prstGeom prst="roundRect">
            <a:avLst>
              <a:gd name="adj" fmla="val 12632"/>
            </a:avLst>
          </a:prstGeom>
          <a:solidFill>
            <a:srgbClr val="FDF1E4"/>
          </a:solidFill>
          <a:ln w="28575">
            <a:solidFill>
              <a:srgbClr val="F0A15E"/>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B9661F"/>
                </a:solidFill>
                <a:latin typeface="Calibri" pitchFamily="34" charset="0"/>
                <a:ea typeface="Calibri" pitchFamily="34" charset="-122"/>
                <a:cs typeface="Calibri" pitchFamily="34" charset="-120"/>
              </a:rPr>
              <a:t>A1 · Vocabulaire</a:t>
            </a:r>
            <a:endParaRPr lang="en-US" sz="3800" dirty="0"/>
          </a:p>
        </p:txBody>
      </p:sp>
      <p:sp>
        <p:nvSpPr>
          <p:cNvPr id="6" name="Shape 3"/>
          <p:cNvSpPr/>
          <p:nvPr/>
        </p:nvSpPr>
        <p:spPr>
          <a:xfrm>
            <a:off x="10058400" y="246888"/>
            <a:ext cx="1691640" cy="1091565"/>
          </a:xfrm>
          <a:prstGeom prst="roundRect">
            <a:avLst>
              <a:gd name="adj" fmla="val 3351"/>
            </a:avLst>
          </a:prstGeom>
          <a:solidFill>
            <a:srgbClr val="FFFFFF"/>
          </a:solidFill>
          <a:ln w="9525">
            <a:solidFill>
              <a:srgbClr val="E3E7EE"/>
            </a:solidFill>
            <a:prstDash val="solid"/>
          </a:ln>
          <a:effectLst>
            <a:outerShdw sx="100000" sy="100000" kx="0" ky="0" algn="bl" rotWithShape="0" blurRad="76200" dist="25400" dir="5400000">
              <a:srgbClr val="1B2430">
                <a:alpha val="25000"/>
              </a:srgbClr>
            </a:outerShdw>
          </a:effectLst>
        </p:spPr>
      </p:sp>
      <p:pic>
        <p:nvPicPr>
          <p:cNvPr id="7" name="Image 0" descr="/home/user/talenleren/neerlandais1/generateur/img/vijfzinnen/a1_ziek_s.jpg">    </p:cNvPr>
          <p:cNvPicPr>
            <a:picLocks noChangeAspect="1"/>
          </p:cNvPicPr>
          <p:nvPr/>
        </p:nvPicPr>
        <p:blipFill>
          <a:blip r:embed="rId1"/>
          <a:stretch>
            <a:fillRect/>
          </a:stretch>
        </p:blipFill>
        <p:spPr>
          <a:xfrm>
            <a:off x="10104120" y="292608"/>
            <a:ext cx="1600200" cy="1000125"/>
          </a:xfrm>
          <a:prstGeom prst="rect">
            <a:avLst/>
          </a:prstGeom>
        </p:spPr>
      </p:pic>
      <p:sp>
        <p:nvSpPr>
          <p:cNvPr id="8" name="Text 4"/>
          <p:cNvSpPr txBox="1"/>
          <p:nvPr/>
        </p:nvSpPr>
        <p:spPr>
          <a:xfrm>
            <a:off x="1691640" y="2891333"/>
            <a:ext cx="1722730"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Hallo Pieter,</a:t>
            </a:r>
            <a:endParaRPr lang="en-US" sz="2400" dirty="0"/>
          </a:p>
        </p:txBody>
      </p:sp>
      <p:sp>
        <p:nvSpPr>
          <p:cNvPr id="9" name="Shape 5"/>
          <p:cNvSpPr/>
          <p:nvPr/>
        </p:nvSpPr>
        <p:spPr>
          <a:xfrm>
            <a:off x="3318662" y="2903525"/>
            <a:ext cx="1426769" cy="371856"/>
          </a:xfrm>
          <a:prstGeom prst="roundRect">
            <a:avLst>
              <a:gd name="adj" fmla="val 12295"/>
            </a:avLst>
          </a:prstGeom>
          <a:solidFill>
            <a:srgbClr val="E6F3DA"/>
          </a:solidFill>
          <a:ln w="12700">
            <a:solidFill>
              <a:srgbClr val="FFFFFF">
                <a:alpha val="0"/>
              </a:srgbClr>
            </a:solidFill>
            <a:prstDash val="solid"/>
          </a:ln>
        </p:spPr>
      </p:sp>
      <p:sp>
        <p:nvSpPr>
          <p:cNvPr id="10" name="Text 6"/>
          <p:cNvSpPr txBox="1"/>
          <p:nvPr/>
        </p:nvSpPr>
        <p:spPr>
          <a:xfrm>
            <a:off x="3318662" y="2891333"/>
            <a:ext cx="1426769"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ik ben ziek</a:t>
            </a:r>
            <a:endParaRPr lang="en-US" sz="2400" dirty="0"/>
          </a:p>
        </p:txBody>
      </p:sp>
      <p:sp>
        <p:nvSpPr>
          <p:cNvPr id="11" name="Text 7"/>
          <p:cNvSpPr txBox="1"/>
          <p:nvPr/>
        </p:nvSpPr>
        <p:spPr>
          <a:xfrm>
            <a:off x="4745431" y="2891333"/>
            <a:ext cx="259690"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a:t>
            </a:r>
            <a:endParaRPr lang="en-US" sz="2400" dirty="0"/>
          </a:p>
        </p:txBody>
      </p:sp>
      <p:sp>
        <p:nvSpPr>
          <p:cNvPr id="12" name="Shape 8"/>
          <p:cNvSpPr/>
          <p:nvPr/>
        </p:nvSpPr>
        <p:spPr>
          <a:xfrm>
            <a:off x="4909414" y="2903525"/>
            <a:ext cx="2699309" cy="371856"/>
          </a:xfrm>
          <a:prstGeom prst="roundRect">
            <a:avLst>
              <a:gd name="adj" fmla="val 12295"/>
            </a:avLst>
          </a:prstGeom>
          <a:solidFill>
            <a:srgbClr val="E6F3DA"/>
          </a:solidFill>
          <a:ln w="12700">
            <a:solidFill>
              <a:srgbClr val="FFFFFF">
                <a:alpha val="0"/>
              </a:srgbClr>
            </a:solidFill>
            <a:prstDash val="solid"/>
          </a:ln>
        </p:spPr>
      </p:sp>
      <p:sp>
        <p:nvSpPr>
          <p:cNvPr id="13" name="Text 9"/>
          <p:cNvSpPr txBox="1"/>
          <p:nvPr/>
        </p:nvSpPr>
        <p:spPr>
          <a:xfrm>
            <a:off x="4909414" y="2891333"/>
            <a:ext cx="2699309"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Mijn hoofd doet pijn</a:t>
            </a:r>
            <a:endParaRPr lang="en-US" sz="2400" dirty="0"/>
          </a:p>
        </p:txBody>
      </p:sp>
      <p:sp>
        <p:nvSpPr>
          <p:cNvPr id="14" name="Text 10"/>
          <p:cNvSpPr txBox="1"/>
          <p:nvPr/>
        </p:nvSpPr>
        <p:spPr>
          <a:xfrm>
            <a:off x="7608722" y="2891333"/>
            <a:ext cx="259690"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a:t>
            </a:r>
            <a:endParaRPr lang="en-US" sz="2400" dirty="0"/>
          </a:p>
        </p:txBody>
      </p:sp>
      <p:sp>
        <p:nvSpPr>
          <p:cNvPr id="15" name="Shape 11"/>
          <p:cNvSpPr/>
          <p:nvPr/>
        </p:nvSpPr>
        <p:spPr>
          <a:xfrm>
            <a:off x="7772705" y="2903525"/>
            <a:ext cx="1747418" cy="371856"/>
          </a:xfrm>
          <a:prstGeom prst="roundRect">
            <a:avLst>
              <a:gd name="adj" fmla="val 12295"/>
            </a:avLst>
          </a:prstGeom>
          <a:solidFill>
            <a:srgbClr val="E6F3DA"/>
          </a:solidFill>
          <a:ln w="12700">
            <a:solidFill>
              <a:srgbClr val="FFFFFF">
                <a:alpha val="0"/>
              </a:srgbClr>
            </a:solidFill>
            <a:prstDash val="solid"/>
          </a:ln>
        </p:spPr>
      </p:sp>
      <p:sp>
        <p:nvSpPr>
          <p:cNvPr id="16" name="Text 12"/>
          <p:cNvSpPr txBox="1"/>
          <p:nvPr/>
        </p:nvSpPr>
        <p:spPr>
          <a:xfrm>
            <a:off x="7772705" y="2891333"/>
            <a:ext cx="1747418"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Ik heb koorts</a:t>
            </a:r>
            <a:endParaRPr lang="en-US" sz="2400" dirty="0"/>
          </a:p>
        </p:txBody>
      </p:sp>
      <p:sp>
        <p:nvSpPr>
          <p:cNvPr id="17" name="Text 13"/>
          <p:cNvSpPr txBox="1"/>
          <p:nvPr/>
        </p:nvSpPr>
        <p:spPr>
          <a:xfrm>
            <a:off x="9520123" y="2891333"/>
            <a:ext cx="2164690"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 negenendertig</a:t>
            </a:r>
            <a:endParaRPr lang="en-US" sz="2400" dirty="0"/>
          </a:p>
        </p:txBody>
      </p:sp>
      <p:sp>
        <p:nvSpPr>
          <p:cNvPr id="18" name="Shape 14"/>
          <p:cNvSpPr/>
          <p:nvPr/>
        </p:nvSpPr>
        <p:spPr>
          <a:xfrm>
            <a:off x="4032047" y="2827325"/>
            <a:ext cx="914" cy="76200"/>
          </a:xfrm>
          <a:prstGeom prst="line">
            <a:avLst/>
          </a:prstGeom>
          <a:noFill/>
          <a:ln w="15875">
            <a:solidFill>
              <a:srgbClr val="7AB648"/>
            </a:solidFill>
            <a:prstDash val="solid"/>
          </a:ln>
        </p:spPr>
      </p:sp>
      <p:sp>
        <p:nvSpPr>
          <p:cNvPr id="19" name="Shape 15"/>
          <p:cNvSpPr/>
          <p:nvPr/>
        </p:nvSpPr>
        <p:spPr>
          <a:xfrm>
            <a:off x="3797986" y="2580437"/>
            <a:ext cx="468122" cy="246888"/>
          </a:xfrm>
          <a:prstGeom prst="roundRect">
            <a:avLst>
              <a:gd name="adj" fmla="val 14815"/>
            </a:avLst>
          </a:prstGeom>
          <a:solidFill>
            <a:srgbClr val="7AB648"/>
          </a:solidFill>
          <a:ln w="12700">
            <a:solidFill>
              <a:srgbClr val="FFFFFF">
                <a:alpha val="0"/>
              </a:srgbClr>
            </a:solidFill>
            <a:prstDash val="solid"/>
          </a:ln>
        </p:spPr>
      </p:sp>
      <p:sp>
        <p:nvSpPr>
          <p:cNvPr id="20" name="Text 16"/>
          <p:cNvSpPr txBox="1"/>
          <p:nvPr/>
        </p:nvSpPr>
        <p:spPr>
          <a:xfrm>
            <a:off x="3797986" y="2580437"/>
            <a:ext cx="468122"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ZIEK</a:t>
            </a:r>
            <a:endParaRPr lang="en-US" sz="1100" dirty="0"/>
          </a:p>
        </p:txBody>
      </p:sp>
      <p:sp>
        <p:nvSpPr>
          <p:cNvPr id="21" name="Shape 17"/>
          <p:cNvSpPr/>
          <p:nvPr/>
        </p:nvSpPr>
        <p:spPr>
          <a:xfrm>
            <a:off x="6259068" y="2827325"/>
            <a:ext cx="914" cy="76200"/>
          </a:xfrm>
          <a:prstGeom prst="line">
            <a:avLst/>
          </a:prstGeom>
          <a:noFill/>
          <a:ln w="15875">
            <a:solidFill>
              <a:srgbClr val="7AB648"/>
            </a:solidFill>
            <a:prstDash val="solid"/>
          </a:ln>
        </p:spPr>
      </p:sp>
      <p:sp>
        <p:nvSpPr>
          <p:cNvPr id="22" name="Shape 18"/>
          <p:cNvSpPr/>
          <p:nvPr/>
        </p:nvSpPr>
        <p:spPr>
          <a:xfrm>
            <a:off x="5848706" y="2580437"/>
            <a:ext cx="820725" cy="246888"/>
          </a:xfrm>
          <a:prstGeom prst="roundRect">
            <a:avLst>
              <a:gd name="adj" fmla="val 14815"/>
            </a:avLst>
          </a:prstGeom>
          <a:solidFill>
            <a:srgbClr val="7AB648"/>
          </a:solidFill>
          <a:ln w="12700">
            <a:solidFill>
              <a:srgbClr val="FFFFFF">
                <a:alpha val="0"/>
              </a:srgbClr>
            </a:solidFill>
            <a:prstDash val="solid"/>
          </a:ln>
        </p:spPr>
      </p:sp>
      <p:sp>
        <p:nvSpPr>
          <p:cNvPr id="23" name="Text 19"/>
          <p:cNvSpPr txBox="1"/>
          <p:nvPr/>
        </p:nvSpPr>
        <p:spPr>
          <a:xfrm>
            <a:off x="5848706" y="2580437"/>
            <a:ext cx="820725"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DOET PIJN</a:t>
            </a:r>
            <a:endParaRPr lang="en-US" sz="1100" dirty="0"/>
          </a:p>
        </p:txBody>
      </p:sp>
      <p:sp>
        <p:nvSpPr>
          <p:cNvPr id="24" name="Shape 20"/>
          <p:cNvSpPr/>
          <p:nvPr/>
        </p:nvSpPr>
        <p:spPr>
          <a:xfrm>
            <a:off x="8646414" y="2827325"/>
            <a:ext cx="914" cy="76200"/>
          </a:xfrm>
          <a:prstGeom prst="line">
            <a:avLst/>
          </a:prstGeom>
          <a:noFill/>
          <a:ln w="15875">
            <a:solidFill>
              <a:srgbClr val="7AB648"/>
            </a:solidFill>
            <a:prstDash val="solid"/>
          </a:ln>
        </p:spPr>
      </p:sp>
      <p:sp>
        <p:nvSpPr>
          <p:cNvPr id="25" name="Shape 21"/>
          <p:cNvSpPr/>
          <p:nvPr/>
        </p:nvSpPr>
        <p:spPr>
          <a:xfrm>
            <a:off x="8297101" y="2580437"/>
            <a:ext cx="698627" cy="246888"/>
          </a:xfrm>
          <a:prstGeom prst="roundRect">
            <a:avLst>
              <a:gd name="adj" fmla="val 14815"/>
            </a:avLst>
          </a:prstGeom>
          <a:solidFill>
            <a:srgbClr val="7AB648"/>
          </a:solidFill>
          <a:ln w="12700">
            <a:solidFill>
              <a:srgbClr val="FFFFFF">
                <a:alpha val="0"/>
              </a:srgbClr>
            </a:solidFill>
            <a:prstDash val="solid"/>
          </a:ln>
        </p:spPr>
      </p:sp>
      <p:sp>
        <p:nvSpPr>
          <p:cNvPr id="26" name="Text 22"/>
          <p:cNvSpPr txBox="1"/>
          <p:nvPr/>
        </p:nvSpPr>
        <p:spPr>
          <a:xfrm>
            <a:off x="8297101" y="2580437"/>
            <a:ext cx="698627"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KOORTS</a:t>
            </a:r>
            <a:endParaRPr lang="en-US" sz="1100" dirty="0"/>
          </a:p>
        </p:txBody>
      </p:sp>
      <p:sp>
        <p:nvSpPr>
          <p:cNvPr id="27" name="Text 23"/>
          <p:cNvSpPr txBox="1"/>
          <p:nvPr/>
        </p:nvSpPr>
        <p:spPr>
          <a:xfrm>
            <a:off x="1691640" y="3433877"/>
            <a:ext cx="1150010"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graden!</a:t>
            </a:r>
            <a:endParaRPr lang="en-US" sz="2400" dirty="0"/>
          </a:p>
        </p:txBody>
      </p:sp>
      <p:sp>
        <p:nvSpPr>
          <p:cNvPr id="28" name="Text 24"/>
          <p:cNvSpPr txBox="1"/>
          <p:nvPr/>
        </p:nvSpPr>
        <p:spPr>
          <a:xfrm>
            <a:off x="3147670" y="4488485"/>
            <a:ext cx="1584960"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Vanmiddag</a:t>
            </a:r>
            <a:endParaRPr lang="en-US" sz="2400" dirty="0"/>
          </a:p>
        </p:txBody>
      </p:sp>
      <p:sp>
        <p:nvSpPr>
          <p:cNvPr id="29" name="Shape 25"/>
          <p:cNvSpPr/>
          <p:nvPr/>
        </p:nvSpPr>
        <p:spPr>
          <a:xfrm>
            <a:off x="4636922" y="4500677"/>
            <a:ext cx="1318565" cy="371856"/>
          </a:xfrm>
          <a:prstGeom prst="roundRect">
            <a:avLst>
              <a:gd name="adj" fmla="val 12295"/>
            </a:avLst>
          </a:prstGeom>
          <a:solidFill>
            <a:srgbClr val="E6F3DA"/>
          </a:solidFill>
          <a:ln w="12700">
            <a:solidFill>
              <a:srgbClr val="FFFFFF">
                <a:alpha val="0"/>
              </a:srgbClr>
            </a:solidFill>
            <a:prstDash val="solid"/>
          </a:ln>
        </p:spPr>
      </p:sp>
      <p:sp>
        <p:nvSpPr>
          <p:cNvPr id="30" name="Text 26"/>
          <p:cNvSpPr txBox="1"/>
          <p:nvPr/>
        </p:nvSpPr>
        <p:spPr>
          <a:xfrm>
            <a:off x="4636922" y="4488485"/>
            <a:ext cx="1318565"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ga ik naar</a:t>
            </a:r>
            <a:endParaRPr lang="en-US" sz="2400" dirty="0"/>
          </a:p>
        </p:txBody>
      </p:sp>
      <p:sp>
        <p:nvSpPr>
          <p:cNvPr id="31" name="Text 27"/>
          <p:cNvSpPr txBox="1"/>
          <p:nvPr/>
        </p:nvSpPr>
        <p:spPr>
          <a:xfrm>
            <a:off x="6042660" y="4488485"/>
            <a:ext cx="4388510"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de dokter… en niet naar kantoor!</a:t>
            </a:r>
            <a:endParaRPr lang="en-US" sz="2400" dirty="0"/>
          </a:p>
        </p:txBody>
      </p:sp>
      <p:sp>
        <p:nvSpPr>
          <p:cNvPr id="32" name="Shape 28"/>
          <p:cNvSpPr/>
          <p:nvPr/>
        </p:nvSpPr>
        <p:spPr>
          <a:xfrm>
            <a:off x="5296205" y="4424477"/>
            <a:ext cx="914" cy="76200"/>
          </a:xfrm>
          <a:prstGeom prst="line">
            <a:avLst/>
          </a:prstGeom>
          <a:noFill/>
          <a:ln w="15875">
            <a:solidFill>
              <a:srgbClr val="7AB648"/>
            </a:solidFill>
            <a:prstDash val="solid"/>
          </a:ln>
        </p:spPr>
      </p:sp>
      <p:sp>
        <p:nvSpPr>
          <p:cNvPr id="33" name="Shape 29"/>
          <p:cNvSpPr/>
          <p:nvPr/>
        </p:nvSpPr>
        <p:spPr>
          <a:xfrm>
            <a:off x="4841208" y="4177589"/>
            <a:ext cx="909993" cy="246888"/>
          </a:xfrm>
          <a:prstGeom prst="roundRect">
            <a:avLst>
              <a:gd name="adj" fmla="val 14815"/>
            </a:avLst>
          </a:prstGeom>
          <a:solidFill>
            <a:srgbClr val="7AB648"/>
          </a:solidFill>
          <a:ln w="12700">
            <a:solidFill>
              <a:srgbClr val="FFFFFF">
                <a:alpha val="0"/>
              </a:srgbClr>
            </a:solidFill>
            <a:prstDash val="solid"/>
          </a:ln>
        </p:spPr>
      </p:sp>
      <p:sp>
        <p:nvSpPr>
          <p:cNvPr id="34" name="Text 30"/>
          <p:cNvSpPr txBox="1"/>
          <p:nvPr/>
        </p:nvSpPr>
        <p:spPr>
          <a:xfrm>
            <a:off x="4841208" y="4177589"/>
            <a:ext cx="909993"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IK GA NAAR</a:t>
            </a:r>
            <a:endParaRPr lang="en-US" sz="1100" dirty="0"/>
          </a:p>
        </p:txBody>
      </p:sp>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97</a:t>
            </a:fld>
            <a:endParaRPr lang="en-US"/>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spTree>
      <p:nvGrpSpPr>
        <p:cNvPr id="1" name=""/>
        <p:cNvGrpSpPr/>
        <p:nvPr/>
      </p:nvGrpSpPr>
      <p:grpSpPr>
        <a:xfrm>
          <a:off x="0" y="0"/>
          <a:ext cx="0" cy="0"/>
          <a:chOff x="0" y="0"/>
          <a:chExt cx="0" cy="0"/>
        </a:xfrm>
      </p:grpSpPr>
      <p:sp>
        <p:nvSpPr>
          <p:cNvPr id="2" name="Text 1"/>
          <p:cNvSpPr/>
          <p:nvPr>
            <p:ph idx="101" type="title" hasCustomPrompt="1"/>
          </p:nvPr>
        </p:nvSpPr>
        <p:spPr>
          <a:xfrm>
            <a:off x="1554480" y="384048"/>
            <a:ext cx="10241280" cy="658368"/>
          </a:xfrm>
          <a:prstGeom prst="rect">
            <a:avLst/>
          </a:prstGeom>
          <a:noFill/>
          <a:ln/>
        </p:spPr>
        <p:txBody>
          <a:bodyPr wrap="square" lIns="0" tIns="0" rIns="0" bIns="0" rtlCol="0" anchor="ctr"/>
          <a:lstStyle/>
          <a:p>
            <a:pPr algn="ctr" indent="0" marL="0">
              <a:buNone/>
            </a:pPr>
            <a:r>
              <a:rPr lang="en-US" sz="3000" b="1" dirty="0">
                <a:solidFill>
                  <a:srgbClr val="2B2F38"/>
                </a:solidFill>
              </a:rPr>
              <a:t>Gebruik deze afbeelding als inspiratie</a:t>
            </a:r>
            <a:endParaRPr lang="en-US" sz="3000" dirty="0"/>
          </a:p>
        </p:txBody>
      </p:sp>
      <p:sp>
        <p:nvSpPr>
          <p:cNvPr id="4" name="Shape 1"/>
          <p:cNvSpPr/>
          <p:nvPr/>
        </p:nvSpPr>
        <p:spPr>
          <a:xfrm>
            <a:off x="365760" y="365760"/>
            <a:ext cx="868680" cy="5989320"/>
          </a:xfrm>
          <a:prstGeom prst="roundRect">
            <a:avLst>
              <a:gd name="adj" fmla="val 12632"/>
            </a:avLst>
          </a:prstGeom>
          <a:solidFill>
            <a:srgbClr val="FDF1E4"/>
          </a:solidFill>
          <a:ln w="28575">
            <a:solidFill>
              <a:srgbClr val="F0A15E"/>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B9661F"/>
                </a:solidFill>
                <a:latin typeface="Calibri" pitchFamily="34" charset="0"/>
                <a:ea typeface="Calibri" pitchFamily="34" charset="-122"/>
                <a:cs typeface="Calibri" pitchFamily="34" charset="-120"/>
              </a:rPr>
              <a:t>A1 · Vocabulaire</a:t>
            </a:r>
            <a:endParaRPr lang="en-US" sz="3800" dirty="0"/>
          </a:p>
        </p:txBody>
      </p:sp>
      <p:sp>
        <p:nvSpPr>
          <p:cNvPr id="6" name="Text 3"/>
          <p:cNvSpPr txBox="1"/>
          <p:nvPr/>
        </p:nvSpPr>
        <p:spPr>
          <a:xfrm>
            <a:off x="1554480" y="1024128"/>
            <a:ext cx="10241280" cy="365760"/>
          </a:xfrm>
          <a:prstGeom prst="rect">
            <a:avLst/>
          </a:prstGeom>
          <a:noFill/>
          <a:ln/>
        </p:spPr>
        <p:txBody>
          <a:bodyPr wrap="square" lIns="0" tIns="0" rIns="0" bIns="0" rtlCol="0" anchor="ctr"/>
          <a:lstStyle/>
          <a:p>
            <a:pPr algn="ctr" indent="0" marL="0">
              <a:buNone/>
            </a:pPr>
            <a:r>
              <a:rPr lang="en-US" sz="1500" b="1" dirty="0">
                <a:solidFill>
                  <a:srgbClr val="B9661F"/>
                </a:solidFill>
                <a:latin typeface="Calibri" pitchFamily="34" charset="0"/>
                <a:ea typeface="Calibri" pitchFamily="34" charset="-122"/>
                <a:cs typeface="Calibri" pitchFamily="34" charset="-120"/>
              </a:rPr>
              <a:t>31 · Op kantoor</a:t>
            </a:r>
            <a:r>
              <a:rPr lang="en-US" sz="1500" i="1" dirty="0">
                <a:solidFill>
                  <a:srgbClr val="6B7280"/>
                </a:solidFill>
                <a:latin typeface="Calibri" pitchFamily="34" charset="0"/>
                <a:ea typeface="Calibri" pitchFamily="34" charset="-122"/>
                <a:cs typeface="Calibri" pitchFamily="34" charset="-120"/>
              </a:rPr>
              <a:t>   Au bureau</a:t>
            </a:r>
            <a:r>
              <a:rPr lang="en-US" sz="1200" dirty="0">
                <a:solidFill>
                  <a:srgbClr val="9AA3B2"/>
                </a:solidFill>
                <a:latin typeface="Calibri" pitchFamily="34" charset="0"/>
                <a:ea typeface="Calibri" pitchFamily="34" charset="-122"/>
                <a:cs typeface="Calibri" pitchFamily="34" charset="-120"/>
              </a:rPr>
              <a:t>   ·   syllabus vocabulaire 07 · p. 84</a:t>
            </a:r>
            <a:endParaRPr lang="en-US" sz="1500" dirty="0"/>
          </a:p>
        </p:txBody>
      </p:sp>
      <p:sp>
        <p:nvSpPr>
          <p:cNvPr id="7" name="Shape 4"/>
          <p:cNvSpPr/>
          <p:nvPr/>
        </p:nvSpPr>
        <p:spPr>
          <a:xfrm>
            <a:off x="1596085" y="1504645"/>
            <a:ext cx="4534510" cy="2905735"/>
          </a:xfrm>
          <a:prstGeom prst="roundRect">
            <a:avLst>
              <a:gd name="adj" fmla="val 1259"/>
            </a:avLst>
          </a:prstGeom>
          <a:solidFill>
            <a:srgbClr val="FFFFFF"/>
          </a:solidFill>
          <a:ln w="9525">
            <a:solidFill>
              <a:srgbClr val="E3E7EE"/>
            </a:solidFill>
            <a:prstDash val="solid"/>
          </a:ln>
          <a:effectLst>
            <a:outerShdw sx="100000" sy="100000" kx="0" ky="0" algn="bl" rotWithShape="0" blurRad="127000" dist="50800" dir="5400000">
              <a:srgbClr val="1B2430">
                <a:alpha val="25000"/>
              </a:srgbClr>
            </a:outerShdw>
          </a:effectLst>
        </p:spPr>
      </p:sp>
      <p:pic>
        <p:nvPicPr>
          <p:cNvPr id="8" name="Image 0" descr="/home/user/talenleren/neerlandais1/generateur/img/vijfzinnen/a1_kantoor_s.jpg">    </p:cNvPr>
          <p:cNvPicPr>
            <a:picLocks noChangeAspect="1"/>
          </p:cNvPicPr>
          <p:nvPr/>
        </p:nvPicPr>
        <p:blipFill>
          <a:blip r:embed="rId1"/>
          <a:stretch>
            <a:fillRect/>
          </a:stretch>
        </p:blipFill>
        <p:spPr>
          <a:xfrm>
            <a:off x="1691640" y="1600200"/>
            <a:ext cx="4343400" cy="2714625"/>
          </a:xfrm>
          <a:prstGeom prst="rect">
            <a:avLst/>
          </a:prstGeom>
        </p:spPr>
      </p:pic>
      <p:sp>
        <p:nvSpPr>
          <p:cNvPr id="9" name="Shape 5"/>
          <p:cNvSpPr/>
          <p:nvPr/>
        </p:nvSpPr>
        <p:spPr>
          <a:xfrm>
            <a:off x="1691640" y="4572000"/>
            <a:ext cx="1600200" cy="365760"/>
          </a:xfrm>
          <a:prstGeom prst="roundRect">
            <a:avLst>
              <a:gd name="adj" fmla="val 50000"/>
            </a:avLst>
          </a:prstGeom>
          <a:solidFill>
            <a:srgbClr val="EAF1FC"/>
          </a:solidFill>
          <a:ln w="12700">
            <a:solidFill>
              <a:srgbClr val="4A7BD0"/>
            </a:solidFill>
            <a:prstDash val="solid"/>
          </a:ln>
        </p:spPr>
      </p:sp>
      <p:pic>
        <p:nvPicPr>
          <p:cNvPr id="10" name="Image 1" descr="PenNib">    </p:cNvPr>
          <p:cNvPicPr>
            <a:picLocks noChangeAspect="1"/>
          </p:cNvPicPr>
          <p:nvPr/>
        </p:nvPicPr>
        <p:blipFill>
          <a:blip r:embed="rId2"/>
          <a:stretch>
            <a:fillRect/>
          </a:stretch>
        </p:blipFill>
        <p:spPr>
          <a:xfrm>
            <a:off x="1819656" y="4654296"/>
            <a:ext cx="201168" cy="201168"/>
          </a:xfrm>
          <a:prstGeom prst="rect">
            <a:avLst/>
          </a:prstGeom>
        </p:spPr>
      </p:pic>
      <p:sp>
        <p:nvSpPr>
          <p:cNvPr id="11" name="Text 6"/>
          <p:cNvSpPr txBox="1"/>
          <p:nvPr/>
        </p:nvSpPr>
        <p:spPr>
          <a:xfrm>
            <a:off x="2075688" y="4572000"/>
            <a:ext cx="1143000" cy="365760"/>
          </a:xfrm>
          <a:prstGeom prst="rect">
            <a:avLst/>
          </a:prstGeom>
          <a:noFill/>
          <a:ln/>
        </p:spPr>
        <p:txBody>
          <a:bodyPr wrap="square" lIns="0" tIns="0" rIns="0" bIns="0" rtlCol="0" anchor="ctr"/>
          <a:lstStyle/>
          <a:p>
            <a:pPr algn="l" indent="0" marL="0">
              <a:buNone/>
            </a:pPr>
            <a:r>
              <a:rPr lang="en-US" sz="1150" b="1" spc="100" kern="0" dirty="0">
                <a:solidFill>
                  <a:srgbClr val="4A7BD0"/>
                </a:solidFill>
                <a:latin typeface="Calibri" pitchFamily="34" charset="0"/>
                <a:ea typeface="Calibri" pitchFamily="34" charset="-122"/>
                <a:cs typeface="Calibri" pitchFamily="34" charset="-120"/>
              </a:rPr>
              <a:t>À L’ÉCRIT</a:t>
            </a:r>
            <a:endParaRPr lang="en-US" sz="1150" dirty="0"/>
          </a:p>
        </p:txBody>
      </p:sp>
      <p:sp>
        <p:nvSpPr>
          <p:cNvPr id="12" name="Text 7"/>
          <p:cNvSpPr txBox="1"/>
          <p:nvPr/>
        </p:nvSpPr>
        <p:spPr>
          <a:xfrm>
            <a:off x="3429000" y="4544568"/>
            <a:ext cx="2651760" cy="731520"/>
          </a:xfrm>
          <a:prstGeom prst="rect">
            <a:avLst/>
          </a:prstGeom>
          <a:noFill/>
          <a:ln/>
        </p:spPr>
        <p:txBody>
          <a:bodyPr wrap="square" lIns="0" tIns="0" rIns="0" bIns="0" rtlCol="0" anchor="t"/>
          <a:lstStyle/>
          <a:p>
            <a:pPr algn="l" indent="0" marL="0">
              <a:buNone/>
            </a:pPr>
            <a:r>
              <a:rPr lang="en-US" sz="1150" i="1" dirty="0">
                <a:solidFill>
                  <a:srgbClr val="6B7280"/>
                </a:solidFill>
                <a:latin typeface="Calibri" pitchFamily="34" charset="0"/>
                <a:ea typeface="Calibri" pitchFamily="34" charset="-122"/>
                <a:cs typeface="Calibri" pitchFamily="34" charset="-120"/>
              </a:rPr>
              <a:t>Premier jour dans votre nouveau travail. Décrivez votre bureau.</a:t>
            </a:r>
            <a:endParaRPr lang="en-US" sz="1150" dirty="0"/>
          </a:p>
        </p:txBody>
      </p:sp>
      <p:sp>
        <p:nvSpPr>
          <p:cNvPr id="13" name="Shape 8"/>
          <p:cNvSpPr/>
          <p:nvPr/>
        </p:nvSpPr>
        <p:spPr>
          <a:xfrm>
            <a:off x="6355080" y="1673352"/>
            <a:ext cx="914400" cy="402336"/>
          </a:xfrm>
          <a:prstGeom prst="roundRect">
            <a:avLst>
              <a:gd name="adj" fmla="val 13636"/>
            </a:avLst>
          </a:prstGeom>
          <a:solidFill>
            <a:srgbClr val="5FA873"/>
          </a:solidFill>
          <a:ln w="12700">
            <a:solidFill>
              <a:srgbClr val="FFFFFF">
                <a:alpha val="0"/>
              </a:srgbClr>
            </a:solidFill>
            <a:prstDash val="solid"/>
          </a:ln>
        </p:spPr>
      </p:sp>
      <p:sp>
        <p:nvSpPr>
          <p:cNvPr id="14" name="Text 9"/>
          <p:cNvSpPr txBox="1"/>
          <p:nvPr/>
        </p:nvSpPr>
        <p:spPr>
          <a:xfrm>
            <a:off x="6355080" y="167335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1</a:t>
            </a:r>
            <a:endParaRPr lang="en-US" sz="1600" dirty="0"/>
          </a:p>
        </p:txBody>
      </p:sp>
      <p:sp>
        <p:nvSpPr>
          <p:cNvPr id="15" name="Text 10"/>
          <p:cNvSpPr txBox="1"/>
          <p:nvPr/>
        </p:nvSpPr>
        <p:spPr>
          <a:xfrm>
            <a:off x="7406640" y="1618488"/>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Le lieu : </a:t>
            </a:r>
            <a:r>
              <a:rPr lang="en-US" sz="1450" b="1" dirty="0">
                <a:solidFill>
                  <a:srgbClr val="2B2F38"/>
                </a:solidFill>
              </a:rPr>
              <a:t>IK WERK IN</a:t>
            </a:r>
            <a:r>
              <a:rPr lang="en-US" sz="1450" dirty="0">
                <a:solidFill>
                  <a:srgbClr val="2B2F38"/>
                </a:solidFill>
              </a:rPr>
              <a:t> een kantoor / een fabriek…</a:t>
            </a:r>
            <a:endParaRPr lang="en-US" sz="1450" dirty="0"/>
          </a:p>
        </p:txBody>
      </p:sp>
      <p:sp>
        <p:nvSpPr>
          <p:cNvPr id="16" name="Shape 11"/>
          <p:cNvSpPr/>
          <p:nvPr/>
        </p:nvSpPr>
        <p:spPr>
          <a:xfrm>
            <a:off x="6355080" y="2404872"/>
            <a:ext cx="914400" cy="402336"/>
          </a:xfrm>
          <a:prstGeom prst="roundRect">
            <a:avLst>
              <a:gd name="adj" fmla="val 13636"/>
            </a:avLst>
          </a:prstGeom>
          <a:solidFill>
            <a:srgbClr val="5FA873"/>
          </a:solidFill>
          <a:ln w="12700">
            <a:solidFill>
              <a:srgbClr val="FFFFFF">
                <a:alpha val="0"/>
              </a:srgbClr>
            </a:solidFill>
            <a:prstDash val="solid"/>
          </a:ln>
        </p:spPr>
      </p:sp>
      <p:sp>
        <p:nvSpPr>
          <p:cNvPr id="17" name="Text 12"/>
          <p:cNvSpPr txBox="1"/>
          <p:nvPr/>
        </p:nvSpPr>
        <p:spPr>
          <a:xfrm>
            <a:off x="6355080" y="240487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2</a:t>
            </a:r>
            <a:endParaRPr lang="en-US" sz="1600" dirty="0"/>
          </a:p>
        </p:txBody>
      </p:sp>
      <p:sp>
        <p:nvSpPr>
          <p:cNvPr id="18" name="Text 13"/>
          <p:cNvSpPr txBox="1"/>
          <p:nvPr/>
        </p:nvSpPr>
        <p:spPr>
          <a:xfrm>
            <a:off x="7406640" y="2350008"/>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Le matériel : </a:t>
            </a:r>
            <a:r>
              <a:rPr lang="en-US" sz="1450" b="1" dirty="0">
                <a:solidFill>
                  <a:srgbClr val="2B2F38"/>
                </a:solidFill>
              </a:rPr>
              <a:t>ER IS</a:t>
            </a:r>
            <a:r>
              <a:rPr lang="en-US" sz="1450" dirty="0">
                <a:solidFill>
                  <a:srgbClr val="2B2F38"/>
                </a:solidFill>
              </a:rPr>
              <a:t> een computer, een printer…</a:t>
            </a:r>
            <a:endParaRPr lang="en-US" sz="1450" dirty="0"/>
          </a:p>
        </p:txBody>
      </p:sp>
      <p:sp>
        <p:nvSpPr>
          <p:cNvPr id="19" name="Shape 14"/>
          <p:cNvSpPr/>
          <p:nvPr/>
        </p:nvSpPr>
        <p:spPr>
          <a:xfrm>
            <a:off x="6355080" y="3136392"/>
            <a:ext cx="914400" cy="402336"/>
          </a:xfrm>
          <a:prstGeom prst="roundRect">
            <a:avLst>
              <a:gd name="adj" fmla="val 13636"/>
            </a:avLst>
          </a:prstGeom>
          <a:solidFill>
            <a:srgbClr val="5FA873"/>
          </a:solidFill>
          <a:ln w="12700">
            <a:solidFill>
              <a:srgbClr val="FFFFFF">
                <a:alpha val="0"/>
              </a:srgbClr>
            </a:solidFill>
            <a:prstDash val="solid"/>
          </a:ln>
        </p:spPr>
      </p:sp>
      <p:sp>
        <p:nvSpPr>
          <p:cNvPr id="20" name="Text 15"/>
          <p:cNvSpPr txBox="1"/>
          <p:nvPr/>
        </p:nvSpPr>
        <p:spPr>
          <a:xfrm>
            <a:off x="6355080" y="313639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3</a:t>
            </a:r>
            <a:endParaRPr lang="en-US" sz="1600" dirty="0"/>
          </a:p>
        </p:txBody>
      </p:sp>
      <p:sp>
        <p:nvSpPr>
          <p:cNvPr id="21" name="Text 16"/>
          <p:cNvSpPr txBox="1"/>
          <p:nvPr/>
        </p:nvSpPr>
        <p:spPr>
          <a:xfrm>
            <a:off x="7406640" y="3081528"/>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Les gens : </a:t>
            </a:r>
            <a:r>
              <a:rPr lang="en-US" sz="1450" b="1" dirty="0">
                <a:solidFill>
                  <a:srgbClr val="2B2F38"/>
                </a:solidFill>
              </a:rPr>
              <a:t>MIJN COLLEGA</a:t>
            </a:r>
            <a:r>
              <a:rPr lang="en-US" sz="1450" dirty="0">
                <a:solidFill>
                  <a:srgbClr val="2B2F38"/>
                </a:solidFill>
              </a:rPr>
              <a:t> / </a:t>
            </a:r>
            <a:r>
              <a:rPr lang="en-US" sz="1450" b="1" dirty="0">
                <a:solidFill>
                  <a:srgbClr val="2B2F38"/>
                </a:solidFill>
              </a:rPr>
              <a:t>MIJN BAAS</a:t>
            </a:r>
            <a:r>
              <a:rPr lang="en-US" sz="1450" dirty="0">
                <a:solidFill>
                  <a:srgbClr val="2B2F38"/>
                </a:solidFill>
              </a:rPr>
              <a:t> is…</a:t>
            </a:r>
            <a:endParaRPr lang="en-US" sz="1450" dirty="0"/>
          </a:p>
        </p:txBody>
      </p:sp>
      <p:sp>
        <p:nvSpPr>
          <p:cNvPr id="22" name="Shape 17"/>
          <p:cNvSpPr/>
          <p:nvPr/>
        </p:nvSpPr>
        <p:spPr>
          <a:xfrm>
            <a:off x="6355080" y="3867912"/>
            <a:ext cx="914400" cy="402336"/>
          </a:xfrm>
          <a:prstGeom prst="roundRect">
            <a:avLst>
              <a:gd name="adj" fmla="val 13636"/>
            </a:avLst>
          </a:prstGeom>
          <a:solidFill>
            <a:srgbClr val="5FA873"/>
          </a:solidFill>
          <a:ln w="12700">
            <a:solidFill>
              <a:srgbClr val="FFFFFF">
                <a:alpha val="0"/>
              </a:srgbClr>
            </a:solidFill>
            <a:prstDash val="solid"/>
          </a:ln>
        </p:spPr>
      </p:sp>
      <p:sp>
        <p:nvSpPr>
          <p:cNvPr id="23" name="Text 18"/>
          <p:cNvSpPr txBox="1"/>
          <p:nvPr/>
        </p:nvSpPr>
        <p:spPr>
          <a:xfrm>
            <a:off x="6355080" y="386791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4</a:t>
            </a:r>
            <a:endParaRPr lang="en-US" sz="1600" dirty="0"/>
          </a:p>
        </p:txBody>
      </p:sp>
      <p:sp>
        <p:nvSpPr>
          <p:cNvPr id="24" name="Text 19"/>
          <p:cNvSpPr txBox="1"/>
          <p:nvPr/>
        </p:nvSpPr>
        <p:spPr>
          <a:xfrm>
            <a:off x="7406640" y="3813048"/>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Une chute avec </a:t>
            </a:r>
            <a:r>
              <a:rPr lang="en-US" sz="1450" b="1" dirty="0">
                <a:solidFill>
                  <a:srgbClr val="2B2F38"/>
                </a:solidFill>
              </a:rPr>
              <a:t>DE KOFFIEAUTOMAAT</a:t>
            </a:r>
            <a:r>
              <a:rPr lang="en-US" sz="1450" dirty="0">
                <a:solidFill>
                  <a:srgbClr val="2B2F38"/>
                </a:solidFill>
              </a:rPr>
              <a:t>.</a:t>
            </a:r>
            <a:endParaRPr lang="en-US" sz="1450" dirty="0"/>
          </a:p>
        </p:txBody>
      </p:sp>
      <p:sp>
        <p:nvSpPr>
          <p:cNvPr id="25" name="Shape 20"/>
          <p:cNvSpPr/>
          <p:nvPr/>
        </p:nvSpPr>
        <p:spPr>
          <a:xfrm>
            <a:off x="3246120" y="5440680"/>
            <a:ext cx="6858000" cy="822960"/>
          </a:xfrm>
          <a:prstGeom prst="roundRect">
            <a:avLst>
              <a:gd name="adj" fmla="val 17778"/>
            </a:avLst>
          </a:prstGeom>
          <a:solidFill>
            <a:srgbClr val="EAF5EC"/>
          </a:solidFill>
          <a:ln w="15875">
            <a:solidFill>
              <a:srgbClr val="5FA873"/>
            </a:solidFill>
            <a:prstDash val="solid"/>
          </a:ln>
        </p:spPr>
      </p:sp>
      <p:pic>
        <p:nvPicPr>
          <p:cNvPr id="26" name="Image 2" descr="UserFriends">    </p:cNvPr>
          <p:cNvPicPr>
            <a:picLocks noChangeAspect="1"/>
          </p:cNvPicPr>
          <p:nvPr/>
        </p:nvPicPr>
        <p:blipFill>
          <a:blip r:embed="rId3"/>
          <a:stretch>
            <a:fillRect/>
          </a:stretch>
        </p:blipFill>
        <p:spPr>
          <a:xfrm>
            <a:off x="3520440" y="5660136"/>
            <a:ext cx="384048" cy="384048"/>
          </a:xfrm>
          <a:prstGeom prst="rect">
            <a:avLst/>
          </a:prstGeom>
        </p:spPr>
      </p:pic>
      <p:sp>
        <p:nvSpPr>
          <p:cNvPr id="27" name="Text 21"/>
          <p:cNvSpPr txBox="1"/>
          <p:nvPr/>
        </p:nvSpPr>
        <p:spPr>
          <a:xfrm>
            <a:off x="4114800" y="5440680"/>
            <a:ext cx="5852160" cy="822960"/>
          </a:xfrm>
          <a:prstGeom prst="rect">
            <a:avLst/>
          </a:prstGeom>
          <a:noFill/>
          <a:ln/>
        </p:spPr>
        <p:txBody>
          <a:bodyPr wrap="square" lIns="0" tIns="0" rIns="0" bIns="0" rtlCol="0" anchor="ctr"/>
          <a:lstStyle/>
          <a:p>
            <a:pPr algn="ctr" indent="0" marL="0">
              <a:buNone/>
            </a:pPr>
            <a:r>
              <a:rPr lang="en-US" sz="1800" b="1" dirty="0">
                <a:solidFill>
                  <a:srgbClr val="2E6B44"/>
                </a:solidFill>
                <a:latin typeface="Calibri" pitchFamily="34" charset="0"/>
                <a:ea typeface="Calibri" pitchFamily="34" charset="-122"/>
                <a:cs typeface="Calibri" pitchFamily="34" charset="-120"/>
              </a:rPr>
              <a:t>Lees je tekst voor aan je partner.</a:t>
            </a:r>
            <a:endParaRPr lang="en-US" sz="1800" dirty="0"/>
          </a:p>
          <a:p>
            <a:pPr algn="ctr" indent="0" marL="0">
              <a:buNone/>
            </a:pPr>
            <a:r>
              <a:rPr lang="en-US" sz="1800" b="1" dirty="0">
                <a:solidFill>
                  <a:srgbClr val="2E6B44"/>
                </a:solidFill>
                <a:latin typeface="Calibri" pitchFamily="34" charset="0"/>
                <a:ea typeface="Calibri" pitchFamily="34" charset="-122"/>
                <a:cs typeface="Calibri" pitchFamily="34" charset="-120"/>
              </a:rPr>
              <a:t>Wat denkt hij/zij daarvan?</a:t>
            </a:r>
            <a:endParaRPr lang="en-US" sz="1800" dirty="0"/>
          </a:p>
        </p:txBody>
      </p:sp>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98</a:t>
            </a:fld>
            <a:endParaRPr lang="en-US"/>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spTree>
      <p:nvGrpSpPr>
        <p:cNvPr id="1" name=""/>
        <p:cNvGrpSpPr/>
        <p:nvPr/>
      </p:nvGrpSpPr>
      <p:grpSpPr>
        <a:xfrm>
          <a:off x="0" y="0"/>
          <a:ext cx="0" cy="0"/>
          <a:chOff x="0" y="0"/>
          <a:chExt cx="0" cy="0"/>
        </a:xfrm>
      </p:grpSpPr>
      <p:sp>
        <p:nvSpPr>
          <p:cNvPr id="2" name="Text 1"/>
          <p:cNvSpPr/>
          <p:nvPr>
            <p:ph idx="101" type="title" hasCustomPrompt="1"/>
          </p:nvPr>
        </p:nvSpPr>
        <p:spPr>
          <a:xfrm>
            <a:off x="1554480" y="384048"/>
            <a:ext cx="10241280" cy="658368"/>
          </a:xfrm>
          <a:prstGeom prst="rect">
            <a:avLst/>
          </a:prstGeom>
          <a:noFill/>
          <a:ln/>
        </p:spPr>
        <p:txBody>
          <a:bodyPr wrap="square" lIns="0" tIns="0" rIns="0" bIns="0" rtlCol="0" anchor="ctr"/>
          <a:lstStyle/>
          <a:p>
            <a:pPr algn="ctr" indent="0" marL="0">
              <a:buNone/>
            </a:pPr>
            <a:r>
              <a:rPr lang="en-US" sz="3000" b="1" dirty="0">
                <a:solidFill>
                  <a:srgbClr val="2B2F38"/>
                </a:solidFill>
              </a:rPr>
              <a:t>Op kantoor</a:t>
            </a:r>
            <a:endParaRPr lang="en-US" sz="3000" dirty="0"/>
          </a:p>
        </p:txBody>
      </p:sp>
      <p:sp>
        <p:nvSpPr>
          <p:cNvPr id="4" name="Shape 1"/>
          <p:cNvSpPr/>
          <p:nvPr/>
        </p:nvSpPr>
        <p:spPr>
          <a:xfrm>
            <a:off x="365760" y="365760"/>
            <a:ext cx="868680" cy="5989320"/>
          </a:xfrm>
          <a:prstGeom prst="roundRect">
            <a:avLst>
              <a:gd name="adj" fmla="val 12632"/>
            </a:avLst>
          </a:prstGeom>
          <a:solidFill>
            <a:srgbClr val="FDF1E4"/>
          </a:solidFill>
          <a:ln w="28575">
            <a:solidFill>
              <a:srgbClr val="F0A15E"/>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B9661F"/>
                </a:solidFill>
                <a:latin typeface="Calibri" pitchFamily="34" charset="0"/>
                <a:ea typeface="Calibri" pitchFamily="34" charset="-122"/>
                <a:cs typeface="Calibri" pitchFamily="34" charset="-120"/>
              </a:rPr>
              <a:t>A1 · Vocabulaire</a:t>
            </a:r>
            <a:endParaRPr lang="en-US" sz="3800" dirty="0"/>
          </a:p>
        </p:txBody>
      </p:sp>
      <p:sp>
        <p:nvSpPr>
          <p:cNvPr id="6" name="Shape 3"/>
          <p:cNvSpPr/>
          <p:nvPr/>
        </p:nvSpPr>
        <p:spPr>
          <a:xfrm>
            <a:off x="2519172" y="1124712"/>
            <a:ext cx="8311896" cy="5277231"/>
          </a:xfrm>
          <a:prstGeom prst="roundRect">
            <a:avLst>
              <a:gd name="adj" fmla="val 693"/>
            </a:avLst>
          </a:prstGeom>
          <a:solidFill>
            <a:srgbClr val="FFFFFF"/>
          </a:solidFill>
          <a:ln w="9525">
            <a:solidFill>
              <a:srgbClr val="E3E7EE"/>
            </a:solidFill>
            <a:prstDash val="solid"/>
          </a:ln>
          <a:effectLst>
            <a:outerShdw sx="100000" sy="100000" kx="0" ky="0" algn="bl" rotWithShape="0" blurRad="177800" dist="63500" dir="5400000">
              <a:srgbClr val="1B2430">
                <a:alpha val="25000"/>
              </a:srgbClr>
            </a:outerShdw>
          </a:effectLst>
        </p:spPr>
      </p:sp>
      <p:pic>
        <p:nvPicPr>
          <p:cNvPr id="7" name="Image 0" descr="/home/user/talenleren/neerlandais1/generateur/img/vijfzinnen/a1_kantoor.jpg">    </p:cNvPr>
          <p:cNvPicPr>
            <a:picLocks noChangeAspect="1"/>
          </p:cNvPicPr>
          <p:nvPr/>
        </p:nvPicPr>
        <p:blipFill>
          <a:blip r:embed="rId1"/>
          <a:stretch>
            <a:fillRect/>
          </a:stretch>
        </p:blipFill>
        <p:spPr>
          <a:xfrm>
            <a:off x="2628900" y="1234440"/>
            <a:ext cx="8092440" cy="5057775"/>
          </a:xfrm>
          <a:prstGeom prst="rect">
            <a:avLst/>
          </a:prstGeom>
        </p:spPr>
      </p:pic>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99</a:t>
            </a:fld>
            <a:endParaRPr lang="en-US"/>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spTree>
      <p:nvGrpSpPr>
        <p:cNvPr id="1" name=""/>
        <p:cNvGrpSpPr/>
        <p:nvPr/>
      </p:nvGrpSpPr>
      <p:grpSpPr>
        <a:xfrm>
          <a:off x="0" y="0"/>
          <a:ext cx="0" cy="0"/>
          <a:chOff x="0" y="0"/>
          <a:chExt cx="0" cy="0"/>
        </a:xfrm>
      </p:grpSpPr>
      <p:sp>
        <p:nvSpPr>
          <p:cNvPr id="2" name="Text 1"/>
          <p:cNvSpPr/>
          <p:nvPr>
            <p:ph idx="101" type="title" hasCustomPrompt="1"/>
          </p:nvPr>
        </p:nvSpPr>
        <p:spPr>
          <a:xfrm>
            <a:off x="1691640" y="347472"/>
            <a:ext cx="8138160" cy="914400"/>
          </a:xfrm>
          <a:prstGeom prst="rect">
            <a:avLst/>
          </a:prstGeom>
          <a:noFill/>
          <a:ln/>
        </p:spPr>
        <p:txBody>
          <a:bodyPr wrap="square" lIns="0" tIns="0" rIns="0" bIns="0" rtlCol="0" anchor="ctr"/>
          <a:lstStyle/>
          <a:p>
            <a:pPr algn="l" indent="0" marL="0">
              <a:buNone/>
            </a:pPr>
            <a:r>
              <a:rPr lang="en-US" sz="2400" b="1" dirty="0">
                <a:solidFill>
                  <a:srgbClr val="2B2F38"/>
                </a:solidFill>
              </a:rPr>
              <a:t>Hier is een voorbeeld van wat je had kunnen denken en schrijven…</a:t>
            </a:r>
            <a:endParaRPr lang="en-US" sz="2400" dirty="0"/>
          </a:p>
        </p:txBody>
      </p:sp>
      <p:sp>
        <p:nvSpPr>
          <p:cNvPr id="4" name="Shape 1"/>
          <p:cNvSpPr/>
          <p:nvPr/>
        </p:nvSpPr>
        <p:spPr>
          <a:xfrm>
            <a:off x="365760" y="365760"/>
            <a:ext cx="868680" cy="5989320"/>
          </a:xfrm>
          <a:prstGeom prst="roundRect">
            <a:avLst>
              <a:gd name="adj" fmla="val 12632"/>
            </a:avLst>
          </a:prstGeom>
          <a:solidFill>
            <a:srgbClr val="FDF1E4"/>
          </a:solidFill>
          <a:ln w="28575">
            <a:solidFill>
              <a:srgbClr val="F0A15E"/>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B9661F"/>
                </a:solidFill>
                <a:latin typeface="Calibri" pitchFamily="34" charset="0"/>
                <a:ea typeface="Calibri" pitchFamily="34" charset="-122"/>
                <a:cs typeface="Calibri" pitchFamily="34" charset="-120"/>
              </a:rPr>
              <a:t>A1 · Vocabulaire</a:t>
            </a:r>
            <a:endParaRPr lang="en-US" sz="3800" dirty="0"/>
          </a:p>
        </p:txBody>
      </p:sp>
      <p:sp>
        <p:nvSpPr>
          <p:cNvPr id="6" name="Shape 3"/>
          <p:cNvSpPr/>
          <p:nvPr/>
        </p:nvSpPr>
        <p:spPr>
          <a:xfrm>
            <a:off x="10058400" y="246888"/>
            <a:ext cx="1691640" cy="1091565"/>
          </a:xfrm>
          <a:prstGeom prst="roundRect">
            <a:avLst>
              <a:gd name="adj" fmla="val 3351"/>
            </a:avLst>
          </a:prstGeom>
          <a:solidFill>
            <a:srgbClr val="FFFFFF"/>
          </a:solidFill>
          <a:ln w="9525">
            <a:solidFill>
              <a:srgbClr val="E3E7EE"/>
            </a:solidFill>
            <a:prstDash val="solid"/>
          </a:ln>
          <a:effectLst>
            <a:outerShdw sx="100000" sy="100000" kx="0" ky="0" algn="bl" rotWithShape="0" blurRad="76200" dist="25400" dir="5400000">
              <a:srgbClr val="1B2430">
                <a:alpha val="25000"/>
              </a:srgbClr>
            </a:outerShdw>
          </a:effectLst>
        </p:spPr>
      </p:sp>
      <p:pic>
        <p:nvPicPr>
          <p:cNvPr id="7" name="Image 0" descr="/home/user/talenleren/neerlandais1/generateur/img/vijfzinnen/a1_kantoor_s.jpg">    </p:cNvPr>
          <p:cNvPicPr>
            <a:picLocks noChangeAspect="1"/>
          </p:cNvPicPr>
          <p:nvPr/>
        </p:nvPicPr>
        <p:blipFill>
          <a:blip r:embed="rId1"/>
          <a:stretch>
            <a:fillRect/>
          </a:stretch>
        </p:blipFill>
        <p:spPr>
          <a:xfrm>
            <a:off x="10104120" y="292608"/>
            <a:ext cx="1600200" cy="1000125"/>
          </a:xfrm>
          <a:prstGeom prst="rect">
            <a:avLst/>
          </a:prstGeom>
        </p:spPr>
      </p:pic>
      <p:sp>
        <p:nvSpPr>
          <p:cNvPr id="8" name="Shape 4"/>
          <p:cNvSpPr/>
          <p:nvPr/>
        </p:nvSpPr>
        <p:spPr>
          <a:xfrm>
            <a:off x="1691640" y="2779166"/>
            <a:ext cx="1330452" cy="371856"/>
          </a:xfrm>
          <a:prstGeom prst="roundRect">
            <a:avLst>
              <a:gd name="adj" fmla="val 12295"/>
            </a:avLst>
          </a:prstGeom>
          <a:solidFill>
            <a:srgbClr val="E6F3DA"/>
          </a:solidFill>
          <a:ln w="12700">
            <a:solidFill>
              <a:srgbClr val="FFFFFF">
                <a:alpha val="0"/>
              </a:srgbClr>
            </a:solidFill>
            <a:prstDash val="solid"/>
          </a:ln>
        </p:spPr>
      </p:sp>
      <p:sp>
        <p:nvSpPr>
          <p:cNvPr id="9" name="Text 5"/>
          <p:cNvSpPr txBox="1"/>
          <p:nvPr/>
        </p:nvSpPr>
        <p:spPr>
          <a:xfrm>
            <a:off x="1691640" y="2766974"/>
            <a:ext cx="1330452"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Ik werk in</a:t>
            </a:r>
            <a:endParaRPr lang="en-US" sz="2400" dirty="0"/>
          </a:p>
        </p:txBody>
      </p:sp>
      <p:sp>
        <p:nvSpPr>
          <p:cNvPr id="10" name="Text 6"/>
          <p:cNvSpPr txBox="1"/>
          <p:nvPr/>
        </p:nvSpPr>
        <p:spPr>
          <a:xfrm>
            <a:off x="3109265" y="2766974"/>
            <a:ext cx="3842309"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een groot kantoor in Brussel.</a:t>
            </a:r>
            <a:endParaRPr lang="en-US" sz="2400" dirty="0"/>
          </a:p>
        </p:txBody>
      </p:sp>
      <p:sp>
        <p:nvSpPr>
          <p:cNvPr id="11" name="Shape 7"/>
          <p:cNvSpPr/>
          <p:nvPr/>
        </p:nvSpPr>
        <p:spPr>
          <a:xfrm>
            <a:off x="6855866" y="2779166"/>
            <a:ext cx="613867" cy="371856"/>
          </a:xfrm>
          <a:prstGeom prst="roundRect">
            <a:avLst>
              <a:gd name="adj" fmla="val 12295"/>
            </a:avLst>
          </a:prstGeom>
          <a:solidFill>
            <a:srgbClr val="E6F3DA"/>
          </a:solidFill>
          <a:ln w="12700">
            <a:solidFill>
              <a:srgbClr val="FFFFFF">
                <a:alpha val="0"/>
              </a:srgbClr>
            </a:solidFill>
            <a:prstDash val="solid"/>
          </a:ln>
        </p:spPr>
      </p:sp>
      <p:sp>
        <p:nvSpPr>
          <p:cNvPr id="12" name="Text 8"/>
          <p:cNvSpPr txBox="1"/>
          <p:nvPr/>
        </p:nvSpPr>
        <p:spPr>
          <a:xfrm>
            <a:off x="6855866" y="2766974"/>
            <a:ext cx="613867"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Er is</a:t>
            </a:r>
            <a:endParaRPr lang="en-US" sz="2400" dirty="0"/>
          </a:p>
        </p:txBody>
      </p:sp>
      <p:sp>
        <p:nvSpPr>
          <p:cNvPr id="13" name="Text 9"/>
          <p:cNvSpPr txBox="1"/>
          <p:nvPr/>
        </p:nvSpPr>
        <p:spPr>
          <a:xfrm>
            <a:off x="7556906" y="2766974"/>
            <a:ext cx="3987394"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een nieuwe computer op mijn</a:t>
            </a:r>
            <a:endParaRPr lang="en-US" sz="2400" dirty="0"/>
          </a:p>
        </p:txBody>
      </p:sp>
      <p:sp>
        <p:nvSpPr>
          <p:cNvPr id="14" name="Shape 10"/>
          <p:cNvSpPr/>
          <p:nvPr/>
        </p:nvSpPr>
        <p:spPr>
          <a:xfrm>
            <a:off x="2356866" y="2702966"/>
            <a:ext cx="914" cy="76200"/>
          </a:xfrm>
          <a:prstGeom prst="line">
            <a:avLst/>
          </a:prstGeom>
          <a:noFill/>
          <a:ln w="15875">
            <a:solidFill>
              <a:srgbClr val="7AB648"/>
            </a:solidFill>
            <a:prstDash val="solid"/>
          </a:ln>
        </p:spPr>
      </p:sp>
      <p:sp>
        <p:nvSpPr>
          <p:cNvPr id="15" name="Shape 11"/>
          <p:cNvSpPr/>
          <p:nvPr/>
        </p:nvSpPr>
        <p:spPr>
          <a:xfrm>
            <a:off x="1991766" y="2456078"/>
            <a:ext cx="730199" cy="246888"/>
          </a:xfrm>
          <a:prstGeom prst="roundRect">
            <a:avLst>
              <a:gd name="adj" fmla="val 14815"/>
            </a:avLst>
          </a:prstGeom>
          <a:solidFill>
            <a:srgbClr val="7AB648"/>
          </a:solidFill>
          <a:ln w="12700">
            <a:solidFill>
              <a:srgbClr val="FFFFFF">
                <a:alpha val="0"/>
              </a:srgbClr>
            </a:solidFill>
            <a:prstDash val="solid"/>
          </a:ln>
        </p:spPr>
      </p:sp>
      <p:sp>
        <p:nvSpPr>
          <p:cNvPr id="16" name="Text 12"/>
          <p:cNvSpPr txBox="1"/>
          <p:nvPr/>
        </p:nvSpPr>
        <p:spPr>
          <a:xfrm>
            <a:off x="1991766" y="2456078"/>
            <a:ext cx="730199"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WERK IN</a:t>
            </a:r>
            <a:endParaRPr lang="en-US" sz="1100" dirty="0"/>
          </a:p>
        </p:txBody>
      </p:sp>
      <p:sp>
        <p:nvSpPr>
          <p:cNvPr id="17" name="Shape 13"/>
          <p:cNvSpPr/>
          <p:nvPr/>
        </p:nvSpPr>
        <p:spPr>
          <a:xfrm>
            <a:off x="7162800" y="2702966"/>
            <a:ext cx="914" cy="76200"/>
          </a:xfrm>
          <a:prstGeom prst="line">
            <a:avLst/>
          </a:prstGeom>
          <a:noFill/>
          <a:ln w="15875">
            <a:solidFill>
              <a:srgbClr val="7AB648"/>
            </a:solidFill>
            <a:prstDash val="solid"/>
          </a:ln>
        </p:spPr>
      </p:sp>
      <p:sp>
        <p:nvSpPr>
          <p:cNvPr id="18" name="Shape 14"/>
          <p:cNvSpPr/>
          <p:nvPr/>
        </p:nvSpPr>
        <p:spPr>
          <a:xfrm>
            <a:off x="6912185" y="2456078"/>
            <a:ext cx="501231" cy="246888"/>
          </a:xfrm>
          <a:prstGeom prst="roundRect">
            <a:avLst>
              <a:gd name="adj" fmla="val 14815"/>
            </a:avLst>
          </a:prstGeom>
          <a:solidFill>
            <a:srgbClr val="7AB648"/>
          </a:solidFill>
          <a:ln w="12700">
            <a:solidFill>
              <a:srgbClr val="FFFFFF">
                <a:alpha val="0"/>
              </a:srgbClr>
            </a:solidFill>
            <a:prstDash val="solid"/>
          </a:ln>
        </p:spPr>
      </p:sp>
      <p:sp>
        <p:nvSpPr>
          <p:cNvPr id="19" name="Text 15"/>
          <p:cNvSpPr txBox="1"/>
          <p:nvPr/>
        </p:nvSpPr>
        <p:spPr>
          <a:xfrm>
            <a:off x="6912185" y="2456078"/>
            <a:ext cx="501231"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ER IS</a:t>
            </a:r>
            <a:endParaRPr lang="en-US" sz="1100" dirty="0"/>
          </a:p>
        </p:txBody>
      </p:sp>
      <p:sp>
        <p:nvSpPr>
          <p:cNvPr id="20" name="Text 16"/>
          <p:cNvSpPr txBox="1"/>
          <p:nvPr/>
        </p:nvSpPr>
        <p:spPr>
          <a:xfrm>
            <a:off x="1691640" y="3620414"/>
            <a:ext cx="1143914"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bureau.</a:t>
            </a:r>
            <a:endParaRPr lang="en-US" sz="2400" dirty="0"/>
          </a:p>
        </p:txBody>
      </p:sp>
      <p:sp>
        <p:nvSpPr>
          <p:cNvPr id="21" name="Shape 17"/>
          <p:cNvSpPr/>
          <p:nvPr/>
        </p:nvSpPr>
        <p:spPr>
          <a:xfrm>
            <a:off x="2739847" y="3632606"/>
            <a:ext cx="1632814" cy="371856"/>
          </a:xfrm>
          <a:prstGeom prst="roundRect">
            <a:avLst>
              <a:gd name="adj" fmla="val 12295"/>
            </a:avLst>
          </a:prstGeom>
          <a:solidFill>
            <a:srgbClr val="E6F3DA"/>
          </a:solidFill>
          <a:ln w="12700">
            <a:solidFill>
              <a:srgbClr val="FFFFFF">
                <a:alpha val="0"/>
              </a:srgbClr>
            </a:solidFill>
            <a:prstDash val="solid"/>
          </a:ln>
        </p:spPr>
      </p:sp>
      <p:sp>
        <p:nvSpPr>
          <p:cNvPr id="22" name="Text 18"/>
          <p:cNvSpPr txBox="1"/>
          <p:nvPr/>
        </p:nvSpPr>
        <p:spPr>
          <a:xfrm>
            <a:off x="2739847" y="3620414"/>
            <a:ext cx="1632814"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Mijn collega</a:t>
            </a:r>
            <a:endParaRPr lang="en-US" sz="2400" dirty="0"/>
          </a:p>
        </p:txBody>
      </p:sp>
      <p:sp>
        <p:nvSpPr>
          <p:cNvPr id="23" name="Text 19"/>
          <p:cNvSpPr txBox="1"/>
          <p:nvPr/>
        </p:nvSpPr>
        <p:spPr>
          <a:xfrm>
            <a:off x="4459834" y="3620414"/>
            <a:ext cx="2446630"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is heel vriendelijk.</a:t>
            </a:r>
            <a:endParaRPr lang="en-US" sz="2400" dirty="0"/>
          </a:p>
        </p:txBody>
      </p:sp>
      <p:sp>
        <p:nvSpPr>
          <p:cNvPr id="24" name="Shape 20"/>
          <p:cNvSpPr/>
          <p:nvPr/>
        </p:nvSpPr>
        <p:spPr>
          <a:xfrm>
            <a:off x="3556254" y="3556406"/>
            <a:ext cx="914" cy="76200"/>
          </a:xfrm>
          <a:prstGeom prst="line">
            <a:avLst/>
          </a:prstGeom>
          <a:noFill/>
          <a:ln w="15875">
            <a:solidFill>
              <a:srgbClr val="7AB648"/>
            </a:solidFill>
            <a:prstDash val="solid"/>
          </a:ln>
        </p:spPr>
      </p:sp>
      <p:sp>
        <p:nvSpPr>
          <p:cNvPr id="25" name="Shape 21"/>
          <p:cNvSpPr/>
          <p:nvPr/>
        </p:nvSpPr>
        <p:spPr>
          <a:xfrm>
            <a:off x="3182353" y="3309518"/>
            <a:ext cx="747801" cy="246888"/>
          </a:xfrm>
          <a:prstGeom prst="roundRect">
            <a:avLst>
              <a:gd name="adj" fmla="val 14815"/>
            </a:avLst>
          </a:prstGeom>
          <a:solidFill>
            <a:srgbClr val="7AB648"/>
          </a:solidFill>
          <a:ln w="12700">
            <a:solidFill>
              <a:srgbClr val="FFFFFF">
                <a:alpha val="0"/>
              </a:srgbClr>
            </a:solidFill>
            <a:prstDash val="solid"/>
          </a:ln>
        </p:spPr>
      </p:sp>
      <p:sp>
        <p:nvSpPr>
          <p:cNvPr id="26" name="Text 22"/>
          <p:cNvSpPr txBox="1"/>
          <p:nvPr/>
        </p:nvSpPr>
        <p:spPr>
          <a:xfrm>
            <a:off x="3182353" y="3309518"/>
            <a:ext cx="747801"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COLLEGA</a:t>
            </a:r>
            <a:endParaRPr lang="en-US" sz="1100" dirty="0"/>
          </a:p>
        </p:txBody>
      </p:sp>
      <p:sp>
        <p:nvSpPr>
          <p:cNvPr id="27" name="Text 23"/>
          <p:cNvSpPr txBox="1"/>
          <p:nvPr/>
        </p:nvSpPr>
        <p:spPr>
          <a:xfrm>
            <a:off x="4516069" y="4675022"/>
            <a:ext cx="841858"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Maar</a:t>
            </a:r>
            <a:endParaRPr lang="en-US" sz="2400" dirty="0"/>
          </a:p>
        </p:txBody>
      </p:sp>
      <p:sp>
        <p:nvSpPr>
          <p:cNvPr id="28" name="Shape 24"/>
          <p:cNvSpPr/>
          <p:nvPr/>
        </p:nvSpPr>
        <p:spPr>
          <a:xfrm>
            <a:off x="5262220" y="4687214"/>
            <a:ext cx="2447239" cy="371856"/>
          </a:xfrm>
          <a:prstGeom prst="roundRect">
            <a:avLst>
              <a:gd name="adj" fmla="val 12295"/>
            </a:avLst>
          </a:prstGeom>
          <a:solidFill>
            <a:srgbClr val="E6F3DA"/>
          </a:solidFill>
          <a:ln w="12700">
            <a:solidFill>
              <a:srgbClr val="FFFFFF">
                <a:alpha val="0"/>
              </a:srgbClr>
            </a:solidFill>
            <a:prstDash val="solid"/>
          </a:ln>
        </p:spPr>
      </p:sp>
      <p:sp>
        <p:nvSpPr>
          <p:cNvPr id="29" name="Text 25"/>
          <p:cNvSpPr txBox="1"/>
          <p:nvPr/>
        </p:nvSpPr>
        <p:spPr>
          <a:xfrm>
            <a:off x="5262220" y="4675022"/>
            <a:ext cx="2447239"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de koffieautomaat</a:t>
            </a:r>
            <a:endParaRPr lang="en-US" sz="2400" dirty="0"/>
          </a:p>
        </p:txBody>
      </p:sp>
      <p:sp>
        <p:nvSpPr>
          <p:cNvPr id="30" name="Text 26"/>
          <p:cNvSpPr txBox="1"/>
          <p:nvPr/>
        </p:nvSpPr>
        <p:spPr>
          <a:xfrm>
            <a:off x="7796632" y="4675022"/>
            <a:ext cx="1266139"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is kapot!</a:t>
            </a:r>
            <a:endParaRPr lang="en-US" sz="2400" dirty="0"/>
          </a:p>
        </p:txBody>
      </p:sp>
      <p:sp>
        <p:nvSpPr>
          <p:cNvPr id="31" name="Shape 27"/>
          <p:cNvSpPr/>
          <p:nvPr/>
        </p:nvSpPr>
        <p:spPr>
          <a:xfrm>
            <a:off x="6485839" y="4611014"/>
            <a:ext cx="914" cy="76200"/>
          </a:xfrm>
          <a:prstGeom prst="line">
            <a:avLst/>
          </a:prstGeom>
          <a:noFill/>
          <a:ln w="15875">
            <a:solidFill>
              <a:srgbClr val="7AB648"/>
            </a:solidFill>
            <a:prstDash val="solid"/>
          </a:ln>
        </p:spPr>
      </p:sp>
      <p:sp>
        <p:nvSpPr>
          <p:cNvPr id="32" name="Shape 28"/>
          <p:cNvSpPr/>
          <p:nvPr/>
        </p:nvSpPr>
        <p:spPr>
          <a:xfrm>
            <a:off x="5823807" y="4364126"/>
            <a:ext cx="1324064" cy="246888"/>
          </a:xfrm>
          <a:prstGeom prst="roundRect">
            <a:avLst>
              <a:gd name="adj" fmla="val 14815"/>
            </a:avLst>
          </a:prstGeom>
          <a:solidFill>
            <a:srgbClr val="7AB648"/>
          </a:solidFill>
          <a:ln w="12700">
            <a:solidFill>
              <a:srgbClr val="FFFFFF">
                <a:alpha val="0"/>
              </a:srgbClr>
            </a:solidFill>
            <a:prstDash val="solid"/>
          </a:ln>
        </p:spPr>
      </p:sp>
      <p:sp>
        <p:nvSpPr>
          <p:cNvPr id="33" name="Text 29"/>
          <p:cNvSpPr txBox="1"/>
          <p:nvPr/>
        </p:nvSpPr>
        <p:spPr>
          <a:xfrm>
            <a:off x="5823807" y="4364126"/>
            <a:ext cx="1324064"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KOFFIEAUTOMAAT</a:t>
            </a:r>
            <a:endParaRPr lang="en-US" sz="1100" dirty="0"/>
          </a:p>
        </p:txBody>
      </p:sp>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100</a:t>
            </a:fld>
            <a:endParaRPr lang="en-US"/>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spTree>
      <p:nvGrpSpPr>
        <p:cNvPr id="1" name=""/>
        <p:cNvGrpSpPr/>
        <p:nvPr/>
      </p:nvGrpSpPr>
      <p:grpSpPr>
        <a:xfrm>
          <a:off x="0" y="0"/>
          <a:ext cx="0" cy="0"/>
          <a:chOff x="0" y="0"/>
          <a:chExt cx="0" cy="0"/>
        </a:xfrm>
      </p:grpSpPr>
      <p:sp>
        <p:nvSpPr>
          <p:cNvPr id="2" name="Text 1"/>
          <p:cNvSpPr/>
          <p:nvPr>
            <p:ph idx="101" type="title" hasCustomPrompt="1"/>
          </p:nvPr>
        </p:nvSpPr>
        <p:spPr>
          <a:xfrm>
            <a:off x="1554480" y="384048"/>
            <a:ext cx="10241280" cy="658368"/>
          </a:xfrm>
          <a:prstGeom prst="rect">
            <a:avLst/>
          </a:prstGeom>
          <a:noFill/>
          <a:ln/>
        </p:spPr>
        <p:txBody>
          <a:bodyPr wrap="square" lIns="0" tIns="0" rIns="0" bIns="0" rtlCol="0" anchor="ctr"/>
          <a:lstStyle/>
          <a:p>
            <a:pPr algn="ctr" indent="0" marL="0">
              <a:buNone/>
            </a:pPr>
            <a:r>
              <a:rPr lang="en-US" sz="3000" b="1" dirty="0">
                <a:solidFill>
                  <a:srgbClr val="2B2F38"/>
                </a:solidFill>
              </a:rPr>
              <a:t>Gebruik deze afbeelding als inspiratie</a:t>
            </a:r>
            <a:endParaRPr lang="en-US" sz="3000" dirty="0"/>
          </a:p>
        </p:txBody>
      </p:sp>
      <p:sp>
        <p:nvSpPr>
          <p:cNvPr id="4" name="Shape 1"/>
          <p:cNvSpPr/>
          <p:nvPr/>
        </p:nvSpPr>
        <p:spPr>
          <a:xfrm>
            <a:off x="365760" y="365760"/>
            <a:ext cx="868680" cy="5989320"/>
          </a:xfrm>
          <a:prstGeom prst="roundRect">
            <a:avLst>
              <a:gd name="adj" fmla="val 12632"/>
            </a:avLst>
          </a:prstGeom>
          <a:solidFill>
            <a:srgbClr val="FDF1E4"/>
          </a:solidFill>
          <a:ln w="28575">
            <a:solidFill>
              <a:srgbClr val="F0A15E"/>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B9661F"/>
                </a:solidFill>
                <a:latin typeface="Calibri" pitchFamily="34" charset="0"/>
                <a:ea typeface="Calibri" pitchFamily="34" charset="-122"/>
                <a:cs typeface="Calibri" pitchFamily="34" charset="-120"/>
              </a:rPr>
              <a:t>A1 · Vocabulaire</a:t>
            </a:r>
            <a:endParaRPr lang="en-US" sz="3800" dirty="0"/>
          </a:p>
        </p:txBody>
      </p:sp>
      <p:sp>
        <p:nvSpPr>
          <p:cNvPr id="6" name="Text 3"/>
          <p:cNvSpPr txBox="1"/>
          <p:nvPr/>
        </p:nvSpPr>
        <p:spPr>
          <a:xfrm>
            <a:off x="1554480" y="1024128"/>
            <a:ext cx="10241280" cy="365760"/>
          </a:xfrm>
          <a:prstGeom prst="rect">
            <a:avLst/>
          </a:prstGeom>
          <a:noFill/>
          <a:ln/>
        </p:spPr>
        <p:txBody>
          <a:bodyPr wrap="square" lIns="0" tIns="0" rIns="0" bIns="0" rtlCol="0" anchor="ctr"/>
          <a:lstStyle/>
          <a:p>
            <a:pPr algn="ctr" indent="0" marL="0">
              <a:buNone/>
            </a:pPr>
            <a:r>
              <a:rPr lang="en-US" sz="1500" b="1" dirty="0">
                <a:solidFill>
                  <a:srgbClr val="B9661F"/>
                </a:solidFill>
                <a:latin typeface="Calibri" pitchFamily="34" charset="0"/>
                <a:ea typeface="Calibri" pitchFamily="34" charset="-122"/>
                <a:cs typeface="Calibri" pitchFamily="34" charset="-120"/>
              </a:rPr>
              <a:t>32 · Een berichtje</a:t>
            </a:r>
            <a:r>
              <a:rPr lang="en-US" sz="1500" i="1" dirty="0">
                <a:solidFill>
                  <a:srgbClr val="6B7280"/>
                </a:solidFill>
                <a:latin typeface="Calibri" pitchFamily="34" charset="0"/>
                <a:ea typeface="Calibri" pitchFamily="34" charset="-122"/>
                <a:cs typeface="Calibri" pitchFamily="34" charset="-120"/>
              </a:rPr>
              <a:t>   Un SMS</a:t>
            </a:r>
            <a:r>
              <a:rPr lang="en-US" sz="1200" dirty="0">
                <a:solidFill>
                  <a:srgbClr val="9AA3B2"/>
                </a:solidFill>
                <a:latin typeface="Calibri" pitchFamily="34" charset="0"/>
                <a:ea typeface="Calibri" pitchFamily="34" charset="-122"/>
                <a:cs typeface="Calibri" pitchFamily="34" charset="-120"/>
              </a:rPr>
              <a:t>   ·   syllabus vocabulaire 08 · p. 85</a:t>
            </a:r>
            <a:endParaRPr lang="en-US" sz="1500" dirty="0"/>
          </a:p>
        </p:txBody>
      </p:sp>
      <p:sp>
        <p:nvSpPr>
          <p:cNvPr id="7" name="Shape 4"/>
          <p:cNvSpPr/>
          <p:nvPr/>
        </p:nvSpPr>
        <p:spPr>
          <a:xfrm>
            <a:off x="1596085" y="1504645"/>
            <a:ext cx="4534510" cy="2905735"/>
          </a:xfrm>
          <a:prstGeom prst="roundRect">
            <a:avLst>
              <a:gd name="adj" fmla="val 1259"/>
            </a:avLst>
          </a:prstGeom>
          <a:solidFill>
            <a:srgbClr val="FFFFFF"/>
          </a:solidFill>
          <a:ln w="9525">
            <a:solidFill>
              <a:srgbClr val="E3E7EE"/>
            </a:solidFill>
            <a:prstDash val="solid"/>
          </a:ln>
          <a:effectLst>
            <a:outerShdw sx="100000" sy="100000" kx="0" ky="0" algn="bl" rotWithShape="0" blurRad="127000" dist="50800" dir="5400000">
              <a:srgbClr val="1B2430">
                <a:alpha val="25000"/>
              </a:srgbClr>
            </a:outerShdw>
          </a:effectLst>
        </p:spPr>
      </p:sp>
      <p:pic>
        <p:nvPicPr>
          <p:cNvPr id="8" name="Image 0" descr="/home/user/talenleren/neerlandais1/generateur/img/vijfzinnen/a1_berichtje_s.jpg">    </p:cNvPr>
          <p:cNvPicPr>
            <a:picLocks noChangeAspect="1"/>
          </p:cNvPicPr>
          <p:nvPr/>
        </p:nvPicPr>
        <p:blipFill>
          <a:blip r:embed="rId1"/>
          <a:stretch>
            <a:fillRect/>
          </a:stretch>
        </p:blipFill>
        <p:spPr>
          <a:xfrm>
            <a:off x="1691640" y="1600200"/>
            <a:ext cx="4343400" cy="2714625"/>
          </a:xfrm>
          <a:prstGeom prst="rect">
            <a:avLst/>
          </a:prstGeom>
        </p:spPr>
      </p:pic>
      <p:sp>
        <p:nvSpPr>
          <p:cNvPr id="9" name="Shape 5"/>
          <p:cNvSpPr/>
          <p:nvPr/>
        </p:nvSpPr>
        <p:spPr>
          <a:xfrm>
            <a:off x="1691640" y="4572000"/>
            <a:ext cx="1600200" cy="365760"/>
          </a:xfrm>
          <a:prstGeom prst="roundRect">
            <a:avLst>
              <a:gd name="adj" fmla="val 50000"/>
            </a:avLst>
          </a:prstGeom>
          <a:solidFill>
            <a:srgbClr val="EAF1FC"/>
          </a:solidFill>
          <a:ln w="12700">
            <a:solidFill>
              <a:srgbClr val="4A7BD0"/>
            </a:solidFill>
            <a:prstDash val="solid"/>
          </a:ln>
        </p:spPr>
      </p:sp>
      <p:pic>
        <p:nvPicPr>
          <p:cNvPr id="10" name="Image 1" descr="PenNib">    </p:cNvPr>
          <p:cNvPicPr>
            <a:picLocks noChangeAspect="1"/>
          </p:cNvPicPr>
          <p:nvPr/>
        </p:nvPicPr>
        <p:blipFill>
          <a:blip r:embed="rId2"/>
          <a:stretch>
            <a:fillRect/>
          </a:stretch>
        </p:blipFill>
        <p:spPr>
          <a:xfrm>
            <a:off x="1819656" y="4654296"/>
            <a:ext cx="201168" cy="201168"/>
          </a:xfrm>
          <a:prstGeom prst="rect">
            <a:avLst/>
          </a:prstGeom>
        </p:spPr>
      </p:pic>
      <p:sp>
        <p:nvSpPr>
          <p:cNvPr id="11" name="Text 6"/>
          <p:cNvSpPr txBox="1"/>
          <p:nvPr/>
        </p:nvSpPr>
        <p:spPr>
          <a:xfrm>
            <a:off x="2075688" y="4572000"/>
            <a:ext cx="1143000" cy="365760"/>
          </a:xfrm>
          <a:prstGeom prst="rect">
            <a:avLst/>
          </a:prstGeom>
          <a:noFill/>
          <a:ln/>
        </p:spPr>
        <p:txBody>
          <a:bodyPr wrap="square" lIns="0" tIns="0" rIns="0" bIns="0" rtlCol="0" anchor="ctr"/>
          <a:lstStyle/>
          <a:p>
            <a:pPr algn="l" indent="0" marL="0">
              <a:buNone/>
            </a:pPr>
            <a:r>
              <a:rPr lang="en-US" sz="1150" b="1" spc="100" kern="0" dirty="0">
                <a:solidFill>
                  <a:srgbClr val="4A7BD0"/>
                </a:solidFill>
                <a:latin typeface="Calibri" pitchFamily="34" charset="0"/>
                <a:ea typeface="Calibri" pitchFamily="34" charset="-122"/>
                <a:cs typeface="Calibri" pitchFamily="34" charset="-120"/>
              </a:rPr>
              <a:t>À L’ÉCRIT</a:t>
            </a:r>
            <a:endParaRPr lang="en-US" sz="1150" dirty="0"/>
          </a:p>
        </p:txBody>
      </p:sp>
      <p:sp>
        <p:nvSpPr>
          <p:cNvPr id="12" name="Text 7"/>
          <p:cNvSpPr txBox="1"/>
          <p:nvPr/>
        </p:nvSpPr>
        <p:spPr>
          <a:xfrm>
            <a:off x="3429000" y="4544568"/>
            <a:ext cx="2651760" cy="731520"/>
          </a:xfrm>
          <a:prstGeom prst="rect">
            <a:avLst/>
          </a:prstGeom>
          <a:noFill/>
          <a:ln/>
        </p:spPr>
        <p:txBody>
          <a:bodyPr wrap="square" lIns="0" tIns="0" rIns="0" bIns="0" rtlCol="0" anchor="t"/>
          <a:lstStyle/>
          <a:p>
            <a:pPr algn="l" indent="0" marL="0">
              <a:buNone/>
            </a:pPr>
            <a:r>
              <a:rPr lang="en-US" sz="1150" i="1" dirty="0">
                <a:solidFill>
                  <a:srgbClr val="6B7280"/>
                </a:solidFill>
                <a:latin typeface="Calibri" pitchFamily="34" charset="0"/>
                <a:ea typeface="Calibri" pitchFamily="34" charset="-122"/>
                <a:cs typeface="Calibri" pitchFamily="34" charset="-120"/>
              </a:rPr>
              <a:t>Vous êtes en retard. Vous envoyez un SMS à votre collègue.</a:t>
            </a:r>
            <a:endParaRPr lang="en-US" sz="1150" dirty="0"/>
          </a:p>
        </p:txBody>
      </p:sp>
      <p:sp>
        <p:nvSpPr>
          <p:cNvPr id="13" name="Shape 8"/>
          <p:cNvSpPr/>
          <p:nvPr/>
        </p:nvSpPr>
        <p:spPr>
          <a:xfrm>
            <a:off x="6355080" y="1673352"/>
            <a:ext cx="914400" cy="402336"/>
          </a:xfrm>
          <a:prstGeom prst="roundRect">
            <a:avLst>
              <a:gd name="adj" fmla="val 13636"/>
            </a:avLst>
          </a:prstGeom>
          <a:solidFill>
            <a:srgbClr val="5FA873"/>
          </a:solidFill>
          <a:ln w="12700">
            <a:solidFill>
              <a:srgbClr val="FFFFFF">
                <a:alpha val="0"/>
              </a:srgbClr>
            </a:solidFill>
            <a:prstDash val="solid"/>
          </a:ln>
        </p:spPr>
      </p:sp>
      <p:sp>
        <p:nvSpPr>
          <p:cNvPr id="14" name="Text 9"/>
          <p:cNvSpPr txBox="1"/>
          <p:nvPr/>
        </p:nvSpPr>
        <p:spPr>
          <a:xfrm>
            <a:off x="6355080" y="167335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1</a:t>
            </a:r>
            <a:endParaRPr lang="en-US" sz="1600" dirty="0"/>
          </a:p>
        </p:txBody>
      </p:sp>
      <p:sp>
        <p:nvSpPr>
          <p:cNvPr id="15" name="Text 10"/>
          <p:cNvSpPr txBox="1"/>
          <p:nvPr/>
        </p:nvSpPr>
        <p:spPr>
          <a:xfrm>
            <a:off x="7406640" y="1618488"/>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Saluez : </a:t>
            </a:r>
            <a:r>
              <a:rPr lang="en-US" sz="1450" b="1" dirty="0">
                <a:solidFill>
                  <a:srgbClr val="2B2F38"/>
                </a:solidFill>
              </a:rPr>
              <a:t>HOI</a:t>
            </a:r>
            <a:r>
              <a:rPr lang="en-US" sz="1450" dirty="0">
                <a:solidFill>
                  <a:srgbClr val="2B2F38"/>
                </a:solidFill>
              </a:rPr>
              <a:t> + prénom.</a:t>
            </a:r>
            <a:endParaRPr lang="en-US" sz="1450" dirty="0"/>
          </a:p>
        </p:txBody>
      </p:sp>
      <p:sp>
        <p:nvSpPr>
          <p:cNvPr id="16" name="Shape 11"/>
          <p:cNvSpPr/>
          <p:nvPr/>
        </p:nvSpPr>
        <p:spPr>
          <a:xfrm>
            <a:off x="6355080" y="2404872"/>
            <a:ext cx="914400" cy="402336"/>
          </a:xfrm>
          <a:prstGeom prst="roundRect">
            <a:avLst>
              <a:gd name="adj" fmla="val 13636"/>
            </a:avLst>
          </a:prstGeom>
          <a:solidFill>
            <a:srgbClr val="5FA873"/>
          </a:solidFill>
          <a:ln w="12700">
            <a:solidFill>
              <a:srgbClr val="FFFFFF">
                <a:alpha val="0"/>
              </a:srgbClr>
            </a:solidFill>
            <a:prstDash val="solid"/>
          </a:ln>
        </p:spPr>
      </p:sp>
      <p:sp>
        <p:nvSpPr>
          <p:cNvPr id="17" name="Text 12"/>
          <p:cNvSpPr txBox="1"/>
          <p:nvPr/>
        </p:nvSpPr>
        <p:spPr>
          <a:xfrm>
            <a:off x="6355080" y="240487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2</a:t>
            </a:r>
            <a:endParaRPr lang="en-US" sz="1600" dirty="0"/>
          </a:p>
        </p:txBody>
      </p:sp>
      <p:sp>
        <p:nvSpPr>
          <p:cNvPr id="18" name="Text 13"/>
          <p:cNvSpPr txBox="1"/>
          <p:nvPr/>
        </p:nvSpPr>
        <p:spPr>
          <a:xfrm>
            <a:off x="7406640" y="2350008"/>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Le problème : </a:t>
            </a:r>
            <a:r>
              <a:rPr lang="en-US" sz="1450" b="1" dirty="0">
                <a:solidFill>
                  <a:srgbClr val="2B2F38"/>
                </a:solidFill>
              </a:rPr>
              <a:t>MIJN GSM</a:t>
            </a:r>
            <a:r>
              <a:rPr lang="en-US" sz="1450" dirty="0">
                <a:solidFill>
                  <a:srgbClr val="2B2F38"/>
                </a:solidFill>
              </a:rPr>
              <a:t>, </a:t>
            </a:r>
            <a:r>
              <a:rPr lang="en-US" sz="1450" b="1" dirty="0">
                <a:solidFill>
                  <a:srgbClr val="2B2F38"/>
                </a:solidFill>
              </a:rPr>
              <a:t>MIJN OPLADER</a:t>
            </a:r>
            <a:r>
              <a:rPr lang="en-US" sz="1450" dirty="0">
                <a:solidFill>
                  <a:srgbClr val="2B2F38"/>
                </a:solidFill>
              </a:rPr>
              <a:t>, </a:t>
            </a:r>
            <a:r>
              <a:rPr lang="en-US" sz="1450" b="1" dirty="0">
                <a:solidFill>
                  <a:srgbClr val="2B2F38"/>
                </a:solidFill>
              </a:rPr>
              <a:t>DE WIFI</a:t>
            </a:r>
            <a:r>
              <a:rPr lang="en-US" sz="1450" dirty="0">
                <a:solidFill>
                  <a:srgbClr val="2B2F38"/>
                </a:solidFill>
              </a:rPr>
              <a:t>…</a:t>
            </a:r>
            <a:endParaRPr lang="en-US" sz="1450" dirty="0"/>
          </a:p>
        </p:txBody>
      </p:sp>
      <p:sp>
        <p:nvSpPr>
          <p:cNvPr id="19" name="Shape 14"/>
          <p:cNvSpPr/>
          <p:nvPr/>
        </p:nvSpPr>
        <p:spPr>
          <a:xfrm>
            <a:off x="6355080" y="3136392"/>
            <a:ext cx="914400" cy="402336"/>
          </a:xfrm>
          <a:prstGeom prst="roundRect">
            <a:avLst>
              <a:gd name="adj" fmla="val 13636"/>
            </a:avLst>
          </a:prstGeom>
          <a:solidFill>
            <a:srgbClr val="5FA873"/>
          </a:solidFill>
          <a:ln w="12700">
            <a:solidFill>
              <a:srgbClr val="FFFFFF">
                <a:alpha val="0"/>
              </a:srgbClr>
            </a:solidFill>
            <a:prstDash val="solid"/>
          </a:ln>
        </p:spPr>
      </p:sp>
      <p:sp>
        <p:nvSpPr>
          <p:cNvPr id="20" name="Text 15"/>
          <p:cNvSpPr txBox="1"/>
          <p:nvPr/>
        </p:nvSpPr>
        <p:spPr>
          <a:xfrm>
            <a:off x="6355080" y="313639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3</a:t>
            </a:r>
            <a:endParaRPr lang="en-US" sz="1600" dirty="0"/>
          </a:p>
        </p:txBody>
      </p:sp>
      <p:sp>
        <p:nvSpPr>
          <p:cNvPr id="21" name="Text 16"/>
          <p:cNvSpPr txBox="1"/>
          <p:nvPr/>
        </p:nvSpPr>
        <p:spPr>
          <a:xfrm>
            <a:off x="7406640" y="3081528"/>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Une demande à l’impératif : </a:t>
            </a:r>
            <a:r>
              <a:rPr lang="en-US" sz="1450" b="1" dirty="0">
                <a:solidFill>
                  <a:srgbClr val="2B2F38"/>
                </a:solidFill>
              </a:rPr>
              <a:t>BEL</a:t>
            </a:r>
            <a:r>
              <a:rPr lang="en-US" sz="1450" dirty="0">
                <a:solidFill>
                  <a:srgbClr val="2B2F38"/>
                </a:solidFill>
              </a:rPr>
              <a:t> me / </a:t>
            </a:r>
            <a:r>
              <a:rPr lang="en-US" sz="1450" b="1" dirty="0">
                <a:solidFill>
                  <a:srgbClr val="2B2F38"/>
                </a:solidFill>
              </a:rPr>
              <a:t>STUUR</a:t>
            </a:r>
            <a:r>
              <a:rPr lang="en-US" sz="1450" dirty="0">
                <a:solidFill>
                  <a:srgbClr val="2B2F38"/>
                </a:solidFill>
              </a:rPr>
              <a:t> …</a:t>
            </a:r>
            <a:endParaRPr lang="en-US" sz="1450" dirty="0"/>
          </a:p>
        </p:txBody>
      </p:sp>
      <p:sp>
        <p:nvSpPr>
          <p:cNvPr id="22" name="Shape 17"/>
          <p:cNvSpPr/>
          <p:nvPr/>
        </p:nvSpPr>
        <p:spPr>
          <a:xfrm>
            <a:off x="6355080" y="3867912"/>
            <a:ext cx="914400" cy="402336"/>
          </a:xfrm>
          <a:prstGeom prst="roundRect">
            <a:avLst>
              <a:gd name="adj" fmla="val 13636"/>
            </a:avLst>
          </a:prstGeom>
          <a:solidFill>
            <a:srgbClr val="5FA873"/>
          </a:solidFill>
          <a:ln w="12700">
            <a:solidFill>
              <a:srgbClr val="FFFFFF">
                <a:alpha val="0"/>
              </a:srgbClr>
            </a:solidFill>
            <a:prstDash val="solid"/>
          </a:ln>
        </p:spPr>
      </p:sp>
      <p:sp>
        <p:nvSpPr>
          <p:cNvPr id="23" name="Text 18"/>
          <p:cNvSpPr txBox="1"/>
          <p:nvPr/>
        </p:nvSpPr>
        <p:spPr>
          <a:xfrm>
            <a:off x="6355080" y="386791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4</a:t>
            </a:r>
            <a:endParaRPr lang="en-US" sz="1600" dirty="0"/>
          </a:p>
        </p:txBody>
      </p:sp>
      <p:sp>
        <p:nvSpPr>
          <p:cNvPr id="24" name="Text 19"/>
          <p:cNvSpPr txBox="1"/>
          <p:nvPr/>
        </p:nvSpPr>
        <p:spPr>
          <a:xfrm>
            <a:off x="7406640" y="3813048"/>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Prenez congé : </a:t>
            </a:r>
            <a:r>
              <a:rPr lang="en-US" sz="1450" b="1" dirty="0">
                <a:solidFill>
                  <a:srgbClr val="2B2F38"/>
                </a:solidFill>
              </a:rPr>
              <a:t>TOT STRAKS</a:t>
            </a:r>
            <a:r>
              <a:rPr lang="en-US" sz="1450" dirty="0">
                <a:solidFill>
                  <a:srgbClr val="2B2F38"/>
                </a:solidFill>
              </a:rPr>
              <a:t> + votre prénom.</a:t>
            </a:r>
            <a:endParaRPr lang="en-US" sz="1450" dirty="0"/>
          </a:p>
        </p:txBody>
      </p:sp>
      <p:sp>
        <p:nvSpPr>
          <p:cNvPr id="25" name="Shape 20"/>
          <p:cNvSpPr/>
          <p:nvPr/>
        </p:nvSpPr>
        <p:spPr>
          <a:xfrm>
            <a:off x="3246120" y="5440680"/>
            <a:ext cx="6858000" cy="822960"/>
          </a:xfrm>
          <a:prstGeom prst="roundRect">
            <a:avLst>
              <a:gd name="adj" fmla="val 17778"/>
            </a:avLst>
          </a:prstGeom>
          <a:solidFill>
            <a:srgbClr val="EAF5EC"/>
          </a:solidFill>
          <a:ln w="15875">
            <a:solidFill>
              <a:srgbClr val="5FA873"/>
            </a:solidFill>
            <a:prstDash val="solid"/>
          </a:ln>
        </p:spPr>
      </p:sp>
      <p:pic>
        <p:nvPicPr>
          <p:cNvPr id="26" name="Image 2" descr="UserFriends">    </p:cNvPr>
          <p:cNvPicPr>
            <a:picLocks noChangeAspect="1"/>
          </p:cNvPicPr>
          <p:nvPr/>
        </p:nvPicPr>
        <p:blipFill>
          <a:blip r:embed="rId3"/>
          <a:stretch>
            <a:fillRect/>
          </a:stretch>
        </p:blipFill>
        <p:spPr>
          <a:xfrm>
            <a:off x="3520440" y="5660136"/>
            <a:ext cx="384048" cy="384048"/>
          </a:xfrm>
          <a:prstGeom prst="rect">
            <a:avLst/>
          </a:prstGeom>
        </p:spPr>
      </p:pic>
      <p:sp>
        <p:nvSpPr>
          <p:cNvPr id="27" name="Text 21"/>
          <p:cNvSpPr txBox="1"/>
          <p:nvPr/>
        </p:nvSpPr>
        <p:spPr>
          <a:xfrm>
            <a:off x="4114800" y="5440680"/>
            <a:ext cx="5852160" cy="822960"/>
          </a:xfrm>
          <a:prstGeom prst="rect">
            <a:avLst/>
          </a:prstGeom>
          <a:noFill/>
          <a:ln/>
        </p:spPr>
        <p:txBody>
          <a:bodyPr wrap="square" lIns="0" tIns="0" rIns="0" bIns="0" rtlCol="0" anchor="ctr"/>
          <a:lstStyle/>
          <a:p>
            <a:pPr algn="ctr" indent="0" marL="0">
              <a:buNone/>
            </a:pPr>
            <a:r>
              <a:rPr lang="en-US" sz="1800" b="1" dirty="0">
                <a:solidFill>
                  <a:srgbClr val="2E6B44"/>
                </a:solidFill>
                <a:latin typeface="Calibri" pitchFamily="34" charset="0"/>
                <a:ea typeface="Calibri" pitchFamily="34" charset="-122"/>
                <a:cs typeface="Calibri" pitchFamily="34" charset="-120"/>
              </a:rPr>
              <a:t>Lees je tekst voor aan je partner.</a:t>
            </a:r>
            <a:endParaRPr lang="en-US" sz="1800" dirty="0"/>
          </a:p>
          <a:p>
            <a:pPr algn="ctr" indent="0" marL="0">
              <a:buNone/>
            </a:pPr>
            <a:r>
              <a:rPr lang="en-US" sz="1800" b="1" dirty="0">
                <a:solidFill>
                  <a:srgbClr val="2E6B44"/>
                </a:solidFill>
                <a:latin typeface="Calibri" pitchFamily="34" charset="0"/>
                <a:ea typeface="Calibri" pitchFamily="34" charset="-122"/>
                <a:cs typeface="Calibri" pitchFamily="34" charset="-120"/>
              </a:rPr>
              <a:t>Wat denkt hij/zij daarvan?</a:t>
            </a:r>
            <a:endParaRPr lang="en-US" sz="1800" dirty="0"/>
          </a:p>
        </p:txBody>
      </p:sp>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101</a:t>
            </a:fld>
            <a:endParaRPr lang="en-US"/>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spTree>
      <p:nvGrpSpPr>
        <p:cNvPr id="1" name=""/>
        <p:cNvGrpSpPr/>
        <p:nvPr/>
      </p:nvGrpSpPr>
      <p:grpSpPr>
        <a:xfrm>
          <a:off x="0" y="0"/>
          <a:ext cx="0" cy="0"/>
          <a:chOff x="0" y="0"/>
          <a:chExt cx="0" cy="0"/>
        </a:xfrm>
      </p:grpSpPr>
      <p:sp>
        <p:nvSpPr>
          <p:cNvPr id="2" name="Text 1"/>
          <p:cNvSpPr/>
          <p:nvPr>
            <p:ph idx="101" type="title" hasCustomPrompt="1"/>
          </p:nvPr>
        </p:nvSpPr>
        <p:spPr>
          <a:xfrm>
            <a:off x="1554480" y="384048"/>
            <a:ext cx="10241280" cy="658368"/>
          </a:xfrm>
          <a:prstGeom prst="rect">
            <a:avLst/>
          </a:prstGeom>
          <a:noFill/>
          <a:ln/>
        </p:spPr>
        <p:txBody>
          <a:bodyPr wrap="square" lIns="0" tIns="0" rIns="0" bIns="0" rtlCol="0" anchor="ctr"/>
          <a:lstStyle/>
          <a:p>
            <a:pPr algn="ctr" indent="0" marL="0">
              <a:buNone/>
            </a:pPr>
            <a:r>
              <a:rPr lang="en-US" sz="3000" b="1" dirty="0">
                <a:solidFill>
                  <a:srgbClr val="2B2F38"/>
                </a:solidFill>
              </a:rPr>
              <a:t>Een berichtje</a:t>
            </a:r>
            <a:endParaRPr lang="en-US" sz="3000" dirty="0"/>
          </a:p>
        </p:txBody>
      </p:sp>
      <p:sp>
        <p:nvSpPr>
          <p:cNvPr id="4" name="Shape 1"/>
          <p:cNvSpPr/>
          <p:nvPr/>
        </p:nvSpPr>
        <p:spPr>
          <a:xfrm>
            <a:off x="365760" y="365760"/>
            <a:ext cx="868680" cy="5989320"/>
          </a:xfrm>
          <a:prstGeom prst="roundRect">
            <a:avLst>
              <a:gd name="adj" fmla="val 12632"/>
            </a:avLst>
          </a:prstGeom>
          <a:solidFill>
            <a:srgbClr val="FDF1E4"/>
          </a:solidFill>
          <a:ln w="28575">
            <a:solidFill>
              <a:srgbClr val="F0A15E"/>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B9661F"/>
                </a:solidFill>
                <a:latin typeface="Calibri" pitchFamily="34" charset="0"/>
                <a:ea typeface="Calibri" pitchFamily="34" charset="-122"/>
                <a:cs typeface="Calibri" pitchFamily="34" charset="-120"/>
              </a:rPr>
              <a:t>A1 · Vocabulaire</a:t>
            </a:r>
            <a:endParaRPr lang="en-US" sz="3800" dirty="0"/>
          </a:p>
        </p:txBody>
      </p:sp>
      <p:sp>
        <p:nvSpPr>
          <p:cNvPr id="6" name="Shape 3"/>
          <p:cNvSpPr/>
          <p:nvPr/>
        </p:nvSpPr>
        <p:spPr>
          <a:xfrm>
            <a:off x="2519172" y="1124712"/>
            <a:ext cx="8311896" cy="5277231"/>
          </a:xfrm>
          <a:prstGeom prst="roundRect">
            <a:avLst>
              <a:gd name="adj" fmla="val 693"/>
            </a:avLst>
          </a:prstGeom>
          <a:solidFill>
            <a:srgbClr val="FFFFFF"/>
          </a:solidFill>
          <a:ln w="9525">
            <a:solidFill>
              <a:srgbClr val="E3E7EE"/>
            </a:solidFill>
            <a:prstDash val="solid"/>
          </a:ln>
          <a:effectLst>
            <a:outerShdw sx="100000" sy="100000" kx="0" ky="0" algn="bl" rotWithShape="0" blurRad="177800" dist="63500" dir="5400000">
              <a:srgbClr val="1B2430">
                <a:alpha val="25000"/>
              </a:srgbClr>
            </a:outerShdw>
          </a:effectLst>
        </p:spPr>
      </p:sp>
      <p:pic>
        <p:nvPicPr>
          <p:cNvPr id="7" name="Image 0" descr="/home/user/talenleren/neerlandais1/generateur/img/vijfzinnen/a1_berichtje.jpg">    </p:cNvPr>
          <p:cNvPicPr>
            <a:picLocks noChangeAspect="1"/>
          </p:cNvPicPr>
          <p:nvPr/>
        </p:nvPicPr>
        <p:blipFill>
          <a:blip r:embed="rId1"/>
          <a:stretch>
            <a:fillRect/>
          </a:stretch>
        </p:blipFill>
        <p:spPr>
          <a:xfrm>
            <a:off x="2628900" y="1234440"/>
            <a:ext cx="8092440" cy="5057775"/>
          </a:xfrm>
          <a:prstGeom prst="rect">
            <a:avLst/>
          </a:prstGeom>
        </p:spPr>
      </p:pic>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102</a:t>
            </a:fld>
            <a:endParaRPr lang="en-US"/>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spTree>
      <p:nvGrpSpPr>
        <p:cNvPr id="1" name=""/>
        <p:cNvGrpSpPr/>
        <p:nvPr/>
      </p:nvGrpSpPr>
      <p:grpSpPr>
        <a:xfrm>
          <a:off x="0" y="0"/>
          <a:ext cx="0" cy="0"/>
          <a:chOff x="0" y="0"/>
          <a:chExt cx="0" cy="0"/>
        </a:xfrm>
      </p:grpSpPr>
      <p:sp>
        <p:nvSpPr>
          <p:cNvPr id="2" name="Text 1"/>
          <p:cNvSpPr/>
          <p:nvPr>
            <p:ph idx="101" type="title" hasCustomPrompt="1"/>
          </p:nvPr>
        </p:nvSpPr>
        <p:spPr>
          <a:xfrm>
            <a:off x="1691640" y="347472"/>
            <a:ext cx="8138160" cy="914400"/>
          </a:xfrm>
          <a:prstGeom prst="rect">
            <a:avLst/>
          </a:prstGeom>
          <a:noFill/>
          <a:ln/>
        </p:spPr>
        <p:txBody>
          <a:bodyPr wrap="square" lIns="0" tIns="0" rIns="0" bIns="0" rtlCol="0" anchor="ctr"/>
          <a:lstStyle/>
          <a:p>
            <a:pPr algn="l" indent="0" marL="0">
              <a:buNone/>
            </a:pPr>
            <a:r>
              <a:rPr lang="en-US" sz="2400" b="1" dirty="0">
                <a:solidFill>
                  <a:srgbClr val="2B2F38"/>
                </a:solidFill>
              </a:rPr>
              <a:t>Hier is een voorbeeld van wat je had kunnen denken en schrijven…</a:t>
            </a:r>
            <a:endParaRPr lang="en-US" sz="2400" dirty="0"/>
          </a:p>
        </p:txBody>
      </p:sp>
      <p:sp>
        <p:nvSpPr>
          <p:cNvPr id="4" name="Shape 1"/>
          <p:cNvSpPr/>
          <p:nvPr/>
        </p:nvSpPr>
        <p:spPr>
          <a:xfrm>
            <a:off x="365760" y="365760"/>
            <a:ext cx="868680" cy="5989320"/>
          </a:xfrm>
          <a:prstGeom prst="roundRect">
            <a:avLst>
              <a:gd name="adj" fmla="val 12632"/>
            </a:avLst>
          </a:prstGeom>
          <a:solidFill>
            <a:srgbClr val="FDF1E4"/>
          </a:solidFill>
          <a:ln w="28575">
            <a:solidFill>
              <a:srgbClr val="F0A15E"/>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B9661F"/>
                </a:solidFill>
                <a:latin typeface="Calibri" pitchFamily="34" charset="0"/>
                <a:ea typeface="Calibri" pitchFamily="34" charset="-122"/>
                <a:cs typeface="Calibri" pitchFamily="34" charset="-120"/>
              </a:rPr>
              <a:t>A1 · Vocabulaire</a:t>
            </a:r>
            <a:endParaRPr lang="en-US" sz="3800" dirty="0"/>
          </a:p>
        </p:txBody>
      </p:sp>
      <p:sp>
        <p:nvSpPr>
          <p:cNvPr id="6" name="Shape 3"/>
          <p:cNvSpPr/>
          <p:nvPr/>
        </p:nvSpPr>
        <p:spPr>
          <a:xfrm>
            <a:off x="10058400" y="246888"/>
            <a:ext cx="1691640" cy="1091565"/>
          </a:xfrm>
          <a:prstGeom prst="roundRect">
            <a:avLst>
              <a:gd name="adj" fmla="val 3351"/>
            </a:avLst>
          </a:prstGeom>
          <a:solidFill>
            <a:srgbClr val="FFFFFF"/>
          </a:solidFill>
          <a:ln w="9525">
            <a:solidFill>
              <a:srgbClr val="E3E7EE"/>
            </a:solidFill>
            <a:prstDash val="solid"/>
          </a:ln>
          <a:effectLst>
            <a:outerShdw sx="100000" sy="100000" kx="0" ky="0" algn="bl" rotWithShape="0" blurRad="76200" dist="25400" dir="5400000">
              <a:srgbClr val="1B2430">
                <a:alpha val="25000"/>
              </a:srgbClr>
            </a:outerShdw>
          </a:effectLst>
        </p:spPr>
      </p:sp>
      <p:pic>
        <p:nvPicPr>
          <p:cNvPr id="7" name="Image 0" descr="/home/user/talenleren/neerlandais1/generateur/img/vijfzinnen/a1_berichtje_s.jpg">    </p:cNvPr>
          <p:cNvPicPr>
            <a:picLocks noChangeAspect="1"/>
          </p:cNvPicPr>
          <p:nvPr/>
        </p:nvPicPr>
        <p:blipFill>
          <a:blip r:embed="rId1"/>
          <a:stretch>
            <a:fillRect/>
          </a:stretch>
        </p:blipFill>
        <p:spPr>
          <a:xfrm>
            <a:off x="10104120" y="292608"/>
            <a:ext cx="1600200" cy="1000125"/>
          </a:xfrm>
          <a:prstGeom prst="rect">
            <a:avLst/>
          </a:prstGeom>
        </p:spPr>
      </p:pic>
      <p:sp>
        <p:nvSpPr>
          <p:cNvPr id="8" name="Shape 4"/>
          <p:cNvSpPr/>
          <p:nvPr/>
        </p:nvSpPr>
        <p:spPr>
          <a:xfrm>
            <a:off x="1691640" y="2276856"/>
            <a:ext cx="1349350" cy="371856"/>
          </a:xfrm>
          <a:prstGeom prst="roundRect">
            <a:avLst>
              <a:gd name="adj" fmla="val 12295"/>
            </a:avLst>
          </a:prstGeom>
          <a:solidFill>
            <a:srgbClr val="E6F3DA"/>
          </a:solidFill>
          <a:ln w="12700">
            <a:solidFill>
              <a:srgbClr val="FFFFFF">
                <a:alpha val="0"/>
              </a:srgbClr>
            </a:solidFill>
            <a:prstDash val="solid"/>
          </a:ln>
        </p:spPr>
      </p:sp>
      <p:sp>
        <p:nvSpPr>
          <p:cNvPr id="9" name="Text 5"/>
          <p:cNvSpPr txBox="1"/>
          <p:nvPr/>
        </p:nvSpPr>
        <p:spPr>
          <a:xfrm>
            <a:off x="1691640" y="2264664"/>
            <a:ext cx="1349350"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Hoi Pieter</a:t>
            </a:r>
            <a:endParaRPr lang="en-US" sz="2400" dirty="0"/>
          </a:p>
        </p:txBody>
      </p:sp>
      <p:sp>
        <p:nvSpPr>
          <p:cNvPr id="10" name="Text 6"/>
          <p:cNvSpPr txBox="1"/>
          <p:nvPr/>
        </p:nvSpPr>
        <p:spPr>
          <a:xfrm>
            <a:off x="3040990" y="2264664"/>
            <a:ext cx="282245"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a:t>
            </a:r>
            <a:endParaRPr lang="en-US" sz="2400" dirty="0"/>
          </a:p>
        </p:txBody>
      </p:sp>
      <p:sp>
        <p:nvSpPr>
          <p:cNvPr id="11" name="Shape 7"/>
          <p:cNvSpPr/>
          <p:nvPr/>
        </p:nvSpPr>
        <p:spPr>
          <a:xfrm>
            <a:off x="2366315" y="2200656"/>
            <a:ext cx="914" cy="76200"/>
          </a:xfrm>
          <a:prstGeom prst="line">
            <a:avLst/>
          </a:prstGeom>
          <a:noFill/>
          <a:ln w="15875">
            <a:solidFill>
              <a:srgbClr val="7AB648"/>
            </a:solidFill>
            <a:prstDash val="solid"/>
          </a:ln>
        </p:spPr>
      </p:sp>
      <p:sp>
        <p:nvSpPr>
          <p:cNvPr id="12" name="Shape 8"/>
          <p:cNvSpPr/>
          <p:nvPr/>
        </p:nvSpPr>
        <p:spPr>
          <a:xfrm>
            <a:off x="2146643" y="1953768"/>
            <a:ext cx="439344" cy="246888"/>
          </a:xfrm>
          <a:prstGeom prst="roundRect">
            <a:avLst>
              <a:gd name="adj" fmla="val 14815"/>
            </a:avLst>
          </a:prstGeom>
          <a:solidFill>
            <a:srgbClr val="7AB648"/>
          </a:solidFill>
          <a:ln w="12700">
            <a:solidFill>
              <a:srgbClr val="FFFFFF">
                <a:alpha val="0"/>
              </a:srgbClr>
            </a:solidFill>
            <a:prstDash val="solid"/>
          </a:ln>
        </p:spPr>
      </p:sp>
      <p:sp>
        <p:nvSpPr>
          <p:cNvPr id="13" name="Text 9"/>
          <p:cNvSpPr txBox="1"/>
          <p:nvPr/>
        </p:nvSpPr>
        <p:spPr>
          <a:xfrm>
            <a:off x="2146643" y="1953768"/>
            <a:ext cx="439344"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HOI</a:t>
            </a:r>
            <a:endParaRPr lang="en-US" sz="1100" dirty="0"/>
          </a:p>
        </p:txBody>
      </p:sp>
      <p:sp>
        <p:nvSpPr>
          <p:cNvPr id="14" name="Text 10"/>
          <p:cNvSpPr txBox="1"/>
          <p:nvPr/>
        </p:nvSpPr>
        <p:spPr>
          <a:xfrm>
            <a:off x="1691640" y="3319272"/>
            <a:ext cx="1931518"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Ik ben te laat:</a:t>
            </a:r>
            <a:endParaRPr lang="en-US" sz="2400" dirty="0"/>
          </a:p>
        </p:txBody>
      </p:sp>
      <p:sp>
        <p:nvSpPr>
          <p:cNvPr id="15" name="Shape 11"/>
          <p:cNvSpPr/>
          <p:nvPr/>
        </p:nvSpPr>
        <p:spPr>
          <a:xfrm>
            <a:off x="3527450" y="3331464"/>
            <a:ext cx="1238402" cy="371856"/>
          </a:xfrm>
          <a:prstGeom prst="roundRect">
            <a:avLst>
              <a:gd name="adj" fmla="val 12295"/>
            </a:avLst>
          </a:prstGeom>
          <a:solidFill>
            <a:srgbClr val="E6F3DA"/>
          </a:solidFill>
          <a:ln w="12700">
            <a:solidFill>
              <a:srgbClr val="FFFFFF">
                <a:alpha val="0"/>
              </a:srgbClr>
            </a:solidFill>
            <a:prstDash val="solid"/>
          </a:ln>
        </p:spPr>
      </p:sp>
      <p:sp>
        <p:nvSpPr>
          <p:cNvPr id="16" name="Text 12"/>
          <p:cNvSpPr txBox="1"/>
          <p:nvPr/>
        </p:nvSpPr>
        <p:spPr>
          <a:xfrm>
            <a:off x="3527450" y="3319272"/>
            <a:ext cx="1238402"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mijn gsm</a:t>
            </a:r>
            <a:endParaRPr lang="en-US" sz="2400" dirty="0"/>
          </a:p>
        </p:txBody>
      </p:sp>
      <p:sp>
        <p:nvSpPr>
          <p:cNvPr id="17" name="Text 13"/>
          <p:cNvSpPr txBox="1"/>
          <p:nvPr/>
        </p:nvSpPr>
        <p:spPr>
          <a:xfrm>
            <a:off x="4853026" y="3319272"/>
            <a:ext cx="4739945"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is bijna leeg en ik heb geen oplader.</a:t>
            </a:r>
            <a:endParaRPr lang="en-US" sz="2400" dirty="0"/>
          </a:p>
        </p:txBody>
      </p:sp>
      <p:sp>
        <p:nvSpPr>
          <p:cNvPr id="18" name="Shape 14"/>
          <p:cNvSpPr/>
          <p:nvPr/>
        </p:nvSpPr>
        <p:spPr>
          <a:xfrm>
            <a:off x="4146652" y="3255264"/>
            <a:ext cx="914" cy="76200"/>
          </a:xfrm>
          <a:prstGeom prst="line">
            <a:avLst/>
          </a:prstGeom>
          <a:noFill/>
          <a:ln w="15875">
            <a:solidFill>
              <a:srgbClr val="7AB648"/>
            </a:solidFill>
            <a:prstDash val="solid"/>
          </a:ln>
        </p:spPr>
      </p:sp>
      <p:sp>
        <p:nvSpPr>
          <p:cNvPr id="19" name="Shape 15"/>
          <p:cNvSpPr/>
          <p:nvPr/>
        </p:nvSpPr>
        <p:spPr>
          <a:xfrm>
            <a:off x="3898341" y="3008376"/>
            <a:ext cx="496621" cy="246888"/>
          </a:xfrm>
          <a:prstGeom prst="roundRect">
            <a:avLst>
              <a:gd name="adj" fmla="val 14815"/>
            </a:avLst>
          </a:prstGeom>
          <a:solidFill>
            <a:srgbClr val="7AB648"/>
          </a:solidFill>
          <a:ln w="12700">
            <a:solidFill>
              <a:srgbClr val="FFFFFF">
                <a:alpha val="0"/>
              </a:srgbClr>
            </a:solidFill>
            <a:prstDash val="solid"/>
          </a:ln>
        </p:spPr>
      </p:sp>
      <p:sp>
        <p:nvSpPr>
          <p:cNvPr id="20" name="Text 16"/>
          <p:cNvSpPr txBox="1"/>
          <p:nvPr/>
        </p:nvSpPr>
        <p:spPr>
          <a:xfrm>
            <a:off x="3898341" y="3008376"/>
            <a:ext cx="496621"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GSM</a:t>
            </a:r>
            <a:endParaRPr lang="en-US" sz="1100" dirty="0"/>
          </a:p>
        </p:txBody>
      </p:sp>
      <p:sp>
        <p:nvSpPr>
          <p:cNvPr id="21" name="Shape 17"/>
          <p:cNvSpPr/>
          <p:nvPr/>
        </p:nvSpPr>
        <p:spPr>
          <a:xfrm>
            <a:off x="1691640" y="4386072"/>
            <a:ext cx="490728" cy="371856"/>
          </a:xfrm>
          <a:prstGeom prst="roundRect">
            <a:avLst>
              <a:gd name="adj" fmla="val 12295"/>
            </a:avLst>
          </a:prstGeom>
          <a:solidFill>
            <a:srgbClr val="E6F3DA"/>
          </a:solidFill>
          <a:ln w="12700">
            <a:solidFill>
              <a:srgbClr val="FFFFFF">
                <a:alpha val="0"/>
              </a:srgbClr>
            </a:solidFill>
            <a:prstDash val="solid"/>
          </a:ln>
        </p:spPr>
      </p:sp>
      <p:sp>
        <p:nvSpPr>
          <p:cNvPr id="22" name="Text 18"/>
          <p:cNvSpPr txBox="1"/>
          <p:nvPr/>
        </p:nvSpPr>
        <p:spPr>
          <a:xfrm>
            <a:off x="1691640" y="4373880"/>
            <a:ext cx="490728"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Bel</a:t>
            </a:r>
            <a:endParaRPr lang="en-US" sz="2400" dirty="0"/>
          </a:p>
        </p:txBody>
      </p:sp>
      <p:sp>
        <p:nvSpPr>
          <p:cNvPr id="23" name="Text 19"/>
          <p:cNvSpPr txBox="1"/>
          <p:nvPr/>
        </p:nvSpPr>
        <p:spPr>
          <a:xfrm>
            <a:off x="2269541" y="4373880"/>
            <a:ext cx="1225601"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me niet,</a:t>
            </a:r>
            <a:endParaRPr lang="en-US" sz="2400" dirty="0"/>
          </a:p>
        </p:txBody>
      </p:sp>
      <p:sp>
        <p:nvSpPr>
          <p:cNvPr id="24" name="Shape 20"/>
          <p:cNvSpPr/>
          <p:nvPr/>
        </p:nvSpPr>
        <p:spPr>
          <a:xfrm>
            <a:off x="3399434" y="4386072"/>
            <a:ext cx="754380" cy="371856"/>
          </a:xfrm>
          <a:prstGeom prst="roundRect">
            <a:avLst>
              <a:gd name="adj" fmla="val 12295"/>
            </a:avLst>
          </a:prstGeom>
          <a:solidFill>
            <a:srgbClr val="E6F3DA"/>
          </a:solidFill>
          <a:ln w="12700">
            <a:solidFill>
              <a:srgbClr val="FFFFFF">
                <a:alpha val="0"/>
              </a:srgbClr>
            </a:solidFill>
            <a:prstDash val="solid"/>
          </a:ln>
        </p:spPr>
      </p:sp>
      <p:sp>
        <p:nvSpPr>
          <p:cNvPr id="25" name="Text 21"/>
          <p:cNvSpPr txBox="1"/>
          <p:nvPr/>
        </p:nvSpPr>
        <p:spPr>
          <a:xfrm>
            <a:off x="3399434" y="4373880"/>
            <a:ext cx="754380"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stuur</a:t>
            </a:r>
            <a:endParaRPr lang="en-US" sz="2400" dirty="0"/>
          </a:p>
        </p:txBody>
      </p:sp>
      <p:sp>
        <p:nvSpPr>
          <p:cNvPr id="26" name="Text 22"/>
          <p:cNvSpPr txBox="1"/>
          <p:nvPr/>
        </p:nvSpPr>
        <p:spPr>
          <a:xfrm>
            <a:off x="4240987" y="4373880"/>
            <a:ext cx="2419502"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me een berichtje!</a:t>
            </a:r>
            <a:endParaRPr lang="en-US" sz="2400" dirty="0"/>
          </a:p>
        </p:txBody>
      </p:sp>
      <p:sp>
        <p:nvSpPr>
          <p:cNvPr id="27" name="Shape 23"/>
          <p:cNvSpPr/>
          <p:nvPr/>
        </p:nvSpPr>
        <p:spPr>
          <a:xfrm flipH="1">
            <a:off x="1937004" y="4309872"/>
            <a:ext cx="45091" cy="76200"/>
          </a:xfrm>
          <a:prstGeom prst="line">
            <a:avLst/>
          </a:prstGeom>
          <a:noFill/>
          <a:ln w="15875">
            <a:solidFill>
              <a:srgbClr val="7AB648"/>
            </a:solidFill>
            <a:prstDash val="solid"/>
          </a:ln>
        </p:spPr>
      </p:sp>
      <p:sp>
        <p:nvSpPr>
          <p:cNvPr id="28" name="Shape 24"/>
          <p:cNvSpPr/>
          <p:nvPr/>
        </p:nvSpPr>
        <p:spPr>
          <a:xfrm>
            <a:off x="1554480" y="4062984"/>
            <a:ext cx="855231" cy="246888"/>
          </a:xfrm>
          <a:prstGeom prst="roundRect">
            <a:avLst>
              <a:gd name="adj" fmla="val 14815"/>
            </a:avLst>
          </a:prstGeom>
          <a:solidFill>
            <a:srgbClr val="7AB648"/>
          </a:solidFill>
          <a:ln w="12700">
            <a:solidFill>
              <a:srgbClr val="FFFFFF">
                <a:alpha val="0"/>
              </a:srgbClr>
            </a:solidFill>
            <a:prstDash val="solid"/>
          </a:ln>
        </p:spPr>
      </p:sp>
      <p:sp>
        <p:nvSpPr>
          <p:cNvPr id="29" name="Text 25"/>
          <p:cNvSpPr txBox="1"/>
          <p:nvPr/>
        </p:nvSpPr>
        <p:spPr>
          <a:xfrm>
            <a:off x="1554480" y="4062984"/>
            <a:ext cx="855231"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IMPÉRATIF</a:t>
            </a:r>
            <a:endParaRPr lang="en-US" sz="1100" dirty="0"/>
          </a:p>
        </p:txBody>
      </p:sp>
      <p:sp>
        <p:nvSpPr>
          <p:cNvPr id="30" name="Shape 26"/>
          <p:cNvSpPr/>
          <p:nvPr/>
        </p:nvSpPr>
        <p:spPr>
          <a:xfrm>
            <a:off x="3776624" y="4309872"/>
            <a:ext cx="914" cy="76200"/>
          </a:xfrm>
          <a:prstGeom prst="line">
            <a:avLst/>
          </a:prstGeom>
          <a:noFill/>
          <a:ln w="15875">
            <a:solidFill>
              <a:srgbClr val="7AB648"/>
            </a:solidFill>
            <a:prstDash val="solid"/>
          </a:ln>
        </p:spPr>
      </p:sp>
      <p:sp>
        <p:nvSpPr>
          <p:cNvPr id="31" name="Shape 27"/>
          <p:cNvSpPr/>
          <p:nvPr/>
        </p:nvSpPr>
        <p:spPr>
          <a:xfrm>
            <a:off x="3349009" y="4062984"/>
            <a:ext cx="855231" cy="246888"/>
          </a:xfrm>
          <a:prstGeom prst="roundRect">
            <a:avLst>
              <a:gd name="adj" fmla="val 14815"/>
            </a:avLst>
          </a:prstGeom>
          <a:solidFill>
            <a:srgbClr val="7AB648"/>
          </a:solidFill>
          <a:ln w="12700">
            <a:solidFill>
              <a:srgbClr val="FFFFFF">
                <a:alpha val="0"/>
              </a:srgbClr>
            </a:solidFill>
            <a:prstDash val="solid"/>
          </a:ln>
        </p:spPr>
      </p:sp>
      <p:sp>
        <p:nvSpPr>
          <p:cNvPr id="32" name="Text 28"/>
          <p:cNvSpPr txBox="1"/>
          <p:nvPr/>
        </p:nvSpPr>
        <p:spPr>
          <a:xfrm>
            <a:off x="3349009" y="4062984"/>
            <a:ext cx="855231"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IMPÉRATIF</a:t>
            </a:r>
            <a:endParaRPr lang="en-US" sz="1100" dirty="0"/>
          </a:p>
        </p:txBody>
      </p:sp>
      <p:sp>
        <p:nvSpPr>
          <p:cNvPr id="33" name="Shape 29"/>
          <p:cNvSpPr/>
          <p:nvPr/>
        </p:nvSpPr>
        <p:spPr>
          <a:xfrm>
            <a:off x="1691640" y="5440680"/>
            <a:ext cx="1335024" cy="371856"/>
          </a:xfrm>
          <a:prstGeom prst="roundRect">
            <a:avLst>
              <a:gd name="adj" fmla="val 12295"/>
            </a:avLst>
          </a:prstGeom>
          <a:solidFill>
            <a:srgbClr val="E6F3DA"/>
          </a:solidFill>
          <a:ln w="12700">
            <a:solidFill>
              <a:srgbClr val="FFFFFF">
                <a:alpha val="0"/>
              </a:srgbClr>
            </a:solidFill>
            <a:prstDash val="solid"/>
          </a:ln>
        </p:spPr>
      </p:sp>
      <p:sp>
        <p:nvSpPr>
          <p:cNvPr id="34" name="Text 30"/>
          <p:cNvSpPr txBox="1"/>
          <p:nvPr/>
        </p:nvSpPr>
        <p:spPr>
          <a:xfrm>
            <a:off x="1691640" y="5428488"/>
            <a:ext cx="1335024"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Tot straks</a:t>
            </a:r>
            <a:endParaRPr lang="en-US" sz="2400" dirty="0"/>
          </a:p>
        </p:txBody>
      </p:sp>
      <p:sp>
        <p:nvSpPr>
          <p:cNvPr id="35" name="Text 31"/>
          <p:cNvSpPr txBox="1"/>
          <p:nvPr/>
        </p:nvSpPr>
        <p:spPr>
          <a:xfrm>
            <a:off x="3026664" y="5428488"/>
            <a:ext cx="1128065"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 Emma</a:t>
            </a:r>
            <a:endParaRPr lang="en-US" sz="2400" dirty="0"/>
          </a:p>
        </p:txBody>
      </p:sp>
      <p:sp>
        <p:nvSpPr>
          <p:cNvPr id="36" name="Shape 32"/>
          <p:cNvSpPr/>
          <p:nvPr/>
        </p:nvSpPr>
        <p:spPr>
          <a:xfrm>
            <a:off x="2359152" y="5364480"/>
            <a:ext cx="914" cy="76200"/>
          </a:xfrm>
          <a:prstGeom prst="line">
            <a:avLst/>
          </a:prstGeom>
          <a:noFill/>
          <a:ln w="15875">
            <a:solidFill>
              <a:srgbClr val="7AB648"/>
            </a:solidFill>
            <a:prstDash val="solid"/>
          </a:ln>
        </p:spPr>
      </p:sp>
      <p:sp>
        <p:nvSpPr>
          <p:cNvPr id="37" name="Shape 33"/>
          <p:cNvSpPr/>
          <p:nvPr/>
        </p:nvSpPr>
        <p:spPr>
          <a:xfrm>
            <a:off x="1896751" y="5117592"/>
            <a:ext cx="924801" cy="246888"/>
          </a:xfrm>
          <a:prstGeom prst="roundRect">
            <a:avLst>
              <a:gd name="adj" fmla="val 14815"/>
            </a:avLst>
          </a:prstGeom>
          <a:solidFill>
            <a:srgbClr val="7AB648"/>
          </a:solidFill>
          <a:ln w="12700">
            <a:solidFill>
              <a:srgbClr val="FFFFFF">
                <a:alpha val="0"/>
              </a:srgbClr>
            </a:solidFill>
            <a:prstDash val="solid"/>
          </a:ln>
        </p:spPr>
      </p:sp>
      <p:sp>
        <p:nvSpPr>
          <p:cNvPr id="38" name="Text 34"/>
          <p:cNvSpPr txBox="1"/>
          <p:nvPr/>
        </p:nvSpPr>
        <p:spPr>
          <a:xfrm>
            <a:off x="1896751" y="5117592"/>
            <a:ext cx="924801"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TOT STRAKS</a:t>
            </a:r>
            <a:endParaRPr lang="en-US" sz="1100" dirty="0"/>
          </a:p>
        </p:txBody>
      </p:sp>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103</a:t>
            </a:fld>
            <a:endParaRPr lang="en-US"/>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spTree>
      <p:nvGrpSpPr>
        <p:cNvPr id="1" name=""/>
        <p:cNvGrpSpPr/>
        <p:nvPr/>
      </p:nvGrpSpPr>
      <p:grpSpPr>
        <a:xfrm>
          <a:off x="0" y="0"/>
          <a:ext cx="0" cy="0"/>
          <a:chOff x="0" y="0"/>
          <a:chExt cx="0" cy="0"/>
        </a:xfrm>
      </p:grpSpPr>
      <p:sp>
        <p:nvSpPr>
          <p:cNvPr id="2" name="Text 1"/>
          <p:cNvSpPr/>
          <p:nvPr>
            <p:ph idx="101" type="title" hasCustomPrompt="1"/>
          </p:nvPr>
        </p:nvSpPr>
        <p:spPr>
          <a:xfrm>
            <a:off x="1554480" y="384048"/>
            <a:ext cx="10241280" cy="658368"/>
          </a:xfrm>
          <a:prstGeom prst="rect">
            <a:avLst/>
          </a:prstGeom>
          <a:noFill/>
          <a:ln/>
        </p:spPr>
        <p:txBody>
          <a:bodyPr wrap="square" lIns="0" tIns="0" rIns="0" bIns="0" rtlCol="0" anchor="ctr"/>
          <a:lstStyle/>
          <a:p>
            <a:pPr algn="ctr" indent="0" marL="0">
              <a:buNone/>
            </a:pPr>
            <a:r>
              <a:rPr lang="en-US" sz="3000" b="1" dirty="0">
                <a:solidFill>
                  <a:srgbClr val="2B2F38"/>
                </a:solidFill>
              </a:rPr>
              <a:t>Gebruik deze afbeelding als inspiratie</a:t>
            </a:r>
            <a:endParaRPr lang="en-US" sz="3000" dirty="0"/>
          </a:p>
        </p:txBody>
      </p:sp>
      <p:sp>
        <p:nvSpPr>
          <p:cNvPr id="4" name="Shape 1"/>
          <p:cNvSpPr/>
          <p:nvPr/>
        </p:nvSpPr>
        <p:spPr>
          <a:xfrm>
            <a:off x="365760" y="365760"/>
            <a:ext cx="868680" cy="5989320"/>
          </a:xfrm>
          <a:prstGeom prst="roundRect">
            <a:avLst>
              <a:gd name="adj" fmla="val 12632"/>
            </a:avLst>
          </a:prstGeom>
          <a:solidFill>
            <a:srgbClr val="FDF1E4"/>
          </a:solidFill>
          <a:ln w="28575">
            <a:solidFill>
              <a:srgbClr val="F0A15E"/>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B9661F"/>
                </a:solidFill>
                <a:latin typeface="Calibri" pitchFamily="34" charset="0"/>
                <a:ea typeface="Calibri" pitchFamily="34" charset="-122"/>
                <a:cs typeface="Calibri" pitchFamily="34" charset="-120"/>
              </a:rPr>
              <a:t>A1 · Vocabulaire</a:t>
            </a:r>
            <a:endParaRPr lang="en-US" sz="3800" dirty="0"/>
          </a:p>
        </p:txBody>
      </p:sp>
      <p:sp>
        <p:nvSpPr>
          <p:cNvPr id="6" name="Text 3"/>
          <p:cNvSpPr txBox="1"/>
          <p:nvPr/>
        </p:nvSpPr>
        <p:spPr>
          <a:xfrm>
            <a:off x="1554480" y="1024128"/>
            <a:ext cx="10241280" cy="365760"/>
          </a:xfrm>
          <a:prstGeom prst="rect">
            <a:avLst/>
          </a:prstGeom>
          <a:noFill/>
          <a:ln/>
        </p:spPr>
        <p:txBody>
          <a:bodyPr wrap="square" lIns="0" tIns="0" rIns="0" bIns="0" rtlCol="0" anchor="ctr"/>
          <a:lstStyle/>
          <a:p>
            <a:pPr algn="ctr" indent="0" marL="0">
              <a:buNone/>
            </a:pPr>
            <a:r>
              <a:rPr lang="en-US" sz="1500" b="1" dirty="0">
                <a:solidFill>
                  <a:srgbClr val="B9661F"/>
                </a:solidFill>
                <a:latin typeface="Calibri" pitchFamily="34" charset="0"/>
                <a:ea typeface="Calibri" pitchFamily="34" charset="-122"/>
                <a:cs typeface="Calibri" pitchFamily="34" charset="-120"/>
              </a:rPr>
              <a:t>33 · Op het gemeentehuis</a:t>
            </a:r>
            <a:r>
              <a:rPr lang="en-US" sz="1500" i="1" dirty="0">
                <a:solidFill>
                  <a:srgbClr val="6B7280"/>
                </a:solidFill>
                <a:latin typeface="Calibri" pitchFamily="34" charset="0"/>
                <a:ea typeface="Calibri" pitchFamily="34" charset="-122"/>
                <a:cs typeface="Calibri" pitchFamily="34" charset="-120"/>
              </a:rPr>
              <a:t>   À la maison communale</a:t>
            </a:r>
            <a:r>
              <a:rPr lang="en-US" sz="1200" dirty="0">
                <a:solidFill>
                  <a:srgbClr val="9AA3B2"/>
                </a:solidFill>
                <a:latin typeface="Calibri" pitchFamily="34" charset="0"/>
                <a:ea typeface="Calibri" pitchFamily="34" charset="-122"/>
                <a:cs typeface="Calibri" pitchFamily="34" charset="-120"/>
              </a:rPr>
              <a:t>   ·   syllabus vocabulaire 09 · p. 86</a:t>
            </a:r>
            <a:endParaRPr lang="en-US" sz="1500" dirty="0"/>
          </a:p>
        </p:txBody>
      </p:sp>
      <p:sp>
        <p:nvSpPr>
          <p:cNvPr id="7" name="Shape 4"/>
          <p:cNvSpPr/>
          <p:nvPr/>
        </p:nvSpPr>
        <p:spPr>
          <a:xfrm>
            <a:off x="1596085" y="1504645"/>
            <a:ext cx="4534510" cy="2905735"/>
          </a:xfrm>
          <a:prstGeom prst="roundRect">
            <a:avLst>
              <a:gd name="adj" fmla="val 1259"/>
            </a:avLst>
          </a:prstGeom>
          <a:solidFill>
            <a:srgbClr val="FFFFFF"/>
          </a:solidFill>
          <a:ln w="9525">
            <a:solidFill>
              <a:srgbClr val="E3E7EE"/>
            </a:solidFill>
            <a:prstDash val="solid"/>
          </a:ln>
          <a:effectLst>
            <a:outerShdw sx="100000" sy="100000" kx="0" ky="0" algn="bl" rotWithShape="0" blurRad="127000" dist="50800" dir="5400000">
              <a:srgbClr val="1B2430">
                <a:alpha val="25000"/>
              </a:srgbClr>
            </a:outerShdw>
          </a:effectLst>
        </p:spPr>
      </p:sp>
      <p:pic>
        <p:nvPicPr>
          <p:cNvPr id="8" name="Image 0" descr="/home/user/talenleren/neerlandais1/generateur/img/vijfzinnen/a1_gemeentehuis_s.jpg">    </p:cNvPr>
          <p:cNvPicPr>
            <a:picLocks noChangeAspect="1"/>
          </p:cNvPicPr>
          <p:nvPr/>
        </p:nvPicPr>
        <p:blipFill>
          <a:blip r:embed="rId1"/>
          <a:stretch>
            <a:fillRect/>
          </a:stretch>
        </p:blipFill>
        <p:spPr>
          <a:xfrm>
            <a:off x="1691640" y="1600200"/>
            <a:ext cx="4343400" cy="2714625"/>
          </a:xfrm>
          <a:prstGeom prst="rect">
            <a:avLst/>
          </a:prstGeom>
        </p:spPr>
      </p:pic>
      <p:sp>
        <p:nvSpPr>
          <p:cNvPr id="9" name="Shape 5"/>
          <p:cNvSpPr/>
          <p:nvPr/>
        </p:nvSpPr>
        <p:spPr>
          <a:xfrm>
            <a:off x="1691640" y="4572000"/>
            <a:ext cx="1600200" cy="365760"/>
          </a:xfrm>
          <a:prstGeom prst="roundRect">
            <a:avLst>
              <a:gd name="adj" fmla="val 50000"/>
            </a:avLst>
          </a:prstGeom>
          <a:solidFill>
            <a:srgbClr val="FDF1E6"/>
          </a:solidFill>
          <a:ln w="12700">
            <a:solidFill>
              <a:srgbClr val="D9822B"/>
            </a:solidFill>
            <a:prstDash val="solid"/>
          </a:ln>
        </p:spPr>
      </p:sp>
      <p:pic>
        <p:nvPicPr>
          <p:cNvPr id="10" name="Image 1" descr="Comments">    </p:cNvPr>
          <p:cNvPicPr>
            <a:picLocks noChangeAspect="1"/>
          </p:cNvPicPr>
          <p:nvPr/>
        </p:nvPicPr>
        <p:blipFill>
          <a:blip r:embed="rId2"/>
          <a:stretch>
            <a:fillRect/>
          </a:stretch>
        </p:blipFill>
        <p:spPr>
          <a:xfrm>
            <a:off x="1819656" y="4654296"/>
            <a:ext cx="201168" cy="201168"/>
          </a:xfrm>
          <a:prstGeom prst="rect">
            <a:avLst/>
          </a:prstGeom>
        </p:spPr>
      </p:pic>
      <p:sp>
        <p:nvSpPr>
          <p:cNvPr id="11" name="Text 6"/>
          <p:cNvSpPr txBox="1"/>
          <p:nvPr/>
        </p:nvSpPr>
        <p:spPr>
          <a:xfrm>
            <a:off x="2075688" y="4572000"/>
            <a:ext cx="1143000" cy="365760"/>
          </a:xfrm>
          <a:prstGeom prst="rect">
            <a:avLst/>
          </a:prstGeom>
          <a:noFill/>
          <a:ln/>
        </p:spPr>
        <p:txBody>
          <a:bodyPr wrap="square" lIns="0" tIns="0" rIns="0" bIns="0" rtlCol="0" anchor="ctr"/>
          <a:lstStyle/>
          <a:p>
            <a:pPr algn="l" indent="0" marL="0">
              <a:buNone/>
            </a:pPr>
            <a:r>
              <a:rPr lang="en-US" sz="1150" b="1" spc="100" kern="0" dirty="0">
                <a:solidFill>
                  <a:srgbClr val="D9822B"/>
                </a:solidFill>
                <a:latin typeface="Calibri" pitchFamily="34" charset="0"/>
                <a:ea typeface="Calibri" pitchFamily="34" charset="-122"/>
                <a:cs typeface="Calibri" pitchFamily="34" charset="-120"/>
              </a:rPr>
              <a:t>À L’ORAL</a:t>
            </a:r>
            <a:endParaRPr lang="en-US" sz="1150" dirty="0"/>
          </a:p>
        </p:txBody>
      </p:sp>
      <p:sp>
        <p:nvSpPr>
          <p:cNvPr id="12" name="Text 7"/>
          <p:cNvSpPr txBox="1"/>
          <p:nvPr/>
        </p:nvSpPr>
        <p:spPr>
          <a:xfrm>
            <a:off x="3429000" y="4544568"/>
            <a:ext cx="2651760" cy="731520"/>
          </a:xfrm>
          <a:prstGeom prst="rect">
            <a:avLst/>
          </a:prstGeom>
          <a:noFill/>
          <a:ln/>
        </p:spPr>
        <p:txBody>
          <a:bodyPr wrap="square" lIns="0" tIns="0" rIns="0" bIns="0" rtlCol="0" anchor="t"/>
          <a:lstStyle/>
          <a:p>
            <a:pPr algn="l" indent="0" marL="0">
              <a:buNone/>
            </a:pPr>
            <a:r>
              <a:rPr lang="en-US" sz="1150" i="1" dirty="0">
                <a:solidFill>
                  <a:srgbClr val="6B7280"/>
                </a:solidFill>
                <a:latin typeface="Calibri" pitchFamily="34" charset="0"/>
                <a:ea typeface="Calibri" pitchFamily="34" charset="-122"/>
                <a:cs typeface="Calibri" pitchFamily="34" charset="-120"/>
              </a:rPr>
              <a:t>Vous avez rendez-vous à la maison communale pour un document.</a:t>
            </a:r>
            <a:endParaRPr lang="en-US" sz="1150" dirty="0"/>
          </a:p>
        </p:txBody>
      </p:sp>
      <p:sp>
        <p:nvSpPr>
          <p:cNvPr id="13" name="Shape 8"/>
          <p:cNvSpPr/>
          <p:nvPr/>
        </p:nvSpPr>
        <p:spPr>
          <a:xfrm>
            <a:off x="6355080" y="1673352"/>
            <a:ext cx="914400" cy="402336"/>
          </a:xfrm>
          <a:prstGeom prst="roundRect">
            <a:avLst>
              <a:gd name="adj" fmla="val 13636"/>
            </a:avLst>
          </a:prstGeom>
          <a:solidFill>
            <a:srgbClr val="5FA873"/>
          </a:solidFill>
          <a:ln w="12700">
            <a:solidFill>
              <a:srgbClr val="FFFFFF">
                <a:alpha val="0"/>
              </a:srgbClr>
            </a:solidFill>
            <a:prstDash val="solid"/>
          </a:ln>
        </p:spPr>
      </p:sp>
      <p:sp>
        <p:nvSpPr>
          <p:cNvPr id="14" name="Text 9"/>
          <p:cNvSpPr txBox="1"/>
          <p:nvPr/>
        </p:nvSpPr>
        <p:spPr>
          <a:xfrm>
            <a:off x="6355080" y="167335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1</a:t>
            </a:r>
            <a:endParaRPr lang="en-US" sz="1600" dirty="0"/>
          </a:p>
        </p:txBody>
      </p:sp>
      <p:sp>
        <p:nvSpPr>
          <p:cNvPr id="15" name="Text 10"/>
          <p:cNvSpPr txBox="1"/>
          <p:nvPr/>
        </p:nvSpPr>
        <p:spPr>
          <a:xfrm>
            <a:off x="7406640" y="1618488"/>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Saluez et annoncez : </a:t>
            </a:r>
            <a:r>
              <a:rPr lang="en-US" sz="1450" b="1" dirty="0">
                <a:solidFill>
                  <a:srgbClr val="2B2F38"/>
                </a:solidFill>
              </a:rPr>
              <a:t>IK HEB EEN AFSPRAAK</a:t>
            </a:r>
            <a:r>
              <a:rPr lang="en-US" sz="1450" dirty="0">
                <a:solidFill>
                  <a:srgbClr val="2B2F38"/>
                </a:solidFill>
              </a:rPr>
              <a:t>.</a:t>
            </a:r>
            <a:endParaRPr lang="en-US" sz="1450" dirty="0"/>
          </a:p>
        </p:txBody>
      </p:sp>
      <p:sp>
        <p:nvSpPr>
          <p:cNvPr id="16" name="Shape 11"/>
          <p:cNvSpPr/>
          <p:nvPr/>
        </p:nvSpPr>
        <p:spPr>
          <a:xfrm>
            <a:off x="6355080" y="2404872"/>
            <a:ext cx="914400" cy="402336"/>
          </a:xfrm>
          <a:prstGeom prst="roundRect">
            <a:avLst>
              <a:gd name="adj" fmla="val 13636"/>
            </a:avLst>
          </a:prstGeom>
          <a:solidFill>
            <a:srgbClr val="5FA873"/>
          </a:solidFill>
          <a:ln w="12700">
            <a:solidFill>
              <a:srgbClr val="FFFFFF">
                <a:alpha val="0"/>
              </a:srgbClr>
            </a:solidFill>
            <a:prstDash val="solid"/>
          </a:ln>
        </p:spPr>
      </p:sp>
      <p:sp>
        <p:nvSpPr>
          <p:cNvPr id="17" name="Text 12"/>
          <p:cNvSpPr txBox="1"/>
          <p:nvPr/>
        </p:nvSpPr>
        <p:spPr>
          <a:xfrm>
            <a:off x="6355080" y="240487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2</a:t>
            </a:r>
            <a:endParaRPr lang="en-US" sz="1600" dirty="0"/>
          </a:p>
        </p:txBody>
      </p:sp>
      <p:sp>
        <p:nvSpPr>
          <p:cNvPr id="18" name="Text 13"/>
          <p:cNvSpPr txBox="1"/>
          <p:nvPr/>
        </p:nvSpPr>
        <p:spPr>
          <a:xfrm>
            <a:off x="7406640" y="2350008"/>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Vos documents : </a:t>
            </a:r>
            <a:r>
              <a:rPr lang="en-US" sz="1450" b="1" dirty="0">
                <a:solidFill>
                  <a:srgbClr val="2B2F38"/>
                </a:solidFill>
              </a:rPr>
              <a:t>HIER IS</a:t>
            </a:r>
            <a:r>
              <a:rPr lang="en-US" sz="1450" dirty="0">
                <a:solidFill>
                  <a:srgbClr val="2B2F38"/>
                </a:solidFill>
              </a:rPr>
              <a:t> mijn paspoort / het formulier.</a:t>
            </a:r>
            <a:endParaRPr lang="en-US" sz="1450" dirty="0"/>
          </a:p>
        </p:txBody>
      </p:sp>
      <p:sp>
        <p:nvSpPr>
          <p:cNvPr id="19" name="Shape 14"/>
          <p:cNvSpPr/>
          <p:nvPr/>
        </p:nvSpPr>
        <p:spPr>
          <a:xfrm>
            <a:off x="6355080" y="3136392"/>
            <a:ext cx="914400" cy="402336"/>
          </a:xfrm>
          <a:prstGeom prst="roundRect">
            <a:avLst>
              <a:gd name="adj" fmla="val 13636"/>
            </a:avLst>
          </a:prstGeom>
          <a:solidFill>
            <a:srgbClr val="5FA873"/>
          </a:solidFill>
          <a:ln w="12700">
            <a:solidFill>
              <a:srgbClr val="FFFFFF">
                <a:alpha val="0"/>
              </a:srgbClr>
            </a:solidFill>
            <a:prstDash val="solid"/>
          </a:ln>
        </p:spPr>
      </p:sp>
      <p:sp>
        <p:nvSpPr>
          <p:cNvPr id="20" name="Text 15"/>
          <p:cNvSpPr txBox="1"/>
          <p:nvPr/>
        </p:nvSpPr>
        <p:spPr>
          <a:xfrm>
            <a:off x="6355080" y="313639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3</a:t>
            </a:r>
            <a:endParaRPr lang="en-US" sz="1600" dirty="0"/>
          </a:p>
        </p:txBody>
      </p:sp>
      <p:sp>
        <p:nvSpPr>
          <p:cNvPr id="21" name="Text 16"/>
          <p:cNvSpPr txBox="1"/>
          <p:nvPr/>
        </p:nvSpPr>
        <p:spPr>
          <a:xfrm>
            <a:off x="7406640" y="3081528"/>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Une question : </a:t>
            </a:r>
            <a:r>
              <a:rPr lang="en-US" sz="1450" b="1" dirty="0">
                <a:solidFill>
                  <a:srgbClr val="2B2F38"/>
                </a:solidFill>
              </a:rPr>
              <a:t>WAAR IS</a:t>
            </a:r>
            <a:r>
              <a:rPr lang="en-US" sz="1450" dirty="0">
                <a:solidFill>
                  <a:srgbClr val="2B2F38"/>
                </a:solidFill>
              </a:rPr>
              <a:t> het loket … ?</a:t>
            </a:r>
            <a:endParaRPr lang="en-US" sz="1450" dirty="0"/>
          </a:p>
        </p:txBody>
      </p:sp>
      <p:sp>
        <p:nvSpPr>
          <p:cNvPr id="22" name="Shape 17"/>
          <p:cNvSpPr/>
          <p:nvPr/>
        </p:nvSpPr>
        <p:spPr>
          <a:xfrm>
            <a:off x="6355080" y="3867912"/>
            <a:ext cx="914400" cy="402336"/>
          </a:xfrm>
          <a:prstGeom prst="roundRect">
            <a:avLst>
              <a:gd name="adj" fmla="val 13636"/>
            </a:avLst>
          </a:prstGeom>
          <a:solidFill>
            <a:srgbClr val="5FA873"/>
          </a:solidFill>
          <a:ln w="12700">
            <a:solidFill>
              <a:srgbClr val="FFFFFF">
                <a:alpha val="0"/>
              </a:srgbClr>
            </a:solidFill>
            <a:prstDash val="solid"/>
          </a:ln>
        </p:spPr>
      </p:sp>
      <p:sp>
        <p:nvSpPr>
          <p:cNvPr id="23" name="Text 18"/>
          <p:cNvSpPr txBox="1"/>
          <p:nvPr/>
        </p:nvSpPr>
        <p:spPr>
          <a:xfrm>
            <a:off x="6355080" y="386791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4</a:t>
            </a:r>
            <a:endParaRPr lang="en-US" sz="1600" dirty="0"/>
          </a:p>
        </p:txBody>
      </p:sp>
      <p:sp>
        <p:nvSpPr>
          <p:cNvPr id="24" name="Text 19"/>
          <p:cNvSpPr txBox="1"/>
          <p:nvPr/>
        </p:nvSpPr>
        <p:spPr>
          <a:xfrm>
            <a:off x="7406640" y="3813048"/>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Une chute avec </a:t>
            </a:r>
            <a:r>
              <a:rPr lang="en-US" sz="1450" b="1" dirty="0">
                <a:solidFill>
                  <a:srgbClr val="2B2F38"/>
                </a:solidFill>
              </a:rPr>
              <a:t>DE WACHTRIJ</a:t>
            </a:r>
            <a:r>
              <a:rPr lang="en-US" sz="1450" dirty="0">
                <a:solidFill>
                  <a:srgbClr val="2B2F38"/>
                </a:solidFill>
              </a:rPr>
              <a:t>.</a:t>
            </a:r>
            <a:endParaRPr lang="en-US" sz="1450" dirty="0"/>
          </a:p>
        </p:txBody>
      </p:sp>
      <p:sp>
        <p:nvSpPr>
          <p:cNvPr id="25" name="Shape 20"/>
          <p:cNvSpPr/>
          <p:nvPr/>
        </p:nvSpPr>
        <p:spPr>
          <a:xfrm>
            <a:off x="3246120" y="5440680"/>
            <a:ext cx="6858000" cy="822960"/>
          </a:xfrm>
          <a:prstGeom prst="roundRect">
            <a:avLst>
              <a:gd name="adj" fmla="val 17778"/>
            </a:avLst>
          </a:prstGeom>
          <a:solidFill>
            <a:srgbClr val="EAF5EC"/>
          </a:solidFill>
          <a:ln w="15875">
            <a:solidFill>
              <a:srgbClr val="5FA873"/>
            </a:solidFill>
            <a:prstDash val="solid"/>
          </a:ln>
        </p:spPr>
      </p:sp>
      <p:pic>
        <p:nvPicPr>
          <p:cNvPr id="26" name="Image 2" descr="UserFriends">    </p:cNvPr>
          <p:cNvPicPr>
            <a:picLocks noChangeAspect="1"/>
          </p:cNvPicPr>
          <p:nvPr/>
        </p:nvPicPr>
        <p:blipFill>
          <a:blip r:embed="rId3"/>
          <a:stretch>
            <a:fillRect/>
          </a:stretch>
        </p:blipFill>
        <p:spPr>
          <a:xfrm>
            <a:off x="3520440" y="5660136"/>
            <a:ext cx="384048" cy="384048"/>
          </a:xfrm>
          <a:prstGeom prst="rect">
            <a:avLst/>
          </a:prstGeom>
        </p:spPr>
      </p:pic>
      <p:sp>
        <p:nvSpPr>
          <p:cNvPr id="27" name="Text 21"/>
          <p:cNvSpPr txBox="1"/>
          <p:nvPr/>
        </p:nvSpPr>
        <p:spPr>
          <a:xfrm>
            <a:off x="4114800" y="5440680"/>
            <a:ext cx="5852160" cy="822960"/>
          </a:xfrm>
          <a:prstGeom prst="rect">
            <a:avLst/>
          </a:prstGeom>
          <a:noFill/>
          <a:ln/>
        </p:spPr>
        <p:txBody>
          <a:bodyPr wrap="square" lIns="0" tIns="0" rIns="0" bIns="0" rtlCol="0" anchor="ctr"/>
          <a:lstStyle/>
          <a:p>
            <a:pPr algn="ctr" indent="0" marL="0">
              <a:buNone/>
            </a:pPr>
            <a:r>
              <a:rPr lang="en-US" sz="1800" b="1" dirty="0">
                <a:solidFill>
                  <a:srgbClr val="2E6B44"/>
                </a:solidFill>
                <a:latin typeface="Calibri" pitchFamily="34" charset="0"/>
                <a:ea typeface="Calibri" pitchFamily="34" charset="-122"/>
                <a:cs typeface="Calibri" pitchFamily="34" charset="-120"/>
              </a:rPr>
              <a:t>Vertel je verhaal aan je partner.</a:t>
            </a:r>
            <a:endParaRPr lang="en-US" sz="1800" dirty="0"/>
          </a:p>
          <a:p>
            <a:pPr algn="ctr" indent="0" marL="0">
              <a:buNone/>
            </a:pPr>
            <a:r>
              <a:rPr lang="en-US" sz="1800" b="1" dirty="0">
                <a:solidFill>
                  <a:srgbClr val="2E6B44"/>
                </a:solidFill>
                <a:latin typeface="Calibri" pitchFamily="34" charset="0"/>
                <a:ea typeface="Calibri" pitchFamily="34" charset="-122"/>
                <a:cs typeface="Calibri" pitchFamily="34" charset="-120"/>
              </a:rPr>
              <a:t>Wat denkt hij/zij daarvan?</a:t>
            </a:r>
            <a:endParaRPr lang="en-US" sz="1800" dirty="0"/>
          </a:p>
        </p:txBody>
      </p:sp>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104</a:t>
            </a:fld>
            <a:endParaRPr lang="en-US"/>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spTree>
      <p:nvGrpSpPr>
        <p:cNvPr id="1" name=""/>
        <p:cNvGrpSpPr/>
        <p:nvPr/>
      </p:nvGrpSpPr>
      <p:grpSpPr>
        <a:xfrm>
          <a:off x="0" y="0"/>
          <a:ext cx="0" cy="0"/>
          <a:chOff x="0" y="0"/>
          <a:chExt cx="0" cy="0"/>
        </a:xfrm>
      </p:grpSpPr>
      <p:sp>
        <p:nvSpPr>
          <p:cNvPr id="2" name="Text 1"/>
          <p:cNvSpPr/>
          <p:nvPr>
            <p:ph idx="101" type="title" hasCustomPrompt="1"/>
          </p:nvPr>
        </p:nvSpPr>
        <p:spPr>
          <a:xfrm>
            <a:off x="1554480" y="384048"/>
            <a:ext cx="10241280" cy="658368"/>
          </a:xfrm>
          <a:prstGeom prst="rect">
            <a:avLst/>
          </a:prstGeom>
          <a:noFill/>
          <a:ln/>
        </p:spPr>
        <p:txBody>
          <a:bodyPr wrap="square" lIns="0" tIns="0" rIns="0" bIns="0" rtlCol="0" anchor="ctr"/>
          <a:lstStyle/>
          <a:p>
            <a:pPr algn="ctr" indent="0" marL="0">
              <a:buNone/>
            </a:pPr>
            <a:r>
              <a:rPr lang="en-US" sz="3000" b="1" dirty="0">
                <a:solidFill>
                  <a:srgbClr val="2B2F38"/>
                </a:solidFill>
              </a:rPr>
              <a:t>Op het gemeentehuis</a:t>
            </a:r>
            <a:endParaRPr lang="en-US" sz="3000" dirty="0"/>
          </a:p>
        </p:txBody>
      </p:sp>
      <p:sp>
        <p:nvSpPr>
          <p:cNvPr id="4" name="Shape 1"/>
          <p:cNvSpPr/>
          <p:nvPr/>
        </p:nvSpPr>
        <p:spPr>
          <a:xfrm>
            <a:off x="365760" y="365760"/>
            <a:ext cx="868680" cy="5989320"/>
          </a:xfrm>
          <a:prstGeom prst="roundRect">
            <a:avLst>
              <a:gd name="adj" fmla="val 12632"/>
            </a:avLst>
          </a:prstGeom>
          <a:solidFill>
            <a:srgbClr val="FDF1E4"/>
          </a:solidFill>
          <a:ln w="28575">
            <a:solidFill>
              <a:srgbClr val="F0A15E"/>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B9661F"/>
                </a:solidFill>
                <a:latin typeface="Calibri" pitchFamily="34" charset="0"/>
                <a:ea typeface="Calibri" pitchFamily="34" charset="-122"/>
                <a:cs typeface="Calibri" pitchFamily="34" charset="-120"/>
              </a:rPr>
              <a:t>A1 · Vocabulaire</a:t>
            </a:r>
            <a:endParaRPr lang="en-US" sz="3800" dirty="0"/>
          </a:p>
        </p:txBody>
      </p:sp>
      <p:sp>
        <p:nvSpPr>
          <p:cNvPr id="6" name="Shape 3"/>
          <p:cNvSpPr/>
          <p:nvPr/>
        </p:nvSpPr>
        <p:spPr>
          <a:xfrm>
            <a:off x="2519172" y="1124712"/>
            <a:ext cx="8311896" cy="5277231"/>
          </a:xfrm>
          <a:prstGeom prst="roundRect">
            <a:avLst>
              <a:gd name="adj" fmla="val 693"/>
            </a:avLst>
          </a:prstGeom>
          <a:solidFill>
            <a:srgbClr val="FFFFFF"/>
          </a:solidFill>
          <a:ln w="9525">
            <a:solidFill>
              <a:srgbClr val="E3E7EE"/>
            </a:solidFill>
            <a:prstDash val="solid"/>
          </a:ln>
          <a:effectLst>
            <a:outerShdw sx="100000" sy="100000" kx="0" ky="0" algn="bl" rotWithShape="0" blurRad="177800" dist="63500" dir="5400000">
              <a:srgbClr val="1B2430">
                <a:alpha val="25000"/>
              </a:srgbClr>
            </a:outerShdw>
          </a:effectLst>
        </p:spPr>
      </p:sp>
      <p:pic>
        <p:nvPicPr>
          <p:cNvPr id="7" name="Image 0" descr="/home/user/talenleren/neerlandais1/generateur/img/vijfzinnen/a1_gemeentehuis.jpg">    </p:cNvPr>
          <p:cNvPicPr>
            <a:picLocks noChangeAspect="1"/>
          </p:cNvPicPr>
          <p:nvPr/>
        </p:nvPicPr>
        <p:blipFill>
          <a:blip r:embed="rId1"/>
          <a:stretch>
            <a:fillRect/>
          </a:stretch>
        </p:blipFill>
        <p:spPr>
          <a:xfrm>
            <a:off x="2628900" y="1234440"/>
            <a:ext cx="8092440" cy="5057775"/>
          </a:xfrm>
          <a:prstGeom prst="rect">
            <a:avLst/>
          </a:prstGeom>
        </p:spPr>
      </p:pic>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105</a:t>
            </a:fld>
            <a:endParaRPr lang="en-US"/>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spTree>
      <p:nvGrpSpPr>
        <p:cNvPr id="1" name=""/>
        <p:cNvGrpSpPr/>
        <p:nvPr/>
      </p:nvGrpSpPr>
      <p:grpSpPr>
        <a:xfrm>
          <a:off x="0" y="0"/>
          <a:ext cx="0" cy="0"/>
          <a:chOff x="0" y="0"/>
          <a:chExt cx="0" cy="0"/>
        </a:xfrm>
      </p:grpSpPr>
      <p:sp>
        <p:nvSpPr>
          <p:cNvPr id="2" name="Text 1"/>
          <p:cNvSpPr/>
          <p:nvPr>
            <p:ph idx="101" type="title" hasCustomPrompt="1"/>
          </p:nvPr>
        </p:nvSpPr>
        <p:spPr>
          <a:xfrm>
            <a:off x="1691640" y="347472"/>
            <a:ext cx="8138160" cy="914400"/>
          </a:xfrm>
          <a:prstGeom prst="rect">
            <a:avLst/>
          </a:prstGeom>
          <a:noFill/>
          <a:ln/>
        </p:spPr>
        <p:txBody>
          <a:bodyPr wrap="square" lIns="0" tIns="0" rIns="0" bIns="0" rtlCol="0" anchor="ctr"/>
          <a:lstStyle/>
          <a:p>
            <a:pPr algn="l" indent="0" marL="0">
              <a:buNone/>
            </a:pPr>
            <a:r>
              <a:rPr lang="en-US" sz="2400" b="1" dirty="0">
                <a:solidFill>
                  <a:srgbClr val="2B2F38"/>
                </a:solidFill>
              </a:rPr>
              <a:t>Hier is een voorbeeld van wat je had kunnen denken en zeggen…</a:t>
            </a:r>
            <a:endParaRPr lang="en-US" sz="2400" dirty="0"/>
          </a:p>
        </p:txBody>
      </p:sp>
      <p:sp>
        <p:nvSpPr>
          <p:cNvPr id="4" name="Shape 1"/>
          <p:cNvSpPr/>
          <p:nvPr/>
        </p:nvSpPr>
        <p:spPr>
          <a:xfrm>
            <a:off x="365760" y="365760"/>
            <a:ext cx="868680" cy="5989320"/>
          </a:xfrm>
          <a:prstGeom prst="roundRect">
            <a:avLst>
              <a:gd name="adj" fmla="val 12632"/>
            </a:avLst>
          </a:prstGeom>
          <a:solidFill>
            <a:srgbClr val="FDF1E4"/>
          </a:solidFill>
          <a:ln w="28575">
            <a:solidFill>
              <a:srgbClr val="F0A15E"/>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B9661F"/>
                </a:solidFill>
                <a:latin typeface="Calibri" pitchFamily="34" charset="0"/>
                <a:ea typeface="Calibri" pitchFamily="34" charset="-122"/>
                <a:cs typeface="Calibri" pitchFamily="34" charset="-120"/>
              </a:rPr>
              <a:t>A1 · Vocabulaire</a:t>
            </a:r>
            <a:endParaRPr lang="en-US" sz="3800" dirty="0"/>
          </a:p>
        </p:txBody>
      </p:sp>
      <p:sp>
        <p:nvSpPr>
          <p:cNvPr id="6" name="Shape 3"/>
          <p:cNvSpPr/>
          <p:nvPr/>
        </p:nvSpPr>
        <p:spPr>
          <a:xfrm>
            <a:off x="10058400" y="246888"/>
            <a:ext cx="1691640" cy="1091565"/>
          </a:xfrm>
          <a:prstGeom prst="roundRect">
            <a:avLst>
              <a:gd name="adj" fmla="val 3351"/>
            </a:avLst>
          </a:prstGeom>
          <a:solidFill>
            <a:srgbClr val="FFFFFF"/>
          </a:solidFill>
          <a:ln w="9525">
            <a:solidFill>
              <a:srgbClr val="E3E7EE"/>
            </a:solidFill>
            <a:prstDash val="solid"/>
          </a:ln>
          <a:effectLst>
            <a:outerShdw sx="100000" sy="100000" kx="0" ky="0" algn="bl" rotWithShape="0" blurRad="76200" dist="25400" dir="5400000">
              <a:srgbClr val="1B2430">
                <a:alpha val="25000"/>
              </a:srgbClr>
            </a:outerShdw>
          </a:effectLst>
        </p:spPr>
      </p:sp>
      <p:pic>
        <p:nvPicPr>
          <p:cNvPr id="7" name="Image 0" descr="/home/user/talenleren/neerlandais1/generateur/img/vijfzinnen/a1_gemeentehuis_s.jpg">    </p:cNvPr>
          <p:cNvPicPr>
            <a:picLocks noChangeAspect="1"/>
          </p:cNvPicPr>
          <p:nvPr/>
        </p:nvPicPr>
        <p:blipFill>
          <a:blip r:embed="rId1"/>
          <a:stretch>
            <a:fillRect/>
          </a:stretch>
        </p:blipFill>
        <p:spPr>
          <a:xfrm>
            <a:off x="10104120" y="292608"/>
            <a:ext cx="1600200" cy="1000125"/>
          </a:xfrm>
          <a:prstGeom prst="rect">
            <a:avLst/>
          </a:prstGeom>
        </p:spPr>
      </p:pic>
      <p:sp>
        <p:nvSpPr>
          <p:cNvPr id="8" name="Text 4"/>
          <p:cNvSpPr txBox="1"/>
          <p:nvPr/>
        </p:nvSpPr>
        <p:spPr>
          <a:xfrm>
            <a:off x="1691640" y="2766974"/>
            <a:ext cx="2041550"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Goedemorgen,</a:t>
            </a:r>
            <a:endParaRPr lang="en-US" sz="2400" dirty="0"/>
          </a:p>
        </p:txBody>
      </p:sp>
      <p:sp>
        <p:nvSpPr>
          <p:cNvPr id="9" name="Shape 5"/>
          <p:cNvSpPr/>
          <p:nvPr/>
        </p:nvSpPr>
        <p:spPr>
          <a:xfrm>
            <a:off x="3637483" y="2779166"/>
            <a:ext cx="2558186" cy="371856"/>
          </a:xfrm>
          <a:prstGeom prst="roundRect">
            <a:avLst>
              <a:gd name="adj" fmla="val 12295"/>
            </a:avLst>
          </a:prstGeom>
          <a:solidFill>
            <a:srgbClr val="E6F3DA"/>
          </a:solidFill>
          <a:ln w="12700">
            <a:solidFill>
              <a:srgbClr val="FFFFFF">
                <a:alpha val="0"/>
              </a:srgbClr>
            </a:solidFill>
            <a:prstDash val="solid"/>
          </a:ln>
        </p:spPr>
      </p:sp>
      <p:sp>
        <p:nvSpPr>
          <p:cNvPr id="10" name="Text 6"/>
          <p:cNvSpPr txBox="1"/>
          <p:nvPr/>
        </p:nvSpPr>
        <p:spPr>
          <a:xfrm>
            <a:off x="3637483" y="2766974"/>
            <a:ext cx="2558186"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ik heb een afspraak</a:t>
            </a:r>
            <a:endParaRPr lang="en-US" sz="2400" dirty="0"/>
          </a:p>
        </p:txBody>
      </p:sp>
      <p:sp>
        <p:nvSpPr>
          <p:cNvPr id="11" name="Text 7"/>
          <p:cNvSpPr txBox="1"/>
          <p:nvPr/>
        </p:nvSpPr>
        <p:spPr>
          <a:xfrm>
            <a:off x="6282842" y="2766974"/>
            <a:ext cx="1748638"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om tien uur.</a:t>
            </a:r>
            <a:endParaRPr lang="en-US" sz="2400" dirty="0"/>
          </a:p>
        </p:txBody>
      </p:sp>
      <p:sp>
        <p:nvSpPr>
          <p:cNvPr id="12" name="Shape 8"/>
          <p:cNvSpPr/>
          <p:nvPr/>
        </p:nvSpPr>
        <p:spPr>
          <a:xfrm>
            <a:off x="7935773" y="2779166"/>
            <a:ext cx="885749" cy="371856"/>
          </a:xfrm>
          <a:prstGeom prst="roundRect">
            <a:avLst>
              <a:gd name="adj" fmla="val 12295"/>
            </a:avLst>
          </a:prstGeom>
          <a:solidFill>
            <a:srgbClr val="E6F3DA"/>
          </a:solidFill>
          <a:ln w="12700">
            <a:solidFill>
              <a:srgbClr val="FFFFFF">
                <a:alpha val="0"/>
              </a:srgbClr>
            </a:solidFill>
            <a:prstDash val="solid"/>
          </a:ln>
        </p:spPr>
      </p:sp>
      <p:sp>
        <p:nvSpPr>
          <p:cNvPr id="13" name="Text 9"/>
          <p:cNvSpPr txBox="1"/>
          <p:nvPr/>
        </p:nvSpPr>
        <p:spPr>
          <a:xfrm>
            <a:off x="7935773" y="2766974"/>
            <a:ext cx="885749"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Hier is</a:t>
            </a:r>
            <a:endParaRPr lang="en-US" sz="2400" dirty="0"/>
          </a:p>
        </p:txBody>
      </p:sp>
      <p:sp>
        <p:nvSpPr>
          <p:cNvPr id="14" name="Text 10"/>
          <p:cNvSpPr txBox="1"/>
          <p:nvPr/>
        </p:nvSpPr>
        <p:spPr>
          <a:xfrm>
            <a:off x="8908694" y="2766974"/>
            <a:ext cx="2406701"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mijn paspoort, en</a:t>
            </a:r>
            <a:endParaRPr lang="en-US" sz="2400" dirty="0"/>
          </a:p>
        </p:txBody>
      </p:sp>
      <p:sp>
        <p:nvSpPr>
          <p:cNvPr id="15" name="Shape 11"/>
          <p:cNvSpPr/>
          <p:nvPr/>
        </p:nvSpPr>
        <p:spPr>
          <a:xfrm>
            <a:off x="4916576" y="2702966"/>
            <a:ext cx="914" cy="76200"/>
          </a:xfrm>
          <a:prstGeom prst="line">
            <a:avLst/>
          </a:prstGeom>
          <a:noFill/>
          <a:ln w="15875">
            <a:solidFill>
              <a:srgbClr val="7AB648"/>
            </a:solidFill>
            <a:prstDash val="solid"/>
          </a:ln>
        </p:spPr>
      </p:sp>
      <p:sp>
        <p:nvSpPr>
          <p:cNvPr id="16" name="Shape 12"/>
          <p:cNvSpPr/>
          <p:nvPr/>
        </p:nvSpPr>
        <p:spPr>
          <a:xfrm>
            <a:off x="4500067" y="2456078"/>
            <a:ext cx="833018" cy="246888"/>
          </a:xfrm>
          <a:prstGeom prst="roundRect">
            <a:avLst>
              <a:gd name="adj" fmla="val 14815"/>
            </a:avLst>
          </a:prstGeom>
          <a:solidFill>
            <a:srgbClr val="7AB648"/>
          </a:solidFill>
          <a:ln w="12700">
            <a:solidFill>
              <a:srgbClr val="FFFFFF">
                <a:alpha val="0"/>
              </a:srgbClr>
            </a:solidFill>
            <a:prstDash val="solid"/>
          </a:ln>
        </p:spPr>
      </p:sp>
      <p:sp>
        <p:nvSpPr>
          <p:cNvPr id="17" name="Text 13"/>
          <p:cNvSpPr txBox="1"/>
          <p:nvPr/>
        </p:nvSpPr>
        <p:spPr>
          <a:xfrm>
            <a:off x="4500067" y="2456078"/>
            <a:ext cx="833018"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AFSPRAAK</a:t>
            </a:r>
            <a:endParaRPr lang="en-US" sz="1100" dirty="0"/>
          </a:p>
        </p:txBody>
      </p:sp>
      <p:sp>
        <p:nvSpPr>
          <p:cNvPr id="18" name="Shape 14"/>
          <p:cNvSpPr/>
          <p:nvPr/>
        </p:nvSpPr>
        <p:spPr>
          <a:xfrm>
            <a:off x="8378647" y="2702966"/>
            <a:ext cx="914" cy="76200"/>
          </a:xfrm>
          <a:prstGeom prst="line">
            <a:avLst/>
          </a:prstGeom>
          <a:noFill/>
          <a:ln w="15875">
            <a:solidFill>
              <a:srgbClr val="7AB648"/>
            </a:solidFill>
            <a:prstDash val="solid"/>
          </a:ln>
        </p:spPr>
      </p:sp>
      <p:sp>
        <p:nvSpPr>
          <p:cNvPr id="19" name="Shape 15"/>
          <p:cNvSpPr/>
          <p:nvPr/>
        </p:nvSpPr>
        <p:spPr>
          <a:xfrm>
            <a:off x="8065306" y="2456078"/>
            <a:ext cx="626682" cy="246888"/>
          </a:xfrm>
          <a:prstGeom prst="roundRect">
            <a:avLst>
              <a:gd name="adj" fmla="val 14815"/>
            </a:avLst>
          </a:prstGeom>
          <a:solidFill>
            <a:srgbClr val="7AB648"/>
          </a:solidFill>
          <a:ln w="12700">
            <a:solidFill>
              <a:srgbClr val="FFFFFF">
                <a:alpha val="0"/>
              </a:srgbClr>
            </a:solidFill>
            <a:prstDash val="solid"/>
          </a:ln>
        </p:spPr>
      </p:sp>
      <p:sp>
        <p:nvSpPr>
          <p:cNvPr id="20" name="Text 16"/>
          <p:cNvSpPr txBox="1"/>
          <p:nvPr/>
        </p:nvSpPr>
        <p:spPr>
          <a:xfrm>
            <a:off x="8065306" y="2456078"/>
            <a:ext cx="626682"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HIER IS</a:t>
            </a:r>
            <a:endParaRPr lang="en-US" sz="1100" dirty="0"/>
          </a:p>
        </p:txBody>
      </p:sp>
      <p:sp>
        <p:nvSpPr>
          <p:cNvPr id="21" name="Text 17"/>
          <p:cNvSpPr txBox="1"/>
          <p:nvPr/>
        </p:nvSpPr>
        <p:spPr>
          <a:xfrm>
            <a:off x="1691640" y="3620414"/>
            <a:ext cx="2774594"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hier is het formulier.</a:t>
            </a:r>
            <a:endParaRPr lang="en-US" sz="2400" dirty="0"/>
          </a:p>
        </p:txBody>
      </p:sp>
      <p:sp>
        <p:nvSpPr>
          <p:cNvPr id="22" name="Shape 18"/>
          <p:cNvSpPr/>
          <p:nvPr/>
        </p:nvSpPr>
        <p:spPr>
          <a:xfrm>
            <a:off x="4370527" y="3632606"/>
            <a:ext cx="1042416" cy="371856"/>
          </a:xfrm>
          <a:prstGeom prst="roundRect">
            <a:avLst>
              <a:gd name="adj" fmla="val 12295"/>
            </a:avLst>
          </a:prstGeom>
          <a:solidFill>
            <a:srgbClr val="E6F3DA"/>
          </a:solidFill>
          <a:ln w="12700">
            <a:solidFill>
              <a:srgbClr val="FFFFFF">
                <a:alpha val="0"/>
              </a:srgbClr>
            </a:solidFill>
            <a:prstDash val="solid"/>
          </a:ln>
        </p:spPr>
      </p:sp>
      <p:sp>
        <p:nvSpPr>
          <p:cNvPr id="23" name="Text 19"/>
          <p:cNvSpPr txBox="1"/>
          <p:nvPr/>
        </p:nvSpPr>
        <p:spPr>
          <a:xfrm>
            <a:off x="4370527" y="3620414"/>
            <a:ext cx="1042416"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Waar is</a:t>
            </a:r>
            <a:endParaRPr lang="en-US" sz="2400" dirty="0"/>
          </a:p>
        </p:txBody>
      </p:sp>
      <p:sp>
        <p:nvSpPr>
          <p:cNvPr id="24" name="Text 20"/>
          <p:cNvSpPr txBox="1"/>
          <p:nvPr/>
        </p:nvSpPr>
        <p:spPr>
          <a:xfrm>
            <a:off x="5500116" y="3620414"/>
            <a:ext cx="1522781"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loket drie?</a:t>
            </a:r>
            <a:endParaRPr lang="en-US" sz="2400" dirty="0"/>
          </a:p>
        </p:txBody>
      </p:sp>
      <p:sp>
        <p:nvSpPr>
          <p:cNvPr id="25" name="Shape 21"/>
          <p:cNvSpPr/>
          <p:nvPr/>
        </p:nvSpPr>
        <p:spPr>
          <a:xfrm>
            <a:off x="4891735" y="3556406"/>
            <a:ext cx="914" cy="76200"/>
          </a:xfrm>
          <a:prstGeom prst="line">
            <a:avLst/>
          </a:prstGeom>
          <a:noFill/>
          <a:ln w="15875">
            <a:solidFill>
              <a:srgbClr val="7AB648"/>
            </a:solidFill>
            <a:prstDash val="solid"/>
          </a:ln>
        </p:spPr>
      </p:sp>
      <p:sp>
        <p:nvSpPr>
          <p:cNvPr id="26" name="Shape 22"/>
          <p:cNvSpPr/>
          <p:nvPr/>
        </p:nvSpPr>
        <p:spPr>
          <a:xfrm>
            <a:off x="4527264" y="3309518"/>
            <a:ext cx="728942" cy="246888"/>
          </a:xfrm>
          <a:prstGeom prst="roundRect">
            <a:avLst>
              <a:gd name="adj" fmla="val 14815"/>
            </a:avLst>
          </a:prstGeom>
          <a:solidFill>
            <a:srgbClr val="7AB648"/>
          </a:solidFill>
          <a:ln w="12700">
            <a:solidFill>
              <a:srgbClr val="FFFFFF">
                <a:alpha val="0"/>
              </a:srgbClr>
            </a:solidFill>
            <a:prstDash val="solid"/>
          </a:ln>
        </p:spPr>
      </p:sp>
      <p:sp>
        <p:nvSpPr>
          <p:cNvPr id="27" name="Text 23"/>
          <p:cNvSpPr txBox="1"/>
          <p:nvPr/>
        </p:nvSpPr>
        <p:spPr>
          <a:xfrm>
            <a:off x="4527264" y="3309518"/>
            <a:ext cx="728942"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WAAR IS</a:t>
            </a:r>
            <a:endParaRPr lang="en-US" sz="1100" dirty="0"/>
          </a:p>
        </p:txBody>
      </p:sp>
      <p:sp>
        <p:nvSpPr>
          <p:cNvPr id="28" name="Text 24"/>
          <p:cNvSpPr txBox="1"/>
          <p:nvPr/>
        </p:nvSpPr>
        <p:spPr>
          <a:xfrm>
            <a:off x="3563417" y="4675022"/>
            <a:ext cx="1011631"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O nee,</a:t>
            </a:r>
            <a:endParaRPr lang="en-US" sz="2400" dirty="0"/>
          </a:p>
        </p:txBody>
      </p:sp>
      <p:sp>
        <p:nvSpPr>
          <p:cNvPr id="29" name="Shape 25"/>
          <p:cNvSpPr/>
          <p:nvPr/>
        </p:nvSpPr>
        <p:spPr>
          <a:xfrm>
            <a:off x="4479341" y="4687214"/>
            <a:ext cx="1512722" cy="371856"/>
          </a:xfrm>
          <a:prstGeom prst="roundRect">
            <a:avLst>
              <a:gd name="adj" fmla="val 12295"/>
            </a:avLst>
          </a:prstGeom>
          <a:solidFill>
            <a:srgbClr val="E6F3DA"/>
          </a:solidFill>
          <a:ln w="12700">
            <a:solidFill>
              <a:srgbClr val="FFFFFF">
                <a:alpha val="0"/>
              </a:srgbClr>
            </a:solidFill>
            <a:prstDash val="solid"/>
          </a:ln>
        </p:spPr>
      </p:sp>
      <p:sp>
        <p:nvSpPr>
          <p:cNvPr id="30" name="Text 26"/>
          <p:cNvSpPr txBox="1"/>
          <p:nvPr/>
        </p:nvSpPr>
        <p:spPr>
          <a:xfrm>
            <a:off x="4479341" y="4675022"/>
            <a:ext cx="1512722"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de wachtrij</a:t>
            </a:r>
            <a:endParaRPr lang="en-US" sz="2400" dirty="0"/>
          </a:p>
        </p:txBody>
      </p:sp>
      <p:sp>
        <p:nvSpPr>
          <p:cNvPr id="31" name="Text 27"/>
          <p:cNvSpPr txBox="1"/>
          <p:nvPr/>
        </p:nvSpPr>
        <p:spPr>
          <a:xfrm>
            <a:off x="6079236" y="4675022"/>
            <a:ext cx="3936187"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is heel lang… twintig mensen!</a:t>
            </a:r>
            <a:endParaRPr lang="en-US" sz="2400" dirty="0"/>
          </a:p>
        </p:txBody>
      </p:sp>
      <p:sp>
        <p:nvSpPr>
          <p:cNvPr id="32" name="Shape 28"/>
          <p:cNvSpPr/>
          <p:nvPr/>
        </p:nvSpPr>
        <p:spPr>
          <a:xfrm>
            <a:off x="5235702" y="4611014"/>
            <a:ext cx="914" cy="76200"/>
          </a:xfrm>
          <a:prstGeom prst="line">
            <a:avLst/>
          </a:prstGeom>
          <a:noFill/>
          <a:ln w="15875">
            <a:solidFill>
              <a:srgbClr val="7AB648"/>
            </a:solidFill>
            <a:prstDash val="solid"/>
          </a:ln>
        </p:spPr>
      </p:sp>
      <p:sp>
        <p:nvSpPr>
          <p:cNvPr id="33" name="Shape 29"/>
          <p:cNvSpPr/>
          <p:nvPr/>
        </p:nvSpPr>
        <p:spPr>
          <a:xfrm>
            <a:off x="4823663" y="4364126"/>
            <a:ext cx="824078" cy="246888"/>
          </a:xfrm>
          <a:prstGeom prst="roundRect">
            <a:avLst>
              <a:gd name="adj" fmla="val 14815"/>
            </a:avLst>
          </a:prstGeom>
          <a:solidFill>
            <a:srgbClr val="7AB648"/>
          </a:solidFill>
          <a:ln w="12700">
            <a:solidFill>
              <a:srgbClr val="FFFFFF">
                <a:alpha val="0"/>
              </a:srgbClr>
            </a:solidFill>
            <a:prstDash val="solid"/>
          </a:ln>
        </p:spPr>
      </p:sp>
      <p:sp>
        <p:nvSpPr>
          <p:cNvPr id="34" name="Text 30"/>
          <p:cNvSpPr txBox="1"/>
          <p:nvPr/>
        </p:nvSpPr>
        <p:spPr>
          <a:xfrm>
            <a:off x="4823663" y="4364126"/>
            <a:ext cx="824078"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WACHTRIJ</a:t>
            </a:r>
            <a:endParaRPr lang="en-US" sz="1100" dirty="0"/>
          </a:p>
        </p:txBody>
      </p:sp>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106</a:t>
            </a:fld>
            <a:endParaRPr lang="en-US"/>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spTree>
      <p:nvGrpSpPr>
        <p:cNvPr id="1" name=""/>
        <p:cNvGrpSpPr/>
        <p:nvPr/>
      </p:nvGrpSpPr>
      <p:grpSpPr>
        <a:xfrm>
          <a:off x="0" y="0"/>
          <a:ext cx="0" cy="0"/>
          <a:chOff x="0" y="0"/>
          <a:chExt cx="0" cy="0"/>
        </a:xfrm>
      </p:grpSpPr>
      <p:sp>
        <p:nvSpPr>
          <p:cNvPr id="2" name="Text 1"/>
          <p:cNvSpPr/>
          <p:nvPr>
            <p:ph idx="101" type="title" hasCustomPrompt="1"/>
          </p:nvPr>
        </p:nvSpPr>
        <p:spPr>
          <a:xfrm>
            <a:off x="1554480" y="384048"/>
            <a:ext cx="10241280" cy="658368"/>
          </a:xfrm>
          <a:prstGeom prst="rect">
            <a:avLst/>
          </a:prstGeom>
          <a:noFill/>
          <a:ln/>
        </p:spPr>
        <p:txBody>
          <a:bodyPr wrap="square" lIns="0" tIns="0" rIns="0" bIns="0" rtlCol="0" anchor="ctr"/>
          <a:lstStyle/>
          <a:p>
            <a:pPr algn="ctr" indent="0" marL="0">
              <a:buNone/>
            </a:pPr>
            <a:r>
              <a:rPr lang="en-US" sz="3000" b="1" dirty="0">
                <a:solidFill>
                  <a:srgbClr val="2B2F38"/>
                </a:solidFill>
              </a:rPr>
              <a:t>Gebruik deze afbeelding als inspiratie</a:t>
            </a:r>
            <a:endParaRPr lang="en-US" sz="3000" dirty="0"/>
          </a:p>
        </p:txBody>
      </p:sp>
      <p:sp>
        <p:nvSpPr>
          <p:cNvPr id="4" name="Shape 1"/>
          <p:cNvSpPr/>
          <p:nvPr/>
        </p:nvSpPr>
        <p:spPr>
          <a:xfrm>
            <a:off x="365760" y="365760"/>
            <a:ext cx="868680" cy="5989320"/>
          </a:xfrm>
          <a:prstGeom prst="roundRect">
            <a:avLst>
              <a:gd name="adj" fmla="val 12632"/>
            </a:avLst>
          </a:prstGeom>
          <a:solidFill>
            <a:srgbClr val="FDF1E4"/>
          </a:solidFill>
          <a:ln w="28575">
            <a:solidFill>
              <a:srgbClr val="F0A15E"/>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B9661F"/>
                </a:solidFill>
                <a:latin typeface="Calibri" pitchFamily="34" charset="0"/>
                <a:ea typeface="Calibri" pitchFamily="34" charset="-122"/>
                <a:cs typeface="Calibri" pitchFamily="34" charset="-120"/>
              </a:rPr>
              <a:t>A1 · Vocabulaire</a:t>
            </a:r>
            <a:endParaRPr lang="en-US" sz="3800" dirty="0"/>
          </a:p>
        </p:txBody>
      </p:sp>
      <p:sp>
        <p:nvSpPr>
          <p:cNvPr id="6" name="Text 3"/>
          <p:cNvSpPr txBox="1"/>
          <p:nvPr/>
        </p:nvSpPr>
        <p:spPr>
          <a:xfrm>
            <a:off x="1554480" y="1024128"/>
            <a:ext cx="10241280" cy="365760"/>
          </a:xfrm>
          <a:prstGeom prst="rect">
            <a:avLst/>
          </a:prstGeom>
          <a:noFill/>
          <a:ln/>
        </p:spPr>
        <p:txBody>
          <a:bodyPr wrap="square" lIns="0" tIns="0" rIns="0" bIns="0" rtlCol="0" anchor="ctr"/>
          <a:lstStyle/>
          <a:p>
            <a:pPr algn="ctr" indent="0" marL="0">
              <a:buNone/>
            </a:pPr>
            <a:r>
              <a:rPr lang="en-US" sz="1500" b="1" dirty="0">
                <a:solidFill>
                  <a:srgbClr val="B9661F"/>
                </a:solidFill>
                <a:latin typeface="Calibri" pitchFamily="34" charset="0"/>
                <a:ea typeface="Calibri" pitchFamily="34" charset="-122"/>
                <a:cs typeface="Calibri" pitchFamily="34" charset="-120"/>
              </a:rPr>
              <a:t>34 · Het is winter!</a:t>
            </a:r>
            <a:r>
              <a:rPr lang="en-US" sz="1500" i="1" dirty="0">
                <a:solidFill>
                  <a:srgbClr val="6B7280"/>
                </a:solidFill>
                <a:latin typeface="Calibri" pitchFamily="34" charset="0"/>
                <a:ea typeface="Calibri" pitchFamily="34" charset="-122"/>
                <a:cs typeface="Calibri" pitchFamily="34" charset="-120"/>
              </a:rPr>
              <a:t>   C’est l’hiver !</a:t>
            </a:r>
            <a:r>
              <a:rPr lang="en-US" sz="1200" dirty="0">
                <a:solidFill>
                  <a:srgbClr val="9AA3B2"/>
                </a:solidFill>
                <a:latin typeface="Calibri" pitchFamily="34" charset="0"/>
                <a:ea typeface="Calibri" pitchFamily="34" charset="-122"/>
                <a:cs typeface="Calibri" pitchFamily="34" charset="-120"/>
              </a:rPr>
              <a:t>   ·   syllabus vocabulaire 10 · p. 87</a:t>
            </a:r>
            <a:endParaRPr lang="en-US" sz="1500" dirty="0"/>
          </a:p>
        </p:txBody>
      </p:sp>
      <p:sp>
        <p:nvSpPr>
          <p:cNvPr id="7" name="Shape 4"/>
          <p:cNvSpPr/>
          <p:nvPr/>
        </p:nvSpPr>
        <p:spPr>
          <a:xfrm>
            <a:off x="1596085" y="1504645"/>
            <a:ext cx="4534510" cy="2905735"/>
          </a:xfrm>
          <a:prstGeom prst="roundRect">
            <a:avLst>
              <a:gd name="adj" fmla="val 1259"/>
            </a:avLst>
          </a:prstGeom>
          <a:solidFill>
            <a:srgbClr val="FFFFFF"/>
          </a:solidFill>
          <a:ln w="9525">
            <a:solidFill>
              <a:srgbClr val="E3E7EE"/>
            </a:solidFill>
            <a:prstDash val="solid"/>
          </a:ln>
          <a:effectLst>
            <a:outerShdw sx="100000" sy="100000" kx="0" ky="0" algn="bl" rotWithShape="0" blurRad="127000" dist="50800" dir="5400000">
              <a:srgbClr val="1B2430">
                <a:alpha val="25000"/>
              </a:srgbClr>
            </a:outerShdw>
          </a:effectLst>
        </p:spPr>
      </p:sp>
      <p:pic>
        <p:nvPicPr>
          <p:cNvPr id="8" name="Image 0" descr="/home/user/talenleren/neerlandais1/generateur/img/vijfzinnen/a1_winter_s.jpg">    </p:cNvPr>
          <p:cNvPicPr>
            <a:picLocks noChangeAspect="1"/>
          </p:cNvPicPr>
          <p:nvPr/>
        </p:nvPicPr>
        <p:blipFill>
          <a:blip r:embed="rId1"/>
          <a:stretch>
            <a:fillRect/>
          </a:stretch>
        </p:blipFill>
        <p:spPr>
          <a:xfrm>
            <a:off x="1691640" y="1600200"/>
            <a:ext cx="4343400" cy="2714625"/>
          </a:xfrm>
          <a:prstGeom prst="rect">
            <a:avLst/>
          </a:prstGeom>
        </p:spPr>
      </p:pic>
      <p:sp>
        <p:nvSpPr>
          <p:cNvPr id="9" name="Shape 5"/>
          <p:cNvSpPr/>
          <p:nvPr/>
        </p:nvSpPr>
        <p:spPr>
          <a:xfrm>
            <a:off x="1691640" y="4572000"/>
            <a:ext cx="1600200" cy="365760"/>
          </a:xfrm>
          <a:prstGeom prst="roundRect">
            <a:avLst>
              <a:gd name="adj" fmla="val 50000"/>
            </a:avLst>
          </a:prstGeom>
          <a:solidFill>
            <a:srgbClr val="FDF1E6"/>
          </a:solidFill>
          <a:ln w="12700">
            <a:solidFill>
              <a:srgbClr val="D9822B"/>
            </a:solidFill>
            <a:prstDash val="solid"/>
          </a:ln>
        </p:spPr>
      </p:sp>
      <p:pic>
        <p:nvPicPr>
          <p:cNvPr id="10" name="Image 1" descr="Comments">    </p:cNvPr>
          <p:cNvPicPr>
            <a:picLocks noChangeAspect="1"/>
          </p:cNvPicPr>
          <p:nvPr/>
        </p:nvPicPr>
        <p:blipFill>
          <a:blip r:embed="rId2"/>
          <a:stretch>
            <a:fillRect/>
          </a:stretch>
        </p:blipFill>
        <p:spPr>
          <a:xfrm>
            <a:off x="1819656" y="4654296"/>
            <a:ext cx="201168" cy="201168"/>
          </a:xfrm>
          <a:prstGeom prst="rect">
            <a:avLst/>
          </a:prstGeom>
        </p:spPr>
      </p:pic>
      <p:sp>
        <p:nvSpPr>
          <p:cNvPr id="11" name="Text 6"/>
          <p:cNvSpPr txBox="1"/>
          <p:nvPr/>
        </p:nvSpPr>
        <p:spPr>
          <a:xfrm>
            <a:off x="2075688" y="4572000"/>
            <a:ext cx="1143000" cy="365760"/>
          </a:xfrm>
          <a:prstGeom prst="rect">
            <a:avLst/>
          </a:prstGeom>
          <a:noFill/>
          <a:ln/>
        </p:spPr>
        <p:txBody>
          <a:bodyPr wrap="square" lIns="0" tIns="0" rIns="0" bIns="0" rtlCol="0" anchor="ctr"/>
          <a:lstStyle/>
          <a:p>
            <a:pPr algn="l" indent="0" marL="0">
              <a:buNone/>
            </a:pPr>
            <a:r>
              <a:rPr lang="en-US" sz="1150" b="1" spc="100" kern="0" dirty="0">
                <a:solidFill>
                  <a:srgbClr val="D9822B"/>
                </a:solidFill>
                <a:latin typeface="Calibri" pitchFamily="34" charset="0"/>
                <a:ea typeface="Calibri" pitchFamily="34" charset="-122"/>
                <a:cs typeface="Calibri" pitchFamily="34" charset="-120"/>
              </a:rPr>
              <a:t>À L’ORAL</a:t>
            </a:r>
            <a:endParaRPr lang="en-US" sz="1150" dirty="0"/>
          </a:p>
        </p:txBody>
      </p:sp>
      <p:sp>
        <p:nvSpPr>
          <p:cNvPr id="12" name="Text 7"/>
          <p:cNvSpPr txBox="1"/>
          <p:nvPr/>
        </p:nvSpPr>
        <p:spPr>
          <a:xfrm>
            <a:off x="3429000" y="4544568"/>
            <a:ext cx="2651760" cy="731520"/>
          </a:xfrm>
          <a:prstGeom prst="rect">
            <a:avLst/>
          </a:prstGeom>
          <a:noFill/>
          <a:ln/>
        </p:spPr>
        <p:txBody>
          <a:bodyPr wrap="square" lIns="0" tIns="0" rIns="0" bIns="0" rtlCol="0" anchor="t"/>
          <a:lstStyle/>
          <a:p>
            <a:pPr algn="l" indent="0" marL="0">
              <a:buNone/>
            </a:pPr>
            <a:r>
              <a:rPr lang="en-US" sz="1150" i="1" dirty="0">
                <a:solidFill>
                  <a:srgbClr val="6B7280"/>
                </a:solidFill>
                <a:latin typeface="Calibri" pitchFamily="34" charset="0"/>
                <a:ea typeface="Calibri" pitchFamily="34" charset="-122"/>
                <a:cs typeface="Calibri" pitchFamily="34" charset="-120"/>
              </a:rPr>
              <a:t>Quel temps fait-il ? Décrivez la saison et la météo.</a:t>
            </a:r>
            <a:endParaRPr lang="en-US" sz="1150" dirty="0"/>
          </a:p>
        </p:txBody>
      </p:sp>
      <p:sp>
        <p:nvSpPr>
          <p:cNvPr id="13" name="Shape 8"/>
          <p:cNvSpPr/>
          <p:nvPr/>
        </p:nvSpPr>
        <p:spPr>
          <a:xfrm>
            <a:off x="6355080" y="1673352"/>
            <a:ext cx="914400" cy="402336"/>
          </a:xfrm>
          <a:prstGeom prst="roundRect">
            <a:avLst>
              <a:gd name="adj" fmla="val 13636"/>
            </a:avLst>
          </a:prstGeom>
          <a:solidFill>
            <a:srgbClr val="5FA873"/>
          </a:solidFill>
          <a:ln w="12700">
            <a:solidFill>
              <a:srgbClr val="FFFFFF">
                <a:alpha val="0"/>
              </a:srgbClr>
            </a:solidFill>
            <a:prstDash val="solid"/>
          </a:ln>
        </p:spPr>
      </p:sp>
      <p:sp>
        <p:nvSpPr>
          <p:cNvPr id="14" name="Text 9"/>
          <p:cNvSpPr txBox="1"/>
          <p:nvPr/>
        </p:nvSpPr>
        <p:spPr>
          <a:xfrm>
            <a:off x="6355080" y="167335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1</a:t>
            </a:r>
            <a:endParaRPr lang="en-US" sz="1600" dirty="0"/>
          </a:p>
        </p:txBody>
      </p:sp>
      <p:sp>
        <p:nvSpPr>
          <p:cNvPr id="15" name="Text 10"/>
          <p:cNvSpPr txBox="1"/>
          <p:nvPr/>
        </p:nvSpPr>
        <p:spPr>
          <a:xfrm>
            <a:off x="7406640" y="1618488"/>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La saison : </a:t>
            </a:r>
            <a:r>
              <a:rPr lang="en-US" sz="1450" b="1" dirty="0">
                <a:solidFill>
                  <a:srgbClr val="2B2F38"/>
                </a:solidFill>
              </a:rPr>
              <a:t>HET IS</a:t>
            </a:r>
            <a:r>
              <a:rPr lang="en-US" sz="1450" dirty="0">
                <a:solidFill>
                  <a:srgbClr val="2B2F38"/>
                </a:solidFill>
              </a:rPr>
              <a:t> winter / zomer / lente / herfst.</a:t>
            </a:r>
            <a:endParaRPr lang="en-US" sz="1450" dirty="0"/>
          </a:p>
        </p:txBody>
      </p:sp>
      <p:sp>
        <p:nvSpPr>
          <p:cNvPr id="16" name="Shape 11"/>
          <p:cNvSpPr/>
          <p:nvPr/>
        </p:nvSpPr>
        <p:spPr>
          <a:xfrm>
            <a:off x="6355080" y="2404872"/>
            <a:ext cx="914400" cy="402336"/>
          </a:xfrm>
          <a:prstGeom prst="roundRect">
            <a:avLst>
              <a:gd name="adj" fmla="val 13636"/>
            </a:avLst>
          </a:prstGeom>
          <a:solidFill>
            <a:srgbClr val="5FA873"/>
          </a:solidFill>
          <a:ln w="12700">
            <a:solidFill>
              <a:srgbClr val="FFFFFF">
                <a:alpha val="0"/>
              </a:srgbClr>
            </a:solidFill>
            <a:prstDash val="solid"/>
          </a:ln>
        </p:spPr>
      </p:sp>
      <p:sp>
        <p:nvSpPr>
          <p:cNvPr id="17" name="Text 12"/>
          <p:cNvSpPr txBox="1"/>
          <p:nvPr/>
        </p:nvSpPr>
        <p:spPr>
          <a:xfrm>
            <a:off x="6355080" y="240487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2</a:t>
            </a:r>
            <a:endParaRPr lang="en-US" sz="1600" dirty="0"/>
          </a:p>
        </p:txBody>
      </p:sp>
      <p:sp>
        <p:nvSpPr>
          <p:cNvPr id="18" name="Text 13"/>
          <p:cNvSpPr txBox="1"/>
          <p:nvPr/>
        </p:nvSpPr>
        <p:spPr>
          <a:xfrm>
            <a:off x="7406640" y="2350008"/>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La météo : </a:t>
            </a:r>
            <a:r>
              <a:rPr lang="en-US" sz="1450" b="1" dirty="0">
                <a:solidFill>
                  <a:srgbClr val="2B2F38"/>
                </a:solidFill>
              </a:rPr>
              <a:t>HET SNEEUWT</a:t>
            </a:r>
            <a:r>
              <a:rPr lang="en-US" sz="1450" dirty="0">
                <a:solidFill>
                  <a:srgbClr val="2B2F38"/>
                </a:solidFill>
              </a:rPr>
              <a:t>, </a:t>
            </a:r>
            <a:r>
              <a:rPr lang="en-US" sz="1450" b="1" dirty="0">
                <a:solidFill>
                  <a:srgbClr val="2B2F38"/>
                </a:solidFill>
              </a:rPr>
              <a:t>HET REGENT</a:t>
            </a:r>
            <a:r>
              <a:rPr lang="en-US" sz="1450" dirty="0">
                <a:solidFill>
                  <a:srgbClr val="2B2F38"/>
                </a:solidFill>
              </a:rPr>
              <a:t>, </a:t>
            </a:r>
            <a:r>
              <a:rPr lang="en-US" sz="1450" b="1" dirty="0">
                <a:solidFill>
                  <a:srgbClr val="2B2F38"/>
                </a:solidFill>
              </a:rPr>
              <a:t>HET WAAIT</a:t>
            </a:r>
            <a:r>
              <a:rPr lang="en-US" sz="1450" dirty="0">
                <a:solidFill>
                  <a:srgbClr val="2B2F38"/>
                </a:solidFill>
              </a:rPr>
              <a:t>…</a:t>
            </a:r>
            <a:endParaRPr lang="en-US" sz="1450" dirty="0"/>
          </a:p>
        </p:txBody>
      </p:sp>
      <p:sp>
        <p:nvSpPr>
          <p:cNvPr id="19" name="Shape 14"/>
          <p:cNvSpPr/>
          <p:nvPr/>
        </p:nvSpPr>
        <p:spPr>
          <a:xfrm>
            <a:off x="6355080" y="3136392"/>
            <a:ext cx="914400" cy="402336"/>
          </a:xfrm>
          <a:prstGeom prst="roundRect">
            <a:avLst>
              <a:gd name="adj" fmla="val 13636"/>
            </a:avLst>
          </a:prstGeom>
          <a:solidFill>
            <a:srgbClr val="5FA873"/>
          </a:solidFill>
          <a:ln w="12700">
            <a:solidFill>
              <a:srgbClr val="FFFFFF">
                <a:alpha val="0"/>
              </a:srgbClr>
            </a:solidFill>
            <a:prstDash val="solid"/>
          </a:ln>
        </p:spPr>
      </p:sp>
      <p:sp>
        <p:nvSpPr>
          <p:cNvPr id="20" name="Text 15"/>
          <p:cNvSpPr txBox="1"/>
          <p:nvPr/>
        </p:nvSpPr>
        <p:spPr>
          <a:xfrm>
            <a:off x="6355080" y="313639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3</a:t>
            </a:r>
            <a:endParaRPr lang="en-US" sz="1600" dirty="0"/>
          </a:p>
        </p:txBody>
      </p:sp>
      <p:sp>
        <p:nvSpPr>
          <p:cNvPr id="21" name="Text 16"/>
          <p:cNvSpPr txBox="1"/>
          <p:nvPr/>
        </p:nvSpPr>
        <p:spPr>
          <a:xfrm>
            <a:off x="7406640" y="3081528"/>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La température : … </a:t>
            </a:r>
            <a:r>
              <a:rPr lang="en-US" sz="1450" b="1" dirty="0">
                <a:solidFill>
                  <a:srgbClr val="2B2F38"/>
                </a:solidFill>
              </a:rPr>
              <a:t>GRADEN</a:t>
            </a:r>
            <a:r>
              <a:rPr lang="en-US" sz="1450" dirty="0">
                <a:solidFill>
                  <a:srgbClr val="2B2F38"/>
                </a:solidFill>
              </a:rPr>
              <a:t>.</a:t>
            </a:r>
            <a:endParaRPr lang="en-US" sz="1450" dirty="0"/>
          </a:p>
        </p:txBody>
      </p:sp>
      <p:sp>
        <p:nvSpPr>
          <p:cNvPr id="22" name="Shape 17"/>
          <p:cNvSpPr/>
          <p:nvPr/>
        </p:nvSpPr>
        <p:spPr>
          <a:xfrm>
            <a:off x="6355080" y="3867912"/>
            <a:ext cx="914400" cy="402336"/>
          </a:xfrm>
          <a:prstGeom prst="roundRect">
            <a:avLst>
              <a:gd name="adj" fmla="val 13636"/>
            </a:avLst>
          </a:prstGeom>
          <a:solidFill>
            <a:srgbClr val="5FA873"/>
          </a:solidFill>
          <a:ln w="12700">
            <a:solidFill>
              <a:srgbClr val="FFFFFF">
                <a:alpha val="0"/>
              </a:srgbClr>
            </a:solidFill>
            <a:prstDash val="solid"/>
          </a:ln>
        </p:spPr>
      </p:sp>
      <p:sp>
        <p:nvSpPr>
          <p:cNvPr id="23" name="Text 18"/>
          <p:cNvSpPr txBox="1"/>
          <p:nvPr/>
        </p:nvSpPr>
        <p:spPr>
          <a:xfrm>
            <a:off x="6355080" y="386791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4</a:t>
            </a:r>
            <a:endParaRPr lang="en-US" sz="1600" dirty="0"/>
          </a:p>
        </p:txBody>
      </p:sp>
      <p:sp>
        <p:nvSpPr>
          <p:cNvPr id="24" name="Text 19"/>
          <p:cNvSpPr txBox="1"/>
          <p:nvPr/>
        </p:nvSpPr>
        <p:spPr>
          <a:xfrm>
            <a:off x="7406640" y="3813048"/>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Une chute : </a:t>
            </a:r>
            <a:r>
              <a:rPr lang="en-US" sz="1450" b="1" dirty="0">
                <a:solidFill>
                  <a:srgbClr val="2B2F38"/>
                </a:solidFill>
              </a:rPr>
              <a:t>VANDAAG</a:t>
            </a:r>
            <a:r>
              <a:rPr lang="en-US" sz="1450" dirty="0">
                <a:solidFill>
                  <a:srgbClr val="2B2F38"/>
                </a:solidFill>
              </a:rPr>
              <a:t> + verbe + </a:t>
            </a:r>
            <a:r>
              <a:rPr lang="en-US" sz="1450" b="1" dirty="0">
                <a:solidFill>
                  <a:srgbClr val="2B2F38"/>
                </a:solidFill>
              </a:rPr>
              <a:t>IK</a:t>
            </a:r>
            <a:r>
              <a:rPr lang="en-US" sz="1450" dirty="0">
                <a:solidFill>
                  <a:srgbClr val="2B2F38"/>
                </a:solidFill>
              </a:rPr>
              <a:t> …</a:t>
            </a:r>
            <a:endParaRPr lang="en-US" sz="1450" dirty="0"/>
          </a:p>
        </p:txBody>
      </p:sp>
      <p:sp>
        <p:nvSpPr>
          <p:cNvPr id="25" name="Shape 20"/>
          <p:cNvSpPr/>
          <p:nvPr/>
        </p:nvSpPr>
        <p:spPr>
          <a:xfrm>
            <a:off x="3246120" y="5440680"/>
            <a:ext cx="6858000" cy="822960"/>
          </a:xfrm>
          <a:prstGeom prst="roundRect">
            <a:avLst>
              <a:gd name="adj" fmla="val 17778"/>
            </a:avLst>
          </a:prstGeom>
          <a:solidFill>
            <a:srgbClr val="EAF5EC"/>
          </a:solidFill>
          <a:ln w="15875">
            <a:solidFill>
              <a:srgbClr val="5FA873"/>
            </a:solidFill>
            <a:prstDash val="solid"/>
          </a:ln>
        </p:spPr>
      </p:sp>
      <p:pic>
        <p:nvPicPr>
          <p:cNvPr id="26" name="Image 2" descr="UserFriends">    </p:cNvPr>
          <p:cNvPicPr>
            <a:picLocks noChangeAspect="1"/>
          </p:cNvPicPr>
          <p:nvPr/>
        </p:nvPicPr>
        <p:blipFill>
          <a:blip r:embed="rId3"/>
          <a:stretch>
            <a:fillRect/>
          </a:stretch>
        </p:blipFill>
        <p:spPr>
          <a:xfrm>
            <a:off x="3520440" y="5660136"/>
            <a:ext cx="384048" cy="384048"/>
          </a:xfrm>
          <a:prstGeom prst="rect">
            <a:avLst/>
          </a:prstGeom>
        </p:spPr>
      </p:pic>
      <p:sp>
        <p:nvSpPr>
          <p:cNvPr id="27" name="Text 21"/>
          <p:cNvSpPr txBox="1"/>
          <p:nvPr/>
        </p:nvSpPr>
        <p:spPr>
          <a:xfrm>
            <a:off x="4114800" y="5440680"/>
            <a:ext cx="5852160" cy="822960"/>
          </a:xfrm>
          <a:prstGeom prst="rect">
            <a:avLst/>
          </a:prstGeom>
          <a:noFill/>
          <a:ln/>
        </p:spPr>
        <p:txBody>
          <a:bodyPr wrap="square" lIns="0" tIns="0" rIns="0" bIns="0" rtlCol="0" anchor="ctr"/>
          <a:lstStyle/>
          <a:p>
            <a:pPr algn="ctr" indent="0" marL="0">
              <a:buNone/>
            </a:pPr>
            <a:r>
              <a:rPr lang="en-US" sz="1800" b="1" dirty="0">
                <a:solidFill>
                  <a:srgbClr val="2E6B44"/>
                </a:solidFill>
                <a:latin typeface="Calibri" pitchFamily="34" charset="0"/>
                <a:ea typeface="Calibri" pitchFamily="34" charset="-122"/>
                <a:cs typeface="Calibri" pitchFamily="34" charset="-120"/>
              </a:rPr>
              <a:t>Vertel je verhaal aan je partner.</a:t>
            </a:r>
            <a:endParaRPr lang="en-US" sz="1800" dirty="0"/>
          </a:p>
          <a:p>
            <a:pPr algn="ctr" indent="0" marL="0">
              <a:buNone/>
            </a:pPr>
            <a:r>
              <a:rPr lang="en-US" sz="1800" b="1" dirty="0">
                <a:solidFill>
                  <a:srgbClr val="2E6B44"/>
                </a:solidFill>
                <a:latin typeface="Calibri" pitchFamily="34" charset="0"/>
                <a:ea typeface="Calibri" pitchFamily="34" charset="-122"/>
                <a:cs typeface="Calibri" pitchFamily="34" charset="-120"/>
              </a:rPr>
              <a:t>Wat denkt hij/zij daarvan?</a:t>
            </a:r>
            <a:endParaRPr lang="en-US" sz="1800" dirty="0"/>
          </a:p>
        </p:txBody>
      </p:sp>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107</a:t>
            </a:fld>
            <a:endParaRPr lang="en-US"/>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spTree>
      <p:nvGrpSpPr>
        <p:cNvPr id="1" name=""/>
        <p:cNvGrpSpPr/>
        <p:nvPr/>
      </p:nvGrpSpPr>
      <p:grpSpPr>
        <a:xfrm>
          <a:off x="0" y="0"/>
          <a:ext cx="0" cy="0"/>
          <a:chOff x="0" y="0"/>
          <a:chExt cx="0" cy="0"/>
        </a:xfrm>
      </p:grpSpPr>
      <p:sp>
        <p:nvSpPr>
          <p:cNvPr id="2" name="Text 1"/>
          <p:cNvSpPr/>
          <p:nvPr>
            <p:ph idx="101" type="title" hasCustomPrompt="1"/>
          </p:nvPr>
        </p:nvSpPr>
        <p:spPr>
          <a:xfrm>
            <a:off x="1554480" y="384048"/>
            <a:ext cx="10241280" cy="658368"/>
          </a:xfrm>
          <a:prstGeom prst="rect">
            <a:avLst/>
          </a:prstGeom>
          <a:noFill/>
          <a:ln/>
        </p:spPr>
        <p:txBody>
          <a:bodyPr wrap="square" lIns="0" tIns="0" rIns="0" bIns="0" rtlCol="0" anchor="ctr"/>
          <a:lstStyle/>
          <a:p>
            <a:pPr algn="ctr" indent="0" marL="0">
              <a:buNone/>
            </a:pPr>
            <a:r>
              <a:rPr lang="en-US" sz="3000" b="1" dirty="0">
                <a:solidFill>
                  <a:srgbClr val="2B2F38"/>
                </a:solidFill>
              </a:rPr>
              <a:t>Het is winter!</a:t>
            </a:r>
            <a:endParaRPr lang="en-US" sz="3000" dirty="0"/>
          </a:p>
        </p:txBody>
      </p:sp>
      <p:sp>
        <p:nvSpPr>
          <p:cNvPr id="4" name="Shape 1"/>
          <p:cNvSpPr/>
          <p:nvPr/>
        </p:nvSpPr>
        <p:spPr>
          <a:xfrm>
            <a:off x="365760" y="365760"/>
            <a:ext cx="868680" cy="5989320"/>
          </a:xfrm>
          <a:prstGeom prst="roundRect">
            <a:avLst>
              <a:gd name="adj" fmla="val 12632"/>
            </a:avLst>
          </a:prstGeom>
          <a:solidFill>
            <a:srgbClr val="FDF1E4"/>
          </a:solidFill>
          <a:ln w="28575">
            <a:solidFill>
              <a:srgbClr val="F0A15E"/>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B9661F"/>
                </a:solidFill>
                <a:latin typeface="Calibri" pitchFamily="34" charset="0"/>
                <a:ea typeface="Calibri" pitchFamily="34" charset="-122"/>
                <a:cs typeface="Calibri" pitchFamily="34" charset="-120"/>
              </a:rPr>
              <a:t>A1 · Vocabulaire</a:t>
            </a:r>
            <a:endParaRPr lang="en-US" sz="3800" dirty="0"/>
          </a:p>
        </p:txBody>
      </p:sp>
      <p:sp>
        <p:nvSpPr>
          <p:cNvPr id="6" name="Shape 3"/>
          <p:cNvSpPr/>
          <p:nvPr/>
        </p:nvSpPr>
        <p:spPr>
          <a:xfrm>
            <a:off x="2519172" y="1124712"/>
            <a:ext cx="8311896" cy="5277231"/>
          </a:xfrm>
          <a:prstGeom prst="roundRect">
            <a:avLst>
              <a:gd name="adj" fmla="val 693"/>
            </a:avLst>
          </a:prstGeom>
          <a:solidFill>
            <a:srgbClr val="FFFFFF"/>
          </a:solidFill>
          <a:ln w="9525">
            <a:solidFill>
              <a:srgbClr val="E3E7EE"/>
            </a:solidFill>
            <a:prstDash val="solid"/>
          </a:ln>
          <a:effectLst>
            <a:outerShdw sx="100000" sy="100000" kx="0" ky="0" algn="bl" rotWithShape="0" blurRad="177800" dist="63500" dir="5400000">
              <a:srgbClr val="1B2430">
                <a:alpha val="25000"/>
              </a:srgbClr>
            </a:outerShdw>
          </a:effectLst>
        </p:spPr>
      </p:sp>
      <p:pic>
        <p:nvPicPr>
          <p:cNvPr id="7" name="Image 0" descr="/home/user/talenleren/neerlandais1/generateur/img/vijfzinnen/a1_winter.jpg">    </p:cNvPr>
          <p:cNvPicPr>
            <a:picLocks noChangeAspect="1"/>
          </p:cNvPicPr>
          <p:nvPr/>
        </p:nvPicPr>
        <p:blipFill>
          <a:blip r:embed="rId1"/>
          <a:stretch>
            <a:fillRect/>
          </a:stretch>
        </p:blipFill>
        <p:spPr>
          <a:xfrm>
            <a:off x="2628900" y="1234440"/>
            <a:ext cx="8092440" cy="5057775"/>
          </a:xfrm>
          <a:prstGeom prst="rect">
            <a:avLst/>
          </a:prstGeom>
        </p:spPr>
      </p:pic>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108</a:t>
            </a:fld>
            <a:endParaRPr lang="en-US"/>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spTree>
      <p:nvGrpSpPr>
        <p:cNvPr id="1" name=""/>
        <p:cNvGrpSpPr/>
        <p:nvPr/>
      </p:nvGrpSpPr>
      <p:grpSpPr>
        <a:xfrm>
          <a:off x="0" y="0"/>
          <a:ext cx="0" cy="0"/>
          <a:chOff x="0" y="0"/>
          <a:chExt cx="0" cy="0"/>
        </a:xfrm>
      </p:grpSpPr>
      <p:sp>
        <p:nvSpPr>
          <p:cNvPr id="2" name="Text 1"/>
          <p:cNvSpPr/>
          <p:nvPr>
            <p:ph idx="101" type="title" hasCustomPrompt="1"/>
          </p:nvPr>
        </p:nvSpPr>
        <p:spPr>
          <a:xfrm>
            <a:off x="1691640" y="347472"/>
            <a:ext cx="8138160" cy="914400"/>
          </a:xfrm>
          <a:prstGeom prst="rect">
            <a:avLst/>
          </a:prstGeom>
          <a:noFill/>
          <a:ln/>
        </p:spPr>
        <p:txBody>
          <a:bodyPr wrap="square" lIns="0" tIns="0" rIns="0" bIns="0" rtlCol="0" anchor="ctr"/>
          <a:lstStyle/>
          <a:p>
            <a:pPr algn="l" indent="0" marL="0">
              <a:buNone/>
            </a:pPr>
            <a:r>
              <a:rPr lang="en-US" sz="2400" b="1" dirty="0">
                <a:solidFill>
                  <a:srgbClr val="2B2F38"/>
                </a:solidFill>
              </a:rPr>
              <a:t>Hier is een voorbeeld van wat je had kunnen denken en zeggen…</a:t>
            </a:r>
            <a:endParaRPr lang="en-US" sz="2400" dirty="0"/>
          </a:p>
        </p:txBody>
      </p:sp>
      <p:sp>
        <p:nvSpPr>
          <p:cNvPr id="4" name="Shape 1"/>
          <p:cNvSpPr/>
          <p:nvPr/>
        </p:nvSpPr>
        <p:spPr>
          <a:xfrm>
            <a:off x="365760" y="365760"/>
            <a:ext cx="868680" cy="5989320"/>
          </a:xfrm>
          <a:prstGeom prst="roundRect">
            <a:avLst>
              <a:gd name="adj" fmla="val 12632"/>
            </a:avLst>
          </a:prstGeom>
          <a:solidFill>
            <a:srgbClr val="FDF1E4"/>
          </a:solidFill>
          <a:ln w="28575">
            <a:solidFill>
              <a:srgbClr val="F0A15E"/>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B9661F"/>
                </a:solidFill>
                <a:latin typeface="Calibri" pitchFamily="34" charset="0"/>
                <a:ea typeface="Calibri" pitchFamily="34" charset="-122"/>
                <a:cs typeface="Calibri" pitchFamily="34" charset="-120"/>
              </a:rPr>
              <a:t>A1 · Vocabulaire</a:t>
            </a:r>
            <a:endParaRPr lang="en-US" sz="3800" dirty="0"/>
          </a:p>
        </p:txBody>
      </p:sp>
      <p:sp>
        <p:nvSpPr>
          <p:cNvPr id="6" name="Shape 3"/>
          <p:cNvSpPr/>
          <p:nvPr/>
        </p:nvSpPr>
        <p:spPr>
          <a:xfrm>
            <a:off x="10058400" y="246888"/>
            <a:ext cx="1691640" cy="1091565"/>
          </a:xfrm>
          <a:prstGeom prst="roundRect">
            <a:avLst>
              <a:gd name="adj" fmla="val 3351"/>
            </a:avLst>
          </a:prstGeom>
          <a:solidFill>
            <a:srgbClr val="FFFFFF"/>
          </a:solidFill>
          <a:ln w="9525">
            <a:solidFill>
              <a:srgbClr val="E3E7EE"/>
            </a:solidFill>
            <a:prstDash val="solid"/>
          </a:ln>
          <a:effectLst>
            <a:outerShdw sx="100000" sy="100000" kx="0" ky="0" algn="bl" rotWithShape="0" blurRad="76200" dist="25400" dir="5400000">
              <a:srgbClr val="1B2430">
                <a:alpha val="25000"/>
              </a:srgbClr>
            </a:outerShdw>
          </a:effectLst>
        </p:spPr>
      </p:sp>
      <p:pic>
        <p:nvPicPr>
          <p:cNvPr id="7" name="Image 0" descr="/home/user/talenleren/neerlandais1/generateur/img/vijfzinnen/a1_winter_s.jpg">    </p:cNvPr>
          <p:cNvPicPr>
            <a:picLocks noChangeAspect="1"/>
          </p:cNvPicPr>
          <p:nvPr/>
        </p:nvPicPr>
        <p:blipFill>
          <a:blip r:embed="rId1"/>
          <a:stretch>
            <a:fillRect/>
          </a:stretch>
        </p:blipFill>
        <p:spPr>
          <a:xfrm>
            <a:off x="10104120" y="292608"/>
            <a:ext cx="1600200" cy="1000125"/>
          </a:xfrm>
          <a:prstGeom prst="rect">
            <a:avLst/>
          </a:prstGeom>
        </p:spPr>
      </p:pic>
      <p:sp>
        <p:nvSpPr>
          <p:cNvPr id="8" name="Shape 4"/>
          <p:cNvSpPr/>
          <p:nvPr/>
        </p:nvSpPr>
        <p:spPr>
          <a:xfrm>
            <a:off x="1691640" y="3120542"/>
            <a:ext cx="1710233" cy="371856"/>
          </a:xfrm>
          <a:prstGeom prst="roundRect">
            <a:avLst>
              <a:gd name="adj" fmla="val 12295"/>
            </a:avLst>
          </a:prstGeom>
          <a:solidFill>
            <a:srgbClr val="E6F3DA"/>
          </a:solidFill>
          <a:ln w="12700">
            <a:solidFill>
              <a:srgbClr val="FFFFFF">
                <a:alpha val="0"/>
              </a:srgbClr>
            </a:solidFill>
            <a:prstDash val="solid"/>
          </a:ln>
        </p:spPr>
      </p:sp>
      <p:sp>
        <p:nvSpPr>
          <p:cNvPr id="9" name="Text 5"/>
          <p:cNvSpPr txBox="1"/>
          <p:nvPr/>
        </p:nvSpPr>
        <p:spPr>
          <a:xfrm>
            <a:off x="1691640" y="3108350"/>
            <a:ext cx="1710233"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Het is winter</a:t>
            </a:r>
            <a:endParaRPr lang="en-US" sz="2400" dirty="0"/>
          </a:p>
        </p:txBody>
      </p:sp>
      <p:sp>
        <p:nvSpPr>
          <p:cNvPr id="10" name="Text 6"/>
          <p:cNvSpPr txBox="1"/>
          <p:nvPr/>
        </p:nvSpPr>
        <p:spPr>
          <a:xfrm>
            <a:off x="3401873" y="3108350"/>
            <a:ext cx="259690"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a:t>
            </a:r>
            <a:endParaRPr lang="en-US" sz="2400" dirty="0"/>
          </a:p>
        </p:txBody>
      </p:sp>
      <p:sp>
        <p:nvSpPr>
          <p:cNvPr id="11" name="Shape 7"/>
          <p:cNvSpPr/>
          <p:nvPr/>
        </p:nvSpPr>
        <p:spPr>
          <a:xfrm>
            <a:off x="3565855" y="3120542"/>
            <a:ext cx="1700174" cy="371856"/>
          </a:xfrm>
          <a:prstGeom prst="roundRect">
            <a:avLst>
              <a:gd name="adj" fmla="val 12295"/>
            </a:avLst>
          </a:prstGeom>
          <a:solidFill>
            <a:srgbClr val="E6F3DA"/>
          </a:solidFill>
          <a:ln w="12700">
            <a:solidFill>
              <a:srgbClr val="FFFFFF">
                <a:alpha val="0"/>
              </a:srgbClr>
            </a:solidFill>
            <a:prstDash val="solid"/>
          </a:ln>
        </p:spPr>
      </p:sp>
      <p:sp>
        <p:nvSpPr>
          <p:cNvPr id="12" name="Text 8"/>
          <p:cNvSpPr txBox="1"/>
          <p:nvPr/>
        </p:nvSpPr>
        <p:spPr>
          <a:xfrm>
            <a:off x="3565855" y="3108350"/>
            <a:ext cx="1700174"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Het sneeuwt</a:t>
            </a:r>
            <a:endParaRPr lang="en-US" sz="2400" dirty="0"/>
          </a:p>
        </p:txBody>
      </p:sp>
      <p:sp>
        <p:nvSpPr>
          <p:cNvPr id="13" name="Text 9"/>
          <p:cNvSpPr txBox="1"/>
          <p:nvPr/>
        </p:nvSpPr>
        <p:spPr>
          <a:xfrm>
            <a:off x="5353202" y="3108350"/>
            <a:ext cx="494690"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en</a:t>
            </a:r>
            <a:endParaRPr lang="en-US" sz="2400" dirty="0"/>
          </a:p>
        </p:txBody>
      </p:sp>
      <p:sp>
        <p:nvSpPr>
          <p:cNvPr id="14" name="Shape 10"/>
          <p:cNvSpPr/>
          <p:nvPr/>
        </p:nvSpPr>
        <p:spPr>
          <a:xfrm>
            <a:off x="5752186" y="3120542"/>
            <a:ext cx="1292047" cy="371856"/>
          </a:xfrm>
          <a:prstGeom prst="roundRect">
            <a:avLst>
              <a:gd name="adj" fmla="val 12295"/>
            </a:avLst>
          </a:prstGeom>
          <a:solidFill>
            <a:srgbClr val="E6F3DA"/>
          </a:solidFill>
          <a:ln w="12700">
            <a:solidFill>
              <a:srgbClr val="FFFFFF">
                <a:alpha val="0"/>
              </a:srgbClr>
            </a:solidFill>
            <a:prstDash val="solid"/>
          </a:ln>
        </p:spPr>
      </p:sp>
      <p:sp>
        <p:nvSpPr>
          <p:cNvPr id="15" name="Text 11"/>
          <p:cNvSpPr txBox="1"/>
          <p:nvPr/>
        </p:nvSpPr>
        <p:spPr>
          <a:xfrm>
            <a:off x="5752186" y="3108350"/>
            <a:ext cx="1292047"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het waait</a:t>
            </a:r>
            <a:endParaRPr lang="en-US" sz="2400" dirty="0"/>
          </a:p>
        </p:txBody>
      </p:sp>
      <p:sp>
        <p:nvSpPr>
          <p:cNvPr id="16" name="Text 12"/>
          <p:cNvSpPr txBox="1"/>
          <p:nvPr/>
        </p:nvSpPr>
        <p:spPr>
          <a:xfrm>
            <a:off x="7044233" y="3108350"/>
            <a:ext cx="1067105"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 Het is</a:t>
            </a:r>
            <a:endParaRPr lang="en-US" sz="2400" dirty="0"/>
          </a:p>
        </p:txBody>
      </p:sp>
      <p:sp>
        <p:nvSpPr>
          <p:cNvPr id="17" name="Shape 13"/>
          <p:cNvSpPr/>
          <p:nvPr/>
        </p:nvSpPr>
        <p:spPr>
          <a:xfrm>
            <a:off x="8015630" y="3120542"/>
            <a:ext cx="1992782" cy="371856"/>
          </a:xfrm>
          <a:prstGeom prst="roundRect">
            <a:avLst>
              <a:gd name="adj" fmla="val 12295"/>
            </a:avLst>
          </a:prstGeom>
          <a:solidFill>
            <a:srgbClr val="E6F3DA"/>
          </a:solidFill>
          <a:ln w="12700">
            <a:solidFill>
              <a:srgbClr val="FFFFFF">
                <a:alpha val="0"/>
              </a:srgbClr>
            </a:solidFill>
            <a:prstDash val="solid"/>
          </a:ln>
        </p:spPr>
      </p:sp>
      <p:sp>
        <p:nvSpPr>
          <p:cNvPr id="18" name="Text 14"/>
          <p:cNvSpPr txBox="1"/>
          <p:nvPr/>
        </p:nvSpPr>
        <p:spPr>
          <a:xfrm>
            <a:off x="8015630" y="3108350"/>
            <a:ext cx="1992782"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min vijf graden</a:t>
            </a:r>
            <a:endParaRPr lang="en-US" sz="2400" dirty="0"/>
          </a:p>
        </p:txBody>
      </p:sp>
      <p:sp>
        <p:nvSpPr>
          <p:cNvPr id="19" name="Text 15"/>
          <p:cNvSpPr txBox="1"/>
          <p:nvPr/>
        </p:nvSpPr>
        <p:spPr>
          <a:xfrm>
            <a:off x="10008413" y="3108350"/>
            <a:ext cx="282245"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a:t>
            </a:r>
            <a:endParaRPr lang="en-US" sz="2400" dirty="0"/>
          </a:p>
        </p:txBody>
      </p:sp>
      <p:sp>
        <p:nvSpPr>
          <p:cNvPr id="20" name="Shape 16"/>
          <p:cNvSpPr/>
          <p:nvPr/>
        </p:nvSpPr>
        <p:spPr>
          <a:xfrm>
            <a:off x="2546756" y="3044342"/>
            <a:ext cx="914" cy="76200"/>
          </a:xfrm>
          <a:prstGeom prst="line">
            <a:avLst/>
          </a:prstGeom>
          <a:noFill/>
          <a:ln w="15875">
            <a:solidFill>
              <a:srgbClr val="7AB648"/>
            </a:solidFill>
            <a:prstDash val="solid"/>
          </a:ln>
        </p:spPr>
      </p:sp>
      <p:sp>
        <p:nvSpPr>
          <p:cNvPr id="21" name="Shape 17"/>
          <p:cNvSpPr/>
          <p:nvPr/>
        </p:nvSpPr>
        <p:spPr>
          <a:xfrm>
            <a:off x="2190528" y="2797454"/>
            <a:ext cx="712457" cy="246888"/>
          </a:xfrm>
          <a:prstGeom prst="roundRect">
            <a:avLst>
              <a:gd name="adj" fmla="val 14815"/>
            </a:avLst>
          </a:prstGeom>
          <a:solidFill>
            <a:srgbClr val="7AB648"/>
          </a:solidFill>
          <a:ln w="12700">
            <a:solidFill>
              <a:srgbClr val="FFFFFF">
                <a:alpha val="0"/>
              </a:srgbClr>
            </a:solidFill>
            <a:prstDash val="solid"/>
          </a:ln>
        </p:spPr>
      </p:sp>
      <p:sp>
        <p:nvSpPr>
          <p:cNvPr id="22" name="Text 18"/>
          <p:cNvSpPr txBox="1"/>
          <p:nvPr/>
        </p:nvSpPr>
        <p:spPr>
          <a:xfrm>
            <a:off x="2190528" y="2797454"/>
            <a:ext cx="712457"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SEIZOEN</a:t>
            </a:r>
            <a:endParaRPr lang="en-US" sz="1100" dirty="0"/>
          </a:p>
        </p:txBody>
      </p:sp>
      <p:sp>
        <p:nvSpPr>
          <p:cNvPr id="23" name="Shape 19"/>
          <p:cNvSpPr/>
          <p:nvPr/>
        </p:nvSpPr>
        <p:spPr>
          <a:xfrm>
            <a:off x="4415942" y="3044342"/>
            <a:ext cx="914" cy="76200"/>
          </a:xfrm>
          <a:prstGeom prst="line">
            <a:avLst/>
          </a:prstGeom>
          <a:noFill/>
          <a:ln w="15875">
            <a:solidFill>
              <a:srgbClr val="7AB648"/>
            </a:solidFill>
            <a:prstDash val="solid"/>
          </a:ln>
        </p:spPr>
      </p:sp>
      <p:sp>
        <p:nvSpPr>
          <p:cNvPr id="24" name="Shape 20"/>
          <p:cNvSpPr/>
          <p:nvPr/>
        </p:nvSpPr>
        <p:spPr>
          <a:xfrm>
            <a:off x="4006907" y="2797454"/>
            <a:ext cx="818071" cy="246888"/>
          </a:xfrm>
          <a:prstGeom prst="roundRect">
            <a:avLst>
              <a:gd name="adj" fmla="val 14815"/>
            </a:avLst>
          </a:prstGeom>
          <a:solidFill>
            <a:srgbClr val="7AB648"/>
          </a:solidFill>
          <a:ln w="12700">
            <a:solidFill>
              <a:srgbClr val="FFFFFF">
                <a:alpha val="0"/>
              </a:srgbClr>
            </a:solidFill>
            <a:prstDash val="solid"/>
          </a:ln>
        </p:spPr>
      </p:sp>
      <p:sp>
        <p:nvSpPr>
          <p:cNvPr id="25" name="Text 21"/>
          <p:cNvSpPr txBox="1"/>
          <p:nvPr/>
        </p:nvSpPr>
        <p:spPr>
          <a:xfrm>
            <a:off x="4006907" y="2797454"/>
            <a:ext cx="818071"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HET WEER</a:t>
            </a:r>
            <a:endParaRPr lang="en-US" sz="1100" dirty="0"/>
          </a:p>
        </p:txBody>
      </p:sp>
      <p:sp>
        <p:nvSpPr>
          <p:cNvPr id="26" name="Shape 22"/>
          <p:cNvSpPr/>
          <p:nvPr/>
        </p:nvSpPr>
        <p:spPr>
          <a:xfrm>
            <a:off x="6398209" y="3044342"/>
            <a:ext cx="914" cy="76200"/>
          </a:xfrm>
          <a:prstGeom prst="line">
            <a:avLst/>
          </a:prstGeom>
          <a:noFill/>
          <a:ln w="15875">
            <a:solidFill>
              <a:srgbClr val="7AB648"/>
            </a:solidFill>
            <a:prstDash val="solid"/>
          </a:ln>
        </p:spPr>
      </p:sp>
      <p:sp>
        <p:nvSpPr>
          <p:cNvPr id="27" name="Shape 23"/>
          <p:cNvSpPr/>
          <p:nvPr/>
        </p:nvSpPr>
        <p:spPr>
          <a:xfrm>
            <a:off x="5989174" y="2797454"/>
            <a:ext cx="818071" cy="246888"/>
          </a:xfrm>
          <a:prstGeom prst="roundRect">
            <a:avLst>
              <a:gd name="adj" fmla="val 14815"/>
            </a:avLst>
          </a:prstGeom>
          <a:solidFill>
            <a:srgbClr val="7AB648"/>
          </a:solidFill>
          <a:ln w="12700">
            <a:solidFill>
              <a:srgbClr val="FFFFFF">
                <a:alpha val="0"/>
              </a:srgbClr>
            </a:solidFill>
            <a:prstDash val="solid"/>
          </a:ln>
        </p:spPr>
      </p:sp>
      <p:sp>
        <p:nvSpPr>
          <p:cNvPr id="28" name="Text 24"/>
          <p:cNvSpPr txBox="1"/>
          <p:nvPr/>
        </p:nvSpPr>
        <p:spPr>
          <a:xfrm>
            <a:off x="5989174" y="2797454"/>
            <a:ext cx="818071"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HET WEER</a:t>
            </a:r>
            <a:endParaRPr lang="en-US" sz="1100" dirty="0"/>
          </a:p>
        </p:txBody>
      </p:sp>
      <p:sp>
        <p:nvSpPr>
          <p:cNvPr id="29" name="Shape 25"/>
          <p:cNvSpPr/>
          <p:nvPr/>
        </p:nvSpPr>
        <p:spPr>
          <a:xfrm>
            <a:off x="9012022" y="3044342"/>
            <a:ext cx="914" cy="76200"/>
          </a:xfrm>
          <a:prstGeom prst="line">
            <a:avLst/>
          </a:prstGeom>
          <a:noFill/>
          <a:ln w="15875">
            <a:solidFill>
              <a:srgbClr val="7AB648"/>
            </a:solidFill>
            <a:prstDash val="solid"/>
          </a:ln>
        </p:spPr>
      </p:sp>
      <p:sp>
        <p:nvSpPr>
          <p:cNvPr id="30" name="Shape 26"/>
          <p:cNvSpPr/>
          <p:nvPr/>
        </p:nvSpPr>
        <p:spPr>
          <a:xfrm>
            <a:off x="8652021" y="2797454"/>
            <a:ext cx="720001" cy="246888"/>
          </a:xfrm>
          <a:prstGeom prst="roundRect">
            <a:avLst>
              <a:gd name="adj" fmla="val 14815"/>
            </a:avLst>
          </a:prstGeom>
          <a:solidFill>
            <a:srgbClr val="7AB648"/>
          </a:solidFill>
          <a:ln w="12700">
            <a:solidFill>
              <a:srgbClr val="FFFFFF">
                <a:alpha val="0"/>
              </a:srgbClr>
            </a:solidFill>
            <a:prstDash val="solid"/>
          </a:ln>
        </p:spPr>
      </p:sp>
      <p:sp>
        <p:nvSpPr>
          <p:cNvPr id="31" name="Text 27"/>
          <p:cNvSpPr txBox="1"/>
          <p:nvPr/>
        </p:nvSpPr>
        <p:spPr>
          <a:xfrm>
            <a:off x="8652021" y="2797454"/>
            <a:ext cx="720001"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GRADEN</a:t>
            </a:r>
            <a:endParaRPr lang="en-US" sz="1100" dirty="0"/>
          </a:p>
        </p:txBody>
      </p:sp>
      <p:sp>
        <p:nvSpPr>
          <p:cNvPr id="32" name="Shape 28"/>
          <p:cNvSpPr/>
          <p:nvPr/>
        </p:nvSpPr>
        <p:spPr>
          <a:xfrm>
            <a:off x="3227984" y="4175150"/>
            <a:ext cx="2041855" cy="371856"/>
          </a:xfrm>
          <a:prstGeom prst="roundRect">
            <a:avLst>
              <a:gd name="adj" fmla="val 12295"/>
            </a:avLst>
          </a:prstGeom>
          <a:solidFill>
            <a:srgbClr val="E6F3DA"/>
          </a:solidFill>
          <a:ln w="12700">
            <a:solidFill>
              <a:srgbClr val="FFFFFF">
                <a:alpha val="0"/>
              </a:srgbClr>
            </a:solidFill>
            <a:prstDash val="solid"/>
          </a:ln>
        </p:spPr>
      </p:sp>
      <p:sp>
        <p:nvSpPr>
          <p:cNvPr id="33" name="Text 29"/>
          <p:cNvSpPr txBox="1"/>
          <p:nvPr/>
        </p:nvSpPr>
        <p:spPr>
          <a:xfrm>
            <a:off x="3227984" y="4162958"/>
            <a:ext cx="2041855"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Vandaag blijf ik</a:t>
            </a:r>
            <a:endParaRPr lang="en-US" sz="2400" dirty="0"/>
          </a:p>
        </p:txBody>
      </p:sp>
      <p:sp>
        <p:nvSpPr>
          <p:cNvPr id="34" name="Text 30"/>
          <p:cNvSpPr txBox="1"/>
          <p:nvPr/>
        </p:nvSpPr>
        <p:spPr>
          <a:xfrm>
            <a:off x="5357012" y="4162958"/>
            <a:ext cx="4993843"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thuis, met een warme chocolademelk.</a:t>
            </a:r>
            <a:endParaRPr lang="en-US" sz="2400" dirty="0"/>
          </a:p>
        </p:txBody>
      </p:sp>
      <p:sp>
        <p:nvSpPr>
          <p:cNvPr id="35" name="Shape 31"/>
          <p:cNvSpPr/>
          <p:nvPr/>
        </p:nvSpPr>
        <p:spPr>
          <a:xfrm>
            <a:off x="4248912" y="4098950"/>
            <a:ext cx="914" cy="76200"/>
          </a:xfrm>
          <a:prstGeom prst="line">
            <a:avLst/>
          </a:prstGeom>
          <a:noFill/>
          <a:ln w="15875">
            <a:solidFill>
              <a:srgbClr val="7AB648"/>
            </a:solidFill>
            <a:prstDash val="solid"/>
          </a:ln>
        </p:spPr>
      </p:sp>
      <p:sp>
        <p:nvSpPr>
          <p:cNvPr id="36" name="Shape 32"/>
          <p:cNvSpPr/>
          <p:nvPr/>
        </p:nvSpPr>
        <p:spPr>
          <a:xfrm>
            <a:off x="3836384" y="3852062"/>
            <a:ext cx="825056" cy="246888"/>
          </a:xfrm>
          <a:prstGeom prst="roundRect">
            <a:avLst>
              <a:gd name="adj" fmla="val 14815"/>
            </a:avLst>
          </a:prstGeom>
          <a:solidFill>
            <a:srgbClr val="7AB648"/>
          </a:solidFill>
          <a:ln w="12700">
            <a:solidFill>
              <a:srgbClr val="FFFFFF">
                <a:alpha val="0"/>
              </a:srgbClr>
            </a:solidFill>
            <a:prstDash val="solid"/>
          </a:ln>
        </p:spPr>
      </p:sp>
      <p:sp>
        <p:nvSpPr>
          <p:cNvPr id="37" name="Text 33"/>
          <p:cNvSpPr txBox="1"/>
          <p:nvPr/>
        </p:nvSpPr>
        <p:spPr>
          <a:xfrm>
            <a:off x="3836384" y="3852062"/>
            <a:ext cx="825056"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VANDAAG</a:t>
            </a:r>
            <a:endParaRPr lang="en-US" sz="1100" dirty="0"/>
          </a:p>
        </p:txBody>
      </p:sp>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109</a:t>
            </a:fld>
            <a:endParaRPr lang="en-US"/>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spTree>
      <p:nvGrpSpPr>
        <p:cNvPr id="1" name=""/>
        <p:cNvGrpSpPr/>
        <p:nvPr/>
      </p:nvGrpSpPr>
      <p:grpSpPr>
        <a:xfrm>
          <a:off x="0" y="0"/>
          <a:ext cx="0" cy="0"/>
          <a:chOff x="0" y="0"/>
          <a:chExt cx="0" cy="0"/>
        </a:xfrm>
      </p:grpSpPr>
      <p:sp>
        <p:nvSpPr>
          <p:cNvPr id="2" name="Text 1"/>
          <p:cNvSpPr/>
          <p:nvPr>
            <p:ph idx="101" type="title" hasCustomPrompt="1"/>
          </p:nvPr>
        </p:nvSpPr>
        <p:spPr>
          <a:xfrm>
            <a:off x="1554480" y="384048"/>
            <a:ext cx="10241280" cy="658368"/>
          </a:xfrm>
          <a:prstGeom prst="rect">
            <a:avLst/>
          </a:prstGeom>
          <a:noFill/>
          <a:ln/>
        </p:spPr>
        <p:txBody>
          <a:bodyPr wrap="square" lIns="0" tIns="0" rIns="0" bIns="0" rtlCol="0" anchor="ctr"/>
          <a:lstStyle/>
          <a:p>
            <a:pPr algn="ctr" indent="0" marL="0">
              <a:buNone/>
            </a:pPr>
            <a:r>
              <a:rPr lang="en-US" sz="3000" b="1" dirty="0">
                <a:solidFill>
                  <a:srgbClr val="2B2F38"/>
                </a:solidFill>
              </a:rPr>
              <a:t>Gebruik deze afbeelding als inspiratie</a:t>
            </a:r>
            <a:endParaRPr lang="en-US" sz="3000" dirty="0"/>
          </a:p>
        </p:txBody>
      </p:sp>
      <p:sp>
        <p:nvSpPr>
          <p:cNvPr id="4" name="Shape 1"/>
          <p:cNvSpPr/>
          <p:nvPr/>
        </p:nvSpPr>
        <p:spPr>
          <a:xfrm>
            <a:off x="365760" y="365760"/>
            <a:ext cx="868680" cy="5989320"/>
          </a:xfrm>
          <a:prstGeom prst="roundRect">
            <a:avLst>
              <a:gd name="adj" fmla="val 12632"/>
            </a:avLst>
          </a:prstGeom>
          <a:solidFill>
            <a:srgbClr val="FDF1E4"/>
          </a:solidFill>
          <a:ln w="28575">
            <a:solidFill>
              <a:srgbClr val="F0A15E"/>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B9661F"/>
                </a:solidFill>
                <a:latin typeface="Calibri" pitchFamily="34" charset="0"/>
                <a:ea typeface="Calibri" pitchFamily="34" charset="-122"/>
                <a:cs typeface="Calibri" pitchFamily="34" charset="-120"/>
              </a:rPr>
              <a:t>A1 · Vocabulaire</a:t>
            </a:r>
            <a:endParaRPr lang="en-US" sz="3800" dirty="0"/>
          </a:p>
        </p:txBody>
      </p:sp>
      <p:sp>
        <p:nvSpPr>
          <p:cNvPr id="6" name="Text 3"/>
          <p:cNvSpPr txBox="1"/>
          <p:nvPr/>
        </p:nvSpPr>
        <p:spPr>
          <a:xfrm>
            <a:off x="1554480" y="1024128"/>
            <a:ext cx="10241280" cy="365760"/>
          </a:xfrm>
          <a:prstGeom prst="rect">
            <a:avLst/>
          </a:prstGeom>
          <a:noFill/>
          <a:ln/>
        </p:spPr>
        <p:txBody>
          <a:bodyPr wrap="square" lIns="0" tIns="0" rIns="0" bIns="0" rtlCol="0" anchor="ctr"/>
          <a:lstStyle/>
          <a:p>
            <a:pPr algn="ctr" indent="0" marL="0">
              <a:buNone/>
            </a:pPr>
            <a:r>
              <a:rPr lang="en-US" sz="1500" b="1" dirty="0">
                <a:solidFill>
                  <a:srgbClr val="B9661F"/>
                </a:solidFill>
                <a:latin typeface="Calibri" pitchFamily="34" charset="0"/>
                <a:ea typeface="Calibri" pitchFamily="34" charset="-122"/>
                <a:cs typeface="Calibri" pitchFamily="34" charset="-120"/>
              </a:rPr>
              <a:t>35 · Karaoke!</a:t>
            </a:r>
            <a:r>
              <a:rPr lang="en-US" sz="1500" i="1" dirty="0">
                <a:solidFill>
                  <a:srgbClr val="6B7280"/>
                </a:solidFill>
                <a:latin typeface="Calibri" pitchFamily="34" charset="0"/>
                <a:ea typeface="Calibri" pitchFamily="34" charset="-122"/>
                <a:cs typeface="Calibri" pitchFamily="34" charset="-120"/>
              </a:rPr>
              <a:t>   Karaoké !</a:t>
            </a:r>
            <a:r>
              <a:rPr lang="en-US" sz="1200" dirty="0">
                <a:solidFill>
                  <a:srgbClr val="9AA3B2"/>
                </a:solidFill>
                <a:latin typeface="Calibri" pitchFamily="34" charset="0"/>
                <a:ea typeface="Calibri" pitchFamily="34" charset="-122"/>
                <a:cs typeface="Calibri" pitchFamily="34" charset="-120"/>
              </a:rPr>
              <a:t>   ·   syllabus vocabulaire 11 · p. 88</a:t>
            </a:r>
            <a:endParaRPr lang="en-US" sz="1500" dirty="0"/>
          </a:p>
        </p:txBody>
      </p:sp>
      <p:sp>
        <p:nvSpPr>
          <p:cNvPr id="7" name="Shape 4"/>
          <p:cNvSpPr/>
          <p:nvPr/>
        </p:nvSpPr>
        <p:spPr>
          <a:xfrm>
            <a:off x="1596085" y="1504645"/>
            <a:ext cx="4534510" cy="2905735"/>
          </a:xfrm>
          <a:prstGeom prst="roundRect">
            <a:avLst>
              <a:gd name="adj" fmla="val 1259"/>
            </a:avLst>
          </a:prstGeom>
          <a:solidFill>
            <a:srgbClr val="FFFFFF"/>
          </a:solidFill>
          <a:ln w="9525">
            <a:solidFill>
              <a:srgbClr val="E3E7EE"/>
            </a:solidFill>
            <a:prstDash val="solid"/>
          </a:ln>
          <a:effectLst>
            <a:outerShdw sx="100000" sy="100000" kx="0" ky="0" algn="bl" rotWithShape="0" blurRad="127000" dist="50800" dir="5400000">
              <a:srgbClr val="1B2430">
                <a:alpha val="25000"/>
              </a:srgbClr>
            </a:outerShdw>
          </a:effectLst>
        </p:spPr>
      </p:sp>
      <p:pic>
        <p:nvPicPr>
          <p:cNvPr id="8" name="Image 0" descr="/home/user/talenleren/neerlandais1/generateur/img/vijfzinnen/a1_karaoke_s.jpg">    </p:cNvPr>
          <p:cNvPicPr>
            <a:picLocks noChangeAspect="1"/>
          </p:cNvPicPr>
          <p:nvPr/>
        </p:nvPicPr>
        <p:blipFill>
          <a:blip r:embed="rId1"/>
          <a:stretch>
            <a:fillRect/>
          </a:stretch>
        </p:blipFill>
        <p:spPr>
          <a:xfrm>
            <a:off x="1691640" y="1600200"/>
            <a:ext cx="4343400" cy="2714625"/>
          </a:xfrm>
          <a:prstGeom prst="rect">
            <a:avLst/>
          </a:prstGeom>
        </p:spPr>
      </p:pic>
      <p:sp>
        <p:nvSpPr>
          <p:cNvPr id="9" name="Shape 5"/>
          <p:cNvSpPr/>
          <p:nvPr/>
        </p:nvSpPr>
        <p:spPr>
          <a:xfrm>
            <a:off x="1691640" y="4572000"/>
            <a:ext cx="1600200" cy="365760"/>
          </a:xfrm>
          <a:prstGeom prst="roundRect">
            <a:avLst>
              <a:gd name="adj" fmla="val 50000"/>
            </a:avLst>
          </a:prstGeom>
          <a:solidFill>
            <a:srgbClr val="FDF1E6"/>
          </a:solidFill>
          <a:ln w="12700">
            <a:solidFill>
              <a:srgbClr val="D9822B"/>
            </a:solidFill>
            <a:prstDash val="solid"/>
          </a:ln>
        </p:spPr>
      </p:sp>
      <p:pic>
        <p:nvPicPr>
          <p:cNvPr id="10" name="Image 1" descr="Comments">    </p:cNvPr>
          <p:cNvPicPr>
            <a:picLocks noChangeAspect="1"/>
          </p:cNvPicPr>
          <p:nvPr/>
        </p:nvPicPr>
        <p:blipFill>
          <a:blip r:embed="rId2"/>
          <a:stretch>
            <a:fillRect/>
          </a:stretch>
        </p:blipFill>
        <p:spPr>
          <a:xfrm>
            <a:off x="1819656" y="4654296"/>
            <a:ext cx="201168" cy="201168"/>
          </a:xfrm>
          <a:prstGeom prst="rect">
            <a:avLst/>
          </a:prstGeom>
        </p:spPr>
      </p:pic>
      <p:sp>
        <p:nvSpPr>
          <p:cNvPr id="11" name="Text 6"/>
          <p:cNvSpPr txBox="1"/>
          <p:nvPr/>
        </p:nvSpPr>
        <p:spPr>
          <a:xfrm>
            <a:off x="2075688" y="4572000"/>
            <a:ext cx="1143000" cy="365760"/>
          </a:xfrm>
          <a:prstGeom prst="rect">
            <a:avLst/>
          </a:prstGeom>
          <a:noFill/>
          <a:ln/>
        </p:spPr>
        <p:txBody>
          <a:bodyPr wrap="square" lIns="0" tIns="0" rIns="0" bIns="0" rtlCol="0" anchor="ctr"/>
          <a:lstStyle/>
          <a:p>
            <a:pPr algn="l" indent="0" marL="0">
              <a:buNone/>
            </a:pPr>
            <a:r>
              <a:rPr lang="en-US" sz="1150" b="1" spc="100" kern="0" dirty="0">
                <a:solidFill>
                  <a:srgbClr val="D9822B"/>
                </a:solidFill>
                <a:latin typeface="Calibri" pitchFamily="34" charset="0"/>
                <a:ea typeface="Calibri" pitchFamily="34" charset="-122"/>
                <a:cs typeface="Calibri" pitchFamily="34" charset="-120"/>
              </a:rPr>
              <a:t>À L’ORAL</a:t>
            </a:r>
            <a:endParaRPr lang="en-US" sz="1150" dirty="0"/>
          </a:p>
        </p:txBody>
      </p:sp>
      <p:sp>
        <p:nvSpPr>
          <p:cNvPr id="12" name="Text 7"/>
          <p:cNvSpPr txBox="1"/>
          <p:nvPr/>
        </p:nvSpPr>
        <p:spPr>
          <a:xfrm>
            <a:off x="3429000" y="4544568"/>
            <a:ext cx="2651760" cy="731520"/>
          </a:xfrm>
          <a:prstGeom prst="rect">
            <a:avLst/>
          </a:prstGeom>
          <a:noFill/>
          <a:ln/>
        </p:spPr>
        <p:txBody>
          <a:bodyPr wrap="square" lIns="0" tIns="0" rIns="0" bIns="0" rtlCol="0" anchor="t"/>
          <a:lstStyle/>
          <a:p>
            <a:pPr algn="l" indent="0" marL="0">
              <a:buNone/>
            </a:pPr>
            <a:r>
              <a:rPr lang="en-US" sz="1150" i="1" dirty="0">
                <a:solidFill>
                  <a:srgbClr val="6B7280"/>
                </a:solidFill>
                <a:latin typeface="Calibri" pitchFamily="34" charset="0"/>
                <a:ea typeface="Calibri" pitchFamily="34" charset="-122"/>
                <a:cs typeface="Calibri" pitchFamily="34" charset="-120"/>
              </a:rPr>
              <a:t>Soirée karaoké avec la classe. Qu’en pensez-vous ?</a:t>
            </a:r>
            <a:endParaRPr lang="en-US" sz="1150" dirty="0"/>
          </a:p>
        </p:txBody>
      </p:sp>
      <p:sp>
        <p:nvSpPr>
          <p:cNvPr id="13" name="Shape 8"/>
          <p:cNvSpPr/>
          <p:nvPr/>
        </p:nvSpPr>
        <p:spPr>
          <a:xfrm>
            <a:off x="6355080" y="1673352"/>
            <a:ext cx="914400" cy="402336"/>
          </a:xfrm>
          <a:prstGeom prst="roundRect">
            <a:avLst>
              <a:gd name="adj" fmla="val 13636"/>
            </a:avLst>
          </a:prstGeom>
          <a:solidFill>
            <a:srgbClr val="5FA873"/>
          </a:solidFill>
          <a:ln w="12700">
            <a:solidFill>
              <a:srgbClr val="FFFFFF">
                <a:alpha val="0"/>
              </a:srgbClr>
            </a:solidFill>
            <a:prstDash val="solid"/>
          </a:ln>
        </p:spPr>
      </p:sp>
      <p:sp>
        <p:nvSpPr>
          <p:cNvPr id="14" name="Text 9"/>
          <p:cNvSpPr txBox="1"/>
          <p:nvPr/>
        </p:nvSpPr>
        <p:spPr>
          <a:xfrm>
            <a:off x="6355080" y="167335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1</a:t>
            </a:r>
            <a:endParaRPr lang="en-US" sz="1600" dirty="0"/>
          </a:p>
        </p:txBody>
      </p:sp>
      <p:sp>
        <p:nvSpPr>
          <p:cNvPr id="15" name="Text 10"/>
          <p:cNvSpPr txBox="1"/>
          <p:nvPr/>
        </p:nvSpPr>
        <p:spPr>
          <a:xfrm>
            <a:off x="7406640" y="1618488"/>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Une émotion : </a:t>
            </a:r>
            <a:r>
              <a:rPr lang="en-US" sz="1450" b="1" dirty="0">
                <a:solidFill>
                  <a:srgbClr val="2B2F38"/>
                </a:solidFill>
              </a:rPr>
              <a:t>IK BEN</a:t>
            </a:r>
            <a:r>
              <a:rPr lang="en-US" sz="1450" dirty="0">
                <a:solidFill>
                  <a:srgbClr val="2B2F38"/>
                </a:solidFill>
              </a:rPr>
              <a:t> + nuanceur + adjectif.</a:t>
            </a:r>
            <a:endParaRPr lang="en-US" sz="1450" dirty="0"/>
          </a:p>
        </p:txBody>
      </p:sp>
      <p:sp>
        <p:nvSpPr>
          <p:cNvPr id="16" name="Shape 11"/>
          <p:cNvSpPr/>
          <p:nvPr/>
        </p:nvSpPr>
        <p:spPr>
          <a:xfrm>
            <a:off x="6355080" y="2404872"/>
            <a:ext cx="914400" cy="402336"/>
          </a:xfrm>
          <a:prstGeom prst="roundRect">
            <a:avLst>
              <a:gd name="adj" fmla="val 13636"/>
            </a:avLst>
          </a:prstGeom>
          <a:solidFill>
            <a:srgbClr val="5FA873"/>
          </a:solidFill>
          <a:ln w="12700">
            <a:solidFill>
              <a:srgbClr val="FFFFFF">
                <a:alpha val="0"/>
              </a:srgbClr>
            </a:solidFill>
            <a:prstDash val="solid"/>
          </a:ln>
        </p:spPr>
      </p:sp>
      <p:sp>
        <p:nvSpPr>
          <p:cNvPr id="17" name="Text 12"/>
          <p:cNvSpPr txBox="1"/>
          <p:nvPr/>
        </p:nvSpPr>
        <p:spPr>
          <a:xfrm>
            <a:off x="6355080" y="240487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2</a:t>
            </a:r>
            <a:endParaRPr lang="en-US" sz="1600" dirty="0"/>
          </a:p>
        </p:txBody>
      </p:sp>
      <p:sp>
        <p:nvSpPr>
          <p:cNvPr id="18" name="Text 13"/>
          <p:cNvSpPr txBox="1"/>
          <p:nvPr/>
        </p:nvSpPr>
        <p:spPr>
          <a:xfrm>
            <a:off x="7406640" y="2350008"/>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Une opinion : </a:t>
            </a:r>
            <a:r>
              <a:rPr lang="en-US" sz="1450" b="1" dirty="0">
                <a:solidFill>
                  <a:srgbClr val="2B2F38"/>
                </a:solidFill>
              </a:rPr>
              <a:t>IK VIND HET LEUK</a:t>
            </a:r>
            <a:r>
              <a:rPr lang="en-US" sz="1450" dirty="0">
                <a:solidFill>
                  <a:srgbClr val="2B2F38"/>
                </a:solidFill>
              </a:rPr>
              <a:t>.</a:t>
            </a:r>
            <a:endParaRPr lang="en-US" sz="1450" dirty="0"/>
          </a:p>
        </p:txBody>
      </p:sp>
      <p:sp>
        <p:nvSpPr>
          <p:cNvPr id="19" name="Shape 14"/>
          <p:cNvSpPr/>
          <p:nvPr/>
        </p:nvSpPr>
        <p:spPr>
          <a:xfrm>
            <a:off x="6355080" y="3136392"/>
            <a:ext cx="914400" cy="402336"/>
          </a:xfrm>
          <a:prstGeom prst="roundRect">
            <a:avLst>
              <a:gd name="adj" fmla="val 13636"/>
            </a:avLst>
          </a:prstGeom>
          <a:solidFill>
            <a:srgbClr val="5FA873"/>
          </a:solidFill>
          <a:ln w="12700">
            <a:solidFill>
              <a:srgbClr val="FFFFFF">
                <a:alpha val="0"/>
              </a:srgbClr>
            </a:solidFill>
            <a:prstDash val="solid"/>
          </a:ln>
        </p:spPr>
      </p:sp>
      <p:sp>
        <p:nvSpPr>
          <p:cNvPr id="20" name="Text 15"/>
          <p:cNvSpPr txBox="1"/>
          <p:nvPr/>
        </p:nvSpPr>
        <p:spPr>
          <a:xfrm>
            <a:off x="6355080" y="313639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3</a:t>
            </a:r>
            <a:endParaRPr lang="en-US" sz="1600" dirty="0"/>
          </a:p>
        </p:txBody>
      </p:sp>
      <p:sp>
        <p:nvSpPr>
          <p:cNvPr id="21" name="Text 16"/>
          <p:cNvSpPr txBox="1"/>
          <p:nvPr/>
        </p:nvSpPr>
        <p:spPr>
          <a:xfrm>
            <a:off x="7406640" y="3081528"/>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Une opinion négative : </a:t>
            </a:r>
            <a:r>
              <a:rPr lang="en-US" sz="1450" b="1" dirty="0">
                <a:solidFill>
                  <a:srgbClr val="2B2F38"/>
                </a:solidFill>
              </a:rPr>
              <a:t>IK VIND HET NIET LEUK</a:t>
            </a:r>
            <a:r>
              <a:rPr lang="en-US" sz="1450" dirty="0">
                <a:solidFill>
                  <a:srgbClr val="2B2F38"/>
                </a:solidFill>
              </a:rPr>
              <a:t>.</a:t>
            </a:r>
            <a:endParaRPr lang="en-US" sz="1450" dirty="0"/>
          </a:p>
        </p:txBody>
      </p:sp>
      <p:sp>
        <p:nvSpPr>
          <p:cNvPr id="22" name="Shape 17"/>
          <p:cNvSpPr/>
          <p:nvPr/>
        </p:nvSpPr>
        <p:spPr>
          <a:xfrm>
            <a:off x="6355080" y="3867912"/>
            <a:ext cx="914400" cy="402336"/>
          </a:xfrm>
          <a:prstGeom prst="roundRect">
            <a:avLst>
              <a:gd name="adj" fmla="val 13636"/>
            </a:avLst>
          </a:prstGeom>
          <a:solidFill>
            <a:srgbClr val="5FA873"/>
          </a:solidFill>
          <a:ln w="12700">
            <a:solidFill>
              <a:srgbClr val="FFFFFF">
                <a:alpha val="0"/>
              </a:srgbClr>
            </a:solidFill>
            <a:prstDash val="solid"/>
          </a:ln>
        </p:spPr>
      </p:sp>
      <p:sp>
        <p:nvSpPr>
          <p:cNvPr id="23" name="Text 18"/>
          <p:cNvSpPr txBox="1"/>
          <p:nvPr/>
        </p:nvSpPr>
        <p:spPr>
          <a:xfrm>
            <a:off x="6355080" y="386791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4</a:t>
            </a:r>
            <a:endParaRPr lang="en-US" sz="1600" dirty="0"/>
          </a:p>
        </p:txBody>
      </p:sp>
      <p:sp>
        <p:nvSpPr>
          <p:cNvPr id="24" name="Text 19"/>
          <p:cNvSpPr txBox="1"/>
          <p:nvPr/>
        </p:nvSpPr>
        <p:spPr>
          <a:xfrm>
            <a:off x="7406640" y="3813048"/>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Une chute avec </a:t>
            </a:r>
            <a:r>
              <a:rPr lang="en-US" sz="1450" b="1" dirty="0">
                <a:solidFill>
                  <a:srgbClr val="2B2F38"/>
                </a:solidFill>
              </a:rPr>
              <a:t>WANT</a:t>
            </a:r>
            <a:r>
              <a:rPr lang="en-US" sz="1450" dirty="0">
                <a:solidFill>
                  <a:srgbClr val="2B2F38"/>
                </a:solidFill>
              </a:rPr>
              <a:t>.</a:t>
            </a:r>
            <a:endParaRPr lang="en-US" sz="1450" dirty="0"/>
          </a:p>
        </p:txBody>
      </p:sp>
      <p:sp>
        <p:nvSpPr>
          <p:cNvPr id="25" name="Shape 20"/>
          <p:cNvSpPr/>
          <p:nvPr/>
        </p:nvSpPr>
        <p:spPr>
          <a:xfrm>
            <a:off x="3246120" y="5440680"/>
            <a:ext cx="6858000" cy="822960"/>
          </a:xfrm>
          <a:prstGeom prst="roundRect">
            <a:avLst>
              <a:gd name="adj" fmla="val 17778"/>
            </a:avLst>
          </a:prstGeom>
          <a:solidFill>
            <a:srgbClr val="EAF5EC"/>
          </a:solidFill>
          <a:ln w="15875">
            <a:solidFill>
              <a:srgbClr val="5FA873"/>
            </a:solidFill>
            <a:prstDash val="solid"/>
          </a:ln>
        </p:spPr>
      </p:sp>
      <p:pic>
        <p:nvPicPr>
          <p:cNvPr id="26" name="Image 2" descr="UserFriends">    </p:cNvPr>
          <p:cNvPicPr>
            <a:picLocks noChangeAspect="1"/>
          </p:cNvPicPr>
          <p:nvPr/>
        </p:nvPicPr>
        <p:blipFill>
          <a:blip r:embed="rId3"/>
          <a:stretch>
            <a:fillRect/>
          </a:stretch>
        </p:blipFill>
        <p:spPr>
          <a:xfrm>
            <a:off x="3520440" y="5660136"/>
            <a:ext cx="384048" cy="384048"/>
          </a:xfrm>
          <a:prstGeom prst="rect">
            <a:avLst/>
          </a:prstGeom>
        </p:spPr>
      </p:pic>
      <p:sp>
        <p:nvSpPr>
          <p:cNvPr id="27" name="Text 21"/>
          <p:cNvSpPr txBox="1"/>
          <p:nvPr/>
        </p:nvSpPr>
        <p:spPr>
          <a:xfrm>
            <a:off x="4114800" y="5440680"/>
            <a:ext cx="5852160" cy="822960"/>
          </a:xfrm>
          <a:prstGeom prst="rect">
            <a:avLst/>
          </a:prstGeom>
          <a:noFill/>
          <a:ln/>
        </p:spPr>
        <p:txBody>
          <a:bodyPr wrap="square" lIns="0" tIns="0" rIns="0" bIns="0" rtlCol="0" anchor="ctr"/>
          <a:lstStyle/>
          <a:p>
            <a:pPr algn="ctr" indent="0" marL="0">
              <a:buNone/>
            </a:pPr>
            <a:r>
              <a:rPr lang="en-US" sz="1800" b="1" dirty="0">
                <a:solidFill>
                  <a:srgbClr val="2E6B44"/>
                </a:solidFill>
                <a:latin typeface="Calibri" pitchFamily="34" charset="0"/>
                <a:ea typeface="Calibri" pitchFamily="34" charset="-122"/>
                <a:cs typeface="Calibri" pitchFamily="34" charset="-120"/>
              </a:rPr>
              <a:t>Vertel je verhaal aan je partner.</a:t>
            </a:r>
            <a:endParaRPr lang="en-US" sz="1800" dirty="0"/>
          </a:p>
          <a:p>
            <a:pPr algn="ctr" indent="0" marL="0">
              <a:buNone/>
            </a:pPr>
            <a:r>
              <a:rPr lang="en-US" sz="1800" b="1" dirty="0">
                <a:solidFill>
                  <a:srgbClr val="2E6B44"/>
                </a:solidFill>
                <a:latin typeface="Calibri" pitchFamily="34" charset="0"/>
                <a:ea typeface="Calibri" pitchFamily="34" charset="-122"/>
                <a:cs typeface="Calibri" pitchFamily="34" charset="-120"/>
              </a:rPr>
              <a:t>Wat denkt hij/zij daarvan?</a:t>
            </a:r>
            <a:endParaRPr lang="en-US" sz="1800" dirty="0"/>
          </a:p>
        </p:txBody>
      </p:sp>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110</a:t>
            </a:fld>
            <a:endParaRPr lang="en-US"/>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spTree>
      <p:nvGrpSpPr>
        <p:cNvPr id="1" name=""/>
        <p:cNvGrpSpPr/>
        <p:nvPr/>
      </p:nvGrpSpPr>
      <p:grpSpPr>
        <a:xfrm>
          <a:off x="0" y="0"/>
          <a:ext cx="0" cy="0"/>
          <a:chOff x="0" y="0"/>
          <a:chExt cx="0" cy="0"/>
        </a:xfrm>
      </p:grpSpPr>
      <p:sp>
        <p:nvSpPr>
          <p:cNvPr id="2" name="Text 1"/>
          <p:cNvSpPr/>
          <p:nvPr>
            <p:ph idx="101" type="title" hasCustomPrompt="1"/>
          </p:nvPr>
        </p:nvSpPr>
        <p:spPr>
          <a:xfrm>
            <a:off x="1554480" y="384048"/>
            <a:ext cx="10241280" cy="658368"/>
          </a:xfrm>
          <a:prstGeom prst="rect">
            <a:avLst/>
          </a:prstGeom>
          <a:noFill/>
          <a:ln/>
        </p:spPr>
        <p:txBody>
          <a:bodyPr wrap="square" lIns="0" tIns="0" rIns="0" bIns="0" rtlCol="0" anchor="ctr"/>
          <a:lstStyle/>
          <a:p>
            <a:pPr algn="ctr" indent="0" marL="0">
              <a:buNone/>
            </a:pPr>
            <a:r>
              <a:rPr lang="en-US" sz="3000" b="1" dirty="0">
                <a:solidFill>
                  <a:srgbClr val="2B2F38"/>
                </a:solidFill>
              </a:rPr>
              <a:t>Karaoke!</a:t>
            </a:r>
            <a:endParaRPr lang="en-US" sz="3000" dirty="0"/>
          </a:p>
        </p:txBody>
      </p:sp>
      <p:sp>
        <p:nvSpPr>
          <p:cNvPr id="4" name="Shape 1"/>
          <p:cNvSpPr/>
          <p:nvPr/>
        </p:nvSpPr>
        <p:spPr>
          <a:xfrm>
            <a:off x="365760" y="365760"/>
            <a:ext cx="868680" cy="5989320"/>
          </a:xfrm>
          <a:prstGeom prst="roundRect">
            <a:avLst>
              <a:gd name="adj" fmla="val 12632"/>
            </a:avLst>
          </a:prstGeom>
          <a:solidFill>
            <a:srgbClr val="FDF1E4"/>
          </a:solidFill>
          <a:ln w="28575">
            <a:solidFill>
              <a:srgbClr val="F0A15E"/>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B9661F"/>
                </a:solidFill>
                <a:latin typeface="Calibri" pitchFamily="34" charset="0"/>
                <a:ea typeface="Calibri" pitchFamily="34" charset="-122"/>
                <a:cs typeface="Calibri" pitchFamily="34" charset="-120"/>
              </a:rPr>
              <a:t>A1 · Vocabulaire</a:t>
            </a:r>
            <a:endParaRPr lang="en-US" sz="3800" dirty="0"/>
          </a:p>
        </p:txBody>
      </p:sp>
      <p:sp>
        <p:nvSpPr>
          <p:cNvPr id="6" name="Shape 3"/>
          <p:cNvSpPr/>
          <p:nvPr/>
        </p:nvSpPr>
        <p:spPr>
          <a:xfrm>
            <a:off x="2519172" y="1124712"/>
            <a:ext cx="8311896" cy="5277231"/>
          </a:xfrm>
          <a:prstGeom prst="roundRect">
            <a:avLst>
              <a:gd name="adj" fmla="val 693"/>
            </a:avLst>
          </a:prstGeom>
          <a:solidFill>
            <a:srgbClr val="FFFFFF"/>
          </a:solidFill>
          <a:ln w="9525">
            <a:solidFill>
              <a:srgbClr val="E3E7EE"/>
            </a:solidFill>
            <a:prstDash val="solid"/>
          </a:ln>
          <a:effectLst>
            <a:outerShdw sx="100000" sy="100000" kx="0" ky="0" algn="bl" rotWithShape="0" blurRad="177800" dist="63500" dir="5400000">
              <a:srgbClr val="1B2430">
                <a:alpha val="25000"/>
              </a:srgbClr>
            </a:outerShdw>
          </a:effectLst>
        </p:spPr>
      </p:sp>
      <p:pic>
        <p:nvPicPr>
          <p:cNvPr id="7" name="Image 0" descr="/home/user/talenleren/neerlandais1/generateur/img/vijfzinnen/a1_karaoke.jpg">    </p:cNvPr>
          <p:cNvPicPr>
            <a:picLocks noChangeAspect="1"/>
          </p:cNvPicPr>
          <p:nvPr/>
        </p:nvPicPr>
        <p:blipFill>
          <a:blip r:embed="rId1"/>
          <a:stretch>
            <a:fillRect/>
          </a:stretch>
        </p:blipFill>
        <p:spPr>
          <a:xfrm>
            <a:off x="2628900" y="1234440"/>
            <a:ext cx="8092440" cy="5057775"/>
          </a:xfrm>
          <a:prstGeom prst="rect">
            <a:avLst/>
          </a:prstGeom>
        </p:spPr>
      </p:pic>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111</a:t>
            </a:fld>
            <a:endParaRPr lang="en-US"/>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spTree>
      <p:nvGrpSpPr>
        <p:cNvPr id="1" name=""/>
        <p:cNvGrpSpPr/>
        <p:nvPr/>
      </p:nvGrpSpPr>
      <p:grpSpPr>
        <a:xfrm>
          <a:off x="0" y="0"/>
          <a:ext cx="0" cy="0"/>
          <a:chOff x="0" y="0"/>
          <a:chExt cx="0" cy="0"/>
        </a:xfrm>
      </p:grpSpPr>
      <p:sp>
        <p:nvSpPr>
          <p:cNvPr id="2" name="Text 1"/>
          <p:cNvSpPr/>
          <p:nvPr>
            <p:ph idx="101" type="title" hasCustomPrompt="1"/>
          </p:nvPr>
        </p:nvSpPr>
        <p:spPr>
          <a:xfrm>
            <a:off x="1691640" y="347472"/>
            <a:ext cx="8138160" cy="914400"/>
          </a:xfrm>
          <a:prstGeom prst="rect">
            <a:avLst/>
          </a:prstGeom>
          <a:noFill/>
          <a:ln/>
        </p:spPr>
        <p:txBody>
          <a:bodyPr wrap="square" lIns="0" tIns="0" rIns="0" bIns="0" rtlCol="0" anchor="ctr"/>
          <a:lstStyle/>
          <a:p>
            <a:pPr algn="l" indent="0" marL="0">
              <a:buNone/>
            </a:pPr>
            <a:r>
              <a:rPr lang="en-US" sz="2400" b="1" dirty="0">
                <a:solidFill>
                  <a:srgbClr val="2B2F38"/>
                </a:solidFill>
              </a:rPr>
              <a:t>Hier is een voorbeeld van wat je had kunnen denken en zeggen…</a:t>
            </a:r>
            <a:endParaRPr lang="en-US" sz="2400" dirty="0"/>
          </a:p>
        </p:txBody>
      </p:sp>
      <p:sp>
        <p:nvSpPr>
          <p:cNvPr id="4" name="Shape 1"/>
          <p:cNvSpPr/>
          <p:nvPr/>
        </p:nvSpPr>
        <p:spPr>
          <a:xfrm>
            <a:off x="365760" y="365760"/>
            <a:ext cx="868680" cy="5989320"/>
          </a:xfrm>
          <a:prstGeom prst="roundRect">
            <a:avLst>
              <a:gd name="adj" fmla="val 12632"/>
            </a:avLst>
          </a:prstGeom>
          <a:solidFill>
            <a:srgbClr val="FDF1E4"/>
          </a:solidFill>
          <a:ln w="28575">
            <a:solidFill>
              <a:srgbClr val="F0A15E"/>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B9661F"/>
                </a:solidFill>
                <a:latin typeface="Calibri" pitchFamily="34" charset="0"/>
                <a:ea typeface="Calibri" pitchFamily="34" charset="-122"/>
                <a:cs typeface="Calibri" pitchFamily="34" charset="-120"/>
              </a:rPr>
              <a:t>A1 · Vocabulaire</a:t>
            </a:r>
            <a:endParaRPr lang="en-US" sz="3800" dirty="0"/>
          </a:p>
        </p:txBody>
      </p:sp>
      <p:sp>
        <p:nvSpPr>
          <p:cNvPr id="6" name="Shape 3"/>
          <p:cNvSpPr/>
          <p:nvPr/>
        </p:nvSpPr>
        <p:spPr>
          <a:xfrm>
            <a:off x="10058400" y="246888"/>
            <a:ext cx="1691640" cy="1091565"/>
          </a:xfrm>
          <a:prstGeom prst="roundRect">
            <a:avLst>
              <a:gd name="adj" fmla="val 3351"/>
            </a:avLst>
          </a:prstGeom>
          <a:solidFill>
            <a:srgbClr val="FFFFFF"/>
          </a:solidFill>
          <a:ln w="9525">
            <a:solidFill>
              <a:srgbClr val="E3E7EE"/>
            </a:solidFill>
            <a:prstDash val="solid"/>
          </a:ln>
          <a:effectLst>
            <a:outerShdw sx="100000" sy="100000" kx="0" ky="0" algn="bl" rotWithShape="0" blurRad="76200" dist="25400" dir="5400000">
              <a:srgbClr val="1B2430">
                <a:alpha val="25000"/>
              </a:srgbClr>
            </a:outerShdw>
          </a:effectLst>
        </p:spPr>
      </p:sp>
      <p:pic>
        <p:nvPicPr>
          <p:cNvPr id="7" name="Image 0" descr="/home/user/talenleren/neerlandais1/generateur/img/vijfzinnen/a1_karaoke_s.jpg">    </p:cNvPr>
          <p:cNvPicPr>
            <a:picLocks noChangeAspect="1"/>
          </p:cNvPicPr>
          <p:nvPr/>
        </p:nvPicPr>
        <p:blipFill>
          <a:blip r:embed="rId1"/>
          <a:stretch>
            <a:fillRect/>
          </a:stretch>
        </p:blipFill>
        <p:spPr>
          <a:xfrm>
            <a:off x="10104120" y="292608"/>
            <a:ext cx="1600200" cy="1000125"/>
          </a:xfrm>
          <a:prstGeom prst="rect">
            <a:avLst/>
          </a:prstGeom>
        </p:spPr>
      </p:pic>
      <p:sp>
        <p:nvSpPr>
          <p:cNvPr id="8" name="Shape 4"/>
          <p:cNvSpPr/>
          <p:nvPr/>
        </p:nvSpPr>
        <p:spPr>
          <a:xfrm>
            <a:off x="1691640" y="2779166"/>
            <a:ext cx="3948379" cy="371856"/>
          </a:xfrm>
          <a:prstGeom prst="roundRect">
            <a:avLst>
              <a:gd name="adj" fmla="val 12295"/>
            </a:avLst>
          </a:prstGeom>
          <a:solidFill>
            <a:srgbClr val="E6F3DA"/>
          </a:solidFill>
          <a:ln w="12700">
            <a:solidFill>
              <a:srgbClr val="FFFFFF">
                <a:alpha val="0"/>
              </a:srgbClr>
            </a:solidFill>
            <a:prstDash val="solid"/>
          </a:ln>
        </p:spPr>
      </p:sp>
      <p:sp>
        <p:nvSpPr>
          <p:cNvPr id="9" name="Text 5"/>
          <p:cNvSpPr txBox="1"/>
          <p:nvPr/>
        </p:nvSpPr>
        <p:spPr>
          <a:xfrm>
            <a:off x="1691640" y="2766974"/>
            <a:ext cx="3948379"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Ik ben een beetje zenuwachtig</a:t>
            </a:r>
            <a:endParaRPr lang="en-US" sz="2400" dirty="0"/>
          </a:p>
        </p:txBody>
      </p:sp>
      <p:sp>
        <p:nvSpPr>
          <p:cNvPr id="10" name="Text 6"/>
          <p:cNvSpPr txBox="1"/>
          <p:nvPr/>
        </p:nvSpPr>
        <p:spPr>
          <a:xfrm>
            <a:off x="5640019" y="2766974"/>
            <a:ext cx="1412443"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 Dansen?</a:t>
            </a:r>
            <a:endParaRPr lang="en-US" sz="2400" dirty="0"/>
          </a:p>
        </p:txBody>
      </p:sp>
      <p:sp>
        <p:nvSpPr>
          <p:cNvPr id="11" name="Shape 7"/>
          <p:cNvSpPr/>
          <p:nvPr/>
        </p:nvSpPr>
        <p:spPr>
          <a:xfrm>
            <a:off x="6956755" y="2779166"/>
            <a:ext cx="2033321" cy="371856"/>
          </a:xfrm>
          <a:prstGeom prst="roundRect">
            <a:avLst>
              <a:gd name="adj" fmla="val 12295"/>
            </a:avLst>
          </a:prstGeom>
          <a:solidFill>
            <a:srgbClr val="E6F3DA"/>
          </a:solidFill>
          <a:ln w="12700">
            <a:solidFill>
              <a:srgbClr val="FFFFFF">
                <a:alpha val="0"/>
              </a:srgbClr>
            </a:solidFill>
            <a:prstDash val="solid"/>
          </a:ln>
        </p:spPr>
      </p:sp>
      <p:sp>
        <p:nvSpPr>
          <p:cNvPr id="12" name="Text 8"/>
          <p:cNvSpPr txBox="1"/>
          <p:nvPr/>
        </p:nvSpPr>
        <p:spPr>
          <a:xfrm>
            <a:off x="6956755" y="2766974"/>
            <a:ext cx="2033321"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Ik vind het leuk</a:t>
            </a:r>
            <a:endParaRPr lang="en-US" sz="2400" dirty="0"/>
          </a:p>
        </p:txBody>
      </p:sp>
      <p:sp>
        <p:nvSpPr>
          <p:cNvPr id="13" name="Text 9"/>
          <p:cNvSpPr txBox="1"/>
          <p:nvPr/>
        </p:nvSpPr>
        <p:spPr>
          <a:xfrm>
            <a:off x="8990076" y="2766974"/>
            <a:ext cx="1338682"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 Zingen?</a:t>
            </a:r>
            <a:endParaRPr lang="en-US" sz="2400" dirty="0"/>
          </a:p>
        </p:txBody>
      </p:sp>
      <p:sp>
        <p:nvSpPr>
          <p:cNvPr id="14" name="Shape 10"/>
          <p:cNvSpPr/>
          <p:nvPr/>
        </p:nvSpPr>
        <p:spPr>
          <a:xfrm>
            <a:off x="3665830" y="2702966"/>
            <a:ext cx="914" cy="76200"/>
          </a:xfrm>
          <a:prstGeom prst="line">
            <a:avLst/>
          </a:prstGeom>
          <a:noFill/>
          <a:ln w="15875">
            <a:solidFill>
              <a:srgbClr val="7AB648"/>
            </a:solidFill>
            <a:prstDash val="solid"/>
          </a:ln>
        </p:spPr>
      </p:sp>
      <p:sp>
        <p:nvSpPr>
          <p:cNvPr id="15" name="Shape 11"/>
          <p:cNvSpPr/>
          <p:nvPr/>
        </p:nvSpPr>
        <p:spPr>
          <a:xfrm>
            <a:off x="3189319" y="2456078"/>
            <a:ext cx="953021" cy="246888"/>
          </a:xfrm>
          <a:prstGeom prst="roundRect">
            <a:avLst>
              <a:gd name="adj" fmla="val 14815"/>
            </a:avLst>
          </a:prstGeom>
          <a:solidFill>
            <a:srgbClr val="7AB648"/>
          </a:solidFill>
          <a:ln w="12700">
            <a:solidFill>
              <a:srgbClr val="FFFFFF">
                <a:alpha val="0"/>
              </a:srgbClr>
            </a:solidFill>
            <a:prstDash val="solid"/>
          </a:ln>
        </p:spPr>
      </p:sp>
      <p:sp>
        <p:nvSpPr>
          <p:cNvPr id="16" name="Text 12"/>
          <p:cNvSpPr txBox="1"/>
          <p:nvPr/>
        </p:nvSpPr>
        <p:spPr>
          <a:xfrm>
            <a:off x="3189319" y="2456078"/>
            <a:ext cx="953021"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IK BEN + adj.</a:t>
            </a:r>
            <a:endParaRPr lang="en-US" sz="1100" dirty="0"/>
          </a:p>
        </p:txBody>
      </p:sp>
      <p:sp>
        <p:nvSpPr>
          <p:cNvPr id="17" name="Shape 13"/>
          <p:cNvSpPr/>
          <p:nvPr/>
        </p:nvSpPr>
        <p:spPr>
          <a:xfrm>
            <a:off x="7973416" y="2702966"/>
            <a:ext cx="914" cy="76200"/>
          </a:xfrm>
          <a:prstGeom prst="line">
            <a:avLst/>
          </a:prstGeom>
          <a:noFill/>
          <a:ln w="15875">
            <a:solidFill>
              <a:srgbClr val="7AB648"/>
            </a:solidFill>
            <a:prstDash val="solid"/>
          </a:ln>
        </p:spPr>
      </p:sp>
      <p:sp>
        <p:nvSpPr>
          <p:cNvPr id="18" name="Shape 14"/>
          <p:cNvSpPr/>
          <p:nvPr/>
        </p:nvSpPr>
        <p:spPr>
          <a:xfrm>
            <a:off x="7716234" y="2456078"/>
            <a:ext cx="514363" cy="246888"/>
          </a:xfrm>
          <a:prstGeom prst="roundRect">
            <a:avLst>
              <a:gd name="adj" fmla="val 14815"/>
            </a:avLst>
          </a:prstGeom>
          <a:solidFill>
            <a:srgbClr val="7AB648"/>
          </a:solidFill>
          <a:ln w="12700">
            <a:solidFill>
              <a:srgbClr val="FFFFFF">
                <a:alpha val="0"/>
              </a:srgbClr>
            </a:solidFill>
            <a:prstDash val="solid"/>
          </a:ln>
        </p:spPr>
      </p:sp>
      <p:sp>
        <p:nvSpPr>
          <p:cNvPr id="19" name="Text 15"/>
          <p:cNvSpPr txBox="1"/>
          <p:nvPr/>
        </p:nvSpPr>
        <p:spPr>
          <a:xfrm>
            <a:off x="7716234" y="2456078"/>
            <a:ext cx="514363"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LEUK</a:t>
            </a:r>
            <a:endParaRPr lang="en-US" sz="1100" dirty="0"/>
          </a:p>
        </p:txBody>
      </p:sp>
      <p:sp>
        <p:nvSpPr>
          <p:cNvPr id="20" name="Shape 16"/>
          <p:cNvSpPr/>
          <p:nvPr/>
        </p:nvSpPr>
        <p:spPr>
          <a:xfrm>
            <a:off x="1691640" y="3632606"/>
            <a:ext cx="2599944" cy="371856"/>
          </a:xfrm>
          <a:prstGeom prst="roundRect">
            <a:avLst>
              <a:gd name="adj" fmla="val 12295"/>
            </a:avLst>
          </a:prstGeom>
          <a:solidFill>
            <a:srgbClr val="E6F3DA"/>
          </a:solidFill>
          <a:ln w="12700">
            <a:solidFill>
              <a:srgbClr val="FFFFFF">
                <a:alpha val="0"/>
              </a:srgbClr>
            </a:solidFill>
            <a:prstDash val="solid"/>
          </a:ln>
        </p:spPr>
      </p:sp>
      <p:sp>
        <p:nvSpPr>
          <p:cNvPr id="21" name="Text 17"/>
          <p:cNvSpPr txBox="1"/>
          <p:nvPr/>
        </p:nvSpPr>
        <p:spPr>
          <a:xfrm>
            <a:off x="1691640" y="3620414"/>
            <a:ext cx="2599944"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Ik vind het niet leuk</a:t>
            </a:r>
            <a:endParaRPr lang="en-US" sz="2400" dirty="0"/>
          </a:p>
        </p:txBody>
      </p:sp>
      <p:sp>
        <p:nvSpPr>
          <p:cNvPr id="22" name="Text 18"/>
          <p:cNvSpPr txBox="1"/>
          <p:nvPr/>
        </p:nvSpPr>
        <p:spPr>
          <a:xfrm>
            <a:off x="4291584" y="3620414"/>
            <a:ext cx="393192"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a:t>
            </a:r>
            <a:endParaRPr lang="en-US" sz="2400" dirty="0"/>
          </a:p>
        </p:txBody>
      </p:sp>
      <p:sp>
        <p:nvSpPr>
          <p:cNvPr id="23" name="Shape 19"/>
          <p:cNvSpPr/>
          <p:nvPr/>
        </p:nvSpPr>
        <p:spPr>
          <a:xfrm>
            <a:off x="2991612" y="3556406"/>
            <a:ext cx="914" cy="76200"/>
          </a:xfrm>
          <a:prstGeom prst="line">
            <a:avLst/>
          </a:prstGeom>
          <a:noFill/>
          <a:ln w="15875">
            <a:solidFill>
              <a:srgbClr val="7AB648"/>
            </a:solidFill>
            <a:prstDash val="solid"/>
          </a:ln>
        </p:spPr>
      </p:sp>
      <p:sp>
        <p:nvSpPr>
          <p:cNvPr id="24" name="Shape 20"/>
          <p:cNvSpPr/>
          <p:nvPr/>
        </p:nvSpPr>
        <p:spPr>
          <a:xfrm>
            <a:off x="2585301" y="3309518"/>
            <a:ext cx="812622" cy="246888"/>
          </a:xfrm>
          <a:prstGeom prst="roundRect">
            <a:avLst>
              <a:gd name="adj" fmla="val 14815"/>
            </a:avLst>
          </a:prstGeom>
          <a:solidFill>
            <a:srgbClr val="7AB648"/>
          </a:solidFill>
          <a:ln w="12700">
            <a:solidFill>
              <a:srgbClr val="FFFFFF">
                <a:alpha val="0"/>
              </a:srgbClr>
            </a:solidFill>
            <a:prstDash val="solid"/>
          </a:ln>
        </p:spPr>
      </p:sp>
      <p:sp>
        <p:nvSpPr>
          <p:cNvPr id="25" name="Text 21"/>
          <p:cNvSpPr txBox="1"/>
          <p:nvPr/>
        </p:nvSpPr>
        <p:spPr>
          <a:xfrm>
            <a:off x="2585301" y="3309518"/>
            <a:ext cx="812622"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NIET LEUK</a:t>
            </a:r>
            <a:endParaRPr lang="en-US" sz="1100" dirty="0"/>
          </a:p>
        </p:txBody>
      </p:sp>
      <p:sp>
        <p:nvSpPr>
          <p:cNvPr id="26" name="Text 22"/>
          <p:cNvSpPr txBox="1"/>
          <p:nvPr/>
        </p:nvSpPr>
        <p:spPr>
          <a:xfrm>
            <a:off x="3769919" y="4675022"/>
            <a:ext cx="2434133"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Maar ik zing toch,</a:t>
            </a:r>
            <a:endParaRPr lang="en-US" sz="2400" dirty="0"/>
          </a:p>
        </p:txBody>
      </p:sp>
      <p:sp>
        <p:nvSpPr>
          <p:cNvPr id="27" name="Shape 23"/>
          <p:cNvSpPr/>
          <p:nvPr/>
        </p:nvSpPr>
        <p:spPr>
          <a:xfrm>
            <a:off x="6108344" y="4687214"/>
            <a:ext cx="3418332" cy="371856"/>
          </a:xfrm>
          <a:prstGeom prst="roundRect">
            <a:avLst>
              <a:gd name="adj" fmla="val 12295"/>
            </a:avLst>
          </a:prstGeom>
          <a:solidFill>
            <a:srgbClr val="E6F3DA"/>
          </a:solidFill>
          <a:ln w="12700">
            <a:solidFill>
              <a:srgbClr val="FFFFFF">
                <a:alpha val="0"/>
              </a:srgbClr>
            </a:solidFill>
            <a:prstDash val="solid"/>
          </a:ln>
        </p:spPr>
      </p:sp>
      <p:sp>
        <p:nvSpPr>
          <p:cNvPr id="28" name="Text 24"/>
          <p:cNvSpPr txBox="1"/>
          <p:nvPr/>
        </p:nvSpPr>
        <p:spPr>
          <a:xfrm>
            <a:off x="6108344" y="4675022"/>
            <a:ext cx="3418332"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want Pieter zingt heel vals</a:t>
            </a:r>
            <a:endParaRPr lang="en-US" sz="2400" dirty="0"/>
          </a:p>
        </p:txBody>
      </p:sp>
      <p:sp>
        <p:nvSpPr>
          <p:cNvPr id="29" name="Text 25"/>
          <p:cNvSpPr txBox="1"/>
          <p:nvPr/>
        </p:nvSpPr>
        <p:spPr>
          <a:xfrm>
            <a:off x="9526676" y="4675022"/>
            <a:ext cx="282245"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a:t>
            </a:r>
            <a:endParaRPr lang="en-US" sz="2400" dirty="0"/>
          </a:p>
        </p:txBody>
      </p:sp>
      <p:sp>
        <p:nvSpPr>
          <p:cNvPr id="30" name="Shape 26"/>
          <p:cNvSpPr/>
          <p:nvPr/>
        </p:nvSpPr>
        <p:spPr>
          <a:xfrm>
            <a:off x="7817510" y="4611014"/>
            <a:ext cx="914" cy="76200"/>
          </a:xfrm>
          <a:prstGeom prst="line">
            <a:avLst/>
          </a:prstGeom>
          <a:noFill/>
          <a:ln w="15875">
            <a:solidFill>
              <a:srgbClr val="7AB648"/>
            </a:solidFill>
            <a:prstDash val="solid"/>
          </a:ln>
        </p:spPr>
      </p:sp>
      <p:sp>
        <p:nvSpPr>
          <p:cNvPr id="31" name="Shape 27"/>
          <p:cNvSpPr/>
          <p:nvPr/>
        </p:nvSpPr>
        <p:spPr>
          <a:xfrm>
            <a:off x="7521562" y="4364126"/>
            <a:ext cx="591896" cy="246888"/>
          </a:xfrm>
          <a:prstGeom prst="roundRect">
            <a:avLst>
              <a:gd name="adj" fmla="val 14815"/>
            </a:avLst>
          </a:prstGeom>
          <a:solidFill>
            <a:srgbClr val="7AB648"/>
          </a:solidFill>
          <a:ln w="12700">
            <a:solidFill>
              <a:srgbClr val="FFFFFF">
                <a:alpha val="0"/>
              </a:srgbClr>
            </a:solidFill>
            <a:prstDash val="solid"/>
          </a:ln>
        </p:spPr>
      </p:sp>
      <p:sp>
        <p:nvSpPr>
          <p:cNvPr id="32" name="Text 28"/>
          <p:cNvSpPr txBox="1"/>
          <p:nvPr/>
        </p:nvSpPr>
        <p:spPr>
          <a:xfrm>
            <a:off x="7521562" y="4364126"/>
            <a:ext cx="591896"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WANT</a:t>
            </a:r>
            <a:endParaRPr lang="en-US" sz="1100" dirty="0"/>
          </a:p>
        </p:txBody>
      </p:sp>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112</a:t>
            </a:fld>
            <a:endParaRPr lang="en-US"/>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spTree>
      <p:nvGrpSpPr>
        <p:cNvPr id="1" name=""/>
        <p:cNvGrpSpPr/>
        <p:nvPr/>
      </p:nvGrpSpPr>
      <p:grpSpPr>
        <a:xfrm>
          <a:off x="0" y="0"/>
          <a:ext cx="0" cy="0"/>
          <a:chOff x="0" y="0"/>
          <a:chExt cx="0" cy="0"/>
        </a:xfrm>
      </p:grpSpPr>
      <p:sp>
        <p:nvSpPr>
          <p:cNvPr id="2" name="Text 1"/>
          <p:cNvSpPr/>
          <p:nvPr>
            <p:ph idx="101" type="title" hasCustomPrompt="1"/>
          </p:nvPr>
        </p:nvSpPr>
        <p:spPr>
          <a:xfrm>
            <a:off x="1554480" y="384048"/>
            <a:ext cx="10241280" cy="658368"/>
          </a:xfrm>
          <a:prstGeom prst="rect">
            <a:avLst/>
          </a:prstGeom>
          <a:noFill/>
          <a:ln/>
        </p:spPr>
        <p:txBody>
          <a:bodyPr wrap="square" lIns="0" tIns="0" rIns="0" bIns="0" rtlCol="0" anchor="ctr"/>
          <a:lstStyle/>
          <a:p>
            <a:pPr algn="ctr" indent="0" marL="0">
              <a:buNone/>
            </a:pPr>
            <a:r>
              <a:rPr lang="en-US" sz="3000" b="1" dirty="0">
                <a:solidFill>
                  <a:srgbClr val="2B2F38"/>
                </a:solidFill>
              </a:rPr>
              <a:t>Mises en situation · jalon A1</a:t>
            </a:r>
            <a:endParaRPr lang="en-US" sz="3000" dirty="0"/>
          </a:p>
        </p:txBody>
      </p:sp>
      <p:sp>
        <p:nvSpPr>
          <p:cNvPr id="4" name="Shape 1"/>
          <p:cNvSpPr/>
          <p:nvPr/>
        </p:nvSpPr>
        <p:spPr>
          <a:xfrm>
            <a:off x="365760" y="365760"/>
            <a:ext cx="868680" cy="5989320"/>
          </a:xfrm>
          <a:prstGeom prst="roundRect">
            <a:avLst>
              <a:gd name="adj" fmla="val 12632"/>
            </a:avLst>
          </a:prstGeom>
          <a:solidFill>
            <a:srgbClr val="F4E8F6"/>
          </a:solidFill>
          <a:ln w="28575">
            <a:solidFill>
              <a:srgbClr val="B57FCB"/>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7E4C97"/>
                </a:solidFill>
                <a:latin typeface="Calibri" pitchFamily="34" charset="0"/>
                <a:ea typeface="Calibri" pitchFamily="34" charset="-122"/>
                <a:cs typeface="Calibri" pitchFamily="34" charset="-120"/>
              </a:rPr>
              <a:t>A1 · Situations</a:t>
            </a:r>
            <a:endParaRPr lang="en-US" sz="3800" dirty="0"/>
          </a:p>
        </p:txBody>
      </p:sp>
      <p:sp>
        <p:nvSpPr>
          <p:cNvPr id="6" name="Shape 3"/>
          <p:cNvSpPr/>
          <p:nvPr/>
        </p:nvSpPr>
        <p:spPr>
          <a:xfrm>
            <a:off x="1554480" y="1371600"/>
            <a:ext cx="3017520" cy="4892040"/>
          </a:xfrm>
          <a:prstGeom prst="roundRect">
            <a:avLst>
              <a:gd name="adj" fmla="val 3636"/>
            </a:avLst>
          </a:prstGeom>
          <a:solidFill>
            <a:srgbClr val="F4E8F6"/>
          </a:solidFill>
          <a:ln w="15875">
            <a:solidFill>
              <a:srgbClr val="B57FCB"/>
            </a:solidFill>
            <a:prstDash val="solid"/>
          </a:ln>
        </p:spPr>
      </p:sp>
      <p:sp>
        <p:nvSpPr>
          <p:cNvPr id="7" name="Text 4"/>
          <p:cNvSpPr txBox="1"/>
          <p:nvPr/>
        </p:nvSpPr>
        <p:spPr>
          <a:xfrm>
            <a:off x="1737360" y="1481328"/>
            <a:ext cx="2743200" cy="411480"/>
          </a:xfrm>
          <a:prstGeom prst="rect">
            <a:avLst/>
          </a:prstGeom>
          <a:noFill/>
          <a:ln/>
        </p:spPr>
        <p:txBody>
          <a:bodyPr wrap="square" lIns="0" tIns="0" rIns="0" bIns="0" rtlCol="0" anchor="ctr"/>
          <a:lstStyle/>
          <a:p>
            <a:pPr algn="l" indent="0" marL="0">
              <a:buNone/>
            </a:pPr>
            <a:r>
              <a:rPr lang="en-US" sz="1600" b="1" dirty="0">
                <a:solidFill>
                  <a:srgbClr val="7E4C97"/>
                </a:solidFill>
                <a:latin typeface="Calibri" pitchFamily="34" charset="0"/>
                <a:ea typeface="Calibri" pitchFamily="34" charset="-122"/>
                <a:cs typeface="Calibri" pitchFamily="34" charset="-120"/>
              </a:rPr>
              <a:t>Ce qu’on travaille</a:t>
            </a:r>
            <a:endParaRPr lang="en-US" sz="1600" dirty="0"/>
          </a:p>
        </p:txBody>
      </p:sp>
      <p:sp>
        <p:nvSpPr>
          <p:cNvPr id="8" name="Text 5"/>
          <p:cNvSpPr txBox="1"/>
          <p:nvPr/>
        </p:nvSpPr>
        <p:spPr>
          <a:xfrm>
            <a:off x="1737360" y="1920240"/>
            <a:ext cx="2743200" cy="3749040"/>
          </a:xfrm>
          <a:prstGeom prst="rect">
            <a:avLst/>
          </a:prstGeom>
          <a:noFill/>
          <a:ln/>
        </p:spPr>
        <p:txBody>
          <a:bodyPr wrap="square" lIns="0" tIns="0" rIns="0" bIns="0" rtlCol="0" anchor="t"/>
          <a:lstStyle/>
          <a:p>
            <a:pPr algn="l" marL="177800" indent="-177800">
              <a:spcAft>
                <a:spcPts val="500"/>
              </a:spcAft>
              <a:buSzPct val="100000"/>
              <a:buChar char="•"/>
            </a:pPr>
            <a:r>
              <a:rPr lang="en-US" sz="1250" dirty="0">
                <a:solidFill>
                  <a:srgbClr val="2B2F38"/>
                </a:solidFill>
              </a:rPr>
              <a:t>poser des </a:t>
            </a:r>
            <a:r>
              <a:rPr lang="en-US" sz="1250" b="1" dirty="0">
                <a:solidFill>
                  <a:srgbClr val="2B2F38"/>
                </a:solidFill>
              </a:rPr>
              <a:t>questions simples</a:t>
            </a:r>
            <a:endParaRPr lang="en-US" sz="1250" dirty="0"/>
          </a:p>
          <a:p>
            <a:pPr algn="l" marL="177800" indent="-177800">
              <a:spcAft>
                <a:spcPts val="500"/>
              </a:spcAft>
              <a:buSzPct val="100000"/>
              <a:buChar char="•"/>
            </a:pPr>
            <a:r>
              <a:rPr lang="en-US" sz="1250" b="1" dirty="0">
                <a:solidFill>
                  <a:srgbClr val="2B2F38"/>
                </a:solidFill>
              </a:rPr>
              <a:t>ik zoek · ik wil · ik kan</a:t>
            </a:r>
            <a:endParaRPr lang="en-US" sz="1250" dirty="0"/>
          </a:p>
          <a:p>
            <a:pPr algn="l" marL="177800" indent="-177800">
              <a:spcAft>
                <a:spcPts val="500"/>
              </a:spcAft>
              <a:buSzPct val="100000"/>
              <a:buChar char="•"/>
            </a:pPr>
            <a:r>
              <a:rPr lang="en-US" sz="1250" dirty="0">
                <a:solidFill>
                  <a:srgbClr val="2B2F38"/>
                </a:solidFill>
              </a:rPr>
              <a:t>les </a:t>
            </a:r>
            <a:r>
              <a:rPr lang="en-US" sz="1250" b="1" dirty="0">
                <a:solidFill>
                  <a:srgbClr val="2B2F38"/>
                </a:solidFill>
              </a:rPr>
              <a:t>jours</a:t>
            </a:r>
            <a:r>
              <a:rPr lang="en-US" sz="1250" dirty="0">
                <a:solidFill>
                  <a:srgbClr val="2B2F38"/>
                </a:solidFill>
              </a:rPr>
              <a:t> et les </a:t>
            </a:r>
            <a:r>
              <a:rPr lang="en-US" sz="1250" b="1" dirty="0">
                <a:solidFill>
                  <a:srgbClr val="2B2F38"/>
                </a:solidFill>
              </a:rPr>
              <a:t>heures</a:t>
            </a:r>
            <a:endParaRPr lang="en-US" sz="1250" dirty="0"/>
          </a:p>
          <a:p>
            <a:pPr algn="l" marL="177800" indent="-177800">
              <a:spcAft>
                <a:spcPts val="500"/>
              </a:spcAft>
              <a:buSzPct val="100000"/>
              <a:buChar char="•"/>
            </a:pPr>
            <a:r>
              <a:rPr lang="en-US" sz="1250" dirty="0">
                <a:solidFill>
                  <a:srgbClr val="2B2F38"/>
                </a:solidFill>
              </a:rPr>
              <a:t>remplir un </a:t>
            </a:r>
            <a:r>
              <a:rPr lang="en-US" sz="1250" b="1" dirty="0">
                <a:solidFill>
                  <a:srgbClr val="2B2F38"/>
                </a:solidFill>
              </a:rPr>
              <a:t>formulaire</a:t>
            </a:r>
            <a:endParaRPr lang="en-US" sz="1250" dirty="0"/>
          </a:p>
          <a:p>
            <a:pPr algn="l" marL="177800" indent="-177800">
              <a:spcAft>
                <a:spcPts val="500"/>
              </a:spcAft>
              <a:buSzPct val="100000"/>
              <a:buChar char="•"/>
            </a:pPr>
            <a:r>
              <a:rPr lang="en-US" sz="1250" dirty="0">
                <a:solidFill>
                  <a:srgbClr val="2B2F38"/>
                </a:solidFill>
              </a:rPr>
              <a:t>se présenter </a:t>
            </a:r>
            <a:r>
              <a:rPr lang="en-US" sz="1250" b="1" dirty="0">
                <a:solidFill>
                  <a:srgbClr val="2B2F38"/>
                </a:solidFill>
              </a:rPr>
              <a:t>au travail</a:t>
            </a:r>
            <a:endParaRPr lang="en-US" sz="1250" dirty="0"/>
          </a:p>
          <a:p>
            <a:pPr algn="l" marL="177800" indent="-177800">
              <a:spcAft>
                <a:spcPts val="500"/>
              </a:spcAft>
              <a:buSzPct val="100000"/>
              <a:buChar char="•"/>
            </a:pPr>
            <a:r>
              <a:rPr lang="en-US" sz="1250" dirty="0">
                <a:solidFill>
                  <a:srgbClr val="2B2F38"/>
                </a:solidFill>
              </a:rPr>
              <a:t>dire </a:t>
            </a:r>
            <a:r>
              <a:rPr lang="en-US" sz="1250" b="1" dirty="0">
                <a:solidFill>
                  <a:srgbClr val="2B2F38"/>
                </a:solidFill>
              </a:rPr>
              <a:t>comment on va</a:t>
            </a:r>
            <a:endParaRPr lang="en-US" sz="1250" dirty="0"/>
          </a:p>
          <a:p>
            <a:pPr algn="l" marL="177800" indent="-177800">
              <a:spcAft>
                <a:spcPts val="500"/>
              </a:spcAft>
              <a:buSzPct val="100000"/>
              <a:buChar char="•"/>
            </a:pPr>
            <a:r>
              <a:rPr lang="en-US" sz="1250" dirty="0">
                <a:solidFill>
                  <a:srgbClr val="2B2F38"/>
                </a:solidFill>
              </a:rPr>
              <a:t>demander son </a:t>
            </a:r>
            <a:r>
              <a:rPr lang="en-US" sz="1250" b="1" dirty="0">
                <a:solidFill>
                  <a:srgbClr val="2B2F38"/>
                </a:solidFill>
              </a:rPr>
              <a:t>chemin</a:t>
            </a:r>
            <a:endParaRPr lang="en-US" sz="1250" dirty="0"/>
          </a:p>
          <a:p>
            <a:pPr algn="l" marL="177800" indent="-177800">
              <a:spcAft>
                <a:spcPts val="500"/>
              </a:spcAft>
              <a:buSzPct val="100000"/>
              <a:buChar char="•"/>
            </a:pPr>
            <a:r>
              <a:rPr lang="en-US" sz="1250" dirty="0">
                <a:solidFill>
                  <a:srgbClr val="2B2F38"/>
                </a:solidFill>
              </a:rPr>
              <a:t>parler d’un </a:t>
            </a:r>
            <a:r>
              <a:rPr lang="en-US" sz="1250" b="1" dirty="0">
                <a:solidFill>
                  <a:srgbClr val="2B2F38"/>
                </a:solidFill>
              </a:rPr>
              <a:t>examen</a:t>
            </a:r>
            <a:endParaRPr lang="en-US" sz="1250" dirty="0"/>
          </a:p>
        </p:txBody>
      </p:sp>
      <p:sp>
        <p:nvSpPr>
          <p:cNvPr id="9" name="Text 6"/>
          <p:cNvSpPr txBox="1"/>
          <p:nvPr/>
        </p:nvSpPr>
        <p:spPr>
          <a:xfrm>
            <a:off x="1737360" y="5760720"/>
            <a:ext cx="2743200" cy="365760"/>
          </a:xfrm>
          <a:prstGeom prst="rect">
            <a:avLst/>
          </a:prstGeom>
          <a:noFill/>
          <a:ln/>
        </p:spPr>
        <p:txBody>
          <a:bodyPr wrap="square" lIns="0" tIns="0" rIns="0" bIns="0" rtlCol="0" anchor="ctr"/>
          <a:lstStyle/>
          <a:p>
            <a:pPr algn="l" indent="0" marL="0">
              <a:buNone/>
            </a:pPr>
            <a:r>
              <a:rPr lang="en-US" sz="1100" i="1" dirty="0">
                <a:solidFill>
                  <a:srgbClr val="7E4C97"/>
                </a:solidFill>
                <a:latin typeface="Calibri" pitchFamily="34" charset="0"/>
                <a:ea typeface="Calibri" pitchFamily="34" charset="-122"/>
                <a:cs typeface="Calibri" pitchFamily="34" charset="-120"/>
              </a:rPr>
              <a:t>syllabus, section 4 · p. 92 – 100</a:t>
            </a:r>
            <a:endParaRPr lang="en-US" sz="1100" dirty="0"/>
          </a:p>
        </p:txBody>
      </p:sp>
      <p:sp>
        <p:nvSpPr>
          <p:cNvPr id="10" name="Shape 7"/>
          <p:cNvSpPr/>
          <p:nvPr/>
        </p:nvSpPr>
        <p:spPr>
          <a:xfrm>
            <a:off x="4809744" y="1695498"/>
            <a:ext cx="1707642" cy="1094708"/>
          </a:xfrm>
          <a:prstGeom prst="roundRect">
            <a:avLst>
              <a:gd name="adj" fmla="val 3341"/>
            </a:avLst>
          </a:prstGeom>
          <a:solidFill>
            <a:srgbClr val="FFFFFF"/>
          </a:solidFill>
          <a:ln w="9525">
            <a:solidFill>
              <a:srgbClr val="E3E7EE"/>
            </a:solidFill>
            <a:prstDash val="solid"/>
          </a:ln>
          <a:effectLst>
            <a:outerShdw sx="100000" sy="100000" kx="0" ky="0" algn="bl" rotWithShape="0" blurRad="63500" dist="25400" dir="5400000">
              <a:srgbClr val="1B2430">
                <a:alpha val="25000"/>
              </a:srgbClr>
            </a:outerShdw>
          </a:effectLst>
        </p:spPr>
      </p:sp>
      <p:pic>
        <p:nvPicPr>
          <p:cNvPr id="11" name="Image 0" descr="/home/user/talenleren/neerlandais1/generateur/img/vijfzinnen/a1_uitzendbureau_s.jpg">    </p:cNvPr>
          <p:cNvPicPr>
            <a:picLocks noChangeAspect="1"/>
          </p:cNvPicPr>
          <p:nvPr/>
        </p:nvPicPr>
        <p:blipFill>
          <a:blip r:embed="rId1"/>
          <a:stretch>
            <a:fillRect/>
          </a:stretch>
        </p:blipFill>
        <p:spPr>
          <a:xfrm>
            <a:off x="4846320" y="1732074"/>
            <a:ext cx="1634490" cy="1021556"/>
          </a:xfrm>
          <a:prstGeom prst="rect">
            <a:avLst/>
          </a:prstGeom>
        </p:spPr>
      </p:pic>
      <p:sp>
        <p:nvSpPr>
          <p:cNvPr id="12" name="Text 8"/>
          <p:cNvSpPr txBox="1"/>
          <p:nvPr/>
        </p:nvSpPr>
        <p:spPr>
          <a:xfrm>
            <a:off x="4818888" y="2817638"/>
            <a:ext cx="1689354" cy="274320"/>
          </a:xfrm>
          <a:prstGeom prst="rect">
            <a:avLst/>
          </a:prstGeom>
          <a:noFill/>
          <a:ln/>
        </p:spPr>
        <p:txBody>
          <a:bodyPr wrap="square" lIns="0" tIns="0" rIns="0" bIns="0" rtlCol="0" anchor="t"/>
          <a:lstStyle/>
          <a:p>
            <a:pPr algn="l" indent="0" marL="0">
              <a:buNone/>
            </a:pPr>
            <a:r>
              <a:rPr lang="en-US" sz="1050" b="1" dirty="0">
                <a:solidFill>
                  <a:srgbClr val="2B2F38"/>
                </a:solidFill>
                <a:latin typeface="Calibri" pitchFamily="34" charset="0"/>
                <a:ea typeface="Calibri" pitchFamily="34" charset="-122"/>
                <a:cs typeface="Calibri" pitchFamily="34" charset="-120"/>
              </a:rPr>
              <a:t>36 · Bij het uitzendbureau</a:t>
            </a:r>
            <a:endParaRPr lang="en-US" sz="1050" dirty="0"/>
          </a:p>
        </p:txBody>
      </p:sp>
      <p:pic>
        <p:nvPicPr>
          <p:cNvPr id="13" name="Image 1" descr="Comments">    </p:cNvPr>
          <p:cNvPicPr>
            <a:picLocks noChangeAspect="1"/>
          </p:cNvPicPr>
          <p:nvPr/>
        </p:nvPicPr>
        <p:blipFill>
          <a:blip r:embed="rId2"/>
          <a:stretch>
            <a:fillRect/>
          </a:stretch>
        </p:blipFill>
        <p:spPr>
          <a:xfrm>
            <a:off x="6261354" y="1786938"/>
            <a:ext cx="155448" cy="155448"/>
          </a:xfrm>
          <a:prstGeom prst="rect">
            <a:avLst/>
          </a:prstGeom>
        </p:spPr>
      </p:pic>
      <p:sp>
        <p:nvSpPr>
          <p:cNvPr id="14" name="Shape 9"/>
          <p:cNvSpPr/>
          <p:nvPr/>
        </p:nvSpPr>
        <p:spPr>
          <a:xfrm>
            <a:off x="6581394" y="1695498"/>
            <a:ext cx="1707642" cy="1094708"/>
          </a:xfrm>
          <a:prstGeom prst="roundRect">
            <a:avLst>
              <a:gd name="adj" fmla="val 3341"/>
            </a:avLst>
          </a:prstGeom>
          <a:solidFill>
            <a:srgbClr val="FFFFFF"/>
          </a:solidFill>
          <a:ln w="9525">
            <a:solidFill>
              <a:srgbClr val="E3E7EE"/>
            </a:solidFill>
            <a:prstDash val="solid"/>
          </a:ln>
          <a:effectLst>
            <a:outerShdw sx="100000" sy="100000" kx="0" ky="0" algn="bl" rotWithShape="0" blurRad="63500" dist="25400" dir="5400000">
              <a:srgbClr val="1B2430">
                <a:alpha val="25000"/>
              </a:srgbClr>
            </a:outerShdw>
          </a:effectLst>
        </p:spPr>
      </p:sp>
      <p:pic>
        <p:nvPicPr>
          <p:cNvPr id="15" name="Image 2" descr="/home/user/talenleren/neerlandais1/generateur/img/vijfzinnen/a1_cv_s.jpg">    </p:cNvPr>
          <p:cNvPicPr>
            <a:picLocks noChangeAspect="1"/>
          </p:cNvPicPr>
          <p:nvPr/>
        </p:nvPicPr>
        <p:blipFill>
          <a:blip r:embed="rId3"/>
          <a:stretch>
            <a:fillRect/>
          </a:stretch>
        </p:blipFill>
        <p:spPr>
          <a:xfrm>
            <a:off x="6617970" y="1732074"/>
            <a:ext cx="1634490" cy="1021556"/>
          </a:xfrm>
          <a:prstGeom prst="rect">
            <a:avLst/>
          </a:prstGeom>
        </p:spPr>
      </p:pic>
      <p:sp>
        <p:nvSpPr>
          <p:cNvPr id="16" name="Text 10"/>
          <p:cNvSpPr txBox="1"/>
          <p:nvPr/>
        </p:nvSpPr>
        <p:spPr>
          <a:xfrm>
            <a:off x="6590538" y="2817638"/>
            <a:ext cx="1689354" cy="274320"/>
          </a:xfrm>
          <a:prstGeom prst="rect">
            <a:avLst/>
          </a:prstGeom>
          <a:noFill/>
          <a:ln/>
        </p:spPr>
        <p:txBody>
          <a:bodyPr wrap="square" lIns="0" tIns="0" rIns="0" bIns="0" rtlCol="0" anchor="t"/>
          <a:lstStyle/>
          <a:p>
            <a:pPr algn="l" indent="0" marL="0">
              <a:buNone/>
            </a:pPr>
            <a:r>
              <a:rPr lang="en-US" sz="1050" b="1" dirty="0">
                <a:solidFill>
                  <a:srgbClr val="2B2F38"/>
                </a:solidFill>
                <a:latin typeface="Calibri" pitchFamily="34" charset="0"/>
                <a:ea typeface="Calibri" pitchFamily="34" charset="-122"/>
                <a:cs typeface="Calibri" pitchFamily="34" charset="-120"/>
              </a:rPr>
              <a:t>37 · Over je cv</a:t>
            </a:r>
            <a:endParaRPr lang="en-US" sz="1050" dirty="0"/>
          </a:p>
        </p:txBody>
      </p:sp>
      <p:pic>
        <p:nvPicPr>
          <p:cNvPr id="17" name="Image 3" descr="Comments">    </p:cNvPr>
          <p:cNvPicPr>
            <a:picLocks noChangeAspect="1"/>
          </p:cNvPicPr>
          <p:nvPr/>
        </p:nvPicPr>
        <p:blipFill>
          <a:blip r:embed="rId4"/>
          <a:stretch>
            <a:fillRect/>
          </a:stretch>
        </p:blipFill>
        <p:spPr>
          <a:xfrm>
            <a:off x="8033004" y="1786938"/>
            <a:ext cx="155448" cy="155448"/>
          </a:xfrm>
          <a:prstGeom prst="rect">
            <a:avLst/>
          </a:prstGeom>
        </p:spPr>
      </p:pic>
      <p:sp>
        <p:nvSpPr>
          <p:cNvPr id="18" name="Shape 11"/>
          <p:cNvSpPr/>
          <p:nvPr/>
        </p:nvSpPr>
        <p:spPr>
          <a:xfrm>
            <a:off x="8353044" y="1695498"/>
            <a:ext cx="1707642" cy="1094708"/>
          </a:xfrm>
          <a:prstGeom prst="roundRect">
            <a:avLst>
              <a:gd name="adj" fmla="val 3341"/>
            </a:avLst>
          </a:prstGeom>
          <a:solidFill>
            <a:srgbClr val="FFFFFF"/>
          </a:solidFill>
          <a:ln w="9525">
            <a:solidFill>
              <a:srgbClr val="E3E7EE"/>
            </a:solidFill>
            <a:prstDash val="solid"/>
          </a:ln>
          <a:effectLst>
            <a:outerShdw sx="100000" sy="100000" kx="0" ky="0" algn="bl" rotWithShape="0" blurRad="63500" dist="25400" dir="5400000">
              <a:srgbClr val="1B2430">
                <a:alpha val="25000"/>
              </a:srgbClr>
            </a:outerShdw>
          </a:effectLst>
        </p:spPr>
      </p:sp>
      <p:pic>
        <p:nvPicPr>
          <p:cNvPr id="19" name="Image 4" descr="/home/user/talenleren/neerlandais1/generateur/img/vijfzinnen/a1_agenda_s.jpg">    </p:cNvPr>
          <p:cNvPicPr>
            <a:picLocks noChangeAspect="1"/>
          </p:cNvPicPr>
          <p:nvPr/>
        </p:nvPicPr>
        <p:blipFill>
          <a:blip r:embed="rId5"/>
          <a:stretch>
            <a:fillRect/>
          </a:stretch>
        </p:blipFill>
        <p:spPr>
          <a:xfrm>
            <a:off x="8389620" y="1732074"/>
            <a:ext cx="1634490" cy="1021556"/>
          </a:xfrm>
          <a:prstGeom prst="rect">
            <a:avLst/>
          </a:prstGeom>
        </p:spPr>
      </p:pic>
      <p:sp>
        <p:nvSpPr>
          <p:cNvPr id="20" name="Text 12"/>
          <p:cNvSpPr txBox="1"/>
          <p:nvPr/>
        </p:nvSpPr>
        <p:spPr>
          <a:xfrm>
            <a:off x="8362188" y="2817638"/>
            <a:ext cx="1689354" cy="274320"/>
          </a:xfrm>
          <a:prstGeom prst="rect">
            <a:avLst/>
          </a:prstGeom>
          <a:noFill/>
          <a:ln/>
        </p:spPr>
        <p:txBody>
          <a:bodyPr wrap="square" lIns="0" tIns="0" rIns="0" bIns="0" rtlCol="0" anchor="t"/>
          <a:lstStyle/>
          <a:p>
            <a:pPr algn="l" indent="0" marL="0">
              <a:buNone/>
            </a:pPr>
            <a:r>
              <a:rPr lang="en-US" sz="1050" b="1" dirty="0">
                <a:solidFill>
                  <a:srgbClr val="2B2F38"/>
                </a:solidFill>
                <a:latin typeface="Calibri" pitchFamily="34" charset="0"/>
                <a:ea typeface="Calibri" pitchFamily="34" charset="-122"/>
                <a:cs typeface="Calibri" pitchFamily="34" charset="-120"/>
              </a:rPr>
              <a:t>38 · Wanneer ben je vrij?</a:t>
            </a:r>
            <a:endParaRPr lang="en-US" sz="1050" dirty="0"/>
          </a:p>
        </p:txBody>
      </p:sp>
      <p:pic>
        <p:nvPicPr>
          <p:cNvPr id="21" name="Image 5" descr="Comments">    </p:cNvPr>
          <p:cNvPicPr>
            <a:picLocks noChangeAspect="1"/>
          </p:cNvPicPr>
          <p:nvPr/>
        </p:nvPicPr>
        <p:blipFill>
          <a:blip r:embed="rId6"/>
          <a:stretch>
            <a:fillRect/>
          </a:stretch>
        </p:blipFill>
        <p:spPr>
          <a:xfrm>
            <a:off x="9804654" y="1786938"/>
            <a:ext cx="155448" cy="155448"/>
          </a:xfrm>
          <a:prstGeom prst="rect">
            <a:avLst/>
          </a:prstGeom>
        </p:spPr>
      </p:pic>
      <p:sp>
        <p:nvSpPr>
          <p:cNvPr id="22" name="Shape 13"/>
          <p:cNvSpPr/>
          <p:nvPr/>
        </p:nvSpPr>
        <p:spPr>
          <a:xfrm>
            <a:off x="10124694" y="1695498"/>
            <a:ext cx="1707642" cy="1094708"/>
          </a:xfrm>
          <a:prstGeom prst="roundRect">
            <a:avLst>
              <a:gd name="adj" fmla="val 3341"/>
            </a:avLst>
          </a:prstGeom>
          <a:solidFill>
            <a:srgbClr val="FFFFFF"/>
          </a:solidFill>
          <a:ln w="9525">
            <a:solidFill>
              <a:srgbClr val="E3E7EE"/>
            </a:solidFill>
            <a:prstDash val="solid"/>
          </a:ln>
          <a:effectLst>
            <a:outerShdw sx="100000" sy="100000" kx="0" ky="0" algn="bl" rotWithShape="0" blurRad="63500" dist="25400" dir="5400000">
              <a:srgbClr val="1B2430">
                <a:alpha val="25000"/>
              </a:srgbClr>
            </a:outerShdw>
          </a:effectLst>
        </p:spPr>
      </p:sp>
      <p:pic>
        <p:nvPicPr>
          <p:cNvPr id="23" name="Image 6" descr="/home/user/talenleren/neerlandais1/generateur/img/vijfzinnen/a1_cursus_s.jpg">    </p:cNvPr>
          <p:cNvPicPr>
            <a:picLocks noChangeAspect="1"/>
          </p:cNvPicPr>
          <p:nvPr/>
        </p:nvPicPr>
        <p:blipFill>
          <a:blip r:embed="rId7"/>
          <a:stretch>
            <a:fillRect/>
          </a:stretch>
        </p:blipFill>
        <p:spPr>
          <a:xfrm>
            <a:off x="10161270" y="1732074"/>
            <a:ext cx="1634490" cy="1021556"/>
          </a:xfrm>
          <a:prstGeom prst="rect">
            <a:avLst/>
          </a:prstGeom>
        </p:spPr>
      </p:pic>
      <p:sp>
        <p:nvSpPr>
          <p:cNvPr id="24" name="Text 14"/>
          <p:cNvSpPr txBox="1"/>
          <p:nvPr/>
        </p:nvSpPr>
        <p:spPr>
          <a:xfrm>
            <a:off x="10133838" y="2817638"/>
            <a:ext cx="1689354" cy="274320"/>
          </a:xfrm>
          <a:prstGeom prst="rect">
            <a:avLst/>
          </a:prstGeom>
          <a:noFill/>
          <a:ln/>
        </p:spPr>
        <p:txBody>
          <a:bodyPr wrap="square" lIns="0" tIns="0" rIns="0" bIns="0" rtlCol="0" anchor="t"/>
          <a:lstStyle/>
          <a:p>
            <a:pPr algn="l" indent="0" marL="0">
              <a:buNone/>
            </a:pPr>
            <a:r>
              <a:rPr lang="en-US" sz="1050" b="1" dirty="0">
                <a:solidFill>
                  <a:srgbClr val="2B2F38"/>
                </a:solidFill>
                <a:latin typeface="Calibri" pitchFamily="34" charset="0"/>
                <a:ea typeface="Calibri" pitchFamily="34" charset="-122"/>
                <a:cs typeface="Calibri" pitchFamily="34" charset="-120"/>
              </a:rPr>
              <a:t>39 · Een cursus Nederlands</a:t>
            </a:r>
            <a:endParaRPr lang="en-US" sz="1050" dirty="0"/>
          </a:p>
        </p:txBody>
      </p:sp>
      <p:pic>
        <p:nvPicPr>
          <p:cNvPr id="25" name="Image 7" descr="Comments">    </p:cNvPr>
          <p:cNvPicPr>
            <a:picLocks noChangeAspect="1"/>
          </p:cNvPicPr>
          <p:nvPr/>
        </p:nvPicPr>
        <p:blipFill>
          <a:blip r:embed="rId8"/>
          <a:stretch>
            <a:fillRect/>
          </a:stretch>
        </p:blipFill>
        <p:spPr>
          <a:xfrm>
            <a:off x="11576304" y="1786938"/>
            <a:ext cx="155448" cy="155448"/>
          </a:xfrm>
          <a:prstGeom prst="rect">
            <a:avLst/>
          </a:prstGeom>
        </p:spPr>
      </p:pic>
      <p:sp>
        <p:nvSpPr>
          <p:cNvPr id="26" name="Shape 15"/>
          <p:cNvSpPr/>
          <p:nvPr/>
        </p:nvSpPr>
        <p:spPr>
          <a:xfrm>
            <a:off x="4809744" y="3101102"/>
            <a:ext cx="1707642" cy="1094708"/>
          </a:xfrm>
          <a:prstGeom prst="roundRect">
            <a:avLst>
              <a:gd name="adj" fmla="val 3341"/>
            </a:avLst>
          </a:prstGeom>
          <a:solidFill>
            <a:srgbClr val="FFFFFF"/>
          </a:solidFill>
          <a:ln w="9525">
            <a:solidFill>
              <a:srgbClr val="E3E7EE"/>
            </a:solidFill>
            <a:prstDash val="solid"/>
          </a:ln>
          <a:effectLst>
            <a:outerShdw sx="100000" sy="100000" kx="0" ky="0" algn="bl" rotWithShape="0" blurRad="63500" dist="25400" dir="5400000">
              <a:srgbClr val="1B2430">
                <a:alpha val="25000"/>
              </a:srgbClr>
            </a:outerShdw>
          </a:effectLst>
        </p:spPr>
      </p:sp>
      <p:pic>
        <p:nvPicPr>
          <p:cNvPr id="27" name="Image 8" descr="/home/user/talenleren/neerlandais1/generateur/img/vijfzinnen/a1_formulier_s.jpg">    </p:cNvPr>
          <p:cNvPicPr>
            <a:picLocks noChangeAspect="1"/>
          </p:cNvPicPr>
          <p:nvPr/>
        </p:nvPicPr>
        <p:blipFill>
          <a:blip r:embed="rId9"/>
          <a:stretch>
            <a:fillRect/>
          </a:stretch>
        </p:blipFill>
        <p:spPr>
          <a:xfrm>
            <a:off x="4846320" y="3137678"/>
            <a:ext cx="1634490" cy="1021556"/>
          </a:xfrm>
          <a:prstGeom prst="rect">
            <a:avLst/>
          </a:prstGeom>
        </p:spPr>
      </p:pic>
      <p:sp>
        <p:nvSpPr>
          <p:cNvPr id="28" name="Text 16"/>
          <p:cNvSpPr txBox="1"/>
          <p:nvPr/>
        </p:nvSpPr>
        <p:spPr>
          <a:xfrm>
            <a:off x="4818888" y="4223242"/>
            <a:ext cx="1689354" cy="274320"/>
          </a:xfrm>
          <a:prstGeom prst="rect">
            <a:avLst/>
          </a:prstGeom>
          <a:noFill/>
          <a:ln/>
        </p:spPr>
        <p:txBody>
          <a:bodyPr wrap="square" lIns="0" tIns="0" rIns="0" bIns="0" rtlCol="0" anchor="t"/>
          <a:lstStyle/>
          <a:p>
            <a:pPr algn="l" indent="0" marL="0">
              <a:buNone/>
            </a:pPr>
            <a:r>
              <a:rPr lang="en-US" sz="1050" b="1" dirty="0">
                <a:solidFill>
                  <a:srgbClr val="2B2F38"/>
                </a:solidFill>
                <a:latin typeface="Calibri" pitchFamily="34" charset="0"/>
                <a:ea typeface="Calibri" pitchFamily="34" charset="-122"/>
                <a:cs typeface="Calibri" pitchFamily="34" charset="-120"/>
              </a:rPr>
              <a:t>40 · Een formulier invullen</a:t>
            </a:r>
            <a:endParaRPr lang="en-US" sz="1050" dirty="0"/>
          </a:p>
        </p:txBody>
      </p:sp>
      <p:pic>
        <p:nvPicPr>
          <p:cNvPr id="29" name="Image 9" descr="PenNib">    </p:cNvPr>
          <p:cNvPicPr>
            <a:picLocks noChangeAspect="1"/>
          </p:cNvPicPr>
          <p:nvPr/>
        </p:nvPicPr>
        <p:blipFill>
          <a:blip r:embed="rId10"/>
          <a:stretch>
            <a:fillRect/>
          </a:stretch>
        </p:blipFill>
        <p:spPr>
          <a:xfrm>
            <a:off x="6261354" y="3192542"/>
            <a:ext cx="155448" cy="155448"/>
          </a:xfrm>
          <a:prstGeom prst="rect">
            <a:avLst/>
          </a:prstGeom>
        </p:spPr>
      </p:pic>
      <p:sp>
        <p:nvSpPr>
          <p:cNvPr id="30" name="Shape 17"/>
          <p:cNvSpPr/>
          <p:nvPr/>
        </p:nvSpPr>
        <p:spPr>
          <a:xfrm>
            <a:off x="6581394" y="3101102"/>
            <a:ext cx="1707642" cy="1094708"/>
          </a:xfrm>
          <a:prstGeom prst="roundRect">
            <a:avLst>
              <a:gd name="adj" fmla="val 3341"/>
            </a:avLst>
          </a:prstGeom>
          <a:solidFill>
            <a:srgbClr val="FFFFFF"/>
          </a:solidFill>
          <a:ln w="9525">
            <a:solidFill>
              <a:srgbClr val="E3E7EE"/>
            </a:solidFill>
            <a:prstDash val="solid"/>
          </a:ln>
          <a:effectLst>
            <a:outerShdw sx="100000" sy="100000" kx="0" ky="0" algn="bl" rotWithShape="0" blurRad="63500" dist="25400" dir="5400000">
              <a:srgbClr val="1B2430">
                <a:alpha val="25000"/>
              </a:srgbClr>
            </a:outerShdw>
          </a:effectLst>
        </p:spPr>
      </p:sp>
      <p:pic>
        <p:nvPicPr>
          <p:cNvPr id="31" name="Image 10" descr="/home/user/talenleren/neerlandais1/generateur/img/vijfzinnen/a1_sollicitatie_s.jpg">    </p:cNvPr>
          <p:cNvPicPr>
            <a:picLocks noChangeAspect="1"/>
          </p:cNvPicPr>
          <p:nvPr/>
        </p:nvPicPr>
        <p:blipFill>
          <a:blip r:embed="rId11"/>
          <a:stretch>
            <a:fillRect/>
          </a:stretch>
        </p:blipFill>
        <p:spPr>
          <a:xfrm>
            <a:off x="6617970" y="3137678"/>
            <a:ext cx="1634490" cy="1021556"/>
          </a:xfrm>
          <a:prstGeom prst="rect">
            <a:avLst/>
          </a:prstGeom>
        </p:spPr>
      </p:pic>
      <p:sp>
        <p:nvSpPr>
          <p:cNvPr id="32" name="Text 18"/>
          <p:cNvSpPr txBox="1"/>
          <p:nvPr/>
        </p:nvSpPr>
        <p:spPr>
          <a:xfrm>
            <a:off x="6590538" y="4223242"/>
            <a:ext cx="1689354" cy="274320"/>
          </a:xfrm>
          <a:prstGeom prst="rect">
            <a:avLst/>
          </a:prstGeom>
          <a:noFill/>
          <a:ln/>
        </p:spPr>
        <p:txBody>
          <a:bodyPr wrap="square" lIns="0" tIns="0" rIns="0" bIns="0" rtlCol="0" anchor="t"/>
          <a:lstStyle/>
          <a:p>
            <a:pPr algn="l" indent="0" marL="0">
              <a:buNone/>
            </a:pPr>
            <a:r>
              <a:rPr lang="en-US" sz="1050" b="1" dirty="0">
                <a:solidFill>
                  <a:srgbClr val="2B2F38"/>
                </a:solidFill>
                <a:latin typeface="Calibri" pitchFamily="34" charset="0"/>
                <a:ea typeface="Calibri" pitchFamily="34" charset="-122"/>
                <a:cs typeface="Calibri" pitchFamily="34" charset="-120"/>
              </a:rPr>
              <a:t>41 · Wat kunt u goed?</a:t>
            </a:r>
            <a:endParaRPr lang="en-US" sz="1050" dirty="0"/>
          </a:p>
        </p:txBody>
      </p:sp>
      <p:pic>
        <p:nvPicPr>
          <p:cNvPr id="33" name="Image 11" descr="Comments">    </p:cNvPr>
          <p:cNvPicPr>
            <a:picLocks noChangeAspect="1"/>
          </p:cNvPicPr>
          <p:nvPr/>
        </p:nvPicPr>
        <p:blipFill>
          <a:blip r:embed="rId12"/>
          <a:stretch>
            <a:fillRect/>
          </a:stretch>
        </p:blipFill>
        <p:spPr>
          <a:xfrm>
            <a:off x="8033004" y="3192542"/>
            <a:ext cx="155448" cy="155448"/>
          </a:xfrm>
          <a:prstGeom prst="rect">
            <a:avLst/>
          </a:prstGeom>
        </p:spPr>
      </p:pic>
      <p:sp>
        <p:nvSpPr>
          <p:cNvPr id="34" name="Shape 19"/>
          <p:cNvSpPr/>
          <p:nvPr/>
        </p:nvSpPr>
        <p:spPr>
          <a:xfrm>
            <a:off x="8353044" y="3101102"/>
            <a:ext cx="1707642" cy="1094708"/>
          </a:xfrm>
          <a:prstGeom prst="roundRect">
            <a:avLst>
              <a:gd name="adj" fmla="val 3341"/>
            </a:avLst>
          </a:prstGeom>
          <a:solidFill>
            <a:srgbClr val="FFFFFF"/>
          </a:solidFill>
          <a:ln w="9525">
            <a:solidFill>
              <a:srgbClr val="E3E7EE"/>
            </a:solidFill>
            <a:prstDash val="solid"/>
          </a:ln>
          <a:effectLst>
            <a:outerShdw sx="100000" sy="100000" kx="0" ky="0" algn="bl" rotWithShape="0" blurRad="63500" dist="25400" dir="5400000">
              <a:srgbClr val="1B2430">
                <a:alpha val="25000"/>
              </a:srgbClr>
            </a:outerShdw>
          </a:effectLst>
        </p:spPr>
      </p:sp>
      <p:pic>
        <p:nvPicPr>
          <p:cNvPr id="35" name="Image 12" descr="/home/user/talenleren/neerlandais1/generateur/img/vijfzinnen/a1_nieuw_s.jpg">    </p:cNvPr>
          <p:cNvPicPr>
            <a:picLocks noChangeAspect="1"/>
          </p:cNvPicPr>
          <p:nvPr/>
        </p:nvPicPr>
        <p:blipFill>
          <a:blip r:embed="rId13"/>
          <a:stretch>
            <a:fillRect/>
          </a:stretch>
        </p:blipFill>
        <p:spPr>
          <a:xfrm>
            <a:off x="8389620" y="3137678"/>
            <a:ext cx="1634490" cy="1021556"/>
          </a:xfrm>
          <a:prstGeom prst="rect">
            <a:avLst/>
          </a:prstGeom>
        </p:spPr>
      </p:pic>
      <p:sp>
        <p:nvSpPr>
          <p:cNvPr id="36" name="Text 20"/>
          <p:cNvSpPr txBox="1"/>
          <p:nvPr/>
        </p:nvSpPr>
        <p:spPr>
          <a:xfrm>
            <a:off x="8362188" y="4223242"/>
            <a:ext cx="1689354" cy="274320"/>
          </a:xfrm>
          <a:prstGeom prst="rect">
            <a:avLst/>
          </a:prstGeom>
          <a:noFill/>
          <a:ln/>
        </p:spPr>
        <p:txBody>
          <a:bodyPr wrap="square" lIns="0" tIns="0" rIns="0" bIns="0" rtlCol="0" anchor="t"/>
          <a:lstStyle/>
          <a:p>
            <a:pPr algn="l" indent="0" marL="0">
              <a:buNone/>
            </a:pPr>
            <a:r>
              <a:rPr lang="en-US" sz="1050" b="1" dirty="0">
                <a:solidFill>
                  <a:srgbClr val="2B2F38"/>
                </a:solidFill>
                <a:latin typeface="Calibri" pitchFamily="34" charset="0"/>
                <a:ea typeface="Calibri" pitchFamily="34" charset="-122"/>
                <a:cs typeface="Calibri" pitchFamily="34" charset="-120"/>
              </a:rPr>
              <a:t>42 · Nieuw op het werk</a:t>
            </a:r>
            <a:endParaRPr lang="en-US" sz="1050" dirty="0"/>
          </a:p>
        </p:txBody>
      </p:sp>
      <p:pic>
        <p:nvPicPr>
          <p:cNvPr id="37" name="Image 13" descr="Comments">    </p:cNvPr>
          <p:cNvPicPr>
            <a:picLocks noChangeAspect="1"/>
          </p:cNvPicPr>
          <p:nvPr/>
        </p:nvPicPr>
        <p:blipFill>
          <a:blip r:embed="rId14"/>
          <a:stretch>
            <a:fillRect/>
          </a:stretch>
        </p:blipFill>
        <p:spPr>
          <a:xfrm>
            <a:off x="9804654" y="3192542"/>
            <a:ext cx="155448" cy="155448"/>
          </a:xfrm>
          <a:prstGeom prst="rect">
            <a:avLst/>
          </a:prstGeom>
        </p:spPr>
      </p:pic>
      <p:sp>
        <p:nvSpPr>
          <p:cNvPr id="38" name="Shape 21"/>
          <p:cNvSpPr/>
          <p:nvPr/>
        </p:nvSpPr>
        <p:spPr>
          <a:xfrm>
            <a:off x="10124694" y="3101102"/>
            <a:ext cx="1707642" cy="1094708"/>
          </a:xfrm>
          <a:prstGeom prst="roundRect">
            <a:avLst>
              <a:gd name="adj" fmla="val 3341"/>
            </a:avLst>
          </a:prstGeom>
          <a:solidFill>
            <a:srgbClr val="FFFFFF"/>
          </a:solidFill>
          <a:ln w="9525">
            <a:solidFill>
              <a:srgbClr val="E3E7EE"/>
            </a:solidFill>
            <a:prstDash val="solid"/>
          </a:ln>
          <a:effectLst>
            <a:outerShdw sx="100000" sy="100000" kx="0" ky="0" algn="bl" rotWithShape="0" blurRad="63500" dist="25400" dir="5400000">
              <a:srgbClr val="1B2430">
                <a:alpha val="25000"/>
              </a:srgbClr>
            </a:outerShdw>
          </a:effectLst>
        </p:spPr>
      </p:sp>
      <p:pic>
        <p:nvPicPr>
          <p:cNvPr id="39" name="Image 14" descr="/home/user/talenleren/neerlandais1/generateur/img/vijfzinnen/a1_gevoel_s.jpg">    </p:cNvPr>
          <p:cNvPicPr>
            <a:picLocks noChangeAspect="1"/>
          </p:cNvPicPr>
          <p:nvPr/>
        </p:nvPicPr>
        <p:blipFill>
          <a:blip r:embed="rId15"/>
          <a:stretch>
            <a:fillRect/>
          </a:stretch>
        </p:blipFill>
        <p:spPr>
          <a:xfrm>
            <a:off x="10161270" y="3137678"/>
            <a:ext cx="1634490" cy="1021556"/>
          </a:xfrm>
          <a:prstGeom prst="rect">
            <a:avLst/>
          </a:prstGeom>
        </p:spPr>
      </p:pic>
      <p:sp>
        <p:nvSpPr>
          <p:cNvPr id="40" name="Text 22"/>
          <p:cNvSpPr txBox="1"/>
          <p:nvPr/>
        </p:nvSpPr>
        <p:spPr>
          <a:xfrm>
            <a:off x="10133838" y="4223242"/>
            <a:ext cx="1689354" cy="274320"/>
          </a:xfrm>
          <a:prstGeom prst="rect">
            <a:avLst/>
          </a:prstGeom>
          <a:noFill/>
          <a:ln/>
        </p:spPr>
        <p:txBody>
          <a:bodyPr wrap="square" lIns="0" tIns="0" rIns="0" bIns="0" rtlCol="0" anchor="t"/>
          <a:lstStyle/>
          <a:p>
            <a:pPr algn="l" indent="0" marL="0">
              <a:buNone/>
            </a:pPr>
            <a:r>
              <a:rPr lang="en-US" sz="1050" b="1" dirty="0">
                <a:solidFill>
                  <a:srgbClr val="2B2F38"/>
                </a:solidFill>
                <a:latin typeface="Calibri" pitchFamily="34" charset="0"/>
                <a:ea typeface="Calibri" pitchFamily="34" charset="-122"/>
                <a:cs typeface="Calibri" pitchFamily="34" charset="-120"/>
              </a:rPr>
              <a:t>43 · Hoe voel je je?</a:t>
            </a:r>
            <a:endParaRPr lang="en-US" sz="1050" dirty="0"/>
          </a:p>
        </p:txBody>
      </p:sp>
      <p:pic>
        <p:nvPicPr>
          <p:cNvPr id="41" name="Image 15" descr="Comments">    </p:cNvPr>
          <p:cNvPicPr>
            <a:picLocks noChangeAspect="1"/>
          </p:cNvPicPr>
          <p:nvPr/>
        </p:nvPicPr>
        <p:blipFill>
          <a:blip r:embed="rId16"/>
          <a:stretch>
            <a:fillRect/>
          </a:stretch>
        </p:blipFill>
        <p:spPr>
          <a:xfrm>
            <a:off x="11576304" y="3192542"/>
            <a:ext cx="155448" cy="155448"/>
          </a:xfrm>
          <a:prstGeom prst="rect">
            <a:avLst/>
          </a:prstGeom>
        </p:spPr>
      </p:pic>
      <p:sp>
        <p:nvSpPr>
          <p:cNvPr id="42" name="Shape 23"/>
          <p:cNvSpPr/>
          <p:nvPr/>
        </p:nvSpPr>
        <p:spPr>
          <a:xfrm>
            <a:off x="4809744" y="4506706"/>
            <a:ext cx="1707642" cy="1094708"/>
          </a:xfrm>
          <a:prstGeom prst="roundRect">
            <a:avLst>
              <a:gd name="adj" fmla="val 3341"/>
            </a:avLst>
          </a:prstGeom>
          <a:solidFill>
            <a:srgbClr val="FFFFFF"/>
          </a:solidFill>
          <a:ln w="9525">
            <a:solidFill>
              <a:srgbClr val="E3E7EE"/>
            </a:solidFill>
            <a:prstDash val="solid"/>
          </a:ln>
          <a:effectLst>
            <a:outerShdw sx="100000" sy="100000" kx="0" ky="0" algn="bl" rotWithShape="0" blurRad="63500" dist="25400" dir="5400000">
              <a:srgbClr val="1B2430">
                <a:alpha val="25000"/>
              </a:srgbClr>
            </a:outerShdw>
          </a:effectLst>
        </p:spPr>
      </p:sp>
      <p:pic>
        <p:nvPicPr>
          <p:cNvPr id="43" name="Image 16" descr="/home/user/talenleren/neerlandais1/generateur/img/vijfzinnen/a1_weg_s.jpg">    </p:cNvPr>
          <p:cNvPicPr>
            <a:picLocks noChangeAspect="1"/>
          </p:cNvPicPr>
          <p:nvPr/>
        </p:nvPicPr>
        <p:blipFill>
          <a:blip r:embed="rId17"/>
          <a:stretch>
            <a:fillRect/>
          </a:stretch>
        </p:blipFill>
        <p:spPr>
          <a:xfrm>
            <a:off x="4846320" y="4543282"/>
            <a:ext cx="1634490" cy="1021556"/>
          </a:xfrm>
          <a:prstGeom prst="rect">
            <a:avLst/>
          </a:prstGeom>
        </p:spPr>
      </p:pic>
      <p:sp>
        <p:nvSpPr>
          <p:cNvPr id="44" name="Text 24"/>
          <p:cNvSpPr txBox="1"/>
          <p:nvPr/>
        </p:nvSpPr>
        <p:spPr>
          <a:xfrm>
            <a:off x="4818888" y="5628846"/>
            <a:ext cx="1689354" cy="274320"/>
          </a:xfrm>
          <a:prstGeom prst="rect">
            <a:avLst/>
          </a:prstGeom>
          <a:noFill/>
          <a:ln/>
        </p:spPr>
        <p:txBody>
          <a:bodyPr wrap="square" lIns="0" tIns="0" rIns="0" bIns="0" rtlCol="0" anchor="t"/>
          <a:lstStyle/>
          <a:p>
            <a:pPr algn="l" indent="0" marL="0">
              <a:buNone/>
            </a:pPr>
            <a:r>
              <a:rPr lang="en-US" sz="1050" b="1" dirty="0">
                <a:solidFill>
                  <a:srgbClr val="2B2F38"/>
                </a:solidFill>
                <a:latin typeface="Calibri" pitchFamily="34" charset="0"/>
                <a:ea typeface="Calibri" pitchFamily="34" charset="-122"/>
                <a:cs typeface="Calibri" pitchFamily="34" charset="-120"/>
              </a:rPr>
              <a:t>44 · Waar is lokaal 204?</a:t>
            </a:r>
            <a:endParaRPr lang="en-US" sz="1050" dirty="0"/>
          </a:p>
        </p:txBody>
      </p:sp>
      <p:pic>
        <p:nvPicPr>
          <p:cNvPr id="45" name="Image 17" descr="Comments">    </p:cNvPr>
          <p:cNvPicPr>
            <a:picLocks noChangeAspect="1"/>
          </p:cNvPicPr>
          <p:nvPr/>
        </p:nvPicPr>
        <p:blipFill>
          <a:blip r:embed="rId18"/>
          <a:stretch>
            <a:fillRect/>
          </a:stretch>
        </p:blipFill>
        <p:spPr>
          <a:xfrm>
            <a:off x="6261354" y="4598146"/>
            <a:ext cx="155448" cy="155448"/>
          </a:xfrm>
          <a:prstGeom prst="rect">
            <a:avLst/>
          </a:prstGeom>
        </p:spPr>
      </p:pic>
      <p:sp>
        <p:nvSpPr>
          <p:cNvPr id="46" name="Shape 25"/>
          <p:cNvSpPr/>
          <p:nvPr/>
        </p:nvSpPr>
        <p:spPr>
          <a:xfrm>
            <a:off x="6581394" y="4506706"/>
            <a:ext cx="1707642" cy="1094708"/>
          </a:xfrm>
          <a:prstGeom prst="roundRect">
            <a:avLst>
              <a:gd name="adj" fmla="val 3341"/>
            </a:avLst>
          </a:prstGeom>
          <a:solidFill>
            <a:srgbClr val="FFFFFF"/>
          </a:solidFill>
          <a:ln w="9525">
            <a:solidFill>
              <a:srgbClr val="E3E7EE"/>
            </a:solidFill>
            <a:prstDash val="solid"/>
          </a:ln>
          <a:effectLst>
            <a:outerShdw sx="100000" sy="100000" kx="0" ky="0" algn="bl" rotWithShape="0" blurRad="63500" dist="25400" dir="5400000">
              <a:srgbClr val="1B2430">
                <a:alpha val="25000"/>
              </a:srgbClr>
            </a:outerShdw>
          </a:effectLst>
        </p:spPr>
      </p:sp>
      <p:pic>
        <p:nvPicPr>
          <p:cNvPr id="47" name="Image 18" descr="/home/user/talenleren/neerlandais1/generateur/img/vijfzinnen/a1_examen_s.jpg">    </p:cNvPr>
          <p:cNvPicPr>
            <a:picLocks noChangeAspect="1"/>
          </p:cNvPicPr>
          <p:nvPr/>
        </p:nvPicPr>
        <p:blipFill>
          <a:blip r:embed="rId19"/>
          <a:stretch>
            <a:fillRect/>
          </a:stretch>
        </p:blipFill>
        <p:spPr>
          <a:xfrm>
            <a:off x="6617970" y="4543282"/>
            <a:ext cx="1634490" cy="1021556"/>
          </a:xfrm>
          <a:prstGeom prst="rect">
            <a:avLst/>
          </a:prstGeom>
        </p:spPr>
      </p:pic>
      <p:sp>
        <p:nvSpPr>
          <p:cNvPr id="48" name="Text 26"/>
          <p:cNvSpPr txBox="1"/>
          <p:nvPr/>
        </p:nvSpPr>
        <p:spPr>
          <a:xfrm>
            <a:off x="6590538" y="5628846"/>
            <a:ext cx="1689354" cy="274320"/>
          </a:xfrm>
          <a:prstGeom prst="rect">
            <a:avLst/>
          </a:prstGeom>
          <a:noFill/>
          <a:ln/>
        </p:spPr>
        <p:txBody>
          <a:bodyPr wrap="square" lIns="0" tIns="0" rIns="0" bIns="0" rtlCol="0" anchor="t"/>
          <a:lstStyle/>
          <a:p>
            <a:pPr algn="l" indent="0" marL="0">
              <a:buNone/>
            </a:pPr>
            <a:r>
              <a:rPr lang="en-US" sz="1050" b="1" dirty="0">
                <a:solidFill>
                  <a:srgbClr val="2B2F38"/>
                </a:solidFill>
                <a:latin typeface="Calibri" pitchFamily="34" charset="0"/>
                <a:ea typeface="Calibri" pitchFamily="34" charset="-122"/>
                <a:cs typeface="Calibri" pitchFamily="34" charset="-120"/>
              </a:rPr>
              <a:t>45 · Het examen</a:t>
            </a:r>
            <a:endParaRPr lang="en-US" sz="1050" dirty="0"/>
          </a:p>
        </p:txBody>
      </p:sp>
      <p:pic>
        <p:nvPicPr>
          <p:cNvPr id="49" name="Image 19" descr="Comments">    </p:cNvPr>
          <p:cNvPicPr>
            <a:picLocks noChangeAspect="1"/>
          </p:cNvPicPr>
          <p:nvPr/>
        </p:nvPicPr>
        <p:blipFill>
          <a:blip r:embed="rId20"/>
          <a:stretch>
            <a:fillRect/>
          </a:stretch>
        </p:blipFill>
        <p:spPr>
          <a:xfrm>
            <a:off x="8033004" y="4598146"/>
            <a:ext cx="155448" cy="155448"/>
          </a:xfrm>
          <a:prstGeom prst="rect">
            <a:avLst/>
          </a:prstGeom>
        </p:spPr>
      </p:pic>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113</a:t>
            </a:fld>
            <a:endParaRPr lang="en-US"/>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spTree>
      <p:nvGrpSpPr>
        <p:cNvPr id="1" name=""/>
        <p:cNvGrpSpPr/>
        <p:nvPr/>
      </p:nvGrpSpPr>
      <p:grpSpPr>
        <a:xfrm>
          <a:off x="0" y="0"/>
          <a:ext cx="0" cy="0"/>
          <a:chOff x="0" y="0"/>
          <a:chExt cx="0" cy="0"/>
        </a:xfrm>
      </p:grpSpPr>
      <p:sp>
        <p:nvSpPr>
          <p:cNvPr id="2" name="Text 1"/>
          <p:cNvSpPr/>
          <p:nvPr>
            <p:ph idx="101" type="title" hasCustomPrompt="1"/>
          </p:nvPr>
        </p:nvSpPr>
        <p:spPr>
          <a:xfrm>
            <a:off x="1554480" y="384048"/>
            <a:ext cx="10241280" cy="658368"/>
          </a:xfrm>
          <a:prstGeom prst="rect">
            <a:avLst/>
          </a:prstGeom>
          <a:noFill/>
          <a:ln/>
        </p:spPr>
        <p:txBody>
          <a:bodyPr wrap="square" lIns="0" tIns="0" rIns="0" bIns="0" rtlCol="0" anchor="ctr"/>
          <a:lstStyle/>
          <a:p>
            <a:pPr algn="ctr" indent="0" marL="0">
              <a:buNone/>
            </a:pPr>
            <a:r>
              <a:rPr lang="en-US" sz="3000" b="1" dirty="0">
                <a:solidFill>
                  <a:srgbClr val="2B2F38"/>
                </a:solidFill>
              </a:rPr>
              <a:t>Gebruik deze afbeelding als inspiratie</a:t>
            </a:r>
            <a:endParaRPr lang="en-US" sz="3000" dirty="0"/>
          </a:p>
        </p:txBody>
      </p:sp>
      <p:sp>
        <p:nvSpPr>
          <p:cNvPr id="4" name="Shape 1"/>
          <p:cNvSpPr/>
          <p:nvPr/>
        </p:nvSpPr>
        <p:spPr>
          <a:xfrm>
            <a:off x="365760" y="365760"/>
            <a:ext cx="868680" cy="5989320"/>
          </a:xfrm>
          <a:prstGeom prst="roundRect">
            <a:avLst>
              <a:gd name="adj" fmla="val 12632"/>
            </a:avLst>
          </a:prstGeom>
          <a:solidFill>
            <a:srgbClr val="F4E8F6"/>
          </a:solidFill>
          <a:ln w="28575">
            <a:solidFill>
              <a:srgbClr val="B57FCB"/>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7E4C97"/>
                </a:solidFill>
                <a:latin typeface="Calibri" pitchFamily="34" charset="0"/>
                <a:ea typeface="Calibri" pitchFamily="34" charset="-122"/>
                <a:cs typeface="Calibri" pitchFamily="34" charset="-120"/>
              </a:rPr>
              <a:t>A1 · Situations</a:t>
            </a:r>
            <a:endParaRPr lang="en-US" sz="3800" dirty="0"/>
          </a:p>
        </p:txBody>
      </p:sp>
      <p:sp>
        <p:nvSpPr>
          <p:cNvPr id="6" name="Text 3"/>
          <p:cNvSpPr txBox="1"/>
          <p:nvPr/>
        </p:nvSpPr>
        <p:spPr>
          <a:xfrm>
            <a:off x="1554480" y="1024128"/>
            <a:ext cx="10241280" cy="365760"/>
          </a:xfrm>
          <a:prstGeom prst="rect">
            <a:avLst/>
          </a:prstGeom>
          <a:noFill/>
          <a:ln/>
        </p:spPr>
        <p:txBody>
          <a:bodyPr wrap="square" lIns="0" tIns="0" rIns="0" bIns="0" rtlCol="0" anchor="ctr"/>
          <a:lstStyle/>
          <a:p>
            <a:pPr algn="ctr" indent="0" marL="0">
              <a:buNone/>
            </a:pPr>
            <a:r>
              <a:rPr lang="en-US" sz="1500" b="1" dirty="0">
                <a:solidFill>
                  <a:srgbClr val="7E4C97"/>
                </a:solidFill>
                <a:latin typeface="Calibri" pitchFamily="34" charset="0"/>
                <a:ea typeface="Calibri" pitchFamily="34" charset="-122"/>
                <a:cs typeface="Calibri" pitchFamily="34" charset="-120"/>
              </a:rPr>
              <a:t>36 · Bij het uitzendbureau</a:t>
            </a:r>
            <a:r>
              <a:rPr lang="en-US" sz="1500" i="1" dirty="0">
                <a:solidFill>
                  <a:srgbClr val="6B7280"/>
                </a:solidFill>
                <a:latin typeface="Calibri" pitchFamily="34" charset="0"/>
                <a:ea typeface="Calibri" pitchFamily="34" charset="-122"/>
                <a:cs typeface="Calibri" pitchFamily="34" charset="-120"/>
              </a:rPr>
              <a:t>   À l’agence d’intérim</a:t>
            </a:r>
            <a:r>
              <a:rPr lang="en-US" sz="1200" dirty="0">
                <a:solidFill>
                  <a:srgbClr val="9AA3B2"/>
                </a:solidFill>
                <a:latin typeface="Calibri" pitchFamily="34" charset="0"/>
                <a:ea typeface="Calibri" pitchFamily="34" charset="-122"/>
                <a:cs typeface="Calibri" pitchFamily="34" charset="-120"/>
              </a:rPr>
              <a:t>   ·   syllabus fiche 1 · p. 92</a:t>
            </a:r>
            <a:endParaRPr lang="en-US" sz="1500" dirty="0"/>
          </a:p>
        </p:txBody>
      </p:sp>
      <p:sp>
        <p:nvSpPr>
          <p:cNvPr id="7" name="Shape 4"/>
          <p:cNvSpPr/>
          <p:nvPr/>
        </p:nvSpPr>
        <p:spPr>
          <a:xfrm>
            <a:off x="1596085" y="1504645"/>
            <a:ext cx="4534510" cy="2905735"/>
          </a:xfrm>
          <a:prstGeom prst="roundRect">
            <a:avLst>
              <a:gd name="adj" fmla="val 1259"/>
            </a:avLst>
          </a:prstGeom>
          <a:solidFill>
            <a:srgbClr val="FFFFFF"/>
          </a:solidFill>
          <a:ln w="9525">
            <a:solidFill>
              <a:srgbClr val="E3E7EE"/>
            </a:solidFill>
            <a:prstDash val="solid"/>
          </a:ln>
          <a:effectLst>
            <a:outerShdw sx="100000" sy="100000" kx="0" ky="0" algn="bl" rotWithShape="0" blurRad="127000" dist="50800" dir="5400000">
              <a:srgbClr val="1B2430">
                <a:alpha val="25000"/>
              </a:srgbClr>
            </a:outerShdw>
          </a:effectLst>
        </p:spPr>
      </p:sp>
      <p:pic>
        <p:nvPicPr>
          <p:cNvPr id="8" name="Image 0" descr="/home/user/talenleren/neerlandais1/generateur/img/vijfzinnen/a1_uitzendbureau_s.jpg">    </p:cNvPr>
          <p:cNvPicPr>
            <a:picLocks noChangeAspect="1"/>
          </p:cNvPicPr>
          <p:nvPr/>
        </p:nvPicPr>
        <p:blipFill>
          <a:blip r:embed="rId1"/>
          <a:stretch>
            <a:fillRect/>
          </a:stretch>
        </p:blipFill>
        <p:spPr>
          <a:xfrm>
            <a:off x="1691640" y="1600200"/>
            <a:ext cx="4343400" cy="2714625"/>
          </a:xfrm>
          <a:prstGeom prst="rect">
            <a:avLst/>
          </a:prstGeom>
        </p:spPr>
      </p:pic>
      <p:sp>
        <p:nvSpPr>
          <p:cNvPr id="9" name="Shape 5"/>
          <p:cNvSpPr/>
          <p:nvPr/>
        </p:nvSpPr>
        <p:spPr>
          <a:xfrm>
            <a:off x="1691640" y="4572000"/>
            <a:ext cx="1600200" cy="365760"/>
          </a:xfrm>
          <a:prstGeom prst="roundRect">
            <a:avLst>
              <a:gd name="adj" fmla="val 50000"/>
            </a:avLst>
          </a:prstGeom>
          <a:solidFill>
            <a:srgbClr val="FDF1E6"/>
          </a:solidFill>
          <a:ln w="12700">
            <a:solidFill>
              <a:srgbClr val="D9822B"/>
            </a:solidFill>
            <a:prstDash val="solid"/>
          </a:ln>
        </p:spPr>
      </p:sp>
      <p:pic>
        <p:nvPicPr>
          <p:cNvPr id="10" name="Image 1" descr="Comments">    </p:cNvPr>
          <p:cNvPicPr>
            <a:picLocks noChangeAspect="1"/>
          </p:cNvPicPr>
          <p:nvPr/>
        </p:nvPicPr>
        <p:blipFill>
          <a:blip r:embed="rId2"/>
          <a:stretch>
            <a:fillRect/>
          </a:stretch>
        </p:blipFill>
        <p:spPr>
          <a:xfrm>
            <a:off x="1819656" y="4654296"/>
            <a:ext cx="201168" cy="201168"/>
          </a:xfrm>
          <a:prstGeom prst="rect">
            <a:avLst/>
          </a:prstGeom>
        </p:spPr>
      </p:pic>
      <p:sp>
        <p:nvSpPr>
          <p:cNvPr id="11" name="Text 6"/>
          <p:cNvSpPr txBox="1"/>
          <p:nvPr/>
        </p:nvSpPr>
        <p:spPr>
          <a:xfrm>
            <a:off x="2075688" y="4572000"/>
            <a:ext cx="1143000" cy="365760"/>
          </a:xfrm>
          <a:prstGeom prst="rect">
            <a:avLst/>
          </a:prstGeom>
          <a:noFill/>
          <a:ln/>
        </p:spPr>
        <p:txBody>
          <a:bodyPr wrap="square" lIns="0" tIns="0" rIns="0" bIns="0" rtlCol="0" anchor="ctr"/>
          <a:lstStyle/>
          <a:p>
            <a:pPr algn="l" indent="0" marL="0">
              <a:buNone/>
            </a:pPr>
            <a:r>
              <a:rPr lang="en-US" sz="1150" b="1" spc="100" kern="0" dirty="0">
                <a:solidFill>
                  <a:srgbClr val="D9822B"/>
                </a:solidFill>
                <a:latin typeface="Calibri" pitchFamily="34" charset="0"/>
                <a:ea typeface="Calibri" pitchFamily="34" charset="-122"/>
                <a:cs typeface="Calibri" pitchFamily="34" charset="-120"/>
              </a:rPr>
              <a:t>À L’ORAL</a:t>
            </a:r>
            <a:endParaRPr lang="en-US" sz="1150" dirty="0"/>
          </a:p>
        </p:txBody>
      </p:sp>
      <p:sp>
        <p:nvSpPr>
          <p:cNvPr id="12" name="Text 7"/>
          <p:cNvSpPr txBox="1"/>
          <p:nvPr/>
        </p:nvSpPr>
        <p:spPr>
          <a:xfrm>
            <a:off x="3429000" y="4544568"/>
            <a:ext cx="2651760" cy="731520"/>
          </a:xfrm>
          <a:prstGeom prst="rect">
            <a:avLst/>
          </a:prstGeom>
          <a:noFill/>
          <a:ln/>
        </p:spPr>
        <p:txBody>
          <a:bodyPr wrap="square" lIns="0" tIns="0" rIns="0" bIns="0" rtlCol="0" anchor="t"/>
          <a:lstStyle/>
          <a:p>
            <a:pPr algn="l" indent="0" marL="0">
              <a:buNone/>
            </a:pPr>
            <a:r>
              <a:rPr lang="en-US" sz="1150" i="1" dirty="0">
                <a:solidFill>
                  <a:srgbClr val="6B7280"/>
                </a:solidFill>
                <a:latin typeface="Calibri" pitchFamily="34" charset="0"/>
                <a:ea typeface="Calibri" pitchFamily="34" charset="-122"/>
                <a:cs typeface="Calibri" pitchFamily="34" charset="-120"/>
              </a:rPr>
              <a:t>Vous cherchez du travail. Vous vous inscrivez dans une agence d’intérim.</a:t>
            </a:r>
            <a:endParaRPr lang="en-US" sz="1150" dirty="0"/>
          </a:p>
        </p:txBody>
      </p:sp>
      <p:sp>
        <p:nvSpPr>
          <p:cNvPr id="13" name="Shape 8"/>
          <p:cNvSpPr/>
          <p:nvPr/>
        </p:nvSpPr>
        <p:spPr>
          <a:xfrm>
            <a:off x="6355080" y="1627632"/>
            <a:ext cx="914400" cy="402336"/>
          </a:xfrm>
          <a:prstGeom prst="roundRect">
            <a:avLst>
              <a:gd name="adj" fmla="val 13636"/>
            </a:avLst>
          </a:prstGeom>
          <a:solidFill>
            <a:srgbClr val="5FA873"/>
          </a:solidFill>
          <a:ln w="12700">
            <a:solidFill>
              <a:srgbClr val="FFFFFF">
                <a:alpha val="0"/>
              </a:srgbClr>
            </a:solidFill>
            <a:prstDash val="solid"/>
          </a:ln>
        </p:spPr>
      </p:sp>
      <p:sp>
        <p:nvSpPr>
          <p:cNvPr id="14" name="Text 9"/>
          <p:cNvSpPr txBox="1"/>
          <p:nvPr/>
        </p:nvSpPr>
        <p:spPr>
          <a:xfrm>
            <a:off x="6355080" y="162763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1</a:t>
            </a:r>
            <a:endParaRPr lang="en-US" sz="1600" dirty="0"/>
          </a:p>
        </p:txBody>
      </p:sp>
      <p:sp>
        <p:nvSpPr>
          <p:cNvPr id="15" name="Text 10"/>
          <p:cNvSpPr txBox="1"/>
          <p:nvPr/>
        </p:nvSpPr>
        <p:spPr>
          <a:xfrm>
            <a:off x="7406640" y="1572768"/>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Saluez poliment : </a:t>
            </a:r>
            <a:r>
              <a:rPr lang="en-US" sz="1450" b="1" dirty="0">
                <a:solidFill>
                  <a:srgbClr val="2B2F38"/>
                </a:solidFill>
              </a:rPr>
              <a:t>GOEDEMORGEN, MEVROUW</a:t>
            </a:r>
            <a:r>
              <a:rPr lang="en-US" sz="1450" dirty="0">
                <a:solidFill>
                  <a:srgbClr val="2B2F38"/>
                </a:solidFill>
              </a:rPr>
              <a:t>.</a:t>
            </a:r>
            <a:endParaRPr lang="en-US" sz="1450" dirty="0"/>
          </a:p>
        </p:txBody>
      </p:sp>
      <p:sp>
        <p:nvSpPr>
          <p:cNvPr id="16" name="Shape 11"/>
          <p:cNvSpPr/>
          <p:nvPr/>
        </p:nvSpPr>
        <p:spPr>
          <a:xfrm>
            <a:off x="6355080" y="2231136"/>
            <a:ext cx="914400" cy="402336"/>
          </a:xfrm>
          <a:prstGeom prst="roundRect">
            <a:avLst>
              <a:gd name="adj" fmla="val 13636"/>
            </a:avLst>
          </a:prstGeom>
          <a:solidFill>
            <a:srgbClr val="5FA873"/>
          </a:solidFill>
          <a:ln w="12700">
            <a:solidFill>
              <a:srgbClr val="FFFFFF">
                <a:alpha val="0"/>
              </a:srgbClr>
            </a:solidFill>
            <a:prstDash val="solid"/>
          </a:ln>
        </p:spPr>
      </p:sp>
      <p:sp>
        <p:nvSpPr>
          <p:cNvPr id="17" name="Text 12"/>
          <p:cNvSpPr txBox="1"/>
          <p:nvPr/>
        </p:nvSpPr>
        <p:spPr>
          <a:xfrm>
            <a:off x="6355080" y="2231136"/>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2</a:t>
            </a:r>
            <a:endParaRPr lang="en-US" sz="1600" dirty="0"/>
          </a:p>
        </p:txBody>
      </p:sp>
      <p:sp>
        <p:nvSpPr>
          <p:cNvPr id="18" name="Text 13"/>
          <p:cNvSpPr txBox="1"/>
          <p:nvPr/>
        </p:nvSpPr>
        <p:spPr>
          <a:xfrm>
            <a:off x="7406640" y="2176272"/>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Votre but : </a:t>
            </a:r>
            <a:r>
              <a:rPr lang="en-US" sz="1450" b="1" dirty="0">
                <a:solidFill>
                  <a:srgbClr val="2B2F38"/>
                </a:solidFill>
              </a:rPr>
              <a:t>IK ZOEK WERK</a:t>
            </a:r>
            <a:r>
              <a:rPr lang="en-US" sz="1450" dirty="0">
                <a:solidFill>
                  <a:srgbClr val="2B2F38"/>
                </a:solidFill>
              </a:rPr>
              <a:t>.</a:t>
            </a:r>
            <a:endParaRPr lang="en-US" sz="1450" dirty="0"/>
          </a:p>
        </p:txBody>
      </p:sp>
      <p:sp>
        <p:nvSpPr>
          <p:cNvPr id="19" name="Shape 14"/>
          <p:cNvSpPr/>
          <p:nvPr/>
        </p:nvSpPr>
        <p:spPr>
          <a:xfrm>
            <a:off x="6355080" y="2834640"/>
            <a:ext cx="914400" cy="402336"/>
          </a:xfrm>
          <a:prstGeom prst="roundRect">
            <a:avLst>
              <a:gd name="adj" fmla="val 13636"/>
            </a:avLst>
          </a:prstGeom>
          <a:solidFill>
            <a:srgbClr val="5FA873"/>
          </a:solidFill>
          <a:ln w="12700">
            <a:solidFill>
              <a:srgbClr val="FFFFFF">
                <a:alpha val="0"/>
              </a:srgbClr>
            </a:solidFill>
            <a:prstDash val="solid"/>
          </a:ln>
        </p:spPr>
      </p:sp>
      <p:sp>
        <p:nvSpPr>
          <p:cNvPr id="20" name="Text 15"/>
          <p:cNvSpPr txBox="1"/>
          <p:nvPr/>
        </p:nvSpPr>
        <p:spPr>
          <a:xfrm>
            <a:off x="6355080" y="2834640"/>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3</a:t>
            </a:r>
            <a:endParaRPr lang="en-US" sz="1600" dirty="0"/>
          </a:p>
        </p:txBody>
      </p:sp>
      <p:sp>
        <p:nvSpPr>
          <p:cNvPr id="21" name="Text 16"/>
          <p:cNvSpPr txBox="1"/>
          <p:nvPr/>
        </p:nvSpPr>
        <p:spPr>
          <a:xfrm>
            <a:off x="7406640" y="2779776"/>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Votre demande : </a:t>
            </a:r>
            <a:r>
              <a:rPr lang="en-US" sz="1450" b="1" dirty="0">
                <a:solidFill>
                  <a:srgbClr val="2B2F38"/>
                </a:solidFill>
              </a:rPr>
              <a:t>IK WIL ME INSCHRIJVEN</a:t>
            </a:r>
            <a:r>
              <a:rPr lang="en-US" sz="1450" dirty="0">
                <a:solidFill>
                  <a:srgbClr val="2B2F38"/>
                </a:solidFill>
              </a:rPr>
              <a:t>.</a:t>
            </a:r>
            <a:endParaRPr lang="en-US" sz="1450" dirty="0"/>
          </a:p>
        </p:txBody>
      </p:sp>
      <p:sp>
        <p:nvSpPr>
          <p:cNvPr id="22" name="Shape 17"/>
          <p:cNvSpPr/>
          <p:nvPr/>
        </p:nvSpPr>
        <p:spPr>
          <a:xfrm>
            <a:off x="6355080" y="3438144"/>
            <a:ext cx="914400" cy="402336"/>
          </a:xfrm>
          <a:prstGeom prst="roundRect">
            <a:avLst>
              <a:gd name="adj" fmla="val 13636"/>
            </a:avLst>
          </a:prstGeom>
          <a:solidFill>
            <a:srgbClr val="5FA873"/>
          </a:solidFill>
          <a:ln w="12700">
            <a:solidFill>
              <a:srgbClr val="FFFFFF">
                <a:alpha val="0"/>
              </a:srgbClr>
            </a:solidFill>
            <a:prstDash val="solid"/>
          </a:ln>
        </p:spPr>
      </p:sp>
      <p:sp>
        <p:nvSpPr>
          <p:cNvPr id="23" name="Text 18"/>
          <p:cNvSpPr txBox="1"/>
          <p:nvPr/>
        </p:nvSpPr>
        <p:spPr>
          <a:xfrm>
            <a:off x="6355080" y="3438144"/>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4</a:t>
            </a:r>
            <a:endParaRPr lang="en-US" sz="1600" dirty="0"/>
          </a:p>
        </p:txBody>
      </p:sp>
      <p:sp>
        <p:nvSpPr>
          <p:cNvPr id="24" name="Text 19"/>
          <p:cNvSpPr txBox="1"/>
          <p:nvPr/>
        </p:nvSpPr>
        <p:spPr>
          <a:xfrm>
            <a:off x="7406640" y="3383280"/>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Une question : </a:t>
            </a:r>
            <a:r>
              <a:rPr lang="en-US" sz="1450" b="1" dirty="0">
                <a:solidFill>
                  <a:srgbClr val="2B2F38"/>
                </a:solidFill>
              </a:rPr>
              <a:t>WELKE DOCUMENTEN</a:t>
            </a:r>
            <a:r>
              <a:rPr lang="en-US" sz="1450" dirty="0">
                <a:solidFill>
                  <a:srgbClr val="2B2F38"/>
                </a:solidFill>
              </a:rPr>
              <a:t> heb ik nodig?</a:t>
            </a:r>
            <a:endParaRPr lang="en-US" sz="1450" dirty="0"/>
          </a:p>
        </p:txBody>
      </p:sp>
      <p:sp>
        <p:nvSpPr>
          <p:cNvPr id="25" name="Shape 20"/>
          <p:cNvSpPr/>
          <p:nvPr/>
        </p:nvSpPr>
        <p:spPr>
          <a:xfrm>
            <a:off x="6355080" y="4041648"/>
            <a:ext cx="914400" cy="402336"/>
          </a:xfrm>
          <a:prstGeom prst="roundRect">
            <a:avLst>
              <a:gd name="adj" fmla="val 13636"/>
            </a:avLst>
          </a:prstGeom>
          <a:solidFill>
            <a:srgbClr val="5FA873"/>
          </a:solidFill>
          <a:ln w="12700">
            <a:solidFill>
              <a:srgbClr val="FFFFFF">
                <a:alpha val="0"/>
              </a:srgbClr>
            </a:solidFill>
            <a:prstDash val="solid"/>
          </a:ln>
        </p:spPr>
      </p:sp>
      <p:sp>
        <p:nvSpPr>
          <p:cNvPr id="26" name="Text 21"/>
          <p:cNvSpPr txBox="1"/>
          <p:nvPr/>
        </p:nvSpPr>
        <p:spPr>
          <a:xfrm>
            <a:off x="6355080" y="4041648"/>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5</a:t>
            </a:r>
            <a:endParaRPr lang="en-US" sz="1600" dirty="0"/>
          </a:p>
        </p:txBody>
      </p:sp>
      <p:sp>
        <p:nvSpPr>
          <p:cNvPr id="27" name="Text 22"/>
          <p:cNvSpPr txBox="1"/>
          <p:nvPr/>
        </p:nvSpPr>
        <p:spPr>
          <a:xfrm>
            <a:off x="7406640" y="3986784"/>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Une chute avec </a:t>
            </a:r>
            <a:r>
              <a:rPr lang="en-US" sz="1450" b="1" dirty="0">
                <a:solidFill>
                  <a:srgbClr val="2B2F38"/>
                </a:solidFill>
              </a:rPr>
              <a:t>NIET</a:t>
            </a:r>
            <a:r>
              <a:rPr lang="en-US" sz="1450" dirty="0">
                <a:solidFill>
                  <a:srgbClr val="2B2F38"/>
                </a:solidFill>
              </a:rPr>
              <a:t> ou </a:t>
            </a:r>
            <a:r>
              <a:rPr lang="en-US" sz="1450" b="1" dirty="0">
                <a:solidFill>
                  <a:srgbClr val="2B2F38"/>
                </a:solidFill>
              </a:rPr>
              <a:t>GEEN</a:t>
            </a:r>
            <a:r>
              <a:rPr lang="en-US" sz="1450" dirty="0">
                <a:solidFill>
                  <a:srgbClr val="2B2F38"/>
                </a:solidFill>
              </a:rPr>
              <a:t>.</a:t>
            </a:r>
            <a:endParaRPr lang="en-US" sz="1450" dirty="0"/>
          </a:p>
        </p:txBody>
      </p:sp>
      <p:sp>
        <p:nvSpPr>
          <p:cNvPr id="28" name="Shape 23"/>
          <p:cNvSpPr/>
          <p:nvPr/>
        </p:nvSpPr>
        <p:spPr>
          <a:xfrm>
            <a:off x="3246120" y="5440680"/>
            <a:ext cx="6858000" cy="822960"/>
          </a:xfrm>
          <a:prstGeom prst="roundRect">
            <a:avLst>
              <a:gd name="adj" fmla="val 17778"/>
            </a:avLst>
          </a:prstGeom>
          <a:solidFill>
            <a:srgbClr val="EAF5EC"/>
          </a:solidFill>
          <a:ln w="15875">
            <a:solidFill>
              <a:srgbClr val="5FA873"/>
            </a:solidFill>
            <a:prstDash val="solid"/>
          </a:ln>
        </p:spPr>
      </p:sp>
      <p:pic>
        <p:nvPicPr>
          <p:cNvPr id="29" name="Image 2" descr="UserFriends">    </p:cNvPr>
          <p:cNvPicPr>
            <a:picLocks noChangeAspect="1"/>
          </p:cNvPicPr>
          <p:nvPr/>
        </p:nvPicPr>
        <p:blipFill>
          <a:blip r:embed="rId3"/>
          <a:stretch>
            <a:fillRect/>
          </a:stretch>
        </p:blipFill>
        <p:spPr>
          <a:xfrm>
            <a:off x="3520440" y="5660136"/>
            <a:ext cx="384048" cy="384048"/>
          </a:xfrm>
          <a:prstGeom prst="rect">
            <a:avLst/>
          </a:prstGeom>
        </p:spPr>
      </p:pic>
      <p:sp>
        <p:nvSpPr>
          <p:cNvPr id="30" name="Text 24"/>
          <p:cNvSpPr txBox="1"/>
          <p:nvPr/>
        </p:nvSpPr>
        <p:spPr>
          <a:xfrm>
            <a:off x="4114800" y="5440680"/>
            <a:ext cx="5852160" cy="822960"/>
          </a:xfrm>
          <a:prstGeom prst="rect">
            <a:avLst/>
          </a:prstGeom>
          <a:noFill/>
          <a:ln/>
        </p:spPr>
        <p:txBody>
          <a:bodyPr wrap="square" lIns="0" tIns="0" rIns="0" bIns="0" rtlCol="0" anchor="ctr"/>
          <a:lstStyle/>
          <a:p>
            <a:pPr algn="ctr" indent="0" marL="0">
              <a:buNone/>
            </a:pPr>
            <a:r>
              <a:rPr lang="en-US" sz="1800" b="1" dirty="0">
                <a:solidFill>
                  <a:srgbClr val="2E6B44"/>
                </a:solidFill>
                <a:latin typeface="Calibri" pitchFamily="34" charset="0"/>
                <a:ea typeface="Calibri" pitchFamily="34" charset="-122"/>
                <a:cs typeface="Calibri" pitchFamily="34" charset="-120"/>
              </a:rPr>
              <a:t>Vertel je verhaal aan je partner.</a:t>
            </a:r>
            <a:endParaRPr lang="en-US" sz="1800" dirty="0"/>
          </a:p>
          <a:p>
            <a:pPr algn="ctr" indent="0" marL="0">
              <a:buNone/>
            </a:pPr>
            <a:r>
              <a:rPr lang="en-US" sz="1800" b="1" dirty="0">
                <a:solidFill>
                  <a:srgbClr val="2E6B44"/>
                </a:solidFill>
                <a:latin typeface="Calibri" pitchFamily="34" charset="0"/>
                <a:ea typeface="Calibri" pitchFamily="34" charset="-122"/>
                <a:cs typeface="Calibri" pitchFamily="34" charset="-120"/>
              </a:rPr>
              <a:t>Wat denkt hij/zij daarvan?</a:t>
            </a:r>
            <a:endParaRPr lang="en-US" sz="1800" dirty="0"/>
          </a:p>
        </p:txBody>
      </p:sp>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114</a:t>
            </a:fld>
            <a:endParaRPr lang="en-US"/>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spTree>
      <p:nvGrpSpPr>
        <p:cNvPr id="1" name=""/>
        <p:cNvGrpSpPr/>
        <p:nvPr/>
      </p:nvGrpSpPr>
      <p:grpSpPr>
        <a:xfrm>
          <a:off x="0" y="0"/>
          <a:ext cx="0" cy="0"/>
          <a:chOff x="0" y="0"/>
          <a:chExt cx="0" cy="0"/>
        </a:xfrm>
      </p:grpSpPr>
      <p:sp>
        <p:nvSpPr>
          <p:cNvPr id="2" name="Text 1"/>
          <p:cNvSpPr/>
          <p:nvPr>
            <p:ph idx="101" type="title" hasCustomPrompt="1"/>
          </p:nvPr>
        </p:nvSpPr>
        <p:spPr>
          <a:xfrm>
            <a:off x="1554480" y="384048"/>
            <a:ext cx="10241280" cy="658368"/>
          </a:xfrm>
          <a:prstGeom prst="rect">
            <a:avLst/>
          </a:prstGeom>
          <a:noFill/>
          <a:ln/>
        </p:spPr>
        <p:txBody>
          <a:bodyPr wrap="square" lIns="0" tIns="0" rIns="0" bIns="0" rtlCol="0" anchor="ctr"/>
          <a:lstStyle/>
          <a:p>
            <a:pPr algn="ctr" indent="0" marL="0">
              <a:buNone/>
            </a:pPr>
            <a:r>
              <a:rPr lang="en-US" sz="3000" b="1" dirty="0">
                <a:solidFill>
                  <a:srgbClr val="2B2F38"/>
                </a:solidFill>
              </a:rPr>
              <a:t>Bij het uitzendbureau</a:t>
            </a:r>
            <a:endParaRPr lang="en-US" sz="3000" dirty="0"/>
          </a:p>
        </p:txBody>
      </p:sp>
      <p:sp>
        <p:nvSpPr>
          <p:cNvPr id="4" name="Shape 1"/>
          <p:cNvSpPr/>
          <p:nvPr/>
        </p:nvSpPr>
        <p:spPr>
          <a:xfrm>
            <a:off x="365760" y="365760"/>
            <a:ext cx="868680" cy="5989320"/>
          </a:xfrm>
          <a:prstGeom prst="roundRect">
            <a:avLst>
              <a:gd name="adj" fmla="val 12632"/>
            </a:avLst>
          </a:prstGeom>
          <a:solidFill>
            <a:srgbClr val="F4E8F6"/>
          </a:solidFill>
          <a:ln w="28575">
            <a:solidFill>
              <a:srgbClr val="B57FCB"/>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7E4C97"/>
                </a:solidFill>
                <a:latin typeface="Calibri" pitchFamily="34" charset="0"/>
                <a:ea typeface="Calibri" pitchFamily="34" charset="-122"/>
                <a:cs typeface="Calibri" pitchFamily="34" charset="-120"/>
              </a:rPr>
              <a:t>A1 · Situations</a:t>
            </a:r>
            <a:endParaRPr lang="en-US" sz="3800" dirty="0"/>
          </a:p>
        </p:txBody>
      </p:sp>
      <p:sp>
        <p:nvSpPr>
          <p:cNvPr id="6" name="Shape 3"/>
          <p:cNvSpPr/>
          <p:nvPr/>
        </p:nvSpPr>
        <p:spPr>
          <a:xfrm>
            <a:off x="2519172" y="1124712"/>
            <a:ext cx="8311896" cy="5277231"/>
          </a:xfrm>
          <a:prstGeom prst="roundRect">
            <a:avLst>
              <a:gd name="adj" fmla="val 693"/>
            </a:avLst>
          </a:prstGeom>
          <a:solidFill>
            <a:srgbClr val="FFFFFF"/>
          </a:solidFill>
          <a:ln w="9525">
            <a:solidFill>
              <a:srgbClr val="E3E7EE"/>
            </a:solidFill>
            <a:prstDash val="solid"/>
          </a:ln>
          <a:effectLst>
            <a:outerShdw sx="100000" sy="100000" kx="0" ky="0" algn="bl" rotWithShape="0" blurRad="177800" dist="63500" dir="5400000">
              <a:srgbClr val="1B2430">
                <a:alpha val="25000"/>
              </a:srgbClr>
            </a:outerShdw>
          </a:effectLst>
        </p:spPr>
      </p:sp>
      <p:pic>
        <p:nvPicPr>
          <p:cNvPr id="7" name="Image 0" descr="/home/user/talenleren/neerlandais1/generateur/img/vijfzinnen/a1_uitzendbureau.jpg">    </p:cNvPr>
          <p:cNvPicPr>
            <a:picLocks noChangeAspect="1"/>
          </p:cNvPicPr>
          <p:nvPr/>
        </p:nvPicPr>
        <p:blipFill>
          <a:blip r:embed="rId1"/>
          <a:stretch>
            <a:fillRect/>
          </a:stretch>
        </p:blipFill>
        <p:spPr>
          <a:xfrm>
            <a:off x="2628900" y="1234440"/>
            <a:ext cx="8092440" cy="5057775"/>
          </a:xfrm>
          <a:prstGeom prst="rect">
            <a:avLst/>
          </a:prstGeom>
        </p:spPr>
      </p:pic>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115</a:t>
            </a:fld>
            <a:endParaRPr lang="en-US"/>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spTree>
      <p:nvGrpSpPr>
        <p:cNvPr id="1" name=""/>
        <p:cNvGrpSpPr/>
        <p:nvPr/>
      </p:nvGrpSpPr>
      <p:grpSpPr>
        <a:xfrm>
          <a:off x="0" y="0"/>
          <a:ext cx="0" cy="0"/>
          <a:chOff x="0" y="0"/>
          <a:chExt cx="0" cy="0"/>
        </a:xfrm>
      </p:grpSpPr>
      <p:sp>
        <p:nvSpPr>
          <p:cNvPr id="2" name="Text 1"/>
          <p:cNvSpPr/>
          <p:nvPr>
            <p:ph idx="101" type="title" hasCustomPrompt="1"/>
          </p:nvPr>
        </p:nvSpPr>
        <p:spPr>
          <a:xfrm>
            <a:off x="1691640" y="347472"/>
            <a:ext cx="8138160" cy="914400"/>
          </a:xfrm>
          <a:prstGeom prst="rect">
            <a:avLst/>
          </a:prstGeom>
          <a:noFill/>
          <a:ln/>
        </p:spPr>
        <p:txBody>
          <a:bodyPr wrap="square" lIns="0" tIns="0" rIns="0" bIns="0" rtlCol="0" anchor="ctr"/>
          <a:lstStyle/>
          <a:p>
            <a:pPr algn="l" indent="0" marL="0">
              <a:buNone/>
            </a:pPr>
            <a:r>
              <a:rPr lang="en-US" sz="2400" b="1" dirty="0">
                <a:solidFill>
                  <a:srgbClr val="2B2F38"/>
                </a:solidFill>
              </a:rPr>
              <a:t>Hier is een voorbeeld van wat je had kunnen denken en zeggen…</a:t>
            </a:r>
            <a:endParaRPr lang="en-US" sz="2400" dirty="0"/>
          </a:p>
        </p:txBody>
      </p:sp>
      <p:sp>
        <p:nvSpPr>
          <p:cNvPr id="4" name="Shape 1"/>
          <p:cNvSpPr/>
          <p:nvPr/>
        </p:nvSpPr>
        <p:spPr>
          <a:xfrm>
            <a:off x="365760" y="365760"/>
            <a:ext cx="868680" cy="5989320"/>
          </a:xfrm>
          <a:prstGeom prst="roundRect">
            <a:avLst>
              <a:gd name="adj" fmla="val 12632"/>
            </a:avLst>
          </a:prstGeom>
          <a:solidFill>
            <a:srgbClr val="F4E8F6"/>
          </a:solidFill>
          <a:ln w="28575">
            <a:solidFill>
              <a:srgbClr val="B57FCB"/>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7E4C97"/>
                </a:solidFill>
                <a:latin typeface="Calibri" pitchFamily="34" charset="0"/>
                <a:ea typeface="Calibri" pitchFamily="34" charset="-122"/>
                <a:cs typeface="Calibri" pitchFamily="34" charset="-120"/>
              </a:rPr>
              <a:t>A1 · Situations</a:t>
            </a:r>
            <a:endParaRPr lang="en-US" sz="3800" dirty="0"/>
          </a:p>
        </p:txBody>
      </p:sp>
      <p:sp>
        <p:nvSpPr>
          <p:cNvPr id="6" name="Shape 3"/>
          <p:cNvSpPr/>
          <p:nvPr/>
        </p:nvSpPr>
        <p:spPr>
          <a:xfrm>
            <a:off x="10058400" y="246888"/>
            <a:ext cx="1691640" cy="1091565"/>
          </a:xfrm>
          <a:prstGeom prst="roundRect">
            <a:avLst>
              <a:gd name="adj" fmla="val 3351"/>
            </a:avLst>
          </a:prstGeom>
          <a:solidFill>
            <a:srgbClr val="FFFFFF"/>
          </a:solidFill>
          <a:ln w="9525">
            <a:solidFill>
              <a:srgbClr val="E3E7EE"/>
            </a:solidFill>
            <a:prstDash val="solid"/>
          </a:ln>
          <a:effectLst>
            <a:outerShdw sx="100000" sy="100000" kx="0" ky="0" algn="bl" rotWithShape="0" blurRad="76200" dist="25400" dir="5400000">
              <a:srgbClr val="1B2430">
                <a:alpha val="25000"/>
              </a:srgbClr>
            </a:outerShdw>
          </a:effectLst>
        </p:spPr>
      </p:sp>
      <p:pic>
        <p:nvPicPr>
          <p:cNvPr id="7" name="Image 0" descr="/home/user/talenleren/neerlandais1/generateur/img/vijfzinnen/a1_uitzendbureau_s.jpg">    </p:cNvPr>
          <p:cNvPicPr>
            <a:picLocks noChangeAspect="1"/>
          </p:cNvPicPr>
          <p:nvPr/>
        </p:nvPicPr>
        <p:blipFill>
          <a:blip r:embed="rId1"/>
          <a:stretch>
            <a:fillRect/>
          </a:stretch>
        </p:blipFill>
        <p:spPr>
          <a:xfrm>
            <a:off x="10104120" y="292608"/>
            <a:ext cx="1600200" cy="1000125"/>
          </a:xfrm>
          <a:prstGeom prst="rect">
            <a:avLst/>
          </a:prstGeom>
        </p:spPr>
      </p:pic>
      <p:sp>
        <p:nvSpPr>
          <p:cNvPr id="8" name="Shape 4"/>
          <p:cNvSpPr/>
          <p:nvPr/>
        </p:nvSpPr>
        <p:spPr>
          <a:xfrm>
            <a:off x="1691640" y="2779166"/>
            <a:ext cx="3257093" cy="371856"/>
          </a:xfrm>
          <a:prstGeom prst="roundRect">
            <a:avLst>
              <a:gd name="adj" fmla="val 12295"/>
            </a:avLst>
          </a:prstGeom>
          <a:solidFill>
            <a:srgbClr val="E6F3DA"/>
          </a:solidFill>
          <a:ln w="12700">
            <a:solidFill>
              <a:srgbClr val="FFFFFF">
                <a:alpha val="0"/>
              </a:srgbClr>
            </a:solidFill>
            <a:prstDash val="solid"/>
          </a:ln>
        </p:spPr>
      </p:sp>
      <p:sp>
        <p:nvSpPr>
          <p:cNvPr id="9" name="Text 5"/>
          <p:cNvSpPr txBox="1"/>
          <p:nvPr/>
        </p:nvSpPr>
        <p:spPr>
          <a:xfrm>
            <a:off x="1691640" y="2766974"/>
            <a:ext cx="3257093"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Goedemorgen, mevrouw</a:t>
            </a:r>
            <a:endParaRPr lang="en-US" sz="2400" dirty="0"/>
          </a:p>
        </p:txBody>
      </p:sp>
      <p:sp>
        <p:nvSpPr>
          <p:cNvPr id="10" name="Text 6"/>
          <p:cNvSpPr txBox="1"/>
          <p:nvPr/>
        </p:nvSpPr>
        <p:spPr>
          <a:xfrm>
            <a:off x="4948733" y="2766974"/>
            <a:ext cx="259690"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a:t>
            </a:r>
            <a:endParaRPr lang="en-US" sz="2400" dirty="0"/>
          </a:p>
        </p:txBody>
      </p:sp>
      <p:sp>
        <p:nvSpPr>
          <p:cNvPr id="11" name="Shape 7"/>
          <p:cNvSpPr/>
          <p:nvPr/>
        </p:nvSpPr>
        <p:spPr>
          <a:xfrm>
            <a:off x="5112715" y="2779166"/>
            <a:ext cx="1676400" cy="371856"/>
          </a:xfrm>
          <a:prstGeom prst="roundRect">
            <a:avLst>
              <a:gd name="adj" fmla="val 12295"/>
            </a:avLst>
          </a:prstGeom>
          <a:solidFill>
            <a:srgbClr val="E6F3DA"/>
          </a:solidFill>
          <a:ln w="12700">
            <a:solidFill>
              <a:srgbClr val="FFFFFF">
                <a:alpha val="0"/>
              </a:srgbClr>
            </a:solidFill>
            <a:prstDash val="solid"/>
          </a:ln>
        </p:spPr>
      </p:sp>
      <p:sp>
        <p:nvSpPr>
          <p:cNvPr id="12" name="Text 8"/>
          <p:cNvSpPr txBox="1"/>
          <p:nvPr/>
        </p:nvSpPr>
        <p:spPr>
          <a:xfrm>
            <a:off x="5112715" y="2766974"/>
            <a:ext cx="1676400"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Ik zoek werk</a:t>
            </a:r>
            <a:endParaRPr lang="en-US" sz="2400" dirty="0"/>
          </a:p>
        </p:txBody>
      </p:sp>
      <p:sp>
        <p:nvSpPr>
          <p:cNvPr id="13" name="Text 9"/>
          <p:cNvSpPr txBox="1"/>
          <p:nvPr/>
        </p:nvSpPr>
        <p:spPr>
          <a:xfrm>
            <a:off x="6876288" y="2766974"/>
            <a:ext cx="494690"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en</a:t>
            </a:r>
            <a:endParaRPr lang="en-US" sz="2400" dirty="0"/>
          </a:p>
        </p:txBody>
      </p:sp>
      <p:sp>
        <p:nvSpPr>
          <p:cNvPr id="14" name="Shape 10"/>
          <p:cNvSpPr/>
          <p:nvPr/>
        </p:nvSpPr>
        <p:spPr>
          <a:xfrm>
            <a:off x="7275271" y="2779166"/>
            <a:ext cx="2670962" cy="371856"/>
          </a:xfrm>
          <a:prstGeom prst="roundRect">
            <a:avLst>
              <a:gd name="adj" fmla="val 12295"/>
            </a:avLst>
          </a:prstGeom>
          <a:solidFill>
            <a:srgbClr val="E6F3DA"/>
          </a:solidFill>
          <a:ln w="12700">
            <a:solidFill>
              <a:srgbClr val="FFFFFF">
                <a:alpha val="0"/>
              </a:srgbClr>
            </a:solidFill>
            <a:prstDash val="solid"/>
          </a:ln>
        </p:spPr>
      </p:sp>
      <p:sp>
        <p:nvSpPr>
          <p:cNvPr id="15" name="Text 11"/>
          <p:cNvSpPr txBox="1"/>
          <p:nvPr/>
        </p:nvSpPr>
        <p:spPr>
          <a:xfrm>
            <a:off x="7275271" y="2766974"/>
            <a:ext cx="2670962"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ik wil me inschrijven</a:t>
            </a:r>
            <a:endParaRPr lang="en-US" sz="2400" dirty="0"/>
          </a:p>
        </p:txBody>
      </p:sp>
      <p:sp>
        <p:nvSpPr>
          <p:cNvPr id="16" name="Text 12"/>
          <p:cNvSpPr txBox="1"/>
          <p:nvPr/>
        </p:nvSpPr>
        <p:spPr>
          <a:xfrm>
            <a:off x="9946234" y="2766974"/>
            <a:ext cx="259690"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a:t>
            </a:r>
            <a:endParaRPr lang="en-US" sz="2400" dirty="0"/>
          </a:p>
        </p:txBody>
      </p:sp>
      <p:sp>
        <p:nvSpPr>
          <p:cNvPr id="17" name="Shape 13"/>
          <p:cNvSpPr/>
          <p:nvPr/>
        </p:nvSpPr>
        <p:spPr>
          <a:xfrm>
            <a:off x="3320186" y="2702966"/>
            <a:ext cx="914" cy="76200"/>
          </a:xfrm>
          <a:prstGeom prst="line">
            <a:avLst/>
          </a:prstGeom>
          <a:noFill/>
          <a:ln w="15875">
            <a:solidFill>
              <a:srgbClr val="7AB648"/>
            </a:solidFill>
            <a:prstDash val="solid"/>
          </a:ln>
        </p:spPr>
      </p:sp>
      <p:sp>
        <p:nvSpPr>
          <p:cNvPr id="18" name="Shape 14"/>
          <p:cNvSpPr/>
          <p:nvPr/>
        </p:nvSpPr>
        <p:spPr>
          <a:xfrm>
            <a:off x="2930639" y="2456078"/>
            <a:ext cx="779094" cy="246888"/>
          </a:xfrm>
          <a:prstGeom prst="roundRect">
            <a:avLst>
              <a:gd name="adj" fmla="val 14815"/>
            </a:avLst>
          </a:prstGeom>
          <a:solidFill>
            <a:srgbClr val="7AB648"/>
          </a:solidFill>
          <a:ln w="12700">
            <a:solidFill>
              <a:srgbClr val="FFFFFF">
                <a:alpha val="0"/>
              </a:srgbClr>
            </a:solidFill>
            <a:prstDash val="solid"/>
          </a:ln>
        </p:spPr>
      </p:sp>
      <p:sp>
        <p:nvSpPr>
          <p:cNvPr id="19" name="Text 15"/>
          <p:cNvSpPr txBox="1"/>
          <p:nvPr/>
        </p:nvSpPr>
        <p:spPr>
          <a:xfrm>
            <a:off x="2930639" y="2456078"/>
            <a:ext cx="779094"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GROETEN</a:t>
            </a:r>
            <a:endParaRPr lang="en-US" sz="1100" dirty="0"/>
          </a:p>
        </p:txBody>
      </p:sp>
      <p:sp>
        <p:nvSpPr>
          <p:cNvPr id="20" name="Shape 16"/>
          <p:cNvSpPr/>
          <p:nvPr/>
        </p:nvSpPr>
        <p:spPr>
          <a:xfrm>
            <a:off x="5950915" y="2702966"/>
            <a:ext cx="914" cy="76200"/>
          </a:xfrm>
          <a:prstGeom prst="line">
            <a:avLst/>
          </a:prstGeom>
          <a:noFill/>
          <a:ln w="15875">
            <a:solidFill>
              <a:srgbClr val="7AB648"/>
            </a:solidFill>
            <a:prstDash val="solid"/>
          </a:ln>
        </p:spPr>
      </p:sp>
      <p:sp>
        <p:nvSpPr>
          <p:cNvPr id="21" name="Shape 17"/>
          <p:cNvSpPr/>
          <p:nvPr/>
        </p:nvSpPr>
        <p:spPr>
          <a:xfrm>
            <a:off x="5615642" y="2456078"/>
            <a:ext cx="670547" cy="246888"/>
          </a:xfrm>
          <a:prstGeom prst="roundRect">
            <a:avLst>
              <a:gd name="adj" fmla="val 14815"/>
            </a:avLst>
          </a:prstGeom>
          <a:solidFill>
            <a:srgbClr val="7AB648"/>
          </a:solidFill>
          <a:ln w="12700">
            <a:solidFill>
              <a:srgbClr val="FFFFFF">
                <a:alpha val="0"/>
              </a:srgbClr>
            </a:solidFill>
            <a:prstDash val="solid"/>
          </a:ln>
        </p:spPr>
      </p:sp>
      <p:sp>
        <p:nvSpPr>
          <p:cNvPr id="22" name="Text 18"/>
          <p:cNvSpPr txBox="1"/>
          <p:nvPr/>
        </p:nvSpPr>
        <p:spPr>
          <a:xfrm>
            <a:off x="5615642" y="2456078"/>
            <a:ext cx="670547"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IK ZOEK</a:t>
            </a:r>
            <a:endParaRPr lang="en-US" sz="1100" dirty="0"/>
          </a:p>
        </p:txBody>
      </p:sp>
      <p:sp>
        <p:nvSpPr>
          <p:cNvPr id="23" name="Shape 19"/>
          <p:cNvSpPr/>
          <p:nvPr/>
        </p:nvSpPr>
        <p:spPr>
          <a:xfrm>
            <a:off x="8610752" y="2702966"/>
            <a:ext cx="914" cy="76200"/>
          </a:xfrm>
          <a:prstGeom prst="line">
            <a:avLst/>
          </a:prstGeom>
          <a:noFill/>
          <a:ln w="15875">
            <a:solidFill>
              <a:srgbClr val="7AB648"/>
            </a:solidFill>
            <a:prstDash val="solid"/>
          </a:ln>
        </p:spPr>
      </p:sp>
      <p:sp>
        <p:nvSpPr>
          <p:cNvPr id="24" name="Shape 20"/>
          <p:cNvSpPr/>
          <p:nvPr/>
        </p:nvSpPr>
        <p:spPr>
          <a:xfrm>
            <a:off x="8119783" y="2456078"/>
            <a:ext cx="981939" cy="246888"/>
          </a:xfrm>
          <a:prstGeom prst="roundRect">
            <a:avLst>
              <a:gd name="adj" fmla="val 14815"/>
            </a:avLst>
          </a:prstGeom>
          <a:solidFill>
            <a:srgbClr val="7AB648"/>
          </a:solidFill>
          <a:ln w="12700">
            <a:solidFill>
              <a:srgbClr val="FFFFFF">
                <a:alpha val="0"/>
              </a:srgbClr>
            </a:solidFill>
            <a:prstDash val="solid"/>
          </a:ln>
        </p:spPr>
      </p:sp>
      <p:sp>
        <p:nvSpPr>
          <p:cNvPr id="25" name="Text 21"/>
          <p:cNvSpPr txBox="1"/>
          <p:nvPr/>
        </p:nvSpPr>
        <p:spPr>
          <a:xfrm>
            <a:off x="8119783" y="2456078"/>
            <a:ext cx="981939"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INSCHRIJVEN</a:t>
            </a:r>
            <a:endParaRPr lang="en-US" sz="1100" dirty="0"/>
          </a:p>
        </p:txBody>
      </p:sp>
      <p:sp>
        <p:nvSpPr>
          <p:cNvPr id="26" name="Shape 22"/>
          <p:cNvSpPr/>
          <p:nvPr/>
        </p:nvSpPr>
        <p:spPr>
          <a:xfrm>
            <a:off x="1691640" y="3632606"/>
            <a:ext cx="2570683" cy="371856"/>
          </a:xfrm>
          <a:prstGeom prst="roundRect">
            <a:avLst>
              <a:gd name="adj" fmla="val 12295"/>
            </a:avLst>
          </a:prstGeom>
          <a:solidFill>
            <a:srgbClr val="E6F3DA"/>
          </a:solidFill>
          <a:ln w="12700">
            <a:solidFill>
              <a:srgbClr val="FFFFFF">
                <a:alpha val="0"/>
              </a:srgbClr>
            </a:solidFill>
            <a:prstDash val="solid"/>
          </a:ln>
        </p:spPr>
      </p:sp>
      <p:sp>
        <p:nvSpPr>
          <p:cNvPr id="27" name="Text 23"/>
          <p:cNvSpPr txBox="1"/>
          <p:nvPr/>
        </p:nvSpPr>
        <p:spPr>
          <a:xfrm>
            <a:off x="1691640" y="3620414"/>
            <a:ext cx="2570683"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Welke documenten</a:t>
            </a:r>
            <a:endParaRPr lang="en-US" sz="2400" dirty="0"/>
          </a:p>
        </p:txBody>
      </p:sp>
      <p:sp>
        <p:nvSpPr>
          <p:cNvPr id="28" name="Text 24"/>
          <p:cNvSpPr txBox="1"/>
          <p:nvPr/>
        </p:nvSpPr>
        <p:spPr>
          <a:xfrm>
            <a:off x="4349496" y="3620414"/>
            <a:ext cx="1873301"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heb ik nodig?</a:t>
            </a:r>
            <a:endParaRPr lang="en-US" sz="2400" dirty="0"/>
          </a:p>
        </p:txBody>
      </p:sp>
      <p:sp>
        <p:nvSpPr>
          <p:cNvPr id="29" name="Shape 25"/>
          <p:cNvSpPr/>
          <p:nvPr/>
        </p:nvSpPr>
        <p:spPr>
          <a:xfrm>
            <a:off x="2976982" y="3556406"/>
            <a:ext cx="914" cy="76200"/>
          </a:xfrm>
          <a:prstGeom prst="line">
            <a:avLst/>
          </a:prstGeom>
          <a:noFill/>
          <a:ln w="15875">
            <a:solidFill>
              <a:srgbClr val="7AB648"/>
            </a:solidFill>
            <a:prstDash val="solid"/>
          </a:ln>
        </p:spPr>
      </p:sp>
      <p:sp>
        <p:nvSpPr>
          <p:cNvPr id="30" name="Shape 26"/>
          <p:cNvSpPr/>
          <p:nvPr/>
        </p:nvSpPr>
        <p:spPr>
          <a:xfrm>
            <a:off x="2668041" y="3309518"/>
            <a:ext cx="617880" cy="246888"/>
          </a:xfrm>
          <a:prstGeom prst="roundRect">
            <a:avLst>
              <a:gd name="adj" fmla="val 14815"/>
            </a:avLst>
          </a:prstGeom>
          <a:solidFill>
            <a:srgbClr val="7AB648"/>
          </a:solidFill>
          <a:ln w="12700">
            <a:solidFill>
              <a:srgbClr val="FFFFFF">
                <a:alpha val="0"/>
              </a:srgbClr>
            </a:solidFill>
            <a:prstDash val="solid"/>
          </a:ln>
        </p:spPr>
      </p:sp>
      <p:sp>
        <p:nvSpPr>
          <p:cNvPr id="31" name="Text 27"/>
          <p:cNvSpPr txBox="1"/>
          <p:nvPr/>
        </p:nvSpPr>
        <p:spPr>
          <a:xfrm>
            <a:off x="2668041" y="3309518"/>
            <a:ext cx="617880"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WELKE</a:t>
            </a:r>
            <a:endParaRPr lang="en-US" sz="1100" dirty="0"/>
          </a:p>
        </p:txBody>
      </p:sp>
      <p:sp>
        <p:nvSpPr>
          <p:cNvPr id="32" name="Text 28"/>
          <p:cNvSpPr txBox="1"/>
          <p:nvPr/>
        </p:nvSpPr>
        <p:spPr>
          <a:xfrm>
            <a:off x="3819601" y="4675022"/>
            <a:ext cx="4291279"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Oei… ik heb mijn identiteitskaart</a:t>
            </a:r>
            <a:endParaRPr lang="en-US" sz="2400" dirty="0"/>
          </a:p>
        </p:txBody>
      </p:sp>
      <p:sp>
        <p:nvSpPr>
          <p:cNvPr id="33" name="Shape 29"/>
          <p:cNvSpPr/>
          <p:nvPr/>
        </p:nvSpPr>
        <p:spPr>
          <a:xfrm>
            <a:off x="8015173" y="4687214"/>
            <a:ext cx="589178" cy="371856"/>
          </a:xfrm>
          <a:prstGeom prst="roundRect">
            <a:avLst>
              <a:gd name="adj" fmla="val 12295"/>
            </a:avLst>
          </a:prstGeom>
          <a:solidFill>
            <a:srgbClr val="E6F3DA"/>
          </a:solidFill>
          <a:ln w="12700">
            <a:solidFill>
              <a:srgbClr val="FFFFFF">
                <a:alpha val="0"/>
              </a:srgbClr>
            </a:solidFill>
            <a:prstDash val="solid"/>
          </a:ln>
        </p:spPr>
      </p:sp>
      <p:sp>
        <p:nvSpPr>
          <p:cNvPr id="34" name="Text 30"/>
          <p:cNvSpPr txBox="1"/>
          <p:nvPr/>
        </p:nvSpPr>
        <p:spPr>
          <a:xfrm>
            <a:off x="8015173" y="4675022"/>
            <a:ext cx="589178"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niet</a:t>
            </a:r>
            <a:endParaRPr lang="en-US" sz="2400" dirty="0"/>
          </a:p>
        </p:txBody>
      </p:sp>
      <p:sp>
        <p:nvSpPr>
          <p:cNvPr id="35" name="Text 31"/>
          <p:cNvSpPr txBox="1"/>
          <p:nvPr/>
        </p:nvSpPr>
        <p:spPr>
          <a:xfrm>
            <a:off x="8691524" y="4675022"/>
            <a:ext cx="1067714"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bij me!</a:t>
            </a:r>
            <a:endParaRPr lang="en-US" sz="2400" dirty="0"/>
          </a:p>
        </p:txBody>
      </p:sp>
      <p:sp>
        <p:nvSpPr>
          <p:cNvPr id="36" name="Shape 32"/>
          <p:cNvSpPr/>
          <p:nvPr/>
        </p:nvSpPr>
        <p:spPr>
          <a:xfrm>
            <a:off x="8309762" y="4611014"/>
            <a:ext cx="914" cy="76200"/>
          </a:xfrm>
          <a:prstGeom prst="line">
            <a:avLst/>
          </a:prstGeom>
          <a:noFill/>
          <a:ln w="15875">
            <a:solidFill>
              <a:srgbClr val="7AB648"/>
            </a:solidFill>
            <a:prstDash val="solid"/>
          </a:ln>
        </p:spPr>
      </p:sp>
      <p:sp>
        <p:nvSpPr>
          <p:cNvPr id="37" name="Shape 33"/>
          <p:cNvSpPr/>
          <p:nvPr/>
        </p:nvSpPr>
        <p:spPr>
          <a:xfrm>
            <a:off x="7846384" y="4364126"/>
            <a:ext cx="926757" cy="246888"/>
          </a:xfrm>
          <a:prstGeom prst="roundRect">
            <a:avLst>
              <a:gd name="adj" fmla="val 14815"/>
            </a:avLst>
          </a:prstGeom>
          <a:solidFill>
            <a:srgbClr val="7AB648"/>
          </a:solidFill>
          <a:ln w="12700">
            <a:solidFill>
              <a:srgbClr val="FFFFFF">
                <a:alpha val="0"/>
              </a:srgbClr>
            </a:solidFill>
            <a:prstDash val="solid"/>
          </a:ln>
        </p:spPr>
      </p:sp>
      <p:sp>
        <p:nvSpPr>
          <p:cNvPr id="38" name="Text 34"/>
          <p:cNvSpPr txBox="1"/>
          <p:nvPr/>
        </p:nvSpPr>
        <p:spPr>
          <a:xfrm>
            <a:off x="7846384" y="4364126"/>
            <a:ext cx="926757"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NIET / GEEN</a:t>
            </a:r>
            <a:endParaRPr lang="en-US" sz="1100" dirty="0"/>
          </a:p>
        </p:txBody>
      </p:sp>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116</a:t>
            </a:fld>
            <a:endParaRPr lang="en-US"/>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spTree>
      <p:nvGrpSpPr>
        <p:cNvPr id="1" name=""/>
        <p:cNvGrpSpPr/>
        <p:nvPr/>
      </p:nvGrpSpPr>
      <p:grpSpPr>
        <a:xfrm>
          <a:off x="0" y="0"/>
          <a:ext cx="0" cy="0"/>
          <a:chOff x="0" y="0"/>
          <a:chExt cx="0" cy="0"/>
        </a:xfrm>
      </p:grpSpPr>
      <p:sp>
        <p:nvSpPr>
          <p:cNvPr id="2" name="Text 1"/>
          <p:cNvSpPr/>
          <p:nvPr>
            <p:ph idx="101" type="title" hasCustomPrompt="1"/>
          </p:nvPr>
        </p:nvSpPr>
        <p:spPr>
          <a:xfrm>
            <a:off x="1554480" y="384048"/>
            <a:ext cx="10241280" cy="658368"/>
          </a:xfrm>
          <a:prstGeom prst="rect">
            <a:avLst/>
          </a:prstGeom>
          <a:noFill/>
          <a:ln/>
        </p:spPr>
        <p:txBody>
          <a:bodyPr wrap="square" lIns="0" tIns="0" rIns="0" bIns="0" rtlCol="0" anchor="ctr"/>
          <a:lstStyle/>
          <a:p>
            <a:pPr algn="ctr" indent="0" marL="0">
              <a:buNone/>
            </a:pPr>
            <a:r>
              <a:rPr lang="en-US" sz="3000" b="1" dirty="0">
                <a:solidFill>
                  <a:srgbClr val="2B2F38"/>
                </a:solidFill>
              </a:rPr>
              <a:t>Gebruik deze afbeelding als inspiratie</a:t>
            </a:r>
            <a:endParaRPr lang="en-US" sz="3000" dirty="0"/>
          </a:p>
        </p:txBody>
      </p:sp>
      <p:sp>
        <p:nvSpPr>
          <p:cNvPr id="4" name="Shape 1"/>
          <p:cNvSpPr/>
          <p:nvPr/>
        </p:nvSpPr>
        <p:spPr>
          <a:xfrm>
            <a:off x="365760" y="365760"/>
            <a:ext cx="868680" cy="5989320"/>
          </a:xfrm>
          <a:prstGeom prst="roundRect">
            <a:avLst>
              <a:gd name="adj" fmla="val 12632"/>
            </a:avLst>
          </a:prstGeom>
          <a:solidFill>
            <a:srgbClr val="F4E8F6"/>
          </a:solidFill>
          <a:ln w="28575">
            <a:solidFill>
              <a:srgbClr val="B57FCB"/>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7E4C97"/>
                </a:solidFill>
                <a:latin typeface="Calibri" pitchFamily="34" charset="0"/>
                <a:ea typeface="Calibri" pitchFamily="34" charset="-122"/>
                <a:cs typeface="Calibri" pitchFamily="34" charset="-120"/>
              </a:rPr>
              <a:t>A1 · Situations</a:t>
            </a:r>
            <a:endParaRPr lang="en-US" sz="3800" dirty="0"/>
          </a:p>
        </p:txBody>
      </p:sp>
      <p:sp>
        <p:nvSpPr>
          <p:cNvPr id="6" name="Text 3"/>
          <p:cNvSpPr txBox="1"/>
          <p:nvPr/>
        </p:nvSpPr>
        <p:spPr>
          <a:xfrm>
            <a:off x="1554480" y="1024128"/>
            <a:ext cx="10241280" cy="365760"/>
          </a:xfrm>
          <a:prstGeom prst="rect">
            <a:avLst/>
          </a:prstGeom>
          <a:noFill/>
          <a:ln/>
        </p:spPr>
        <p:txBody>
          <a:bodyPr wrap="square" lIns="0" tIns="0" rIns="0" bIns="0" rtlCol="0" anchor="ctr"/>
          <a:lstStyle/>
          <a:p>
            <a:pPr algn="ctr" indent="0" marL="0">
              <a:buNone/>
            </a:pPr>
            <a:r>
              <a:rPr lang="en-US" sz="1500" b="1" dirty="0">
                <a:solidFill>
                  <a:srgbClr val="7E4C97"/>
                </a:solidFill>
                <a:latin typeface="Calibri" pitchFamily="34" charset="0"/>
                <a:ea typeface="Calibri" pitchFamily="34" charset="-122"/>
                <a:cs typeface="Calibri" pitchFamily="34" charset="-120"/>
              </a:rPr>
              <a:t>37 · Over je cv</a:t>
            </a:r>
            <a:r>
              <a:rPr lang="en-US" sz="1500" i="1" dirty="0">
                <a:solidFill>
                  <a:srgbClr val="6B7280"/>
                </a:solidFill>
                <a:latin typeface="Calibri" pitchFamily="34" charset="0"/>
                <a:ea typeface="Calibri" pitchFamily="34" charset="-122"/>
                <a:cs typeface="Calibri" pitchFamily="34" charset="-120"/>
              </a:rPr>
              <a:t>   Parler du CV</a:t>
            </a:r>
            <a:r>
              <a:rPr lang="en-US" sz="1200" dirty="0">
                <a:solidFill>
                  <a:srgbClr val="9AA3B2"/>
                </a:solidFill>
                <a:latin typeface="Calibri" pitchFamily="34" charset="0"/>
                <a:ea typeface="Calibri" pitchFamily="34" charset="-122"/>
                <a:cs typeface="Calibri" pitchFamily="34" charset="-120"/>
              </a:rPr>
              <a:t>   ·   syllabus fiche 2 · p. 93</a:t>
            </a:r>
            <a:endParaRPr lang="en-US" sz="1500" dirty="0"/>
          </a:p>
        </p:txBody>
      </p:sp>
      <p:sp>
        <p:nvSpPr>
          <p:cNvPr id="7" name="Shape 4"/>
          <p:cNvSpPr/>
          <p:nvPr/>
        </p:nvSpPr>
        <p:spPr>
          <a:xfrm>
            <a:off x="1596085" y="1504645"/>
            <a:ext cx="4534510" cy="2905735"/>
          </a:xfrm>
          <a:prstGeom prst="roundRect">
            <a:avLst>
              <a:gd name="adj" fmla="val 1259"/>
            </a:avLst>
          </a:prstGeom>
          <a:solidFill>
            <a:srgbClr val="FFFFFF"/>
          </a:solidFill>
          <a:ln w="9525">
            <a:solidFill>
              <a:srgbClr val="E3E7EE"/>
            </a:solidFill>
            <a:prstDash val="solid"/>
          </a:ln>
          <a:effectLst>
            <a:outerShdw sx="100000" sy="100000" kx="0" ky="0" algn="bl" rotWithShape="0" blurRad="127000" dist="50800" dir="5400000">
              <a:srgbClr val="1B2430">
                <a:alpha val="25000"/>
              </a:srgbClr>
            </a:outerShdw>
          </a:effectLst>
        </p:spPr>
      </p:sp>
      <p:pic>
        <p:nvPicPr>
          <p:cNvPr id="8" name="Image 0" descr="/home/user/talenleren/neerlandais1/generateur/img/vijfzinnen/a1_cv_s.jpg">    </p:cNvPr>
          <p:cNvPicPr>
            <a:picLocks noChangeAspect="1"/>
          </p:cNvPicPr>
          <p:nvPr/>
        </p:nvPicPr>
        <p:blipFill>
          <a:blip r:embed="rId1"/>
          <a:stretch>
            <a:fillRect/>
          </a:stretch>
        </p:blipFill>
        <p:spPr>
          <a:xfrm>
            <a:off x="1691640" y="1600200"/>
            <a:ext cx="4343400" cy="2714625"/>
          </a:xfrm>
          <a:prstGeom prst="rect">
            <a:avLst/>
          </a:prstGeom>
        </p:spPr>
      </p:pic>
      <p:sp>
        <p:nvSpPr>
          <p:cNvPr id="9" name="Shape 5"/>
          <p:cNvSpPr/>
          <p:nvPr/>
        </p:nvSpPr>
        <p:spPr>
          <a:xfrm>
            <a:off x="1691640" y="4572000"/>
            <a:ext cx="1600200" cy="365760"/>
          </a:xfrm>
          <a:prstGeom prst="roundRect">
            <a:avLst>
              <a:gd name="adj" fmla="val 50000"/>
            </a:avLst>
          </a:prstGeom>
          <a:solidFill>
            <a:srgbClr val="FDF1E6"/>
          </a:solidFill>
          <a:ln w="12700">
            <a:solidFill>
              <a:srgbClr val="D9822B"/>
            </a:solidFill>
            <a:prstDash val="solid"/>
          </a:ln>
        </p:spPr>
      </p:sp>
      <p:pic>
        <p:nvPicPr>
          <p:cNvPr id="10" name="Image 1" descr="Comments">    </p:cNvPr>
          <p:cNvPicPr>
            <a:picLocks noChangeAspect="1"/>
          </p:cNvPicPr>
          <p:nvPr/>
        </p:nvPicPr>
        <p:blipFill>
          <a:blip r:embed="rId2"/>
          <a:stretch>
            <a:fillRect/>
          </a:stretch>
        </p:blipFill>
        <p:spPr>
          <a:xfrm>
            <a:off x="1819656" y="4654296"/>
            <a:ext cx="201168" cy="201168"/>
          </a:xfrm>
          <a:prstGeom prst="rect">
            <a:avLst/>
          </a:prstGeom>
        </p:spPr>
      </p:pic>
      <p:sp>
        <p:nvSpPr>
          <p:cNvPr id="11" name="Text 6"/>
          <p:cNvSpPr txBox="1"/>
          <p:nvPr/>
        </p:nvSpPr>
        <p:spPr>
          <a:xfrm>
            <a:off x="2075688" y="4572000"/>
            <a:ext cx="1143000" cy="365760"/>
          </a:xfrm>
          <a:prstGeom prst="rect">
            <a:avLst/>
          </a:prstGeom>
          <a:noFill/>
          <a:ln/>
        </p:spPr>
        <p:txBody>
          <a:bodyPr wrap="square" lIns="0" tIns="0" rIns="0" bIns="0" rtlCol="0" anchor="ctr"/>
          <a:lstStyle/>
          <a:p>
            <a:pPr algn="l" indent="0" marL="0">
              <a:buNone/>
            </a:pPr>
            <a:r>
              <a:rPr lang="en-US" sz="1150" b="1" spc="100" kern="0" dirty="0">
                <a:solidFill>
                  <a:srgbClr val="D9822B"/>
                </a:solidFill>
                <a:latin typeface="Calibri" pitchFamily="34" charset="0"/>
                <a:ea typeface="Calibri" pitchFamily="34" charset="-122"/>
                <a:cs typeface="Calibri" pitchFamily="34" charset="-120"/>
              </a:rPr>
              <a:t>À L’ORAL</a:t>
            </a:r>
            <a:endParaRPr lang="en-US" sz="1150" dirty="0"/>
          </a:p>
        </p:txBody>
      </p:sp>
      <p:sp>
        <p:nvSpPr>
          <p:cNvPr id="12" name="Text 7"/>
          <p:cNvSpPr txBox="1"/>
          <p:nvPr/>
        </p:nvSpPr>
        <p:spPr>
          <a:xfrm>
            <a:off x="3429000" y="4544568"/>
            <a:ext cx="2651760" cy="731520"/>
          </a:xfrm>
          <a:prstGeom prst="rect">
            <a:avLst/>
          </a:prstGeom>
          <a:noFill/>
          <a:ln/>
        </p:spPr>
        <p:txBody>
          <a:bodyPr wrap="square" lIns="0" tIns="0" rIns="0" bIns="0" rtlCol="0" anchor="t"/>
          <a:lstStyle/>
          <a:p>
            <a:pPr algn="l" indent="0" marL="0">
              <a:buNone/>
            </a:pPr>
            <a:r>
              <a:rPr lang="en-US" sz="1150" i="1" dirty="0">
                <a:solidFill>
                  <a:srgbClr val="6B7280"/>
                </a:solidFill>
                <a:latin typeface="Calibri" pitchFamily="34" charset="0"/>
                <a:ea typeface="Calibri" pitchFamily="34" charset="-122"/>
                <a:cs typeface="Calibri" pitchFamily="34" charset="-120"/>
              </a:rPr>
              <a:t>Vous êtes conseiller·ère. Posez des questions sur le CV d’un·e candidat·e.</a:t>
            </a:r>
            <a:endParaRPr lang="en-US" sz="1150" dirty="0"/>
          </a:p>
        </p:txBody>
      </p:sp>
      <p:sp>
        <p:nvSpPr>
          <p:cNvPr id="13" name="Shape 8"/>
          <p:cNvSpPr/>
          <p:nvPr/>
        </p:nvSpPr>
        <p:spPr>
          <a:xfrm>
            <a:off x="6355080" y="1627632"/>
            <a:ext cx="914400" cy="402336"/>
          </a:xfrm>
          <a:prstGeom prst="roundRect">
            <a:avLst>
              <a:gd name="adj" fmla="val 13636"/>
            </a:avLst>
          </a:prstGeom>
          <a:solidFill>
            <a:srgbClr val="5FA873"/>
          </a:solidFill>
          <a:ln w="12700">
            <a:solidFill>
              <a:srgbClr val="FFFFFF">
                <a:alpha val="0"/>
              </a:srgbClr>
            </a:solidFill>
            <a:prstDash val="solid"/>
          </a:ln>
        </p:spPr>
      </p:sp>
      <p:sp>
        <p:nvSpPr>
          <p:cNvPr id="14" name="Text 9"/>
          <p:cNvSpPr txBox="1"/>
          <p:nvPr/>
        </p:nvSpPr>
        <p:spPr>
          <a:xfrm>
            <a:off x="6355080" y="162763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1</a:t>
            </a:r>
            <a:endParaRPr lang="en-US" sz="1600" dirty="0"/>
          </a:p>
        </p:txBody>
      </p:sp>
      <p:sp>
        <p:nvSpPr>
          <p:cNvPr id="15" name="Text 10"/>
          <p:cNvSpPr txBox="1"/>
          <p:nvPr/>
        </p:nvSpPr>
        <p:spPr>
          <a:xfrm>
            <a:off x="7406640" y="1572768"/>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Le métier : </a:t>
            </a:r>
            <a:r>
              <a:rPr lang="en-US" sz="1450" b="1" dirty="0">
                <a:solidFill>
                  <a:srgbClr val="2B2F38"/>
                </a:solidFill>
              </a:rPr>
              <a:t>WAT IS UW BEROEP?</a:t>
            </a:r>
            <a:endParaRPr lang="en-US" sz="1450" dirty="0"/>
          </a:p>
        </p:txBody>
      </p:sp>
      <p:sp>
        <p:nvSpPr>
          <p:cNvPr id="16" name="Shape 11"/>
          <p:cNvSpPr/>
          <p:nvPr/>
        </p:nvSpPr>
        <p:spPr>
          <a:xfrm>
            <a:off x="6355080" y="2231136"/>
            <a:ext cx="914400" cy="402336"/>
          </a:xfrm>
          <a:prstGeom prst="roundRect">
            <a:avLst>
              <a:gd name="adj" fmla="val 13636"/>
            </a:avLst>
          </a:prstGeom>
          <a:solidFill>
            <a:srgbClr val="5FA873"/>
          </a:solidFill>
          <a:ln w="12700">
            <a:solidFill>
              <a:srgbClr val="FFFFFF">
                <a:alpha val="0"/>
              </a:srgbClr>
            </a:solidFill>
            <a:prstDash val="solid"/>
          </a:ln>
        </p:spPr>
      </p:sp>
      <p:sp>
        <p:nvSpPr>
          <p:cNvPr id="17" name="Text 12"/>
          <p:cNvSpPr txBox="1"/>
          <p:nvPr/>
        </p:nvSpPr>
        <p:spPr>
          <a:xfrm>
            <a:off x="6355080" y="2231136"/>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2</a:t>
            </a:r>
            <a:endParaRPr lang="en-US" sz="1600" dirty="0"/>
          </a:p>
        </p:txBody>
      </p:sp>
      <p:sp>
        <p:nvSpPr>
          <p:cNvPr id="18" name="Text 13"/>
          <p:cNvSpPr txBox="1"/>
          <p:nvPr/>
        </p:nvSpPr>
        <p:spPr>
          <a:xfrm>
            <a:off x="7406640" y="2176272"/>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La formation : </a:t>
            </a:r>
            <a:r>
              <a:rPr lang="en-US" sz="1450" b="1" dirty="0">
                <a:solidFill>
                  <a:srgbClr val="2B2F38"/>
                </a:solidFill>
              </a:rPr>
              <a:t>WELKE OPLEIDING</a:t>
            </a:r>
            <a:r>
              <a:rPr lang="en-US" sz="1450" dirty="0">
                <a:solidFill>
                  <a:srgbClr val="2B2F38"/>
                </a:solidFill>
              </a:rPr>
              <a:t> volgt u?</a:t>
            </a:r>
            <a:endParaRPr lang="en-US" sz="1450" dirty="0"/>
          </a:p>
        </p:txBody>
      </p:sp>
      <p:sp>
        <p:nvSpPr>
          <p:cNvPr id="19" name="Shape 14"/>
          <p:cNvSpPr/>
          <p:nvPr/>
        </p:nvSpPr>
        <p:spPr>
          <a:xfrm>
            <a:off x="6355080" y="2834640"/>
            <a:ext cx="914400" cy="402336"/>
          </a:xfrm>
          <a:prstGeom prst="roundRect">
            <a:avLst>
              <a:gd name="adj" fmla="val 13636"/>
            </a:avLst>
          </a:prstGeom>
          <a:solidFill>
            <a:srgbClr val="5FA873"/>
          </a:solidFill>
          <a:ln w="12700">
            <a:solidFill>
              <a:srgbClr val="FFFFFF">
                <a:alpha val="0"/>
              </a:srgbClr>
            </a:solidFill>
            <a:prstDash val="solid"/>
          </a:ln>
        </p:spPr>
      </p:sp>
      <p:sp>
        <p:nvSpPr>
          <p:cNvPr id="20" name="Text 15"/>
          <p:cNvSpPr txBox="1"/>
          <p:nvPr/>
        </p:nvSpPr>
        <p:spPr>
          <a:xfrm>
            <a:off x="6355080" y="2834640"/>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3</a:t>
            </a:r>
            <a:endParaRPr lang="en-US" sz="1600" dirty="0"/>
          </a:p>
        </p:txBody>
      </p:sp>
      <p:sp>
        <p:nvSpPr>
          <p:cNvPr id="21" name="Text 16"/>
          <p:cNvSpPr txBox="1"/>
          <p:nvPr/>
        </p:nvSpPr>
        <p:spPr>
          <a:xfrm>
            <a:off x="7406640" y="2779776"/>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Les langues : </a:t>
            </a:r>
            <a:r>
              <a:rPr lang="en-US" sz="1450" b="1" dirty="0">
                <a:solidFill>
                  <a:srgbClr val="2B2F38"/>
                </a:solidFill>
              </a:rPr>
              <a:t>SPREEKT U</a:t>
            </a:r>
            <a:r>
              <a:rPr lang="en-US" sz="1450" dirty="0">
                <a:solidFill>
                  <a:srgbClr val="2B2F38"/>
                </a:solidFill>
              </a:rPr>
              <a:t> Nederlands?</a:t>
            </a:r>
            <a:endParaRPr lang="en-US" sz="1450" dirty="0"/>
          </a:p>
        </p:txBody>
      </p:sp>
      <p:sp>
        <p:nvSpPr>
          <p:cNvPr id="22" name="Shape 17"/>
          <p:cNvSpPr/>
          <p:nvPr/>
        </p:nvSpPr>
        <p:spPr>
          <a:xfrm>
            <a:off x="6355080" y="3438144"/>
            <a:ext cx="914400" cy="402336"/>
          </a:xfrm>
          <a:prstGeom prst="roundRect">
            <a:avLst>
              <a:gd name="adj" fmla="val 13636"/>
            </a:avLst>
          </a:prstGeom>
          <a:solidFill>
            <a:srgbClr val="5FA873"/>
          </a:solidFill>
          <a:ln w="12700">
            <a:solidFill>
              <a:srgbClr val="FFFFFF">
                <a:alpha val="0"/>
              </a:srgbClr>
            </a:solidFill>
            <a:prstDash val="solid"/>
          </a:ln>
        </p:spPr>
      </p:sp>
      <p:sp>
        <p:nvSpPr>
          <p:cNvPr id="23" name="Text 18"/>
          <p:cNvSpPr txBox="1"/>
          <p:nvPr/>
        </p:nvSpPr>
        <p:spPr>
          <a:xfrm>
            <a:off x="6355080" y="3438144"/>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4</a:t>
            </a:r>
            <a:endParaRPr lang="en-US" sz="1600" dirty="0"/>
          </a:p>
        </p:txBody>
      </p:sp>
      <p:sp>
        <p:nvSpPr>
          <p:cNvPr id="24" name="Text 19"/>
          <p:cNvSpPr txBox="1"/>
          <p:nvPr/>
        </p:nvSpPr>
        <p:spPr>
          <a:xfrm>
            <a:off x="7406640" y="3383280"/>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L’expérience : </a:t>
            </a:r>
            <a:r>
              <a:rPr lang="en-US" sz="1450" b="1" dirty="0">
                <a:solidFill>
                  <a:srgbClr val="2B2F38"/>
                </a:solidFill>
              </a:rPr>
              <a:t>HEBT U ERVARING?</a:t>
            </a:r>
            <a:endParaRPr lang="en-US" sz="1450" dirty="0"/>
          </a:p>
        </p:txBody>
      </p:sp>
      <p:sp>
        <p:nvSpPr>
          <p:cNvPr id="25" name="Shape 20"/>
          <p:cNvSpPr/>
          <p:nvPr/>
        </p:nvSpPr>
        <p:spPr>
          <a:xfrm>
            <a:off x="6355080" y="4041648"/>
            <a:ext cx="914400" cy="402336"/>
          </a:xfrm>
          <a:prstGeom prst="roundRect">
            <a:avLst>
              <a:gd name="adj" fmla="val 13636"/>
            </a:avLst>
          </a:prstGeom>
          <a:solidFill>
            <a:srgbClr val="5FA873"/>
          </a:solidFill>
          <a:ln w="12700">
            <a:solidFill>
              <a:srgbClr val="FFFFFF">
                <a:alpha val="0"/>
              </a:srgbClr>
            </a:solidFill>
            <a:prstDash val="solid"/>
          </a:ln>
        </p:spPr>
      </p:sp>
      <p:sp>
        <p:nvSpPr>
          <p:cNvPr id="26" name="Text 21"/>
          <p:cNvSpPr txBox="1"/>
          <p:nvPr/>
        </p:nvSpPr>
        <p:spPr>
          <a:xfrm>
            <a:off x="6355080" y="4041648"/>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5</a:t>
            </a:r>
            <a:endParaRPr lang="en-US" sz="1600" dirty="0"/>
          </a:p>
        </p:txBody>
      </p:sp>
      <p:sp>
        <p:nvSpPr>
          <p:cNvPr id="27" name="Text 22"/>
          <p:cNvSpPr txBox="1"/>
          <p:nvPr/>
        </p:nvSpPr>
        <p:spPr>
          <a:xfrm>
            <a:off x="7406640" y="3986784"/>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Une chute : une réponse surprenante !</a:t>
            </a:r>
            <a:endParaRPr lang="en-US" sz="1450" dirty="0"/>
          </a:p>
        </p:txBody>
      </p:sp>
      <p:sp>
        <p:nvSpPr>
          <p:cNvPr id="28" name="Shape 23"/>
          <p:cNvSpPr/>
          <p:nvPr/>
        </p:nvSpPr>
        <p:spPr>
          <a:xfrm>
            <a:off x="3246120" y="5440680"/>
            <a:ext cx="6858000" cy="822960"/>
          </a:xfrm>
          <a:prstGeom prst="roundRect">
            <a:avLst>
              <a:gd name="adj" fmla="val 17778"/>
            </a:avLst>
          </a:prstGeom>
          <a:solidFill>
            <a:srgbClr val="EAF5EC"/>
          </a:solidFill>
          <a:ln w="15875">
            <a:solidFill>
              <a:srgbClr val="5FA873"/>
            </a:solidFill>
            <a:prstDash val="solid"/>
          </a:ln>
        </p:spPr>
      </p:sp>
      <p:pic>
        <p:nvPicPr>
          <p:cNvPr id="29" name="Image 2" descr="UserFriends">    </p:cNvPr>
          <p:cNvPicPr>
            <a:picLocks noChangeAspect="1"/>
          </p:cNvPicPr>
          <p:nvPr/>
        </p:nvPicPr>
        <p:blipFill>
          <a:blip r:embed="rId3"/>
          <a:stretch>
            <a:fillRect/>
          </a:stretch>
        </p:blipFill>
        <p:spPr>
          <a:xfrm>
            <a:off x="3520440" y="5660136"/>
            <a:ext cx="384048" cy="384048"/>
          </a:xfrm>
          <a:prstGeom prst="rect">
            <a:avLst/>
          </a:prstGeom>
        </p:spPr>
      </p:pic>
      <p:sp>
        <p:nvSpPr>
          <p:cNvPr id="30" name="Text 24"/>
          <p:cNvSpPr txBox="1"/>
          <p:nvPr/>
        </p:nvSpPr>
        <p:spPr>
          <a:xfrm>
            <a:off x="4114800" y="5440680"/>
            <a:ext cx="5852160" cy="822960"/>
          </a:xfrm>
          <a:prstGeom prst="rect">
            <a:avLst/>
          </a:prstGeom>
          <a:noFill/>
          <a:ln/>
        </p:spPr>
        <p:txBody>
          <a:bodyPr wrap="square" lIns="0" tIns="0" rIns="0" bIns="0" rtlCol="0" anchor="ctr"/>
          <a:lstStyle/>
          <a:p>
            <a:pPr algn="ctr" indent="0" marL="0">
              <a:buNone/>
            </a:pPr>
            <a:r>
              <a:rPr lang="en-US" sz="1800" b="1" dirty="0">
                <a:solidFill>
                  <a:srgbClr val="2E6B44"/>
                </a:solidFill>
                <a:latin typeface="Calibri" pitchFamily="34" charset="0"/>
                <a:ea typeface="Calibri" pitchFamily="34" charset="-122"/>
                <a:cs typeface="Calibri" pitchFamily="34" charset="-120"/>
              </a:rPr>
              <a:t>Vertel je verhaal aan je partner.</a:t>
            </a:r>
            <a:endParaRPr lang="en-US" sz="1800" dirty="0"/>
          </a:p>
          <a:p>
            <a:pPr algn="ctr" indent="0" marL="0">
              <a:buNone/>
            </a:pPr>
            <a:r>
              <a:rPr lang="en-US" sz="1800" b="1" dirty="0">
                <a:solidFill>
                  <a:srgbClr val="2E6B44"/>
                </a:solidFill>
                <a:latin typeface="Calibri" pitchFamily="34" charset="0"/>
                <a:ea typeface="Calibri" pitchFamily="34" charset="-122"/>
                <a:cs typeface="Calibri" pitchFamily="34" charset="-120"/>
              </a:rPr>
              <a:t>Wat denkt hij/zij daarvan?</a:t>
            </a:r>
            <a:endParaRPr lang="en-US" sz="1800" dirty="0"/>
          </a:p>
        </p:txBody>
      </p:sp>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117</a:t>
            </a:fld>
            <a:endParaRPr lang="en-US"/>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spTree>
      <p:nvGrpSpPr>
        <p:cNvPr id="1" name=""/>
        <p:cNvGrpSpPr/>
        <p:nvPr/>
      </p:nvGrpSpPr>
      <p:grpSpPr>
        <a:xfrm>
          <a:off x="0" y="0"/>
          <a:ext cx="0" cy="0"/>
          <a:chOff x="0" y="0"/>
          <a:chExt cx="0" cy="0"/>
        </a:xfrm>
      </p:grpSpPr>
      <p:sp>
        <p:nvSpPr>
          <p:cNvPr id="2" name="Text 1"/>
          <p:cNvSpPr/>
          <p:nvPr>
            <p:ph idx="101" type="title" hasCustomPrompt="1"/>
          </p:nvPr>
        </p:nvSpPr>
        <p:spPr>
          <a:xfrm>
            <a:off x="1554480" y="384048"/>
            <a:ext cx="10241280" cy="658368"/>
          </a:xfrm>
          <a:prstGeom prst="rect">
            <a:avLst/>
          </a:prstGeom>
          <a:noFill/>
          <a:ln/>
        </p:spPr>
        <p:txBody>
          <a:bodyPr wrap="square" lIns="0" tIns="0" rIns="0" bIns="0" rtlCol="0" anchor="ctr"/>
          <a:lstStyle/>
          <a:p>
            <a:pPr algn="ctr" indent="0" marL="0">
              <a:buNone/>
            </a:pPr>
            <a:r>
              <a:rPr lang="en-US" sz="3000" b="1" dirty="0">
                <a:solidFill>
                  <a:srgbClr val="2B2F38"/>
                </a:solidFill>
              </a:rPr>
              <a:t>Over je cv</a:t>
            </a:r>
            <a:endParaRPr lang="en-US" sz="3000" dirty="0"/>
          </a:p>
        </p:txBody>
      </p:sp>
      <p:sp>
        <p:nvSpPr>
          <p:cNvPr id="4" name="Shape 1"/>
          <p:cNvSpPr/>
          <p:nvPr/>
        </p:nvSpPr>
        <p:spPr>
          <a:xfrm>
            <a:off x="365760" y="365760"/>
            <a:ext cx="868680" cy="5989320"/>
          </a:xfrm>
          <a:prstGeom prst="roundRect">
            <a:avLst>
              <a:gd name="adj" fmla="val 12632"/>
            </a:avLst>
          </a:prstGeom>
          <a:solidFill>
            <a:srgbClr val="F4E8F6"/>
          </a:solidFill>
          <a:ln w="28575">
            <a:solidFill>
              <a:srgbClr val="B57FCB"/>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7E4C97"/>
                </a:solidFill>
                <a:latin typeface="Calibri" pitchFamily="34" charset="0"/>
                <a:ea typeface="Calibri" pitchFamily="34" charset="-122"/>
                <a:cs typeface="Calibri" pitchFamily="34" charset="-120"/>
              </a:rPr>
              <a:t>A1 · Situations</a:t>
            </a:r>
            <a:endParaRPr lang="en-US" sz="3800" dirty="0"/>
          </a:p>
        </p:txBody>
      </p:sp>
      <p:sp>
        <p:nvSpPr>
          <p:cNvPr id="6" name="Shape 3"/>
          <p:cNvSpPr/>
          <p:nvPr/>
        </p:nvSpPr>
        <p:spPr>
          <a:xfrm>
            <a:off x="2519172" y="1124712"/>
            <a:ext cx="8311896" cy="5277231"/>
          </a:xfrm>
          <a:prstGeom prst="roundRect">
            <a:avLst>
              <a:gd name="adj" fmla="val 693"/>
            </a:avLst>
          </a:prstGeom>
          <a:solidFill>
            <a:srgbClr val="FFFFFF"/>
          </a:solidFill>
          <a:ln w="9525">
            <a:solidFill>
              <a:srgbClr val="E3E7EE"/>
            </a:solidFill>
            <a:prstDash val="solid"/>
          </a:ln>
          <a:effectLst>
            <a:outerShdw sx="100000" sy="100000" kx="0" ky="0" algn="bl" rotWithShape="0" blurRad="177800" dist="63500" dir="5400000">
              <a:srgbClr val="1B2430">
                <a:alpha val="25000"/>
              </a:srgbClr>
            </a:outerShdw>
          </a:effectLst>
        </p:spPr>
      </p:sp>
      <p:pic>
        <p:nvPicPr>
          <p:cNvPr id="7" name="Image 0" descr="/home/user/talenleren/neerlandais1/generateur/img/vijfzinnen/a1_cv.jpg">    </p:cNvPr>
          <p:cNvPicPr>
            <a:picLocks noChangeAspect="1"/>
          </p:cNvPicPr>
          <p:nvPr/>
        </p:nvPicPr>
        <p:blipFill>
          <a:blip r:embed="rId1"/>
          <a:stretch>
            <a:fillRect/>
          </a:stretch>
        </p:blipFill>
        <p:spPr>
          <a:xfrm>
            <a:off x="2628900" y="1234440"/>
            <a:ext cx="8092440" cy="5057775"/>
          </a:xfrm>
          <a:prstGeom prst="rect">
            <a:avLst/>
          </a:prstGeom>
        </p:spPr>
      </p:pic>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118</a:t>
            </a:fld>
            <a:endParaRPr lang="en-US"/>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spTree>
      <p:nvGrpSpPr>
        <p:cNvPr id="1" name=""/>
        <p:cNvGrpSpPr/>
        <p:nvPr/>
      </p:nvGrpSpPr>
      <p:grpSpPr>
        <a:xfrm>
          <a:off x="0" y="0"/>
          <a:ext cx="0" cy="0"/>
          <a:chOff x="0" y="0"/>
          <a:chExt cx="0" cy="0"/>
        </a:xfrm>
      </p:grpSpPr>
      <p:sp>
        <p:nvSpPr>
          <p:cNvPr id="2" name="Text 1"/>
          <p:cNvSpPr/>
          <p:nvPr>
            <p:ph idx="101" type="title" hasCustomPrompt="1"/>
          </p:nvPr>
        </p:nvSpPr>
        <p:spPr>
          <a:xfrm>
            <a:off x="1691640" y="347472"/>
            <a:ext cx="8138160" cy="914400"/>
          </a:xfrm>
          <a:prstGeom prst="rect">
            <a:avLst/>
          </a:prstGeom>
          <a:noFill/>
          <a:ln/>
        </p:spPr>
        <p:txBody>
          <a:bodyPr wrap="square" lIns="0" tIns="0" rIns="0" bIns="0" rtlCol="0" anchor="ctr"/>
          <a:lstStyle/>
          <a:p>
            <a:pPr algn="l" indent="0" marL="0">
              <a:buNone/>
            </a:pPr>
            <a:r>
              <a:rPr lang="en-US" sz="2400" b="1" dirty="0">
                <a:solidFill>
                  <a:srgbClr val="2B2F38"/>
                </a:solidFill>
              </a:rPr>
              <a:t>Hier is een voorbeeld van wat je had kunnen denken en zeggen…</a:t>
            </a:r>
            <a:endParaRPr lang="en-US" sz="2400" dirty="0"/>
          </a:p>
        </p:txBody>
      </p:sp>
      <p:sp>
        <p:nvSpPr>
          <p:cNvPr id="4" name="Shape 1"/>
          <p:cNvSpPr/>
          <p:nvPr/>
        </p:nvSpPr>
        <p:spPr>
          <a:xfrm>
            <a:off x="365760" y="365760"/>
            <a:ext cx="868680" cy="5989320"/>
          </a:xfrm>
          <a:prstGeom prst="roundRect">
            <a:avLst>
              <a:gd name="adj" fmla="val 12632"/>
            </a:avLst>
          </a:prstGeom>
          <a:solidFill>
            <a:srgbClr val="F4E8F6"/>
          </a:solidFill>
          <a:ln w="28575">
            <a:solidFill>
              <a:srgbClr val="B57FCB"/>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7E4C97"/>
                </a:solidFill>
                <a:latin typeface="Calibri" pitchFamily="34" charset="0"/>
                <a:ea typeface="Calibri" pitchFamily="34" charset="-122"/>
                <a:cs typeface="Calibri" pitchFamily="34" charset="-120"/>
              </a:rPr>
              <a:t>A1 · Situations</a:t>
            </a:r>
            <a:endParaRPr lang="en-US" sz="3800" dirty="0"/>
          </a:p>
        </p:txBody>
      </p:sp>
      <p:sp>
        <p:nvSpPr>
          <p:cNvPr id="6" name="Shape 3"/>
          <p:cNvSpPr/>
          <p:nvPr/>
        </p:nvSpPr>
        <p:spPr>
          <a:xfrm>
            <a:off x="10058400" y="246888"/>
            <a:ext cx="1691640" cy="1091565"/>
          </a:xfrm>
          <a:prstGeom prst="roundRect">
            <a:avLst>
              <a:gd name="adj" fmla="val 3351"/>
            </a:avLst>
          </a:prstGeom>
          <a:solidFill>
            <a:srgbClr val="FFFFFF"/>
          </a:solidFill>
          <a:ln w="9525">
            <a:solidFill>
              <a:srgbClr val="E3E7EE"/>
            </a:solidFill>
            <a:prstDash val="solid"/>
          </a:ln>
          <a:effectLst>
            <a:outerShdw sx="100000" sy="100000" kx="0" ky="0" algn="bl" rotWithShape="0" blurRad="76200" dist="25400" dir="5400000">
              <a:srgbClr val="1B2430">
                <a:alpha val="25000"/>
              </a:srgbClr>
            </a:outerShdw>
          </a:effectLst>
        </p:spPr>
      </p:sp>
      <p:pic>
        <p:nvPicPr>
          <p:cNvPr id="7" name="Image 0" descr="/home/user/talenleren/neerlandais1/generateur/img/vijfzinnen/a1_cv_s.jpg">    </p:cNvPr>
          <p:cNvPicPr>
            <a:picLocks noChangeAspect="1"/>
          </p:cNvPicPr>
          <p:nvPr/>
        </p:nvPicPr>
        <p:blipFill>
          <a:blip r:embed="rId1"/>
          <a:stretch>
            <a:fillRect/>
          </a:stretch>
        </p:blipFill>
        <p:spPr>
          <a:xfrm>
            <a:off x="10104120" y="292608"/>
            <a:ext cx="1600200" cy="1000125"/>
          </a:xfrm>
          <a:prstGeom prst="rect">
            <a:avLst/>
          </a:prstGeom>
        </p:spPr>
      </p:pic>
      <p:sp>
        <p:nvSpPr>
          <p:cNvPr id="8" name="Text 4"/>
          <p:cNvSpPr txBox="1"/>
          <p:nvPr/>
        </p:nvSpPr>
        <p:spPr>
          <a:xfrm>
            <a:off x="1691640" y="2264664"/>
            <a:ext cx="458724"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a:t>
            </a:r>
            <a:endParaRPr lang="en-US" sz="2400" dirty="0"/>
          </a:p>
        </p:txBody>
      </p:sp>
      <p:sp>
        <p:nvSpPr>
          <p:cNvPr id="9" name="Shape 5"/>
          <p:cNvSpPr/>
          <p:nvPr/>
        </p:nvSpPr>
        <p:spPr>
          <a:xfrm>
            <a:off x="2054657" y="2276856"/>
            <a:ext cx="2324100" cy="371856"/>
          </a:xfrm>
          <a:prstGeom prst="roundRect">
            <a:avLst>
              <a:gd name="adj" fmla="val 12295"/>
            </a:avLst>
          </a:prstGeom>
          <a:solidFill>
            <a:srgbClr val="E6F3DA"/>
          </a:solidFill>
          <a:ln w="12700">
            <a:solidFill>
              <a:srgbClr val="FFFFFF">
                <a:alpha val="0"/>
              </a:srgbClr>
            </a:solidFill>
            <a:prstDash val="solid"/>
          </a:ln>
        </p:spPr>
      </p:sp>
      <p:sp>
        <p:nvSpPr>
          <p:cNvPr id="10" name="Text 6"/>
          <p:cNvSpPr txBox="1"/>
          <p:nvPr/>
        </p:nvSpPr>
        <p:spPr>
          <a:xfrm>
            <a:off x="2054657" y="2264664"/>
            <a:ext cx="2324100"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Wat is uw beroep</a:t>
            </a:r>
            <a:endParaRPr lang="en-US" sz="2400" dirty="0"/>
          </a:p>
        </p:txBody>
      </p:sp>
      <p:sp>
        <p:nvSpPr>
          <p:cNvPr id="11" name="Text 7"/>
          <p:cNvSpPr txBox="1"/>
          <p:nvPr/>
        </p:nvSpPr>
        <p:spPr>
          <a:xfrm>
            <a:off x="4378757" y="2264664"/>
            <a:ext cx="2150669"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 — Ik ben kok.</a:t>
            </a:r>
            <a:endParaRPr lang="en-US" sz="2400" dirty="0"/>
          </a:p>
        </p:txBody>
      </p:sp>
      <p:sp>
        <p:nvSpPr>
          <p:cNvPr id="12" name="Shape 8"/>
          <p:cNvSpPr/>
          <p:nvPr/>
        </p:nvSpPr>
        <p:spPr>
          <a:xfrm>
            <a:off x="3216707" y="2200656"/>
            <a:ext cx="914" cy="76200"/>
          </a:xfrm>
          <a:prstGeom prst="line">
            <a:avLst/>
          </a:prstGeom>
          <a:noFill/>
          <a:ln w="15875">
            <a:solidFill>
              <a:srgbClr val="7AB648"/>
            </a:solidFill>
            <a:prstDash val="solid"/>
          </a:ln>
        </p:spPr>
      </p:sp>
      <p:sp>
        <p:nvSpPr>
          <p:cNvPr id="13" name="Shape 9"/>
          <p:cNvSpPr/>
          <p:nvPr/>
        </p:nvSpPr>
        <p:spPr>
          <a:xfrm>
            <a:off x="2875915" y="1953768"/>
            <a:ext cx="681584" cy="246888"/>
          </a:xfrm>
          <a:prstGeom prst="roundRect">
            <a:avLst>
              <a:gd name="adj" fmla="val 14815"/>
            </a:avLst>
          </a:prstGeom>
          <a:solidFill>
            <a:srgbClr val="7AB648"/>
          </a:solidFill>
          <a:ln w="12700">
            <a:solidFill>
              <a:srgbClr val="FFFFFF">
                <a:alpha val="0"/>
              </a:srgbClr>
            </a:solidFill>
            <a:prstDash val="solid"/>
          </a:ln>
        </p:spPr>
      </p:sp>
      <p:sp>
        <p:nvSpPr>
          <p:cNvPr id="14" name="Text 10"/>
          <p:cNvSpPr txBox="1"/>
          <p:nvPr/>
        </p:nvSpPr>
        <p:spPr>
          <a:xfrm>
            <a:off x="2875915" y="1953768"/>
            <a:ext cx="681584"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BEROEP</a:t>
            </a:r>
            <a:endParaRPr lang="en-US" sz="1100" dirty="0"/>
          </a:p>
        </p:txBody>
      </p:sp>
      <p:sp>
        <p:nvSpPr>
          <p:cNvPr id="15" name="Text 11"/>
          <p:cNvSpPr txBox="1"/>
          <p:nvPr/>
        </p:nvSpPr>
        <p:spPr>
          <a:xfrm>
            <a:off x="1691640" y="3319272"/>
            <a:ext cx="458724"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a:t>
            </a:r>
            <a:endParaRPr lang="en-US" sz="2400" dirty="0"/>
          </a:p>
        </p:txBody>
      </p:sp>
      <p:sp>
        <p:nvSpPr>
          <p:cNvPr id="16" name="Shape 12"/>
          <p:cNvSpPr/>
          <p:nvPr/>
        </p:nvSpPr>
        <p:spPr>
          <a:xfrm>
            <a:off x="2054657" y="3331464"/>
            <a:ext cx="2142134" cy="371856"/>
          </a:xfrm>
          <a:prstGeom prst="roundRect">
            <a:avLst>
              <a:gd name="adj" fmla="val 12295"/>
            </a:avLst>
          </a:prstGeom>
          <a:solidFill>
            <a:srgbClr val="E6F3DA"/>
          </a:solidFill>
          <a:ln w="12700">
            <a:solidFill>
              <a:srgbClr val="FFFFFF">
                <a:alpha val="0"/>
              </a:srgbClr>
            </a:solidFill>
            <a:prstDash val="solid"/>
          </a:ln>
        </p:spPr>
      </p:sp>
      <p:sp>
        <p:nvSpPr>
          <p:cNvPr id="17" name="Text 13"/>
          <p:cNvSpPr txBox="1"/>
          <p:nvPr/>
        </p:nvSpPr>
        <p:spPr>
          <a:xfrm>
            <a:off x="2054657" y="3319272"/>
            <a:ext cx="2142134"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Welke opleiding</a:t>
            </a:r>
            <a:endParaRPr lang="en-US" sz="2400" dirty="0"/>
          </a:p>
        </p:txBody>
      </p:sp>
      <p:sp>
        <p:nvSpPr>
          <p:cNvPr id="18" name="Text 14"/>
          <p:cNvSpPr txBox="1"/>
          <p:nvPr/>
        </p:nvSpPr>
        <p:spPr>
          <a:xfrm>
            <a:off x="4283964" y="3319272"/>
            <a:ext cx="4585716"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volgt u? — Een cursus Nederlands!</a:t>
            </a:r>
            <a:endParaRPr lang="en-US" sz="2400" dirty="0"/>
          </a:p>
        </p:txBody>
      </p:sp>
      <p:sp>
        <p:nvSpPr>
          <p:cNvPr id="19" name="Shape 15"/>
          <p:cNvSpPr/>
          <p:nvPr/>
        </p:nvSpPr>
        <p:spPr>
          <a:xfrm>
            <a:off x="3125724" y="3255264"/>
            <a:ext cx="914" cy="76200"/>
          </a:xfrm>
          <a:prstGeom prst="line">
            <a:avLst/>
          </a:prstGeom>
          <a:noFill/>
          <a:ln w="15875">
            <a:solidFill>
              <a:srgbClr val="7AB648"/>
            </a:solidFill>
            <a:prstDash val="solid"/>
          </a:ln>
        </p:spPr>
      </p:sp>
      <p:sp>
        <p:nvSpPr>
          <p:cNvPr id="20" name="Shape 16"/>
          <p:cNvSpPr/>
          <p:nvPr/>
        </p:nvSpPr>
        <p:spPr>
          <a:xfrm>
            <a:off x="2696153" y="3008376"/>
            <a:ext cx="859142" cy="246888"/>
          </a:xfrm>
          <a:prstGeom prst="roundRect">
            <a:avLst>
              <a:gd name="adj" fmla="val 14815"/>
            </a:avLst>
          </a:prstGeom>
          <a:solidFill>
            <a:srgbClr val="7AB648"/>
          </a:solidFill>
          <a:ln w="12700">
            <a:solidFill>
              <a:srgbClr val="FFFFFF">
                <a:alpha val="0"/>
              </a:srgbClr>
            </a:solidFill>
            <a:prstDash val="solid"/>
          </a:ln>
        </p:spPr>
      </p:sp>
      <p:sp>
        <p:nvSpPr>
          <p:cNvPr id="21" name="Text 17"/>
          <p:cNvSpPr txBox="1"/>
          <p:nvPr/>
        </p:nvSpPr>
        <p:spPr>
          <a:xfrm>
            <a:off x="2696153" y="3008376"/>
            <a:ext cx="859142"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OPLEIDING</a:t>
            </a:r>
            <a:endParaRPr lang="en-US" sz="1100" dirty="0"/>
          </a:p>
        </p:txBody>
      </p:sp>
      <p:sp>
        <p:nvSpPr>
          <p:cNvPr id="22" name="Text 18"/>
          <p:cNvSpPr txBox="1"/>
          <p:nvPr/>
        </p:nvSpPr>
        <p:spPr>
          <a:xfrm>
            <a:off x="1691640" y="4373880"/>
            <a:ext cx="458724"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a:t>
            </a:r>
            <a:endParaRPr lang="en-US" sz="2400" dirty="0"/>
          </a:p>
        </p:txBody>
      </p:sp>
      <p:sp>
        <p:nvSpPr>
          <p:cNvPr id="23" name="Shape 19"/>
          <p:cNvSpPr/>
          <p:nvPr/>
        </p:nvSpPr>
        <p:spPr>
          <a:xfrm>
            <a:off x="2054657" y="4386072"/>
            <a:ext cx="1298753" cy="371856"/>
          </a:xfrm>
          <a:prstGeom prst="roundRect">
            <a:avLst>
              <a:gd name="adj" fmla="val 12295"/>
            </a:avLst>
          </a:prstGeom>
          <a:solidFill>
            <a:srgbClr val="E6F3DA"/>
          </a:solidFill>
          <a:ln w="12700">
            <a:solidFill>
              <a:srgbClr val="FFFFFF">
                <a:alpha val="0"/>
              </a:srgbClr>
            </a:solidFill>
            <a:prstDash val="solid"/>
          </a:ln>
        </p:spPr>
      </p:sp>
      <p:sp>
        <p:nvSpPr>
          <p:cNvPr id="24" name="Text 20"/>
          <p:cNvSpPr txBox="1"/>
          <p:nvPr/>
        </p:nvSpPr>
        <p:spPr>
          <a:xfrm>
            <a:off x="2054657" y="4373880"/>
            <a:ext cx="1298753"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Spreekt u</a:t>
            </a:r>
            <a:endParaRPr lang="en-US" sz="2400" dirty="0"/>
          </a:p>
        </p:txBody>
      </p:sp>
      <p:sp>
        <p:nvSpPr>
          <p:cNvPr id="25" name="Text 21"/>
          <p:cNvSpPr txBox="1"/>
          <p:nvPr/>
        </p:nvSpPr>
        <p:spPr>
          <a:xfrm>
            <a:off x="3440582" y="4373880"/>
            <a:ext cx="4020922"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Nederlands? — Ja, een beetje.</a:t>
            </a:r>
            <a:endParaRPr lang="en-US" sz="2400" dirty="0"/>
          </a:p>
        </p:txBody>
      </p:sp>
      <p:sp>
        <p:nvSpPr>
          <p:cNvPr id="26" name="Shape 22"/>
          <p:cNvSpPr/>
          <p:nvPr/>
        </p:nvSpPr>
        <p:spPr>
          <a:xfrm>
            <a:off x="2704033" y="4309872"/>
            <a:ext cx="914" cy="76200"/>
          </a:xfrm>
          <a:prstGeom prst="line">
            <a:avLst/>
          </a:prstGeom>
          <a:noFill/>
          <a:ln w="15875">
            <a:solidFill>
              <a:srgbClr val="7AB648"/>
            </a:solidFill>
            <a:prstDash val="solid"/>
          </a:ln>
        </p:spPr>
      </p:sp>
      <p:sp>
        <p:nvSpPr>
          <p:cNvPr id="27" name="Shape 23"/>
          <p:cNvSpPr/>
          <p:nvPr/>
        </p:nvSpPr>
        <p:spPr>
          <a:xfrm>
            <a:off x="2282425" y="4062984"/>
            <a:ext cx="843217" cy="246888"/>
          </a:xfrm>
          <a:prstGeom prst="roundRect">
            <a:avLst>
              <a:gd name="adj" fmla="val 14815"/>
            </a:avLst>
          </a:prstGeom>
          <a:solidFill>
            <a:srgbClr val="7AB648"/>
          </a:solidFill>
          <a:ln w="12700">
            <a:solidFill>
              <a:srgbClr val="FFFFFF">
                <a:alpha val="0"/>
              </a:srgbClr>
            </a:solidFill>
            <a:prstDash val="solid"/>
          </a:ln>
        </p:spPr>
      </p:sp>
      <p:sp>
        <p:nvSpPr>
          <p:cNvPr id="28" name="Text 24"/>
          <p:cNvSpPr txBox="1"/>
          <p:nvPr/>
        </p:nvSpPr>
        <p:spPr>
          <a:xfrm>
            <a:off x="2282425" y="4062984"/>
            <a:ext cx="843217"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SPREEKT U</a:t>
            </a:r>
            <a:endParaRPr lang="en-US" sz="1100" dirty="0"/>
          </a:p>
        </p:txBody>
      </p:sp>
      <p:sp>
        <p:nvSpPr>
          <p:cNvPr id="29" name="Text 25"/>
          <p:cNvSpPr txBox="1"/>
          <p:nvPr/>
        </p:nvSpPr>
        <p:spPr>
          <a:xfrm>
            <a:off x="1691640" y="5428488"/>
            <a:ext cx="458724"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a:t>
            </a:r>
            <a:endParaRPr lang="en-US" sz="2400" dirty="0"/>
          </a:p>
        </p:txBody>
      </p:sp>
      <p:sp>
        <p:nvSpPr>
          <p:cNvPr id="30" name="Shape 26"/>
          <p:cNvSpPr/>
          <p:nvPr/>
        </p:nvSpPr>
        <p:spPr>
          <a:xfrm>
            <a:off x="2054657" y="5440680"/>
            <a:ext cx="2055571" cy="371856"/>
          </a:xfrm>
          <a:prstGeom prst="roundRect">
            <a:avLst>
              <a:gd name="adj" fmla="val 12295"/>
            </a:avLst>
          </a:prstGeom>
          <a:solidFill>
            <a:srgbClr val="E6F3DA"/>
          </a:solidFill>
          <a:ln w="12700">
            <a:solidFill>
              <a:srgbClr val="FFFFFF">
                <a:alpha val="0"/>
              </a:srgbClr>
            </a:solidFill>
            <a:prstDash val="solid"/>
          </a:ln>
        </p:spPr>
      </p:sp>
      <p:sp>
        <p:nvSpPr>
          <p:cNvPr id="31" name="Text 27"/>
          <p:cNvSpPr txBox="1"/>
          <p:nvPr/>
        </p:nvSpPr>
        <p:spPr>
          <a:xfrm>
            <a:off x="2054657" y="5428488"/>
            <a:ext cx="2055571"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Hebt u ervaring</a:t>
            </a:r>
            <a:endParaRPr lang="en-US" sz="2400" dirty="0"/>
          </a:p>
        </p:txBody>
      </p:sp>
      <p:sp>
        <p:nvSpPr>
          <p:cNvPr id="32" name="Text 28"/>
          <p:cNvSpPr txBox="1"/>
          <p:nvPr/>
        </p:nvSpPr>
        <p:spPr>
          <a:xfrm>
            <a:off x="4110228" y="5428488"/>
            <a:ext cx="1227734"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 — Ja…</a:t>
            </a:r>
            <a:endParaRPr lang="en-US" sz="2400" dirty="0"/>
          </a:p>
        </p:txBody>
      </p:sp>
      <p:sp>
        <p:nvSpPr>
          <p:cNvPr id="33" name="Shape 29"/>
          <p:cNvSpPr/>
          <p:nvPr/>
        </p:nvSpPr>
        <p:spPr>
          <a:xfrm>
            <a:off x="5242255" y="5440680"/>
            <a:ext cx="3890467" cy="371856"/>
          </a:xfrm>
          <a:prstGeom prst="roundRect">
            <a:avLst>
              <a:gd name="adj" fmla="val 12295"/>
            </a:avLst>
          </a:prstGeom>
          <a:solidFill>
            <a:srgbClr val="E6F3DA"/>
          </a:solidFill>
          <a:ln w="12700">
            <a:solidFill>
              <a:srgbClr val="FFFFFF">
                <a:alpha val="0"/>
              </a:srgbClr>
            </a:solidFill>
            <a:prstDash val="solid"/>
          </a:ln>
        </p:spPr>
      </p:sp>
      <p:sp>
        <p:nvSpPr>
          <p:cNvPr id="34" name="Text 30"/>
          <p:cNvSpPr txBox="1"/>
          <p:nvPr/>
        </p:nvSpPr>
        <p:spPr>
          <a:xfrm>
            <a:off x="5242255" y="5428488"/>
            <a:ext cx="3890467"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in mijn keuken, voor mijn kat!</a:t>
            </a:r>
            <a:endParaRPr lang="en-US" sz="2400" dirty="0"/>
          </a:p>
        </p:txBody>
      </p:sp>
      <p:sp>
        <p:nvSpPr>
          <p:cNvPr id="35" name="Shape 31"/>
          <p:cNvSpPr/>
          <p:nvPr/>
        </p:nvSpPr>
        <p:spPr>
          <a:xfrm>
            <a:off x="3082442" y="5364480"/>
            <a:ext cx="914" cy="76200"/>
          </a:xfrm>
          <a:prstGeom prst="line">
            <a:avLst/>
          </a:prstGeom>
          <a:noFill/>
          <a:ln w="15875">
            <a:solidFill>
              <a:srgbClr val="7AB648"/>
            </a:solidFill>
            <a:prstDash val="solid"/>
          </a:ln>
        </p:spPr>
      </p:sp>
      <p:sp>
        <p:nvSpPr>
          <p:cNvPr id="36" name="Shape 32"/>
          <p:cNvSpPr/>
          <p:nvPr/>
        </p:nvSpPr>
        <p:spPr>
          <a:xfrm>
            <a:off x="2667191" y="5117592"/>
            <a:ext cx="830504" cy="246888"/>
          </a:xfrm>
          <a:prstGeom prst="roundRect">
            <a:avLst>
              <a:gd name="adj" fmla="val 14815"/>
            </a:avLst>
          </a:prstGeom>
          <a:solidFill>
            <a:srgbClr val="7AB648"/>
          </a:solidFill>
          <a:ln w="12700">
            <a:solidFill>
              <a:srgbClr val="FFFFFF">
                <a:alpha val="0"/>
              </a:srgbClr>
            </a:solidFill>
            <a:prstDash val="solid"/>
          </a:ln>
        </p:spPr>
      </p:sp>
      <p:sp>
        <p:nvSpPr>
          <p:cNvPr id="37" name="Text 33"/>
          <p:cNvSpPr txBox="1"/>
          <p:nvPr/>
        </p:nvSpPr>
        <p:spPr>
          <a:xfrm>
            <a:off x="2667191" y="5117592"/>
            <a:ext cx="830504"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ERVARING</a:t>
            </a:r>
            <a:endParaRPr lang="en-US" sz="1100" dirty="0"/>
          </a:p>
        </p:txBody>
      </p:sp>
      <p:sp>
        <p:nvSpPr>
          <p:cNvPr id="38" name="Shape 34"/>
          <p:cNvSpPr/>
          <p:nvPr/>
        </p:nvSpPr>
        <p:spPr>
          <a:xfrm>
            <a:off x="7187489" y="5364480"/>
            <a:ext cx="914" cy="76200"/>
          </a:xfrm>
          <a:prstGeom prst="line">
            <a:avLst/>
          </a:prstGeom>
          <a:noFill/>
          <a:ln w="15875">
            <a:solidFill>
              <a:srgbClr val="7AB648"/>
            </a:solidFill>
            <a:prstDash val="solid"/>
          </a:ln>
        </p:spPr>
      </p:sp>
      <p:sp>
        <p:nvSpPr>
          <p:cNvPr id="39" name="Shape 35"/>
          <p:cNvSpPr/>
          <p:nvPr/>
        </p:nvSpPr>
        <p:spPr>
          <a:xfrm>
            <a:off x="6882460" y="5117592"/>
            <a:ext cx="610057" cy="246888"/>
          </a:xfrm>
          <a:prstGeom prst="roundRect">
            <a:avLst>
              <a:gd name="adj" fmla="val 14815"/>
            </a:avLst>
          </a:prstGeom>
          <a:solidFill>
            <a:srgbClr val="7AB648"/>
          </a:solidFill>
          <a:ln w="12700">
            <a:solidFill>
              <a:srgbClr val="FFFFFF">
                <a:alpha val="0"/>
              </a:srgbClr>
            </a:solidFill>
            <a:prstDash val="solid"/>
          </a:ln>
        </p:spPr>
      </p:sp>
      <p:sp>
        <p:nvSpPr>
          <p:cNvPr id="40" name="Text 36"/>
          <p:cNvSpPr txBox="1"/>
          <p:nvPr/>
        </p:nvSpPr>
        <p:spPr>
          <a:xfrm>
            <a:off x="6882460" y="5117592"/>
            <a:ext cx="610057"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CHUTE</a:t>
            </a:r>
            <a:endParaRPr lang="en-US" sz="1100" dirty="0"/>
          </a:p>
        </p:txBody>
      </p:sp>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119</a:t>
            </a:fld>
            <a:endParaRPr lang="en-US"/>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spTree>
      <p:nvGrpSpPr>
        <p:cNvPr id="1" name=""/>
        <p:cNvGrpSpPr/>
        <p:nvPr/>
      </p:nvGrpSpPr>
      <p:grpSpPr>
        <a:xfrm>
          <a:off x="0" y="0"/>
          <a:ext cx="0" cy="0"/>
          <a:chOff x="0" y="0"/>
          <a:chExt cx="0" cy="0"/>
        </a:xfrm>
      </p:grpSpPr>
      <p:sp>
        <p:nvSpPr>
          <p:cNvPr id="2" name="Text 1"/>
          <p:cNvSpPr/>
          <p:nvPr>
            <p:ph idx="101" type="title" hasCustomPrompt="1"/>
          </p:nvPr>
        </p:nvSpPr>
        <p:spPr>
          <a:xfrm>
            <a:off x="1554480" y="384048"/>
            <a:ext cx="10241280" cy="658368"/>
          </a:xfrm>
          <a:prstGeom prst="rect">
            <a:avLst/>
          </a:prstGeom>
          <a:noFill/>
          <a:ln/>
        </p:spPr>
        <p:txBody>
          <a:bodyPr wrap="square" lIns="0" tIns="0" rIns="0" bIns="0" rtlCol="0" anchor="ctr"/>
          <a:lstStyle/>
          <a:p>
            <a:pPr algn="ctr" indent="0" marL="0">
              <a:buNone/>
            </a:pPr>
            <a:r>
              <a:rPr lang="en-US" sz="3000" b="1" dirty="0">
                <a:solidFill>
                  <a:srgbClr val="2B2F38"/>
                </a:solidFill>
              </a:rPr>
              <a:t>Gebruik deze afbeelding als inspiratie</a:t>
            </a:r>
            <a:endParaRPr lang="en-US" sz="3000" dirty="0"/>
          </a:p>
        </p:txBody>
      </p:sp>
      <p:sp>
        <p:nvSpPr>
          <p:cNvPr id="4" name="Shape 1"/>
          <p:cNvSpPr/>
          <p:nvPr/>
        </p:nvSpPr>
        <p:spPr>
          <a:xfrm>
            <a:off x="365760" y="365760"/>
            <a:ext cx="868680" cy="5989320"/>
          </a:xfrm>
          <a:prstGeom prst="roundRect">
            <a:avLst>
              <a:gd name="adj" fmla="val 12632"/>
            </a:avLst>
          </a:prstGeom>
          <a:solidFill>
            <a:srgbClr val="F4E8F6"/>
          </a:solidFill>
          <a:ln w="28575">
            <a:solidFill>
              <a:srgbClr val="B57FCB"/>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7E4C97"/>
                </a:solidFill>
                <a:latin typeface="Calibri" pitchFamily="34" charset="0"/>
                <a:ea typeface="Calibri" pitchFamily="34" charset="-122"/>
                <a:cs typeface="Calibri" pitchFamily="34" charset="-120"/>
              </a:rPr>
              <a:t>A1 · Situations</a:t>
            </a:r>
            <a:endParaRPr lang="en-US" sz="3800" dirty="0"/>
          </a:p>
        </p:txBody>
      </p:sp>
      <p:sp>
        <p:nvSpPr>
          <p:cNvPr id="6" name="Text 3"/>
          <p:cNvSpPr txBox="1"/>
          <p:nvPr/>
        </p:nvSpPr>
        <p:spPr>
          <a:xfrm>
            <a:off x="1554480" y="1024128"/>
            <a:ext cx="10241280" cy="365760"/>
          </a:xfrm>
          <a:prstGeom prst="rect">
            <a:avLst/>
          </a:prstGeom>
          <a:noFill/>
          <a:ln/>
        </p:spPr>
        <p:txBody>
          <a:bodyPr wrap="square" lIns="0" tIns="0" rIns="0" bIns="0" rtlCol="0" anchor="ctr"/>
          <a:lstStyle/>
          <a:p>
            <a:pPr algn="ctr" indent="0" marL="0">
              <a:buNone/>
            </a:pPr>
            <a:r>
              <a:rPr lang="en-US" sz="1500" b="1" dirty="0">
                <a:solidFill>
                  <a:srgbClr val="7E4C97"/>
                </a:solidFill>
                <a:latin typeface="Calibri" pitchFamily="34" charset="0"/>
                <a:ea typeface="Calibri" pitchFamily="34" charset="-122"/>
                <a:cs typeface="Calibri" pitchFamily="34" charset="-120"/>
              </a:rPr>
              <a:t>38 · Wanneer ben je vrij?</a:t>
            </a:r>
            <a:r>
              <a:rPr lang="en-US" sz="1500" i="1" dirty="0">
                <a:solidFill>
                  <a:srgbClr val="6B7280"/>
                </a:solidFill>
                <a:latin typeface="Calibri" pitchFamily="34" charset="0"/>
                <a:ea typeface="Calibri" pitchFamily="34" charset="-122"/>
                <a:cs typeface="Calibri" pitchFamily="34" charset="-120"/>
              </a:rPr>
              <a:t>   Quand es-tu libre ?</a:t>
            </a:r>
            <a:r>
              <a:rPr lang="en-US" sz="1200" dirty="0">
                <a:solidFill>
                  <a:srgbClr val="9AA3B2"/>
                </a:solidFill>
                <a:latin typeface="Calibri" pitchFamily="34" charset="0"/>
                <a:ea typeface="Calibri" pitchFamily="34" charset="-122"/>
                <a:cs typeface="Calibri" pitchFamily="34" charset="-120"/>
              </a:rPr>
              <a:t>   ·   syllabus fiche 3 · p. 94</a:t>
            </a:r>
            <a:endParaRPr lang="en-US" sz="1500" dirty="0"/>
          </a:p>
        </p:txBody>
      </p:sp>
      <p:sp>
        <p:nvSpPr>
          <p:cNvPr id="7" name="Shape 4"/>
          <p:cNvSpPr/>
          <p:nvPr/>
        </p:nvSpPr>
        <p:spPr>
          <a:xfrm>
            <a:off x="1596085" y="1504645"/>
            <a:ext cx="4534510" cy="2905735"/>
          </a:xfrm>
          <a:prstGeom prst="roundRect">
            <a:avLst>
              <a:gd name="adj" fmla="val 1259"/>
            </a:avLst>
          </a:prstGeom>
          <a:solidFill>
            <a:srgbClr val="FFFFFF"/>
          </a:solidFill>
          <a:ln w="9525">
            <a:solidFill>
              <a:srgbClr val="E3E7EE"/>
            </a:solidFill>
            <a:prstDash val="solid"/>
          </a:ln>
          <a:effectLst>
            <a:outerShdw sx="100000" sy="100000" kx="0" ky="0" algn="bl" rotWithShape="0" blurRad="127000" dist="50800" dir="5400000">
              <a:srgbClr val="1B2430">
                <a:alpha val="25000"/>
              </a:srgbClr>
            </a:outerShdw>
          </a:effectLst>
        </p:spPr>
      </p:sp>
      <p:pic>
        <p:nvPicPr>
          <p:cNvPr id="8" name="Image 0" descr="/home/user/talenleren/neerlandais1/generateur/img/vijfzinnen/a1_agenda_s.jpg">    </p:cNvPr>
          <p:cNvPicPr>
            <a:picLocks noChangeAspect="1"/>
          </p:cNvPicPr>
          <p:nvPr/>
        </p:nvPicPr>
        <p:blipFill>
          <a:blip r:embed="rId1"/>
          <a:stretch>
            <a:fillRect/>
          </a:stretch>
        </p:blipFill>
        <p:spPr>
          <a:xfrm>
            <a:off x="1691640" y="1600200"/>
            <a:ext cx="4343400" cy="2714625"/>
          </a:xfrm>
          <a:prstGeom prst="rect">
            <a:avLst/>
          </a:prstGeom>
        </p:spPr>
      </p:pic>
      <p:sp>
        <p:nvSpPr>
          <p:cNvPr id="9" name="Shape 5"/>
          <p:cNvSpPr/>
          <p:nvPr/>
        </p:nvSpPr>
        <p:spPr>
          <a:xfrm>
            <a:off x="1691640" y="4572000"/>
            <a:ext cx="1600200" cy="365760"/>
          </a:xfrm>
          <a:prstGeom prst="roundRect">
            <a:avLst>
              <a:gd name="adj" fmla="val 50000"/>
            </a:avLst>
          </a:prstGeom>
          <a:solidFill>
            <a:srgbClr val="FDF1E6"/>
          </a:solidFill>
          <a:ln w="12700">
            <a:solidFill>
              <a:srgbClr val="D9822B"/>
            </a:solidFill>
            <a:prstDash val="solid"/>
          </a:ln>
        </p:spPr>
      </p:sp>
      <p:pic>
        <p:nvPicPr>
          <p:cNvPr id="10" name="Image 1" descr="Comments">    </p:cNvPr>
          <p:cNvPicPr>
            <a:picLocks noChangeAspect="1"/>
          </p:cNvPicPr>
          <p:nvPr/>
        </p:nvPicPr>
        <p:blipFill>
          <a:blip r:embed="rId2"/>
          <a:stretch>
            <a:fillRect/>
          </a:stretch>
        </p:blipFill>
        <p:spPr>
          <a:xfrm>
            <a:off x="1819656" y="4654296"/>
            <a:ext cx="201168" cy="201168"/>
          </a:xfrm>
          <a:prstGeom prst="rect">
            <a:avLst/>
          </a:prstGeom>
        </p:spPr>
      </p:pic>
      <p:sp>
        <p:nvSpPr>
          <p:cNvPr id="11" name="Text 6"/>
          <p:cNvSpPr txBox="1"/>
          <p:nvPr/>
        </p:nvSpPr>
        <p:spPr>
          <a:xfrm>
            <a:off x="2075688" y="4572000"/>
            <a:ext cx="1143000" cy="365760"/>
          </a:xfrm>
          <a:prstGeom prst="rect">
            <a:avLst/>
          </a:prstGeom>
          <a:noFill/>
          <a:ln/>
        </p:spPr>
        <p:txBody>
          <a:bodyPr wrap="square" lIns="0" tIns="0" rIns="0" bIns="0" rtlCol="0" anchor="ctr"/>
          <a:lstStyle/>
          <a:p>
            <a:pPr algn="l" indent="0" marL="0">
              <a:buNone/>
            </a:pPr>
            <a:r>
              <a:rPr lang="en-US" sz="1150" b="1" spc="100" kern="0" dirty="0">
                <a:solidFill>
                  <a:srgbClr val="D9822B"/>
                </a:solidFill>
                <a:latin typeface="Calibri" pitchFamily="34" charset="0"/>
                <a:ea typeface="Calibri" pitchFamily="34" charset="-122"/>
                <a:cs typeface="Calibri" pitchFamily="34" charset="-120"/>
              </a:rPr>
              <a:t>À L’ORAL</a:t>
            </a:r>
            <a:endParaRPr lang="en-US" sz="1150" dirty="0"/>
          </a:p>
        </p:txBody>
      </p:sp>
      <p:sp>
        <p:nvSpPr>
          <p:cNvPr id="12" name="Text 7"/>
          <p:cNvSpPr txBox="1"/>
          <p:nvPr/>
        </p:nvSpPr>
        <p:spPr>
          <a:xfrm>
            <a:off x="3429000" y="4544568"/>
            <a:ext cx="2651760" cy="731520"/>
          </a:xfrm>
          <a:prstGeom prst="rect">
            <a:avLst/>
          </a:prstGeom>
          <a:noFill/>
          <a:ln/>
        </p:spPr>
        <p:txBody>
          <a:bodyPr wrap="square" lIns="0" tIns="0" rIns="0" bIns="0" rtlCol="0" anchor="t"/>
          <a:lstStyle/>
          <a:p>
            <a:pPr algn="l" indent="0" marL="0">
              <a:buNone/>
            </a:pPr>
            <a:r>
              <a:rPr lang="en-US" sz="1150" i="1" dirty="0">
                <a:solidFill>
                  <a:srgbClr val="6B7280"/>
                </a:solidFill>
                <a:latin typeface="Calibri" pitchFamily="34" charset="0"/>
                <a:ea typeface="Calibri" pitchFamily="34" charset="-122"/>
                <a:cs typeface="Calibri" pitchFamily="34" charset="-120"/>
              </a:rPr>
              <a:t>Vous fixez un rendez-vous avec un·e collègue pour un projet.</a:t>
            </a:r>
            <a:endParaRPr lang="en-US" sz="1150" dirty="0"/>
          </a:p>
        </p:txBody>
      </p:sp>
      <p:sp>
        <p:nvSpPr>
          <p:cNvPr id="13" name="Shape 8"/>
          <p:cNvSpPr/>
          <p:nvPr/>
        </p:nvSpPr>
        <p:spPr>
          <a:xfrm>
            <a:off x="6355080" y="1673352"/>
            <a:ext cx="914400" cy="402336"/>
          </a:xfrm>
          <a:prstGeom prst="roundRect">
            <a:avLst>
              <a:gd name="adj" fmla="val 13636"/>
            </a:avLst>
          </a:prstGeom>
          <a:solidFill>
            <a:srgbClr val="5FA873"/>
          </a:solidFill>
          <a:ln w="12700">
            <a:solidFill>
              <a:srgbClr val="FFFFFF">
                <a:alpha val="0"/>
              </a:srgbClr>
            </a:solidFill>
            <a:prstDash val="solid"/>
          </a:ln>
        </p:spPr>
      </p:sp>
      <p:sp>
        <p:nvSpPr>
          <p:cNvPr id="14" name="Text 9"/>
          <p:cNvSpPr txBox="1"/>
          <p:nvPr/>
        </p:nvSpPr>
        <p:spPr>
          <a:xfrm>
            <a:off x="6355080" y="167335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1</a:t>
            </a:r>
            <a:endParaRPr lang="en-US" sz="1600" dirty="0"/>
          </a:p>
        </p:txBody>
      </p:sp>
      <p:sp>
        <p:nvSpPr>
          <p:cNvPr id="15" name="Text 10"/>
          <p:cNvSpPr txBox="1"/>
          <p:nvPr/>
        </p:nvSpPr>
        <p:spPr>
          <a:xfrm>
            <a:off x="7406640" y="1618488"/>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Demandez : </a:t>
            </a:r>
            <a:r>
              <a:rPr lang="en-US" sz="1450" b="1" dirty="0">
                <a:solidFill>
                  <a:srgbClr val="2B2F38"/>
                </a:solidFill>
              </a:rPr>
              <a:t>WANNEER BEN JE VRIJ?</a:t>
            </a:r>
            <a:endParaRPr lang="en-US" sz="1450" dirty="0"/>
          </a:p>
        </p:txBody>
      </p:sp>
      <p:sp>
        <p:nvSpPr>
          <p:cNvPr id="16" name="Shape 11"/>
          <p:cNvSpPr/>
          <p:nvPr/>
        </p:nvSpPr>
        <p:spPr>
          <a:xfrm>
            <a:off x="6355080" y="2404872"/>
            <a:ext cx="914400" cy="402336"/>
          </a:xfrm>
          <a:prstGeom prst="roundRect">
            <a:avLst>
              <a:gd name="adj" fmla="val 13636"/>
            </a:avLst>
          </a:prstGeom>
          <a:solidFill>
            <a:srgbClr val="5FA873"/>
          </a:solidFill>
          <a:ln w="12700">
            <a:solidFill>
              <a:srgbClr val="FFFFFF">
                <a:alpha val="0"/>
              </a:srgbClr>
            </a:solidFill>
            <a:prstDash val="solid"/>
          </a:ln>
        </p:spPr>
      </p:sp>
      <p:sp>
        <p:nvSpPr>
          <p:cNvPr id="17" name="Text 12"/>
          <p:cNvSpPr txBox="1"/>
          <p:nvPr/>
        </p:nvSpPr>
        <p:spPr>
          <a:xfrm>
            <a:off x="6355080" y="240487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2</a:t>
            </a:r>
            <a:endParaRPr lang="en-US" sz="1600" dirty="0"/>
          </a:p>
        </p:txBody>
      </p:sp>
      <p:sp>
        <p:nvSpPr>
          <p:cNvPr id="18" name="Text 13"/>
          <p:cNvSpPr txBox="1"/>
          <p:nvPr/>
        </p:nvSpPr>
        <p:spPr>
          <a:xfrm>
            <a:off x="7406640" y="2350008"/>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Un jour : </a:t>
            </a:r>
            <a:r>
              <a:rPr lang="en-US" sz="1450" b="1" dirty="0">
                <a:solidFill>
                  <a:srgbClr val="2B2F38"/>
                </a:solidFill>
              </a:rPr>
              <a:t>OP</a:t>
            </a:r>
            <a:r>
              <a:rPr lang="en-US" sz="1450" dirty="0">
                <a:solidFill>
                  <a:srgbClr val="2B2F38"/>
                </a:solidFill>
              </a:rPr>
              <a:t> maandag, dinsdag, woensdag…</a:t>
            </a:r>
            <a:endParaRPr lang="en-US" sz="1450" dirty="0"/>
          </a:p>
        </p:txBody>
      </p:sp>
      <p:sp>
        <p:nvSpPr>
          <p:cNvPr id="19" name="Shape 14"/>
          <p:cNvSpPr/>
          <p:nvPr/>
        </p:nvSpPr>
        <p:spPr>
          <a:xfrm>
            <a:off x="6355080" y="3136392"/>
            <a:ext cx="914400" cy="402336"/>
          </a:xfrm>
          <a:prstGeom prst="roundRect">
            <a:avLst>
              <a:gd name="adj" fmla="val 13636"/>
            </a:avLst>
          </a:prstGeom>
          <a:solidFill>
            <a:srgbClr val="5FA873"/>
          </a:solidFill>
          <a:ln w="12700">
            <a:solidFill>
              <a:srgbClr val="FFFFFF">
                <a:alpha val="0"/>
              </a:srgbClr>
            </a:solidFill>
            <a:prstDash val="solid"/>
          </a:ln>
        </p:spPr>
      </p:sp>
      <p:sp>
        <p:nvSpPr>
          <p:cNvPr id="20" name="Text 15"/>
          <p:cNvSpPr txBox="1"/>
          <p:nvPr/>
        </p:nvSpPr>
        <p:spPr>
          <a:xfrm>
            <a:off x="6355080" y="313639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3</a:t>
            </a:r>
            <a:endParaRPr lang="en-US" sz="1600" dirty="0"/>
          </a:p>
        </p:txBody>
      </p:sp>
      <p:sp>
        <p:nvSpPr>
          <p:cNvPr id="21" name="Text 16"/>
          <p:cNvSpPr txBox="1"/>
          <p:nvPr/>
        </p:nvSpPr>
        <p:spPr>
          <a:xfrm>
            <a:off x="7406640" y="3081528"/>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Une heure : </a:t>
            </a:r>
            <a:r>
              <a:rPr lang="en-US" sz="1450" b="1" dirty="0">
                <a:solidFill>
                  <a:srgbClr val="2B2F38"/>
                </a:solidFill>
              </a:rPr>
              <a:t>OM</a:t>
            </a:r>
            <a:r>
              <a:rPr lang="en-US" sz="1450" dirty="0">
                <a:solidFill>
                  <a:srgbClr val="2B2F38"/>
                </a:solidFill>
              </a:rPr>
              <a:t> … uur.</a:t>
            </a:r>
            <a:endParaRPr lang="en-US" sz="1450" dirty="0"/>
          </a:p>
        </p:txBody>
      </p:sp>
      <p:sp>
        <p:nvSpPr>
          <p:cNvPr id="22" name="Shape 17"/>
          <p:cNvSpPr/>
          <p:nvPr/>
        </p:nvSpPr>
        <p:spPr>
          <a:xfrm>
            <a:off x="6355080" y="3867912"/>
            <a:ext cx="914400" cy="402336"/>
          </a:xfrm>
          <a:prstGeom prst="roundRect">
            <a:avLst>
              <a:gd name="adj" fmla="val 13636"/>
            </a:avLst>
          </a:prstGeom>
          <a:solidFill>
            <a:srgbClr val="5FA873"/>
          </a:solidFill>
          <a:ln w="12700">
            <a:solidFill>
              <a:srgbClr val="FFFFFF">
                <a:alpha val="0"/>
              </a:srgbClr>
            </a:solidFill>
            <a:prstDash val="solid"/>
          </a:ln>
        </p:spPr>
      </p:sp>
      <p:sp>
        <p:nvSpPr>
          <p:cNvPr id="23" name="Text 18"/>
          <p:cNvSpPr txBox="1"/>
          <p:nvPr/>
        </p:nvSpPr>
        <p:spPr>
          <a:xfrm>
            <a:off x="6355080" y="386791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4</a:t>
            </a:r>
            <a:endParaRPr lang="en-US" sz="1600" dirty="0"/>
          </a:p>
        </p:txBody>
      </p:sp>
      <p:sp>
        <p:nvSpPr>
          <p:cNvPr id="24" name="Text 19"/>
          <p:cNvSpPr txBox="1"/>
          <p:nvPr/>
        </p:nvSpPr>
        <p:spPr>
          <a:xfrm>
            <a:off x="7406640" y="3813048"/>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Concluez : </a:t>
            </a:r>
            <a:r>
              <a:rPr lang="en-US" sz="1450" b="1" dirty="0">
                <a:solidFill>
                  <a:srgbClr val="2B2F38"/>
                </a:solidFill>
              </a:rPr>
              <a:t>TOT</a:t>
            </a:r>
            <a:r>
              <a:rPr lang="en-US" sz="1450" dirty="0">
                <a:solidFill>
                  <a:srgbClr val="2B2F38"/>
                </a:solidFill>
              </a:rPr>
              <a:t> + jour !</a:t>
            </a:r>
            <a:endParaRPr lang="en-US" sz="1450" dirty="0"/>
          </a:p>
        </p:txBody>
      </p:sp>
      <p:sp>
        <p:nvSpPr>
          <p:cNvPr id="25" name="Shape 20"/>
          <p:cNvSpPr/>
          <p:nvPr/>
        </p:nvSpPr>
        <p:spPr>
          <a:xfrm>
            <a:off x="3246120" y="5440680"/>
            <a:ext cx="6858000" cy="822960"/>
          </a:xfrm>
          <a:prstGeom prst="roundRect">
            <a:avLst>
              <a:gd name="adj" fmla="val 17778"/>
            </a:avLst>
          </a:prstGeom>
          <a:solidFill>
            <a:srgbClr val="EAF5EC"/>
          </a:solidFill>
          <a:ln w="15875">
            <a:solidFill>
              <a:srgbClr val="5FA873"/>
            </a:solidFill>
            <a:prstDash val="solid"/>
          </a:ln>
        </p:spPr>
      </p:sp>
      <p:pic>
        <p:nvPicPr>
          <p:cNvPr id="26" name="Image 2" descr="UserFriends">    </p:cNvPr>
          <p:cNvPicPr>
            <a:picLocks noChangeAspect="1"/>
          </p:cNvPicPr>
          <p:nvPr/>
        </p:nvPicPr>
        <p:blipFill>
          <a:blip r:embed="rId3"/>
          <a:stretch>
            <a:fillRect/>
          </a:stretch>
        </p:blipFill>
        <p:spPr>
          <a:xfrm>
            <a:off x="3520440" y="5660136"/>
            <a:ext cx="384048" cy="384048"/>
          </a:xfrm>
          <a:prstGeom prst="rect">
            <a:avLst/>
          </a:prstGeom>
        </p:spPr>
      </p:pic>
      <p:sp>
        <p:nvSpPr>
          <p:cNvPr id="27" name="Text 21"/>
          <p:cNvSpPr txBox="1"/>
          <p:nvPr/>
        </p:nvSpPr>
        <p:spPr>
          <a:xfrm>
            <a:off x="4114800" y="5440680"/>
            <a:ext cx="5852160" cy="822960"/>
          </a:xfrm>
          <a:prstGeom prst="rect">
            <a:avLst/>
          </a:prstGeom>
          <a:noFill/>
          <a:ln/>
        </p:spPr>
        <p:txBody>
          <a:bodyPr wrap="square" lIns="0" tIns="0" rIns="0" bIns="0" rtlCol="0" anchor="ctr"/>
          <a:lstStyle/>
          <a:p>
            <a:pPr algn="ctr" indent="0" marL="0">
              <a:buNone/>
            </a:pPr>
            <a:r>
              <a:rPr lang="en-US" sz="1800" b="1" dirty="0">
                <a:solidFill>
                  <a:srgbClr val="2E6B44"/>
                </a:solidFill>
                <a:latin typeface="Calibri" pitchFamily="34" charset="0"/>
                <a:ea typeface="Calibri" pitchFamily="34" charset="-122"/>
                <a:cs typeface="Calibri" pitchFamily="34" charset="-120"/>
              </a:rPr>
              <a:t>Vertel je verhaal aan je partner.</a:t>
            </a:r>
            <a:endParaRPr lang="en-US" sz="1800" dirty="0"/>
          </a:p>
          <a:p>
            <a:pPr algn="ctr" indent="0" marL="0">
              <a:buNone/>
            </a:pPr>
            <a:r>
              <a:rPr lang="en-US" sz="1800" b="1" dirty="0">
                <a:solidFill>
                  <a:srgbClr val="2E6B44"/>
                </a:solidFill>
                <a:latin typeface="Calibri" pitchFamily="34" charset="0"/>
                <a:ea typeface="Calibri" pitchFamily="34" charset="-122"/>
                <a:cs typeface="Calibri" pitchFamily="34" charset="-120"/>
              </a:rPr>
              <a:t>Wat denkt hij/zij daarvan?</a:t>
            </a:r>
            <a:endParaRPr lang="en-US" sz="1800" dirty="0"/>
          </a:p>
        </p:txBody>
      </p:sp>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120</a:t>
            </a:fld>
            <a:endParaRPr lang="en-US"/>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spTree>
      <p:nvGrpSpPr>
        <p:cNvPr id="1" name=""/>
        <p:cNvGrpSpPr/>
        <p:nvPr/>
      </p:nvGrpSpPr>
      <p:grpSpPr>
        <a:xfrm>
          <a:off x="0" y="0"/>
          <a:ext cx="0" cy="0"/>
          <a:chOff x="0" y="0"/>
          <a:chExt cx="0" cy="0"/>
        </a:xfrm>
      </p:grpSpPr>
      <p:sp>
        <p:nvSpPr>
          <p:cNvPr id="2" name="Text 1"/>
          <p:cNvSpPr/>
          <p:nvPr>
            <p:ph idx="101" type="title" hasCustomPrompt="1"/>
          </p:nvPr>
        </p:nvSpPr>
        <p:spPr>
          <a:xfrm>
            <a:off x="1554480" y="384048"/>
            <a:ext cx="10241280" cy="658368"/>
          </a:xfrm>
          <a:prstGeom prst="rect">
            <a:avLst/>
          </a:prstGeom>
          <a:noFill/>
          <a:ln/>
        </p:spPr>
        <p:txBody>
          <a:bodyPr wrap="square" lIns="0" tIns="0" rIns="0" bIns="0" rtlCol="0" anchor="ctr"/>
          <a:lstStyle/>
          <a:p>
            <a:pPr algn="ctr" indent="0" marL="0">
              <a:buNone/>
            </a:pPr>
            <a:r>
              <a:rPr lang="en-US" sz="3000" b="1" dirty="0">
                <a:solidFill>
                  <a:srgbClr val="2B2F38"/>
                </a:solidFill>
              </a:rPr>
              <a:t>Wanneer ben je vrij?</a:t>
            </a:r>
            <a:endParaRPr lang="en-US" sz="3000" dirty="0"/>
          </a:p>
        </p:txBody>
      </p:sp>
      <p:sp>
        <p:nvSpPr>
          <p:cNvPr id="4" name="Shape 1"/>
          <p:cNvSpPr/>
          <p:nvPr/>
        </p:nvSpPr>
        <p:spPr>
          <a:xfrm>
            <a:off x="365760" y="365760"/>
            <a:ext cx="868680" cy="5989320"/>
          </a:xfrm>
          <a:prstGeom prst="roundRect">
            <a:avLst>
              <a:gd name="adj" fmla="val 12632"/>
            </a:avLst>
          </a:prstGeom>
          <a:solidFill>
            <a:srgbClr val="F4E8F6"/>
          </a:solidFill>
          <a:ln w="28575">
            <a:solidFill>
              <a:srgbClr val="B57FCB"/>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7E4C97"/>
                </a:solidFill>
                <a:latin typeface="Calibri" pitchFamily="34" charset="0"/>
                <a:ea typeface="Calibri" pitchFamily="34" charset="-122"/>
                <a:cs typeface="Calibri" pitchFamily="34" charset="-120"/>
              </a:rPr>
              <a:t>A1 · Situations</a:t>
            </a:r>
            <a:endParaRPr lang="en-US" sz="3800" dirty="0"/>
          </a:p>
        </p:txBody>
      </p:sp>
      <p:sp>
        <p:nvSpPr>
          <p:cNvPr id="6" name="Shape 3"/>
          <p:cNvSpPr/>
          <p:nvPr/>
        </p:nvSpPr>
        <p:spPr>
          <a:xfrm>
            <a:off x="2519172" y="1124712"/>
            <a:ext cx="8311896" cy="5277231"/>
          </a:xfrm>
          <a:prstGeom prst="roundRect">
            <a:avLst>
              <a:gd name="adj" fmla="val 693"/>
            </a:avLst>
          </a:prstGeom>
          <a:solidFill>
            <a:srgbClr val="FFFFFF"/>
          </a:solidFill>
          <a:ln w="9525">
            <a:solidFill>
              <a:srgbClr val="E3E7EE"/>
            </a:solidFill>
            <a:prstDash val="solid"/>
          </a:ln>
          <a:effectLst>
            <a:outerShdw sx="100000" sy="100000" kx="0" ky="0" algn="bl" rotWithShape="0" blurRad="177800" dist="63500" dir="5400000">
              <a:srgbClr val="1B2430">
                <a:alpha val="25000"/>
              </a:srgbClr>
            </a:outerShdw>
          </a:effectLst>
        </p:spPr>
      </p:sp>
      <p:pic>
        <p:nvPicPr>
          <p:cNvPr id="7" name="Image 0" descr="/home/user/talenleren/neerlandais1/generateur/img/vijfzinnen/a1_agenda.jpg">    </p:cNvPr>
          <p:cNvPicPr>
            <a:picLocks noChangeAspect="1"/>
          </p:cNvPicPr>
          <p:nvPr/>
        </p:nvPicPr>
        <p:blipFill>
          <a:blip r:embed="rId1"/>
          <a:stretch>
            <a:fillRect/>
          </a:stretch>
        </p:blipFill>
        <p:spPr>
          <a:xfrm>
            <a:off x="2628900" y="1234440"/>
            <a:ext cx="8092440" cy="5057775"/>
          </a:xfrm>
          <a:prstGeom prst="rect">
            <a:avLst/>
          </a:prstGeom>
        </p:spPr>
      </p:pic>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121</a:t>
            </a:fld>
            <a:endParaRPr lang="en-US"/>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spTree>
      <p:nvGrpSpPr>
        <p:cNvPr id="1" name=""/>
        <p:cNvGrpSpPr/>
        <p:nvPr/>
      </p:nvGrpSpPr>
      <p:grpSpPr>
        <a:xfrm>
          <a:off x="0" y="0"/>
          <a:ext cx="0" cy="0"/>
          <a:chOff x="0" y="0"/>
          <a:chExt cx="0" cy="0"/>
        </a:xfrm>
      </p:grpSpPr>
      <p:sp>
        <p:nvSpPr>
          <p:cNvPr id="2" name="Text 1"/>
          <p:cNvSpPr/>
          <p:nvPr>
            <p:ph idx="101" type="title" hasCustomPrompt="1"/>
          </p:nvPr>
        </p:nvSpPr>
        <p:spPr>
          <a:xfrm>
            <a:off x="1691640" y="347472"/>
            <a:ext cx="8138160" cy="914400"/>
          </a:xfrm>
          <a:prstGeom prst="rect">
            <a:avLst/>
          </a:prstGeom>
          <a:noFill/>
          <a:ln/>
        </p:spPr>
        <p:txBody>
          <a:bodyPr wrap="square" lIns="0" tIns="0" rIns="0" bIns="0" rtlCol="0" anchor="ctr"/>
          <a:lstStyle/>
          <a:p>
            <a:pPr algn="l" indent="0" marL="0">
              <a:buNone/>
            </a:pPr>
            <a:r>
              <a:rPr lang="en-US" sz="2400" b="1" dirty="0">
                <a:solidFill>
                  <a:srgbClr val="2B2F38"/>
                </a:solidFill>
              </a:rPr>
              <a:t>Hier is een voorbeeld van wat je had kunnen denken en zeggen…</a:t>
            </a:r>
            <a:endParaRPr lang="en-US" sz="2400" dirty="0"/>
          </a:p>
        </p:txBody>
      </p:sp>
      <p:sp>
        <p:nvSpPr>
          <p:cNvPr id="4" name="Shape 1"/>
          <p:cNvSpPr/>
          <p:nvPr/>
        </p:nvSpPr>
        <p:spPr>
          <a:xfrm>
            <a:off x="365760" y="365760"/>
            <a:ext cx="868680" cy="5989320"/>
          </a:xfrm>
          <a:prstGeom prst="roundRect">
            <a:avLst>
              <a:gd name="adj" fmla="val 12632"/>
            </a:avLst>
          </a:prstGeom>
          <a:solidFill>
            <a:srgbClr val="F4E8F6"/>
          </a:solidFill>
          <a:ln w="28575">
            <a:solidFill>
              <a:srgbClr val="B57FCB"/>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7E4C97"/>
                </a:solidFill>
                <a:latin typeface="Calibri" pitchFamily="34" charset="0"/>
                <a:ea typeface="Calibri" pitchFamily="34" charset="-122"/>
                <a:cs typeface="Calibri" pitchFamily="34" charset="-120"/>
              </a:rPr>
              <a:t>A1 · Situations</a:t>
            </a:r>
            <a:endParaRPr lang="en-US" sz="3800" dirty="0"/>
          </a:p>
        </p:txBody>
      </p:sp>
      <p:sp>
        <p:nvSpPr>
          <p:cNvPr id="6" name="Shape 3"/>
          <p:cNvSpPr/>
          <p:nvPr/>
        </p:nvSpPr>
        <p:spPr>
          <a:xfrm>
            <a:off x="10058400" y="246888"/>
            <a:ext cx="1691640" cy="1091565"/>
          </a:xfrm>
          <a:prstGeom prst="roundRect">
            <a:avLst>
              <a:gd name="adj" fmla="val 3351"/>
            </a:avLst>
          </a:prstGeom>
          <a:solidFill>
            <a:srgbClr val="FFFFFF"/>
          </a:solidFill>
          <a:ln w="9525">
            <a:solidFill>
              <a:srgbClr val="E3E7EE"/>
            </a:solidFill>
            <a:prstDash val="solid"/>
          </a:ln>
          <a:effectLst>
            <a:outerShdw sx="100000" sy="100000" kx="0" ky="0" algn="bl" rotWithShape="0" blurRad="76200" dist="25400" dir="5400000">
              <a:srgbClr val="1B2430">
                <a:alpha val="25000"/>
              </a:srgbClr>
            </a:outerShdw>
          </a:effectLst>
        </p:spPr>
      </p:sp>
      <p:pic>
        <p:nvPicPr>
          <p:cNvPr id="7" name="Image 0" descr="/home/user/talenleren/neerlandais1/generateur/img/vijfzinnen/a1_agenda_s.jpg">    </p:cNvPr>
          <p:cNvPicPr>
            <a:picLocks noChangeAspect="1"/>
          </p:cNvPicPr>
          <p:nvPr/>
        </p:nvPicPr>
        <p:blipFill>
          <a:blip r:embed="rId1"/>
          <a:stretch>
            <a:fillRect/>
          </a:stretch>
        </p:blipFill>
        <p:spPr>
          <a:xfrm>
            <a:off x="10104120" y="292608"/>
            <a:ext cx="1600200" cy="1000125"/>
          </a:xfrm>
          <a:prstGeom prst="rect">
            <a:avLst/>
          </a:prstGeom>
        </p:spPr>
      </p:pic>
      <p:sp>
        <p:nvSpPr>
          <p:cNvPr id="8" name="Text 4"/>
          <p:cNvSpPr txBox="1"/>
          <p:nvPr/>
        </p:nvSpPr>
        <p:spPr>
          <a:xfrm>
            <a:off x="1691640" y="2264664"/>
            <a:ext cx="458724"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a:t>
            </a:r>
            <a:endParaRPr lang="en-US" sz="2400" dirty="0"/>
          </a:p>
        </p:txBody>
      </p:sp>
      <p:sp>
        <p:nvSpPr>
          <p:cNvPr id="9" name="Shape 5"/>
          <p:cNvSpPr/>
          <p:nvPr/>
        </p:nvSpPr>
        <p:spPr>
          <a:xfrm>
            <a:off x="2054657" y="2276856"/>
            <a:ext cx="2583790" cy="371856"/>
          </a:xfrm>
          <a:prstGeom prst="roundRect">
            <a:avLst>
              <a:gd name="adj" fmla="val 12295"/>
            </a:avLst>
          </a:prstGeom>
          <a:solidFill>
            <a:srgbClr val="E6F3DA"/>
          </a:solidFill>
          <a:ln w="12700">
            <a:solidFill>
              <a:srgbClr val="FFFFFF">
                <a:alpha val="0"/>
              </a:srgbClr>
            </a:solidFill>
            <a:prstDash val="solid"/>
          </a:ln>
        </p:spPr>
      </p:sp>
      <p:sp>
        <p:nvSpPr>
          <p:cNvPr id="10" name="Text 6"/>
          <p:cNvSpPr txBox="1"/>
          <p:nvPr/>
        </p:nvSpPr>
        <p:spPr>
          <a:xfrm>
            <a:off x="2054657" y="2264664"/>
            <a:ext cx="2583790"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Wanneer ben je vrij</a:t>
            </a:r>
            <a:endParaRPr lang="en-US" sz="2400" dirty="0"/>
          </a:p>
        </p:txBody>
      </p:sp>
      <p:sp>
        <p:nvSpPr>
          <p:cNvPr id="11" name="Text 7"/>
          <p:cNvSpPr txBox="1"/>
          <p:nvPr/>
        </p:nvSpPr>
        <p:spPr>
          <a:xfrm>
            <a:off x="4638446" y="2264664"/>
            <a:ext cx="1227125"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 Pieter?</a:t>
            </a:r>
            <a:endParaRPr lang="en-US" sz="2400" dirty="0"/>
          </a:p>
        </p:txBody>
      </p:sp>
      <p:sp>
        <p:nvSpPr>
          <p:cNvPr id="12" name="Shape 8"/>
          <p:cNvSpPr/>
          <p:nvPr/>
        </p:nvSpPr>
        <p:spPr>
          <a:xfrm>
            <a:off x="3346552" y="2200656"/>
            <a:ext cx="914" cy="76200"/>
          </a:xfrm>
          <a:prstGeom prst="line">
            <a:avLst/>
          </a:prstGeom>
          <a:noFill/>
          <a:ln w="15875">
            <a:solidFill>
              <a:srgbClr val="7AB648"/>
            </a:solidFill>
            <a:prstDash val="solid"/>
          </a:ln>
        </p:spPr>
      </p:sp>
      <p:sp>
        <p:nvSpPr>
          <p:cNvPr id="13" name="Shape 9"/>
          <p:cNvSpPr/>
          <p:nvPr/>
        </p:nvSpPr>
        <p:spPr>
          <a:xfrm>
            <a:off x="2931649" y="1953768"/>
            <a:ext cx="829805" cy="246888"/>
          </a:xfrm>
          <a:prstGeom prst="roundRect">
            <a:avLst>
              <a:gd name="adj" fmla="val 14815"/>
            </a:avLst>
          </a:prstGeom>
          <a:solidFill>
            <a:srgbClr val="7AB648"/>
          </a:solidFill>
          <a:ln w="12700">
            <a:solidFill>
              <a:srgbClr val="FFFFFF">
                <a:alpha val="0"/>
              </a:srgbClr>
            </a:solidFill>
            <a:prstDash val="solid"/>
          </a:ln>
        </p:spPr>
      </p:sp>
      <p:sp>
        <p:nvSpPr>
          <p:cNvPr id="14" name="Text 10"/>
          <p:cNvSpPr txBox="1"/>
          <p:nvPr/>
        </p:nvSpPr>
        <p:spPr>
          <a:xfrm>
            <a:off x="2931649" y="1953768"/>
            <a:ext cx="829805"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WANNEER</a:t>
            </a:r>
            <a:endParaRPr lang="en-US" sz="1100" dirty="0"/>
          </a:p>
        </p:txBody>
      </p:sp>
      <p:sp>
        <p:nvSpPr>
          <p:cNvPr id="15" name="Text 11"/>
          <p:cNvSpPr txBox="1"/>
          <p:nvPr/>
        </p:nvSpPr>
        <p:spPr>
          <a:xfrm>
            <a:off x="1691640" y="3319272"/>
            <a:ext cx="458724"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a:t>
            </a:r>
            <a:endParaRPr lang="en-US" sz="2400" dirty="0"/>
          </a:p>
        </p:txBody>
      </p:sp>
      <p:sp>
        <p:nvSpPr>
          <p:cNvPr id="16" name="Shape 12"/>
          <p:cNvSpPr/>
          <p:nvPr/>
        </p:nvSpPr>
        <p:spPr>
          <a:xfrm>
            <a:off x="2054657" y="3331464"/>
            <a:ext cx="1818437" cy="371856"/>
          </a:xfrm>
          <a:prstGeom prst="roundRect">
            <a:avLst>
              <a:gd name="adj" fmla="val 12295"/>
            </a:avLst>
          </a:prstGeom>
          <a:solidFill>
            <a:srgbClr val="E6F3DA"/>
          </a:solidFill>
          <a:ln w="12700">
            <a:solidFill>
              <a:srgbClr val="FFFFFF">
                <a:alpha val="0"/>
              </a:srgbClr>
            </a:solidFill>
            <a:prstDash val="solid"/>
          </a:ln>
        </p:spPr>
      </p:sp>
      <p:sp>
        <p:nvSpPr>
          <p:cNvPr id="17" name="Text 13"/>
          <p:cNvSpPr txBox="1"/>
          <p:nvPr/>
        </p:nvSpPr>
        <p:spPr>
          <a:xfrm>
            <a:off x="2054657" y="3319272"/>
            <a:ext cx="1818437"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Op woensdag</a:t>
            </a:r>
            <a:endParaRPr lang="en-US" sz="2400" dirty="0"/>
          </a:p>
        </p:txBody>
      </p:sp>
      <p:sp>
        <p:nvSpPr>
          <p:cNvPr id="18" name="Text 14"/>
          <p:cNvSpPr txBox="1"/>
          <p:nvPr/>
        </p:nvSpPr>
        <p:spPr>
          <a:xfrm>
            <a:off x="3873094" y="3319272"/>
            <a:ext cx="3479597"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 maar niet op donderdag.</a:t>
            </a:r>
            <a:endParaRPr lang="en-US" sz="2400" dirty="0"/>
          </a:p>
        </p:txBody>
      </p:sp>
      <p:sp>
        <p:nvSpPr>
          <p:cNvPr id="19" name="Shape 15"/>
          <p:cNvSpPr/>
          <p:nvPr/>
        </p:nvSpPr>
        <p:spPr>
          <a:xfrm>
            <a:off x="2963875" y="3255264"/>
            <a:ext cx="914" cy="76200"/>
          </a:xfrm>
          <a:prstGeom prst="line">
            <a:avLst/>
          </a:prstGeom>
          <a:noFill/>
          <a:ln w="15875">
            <a:solidFill>
              <a:srgbClr val="7AB648"/>
            </a:solidFill>
            <a:prstDash val="solid"/>
          </a:ln>
        </p:spPr>
      </p:sp>
      <p:sp>
        <p:nvSpPr>
          <p:cNvPr id="20" name="Shape 16"/>
          <p:cNvSpPr/>
          <p:nvPr/>
        </p:nvSpPr>
        <p:spPr>
          <a:xfrm>
            <a:off x="2585714" y="3008376"/>
            <a:ext cx="756323" cy="246888"/>
          </a:xfrm>
          <a:prstGeom prst="roundRect">
            <a:avLst>
              <a:gd name="adj" fmla="val 14815"/>
            </a:avLst>
          </a:prstGeom>
          <a:solidFill>
            <a:srgbClr val="7AB648"/>
          </a:solidFill>
          <a:ln w="12700">
            <a:solidFill>
              <a:srgbClr val="FFFFFF">
                <a:alpha val="0"/>
              </a:srgbClr>
            </a:solidFill>
            <a:prstDash val="solid"/>
          </a:ln>
        </p:spPr>
      </p:sp>
      <p:sp>
        <p:nvSpPr>
          <p:cNvPr id="21" name="Text 17"/>
          <p:cNvSpPr txBox="1"/>
          <p:nvPr/>
        </p:nvSpPr>
        <p:spPr>
          <a:xfrm>
            <a:off x="2585714" y="3008376"/>
            <a:ext cx="756323"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OP + jour</a:t>
            </a:r>
            <a:endParaRPr lang="en-US" sz="1100" dirty="0"/>
          </a:p>
        </p:txBody>
      </p:sp>
      <p:sp>
        <p:nvSpPr>
          <p:cNvPr id="22" name="Text 18"/>
          <p:cNvSpPr txBox="1"/>
          <p:nvPr/>
        </p:nvSpPr>
        <p:spPr>
          <a:xfrm>
            <a:off x="1691640" y="4373880"/>
            <a:ext cx="1858366"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 Woensdag</a:t>
            </a:r>
            <a:endParaRPr lang="en-US" sz="2400" dirty="0"/>
          </a:p>
        </p:txBody>
      </p:sp>
      <p:sp>
        <p:nvSpPr>
          <p:cNvPr id="23" name="Shape 19"/>
          <p:cNvSpPr/>
          <p:nvPr/>
        </p:nvSpPr>
        <p:spPr>
          <a:xfrm>
            <a:off x="3454298" y="4386072"/>
            <a:ext cx="1574292" cy="371856"/>
          </a:xfrm>
          <a:prstGeom prst="roundRect">
            <a:avLst>
              <a:gd name="adj" fmla="val 12295"/>
            </a:avLst>
          </a:prstGeom>
          <a:solidFill>
            <a:srgbClr val="E6F3DA"/>
          </a:solidFill>
          <a:ln w="12700">
            <a:solidFill>
              <a:srgbClr val="FFFFFF">
                <a:alpha val="0"/>
              </a:srgbClr>
            </a:solidFill>
            <a:prstDash val="solid"/>
          </a:ln>
        </p:spPr>
      </p:sp>
      <p:sp>
        <p:nvSpPr>
          <p:cNvPr id="24" name="Text 20"/>
          <p:cNvSpPr txBox="1"/>
          <p:nvPr/>
        </p:nvSpPr>
        <p:spPr>
          <a:xfrm>
            <a:off x="3454298" y="4373880"/>
            <a:ext cx="1574292"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om tien uur</a:t>
            </a:r>
            <a:endParaRPr lang="en-US" sz="2400" dirty="0"/>
          </a:p>
        </p:txBody>
      </p:sp>
      <p:sp>
        <p:nvSpPr>
          <p:cNvPr id="25" name="Text 21"/>
          <p:cNvSpPr txBox="1"/>
          <p:nvPr/>
        </p:nvSpPr>
        <p:spPr>
          <a:xfrm>
            <a:off x="5028590" y="4373880"/>
            <a:ext cx="324002"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a:t>
            </a:r>
            <a:endParaRPr lang="en-US" sz="2400" dirty="0"/>
          </a:p>
        </p:txBody>
      </p:sp>
      <p:sp>
        <p:nvSpPr>
          <p:cNvPr id="26" name="Shape 22"/>
          <p:cNvSpPr/>
          <p:nvPr/>
        </p:nvSpPr>
        <p:spPr>
          <a:xfrm>
            <a:off x="4241444" y="4309872"/>
            <a:ext cx="914" cy="76200"/>
          </a:xfrm>
          <a:prstGeom prst="line">
            <a:avLst/>
          </a:prstGeom>
          <a:noFill/>
          <a:ln w="15875">
            <a:solidFill>
              <a:srgbClr val="7AB648"/>
            </a:solidFill>
            <a:prstDash val="solid"/>
          </a:ln>
        </p:spPr>
      </p:sp>
      <p:sp>
        <p:nvSpPr>
          <p:cNvPr id="27" name="Shape 23"/>
          <p:cNvSpPr/>
          <p:nvPr/>
        </p:nvSpPr>
        <p:spPr>
          <a:xfrm>
            <a:off x="3787007" y="4062984"/>
            <a:ext cx="908876" cy="246888"/>
          </a:xfrm>
          <a:prstGeom prst="roundRect">
            <a:avLst>
              <a:gd name="adj" fmla="val 14815"/>
            </a:avLst>
          </a:prstGeom>
          <a:solidFill>
            <a:srgbClr val="7AB648"/>
          </a:solidFill>
          <a:ln w="12700">
            <a:solidFill>
              <a:srgbClr val="FFFFFF">
                <a:alpha val="0"/>
              </a:srgbClr>
            </a:solidFill>
            <a:prstDash val="solid"/>
          </a:ln>
        </p:spPr>
      </p:sp>
      <p:sp>
        <p:nvSpPr>
          <p:cNvPr id="28" name="Text 24"/>
          <p:cNvSpPr txBox="1"/>
          <p:nvPr/>
        </p:nvSpPr>
        <p:spPr>
          <a:xfrm>
            <a:off x="3787007" y="4062984"/>
            <a:ext cx="908876"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OM + heure</a:t>
            </a:r>
            <a:endParaRPr lang="en-US" sz="1100" dirty="0"/>
          </a:p>
        </p:txBody>
      </p:sp>
      <p:sp>
        <p:nvSpPr>
          <p:cNvPr id="29" name="Text 25"/>
          <p:cNvSpPr txBox="1"/>
          <p:nvPr/>
        </p:nvSpPr>
        <p:spPr>
          <a:xfrm>
            <a:off x="1691640" y="5428488"/>
            <a:ext cx="1368857"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 Prima!</a:t>
            </a:r>
            <a:endParaRPr lang="en-US" sz="2400" dirty="0"/>
          </a:p>
        </p:txBody>
      </p:sp>
      <p:sp>
        <p:nvSpPr>
          <p:cNvPr id="30" name="Shape 26"/>
          <p:cNvSpPr/>
          <p:nvPr/>
        </p:nvSpPr>
        <p:spPr>
          <a:xfrm>
            <a:off x="2964790" y="5440680"/>
            <a:ext cx="1869338" cy="371856"/>
          </a:xfrm>
          <a:prstGeom prst="roundRect">
            <a:avLst>
              <a:gd name="adj" fmla="val 12295"/>
            </a:avLst>
          </a:prstGeom>
          <a:solidFill>
            <a:srgbClr val="E6F3DA"/>
          </a:solidFill>
          <a:ln w="12700">
            <a:solidFill>
              <a:srgbClr val="FFFFFF">
                <a:alpha val="0"/>
              </a:srgbClr>
            </a:solidFill>
            <a:prstDash val="solid"/>
          </a:ln>
        </p:spPr>
      </p:sp>
      <p:sp>
        <p:nvSpPr>
          <p:cNvPr id="31" name="Text 27"/>
          <p:cNvSpPr txBox="1"/>
          <p:nvPr/>
        </p:nvSpPr>
        <p:spPr>
          <a:xfrm>
            <a:off x="2964790" y="5428488"/>
            <a:ext cx="1869338"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Tot woensdag</a:t>
            </a:r>
            <a:endParaRPr lang="en-US" sz="2400" dirty="0"/>
          </a:p>
        </p:txBody>
      </p:sp>
      <p:sp>
        <p:nvSpPr>
          <p:cNvPr id="32" name="Text 28"/>
          <p:cNvSpPr txBox="1"/>
          <p:nvPr/>
        </p:nvSpPr>
        <p:spPr>
          <a:xfrm>
            <a:off x="4834128" y="5428488"/>
            <a:ext cx="282245"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a:t>
            </a:r>
            <a:endParaRPr lang="en-US" sz="2400" dirty="0"/>
          </a:p>
        </p:txBody>
      </p:sp>
      <p:sp>
        <p:nvSpPr>
          <p:cNvPr id="33" name="Shape 29"/>
          <p:cNvSpPr/>
          <p:nvPr/>
        </p:nvSpPr>
        <p:spPr>
          <a:xfrm>
            <a:off x="3899459" y="5364480"/>
            <a:ext cx="914" cy="76200"/>
          </a:xfrm>
          <a:prstGeom prst="line">
            <a:avLst/>
          </a:prstGeom>
          <a:noFill/>
          <a:ln w="15875">
            <a:solidFill>
              <a:srgbClr val="7AB648"/>
            </a:solidFill>
            <a:prstDash val="solid"/>
          </a:ln>
        </p:spPr>
      </p:sp>
      <p:sp>
        <p:nvSpPr>
          <p:cNvPr id="34" name="Shape 30"/>
          <p:cNvSpPr/>
          <p:nvPr/>
        </p:nvSpPr>
        <p:spPr>
          <a:xfrm>
            <a:off x="3607911" y="5117592"/>
            <a:ext cx="583095" cy="246888"/>
          </a:xfrm>
          <a:prstGeom prst="roundRect">
            <a:avLst>
              <a:gd name="adj" fmla="val 14815"/>
            </a:avLst>
          </a:prstGeom>
          <a:solidFill>
            <a:srgbClr val="7AB648"/>
          </a:solidFill>
          <a:ln w="12700">
            <a:solidFill>
              <a:srgbClr val="FFFFFF">
                <a:alpha val="0"/>
              </a:srgbClr>
            </a:solidFill>
            <a:prstDash val="solid"/>
          </a:ln>
        </p:spPr>
      </p:sp>
      <p:sp>
        <p:nvSpPr>
          <p:cNvPr id="35" name="Text 31"/>
          <p:cNvSpPr txBox="1"/>
          <p:nvPr/>
        </p:nvSpPr>
        <p:spPr>
          <a:xfrm>
            <a:off x="3607911" y="5117592"/>
            <a:ext cx="583095"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TOT …</a:t>
            </a:r>
            <a:endParaRPr lang="en-US" sz="1100" dirty="0"/>
          </a:p>
        </p:txBody>
      </p:sp>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122</a:t>
            </a:fld>
            <a:endParaRPr lang="en-US"/>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spTree>
      <p:nvGrpSpPr>
        <p:cNvPr id="1" name=""/>
        <p:cNvGrpSpPr/>
        <p:nvPr/>
      </p:nvGrpSpPr>
      <p:grpSpPr>
        <a:xfrm>
          <a:off x="0" y="0"/>
          <a:ext cx="0" cy="0"/>
          <a:chOff x="0" y="0"/>
          <a:chExt cx="0" cy="0"/>
        </a:xfrm>
      </p:grpSpPr>
      <p:sp>
        <p:nvSpPr>
          <p:cNvPr id="2" name="Text 1"/>
          <p:cNvSpPr/>
          <p:nvPr>
            <p:ph idx="101" type="title" hasCustomPrompt="1"/>
          </p:nvPr>
        </p:nvSpPr>
        <p:spPr>
          <a:xfrm>
            <a:off x="1554480" y="384048"/>
            <a:ext cx="10241280" cy="658368"/>
          </a:xfrm>
          <a:prstGeom prst="rect">
            <a:avLst/>
          </a:prstGeom>
          <a:noFill/>
          <a:ln/>
        </p:spPr>
        <p:txBody>
          <a:bodyPr wrap="square" lIns="0" tIns="0" rIns="0" bIns="0" rtlCol="0" anchor="ctr"/>
          <a:lstStyle/>
          <a:p>
            <a:pPr algn="ctr" indent="0" marL="0">
              <a:buNone/>
            </a:pPr>
            <a:r>
              <a:rPr lang="en-US" sz="3000" b="1" dirty="0">
                <a:solidFill>
                  <a:srgbClr val="2B2F38"/>
                </a:solidFill>
              </a:rPr>
              <a:t>Gebruik deze afbeelding als inspiratie</a:t>
            </a:r>
            <a:endParaRPr lang="en-US" sz="3000" dirty="0"/>
          </a:p>
        </p:txBody>
      </p:sp>
      <p:sp>
        <p:nvSpPr>
          <p:cNvPr id="4" name="Shape 1"/>
          <p:cNvSpPr/>
          <p:nvPr/>
        </p:nvSpPr>
        <p:spPr>
          <a:xfrm>
            <a:off x="365760" y="365760"/>
            <a:ext cx="868680" cy="5989320"/>
          </a:xfrm>
          <a:prstGeom prst="roundRect">
            <a:avLst>
              <a:gd name="adj" fmla="val 12632"/>
            </a:avLst>
          </a:prstGeom>
          <a:solidFill>
            <a:srgbClr val="F4E8F6"/>
          </a:solidFill>
          <a:ln w="28575">
            <a:solidFill>
              <a:srgbClr val="B57FCB"/>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7E4C97"/>
                </a:solidFill>
                <a:latin typeface="Calibri" pitchFamily="34" charset="0"/>
                <a:ea typeface="Calibri" pitchFamily="34" charset="-122"/>
                <a:cs typeface="Calibri" pitchFamily="34" charset="-120"/>
              </a:rPr>
              <a:t>A1 · Situations</a:t>
            </a:r>
            <a:endParaRPr lang="en-US" sz="3800" dirty="0"/>
          </a:p>
        </p:txBody>
      </p:sp>
      <p:sp>
        <p:nvSpPr>
          <p:cNvPr id="6" name="Text 3"/>
          <p:cNvSpPr txBox="1"/>
          <p:nvPr/>
        </p:nvSpPr>
        <p:spPr>
          <a:xfrm>
            <a:off x="1554480" y="1024128"/>
            <a:ext cx="10241280" cy="365760"/>
          </a:xfrm>
          <a:prstGeom prst="rect">
            <a:avLst/>
          </a:prstGeom>
          <a:noFill/>
          <a:ln/>
        </p:spPr>
        <p:txBody>
          <a:bodyPr wrap="square" lIns="0" tIns="0" rIns="0" bIns="0" rtlCol="0" anchor="ctr"/>
          <a:lstStyle/>
          <a:p>
            <a:pPr algn="ctr" indent="0" marL="0">
              <a:buNone/>
            </a:pPr>
            <a:r>
              <a:rPr lang="en-US" sz="1500" b="1" dirty="0">
                <a:solidFill>
                  <a:srgbClr val="7E4C97"/>
                </a:solidFill>
                <a:latin typeface="Calibri" pitchFamily="34" charset="0"/>
                <a:ea typeface="Calibri" pitchFamily="34" charset="-122"/>
                <a:cs typeface="Calibri" pitchFamily="34" charset="-120"/>
              </a:rPr>
              <a:t>39 · Een cursus Nederlands</a:t>
            </a:r>
            <a:r>
              <a:rPr lang="en-US" sz="1500" i="1" dirty="0">
                <a:solidFill>
                  <a:srgbClr val="6B7280"/>
                </a:solidFill>
                <a:latin typeface="Calibri" pitchFamily="34" charset="0"/>
                <a:ea typeface="Calibri" pitchFamily="34" charset="-122"/>
                <a:cs typeface="Calibri" pitchFamily="34" charset="-120"/>
              </a:rPr>
              <a:t>   Un cours de néerlandais</a:t>
            </a:r>
            <a:r>
              <a:rPr lang="en-US" sz="1200" dirty="0">
                <a:solidFill>
                  <a:srgbClr val="9AA3B2"/>
                </a:solidFill>
                <a:latin typeface="Calibri" pitchFamily="34" charset="0"/>
                <a:ea typeface="Calibri" pitchFamily="34" charset="-122"/>
                <a:cs typeface="Calibri" pitchFamily="34" charset="-120"/>
              </a:rPr>
              <a:t>   ·   syllabus fiche 4 · p. 95</a:t>
            </a:r>
            <a:endParaRPr lang="en-US" sz="1500" dirty="0"/>
          </a:p>
        </p:txBody>
      </p:sp>
      <p:sp>
        <p:nvSpPr>
          <p:cNvPr id="7" name="Shape 4"/>
          <p:cNvSpPr/>
          <p:nvPr/>
        </p:nvSpPr>
        <p:spPr>
          <a:xfrm>
            <a:off x="1596085" y="1504645"/>
            <a:ext cx="4534510" cy="2905735"/>
          </a:xfrm>
          <a:prstGeom prst="roundRect">
            <a:avLst>
              <a:gd name="adj" fmla="val 1259"/>
            </a:avLst>
          </a:prstGeom>
          <a:solidFill>
            <a:srgbClr val="FFFFFF"/>
          </a:solidFill>
          <a:ln w="9525">
            <a:solidFill>
              <a:srgbClr val="E3E7EE"/>
            </a:solidFill>
            <a:prstDash val="solid"/>
          </a:ln>
          <a:effectLst>
            <a:outerShdw sx="100000" sy="100000" kx="0" ky="0" algn="bl" rotWithShape="0" blurRad="127000" dist="50800" dir="5400000">
              <a:srgbClr val="1B2430">
                <a:alpha val="25000"/>
              </a:srgbClr>
            </a:outerShdw>
          </a:effectLst>
        </p:spPr>
      </p:sp>
      <p:pic>
        <p:nvPicPr>
          <p:cNvPr id="8" name="Image 0" descr="/home/user/talenleren/neerlandais1/generateur/img/vijfzinnen/a1_cursus_s.jpg">    </p:cNvPr>
          <p:cNvPicPr>
            <a:picLocks noChangeAspect="1"/>
          </p:cNvPicPr>
          <p:nvPr/>
        </p:nvPicPr>
        <p:blipFill>
          <a:blip r:embed="rId1"/>
          <a:stretch>
            <a:fillRect/>
          </a:stretch>
        </p:blipFill>
        <p:spPr>
          <a:xfrm>
            <a:off x="1691640" y="1600200"/>
            <a:ext cx="4343400" cy="2714625"/>
          </a:xfrm>
          <a:prstGeom prst="rect">
            <a:avLst/>
          </a:prstGeom>
        </p:spPr>
      </p:pic>
      <p:sp>
        <p:nvSpPr>
          <p:cNvPr id="9" name="Shape 5"/>
          <p:cNvSpPr/>
          <p:nvPr/>
        </p:nvSpPr>
        <p:spPr>
          <a:xfrm>
            <a:off x="1691640" y="4572000"/>
            <a:ext cx="1600200" cy="365760"/>
          </a:xfrm>
          <a:prstGeom prst="roundRect">
            <a:avLst>
              <a:gd name="adj" fmla="val 50000"/>
            </a:avLst>
          </a:prstGeom>
          <a:solidFill>
            <a:srgbClr val="FDF1E6"/>
          </a:solidFill>
          <a:ln w="12700">
            <a:solidFill>
              <a:srgbClr val="D9822B"/>
            </a:solidFill>
            <a:prstDash val="solid"/>
          </a:ln>
        </p:spPr>
      </p:sp>
      <p:pic>
        <p:nvPicPr>
          <p:cNvPr id="10" name="Image 1" descr="Comments">    </p:cNvPr>
          <p:cNvPicPr>
            <a:picLocks noChangeAspect="1"/>
          </p:cNvPicPr>
          <p:nvPr/>
        </p:nvPicPr>
        <p:blipFill>
          <a:blip r:embed="rId2"/>
          <a:stretch>
            <a:fillRect/>
          </a:stretch>
        </p:blipFill>
        <p:spPr>
          <a:xfrm>
            <a:off x="1819656" y="4654296"/>
            <a:ext cx="201168" cy="201168"/>
          </a:xfrm>
          <a:prstGeom prst="rect">
            <a:avLst/>
          </a:prstGeom>
        </p:spPr>
      </p:pic>
      <p:sp>
        <p:nvSpPr>
          <p:cNvPr id="11" name="Text 6"/>
          <p:cNvSpPr txBox="1"/>
          <p:nvPr/>
        </p:nvSpPr>
        <p:spPr>
          <a:xfrm>
            <a:off x="2075688" y="4572000"/>
            <a:ext cx="1143000" cy="365760"/>
          </a:xfrm>
          <a:prstGeom prst="rect">
            <a:avLst/>
          </a:prstGeom>
          <a:noFill/>
          <a:ln/>
        </p:spPr>
        <p:txBody>
          <a:bodyPr wrap="square" lIns="0" tIns="0" rIns="0" bIns="0" rtlCol="0" anchor="ctr"/>
          <a:lstStyle/>
          <a:p>
            <a:pPr algn="l" indent="0" marL="0">
              <a:buNone/>
            </a:pPr>
            <a:r>
              <a:rPr lang="en-US" sz="1150" b="1" spc="100" kern="0" dirty="0">
                <a:solidFill>
                  <a:srgbClr val="D9822B"/>
                </a:solidFill>
                <a:latin typeface="Calibri" pitchFamily="34" charset="0"/>
                <a:ea typeface="Calibri" pitchFamily="34" charset="-122"/>
                <a:cs typeface="Calibri" pitchFamily="34" charset="-120"/>
              </a:rPr>
              <a:t>À L’ORAL</a:t>
            </a:r>
            <a:endParaRPr lang="en-US" sz="1150" dirty="0"/>
          </a:p>
        </p:txBody>
      </p:sp>
      <p:sp>
        <p:nvSpPr>
          <p:cNvPr id="12" name="Text 7"/>
          <p:cNvSpPr txBox="1"/>
          <p:nvPr/>
        </p:nvSpPr>
        <p:spPr>
          <a:xfrm>
            <a:off x="3429000" y="4544568"/>
            <a:ext cx="2651760" cy="731520"/>
          </a:xfrm>
          <a:prstGeom prst="rect">
            <a:avLst/>
          </a:prstGeom>
          <a:noFill/>
          <a:ln/>
        </p:spPr>
        <p:txBody>
          <a:bodyPr wrap="square" lIns="0" tIns="0" rIns="0" bIns="0" rtlCol="0" anchor="t"/>
          <a:lstStyle/>
          <a:p>
            <a:pPr algn="l" indent="0" marL="0">
              <a:buNone/>
            </a:pPr>
            <a:r>
              <a:rPr lang="en-US" sz="1150" i="1" dirty="0">
                <a:solidFill>
                  <a:srgbClr val="6B7280"/>
                </a:solidFill>
                <a:latin typeface="Calibri" pitchFamily="34" charset="0"/>
                <a:ea typeface="Calibri" pitchFamily="34" charset="-122"/>
                <a:cs typeface="Calibri" pitchFamily="34" charset="-120"/>
              </a:rPr>
              <a:t>Vous voulez suivre un cours de néerlandais. Vous posez vos questions à l’accueil.</a:t>
            </a:r>
            <a:endParaRPr lang="en-US" sz="1150" dirty="0"/>
          </a:p>
        </p:txBody>
      </p:sp>
      <p:sp>
        <p:nvSpPr>
          <p:cNvPr id="13" name="Shape 8"/>
          <p:cNvSpPr/>
          <p:nvPr/>
        </p:nvSpPr>
        <p:spPr>
          <a:xfrm>
            <a:off x="6355080" y="1673352"/>
            <a:ext cx="914400" cy="402336"/>
          </a:xfrm>
          <a:prstGeom prst="roundRect">
            <a:avLst>
              <a:gd name="adj" fmla="val 13636"/>
            </a:avLst>
          </a:prstGeom>
          <a:solidFill>
            <a:srgbClr val="5FA873"/>
          </a:solidFill>
          <a:ln w="12700">
            <a:solidFill>
              <a:srgbClr val="FFFFFF">
                <a:alpha val="0"/>
              </a:srgbClr>
            </a:solidFill>
            <a:prstDash val="solid"/>
          </a:ln>
        </p:spPr>
      </p:sp>
      <p:sp>
        <p:nvSpPr>
          <p:cNvPr id="14" name="Text 9"/>
          <p:cNvSpPr txBox="1"/>
          <p:nvPr/>
        </p:nvSpPr>
        <p:spPr>
          <a:xfrm>
            <a:off x="6355080" y="167335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1</a:t>
            </a:r>
            <a:endParaRPr lang="en-US" sz="1600" dirty="0"/>
          </a:p>
        </p:txBody>
      </p:sp>
      <p:sp>
        <p:nvSpPr>
          <p:cNvPr id="15" name="Text 10"/>
          <p:cNvSpPr txBox="1"/>
          <p:nvPr/>
        </p:nvSpPr>
        <p:spPr>
          <a:xfrm>
            <a:off x="7406640" y="1618488"/>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Le début : </a:t>
            </a:r>
            <a:r>
              <a:rPr lang="en-US" sz="1450" b="1" dirty="0">
                <a:solidFill>
                  <a:srgbClr val="2B2F38"/>
                </a:solidFill>
              </a:rPr>
              <a:t>WANNEER</a:t>
            </a:r>
            <a:r>
              <a:rPr lang="en-US" sz="1450" dirty="0">
                <a:solidFill>
                  <a:srgbClr val="2B2F38"/>
                </a:solidFill>
              </a:rPr>
              <a:t> begint de cursus?</a:t>
            </a:r>
            <a:endParaRPr lang="en-US" sz="1450" dirty="0"/>
          </a:p>
        </p:txBody>
      </p:sp>
      <p:sp>
        <p:nvSpPr>
          <p:cNvPr id="16" name="Shape 11"/>
          <p:cNvSpPr/>
          <p:nvPr/>
        </p:nvSpPr>
        <p:spPr>
          <a:xfrm>
            <a:off x="6355080" y="2404872"/>
            <a:ext cx="914400" cy="402336"/>
          </a:xfrm>
          <a:prstGeom prst="roundRect">
            <a:avLst>
              <a:gd name="adj" fmla="val 13636"/>
            </a:avLst>
          </a:prstGeom>
          <a:solidFill>
            <a:srgbClr val="5FA873"/>
          </a:solidFill>
          <a:ln w="12700">
            <a:solidFill>
              <a:srgbClr val="FFFFFF">
                <a:alpha val="0"/>
              </a:srgbClr>
            </a:solidFill>
            <a:prstDash val="solid"/>
          </a:ln>
        </p:spPr>
      </p:sp>
      <p:sp>
        <p:nvSpPr>
          <p:cNvPr id="17" name="Text 12"/>
          <p:cNvSpPr txBox="1"/>
          <p:nvPr/>
        </p:nvSpPr>
        <p:spPr>
          <a:xfrm>
            <a:off x="6355080" y="240487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2</a:t>
            </a:r>
            <a:endParaRPr lang="en-US" sz="1600" dirty="0"/>
          </a:p>
        </p:txBody>
      </p:sp>
      <p:sp>
        <p:nvSpPr>
          <p:cNvPr id="18" name="Text 13"/>
          <p:cNvSpPr txBox="1"/>
          <p:nvPr/>
        </p:nvSpPr>
        <p:spPr>
          <a:xfrm>
            <a:off x="7406640" y="2350008"/>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Le lieu : </a:t>
            </a:r>
            <a:r>
              <a:rPr lang="en-US" sz="1450" b="1" dirty="0">
                <a:solidFill>
                  <a:srgbClr val="2B2F38"/>
                </a:solidFill>
              </a:rPr>
              <a:t>WAAR</a:t>
            </a:r>
            <a:r>
              <a:rPr lang="en-US" sz="1450" dirty="0">
                <a:solidFill>
                  <a:srgbClr val="2B2F38"/>
                </a:solidFill>
              </a:rPr>
              <a:t> is het klaslokaal?</a:t>
            </a:r>
            <a:endParaRPr lang="en-US" sz="1450" dirty="0"/>
          </a:p>
        </p:txBody>
      </p:sp>
      <p:sp>
        <p:nvSpPr>
          <p:cNvPr id="19" name="Shape 14"/>
          <p:cNvSpPr/>
          <p:nvPr/>
        </p:nvSpPr>
        <p:spPr>
          <a:xfrm>
            <a:off x="6355080" y="3136392"/>
            <a:ext cx="914400" cy="402336"/>
          </a:xfrm>
          <a:prstGeom prst="roundRect">
            <a:avLst>
              <a:gd name="adj" fmla="val 13636"/>
            </a:avLst>
          </a:prstGeom>
          <a:solidFill>
            <a:srgbClr val="5FA873"/>
          </a:solidFill>
          <a:ln w="12700">
            <a:solidFill>
              <a:srgbClr val="FFFFFF">
                <a:alpha val="0"/>
              </a:srgbClr>
            </a:solidFill>
            <a:prstDash val="solid"/>
          </a:ln>
        </p:spPr>
      </p:sp>
      <p:sp>
        <p:nvSpPr>
          <p:cNvPr id="20" name="Text 15"/>
          <p:cNvSpPr txBox="1"/>
          <p:nvPr/>
        </p:nvSpPr>
        <p:spPr>
          <a:xfrm>
            <a:off x="6355080" y="313639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3</a:t>
            </a:r>
            <a:endParaRPr lang="en-US" sz="1600" dirty="0"/>
          </a:p>
        </p:txBody>
      </p:sp>
      <p:sp>
        <p:nvSpPr>
          <p:cNvPr id="21" name="Text 16"/>
          <p:cNvSpPr txBox="1"/>
          <p:nvPr/>
        </p:nvSpPr>
        <p:spPr>
          <a:xfrm>
            <a:off x="7406640" y="3081528"/>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Le prix : </a:t>
            </a:r>
            <a:r>
              <a:rPr lang="en-US" sz="1450" b="1" dirty="0">
                <a:solidFill>
                  <a:srgbClr val="2B2F38"/>
                </a:solidFill>
              </a:rPr>
              <a:t>HOEVEEL</a:t>
            </a:r>
            <a:r>
              <a:rPr lang="en-US" sz="1450" dirty="0">
                <a:solidFill>
                  <a:srgbClr val="2B2F38"/>
                </a:solidFill>
              </a:rPr>
              <a:t> kost de cursus?</a:t>
            </a:r>
            <a:endParaRPr lang="en-US" sz="1450" dirty="0"/>
          </a:p>
        </p:txBody>
      </p:sp>
      <p:sp>
        <p:nvSpPr>
          <p:cNvPr id="22" name="Shape 17"/>
          <p:cNvSpPr/>
          <p:nvPr/>
        </p:nvSpPr>
        <p:spPr>
          <a:xfrm>
            <a:off x="6355080" y="3867912"/>
            <a:ext cx="914400" cy="402336"/>
          </a:xfrm>
          <a:prstGeom prst="roundRect">
            <a:avLst>
              <a:gd name="adj" fmla="val 13636"/>
            </a:avLst>
          </a:prstGeom>
          <a:solidFill>
            <a:srgbClr val="5FA873"/>
          </a:solidFill>
          <a:ln w="12700">
            <a:solidFill>
              <a:srgbClr val="FFFFFF">
                <a:alpha val="0"/>
              </a:srgbClr>
            </a:solidFill>
            <a:prstDash val="solid"/>
          </a:ln>
        </p:spPr>
      </p:sp>
      <p:sp>
        <p:nvSpPr>
          <p:cNvPr id="23" name="Text 18"/>
          <p:cNvSpPr txBox="1"/>
          <p:nvPr/>
        </p:nvSpPr>
        <p:spPr>
          <a:xfrm>
            <a:off x="6355080" y="386791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4</a:t>
            </a:r>
            <a:endParaRPr lang="en-US" sz="1600" dirty="0"/>
          </a:p>
        </p:txBody>
      </p:sp>
      <p:sp>
        <p:nvSpPr>
          <p:cNvPr id="24" name="Text 19"/>
          <p:cNvSpPr txBox="1"/>
          <p:nvPr/>
        </p:nvSpPr>
        <p:spPr>
          <a:xfrm>
            <a:off x="7406640" y="3813048"/>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Une chute avec </a:t>
            </a:r>
            <a:r>
              <a:rPr lang="en-US" sz="1450" b="1" dirty="0">
                <a:solidFill>
                  <a:srgbClr val="2B2F38"/>
                </a:solidFill>
              </a:rPr>
              <a:t>HOE LANG</a:t>
            </a:r>
            <a:r>
              <a:rPr lang="en-US" sz="1450" dirty="0">
                <a:solidFill>
                  <a:srgbClr val="2B2F38"/>
                </a:solidFill>
              </a:rPr>
              <a:t> duurt … ?</a:t>
            </a:r>
            <a:endParaRPr lang="en-US" sz="1450" dirty="0"/>
          </a:p>
        </p:txBody>
      </p:sp>
      <p:sp>
        <p:nvSpPr>
          <p:cNvPr id="25" name="Shape 20"/>
          <p:cNvSpPr/>
          <p:nvPr/>
        </p:nvSpPr>
        <p:spPr>
          <a:xfrm>
            <a:off x="3246120" y="5440680"/>
            <a:ext cx="6858000" cy="822960"/>
          </a:xfrm>
          <a:prstGeom prst="roundRect">
            <a:avLst>
              <a:gd name="adj" fmla="val 17778"/>
            </a:avLst>
          </a:prstGeom>
          <a:solidFill>
            <a:srgbClr val="EAF5EC"/>
          </a:solidFill>
          <a:ln w="15875">
            <a:solidFill>
              <a:srgbClr val="5FA873"/>
            </a:solidFill>
            <a:prstDash val="solid"/>
          </a:ln>
        </p:spPr>
      </p:sp>
      <p:pic>
        <p:nvPicPr>
          <p:cNvPr id="26" name="Image 2" descr="UserFriends">    </p:cNvPr>
          <p:cNvPicPr>
            <a:picLocks noChangeAspect="1"/>
          </p:cNvPicPr>
          <p:nvPr/>
        </p:nvPicPr>
        <p:blipFill>
          <a:blip r:embed="rId3"/>
          <a:stretch>
            <a:fillRect/>
          </a:stretch>
        </p:blipFill>
        <p:spPr>
          <a:xfrm>
            <a:off x="3520440" y="5660136"/>
            <a:ext cx="384048" cy="384048"/>
          </a:xfrm>
          <a:prstGeom prst="rect">
            <a:avLst/>
          </a:prstGeom>
        </p:spPr>
      </p:pic>
      <p:sp>
        <p:nvSpPr>
          <p:cNvPr id="27" name="Text 21"/>
          <p:cNvSpPr txBox="1"/>
          <p:nvPr/>
        </p:nvSpPr>
        <p:spPr>
          <a:xfrm>
            <a:off x="4114800" y="5440680"/>
            <a:ext cx="5852160" cy="822960"/>
          </a:xfrm>
          <a:prstGeom prst="rect">
            <a:avLst/>
          </a:prstGeom>
          <a:noFill/>
          <a:ln/>
        </p:spPr>
        <p:txBody>
          <a:bodyPr wrap="square" lIns="0" tIns="0" rIns="0" bIns="0" rtlCol="0" anchor="ctr"/>
          <a:lstStyle/>
          <a:p>
            <a:pPr algn="ctr" indent="0" marL="0">
              <a:buNone/>
            </a:pPr>
            <a:r>
              <a:rPr lang="en-US" sz="1800" b="1" dirty="0">
                <a:solidFill>
                  <a:srgbClr val="2E6B44"/>
                </a:solidFill>
                <a:latin typeface="Calibri" pitchFamily="34" charset="0"/>
                <a:ea typeface="Calibri" pitchFamily="34" charset="-122"/>
                <a:cs typeface="Calibri" pitchFamily="34" charset="-120"/>
              </a:rPr>
              <a:t>Vertel je verhaal aan je partner.</a:t>
            </a:r>
            <a:endParaRPr lang="en-US" sz="1800" dirty="0"/>
          </a:p>
          <a:p>
            <a:pPr algn="ctr" indent="0" marL="0">
              <a:buNone/>
            </a:pPr>
            <a:r>
              <a:rPr lang="en-US" sz="1800" b="1" dirty="0">
                <a:solidFill>
                  <a:srgbClr val="2E6B44"/>
                </a:solidFill>
                <a:latin typeface="Calibri" pitchFamily="34" charset="0"/>
                <a:ea typeface="Calibri" pitchFamily="34" charset="-122"/>
                <a:cs typeface="Calibri" pitchFamily="34" charset="-120"/>
              </a:rPr>
              <a:t>Wat denkt hij/zij daarvan?</a:t>
            </a:r>
            <a:endParaRPr lang="en-US" sz="1800" dirty="0"/>
          </a:p>
        </p:txBody>
      </p:sp>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123</a:t>
            </a:fld>
            <a:endParaRPr lang="en-US"/>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spTree>
      <p:nvGrpSpPr>
        <p:cNvPr id="1" name=""/>
        <p:cNvGrpSpPr/>
        <p:nvPr/>
      </p:nvGrpSpPr>
      <p:grpSpPr>
        <a:xfrm>
          <a:off x="0" y="0"/>
          <a:ext cx="0" cy="0"/>
          <a:chOff x="0" y="0"/>
          <a:chExt cx="0" cy="0"/>
        </a:xfrm>
      </p:grpSpPr>
      <p:sp>
        <p:nvSpPr>
          <p:cNvPr id="2" name="Text 1"/>
          <p:cNvSpPr/>
          <p:nvPr>
            <p:ph idx="101" type="title" hasCustomPrompt="1"/>
          </p:nvPr>
        </p:nvSpPr>
        <p:spPr>
          <a:xfrm>
            <a:off x="1554480" y="384048"/>
            <a:ext cx="10241280" cy="658368"/>
          </a:xfrm>
          <a:prstGeom prst="rect">
            <a:avLst/>
          </a:prstGeom>
          <a:noFill/>
          <a:ln/>
        </p:spPr>
        <p:txBody>
          <a:bodyPr wrap="square" lIns="0" tIns="0" rIns="0" bIns="0" rtlCol="0" anchor="ctr"/>
          <a:lstStyle/>
          <a:p>
            <a:pPr algn="ctr" indent="0" marL="0">
              <a:buNone/>
            </a:pPr>
            <a:r>
              <a:rPr lang="en-US" sz="3000" b="1" dirty="0">
                <a:solidFill>
                  <a:srgbClr val="2B2F38"/>
                </a:solidFill>
              </a:rPr>
              <a:t>Een cursus Nederlands</a:t>
            </a:r>
            <a:endParaRPr lang="en-US" sz="3000" dirty="0"/>
          </a:p>
        </p:txBody>
      </p:sp>
      <p:sp>
        <p:nvSpPr>
          <p:cNvPr id="4" name="Shape 1"/>
          <p:cNvSpPr/>
          <p:nvPr/>
        </p:nvSpPr>
        <p:spPr>
          <a:xfrm>
            <a:off x="365760" y="365760"/>
            <a:ext cx="868680" cy="5989320"/>
          </a:xfrm>
          <a:prstGeom prst="roundRect">
            <a:avLst>
              <a:gd name="adj" fmla="val 12632"/>
            </a:avLst>
          </a:prstGeom>
          <a:solidFill>
            <a:srgbClr val="F4E8F6"/>
          </a:solidFill>
          <a:ln w="28575">
            <a:solidFill>
              <a:srgbClr val="B57FCB"/>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7E4C97"/>
                </a:solidFill>
                <a:latin typeface="Calibri" pitchFamily="34" charset="0"/>
                <a:ea typeface="Calibri" pitchFamily="34" charset="-122"/>
                <a:cs typeface="Calibri" pitchFamily="34" charset="-120"/>
              </a:rPr>
              <a:t>A1 · Situations</a:t>
            </a:r>
            <a:endParaRPr lang="en-US" sz="3800" dirty="0"/>
          </a:p>
        </p:txBody>
      </p:sp>
      <p:sp>
        <p:nvSpPr>
          <p:cNvPr id="6" name="Shape 3"/>
          <p:cNvSpPr/>
          <p:nvPr/>
        </p:nvSpPr>
        <p:spPr>
          <a:xfrm>
            <a:off x="2519172" y="1124712"/>
            <a:ext cx="8311896" cy="5277231"/>
          </a:xfrm>
          <a:prstGeom prst="roundRect">
            <a:avLst>
              <a:gd name="adj" fmla="val 693"/>
            </a:avLst>
          </a:prstGeom>
          <a:solidFill>
            <a:srgbClr val="FFFFFF"/>
          </a:solidFill>
          <a:ln w="9525">
            <a:solidFill>
              <a:srgbClr val="E3E7EE"/>
            </a:solidFill>
            <a:prstDash val="solid"/>
          </a:ln>
          <a:effectLst>
            <a:outerShdw sx="100000" sy="100000" kx="0" ky="0" algn="bl" rotWithShape="0" blurRad="177800" dist="63500" dir="5400000">
              <a:srgbClr val="1B2430">
                <a:alpha val="25000"/>
              </a:srgbClr>
            </a:outerShdw>
          </a:effectLst>
        </p:spPr>
      </p:sp>
      <p:pic>
        <p:nvPicPr>
          <p:cNvPr id="7" name="Image 0" descr="/home/user/talenleren/neerlandais1/generateur/img/vijfzinnen/a1_cursus.jpg">    </p:cNvPr>
          <p:cNvPicPr>
            <a:picLocks noChangeAspect="1"/>
          </p:cNvPicPr>
          <p:nvPr/>
        </p:nvPicPr>
        <p:blipFill>
          <a:blip r:embed="rId1"/>
          <a:stretch>
            <a:fillRect/>
          </a:stretch>
        </p:blipFill>
        <p:spPr>
          <a:xfrm>
            <a:off x="2628900" y="1234440"/>
            <a:ext cx="8092440" cy="5057775"/>
          </a:xfrm>
          <a:prstGeom prst="rect">
            <a:avLst/>
          </a:prstGeom>
        </p:spPr>
      </p:pic>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124</a:t>
            </a:fld>
            <a:endParaRPr lang="en-US"/>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5">
    <p:spTree>
      <p:nvGrpSpPr>
        <p:cNvPr id="1" name=""/>
        <p:cNvGrpSpPr/>
        <p:nvPr/>
      </p:nvGrpSpPr>
      <p:grpSpPr>
        <a:xfrm>
          <a:off x="0" y="0"/>
          <a:ext cx="0" cy="0"/>
          <a:chOff x="0" y="0"/>
          <a:chExt cx="0" cy="0"/>
        </a:xfrm>
      </p:grpSpPr>
      <p:sp>
        <p:nvSpPr>
          <p:cNvPr id="2" name="Text 1"/>
          <p:cNvSpPr/>
          <p:nvPr>
            <p:ph idx="101" type="title" hasCustomPrompt="1"/>
          </p:nvPr>
        </p:nvSpPr>
        <p:spPr>
          <a:xfrm>
            <a:off x="1691640" y="347472"/>
            <a:ext cx="8138160" cy="914400"/>
          </a:xfrm>
          <a:prstGeom prst="rect">
            <a:avLst/>
          </a:prstGeom>
          <a:noFill/>
          <a:ln/>
        </p:spPr>
        <p:txBody>
          <a:bodyPr wrap="square" lIns="0" tIns="0" rIns="0" bIns="0" rtlCol="0" anchor="ctr"/>
          <a:lstStyle/>
          <a:p>
            <a:pPr algn="l" indent="0" marL="0">
              <a:buNone/>
            </a:pPr>
            <a:r>
              <a:rPr lang="en-US" sz="2400" b="1" dirty="0">
                <a:solidFill>
                  <a:srgbClr val="2B2F38"/>
                </a:solidFill>
              </a:rPr>
              <a:t>Hier is een voorbeeld van wat je had kunnen denken en zeggen…</a:t>
            </a:r>
            <a:endParaRPr lang="en-US" sz="2400" dirty="0"/>
          </a:p>
        </p:txBody>
      </p:sp>
      <p:sp>
        <p:nvSpPr>
          <p:cNvPr id="4" name="Shape 1"/>
          <p:cNvSpPr/>
          <p:nvPr/>
        </p:nvSpPr>
        <p:spPr>
          <a:xfrm>
            <a:off x="365760" y="365760"/>
            <a:ext cx="868680" cy="5989320"/>
          </a:xfrm>
          <a:prstGeom prst="roundRect">
            <a:avLst>
              <a:gd name="adj" fmla="val 12632"/>
            </a:avLst>
          </a:prstGeom>
          <a:solidFill>
            <a:srgbClr val="F4E8F6"/>
          </a:solidFill>
          <a:ln w="28575">
            <a:solidFill>
              <a:srgbClr val="B57FCB"/>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7E4C97"/>
                </a:solidFill>
                <a:latin typeface="Calibri" pitchFamily="34" charset="0"/>
                <a:ea typeface="Calibri" pitchFamily="34" charset="-122"/>
                <a:cs typeface="Calibri" pitchFamily="34" charset="-120"/>
              </a:rPr>
              <a:t>A1 · Situations</a:t>
            </a:r>
            <a:endParaRPr lang="en-US" sz="3800" dirty="0"/>
          </a:p>
        </p:txBody>
      </p:sp>
      <p:sp>
        <p:nvSpPr>
          <p:cNvPr id="6" name="Shape 3"/>
          <p:cNvSpPr/>
          <p:nvPr/>
        </p:nvSpPr>
        <p:spPr>
          <a:xfrm>
            <a:off x="10058400" y="246888"/>
            <a:ext cx="1691640" cy="1091565"/>
          </a:xfrm>
          <a:prstGeom prst="roundRect">
            <a:avLst>
              <a:gd name="adj" fmla="val 3351"/>
            </a:avLst>
          </a:prstGeom>
          <a:solidFill>
            <a:srgbClr val="FFFFFF"/>
          </a:solidFill>
          <a:ln w="9525">
            <a:solidFill>
              <a:srgbClr val="E3E7EE"/>
            </a:solidFill>
            <a:prstDash val="solid"/>
          </a:ln>
          <a:effectLst>
            <a:outerShdw sx="100000" sy="100000" kx="0" ky="0" algn="bl" rotWithShape="0" blurRad="76200" dist="25400" dir="5400000">
              <a:srgbClr val="1B2430">
                <a:alpha val="25000"/>
              </a:srgbClr>
            </a:outerShdw>
          </a:effectLst>
        </p:spPr>
      </p:sp>
      <p:pic>
        <p:nvPicPr>
          <p:cNvPr id="7" name="Image 0" descr="/home/user/talenleren/neerlandais1/generateur/img/vijfzinnen/a1_cursus_s.jpg">    </p:cNvPr>
          <p:cNvPicPr>
            <a:picLocks noChangeAspect="1"/>
          </p:cNvPicPr>
          <p:nvPr/>
        </p:nvPicPr>
        <p:blipFill>
          <a:blip r:embed="rId1"/>
          <a:stretch>
            <a:fillRect/>
          </a:stretch>
        </p:blipFill>
        <p:spPr>
          <a:xfrm>
            <a:off x="10104120" y="292608"/>
            <a:ext cx="1600200" cy="1000125"/>
          </a:xfrm>
          <a:prstGeom prst="rect">
            <a:avLst/>
          </a:prstGeom>
        </p:spPr>
      </p:pic>
      <p:sp>
        <p:nvSpPr>
          <p:cNvPr id="8" name="Shape 4"/>
          <p:cNvSpPr/>
          <p:nvPr/>
        </p:nvSpPr>
        <p:spPr>
          <a:xfrm>
            <a:off x="1691640" y="3120542"/>
            <a:ext cx="1260348" cy="371856"/>
          </a:xfrm>
          <a:prstGeom prst="roundRect">
            <a:avLst>
              <a:gd name="adj" fmla="val 12295"/>
            </a:avLst>
          </a:prstGeom>
          <a:solidFill>
            <a:srgbClr val="E6F3DA"/>
          </a:solidFill>
          <a:ln w="12700">
            <a:solidFill>
              <a:srgbClr val="FFFFFF">
                <a:alpha val="0"/>
              </a:srgbClr>
            </a:solidFill>
            <a:prstDash val="solid"/>
          </a:ln>
        </p:spPr>
      </p:sp>
      <p:sp>
        <p:nvSpPr>
          <p:cNvPr id="9" name="Text 5"/>
          <p:cNvSpPr txBox="1"/>
          <p:nvPr/>
        </p:nvSpPr>
        <p:spPr>
          <a:xfrm>
            <a:off x="1691640" y="3108350"/>
            <a:ext cx="1260348"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Wanneer</a:t>
            </a:r>
            <a:endParaRPr lang="en-US" sz="2400" dirty="0"/>
          </a:p>
        </p:txBody>
      </p:sp>
      <p:sp>
        <p:nvSpPr>
          <p:cNvPr id="10" name="Text 6"/>
          <p:cNvSpPr txBox="1"/>
          <p:nvPr/>
        </p:nvSpPr>
        <p:spPr>
          <a:xfrm>
            <a:off x="3039161" y="3108350"/>
            <a:ext cx="2391461"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begint de cursus?</a:t>
            </a:r>
            <a:endParaRPr lang="en-US" sz="2400" dirty="0"/>
          </a:p>
        </p:txBody>
      </p:sp>
      <p:sp>
        <p:nvSpPr>
          <p:cNvPr id="11" name="Shape 7"/>
          <p:cNvSpPr/>
          <p:nvPr/>
        </p:nvSpPr>
        <p:spPr>
          <a:xfrm>
            <a:off x="5334914" y="3120542"/>
            <a:ext cx="776935" cy="371856"/>
          </a:xfrm>
          <a:prstGeom prst="roundRect">
            <a:avLst>
              <a:gd name="adj" fmla="val 12295"/>
            </a:avLst>
          </a:prstGeom>
          <a:solidFill>
            <a:srgbClr val="E6F3DA"/>
          </a:solidFill>
          <a:ln w="12700">
            <a:solidFill>
              <a:srgbClr val="FFFFFF">
                <a:alpha val="0"/>
              </a:srgbClr>
            </a:solidFill>
            <a:prstDash val="solid"/>
          </a:ln>
        </p:spPr>
      </p:sp>
      <p:sp>
        <p:nvSpPr>
          <p:cNvPr id="12" name="Text 8"/>
          <p:cNvSpPr txBox="1"/>
          <p:nvPr/>
        </p:nvSpPr>
        <p:spPr>
          <a:xfrm>
            <a:off x="5334914" y="3108350"/>
            <a:ext cx="776935"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Waar</a:t>
            </a:r>
            <a:endParaRPr lang="en-US" sz="2400" dirty="0"/>
          </a:p>
        </p:txBody>
      </p:sp>
      <p:sp>
        <p:nvSpPr>
          <p:cNvPr id="13" name="Text 9"/>
          <p:cNvSpPr txBox="1"/>
          <p:nvPr/>
        </p:nvSpPr>
        <p:spPr>
          <a:xfrm>
            <a:off x="6199022" y="3108350"/>
            <a:ext cx="2307031"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is het klaslokaal?</a:t>
            </a:r>
            <a:endParaRPr lang="en-US" sz="2400" dirty="0"/>
          </a:p>
        </p:txBody>
      </p:sp>
      <p:sp>
        <p:nvSpPr>
          <p:cNvPr id="14" name="Shape 10"/>
          <p:cNvSpPr/>
          <p:nvPr/>
        </p:nvSpPr>
        <p:spPr>
          <a:xfrm>
            <a:off x="8410346" y="3120542"/>
            <a:ext cx="1126846" cy="371856"/>
          </a:xfrm>
          <a:prstGeom prst="roundRect">
            <a:avLst>
              <a:gd name="adj" fmla="val 12295"/>
            </a:avLst>
          </a:prstGeom>
          <a:solidFill>
            <a:srgbClr val="E6F3DA"/>
          </a:solidFill>
          <a:ln w="12700">
            <a:solidFill>
              <a:srgbClr val="FFFFFF">
                <a:alpha val="0"/>
              </a:srgbClr>
            </a:solidFill>
            <a:prstDash val="solid"/>
          </a:ln>
        </p:spPr>
      </p:sp>
      <p:sp>
        <p:nvSpPr>
          <p:cNvPr id="15" name="Text 11"/>
          <p:cNvSpPr txBox="1"/>
          <p:nvPr/>
        </p:nvSpPr>
        <p:spPr>
          <a:xfrm>
            <a:off x="8410346" y="3108350"/>
            <a:ext cx="1126846"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Hoeveel</a:t>
            </a:r>
            <a:endParaRPr lang="en-US" sz="2400" dirty="0"/>
          </a:p>
        </p:txBody>
      </p:sp>
      <p:sp>
        <p:nvSpPr>
          <p:cNvPr id="16" name="Text 12"/>
          <p:cNvSpPr txBox="1"/>
          <p:nvPr/>
        </p:nvSpPr>
        <p:spPr>
          <a:xfrm>
            <a:off x="9624365" y="3108350"/>
            <a:ext cx="2124456"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kost de cursus?</a:t>
            </a:r>
            <a:endParaRPr lang="en-US" sz="2400" dirty="0"/>
          </a:p>
        </p:txBody>
      </p:sp>
      <p:sp>
        <p:nvSpPr>
          <p:cNvPr id="17" name="Shape 13"/>
          <p:cNvSpPr/>
          <p:nvPr/>
        </p:nvSpPr>
        <p:spPr>
          <a:xfrm>
            <a:off x="2321814" y="3044342"/>
            <a:ext cx="914" cy="76200"/>
          </a:xfrm>
          <a:prstGeom prst="line">
            <a:avLst/>
          </a:prstGeom>
          <a:noFill/>
          <a:ln w="15875">
            <a:solidFill>
              <a:srgbClr val="7AB648"/>
            </a:solidFill>
            <a:prstDash val="solid"/>
          </a:ln>
        </p:spPr>
      </p:sp>
      <p:sp>
        <p:nvSpPr>
          <p:cNvPr id="18" name="Shape 14"/>
          <p:cNvSpPr/>
          <p:nvPr/>
        </p:nvSpPr>
        <p:spPr>
          <a:xfrm>
            <a:off x="1906911" y="2797454"/>
            <a:ext cx="829805" cy="246888"/>
          </a:xfrm>
          <a:prstGeom prst="roundRect">
            <a:avLst>
              <a:gd name="adj" fmla="val 14815"/>
            </a:avLst>
          </a:prstGeom>
          <a:solidFill>
            <a:srgbClr val="7AB648"/>
          </a:solidFill>
          <a:ln w="12700">
            <a:solidFill>
              <a:srgbClr val="FFFFFF">
                <a:alpha val="0"/>
              </a:srgbClr>
            </a:solidFill>
            <a:prstDash val="solid"/>
          </a:ln>
        </p:spPr>
      </p:sp>
      <p:sp>
        <p:nvSpPr>
          <p:cNvPr id="19" name="Text 15"/>
          <p:cNvSpPr txBox="1"/>
          <p:nvPr/>
        </p:nvSpPr>
        <p:spPr>
          <a:xfrm>
            <a:off x="1906911" y="2797454"/>
            <a:ext cx="829805"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WANNEER</a:t>
            </a:r>
            <a:endParaRPr lang="en-US" sz="1100" dirty="0"/>
          </a:p>
        </p:txBody>
      </p:sp>
      <p:sp>
        <p:nvSpPr>
          <p:cNvPr id="20" name="Shape 16"/>
          <p:cNvSpPr/>
          <p:nvPr/>
        </p:nvSpPr>
        <p:spPr>
          <a:xfrm>
            <a:off x="5723382" y="3044342"/>
            <a:ext cx="914" cy="76200"/>
          </a:xfrm>
          <a:prstGeom prst="line">
            <a:avLst/>
          </a:prstGeom>
          <a:noFill/>
          <a:ln w="15875">
            <a:solidFill>
              <a:srgbClr val="7AB648"/>
            </a:solidFill>
            <a:prstDash val="solid"/>
          </a:ln>
        </p:spPr>
      </p:sp>
      <p:sp>
        <p:nvSpPr>
          <p:cNvPr id="21" name="Shape 17"/>
          <p:cNvSpPr/>
          <p:nvPr/>
        </p:nvSpPr>
        <p:spPr>
          <a:xfrm>
            <a:off x="5426386" y="2797454"/>
            <a:ext cx="593992" cy="246888"/>
          </a:xfrm>
          <a:prstGeom prst="roundRect">
            <a:avLst>
              <a:gd name="adj" fmla="val 14815"/>
            </a:avLst>
          </a:prstGeom>
          <a:solidFill>
            <a:srgbClr val="7AB648"/>
          </a:solidFill>
          <a:ln w="12700">
            <a:solidFill>
              <a:srgbClr val="FFFFFF">
                <a:alpha val="0"/>
              </a:srgbClr>
            </a:solidFill>
            <a:prstDash val="solid"/>
          </a:ln>
        </p:spPr>
      </p:sp>
      <p:sp>
        <p:nvSpPr>
          <p:cNvPr id="22" name="Text 18"/>
          <p:cNvSpPr txBox="1"/>
          <p:nvPr/>
        </p:nvSpPr>
        <p:spPr>
          <a:xfrm>
            <a:off x="5426386" y="2797454"/>
            <a:ext cx="593992"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WAAR</a:t>
            </a:r>
            <a:endParaRPr lang="en-US" sz="1100" dirty="0"/>
          </a:p>
        </p:txBody>
      </p:sp>
      <p:sp>
        <p:nvSpPr>
          <p:cNvPr id="23" name="Shape 19"/>
          <p:cNvSpPr/>
          <p:nvPr/>
        </p:nvSpPr>
        <p:spPr>
          <a:xfrm>
            <a:off x="8973769" y="3044342"/>
            <a:ext cx="914" cy="76200"/>
          </a:xfrm>
          <a:prstGeom prst="line">
            <a:avLst/>
          </a:prstGeom>
          <a:noFill/>
          <a:ln w="15875">
            <a:solidFill>
              <a:srgbClr val="7AB648"/>
            </a:solidFill>
            <a:prstDash val="solid"/>
          </a:ln>
        </p:spPr>
      </p:sp>
      <p:sp>
        <p:nvSpPr>
          <p:cNvPr id="24" name="Shape 20"/>
          <p:cNvSpPr/>
          <p:nvPr/>
        </p:nvSpPr>
        <p:spPr>
          <a:xfrm>
            <a:off x="8599659" y="2797454"/>
            <a:ext cx="748221" cy="246888"/>
          </a:xfrm>
          <a:prstGeom prst="roundRect">
            <a:avLst>
              <a:gd name="adj" fmla="val 14815"/>
            </a:avLst>
          </a:prstGeom>
          <a:solidFill>
            <a:srgbClr val="7AB648"/>
          </a:solidFill>
          <a:ln w="12700">
            <a:solidFill>
              <a:srgbClr val="FFFFFF">
                <a:alpha val="0"/>
              </a:srgbClr>
            </a:solidFill>
            <a:prstDash val="solid"/>
          </a:ln>
        </p:spPr>
      </p:sp>
      <p:sp>
        <p:nvSpPr>
          <p:cNvPr id="25" name="Text 21"/>
          <p:cNvSpPr txBox="1"/>
          <p:nvPr/>
        </p:nvSpPr>
        <p:spPr>
          <a:xfrm>
            <a:off x="8599659" y="2797454"/>
            <a:ext cx="748221"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HOEVEEL</a:t>
            </a:r>
            <a:endParaRPr lang="en-US" sz="1100" dirty="0"/>
          </a:p>
        </p:txBody>
      </p:sp>
      <p:sp>
        <p:nvSpPr>
          <p:cNvPr id="26" name="Text 22"/>
          <p:cNvSpPr txBox="1"/>
          <p:nvPr/>
        </p:nvSpPr>
        <p:spPr>
          <a:xfrm>
            <a:off x="4841900" y="4162958"/>
            <a:ext cx="491642"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En</a:t>
            </a:r>
            <a:endParaRPr lang="en-US" sz="2400" dirty="0"/>
          </a:p>
        </p:txBody>
      </p:sp>
      <p:sp>
        <p:nvSpPr>
          <p:cNvPr id="27" name="Shape 23"/>
          <p:cNvSpPr/>
          <p:nvPr/>
        </p:nvSpPr>
        <p:spPr>
          <a:xfrm>
            <a:off x="5237836" y="4175150"/>
            <a:ext cx="1175004" cy="371856"/>
          </a:xfrm>
          <a:prstGeom prst="roundRect">
            <a:avLst>
              <a:gd name="adj" fmla="val 12295"/>
            </a:avLst>
          </a:prstGeom>
          <a:solidFill>
            <a:srgbClr val="E6F3DA"/>
          </a:solidFill>
          <a:ln w="12700">
            <a:solidFill>
              <a:srgbClr val="FFFFFF">
                <a:alpha val="0"/>
              </a:srgbClr>
            </a:solidFill>
            <a:prstDash val="solid"/>
          </a:ln>
        </p:spPr>
      </p:sp>
      <p:sp>
        <p:nvSpPr>
          <p:cNvPr id="28" name="Text 24"/>
          <p:cNvSpPr txBox="1"/>
          <p:nvPr/>
        </p:nvSpPr>
        <p:spPr>
          <a:xfrm>
            <a:off x="5237836" y="4162958"/>
            <a:ext cx="1175004"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hoe lang</a:t>
            </a:r>
            <a:endParaRPr lang="en-US" sz="2400" dirty="0"/>
          </a:p>
        </p:txBody>
      </p:sp>
      <p:sp>
        <p:nvSpPr>
          <p:cNvPr id="29" name="Text 25"/>
          <p:cNvSpPr txBox="1"/>
          <p:nvPr/>
        </p:nvSpPr>
        <p:spPr>
          <a:xfrm>
            <a:off x="6500012" y="4162958"/>
            <a:ext cx="2236927"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duurt de pauze?</a:t>
            </a:r>
            <a:endParaRPr lang="en-US" sz="2400" dirty="0"/>
          </a:p>
        </p:txBody>
      </p:sp>
      <p:sp>
        <p:nvSpPr>
          <p:cNvPr id="30" name="Shape 26"/>
          <p:cNvSpPr/>
          <p:nvPr/>
        </p:nvSpPr>
        <p:spPr>
          <a:xfrm>
            <a:off x="5825338" y="4098950"/>
            <a:ext cx="914" cy="76200"/>
          </a:xfrm>
          <a:prstGeom prst="line">
            <a:avLst/>
          </a:prstGeom>
          <a:noFill/>
          <a:ln w="15875">
            <a:solidFill>
              <a:srgbClr val="7AB648"/>
            </a:solidFill>
            <a:prstDash val="solid"/>
          </a:ln>
        </p:spPr>
      </p:sp>
      <p:sp>
        <p:nvSpPr>
          <p:cNvPr id="31" name="Shape 27"/>
          <p:cNvSpPr/>
          <p:nvPr/>
        </p:nvSpPr>
        <p:spPr>
          <a:xfrm>
            <a:off x="5412042" y="3852062"/>
            <a:ext cx="826592" cy="246888"/>
          </a:xfrm>
          <a:prstGeom prst="roundRect">
            <a:avLst>
              <a:gd name="adj" fmla="val 14815"/>
            </a:avLst>
          </a:prstGeom>
          <a:solidFill>
            <a:srgbClr val="7AB648"/>
          </a:solidFill>
          <a:ln w="12700">
            <a:solidFill>
              <a:srgbClr val="FFFFFF">
                <a:alpha val="0"/>
              </a:srgbClr>
            </a:solidFill>
            <a:prstDash val="solid"/>
          </a:ln>
        </p:spPr>
      </p:sp>
      <p:sp>
        <p:nvSpPr>
          <p:cNvPr id="32" name="Text 28"/>
          <p:cNvSpPr txBox="1"/>
          <p:nvPr/>
        </p:nvSpPr>
        <p:spPr>
          <a:xfrm>
            <a:off x="5412042" y="3852062"/>
            <a:ext cx="826592"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HOE LANG</a:t>
            </a:r>
            <a:endParaRPr lang="en-US" sz="1100" dirty="0"/>
          </a:p>
        </p:txBody>
      </p:sp>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125</a:t>
            </a:fld>
            <a:endParaRPr lang="en-US"/>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6">
    <p:spTree>
      <p:nvGrpSpPr>
        <p:cNvPr id="1" name=""/>
        <p:cNvGrpSpPr/>
        <p:nvPr/>
      </p:nvGrpSpPr>
      <p:grpSpPr>
        <a:xfrm>
          <a:off x="0" y="0"/>
          <a:ext cx="0" cy="0"/>
          <a:chOff x="0" y="0"/>
          <a:chExt cx="0" cy="0"/>
        </a:xfrm>
      </p:grpSpPr>
      <p:sp>
        <p:nvSpPr>
          <p:cNvPr id="2" name="Text 1"/>
          <p:cNvSpPr/>
          <p:nvPr>
            <p:ph idx="101" type="title" hasCustomPrompt="1"/>
          </p:nvPr>
        </p:nvSpPr>
        <p:spPr>
          <a:xfrm>
            <a:off x="1554480" y="384048"/>
            <a:ext cx="10241280" cy="658368"/>
          </a:xfrm>
          <a:prstGeom prst="rect">
            <a:avLst/>
          </a:prstGeom>
          <a:noFill/>
          <a:ln/>
        </p:spPr>
        <p:txBody>
          <a:bodyPr wrap="square" lIns="0" tIns="0" rIns="0" bIns="0" rtlCol="0" anchor="ctr"/>
          <a:lstStyle/>
          <a:p>
            <a:pPr algn="ctr" indent="0" marL="0">
              <a:buNone/>
            </a:pPr>
            <a:r>
              <a:rPr lang="en-US" sz="3000" b="1" dirty="0">
                <a:solidFill>
                  <a:srgbClr val="2B2F38"/>
                </a:solidFill>
              </a:rPr>
              <a:t>Gebruik deze afbeelding als inspiratie</a:t>
            </a:r>
            <a:endParaRPr lang="en-US" sz="3000" dirty="0"/>
          </a:p>
        </p:txBody>
      </p:sp>
      <p:sp>
        <p:nvSpPr>
          <p:cNvPr id="4" name="Shape 1"/>
          <p:cNvSpPr/>
          <p:nvPr/>
        </p:nvSpPr>
        <p:spPr>
          <a:xfrm>
            <a:off x="365760" y="365760"/>
            <a:ext cx="868680" cy="5989320"/>
          </a:xfrm>
          <a:prstGeom prst="roundRect">
            <a:avLst>
              <a:gd name="adj" fmla="val 12632"/>
            </a:avLst>
          </a:prstGeom>
          <a:solidFill>
            <a:srgbClr val="F4E8F6"/>
          </a:solidFill>
          <a:ln w="28575">
            <a:solidFill>
              <a:srgbClr val="B57FCB"/>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7E4C97"/>
                </a:solidFill>
                <a:latin typeface="Calibri" pitchFamily="34" charset="0"/>
                <a:ea typeface="Calibri" pitchFamily="34" charset="-122"/>
                <a:cs typeface="Calibri" pitchFamily="34" charset="-120"/>
              </a:rPr>
              <a:t>A1 · Situations</a:t>
            </a:r>
            <a:endParaRPr lang="en-US" sz="3800" dirty="0"/>
          </a:p>
        </p:txBody>
      </p:sp>
      <p:sp>
        <p:nvSpPr>
          <p:cNvPr id="6" name="Text 3"/>
          <p:cNvSpPr txBox="1"/>
          <p:nvPr/>
        </p:nvSpPr>
        <p:spPr>
          <a:xfrm>
            <a:off x="1554480" y="1024128"/>
            <a:ext cx="10241280" cy="365760"/>
          </a:xfrm>
          <a:prstGeom prst="rect">
            <a:avLst/>
          </a:prstGeom>
          <a:noFill/>
          <a:ln/>
        </p:spPr>
        <p:txBody>
          <a:bodyPr wrap="square" lIns="0" tIns="0" rIns="0" bIns="0" rtlCol="0" anchor="ctr"/>
          <a:lstStyle/>
          <a:p>
            <a:pPr algn="ctr" indent="0" marL="0">
              <a:buNone/>
            </a:pPr>
            <a:r>
              <a:rPr lang="en-US" sz="1500" b="1" dirty="0">
                <a:solidFill>
                  <a:srgbClr val="7E4C97"/>
                </a:solidFill>
                <a:latin typeface="Calibri" pitchFamily="34" charset="0"/>
                <a:ea typeface="Calibri" pitchFamily="34" charset="-122"/>
                <a:cs typeface="Calibri" pitchFamily="34" charset="-120"/>
              </a:rPr>
              <a:t>40 · Een formulier invullen</a:t>
            </a:r>
            <a:r>
              <a:rPr lang="en-US" sz="1500" i="1" dirty="0">
                <a:solidFill>
                  <a:srgbClr val="6B7280"/>
                </a:solidFill>
                <a:latin typeface="Calibri" pitchFamily="34" charset="0"/>
                <a:ea typeface="Calibri" pitchFamily="34" charset="-122"/>
                <a:cs typeface="Calibri" pitchFamily="34" charset="-120"/>
              </a:rPr>
              <a:t>   Remplir un formulaire</a:t>
            </a:r>
            <a:r>
              <a:rPr lang="en-US" sz="1200" dirty="0">
                <a:solidFill>
                  <a:srgbClr val="9AA3B2"/>
                </a:solidFill>
                <a:latin typeface="Calibri" pitchFamily="34" charset="0"/>
                <a:ea typeface="Calibri" pitchFamily="34" charset="-122"/>
                <a:cs typeface="Calibri" pitchFamily="34" charset="-120"/>
              </a:rPr>
              <a:t>   ·   syllabus fiche 5 · p. 96</a:t>
            </a:r>
            <a:endParaRPr lang="en-US" sz="1500" dirty="0"/>
          </a:p>
        </p:txBody>
      </p:sp>
      <p:sp>
        <p:nvSpPr>
          <p:cNvPr id="7" name="Shape 4"/>
          <p:cNvSpPr/>
          <p:nvPr/>
        </p:nvSpPr>
        <p:spPr>
          <a:xfrm>
            <a:off x="1596085" y="1504645"/>
            <a:ext cx="4534510" cy="2905735"/>
          </a:xfrm>
          <a:prstGeom prst="roundRect">
            <a:avLst>
              <a:gd name="adj" fmla="val 1259"/>
            </a:avLst>
          </a:prstGeom>
          <a:solidFill>
            <a:srgbClr val="FFFFFF"/>
          </a:solidFill>
          <a:ln w="9525">
            <a:solidFill>
              <a:srgbClr val="E3E7EE"/>
            </a:solidFill>
            <a:prstDash val="solid"/>
          </a:ln>
          <a:effectLst>
            <a:outerShdw sx="100000" sy="100000" kx="0" ky="0" algn="bl" rotWithShape="0" blurRad="127000" dist="50800" dir="5400000">
              <a:srgbClr val="1B2430">
                <a:alpha val="25000"/>
              </a:srgbClr>
            </a:outerShdw>
          </a:effectLst>
        </p:spPr>
      </p:sp>
      <p:pic>
        <p:nvPicPr>
          <p:cNvPr id="8" name="Image 0" descr="/home/user/talenleren/neerlandais1/generateur/img/vijfzinnen/a1_formulier_s.jpg">    </p:cNvPr>
          <p:cNvPicPr>
            <a:picLocks noChangeAspect="1"/>
          </p:cNvPicPr>
          <p:nvPr/>
        </p:nvPicPr>
        <p:blipFill>
          <a:blip r:embed="rId1"/>
          <a:stretch>
            <a:fillRect/>
          </a:stretch>
        </p:blipFill>
        <p:spPr>
          <a:xfrm>
            <a:off x="1691640" y="1600200"/>
            <a:ext cx="4343400" cy="2714625"/>
          </a:xfrm>
          <a:prstGeom prst="rect">
            <a:avLst/>
          </a:prstGeom>
        </p:spPr>
      </p:pic>
      <p:sp>
        <p:nvSpPr>
          <p:cNvPr id="9" name="Shape 5"/>
          <p:cNvSpPr/>
          <p:nvPr/>
        </p:nvSpPr>
        <p:spPr>
          <a:xfrm>
            <a:off x="1691640" y="4572000"/>
            <a:ext cx="1600200" cy="365760"/>
          </a:xfrm>
          <a:prstGeom prst="roundRect">
            <a:avLst>
              <a:gd name="adj" fmla="val 50000"/>
            </a:avLst>
          </a:prstGeom>
          <a:solidFill>
            <a:srgbClr val="EAF1FC"/>
          </a:solidFill>
          <a:ln w="12700">
            <a:solidFill>
              <a:srgbClr val="4A7BD0"/>
            </a:solidFill>
            <a:prstDash val="solid"/>
          </a:ln>
        </p:spPr>
      </p:sp>
      <p:pic>
        <p:nvPicPr>
          <p:cNvPr id="10" name="Image 1" descr="PenNib">    </p:cNvPr>
          <p:cNvPicPr>
            <a:picLocks noChangeAspect="1"/>
          </p:cNvPicPr>
          <p:nvPr/>
        </p:nvPicPr>
        <p:blipFill>
          <a:blip r:embed="rId2"/>
          <a:stretch>
            <a:fillRect/>
          </a:stretch>
        </p:blipFill>
        <p:spPr>
          <a:xfrm>
            <a:off x="1819656" y="4654296"/>
            <a:ext cx="201168" cy="201168"/>
          </a:xfrm>
          <a:prstGeom prst="rect">
            <a:avLst/>
          </a:prstGeom>
        </p:spPr>
      </p:pic>
      <p:sp>
        <p:nvSpPr>
          <p:cNvPr id="11" name="Text 6"/>
          <p:cNvSpPr txBox="1"/>
          <p:nvPr/>
        </p:nvSpPr>
        <p:spPr>
          <a:xfrm>
            <a:off x="2075688" y="4572000"/>
            <a:ext cx="1143000" cy="365760"/>
          </a:xfrm>
          <a:prstGeom prst="rect">
            <a:avLst/>
          </a:prstGeom>
          <a:noFill/>
          <a:ln/>
        </p:spPr>
        <p:txBody>
          <a:bodyPr wrap="square" lIns="0" tIns="0" rIns="0" bIns="0" rtlCol="0" anchor="ctr"/>
          <a:lstStyle/>
          <a:p>
            <a:pPr algn="l" indent="0" marL="0">
              <a:buNone/>
            </a:pPr>
            <a:r>
              <a:rPr lang="en-US" sz="1150" b="1" spc="100" kern="0" dirty="0">
                <a:solidFill>
                  <a:srgbClr val="4A7BD0"/>
                </a:solidFill>
                <a:latin typeface="Calibri" pitchFamily="34" charset="0"/>
                <a:ea typeface="Calibri" pitchFamily="34" charset="-122"/>
                <a:cs typeface="Calibri" pitchFamily="34" charset="-120"/>
              </a:rPr>
              <a:t>À L’ÉCRIT</a:t>
            </a:r>
            <a:endParaRPr lang="en-US" sz="1150" dirty="0"/>
          </a:p>
        </p:txBody>
      </p:sp>
      <p:sp>
        <p:nvSpPr>
          <p:cNvPr id="12" name="Text 7"/>
          <p:cNvSpPr txBox="1"/>
          <p:nvPr/>
        </p:nvSpPr>
        <p:spPr>
          <a:xfrm>
            <a:off x="3429000" y="4544568"/>
            <a:ext cx="2651760" cy="731520"/>
          </a:xfrm>
          <a:prstGeom prst="rect">
            <a:avLst/>
          </a:prstGeom>
          <a:noFill/>
          <a:ln/>
        </p:spPr>
        <p:txBody>
          <a:bodyPr wrap="square" lIns="0" tIns="0" rIns="0" bIns="0" rtlCol="0" anchor="t"/>
          <a:lstStyle/>
          <a:p>
            <a:pPr algn="l" indent="0" marL="0">
              <a:buNone/>
            </a:pPr>
            <a:r>
              <a:rPr lang="en-US" sz="1150" i="1" dirty="0">
                <a:solidFill>
                  <a:srgbClr val="6B7280"/>
                </a:solidFill>
                <a:latin typeface="Calibri" pitchFamily="34" charset="0"/>
                <a:ea typeface="Calibri" pitchFamily="34" charset="-122"/>
                <a:cs typeface="Calibri" pitchFamily="34" charset="-120"/>
              </a:rPr>
              <a:t>Vous vous inscrivez à la bibliothèque. Écrivez vos informations.</a:t>
            </a:r>
            <a:endParaRPr lang="en-US" sz="1150" dirty="0"/>
          </a:p>
        </p:txBody>
      </p:sp>
      <p:sp>
        <p:nvSpPr>
          <p:cNvPr id="13" name="Shape 8"/>
          <p:cNvSpPr/>
          <p:nvPr/>
        </p:nvSpPr>
        <p:spPr>
          <a:xfrm>
            <a:off x="6355080" y="1627632"/>
            <a:ext cx="914400" cy="402336"/>
          </a:xfrm>
          <a:prstGeom prst="roundRect">
            <a:avLst>
              <a:gd name="adj" fmla="val 13636"/>
            </a:avLst>
          </a:prstGeom>
          <a:solidFill>
            <a:srgbClr val="5FA873"/>
          </a:solidFill>
          <a:ln w="12700">
            <a:solidFill>
              <a:srgbClr val="FFFFFF">
                <a:alpha val="0"/>
              </a:srgbClr>
            </a:solidFill>
            <a:prstDash val="solid"/>
          </a:ln>
        </p:spPr>
      </p:sp>
      <p:sp>
        <p:nvSpPr>
          <p:cNvPr id="14" name="Text 9"/>
          <p:cNvSpPr txBox="1"/>
          <p:nvPr/>
        </p:nvSpPr>
        <p:spPr>
          <a:xfrm>
            <a:off x="6355080" y="162763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1</a:t>
            </a:r>
            <a:endParaRPr lang="en-US" sz="1600" dirty="0"/>
          </a:p>
        </p:txBody>
      </p:sp>
      <p:sp>
        <p:nvSpPr>
          <p:cNvPr id="15" name="Text 10"/>
          <p:cNvSpPr txBox="1"/>
          <p:nvPr/>
        </p:nvSpPr>
        <p:spPr>
          <a:xfrm>
            <a:off x="7406640" y="1572768"/>
            <a:ext cx="4389120" cy="512064"/>
          </a:xfrm>
          <a:prstGeom prst="rect">
            <a:avLst/>
          </a:prstGeom>
          <a:noFill/>
          <a:ln/>
        </p:spPr>
        <p:txBody>
          <a:bodyPr wrap="square" lIns="0" tIns="0" rIns="0" bIns="0" rtlCol="0" anchor="ctr"/>
          <a:lstStyle/>
          <a:p>
            <a:pPr algn="l" indent="0" marL="0">
              <a:buNone/>
            </a:pPr>
            <a:r>
              <a:rPr lang="en-US" sz="1450" b="1" dirty="0">
                <a:solidFill>
                  <a:srgbClr val="2B2F38"/>
                </a:solidFill>
              </a:rPr>
              <a:t>MIJN VOORNAAM IS</a:t>
            </a:r>
            <a:r>
              <a:rPr lang="en-US" sz="1450" dirty="0">
                <a:solidFill>
                  <a:srgbClr val="2B2F38"/>
                </a:solidFill>
              </a:rPr>
              <a:t> …</a:t>
            </a:r>
            <a:endParaRPr lang="en-US" sz="1450" dirty="0"/>
          </a:p>
        </p:txBody>
      </p:sp>
      <p:sp>
        <p:nvSpPr>
          <p:cNvPr id="16" name="Shape 11"/>
          <p:cNvSpPr/>
          <p:nvPr/>
        </p:nvSpPr>
        <p:spPr>
          <a:xfrm>
            <a:off x="6355080" y="2231136"/>
            <a:ext cx="914400" cy="402336"/>
          </a:xfrm>
          <a:prstGeom prst="roundRect">
            <a:avLst>
              <a:gd name="adj" fmla="val 13636"/>
            </a:avLst>
          </a:prstGeom>
          <a:solidFill>
            <a:srgbClr val="5FA873"/>
          </a:solidFill>
          <a:ln w="12700">
            <a:solidFill>
              <a:srgbClr val="FFFFFF">
                <a:alpha val="0"/>
              </a:srgbClr>
            </a:solidFill>
            <a:prstDash val="solid"/>
          </a:ln>
        </p:spPr>
      </p:sp>
      <p:sp>
        <p:nvSpPr>
          <p:cNvPr id="17" name="Text 12"/>
          <p:cNvSpPr txBox="1"/>
          <p:nvPr/>
        </p:nvSpPr>
        <p:spPr>
          <a:xfrm>
            <a:off x="6355080" y="2231136"/>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2</a:t>
            </a:r>
            <a:endParaRPr lang="en-US" sz="1600" dirty="0"/>
          </a:p>
        </p:txBody>
      </p:sp>
      <p:sp>
        <p:nvSpPr>
          <p:cNvPr id="18" name="Text 13"/>
          <p:cNvSpPr txBox="1"/>
          <p:nvPr/>
        </p:nvSpPr>
        <p:spPr>
          <a:xfrm>
            <a:off x="7406640" y="2176272"/>
            <a:ext cx="4389120" cy="512064"/>
          </a:xfrm>
          <a:prstGeom prst="rect">
            <a:avLst/>
          </a:prstGeom>
          <a:noFill/>
          <a:ln/>
        </p:spPr>
        <p:txBody>
          <a:bodyPr wrap="square" lIns="0" tIns="0" rIns="0" bIns="0" rtlCol="0" anchor="ctr"/>
          <a:lstStyle/>
          <a:p>
            <a:pPr algn="l" indent="0" marL="0">
              <a:buNone/>
            </a:pPr>
            <a:r>
              <a:rPr lang="en-US" sz="1450" b="1" dirty="0">
                <a:solidFill>
                  <a:srgbClr val="2B2F38"/>
                </a:solidFill>
              </a:rPr>
              <a:t>MIJN ACHTERNAAM IS</a:t>
            </a:r>
            <a:r>
              <a:rPr lang="en-US" sz="1450" dirty="0">
                <a:solidFill>
                  <a:srgbClr val="2B2F38"/>
                </a:solidFill>
              </a:rPr>
              <a:t> …</a:t>
            </a:r>
            <a:endParaRPr lang="en-US" sz="1450" dirty="0"/>
          </a:p>
        </p:txBody>
      </p:sp>
      <p:sp>
        <p:nvSpPr>
          <p:cNvPr id="19" name="Shape 14"/>
          <p:cNvSpPr/>
          <p:nvPr/>
        </p:nvSpPr>
        <p:spPr>
          <a:xfrm>
            <a:off x="6355080" y="2834640"/>
            <a:ext cx="914400" cy="402336"/>
          </a:xfrm>
          <a:prstGeom prst="roundRect">
            <a:avLst>
              <a:gd name="adj" fmla="val 13636"/>
            </a:avLst>
          </a:prstGeom>
          <a:solidFill>
            <a:srgbClr val="5FA873"/>
          </a:solidFill>
          <a:ln w="12700">
            <a:solidFill>
              <a:srgbClr val="FFFFFF">
                <a:alpha val="0"/>
              </a:srgbClr>
            </a:solidFill>
            <a:prstDash val="solid"/>
          </a:ln>
        </p:spPr>
      </p:sp>
      <p:sp>
        <p:nvSpPr>
          <p:cNvPr id="20" name="Text 15"/>
          <p:cNvSpPr txBox="1"/>
          <p:nvPr/>
        </p:nvSpPr>
        <p:spPr>
          <a:xfrm>
            <a:off x="6355080" y="2834640"/>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3</a:t>
            </a:r>
            <a:endParaRPr lang="en-US" sz="1600" dirty="0"/>
          </a:p>
        </p:txBody>
      </p:sp>
      <p:sp>
        <p:nvSpPr>
          <p:cNvPr id="21" name="Text 16"/>
          <p:cNvSpPr txBox="1"/>
          <p:nvPr/>
        </p:nvSpPr>
        <p:spPr>
          <a:xfrm>
            <a:off x="7406640" y="2779776"/>
            <a:ext cx="4389120" cy="512064"/>
          </a:xfrm>
          <a:prstGeom prst="rect">
            <a:avLst/>
          </a:prstGeom>
          <a:noFill/>
          <a:ln/>
        </p:spPr>
        <p:txBody>
          <a:bodyPr wrap="square" lIns="0" tIns="0" rIns="0" bIns="0" rtlCol="0" anchor="ctr"/>
          <a:lstStyle/>
          <a:p>
            <a:pPr algn="l" indent="0" marL="0">
              <a:buNone/>
            </a:pPr>
            <a:r>
              <a:rPr lang="en-US" sz="1450" b="1" dirty="0">
                <a:solidFill>
                  <a:srgbClr val="2B2F38"/>
                </a:solidFill>
              </a:rPr>
              <a:t>MIJN ADRES IS</a:t>
            </a:r>
            <a:r>
              <a:rPr lang="en-US" sz="1450" dirty="0">
                <a:solidFill>
                  <a:srgbClr val="2B2F38"/>
                </a:solidFill>
              </a:rPr>
              <a:t> + rue + numéro + ville.</a:t>
            </a:r>
            <a:endParaRPr lang="en-US" sz="1450" dirty="0"/>
          </a:p>
        </p:txBody>
      </p:sp>
      <p:sp>
        <p:nvSpPr>
          <p:cNvPr id="22" name="Shape 17"/>
          <p:cNvSpPr/>
          <p:nvPr/>
        </p:nvSpPr>
        <p:spPr>
          <a:xfrm>
            <a:off x="6355080" y="3438144"/>
            <a:ext cx="914400" cy="402336"/>
          </a:xfrm>
          <a:prstGeom prst="roundRect">
            <a:avLst>
              <a:gd name="adj" fmla="val 13636"/>
            </a:avLst>
          </a:prstGeom>
          <a:solidFill>
            <a:srgbClr val="5FA873"/>
          </a:solidFill>
          <a:ln w="12700">
            <a:solidFill>
              <a:srgbClr val="FFFFFF">
                <a:alpha val="0"/>
              </a:srgbClr>
            </a:solidFill>
            <a:prstDash val="solid"/>
          </a:ln>
        </p:spPr>
      </p:sp>
      <p:sp>
        <p:nvSpPr>
          <p:cNvPr id="23" name="Text 18"/>
          <p:cNvSpPr txBox="1"/>
          <p:nvPr/>
        </p:nvSpPr>
        <p:spPr>
          <a:xfrm>
            <a:off x="6355080" y="3438144"/>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4</a:t>
            </a:r>
            <a:endParaRPr lang="en-US" sz="1600" dirty="0"/>
          </a:p>
        </p:txBody>
      </p:sp>
      <p:sp>
        <p:nvSpPr>
          <p:cNvPr id="24" name="Text 19"/>
          <p:cNvSpPr txBox="1"/>
          <p:nvPr/>
        </p:nvSpPr>
        <p:spPr>
          <a:xfrm>
            <a:off x="7406640" y="3383280"/>
            <a:ext cx="4389120" cy="512064"/>
          </a:xfrm>
          <a:prstGeom prst="rect">
            <a:avLst/>
          </a:prstGeom>
          <a:noFill/>
          <a:ln/>
        </p:spPr>
        <p:txBody>
          <a:bodyPr wrap="square" lIns="0" tIns="0" rIns="0" bIns="0" rtlCol="0" anchor="ctr"/>
          <a:lstStyle/>
          <a:p>
            <a:pPr algn="l" indent="0" marL="0">
              <a:buNone/>
            </a:pPr>
            <a:r>
              <a:rPr lang="en-US" sz="1450" b="1" dirty="0">
                <a:solidFill>
                  <a:srgbClr val="2B2F38"/>
                </a:solidFill>
              </a:rPr>
              <a:t>MIJN TELEFOONNUMMER IS</a:t>
            </a:r>
            <a:r>
              <a:rPr lang="en-US" sz="1450" dirty="0">
                <a:solidFill>
                  <a:srgbClr val="2B2F38"/>
                </a:solidFill>
              </a:rPr>
              <a:t> …</a:t>
            </a:r>
            <a:endParaRPr lang="en-US" sz="1450" dirty="0"/>
          </a:p>
        </p:txBody>
      </p:sp>
      <p:sp>
        <p:nvSpPr>
          <p:cNvPr id="25" name="Shape 20"/>
          <p:cNvSpPr/>
          <p:nvPr/>
        </p:nvSpPr>
        <p:spPr>
          <a:xfrm>
            <a:off x="6355080" y="4041648"/>
            <a:ext cx="914400" cy="402336"/>
          </a:xfrm>
          <a:prstGeom prst="roundRect">
            <a:avLst>
              <a:gd name="adj" fmla="val 13636"/>
            </a:avLst>
          </a:prstGeom>
          <a:solidFill>
            <a:srgbClr val="5FA873"/>
          </a:solidFill>
          <a:ln w="12700">
            <a:solidFill>
              <a:srgbClr val="FFFFFF">
                <a:alpha val="0"/>
              </a:srgbClr>
            </a:solidFill>
            <a:prstDash val="solid"/>
          </a:ln>
        </p:spPr>
      </p:sp>
      <p:sp>
        <p:nvSpPr>
          <p:cNvPr id="26" name="Text 21"/>
          <p:cNvSpPr txBox="1"/>
          <p:nvPr/>
        </p:nvSpPr>
        <p:spPr>
          <a:xfrm>
            <a:off x="6355080" y="4041648"/>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5</a:t>
            </a:r>
            <a:endParaRPr lang="en-US" sz="1600" dirty="0"/>
          </a:p>
        </p:txBody>
      </p:sp>
      <p:sp>
        <p:nvSpPr>
          <p:cNvPr id="27" name="Text 22"/>
          <p:cNvSpPr txBox="1"/>
          <p:nvPr/>
        </p:nvSpPr>
        <p:spPr>
          <a:xfrm>
            <a:off x="7406640" y="3986784"/>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Une chute : </a:t>
            </a:r>
            <a:r>
              <a:rPr lang="en-US" sz="1450" b="1" dirty="0">
                <a:solidFill>
                  <a:srgbClr val="2B2F38"/>
                </a:solidFill>
              </a:rPr>
              <a:t>DEZE KAART IS VAN</a:t>
            </a:r>
            <a:r>
              <a:rPr lang="en-US" sz="1450" dirty="0">
                <a:solidFill>
                  <a:srgbClr val="2B2F38"/>
                </a:solidFill>
              </a:rPr>
              <a:t> …</a:t>
            </a:r>
            <a:endParaRPr lang="en-US" sz="1450" dirty="0"/>
          </a:p>
        </p:txBody>
      </p:sp>
      <p:sp>
        <p:nvSpPr>
          <p:cNvPr id="28" name="Shape 23"/>
          <p:cNvSpPr/>
          <p:nvPr/>
        </p:nvSpPr>
        <p:spPr>
          <a:xfrm>
            <a:off x="3246120" y="5440680"/>
            <a:ext cx="6858000" cy="822960"/>
          </a:xfrm>
          <a:prstGeom prst="roundRect">
            <a:avLst>
              <a:gd name="adj" fmla="val 17778"/>
            </a:avLst>
          </a:prstGeom>
          <a:solidFill>
            <a:srgbClr val="EAF5EC"/>
          </a:solidFill>
          <a:ln w="15875">
            <a:solidFill>
              <a:srgbClr val="5FA873"/>
            </a:solidFill>
            <a:prstDash val="solid"/>
          </a:ln>
        </p:spPr>
      </p:sp>
      <p:pic>
        <p:nvPicPr>
          <p:cNvPr id="29" name="Image 2" descr="UserFriends">    </p:cNvPr>
          <p:cNvPicPr>
            <a:picLocks noChangeAspect="1"/>
          </p:cNvPicPr>
          <p:nvPr/>
        </p:nvPicPr>
        <p:blipFill>
          <a:blip r:embed="rId3"/>
          <a:stretch>
            <a:fillRect/>
          </a:stretch>
        </p:blipFill>
        <p:spPr>
          <a:xfrm>
            <a:off x="3520440" y="5660136"/>
            <a:ext cx="384048" cy="384048"/>
          </a:xfrm>
          <a:prstGeom prst="rect">
            <a:avLst/>
          </a:prstGeom>
        </p:spPr>
      </p:pic>
      <p:sp>
        <p:nvSpPr>
          <p:cNvPr id="30" name="Text 24"/>
          <p:cNvSpPr txBox="1"/>
          <p:nvPr/>
        </p:nvSpPr>
        <p:spPr>
          <a:xfrm>
            <a:off x="4114800" y="5440680"/>
            <a:ext cx="5852160" cy="822960"/>
          </a:xfrm>
          <a:prstGeom prst="rect">
            <a:avLst/>
          </a:prstGeom>
          <a:noFill/>
          <a:ln/>
        </p:spPr>
        <p:txBody>
          <a:bodyPr wrap="square" lIns="0" tIns="0" rIns="0" bIns="0" rtlCol="0" anchor="ctr"/>
          <a:lstStyle/>
          <a:p>
            <a:pPr algn="ctr" indent="0" marL="0">
              <a:buNone/>
            </a:pPr>
            <a:r>
              <a:rPr lang="en-US" sz="1800" b="1" dirty="0">
                <a:solidFill>
                  <a:srgbClr val="2E6B44"/>
                </a:solidFill>
                <a:latin typeface="Calibri" pitchFamily="34" charset="0"/>
                <a:ea typeface="Calibri" pitchFamily="34" charset="-122"/>
                <a:cs typeface="Calibri" pitchFamily="34" charset="-120"/>
              </a:rPr>
              <a:t>Lees je tekst voor aan je partner.</a:t>
            </a:r>
            <a:endParaRPr lang="en-US" sz="1800" dirty="0"/>
          </a:p>
          <a:p>
            <a:pPr algn="ctr" indent="0" marL="0">
              <a:buNone/>
            </a:pPr>
            <a:r>
              <a:rPr lang="en-US" sz="1800" b="1" dirty="0">
                <a:solidFill>
                  <a:srgbClr val="2E6B44"/>
                </a:solidFill>
                <a:latin typeface="Calibri" pitchFamily="34" charset="0"/>
                <a:ea typeface="Calibri" pitchFamily="34" charset="-122"/>
                <a:cs typeface="Calibri" pitchFamily="34" charset="-120"/>
              </a:rPr>
              <a:t>Wat denkt hij/zij daarvan?</a:t>
            </a:r>
            <a:endParaRPr lang="en-US" sz="1800" dirty="0"/>
          </a:p>
        </p:txBody>
      </p:sp>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126</a:t>
            </a:fld>
            <a:endParaRPr lang="en-US"/>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27">
    <p:spTree>
      <p:nvGrpSpPr>
        <p:cNvPr id="1" name=""/>
        <p:cNvGrpSpPr/>
        <p:nvPr/>
      </p:nvGrpSpPr>
      <p:grpSpPr>
        <a:xfrm>
          <a:off x="0" y="0"/>
          <a:ext cx="0" cy="0"/>
          <a:chOff x="0" y="0"/>
          <a:chExt cx="0" cy="0"/>
        </a:xfrm>
      </p:grpSpPr>
      <p:sp>
        <p:nvSpPr>
          <p:cNvPr id="2" name="Text 1"/>
          <p:cNvSpPr/>
          <p:nvPr>
            <p:ph idx="101" type="title" hasCustomPrompt="1"/>
          </p:nvPr>
        </p:nvSpPr>
        <p:spPr>
          <a:xfrm>
            <a:off x="1554480" y="384048"/>
            <a:ext cx="10241280" cy="658368"/>
          </a:xfrm>
          <a:prstGeom prst="rect">
            <a:avLst/>
          </a:prstGeom>
          <a:noFill/>
          <a:ln/>
        </p:spPr>
        <p:txBody>
          <a:bodyPr wrap="square" lIns="0" tIns="0" rIns="0" bIns="0" rtlCol="0" anchor="ctr"/>
          <a:lstStyle/>
          <a:p>
            <a:pPr algn="ctr" indent="0" marL="0">
              <a:buNone/>
            </a:pPr>
            <a:r>
              <a:rPr lang="en-US" sz="3000" b="1" dirty="0">
                <a:solidFill>
                  <a:srgbClr val="2B2F38"/>
                </a:solidFill>
              </a:rPr>
              <a:t>Een formulier invullen</a:t>
            </a:r>
            <a:endParaRPr lang="en-US" sz="3000" dirty="0"/>
          </a:p>
        </p:txBody>
      </p:sp>
      <p:sp>
        <p:nvSpPr>
          <p:cNvPr id="4" name="Shape 1"/>
          <p:cNvSpPr/>
          <p:nvPr/>
        </p:nvSpPr>
        <p:spPr>
          <a:xfrm>
            <a:off x="365760" y="365760"/>
            <a:ext cx="868680" cy="5989320"/>
          </a:xfrm>
          <a:prstGeom prst="roundRect">
            <a:avLst>
              <a:gd name="adj" fmla="val 12632"/>
            </a:avLst>
          </a:prstGeom>
          <a:solidFill>
            <a:srgbClr val="F4E8F6"/>
          </a:solidFill>
          <a:ln w="28575">
            <a:solidFill>
              <a:srgbClr val="B57FCB"/>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7E4C97"/>
                </a:solidFill>
                <a:latin typeface="Calibri" pitchFamily="34" charset="0"/>
                <a:ea typeface="Calibri" pitchFamily="34" charset="-122"/>
                <a:cs typeface="Calibri" pitchFamily="34" charset="-120"/>
              </a:rPr>
              <a:t>A1 · Situations</a:t>
            </a:r>
            <a:endParaRPr lang="en-US" sz="3800" dirty="0"/>
          </a:p>
        </p:txBody>
      </p:sp>
      <p:sp>
        <p:nvSpPr>
          <p:cNvPr id="6" name="Shape 3"/>
          <p:cNvSpPr/>
          <p:nvPr/>
        </p:nvSpPr>
        <p:spPr>
          <a:xfrm>
            <a:off x="2519172" y="1124712"/>
            <a:ext cx="8311896" cy="5277231"/>
          </a:xfrm>
          <a:prstGeom prst="roundRect">
            <a:avLst>
              <a:gd name="adj" fmla="val 693"/>
            </a:avLst>
          </a:prstGeom>
          <a:solidFill>
            <a:srgbClr val="FFFFFF"/>
          </a:solidFill>
          <a:ln w="9525">
            <a:solidFill>
              <a:srgbClr val="E3E7EE"/>
            </a:solidFill>
            <a:prstDash val="solid"/>
          </a:ln>
          <a:effectLst>
            <a:outerShdw sx="100000" sy="100000" kx="0" ky="0" algn="bl" rotWithShape="0" blurRad="177800" dist="63500" dir="5400000">
              <a:srgbClr val="1B2430">
                <a:alpha val="25000"/>
              </a:srgbClr>
            </a:outerShdw>
          </a:effectLst>
        </p:spPr>
      </p:sp>
      <p:pic>
        <p:nvPicPr>
          <p:cNvPr id="7" name="Image 0" descr="/home/user/talenleren/neerlandais1/generateur/img/vijfzinnen/a1_formulier.jpg">    </p:cNvPr>
          <p:cNvPicPr>
            <a:picLocks noChangeAspect="1"/>
          </p:cNvPicPr>
          <p:nvPr/>
        </p:nvPicPr>
        <p:blipFill>
          <a:blip r:embed="rId1"/>
          <a:stretch>
            <a:fillRect/>
          </a:stretch>
        </p:blipFill>
        <p:spPr>
          <a:xfrm>
            <a:off x="2628900" y="1234440"/>
            <a:ext cx="8092440" cy="5057775"/>
          </a:xfrm>
          <a:prstGeom prst="rect">
            <a:avLst/>
          </a:prstGeom>
        </p:spPr>
      </p:pic>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127</a:t>
            </a:fld>
            <a:endParaRPr lang="en-US"/>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128">
    <p:spTree>
      <p:nvGrpSpPr>
        <p:cNvPr id="1" name=""/>
        <p:cNvGrpSpPr/>
        <p:nvPr/>
      </p:nvGrpSpPr>
      <p:grpSpPr>
        <a:xfrm>
          <a:off x="0" y="0"/>
          <a:ext cx="0" cy="0"/>
          <a:chOff x="0" y="0"/>
          <a:chExt cx="0" cy="0"/>
        </a:xfrm>
      </p:grpSpPr>
      <p:sp>
        <p:nvSpPr>
          <p:cNvPr id="2" name="Text 1"/>
          <p:cNvSpPr/>
          <p:nvPr>
            <p:ph idx="101" type="title" hasCustomPrompt="1"/>
          </p:nvPr>
        </p:nvSpPr>
        <p:spPr>
          <a:xfrm>
            <a:off x="1691640" y="347472"/>
            <a:ext cx="8138160" cy="914400"/>
          </a:xfrm>
          <a:prstGeom prst="rect">
            <a:avLst/>
          </a:prstGeom>
          <a:noFill/>
          <a:ln/>
        </p:spPr>
        <p:txBody>
          <a:bodyPr wrap="square" lIns="0" tIns="0" rIns="0" bIns="0" rtlCol="0" anchor="ctr"/>
          <a:lstStyle/>
          <a:p>
            <a:pPr algn="l" indent="0" marL="0">
              <a:buNone/>
            </a:pPr>
            <a:r>
              <a:rPr lang="en-US" sz="2400" b="1" dirty="0">
                <a:solidFill>
                  <a:srgbClr val="2B2F38"/>
                </a:solidFill>
              </a:rPr>
              <a:t>Hier is een voorbeeld van wat je had kunnen denken en schrijven…</a:t>
            </a:r>
            <a:endParaRPr lang="en-US" sz="2400" dirty="0"/>
          </a:p>
        </p:txBody>
      </p:sp>
      <p:sp>
        <p:nvSpPr>
          <p:cNvPr id="4" name="Shape 1"/>
          <p:cNvSpPr/>
          <p:nvPr/>
        </p:nvSpPr>
        <p:spPr>
          <a:xfrm>
            <a:off x="365760" y="365760"/>
            <a:ext cx="868680" cy="5989320"/>
          </a:xfrm>
          <a:prstGeom prst="roundRect">
            <a:avLst>
              <a:gd name="adj" fmla="val 12632"/>
            </a:avLst>
          </a:prstGeom>
          <a:solidFill>
            <a:srgbClr val="F4E8F6"/>
          </a:solidFill>
          <a:ln w="28575">
            <a:solidFill>
              <a:srgbClr val="B57FCB"/>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7E4C97"/>
                </a:solidFill>
                <a:latin typeface="Calibri" pitchFamily="34" charset="0"/>
                <a:ea typeface="Calibri" pitchFamily="34" charset="-122"/>
                <a:cs typeface="Calibri" pitchFamily="34" charset="-120"/>
              </a:rPr>
              <a:t>A1 · Situations</a:t>
            </a:r>
            <a:endParaRPr lang="en-US" sz="3800" dirty="0"/>
          </a:p>
        </p:txBody>
      </p:sp>
      <p:sp>
        <p:nvSpPr>
          <p:cNvPr id="6" name="Shape 3"/>
          <p:cNvSpPr/>
          <p:nvPr/>
        </p:nvSpPr>
        <p:spPr>
          <a:xfrm>
            <a:off x="10058400" y="246888"/>
            <a:ext cx="1691640" cy="1091565"/>
          </a:xfrm>
          <a:prstGeom prst="roundRect">
            <a:avLst>
              <a:gd name="adj" fmla="val 3351"/>
            </a:avLst>
          </a:prstGeom>
          <a:solidFill>
            <a:srgbClr val="FFFFFF"/>
          </a:solidFill>
          <a:ln w="9525">
            <a:solidFill>
              <a:srgbClr val="E3E7EE"/>
            </a:solidFill>
            <a:prstDash val="solid"/>
          </a:ln>
          <a:effectLst>
            <a:outerShdw sx="100000" sy="100000" kx="0" ky="0" algn="bl" rotWithShape="0" blurRad="76200" dist="25400" dir="5400000">
              <a:srgbClr val="1B2430">
                <a:alpha val="25000"/>
              </a:srgbClr>
            </a:outerShdw>
          </a:effectLst>
        </p:spPr>
      </p:sp>
      <p:pic>
        <p:nvPicPr>
          <p:cNvPr id="7" name="Image 0" descr="/home/user/talenleren/neerlandais1/generateur/img/vijfzinnen/a1_formulier_s.jpg">    </p:cNvPr>
          <p:cNvPicPr>
            <a:picLocks noChangeAspect="1"/>
          </p:cNvPicPr>
          <p:nvPr/>
        </p:nvPicPr>
        <p:blipFill>
          <a:blip r:embed="rId1"/>
          <a:stretch>
            <a:fillRect/>
          </a:stretch>
        </p:blipFill>
        <p:spPr>
          <a:xfrm>
            <a:off x="10104120" y="292608"/>
            <a:ext cx="1600200" cy="1000125"/>
          </a:xfrm>
          <a:prstGeom prst="rect">
            <a:avLst/>
          </a:prstGeom>
        </p:spPr>
      </p:pic>
      <p:sp>
        <p:nvSpPr>
          <p:cNvPr id="8" name="Shape 4"/>
          <p:cNvSpPr/>
          <p:nvPr/>
        </p:nvSpPr>
        <p:spPr>
          <a:xfrm>
            <a:off x="1691640" y="2779166"/>
            <a:ext cx="2301545" cy="371856"/>
          </a:xfrm>
          <a:prstGeom prst="roundRect">
            <a:avLst>
              <a:gd name="adj" fmla="val 12295"/>
            </a:avLst>
          </a:prstGeom>
          <a:solidFill>
            <a:srgbClr val="E6F3DA"/>
          </a:solidFill>
          <a:ln w="12700">
            <a:solidFill>
              <a:srgbClr val="FFFFFF">
                <a:alpha val="0"/>
              </a:srgbClr>
            </a:solidFill>
            <a:prstDash val="solid"/>
          </a:ln>
        </p:spPr>
      </p:sp>
      <p:sp>
        <p:nvSpPr>
          <p:cNvPr id="9" name="Text 5"/>
          <p:cNvSpPr txBox="1"/>
          <p:nvPr/>
        </p:nvSpPr>
        <p:spPr>
          <a:xfrm>
            <a:off x="1691640" y="2766974"/>
            <a:ext cx="2301545"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Mijn voornaam is</a:t>
            </a:r>
            <a:endParaRPr lang="en-US" sz="2400" dirty="0"/>
          </a:p>
        </p:txBody>
      </p:sp>
      <p:sp>
        <p:nvSpPr>
          <p:cNvPr id="10" name="Text 6"/>
          <p:cNvSpPr txBox="1"/>
          <p:nvPr/>
        </p:nvSpPr>
        <p:spPr>
          <a:xfrm>
            <a:off x="4080358" y="2766974"/>
            <a:ext cx="957986"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Sarah.</a:t>
            </a:r>
            <a:endParaRPr lang="en-US" sz="2400" dirty="0"/>
          </a:p>
        </p:txBody>
      </p:sp>
      <p:sp>
        <p:nvSpPr>
          <p:cNvPr id="11" name="Shape 7"/>
          <p:cNvSpPr/>
          <p:nvPr/>
        </p:nvSpPr>
        <p:spPr>
          <a:xfrm>
            <a:off x="4942637" y="2779166"/>
            <a:ext cx="2530145" cy="371856"/>
          </a:xfrm>
          <a:prstGeom prst="roundRect">
            <a:avLst>
              <a:gd name="adj" fmla="val 12295"/>
            </a:avLst>
          </a:prstGeom>
          <a:solidFill>
            <a:srgbClr val="E6F3DA"/>
          </a:solidFill>
          <a:ln w="12700">
            <a:solidFill>
              <a:srgbClr val="FFFFFF">
                <a:alpha val="0"/>
              </a:srgbClr>
            </a:solidFill>
            <a:prstDash val="solid"/>
          </a:ln>
        </p:spPr>
      </p:sp>
      <p:sp>
        <p:nvSpPr>
          <p:cNvPr id="12" name="Text 8"/>
          <p:cNvSpPr txBox="1"/>
          <p:nvPr/>
        </p:nvSpPr>
        <p:spPr>
          <a:xfrm>
            <a:off x="4942637" y="2766974"/>
            <a:ext cx="2530145"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Mijn achternaam is</a:t>
            </a:r>
            <a:endParaRPr lang="en-US" sz="2400" dirty="0"/>
          </a:p>
        </p:txBody>
      </p:sp>
      <p:sp>
        <p:nvSpPr>
          <p:cNvPr id="13" name="Text 9"/>
          <p:cNvSpPr txBox="1"/>
          <p:nvPr/>
        </p:nvSpPr>
        <p:spPr>
          <a:xfrm>
            <a:off x="7559954" y="2766974"/>
            <a:ext cx="1200302"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Peeters.</a:t>
            </a:r>
            <a:endParaRPr lang="en-US" sz="2400" dirty="0"/>
          </a:p>
        </p:txBody>
      </p:sp>
      <p:sp>
        <p:nvSpPr>
          <p:cNvPr id="14" name="Shape 10"/>
          <p:cNvSpPr/>
          <p:nvPr/>
        </p:nvSpPr>
        <p:spPr>
          <a:xfrm>
            <a:off x="8664550" y="2779166"/>
            <a:ext cx="1705966" cy="371856"/>
          </a:xfrm>
          <a:prstGeom prst="roundRect">
            <a:avLst>
              <a:gd name="adj" fmla="val 12295"/>
            </a:avLst>
          </a:prstGeom>
          <a:solidFill>
            <a:srgbClr val="E6F3DA"/>
          </a:solidFill>
          <a:ln w="12700">
            <a:solidFill>
              <a:srgbClr val="FFFFFF">
                <a:alpha val="0"/>
              </a:srgbClr>
            </a:solidFill>
            <a:prstDash val="solid"/>
          </a:ln>
        </p:spPr>
      </p:sp>
      <p:sp>
        <p:nvSpPr>
          <p:cNvPr id="15" name="Text 11"/>
          <p:cNvSpPr txBox="1"/>
          <p:nvPr/>
        </p:nvSpPr>
        <p:spPr>
          <a:xfrm>
            <a:off x="8664550" y="2766974"/>
            <a:ext cx="1705966"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Mijn adres is</a:t>
            </a:r>
            <a:endParaRPr lang="en-US" sz="2400" dirty="0"/>
          </a:p>
        </p:txBody>
      </p:sp>
      <p:sp>
        <p:nvSpPr>
          <p:cNvPr id="16" name="Shape 12"/>
          <p:cNvSpPr/>
          <p:nvPr/>
        </p:nvSpPr>
        <p:spPr>
          <a:xfrm>
            <a:off x="2842412" y="2702966"/>
            <a:ext cx="914" cy="76200"/>
          </a:xfrm>
          <a:prstGeom prst="line">
            <a:avLst/>
          </a:prstGeom>
          <a:noFill/>
          <a:ln w="15875">
            <a:solidFill>
              <a:srgbClr val="7AB648"/>
            </a:solidFill>
            <a:prstDash val="solid"/>
          </a:ln>
        </p:spPr>
      </p:sp>
      <p:sp>
        <p:nvSpPr>
          <p:cNvPr id="17" name="Shape 13"/>
          <p:cNvSpPr/>
          <p:nvPr/>
        </p:nvSpPr>
        <p:spPr>
          <a:xfrm>
            <a:off x="2365902" y="2456078"/>
            <a:ext cx="953021" cy="246888"/>
          </a:xfrm>
          <a:prstGeom prst="roundRect">
            <a:avLst>
              <a:gd name="adj" fmla="val 14815"/>
            </a:avLst>
          </a:prstGeom>
          <a:solidFill>
            <a:srgbClr val="7AB648"/>
          </a:solidFill>
          <a:ln w="12700">
            <a:solidFill>
              <a:srgbClr val="FFFFFF">
                <a:alpha val="0"/>
              </a:srgbClr>
            </a:solidFill>
            <a:prstDash val="solid"/>
          </a:ln>
        </p:spPr>
      </p:sp>
      <p:sp>
        <p:nvSpPr>
          <p:cNvPr id="18" name="Text 14"/>
          <p:cNvSpPr txBox="1"/>
          <p:nvPr/>
        </p:nvSpPr>
        <p:spPr>
          <a:xfrm>
            <a:off x="2365902" y="2456078"/>
            <a:ext cx="953021"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VOORNAAM</a:t>
            </a:r>
            <a:endParaRPr lang="en-US" sz="1100" dirty="0"/>
          </a:p>
        </p:txBody>
      </p:sp>
      <p:sp>
        <p:nvSpPr>
          <p:cNvPr id="19" name="Shape 15"/>
          <p:cNvSpPr/>
          <p:nvPr/>
        </p:nvSpPr>
        <p:spPr>
          <a:xfrm flipH="1">
            <a:off x="6207709" y="2702966"/>
            <a:ext cx="914" cy="76200"/>
          </a:xfrm>
          <a:prstGeom prst="line">
            <a:avLst/>
          </a:prstGeom>
          <a:noFill/>
          <a:ln w="15875">
            <a:solidFill>
              <a:srgbClr val="7AB648"/>
            </a:solidFill>
            <a:prstDash val="solid"/>
          </a:ln>
        </p:spPr>
      </p:sp>
      <p:sp>
        <p:nvSpPr>
          <p:cNvPr id="20" name="Shape 16"/>
          <p:cNvSpPr/>
          <p:nvPr/>
        </p:nvSpPr>
        <p:spPr>
          <a:xfrm>
            <a:off x="5674900" y="2456078"/>
            <a:ext cx="1065619" cy="246888"/>
          </a:xfrm>
          <a:prstGeom prst="roundRect">
            <a:avLst>
              <a:gd name="adj" fmla="val 14815"/>
            </a:avLst>
          </a:prstGeom>
          <a:solidFill>
            <a:srgbClr val="7AB648"/>
          </a:solidFill>
          <a:ln w="12700">
            <a:solidFill>
              <a:srgbClr val="FFFFFF">
                <a:alpha val="0"/>
              </a:srgbClr>
            </a:solidFill>
            <a:prstDash val="solid"/>
          </a:ln>
        </p:spPr>
      </p:sp>
      <p:sp>
        <p:nvSpPr>
          <p:cNvPr id="21" name="Text 17"/>
          <p:cNvSpPr txBox="1"/>
          <p:nvPr/>
        </p:nvSpPr>
        <p:spPr>
          <a:xfrm>
            <a:off x="5674900" y="2456078"/>
            <a:ext cx="1065619"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ACHTERNAAM</a:t>
            </a:r>
            <a:endParaRPr lang="en-US" sz="1100" dirty="0"/>
          </a:p>
        </p:txBody>
      </p:sp>
      <p:sp>
        <p:nvSpPr>
          <p:cNvPr id="22" name="Shape 18"/>
          <p:cNvSpPr/>
          <p:nvPr/>
        </p:nvSpPr>
        <p:spPr>
          <a:xfrm>
            <a:off x="9517532" y="2702966"/>
            <a:ext cx="914" cy="76200"/>
          </a:xfrm>
          <a:prstGeom prst="line">
            <a:avLst/>
          </a:prstGeom>
          <a:noFill/>
          <a:ln w="15875">
            <a:solidFill>
              <a:srgbClr val="7AB648"/>
            </a:solidFill>
            <a:prstDash val="solid"/>
          </a:ln>
        </p:spPr>
      </p:sp>
      <p:sp>
        <p:nvSpPr>
          <p:cNvPr id="23" name="Shape 19"/>
          <p:cNvSpPr/>
          <p:nvPr/>
        </p:nvSpPr>
        <p:spPr>
          <a:xfrm>
            <a:off x="9215018" y="2456078"/>
            <a:ext cx="605028" cy="246888"/>
          </a:xfrm>
          <a:prstGeom prst="roundRect">
            <a:avLst>
              <a:gd name="adj" fmla="val 14815"/>
            </a:avLst>
          </a:prstGeom>
          <a:solidFill>
            <a:srgbClr val="7AB648"/>
          </a:solidFill>
          <a:ln w="12700">
            <a:solidFill>
              <a:srgbClr val="FFFFFF">
                <a:alpha val="0"/>
              </a:srgbClr>
            </a:solidFill>
            <a:prstDash val="solid"/>
          </a:ln>
        </p:spPr>
      </p:sp>
      <p:sp>
        <p:nvSpPr>
          <p:cNvPr id="24" name="Text 20"/>
          <p:cNvSpPr txBox="1"/>
          <p:nvPr/>
        </p:nvSpPr>
        <p:spPr>
          <a:xfrm>
            <a:off x="9215018" y="2456078"/>
            <a:ext cx="605028"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ADRES</a:t>
            </a:r>
            <a:endParaRPr lang="en-US" sz="1100" dirty="0"/>
          </a:p>
        </p:txBody>
      </p:sp>
      <p:sp>
        <p:nvSpPr>
          <p:cNvPr id="25" name="Text 21"/>
          <p:cNvSpPr txBox="1"/>
          <p:nvPr/>
        </p:nvSpPr>
        <p:spPr>
          <a:xfrm>
            <a:off x="1691640" y="3620414"/>
            <a:ext cx="2702662"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Kerkstraat 12, Gent.</a:t>
            </a:r>
            <a:endParaRPr lang="en-US" sz="2400" dirty="0"/>
          </a:p>
        </p:txBody>
      </p:sp>
      <p:sp>
        <p:nvSpPr>
          <p:cNvPr id="26" name="Shape 22"/>
          <p:cNvSpPr/>
          <p:nvPr/>
        </p:nvSpPr>
        <p:spPr>
          <a:xfrm>
            <a:off x="4298594" y="3632606"/>
            <a:ext cx="3168396" cy="371856"/>
          </a:xfrm>
          <a:prstGeom prst="roundRect">
            <a:avLst>
              <a:gd name="adj" fmla="val 12295"/>
            </a:avLst>
          </a:prstGeom>
          <a:solidFill>
            <a:srgbClr val="E6F3DA"/>
          </a:solidFill>
          <a:ln w="12700">
            <a:solidFill>
              <a:srgbClr val="FFFFFF">
                <a:alpha val="0"/>
              </a:srgbClr>
            </a:solidFill>
            <a:prstDash val="solid"/>
          </a:ln>
        </p:spPr>
      </p:sp>
      <p:sp>
        <p:nvSpPr>
          <p:cNvPr id="27" name="Text 23"/>
          <p:cNvSpPr txBox="1"/>
          <p:nvPr/>
        </p:nvSpPr>
        <p:spPr>
          <a:xfrm>
            <a:off x="4298594" y="3620414"/>
            <a:ext cx="3168396"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Mijn telefoonnummer is</a:t>
            </a:r>
            <a:endParaRPr lang="en-US" sz="2400" dirty="0"/>
          </a:p>
        </p:txBody>
      </p:sp>
      <p:sp>
        <p:nvSpPr>
          <p:cNvPr id="28" name="Text 24"/>
          <p:cNvSpPr txBox="1"/>
          <p:nvPr/>
        </p:nvSpPr>
        <p:spPr>
          <a:xfrm>
            <a:off x="7554163" y="3620414"/>
            <a:ext cx="2066544"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0475 12 34 56.</a:t>
            </a:r>
            <a:endParaRPr lang="en-US" sz="2400" dirty="0"/>
          </a:p>
        </p:txBody>
      </p:sp>
      <p:sp>
        <p:nvSpPr>
          <p:cNvPr id="29" name="Shape 25"/>
          <p:cNvSpPr/>
          <p:nvPr/>
        </p:nvSpPr>
        <p:spPr>
          <a:xfrm>
            <a:off x="5882792" y="3556406"/>
            <a:ext cx="914" cy="76200"/>
          </a:xfrm>
          <a:prstGeom prst="line">
            <a:avLst/>
          </a:prstGeom>
          <a:noFill/>
          <a:ln w="15875">
            <a:solidFill>
              <a:srgbClr val="7AB648"/>
            </a:solidFill>
            <a:prstDash val="solid"/>
          </a:ln>
        </p:spPr>
      </p:sp>
      <p:sp>
        <p:nvSpPr>
          <p:cNvPr id="30" name="Shape 26"/>
          <p:cNvSpPr/>
          <p:nvPr/>
        </p:nvSpPr>
        <p:spPr>
          <a:xfrm>
            <a:off x="5181086" y="3309518"/>
            <a:ext cx="1403414" cy="246888"/>
          </a:xfrm>
          <a:prstGeom prst="roundRect">
            <a:avLst>
              <a:gd name="adj" fmla="val 14815"/>
            </a:avLst>
          </a:prstGeom>
          <a:solidFill>
            <a:srgbClr val="7AB648"/>
          </a:solidFill>
          <a:ln w="12700">
            <a:solidFill>
              <a:srgbClr val="FFFFFF">
                <a:alpha val="0"/>
              </a:srgbClr>
            </a:solidFill>
            <a:prstDash val="solid"/>
          </a:ln>
        </p:spPr>
      </p:sp>
      <p:sp>
        <p:nvSpPr>
          <p:cNvPr id="31" name="Text 27"/>
          <p:cNvSpPr txBox="1"/>
          <p:nvPr/>
        </p:nvSpPr>
        <p:spPr>
          <a:xfrm>
            <a:off x="5181086" y="3309518"/>
            <a:ext cx="1403414"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TELEFOONNUMMER</a:t>
            </a:r>
            <a:endParaRPr lang="en-US" sz="1100" dirty="0"/>
          </a:p>
        </p:txBody>
      </p:sp>
      <p:sp>
        <p:nvSpPr>
          <p:cNvPr id="32" name="Text 28"/>
          <p:cNvSpPr txBox="1"/>
          <p:nvPr/>
        </p:nvSpPr>
        <p:spPr>
          <a:xfrm>
            <a:off x="4306214" y="4675022"/>
            <a:ext cx="491642"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En</a:t>
            </a:r>
            <a:endParaRPr lang="en-US" sz="2400" dirty="0"/>
          </a:p>
        </p:txBody>
      </p:sp>
      <p:sp>
        <p:nvSpPr>
          <p:cNvPr id="33" name="Shape 29"/>
          <p:cNvSpPr/>
          <p:nvPr/>
        </p:nvSpPr>
        <p:spPr>
          <a:xfrm>
            <a:off x="4702150" y="4687214"/>
            <a:ext cx="2205838" cy="371856"/>
          </a:xfrm>
          <a:prstGeom prst="roundRect">
            <a:avLst>
              <a:gd name="adj" fmla="val 12295"/>
            </a:avLst>
          </a:prstGeom>
          <a:solidFill>
            <a:srgbClr val="E6F3DA"/>
          </a:solidFill>
          <a:ln w="12700">
            <a:solidFill>
              <a:srgbClr val="FFFFFF">
                <a:alpha val="0"/>
              </a:srgbClr>
            </a:solidFill>
            <a:prstDash val="solid"/>
          </a:ln>
        </p:spPr>
      </p:sp>
      <p:sp>
        <p:nvSpPr>
          <p:cNvPr id="34" name="Text 30"/>
          <p:cNvSpPr txBox="1"/>
          <p:nvPr/>
        </p:nvSpPr>
        <p:spPr>
          <a:xfrm>
            <a:off x="4702150" y="4675022"/>
            <a:ext cx="2205838"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deze kaart is van</a:t>
            </a:r>
            <a:endParaRPr lang="en-US" sz="2400" dirty="0"/>
          </a:p>
        </p:txBody>
      </p:sp>
      <p:sp>
        <p:nvSpPr>
          <p:cNvPr id="35" name="Text 31"/>
          <p:cNvSpPr txBox="1"/>
          <p:nvPr/>
        </p:nvSpPr>
        <p:spPr>
          <a:xfrm>
            <a:off x="6995160" y="4675022"/>
            <a:ext cx="2277466"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mijn kat, Minou!</a:t>
            </a:r>
            <a:endParaRPr lang="en-US" sz="2400" dirty="0"/>
          </a:p>
        </p:txBody>
      </p:sp>
      <p:sp>
        <p:nvSpPr>
          <p:cNvPr id="36" name="Shape 32"/>
          <p:cNvSpPr/>
          <p:nvPr/>
        </p:nvSpPr>
        <p:spPr>
          <a:xfrm>
            <a:off x="5805068" y="4611014"/>
            <a:ext cx="914" cy="76200"/>
          </a:xfrm>
          <a:prstGeom prst="line">
            <a:avLst/>
          </a:prstGeom>
          <a:noFill/>
          <a:ln w="15875">
            <a:solidFill>
              <a:srgbClr val="7AB648"/>
            </a:solidFill>
            <a:prstDash val="solid"/>
          </a:ln>
        </p:spPr>
      </p:sp>
      <p:sp>
        <p:nvSpPr>
          <p:cNvPr id="37" name="Shape 33"/>
          <p:cNvSpPr/>
          <p:nvPr/>
        </p:nvSpPr>
        <p:spPr>
          <a:xfrm>
            <a:off x="5500249" y="4364126"/>
            <a:ext cx="609638" cy="246888"/>
          </a:xfrm>
          <a:prstGeom prst="roundRect">
            <a:avLst>
              <a:gd name="adj" fmla="val 14815"/>
            </a:avLst>
          </a:prstGeom>
          <a:solidFill>
            <a:srgbClr val="7AB648"/>
          </a:solidFill>
          <a:ln w="12700">
            <a:solidFill>
              <a:srgbClr val="FFFFFF">
                <a:alpha val="0"/>
              </a:srgbClr>
            </a:solidFill>
            <a:prstDash val="solid"/>
          </a:ln>
        </p:spPr>
      </p:sp>
      <p:sp>
        <p:nvSpPr>
          <p:cNvPr id="38" name="Text 34"/>
          <p:cNvSpPr txBox="1"/>
          <p:nvPr/>
        </p:nvSpPr>
        <p:spPr>
          <a:xfrm>
            <a:off x="5500249" y="4364126"/>
            <a:ext cx="609638"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VAN …</a:t>
            </a:r>
            <a:endParaRPr lang="en-US" sz="1100" dirty="0"/>
          </a:p>
        </p:txBody>
      </p:sp>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128</a:t>
            </a:fld>
            <a:endParaRPr lang="en-US"/>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129">
    <p:spTree>
      <p:nvGrpSpPr>
        <p:cNvPr id="1" name=""/>
        <p:cNvGrpSpPr/>
        <p:nvPr/>
      </p:nvGrpSpPr>
      <p:grpSpPr>
        <a:xfrm>
          <a:off x="0" y="0"/>
          <a:ext cx="0" cy="0"/>
          <a:chOff x="0" y="0"/>
          <a:chExt cx="0" cy="0"/>
        </a:xfrm>
      </p:grpSpPr>
      <p:sp>
        <p:nvSpPr>
          <p:cNvPr id="2" name="Text 1"/>
          <p:cNvSpPr/>
          <p:nvPr>
            <p:ph idx="101" type="title" hasCustomPrompt="1"/>
          </p:nvPr>
        </p:nvSpPr>
        <p:spPr>
          <a:xfrm>
            <a:off x="1554480" y="384048"/>
            <a:ext cx="10241280" cy="658368"/>
          </a:xfrm>
          <a:prstGeom prst="rect">
            <a:avLst/>
          </a:prstGeom>
          <a:noFill/>
          <a:ln/>
        </p:spPr>
        <p:txBody>
          <a:bodyPr wrap="square" lIns="0" tIns="0" rIns="0" bIns="0" rtlCol="0" anchor="ctr"/>
          <a:lstStyle/>
          <a:p>
            <a:pPr algn="ctr" indent="0" marL="0">
              <a:buNone/>
            </a:pPr>
            <a:r>
              <a:rPr lang="en-US" sz="3000" b="1" dirty="0">
                <a:solidFill>
                  <a:srgbClr val="2B2F38"/>
                </a:solidFill>
              </a:rPr>
              <a:t>Gebruik deze afbeelding als inspiratie</a:t>
            </a:r>
            <a:endParaRPr lang="en-US" sz="3000" dirty="0"/>
          </a:p>
        </p:txBody>
      </p:sp>
      <p:sp>
        <p:nvSpPr>
          <p:cNvPr id="4" name="Shape 1"/>
          <p:cNvSpPr/>
          <p:nvPr/>
        </p:nvSpPr>
        <p:spPr>
          <a:xfrm>
            <a:off x="365760" y="365760"/>
            <a:ext cx="868680" cy="5989320"/>
          </a:xfrm>
          <a:prstGeom prst="roundRect">
            <a:avLst>
              <a:gd name="adj" fmla="val 12632"/>
            </a:avLst>
          </a:prstGeom>
          <a:solidFill>
            <a:srgbClr val="F4E8F6"/>
          </a:solidFill>
          <a:ln w="28575">
            <a:solidFill>
              <a:srgbClr val="B57FCB"/>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7E4C97"/>
                </a:solidFill>
                <a:latin typeface="Calibri" pitchFamily="34" charset="0"/>
                <a:ea typeface="Calibri" pitchFamily="34" charset="-122"/>
                <a:cs typeface="Calibri" pitchFamily="34" charset="-120"/>
              </a:rPr>
              <a:t>A1 · Situations</a:t>
            </a:r>
            <a:endParaRPr lang="en-US" sz="3800" dirty="0"/>
          </a:p>
        </p:txBody>
      </p:sp>
      <p:sp>
        <p:nvSpPr>
          <p:cNvPr id="6" name="Text 3"/>
          <p:cNvSpPr txBox="1"/>
          <p:nvPr/>
        </p:nvSpPr>
        <p:spPr>
          <a:xfrm>
            <a:off x="1554480" y="1024128"/>
            <a:ext cx="10241280" cy="365760"/>
          </a:xfrm>
          <a:prstGeom prst="rect">
            <a:avLst/>
          </a:prstGeom>
          <a:noFill/>
          <a:ln/>
        </p:spPr>
        <p:txBody>
          <a:bodyPr wrap="square" lIns="0" tIns="0" rIns="0" bIns="0" rtlCol="0" anchor="ctr"/>
          <a:lstStyle/>
          <a:p>
            <a:pPr algn="ctr" indent="0" marL="0">
              <a:buNone/>
            </a:pPr>
            <a:r>
              <a:rPr lang="en-US" sz="1500" b="1" dirty="0">
                <a:solidFill>
                  <a:srgbClr val="7E4C97"/>
                </a:solidFill>
                <a:latin typeface="Calibri" pitchFamily="34" charset="0"/>
                <a:ea typeface="Calibri" pitchFamily="34" charset="-122"/>
                <a:cs typeface="Calibri" pitchFamily="34" charset="-120"/>
              </a:rPr>
              <a:t>41 · Wat kunt u goed?</a:t>
            </a:r>
            <a:r>
              <a:rPr lang="en-US" sz="1500" i="1" dirty="0">
                <a:solidFill>
                  <a:srgbClr val="6B7280"/>
                </a:solidFill>
                <a:latin typeface="Calibri" pitchFamily="34" charset="0"/>
                <a:ea typeface="Calibri" pitchFamily="34" charset="-122"/>
                <a:cs typeface="Calibri" pitchFamily="34" charset="-120"/>
              </a:rPr>
              <a:t>   Que savez-vous bien faire ?</a:t>
            </a:r>
            <a:r>
              <a:rPr lang="en-US" sz="1200" dirty="0">
                <a:solidFill>
                  <a:srgbClr val="9AA3B2"/>
                </a:solidFill>
                <a:latin typeface="Calibri" pitchFamily="34" charset="0"/>
                <a:ea typeface="Calibri" pitchFamily="34" charset="-122"/>
                <a:cs typeface="Calibri" pitchFamily="34" charset="-120"/>
              </a:rPr>
              <a:t>   ·   syllabus fiche 6 · p. 97</a:t>
            </a:r>
            <a:endParaRPr lang="en-US" sz="1500" dirty="0"/>
          </a:p>
        </p:txBody>
      </p:sp>
      <p:sp>
        <p:nvSpPr>
          <p:cNvPr id="7" name="Shape 4"/>
          <p:cNvSpPr/>
          <p:nvPr/>
        </p:nvSpPr>
        <p:spPr>
          <a:xfrm>
            <a:off x="1596085" y="1504645"/>
            <a:ext cx="4534510" cy="2905735"/>
          </a:xfrm>
          <a:prstGeom prst="roundRect">
            <a:avLst>
              <a:gd name="adj" fmla="val 1259"/>
            </a:avLst>
          </a:prstGeom>
          <a:solidFill>
            <a:srgbClr val="FFFFFF"/>
          </a:solidFill>
          <a:ln w="9525">
            <a:solidFill>
              <a:srgbClr val="E3E7EE"/>
            </a:solidFill>
            <a:prstDash val="solid"/>
          </a:ln>
          <a:effectLst>
            <a:outerShdw sx="100000" sy="100000" kx="0" ky="0" algn="bl" rotWithShape="0" blurRad="127000" dist="50800" dir="5400000">
              <a:srgbClr val="1B2430">
                <a:alpha val="25000"/>
              </a:srgbClr>
            </a:outerShdw>
          </a:effectLst>
        </p:spPr>
      </p:sp>
      <p:pic>
        <p:nvPicPr>
          <p:cNvPr id="8" name="Image 0" descr="/home/user/talenleren/neerlandais1/generateur/img/vijfzinnen/a1_sollicitatie_s.jpg">    </p:cNvPr>
          <p:cNvPicPr>
            <a:picLocks noChangeAspect="1"/>
          </p:cNvPicPr>
          <p:nvPr/>
        </p:nvPicPr>
        <p:blipFill>
          <a:blip r:embed="rId1"/>
          <a:stretch>
            <a:fillRect/>
          </a:stretch>
        </p:blipFill>
        <p:spPr>
          <a:xfrm>
            <a:off x="1691640" y="1600200"/>
            <a:ext cx="4343400" cy="2714625"/>
          </a:xfrm>
          <a:prstGeom prst="rect">
            <a:avLst/>
          </a:prstGeom>
        </p:spPr>
      </p:pic>
      <p:sp>
        <p:nvSpPr>
          <p:cNvPr id="9" name="Shape 5"/>
          <p:cNvSpPr/>
          <p:nvPr/>
        </p:nvSpPr>
        <p:spPr>
          <a:xfrm>
            <a:off x="1691640" y="4572000"/>
            <a:ext cx="1600200" cy="365760"/>
          </a:xfrm>
          <a:prstGeom prst="roundRect">
            <a:avLst>
              <a:gd name="adj" fmla="val 50000"/>
            </a:avLst>
          </a:prstGeom>
          <a:solidFill>
            <a:srgbClr val="FDF1E6"/>
          </a:solidFill>
          <a:ln w="12700">
            <a:solidFill>
              <a:srgbClr val="D9822B"/>
            </a:solidFill>
            <a:prstDash val="solid"/>
          </a:ln>
        </p:spPr>
      </p:sp>
      <p:pic>
        <p:nvPicPr>
          <p:cNvPr id="10" name="Image 1" descr="Comments">    </p:cNvPr>
          <p:cNvPicPr>
            <a:picLocks noChangeAspect="1"/>
          </p:cNvPicPr>
          <p:nvPr/>
        </p:nvPicPr>
        <p:blipFill>
          <a:blip r:embed="rId2"/>
          <a:stretch>
            <a:fillRect/>
          </a:stretch>
        </p:blipFill>
        <p:spPr>
          <a:xfrm>
            <a:off x="1819656" y="4654296"/>
            <a:ext cx="201168" cy="201168"/>
          </a:xfrm>
          <a:prstGeom prst="rect">
            <a:avLst/>
          </a:prstGeom>
        </p:spPr>
      </p:pic>
      <p:sp>
        <p:nvSpPr>
          <p:cNvPr id="11" name="Text 6"/>
          <p:cNvSpPr txBox="1"/>
          <p:nvPr/>
        </p:nvSpPr>
        <p:spPr>
          <a:xfrm>
            <a:off x="2075688" y="4572000"/>
            <a:ext cx="1143000" cy="365760"/>
          </a:xfrm>
          <a:prstGeom prst="rect">
            <a:avLst/>
          </a:prstGeom>
          <a:noFill/>
          <a:ln/>
        </p:spPr>
        <p:txBody>
          <a:bodyPr wrap="square" lIns="0" tIns="0" rIns="0" bIns="0" rtlCol="0" anchor="ctr"/>
          <a:lstStyle/>
          <a:p>
            <a:pPr algn="l" indent="0" marL="0">
              <a:buNone/>
            </a:pPr>
            <a:r>
              <a:rPr lang="en-US" sz="1150" b="1" spc="100" kern="0" dirty="0">
                <a:solidFill>
                  <a:srgbClr val="D9822B"/>
                </a:solidFill>
                <a:latin typeface="Calibri" pitchFamily="34" charset="0"/>
                <a:ea typeface="Calibri" pitchFamily="34" charset="-122"/>
                <a:cs typeface="Calibri" pitchFamily="34" charset="-120"/>
              </a:rPr>
              <a:t>À L’ORAL</a:t>
            </a:r>
            <a:endParaRPr lang="en-US" sz="1150" dirty="0"/>
          </a:p>
        </p:txBody>
      </p:sp>
      <p:sp>
        <p:nvSpPr>
          <p:cNvPr id="12" name="Text 7"/>
          <p:cNvSpPr txBox="1"/>
          <p:nvPr/>
        </p:nvSpPr>
        <p:spPr>
          <a:xfrm>
            <a:off x="3429000" y="4544568"/>
            <a:ext cx="2651760" cy="731520"/>
          </a:xfrm>
          <a:prstGeom prst="rect">
            <a:avLst/>
          </a:prstGeom>
          <a:noFill/>
          <a:ln/>
        </p:spPr>
        <p:txBody>
          <a:bodyPr wrap="square" lIns="0" tIns="0" rIns="0" bIns="0" rtlCol="0" anchor="t"/>
          <a:lstStyle/>
          <a:p>
            <a:pPr algn="l" indent="0" marL="0">
              <a:buNone/>
            </a:pPr>
            <a:r>
              <a:rPr lang="en-US" sz="1150" i="1" dirty="0">
                <a:solidFill>
                  <a:srgbClr val="6B7280"/>
                </a:solidFill>
                <a:latin typeface="Calibri" pitchFamily="34" charset="0"/>
                <a:ea typeface="Calibri" pitchFamily="34" charset="-122"/>
                <a:cs typeface="Calibri" pitchFamily="34" charset="-120"/>
              </a:rPr>
              <a:t>Entretien d’embauche. Répondez simplement aux questions.</a:t>
            </a:r>
            <a:endParaRPr lang="en-US" sz="1150" dirty="0"/>
          </a:p>
        </p:txBody>
      </p:sp>
      <p:sp>
        <p:nvSpPr>
          <p:cNvPr id="13" name="Shape 8"/>
          <p:cNvSpPr/>
          <p:nvPr/>
        </p:nvSpPr>
        <p:spPr>
          <a:xfrm>
            <a:off x="6355080" y="1673352"/>
            <a:ext cx="914400" cy="402336"/>
          </a:xfrm>
          <a:prstGeom prst="roundRect">
            <a:avLst>
              <a:gd name="adj" fmla="val 13636"/>
            </a:avLst>
          </a:prstGeom>
          <a:solidFill>
            <a:srgbClr val="5FA873"/>
          </a:solidFill>
          <a:ln w="12700">
            <a:solidFill>
              <a:srgbClr val="FFFFFF">
                <a:alpha val="0"/>
              </a:srgbClr>
            </a:solidFill>
            <a:prstDash val="solid"/>
          </a:ln>
        </p:spPr>
      </p:sp>
      <p:sp>
        <p:nvSpPr>
          <p:cNvPr id="14" name="Text 9"/>
          <p:cNvSpPr txBox="1"/>
          <p:nvPr/>
        </p:nvSpPr>
        <p:spPr>
          <a:xfrm>
            <a:off x="6355080" y="167335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1</a:t>
            </a:r>
            <a:endParaRPr lang="en-US" sz="1600" dirty="0"/>
          </a:p>
        </p:txBody>
      </p:sp>
      <p:sp>
        <p:nvSpPr>
          <p:cNvPr id="15" name="Text 10"/>
          <p:cNvSpPr txBox="1"/>
          <p:nvPr/>
        </p:nvSpPr>
        <p:spPr>
          <a:xfrm>
            <a:off x="7406640" y="1618488"/>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Ce que vous savez faire : </a:t>
            </a:r>
            <a:r>
              <a:rPr lang="en-US" sz="1450" b="1" dirty="0">
                <a:solidFill>
                  <a:srgbClr val="2B2F38"/>
                </a:solidFill>
              </a:rPr>
              <a:t>IK KAN GOED</a:t>
            </a:r>
            <a:r>
              <a:rPr lang="en-US" sz="1450" dirty="0">
                <a:solidFill>
                  <a:srgbClr val="2B2F38"/>
                </a:solidFill>
              </a:rPr>
              <a:t> + verbe.</a:t>
            </a:r>
            <a:endParaRPr lang="en-US" sz="1450" dirty="0"/>
          </a:p>
        </p:txBody>
      </p:sp>
      <p:sp>
        <p:nvSpPr>
          <p:cNvPr id="16" name="Shape 11"/>
          <p:cNvSpPr/>
          <p:nvPr/>
        </p:nvSpPr>
        <p:spPr>
          <a:xfrm>
            <a:off x="6355080" y="2404872"/>
            <a:ext cx="914400" cy="402336"/>
          </a:xfrm>
          <a:prstGeom prst="roundRect">
            <a:avLst>
              <a:gd name="adj" fmla="val 13636"/>
            </a:avLst>
          </a:prstGeom>
          <a:solidFill>
            <a:srgbClr val="5FA873"/>
          </a:solidFill>
          <a:ln w="12700">
            <a:solidFill>
              <a:srgbClr val="FFFFFF">
                <a:alpha val="0"/>
              </a:srgbClr>
            </a:solidFill>
            <a:prstDash val="solid"/>
          </a:ln>
        </p:spPr>
      </p:sp>
      <p:sp>
        <p:nvSpPr>
          <p:cNvPr id="17" name="Text 12"/>
          <p:cNvSpPr txBox="1"/>
          <p:nvPr/>
        </p:nvSpPr>
        <p:spPr>
          <a:xfrm>
            <a:off x="6355080" y="240487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2</a:t>
            </a:r>
            <a:endParaRPr lang="en-US" sz="1600" dirty="0"/>
          </a:p>
        </p:txBody>
      </p:sp>
      <p:sp>
        <p:nvSpPr>
          <p:cNvPr id="18" name="Text 13"/>
          <p:cNvSpPr txBox="1"/>
          <p:nvPr/>
        </p:nvSpPr>
        <p:spPr>
          <a:xfrm>
            <a:off x="7406640" y="2350008"/>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Ce que vous voulez apprendre : </a:t>
            </a:r>
            <a:r>
              <a:rPr lang="en-US" sz="1450" b="1" dirty="0">
                <a:solidFill>
                  <a:srgbClr val="2B2F38"/>
                </a:solidFill>
              </a:rPr>
              <a:t>IK WIL GRAAG</a:t>
            </a:r>
            <a:r>
              <a:rPr lang="en-US" sz="1450" dirty="0">
                <a:solidFill>
                  <a:srgbClr val="2B2F38"/>
                </a:solidFill>
              </a:rPr>
              <a:t> … </a:t>
            </a:r>
            <a:r>
              <a:rPr lang="en-US" sz="1450" b="1" dirty="0">
                <a:solidFill>
                  <a:srgbClr val="2B2F38"/>
                </a:solidFill>
              </a:rPr>
              <a:t>LEREN</a:t>
            </a:r>
            <a:r>
              <a:rPr lang="en-US" sz="1450" dirty="0">
                <a:solidFill>
                  <a:srgbClr val="2B2F38"/>
                </a:solidFill>
              </a:rPr>
              <a:t>.</a:t>
            </a:r>
            <a:endParaRPr lang="en-US" sz="1450" dirty="0"/>
          </a:p>
        </p:txBody>
      </p:sp>
      <p:sp>
        <p:nvSpPr>
          <p:cNvPr id="19" name="Shape 14"/>
          <p:cNvSpPr/>
          <p:nvPr/>
        </p:nvSpPr>
        <p:spPr>
          <a:xfrm>
            <a:off x="6355080" y="3136392"/>
            <a:ext cx="914400" cy="402336"/>
          </a:xfrm>
          <a:prstGeom prst="roundRect">
            <a:avLst>
              <a:gd name="adj" fmla="val 13636"/>
            </a:avLst>
          </a:prstGeom>
          <a:solidFill>
            <a:srgbClr val="5FA873"/>
          </a:solidFill>
          <a:ln w="12700">
            <a:solidFill>
              <a:srgbClr val="FFFFFF">
                <a:alpha val="0"/>
              </a:srgbClr>
            </a:solidFill>
            <a:prstDash val="solid"/>
          </a:ln>
        </p:spPr>
      </p:sp>
      <p:sp>
        <p:nvSpPr>
          <p:cNvPr id="20" name="Text 15"/>
          <p:cNvSpPr txBox="1"/>
          <p:nvPr/>
        </p:nvSpPr>
        <p:spPr>
          <a:xfrm>
            <a:off x="6355080" y="313639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3</a:t>
            </a:r>
            <a:endParaRPr lang="en-US" sz="1600" dirty="0"/>
          </a:p>
        </p:txBody>
      </p:sp>
      <p:sp>
        <p:nvSpPr>
          <p:cNvPr id="21" name="Text 16"/>
          <p:cNvSpPr txBox="1"/>
          <p:nvPr/>
        </p:nvSpPr>
        <p:spPr>
          <a:xfrm>
            <a:off x="7406640" y="3081528"/>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Quand vous commencez : </a:t>
            </a:r>
            <a:r>
              <a:rPr lang="en-US" sz="1450" b="1" dirty="0">
                <a:solidFill>
                  <a:srgbClr val="2B2F38"/>
                </a:solidFill>
              </a:rPr>
              <a:t>IK KAN</a:t>
            </a:r>
            <a:r>
              <a:rPr lang="en-US" sz="1450" dirty="0">
                <a:solidFill>
                  <a:srgbClr val="2B2F38"/>
                </a:solidFill>
              </a:rPr>
              <a:t> + jour + </a:t>
            </a:r>
            <a:r>
              <a:rPr lang="en-US" sz="1450" b="1" dirty="0">
                <a:solidFill>
                  <a:srgbClr val="2B2F38"/>
                </a:solidFill>
              </a:rPr>
              <a:t>BEGINNEN</a:t>
            </a:r>
            <a:r>
              <a:rPr lang="en-US" sz="1450" dirty="0">
                <a:solidFill>
                  <a:srgbClr val="2B2F38"/>
                </a:solidFill>
              </a:rPr>
              <a:t>.</a:t>
            </a:r>
            <a:endParaRPr lang="en-US" sz="1450" dirty="0"/>
          </a:p>
        </p:txBody>
      </p:sp>
      <p:sp>
        <p:nvSpPr>
          <p:cNvPr id="22" name="Shape 17"/>
          <p:cNvSpPr/>
          <p:nvPr/>
        </p:nvSpPr>
        <p:spPr>
          <a:xfrm>
            <a:off x="6355080" y="3867912"/>
            <a:ext cx="914400" cy="402336"/>
          </a:xfrm>
          <a:prstGeom prst="roundRect">
            <a:avLst>
              <a:gd name="adj" fmla="val 13636"/>
            </a:avLst>
          </a:prstGeom>
          <a:solidFill>
            <a:srgbClr val="5FA873"/>
          </a:solidFill>
          <a:ln w="12700">
            <a:solidFill>
              <a:srgbClr val="FFFFFF">
                <a:alpha val="0"/>
              </a:srgbClr>
            </a:solidFill>
            <a:prstDash val="solid"/>
          </a:ln>
        </p:spPr>
      </p:sp>
      <p:sp>
        <p:nvSpPr>
          <p:cNvPr id="23" name="Text 18"/>
          <p:cNvSpPr txBox="1"/>
          <p:nvPr/>
        </p:nvSpPr>
        <p:spPr>
          <a:xfrm>
            <a:off x="6355080" y="386791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4</a:t>
            </a:r>
            <a:endParaRPr lang="en-US" sz="1600" dirty="0"/>
          </a:p>
        </p:txBody>
      </p:sp>
      <p:sp>
        <p:nvSpPr>
          <p:cNvPr id="24" name="Text 19"/>
          <p:cNvSpPr txBox="1"/>
          <p:nvPr/>
        </p:nvSpPr>
        <p:spPr>
          <a:xfrm>
            <a:off x="7406640" y="3813048"/>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Une chute avec </a:t>
            </a:r>
            <a:r>
              <a:rPr lang="en-US" sz="1450" b="1" dirty="0">
                <a:solidFill>
                  <a:srgbClr val="2B2F38"/>
                </a:solidFill>
              </a:rPr>
              <a:t>MAAR</a:t>
            </a:r>
            <a:r>
              <a:rPr lang="en-US" sz="1450" dirty="0">
                <a:solidFill>
                  <a:srgbClr val="2B2F38"/>
                </a:solidFill>
              </a:rPr>
              <a:t> !</a:t>
            </a:r>
            <a:endParaRPr lang="en-US" sz="1450" dirty="0"/>
          </a:p>
        </p:txBody>
      </p:sp>
      <p:sp>
        <p:nvSpPr>
          <p:cNvPr id="25" name="Shape 20"/>
          <p:cNvSpPr/>
          <p:nvPr/>
        </p:nvSpPr>
        <p:spPr>
          <a:xfrm>
            <a:off x="3246120" y="5440680"/>
            <a:ext cx="6858000" cy="822960"/>
          </a:xfrm>
          <a:prstGeom prst="roundRect">
            <a:avLst>
              <a:gd name="adj" fmla="val 17778"/>
            </a:avLst>
          </a:prstGeom>
          <a:solidFill>
            <a:srgbClr val="EAF5EC"/>
          </a:solidFill>
          <a:ln w="15875">
            <a:solidFill>
              <a:srgbClr val="5FA873"/>
            </a:solidFill>
            <a:prstDash val="solid"/>
          </a:ln>
        </p:spPr>
      </p:sp>
      <p:pic>
        <p:nvPicPr>
          <p:cNvPr id="26" name="Image 2" descr="UserFriends">    </p:cNvPr>
          <p:cNvPicPr>
            <a:picLocks noChangeAspect="1"/>
          </p:cNvPicPr>
          <p:nvPr/>
        </p:nvPicPr>
        <p:blipFill>
          <a:blip r:embed="rId3"/>
          <a:stretch>
            <a:fillRect/>
          </a:stretch>
        </p:blipFill>
        <p:spPr>
          <a:xfrm>
            <a:off x="3520440" y="5660136"/>
            <a:ext cx="384048" cy="384048"/>
          </a:xfrm>
          <a:prstGeom prst="rect">
            <a:avLst/>
          </a:prstGeom>
        </p:spPr>
      </p:pic>
      <p:sp>
        <p:nvSpPr>
          <p:cNvPr id="27" name="Text 21"/>
          <p:cNvSpPr txBox="1"/>
          <p:nvPr/>
        </p:nvSpPr>
        <p:spPr>
          <a:xfrm>
            <a:off x="4114800" y="5440680"/>
            <a:ext cx="5852160" cy="822960"/>
          </a:xfrm>
          <a:prstGeom prst="rect">
            <a:avLst/>
          </a:prstGeom>
          <a:noFill/>
          <a:ln/>
        </p:spPr>
        <p:txBody>
          <a:bodyPr wrap="square" lIns="0" tIns="0" rIns="0" bIns="0" rtlCol="0" anchor="ctr"/>
          <a:lstStyle/>
          <a:p>
            <a:pPr algn="ctr" indent="0" marL="0">
              <a:buNone/>
            </a:pPr>
            <a:r>
              <a:rPr lang="en-US" sz="1800" b="1" dirty="0">
                <a:solidFill>
                  <a:srgbClr val="2E6B44"/>
                </a:solidFill>
                <a:latin typeface="Calibri" pitchFamily="34" charset="0"/>
                <a:ea typeface="Calibri" pitchFamily="34" charset="-122"/>
                <a:cs typeface="Calibri" pitchFamily="34" charset="-120"/>
              </a:rPr>
              <a:t>Vertel je verhaal aan je partner.</a:t>
            </a:r>
            <a:endParaRPr lang="en-US" sz="1800" dirty="0"/>
          </a:p>
          <a:p>
            <a:pPr algn="ctr" indent="0" marL="0">
              <a:buNone/>
            </a:pPr>
            <a:r>
              <a:rPr lang="en-US" sz="1800" b="1" dirty="0">
                <a:solidFill>
                  <a:srgbClr val="2E6B44"/>
                </a:solidFill>
                <a:latin typeface="Calibri" pitchFamily="34" charset="0"/>
                <a:ea typeface="Calibri" pitchFamily="34" charset="-122"/>
                <a:cs typeface="Calibri" pitchFamily="34" charset="-120"/>
              </a:rPr>
              <a:t>Wat denkt hij/zij daarvan?</a:t>
            </a:r>
            <a:endParaRPr lang="en-US" sz="1800" dirty="0"/>
          </a:p>
        </p:txBody>
      </p:sp>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129</a:t>
            </a:fld>
            <a:endParaRPr lang="en-US"/>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name="Slide 130">
    <p:spTree>
      <p:nvGrpSpPr>
        <p:cNvPr id="1" name=""/>
        <p:cNvGrpSpPr/>
        <p:nvPr/>
      </p:nvGrpSpPr>
      <p:grpSpPr>
        <a:xfrm>
          <a:off x="0" y="0"/>
          <a:ext cx="0" cy="0"/>
          <a:chOff x="0" y="0"/>
          <a:chExt cx="0" cy="0"/>
        </a:xfrm>
      </p:grpSpPr>
      <p:sp>
        <p:nvSpPr>
          <p:cNvPr id="2" name="Text 1"/>
          <p:cNvSpPr/>
          <p:nvPr>
            <p:ph idx="101" type="title" hasCustomPrompt="1"/>
          </p:nvPr>
        </p:nvSpPr>
        <p:spPr>
          <a:xfrm>
            <a:off x="1554480" y="384048"/>
            <a:ext cx="10241280" cy="658368"/>
          </a:xfrm>
          <a:prstGeom prst="rect">
            <a:avLst/>
          </a:prstGeom>
          <a:noFill/>
          <a:ln/>
        </p:spPr>
        <p:txBody>
          <a:bodyPr wrap="square" lIns="0" tIns="0" rIns="0" bIns="0" rtlCol="0" anchor="ctr"/>
          <a:lstStyle/>
          <a:p>
            <a:pPr algn="ctr" indent="0" marL="0">
              <a:buNone/>
            </a:pPr>
            <a:r>
              <a:rPr lang="en-US" sz="3000" b="1" dirty="0">
                <a:solidFill>
                  <a:srgbClr val="2B2F38"/>
                </a:solidFill>
              </a:rPr>
              <a:t>Wat kunt u goed?</a:t>
            </a:r>
            <a:endParaRPr lang="en-US" sz="3000" dirty="0"/>
          </a:p>
        </p:txBody>
      </p:sp>
      <p:sp>
        <p:nvSpPr>
          <p:cNvPr id="4" name="Shape 1"/>
          <p:cNvSpPr/>
          <p:nvPr/>
        </p:nvSpPr>
        <p:spPr>
          <a:xfrm>
            <a:off x="365760" y="365760"/>
            <a:ext cx="868680" cy="5989320"/>
          </a:xfrm>
          <a:prstGeom prst="roundRect">
            <a:avLst>
              <a:gd name="adj" fmla="val 12632"/>
            </a:avLst>
          </a:prstGeom>
          <a:solidFill>
            <a:srgbClr val="F4E8F6"/>
          </a:solidFill>
          <a:ln w="28575">
            <a:solidFill>
              <a:srgbClr val="B57FCB"/>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7E4C97"/>
                </a:solidFill>
                <a:latin typeface="Calibri" pitchFamily="34" charset="0"/>
                <a:ea typeface="Calibri" pitchFamily="34" charset="-122"/>
                <a:cs typeface="Calibri" pitchFamily="34" charset="-120"/>
              </a:rPr>
              <a:t>A1 · Situations</a:t>
            </a:r>
            <a:endParaRPr lang="en-US" sz="3800" dirty="0"/>
          </a:p>
        </p:txBody>
      </p:sp>
      <p:sp>
        <p:nvSpPr>
          <p:cNvPr id="6" name="Shape 3"/>
          <p:cNvSpPr/>
          <p:nvPr/>
        </p:nvSpPr>
        <p:spPr>
          <a:xfrm>
            <a:off x="2519172" y="1124712"/>
            <a:ext cx="8311896" cy="5277231"/>
          </a:xfrm>
          <a:prstGeom prst="roundRect">
            <a:avLst>
              <a:gd name="adj" fmla="val 693"/>
            </a:avLst>
          </a:prstGeom>
          <a:solidFill>
            <a:srgbClr val="FFFFFF"/>
          </a:solidFill>
          <a:ln w="9525">
            <a:solidFill>
              <a:srgbClr val="E3E7EE"/>
            </a:solidFill>
            <a:prstDash val="solid"/>
          </a:ln>
          <a:effectLst>
            <a:outerShdw sx="100000" sy="100000" kx="0" ky="0" algn="bl" rotWithShape="0" blurRad="177800" dist="63500" dir="5400000">
              <a:srgbClr val="1B2430">
                <a:alpha val="25000"/>
              </a:srgbClr>
            </a:outerShdw>
          </a:effectLst>
        </p:spPr>
      </p:sp>
      <p:pic>
        <p:nvPicPr>
          <p:cNvPr id="7" name="Image 0" descr="/home/user/talenleren/neerlandais1/generateur/img/vijfzinnen/a1_sollicitatie.jpg">    </p:cNvPr>
          <p:cNvPicPr>
            <a:picLocks noChangeAspect="1"/>
          </p:cNvPicPr>
          <p:nvPr/>
        </p:nvPicPr>
        <p:blipFill>
          <a:blip r:embed="rId1"/>
          <a:stretch>
            <a:fillRect/>
          </a:stretch>
        </p:blipFill>
        <p:spPr>
          <a:xfrm>
            <a:off x="2628900" y="1234440"/>
            <a:ext cx="8092440" cy="5057775"/>
          </a:xfrm>
          <a:prstGeom prst="rect">
            <a:avLst/>
          </a:prstGeom>
        </p:spPr>
      </p:pic>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130</a:t>
            </a:fld>
            <a:endParaRPr lang="en-US"/>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name="Slide 131">
    <p:spTree>
      <p:nvGrpSpPr>
        <p:cNvPr id="1" name=""/>
        <p:cNvGrpSpPr/>
        <p:nvPr/>
      </p:nvGrpSpPr>
      <p:grpSpPr>
        <a:xfrm>
          <a:off x="0" y="0"/>
          <a:ext cx="0" cy="0"/>
          <a:chOff x="0" y="0"/>
          <a:chExt cx="0" cy="0"/>
        </a:xfrm>
      </p:grpSpPr>
      <p:sp>
        <p:nvSpPr>
          <p:cNvPr id="2" name="Text 1"/>
          <p:cNvSpPr/>
          <p:nvPr>
            <p:ph idx="101" type="title" hasCustomPrompt="1"/>
          </p:nvPr>
        </p:nvSpPr>
        <p:spPr>
          <a:xfrm>
            <a:off x="1691640" y="347472"/>
            <a:ext cx="8138160" cy="914400"/>
          </a:xfrm>
          <a:prstGeom prst="rect">
            <a:avLst/>
          </a:prstGeom>
          <a:noFill/>
          <a:ln/>
        </p:spPr>
        <p:txBody>
          <a:bodyPr wrap="square" lIns="0" tIns="0" rIns="0" bIns="0" rtlCol="0" anchor="ctr"/>
          <a:lstStyle/>
          <a:p>
            <a:pPr algn="l" indent="0" marL="0">
              <a:buNone/>
            </a:pPr>
            <a:r>
              <a:rPr lang="en-US" sz="2400" b="1" dirty="0">
                <a:solidFill>
                  <a:srgbClr val="2B2F38"/>
                </a:solidFill>
              </a:rPr>
              <a:t>Hier is een voorbeeld van wat je had kunnen denken en zeggen…</a:t>
            </a:r>
            <a:endParaRPr lang="en-US" sz="2400" dirty="0"/>
          </a:p>
        </p:txBody>
      </p:sp>
      <p:sp>
        <p:nvSpPr>
          <p:cNvPr id="4" name="Shape 1"/>
          <p:cNvSpPr/>
          <p:nvPr/>
        </p:nvSpPr>
        <p:spPr>
          <a:xfrm>
            <a:off x="365760" y="365760"/>
            <a:ext cx="868680" cy="5989320"/>
          </a:xfrm>
          <a:prstGeom prst="roundRect">
            <a:avLst>
              <a:gd name="adj" fmla="val 12632"/>
            </a:avLst>
          </a:prstGeom>
          <a:solidFill>
            <a:srgbClr val="F4E8F6"/>
          </a:solidFill>
          <a:ln w="28575">
            <a:solidFill>
              <a:srgbClr val="B57FCB"/>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7E4C97"/>
                </a:solidFill>
                <a:latin typeface="Calibri" pitchFamily="34" charset="0"/>
                <a:ea typeface="Calibri" pitchFamily="34" charset="-122"/>
                <a:cs typeface="Calibri" pitchFamily="34" charset="-120"/>
              </a:rPr>
              <a:t>A1 · Situations</a:t>
            </a:r>
            <a:endParaRPr lang="en-US" sz="3800" dirty="0"/>
          </a:p>
        </p:txBody>
      </p:sp>
      <p:sp>
        <p:nvSpPr>
          <p:cNvPr id="6" name="Shape 3"/>
          <p:cNvSpPr/>
          <p:nvPr/>
        </p:nvSpPr>
        <p:spPr>
          <a:xfrm>
            <a:off x="10058400" y="246888"/>
            <a:ext cx="1691640" cy="1091565"/>
          </a:xfrm>
          <a:prstGeom prst="roundRect">
            <a:avLst>
              <a:gd name="adj" fmla="val 3351"/>
            </a:avLst>
          </a:prstGeom>
          <a:solidFill>
            <a:srgbClr val="FFFFFF"/>
          </a:solidFill>
          <a:ln w="9525">
            <a:solidFill>
              <a:srgbClr val="E3E7EE"/>
            </a:solidFill>
            <a:prstDash val="solid"/>
          </a:ln>
          <a:effectLst>
            <a:outerShdw sx="100000" sy="100000" kx="0" ky="0" algn="bl" rotWithShape="0" blurRad="76200" dist="25400" dir="5400000">
              <a:srgbClr val="1B2430">
                <a:alpha val="25000"/>
              </a:srgbClr>
            </a:outerShdw>
          </a:effectLst>
        </p:spPr>
      </p:sp>
      <p:pic>
        <p:nvPicPr>
          <p:cNvPr id="7" name="Image 0" descr="/home/user/talenleren/neerlandais1/generateur/img/vijfzinnen/a1_sollicitatie_s.jpg">    </p:cNvPr>
          <p:cNvPicPr>
            <a:picLocks noChangeAspect="1"/>
          </p:cNvPicPr>
          <p:nvPr/>
        </p:nvPicPr>
        <p:blipFill>
          <a:blip r:embed="rId1"/>
          <a:stretch>
            <a:fillRect/>
          </a:stretch>
        </p:blipFill>
        <p:spPr>
          <a:xfrm>
            <a:off x="10104120" y="292608"/>
            <a:ext cx="1600200" cy="1000125"/>
          </a:xfrm>
          <a:prstGeom prst="rect">
            <a:avLst/>
          </a:prstGeom>
        </p:spPr>
      </p:pic>
      <p:sp>
        <p:nvSpPr>
          <p:cNvPr id="8" name="Shape 4"/>
          <p:cNvSpPr/>
          <p:nvPr/>
        </p:nvSpPr>
        <p:spPr>
          <a:xfrm>
            <a:off x="1691640" y="2779166"/>
            <a:ext cx="1542898" cy="371856"/>
          </a:xfrm>
          <a:prstGeom prst="roundRect">
            <a:avLst>
              <a:gd name="adj" fmla="val 12295"/>
            </a:avLst>
          </a:prstGeom>
          <a:solidFill>
            <a:srgbClr val="E6F3DA"/>
          </a:solidFill>
          <a:ln w="12700">
            <a:solidFill>
              <a:srgbClr val="FFFFFF">
                <a:alpha val="0"/>
              </a:srgbClr>
            </a:solidFill>
            <a:prstDash val="solid"/>
          </a:ln>
        </p:spPr>
      </p:sp>
      <p:sp>
        <p:nvSpPr>
          <p:cNvPr id="9" name="Text 5"/>
          <p:cNvSpPr txBox="1"/>
          <p:nvPr/>
        </p:nvSpPr>
        <p:spPr>
          <a:xfrm>
            <a:off x="1691640" y="2766974"/>
            <a:ext cx="1542898"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Ik kan goed</a:t>
            </a:r>
            <a:endParaRPr lang="en-US" sz="2400" dirty="0"/>
          </a:p>
        </p:txBody>
      </p:sp>
      <p:sp>
        <p:nvSpPr>
          <p:cNvPr id="10" name="Text 6"/>
          <p:cNvSpPr txBox="1"/>
          <p:nvPr/>
        </p:nvSpPr>
        <p:spPr>
          <a:xfrm>
            <a:off x="3321710" y="2766974"/>
            <a:ext cx="2971495"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koken en organiseren.</a:t>
            </a:r>
            <a:endParaRPr lang="en-US" sz="2400" dirty="0"/>
          </a:p>
        </p:txBody>
      </p:sp>
      <p:sp>
        <p:nvSpPr>
          <p:cNvPr id="11" name="Shape 7"/>
          <p:cNvSpPr/>
          <p:nvPr/>
        </p:nvSpPr>
        <p:spPr>
          <a:xfrm>
            <a:off x="6197498" y="2779166"/>
            <a:ext cx="1532230" cy="371856"/>
          </a:xfrm>
          <a:prstGeom prst="roundRect">
            <a:avLst>
              <a:gd name="adj" fmla="val 12295"/>
            </a:avLst>
          </a:prstGeom>
          <a:solidFill>
            <a:srgbClr val="E6F3DA"/>
          </a:solidFill>
          <a:ln w="12700">
            <a:solidFill>
              <a:srgbClr val="FFFFFF">
                <a:alpha val="0"/>
              </a:srgbClr>
            </a:solidFill>
            <a:prstDash val="solid"/>
          </a:ln>
        </p:spPr>
      </p:sp>
      <p:sp>
        <p:nvSpPr>
          <p:cNvPr id="12" name="Text 8"/>
          <p:cNvSpPr txBox="1"/>
          <p:nvPr/>
        </p:nvSpPr>
        <p:spPr>
          <a:xfrm>
            <a:off x="6197498" y="2766974"/>
            <a:ext cx="1532230"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Ik wil graag</a:t>
            </a:r>
            <a:endParaRPr lang="en-US" sz="2400" dirty="0"/>
          </a:p>
        </p:txBody>
      </p:sp>
      <p:sp>
        <p:nvSpPr>
          <p:cNvPr id="13" name="Text 9"/>
          <p:cNvSpPr txBox="1"/>
          <p:nvPr/>
        </p:nvSpPr>
        <p:spPr>
          <a:xfrm>
            <a:off x="7816901" y="2766974"/>
            <a:ext cx="2364334"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beter Nederlands</a:t>
            </a:r>
            <a:endParaRPr lang="en-US" sz="2400" dirty="0"/>
          </a:p>
        </p:txBody>
      </p:sp>
      <p:sp>
        <p:nvSpPr>
          <p:cNvPr id="14" name="Shape 10"/>
          <p:cNvSpPr/>
          <p:nvPr/>
        </p:nvSpPr>
        <p:spPr>
          <a:xfrm>
            <a:off x="10085527" y="2779166"/>
            <a:ext cx="744931" cy="371856"/>
          </a:xfrm>
          <a:prstGeom prst="roundRect">
            <a:avLst>
              <a:gd name="adj" fmla="val 12295"/>
            </a:avLst>
          </a:prstGeom>
          <a:solidFill>
            <a:srgbClr val="E6F3DA"/>
          </a:solidFill>
          <a:ln w="12700">
            <a:solidFill>
              <a:srgbClr val="FFFFFF">
                <a:alpha val="0"/>
              </a:srgbClr>
            </a:solidFill>
            <a:prstDash val="solid"/>
          </a:ln>
        </p:spPr>
      </p:sp>
      <p:sp>
        <p:nvSpPr>
          <p:cNvPr id="15" name="Text 11"/>
          <p:cNvSpPr txBox="1"/>
          <p:nvPr/>
        </p:nvSpPr>
        <p:spPr>
          <a:xfrm>
            <a:off x="10085527" y="2766974"/>
            <a:ext cx="744931"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leren</a:t>
            </a:r>
            <a:endParaRPr lang="en-US" sz="2400" dirty="0"/>
          </a:p>
        </p:txBody>
      </p:sp>
      <p:sp>
        <p:nvSpPr>
          <p:cNvPr id="16" name="Text 12"/>
          <p:cNvSpPr txBox="1"/>
          <p:nvPr/>
        </p:nvSpPr>
        <p:spPr>
          <a:xfrm>
            <a:off x="10830458" y="2766974"/>
            <a:ext cx="259690"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a:t>
            </a:r>
            <a:endParaRPr lang="en-US" sz="2400" dirty="0"/>
          </a:p>
        </p:txBody>
      </p:sp>
      <p:sp>
        <p:nvSpPr>
          <p:cNvPr id="17" name="Shape 13"/>
          <p:cNvSpPr/>
          <p:nvPr/>
        </p:nvSpPr>
        <p:spPr>
          <a:xfrm flipH="1">
            <a:off x="2463089" y="2702966"/>
            <a:ext cx="914" cy="76200"/>
          </a:xfrm>
          <a:prstGeom prst="line">
            <a:avLst/>
          </a:prstGeom>
          <a:noFill/>
          <a:ln w="15875">
            <a:solidFill>
              <a:srgbClr val="7AB648"/>
            </a:solidFill>
            <a:prstDash val="solid"/>
          </a:ln>
        </p:spPr>
      </p:sp>
      <p:sp>
        <p:nvSpPr>
          <p:cNvPr id="18" name="Shape 14"/>
          <p:cNvSpPr/>
          <p:nvPr/>
        </p:nvSpPr>
        <p:spPr>
          <a:xfrm>
            <a:off x="1968557" y="2456078"/>
            <a:ext cx="989063" cy="246888"/>
          </a:xfrm>
          <a:prstGeom prst="roundRect">
            <a:avLst>
              <a:gd name="adj" fmla="val 14815"/>
            </a:avLst>
          </a:prstGeom>
          <a:solidFill>
            <a:srgbClr val="7AB648"/>
          </a:solidFill>
          <a:ln w="12700">
            <a:solidFill>
              <a:srgbClr val="FFFFFF">
                <a:alpha val="0"/>
              </a:srgbClr>
            </a:solidFill>
            <a:prstDash val="solid"/>
          </a:ln>
        </p:spPr>
      </p:sp>
      <p:sp>
        <p:nvSpPr>
          <p:cNvPr id="19" name="Text 15"/>
          <p:cNvSpPr txBox="1"/>
          <p:nvPr/>
        </p:nvSpPr>
        <p:spPr>
          <a:xfrm>
            <a:off x="1968557" y="2456078"/>
            <a:ext cx="989063"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IK KAN GOED</a:t>
            </a:r>
            <a:endParaRPr lang="en-US" sz="1100" dirty="0"/>
          </a:p>
        </p:txBody>
      </p:sp>
      <p:sp>
        <p:nvSpPr>
          <p:cNvPr id="20" name="Shape 16"/>
          <p:cNvSpPr/>
          <p:nvPr/>
        </p:nvSpPr>
        <p:spPr>
          <a:xfrm>
            <a:off x="6963613" y="2702966"/>
            <a:ext cx="914" cy="76200"/>
          </a:xfrm>
          <a:prstGeom prst="line">
            <a:avLst/>
          </a:prstGeom>
          <a:noFill/>
          <a:ln w="15875">
            <a:solidFill>
              <a:srgbClr val="7AB648"/>
            </a:solidFill>
            <a:prstDash val="solid"/>
          </a:ln>
        </p:spPr>
      </p:sp>
      <p:sp>
        <p:nvSpPr>
          <p:cNvPr id="21" name="Shape 17"/>
          <p:cNvSpPr/>
          <p:nvPr/>
        </p:nvSpPr>
        <p:spPr>
          <a:xfrm>
            <a:off x="6604311" y="2456078"/>
            <a:ext cx="718604" cy="246888"/>
          </a:xfrm>
          <a:prstGeom prst="roundRect">
            <a:avLst>
              <a:gd name="adj" fmla="val 14815"/>
            </a:avLst>
          </a:prstGeom>
          <a:solidFill>
            <a:srgbClr val="7AB648"/>
          </a:solidFill>
          <a:ln w="12700">
            <a:solidFill>
              <a:srgbClr val="FFFFFF">
                <a:alpha val="0"/>
              </a:srgbClr>
            </a:solidFill>
            <a:prstDash val="solid"/>
          </a:ln>
        </p:spPr>
      </p:sp>
      <p:sp>
        <p:nvSpPr>
          <p:cNvPr id="22" name="Text 18"/>
          <p:cNvSpPr txBox="1"/>
          <p:nvPr/>
        </p:nvSpPr>
        <p:spPr>
          <a:xfrm>
            <a:off x="6604311" y="2456078"/>
            <a:ext cx="718604"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IK WIL …</a:t>
            </a:r>
            <a:endParaRPr lang="en-US" sz="1100" dirty="0"/>
          </a:p>
        </p:txBody>
      </p:sp>
      <p:sp>
        <p:nvSpPr>
          <p:cNvPr id="23" name="Shape 19"/>
          <p:cNvSpPr/>
          <p:nvPr/>
        </p:nvSpPr>
        <p:spPr>
          <a:xfrm>
            <a:off x="10457993" y="2702966"/>
            <a:ext cx="914" cy="76200"/>
          </a:xfrm>
          <a:prstGeom prst="line">
            <a:avLst/>
          </a:prstGeom>
          <a:noFill/>
          <a:ln w="15875">
            <a:solidFill>
              <a:srgbClr val="7AB648"/>
            </a:solidFill>
            <a:prstDash val="solid"/>
          </a:ln>
        </p:spPr>
      </p:sp>
      <p:sp>
        <p:nvSpPr>
          <p:cNvPr id="24" name="Shape 20"/>
          <p:cNvSpPr/>
          <p:nvPr/>
        </p:nvSpPr>
        <p:spPr>
          <a:xfrm>
            <a:off x="10099739" y="2456078"/>
            <a:ext cx="716509" cy="246888"/>
          </a:xfrm>
          <a:prstGeom prst="roundRect">
            <a:avLst>
              <a:gd name="adj" fmla="val 14815"/>
            </a:avLst>
          </a:prstGeom>
          <a:solidFill>
            <a:srgbClr val="7AB648"/>
          </a:solidFill>
          <a:ln w="12700">
            <a:solidFill>
              <a:srgbClr val="FFFFFF">
                <a:alpha val="0"/>
              </a:srgbClr>
            </a:solidFill>
            <a:prstDash val="solid"/>
          </a:ln>
        </p:spPr>
      </p:sp>
      <p:sp>
        <p:nvSpPr>
          <p:cNvPr id="25" name="Text 21"/>
          <p:cNvSpPr txBox="1"/>
          <p:nvPr/>
        </p:nvSpPr>
        <p:spPr>
          <a:xfrm>
            <a:off x="10099739" y="2456078"/>
            <a:ext cx="716509"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 LEREN</a:t>
            </a:r>
            <a:endParaRPr lang="en-US" sz="1100" dirty="0"/>
          </a:p>
        </p:txBody>
      </p:sp>
      <p:sp>
        <p:nvSpPr>
          <p:cNvPr id="26" name="Shape 22"/>
          <p:cNvSpPr/>
          <p:nvPr/>
        </p:nvSpPr>
        <p:spPr>
          <a:xfrm>
            <a:off x="1691640" y="3632606"/>
            <a:ext cx="848563" cy="371856"/>
          </a:xfrm>
          <a:prstGeom prst="roundRect">
            <a:avLst>
              <a:gd name="adj" fmla="val 12295"/>
            </a:avLst>
          </a:prstGeom>
          <a:solidFill>
            <a:srgbClr val="E6F3DA"/>
          </a:solidFill>
          <a:ln w="12700">
            <a:solidFill>
              <a:srgbClr val="FFFFFF">
                <a:alpha val="0"/>
              </a:srgbClr>
            </a:solidFill>
            <a:prstDash val="solid"/>
          </a:ln>
        </p:spPr>
      </p:sp>
      <p:sp>
        <p:nvSpPr>
          <p:cNvPr id="27" name="Text 23"/>
          <p:cNvSpPr txBox="1"/>
          <p:nvPr/>
        </p:nvSpPr>
        <p:spPr>
          <a:xfrm>
            <a:off x="1691640" y="3620414"/>
            <a:ext cx="848563"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Ik kan</a:t>
            </a:r>
            <a:endParaRPr lang="en-US" sz="2400" dirty="0"/>
          </a:p>
        </p:txBody>
      </p:sp>
      <p:sp>
        <p:nvSpPr>
          <p:cNvPr id="28" name="Text 24"/>
          <p:cNvSpPr txBox="1"/>
          <p:nvPr/>
        </p:nvSpPr>
        <p:spPr>
          <a:xfrm>
            <a:off x="2627376" y="3620414"/>
            <a:ext cx="1328014"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maandag</a:t>
            </a:r>
            <a:endParaRPr lang="en-US" sz="2400" dirty="0"/>
          </a:p>
        </p:txBody>
      </p:sp>
      <p:sp>
        <p:nvSpPr>
          <p:cNvPr id="29" name="Shape 25"/>
          <p:cNvSpPr/>
          <p:nvPr/>
        </p:nvSpPr>
        <p:spPr>
          <a:xfrm>
            <a:off x="3859682" y="3632606"/>
            <a:ext cx="1272235" cy="371856"/>
          </a:xfrm>
          <a:prstGeom prst="roundRect">
            <a:avLst>
              <a:gd name="adj" fmla="val 12295"/>
            </a:avLst>
          </a:prstGeom>
          <a:solidFill>
            <a:srgbClr val="E6F3DA"/>
          </a:solidFill>
          <a:ln w="12700">
            <a:solidFill>
              <a:srgbClr val="FFFFFF">
                <a:alpha val="0"/>
              </a:srgbClr>
            </a:solidFill>
            <a:prstDash val="solid"/>
          </a:ln>
        </p:spPr>
      </p:sp>
      <p:sp>
        <p:nvSpPr>
          <p:cNvPr id="30" name="Text 26"/>
          <p:cNvSpPr txBox="1"/>
          <p:nvPr/>
        </p:nvSpPr>
        <p:spPr>
          <a:xfrm>
            <a:off x="3859682" y="3620414"/>
            <a:ext cx="1272235"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beginnen</a:t>
            </a:r>
            <a:endParaRPr lang="en-US" sz="2400" dirty="0"/>
          </a:p>
        </p:txBody>
      </p:sp>
      <p:sp>
        <p:nvSpPr>
          <p:cNvPr id="31" name="Text 27"/>
          <p:cNvSpPr txBox="1"/>
          <p:nvPr/>
        </p:nvSpPr>
        <p:spPr>
          <a:xfrm>
            <a:off x="5131918" y="3620414"/>
            <a:ext cx="393192"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a:t>
            </a:r>
            <a:endParaRPr lang="en-US" sz="2400" dirty="0"/>
          </a:p>
        </p:txBody>
      </p:sp>
      <p:sp>
        <p:nvSpPr>
          <p:cNvPr id="32" name="Shape 28"/>
          <p:cNvSpPr/>
          <p:nvPr/>
        </p:nvSpPr>
        <p:spPr>
          <a:xfrm>
            <a:off x="2115922" y="3556406"/>
            <a:ext cx="914" cy="76200"/>
          </a:xfrm>
          <a:prstGeom prst="line">
            <a:avLst/>
          </a:prstGeom>
          <a:noFill/>
          <a:ln w="15875">
            <a:solidFill>
              <a:srgbClr val="7AB648"/>
            </a:solidFill>
            <a:prstDash val="solid"/>
          </a:ln>
        </p:spPr>
      </p:sp>
      <p:sp>
        <p:nvSpPr>
          <p:cNvPr id="33" name="Shape 29"/>
          <p:cNvSpPr/>
          <p:nvPr/>
        </p:nvSpPr>
        <p:spPr>
          <a:xfrm>
            <a:off x="1741532" y="3309518"/>
            <a:ext cx="748779" cy="246888"/>
          </a:xfrm>
          <a:prstGeom prst="roundRect">
            <a:avLst>
              <a:gd name="adj" fmla="val 14815"/>
            </a:avLst>
          </a:prstGeom>
          <a:solidFill>
            <a:srgbClr val="7AB648"/>
          </a:solidFill>
          <a:ln w="12700">
            <a:solidFill>
              <a:srgbClr val="FFFFFF">
                <a:alpha val="0"/>
              </a:srgbClr>
            </a:solidFill>
            <a:prstDash val="solid"/>
          </a:ln>
        </p:spPr>
      </p:sp>
      <p:sp>
        <p:nvSpPr>
          <p:cNvPr id="34" name="Text 30"/>
          <p:cNvSpPr txBox="1"/>
          <p:nvPr/>
        </p:nvSpPr>
        <p:spPr>
          <a:xfrm>
            <a:off x="1741532" y="3309518"/>
            <a:ext cx="748779"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IK KAN …</a:t>
            </a:r>
            <a:endParaRPr lang="en-US" sz="1100" dirty="0"/>
          </a:p>
        </p:txBody>
      </p:sp>
      <p:sp>
        <p:nvSpPr>
          <p:cNvPr id="35" name="Shape 31"/>
          <p:cNvSpPr/>
          <p:nvPr/>
        </p:nvSpPr>
        <p:spPr>
          <a:xfrm>
            <a:off x="4495800" y="3556406"/>
            <a:ext cx="914" cy="76200"/>
          </a:xfrm>
          <a:prstGeom prst="line">
            <a:avLst/>
          </a:prstGeom>
          <a:noFill/>
          <a:ln w="15875">
            <a:solidFill>
              <a:srgbClr val="7AB648"/>
            </a:solidFill>
            <a:prstDash val="solid"/>
          </a:ln>
        </p:spPr>
      </p:sp>
      <p:sp>
        <p:nvSpPr>
          <p:cNvPr id="36" name="Shape 32"/>
          <p:cNvSpPr/>
          <p:nvPr/>
        </p:nvSpPr>
        <p:spPr>
          <a:xfrm>
            <a:off x="4012025" y="3309518"/>
            <a:ext cx="967550" cy="246888"/>
          </a:xfrm>
          <a:prstGeom prst="roundRect">
            <a:avLst>
              <a:gd name="adj" fmla="val 14815"/>
            </a:avLst>
          </a:prstGeom>
          <a:solidFill>
            <a:srgbClr val="7AB648"/>
          </a:solidFill>
          <a:ln w="12700">
            <a:solidFill>
              <a:srgbClr val="FFFFFF">
                <a:alpha val="0"/>
              </a:srgbClr>
            </a:solidFill>
            <a:prstDash val="solid"/>
          </a:ln>
        </p:spPr>
      </p:sp>
      <p:sp>
        <p:nvSpPr>
          <p:cNvPr id="37" name="Text 33"/>
          <p:cNvSpPr txBox="1"/>
          <p:nvPr/>
        </p:nvSpPr>
        <p:spPr>
          <a:xfrm>
            <a:off x="4012025" y="3309518"/>
            <a:ext cx="967550"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 BEGINNEN</a:t>
            </a:r>
            <a:endParaRPr lang="en-US" sz="1100" dirty="0"/>
          </a:p>
        </p:txBody>
      </p:sp>
      <p:sp>
        <p:nvSpPr>
          <p:cNvPr id="38" name="Shape 34"/>
          <p:cNvSpPr/>
          <p:nvPr/>
        </p:nvSpPr>
        <p:spPr>
          <a:xfrm>
            <a:off x="4344772" y="4687214"/>
            <a:ext cx="767182" cy="371856"/>
          </a:xfrm>
          <a:prstGeom prst="roundRect">
            <a:avLst>
              <a:gd name="adj" fmla="val 12295"/>
            </a:avLst>
          </a:prstGeom>
          <a:solidFill>
            <a:srgbClr val="E6F3DA"/>
          </a:solidFill>
          <a:ln w="12700">
            <a:solidFill>
              <a:srgbClr val="FFFFFF">
                <a:alpha val="0"/>
              </a:srgbClr>
            </a:solidFill>
            <a:prstDash val="solid"/>
          </a:ln>
        </p:spPr>
      </p:sp>
      <p:sp>
        <p:nvSpPr>
          <p:cNvPr id="39" name="Text 35"/>
          <p:cNvSpPr txBox="1"/>
          <p:nvPr/>
        </p:nvSpPr>
        <p:spPr>
          <a:xfrm>
            <a:off x="4344772" y="4675022"/>
            <a:ext cx="767182"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Maar</a:t>
            </a:r>
            <a:endParaRPr lang="en-US" sz="2400" dirty="0"/>
          </a:p>
        </p:txBody>
      </p:sp>
      <p:sp>
        <p:nvSpPr>
          <p:cNvPr id="40" name="Text 36"/>
          <p:cNvSpPr txBox="1"/>
          <p:nvPr/>
        </p:nvSpPr>
        <p:spPr>
          <a:xfrm>
            <a:off x="5199126" y="4675022"/>
            <a:ext cx="4034942"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niet om zeven uur ’s morgens!</a:t>
            </a:r>
            <a:endParaRPr lang="en-US" sz="2400" dirty="0"/>
          </a:p>
        </p:txBody>
      </p:sp>
      <p:sp>
        <p:nvSpPr>
          <p:cNvPr id="41" name="Shape 37"/>
          <p:cNvSpPr/>
          <p:nvPr/>
        </p:nvSpPr>
        <p:spPr>
          <a:xfrm>
            <a:off x="4728362" y="4611014"/>
            <a:ext cx="914" cy="76200"/>
          </a:xfrm>
          <a:prstGeom prst="line">
            <a:avLst/>
          </a:prstGeom>
          <a:noFill/>
          <a:ln w="15875">
            <a:solidFill>
              <a:srgbClr val="7AB648"/>
            </a:solidFill>
            <a:prstDash val="solid"/>
          </a:ln>
        </p:spPr>
      </p:sp>
      <p:sp>
        <p:nvSpPr>
          <p:cNvPr id="42" name="Shape 38"/>
          <p:cNvSpPr/>
          <p:nvPr/>
        </p:nvSpPr>
        <p:spPr>
          <a:xfrm>
            <a:off x="4433602" y="4364126"/>
            <a:ext cx="589521" cy="246888"/>
          </a:xfrm>
          <a:prstGeom prst="roundRect">
            <a:avLst>
              <a:gd name="adj" fmla="val 14815"/>
            </a:avLst>
          </a:prstGeom>
          <a:solidFill>
            <a:srgbClr val="7AB648"/>
          </a:solidFill>
          <a:ln w="12700">
            <a:solidFill>
              <a:srgbClr val="FFFFFF">
                <a:alpha val="0"/>
              </a:srgbClr>
            </a:solidFill>
            <a:prstDash val="solid"/>
          </a:ln>
        </p:spPr>
      </p:sp>
      <p:sp>
        <p:nvSpPr>
          <p:cNvPr id="43" name="Text 39"/>
          <p:cNvSpPr txBox="1"/>
          <p:nvPr/>
        </p:nvSpPr>
        <p:spPr>
          <a:xfrm>
            <a:off x="4433602" y="4364126"/>
            <a:ext cx="589521"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MAAR</a:t>
            </a:r>
            <a:endParaRPr lang="en-US" sz="1100" dirty="0"/>
          </a:p>
        </p:txBody>
      </p:sp>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131</a:t>
            </a:fld>
            <a:endParaRPr lang="en-US"/>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name="Slide 132">
    <p:spTree>
      <p:nvGrpSpPr>
        <p:cNvPr id="1" name=""/>
        <p:cNvGrpSpPr/>
        <p:nvPr/>
      </p:nvGrpSpPr>
      <p:grpSpPr>
        <a:xfrm>
          <a:off x="0" y="0"/>
          <a:ext cx="0" cy="0"/>
          <a:chOff x="0" y="0"/>
          <a:chExt cx="0" cy="0"/>
        </a:xfrm>
      </p:grpSpPr>
      <p:sp>
        <p:nvSpPr>
          <p:cNvPr id="2" name="Text 1"/>
          <p:cNvSpPr/>
          <p:nvPr>
            <p:ph idx="101" type="title" hasCustomPrompt="1"/>
          </p:nvPr>
        </p:nvSpPr>
        <p:spPr>
          <a:xfrm>
            <a:off x="1554480" y="384048"/>
            <a:ext cx="10241280" cy="658368"/>
          </a:xfrm>
          <a:prstGeom prst="rect">
            <a:avLst/>
          </a:prstGeom>
          <a:noFill/>
          <a:ln/>
        </p:spPr>
        <p:txBody>
          <a:bodyPr wrap="square" lIns="0" tIns="0" rIns="0" bIns="0" rtlCol="0" anchor="ctr"/>
          <a:lstStyle/>
          <a:p>
            <a:pPr algn="ctr" indent="0" marL="0">
              <a:buNone/>
            </a:pPr>
            <a:r>
              <a:rPr lang="en-US" sz="3000" b="1" dirty="0">
                <a:solidFill>
                  <a:srgbClr val="2B2F38"/>
                </a:solidFill>
              </a:rPr>
              <a:t>Gebruik deze afbeelding als inspiratie</a:t>
            </a:r>
            <a:endParaRPr lang="en-US" sz="3000" dirty="0"/>
          </a:p>
        </p:txBody>
      </p:sp>
      <p:sp>
        <p:nvSpPr>
          <p:cNvPr id="4" name="Shape 1"/>
          <p:cNvSpPr/>
          <p:nvPr/>
        </p:nvSpPr>
        <p:spPr>
          <a:xfrm>
            <a:off x="365760" y="365760"/>
            <a:ext cx="868680" cy="5989320"/>
          </a:xfrm>
          <a:prstGeom prst="roundRect">
            <a:avLst>
              <a:gd name="adj" fmla="val 12632"/>
            </a:avLst>
          </a:prstGeom>
          <a:solidFill>
            <a:srgbClr val="F4E8F6"/>
          </a:solidFill>
          <a:ln w="28575">
            <a:solidFill>
              <a:srgbClr val="B57FCB"/>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7E4C97"/>
                </a:solidFill>
                <a:latin typeface="Calibri" pitchFamily="34" charset="0"/>
                <a:ea typeface="Calibri" pitchFamily="34" charset="-122"/>
                <a:cs typeface="Calibri" pitchFamily="34" charset="-120"/>
              </a:rPr>
              <a:t>A1 · Situations</a:t>
            </a:r>
            <a:endParaRPr lang="en-US" sz="3800" dirty="0"/>
          </a:p>
        </p:txBody>
      </p:sp>
      <p:sp>
        <p:nvSpPr>
          <p:cNvPr id="6" name="Text 3"/>
          <p:cNvSpPr txBox="1"/>
          <p:nvPr/>
        </p:nvSpPr>
        <p:spPr>
          <a:xfrm>
            <a:off x="1554480" y="1024128"/>
            <a:ext cx="10241280" cy="365760"/>
          </a:xfrm>
          <a:prstGeom prst="rect">
            <a:avLst/>
          </a:prstGeom>
          <a:noFill/>
          <a:ln/>
        </p:spPr>
        <p:txBody>
          <a:bodyPr wrap="square" lIns="0" tIns="0" rIns="0" bIns="0" rtlCol="0" anchor="ctr"/>
          <a:lstStyle/>
          <a:p>
            <a:pPr algn="ctr" indent="0" marL="0">
              <a:buNone/>
            </a:pPr>
            <a:r>
              <a:rPr lang="en-US" sz="1500" b="1" dirty="0">
                <a:solidFill>
                  <a:srgbClr val="7E4C97"/>
                </a:solidFill>
                <a:latin typeface="Calibri" pitchFamily="34" charset="0"/>
                <a:ea typeface="Calibri" pitchFamily="34" charset="-122"/>
                <a:cs typeface="Calibri" pitchFamily="34" charset="-120"/>
              </a:rPr>
              <a:t>42 · Nieuw op het werk</a:t>
            </a:r>
            <a:r>
              <a:rPr lang="en-US" sz="1500" i="1" dirty="0">
                <a:solidFill>
                  <a:srgbClr val="6B7280"/>
                </a:solidFill>
                <a:latin typeface="Calibri" pitchFamily="34" charset="0"/>
                <a:ea typeface="Calibri" pitchFamily="34" charset="-122"/>
                <a:cs typeface="Calibri" pitchFamily="34" charset="-120"/>
              </a:rPr>
              <a:t>   Nouveau au travail</a:t>
            </a:r>
            <a:r>
              <a:rPr lang="en-US" sz="1200" dirty="0">
                <a:solidFill>
                  <a:srgbClr val="9AA3B2"/>
                </a:solidFill>
                <a:latin typeface="Calibri" pitchFamily="34" charset="0"/>
                <a:ea typeface="Calibri" pitchFamily="34" charset="-122"/>
                <a:cs typeface="Calibri" pitchFamily="34" charset="-120"/>
              </a:rPr>
              <a:t>   ·   syllabus fiche 7 · p. 98</a:t>
            </a:r>
            <a:endParaRPr lang="en-US" sz="1500" dirty="0"/>
          </a:p>
        </p:txBody>
      </p:sp>
      <p:sp>
        <p:nvSpPr>
          <p:cNvPr id="7" name="Shape 4"/>
          <p:cNvSpPr/>
          <p:nvPr/>
        </p:nvSpPr>
        <p:spPr>
          <a:xfrm>
            <a:off x="1596085" y="1504645"/>
            <a:ext cx="4534510" cy="2905735"/>
          </a:xfrm>
          <a:prstGeom prst="roundRect">
            <a:avLst>
              <a:gd name="adj" fmla="val 1259"/>
            </a:avLst>
          </a:prstGeom>
          <a:solidFill>
            <a:srgbClr val="FFFFFF"/>
          </a:solidFill>
          <a:ln w="9525">
            <a:solidFill>
              <a:srgbClr val="E3E7EE"/>
            </a:solidFill>
            <a:prstDash val="solid"/>
          </a:ln>
          <a:effectLst>
            <a:outerShdw sx="100000" sy="100000" kx="0" ky="0" algn="bl" rotWithShape="0" blurRad="127000" dist="50800" dir="5400000">
              <a:srgbClr val="1B2430">
                <a:alpha val="25000"/>
              </a:srgbClr>
            </a:outerShdw>
          </a:effectLst>
        </p:spPr>
      </p:sp>
      <p:pic>
        <p:nvPicPr>
          <p:cNvPr id="8" name="Image 0" descr="/home/user/talenleren/neerlandais1/generateur/img/vijfzinnen/a1_nieuw_s.jpg">    </p:cNvPr>
          <p:cNvPicPr>
            <a:picLocks noChangeAspect="1"/>
          </p:cNvPicPr>
          <p:nvPr/>
        </p:nvPicPr>
        <p:blipFill>
          <a:blip r:embed="rId1"/>
          <a:stretch>
            <a:fillRect/>
          </a:stretch>
        </p:blipFill>
        <p:spPr>
          <a:xfrm>
            <a:off x="1691640" y="1600200"/>
            <a:ext cx="4343400" cy="2714625"/>
          </a:xfrm>
          <a:prstGeom prst="rect">
            <a:avLst/>
          </a:prstGeom>
        </p:spPr>
      </p:pic>
      <p:sp>
        <p:nvSpPr>
          <p:cNvPr id="9" name="Shape 5"/>
          <p:cNvSpPr/>
          <p:nvPr/>
        </p:nvSpPr>
        <p:spPr>
          <a:xfrm>
            <a:off x="1691640" y="4572000"/>
            <a:ext cx="1600200" cy="365760"/>
          </a:xfrm>
          <a:prstGeom prst="roundRect">
            <a:avLst>
              <a:gd name="adj" fmla="val 50000"/>
            </a:avLst>
          </a:prstGeom>
          <a:solidFill>
            <a:srgbClr val="FDF1E6"/>
          </a:solidFill>
          <a:ln w="12700">
            <a:solidFill>
              <a:srgbClr val="D9822B"/>
            </a:solidFill>
            <a:prstDash val="solid"/>
          </a:ln>
        </p:spPr>
      </p:sp>
      <p:pic>
        <p:nvPicPr>
          <p:cNvPr id="10" name="Image 1" descr="Comments">    </p:cNvPr>
          <p:cNvPicPr>
            <a:picLocks noChangeAspect="1"/>
          </p:cNvPicPr>
          <p:nvPr/>
        </p:nvPicPr>
        <p:blipFill>
          <a:blip r:embed="rId2"/>
          <a:stretch>
            <a:fillRect/>
          </a:stretch>
        </p:blipFill>
        <p:spPr>
          <a:xfrm>
            <a:off x="1819656" y="4654296"/>
            <a:ext cx="201168" cy="201168"/>
          </a:xfrm>
          <a:prstGeom prst="rect">
            <a:avLst/>
          </a:prstGeom>
        </p:spPr>
      </p:pic>
      <p:sp>
        <p:nvSpPr>
          <p:cNvPr id="11" name="Text 6"/>
          <p:cNvSpPr txBox="1"/>
          <p:nvPr/>
        </p:nvSpPr>
        <p:spPr>
          <a:xfrm>
            <a:off x="2075688" y="4572000"/>
            <a:ext cx="1143000" cy="365760"/>
          </a:xfrm>
          <a:prstGeom prst="rect">
            <a:avLst/>
          </a:prstGeom>
          <a:noFill/>
          <a:ln/>
        </p:spPr>
        <p:txBody>
          <a:bodyPr wrap="square" lIns="0" tIns="0" rIns="0" bIns="0" rtlCol="0" anchor="ctr"/>
          <a:lstStyle/>
          <a:p>
            <a:pPr algn="l" indent="0" marL="0">
              <a:buNone/>
            </a:pPr>
            <a:r>
              <a:rPr lang="en-US" sz="1150" b="1" spc="100" kern="0" dirty="0">
                <a:solidFill>
                  <a:srgbClr val="D9822B"/>
                </a:solidFill>
                <a:latin typeface="Calibri" pitchFamily="34" charset="0"/>
                <a:ea typeface="Calibri" pitchFamily="34" charset="-122"/>
                <a:cs typeface="Calibri" pitchFamily="34" charset="-120"/>
              </a:rPr>
              <a:t>À L’ORAL</a:t>
            </a:r>
            <a:endParaRPr lang="en-US" sz="1150" dirty="0"/>
          </a:p>
        </p:txBody>
      </p:sp>
      <p:sp>
        <p:nvSpPr>
          <p:cNvPr id="12" name="Text 7"/>
          <p:cNvSpPr txBox="1"/>
          <p:nvPr/>
        </p:nvSpPr>
        <p:spPr>
          <a:xfrm>
            <a:off x="3429000" y="4544568"/>
            <a:ext cx="2651760" cy="731520"/>
          </a:xfrm>
          <a:prstGeom prst="rect">
            <a:avLst/>
          </a:prstGeom>
          <a:noFill/>
          <a:ln/>
        </p:spPr>
        <p:txBody>
          <a:bodyPr wrap="square" lIns="0" tIns="0" rIns="0" bIns="0" rtlCol="0" anchor="t"/>
          <a:lstStyle/>
          <a:p>
            <a:pPr algn="l" indent="0" marL="0">
              <a:buNone/>
            </a:pPr>
            <a:r>
              <a:rPr lang="en-US" sz="1150" i="1" dirty="0">
                <a:solidFill>
                  <a:srgbClr val="6B7280"/>
                </a:solidFill>
                <a:latin typeface="Calibri" pitchFamily="34" charset="0"/>
                <a:ea typeface="Calibri" pitchFamily="34" charset="-122"/>
                <a:cs typeface="Calibri" pitchFamily="34" charset="-120"/>
              </a:rPr>
              <a:t>Premier jour dans l’entreprise. Vous parlez avec un·e collègue.</a:t>
            </a:r>
            <a:endParaRPr lang="en-US" sz="1150" dirty="0"/>
          </a:p>
        </p:txBody>
      </p:sp>
      <p:sp>
        <p:nvSpPr>
          <p:cNvPr id="13" name="Shape 8"/>
          <p:cNvSpPr/>
          <p:nvPr/>
        </p:nvSpPr>
        <p:spPr>
          <a:xfrm>
            <a:off x="6355080" y="1627632"/>
            <a:ext cx="914400" cy="402336"/>
          </a:xfrm>
          <a:prstGeom prst="roundRect">
            <a:avLst>
              <a:gd name="adj" fmla="val 13636"/>
            </a:avLst>
          </a:prstGeom>
          <a:solidFill>
            <a:srgbClr val="5FA873"/>
          </a:solidFill>
          <a:ln w="12700">
            <a:solidFill>
              <a:srgbClr val="FFFFFF">
                <a:alpha val="0"/>
              </a:srgbClr>
            </a:solidFill>
            <a:prstDash val="solid"/>
          </a:ln>
        </p:spPr>
      </p:sp>
      <p:sp>
        <p:nvSpPr>
          <p:cNvPr id="14" name="Text 9"/>
          <p:cNvSpPr txBox="1"/>
          <p:nvPr/>
        </p:nvSpPr>
        <p:spPr>
          <a:xfrm>
            <a:off x="6355080" y="162763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1</a:t>
            </a:r>
            <a:endParaRPr lang="en-US" sz="1600" dirty="0"/>
          </a:p>
        </p:txBody>
      </p:sp>
      <p:sp>
        <p:nvSpPr>
          <p:cNvPr id="15" name="Text 10"/>
          <p:cNvSpPr txBox="1"/>
          <p:nvPr/>
        </p:nvSpPr>
        <p:spPr>
          <a:xfrm>
            <a:off x="7406640" y="1572768"/>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Présentez-vous : </a:t>
            </a:r>
            <a:r>
              <a:rPr lang="en-US" sz="1450" b="1" dirty="0">
                <a:solidFill>
                  <a:srgbClr val="2B2F38"/>
                </a:solidFill>
              </a:rPr>
              <a:t>IK BEN NIEUW HIER</a:t>
            </a:r>
            <a:r>
              <a:rPr lang="en-US" sz="1450" dirty="0">
                <a:solidFill>
                  <a:srgbClr val="2B2F38"/>
                </a:solidFill>
              </a:rPr>
              <a:t>.</a:t>
            </a:r>
            <a:endParaRPr lang="en-US" sz="1450" dirty="0"/>
          </a:p>
        </p:txBody>
      </p:sp>
      <p:sp>
        <p:nvSpPr>
          <p:cNvPr id="16" name="Shape 11"/>
          <p:cNvSpPr/>
          <p:nvPr/>
        </p:nvSpPr>
        <p:spPr>
          <a:xfrm>
            <a:off x="6355080" y="2231136"/>
            <a:ext cx="914400" cy="402336"/>
          </a:xfrm>
          <a:prstGeom prst="roundRect">
            <a:avLst>
              <a:gd name="adj" fmla="val 13636"/>
            </a:avLst>
          </a:prstGeom>
          <a:solidFill>
            <a:srgbClr val="5FA873"/>
          </a:solidFill>
          <a:ln w="12700">
            <a:solidFill>
              <a:srgbClr val="FFFFFF">
                <a:alpha val="0"/>
              </a:srgbClr>
            </a:solidFill>
            <a:prstDash val="solid"/>
          </a:ln>
        </p:spPr>
      </p:sp>
      <p:sp>
        <p:nvSpPr>
          <p:cNvPr id="17" name="Text 12"/>
          <p:cNvSpPr txBox="1"/>
          <p:nvPr/>
        </p:nvSpPr>
        <p:spPr>
          <a:xfrm>
            <a:off x="6355080" y="2231136"/>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2</a:t>
            </a:r>
            <a:endParaRPr lang="en-US" sz="1600" dirty="0"/>
          </a:p>
        </p:txBody>
      </p:sp>
      <p:sp>
        <p:nvSpPr>
          <p:cNvPr id="18" name="Text 13"/>
          <p:cNvSpPr txBox="1"/>
          <p:nvPr/>
        </p:nvSpPr>
        <p:spPr>
          <a:xfrm>
            <a:off x="7406640" y="2176272"/>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Votre service : </a:t>
            </a:r>
            <a:r>
              <a:rPr lang="en-US" sz="1450" b="1" dirty="0">
                <a:solidFill>
                  <a:srgbClr val="2B2F38"/>
                </a:solidFill>
              </a:rPr>
              <a:t>IK WERK OP DE AFDELING</a:t>
            </a:r>
            <a:r>
              <a:rPr lang="en-US" sz="1450" dirty="0">
                <a:solidFill>
                  <a:srgbClr val="2B2F38"/>
                </a:solidFill>
              </a:rPr>
              <a:t> …</a:t>
            </a:r>
            <a:endParaRPr lang="en-US" sz="1450" dirty="0"/>
          </a:p>
        </p:txBody>
      </p:sp>
      <p:sp>
        <p:nvSpPr>
          <p:cNvPr id="19" name="Shape 14"/>
          <p:cNvSpPr/>
          <p:nvPr/>
        </p:nvSpPr>
        <p:spPr>
          <a:xfrm>
            <a:off x="6355080" y="2834640"/>
            <a:ext cx="914400" cy="402336"/>
          </a:xfrm>
          <a:prstGeom prst="roundRect">
            <a:avLst>
              <a:gd name="adj" fmla="val 13636"/>
            </a:avLst>
          </a:prstGeom>
          <a:solidFill>
            <a:srgbClr val="5FA873"/>
          </a:solidFill>
          <a:ln w="12700">
            <a:solidFill>
              <a:srgbClr val="FFFFFF">
                <a:alpha val="0"/>
              </a:srgbClr>
            </a:solidFill>
            <a:prstDash val="solid"/>
          </a:ln>
        </p:spPr>
      </p:sp>
      <p:sp>
        <p:nvSpPr>
          <p:cNvPr id="20" name="Text 15"/>
          <p:cNvSpPr txBox="1"/>
          <p:nvPr/>
        </p:nvSpPr>
        <p:spPr>
          <a:xfrm>
            <a:off x="6355080" y="2834640"/>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3</a:t>
            </a:r>
            <a:endParaRPr lang="en-US" sz="1600" dirty="0"/>
          </a:p>
        </p:txBody>
      </p:sp>
      <p:sp>
        <p:nvSpPr>
          <p:cNvPr id="21" name="Text 16"/>
          <p:cNvSpPr txBox="1"/>
          <p:nvPr/>
        </p:nvSpPr>
        <p:spPr>
          <a:xfrm>
            <a:off x="7406640" y="2779776"/>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Une question : </a:t>
            </a:r>
            <a:r>
              <a:rPr lang="en-US" sz="1450" b="1" dirty="0">
                <a:solidFill>
                  <a:srgbClr val="2B2F38"/>
                </a:solidFill>
              </a:rPr>
              <a:t>WAT DOE JIJ?</a:t>
            </a:r>
            <a:endParaRPr lang="en-US" sz="1450" dirty="0"/>
          </a:p>
        </p:txBody>
      </p:sp>
      <p:sp>
        <p:nvSpPr>
          <p:cNvPr id="22" name="Shape 17"/>
          <p:cNvSpPr/>
          <p:nvPr/>
        </p:nvSpPr>
        <p:spPr>
          <a:xfrm>
            <a:off x="6355080" y="3438144"/>
            <a:ext cx="914400" cy="402336"/>
          </a:xfrm>
          <a:prstGeom prst="roundRect">
            <a:avLst>
              <a:gd name="adj" fmla="val 13636"/>
            </a:avLst>
          </a:prstGeom>
          <a:solidFill>
            <a:srgbClr val="5FA873"/>
          </a:solidFill>
          <a:ln w="12700">
            <a:solidFill>
              <a:srgbClr val="FFFFFF">
                <a:alpha val="0"/>
              </a:srgbClr>
            </a:solidFill>
            <a:prstDash val="solid"/>
          </a:ln>
        </p:spPr>
      </p:sp>
      <p:sp>
        <p:nvSpPr>
          <p:cNvPr id="23" name="Text 18"/>
          <p:cNvSpPr txBox="1"/>
          <p:nvPr/>
        </p:nvSpPr>
        <p:spPr>
          <a:xfrm>
            <a:off x="6355080" y="3438144"/>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4</a:t>
            </a:r>
            <a:endParaRPr lang="en-US" sz="1600" dirty="0"/>
          </a:p>
        </p:txBody>
      </p:sp>
      <p:sp>
        <p:nvSpPr>
          <p:cNvPr id="24" name="Text 19"/>
          <p:cNvSpPr txBox="1"/>
          <p:nvPr/>
        </p:nvSpPr>
        <p:spPr>
          <a:xfrm>
            <a:off x="7406640" y="3383280"/>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Une autre question : </a:t>
            </a:r>
            <a:r>
              <a:rPr lang="en-US" sz="1450" b="1" dirty="0">
                <a:solidFill>
                  <a:srgbClr val="2B2F38"/>
                </a:solidFill>
              </a:rPr>
              <a:t>WIE IS</a:t>
            </a:r>
            <a:r>
              <a:rPr lang="en-US" sz="1450" dirty="0">
                <a:solidFill>
                  <a:srgbClr val="2B2F38"/>
                </a:solidFill>
              </a:rPr>
              <a:t> … ?</a:t>
            </a:r>
            <a:endParaRPr lang="en-US" sz="1450" dirty="0"/>
          </a:p>
        </p:txBody>
      </p:sp>
      <p:sp>
        <p:nvSpPr>
          <p:cNvPr id="25" name="Shape 20"/>
          <p:cNvSpPr/>
          <p:nvPr/>
        </p:nvSpPr>
        <p:spPr>
          <a:xfrm>
            <a:off x="6355080" y="4041648"/>
            <a:ext cx="914400" cy="402336"/>
          </a:xfrm>
          <a:prstGeom prst="roundRect">
            <a:avLst>
              <a:gd name="adj" fmla="val 13636"/>
            </a:avLst>
          </a:prstGeom>
          <a:solidFill>
            <a:srgbClr val="5FA873"/>
          </a:solidFill>
          <a:ln w="12700">
            <a:solidFill>
              <a:srgbClr val="FFFFFF">
                <a:alpha val="0"/>
              </a:srgbClr>
            </a:solidFill>
            <a:prstDash val="solid"/>
          </a:ln>
        </p:spPr>
      </p:sp>
      <p:sp>
        <p:nvSpPr>
          <p:cNvPr id="26" name="Text 21"/>
          <p:cNvSpPr txBox="1"/>
          <p:nvPr/>
        </p:nvSpPr>
        <p:spPr>
          <a:xfrm>
            <a:off x="6355080" y="4041648"/>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5</a:t>
            </a:r>
            <a:endParaRPr lang="en-US" sz="1600" dirty="0"/>
          </a:p>
        </p:txBody>
      </p:sp>
      <p:sp>
        <p:nvSpPr>
          <p:cNvPr id="27" name="Text 22"/>
          <p:cNvSpPr txBox="1"/>
          <p:nvPr/>
        </p:nvSpPr>
        <p:spPr>
          <a:xfrm>
            <a:off x="7406640" y="3986784"/>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Une chute amusante !</a:t>
            </a:r>
            <a:endParaRPr lang="en-US" sz="1450" dirty="0"/>
          </a:p>
        </p:txBody>
      </p:sp>
      <p:sp>
        <p:nvSpPr>
          <p:cNvPr id="28" name="Shape 23"/>
          <p:cNvSpPr/>
          <p:nvPr/>
        </p:nvSpPr>
        <p:spPr>
          <a:xfrm>
            <a:off x="3246120" y="5440680"/>
            <a:ext cx="6858000" cy="822960"/>
          </a:xfrm>
          <a:prstGeom prst="roundRect">
            <a:avLst>
              <a:gd name="adj" fmla="val 17778"/>
            </a:avLst>
          </a:prstGeom>
          <a:solidFill>
            <a:srgbClr val="EAF5EC"/>
          </a:solidFill>
          <a:ln w="15875">
            <a:solidFill>
              <a:srgbClr val="5FA873"/>
            </a:solidFill>
            <a:prstDash val="solid"/>
          </a:ln>
        </p:spPr>
      </p:sp>
      <p:pic>
        <p:nvPicPr>
          <p:cNvPr id="29" name="Image 2" descr="UserFriends">    </p:cNvPr>
          <p:cNvPicPr>
            <a:picLocks noChangeAspect="1"/>
          </p:cNvPicPr>
          <p:nvPr/>
        </p:nvPicPr>
        <p:blipFill>
          <a:blip r:embed="rId3"/>
          <a:stretch>
            <a:fillRect/>
          </a:stretch>
        </p:blipFill>
        <p:spPr>
          <a:xfrm>
            <a:off x="3520440" y="5660136"/>
            <a:ext cx="384048" cy="384048"/>
          </a:xfrm>
          <a:prstGeom prst="rect">
            <a:avLst/>
          </a:prstGeom>
        </p:spPr>
      </p:pic>
      <p:sp>
        <p:nvSpPr>
          <p:cNvPr id="30" name="Text 24"/>
          <p:cNvSpPr txBox="1"/>
          <p:nvPr/>
        </p:nvSpPr>
        <p:spPr>
          <a:xfrm>
            <a:off x="4114800" y="5440680"/>
            <a:ext cx="5852160" cy="822960"/>
          </a:xfrm>
          <a:prstGeom prst="rect">
            <a:avLst/>
          </a:prstGeom>
          <a:noFill/>
          <a:ln/>
        </p:spPr>
        <p:txBody>
          <a:bodyPr wrap="square" lIns="0" tIns="0" rIns="0" bIns="0" rtlCol="0" anchor="ctr"/>
          <a:lstStyle/>
          <a:p>
            <a:pPr algn="ctr" indent="0" marL="0">
              <a:buNone/>
            </a:pPr>
            <a:r>
              <a:rPr lang="en-US" sz="1800" b="1" dirty="0">
                <a:solidFill>
                  <a:srgbClr val="2E6B44"/>
                </a:solidFill>
                <a:latin typeface="Calibri" pitchFamily="34" charset="0"/>
                <a:ea typeface="Calibri" pitchFamily="34" charset="-122"/>
                <a:cs typeface="Calibri" pitchFamily="34" charset="-120"/>
              </a:rPr>
              <a:t>Vertel je verhaal aan je partner.</a:t>
            </a:r>
            <a:endParaRPr lang="en-US" sz="1800" dirty="0"/>
          </a:p>
          <a:p>
            <a:pPr algn="ctr" indent="0" marL="0">
              <a:buNone/>
            </a:pPr>
            <a:r>
              <a:rPr lang="en-US" sz="1800" b="1" dirty="0">
                <a:solidFill>
                  <a:srgbClr val="2E6B44"/>
                </a:solidFill>
                <a:latin typeface="Calibri" pitchFamily="34" charset="0"/>
                <a:ea typeface="Calibri" pitchFamily="34" charset="-122"/>
                <a:cs typeface="Calibri" pitchFamily="34" charset="-120"/>
              </a:rPr>
              <a:t>Wat denkt hij/zij daarvan?</a:t>
            </a:r>
            <a:endParaRPr lang="en-US" sz="1800" dirty="0"/>
          </a:p>
        </p:txBody>
      </p:sp>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132</a:t>
            </a:fld>
            <a:endParaRPr lang="en-US"/>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name="Slide 133">
    <p:spTree>
      <p:nvGrpSpPr>
        <p:cNvPr id="1" name=""/>
        <p:cNvGrpSpPr/>
        <p:nvPr/>
      </p:nvGrpSpPr>
      <p:grpSpPr>
        <a:xfrm>
          <a:off x="0" y="0"/>
          <a:ext cx="0" cy="0"/>
          <a:chOff x="0" y="0"/>
          <a:chExt cx="0" cy="0"/>
        </a:xfrm>
      </p:grpSpPr>
      <p:sp>
        <p:nvSpPr>
          <p:cNvPr id="2" name="Text 1"/>
          <p:cNvSpPr/>
          <p:nvPr>
            <p:ph idx="101" type="title" hasCustomPrompt="1"/>
          </p:nvPr>
        </p:nvSpPr>
        <p:spPr>
          <a:xfrm>
            <a:off x="1554480" y="384048"/>
            <a:ext cx="10241280" cy="658368"/>
          </a:xfrm>
          <a:prstGeom prst="rect">
            <a:avLst/>
          </a:prstGeom>
          <a:noFill/>
          <a:ln/>
        </p:spPr>
        <p:txBody>
          <a:bodyPr wrap="square" lIns="0" tIns="0" rIns="0" bIns="0" rtlCol="0" anchor="ctr"/>
          <a:lstStyle/>
          <a:p>
            <a:pPr algn="ctr" indent="0" marL="0">
              <a:buNone/>
            </a:pPr>
            <a:r>
              <a:rPr lang="en-US" sz="3000" b="1" dirty="0">
                <a:solidFill>
                  <a:srgbClr val="2B2F38"/>
                </a:solidFill>
              </a:rPr>
              <a:t>Nieuw op het werk</a:t>
            </a:r>
            <a:endParaRPr lang="en-US" sz="3000" dirty="0"/>
          </a:p>
        </p:txBody>
      </p:sp>
      <p:sp>
        <p:nvSpPr>
          <p:cNvPr id="4" name="Shape 1"/>
          <p:cNvSpPr/>
          <p:nvPr/>
        </p:nvSpPr>
        <p:spPr>
          <a:xfrm>
            <a:off x="365760" y="365760"/>
            <a:ext cx="868680" cy="5989320"/>
          </a:xfrm>
          <a:prstGeom prst="roundRect">
            <a:avLst>
              <a:gd name="adj" fmla="val 12632"/>
            </a:avLst>
          </a:prstGeom>
          <a:solidFill>
            <a:srgbClr val="F4E8F6"/>
          </a:solidFill>
          <a:ln w="28575">
            <a:solidFill>
              <a:srgbClr val="B57FCB"/>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7E4C97"/>
                </a:solidFill>
                <a:latin typeface="Calibri" pitchFamily="34" charset="0"/>
                <a:ea typeface="Calibri" pitchFamily="34" charset="-122"/>
                <a:cs typeface="Calibri" pitchFamily="34" charset="-120"/>
              </a:rPr>
              <a:t>A1 · Situations</a:t>
            </a:r>
            <a:endParaRPr lang="en-US" sz="3800" dirty="0"/>
          </a:p>
        </p:txBody>
      </p:sp>
      <p:sp>
        <p:nvSpPr>
          <p:cNvPr id="6" name="Shape 3"/>
          <p:cNvSpPr/>
          <p:nvPr/>
        </p:nvSpPr>
        <p:spPr>
          <a:xfrm>
            <a:off x="2519172" y="1124712"/>
            <a:ext cx="8311896" cy="5277231"/>
          </a:xfrm>
          <a:prstGeom prst="roundRect">
            <a:avLst>
              <a:gd name="adj" fmla="val 693"/>
            </a:avLst>
          </a:prstGeom>
          <a:solidFill>
            <a:srgbClr val="FFFFFF"/>
          </a:solidFill>
          <a:ln w="9525">
            <a:solidFill>
              <a:srgbClr val="E3E7EE"/>
            </a:solidFill>
            <a:prstDash val="solid"/>
          </a:ln>
          <a:effectLst>
            <a:outerShdw sx="100000" sy="100000" kx="0" ky="0" algn="bl" rotWithShape="0" blurRad="177800" dist="63500" dir="5400000">
              <a:srgbClr val="1B2430">
                <a:alpha val="25000"/>
              </a:srgbClr>
            </a:outerShdw>
          </a:effectLst>
        </p:spPr>
      </p:sp>
      <p:pic>
        <p:nvPicPr>
          <p:cNvPr id="7" name="Image 0" descr="/home/user/talenleren/neerlandais1/generateur/img/vijfzinnen/a1_nieuw.jpg">    </p:cNvPr>
          <p:cNvPicPr>
            <a:picLocks noChangeAspect="1"/>
          </p:cNvPicPr>
          <p:nvPr/>
        </p:nvPicPr>
        <p:blipFill>
          <a:blip r:embed="rId1"/>
          <a:stretch>
            <a:fillRect/>
          </a:stretch>
        </p:blipFill>
        <p:spPr>
          <a:xfrm>
            <a:off x="2628900" y="1234440"/>
            <a:ext cx="8092440" cy="5057775"/>
          </a:xfrm>
          <a:prstGeom prst="rect">
            <a:avLst/>
          </a:prstGeom>
        </p:spPr>
      </p:pic>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133</a:t>
            </a:fld>
            <a:endParaRPr lang="en-US"/>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name="Slide 134">
    <p:spTree>
      <p:nvGrpSpPr>
        <p:cNvPr id="1" name=""/>
        <p:cNvGrpSpPr/>
        <p:nvPr/>
      </p:nvGrpSpPr>
      <p:grpSpPr>
        <a:xfrm>
          <a:off x="0" y="0"/>
          <a:ext cx="0" cy="0"/>
          <a:chOff x="0" y="0"/>
          <a:chExt cx="0" cy="0"/>
        </a:xfrm>
      </p:grpSpPr>
      <p:sp>
        <p:nvSpPr>
          <p:cNvPr id="2" name="Text 1"/>
          <p:cNvSpPr/>
          <p:nvPr>
            <p:ph idx="101" type="title" hasCustomPrompt="1"/>
          </p:nvPr>
        </p:nvSpPr>
        <p:spPr>
          <a:xfrm>
            <a:off x="1691640" y="347472"/>
            <a:ext cx="8138160" cy="914400"/>
          </a:xfrm>
          <a:prstGeom prst="rect">
            <a:avLst/>
          </a:prstGeom>
          <a:noFill/>
          <a:ln/>
        </p:spPr>
        <p:txBody>
          <a:bodyPr wrap="square" lIns="0" tIns="0" rIns="0" bIns="0" rtlCol="0" anchor="ctr"/>
          <a:lstStyle/>
          <a:p>
            <a:pPr algn="l" indent="0" marL="0">
              <a:buNone/>
            </a:pPr>
            <a:r>
              <a:rPr lang="en-US" sz="2400" b="1" dirty="0">
                <a:solidFill>
                  <a:srgbClr val="2B2F38"/>
                </a:solidFill>
              </a:rPr>
              <a:t>Hier is een voorbeeld van wat je had kunnen denken en zeggen…</a:t>
            </a:r>
            <a:endParaRPr lang="en-US" sz="2400" dirty="0"/>
          </a:p>
        </p:txBody>
      </p:sp>
      <p:sp>
        <p:nvSpPr>
          <p:cNvPr id="4" name="Shape 1"/>
          <p:cNvSpPr/>
          <p:nvPr/>
        </p:nvSpPr>
        <p:spPr>
          <a:xfrm>
            <a:off x="365760" y="365760"/>
            <a:ext cx="868680" cy="5989320"/>
          </a:xfrm>
          <a:prstGeom prst="roundRect">
            <a:avLst>
              <a:gd name="adj" fmla="val 12632"/>
            </a:avLst>
          </a:prstGeom>
          <a:solidFill>
            <a:srgbClr val="F4E8F6"/>
          </a:solidFill>
          <a:ln w="28575">
            <a:solidFill>
              <a:srgbClr val="B57FCB"/>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7E4C97"/>
                </a:solidFill>
                <a:latin typeface="Calibri" pitchFamily="34" charset="0"/>
                <a:ea typeface="Calibri" pitchFamily="34" charset="-122"/>
                <a:cs typeface="Calibri" pitchFamily="34" charset="-120"/>
              </a:rPr>
              <a:t>A1 · Situations</a:t>
            </a:r>
            <a:endParaRPr lang="en-US" sz="3800" dirty="0"/>
          </a:p>
        </p:txBody>
      </p:sp>
      <p:sp>
        <p:nvSpPr>
          <p:cNvPr id="6" name="Shape 3"/>
          <p:cNvSpPr/>
          <p:nvPr/>
        </p:nvSpPr>
        <p:spPr>
          <a:xfrm>
            <a:off x="10058400" y="246888"/>
            <a:ext cx="1691640" cy="1091565"/>
          </a:xfrm>
          <a:prstGeom prst="roundRect">
            <a:avLst>
              <a:gd name="adj" fmla="val 3351"/>
            </a:avLst>
          </a:prstGeom>
          <a:solidFill>
            <a:srgbClr val="FFFFFF"/>
          </a:solidFill>
          <a:ln w="9525">
            <a:solidFill>
              <a:srgbClr val="E3E7EE"/>
            </a:solidFill>
            <a:prstDash val="solid"/>
          </a:ln>
          <a:effectLst>
            <a:outerShdw sx="100000" sy="100000" kx="0" ky="0" algn="bl" rotWithShape="0" blurRad="76200" dist="25400" dir="5400000">
              <a:srgbClr val="1B2430">
                <a:alpha val="25000"/>
              </a:srgbClr>
            </a:outerShdw>
          </a:effectLst>
        </p:spPr>
      </p:sp>
      <p:pic>
        <p:nvPicPr>
          <p:cNvPr id="7" name="Image 0" descr="/home/user/talenleren/neerlandais1/generateur/img/vijfzinnen/a1_nieuw_s.jpg">    </p:cNvPr>
          <p:cNvPicPr>
            <a:picLocks noChangeAspect="1"/>
          </p:cNvPicPr>
          <p:nvPr/>
        </p:nvPicPr>
        <p:blipFill>
          <a:blip r:embed="rId1"/>
          <a:stretch>
            <a:fillRect/>
          </a:stretch>
        </p:blipFill>
        <p:spPr>
          <a:xfrm>
            <a:off x="10104120" y="292608"/>
            <a:ext cx="1600200" cy="1000125"/>
          </a:xfrm>
          <a:prstGeom prst="rect">
            <a:avLst/>
          </a:prstGeom>
        </p:spPr>
      </p:pic>
      <p:sp>
        <p:nvSpPr>
          <p:cNvPr id="8" name="Text 4"/>
          <p:cNvSpPr txBox="1"/>
          <p:nvPr/>
        </p:nvSpPr>
        <p:spPr>
          <a:xfrm>
            <a:off x="1691640" y="2389022"/>
            <a:ext cx="1258824"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 Hallo,</a:t>
            </a:r>
            <a:endParaRPr lang="en-US" sz="2400" dirty="0"/>
          </a:p>
        </p:txBody>
      </p:sp>
      <p:sp>
        <p:nvSpPr>
          <p:cNvPr id="9" name="Shape 5"/>
          <p:cNvSpPr/>
          <p:nvPr/>
        </p:nvSpPr>
        <p:spPr>
          <a:xfrm>
            <a:off x="2854757" y="2401214"/>
            <a:ext cx="2282952" cy="371856"/>
          </a:xfrm>
          <a:prstGeom prst="roundRect">
            <a:avLst>
              <a:gd name="adj" fmla="val 12295"/>
            </a:avLst>
          </a:prstGeom>
          <a:solidFill>
            <a:srgbClr val="E6F3DA"/>
          </a:solidFill>
          <a:ln w="12700">
            <a:solidFill>
              <a:srgbClr val="FFFFFF">
                <a:alpha val="0"/>
              </a:srgbClr>
            </a:solidFill>
            <a:prstDash val="solid"/>
          </a:ln>
        </p:spPr>
      </p:sp>
      <p:sp>
        <p:nvSpPr>
          <p:cNvPr id="10" name="Text 6"/>
          <p:cNvSpPr txBox="1"/>
          <p:nvPr/>
        </p:nvSpPr>
        <p:spPr>
          <a:xfrm>
            <a:off x="2854757" y="2389022"/>
            <a:ext cx="2282952"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ik ben nieuw hier</a:t>
            </a:r>
            <a:endParaRPr lang="en-US" sz="2400" dirty="0"/>
          </a:p>
        </p:txBody>
      </p:sp>
      <p:sp>
        <p:nvSpPr>
          <p:cNvPr id="11" name="Text 7"/>
          <p:cNvSpPr txBox="1"/>
          <p:nvPr/>
        </p:nvSpPr>
        <p:spPr>
          <a:xfrm>
            <a:off x="5137709" y="2389022"/>
            <a:ext cx="1748638"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 Ik ben Lisa.</a:t>
            </a:r>
            <a:endParaRPr lang="en-US" sz="2400" dirty="0"/>
          </a:p>
        </p:txBody>
      </p:sp>
      <p:sp>
        <p:nvSpPr>
          <p:cNvPr id="12" name="Shape 8"/>
          <p:cNvSpPr/>
          <p:nvPr/>
        </p:nvSpPr>
        <p:spPr>
          <a:xfrm>
            <a:off x="6790639" y="2401214"/>
            <a:ext cx="2896210" cy="371856"/>
          </a:xfrm>
          <a:prstGeom prst="roundRect">
            <a:avLst>
              <a:gd name="adj" fmla="val 12295"/>
            </a:avLst>
          </a:prstGeom>
          <a:solidFill>
            <a:srgbClr val="E6F3DA"/>
          </a:solidFill>
          <a:ln w="12700">
            <a:solidFill>
              <a:srgbClr val="FFFFFF">
                <a:alpha val="0"/>
              </a:srgbClr>
            </a:solidFill>
            <a:prstDash val="solid"/>
          </a:ln>
        </p:spPr>
      </p:sp>
      <p:sp>
        <p:nvSpPr>
          <p:cNvPr id="13" name="Text 9"/>
          <p:cNvSpPr txBox="1"/>
          <p:nvPr/>
        </p:nvSpPr>
        <p:spPr>
          <a:xfrm>
            <a:off x="6790639" y="2389022"/>
            <a:ext cx="2896210"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Ik werk op de afdeling</a:t>
            </a:r>
            <a:endParaRPr lang="en-US" sz="2400" dirty="0"/>
          </a:p>
        </p:txBody>
      </p:sp>
      <p:sp>
        <p:nvSpPr>
          <p:cNvPr id="14" name="Text 10"/>
          <p:cNvSpPr txBox="1"/>
          <p:nvPr/>
        </p:nvSpPr>
        <p:spPr>
          <a:xfrm>
            <a:off x="9774022" y="2389022"/>
            <a:ext cx="1521866"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marketing.</a:t>
            </a:r>
            <a:endParaRPr lang="en-US" sz="2400" dirty="0"/>
          </a:p>
        </p:txBody>
      </p:sp>
      <p:sp>
        <p:nvSpPr>
          <p:cNvPr id="15" name="Shape 11"/>
          <p:cNvSpPr/>
          <p:nvPr/>
        </p:nvSpPr>
        <p:spPr>
          <a:xfrm>
            <a:off x="3996233" y="2325014"/>
            <a:ext cx="914" cy="76200"/>
          </a:xfrm>
          <a:prstGeom prst="line">
            <a:avLst/>
          </a:prstGeom>
          <a:noFill/>
          <a:ln w="15875">
            <a:solidFill>
              <a:srgbClr val="7AB648"/>
            </a:solidFill>
            <a:prstDash val="solid"/>
          </a:ln>
        </p:spPr>
      </p:sp>
      <p:sp>
        <p:nvSpPr>
          <p:cNvPr id="16" name="Shape 12"/>
          <p:cNvSpPr/>
          <p:nvPr/>
        </p:nvSpPr>
        <p:spPr>
          <a:xfrm>
            <a:off x="3678841" y="2078126"/>
            <a:ext cx="634784" cy="246888"/>
          </a:xfrm>
          <a:prstGeom prst="roundRect">
            <a:avLst>
              <a:gd name="adj" fmla="val 14815"/>
            </a:avLst>
          </a:prstGeom>
          <a:solidFill>
            <a:srgbClr val="7AB648"/>
          </a:solidFill>
          <a:ln w="12700">
            <a:solidFill>
              <a:srgbClr val="FFFFFF">
                <a:alpha val="0"/>
              </a:srgbClr>
            </a:solidFill>
            <a:prstDash val="solid"/>
          </a:ln>
        </p:spPr>
      </p:sp>
      <p:sp>
        <p:nvSpPr>
          <p:cNvPr id="17" name="Text 13"/>
          <p:cNvSpPr txBox="1"/>
          <p:nvPr/>
        </p:nvSpPr>
        <p:spPr>
          <a:xfrm>
            <a:off x="3678841" y="2078126"/>
            <a:ext cx="634784"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NIEUW</a:t>
            </a:r>
            <a:endParaRPr lang="en-US" sz="1100" dirty="0"/>
          </a:p>
        </p:txBody>
      </p:sp>
      <p:sp>
        <p:nvSpPr>
          <p:cNvPr id="18" name="Shape 14"/>
          <p:cNvSpPr/>
          <p:nvPr/>
        </p:nvSpPr>
        <p:spPr>
          <a:xfrm>
            <a:off x="8238744" y="2325014"/>
            <a:ext cx="914" cy="76200"/>
          </a:xfrm>
          <a:prstGeom prst="line">
            <a:avLst/>
          </a:prstGeom>
          <a:noFill/>
          <a:ln w="15875">
            <a:solidFill>
              <a:srgbClr val="7AB648"/>
            </a:solidFill>
            <a:prstDash val="solid"/>
          </a:ln>
        </p:spPr>
      </p:sp>
      <p:sp>
        <p:nvSpPr>
          <p:cNvPr id="19" name="Shape 15"/>
          <p:cNvSpPr/>
          <p:nvPr/>
        </p:nvSpPr>
        <p:spPr>
          <a:xfrm>
            <a:off x="7837811" y="2078126"/>
            <a:ext cx="801865" cy="246888"/>
          </a:xfrm>
          <a:prstGeom prst="roundRect">
            <a:avLst>
              <a:gd name="adj" fmla="val 14815"/>
            </a:avLst>
          </a:prstGeom>
          <a:solidFill>
            <a:srgbClr val="7AB648"/>
          </a:solidFill>
          <a:ln w="12700">
            <a:solidFill>
              <a:srgbClr val="FFFFFF">
                <a:alpha val="0"/>
              </a:srgbClr>
            </a:solidFill>
            <a:prstDash val="solid"/>
          </a:ln>
        </p:spPr>
      </p:sp>
      <p:sp>
        <p:nvSpPr>
          <p:cNvPr id="20" name="Text 16"/>
          <p:cNvSpPr txBox="1"/>
          <p:nvPr/>
        </p:nvSpPr>
        <p:spPr>
          <a:xfrm>
            <a:off x="7837811" y="2078126"/>
            <a:ext cx="801865"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AFDELING</a:t>
            </a:r>
            <a:endParaRPr lang="en-US" sz="1100" dirty="0"/>
          </a:p>
        </p:txBody>
      </p:sp>
      <p:sp>
        <p:nvSpPr>
          <p:cNvPr id="21" name="Text 17"/>
          <p:cNvSpPr txBox="1"/>
          <p:nvPr/>
        </p:nvSpPr>
        <p:spPr>
          <a:xfrm>
            <a:off x="1691640" y="3132734"/>
            <a:ext cx="3886200"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 Welkom, Lisa! Ik ben Tom.</a:t>
            </a:r>
            <a:endParaRPr lang="en-US" sz="2400" dirty="0"/>
          </a:p>
        </p:txBody>
      </p:sp>
      <p:sp>
        <p:nvSpPr>
          <p:cNvPr id="22" name="Text 18"/>
          <p:cNvSpPr txBox="1"/>
          <p:nvPr/>
        </p:nvSpPr>
        <p:spPr>
          <a:xfrm>
            <a:off x="1691640" y="4187342"/>
            <a:ext cx="458724"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a:t>
            </a:r>
            <a:endParaRPr lang="en-US" sz="2400" dirty="0"/>
          </a:p>
        </p:txBody>
      </p:sp>
      <p:sp>
        <p:nvSpPr>
          <p:cNvPr id="23" name="Shape 19"/>
          <p:cNvSpPr/>
          <p:nvPr/>
        </p:nvSpPr>
        <p:spPr>
          <a:xfrm>
            <a:off x="2054657" y="4199534"/>
            <a:ext cx="1473098" cy="371856"/>
          </a:xfrm>
          <a:prstGeom prst="roundRect">
            <a:avLst>
              <a:gd name="adj" fmla="val 12295"/>
            </a:avLst>
          </a:prstGeom>
          <a:solidFill>
            <a:srgbClr val="E6F3DA"/>
          </a:solidFill>
          <a:ln w="12700">
            <a:solidFill>
              <a:srgbClr val="FFFFFF">
                <a:alpha val="0"/>
              </a:srgbClr>
            </a:solidFill>
            <a:prstDash val="solid"/>
          </a:ln>
        </p:spPr>
      </p:sp>
      <p:sp>
        <p:nvSpPr>
          <p:cNvPr id="24" name="Text 20"/>
          <p:cNvSpPr txBox="1"/>
          <p:nvPr/>
        </p:nvSpPr>
        <p:spPr>
          <a:xfrm>
            <a:off x="2054657" y="4187342"/>
            <a:ext cx="1473098"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Wat doe jij</a:t>
            </a:r>
            <a:endParaRPr lang="en-US" sz="2400" dirty="0"/>
          </a:p>
        </p:txBody>
      </p:sp>
      <p:sp>
        <p:nvSpPr>
          <p:cNvPr id="25" name="Text 21"/>
          <p:cNvSpPr txBox="1"/>
          <p:nvPr/>
        </p:nvSpPr>
        <p:spPr>
          <a:xfrm>
            <a:off x="3527755" y="4187342"/>
            <a:ext cx="4935322"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 Tom? — Ik werk in de administratie.</a:t>
            </a:r>
            <a:endParaRPr lang="en-US" sz="2400" dirty="0"/>
          </a:p>
        </p:txBody>
      </p:sp>
      <p:sp>
        <p:nvSpPr>
          <p:cNvPr id="26" name="Shape 22"/>
          <p:cNvSpPr/>
          <p:nvPr/>
        </p:nvSpPr>
        <p:spPr>
          <a:xfrm>
            <a:off x="2791206" y="4123334"/>
            <a:ext cx="914" cy="76200"/>
          </a:xfrm>
          <a:prstGeom prst="line">
            <a:avLst/>
          </a:prstGeom>
          <a:noFill/>
          <a:ln w="15875">
            <a:solidFill>
              <a:srgbClr val="7AB648"/>
            </a:solidFill>
            <a:prstDash val="solid"/>
          </a:ln>
        </p:spPr>
      </p:sp>
      <p:sp>
        <p:nvSpPr>
          <p:cNvPr id="27" name="Shape 23"/>
          <p:cNvSpPr/>
          <p:nvPr/>
        </p:nvSpPr>
        <p:spPr>
          <a:xfrm>
            <a:off x="2287175" y="3876446"/>
            <a:ext cx="1008063" cy="246888"/>
          </a:xfrm>
          <a:prstGeom prst="roundRect">
            <a:avLst>
              <a:gd name="adj" fmla="val 14815"/>
            </a:avLst>
          </a:prstGeom>
          <a:solidFill>
            <a:srgbClr val="7AB648"/>
          </a:solidFill>
          <a:ln w="12700">
            <a:solidFill>
              <a:srgbClr val="FFFFFF">
                <a:alpha val="0"/>
              </a:srgbClr>
            </a:solidFill>
            <a:prstDash val="solid"/>
          </a:ln>
        </p:spPr>
      </p:sp>
      <p:sp>
        <p:nvSpPr>
          <p:cNvPr id="28" name="Text 24"/>
          <p:cNvSpPr txBox="1"/>
          <p:nvPr/>
        </p:nvSpPr>
        <p:spPr>
          <a:xfrm>
            <a:off x="2287175" y="3876446"/>
            <a:ext cx="1008063"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WAT DOE JIJ?</a:t>
            </a:r>
            <a:endParaRPr lang="en-US" sz="1100" dirty="0"/>
          </a:p>
        </p:txBody>
      </p:sp>
      <p:sp>
        <p:nvSpPr>
          <p:cNvPr id="29" name="Text 25"/>
          <p:cNvSpPr txBox="1"/>
          <p:nvPr/>
        </p:nvSpPr>
        <p:spPr>
          <a:xfrm>
            <a:off x="1691640" y="5241950"/>
            <a:ext cx="854659"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 En</a:t>
            </a:r>
            <a:endParaRPr lang="en-US" sz="2400" dirty="0"/>
          </a:p>
        </p:txBody>
      </p:sp>
      <p:sp>
        <p:nvSpPr>
          <p:cNvPr id="30" name="Shape 26"/>
          <p:cNvSpPr/>
          <p:nvPr/>
        </p:nvSpPr>
        <p:spPr>
          <a:xfrm>
            <a:off x="2450592" y="5254142"/>
            <a:ext cx="812292" cy="371856"/>
          </a:xfrm>
          <a:prstGeom prst="roundRect">
            <a:avLst>
              <a:gd name="adj" fmla="val 12295"/>
            </a:avLst>
          </a:prstGeom>
          <a:solidFill>
            <a:srgbClr val="E6F3DA"/>
          </a:solidFill>
          <a:ln w="12700">
            <a:solidFill>
              <a:srgbClr val="FFFFFF">
                <a:alpha val="0"/>
              </a:srgbClr>
            </a:solidFill>
            <a:prstDash val="solid"/>
          </a:ln>
        </p:spPr>
      </p:sp>
      <p:sp>
        <p:nvSpPr>
          <p:cNvPr id="31" name="Text 27"/>
          <p:cNvSpPr txBox="1"/>
          <p:nvPr/>
        </p:nvSpPr>
        <p:spPr>
          <a:xfrm>
            <a:off x="2450592" y="5241950"/>
            <a:ext cx="812292"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wie is</a:t>
            </a:r>
            <a:endParaRPr lang="en-US" sz="2400" dirty="0"/>
          </a:p>
        </p:txBody>
      </p:sp>
      <p:sp>
        <p:nvSpPr>
          <p:cNvPr id="32" name="Text 28"/>
          <p:cNvSpPr txBox="1"/>
          <p:nvPr/>
        </p:nvSpPr>
        <p:spPr>
          <a:xfrm>
            <a:off x="3350057" y="5241950"/>
            <a:ext cx="2183282"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de manager? —</a:t>
            </a:r>
            <a:endParaRPr lang="en-US" sz="2400" dirty="0"/>
          </a:p>
        </p:txBody>
      </p:sp>
      <p:sp>
        <p:nvSpPr>
          <p:cNvPr id="33" name="Shape 29"/>
          <p:cNvSpPr/>
          <p:nvPr/>
        </p:nvSpPr>
        <p:spPr>
          <a:xfrm>
            <a:off x="5437632" y="5254142"/>
            <a:ext cx="418490" cy="371856"/>
          </a:xfrm>
          <a:prstGeom prst="roundRect">
            <a:avLst>
              <a:gd name="adj" fmla="val 12295"/>
            </a:avLst>
          </a:prstGeom>
          <a:solidFill>
            <a:srgbClr val="E6F3DA"/>
          </a:solidFill>
          <a:ln w="12700">
            <a:solidFill>
              <a:srgbClr val="FFFFFF">
                <a:alpha val="0"/>
              </a:srgbClr>
            </a:solidFill>
            <a:prstDash val="solid"/>
          </a:ln>
        </p:spPr>
      </p:sp>
      <p:sp>
        <p:nvSpPr>
          <p:cNvPr id="34" name="Text 30"/>
          <p:cNvSpPr txBox="1"/>
          <p:nvPr/>
        </p:nvSpPr>
        <p:spPr>
          <a:xfrm>
            <a:off x="5437632" y="5241950"/>
            <a:ext cx="418490"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Ik!</a:t>
            </a:r>
            <a:endParaRPr lang="en-US" sz="2400" dirty="0"/>
          </a:p>
        </p:txBody>
      </p:sp>
      <p:sp>
        <p:nvSpPr>
          <p:cNvPr id="35" name="Shape 31"/>
          <p:cNvSpPr/>
          <p:nvPr/>
        </p:nvSpPr>
        <p:spPr>
          <a:xfrm>
            <a:off x="2856738" y="5177942"/>
            <a:ext cx="914" cy="76200"/>
          </a:xfrm>
          <a:prstGeom prst="line">
            <a:avLst/>
          </a:prstGeom>
          <a:noFill/>
          <a:ln w="15875">
            <a:solidFill>
              <a:srgbClr val="7AB648"/>
            </a:solidFill>
            <a:prstDash val="solid"/>
          </a:ln>
        </p:spPr>
      </p:sp>
      <p:sp>
        <p:nvSpPr>
          <p:cNvPr id="36" name="Shape 32"/>
          <p:cNvSpPr/>
          <p:nvPr/>
        </p:nvSpPr>
        <p:spPr>
          <a:xfrm>
            <a:off x="2563514" y="4931054"/>
            <a:ext cx="586448" cy="246888"/>
          </a:xfrm>
          <a:prstGeom prst="roundRect">
            <a:avLst>
              <a:gd name="adj" fmla="val 14815"/>
            </a:avLst>
          </a:prstGeom>
          <a:solidFill>
            <a:srgbClr val="7AB648"/>
          </a:solidFill>
          <a:ln w="12700">
            <a:solidFill>
              <a:srgbClr val="FFFFFF">
                <a:alpha val="0"/>
              </a:srgbClr>
            </a:solidFill>
            <a:prstDash val="solid"/>
          </a:ln>
        </p:spPr>
      </p:sp>
      <p:sp>
        <p:nvSpPr>
          <p:cNvPr id="37" name="Text 33"/>
          <p:cNvSpPr txBox="1"/>
          <p:nvPr/>
        </p:nvSpPr>
        <p:spPr>
          <a:xfrm>
            <a:off x="2563514" y="4931054"/>
            <a:ext cx="586448"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WIE IS</a:t>
            </a:r>
            <a:endParaRPr lang="en-US" sz="1100" dirty="0"/>
          </a:p>
        </p:txBody>
      </p:sp>
      <p:sp>
        <p:nvSpPr>
          <p:cNvPr id="38" name="Shape 34"/>
          <p:cNvSpPr/>
          <p:nvPr/>
        </p:nvSpPr>
        <p:spPr>
          <a:xfrm>
            <a:off x="5646877" y="5177942"/>
            <a:ext cx="914" cy="76200"/>
          </a:xfrm>
          <a:prstGeom prst="line">
            <a:avLst/>
          </a:prstGeom>
          <a:noFill/>
          <a:ln w="15875">
            <a:solidFill>
              <a:srgbClr val="7AB648"/>
            </a:solidFill>
            <a:prstDash val="solid"/>
          </a:ln>
        </p:spPr>
      </p:sp>
      <p:sp>
        <p:nvSpPr>
          <p:cNvPr id="39" name="Shape 35"/>
          <p:cNvSpPr/>
          <p:nvPr/>
        </p:nvSpPr>
        <p:spPr>
          <a:xfrm>
            <a:off x="5341849" y="4931054"/>
            <a:ext cx="610057" cy="246888"/>
          </a:xfrm>
          <a:prstGeom prst="roundRect">
            <a:avLst>
              <a:gd name="adj" fmla="val 14815"/>
            </a:avLst>
          </a:prstGeom>
          <a:solidFill>
            <a:srgbClr val="7AB648"/>
          </a:solidFill>
          <a:ln w="12700">
            <a:solidFill>
              <a:srgbClr val="FFFFFF">
                <a:alpha val="0"/>
              </a:srgbClr>
            </a:solidFill>
            <a:prstDash val="solid"/>
          </a:ln>
        </p:spPr>
      </p:sp>
      <p:sp>
        <p:nvSpPr>
          <p:cNvPr id="40" name="Text 36"/>
          <p:cNvSpPr txBox="1"/>
          <p:nvPr/>
        </p:nvSpPr>
        <p:spPr>
          <a:xfrm>
            <a:off x="5341849" y="4931054"/>
            <a:ext cx="610057"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CHUTE</a:t>
            </a:r>
            <a:endParaRPr lang="en-US" sz="1100" dirty="0"/>
          </a:p>
        </p:txBody>
      </p:sp>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134</a:t>
            </a:fld>
            <a:endParaRPr lang="en-US"/>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name="Slide 135">
    <p:spTree>
      <p:nvGrpSpPr>
        <p:cNvPr id="1" name=""/>
        <p:cNvGrpSpPr/>
        <p:nvPr/>
      </p:nvGrpSpPr>
      <p:grpSpPr>
        <a:xfrm>
          <a:off x="0" y="0"/>
          <a:ext cx="0" cy="0"/>
          <a:chOff x="0" y="0"/>
          <a:chExt cx="0" cy="0"/>
        </a:xfrm>
      </p:grpSpPr>
      <p:sp>
        <p:nvSpPr>
          <p:cNvPr id="2" name="Text 1"/>
          <p:cNvSpPr/>
          <p:nvPr>
            <p:ph idx="101" type="title" hasCustomPrompt="1"/>
          </p:nvPr>
        </p:nvSpPr>
        <p:spPr>
          <a:xfrm>
            <a:off x="1554480" y="384048"/>
            <a:ext cx="10241280" cy="658368"/>
          </a:xfrm>
          <a:prstGeom prst="rect">
            <a:avLst/>
          </a:prstGeom>
          <a:noFill/>
          <a:ln/>
        </p:spPr>
        <p:txBody>
          <a:bodyPr wrap="square" lIns="0" tIns="0" rIns="0" bIns="0" rtlCol="0" anchor="ctr"/>
          <a:lstStyle/>
          <a:p>
            <a:pPr algn="ctr" indent="0" marL="0">
              <a:buNone/>
            </a:pPr>
            <a:r>
              <a:rPr lang="en-US" sz="3000" b="1" dirty="0">
                <a:solidFill>
                  <a:srgbClr val="2B2F38"/>
                </a:solidFill>
              </a:rPr>
              <a:t>Gebruik deze afbeelding als inspiratie</a:t>
            </a:r>
            <a:endParaRPr lang="en-US" sz="3000" dirty="0"/>
          </a:p>
        </p:txBody>
      </p:sp>
      <p:sp>
        <p:nvSpPr>
          <p:cNvPr id="4" name="Shape 1"/>
          <p:cNvSpPr/>
          <p:nvPr/>
        </p:nvSpPr>
        <p:spPr>
          <a:xfrm>
            <a:off x="365760" y="365760"/>
            <a:ext cx="868680" cy="5989320"/>
          </a:xfrm>
          <a:prstGeom prst="roundRect">
            <a:avLst>
              <a:gd name="adj" fmla="val 12632"/>
            </a:avLst>
          </a:prstGeom>
          <a:solidFill>
            <a:srgbClr val="F4E8F6"/>
          </a:solidFill>
          <a:ln w="28575">
            <a:solidFill>
              <a:srgbClr val="B57FCB"/>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7E4C97"/>
                </a:solidFill>
                <a:latin typeface="Calibri" pitchFamily="34" charset="0"/>
                <a:ea typeface="Calibri" pitchFamily="34" charset="-122"/>
                <a:cs typeface="Calibri" pitchFamily="34" charset="-120"/>
              </a:rPr>
              <a:t>A1 · Situations</a:t>
            </a:r>
            <a:endParaRPr lang="en-US" sz="3800" dirty="0"/>
          </a:p>
        </p:txBody>
      </p:sp>
      <p:sp>
        <p:nvSpPr>
          <p:cNvPr id="6" name="Text 3"/>
          <p:cNvSpPr txBox="1"/>
          <p:nvPr/>
        </p:nvSpPr>
        <p:spPr>
          <a:xfrm>
            <a:off x="1554480" y="1024128"/>
            <a:ext cx="10241280" cy="365760"/>
          </a:xfrm>
          <a:prstGeom prst="rect">
            <a:avLst/>
          </a:prstGeom>
          <a:noFill/>
          <a:ln/>
        </p:spPr>
        <p:txBody>
          <a:bodyPr wrap="square" lIns="0" tIns="0" rIns="0" bIns="0" rtlCol="0" anchor="ctr"/>
          <a:lstStyle/>
          <a:p>
            <a:pPr algn="ctr" indent="0" marL="0">
              <a:buNone/>
            </a:pPr>
            <a:r>
              <a:rPr lang="en-US" sz="1500" b="1" dirty="0">
                <a:solidFill>
                  <a:srgbClr val="7E4C97"/>
                </a:solidFill>
                <a:latin typeface="Calibri" pitchFamily="34" charset="0"/>
                <a:ea typeface="Calibri" pitchFamily="34" charset="-122"/>
                <a:cs typeface="Calibri" pitchFamily="34" charset="-120"/>
              </a:rPr>
              <a:t>43 · Hoe voel je je?</a:t>
            </a:r>
            <a:r>
              <a:rPr lang="en-US" sz="1500" i="1" dirty="0">
                <a:solidFill>
                  <a:srgbClr val="6B7280"/>
                </a:solidFill>
                <a:latin typeface="Calibri" pitchFamily="34" charset="0"/>
                <a:ea typeface="Calibri" pitchFamily="34" charset="-122"/>
                <a:cs typeface="Calibri" pitchFamily="34" charset="-120"/>
              </a:rPr>
              <a:t>   Comment te sens-tu ?</a:t>
            </a:r>
            <a:r>
              <a:rPr lang="en-US" sz="1200" dirty="0">
                <a:solidFill>
                  <a:srgbClr val="9AA3B2"/>
                </a:solidFill>
                <a:latin typeface="Calibri" pitchFamily="34" charset="0"/>
                <a:ea typeface="Calibri" pitchFamily="34" charset="-122"/>
                <a:cs typeface="Calibri" pitchFamily="34" charset="-120"/>
              </a:rPr>
              <a:t>   ·   syllabus fiche 8 · p. 99</a:t>
            </a:r>
            <a:endParaRPr lang="en-US" sz="1500" dirty="0"/>
          </a:p>
        </p:txBody>
      </p:sp>
      <p:sp>
        <p:nvSpPr>
          <p:cNvPr id="7" name="Shape 4"/>
          <p:cNvSpPr/>
          <p:nvPr/>
        </p:nvSpPr>
        <p:spPr>
          <a:xfrm>
            <a:off x="1596085" y="1504645"/>
            <a:ext cx="4534510" cy="2905735"/>
          </a:xfrm>
          <a:prstGeom prst="roundRect">
            <a:avLst>
              <a:gd name="adj" fmla="val 1259"/>
            </a:avLst>
          </a:prstGeom>
          <a:solidFill>
            <a:srgbClr val="FFFFFF"/>
          </a:solidFill>
          <a:ln w="9525">
            <a:solidFill>
              <a:srgbClr val="E3E7EE"/>
            </a:solidFill>
            <a:prstDash val="solid"/>
          </a:ln>
          <a:effectLst>
            <a:outerShdw sx="100000" sy="100000" kx="0" ky="0" algn="bl" rotWithShape="0" blurRad="127000" dist="50800" dir="5400000">
              <a:srgbClr val="1B2430">
                <a:alpha val="25000"/>
              </a:srgbClr>
            </a:outerShdw>
          </a:effectLst>
        </p:spPr>
      </p:sp>
      <p:pic>
        <p:nvPicPr>
          <p:cNvPr id="8" name="Image 0" descr="/home/user/talenleren/neerlandais1/generateur/img/vijfzinnen/a1_gevoel_s.jpg">    </p:cNvPr>
          <p:cNvPicPr>
            <a:picLocks noChangeAspect="1"/>
          </p:cNvPicPr>
          <p:nvPr/>
        </p:nvPicPr>
        <p:blipFill>
          <a:blip r:embed="rId1"/>
          <a:stretch>
            <a:fillRect/>
          </a:stretch>
        </p:blipFill>
        <p:spPr>
          <a:xfrm>
            <a:off x="1691640" y="1600200"/>
            <a:ext cx="4343400" cy="2714625"/>
          </a:xfrm>
          <a:prstGeom prst="rect">
            <a:avLst/>
          </a:prstGeom>
        </p:spPr>
      </p:pic>
      <p:sp>
        <p:nvSpPr>
          <p:cNvPr id="9" name="Shape 5"/>
          <p:cNvSpPr/>
          <p:nvPr/>
        </p:nvSpPr>
        <p:spPr>
          <a:xfrm>
            <a:off x="1691640" y="4572000"/>
            <a:ext cx="1600200" cy="365760"/>
          </a:xfrm>
          <a:prstGeom prst="roundRect">
            <a:avLst>
              <a:gd name="adj" fmla="val 50000"/>
            </a:avLst>
          </a:prstGeom>
          <a:solidFill>
            <a:srgbClr val="FDF1E6"/>
          </a:solidFill>
          <a:ln w="12700">
            <a:solidFill>
              <a:srgbClr val="D9822B"/>
            </a:solidFill>
            <a:prstDash val="solid"/>
          </a:ln>
        </p:spPr>
      </p:sp>
      <p:pic>
        <p:nvPicPr>
          <p:cNvPr id="10" name="Image 1" descr="Comments">    </p:cNvPr>
          <p:cNvPicPr>
            <a:picLocks noChangeAspect="1"/>
          </p:cNvPicPr>
          <p:nvPr/>
        </p:nvPicPr>
        <p:blipFill>
          <a:blip r:embed="rId2"/>
          <a:stretch>
            <a:fillRect/>
          </a:stretch>
        </p:blipFill>
        <p:spPr>
          <a:xfrm>
            <a:off x="1819656" y="4654296"/>
            <a:ext cx="201168" cy="201168"/>
          </a:xfrm>
          <a:prstGeom prst="rect">
            <a:avLst/>
          </a:prstGeom>
        </p:spPr>
      </p:pic>
      <p:sp>
        <p:nvSpPr>
          <p:cNvPr id="11" name="Text 6"/>
          <p:cNvSpPr txBox="1"/>
          <p:nvPr/>
        </p:nvSpPr>
        <p:spPr>
          <a:xfrm>
            <a:off x="2075688" y="4572000"/>
            <a:ext cx="1143000" cy="365760"/>
          </a:xfrm>
          <a:prstGeom prst="rect">
            <a:avLst/>
          </a:prstGeom>
          <a:noFill/>
          <a:ln/>
        </p:spPr>
        <p:txBody>
          <a:bodyPr wrap="square" lIns="0" tIns="0" rIns="0" bIns="0" rtlCol="0" anchor="ctr"/>
          <a:lstStyle/>
          <a:p>
            <a:pPr algn="l" indent="0" marL="0">
              <a:buNone/>
            </a:pPr>
            <a:r>
              <a:rPr lang="en-US" sz="1150" b="1" spc="100" kern="0" dirty="0">
                <a:solidFill>
                  <a:srgbClr val="D9822B"/>
                </a:solidFill>
                <a:latin typeface="Calibri" pitchFamily="34" charset="0"/>
                <a:ea typeface="Calibri" pitchFamily="34" charset="-122"/>
                <a:cs typeface="Calibri" pitchFamily="34" charset="-120"/>
              </a:rPr>
              <a:t>À L’ORAL</a:t>
            </a:r>
            <a:endParaRPr lang="en-US" sz="1150" dirty="0"/>
          </a:p>
        </p:txBody>
      </p:sp>
      <p:sp>
        <p:nvSpPr>
          <p:cNvPr id="12" name="Text 7"/>
          <p:cNvSpPr txBox="1"/>
          <p:nvPr/>
        </p:nvSpPr>
        <p:spPr>
          <a:xfrm>
            <a:off x="3429000" y="4544568"/>
            <a:ext cx="2651760" cy="731520"/>
          </a:xfrm>
          <a:prstGeom prst="rect">
            <a:avLst/>
          </a:prstGeom>
          <a:noFill/>
          <a:ln/>
        </p:spPr>
        <p:txBody>
          <a:bodyPr wrap="square" lIns="0" tIns="0" rIns="0" bIns="0" rtlCol="0" anchor="t"/>
          <a:lstStyle/>
          <a:p>
            <a:pPr algn="l" indent="0" marL="0">
              <a:buNone/>
            </a:pPr>
            <a:r>
              <a:rPr lang="en-US" sz="1150" i="1" dirty="0">
                <a:solidFill>
                  <a:srgbClr val="6B7280"/>
                </a:solidFill>
                <a:latin typeface="Calibri" pitchFamily="34" charset="0"/>
                <a:ea typeface="Calibri" pitchFamily="34" charset="-122"/>
                <a:cs typeface="Calibri" pitchFamily="34" charset="-120"/>
              </a:rPr>
              <a:t>Votre collègue Sarah a l’air très fatiguée. Vous lui demandez comment elle va.</a:t>
            </a:r>
            <a:endParaRPr lang="en-US" sz="1150" dirty="0"/>
          </a:p>
        </p:txBody>
      </p:sp>
      <p:sp>
        <p:nvSpPr>
          <p:cNvPr id="13" name="Shape 8"/>
          <p:cNvSpPr/>
          <p:nvPr/>
        </p:nvSpPr>
        <p:spPr>
          <a:xfrm>
            <a:off x="6355080" y="1673352"/>
            <a:ext cx="914400" cy="402336"/>
          </a:xfrm>
          <a:prstGeom prst="roundRect">
            <a:avLst>
              <a:gd name="adj" fmla="val 13636"/>
            </a:avLst>
          </a:prstGeom>
          <a:solidFill>
            <a:srgbClr val="5FA873"/>
          </a:solidFill>
          <a:ln w="12700">
            <a:solidFill>
              <a:srgbClr val="FFFFFF">
                <a:alpha val="0"/>
              </a:srgbClr>
            </a:solidFill>
            <a:prstDash val="solid"/>
          </a:ln>
        </p:spPr>
      </p:sp>
      <p:sp>
        <p:nvSpPr>
          <p:cNvPr id="14" name="Text 9"/>
          <p:cNvSpPr txBox="1"/>
          <p:nvPr/>
        </p:nvSpPr>
        <p:spPr>
          <a:xfrm>
            <a:off x="6355080" y="167335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1</a:t>
            </a:r>
            <a:endParaRPr lang="en-US" sz="1600" dirty="0"/>
          </a:p>
        </p:txBody>
      </p:sp>
      <p:sp>
        <p:nvSpPr>
          <p:cNvPr id="15" name="Text 10"/>
          <p:cNvSpPr txBox="1"/>
          <p:nvPr/>
        </p:nvSpPr>
        <p:spPr>
          <a:xfrm>
            <a:off x="7406640" y="1618488"/>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Demandez : </a:t>
            </a:r>
            <a:r>
              <a:rPr lang="en-US" sz="1450" b="1" dirty="0">
                <a:solidFill>
                  <a:srgbClr val="2B2F38"/>
                </a:solidFill>
              </a:rPr>
              <a:t>HOE VOEL JE JE VANDAAG?</a:t>
            </a:r>
            <a:endParaRPr lang="en-US" sz="1450" dirty="0"/>
          </a:p>
        </p:txBody>
      </p:sp>
      <p:sp>
        <p:nvSpPr>
          <p:cNvPr id="16" name="Shape 11"/>
          <p:cNvSpPr/>
          <p:nvPr/>
        </p:nvSpPr>
        <p:spPr>
          <a:xfrm>
            <a:off x="6355080" y="2404872"/>
            <a:ext cx="914400" cy="402336"/>
          </a:xfrm>
          <a:prstGeom prst="roundRect">
            <a:avLst>
              <a:gd name="adj" fmla="val 13636"/>
            </a:avLst>
          </a:prstGeom>
          <a:solidFill>
            <a:srgbClr val="5FA873"/>
          </a:solidFill>
          <a:ln w="12700">
            <a:solidFill>
              <a:srgbClr val="FFFFFF">
                <a:alpha val="0"/>
              </a:srgbClr>
            </a:solidFill>
            <a:prstDash val="solid"/>
          </a:ln>
        </p:spPr>
      </p:sp>
      <p:sp>
        <p:nvSpPr>
          <p:cNvPr id="17" name="Text 12"/>
          <p:cNvSpPr txBox="1"/>
          <p:nvPr/>
        </p:nvSpPr>
        <p:spPr>
          <a:xfrm>
            <a:off x="6355080" y="240487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2</a:t>
            </a:r>
            <a:endParaRPr lang="en-US" sz="1600" dirty="0"/>
          </a:p>
        </p:txBody>
      </p:sp>
      <p:sp>
        <p:nvSpPr>
          <p:cNvPr id="18" name="Text 13"/>
          <p:cNvSpPr txBox="1"/>
          <p:nvPr/>
        </p:nvSpPr>
        <p:spPr>
          <a:xfrm>
            <a:off x="7406640" y="2350008"/>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Une question oui / non : </a:t>
            </a:r>
            <a:r>
              <a:rPr lang="en-US" sz="1450" b="1" dirty="0">
                <a:solidFill>
                  <a:srgbClr val="2B2F38"/>
                </a:solidFill>
              </a:rPr>
              <a:t>BEN JE</a:t>
            </a:r>
            <a:r>
              <a:rPr lang="en-US" sz="1450" dirty="0">
                <a:solidFill>
                  <a:srgbClr val="2B2F38"/>
                </a:solidFill>
              </a:rPr>
              <a:t> moe / gestrest?</a:t>
            </a:r>
            <a:endParaRPr lang="en-US" sz="1450" dirty="0"/>
          </a:p>
        </p:txBody>
      </p:sp>
      <p:sp>
        <p:nvSpPr>
          <p:cNvPr id="19" name="Shape 14"/>
          <p:cNvSpPr/>
          <p:nvPr/>
        </p:nvSpPr>
        <p:spPr>
          <a:xfrm>
            <a:off x="6355080" y="3136392"/>
            <a:ext cx="914400" cy="402336"/>
          </a:xfrm>
          <a:prstGeom prst="roundRect">
            <a:avLst>
              <a:gd name="adj" fmla="val 13636"/>
            </a:avLst>
          </a:prstGeom>
          <a:solidFill>
            <a:srgbClr val="5FA873"/>
          </a:solidFill>
          <a:ln w="12700">
            <a:solidFill>
              <a:srgbClr val="FFFFFF">
                <a:alpha val="0"/>
              </a:srgbClr>
            </a:solidFill>
            <a:prstDash val="solid"/>
          </a:ln>
        </p:spPr>
      </p:sp>
      <p:sp>
        <p:nvSpPr>
          <p:cNvPr id="20" name="Text 15"/>
          <p:cNvSpPr txBox="1"/>
          <p:nvPr/>
        </p:nvSpPr>
        <p:spPr>
          <a:xfrm>
            <a:off x="6355080" y="313639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3</a:t>
            </a:r>
            <a:endParaRPr lang="en-US" sz="1600" dirty="0"/>
          </a:p>
        </p:txBody>
      </p:sp>
      <p:sp>
        <p:nvSpPr>
          <p:cNvPr id="21" name="Text 16"/>
          <p:cNvSpPr txBox="1"/>
          <p:nvPr/>
        </p:nvSpPr>
        <p:spPr>
          <a:xfrm>
            <a:off x="7406640" y="3081528"/>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Répondez avec un nuanceur : een beetje, heel, </a:t>
            </a:r>
            <a:r>
              <a:rPr lang="en-US" sz="1450" b="1" dirty="0">
                <a:solidFill>
                  <a:srgbClr val="2B2F38"/>
                </a:solidFill>
              </a:rPr>
              <a:t>ONTZETTEND</a:t>
            </a:r>
            <a:r>
              <a:rPr lang="en-US" sz="1450" dirty="0">
                <a:solidFill>
                  <a:srgbClr val="2B2F38"/>
                </a:solidFill>
              </a:rPr>
              <a:t>…</a:t>
            </a:r>
            <a:endParaRPr lang="en-US" sz="1450" dirty="0"/>
          </a:p>
        </p:txBody>
      </p:sp>
      <p:sp>
        <p:nvSpPr>
          <p:cNvPr id="22" name="Shape 17"/>
          <p:cNvSpPr/>
          <p:nvPr/>
        </p:nvSpPr>
        <p:spPr>
          <a:xfrm>
            <a:off x="6355080" y="3867912"/>
            <a:ext cx="914400" cy="402336"/>
          </a:xfrm>
          <a:prstGeom prst="roundRect">
            <a:avLst>
              <a:gd name="adj" fmla="val 13636"/>
            </a:avLst>
          </a:prstGeom>
          <a:solidFill>
            <a:srgbClr val="5FA873"/>
          </a:solidFill>
          <a:ln w="12700">
            <a:solidFill>
              <a:srgbClr val="FFFFFF">
                <a:alpha val="0"/>
              </a:srgbClr>
            </a:solidFill>
            <a:prstDash val="solid"/>
          </a:ln>
        </p:spPr>
      </p:sp>
      <p:sp>
        <p:nvSpPr>
          <p:cNvPr id="23" name="Text 18"/>
          <p:cNvSpPr txBox="1"/>
          <p:nvPr/>
        </p:nvSpPr>
        <p:spPr>
          <a:xfrm>
            <a:off x="6355080" y="386791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4</a:t>
            </a:r>
            <a:endParaRPr lang="en-US" sz="1600" dirty="0"/>
          </a:p>
        </p:txBody>
      </p:sp>
      <p:sp>
        <p:nvSpPr>
          <p:cNvPr id="24" name="Text 19"/>
          <p:cNvSpPr txBox="1"/>
          <p:nvPr/>
        </p:nvSpPr>
        <p:spPr>
          <a:xfrm>
            <a:off x="7406640" y="3813048"/>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Une chute avec </a:t>
            </a:r>
            <a:r>
              <a:rPr lang="en-US" sz="1450" b="1" dirty="0">
                <a:solidFill>
                  <a:srgbClr val="2B2F38"/>
                </a:solidFill>
              </a:rPr>
              <a:t>WANT</a:t>
            </a:r>
            <a:r>
              <a:rPr lang="en-US" sz="1450" dirty="0">
                <a:solidFill>
                  <a:srgbClr val="2B2F38"/>
                </a:solidFill>
              </a:rPr>
              <a:t>.</a:t>
            </a:r>
            <a:endParaRPr lang="en-US" sz="1450" dirty="0"/>
          </a:p>
        </p:txBody>
      </p:sp>
      <p:sp>
        <p:nvSpPr>
          <p:cNvPr id="25" name="Shape 20"/>
          <p:cNvSpPr/>
          <p:nvPr/>
        </p:nvSpPr>
        <p:spPr>
          <a:xfrm>
            <a:off x="3246120" y="5440680"/>
            <a:ext cx="6858000" cy="822960"/>
          </a:xfrm>
          <a:prstGeom prst="roundRect">
            <a:avLst>
              <a:gd name="adj" fmla="val 17778"/>
            </a:avLst>
          </a:prstGeom>
          <a:solidFill>
            <a:srgbClr val="EAF5EC"/>
          </a:solidFill>
          <a:ln w="15875">
            <a:solidFill>
              <a:srgbClr val="5FA873"/>
            </a:solidFill>
            <a:prstDash val="solid"/>
          </a:ln>
        </p:spPr>
      </p:sp>
      <p:pic>
        <p:nvPicPr>
          <p:cNvPr id="26" name="Image 2" descr="UserFriends">    </p:cNvPr>
          <p:cNvPicPr>
            <a:picLocks noChangeAspect="1"/>
          </p:cNvPicPr>
          <p:nvPr/>
        </p:nvPicPr>
        <p:blipFill>
          <a:blip r:embed="rId3"/>
          <a:stretch>
            <a:fillRect/>
          </a:stretch>
        </p:blipFill>
        <p:spPr>
          <a:xfrm>
            <a:off x="3520440" y="5660136"/>
            <a:ext cx="384048" cy="384048"/>
          </a:xfrm>
          <a:prstGeom prst="rect">
            <a:avLst/>
          </a:prstGeom>
        </p:spPr>
      </p:pic>
      <p:sp>
        <p:nvSpPr>
          <p:cNvPr id="27" name="Text 21"/>
          <p:cNvSpPr txBox="1"/>
          <p:nvPr/>
        </p:nvSpPr>
        <p:spPr>
          <a:xfrm>
            <a:off x="4114800" y="5440680"/>
            <a:ext cx="5852160" cy="822960"/>
          </a:xfrm>
          <a:prstGeom prst="rect">
            <a:avLst/>
          </a:prstGeom>
          <a:noFill/>
          <a:ln/>
        </p:spPr>
        <p:txBody>
          <a:bodyPr wrap="square" lIns="0" tIns="0" rIns="0" bIns="0" rtlCol="0" anchor="ctr"/>
          <a:lstStyle/>
          <a:p>
            <a:pPr algn="ctr" indent="0" marL="0">
              <a:buNone/>
            </a:pPr>
            <a:r>
              <a:rPr lang="en-US" sz="1800" b="1" dirty="0">
                <a:solidFill>
                  <a:srgbClr val="2E6B44"/>
                </a:solidFill>
                <a:latin typeface="Calibri" pitchFamily="34" charset="0"/>
                <a:ea typeface="Calibri" pitchFamily="34" charset="-122"/>
                <a:cs typeface="Calibri" pitchFamily="34" charset="-120"/>
              </a:rPr>
              <a:t>Vertel je verhaal aan je partner.</a:t>
            </a:r>
            <a:endParaRPr lang="en-US" sz="1800" dirty="0"/>
          </a:p>
          <a:p>
            <a:pPr algn="ctr" indent="0" marL="0">
              <a:buNone/>
            </a:pPr>
            <a:r>
              <a:rPr lang="en-US" sz="1800" b="1" dirty="0">
                <a:solidFill>
                  <a:srgbClr val="2E6B44"/>
                </a:solidFill>
                <a:latin typeface="Calibri" pitchFamily="34" charset="0"/>
                <a:ea typeface="Calibri" pitchFamily="34" charset="-122"/>
                <a:cs typeface="Calibri" pitchFamily="34" charset="-120"/>
              </a:rPr>
              <a:t>Wat denkt hij/zij daarvan?</a:t>
            </a:r>
            <a:endParaRPr lang="en-US" sz="1800" dirty="0"/>
          </a:p>
        </p:txBody>
      </p:sp>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135</a:t>
            </a:fld>
            <a:endParaRPr lang="en-US"/>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name="Slide 136">
    <p:spTree>
      <p:nvGrpSpPr>
        <p:cNvPr id="1" name=""/>
        <p:cNvGrpSpPr/>
        <p:nvPr/>
      </p:nvGrpSpPr>
      <p:grpSpPr>
        <a:xfrm>
          <a:off x="0" y="0"/>
          <a:ext cx="0" cy="0"/>
          <a:chOff x="0" y="0"/>
          <a:chExt cx="0" cy="0"/>
        </a:xfrm>
      </p:grpSpPr>
      <p:sp>
        <p:nvSpPr>
          <p:cNvPr id="2" name="Text 1"/>
          <p:cNvSpPr/>
          <p:nvPr>
            <p:ph idx="101" type="title" hasCustomPrompt="1"/>
          </p:nvPr>
        </p:nvSpPr>
        <p:spPr>
          <a:xfrm>
            <a:off x="1554480" y="384048"/>
            <a:ext cx="10241280" cy="658368"/>
          </a:xfrm>
          <a:prstGeom prst="rect">
            <a:avLst/>
          </a:prstGeom>
          <a:noFill/>
          <a:ln/>
        </p:spPr>
        <p:txBody>
          <a:bodyPr wrap="square" lIns="0" tIns="0" rIns="0" bIns="0" rtlCol="0" anchor="ctr"/>
          <a:lstStyle/>
          <a:p>
            <a:pPr algn="ctr" indent="0" marL="0">
              <a:buNone/>
            </a:pPr>
            <a:r>
              <a:rPr lang="en-US" sz="3000" b="1" dirty="0">
                <a:solidFill>
                  <a:srgbClr val="2B2F38"/>
                </a:solidFill>
              </a:rPr>
              <a:t>Hoe voel je je?</a:t>
            </a:r>
            <a:endParaRPr lang="en-US" sz="3000" dirty="0"/>
          </a:p>
        </p:txBody>
      </p:sp>
      <p:sp>
        <p:nvSpPr>
          <p:cNvPr id="4" name="Shape 1"/>
          <p:cNvSpPr/>
          <p:nvPr/>
        </p:nvSpPr>
        <p:spPr>
          <a:xfrm>
            <a:off x="365760" y="365760"/>
            <a:ext cx="868680" cy="5989320"/>
          </a:xfrm>
          <a:prstGeom prst="roundRect">
            <a:avLst>
              <a:gd name="adj" fmla="val 12632"/>
            </a:avLst>
          </a:prstGeom>
          <a:solidFill>
            <a:srgbClr val="F4E8F6"/>
          </a:solidFill>
          <a:ln w="28575">
            <a:solidFill>
              <a:srgbClr val="B57FCB"/>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7E4C97"/>
                </a:solidFill>
                <a:latin typeface="Calibri" pitchFamily="34" charset="0"/>
                <a:ea typeface="Calibri" pitchFamily="34" charset="-122"/>
                <a:cs typeface="Calibri" pitchFamily="34" charset="-120"/>
              </a:rPr>
              <a:t>A1 · Situations</a:t>
            </a:r>
            <a:endParaRPr lang="en-US" sz="3800" dirty="0"/>
          </a:p>
        </p:txBody>
      </p:sp>
      <p:sp>
        <p:nvSpPr>
          <p:cNvPr id="6" name="Shape 3"/>
          <p:cNvSpPr/>
          <p:nvPr/>
        </p:nvSpPr>
        <p:spPr>
          <a:xfrm>
            <a:off x="2519172" y="1124712"/>
            <a:ext cx="8311896" cy="5277231"/>
          </a:xfrm>
          <a:prstGeom prst="roundRect">
            <a:avLst>
              <a:gd name="adj" fmla="val 693"/>
            </a:avLst>
          </a:prstGeom>
          <a:solidFill>
            <a:srgbClr val="FFFFFF"/>
          </a:solidFill>
          <a:ln w="9525">
            <a:solidFill>
              <a:srgbClr val="E3E7EE"/>
            </a:solidFill>
            <a:prstDash val="solid"/>
          </a:ln>
          <a:effectLst>
            <a:outerShdw sx="100000" sy="100000" kx="0" ky="0" algn="bl" rotWithShape="0" blurRad="177800" dist="63500" dir="5400000">
              <a:srgbClr val="1B2430">
                <a:alpha val="25000"/>
              </a:srgbClr>
            </a:outerShdw>
          </a:effectLst>
        </p:spPr>
      </p:sp>
      <p:pic>
        <p:nvPicPr>
          <p:cNvPr id="7" name="Image 0" descr="/home/user/talenleren/neerlandais1/generateur/img/vijfzinnen/a1_gevoel.jpg">    </p:cNvPr>
          <p:cNvPicPr>
            <a:picLocks noChangeAspect="1"/>
          </p:cNvPicPr>
          <p:nvPr/>
        </p:nvPicPr>
        <p:blipFill>
          <a:blip r:embed="rId1"/>
          <a:stretch>
            <a:fillRect/>
          </a:stretch>
        </p:blipFill>
        <p:spPr>
          <a:xfrm>
            <a:off x="2628900" y="1234440"/>
            <a:ext cx="8092440" cy="5057775"/>
          </a:xfrm>
          <a:prstGeom prst="rect">
            <a:avLst/>
          </a:prstGeom>
        </p:spPr>
      </p:pic>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136</a:t>
            </a:fld>
            <a:endParaRPr lang="en-US"/>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name="Slide 137">
    <p:spTree>
      <p:nvGrpSpPr>
        <p:cNvPr id="1" name=""/>
        <p:cNvGrpSpPr/>
        <p:nvPr/>
      </p:nvGrpSpPr>
      <p:grpSpPr>
        <a:xfrm>
          <a:off x="0" y="0"/>
          <a:ext cx="0" cy="0"/>
          <a:chOff x="0" y="0"/>
          <a:chExt cx="0" cy="0"/>
        </a:xfrm>
      </p:grpSpPr>
      <p:sp>
        <p:nvSpPr>
          <p:cNvPr id="2" name="Text 1"/>
          <p:cNvSpPr/>
          <p:nvPr>
            <p:ph idx="101" type="title" hasCustomPrompt="1"/>
          </p:nvPr>
        </p:nvSpPr>
        <p:spPr>
          <a:xfrm>
            <a:off x="1691640" y="347472"/>
            <a:ext cx="8138160" cy="914400"/>
          </a:xfrm>
          <a:prstGeom prst="rect">
            <a:avLst/>
          </a:prstGeom>
          <a:noFill/>
          <a:ln/>
        </p:spPr>
        <p:txBody>
          <a:bodyPr wrap="square" lIns="0" tIns="0" rIns="0" bIns="0" rtlCol="0" anchor="ctr"/>
          <a:lstStyle/>
          <a:p>
            <a:pPr algn="l" indent="0" marL="0">
              <a:buNone/>
            </a:pPr>
            <a:r>
              <a:rPr lang="en-US" sz="2400" b="1" dirty="0">
                <a:solidFill>
                  <a:srgbClr val="2B2F38"/>
                </a:solidFill>
              </a:rPr>
              <a:t>Hier is een voorbeeld van wat je had kunnen denken en zeggen…</a:t>
            </a:r>
            <a:endParaRPr lang="en-US" sz="2400" dirty="0"/>
          </a:p>
        </p:txBody>
      </p:sp>
      <p:sp>
        <p:nvSpPr>
          <p:cNvPr id="4" name="Shape 1"/>
          <p:cNvSpPr/>
          <p:nvPr/>
        </p:nvSpPr>
        <p:spPr>
          <a:xfrm>
            <a:off x="365760" y="365760"/>
            <a:ext cx="868680" cy="5989320"/>
          </a:xfrm>
          <a:prstGeom prst="roundRect">
            <a:avLst>
              <a:gd name="adj" fmla="val 12632"/>
            </a:avLst>
          </a:prstGeom>
          <a:solidFill>
            <a:srgbClr val="F4E8F6"/>
          </a:solidFill>
          <a:ln w="28575">
            <a:solidFill>
              <a:srgbClr val="B57FCB"/>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7E4C97"/>
                </a:solidFill>
                <a:latin typeface="Calibri" pitchFamily="34" charset="0"/>
                <a:ea typeface="Calibri" pitchFamily="34" charset="-122"/>
                <a:cs typeface="Calibri" pitchFamily="34" charset="-120"/>
              </a:rPr>
              <a:t>A1 · Situations</a:t>
            </a:r>
            <a:endParaRPr lang="en-US" sz="3800" dirty="0"/>
          </a:p>
        </p:txBody>
      </p:sp>
      <p:sp>
        <p:nvSpPr>
          <p:cNvPr id="6" name="Shape 3"/>
          <p:cNvSpPr/>
          <p:nvPr/>
        </p:nvSpPr>
        <p:spPr>
          <a:xfrm>
            <a:off x="10058400" y="246888"/>
            <a:ext cx="1691640" cy="1091565"/>
          </a:xfrm>
          <a:prstGeom prst="roundRect">
            <a:avLst>
              <a:gd name="adj" fmla="val 3351"/>
            </a:avLst>
          </a:prstGeom>
          <a:solidFill>
            <a:srgbClr val="FFFFFF"/>
          </a:solidFill>
          <a:ln w="9525">
            <a:solidFill>
              <a:srgbClr val="E3E7EE"/>
            </a:solidFill>
            <a:prstDash val="solid"/>
          </a:ln>
          <a:effectLst>
            <a:outerShdw sx="100000" sy="100000" kx="0" ky="0" algn="bl" rotWithShape="0" blurRad="76200" dist="25400" dir="5400000">
              <a:srgbClr val="1B2430">
                <a:alpha val="25000"/>
              </a:srgbClr>
            </a:outerShdw>
          </a:effectLst>
        </p:spPr>
      </p:sp>
      <p:pic>
        <p:nvPicPr>
          <p:cNvPr id="7" name="Image 0" descr="/home/user/talenleren/neerlandais1/generateur/img/vijfzinnen/a1_gevoel_s.jpg">    </p:cNvPr>
          <p:cNvPicPr>
            <a:picLocks noChangeAspect="1"/>
          </p:cNvPicPr>
          <p:nvPr/>
        </p:nvPicPr>
        <p:blipFill>
          <a:blip r:embed="rId1"/>
          <a:stretch>
            <a:fillRect/>
          </a:stretch>
        </p:blipFill>
        <p:spPr>
          <a:xfrm>
            <a:off x="10104120" y="292608"/>
            <a:ext cx="1600200" cy="1000125"/>
          </a:xfrm>
          <a:prstGeom prst="rect">
            <a:avLst/>
          </a:prstGeom>
        </p:spPr>
      </p:pic>
      <p:sp>
        <p:nvSpPr>
          <p:cNvPr id="8" name="Text 4"/>
          <p:cNvSpPr txBox="1"/>
          <p:nvPr/>
        </p:nvSpPr>
        <p:spPr>
          <a:xfrm>
            <a:off x="1691640" y="3108350"/>
            <a:ext cx="458724"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a:t>
            </a:r>
            <a:endParaRPr lang="en-US" sz="2400" dirty="0"/>
          </a:p>
        </p:txBody>
      </p:sp>
      <p:sp>
        <p:nvSpPr>
          <p:cNvPr id="9" name="Shape 5"/>
          <p:cNvSpPr/>
          <p:nvPr/>
        </p:nvSpPr>
        <p:spPr>
          <a:xfrm>
            <a:off x="2054657" y="3120542"/>
            <a:ext cx="2942844" cy="371856"/>
          </a:xfrm>
          <a:prstGeom prst="roundRect">
            <a:avLst>
              <a:gd name="adj" fmla="val 12295"/>
            </a:avLst>
          </a:prstGeom>
          <a:solidFill>
            <a:srgbClr val="E6F3DA"/>
          </a:solidFill>
          <a:ln w="12700">
            <a:solidFill>
              <a:srgbClr val="FFFFFF">
                <a:alpha val="0"/>
              </a:srgbClr>
            </a:solidFill>
            <a:prstDash val="solid"/>
          </a:ln>
        </p:spPr>
      </p:sp>
      <p:sp>
        <p:nvSpPr>
          <p:cNvPr id="10" name="Text 6"/>
          <p:cNvSpPr txBox="1"/>
          <p:nvPr/>
        </p:nvSpPr>
        <p:spPr>
          <a:xfrm>
            <a:off x="2054657" y="3108350"/>
            <a:ext cx="2942844"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Hoe voel je je vandaag</a:t>
            </a:r>
            <a:endParaRPr lang="en-US" sz="2400" dirty="0"/>
          </a:p>
        </p:txBody>
      </p:sp>
      <p:sp>
        <p:nvSpPr>
          <p:cNvPr id="11" name="Text 7"/>
          <p:cNvSpPr txBox="1"/>
          <p:nvPr/>
        </p:nvSpPr>
        <p:spPr>
          <a:xfrm>
            <a:off x="4997501" y="3108350"/>
            <a:ext cx="1185672"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 Sarah?</a:t>
            </a:r>
            <a:endParaRPr lang="en-US" sz="2400" dirty="0"/>
          </a:p>
        </p:txBody>
      </p:sp>
      <p:sp>
        <p:nvSpPr>
          <p:cNvPr id="12" name="Shape 8"/>
          <p:cNvSpPr/>
          <p:nvPr/>
        </p:nvSpPr>
        <p:spPr>
          <a:xfrm>
            <a:off x="6087466" y="3120542"/>
            <a:ext cx="1513332" cy="371856"/>
          </a:xfrm>
          <a:prstGeom prst="roundRect">
            <a:avLst>
              <a:gd name="adj" fmla="val 12295"/>
            </a:avLst>
          </a:prstGeom>
          <a:solidFill>
            <a:srgbClr val="E6F3DA"/>
          </a:solidFill>
          <a:ln w="12700">
            <a:solidFill>
              <a:srgbClr val="FFFFFF">
                <a:alpha val="0"/>
              </a:srgbClr>
            </a:solidFill>
            <a:prstDash val="solid"/>
          </a:ln>
        </p:spPr>
      </p:sp>
      <p:sp>
        <p:nvSpPr>
          <p:cNvPr id="13" name="Text 9"/>
          <p:cNvSpPr txBox="1"/>
          <p:nvPr/>
        </p:nvSpPr>
        <p:spPr>
          <a:xfrm>
            <a:off x="6087466" y="3108350"/>
            <a:ext cx="1513332"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Ben je moe</a:t>
            </a:r>
            <a:endParaRPr lang="en-US" sz="2400" dirty="0"/>
          </a:p>
        </p:txBody>
      </p:sp>
      <p:sp>
        <p:nvSpPr>
          <p:cNvPr id="14" name="Text 10"/>
          <p:cNvSpPr txBox="1"/>
          <p:nvPr/>
        </p:nvSpPr>
        <p:spPr>
          <a:xfrm>
            <a:off x="7600798" y="3108350"/>
            <a:ext cx="324002"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a:t>
            </a:r>
            <a:endParaRPr lang="en-US" sz="2400" dirty="0"/>
          </a:p>
        </p:txBody>
      </p:sp>
      <p:sp>
        <p:nvSpPr>
          <p:cNvPr id="15" name="Shape 11"/>
          <p:cNvSpPr/>
          <p:nvPr/>
        </p:nvSpPr>
        <p:spPr>
          <a:xfrm>
            <a:off x="3526079" y="3044342"/>
            <a:ext cx="914" cy="76200"/>
          </a:xfrm>
          <a:prstGeom prst="line">
            <a:avLst/>
          </a:prstGeom>
          <a:noFill/>
          <a:ln w="15875">
            <a:solidFill>
              <a:srgbClr val="7AB648"/>
            </a:solidFill>
            <a:prstDash val="solid"/>
          </a:ln>
        </p:spPr>
      </p:sp>
      <p:sp>
        <p:nvSpPr>
          <p:cNvPr id="16" name="Shape 12"/>
          <p:cNvSpPr/>
          <p:nvPr/>
        </p:nvSpPr>
        <p:spPr>
          <a:xfrm>
            <a:off x="2977064" y="2797454"/>
            <a:ext cx="1098029" cy="246888"/>
          </a:xfrm>
          <a:prstGeom prst="roundRect">
            <a:avLst>
              <a:gd name="adj" fmla="val 14815"/>
            </a:avLst>
          </a:prstGeom>
          <a:solidFill>
            <a:srgbClr val="7AB648"/>
          </a:solidFill>
          <a:ln w="12700">
            <a:solidFill>
              <a:srgbClr val="FFFFFF">
                <a:alpha val="0"/>
              </a:srgbClr>
            </a:solidFill>
            <a:prstDash val="solid"/>
          </a:ln>
        </p:spPr>
      </p:sp>
      <p:sp>
        <p:nvSpPr>
          <p:cNvPr id="17" name="Text 13"/>
          <p:cNvSpPr txBox="1"/>
          <p:nvPr/>
        </p:nvSpPr>
        <p:spPr>
          <a:xfrm>
            <a:off x="2977064" y="2797454"/>
            <a:ext cx="1098029"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HOE VOEL JE JE</a:t>
            </a:r>
            <a:endParaRPr lang="en-US" sz="1100" dirty="0"/>
          </a:p>
        </p:txBody>
      </p:sp>
      <p:sp>
        <p:nvSpPr>
          <p:cNvPr id="18" name="Shape 14"/>
          <p:cNvSpPr/>
          <p:nvPr/>
        </p:nvSpPr>
        <p:spPr>
          <a:xfrm>
            <a:off x="6844132" y="3044342"/>
            <a:ext cx="914" cy="76200"/>
          </a:xfrm>
          <a:prstGeom prst="line">
            <a:avLst/>
          </a:prstGeom>
          <a:noFill/>
          <a:ln w="15875">
            <a:solidFill>
              <a:srgbClr val="7AB648"/>
            </a:solidFill>
            <a:prstDash val="solid"/>
          </a:ln>
        </p:spPr>
      </p:sp>
      <p:sp>
        <p:nvSpPr>
          <p:cNvPr id="19" name="Shape 15"/>
          <p:cNvSpPr/>
          <p:nvPr/>
        </p:nvSpPr>
        <p:spPr>
          <a:xfrm>
            <a:off x="6444317" y="2797454"/>
            <a:ext cx="799630" cy="246888"/>
          </a:xfrm>
          <a:prstGeom prst="roundRect">
            <a:avLst>
              <a:gd name="adj" fmla="val 14815"/>
            </a:avLst>
          </a:prstGeom>
          <a:solidFill>
            <a:srgbClr val="7AB648"/>
          </a:solidFill>
          <a:ln w="12700">
            <a:solidFill>
              <a:srgbClr val="FFFFFF">
                <a:alpha val="0"/>
              </a:srgbClr>
            </a:solidFill>
            <a:prstDash val="solid"/>
          </a:ln>
        </p:spPr>
      </p:sp>
      <p:sp>
        <p:nvSpPr>
          <p:cNvPr id="20" name="Text 16"/>
          <p:cNvSpPr txBox="1"/>
          <p:nvPr/>
        </p:nvSpPr>
        <p:spPr>
          <a:xfrm>
            <a:off x="6444317" y="2797454"/>
            <a:ext cx="799630"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BEN JE …?</a:t>
            </a:r>
            <a:endParaRPr lang="en-US" sz="1100" dirty="0"/>
          </a:p>
        </p:txBody>
      </p:sp>
      <p:sp>
        <p:nvSpPr>
          <p:cNvPr id="21" name="Text 17"/>
          <p:cNvSpPr txBox="1"/>
          <p:nvPr/>
        </p:nvSpPr>
        <p:spPr>
          <a:xfrm>
            <a:off x="1691640" y="4162958"/>
            <a:ext cx="865327"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 Ja,</a:t>
            </a:r>
            <a:endParaRPr lang="en-US" sz="2400" dirty="0"/>
          </a:p>
        </p:txBody>
      </p:sp>
      <p:sp>
        <p:nvSpPr>
          <p:cNvPr id="22" name="Shape 18"/>
          <p:cNvSpPr/>
          <p:nvPr/>
        </p:nvSpPr>
        <p:spPr>
          <a:xfrm>
            <a:off x="2461260" y="4175150"/>
            <a:ext cx="2125370" cy="371856"/>
          </a:xfrm>
          <a:prstGeom prst="roundRect">
            <a:avLst>
              <a:gd name="adj" fmla="val 12295"/>
            </a:avLst>
          </a:prstGeom>
          <a:solidFill>
            <a:srgbClr val="E6F3DA"/>
          </a:solidFill>
          <a:ln w="12700">
            <a:solidFill>
              <a:srgbClr val="FFFFFF">
                <a:alpha val="0"/>
              </a:srgbClr>
            </a:solidFill>
            <a:prstDash val="solid"/>
          </a:ln>
        </p:spPr>
      </p:sp>
      <p:sp>
        <p:nvSpPr>
          <p:cNvPr id="23" name="Text 19"/>
          <p:cNvSpPr txBox="1"/>
          <p:nvPr/>
        </p:nvSpPr>
        <p:spPr>
          <a:xfrm>
            <a:off x="2461260" y="4162958"/>
            <a:ext cx="2125370"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ontzettend moe</a:t>
            </a:r>
            <a:endParaRPr lang="en-US" sz="2400" dirty="0"/>
          </a:p>
        </p:txBody>
      </p:sp>
      <p:sp>
        <p:nvSpPr>
          <p:cNvPr id="24" name="Text 20"/>
          <p:cNvSpPr txBox="1"/>
          <p:nvPr/>
        </p:nvSpPr>
        <p:spPr>
          <a:xfrm>
            <a:off x="4586630" y="4162958"/>
            <a:ext cx="259080"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a:t>
            </a:r>
            <a:endParaRPr lang="en-US" sz="2400" dirty="0"/>
          </a:p>
        </p:txBody>
      </p:sp>
      <p:sp>
        <p:nvSpPr>
          <p:cNvPr id="25" name="Shape 21"/>
          <p:cNvSpPr/>
          <p:nvPr/>
        </p:nvSpPr>
        <p:spPr>
          <a:xfrm>
            <a:off x="4750003" y="4175150"/>
            <a:ext cx="4636313" cy="371856"/>
          </a:xfrm>
          <a:prstGeom prst="roundRect">
            <a:avLst>
              <a:gd name="adj" fmla="val 12295"/>
            </a:avLst>
          </a:prstGeom>
          <a:solidFill>
            <a:srgbClr val="E6F3DA"/>
          </a:solidFill>
          <a:ln w="12700">
            <a:solidFill>
              <a:srgbClr val="FFFFFF">
                <a:alpha val="0"/>
              </a:srgbClr>
            </a:solidFill>
            <a:prstDash val="solid"/>
          </a:ln>
        </p:spPr>
      </p:sp>
      <p:sp>
        <p:nvSpPr>
          <p:cNvPr id="26" name="Text 22"/>
          <p:cNvSpPr txBox="1"/>
          <p:nvPr/>
        </p:nvSpPr>
        <p:spPr>
          <a:xfrm>
            <a:off x="4750003" y="4162958"/>
            <a:ext cx="4636313"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want mijn baby slaapt ’s nachts niet</a:t>
            </a:r>
            <a:endParaRPr lang="en-US" sz="2400" dirty="0"/>
          </a:p>
        </p:txBody>
      </p:sp>
      <p:sp>
        <p:nvSpPr>
          <p:cNvPr id="27" name="Text 23"/>
          <p:cNvSpPr txBox="1"/>
          <p:nvPr/>
        </p:nvSpPr>
        <p:spPr>
          <a:xfrm>
            <a:off x="9386316" y="4162958"/>
            <a:ext cx="282245"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a:t>
            </a:r>
            <a:endParaRPr lang="en-US" sz="2400" dirty="0"/>
          </a:p>
        </p:txBody>
      </p:sp>
      <p:sp>
        <p:nvSpPr>
          <p:cNvPr id="28" name="Shape 24"/>
          <p:cNvSpPr/>
          <p:nvPr/>
        </p:nvSpPr>
        <p:spPr>
          <a:xfrm>
            <a:off x="3523945" y="4098950"/>
            <a:ext cx="914" cy="76200"/>
          </a:xfrm>
          <a:prstGeom prst="line">
            <a:avLst/>
          </a:prstGeom>
          <a:noFill/>
          <a:ln w="15875">
            <a:solidFill>
              <a:srgbClr val="7AB648"/>
            </a:solidFill>
            <a:prstDash val="solid"/>
          </a:ln>
        </p:spPr>
      </p:sp>
      <p:sp>
        <p:nvSpPr>
          <p:cNvPr id="29" name="Shape 25"/>
          <p:cNvSpPr/>
          <p:nvPr/>
        </p:nvSpPr>
        <p:spPr>
          <a:xfrm>
            <a:off x="3078239" y="3852062"/>
            <a:ext cx="891413" cy="246888"/>
          </a:xfrm>
          <a:prstGeom prst="roundRect">
            <a:avLst>
              <a:gd name="adj" fmla="val 14815"/>
            </a:avLst>
          </a:prstGeom>
          <a:solidFill>
            <a:srgbClr val="7AB648"/>
          </a:solidFill>
          <a:ln w="12700">
            <a:solidFill>
              <a:srgbClr val="FFFFFF">
                <a:alpha val="0"/>
              </a:srgbClr>
            </a:solidFill>
            <a:prstDash val="solid"/>
          </a:ln>
        </p:spPr>
      </p:sp>
      <p:sp>
        <p:nvSpPr>
          <p:cNvPr id="30" name="Text 26"/>
          <p:cNvSpPr txBox="1"/>
          <p:nvPr/>
        </p:nvSpPr>
        <p:spPr>
          <a:xfrm>
            <a:off x="3078239" y="3852062"/>
            <a:ext cx="891413"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NUANCEUR</a:t>
            </a:r>
            <a:endParaRPr lang="en-US" sz="1100" dirty="0"/>
          </a:p>
        </p:txBody>
      </p:sp>
      <p:sp>
        <p:nvSpPr>
          <p:cNvPr id="31" name="Shape 27"/>
          <p:cNvSpPr/>
          <p:nvPr/>
        </p:nvSpPr>
        <p:spPr>
          <a:xfrm>
            <a:off x="7068160" y="4098950"/>
            <a:ext cx="914" cy="76200"/>
          </a:xfrm>
          <a:prstGeom prst="line">
            <a:avLst/>
          </a:prstGeom>
          <a:noFill/>
          <a:ln w="15875">
            <a:solidFill>
              <a:srgbClr val="7AB648"/>
            </a:solidFill>
            <a:prstDash val="solid"/>
          </a:ln>
        </p:spPr>
      </p:sp>
      <p:sp>
        <p:nvSpPr>
          <p:cNvPr id="32" name="Shape 28"/>
          <p:cNvSpPr/>
          <p:nvPr/>
        </p:nvSpPr>
        <p:spPr>
          <a:xfrm>
            <a:off x="6772211" y="3852062"/>
            <a:ext cx="591896" cy="246888"/>
          </a:xfrm>
          <a:prstGeom prst="roundRect">
            <a:avLst>
              <a:gd name="adj" fmla="val 14815"/>
            </a:avLst>
          </a:prstGeom>
          <a:solidFill>
            <a:srgbClr val="7AB648"/>
          </a:solidFill>
          <a:ln w="12700">
            <a:solidFill>
              <a:srgbClr val="FFFFFF">
                <a:alpha val="0"/>
              </a:srgbClr>
            </a:solidFill>
            <a:prstDash val="solid"/>
          </a:ln>
        </p:spPr>
      </p:sp>
      <p:sp>
        <p:nvSpPr>
          <p:cNvPr id="33" name="Text 29"/>
          <p:cNvSpPr txBox="1"/>
          <p:nvPr/>
        </p:nvSpPr>
        <p:spPr>
          <a:xfrm>
            <a:off x="6772211" y="3852062"/>
            <a:ext cx="591896"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WANT</a:t>
            </a:r>
            <a:endParaRPr lang="en-US" sz="1100" dirty="0"/>
          </a:p>
        </p:txBody>
      </p:sp>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137</a:t>
            </a:fld>
            <a:endParaRPr lang="en-US"/>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name="Slide 138">
    <p:spTree>
      <p:nvGrpSpPr>
        <p:cNvPr id="1" name=""/>
        <p:cNvGrpSpPr/>
        <p:nvPr/>
      </p:nvGrpSpPr>
      <p:grpSpPr>
        <a:xfrm>
          <a:off x="0" y="0"/>
          <a:ext cx="0" cy="0"/>
          <a:chOff x="0" y="0"/>
          <a:chExt cx="0" cy="0"/>
        </a:xfrm>
      </p:grpSpPr>
      <p:sp>
        <p:nvSpPr>
          <p:cNvPr id="2" name="Text 1"/>
          <p:cNvSpPr/>
          <p:nvPr>
            <p:ph idx="101" type="title" hasCustomPrompt="1"/>
          </p:nvPr>
        </p:nvSpPr>
        <p:spPr>
          <a:xfrm>
            <a:off x="1554480" y="384048"/>
            <a:ext cx="10241280" cy="658368"/>
          </a:xfrm>
          <a:prstGeom prst="rect">
            <a:avLst/>
          </a:prstGeom>
          <a:noFill/>
          <a:ln/>
        </p:spPr>
        <p:txBody>
          <a:bodyPr wrap="square" lIns="0" tIns="0" rIns="0" bIns="0" rtlCol="0" anchor="ctr"/>
          <a:lstStyle/>
          <a:p>
            <a:pPr algn="ctr" indent="0" marL="0">
              <a:buNone/>
            </a:pPr>
            <a:r>
              <a:rPr lang="en-US" sz="3000" b="1" dirty="0">
                <a:solidFill>
                  <a:srgbClr val="2B2F38"/>
                </a:solidFill>
              </a:rPr>
              <a:t>Gebruik deze afbeelding als inspiratie</a:t>
            </a:r>
            <a:endParaRPr lang="en-US" sz="3000" dirty="0"/>
          </a:p>
        </p:txBody>
      </p:sp>
      <p:sp>
        <p:nvSpPr>
          <p:cNvPr id="4" name="Shape 1"/>
          <p:cNvSpPr/>
          <p:nvPr/>
        </p:nvSpPr>
        <p:spPr>
          <a:xfrm>
            <a:off x="365760" y="365760"/>
            <a:ext cx="868680" cy="5989320"/>
          </a:xfrm>
          <a:prstGeom prst="roundRect">
            <a:avLst>
              <a:gd name="adj" fmla="val 12632"/>
            </a:avLst>
          </a:prstGeom>
          <a:solidFill>
            <a:srgbClr val="F4E8F6"/>
          </a:solidFill>
          <a:ln w="28575">
            <a:solidFill>
              <a:srgbClr val="B57FCB"/>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7E4C97"/>
                </a:solidFill>
                <a:latin typeface="Calibri" pitchFamily="34" charset="0"/>
                <a:ea typeface="Calibri" pitchFamily="34" charset="-122"/>
                <a:cs typeface="Calibri" pitchFamily="34" charset="-120"/>
              </a:rPr>
              <a:t>A1 · Situations</a:t>
            </a:r>
            <a:endParaRPr lang="en-US" sz="3800" dirty="0"/>
          </a:p>
        </p:txBody>
      </p:sp>
      <p:sp>
        <p:nvSpPr>
          <p:cNvPr id="6" name="Text 3"/>
          <p:cNvSpPr txBox="1"/>
          <p:nvPr/>
        </p:nvSpPr>
        <p:spPr>
          <a:xfrm>
            <a:off x="1554480" y="1024128"/>
            <a:ext cx="10241280" cy="365760"/>
          </a:xfrm>
          <a:prstGeom prst="rect">
            <a:avLst/>
          </a:prstGeom>
          <a:noFill/>
          <a:ln/>
        </p:spPr>
        <p:txBody>
          <a:bodyPr wrap="square" lIns="0" tIns="0" rIns="0" bIns="0" rtlCol="0" anchor="ctr"/>
          <a:lstStyle/>
          <a:p>
            <a:pPr algn="ctr" indent="0" marL="0">
              <a:buNone/>
            </a:pPr>
            <a:r>
              <a:rPr lang="en-US" sz="1500" b="1" dirty="0">
                <a:solidFill>
                  <a:srgbClr val="7E4C97"/>
                </a:solidFill>
                <a:latin typeface="Calibri" pitchFamily="34" charset="0"/>
                <a:ea typeface="Calibri" pitchFamily="34" charset="-122"/>
                <a:cs typeface="Calibri" pitchFamily="34" charset="-120"/>
              </a:rPr>
              <a:t>44 · Waar is lokaal 204?</a:t>
            </a:r>
            <a:r>
              <a:rPr lang="en-US" sz="1500" i="1" dirty="0">
                <a:solidFill>
                  <a:srgbClr val="6B7280"/>
                </a:solidFill>
                <a:latin typeface="Calibri" pitchFamily="34" charset="0"/>
                <a:ea typeface="Calibri" pitchFamily="34" charset="-122"/>
                <a:cs typeface="Calibri" pitchFamily="34" charset="-120"/>
              </a:rPr>
              <a:t>   Où est le local 204 ?</a:t>
            </a:r>
            <a:r>
              <a:rPr lang="en-US" sz="1200" dirty="0">
                <a:solidFill>
                  <a:srgbClr val="9AA3B2"/>
                </a:solidFill>
                <a:latin typeface="Calibri" pitchFamily="34" charset="0"/>
                <a:ea typeface="Calibri" pitchFamily="34" charset="-122"/>
                <a:cs typeface="Calibri" pitchFamily="34" charset="-120"/>
              </a:rPr>
              <a:t>   ·   syllabus fiche 9 · p. 100</a:t>
            </a:r>
            <a:endParaRPr lang="en-US" sz="1500" dirty="0"/>
          </a:p>
        </p:txBody>
      </p:sp>
      <p:sp>
        <p:nvSpPr>
          <p:cNvPr id="7" name="Shape 4"/>
          <p:cNvSpPr/>
          <p:nvPr/>
        </p:nvSpPr>
        <p:spPr>
          <a:xfrm>
            <a:off x="1596085" y="1504645"/>
            <a:ext cx="4534510" cy="2905735"/>
          </a:xfrm>
          <a:prstGeom prst="roundRect">
            <a:avLst>
              <a:gd name="adj" fmla="val 1259"/>
            </a:avLst>
          </a:prstGeom>
          <a:solidFill>
            <a:srgbClr val="FFFFFF"/>
          </a:solidFill>
          <a:ln w="9525">
            <a:solidFill>
              <a:srgbClr val="E3E7EE"/>
            </a:solidFill>
            <a:prstDash val="solid"/>
          </a:ln>
          <a:effectLst>
            <a:outerShdw sx="100000" sy="100000" kx="0" ky="0" algn="bl" rotWithShape="0" blurRad="127000" dist="50800" dir="5400000">
              <a:srgbClr val="1B2430">
                <a:alpha val="25000"/>
              </a:srgbClr>
            </a:outerShdw>
          </a:effectLst>
        </p:spPr>
      </p:sp>
      <p:pic>
        <p:nvPicPr>
          <p:cNvPr id="8" name="Image 0" descr="/home/user/talenleren/neerlandais1/generateur/img/vijfzinnen/a1_weg_s.jpg">    </p:cNvPr>
          <p:cNvPicPr>
            <a:picLocks noChangeAspect="1"/>
          </p:cNvPicPr>
          <p:nvPr/>
        </p:nvPicPr>
        <p:blipFill>
          <a:blip r:embed="rId1"/>
          <a:stretch>
            <a:fillRect/>
          </a:stretch>
        </p:blipFill>
        <p:spPr>
          <a:xfrm>
            <a:off x="1691640" y="1600200"/>
            <a:ext cx="4343400" cy="2714625"/>
          </a:xfrm>
          <a:prstGeom prst="rect">
            <a:avLst/>
          </a:prstGeom>
        </p:spPr>
      </p:pic>
      <p:sp>
        <p:nvSpPr>
          <p:cNvPr id="9" name="Shape 5"/>
          <p:cNvSpPr/>
          <p:nvPr/>
        </p:nvSpPr>
        <p:spPr>
          <a:xfrm>
            <a:off x="1691640" y="4572000"/>
            <a:ext cx="1600200" cy="365760"/>
          </a:xfrm>
          <a:prstGeom prst="roundRect">
            <a:avLst>
              <a:gd name="adj" fmla="val 50000"/>
            </a:avLst>
          </a:prstGeom>
          <a:solidFill>
            <a:srgbClr val="FDF1E6"/>
          </a:solidFill>
          <a:ln w="12700">
            <a:solidFill>
              <a:srgbClr val="D9822B"/>
            </a:solidFill>
            <a:prstDash val="solid"/>
          </a:ln>
        </p:spPr>
      </p:sp>
      <p:pic>
        <p:nvPicPr>
          <p:cNvPr id="10" name="Image 1" descr="Comments">    </p:cNvPr>
          <p:cNvPicPr>
            <a:picLocks noChangeAspect="1"/>
          </p:cNvPicPr>
          <p:nvPr/>
        </p:nvPicPr>
        <p:blipFill>
          <a:blip r:embed="rId2"/>
          <a:stretch>
            <a:fillRect/>
          </a:stretch>
        </p:blipFill>
        <p:spPr>
          <a:xfrm>
            <a:off x="1819656" y="4654296"/>
            <a:ext cx="201168" cy="201168"/>
          </a:xfrm>
          <a:prstGeom prst="rect">
            <a:avLst/>
          </a:prstGeom>
        </p:spPr>
      </p:pic>
      <p:sp>
        <p:nvSpPr>
          <p:cNvPr id="11" name="Text 6"/>
          <p:cNvSpPr txBox="1"/>
          <p:nvPr/>
        </p:nvSpPr>
        <p:spPr>
          <a:xfrm>
            <a:off x="2075688" y="4572000"/>
            <a:ext cx="1143000" cy="365760"/>
          </a:xfrm>
          <a:prstGeom prst="rect">
            <a:avLst/>
          </a:prstGeom>
          <a:noFill/>
          <a:ln/>
        </p:spPr>
        <p:txBody>
          <a:bodyPr wrap="square" lIns="0" tIns="0" rIns="0" bIns="0" rtlCol="0" anchor="ctr"/>
          <a:lstStyle/>
          <a:p>
            <a:pPr algn="l" indent="0" marL="0">
              <a:buNone/>
            </a:pPr>
            <a:r>
              <a:rPr lang="en-US" sz="1150" b="1" spc="100" kern="0" dirty="0">
                <a:solidFill>
                  <a:srgbClr val="D9822B"/>
                </a:solidFill>
                <a:latin typeface="Calibri" pitchFamily="34" charset="0"/>
                <a:ea typeface="Calibri" pitchFamily="34" charset="-122"/>
                <a:cs typeface="Calibri" pitchFamily="34" charset="-120"/>
              </a:rPr>
              <a:t>À L’ORAL</a:t>
            </a:r>
            <a:endParaRPr lang="en-US" sz="1150" dirty="0"/>
          </a:p>
        </p:txBody>
      </p:sp>
      <p:sp>
        <p:nvSpPr>
          <p:cNvPr id="12" name="Text 7"/>
          <p:cNvSpPr txBox="1"/>
          <p:nvPr/>
        </p:nvSpPr>
        <p:spPr>
          <a:xfrm>
            <a:off x="3429000" y="4544568"/>
            <a:ext cx="2651760" cy="731520"/>
          </a:xfrm>
          <a:prstGeom prst="rect">
            <a:avLst/>
          </a:prstGeom>
          <a:noFill/>
          <a:ln/>
        </p:spPr>
        <p:txBody>
          <a:bodyPr wrap="square" lIns="0" tIns="0" rIns="0" bIns="0" rtlCol="0" anchor="t"/>
          <a:lstStyle/>
          <a:p>
            <a:pPr algn="l" indent="0" marL="0">
              <a:buNone/>
            </a:pPr>
            <a:r>
              <a:rPr lang="en-US" sz="1150" i="1" dirty="0">
                <a:solidFill>
                  <a:srgbClr val="6B7280"/>
                </a:solidFill>
                <a:latin typeface="Calibri" pitchFamily="34" charset="0"/>
                <a:ea typeface="Calibri" pitchFamily="34" charset="-122"/>
                <a:cs typeface="Calibri" pitchFamily="34" charset="-120"/>
              </a:rPr>
              <a:t>À l’école, vous cherchez le local 204. Vous demandez votre chemin.</a:t>
            </a:r>
            <a:endParaRPr lang="en-US" sz="1150" dirty="0"/>
          </a:p>
        </p:txBody>
      </p:sp>
      <p:sp>
        <p:nvSpPr>
          <p:cNvPr id="13" name="Shape 8"/>
          <p:cNvSpPr/>
          <p:nvPr/>
        </p:nvSpPr>
        <p:spPr>
          <a:xfrm>
            <a:off x="6355080" y="1627632"/>
            <a:ext cx="914400" cy="402336"/>
          </a:xfrm>
          <a:prstGeom prst="roundRect">
            <a:avLst>
              <a:gd name="adj" fmla="val 13636"/>
            </a:avLst>
          </a:prstGeom>
          <a:solidFill>
            <a:srgbClr val="5FA873"/>
          </a:solidFill>
          <a:ln w="12700">
            <a:solidFill>
              <a:srgbClr val="FFFFFF">
                <a:alpha val="0"/>
              </a:srgbClr>
            </a:solidFill>
            <a:prstDash val="solid"/>
          </a:ln>
        </p:spPr>
      </p:sp>
      <p:sp>
        <p:nvSpPr>
          <p:cNvPr id="14" name="Text 9"/>
          <p:cNvSpPr txBox="1"/>
          <p:nvPr/>
        </p:nvSpPr>
        <p:spPr>
          <a:xfrm>
            <a:off x="6355080" y="162763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1</a:t>
            </a:r>
            <a:endParaRPr lang="en-US" sz="1600" dirty="0"/>
          </a:p>
        </p:txBody>
      </p:sp>
      <p:sp>
        <p:nvSpPr>
          <p:cNvPr id="15" name="Text 10"/>
          <p:cNvSpPr txBox="1"/>
          <p:nvPr/>
        </p:nvSpPr>
        <p:spPr>
          <a:xfrm>
            <a:off x="7406640" y="1572768"/>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Abordez poliment : </a:t>
            </a:r>
            <a:r>
              <a:rPr lang="en-US" sz="1450" b="1" dirty="0">
                <a:solidFill>
                  <a:srgbClr val="2B2F38"/>
                </a:solidFill>
              </a:rPr>
              <a:t>PARDON, MAG IK IETS VRAGEN?</a:t>
            </a:r>
            <a:endParaRPr lang="en-US" sz="1450" dirty="0"/>
          </a:p>
        </p:txBody>
      </p:sp>
      <p:sp>
        <p:nvSpPr>
          <p:cNvPr id="16" name="Shape 11"/>
          <p:cNvSpPr/>
          <p:nvPr/>
        </p:nvSpPr>
        <p:spPr>
          <a:xfrm>
            <a:off x="6355080" y="2231136"/>
            <a:ext cx="914400" cy="402336"/>
          </a:xfrm>
          <a:prstGeom prst="roundRect">
            <a:avLst>
              <a:gd name="adj" fmla="val 13636"/>
            </a:avLst>
          </a:prstGeom>
          <a:solidFill>
            <a:srgbClr val="5FA873"/>
          </a:solidFill>
          <a:ln w="12700">
            <a:solidFill>
              <a:srgbClr val="FFFFFF">
                <a:alpha val="0"/>
              </a:srgbClr>
            </a:solidFill>
            <a:prstDash val="solid"/>
          </a:ln>
        </p:spPr>
      </p:sp>
      <p:sp>
        <p:nvSpPr>
          <p:cNvPr id="17" name="Text 12"/>
          <p:cNvSpPr txBox="1"/>
          <p:nvPr/>
        </p:nvSpPr>
        <p:spPr>
          <a:xfrm>
            <a:off x="6355080" y="2231136"/>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2</a:t>
            </a:r>
            <a:endParaRPr lang="en-US" sz="1600" dirty="0"/>
          </a:p>
        </p:txBody>
      </p:sp>
      <p:sp>
        <p:nvSpPr>
          <p:cNvPr id="18" name="Text 13"/>
          <p:cNvSpPr txBox="1"/>
          <p:nvPr/>
        </p:nvSpPr>
        <p:spPr>
          <a:xfrm>
            <a:off x="7406640" y="2176272"/>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Votre question : </a:t>
            </a:r>
            <a:r>
              <a:rPr lang="en-US" sz="1450" b="1" dirty="0">
                <a:solidFill>
                  <a:srgbClr val="2B2F38"/>
                </a:solidFill>
              </a:rPr>
              <a:t>WAAR IS</a:t>
            </a:r>
            <a:r>
              <a:rPr lang="en-US" sz="1450" dirty="0">
                <a:solidFill>
                  <a:srgbClr val="2B2F38"/>
                </a:solidFill>
              </a:rPr>
              <a:t> lokaal 204?</a:t>
            </a:r>
            <a:endParaRPr lang="en-US" sz="1450" dirty="0"/>
          </a:p>
        </p:txBody>
      </p:sp>
      <p:sp>
        <p:nvSpPr>
          <p:cNvPr id="19" name="Shape 14"/>
          <p:cNvSpPr/>
          <p:nvPr/>
        </p:nvSpPr>
        <p:spPr>
          <a:xfrm>
            <a:off x="6355080" y="2834640"/>
            <a:ext cx="914400" cy="402336"/>
          </a:xfrm>
          <a:prstGeom prst="roundRect">
            <a:avLst>
              <a:gd name="adj" fmla="val 13636"/>
            </a:avLst>
          </a:prstGeom>
          <a:solidFill>
            <a:srgbClr val="5FA873"/>
          </a:solidFill>
          <a:ln w="12700">
            <a:solidFill>
              <a:srgbClr val="FFFFFF">
                <a:alpha val="0"/>
              </a:srgbClr>
            </a:solidFill>
            <a:prstDash val="solid"/>
          </a:ln>
        </p:spPr>
      </p:sp>
      <p:sp>
        <p:nvSpPr>
          <p:cNvPr id="20" name="Text 15"/>
          <p:cNvSpPr txBox="1"/>
          <p:nvPr/>
        </p:nvSpPr>
        <p:spPr>
          <a:xfrm>
            <a:off x="6355080" y="2834640"/>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3</a:t>
            </a:r>
            <a:endParaRPr lang="en-US" sz="1600" dirty="0"/>
          </a:p>
        </p:txBody>
      </p:sp>
      <p:sp>
        <p:nvSpPr>
          <p:cNvPr id="21" name="Text 16"/>
          <p:cNvSpPr txBox="1"/>
          <p:nvPr/>
        </p:nvSpPr>
        <p:spPr>
          <a:xfrm>
            <a:off x="7406640" y="2779776"/>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La réponse : </a:t>
            </a:r>
            <a:r>
              <a:rPr lang="en-US" sz="1450" b="1" dirty="0">
                <a:solidFill>
                  <a:srgbClr val="2B2F38"/>
                </a:solidFill>
              </a:rPr>
              <a:t>LINKS</a:t>
            </a:r>
            <a:r>
              <a:rPr lang="en-US" sz="1450" dirty="0">
                <a:solidFill>
                  <a:srgbClr val="2B2F38"/>
                </a:solidFill>
              </a:rPr>
              <a:t>, </a:t>
            </a:r>
            <a:r>
              <a:rPr lang="en-US" sz="1450" b="1" dirty="0">
                <a:solidFill>
                  <a:srgbClr val="2B2F38"/>
                </a:solidFill>
              </a:rPr>
              <a:t>RECHTS</a:t>
            </a:r>
            <a:r>
              <a:rPr lang="en-US" sz="1450" dirty="0">
                <a:solidFill>
                  <a:srgbClr val="2B2F38"/>
                </a:solidFill>
              </a:rPr>
              <a:t> ou </a:t>
            </a:r>
            <a:r>
              <a:rPr lang="en-US" sz="1450" b="1" dirty="0">
                <a:solidFill>
                  <a:srgbClr val="2B2F38"/>
                </a:solidFill>
              </a:rPr>
              <a:t>RECHTDOOR</a:t>
            </a:r>
            <a:r>
              <a:rPr lang="en-US" sz="1450" dirty="0">
                <a:solidFill>
                  <a:srgbClr val="2B2F38"/>
                </a:solidFill>
              </a:rPr>
              <a:t>.</a:t>
            </a:r>
            <a:endParaRPr lang="en-US" sz="1450" dirty="0"/>
          </a:p>
        </p:txBody>
      </p:sp>
      <p:sp>
        <p:nvSpPr>
          <p:cNvPr id="22" name="Shape 17"/>
          <p:cNvSpPr/>
          <p:nvPr/>
        </p:nvSpPr>
        <p:spPr>
          <a:xfrm>
            <a:off x="6355080" y="3438144"/>
            <a:ext cx="914400" cy="402336"/>
          </a:xfrm>
          <a:prstGeom prst="roundRect">
            <a:avLst>
              <a:gd name="adj" fmla="val 13636"/>
            </a:avLst>
          </a:prstGeom>
          <a:solidFill>
            <a:srgbClr val="5FA873"/>
          </a:solidFill>
          <a:ln w="12700">
            <a:solidFill>
              <a:srgbClr val="FFFFFF">
                <a:alpha val="0"/>
              </a:srgbClr>
            </a:solidFill>
            <a:prstDash val="solid"/>
          </a:ln>
        </p:spPr>
      </p:sp>
      <p:sp>
        <p:nvSpPr>
          <p:cNvPr id="23" name="Text 18"/>
          <p:cNvSpPr txBox="1"/>
          <p:nvPr/>
        </p:nvSpPr>
        <p:spPr>
          <a:xfrm>
            <a:off x="6355080" y="3438144"/>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4</a:t>
            </a:r>
            <a:endParaRPr lang="en-US" sz="1600" dirty="0"/>
          </a:p>
        </p:txBody>
      </p:sp>
      <p:sp>
        <p:nvSpPr>
          <p:cNvPr id="24" name="Text 19"/>
          <p:cNvSpPr txBox="1"/>
          <p:nvPr/>
        </p:nvSpPr>
        <p:spPr>
          <a:xfrm>
            <a:off x="7406640" y="3383280"/>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Remerciez : </a:t>
            </a:r>
            <a:r>
              <a:rPr lang="en-US" sz="1450" b="1" dirty="0">
                <a:solidFill>
                  <a:srgbClr val="2B2F38"/>
                </a:solidFill>
              </a:rPr>
              <a:t>DANK U WEL!</a:t>
            </a:r>
            <a:endParaRPr lang="en-US" sz="1450" dirty="0"/>
          </a:p>
        </p:txBody>
      </p:sp>
      <p:sp>
        <p:nvSpPr>
          <p:cNvPr id="25" name="Shape 20"/>
          <p:cNvSpPr/>
          <p:nvPr/>
        </p:nvSpPr>
        <p:spPr>
          <a:xfrm>
            <a:off x="6355080" y="4041648"/>
            <a:ext cx="914400" cy="402336"/>
          </a:xfrm>
          <a:prstGeom prst="roundRect">
            <a:avLst>
              <a:gd name="adj" fmla="val 13636"/>
            </a:avLst>
          </a:prstGeom>
          <a:solidFill>
            <a:srgbClr val="5FA873"/>
          </a:solidFill>
          <a:ln w="12700">
            <a:solidFill>
              <a:srgbClr val="FFFFFF">
                <a:alpha val="0"/>
              </a:srgbClr>
            </a:solidFill>
            <a:prstDash val="solid"/>
          </a:ln>
        </p:spPr>
      </p:sp>
      <p:sp>
        <p:nvSpPr>
          <p:cNvPr id="26" name="Text 21"/>
          <p:cNvSpPr txBox="1"/>
          <p:nvPr/>
        </p:nvSpPr>
        <p:spPr>
          <a:xfrm>
            <a:off x="6355080" y="4041648"/>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5</a:t>
            </a:r>
            <a:endParaRPr lang="en-US" sz="1600" dirty="0"/>
          </a:p>
        </p:txBody>
      </p:sp>
      <p:sp>
        <p:nvSpPr>
          <p:cNvPr id="27" name="Text 22"/>
          <p:cNvSpPr txBox="1"/>
          <p:nvPr/>
        </p:nvSpPr>
        <p:spPr>
          <a:xfrm>
            <a:off x="7406640" y="3986784"/>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Une chute : le local est… juste là !</a:t>
            </a:r>
            <a:endParaRPr lang="en-US" sz="1450" dirty="0"/>
          </a:p>
        </p:txBody>
      </p:sp>
      <p:sp>
        <p:nvSpPr>
          <p:cNvPr id="28" name="Shape 23"/>
          <p:cNvSpPr/>
          <p:nvPr/>
        </p:nvSpPr>
        <p:spPr>
          <a:xfrm>
            <a:off x="3246120" y="5440680"/>
            <a:ext cx="6858000" cy="822960"/>
          </a:xfrm>
          <a:prstGeom prst="roundRect">
            <a:avLst>
              <a:gd name="adj" fmla="val 17778"/>
            </a:avLst>
          </a:prstGeom>
          <a:solidFill>
            <a:srgbClr val="EAF5EC"/>
          </a:solidFill>
          <a:ln w="15875">
            <a:solidFill>
              <a:srgbClr val="5FA873"/>
            </a:solidFill>
            <a:prstDash val="solid"/>
          </a:ln>
        </p:spPr>
      </p:sp>
      <p:pic>
        <p:nvPicPr>
          <p:cNvPr id="29" name="Image 2" descr="UserFriends">    </p:cNvPr>
          <p:cNvPicPr>
            <a:picLocks noChangeAspect="1"/>
          </p:cNvPicPr>
          <p:nvPr/>
        </p:nvPicPr>
        <p:blipFill>
          <a:blip r:embed="rId3"/>
          <a:stretch>
            <a:fillRect/>
          </a:stretch>
        </p:blipFill>
        <p:spPr>
          <a:xfrm>
            <a:off x="3520440" y="5660136"/>
            <a:ext cx="384048" cy="384048"/>
          </a:xfrm>
          <a:prstGeom prst="rect">
            <a:avLst/>
          </a:prstGeom>
        </p:spPr>
      </p:pic>
      <p:sp>
        <p:nvSpPr>
          <p:cNvPr id="30" name="Text 24"/>
          <p:cNvSpPr txBox="1"/>
          <p:nvPr/>
        </p:nvSpPr>
        <p:spPr>
          <a:xfrm>
            <a:off x="4114800" y="5440680"/>
            <a:ext cx="5852160" cy="822960"/>
          </a:xfrm>
          <a:prstGeom prst="rect">
            <a:avLst/>
          </a:prstGeom>
          <a:noFill/>
          <a:ln/>
        </p:spPr>
        <p:txBody>
          <a:bodyPr wrap="square" lIns="0" tIns="0" rIns="0" bIns="0" rtlCol="0" anchor="ctr"/>
          <a:lstStyle/>
          <a:p>
            <a:pPr algn="ctr" indent="0" marL="0">
              <a:buNone/>
            </a:pPr>
            <a:r>
              <a:rPr lang="en-US" sz="1800" b="1" dirty="0">
                <a:solidFill>
                  <a:srgbClr val="2E6B44"/>
                </a:solidFill>
                <a:latin typeface="Calibri" pitchFamily="34" charset="0"/>
                <a:ea typeface="Calibri" pitchFamily="34" charset="-122"/>
                <a:cs typeface="Calibri" pitchFamily="34" charset="-120"/>
              </a:rPr>
              <a:t>Vertel je verhaal aan je partner.</a:t>
            </a:r>
            <a:endParaRPr lang="en-US" sz="1800" dirty="0"/>
          </a:p>
          <a:p>
            <a:pPr algn="ctr" indent="0" marL="0">
              <a:buNone/>
            </a:pPr>
            <a:r>
              <a:rPr lang="en-US" sz="1800" b="1" dirty="0">
                <a:solidFill>
                  <a:srgbClr val="2E6B44"/>
                </a:solidFill>
                <a:latin typeface="Calibri" pitchFamily="34" charset="0"/>
                <a:ea typeface="Calibri" pitchFamily="34" charset="-122"/>
                <a:cs typeface="Calibri" pitchFamily="34" charset="-120"/>
              </a:rPr>
              <a:t>Wat denkt hij/zij daarvan?</a:t>
            </a:r>
            <a:endParaRPr lang="en-US" sz="1800" dirty="0"/>
          </a:p>
        </p:txBody>
      </p:sp>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138</a:t>
            </a:fld>
            <a:endParaRPr lang="en-US"/>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name="Slide 139">
    <p:spTree>
      <p:nvGrpSpPr>
        <p:cNvPr id="1" name=""/>
        <p:cNvGrpSpPr/>
        <p:nvPr/>
      </p:nvGrpSpPr>
      <p:grpSpPr>
        <a:xfrm>
          <a:off x="0" y="0"/>
          <a:ext cx="0" cy="0"/>
          <a:chOff x="0" y="0"/>
          <a:chExt cx="0" cy="0"/>
        </a:xfrm>
      </p:grpSpPr>
      <p:sp>
        <p:nvSpPr>
          <p:cNvPr id="2" name="Text 1"/>
          <p:cNvSpPr/>
          <p:nvPr>
            <p:ph idx="101" type="title" hasCustomPrompt="1"/>
          </p:nvPr>
        </p:nvSpPr>
        <p:spPr>
          <a:xfrm>
            <a:off x="1554480" y="384048"/>
            <a:ext cx="10241280" cy="658368"/>
          </a:xfrm>
          <a:prstGeom prst="rect">
            <a:avLst/>
          </a:prstGeom>
          <a:noFill/>
          <a:ln/>
        </p:spPr>
        <p:txBody>
          <a:bodyPr wrap="square" lIns="0" tIns="0" rIns="0" bIns="0" rtlCol="0" anchor="ctr"/>
          <a:lstStyle/>
          <a:p>
            <a:pPr algn="ctr" indent="0" marL="0">
              <a:buNone/>
            </a:pPr>
            <a:r>
              <a:rPr lang="en-US" sz="3000" b="1" dirty="0">
                <a:solidFill>
                  <a:srgbClr val="2B2F38"/>
                </a:solidFill>
              </a:rPr>
              <a:t>Waar is lokaal 204?</a:t>
            </a:r>
            <a:endParaRPr lang="en-US" sz="3000" dirty="0"/>
          </a:p>
        </p:txBody>
      </p:sp>
      <p:sp>
        <p:nvSpPr>
          <p:cNvPr id="4" name="Shape 1"/>
          <p:cNvSpPr/>
          <p:nvPr/>
        </p:nvSpPr>
        <p:spPr>
          <a:xfrm>
            <a:off x="365760" y="365760"/>
            <a:ext cx="868680" cy="5989320"/>
          </a:xfrm>
          <a:prstGeom prst="roundRect">
            <a:avLst>
              <a:gd name="adj" fmla="val 12632"/>
            </a:avLst>
          </a:prstGeom>
          <a:solidFill>
            <a:srgbClr val="F4E8F6"/>
          </a:solidFill>
          <a:ln w="28575">
            <a:solidFill>
              <a:srgbClr val="B57FCB"/>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7E4C97"/>
                </a:solidFill>
                <a:latin typeface="Calibri" pitchFamily="34" charset="0"/>
                <a:ea typeface="Calibri" pitchFamily="34" charset="-122"/>
                <a:cs typeface="Calibri" pitchFamily="34" charset="-120"/>
              </a:rPr>
              <a:t>A1 · Situations</a:t>
            </a:r>
            <a:endParaRPr lang="en-US" sz="3800" dirty="0"/>
          </a:p>
        </p:txBody>
      </p:sp>
      <p:sp>
        <p:nvSpPr>
          <p:cNvPr id="6" name="Shape 3"/>
          <p:cNvSpPr/>
          <p:nvPr/>
        </p:nvSpPr>
        <p:spPr>
          <a:xfrm>
            <a:off x="2519172" y="1124712"/>
            <a:ext cx="8311896" cy="5277231"/>
          </a:xfrm>
          <a:prstGeom prst="roundRect">
            <a:avLst>
              <a:gd name="adj" fmla="val 693"/>
            </a:avLst>
          </a:prstGeom>
          <a:solidFill>
            <a:srgbClr val="FFFFFF"/>
          </a:solidFill>
          <a:ln w="9525">
            <a:solidFill>
              <a:srgbClr val="E3E7EE"/>
            </a:solidFill>
            <a:prstDash val="solid"/>
          </a:ln>
          <a:effectLst>
            <a:outerShdw sx="100000" sy="100000" kx="0" ky="0" algn="bl" rotWithShape="0" blurRad="177800" dist="63500" dir="5400000">
              <a:srgbClr val="1B2430">
                <a:alpha val="25000"/>
              </a:srgbClr>
            </a:outerShdw>
          </a:effectLst>
        </p:spPr>
      </p:sp>
      <p:pic>
        <p:nvPicPr>
          <p:cNvPr id="7" name="Image 0" descr="/home/user/talenleren/neerlandais1/generateur/img/vijfzinnen/a1_weg.jpg">    </p:cNvPr>
          <p:cNvPicPr>
            <a:picLocks noChangeAspect="1"/>
          </p:cNvPicPr>
          <p:nvPr/>
        </p:nvPicPr>
        <p:blipFill>
          <a:blip r:embed="rId1"/>
          <a:stretch>
            <a:fillRect/>
          </a:stretch>
        </p:blipFill>
        <p:spPr>
          <a:xfrm>
            <a:off x="2628900" y="1234440"/>
            <a:ext cx="8092440" cy="5057775"/>
          </a:xfrm>
          <a:prstGeom prst="rect">
            <a:avLst/>
          </a:prstGeom>
        </p:spPr>
      </p:pic>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139</a:t>
            </a:fld>
            <a:endParaRPr lang="en-US"/>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name="Slide 140">
    <p:spTree>
      <p:nvGrpSpPr>
        <p:cNvPr id="1" name=""/>
        <p:cNvGrpSpPr/>
        <p:nvPr/>
      </p:nvGrpSpPr>
      <p:grpSpPr>
        <a:xfrm>
          <a:off x="0" y="0"/>
          <a:ext cx="0" cy="0"/>
          <a:chOff x="0" y="0"/>
          <a:chExt cx="0" cy="0"/>
        </a:xfrm>
      </p:grpSpPr>
      <p:sp>
        <p:nvSpPr>
          <p:cNvPr id="2" name="Text 1"/>
          <p:cNvSpPr/>
          <p:nvPr>
            <p:ph idx="101" type="title" hasCustomPrompt="1"/>
          </p:nvPr>
        </p:nvSpPr>
        <p:spPr>
          <a:xfrm>
            <a:off x="1691640" y="347472"/>
            <a:ext cx="8138160" cy="914400"/>
          </a:xfrm>
          <a:prstGeom prst="rect">
            <a:avLst/>
          </a:prstGeom>
          <a:noFill/>
          <a:ln/>
        </p:spPr>
        <p:txBody>
          <a:bodyPr wrap="square" lIns="0" tIns="0" rIns="0" bIns="0" rtlCol="0" anchor="ctr"/>
          <a:lstStyle/>
          <a:p>
            <a:pPr algn="l" indent="0" marL="0">
              <a:buNone/>
            </a:pPr>
            <a:r>
              <a:rPr lang="en-US" sz="2400" b="1" dirty="0">
                <a:solidFill>
                  <a:srgbClr val="2B2F38"/>
                </a:solidFill>
              </a:rPr>
              <a:t>Hier is een voorbeeld van wat je had kunnen denken en zeggen…</a:t>
            </a:r>
            <a:endParaRPr lang="en-US" sz="2400" dirty="0"/>
          </a:p>
        </p:txBody>
      </p:sp>
      <p:sp>
        <p:nvSpPr>
          <p:cNvPr id="4" name="Shape 1"/>
          <p:cNvSpPr/>
          <p:nvPr/>
        </p:nvSpPr>
        <p:spPr>
          <a:xfrm>
            <a:off x="365760" y="365760"/>
            <a:ext cx="868680" cy="5989320"/>
          </a:xfrm>
          <a:prstGeom prst="roundRect">
            <a:avLst>
              <a:gd name="adj" fmla="val 12632"/>
            </a:avLst>
          </a:prstGeom>
          <a:solidFill>
            <a:srgbClr val="F4E8F6"/>
          </a:solidFill>
          <a:ln w="28575">
            <a:solidFill>
              <a:srgbClr val="B57FCB"/>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7E4C97"/>
                </a:solidFill>
                <a:latin typeface="Calibri" pitchFamily="34" charset="0"/>
                <a:ea typeface="Calibri" pitchFamily="34" charset="-122"/>
                <a:cs typeface="Calibri" pitchFamily="34" charset="-120"/>
              </a:rPr>
              <a:t>A1 · Situations</a:t>
            </a:r>
            <a:endParaRPr lang="en-US" sz="3800" dirty="0"/>
          </a:p>
        </p:txBody>
      </p:sp>
      <p:sp>
        <p:nvSpPr>
          <p:cNvPr id="6" name="Shape 3"/>
          <p:cNvSpPr/>
          <p:nvPr/>
        </p:nvSpPr>
        <p:spPr>
          <a:xfrm>
            <a:off x="10058400" y="246888"/>
            <a:ext cx="1691640" cy="1091565"/>
          </a:xfrm>
          <a:prstGeom prst="roundRect">
            <a:avLst>
              <a:gd name="adj" fmla="val 3351"/>
            </a:avLst>
          </a:prstGeom>
          <a:solidFill>
            <a:srgbClr val="FFFFFF"/>
          </a:solidFill>
          <a:ln w="9525">
            <a:solidFill>
              <a:srgbClr val="E3E7EE"/>
            </a:solidFill>
            <a:prstDash val="solid"/>
          </a:ln>
          <a:effectLst>
            <a:outerShdw sx="100000" sy="100000" kx="0" ky="0" algn="bl" rotWithShape="0" blurRad="76200" dist="25400" dir="5400000">
              <a:srgbClr val="1B2430">
                <a:alpha val="25000"/>
              </a:srgbClr>
            </a:outerShdw>
          </a:effectLst>
        </p:spPr>
      </p:sp>
      <p:pic>
        <p:nvPicPr>
          <p:cNvPr id="7" name="Image 0" descr="/home/user/talenleren/neerlandais1/generateur/img/vijfzinnen/a1_weg_s.jpg">    </p:cNvPr>
          <p:cNvPicPr>
            <a:picLocks noChangeAspect="1"/>
          </p:cNvPicPr>
          <p:nvPr/>
        </p:nvPicPr>
        <p:blipFill>
          <a:blip r:embed="rId1"/>
          <a:stretch>
            <a:fillRect/>
          </a:stretch>
        </p:blipFill>
        <p:spPr>
          <a:xfrm>
            <a:off x="10104120" y="292608"/>
            <a:ext cx="1600200" cy="1000125"/>
          </a:xfrm>
          <a:prstGeom prst="rect">
            <a:avLst/>
          </a:prstGeom>
        </p:spPr>
      </p:pic>
      <p:sp>
        <p:nvSpPr>
          <p:cNvPr id="8" name="Text 4"/>
          <p:cNvSpPr txBox="1"/>
          <p:nvPr/>
        </p:nvSpPr>
        <p:spPr>
          <a:xfrm>
            <a:off x="1691640" y="2264664"/>
            <a:ext cx="458724"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a:t>
            </a:r>
            <a:endParaRPr lang="en-US" sz="2400" dirty="0"/>
          </a:p>
        </p:txBody>
      </p:sp>
      <p:sp>
        <p:nvSpPr>
          <p:cNvPr id="9" name="Shape 5"/>
          <p:cNvSpPr/>
          <p:nvPr/>
        </p:nvSpPr>
        <p:spPr>
          <a:xfrm>
            <a:off x="2054657" y="2276856"/>
            <a:ext cx="3442106" cy="371856"/>
          </a:xfrm>
          <a:prstGeom prst="roundRect">
            <a:avLst>
              <a:gd name="adj" fmla="val 12295"/>
            </a:avLst>
          </a:prstGeom>
          <a:solidFill>
            <a:srgbClr val="E6F3DA"/>
          </a:solidFill>
          <a:ln w="12700">
            <a:solidFill>
              <a:srgbClr val="FFFFFF">
                <a:alpha val="0"/>
              </a:srgbClr>
            </a:solidFill>
            <a:prstDash val="solid"/>
          </a:ln>
        </p:spPr>
      </p:sp>
      <p:sp>
        <p:nvSpPr>
          <p:cNvPr id="10" name="Text 6"/>
          <p:cNvSpPr txBox="1"/>
          <p:nvPr/>
        </p:nvSpPr>
        <p:spPr>
          <a:xfrm>
            <a:off x="2054657" y="2264664"/>
            <a:ext cx="3442106"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Pardon, mag ik iets vragen</a:t>
            </a:r>
            <a:endParaRPr lang="en-US" sz="2400" dirty="0"/>
          </a:p>
        </p:txBody>
      </p:sp>
      <p:sp>
        <p:nvSpPr>
          <p:cNvPr id="11" name="Text 7"/>
          <p:cNvSpPr txBox="1"/>
          <p:nvPr/>
        </p:nvSpPr>
        <p:spPr>
          <a:xfrm>
            <a:off x="5496763" y="2264664"/>
            <a:ext cx="324002"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a:t>
            </a:r>
            <a:endParaRPr lang="en-US" sz="2400" dirty="0"/>
          </a:p>
        </p:txBody>
      </p:sp>
      <p:sp>
        <p:nvSpPr>
          <p:cNvPr id="12" name="Shape 8"/>
          <p:cNvSpPr/>
          <p:nvPr/>
        </p:nvSpPr>
        <p:spPr>
          <a:xfrm>
            <a:off x="5725058" y="2276856"/>
            <a:ext cx="1042416" cy="371856"/>
          </a:xfrm>
          <a:prstGeom prst="roundRect">
            <a:avLst>
              <a:gd name="adj" fmla="val 12295"/>
            </a:avLst>
          </a:prstGeom>
          <a:solidFill>
            <a:srgbClr val="E6F3DA"/>
          </a:solidFill>
          <a:ln w="12700">
            <a:solidFill>
              <a:srgbClr val="FFFFFF">
                <a:alpha val="0"/>
              </a:srgbClr>
            </a:solidFill>
            <a:prstDash val="solid"/>
          </a:ln>
        </p:spPr>
      </p:sp>
      <p:sp>
        <p:nvSpPr>
          <p:cNvPr id="13" name="Text 9"/>
          <p:cNvSpPr txBox="1"/>
          <p:nvPr/>
        </p:nvSpPr>
        <p:spPr>
          <a:xfrm>
            <a:off x="5725058" y="2264664"/>
            <a:ext cx="1042416"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Waar is</a:t>
            </a:r>
            <a:endParaRPr lang="en-US" sz="2400" dirty="0"/>
          </a:p>
        </p:txBody>
      </p:sp>
      <p:sp>
        <p:nvSpPr>
          <p:cNvPr id="14" name="Text 10"/>
          <p:cNvSpPr txBox="1"/>
          <p:nvPr/>
        </p:nvSpPr>
        <p:spPr>
          <a:xfrm>
            <a:off x="6854647" y="2264664"/>
            <a:ext cx="1606296"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lokaal 204?</a:t>
            </a:r>
            <a:endParaRPr lang="en-US" sz="2400" dirty="0"/>
          </a:p>
        </p:txBody>
      </p:sp>
      <p:sp>
        <p:nvSpPr>
          <p:cNvPr id="15" name="Shape 11"/>
          <p:cNvSpPr/>
          <p:nvPr/>
        </p:nvSpPr>
        <p:spPr>
          <a:xfrm>
            <a:off x="3775710" y="2200656"/>
            <a:ext cx="914" cy="76200"/>
          </a:xfrm>
          <a:prstGeom prst="line">
            <a:avLst/>
          </a:prstGeom>
          <a:noFill/>
          <a:ln w="15875">
            <a:solidFill>
              <a:srgbClr val="7AB648"/>
            </a:solidFill>
            <a:prstDash val="solid"/>
          </a:ln>
        </p:spPr>
      </p:sp>
      <p:sp>
        <p:nvSpPr>
          <p:cNvPr id="16" name="Shape 12"/>
          <p:cNvSpPr/>
          <p:nvPr/>
        </p:nvSpPr>
        <p:spPr>
          <a:xfrm>
            <a:off x="3347676" y="1953768"/>
            <a:ext cx="856069" cy="246888"/>
          </a:xfrm>
          <a:prstGeom prst="roundRect">
            <a:avLst>
              <a:gd name="adj" fmla="val 14815"/>
            </a:avLst>
          </a:prstGeom>
          <a:solidFill>
            <a:srgbClr val="7AB648"/>
          </a:solidFill>
          <a:ln w="12700">
            <a:solidFill>
              <a:srgbClr val="FFFFFF">
                <a:alpha val="0"/>
              </a:srgbClr>
            </a:solidFill>
            <a:prstDash val="solid"/>
          </a:ln>
        </p:spPr>
      </p:sp>
      <p:sp>
        <p:nvSpPr>
          <p:cNvPr id="17" name="Text 13"/>
          <p:cNvSpPr txBox="1"/>
          <p:nvPr/>
        </p:nvSpPr>
        <p:spPr>
          <a:xfrm>
            <a:off x="3347676" y="1953768"/>
            <a:ext cx="856069"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MAG IK …?</a:t>
            </a:r>
            <a:endParaRPr lang="en-US" sz="1100" dirty="0"/>
          </a:p>
        </p:txBody>
      </p:sp>
      <p:sp>
        <p:nvSpPr>
          <p:cNvPr id="18" name="Shape 14"/>
          <p:cNvSpPr/>
          <p:nvPr/>
        </p:nvSpPr>
        <p:spPr>
          <a:xfrm>
            <a:off x="6246266" y="2200656"/>
            <a:ext cx="914" cy="76200"/>
          </a:xfrm>
          <a:prstGeom prst="line">
            <a:avLst/>
          </a:prstGeom>
          <a:noFill/>
          <a:ln w="15875">
            <a:solidFill>
              <a:srgbClr val="7AB648"/>
            </a:solidFill>
            <a:prstDash val="solid"/>
          </a:ln>
        </p:spPr>
      </p:sp>
      <p:sp>
        <p:nvSpPr>
          <p:cNvPr id="19" name="Shape 15"/>
          <p:cNvSpPr/>
          <p:nvPr/>
        </p:nvSpPr>
        <p:spPr>
          <a:xfrm>
            <a:off x="5881795" y="1953768"/>
            <a:ext cx="728942" cy="246888"/>
          </a:xfrm>
          <a:prstGeom prst="roundRect">
            <a:avLst>
              <a:gd name="adj" fmla="val 14815"/>
            </a:avLst>
          </a:prstGeom>
          <a:solidFill>
            <a:srgbClr val="7AB648"/>
          </a:solidFill>
          <a:ln w="12700">
            <a:solidFill>
              <a:srgbClr val="FFFFFF">
                <a:alpha val="0"/>
              </a:srgbClr>
            </a:solidFill>
            <a:prstDash val="solid"/>
          </a:ln>
        </p:spPr>
      </p:sp>
      <p:sp>
        <p:nvSpPr>
          <p:cNvPr id="20" name="Text 16"/>
          <p:cNvSpPr txBox="1"/>
          <p:nvPr/>
        </p:nvSpPr>
        <p:spPr>
          <a:xfrm>
            <a:off x="5881795" y="1953768"/>
            <a:ext cx="728942"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WAAR IS</a:t>
            </a:r>
            <a:endParaRPr lang="en-US" sz="1100" dirty="0"/>
          </a:p>
        </p:txBody>
      </p:sp>
      <p:sp>
        <p:nvSpPr>
          <p:cNvPr id="21" name="Text 17"/>
          <p:cNvSpPr txBox="1"/>
          <p:nvPr/>
        </p:nvSpPr>
        <p:spPr>
          <a:xfrm>
            <a:off x="1691640" y="3319272"/>
            <a:ext cx="2517343"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 Niet links, maar</a:t>
            </a:r>
            <a:endParaRPr lang="en-US" sz="2400" dirty="0"/>
          </a:p>
        </p:txBody>
      </p:sp>
      <p:sp>
        <p:nvSpPr>
          <p:cNvPr id="22" name="Shape 18"/>
          <p:cNvSpPr/>
          <p:nvPr/>
        </p:nvSpPr>
        <p:spPr>
          <a:xfrm>
            <a:off x="4113276" y="3331464"/>
            <a:ext cx="871423" cy="371856"/>
          </a:xfrm>
          <a:prstGeom prst="roundRect">
            <a:avLst>
              <a:gd name="adj" fmla="val 12295"/>
            </a:avLst>
          </a:prstGeom>
          <a:solidFill>
            <a:srgbClr val="E6F3DA"/>
          </a:solidFill>
          <a:ln w="12700">
            <a:solidFill>
              <a:srgbClr val="FFFFFF">
                <a:alpha val="0"/>
              </a:srgbClr>
            </a:solidFill>
            <a:prstDash val="solid"/>
          </a:ln>
        </p:spPr>
      </p:sp>
      <p:sp>
        <p:nvSpPr>
          <p:cNvPr id="23" name="Text 19"/>
          <p:cNvSpPr txBox="1"/>
          <p:nvPr/>
        </p:nvSpPr>
        <p:spPr>
          <a:xfrm>
            <a:off x="4113276" y="3319272"/>
            <a:ext cx="871423"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rechts</a:t>
            </a:r>
            <a:endParaRPr lang="en-US" sz="2400" dirty="0"/>
          </a:p>
        </p:txBody>
      </p:sp>
      <p:sp>
        <p:nvSpPr>
          <p:cNvPr id="24" name="Text 20"/>
          <p:cNvSpPr txBox="1"/>
          <p:nvPr/>
        </p:nvSpPr>
        <p:spPr>
          <a:xfrm>
            <a:off x="4984699" y="3319272"/>
            <a:ext cx="1670304"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 achteraan.</a:t>
            </a:r>
            <a:endParaRPr lang="en-US" sz="2400" dirty="0"/>
          </a:p>
        </p:txBody>
      </p:sp>
      <p:sp>
        <p:nvSpPr>
          <p:cNvPr id="25" name="Shape 21"/>
          <p:cNvSpPr/>
          <p:nvPr/>
        </p:nvSpPr>
        <p:spPr>
          <a:xfrm>
            <a:off x="4548988" y="3255264"/>
            <a:ext cx="914" cy="76200"/>
          </a:xfrm>
          <a:prstGeom prst="line">
            <a:avLst/>
          </a:prstGeom>
          <a:noFill/>
          <a:ln w="15875">
            <a:solidFill>
              <a:srgbClr val="7AB648"/>
            </a:solidFill>
            <a:prstDash val="solid"/>
          </a:ln>
        </p:spPr>
      </p:sp>
      <p:sp>
        <p:nvSpPr>
          <p:cNvPr id="26" name="Shape 22"/>
          <p:cNvSpPr/>
          <p:nvPr/>
        </p:nvSpPr>
        <p:spPr>
          <a:xfrm>
            <a:off x="4217206" y="3008376"/>
            <a:ext cx="663562" cy="246888"/>
          </a:xfrm>
          <a:prstGeom prst="roundRect">
            <a:avLst>
              <a:gd name="adj" fmla="val 14815"/>
            </a:avLst>
          </a:prstGeom>
          <a:solidFill>
            <a:srgbClr val="7AB648"/>
          </a:solidFill>
          <a:ln w="12700">
            <a:solidFill>
              <a:srgbClr val="FFFFFF">
                <a:alpha val="0"/>
              </a:srgbClr>
            </a:solidFill>
            <a:prstDash val="solid"/>
          </a:ln>
        </p:spPr>
      </p:sp>
      <p:sp>
        <p:nvSpPr>
          <p:cNvPr id="27" name="Text 23"/>
          <p:cNvSpPr txBox="1"/>
          <p:nvPr/>
        </p:nvSpPr>
        <p:spPr>
          <a:xfrm>
            <a:off x="4217206" y="3008376"/>
            <a:ext cx="663562"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RECHTS</a:t>
            </a:r>
            <a:endParaRPr lang="en-US" sz="1100" dirty="0"/>
          </a:p>
        </p:txBody>
      </p:sp>
      <p:sp>
        <p:nvSpPr>
          <p:cNvPr id="28" name="Text 24"/>
          <p:cNvSpPr txBox="1"/>
          <p:nvPr/>
        </p:nvSpPr>
        <p:spPr>
          <a:xfrm>
            <a:off x="1691640" y="4373880"/>
            <a:ext cx="458724"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a:t>
            </a:r>
            <a:endParaRPr lang="en-US" sz="2400" dirty="0"/>
          </a:p>
        </p:txBody>
      </p:sp>
      <p:sp>
        <p:nvSpPr>
          <p:cNvPr id="29" name="Shape 25"/>
          <p:cNvSpPr/>
          <p:nvPr/>
        </p:nvSpPr>
        <p:spPr>
          <a:xfrm>
            <a:off x="2054657" y="4386072"/>
            <a:ext cx="1500835" cy="371856"/>
          </a:xfrm>
          <a:prstGeom prst="roundRect">
            <a:avLst>
              <a:gd name="adj" fmla="val 12295"/>
            </a:avLst>
          </a:prstGeom>
          <a:solidFill>
            <a:srgbClr val="E6F3DA"/>
          </a:solidFill>
          <a:ln w="12700">
            <a:solidFill>
              <a:srgbClr val="FFFFFF">
                <a:alpha val="0"/>
              </a:srgbClr>
            </a:solidFill>
            <a:prstDash val="solid"/>
          </a:ln>
        </p:spPr>
      </p:sp>
      <p:sp>
        <p:nvSpPr>
          <p:cNvPr id="30" name="Text 26"/>
          <p:cNvSpPr txBox="1"/>
          <p:nvPr/>
        </p:nvSpPr>
        <p:spPr>
          <a:xfrm>
            <a:off x="2054657" y="4373880"/>
            <a:ext cx="1500835"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Dank u wel</a:t>
            </a:r>
            <a:endParaRPr lang="en-US" sz="2400" dirty="0"/>
          </a:p>
        </p:txBody>
      </p:sp>
      <p:sp>
        <p:nvSpPr>
          <p:cNvPr id="31" name="Text 27"/>
          <p:cNvSpPr txBox="1"/>
          <p:nvPr/>
        </p:nvSpPr>
        <p:spPr>
          <a:xfrm>
            <a:off x="3555492" y="4373880"/>
            <a:ext cx="282245"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a:t>
            </a:r>
            <a:endParaRPr lang="en-US" sz="2400" dirty="0"/>
          </a:p>
        </p:txBody>
      </p:sp>
      <p:sp>
        <p:nvSpPr>
          <p:cNvPr id="32" name="Shape 28"/>
          <p:cNvSpPr/>
          <p:nvPr/>
        </p:nvSpPr>
        <p:spPr>
          <a:xfrm>
            <a:off x="2805074" y="4309872"/>
            <a:ext cx="914" cy="76200"/>
          </a:xfrm>
          <a:prstGeom prst="line">
            <a:avLst/>
          </a:prstGeom>
          <a:noFill/>
          <a:ln w="15875">
            <a:solidFill>
              <a:srgbClr val="7AB648"/>
            </a:solidFill>
            <a:prstDash val="solid"/>
          </a:ln>
        </p:spPr>
      </p:sp>
      <p:sp>
        <p:nvSpPr>
          <p:cNvPr id="33" name="Shape 29"/>
          <p:cNvSpPr/>
          <p:nvPr/>
        </p:nvSpPr>
        <p:spPr>
          <a:xfrm>
            <a:off x="2463375" y="4062984"/>
            <a:ext cx="683400" cy="246888"/>
          </a:xfrm>
          <a:prstGeom prst="roundRect">
            <a:avLst>
              <a:gd name="adj" fmla="val 14815"/>
            </a:avLst>
          </a:prstGeom>
          <a:solidFill>
            <a:srgbClr val="7AB648"/>
          </a:solidFill>
          <a:ln w="12700">
            <a:solidFill>
              <a:srgbClr val="FFFFFF">
                <a:alpha val="0"/>
              </a:srgbClr>
            </a:solidFill>
            <a:prstDash val="solid"/>
          </a:ln>
        </p:spPr>
      </p:sp>
      <p:sp>
        <p:nvSpPr>
          <p:cNvPr id="34" name="Text 30"/>
          <p:cNvSpPr txBox="1"/>
          <p:nvPr/>
        </p:nvSpPr>
        <p:spPr>
          <a:xfrm>
            <a:off x="2463375" y="4062984"/>
            <a:ext cx="683400"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DANK U</a:t>
            </a:r>
            <a:endParaRPr lang="en-US" sz="1100" dirty="0"/>
          </a:p>
        </p:txBody>
      </p:sp>
      <p:sp>
        <p:nvSpPr>
          <p:cNvPr id="35" name="Text 31"/>
          <p:cNvSpPr txBox="1"/>
          <p:nvPr/>
        </p:nvSpPr>
        <p:spPr>
          <a:xfrm>
            <a:off x="1691640" y="5428488"/>
            <a:ext cx="3820363"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 Graag gedaan… Maar kijk:</a:t>
            </a:r>
            <a:endParaRPr lang="en-US" sz="2400" dirty="0"/>
          </a:p>
        </p:txBody>
      </p:sp>
      <p:sp>
        <p:nvSpPr>
          <p:cNvPr id="36" name="Shape 32"/>
          <p:cNvSpPr/>
          <p:nvPr/>
        </p:nvSpPr>
        <p:spPr>
          <a:xfrm>
            <a:off x="5416296" y="5440680"/>
            <a:ext cx="2319223" cy="371856"/>
          </a:xfrm>
          <a:prstGeom prst="roundRect">
            <a:avLst>
              <a:gd name="adj" fmla="val 12295"/>
            </a:avLst>
          </a:prstGeom>
          <a:solidFill>
            <a:srgbClr val="E6F3DA"/>
          </a:solidFill>
          <a:ln w="12700">
            <a:solidFill>
              <a:srgbClr val="FFFFFF">
                <a:alpha val="0"/>
              </a:srgbClr>
            </a:solidFill>
            <a:prstDash val="solid"/>
          </a:ln>
        </p:spPr>
      </p:sp>
      <p:sp>
        <p:nvSpPr>
          <p:cNvPr id="37" name="Text 33"/>
          <p:cNvSpPr txBox="1"/>
          <p:nvPr/>
        </p:nvSpPr>
        <p:spPr>
          <a:xfrm>
            <a:off x="5416296" y="5428488"/>
            <a:ext cx="2319223"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lokaal 204 is hier!</a:t>
            </a:r>
            <a:endParaRPr lang="en-US" sz="2400" dirty="0"/>
          </a:p>
        </p:txBody>
      </p:sp>
      <p:sp>
        <p:nvSpPr>
          <p:cNvPr id="38" name="Shape 34"/>
          <p:cNvSpPr/>
          <p:nvPr/>
        </p:nvSpPr>
        <p:spPr>
          <a:xfrm>
            <a:off x="6575908" y="5364480"/>
            <a:ext cx="914" cy="76200"/>
          </a:xfrm>
          <a:prstGeom prst="line">
            <a:avLst/>
          </a:prstGeom>
          <a:noFill/>
          <a:ln w="15875">
            <a:solidFill>
              <a:srgbClr val="7AB648"/>
            </a:solidFill>
            <a:prstDash val="solid"/>
          </a:ln>
        </p:spPr>
      </p:sp>
      <p:sp>
        <p:nvSpPr>
          <p:cNvPr id="39" name="Shape 35"/>
          <p:cNvSpPr/>
          <p:nvPr/>
        </p:nvSpPr>
        <p:spPr>
          <a:xfrm>
            <a:off x="6270879" y="5117592"/>
            <a:ext cx="610057" cy="246888"/>
          </a:xfrm>
          <a:prstGeom prst="roundRect">
            <a:avLst>
              <a:gd name="adj" fmla="val 14815"/>
            </a:avLst>
          </a:prstGeom>
          <a:solidFill>
            <a:srgbClr val="7AB648"/>
          </a:solidFill>
          <a:ln w="12700">
            <a:solidFill>
              <a:srgbClr val="FFFFFF">
                <a:alpha val="0"/>
              </a:srgbClr>
            </a:solidFill>
            <a:prstDash val="solid"/>
          </a:ln>
        </p:spPr>
      </p:sp>
      <p:sp>
        <p:nvSpPr>
          <p:cNvPr id="40" name="Text 36"/>
          <p:cNvSpPr txBox="1"/>
          <p:nvPr/>
        </p:nvSpPr>
        <p:spPr>
          <a:xfrm>
            <a:off x="6270879" y="5117592"/>
            <a:ext cx="610057"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CHUTE</a:t>
            </a:r>
            <a:endParaRPr lang="en-US" sz="1100" dirty="0"/>
          </a:p>
        </p:txBody>
      </p:sp>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140</a:t>
            </a:fld>
            <a:endParaRPr lang="en-US"/>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name="Slide 141">
    <p:spTree>
      <p:nvGrpSpPr>
        <p:cNvPr id="1" name=""/>
        <p:cNvGrpSpPr/>
        <p:nvPr/>
      </p:nvGrpSpPr>
      <p:grpSpPr>
        <a:xfrm>
          <a:off x="0" y="0"/>
          <a:ext cx="0" cy="0"/>
          <a:chOff x="0" y="0"/>
          <a:chExt cx="0" cy="0"/>
        </a:xfrm>
      </p:grpSpPr>
      <p:sp>
        <p:nvSpPr>
          <p:cNvPr id="2" name="Text 1"/>
          <p:cNvSpPr/>
          <p:nvPr>
            <p:ph idx="101" type="title" hasCustomPrompt="1"/>
          </p:nvPr>
        </p:nvSpPr>
        <p:spPr>
          <a:xfrm>
            <a:off x="1554480" y="384048"/>
            <a:ext cx="10241280" cy="658368"/>
          </a:xfrm>
          <a:prstGeom prst="rect">
            <a:avLst/>
          </a:prstGeom>
          <a:noFill/>
          <a:ln/>
        </p:spPr>
        <p:txBody>
          <a:bodyPr wrap="square" lIns="0" tIns="0" rIns="0" bIns="0" rtlCol="0" anchor="ctr"/>
          <a:lstStyle/>
          <a:p>
            <a:pPr algn="ctr" indent="0" marL="0">
              <a:buNone/>
            </a:pPr>
            <a:r>
              <a:rPr lang="en-US" sz="3000" b="1" dirty="0">
                <a:solidFill>
                  <a:srgbClr val="2B2F38"/>
                </a:solidFill>
              </a:rPr>
              <a:t>Gebruik deze afbeelding als inspiratie</a:t>
            </a:r>
            <a:endParaRPr lang="en-US" sz="3000" dirty="0"/>
          </a:p>
        </p:txBody>
      </p:sp>
      <p:sp>
        <p:nvSpPr>
          <p:cNvPr id="4" name="Shape 1"/>
          <p:cNvSpPr/>
          <p:nvPr/>
        </p:nvSpPr>
        <p:spPr>
          <a:xfrm>
            <a:off x="365760" y="365760"/>
            <a:ext cx="868680" cy="5989320"/>
          </a:xfrm>
          <a:prstGeom prst="roundRect">
            <a:avLst>
              <a:gd name="adj" fmla="val 12632"/>
            </a:avLst>
          </a:prstGeom>
          <a:solidFill>
            <a:srgbClr val="F4E8F6"/>
          </a:solidFill>
          <a:ln w="28575">
            <a:solidFill>
              <a:srgbClr val="B57FCB"/>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7E4C97"/>
                </a:solidFill>
                <a:latin typeface="Calibri" pitchFamily="34" charset="0"/>
                <a:ea typeface="Calibri" pitchFamily="34" charset="-122"/>
                <a:cs typeface="Calibri" pitchFamily="34" charset="-120"/>
              </a:rPr>
              <a:t>A1 · Situations</a:t>
            </a:r>
            <a:endParaRPr lang="en-US" sz="3800" dirty="0"/>
          </a:p>
        </p:txBody>
      </p:sp>
      <p:sp>
        <p:nvSpPr>
          <p:cNvPr id="6" name="Text 3"/>
          <p:cNvSpPr txBox="1"/>
          <p:nvPr/>
        </p:nvSpPr>
        <p:spPr>
          <a:xfrm>
            <a:off x="1554480" y="1024128"/>
            <a:ext cx="10241280" cy="365760"/>
          </a:xfrm>
          <a:prstGeom prst="rect">
            <a:avLst/>
          </a:prstGeom>
          <a:noFill/>
          <a:ln/>
        </p:spPr>
        <p:txBody>
          <a:bodyPr wrap="square" lIns="0" tIns="0" rIns="0" bIns="0" rtlCol="0" anchor="ctr"/>
          <a:lstStyle/>
          <a:p>
            <a:pPr algn="ctr" indent="0" marL="0">
              <a:buNone/>
            </a:pPr>
            <a:r>
              <a:rPr lang="en-US" sz="1500" b="1" dirty="0">
                <a:solidFill>
                  <a:srgbClr val="7E4C97"/>
                </a:solidFill>
                <a:latin typeface="Calibri" pitchFamily="34" charset="0"/>
                <a:ea typeface="Calibri" pitchFamily="34" charset="-122"/>
                <a:cs typeface="Calibri" pitchFamily="34" charset="-120"/>
              </a:rPr>
              <a:t>45 · Het examen</a:t>
            </a:r>
            <a:r>
              <a:rPr lang="en-US" sz="1500" i="1" dirty="0">
                <a:solidFill>
                  <a:srgbClr val="6B7280"/>
                </a:solidFill>
                <a:latin typeface="Calibri" pitchFamily="34" charset="0"/>
                <a:ea typeface="Calibri" pitchFamily="34" charset="-122"/>
                <a:cs typeface="Calibri" pitchFamily="34" charset="-120"/>
              </a:rPr>
              <a:t>   L’examen</a:t>
            </a:r>
            <a:r>
              <a:rPr lang="en-US" sz="1200" dirty="0">
                <a:solidFill>
                  <a:srgbClr val="9AA3B2"/>
                </a:solidFill>
                <a:latin typeface="Calibri" pitchFamily="34" charset="0"/>
                <a:ea typeface="Calibri" pitchFamily="34" charset="-122"/>
                <a:cs typeface="Calibri" pitchFamily="34" charset="-120"/>
              </a:rPr>
              <a:t>   ·   syllabus fiche 10 · p. 100</a:t>
            </a:r>
            <a:endParaRPr lang="en-US" sz="1500" dirty="0"/>
          </a:p>
        </p:txBody>
      </p:sp>
      <p:sp>
        <p:nvSpPr>
          <p:cNvPr id="7" name="Shape 4"/>
          <p:cNvSpPr/>
          <p:nvPr/>
        </p:nvSpPr>
        <p:spPr>
          <a:xfrm>
            <a:off x="1596085" y="1504645"/>
            <a:ext cx="4534510" cy="2905735"/>
          </a:xfrm>
          <a:prstGeom prst="roundRect">
            <a:avLst>
              <a:gd name="adj" fmla="val 1259"/>
            </a:avLst>
          </a:prstGeom>
          <a:solidFill>
            <a:srgbClr val="FFFFFF"/>
          </a:solidFill>
          <a:ln w="9525">
            <a:solidFill>
              <a:srgbClr val="E3E7EE"/>
            </a:solidFill>
            <a:prstDash val="solid"/>
          </a:ln>
          <a:effectLst>
            <a:outerShdw sx="100000" sy="100000" kx="0" ky="0" algn="bl" rotWithShape="0" blurRad="127000" dist="50800" dir="5400000">
              <a:srgbClr val="1B2430">
                <a:alpha val="25000"/>
              </a:srgbClr>
            </a:outerShdw>
          </a:effectLst>
        </p:spPr>
      </p:sp>
      <p:pic>
        <p:nvPicPr>
          <p:cNvPr id="8" name="Image 0" descr="/home/user/talenleren/neerlandais1/generateur/img/vijfzinnen/a1_examen_s.jpg">    </p:cNvPr>
          <p:cNvPicPr>
            <a:picLocks noChangeAspect="1"/>
          </p:cNvPicPr>
          <p:nvPr/>
        </p:nvPicPr>
        <p:blipFill>
          <a:blip r:embed="rId1"/>
          <a:stretch>
            <a:fillRect/>
          </a:stretch>
        </p:blipFill>
        <p:spPr>
          <a:xfrm>
            <a:off x="1691640" y="1600200"/>
            <a:ext cx="4343400" cy="2714625"/>
          </a:xfrm>
          <a:prstGeom prst="rect">
            <a:avLst/>
          </a:prstGeom>
        </p:spPr>
      </p:pic>
      <p:sp>
        <p:nvSpPr>
          <p:cNvPr id="9" name="Shape 5"/>
          <p:cNvSpPr/>
          <p:nvPr/>
        </p:nvSpPr>
        <p:spPr>
          <a:xfrm>
            <a:off x="1691640" y="4572000"/>
            <a:ext cx="1600200" cy="365760"/>
          </a:xfrm>
          <a:prstGeom prst="roundRect">
            <a:avLst>
              <a:gd name="adj" fmla="val 50000"/>
            </a:avLst>
          </a:prstGeom>
          <a:solidFill>
            <a:srgbClr val="FDF1E6"/>
          </a:solidFill>
          <a:ln w="12700">
            <a:solidFill>
              <a:srgbClr val="D9822B"/>
            </a:solidFill>
            <a:prstDash val="solid"/>
          </a:ln>
        </p:spPr>
      </p:sp>
      <p:pic>
        <p:nvPicPr>
          <p:cNvPr id="10" name="Image 1" descr="Comments">    </p:cNvPr>
          <p:cNvPicPr>
            <a:picLocks noChangeAspect="1"/>
          </p:cNvPicPr>
          <p:nvPr/>
        </p:nvPicPr>
        <p:blipFill>
          <a:blip r:embed="rId2"/>
          <a:stretch>
            <a:fillRect/>
          </a:stretch>
        </p:blipFill>
        <p:spPr>
          <a:xfrm>
            <a:off x="1819656" y="4654296"/>
            <a:ext cx="201168" cy="201168"/>
          </a:xfrm>
          <a:prstGeom prst="rect">
            <a:avLst/>
          </a:prstGeom>
        </p:spPr>
      </p:pic>
      <p:sp>
        <p:nvSpPr>
          <p:cNvPr id="11" name="Text 6"/>
          <p:cNvSpPr txBox="1"/>
          <p:nvPr/>
        </p:nvSpPr>
        <p:spPr>
          <a:xfrm>
            <a:off x="2075688" y="4572000"/>
            <a:ext cx="1143000" cy="365760"/>
          </a:xfrm>
          <a:prstGeom prst="rect">
            <a:avLst/>
          </a:prstGeom>
          <a:noFill/>
          <a:ln/>
        </p:spPr>
        <p:txBody>
          <a:bodyPr wrap="square" lIns="0" tIns="0" rIns="0" bIns="0" rtlCol="0" anchor="ctr"/>
          <a:lstStyle/>
          <a:p>
            <a:pPr algn="l" indent="0" marL="0">
              <a:buNone/>
            </a:pPr>
            <a:r>
              <a:rPr lang="en-US" sz="1150" b="1" spc="100" kern="0" dirty="0">
                <a:solidFill>
                  <a:srgbClr val="D9822B"/>
                </a:solidFill>
                <a:latin typeface="Calibri" pitchFamily="34" charset="0"/>
                <a:ea typeface="Calibri" pitchFamily="34" charset="-122"/>
                <a:cs typeface="Calibri" pitchFamily="34" charset="-120"/>
              </a:rPr>
              <a:t>À L’ORAL</a:t>
            </a:r>
            <a:endParaRPr lang="en-US" sz="1150" dirty="0"/>
          </a:p>
        </p:txBody>
      </p:sp>
      <p:sp>
        <p:nvSpPr>
          <p:cNvPr id="12" name="Text 7"/>
          <p:cNvSpPr txBox="1"/>
          <p:nvPr/>
        </p:nvSpPr>
        <p:spPr>
          <a:xfrm>
            <a:off x="3429000" y="4544568"/>
            <a:ext cx="2651760" cy="731520"/>
          </a:xfrm>
          <a:prstGeom prst="rect">
            <a:avLst/>
          </a:prstGeom>
          <a:noFill/>
          <a:ln/>
        </p:spPr>
        <p:txBody>
          <a:bodyPr wrap="square" lIns="0" tIns="0" rIns="0" bIns="0" rtlCol="0" anchor="t"/>
          <a:lstStyle/>
          <a:p>
            <a:pPr algn="l" indent="0" marL="0">
              <a:buNone/>
            </a:pPr>
            <a:r>
              <a:rPr lang="en-US" sz="1150" i="1" dirty="0">
                <a:solidFill>
                  <a:srgbClr val="6B7280"/>
                </a:solidFill>
                <a:latin typeface="Calibri" pitchFamily="34" charset="0"/>
                <a:ea typeface="Calibri" pitchFamily="34" charset="-122"/>
                <a:cs typeface="Calibri" pitchFamily="34" charset="-120"/>
              </a:rPr>
              <a:t>Aujourd’hui, c’est l’examen de néerlandais. Comment ça se passe ?</a:t>
            </a:r>
            <a:endParaRPr lang="en-US" sz="1150" dirty="0"/>
          </a:p>
        </p:txBody>
      </p:sp>
      <p:sp>
        <p:nvSpPr>
          <p:cNvPr id="13" name="Shape 8"/>
          <p:cNvSpPr/>
          <p:nvPr/>
        </p:nvSpPr>
        <p:spPr>
          <a:xfrm>
            <a:off x="6355080" y="1673352"/>
            <a:ext cx="914400" cy="402336"/>
          </a:xfrm>
          <a:prstGeom prst="roundRect">
            <a:avLst>
              <a:gd name="adj" fmla="val 13636"/>
            </a:avLst>
          </a:prstGeom>
          <a:solidFill>
            <a:srgbClr val="5FA873"/>
          </a:solidFill>
          <a:ln w="12700">
            <a:solidFill>
              <a:srgbClr val="FFFFFF">
                <a:alpha val="0"/>
              </a:srgbClr>
            </a:solidFill>
            <a:prstDash val="solid"/>
          </a:ln>
        </p:spPr>
      </p:sp>
      <p:sp>
        <p:nvSpPr>
          <p:cNvPr id="14" name="Text 9"/>
          <p:cNvSpPr txBox="1"/>
          <p:nvPr/>
        </p:nvSpPr>
        <p:spPr>
          <a:xfrm>
            <a:off x="6355080" y="167335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1</a:t>
            </a:r>
            <a:endParaRPr lang="en-US" sz="1600" dirty="0"/>
          </a:p>
        </p:txBody>
      </p:sp>
      <p:sp>
        <p:nvSpPr>
          <p:cNvPr id="15" name="Text 10"/>
          <p:cNvSpPr txBox="1"/>
          <p:nvPr/>
        </p:nvSpPr>
        <p:spPr>
          <a:xfrm>
            <a:off x="7406640" y="1618488"/>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Le contexte : </a:t>
            </a:r>
            <a:r>
              <a:rPr lang="en-US" sz="1450" b="1" dirty="0">
                <a:solidFill>
                  <a:srgbClr val="2B2F38"/>
                </a:solidFill>
              </a:rPr>
              <a:t>VANDAAG HEB IK EEN EXAMEN</a:t>
            </a:r>
            <a:r>
              <a:rPr lang="en-US" sz="1450" dirty="0">
                <a:solidFill>
                  <a:srgbClr val="2B2F38"/>
                </a:solidFill>
              </a:rPr>
              <a:t>.</a:t>
            </a:r>
            <a:endParaRPr lang="en-US" sz="1450" dirty="0"/>
          </a:p>
        </p:txBody>
      </p:sp>
      <p:sp>
        <p:nvSpPr>
          <p:cNvPr id="16" name="Shape 11"/>
          <p:cNvSpPr/>
          <p:nvPr/>
        </p:nvSpPr>
        <p:spPr>
          <a:xfrm>
            <a:off x="6355080" y="2404872"/>
            <a:ext cx="914400" cy="402336"/>
          </a:xfrm>
          <a:prstGeom prst="roundRect">
            <a:avLst>
              <a:gd name="adj" fmla="val 13636"/>
            </a:avLst>
          </a:prstGeom>
          <a:solidFill>
            <a:srgbClr val="5FA873"/>
          </a:solidFill>
          <a:ln w="12700">
            <a:solidFill>
              <a:srgbClr val="FFFFFF">
                <a:alpha val="0"/>
              </a:srgbClr>
            </a:solidFill>
            <a:prstDash val="solid"/>
          </a:ln>
        </p:spPr>
      </p:sp>
      <p:sp>
        <p:nvSpPr>
          <p:cNvPr id="17" name="Text 12"/>
          <p:cNvSpPr txBox="1"/>
          <p:nvPr/>
        </p:nvSpPr>
        <p:spPr>
          <a:xfrm>
            <a:off x="6355080" y="240487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2</a:t>
            </a:r>
            <a:endParaRPr lang="en-US" sz="1600" dirty="0"/>
          </a:p>
        </p:txBody>
      </p:sp>
      <p:sp>
        <p:nvSpPr>
          <p:cNvPr id="18" name="Text 13"/>
          <p:cNvSpPr txBox="1"/>
          <p:nvPr/>
        </p:nvSpPr>
        <p:spPr>
          <a:xfrm>
            <a:off x="7406640" y="2350008"/>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Votre émotion : </a:t>
            </a:r>
            <a:r>
              <a:rPr lang="en-US" sz="1450" b="1" dirty="0">
                <a:solidFill>
                  <a:srgbClr val="2B2F38"/>
                </a:solidFill>
              </a:rPr>
              <a:t>IK BEN</a:t>
            </a:r>
            <a:r>
              <a:rPr lang="en-US" sz="1450" dirty="0">
                <a:solidFill>
                  <a:srgbClr val="2B2F38"/>
                </a:solidFill>
              </a:rPr>
              <a:t> + nuanceur + zenuwachtig.</a:t>
            </a:r>
            <a:endParaRPr lang="en-US" sz="1450" dirty="0"/>
          </a:p>
        </p:txBody>
      </p:sp>
      <p:sp>
        <p:nvSpPr>
          <p:cNvPr id="19" name="Shape 14"/>
          <p:cNvSpPr/>
          <p:nvPr/>
        </p:nvSpPr>
        <p:spPr>
          <a:xfrm>
            <a:off x="6355080" y="3136392"/>
            <a:ext cx="914400" cy="402336"/>
          </a:xfrm>
          <a:prstGeom prst="roundRect">
            <a:avLst>
              <a:gd name="adj" fmla="val 13636"/>
            </a:avLst>
          </a:prstGeom>
          <a:solidFill>
            <a:srgbClr val="5FA873"/>
          </a:solidFill>
          <a:ln w="12700">
            <a:solidFill>
              <a:srgbClr val="FFFFFF">
                <a:alpha val="0"/>
              </a:srgbClr>
            </a:solidFill>
            <a:prstDash val="solid"/>
          </a:ln>
        </p:spPr>
      </p:sp>
      <p:sp>
        <p:nvSpPr>
          <p:cNvPr id="20" name="Text 15"/>
          <p:cNvSpPr txBox="1"/>
          <p:nvPr/>
        </p:nvSpPr>
        <p:spPr>
          <a:xfrm>
            <a:off x="6355080" y="313639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3</a:t>
            </a:r>
            <a:endParaRPr lang="en-US" sz="1600" dirty="0"/>
          </a:p>
        </p:txBody>
      </p:sp>
      <p:sp>
        <p:nvSpPr>
          <p:cNvPr id="21" name="Text 16"/>
          <p:cNvSpPr txBox="1"/>
          <p:nvPr/>
        </p:nvSpPr>
        <p:spPr>
          <a:xfrm>
            <a:off x="7406640" y="3081528"/>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Une question : </a:t>
            </a:r>
            <a:r>
              <a:rPr lang="en-US" sz="1450" b="1" dirty="0">
                <a:solidFill>
                  <a:srgbClr val="2B2F38"/>
                </a:solidFill>
              </a:rPr>
              <a:t>MOEILIJK</a:t>
            </a:r>
            <a:r>
              <a:rPr lang="en-US" sz="1450" dirty="0">
                <a:solidFill>
                  <a:srgbClr val="2B2F38"/>
                </a:solidFill>
              </a:rPr>
              <a:t> of </a:t>
            </a:r>
            <a:r>
              <a:rPr lang="en-US" sz="1450" b="1" dirty="0">
                <a:solidFill>
                  <a:srgbClr val="2B2F38"/>
                </a:solidFill>
              </a:rPr>
              <a:t>MAKKELIJK</a:t>
            </a:r>
            <a:r>
              <a:rPr lang="en-US" sz="1450" dirty="0">
                <a:solidFill>
                  <a:srgbClr val="2B2F38"/>
                </a:solidFill>
              </a:rPr>
              <a:t>?</a:t>
            </a:r>
            <a:endParaRPr lang="en-US" sz="1450" dirty="0"/>
          </a:p>
        </p:txBody>
      </p:sp>
      <p:sp>
        <p:nvSpPr>
          <p:cNvPr id="22" name="Shape 17"/>
          <p:cNvSpPr/>
          <p:nvPr/>
        </p:nvSpPr>
        <p:spPr>
          <a:xfrm>
            <a:off x="6355080" y="3867912"/>
            <a:ext cx="914400" cy="402336"/>
          </a:xfrm>
          <a:prstGeom prst="roundRect">
            <a:avLst>
              <a:gd name="adj" fmla="val 13636"/>
            </a:avLst>
          </a:prstGeom>
          <a:solidFill>
            <a:srgbClr val="5FA873"/>
          </a:solidFill>
          <a:ln w="12700">
            <a:solidFill>
              <a:srgbClr val="FFFFFF">
                <a:alpha val="0"/>
              </a:srgbClr>
            </a:solidFill>
            <a:prstDash val="solid"/>
          </a:ln>
        </p:spPr>
      </p:sp>
      <p:sp>
        <p:nvSpPr>
          <p:cNvPr id="23" name="Text 18"/>
          <p:cNvSpPr txBox="1"/>
          <p:nvPr/>
        </p:nvSpPr>
        <p:spPr>
          <a:xfrm>
            <a:off x="6355080" y="3867912"/>
            <a:ext cx="914400" cy="402336"/>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Zin 4</a:t>
            </a:r>
            <a:endParaRPr lang="en-US" sz="1600" dirty="0"/>
          </a:p>
        </p:txBody>
      </p:sp>
      <p:sp>
        <p:nvSpPr>
          <p:cNvPr id="24" name="Text 19"/>
          <p:cNvSpPr txBox="1"/>
          <p:nvPr/>
        </p:nvSpPr>
        <p:spPr>
          <a:xfrm>
            <a:off x="7406640" y="3813048"/>
            <a:ext cx="4389120" cy="512064"/>
          </a:xfrm>
          <a:prstGeom prst="rect">
            <a:avLst/>
          </a:prstGeom>
          <a:noFill/>
          <a:ln/>
        </p:spPr>
        <p:txBody>
          <a:bodyPr wrap="square" lIns="0" tIns="0" rIns="0" bIns="0" rtlCol="0" anchor="ctr"/>
          <a:lstStyle/>
          <a:p>
            <a:pPr algn="l" indent="0" marL="0">
              <a:buNone/>
            </a:pPr>
            <a:r>
              <a:rPr lang="en-US" sz="1450" dirty="0">
                <a:solidFill>
                  <a:srgbClr val="2B2F38"/>
                </a:solidFill>
              </a:rPr>
              <a:t>Une chute : le résultat… </a:t>
            </a:r>
            <a:r>
              <a:rPr lang="en-US" sz="1450" b="1" dirty="0">
                <a:solidFill>
                  <a:srgbClr val="2B2F38"/>
                </a:solidFill>
              </a:rPr>
              <a:t>IK BEN TROTS!</a:t>
            </a:r>
            <a:endParaRPr lang="en-US" sz="1450" dirty="0"/>
          </a:p>
        </p:txBody>
      </p:sp>
      <p:sp>
        <p:nvSpPr>
          <p:cNvPr id="25" name="Shape 20"/>
          <p:cNvSpPr/>
          <p:nvPr/>
        </p:nvSpPr>
        <p:spPr>
          <a:xfrm>
            <a:off x="3246120" y="5440680"/>
            <a:ext cx="6858000" cy="822960"/>
          </a:xfrm>
          <a:prstGeom prst="roundRect">
            <a:avLst>
              <a:gd name="adj" fmla="val 17778"/>
            </a:avLst>
          </a:prstGeom>
          <a:solidFill>
            <a:srgbClr val="EAF5EC"/>
          </a:solidFill>
          <a:ln w="15875">
            <a:solidFill>
              <a:srgbClr val="5FA873"/>
            </a:solidFill>
            <a:prstDash val="solid"/>
          </a:ln>
        </p:spPr>
      </p:sp>
      <p:pic>
        <p:nvPicPr>
          <p:cNvPr id="26" name="Image 2" descr="UserFriends">    </p:cNvPr>
          <p:cNvPicPr>
            <a:picLocks noChangeAspect="1"/>
          </p:cNvPicPr>
          <p:nvPr/>
        </p:nvPicPr>
        <p:blipFill>
          <a:blip r:embed="rId3"/>
          <a:stretch>
            <a:fillRect/>
          </a:stretch>
        </p:blipFill>
        <p:spPr>
          <a:xfrm>
            <a:off x="3520440" y="5660136"/>
            <a:ext cx="384048" cy="384048"/>
          </a:xfrm>
          <a:prstGeom prst="rect">
            <a:avLst/>
          </a:prstGeom>
        </p:spPr>
      </p:pic>
      <p:sp>
        <p:nvSpPr>
          <p:cNvPr id="27" name="Text 21"/>
          <p:cNvSpPr txBox="1"/>
          <p:nvPr/>
        </p:nvSpPr>
        <p:spPr>
          <a:xfrm>
            <a:off x="4114800" y="5440680"/>
            <a:ext cx="5852160" cy="822960"/>
          </a:xfrm>
          <a:prstGeom prst="rect">
            <a:avLst/>
          </a:prstGeom>
          <a:noFill/>
          <a:ln/>
        </p:spPr>
        <p:txBody>
          <a:bodyPr wrap="square" lIns="0" tIns="0" rIns="0" bIns="0" rtlCol="0" anchor="ctr"/>
          <a:lstStyle/>
          <a:p>
            <a:pPr algn="ctr" indent="0" marL="0">
              <a:buNone/>
            </a:pPr>
            <a:r>
              <a:rPr lang="en-US" sz="1800" b="1" dirty="0">
                <a:solidFill>
                  <a:srgbClr val="2E6B44"/>
                </a:solidFill>
                <a:latin typeface="Calibri" pitchFamily="34" charset="0"/>
                <a:ea typeface="Calibri" pitchFamily="34" charset="-122"/>
                <a:cs typeface="Calibri" pitchFamily="34" charset="-120"/>
              </a:rPr>
              <a:t>Vertel je verhaal aan je partner.</a:t>
            </a:r>
            <a:endParaRPr lang="en-US" sz="1800" dirty="0"/>
          </a:p>
          <a:p>
            <a:pPr algn="ctr" indent="0" marL="0">
              <a:buNone/>
            </a:pPr>
            <a:r>
              <a:rPr lang="en-US" sz="1800" b="1" dirty="0">
                <a:solidFill>
                  <a:srgbClr val="2E6B44"/>
                </a:solidFill>
                <a:latin typeface="Calibri" pitchFamily="34" charset="0"/>
                <a:ea typeface="Calibri" pitchFamily="34" charset="-122"/>
                <a:cs typeface="Calibri" pitchFamily="34" charset="-120"/>
              </a:rPr>
              <a:t>Wat denkt hij/zij daarvan?</a:t>
            </a:r>
            <a:endParaRPr lang="en-US" sz="1800" dirty="0"/>
          </a:p>
        </p:txBody>
      </p:sp>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141</a:t>
            </a:fld>
            <a:endParaRPr lang="en-US"/>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name="Slide 142">
    <p:spTree>
      <p:nvGrpSpPr>
        <p:cNvPr id="1" name=""/>
        <p:cNvGrpSpPr/>
        <p:nvPr/>
      </p:nvGrpSpPr>
      <p:grpSpPr>
        <a:xfrm>
          <a:off x="0" y="0"/>
          <a:ext cx="0" cy="0"/>
          <a:chOff x="0" y="0"/>
          <a:chExt cx="0" cy="0"/>
        </a:xfrm>
      </p:grpSpPr>
      <p:sp>
        <p:nvSpPr>
          <p:cNvPr id="2" name="Text 1"/>
          <p:cNvSpPr/>
          <p:nvPr>
            <p:ph idx="101" type="title" hasCustomPrompt="1"/>
          </p:nvPr>
        </p:nvSpPr>
        <p:spPr>
          <a:xfrm>
            <a:off x="1554480" y="384048"/>
            <a:ext cx="10241280" cy="658368"/>
          </a:xfrm>
          <a:prstGeom prst="rect">
            <a:avLst/>
          </a:prstGeom>
          <a:noFill/>
          <a:ln/>
        </p:spPr>
        <p:txBody>
          <a:bodyPr wrap="square" lIns="0" tIns="0" rIns="0" bIns="0" rtlCol="0" anchor="ctr"/>
          <a:lstStyle/>
          <a:p>
            <a:pPr algn="ctr" indent="0" marL="0">
              <a:buNone/>
            </a:pPr>
            <a:r>
              <a:rPr lang="en-US" sz="3000" b="1" dirty="0">
                <a:solidFill>
                  <a:srgbClr val="2B2F38"/>
                </a:solidFill>
              </a:rPr>
              <a:t>Het examen</a:t>
            </a:r>
            <a:endParaRPr lang="en-US" sz="3000" dirty="0"/>
          </a:p>
        </p:txBody>
      </p:sp>
      <p:sp>
        <p:nvSpPr>
          <p:cNvPr id="4" name="Shape 1"/>
          <p:cNvSpPr/>
          <p:nvPr/>
        </p:nvSpPr>
        <p:spPr>
          <a:xfrm>
            <a:off x="365760" y="365760"/>
            <a:ext cx="868680" cy="5989320"/>
          </a:xfrm>
          <a:prstGeom prst="roundRect">
            <a:avLst>
              <a:gd name="adj" fmla="val 12632"/>
            </a:avLst>
          </a:prstGeom>
          <a:solidFill>
            <a:srgbClr val="F4E8F6"/>
          </a:solidFill>
          <a:ln w="28575">
            <a:solidFill>
              <a:srgbClr val="B57FCB"/>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7E4C97"/>
                </a:solidFill>
                <a:latin typeface="Calibri" pitchFamily="34" charset="0"/>
                <a:ea typeface="Calibri" pitchFamily="34" charset="-122"/>
                <a:cs typeface="Calibri" pitchFamily="34" charset="-120"/>
              </a:rPr>
              <a:t>A1 · Situations</a:t>
            </a:r>
            <a:endParaRPr lang="en-US" sz="3800" dirty="0"/>
          </a:p>
        </p:txBody>
      </p:sp>
      <p:sp>
        <p:nvSpPr>
          <p:cNvPr id="6" name="Shape 3"/>
          <p:cNvSpPr/>
          <p:nvPr/>
        </p:nvSpPr>
        <p:spPr>
          <a:xfrm>
            <a:off x="2519172" y="1124712"/>
            <a:ext cx="8311896" cy="5277231"/>
          </a:xfrm>
          <a:prstGeom prst="roundRect">
            <a:avLst>
              <a:gd name="adj" fmla="val 693"/>
            </a:avLst>
          </a:prstGeom>
          <a:solidFill>
            <a:srgbClr val="FFFFFF"/>
          </a:solidFill>
          <a:ln w="9525">
            <a:solidFill>
              <a:srgbClr val="E3E7EE"/>
            </a:solidFill>
            <a:prstDash val="solid"/>
          </a:ln>
          <a:effectLst>
            <a:outerShdw sx="100000" sy="100000" kx="0" ky="0" algn="bl" rotWithShape="0" blurRad="177800" dist="63500" dir="5400000">
              <a:srgbClr val="1B2430">
                <a:alpha val="25000"/>
              </a:srgbClr>
            </a:outerShdw>
          </a:effectLst>
        </p:spPr>
      </p:sp>
      <p:pic>
        <p:nvPicPr>
          <p:cNvPr id="7" name="Image 0" descr="/home/user/talenleren/neerlandais1/generateur/img/vijfzinnen/a1_examen.jpg">    </p:cNvPr>
          <p:cNvPicPr>
            <a:picLocks noChangeAspect="1"/>
          </p:cNvPicPr>
          <p:nvPr/>
        </p:nvPicPr>
        <p:blipFill>
          <a:blip r:embed="rId1"/>
          <a:stretch>
            <a:fillRect/>
          </a:stretch>
        </p:blipFill>
        <p:spPr>
          <a:xfrm>
            <a:off x="2628900" y="1234440"/>
            <a:ext cx="8092440" cy="5057775"/>
          </a:xfrm>
          <a:prstGeom prst="rect">
            <a:avLst/>
          </a:prstGeom>
        </p:spPr>
      </p:pic>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142</a:t>
            </a:fld>
            <a:endParaRPr lang="en-US"/>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name="Slide 143">
    <p:spTree>
      <p:nvGrpSpPr>
        <p:cNvPr id="1" name=""/>
        <p:cNvGrpSpPr/>
        <p:nvPr/>
      </p:nvGrpSpPr>
      <p:grpSpPr>
        <a:xfrm>
          <a:off x="0" y="0"/>
          <a:ext cx="0" cy="0"/>
          <a:chOff x="0" y="0"/>
          <a:chExt cx="0" cy="0"/>
        </a:xfrm>
      </p:grpSpPr>
      <p:sp>
        <p:nvSpPr>
          <p:cNvPr id="2" name="Text 1"/>
          <p:cNvSpPr/>
          <p:nvPr>
            <p:ph idx="101" type="title" hasCustomPrompt="1"/>
          </p:nvPr>
        </p:nvSpPr>
        <p:spPr>
          <a:xfrm>
            <a:off x="1691640" y="347472"/>
            <a:ext cx="8138160" cy="914400"/>
          </a:xfrm>
          <a:prstGeom prst="rect">
            <a:avLst/>
          </a:prstGeom>
          <a:noFill/>
          <a:ln/>
        </p:spPr>
        <p:txBody>
          <a:bodyPr wrap="square" lIns="0" tIns="0" rIns="0" bIns="0" rtlCol="0" anchor="ctr"/>
          <a:lstStyle/>
          <a:p>
            <a:pPr algn="l" indent="0" marL="0">
              <a:buNone/>
            </a:pPr>
            <a:r>
              <a:rPr lang="en-US" sz="2400" b="1" dirty="0">
                <a:solidFill>
                  <a:srgbClr val="2B2F38"/>
                </a:solidFill>
              </a:rPr>
              <a:t>Hier is een voorbeeld van wat je had kunnen denken en zeggen…</a:t>
            </a:r>
            <a:endParaRPr lang="en-US" sz="2400" dirty="0"/>
          </a:p>
        </p:txBody>
      </p:sp>
      <p:sp>
        <p:nvSpPr>
          <p:cNvPr id="4" name="Shape 1"/>
          <p:cNvSpPr/>
          <p:nvPr/>
        </p:nvSpPr>
        <p:spPr>
          <a:xfrm>
            <a:off x="365760" y="365760"/>
            <a:ext cx="868680" cy="5989320"/>
          </a:xfrm>
          <a:prstGeom prst="roundRect">
            <a:avLst>
              <a:gd name="adj" fmla="val 12632"/>
            </a:avLst>
          </a:prstGeom>
          <a:solidFill>
            <a:srgbClr val="F4E8F6"/>
          </a:solidFill>
          <a:ln w="28575">
            <a:solidFill>
              <a:srgbClr val="B57FCB"/>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7E4C97"/>
                </a:solidFill>
                <a:latin typeface="Calibri" pitchFamily="34" charset="0"/>
                <a:ea typeface="Calibri" pitchFamily="34" charset="-122"/>
                <a:cs typeface="Calibri" pitchFamily="34" charset="-120"/>
              </a:rPr>
              <a:t>A1 · Situations</a:t>
            </a:r>
            <a:endParaRPr lang="en-US" sz="3800" dirty="0"/>
          </a:p>
        </p:txBody>
      </p:sp>
      <p:sp>
        <p:nvSpPr>
          <p:cNvPr id="6" name="Shape 3"/>
          <p:cNvSpPr/>
          <p:nvPr/>
        </p:nvSpPr>
        <p:spPr>
          <a:xfrm>
            <a:off x="10058400" y="246888"/>
            <a:ext cx="1691640" cy="1091565"/>
          </a:xfrm>
          <a:prstGeom prst="roundRect">
            <a:avLst>
              <a:gd name="adj" fmla="val 3351"/>
            </a:avLst>
          </a:prstGeom>
          <a:solidFill>
            <a:srgbClr val="FFFFFF"/>
          </a:solidFill>
          <a:ln w="9525">
            <a:solidFill>
              <a:srgbClr val="E3E7EE"/>
            </a:solidFill>
            <a:prstDash val="solid"/>
          </a:ln>
          <a:effectLst>
            <a:outerShdw sx="100000" sy="100000" kx="0" ky="0" algn="bl" rotWithShape="0" blurRad="76200" dist="25400" dir="5400000">
              <a:srgbClr val="1B2430">
                <a:alpha val="25000"/>
              </a:srgbClr>
            </a:outerShdw>
          </a:effectLst>
        </p:spPr>
      </p:sp>
      <p:pic>
        <p:nvPicPr>
          <p:cNvPr id="7" name="Image 0" descr="/home/user/talenleren/neerlandais1/generateur/img/vijfzinnen/a1_examen_s.jpg">    </p:cNvPr>
          <p:cNvPicPr>
            <a:picLocks noChangeAspect="1"/>
          </p:cNvPicPr>
          <p:nvPr/>
        </p:nvPicPr>
        <p:blipFill>
          <a:blip r:embed="rId1"/>
          <a:stretch>
            <a:fillRect/>
          </a:stretch>
        </p:blipFill>
        <p:spPr>
          <a:xfrm>
            <a:off x="10104120" y="292608"/>
            <a:ext cx="1600200" cy="1000125"/>
          </a:xfrm>
          <a:prstGeom prst="rect">
            <a:avLst/>
          </a:prstGeom>
        </p:spPr>
      </p:pic>
      <p:sp>
        <p:nvSpPr>
          <p:cNvPr id="8" name="Shape 4"/>
          <p:cNvSpPr/>
          <p:nvPr/>
        </p:nvSpPr>
        <p:spPr>
          <a:xfrm>
            <a:off x="1691640" y="2903525"/>
            <a:ext cx="3651504" cy="371856"/>
          </a:xfrm>
          <a:prstGeom prst="roundRect">
            <a:avLst>
              <a:gd name="adj" fmla="val 12295"/>
            </a:avLst>
          </a:prstGeom>
          <a:solidFill>
            <a:srgbClr val="E6F3DA"/>
          </a:solidFill>
          <a:ln w="12700">
            <a:solidFill>
              <a:srgbClr val="FFFFFF">
                <a:alpha val="0"/>
              </a:srgbClr>
            </a:solidFill>
            <a:prstDash val="solid"/>
          </a:ln>
        </p:spPr>
      </p:sp>
      <p:sp>
        <p:nvSpPr>
          <p:cNvPr id="9" name="Text 5"/>
          <p:cNvSpPr txBox="1"/>
          <p:nvPr/>
        </p:nvSpPr>
        <p:spPr>
          <a:xfrm>
            <a:off x="1691640" y="2891333"/>
            <a:ext cx="3651504"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Vandaag heb ik een examen</a:t>
            </a:r>
            <a:endParaRPr lang="en-US" sz="2400" dirty="0"/>
          </a:p>
        </p:txBody>
      </p:sp>
      <p:sp>
        <p:nvSpPr>
          <p:cNvPr id="10" name="Text 6"/>
          <p:cNvSpPr txBox="1"/>
          <p:nvPr/>
        </p:nvSpPr>
        <p:spPr>
          <a:xfrm>
            <a:off x="5343144" y="2891333"/>
            <a:ext cx="259690"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a:t>
            </a:r>
            <a:endParaRPr lang="en-US" sz="2400" dirty="0"/>
          </a:p>
        </p:txBody>
      </p:sp>
      <p:sp>
        <p:nvSpPr>
          <p:cNvPr id="11" name="Shape 7"/>
          <p:cNvSpPr/>
          <p:nvPr/>
        </p:nvSpPr>
        <p:spPr>
          <a:xfrm>
            <a:off x="5507126" y="2903525"/>
            <a:ext cx="3147365" cy="371856"/>
          </a:xfrm>
          <a:prstGeom prst="roundRect">
            <a:avLst>
              <a:gd name="adj" fmla="val 12295"/>
            </a:avLst>
          </a:prstGeom>
          <a:solidFill>
            <a:srgbClr val="E6F3DA"/>
          </a:solidFill>
          <a:ln w="12700">
            <a:solidFill>
              <a:srgbClr val="FFFFFF">
                <a:alpha val="0"/>
              </a:srgbClr>
            </a:solidFill>
            <a:prstDash val="solid"/>
          </a:ln>
        </p:spPr>
      </p:sp>
      <p:sp>
        <p:nvSpPr>
          <p:cNvPr id="12" name="Text 8"/>
          <p:cNvSpPr txBox="1"/>
          <p:nvPr/>
        </p:nvSpPr>
        <p:spPr>
          <a:xfrm>
            <a:off x="5507126" y="2891333"/>
            <a:ext cx="3147365"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Ik ben heel zenuwachtig</a:t>
            </a:r>
            <a:endParaRPr lang="en-US" sz="2400" dirty="0"/>
          </a:p>
        </p:txBody>
      </p:sp>
      <p:sp>
        <p:nvSpPr>
          <p:cNvPr id="13" name="Text 9"/>
          <p:cNvSpPr txBox="1"/>
          <p:nvPr/>
        </p:nvSpPr>
        <p:spPr>
          <a:xfrm>
            <a:off x="8654491" y="2891333"/>
            <a:ext cx="1043940"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 Is het</a:t>
            </a:r>
            <a:endParaRPr lang="en-US" sz="2400" dirty="0"/>
          </a:p>
        </p:txBody>
      </p:sp>
      <p:sp>
        <p:nvSpPr>
          <p:cNvPr id="14" name="Shape 10"/>
          <p:cNvSpPr/>
          <p:nvPr/>
        </p:nvSpPr>
        <p:spPr>
          <a:xfrm>
            <a:off x="9602724" y="2903525"/>
            <a:ext cx="1105510" cy="371856"/>
          </a:xfrm>
          <a:prstGeom prst="roundRect">
            <a:avLst>
              <a:gd name="adj" fmla="val 12295"/>
            </a:avLst>
          </a:prstGeom>
          <a:solidFill>
            <a:srgbClr val="E6F3DA"/>
          </a:solidFill>
          <a:ln w="12700">
            <a:solidFill>
              <a:srgbClr val="FFFFFF">
                <a:alpha val="0"/>
              </a:srgbClr>
            </a:solidFill>
            <a:prstDash val="solid"/>
          </a:ln>
        </p:spPr>
      </p:sp>
      <p:sp>
        <p:nvSpPr>
          <p:cNvPr id="15" name="Text 11"/>
          <p:cNvSpPr txBox="1"/>
          <p:nvPr/>
        </p:nvSpPr>
        <p:spPr>
          <a:xfrm>
            <a:off x="9602724" y="2891333"/>
            <a:ext cx="1105510"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moeilijk</a:t>
            </a:r>
            <a:endParaRPr lang="en-US" sz="2400" dirty="0"/>
          </a:p>
        </p:txBody>
      </p:sp>
      <p:sp>
        <p:nvSpPr>
          <p:cNvPr id="16" name="Text 12"/>
          <p:cNvSpPr txBox="1"/>
          <p:nvPr/>
        </p:nvSpPr>
        <p:spPr>
          <a:xfrm>
            <a:off x="10708234" y="2891333"/>
            <a:ext cx="987857"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 Nee,</a:t>
            </a:r>
            <a:endParaRPr lang="en-US" sz="2400" dirty="0"/>
          </a:p>
        </p:txBody>
      </p:sp>
      <p:sp>
        <p:nvSpPr>
          <p:cNvPr id="17" name="Shape 13"/>
          <p:cNvSpPr/>
          <p:nvPr/>
        </p:nvSpPr>
        <p:spPr>
          <a:xfrm>
            <a:off x="3517392" y="2827325"/>
            <a:ext cx="914" cy="76200"/>
          </a:xfrm>
          <a:prstGeom prst="line">
            <a:avLst/>
          </a:prstGeom>
          <a:noFill/>
          <a:ln w="15875">
            <a:solidFill>
              <a:srgbClr val="7AB648"/>
            </a:solidFill>
            <a:prstDash val="solid"/>
          </a:ln>
        </p:spPr>
      </p:sp>
      <p:sp>
        <p:nvSpPr>
          <p:cNvPr id="18" name="Shape 14"/>
          <p:cNvSpPr/>
          <p:nvPr/>
        </p:nvSpPr>
        <p:spPr>
          <a:xfrm>
            <a:off x="3151594" y="2580437"/>
            <a:ext cx="731596" cy="246888"/>
          </a:xfrm>
          <a:prstGeom prst="roundRect">
            <a:avLst>
              <a:gd name="adj" fmla="val 14815"/>
            </a:avLst>
          </a:prstGeom>
          <a:solidFill>
            <a:srgbClr val="7AB648"/>
          </a:solidFill>
          <a:ln w="12700">
            <a:solidFill>
              <a:srgbClr val="FFFFFF">
                <a:alpha val="0"/>
              </a:srgbClr>
            </a:solidFill>
            <a:prstDash val="solid"/>
          </a:ln>
        </p:spPr>
      </p:sp>
      <p:sp>
        <p:nvSpPr>
          <p:cNvPr id="19" name="Text 15"/>
          <p:cNvSpPr txBox="1"/>
          <p:nvPr/>
        </p:nvSpPr>
        <p:spPr>
          <a:xfrm>
            <a:off x="3151594" y="2580437"/>
            <a:ext cx="731596"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EXAMEN</a:t>
            </a:r>
            <a:endParaRPr lang="en-US" sz="1100" dirty="0"/>
          </a:p>
        </p:txBody>
      </p:sp>
      <p:sp>
        <p:nvSpPr>
          <p:cNvPr id="20" name="Shape 16"/>
          <p:cNvSpPr/>
          <p:nvPr/>
        </p:nvSpPr>
        <p:spPr>
          <a:xfrm flipH="1">
            <a:off x="7080809" y="2827325"/>
            <a:ext cx="914" cy="76200"/>
          </a:xfrm>
          <a:prstGeom prst="line">
            <a:avLst/>
          </a:prstGeom>
          <a:noFill/>
          <a:ln w="15875">
            <a:solidFill>
              <a:srgbClr val="7AB648"/>
            </a:solidFill>
            <a:prstDash val="solid"/>
          </a:ln>
        </p:spPr>
      </p:sp>
      <p:sp>
        <p:nvSpPr>
          <p:cNvPr id="21" name="Shape 17"/>
          <p:cNvSpPr/>
          <p:nvPr/>
        </p:nvSpPr>
        <p:spPr>
          <a:xfrm>
            <a:off x="6604298" y="2580437"/>
            <a:ext cx="953021" cy="246888"/>
          </a:xfrm>
          <a:prstGeom prst="roundRect">
            <a:avLst>
              <a:gd name="adj" fmla="val 14815"/>
            </a:avLst>
          </a:prstGeom>
          <a:solidFill>
            <a:srgbClr val="7AB648"/>
          </a:solidFill>
          <a:ln w="12700">
            <a:solidFill>
              <a:srgbClr val="FFFFFF">
                <a:alpha val="0"/>
              </a:srgbClr>
            </a:solidFill>
            <a:prstDash val="solid"/>
          </a:ln>
        </p:spPr>
      </p:sp>
      <p:sp>
        <p:nvSpPr>
          <p:cNvPr id="22" name="Text 18"/>
          <p:cNvSpPr txBox="1"/>
          <p:nvPr/>
        </p:nvSpPr>
        <p:spPr>
          <a:xfrm>
            <a:off x="6604298" y="2580437"/>
            <a:ext cx="953021"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IK BEN + adj.</a:t>
            </a:r>
            <a:endParaRPr lang="en-US" sz="1100" dirty="0"/>
          </a:p>
        </p:txBody>
      </p:sp>
      <p:sp>
        <p:nvSpPr>
          <p:cNvPr id="23" name="Shape 19"/>
          <p:cNvSpPr/>
          <p:nvPr/>
        </p:nvSpPr>
        <p:spPr>
          <a:xfrm>
            <a:off x="10155479" y="2827325"/>
            <a:ext cx="914" cy="76200"/>
          </a:xfrm>
          <a:prstGeom prst="line">
            <a:avLst/>
          </a:prstGeom>
          <a:noFill/>
          <a:ln w="15875">
            <a:solidFill>
              <a:srgbClr val="7AB648"/>
            </a:solidFill>
            <a:prstDash val="solid"/>
          </a:ln>
        </p:spPr>
      </p:sp>
      <p:sp>
        <p:nvSpPr>
          <p:cNvPr id="24" name="Shape 20"/>
          <p:cNvSpPr/>
          <p:nvPr/>
        </p:nvSpPr>
        <p:spPr>
          <a:xfrm>
            <a:off x="9742881" y="2580437"/>
            <a:ext cx="825195" cy="246888"/>
          </a:xfrm>
          <a:prstGeom prst="roundRect">
            <a:avLst>
              <a:gd name="adj" fmla="val 14815"/>
            </a:avLst>
          </a:prstGeom>
          <a:solidFill>
            <a:srgbClr val="7AB648"/>
          </a:solidFill>
          <a:ln w="12700">
            <a:solidFill>
              <a:srgbClr val="FFFFFF">
                <a:alpha val="0"/>
              </a:srgbClr>
            </a:solidFill>
            <a:prstDash val="solid"/>
          </a:ln>
        </p:spPr>
      </p:sp>
      <p:sp>
        <p:nvSpPr>
          <p:cNvPr id="25" name="Text 21"/>
          <p:cNvSpPr txBox="1"/>
          <p:nvPr/>
        </p:nvSpPr>
        <p:spPr>
          <a:xfrm>
            <a:off x="9742881" y="2580437"/>
            <a:ext cx="825195"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MOEILIJK?</a:t>
            </a:r>
            <a:endParaRPr lang="en-US" sz="1100" dirty="0"/>
          </a:p>
        </p:txBody>
      </p:sp>
      <p:sp>
        <p:nvSpPr>
          <p:cNvPr id="26" name="Text 22"/>
          <p:cNvSpPr txBox="1"/>
          <p:nvPr/>
        </p:nvSpPr>
        <p:spPr>
          <a:xfrm>
            <a:off x="1691640" y="3433877"/>
            <a:ext cx="2230222"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het is makkelijk!</a:t>
            </a:r>
            <a:endParaRPr lang="en-US" sz="2400" dirty="0"/>
          </a:p>
        </p:txBody>
      </p:sp>
      <p:sp>
        <p:nvSpPr>
          <p:cNvPr id="27" name="Text 23"/>
          <p:cNvSpPr txBox="1"/>
          <p:nvPr/>
        </p:nvSpPr>
        <p:spPr>
          <a:xfrm>
            <a:off x="4589374" y="4488485"/>
            <a:ext cx="2677058"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Achttien op twintig:</a:t>
            </a:r>
            <a:endParaRPr lang="en-US" sz="2400" dirty="0"/>
          </a:p>
        </p:txBody>
      </p:sp>
      <p:sp>
        <p:nvSpPr>
          <p:cNvPr id="28" name="Shape 24"/>
          <p:cNvSpPr/>
          <p:nvPr/>
        </p:nvSpPr>
        <p:spPr>
          <a:xfrm>
            <a:off x="7170725" y="4500677"/>
            <a:ext cx="1536497" cy="371856"/>
          </a:xfrm>
          <a:prstGeom prst="roundRect">
            <a:avLst>
              <a:gd name="adj" fmla="val 12295"/>
            </a:avLst>
          </a:prstGeom>
          <a:solidFill>
            <a:srgbClr val="E6F3DA"/>
          </a:solidFill>
          <a:ln w="12700">
            <a:solidFill>
              <a:srgbClr val="FFFFFF">
                <a:alpha val="0"/>
              </a:srgbClr>
            </a:solidFill>
            <a:prstDash val="solid"/>
          </a:ln>
        </p:spPr>
      </p:sp>
      <p:sp>
        <p:nvSpPr>
          <p:cNvPr id="29" name="Text 25"/>
          <p:cNvSpPr txBox="1"/>
          <p:nvPr/>
        </p:nvSpPr>
        <p:spPr>
          <a:xfrm>
            <a:off x="7170725" y="4488485"/>
            <a:ext cx="1536497" cy="396240"/>
          </a:xfrm>
          <a:prstGeom prst="rect">
            <a:avLst/>
          </a:prstGeom>
          <a:noFill/>
          <a:ln/>
        </p:spPr>
        <p:txBody>
          <a:bodyPr wrap="none" lIns="0" tIns="0" rIns="0" bIns="0" rtlCol="0" anchor="ctr"/>
          <a:lstStyle/>
          <a:p>
            <a:pPr algn="ctr" indent="0" marL="0">
              <a:buNone/>
            </a:pPr>
            <a:r>
              <a:rPr lang="en-US" sz="2400" b="1" dirty="0">
                <a:solidFill>
                  <a:srgbClr val="2B2F38"/>
                </a:solidFill>
                <a:latin typeface="Calibri" pitchFamily="34" charset="0"/>
                <a:ea typeface="Calibri" pitchFamily="34" charset="-122"/>
                <a:cs typeface="Calibri" pitchFamily="34" charset="-120"/>
              </a:rPr>
              <a:t>ik ben trots</a:t>
            </a:r>
            <a:endParaRPr lang="en-US" sz="2400" dirty="0"/>
          </a:p>
        </p:txBody>
      </p:sp>
      <p:sp>
        <p:nvSpPr>
          <p:cNvPr id="30" name="Text 26"/>
          <p:cNvSpPr txBox="1"/>
          <p:nvPr/>
        </p:nvSpPr>
        <p:spPr>
          <a:xfrm>
            <a:off x="8707222" y="4488485"/>
            <a:ext cx="282245" cy="396240"/>
          </a:xfrm>
          <a:prstGeom prst="rect">
            <a:avLst/>
          </a:prstGeom>
          <a:noFill/>
          <a:ln/>
        </p:spPr>
        <p:txBody>
          <a:bodyPr wrap="none" lIns="0" tIns="0" rIns="0" bIns="0" rtlCol="0" anchor="ctr"/>
          <a:lstStyle/>
          <a:p>
            <a:pPr algn="l" indent="0" marL="0">
              <a:buNone/>
            </a:pPr>
            <a:r>
              <a:rPr lang="en-US" sz="2400" dirty="0">
                <a:solidFill>
                  <a:srgbClr val="2B2F38"/>
                </a:solidFill>
                <a:latin typeface="Calibri" pitchFamily="34" charset="0"/>
                <a:ea typeface="Calibri" pitchFamily="34" charset="-122"/>
                <a:cs typeface="Calibri" pitchFamily="34" charset="-120"/>
              </a:rPr>
              <a:t>!</a:t>
            </a:r>
            <a:endParaRPr lang="en-US" sz="2400" dirty="0"/>
          </a:p>
        </p:txBody>
      </p:sp>
      <p:sp>
        <p:nvSpPr>
          <p:cNvPr id="31" name="Shape 27"/>
          <p:cNvSpPr/>
          <p:nvPr/>
        </p:nvSpPr>
        <p:spPr>
          <a:xfrm>
            <a:off x="7938973" y="4424477"/>
            <a:ext cx="914" cy="76200"/>
          </a:xfrm>
          <a:prstGeom prst="line">
            <a:avLst/>
          </a:prstGeom>
          <a:noFill/>
          <a:ln w="15875">
            <a:solidFill>
              <a:srgbClr val="7AB648"/>
            </a:solidFill>
            <a:prstDash val="solid"/>
          </a:ln>
        </p:spPr>
      </p:sp>
      <p:sp>
        <p:nvSpPr>
          <p:cNvPr id="32" name="Shape 28"/>
          <p:cNvSpPr/>
          <p:nvPr/>
        </p:nvSpPr>
        <p:spPr>
          <a:xfrm>
            <a:off x="7640511" y="4177589"/>
            <a:ext cx="596925" cy="246888"/>
          </a:xfrm>
          <a:prstGeom prst="roundRect">
            <a:avLst>
              <a:gd name="adj" fmla="val 14815"/>
            </a:avLst>
          </a:prstGeom>
          <a:solidFill>
            <a:srgbClr val="7AB648"/>
          </a:solidFill>
          <a:ln w="12700">
            <a:solidFill>
              <a:srgbClr val="FFFFFF">
                <a:alpha val="0"/>
              </a:srgbClr>
            </a:solidFill>
            <a:prstDash val="solid"/>
          </a:ln>
        </p:spPr>
      </p:sp>
      <p:sp>
        <p:nvSpPr>
          <p:cNvPr id="33" name="Text 29"/>
          <p:cNvSpPr txBox="1"/>
          <p:nvPr/>
        </p:nvSpPr>
        <p:spPr>
          <a:xfrm>
            <a:off x="7640511" y="4177589"/>
            <a:ext cx="596925" cy="246888"/>
          </a:xfrm>
          <a:prstGeom prst="rect">
            <a:avLst/>
          </a:prstGeom>
          <a:noFill/>
          <a:ln/>
        </p:spPr>
        <p:txBody>
          <a:bodyPr wrap="non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TROTS</a:t>
            </a:r>
            <a:endParaRPr lang="en-US" sz="1100" dirty="0"/>
          </a:p>
        </p:txBody>
      </p:sp>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143</a:t>
            </a:fld>
            <a:endParaRPr lang="en-US"/>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name="Slide 144">
    <p:spTree>
      <p:nvGrpSpPr>
        <p:cNvPr id="1" name=""/>
        <p:cNvGrpSpPr/>
        <p:nvPr/>
      </p:nvGrpSpPr>
      <p:grpSpPr>
        <a:xfrm>
          <a:off x="0" y="0"/>
          <a:ext cx="0" cy="0"/>
          <a:chOff x="0" y="0"/>
          <a:chExt cx="0" cy="0"/>
        </a:xfrm>
      </p:grpSpPr>
      <p:sp>
        <p:nvSpPr>
          <p:cNvPr id="2" name="Text 1"/>
          <p:cNvSpPr/>
          <p:nvPr>
            <p:ph idx="101" type="title" hasCustomPrompt="1"/>
          </p:nvPr>
        </p:nvSpPr>
        <p:spPr>
          <a:xfrm>
            <a:off x="1554480" y="384048"/>
            <a:ext cx="10241280" cy="658368"/>
          </a:xfrm>
          <a:prstGeom prst="rect">
            <a:avLst/>
          </a:prstGeom>
          <a:noFill/>
          <a:ln/>
        </p:spPr>
        <p:txBody>
          <a:bodyPr wrap="square" lIns="0" tIns="0" rIns="0" bIns="0" rtlCol="0" anchor="ctr"/>
          <a:lstStyle/>
          <a:p>
            <a:pPr algn="ctr" indent="0" marL="0">
              <a:buNone/>
            </a:pPr>
            <a:r>
              <a:rPr lang="en-US" sz="3000" b="1" dirty="0">
                <a:solidFill>
                  <a:srgbClr val="2B2F38"/>
                </a:solidFill>
              </a:rPr>
              <a:t>Six variantes pour débutant·es</a:t>
            </a:r>
            <a:endParaRPr lang="en-US" sz="3000" dirty="0"/>
          </a:p>
        </p:txBody>
      </p:sp>
      <p:sp>
        <p:nvSpPr>
          <p:cNvPr id="4" name="Shape 1"/>
          <p:cNvSpPr/>
          <p:nvPr/>
        </p:nvSpPr>
        <p:spPr>
          <a:xfrm>
            <a:off x="365760" y="365760"/>
            <a:ext cx="868680" cy="5989320"/>
          </a:xfrm>
          <a:prstGeom prst="roundRect">
            <a:avLst>
              <a:gd name="adj" fmla="val 12632"/>
            </a:avLst>
          </a:prstGeom>
          <a:solidFill>
            <a:srgbClr val="EEF1F6"/>
          </a:solidFill>
          <a:ln w="28575">
            <a:solidFill>
              <a:srgbClr val="9AA6B8"/>
            </a:solidFill>
            <a:prstDash val="solid"/>
          </a:ln>
        </p:spPr>
      </p:sp>
      <p:sp>
        <p:nvSpPr>
          <p:cNvPr id="5" name="Text 2"/>
          <p:cNvSpPr txBox="1"/>
          <p:nvPr/>
        </p:nvSpPr>
        <p:spPr>
          <a:xfrm rot="16200000">
            <a:off x="-2125980" y="2948940"/>
            <a:ext cx="5852160" cy="822960"/>
          </a:xfrm>
          <a:prstGeom prst="rect">
            <a:avLst/>
          </a:prstGeom>
          <a:noFill/>
          <a:ln/>
        </p:spPr>
        <p:txBody>
          <a:bodyPr wrap="square" lIns="0" tIns="0" rIns="0" bIns="0" rtlCol="0" anchor="ctr"/>
          <a:lstStyle/>
          <a:p>
            <a:pPr algn="ctr" indent="0" marL="0">
              <a:buNone/>
            </a:pPr>
            <a:r>
              <a:rPr lang="en-US" sz="3800" b="1" spc="200" kern="0" dirty="0">
                <a:solidFill>
                  <a:srgbClr val="4A5568"/>
                </a:solidFill>
                <a:latin typeface="Calibri" pitchFamily="34" charset="0"/>
                <a:ea typeface="Calibri" pitchFamily="34" charset="-122"/>
                <a:cs typeface="Calibri" pitchFamily="34" charset="-120"/>
              </a:rPr>
              <a:t>Variantes</a:t>
            </a:r>
            <a:endParaRPr lang="en-US" sz="3800" dirty="0"/>
          </a:p>
        </p:txBody>
      </p:sp>
      <p:sp>
        <p:nvSpPr>
          <p:cNvPr id="6" name="Shape 3"/>
          <p:cNvSpPr/>
          <p:nvPr/>
        </p:nvSpPr>
        <p:spPr>
          <a:xfrm>
            <a:off x="1554480" y="1371600"/>
            <a:ext cx="3261360" cy="2194560"/>
          </a:xfrm>
          <a:prstGeom prst="roundRect">
            <a:avLst>
              <a:gd name="adj" fmla="val 5000"/>
            </a:avLst>
          </a:prstGeom>
          <a:solidFill>
            <a:srgbClr val="FFFFFF"/>
          </a:solidFill>
          <a:ln w="12700">
            <a:solidFill>
              <a:srgbClr val="E3E7EE"/>
            </a:solidFill>
            <a:prstDash val="solid"/>
          </a:ln>
          <a:effectLst>
            <a:outerShdw sx="100000" sy="100000" kx="0" ky="0" algn="bl" rotWithShape="0" blurRad="101600" dist="38100" dir="5400000">
              <a:srgbClr val="1B2430">
                <a:alpha val="12000"/>
              </a:srgbClr>
            </a:outerShdw>
          </a:effectLst>
        </p:spPr>
      </p:sp>
      <p:pic>
        <p:nvPicPr>
          <p:cNvPr id="7" name="Image 0" descr="open book">    </p:cNvPr>
          <p:cNvPicPr>
            <a:picLocks noChangeAspect="1"/>
          </p:cNvPicPr>
          <p:nvPr/>
        </p:nvPicPr>
        <p:blipFill>
          <a:blip r:embed="rId1"/>
          <a:stretch>
            <a:fillRect/>
          </a:stretch>
        </p:blipFill>
        <p:spPr>
          <a:xfrm>
            <a:off x="1783080" y="1600200"/>
            <a:ext cx="777240" cy="777240"/>
          </a:xfrm>
          <a:prstGeom prst="rect">
            <a:avLst/>
          </a:prstGeom>
        </p:spPr>
      </p:pic>
      <p:sp>
        <p:nvSpPr>
          <p:cNvPr id="8" name="Text 4"/>
          <p:cNvSpPr txBox="1"/>
          <p:nvPr/>
        </p:nvSpPr>
        <p:spPr>
          <a:xfrm>
            <a:off x="2697480" y="1600200"/>
            <a:ext cx="1981200" cy="777240"/>
          </a:xfrm>
          <a:prstGeom prst="rect">
            <a:avLst/>
          </a:prstGeom>
          <a:noFill/>
          <a:ln/>
        </p:spPr>
        <p:txBody>
          <a:bodyPr wrap="square" lIns="0" tIns="0" rIns="0" bIns="0" rtlCol="0" anchor="ctr"/>
          <a:lstStyle/>
          <a:p>
            <a:pPr algn="l" indent="0" marL="0">
              <a:buNone/>
            </a:pPr>
            <a:r>
              <a:rPr lang="en-US" sz="1700" b="1" dirty="0">
                <a:solidFill>
                  <a:srgbClr val="5FA873"/>
                </a:solidFill>
                <a:latin typeface="Calibri" pitchFamily="34" charset="0"/>
                <a:ea typeface="Calibri" pitchFamily="34" charset="-122"/>
                <a:cs typeface="Calibri" pitchFamily="34" charset="-120"/>
              </a:rPr>
              <a:t>Syllabus ouvert, puis fermé</a:t>
            </a:r>
            <a:endParaRPr lang="en-US" sz="1700" dirty="0"/>
          </a:p>
        </p:txBody>
      </p:sp>
      <p:sp>
        <p:nvSpPr>
          <p:cNvPr id="9" name="Text 5"/>
          <p:cNvSpPr txBox="1"/>
          <p:nvPr/>
        </p:nvSpPr>
        <p:spPr>
          <a:xfrm>
            <a:off x="1783080" y="2514600"/>
            <a:ext cx="2804160" cy="914400"/>
          </a:xfrm>
          <a:prstGeom prst="rect">
            <a:avLst/>
          </a:prstGeom>
          <a:noFill/>
          <a:ln/>
        </p:spPr>
        <p:txBody>
          <a:bodyPr wrap="square" lIns="0" tIns="0" rIns="0" bIns="0" rtlCol="0" anchor="t"/>
          <a:lstStyle/>
          <a:p>
            <a:pPr algn="l" indent="0" marL="0">
              <a:buNone/>
            </a:pPr>
            <a:r>
              <a:rPr lang="en-US" sz="1400" dirty="0">
                <a:solidFill>
                  <a:srgbClr val="6B7280"/>
                </a:solidFill>
                <a:latin typeface="Calibri" pitchFamily="34" charset="0"/>
                <a:ea typeface="Calibri" pitchFamily="34" charset="-122"/>
                <a:cs typeface="Calibri" pitchFamily="34" charset="-120"/>
              </a:rPr>
              <a:t>Première fois avec le zinnenbouwer ; deuxième fois sans, de mémoire.</a:t>
            </a:r>
            <a:endParaRPr lang="en-US" sz="1400" dirty="0"/>
          </a:p>
        </p:txBody>
      </p:sp>
      <p:sp>
        <p:nvSpPr>
          <p:cNvPr id="10" name="Shape 6"/>
          <p:cNvSpPr/>
          <p:nvPr/>
        </p:nvSpPr>
        <p:spPr>
          <a:xfrm>
            <a:off x="5044440" y="1371600"/>
            <a:ext cx="3261360" cy="2194560"/>
          </a:xfrm>
          <a:prstGeom prst="roundRect">
            <a:avLst>
              <a:gd name="adj" fmla="val 5000"/>
            </a:avLst>
          </a:prstGeom>
          <a:solidFill>
            <a:srgbClr val="FFFFFF"/>
          </a:solidFill>
          <a:ln w="12700">
            <a:solidFill>
              <a:srgbClr val="E3E7EE"/>
            </a:solidFill>
            <a:prstDash val="solid"/>
          </a:ln>
          <a:effectLst>
            <a:outerShdw sx="100000" sy="100000" kx="0" ky="0" algn="bl" rotWithShape="0" blurRad="101600" dist="38100" dir="5400000">
              <a:srgbClr val="1B2430">
                <a:alpha val="12000"/>
              </a:srgbClr>
            </a:outerShdw>
          </a:effectLst>
        </p:spPr>
      </p:sp>
      <p:pic>
        <p:nvPicPr>
          <p:cNvPr id="11" name="Image 1" descr="stopwatch">    </p:cNvPr>
          <p:cNvPicPr>
            <a:picLocks noChangeAspect="1"/>
          </p:cNvPicPr>
          <p:nvPr/>
        </p:nvPicPr>
        <p:blipFill>
          <a:blip r:embed="rId2"/>
          <a:stretch>
            <a:fillRect/>
          </a:stretch>
        </p:blipFill>
        <p:spPr>
          <a:xfrm>
            <a:off x="5273040" y="1600200"/>
            <a:ext cx="777240" cy="777240"/>
          </a:xfrm>
          <a:prstGeom prst="rect">
            <a:avLst/>
          </a:prstGeom>
        </p:spPr>
      </p:pic>
      <p:sp>
        <p:nvSpPr>
          <p:cNvPr id="12" name="Text 7"/>
          <p:cNvSpPr txBox="1"/>
          <p:nvPr/>
        </p:nvSpPr>
        <p:spPr>
          <a:xfrm>
            <a:off x="6187440" y="1600200"/>
            <a:ext cx="1981200" cy="777240"/>
          </a:xfrm>
          <a:prstGeom prst="rect">
            <a:avLst/>
          </a:prstGeom>
          <a:noFill/>
          <a:ln/>
        </p:spPr>
        <p:txBody>
          <a:bodyPr wrap="square" lIns="0" tIns="0" rIns="0" bIns="0" rtlCol="0" anchor="ctr"/>
          <a:lstStyle/>
          <a:p>
            <a:pPr algn="l" indent="0" marL="0">
              <a:buNone/>
            </a:pPr>
            <a:r>
              <a:rPr lang="en-US" sz="1700" b="1" dirty="0">
                <a:solidFill>
                  <a:srgbClr val="5FA873"/>
                </a:solidFill>
                <a:latin typeface="Calibri" pitchFamily="34" charset="0"/>
                <a:ea typeface="Calibri" pitchFamily="34" charset="-122"/>
                <a:cs typeface="Calibri" pitchFamily="34" charset="-120"/>
              </a:rPr>
              <a:t>Plus vite !</a:t>
            </a:r>
            <a:endParaRPr lang="en-US" sz="1700" dirty="0"/>
          </a:p>
        </p:txBody>
      </p:sp>
      <p:sp>
        <p:nvSpPr>
          <p:cNvPr id="13" name="Text 8"/>
          <p:cNvSpPr txBox="1"/>
          <p:nvPr/>
        </p:nvSpPr>
        <p:spPr>
          <a:xfrm>
            <a:off x="5273040" y="2514600"/>
            <a:ext cx="2804160" cy="914400"/>
          </a:xfrm>
          <a:prstGeom prst="rect">
            <a:avLst/>
          </a:prstGeom>
          <a:noFill/>
          <a:ln/>
        </p:spPr>
        <p:txBody>
          <a:bodyPr wrap="square" lIns="0" tIns="0" rIns="0" bIns="0" rtlCol="0" anchor="t"/>
          <a:lstStyle/>
          <a:p>
            <a:pPr algn="l" indent="0" marL="0">
              <a:buNone/>
            </a:pPr>
            <a:r>
              <a:rPr lang="en-US" sz="1400" dirty="0">
                <a:solidFill>
                  <a:srgbClr val="6B7280"/>
                </a:solidFill>
                <a:latin typeface="Calibri" pitchFamily="34" charset="0"/>
                <a:ea typeface="Calibri" pitchFamily="34" charset="-122"/>
                <a:cs typeface="Calibri" pitchFamily="34" charset="-120"/>
              </a:rPr>
              <a:t>On redit sa production en 60 s, puis en 45 s (couche 3 : fluidité).</a:t>
            </a:r>
            <a:endParaRPr lang="en-US" sz="1400" dirty="0"/>
          </a:p>
        </p:txBody>
      </p:sp>
      <p:sp>
        <p:nvSpPr>
          <p:cNvPr id="14" name="Shape 9"/>
          <p:cNvSpPr/>
          <p:nvPr/>
        </p:nvSpPr>
        <p:spPr>
          <a:xfrm>
            <a:off x="8534400" y="1371600"/>
            <a:ext cx="3261360" cy="2194560"/>
          </a:xfrm>
          <a:prstGeom prst="roundRect">
            <a:avLst>
              <a:gd name="adj" fmla="val 5000"/>
            </a:avLst>
          </a:prstGeom>
          <a:solidFill>
            <a:srgbClr val="FFFFFF"/>
          </a:solidFill>
          <a:ln w="12700">
            <a:solidFill>
              <a:srgbClr val="E3E7EE"/>
            </a:solidFill>
            <a:prstDash val="solid"/>
          </a:ln>
          <a:effectLst>
            <a:outerShdw sx="100000" sy="100000" kx="0" ky="0" algn="bl" rotWithShape="0" blurRad="101600" dist="38100" dir="5400000">
              <a:srgbClr val="1B2430">
                <a:alpha val="12000"/>
              </a:srgbClr>
            </a:outerShdw>
          </a:effectLst>
        </p:spPr>
      </p:sp>
      <p:pic>
        <p:nvPicPr>
          <p:cNvPr id="15" name="Image 2" descr="link">    </p:cNvPr>
          <p:cNvPicPr>
            <a:picLocks noChangeAspect="1"/>
          </p:cNvPicPr>
          <p:nvPr/>
        </p:nvPicPr>
        <p:blipFill>
          <a:blip r:embed="rId3"/>
          <a:stretch>
            <a:fillRect/>
          </a:stretch>
        </p:blipFill>
        <p:spPr>
          <a:xfrm>
            <a:off x="8763000" y="1600200"/>
            <a:ext cx="777240" cy="777240"/>
          </a:xfrm>
          <a:prstGeom prst="rect">
            <a:avLst/>
          </a:prstGeom>
        </p:spPr>
      </p:pic>
      <p:sp>
        <p:nvSpPr>
          <p:cNvPr id="16" name="Text 10"/>
          <p:cNvSpPr txBox="1"/>
          <p:nvPr/>
        </p:nvSpPr>
        <p:spPr>
          <a:xfrm>
            <a:off x="9677400" y="1600200"/>
            <a:ext cx="1981200" cy="777240"/>
          </a:xfrm>
          <a:prstGeom prst="rect">
            <a:avLst/>
          </a:prstGeom>
          <a:noFill/>
          <a:ln/>
        </p:spPr>
        <p:txBody>
          <a:bodyPr wrap="square" lIns="0" tIns="0" rIns="0" bIns="0" rtlCol="0" anchor="ctr"/>
          <a:lstStyle/>
          <a:p>
            <a:pPr algn="l" indent="0" marL="0">
              <a:buNone/>
            </a:pPr>
            <a:r>
              <a:rPr lang="en-US" sz="1700" b="1" dirty="0">
                <a:solidFill>
                  <a:srgbClr val="5FA873"/>
                </a:solidFill>
                <a:latin typeface="Calibri" pitchFamily="34" charset="0"/>
                <a:ea typeface="Calibri" pitchFamily="34" charset="-122"/>
                <a:cs typeface="Calibri" pitchFamily="34" charset="-120"/>
              </a:rPr>
              <a:t>La chaîne</a:t>
            </a:r>
            <a:endParaRPr lang="en-US" sz="1700" dirty="0"/>
          </a:p>
        </p:txBody>
      </p:sp>
      <p:sp>
        <p:nvSpPr>
          <p:cNvPr id="17" name="Text 11"/>
          <p:cNvSpPr txBox="1"/>
          <p:nvPr/>
        </p:nvSpPr>
        <p:spPr>
          <a:xfrm>
            <a:off x="8763000" y="2514600"/>
            <a:ext cx="2804160" cy="914400"/>
          </a:xfrm>
          <a:prstGeom prst="rect">
            <a:avLst/>
          </a:prstGeom>
          <a:noFill/>
          <a:ln/>
        </p:spPr>
        <p:txBody>
          <a:bodyPr wrap="square" lIns="0" tIns="0" rIns="0" bIns="0" rtlCol="0" anchor="t"/>
          <a:lstStyle/>
          <a:p>
            <a:pPr algn="l" indent="0" marL="0">
              <a:buNone/>
            </a:pPr>
            <a:r>
              <a:rPr lang="en-US" sz="1400" dirty="0">
                <a:solidFill>
                  <a:srgbClr val="6B7280"/>
                </a:solidFill>
                <a:latin typeface="Calibri" pitchFamily="34" charset="0"/>
                <a:ea typeface="Calibri" pitchFamily="34" charset="-122"/>
                <a:cs typeface="Calibri" pitchFamily="34" charset="-120"/>
              </a:rPr>
              <a:t>Une phrase chacun·e, à l’oral, autour de la table.</a:t>
            </a:r>
            <a:endParaRPr lang="en-US" sz="1400" dirty="0"/>
          </a:p>
        </p:txBody>
      </p:sp>
      <p:sp>
        <p:nvSpPr>
          <p:cNvPr id="18" name="Shape 12"/>
          <p:cNvSpPr/>
          <p:nvPr/>
        </p:nvSpPr>
        <p:spPr>
          <a:xfrm>
            <a:off x="1554480" y="3794760"/>
            <a:ext cx="3261360" cy="2194560"/>
          </a:xfrm>
          <a:prstGeom prst="roundRect">
            <a:avLst>
              <a:gd name="adj" fmla="val 5000"/>
            </a:avLst>
          </a:prstGeom>
          <a:solidFill>
            <a:srgbClr val="FFFFFF"/>
          </a:solidFill>
          <a:ln w="12700">
            <a:solidFill>
              <a:srgbClr val="E3E7EE"/>
            </a:solidFill>
            <a:prstDash val="solid"/>
          </a:ln>
          <a:effectLst>
            <a:outerShdw sx="100000" sy="100000" kx="0" ky="0" algn="bl" rotWithShape="0" blurRad="101600" dist="38100" dir="5400000">
              <a:srgbClr val="1B2430">
                <a:alpha val="12000"/>
              </a:srgbClr>
            </a:outerShdw>
          </a:effectLst>
        </p:spPr>
      </p:sp>
      <p:pic>
        <p:nvPicPr>
          <p:cNvPr id="19" name="Image 3" descr="detective">    </p:cNvPr>
          <p:cNvPicPr>
            <a:picLocks noChangeAspect="1"/>
          </p:cNvPicPr>
          <p:nvPr/>
        </p:nvPicPr>
        <p:blipFill>
          <a:blip r:embed="rId4"/>
          <a:stretch>
            <a:fillRect/>
          </a:stretch>
        </p:blipFill>
        <p:spPr>
          <a:xfrm>
            <a:off x="1783080" y="4023360"/>
            <a:ext cx="777240" cy="777240"/>
          </a:xfrm>
          <a:prstGeom prst="rect">
            <a:avLst/>
          </a:prstGeom>
        </p:spPr>
      </p:pic>
      <p:sp>
        <p:nvSpPr>
          <p:cNvPr id="20" name="Text 13"/>
          <p:cNvSpPr txBox="1"/>
          <p:nvPr/>
        </p:nvSpPr>
        <p:spPr>
          <a:xfrm>
            <a:off x="2697480" y="4023360"/>
            <a:ext cx="1981200" cy="777240"/>
          </a:xfrm>
          <a:prstGeom prst="rect">
            <a:avLst/>
          </a:prstGeom>
          <a:noFill/>
          <a:ln/>
        </p:spPr>
        <p:txBody>
          <a:bodyPr wrap="square" lIns="0" tIns="0" rIns="0" bIns="0" rtlCol="0" anchor="ctr"/>
          <a:lstStyle/>
          <a:p>
            <a:pPr algn="l" indent="0" marL="0">
              <a:buNone/>
            </a:pPr>
            <a:r>
              <a:rPr lang="en-US" sz="1700" b="1" dirty="0">
                <a:solidFill>
                  <a:srgbClr val="5FA873"/>
                </a:solidFill>
                <a:latin typeface="Calibri" pitchFamily="34" charset="0"/>
                <a:ea typeface="Calibri" pitchFamily="34" charset="-122"/>
                <a:cs typeface="Calibri" pitchFamily="34" charset="-120"/>
              </a:rPr>
              <a:t>Devinez la consigne</a:t>
            </a:r>
            <a:endParaRPr lang="en-US" sz="1700" dirty="0"/>
          </a:p>
        </p:txBody>
      </p:sp>
      <p:sp>
        <p:nvSpPr>
          <p:cNvPr id="21" name="Text 14"/>
          <p:cNvSpPr txBox="1"/>
          <p:nvPr/>
        </p:nvSpPr>
        <p:spPr>
          <a:xfrm>
            <a:off x="1783080" y="4937760"/>
            <a:ext cx="2804160" cy="914400"/>
          </a:xfrm>
          <a:prstGeom prst="rect">
            <a:avLst/>
          </a:prstGeom>
          <a:noFill/>
          <a:ln/>
        </p:spPr>
        <p:txBody>
          <a:bodyPr wrap="square" lIns="0" tIns="0" rIns="0" bIns="0" rtlCol="0" anchor="t"/>
          <a:lstStyle/>
          <a:p>
            <a:pPr algn="l" indent="0" marL="0">
              <a:buNone/>
            </a:pPr>
            <a:r>
              <a:rPr lang="en-US" sz="1400" dirty="0">
                <a:solidFill>
                  <a:srgbClr val="6B7280"/>
                </a:solidFill>
                <a:latin typeface="Calibri" pitchFamily="34" charset="0"/>
                <a:ea typeface="Calibri" pitchFamily="34" charset="-122"/>
                <a:cs typeface="Calibri" pitchFamily="34" charset="-120"/>
              </a:rPr>
              <a:t>On lit sa production ; la classe retrouve les consignes.</a:t>
            </a:r>
            <a:endParaRPr lang="en-US" sz="1400" dirty="0"/>
          </a:p>
        </p:txBody>
      </p:sp>
      <p:sp>
        <p:nvSpPr>
          <p:cNvPr id="22" name="Shape 15"/>
          <p:cNvSpPr/>
          <p:nvPr/>
        </p:nvSpPr>
        <p:spPr>
          <a:xfrm>
            <a:off x="5044440" y="3794760"/>
            <a:ext cx="3261360" cy="2194560"/>
          </a:xfrm>
          <a:prstGeom prst="roundRect">
            <a:avLst>
              <a:gd name="adj" fmla="val 5000"/>
            </a:avLst>
          </a:prstGeom>
          <a:solidFill>
            <a:srgbClr val="FFFFFF"/>
          </a:solidFill>
          <a:ln w="12700">
            <a:solidFill>
              <a:srgbClr val="E3E7EE"/>
            </a:solidFill>
            <a:prstDash val="solid"/>
          </a:ln>
          <a:effectLst>
            <a:outerShdw sx="100000" sy="100000" kx="0" ky="0" algn="bl" rotWithShape="0" blurRad="101600" dist="38100" dir="5400000">
              <a:srgbClr val="1B2430">
                <a:alpha val="12000"/>
              </a:srgbClr>
            </a:outerShdw>
          </a:effectLst>
        </p:spPr>
      </p:sp>
      <p:pic>
        <p:nvPicPr>
          <p:cNvPr id="23" name="Image 4" descr="up arrow">    </p:cNvPr>
          <p:cNvPicPr>
            <a:picLocks noChangeAspect="1"/>
          </p:cNvPicPr>
          <p:nvPr/>
        </p:nvPicPr>
        <p:blipFill>
          <a:blip r:embed="rId5"/>
          <a:stretch>
            <a:fillRect/>
          </a:stretch>
        </p:blipFill>
        <p:spPr>
          <a:xfrm>
            <a:off x="5273040" y="4023360"/>
            <a:ext cx="777240" cy="777240"/>
          </a:xfrm>
          <a:prstGeom prst="rect">
            <a:avLst/>
          </a:prstGeom>
        </p:spPr>
      </p:pic>
      <p:sp>
        <p:nvSpPr>
          <p:cNvPr id="24" name="Text 16"/>
          <p:cNvSpPr txBox="1"/>
          <p:nvPr/>
        </p:nvSpPr>
        <p:spPr>
          <a:xfrm>
            <a:off x="6187440" y="4023360"/>
            <a:ext cx="1981200" cy="777240"/>
          </a:xfrm>
          <a:prstGeom prst="rect">
            <a:avLst/>
          </a:prstGeom>
          <a:noFill/>
          <a:ln/>
        </p:spPr>
        <p:txBody>
          <a:bodyPr wrap="square" lIns="0" tIns="0" rIns="0" bIns="0" rtlCol="0" anchor="ctr"/>
          <a:lstStyle/>
          <a:p>
            <a:pPr algn="l" indent="0" marL="0">
              <a:buNone/>
            </a:pPr>
            <a:r>
              <a:rPr lang="en-US" sz="1700" b="1" dirty="0">
                <a:solidFill>
                  <a:srgbClr val="5FA873"/>
                </a:solidFill>
                <a:latin typeface="Calibri" pitchFamily="34" charset="0"/>
                <a:ea typeface="Calibri" pitchFamily="34" charset="-122"/>
                <a:cs typeface="Calibri" pitchFamily="34" charset="-120"/>
              </a:rPr>
              <a:t>Une marche de plus</a:t>
            </a:r>
            <a:endParaRPr lang="en-US" sz="1700" dirty="0"/>
          </a:p>
        </p:txBody>
      </p:sp>
      <p:sp>
        <p:nvSpPr>
          <p:cNvPr id="25" name="Text 17"/>
          <p:cNvSpPr txBox="1"/>
          <p:nvPr/>
        </p:nvSpPr>
        <p:spPr>
          <a:xfrm>
            <a:off x="5273040" y="4937760"/>
            <a:ext cx="2804160" cy="914400"/>
          </a:xfrm>
          <a:prstGeom prst="rect">
            <a:avLst/>
          </a:prstGeom>
          <a:noFill/>
          <a:ln/>
        </p:spPr>
        <p:txBody>
          <a:bodyPr wrap="square" lIns="0" tIns="0" rIns="0" bIns="0" rtlCol="0" anchor="t"/>
          <a:lstStyle/>
          <a:p>
            <a:pPr algn="l" indent="0" marL="0">
              <a:buNone/>
            </a:pPr>
            <a:r>
              <a:rPr lang="en-US" sz="1400" dirty="0">
                <a:solidFill>
                  <a:srgbClr val="6B7280"/>
                </a:solidFill>
                <a:latin typeface="Calibri" pitchFamily="34" charset="0"/>
                <a:ea typeface="Calibri" pitchFamily="34" charset="-122"/>
                <a:cs typeface="Calibri" pitchFamily="34" charset="-120"/>
              </a:rPr>
              <a:t>Ajoutez une phrase : 3 → 4 → 5, ou une consigne du deck In vijf zinnen.</a:t>
            </a:r>
            <a:endParaRPr lang="en-US" sz="1400" dirty="0"/>
          </a:p>
        </p:txBody>
      </p:sp>
      <p:sp>
        <p:nvSpPr>
          <p:cNvPr id="26" name="Shape 18"/>
          <p:cNvSpPr/>
          <p:nvPr/>
        </p:nvSpPr>
        <p:spPr>
          <a:xfrm>
            <a:off x="8534400" y="3794760"/>
            <a:ext cx="3261360" cy="2194560"/>
          </a:xfrm>
          <a:prstGeom prst="roundRect">
            <a:avLst>
              <a:gd name="adj" fmla="val 5000"/>
            </a:avLst>
          </a:prstGeom>
          <a:solidFill>
            <a:srgbClr val="FFFFFF"/>
          </a:solidFill>
          <a:ln w="12700">
            <a:solidFill>
              <a:srgbClr val="E3E7EE"/>
            </a:solidFill>
            <a:prstDash val="solid"/>
          </a:ln>
          <a:effectLst>
            <a:outerShdw sx="100000" sy="100000" kx="0" ky="0" algn="bl" rotWithShape="0" blurRad="101600" dist="38100" dir="5400000">
              <a:srgbClr val="1B2430">
                <a:alpha val="12000"/>
              </a:srgbClr>
            </a:outerShdw>
          </a:effectLst>
        </p:spPr>
      </p:sp>
      <p:pic>
        <p:nvPicPr>
          <p:cNvPr id="27" name="Image 5" descr="trophy">    </p:cNvPr>
          <p:cNvPicPr>
            <a:picLocks noChangeAspect="1"/>
          </p:cNvPicPr>
          <p:nvPr/>
        </p:nvPicPr>
        <p:blipFill>
          <a:blip r:embed="rId6"/>
          <a:stretch>
            <a:fillRect/>
          </a:stretch>
        </p:blipFill>
        <p:spPr>
          <a:xfrm>
            <a:off x="8763000" y="4023360"/>
            <a:ext cx="777240" cy="777240"/>
          </a:xfrm>
          <a:prstGeom prst="rect">
            <a:avLst/>
          </a:prstGeom>
        </p:spPr>
      </p:pic>
      <p:sp>
        <p:nvSpPr>
          <p:cNvPr id="28" name="Text 19"/>
          <p:cNvSpPr txBox="1"/>
          <p:nvPr/>
        </p:nvSpPr>
        <p:spPr>
          <a:xfrm>
            <a:off x="9677400" y="4023360"/>
            <a:ext cx="1981200" cy="777240"/>
          </a:xfrm>
          <a:prstGeom prst="rect">
            <a:avLst/>
          </a:prstGeom>
          <a:noFill/>
          <a:ln/>
        </p:spPr>
        <p:txBody>
          <a:bodyPr wrap="square" lIns="0" tIns="0" rIns="0" bIns="0" rtlCol="0" anchor="ctr"/>
          <a:lstStyle/>
          <a:p>
            <a:pPr algn="l" indent="0" marL="0">
              <a:buNone/>
            </a:pPr>
            <a:r>
              <a:rPr lang="en-US" sz="1700" b="1" dirty="0">
                <a:solidFill>
                  <a:srgbClr val="5FA873"/>
                </a:solidFill>
                <a:latin typeface="Calibri" pitchFamily="34" charset="0"/>
                <a:ea typeface="Calibri" pitchFamily="34" charset="-122"/>
                <a:cs typeface="Calibri" pitchFamily="34" charset="-120"/>
              </a:rPr>
              <a:t>La meilleure chute</a:t>
            </a:r>
            <a:endParaRPr lang="en-US" sz="1700" dirty="0"/>
          </a:p>
        </p:txBody>
      </p:sp>
      <p:sp>
        <p:nvSpPr>
          <p:cNvPr id="29" name="Text 20"/>
          <p:cNvSpPr txBox="1"/>
          <p:nvPr/>
        </p:nvSpPr>
        <p:spPr>
          <a:xfrm>
            <a:off x="8763000" y="4937760"/>
            <a:ext cx="2804160" cy="914400"/>
          </a:xfrm>
          <a:prstGeom prst="rect">
            <a:avLst/>
          </a:prstGeom>
          <a:noFill/>
          <a:ln/>
        </p:spPr>
        <p:txBody>
          <a:bodyPr wrap="square" lIns="0" tIns="0" rIns="0" bIns="0" rtlCol="0" anchor="t"/>
          <a:lstStyle/>
          <a:p>
            <a:pPr algn="l" indent="0" marL="0">
              <a:buNone/>
            </a:pPr>
            <a:r>
              <a:rPr lang="en-US" sz="1400" dirty="0">
                <a:solidFill>
                  <a:srgbClr val="6B7280"/>
                </a:solidFill>
                <a:latin typeface="Calibri" pitchFamily="34" charset="0"/>
                <a:ea typeface="Calibri" pitchFamily="34" charset="-122"/>
                <a:cs typeface="Calibri" pitchFamily="34" charset="-120"/>
              </a:rPr>
              <a:t>Toutes les chutes au tableau ; la classe vote.</a:t>
            </a:r>
            <a:endParaRPr lang="en-US" sz="1400" dirty="0"/>
          </a:p>
        </p:txBody>
      </p:sp>
      <p:sp>
        <p:nvSpPr>
          <p:cNvPr id="25" name="Slide Number Placeholder 0"/>
          <p:cNvSpPr>
            <a:spLocks noGrp="1"/>
          </p:cNvSpPr>
          <p:nvPr>
            <p:ph type="sldNum" sz="quarter" idx="4294967295"/>
          </p:nvPr>
        </p:nvSpPr>
        <p:spPr>
          <a:xfrm>
            <a:off x="11247120" y="6473952"/>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9AA3B2"/>
                </a:solidFill>
              </a:defRPr>
            </a:lvl1pPr>
          </a:lstStyle>
          <a:p>
            <a:pPr algn="r"/>
            <a:fld id="{F7021451-1387-4CA6-816F-3879F97B5CBC}" type="slidenum">
              <a:rPr b="0" lang="en-US"/>
              <a:t>144</a:t>
            </a:fld>
            <a:endParaRPr lang="en-US"/>
          </a:p>
        </p:txBody>
      </p:sp>
    </p:spTree>
  </p:cSld>
  <p:clrMapOvr>
    <a:masterClrMapping/>
  </p:clrMapOvr>
</p:sld>
</file>

<file path=ppt/theme/theme1.xml><?xml version="1.0" encoding="utf-8"?>
<a:theme xmlns:a="http://schemas.openxmlformats.org/drawingml/2006/main" name="Nederlands 1">
  <a:themeElements>
    <a:clrScheme name="Nederlands 1">
      <a:dk1>
        <a:srgbClr val="1B2333"/>
      </a:dk1>
      <a:lt1>
        <a:srgbClr val="FFFFFF"/>
      </a:lt1>
      <a:dk2>
        <a:srgbClr val="17375E"/>
      </a:dk2>
      <a:lt2>
        <a:srgbClr val="EEF3F8"/>
      </a:lt2>
      <a:accent1>
        <a:srgbClr val="D9700F"/>
      </a:accent1>
      <a:accent2>
        <a:srgbClr val="2A6FB0"/>
      </a:accent2>
      <a:accent3>
        <a:srgbClr val="2E7D4F"/>
      </a:accent3>
      <a:accent4>
        <a:srgbClr val="B4236A"/>
      </a:accent4>
      <a:accent5>
        <a:srgbClr val="4A5A70"/>
      </a:accent5>
      <a:accent6>
        <a:srgbClr val="B83227"/>
      </a:accent6>
      <a:hlink>
        <a:srgbClr val="2A6FB0"/>
      </a:hlink>
      <a:folHlink>
        <a:srgbClr val="B4236A"/>
      </a:folHlink>
    </a:clrScheme>
    <a:fontScheme name="Nederlands 1">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144</Slides>
  <Notes>144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144</vt:i4>
      </vt:variant>
    </vt:vector>
  </HeadingPairs>
  <TitlesOfParts>
    <vt:vector size="14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lpstr>Slide 127</vt:lpstr>
      <vt:lpstr>Slide 128</vt:lpstr>
      <vt:lpstr>Slide 129</vt:lpstr>
      <vt:lpstr>Slide 130</vt:lpstr>
      <vt:lpstr>Slide 131</vt:lpstr>
      <vt:lpstr>Slide 132</vt:lpstr>
      <vt:lpstr>Slide 133</vt:lpstr>
      <vt:lpstr>Slide 134</vt:lpstr>
      <vt:lpstr>Slide 135</vt:lpstr>
      <vt:lpstr>Slide 136</vt:lpstr>
      <vt:lpstr>Slide 137</vt:lpstr>
      <vt:lpstr>Slide 138</vt:lpstr>
      <vt:lpstr>Slide 139</vt:lpstr>
      <vt:lpstr>Slide 140</vt:lpstr>
      <vt:lpstr>Slide 141</vt:lpstr>
      <vt:lpstr>Slide 142</vt:lpstr>
      <vt:lpstr>Slide 143</vt:lpstr>
      <vt:lpstr>Slide 144</vt:lpstr>
    </vt:vector>
  </TitlesOfParts>
  <Company>IRAM — Néerlandais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Stap voor stap — Petites productions jalonnées (A1, vrais débutants)</dc:title>
  <dc:subject>Néerlandais — production guidée A1, en parallèle du syllabus Néerlandais en situation</dc:subject>
  <dc:creator>A. Jouniaux</dc:creator>
  <cp:lastModifiedBy>A. Jouniaux</cp:lastModifiedBy>
  <cp:revision>1</cp:revision>
  <dcterms:created xsi:type="dcterms:W3CDTF">2026-10-11T07:02:39Z</dcterms:created>
  <dcterms:modified xsi:type="dcterms:W3CDTF">2026-10-11T07:02:39Z</dcterms:modified>
</cp:coreProperties>
</file>