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da006e9-f95c-d3b6-5166-ca1d4984a982}">
          <p14:sldIdLst>
            <p14:sldId id="256"/>
          </p14:sldIdLst>
        </p14:section>
        <p14:section name="Découvrir" id="{3c607e68-120d-3cdd-f152-2890a5f04f0a}">
          <p14:sldIdLst>
            <p14:sldId id="257"/>
            <p14:sldId id="258"/>
          </p14:sldIdLst>
        </p14:section>
        <p14:section name="Comprendre" id="{5b916619-36bf-fafd-2e29-db33a8a7092b}">
          <p14:sldIdLst>
            <p14:sldId id="259"/>
            <p14:sldId id="260"/>
            <p14:sldId id="261"/>
            <p14:sldId id="262"/>
            <p14:sldId id="263"/>
            <p14:sldId id="264"/>
            <p14:sldId id="265"/>
            <p14:sldId id="266"/>
            <p14:sldId id="267"/>
            <p14:sldId id="268"/>
          </p14:sldIdLst>
        </p14:section>
        <p14:section name="JIJ NU ! — Oefeningen" id="{e04c4792-98c2-b73b-01bf-fd6db7e81c56}">
          <p14:sldIdLst>
            <p14:sldId id="269"/>
            <p14:sldId id="270"/>
            <p14:sldId id="271"/>
            <p14:sldId id="272"/>
            <p14:sldId id="273"/>
            <p14:sldId id="274"/>
            <p14:sldId id="275"/>
            <p14:sldId id="276"/>
            <p14:sldId id="277"/>
            <p14:sldId id="278"/>
            <p14:sldId id="279"/>
            <p14:sldId id="280"/>
            <p14:sldId id="281"/>
          </p14:sldIdLst>
        </p14:section>
        <p14:section name="Clôture" id="{f8ca4b9a-8902-968f-df24-bc5e0372ff38}">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d'une chose sans la répéter.
Question d'entrée : « Comment dit-on J'y pense ? » Le néerlandais n'a ni « y » ni « en » : il combine er et une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petits mots sont partout à l'oral : Ik ben ermee bezig. Daar heb ik geen zin in. Waar gaat het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formes dans un dialogue.
Faites retrouver le nom remplacé : er… mee = met de offerte, eraan = aan de offerte. bezig zijn met = être occupé à ; dringend =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conversion het / dat / wat / dit → er / daar / waar / hier.
Pour une chose, la préposition ne se combine jamais avec het, dat, wat, dit. er = neutre, daar = « ça » (insistance, ce qu'on vient de dire), waar = question ou relatif (M22), hier = « ceci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Retenir les deux prépositions qui changent de forme.
met → mee est très fréquent : Wat doe je ermee? Ik ben ermee bezig. tot → toe est surtout écrit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Garder « préposition + pronom » pour les personnes.
Question-réflexe : « une personne ou une chose ? » Personne → préposition + hem, haar, hen… ; chose → er + préposition. Pour une personne, la norme est préposition + pronom ; à l'oral, on entend aussi waar / daar + préposition (de collega waar ik mee werk), à éviter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er / daar / waar et la préposition dans la phrase.
À l'oral, la séparation est la règle : Waar wacht je op? La préposition va au bout, comme la particule (M11). Ik denk er niet aan! signifie aussi « il n'en est pas question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12 verbes fréquents avec leur préposition.
On apprend le verbe et sa préposition en bloc, comme un mot composé. Exemples : Ik heb zin in koffie. · Wie zorgt voor de lunch? · Ik reken op jou!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de traduire la préposition française.
Le français « de » peut devenir van, in, voor, over, met… Seule solution : la carte « verbe + préposition ». Dat hangt ervan af (« ça dépend ») est une expression à apprendre telle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sur une chose ou une personne.
Même logique que la diapo 6. La réponse courte reprend la préposition : Op de bus. Faites jouer les questions en chaîne autour de la classe.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waar + préposition comme relatif (lien M22).
✗ de pen met die ik schrijf : pour une chose, on dit waarmee. C'est l'équivalent de « avec lequel, sur laquelle, dont » : het boek waarover ik praat (le livre dont je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quatre emplois de er.
À reconnaître : er a plusieurs « métiers ». Le contexte suffit presque toujours. Les emplois ①–③ sont travaillés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 La liste des 12 verbes (diapo 8) est à apprendre par cœur.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 préposition + chose » par er + préposition.
N° 1 et 4 : met → mee. Variante : ajoutez niet ou un adverbe pour forcer la séparation (Ik denk er vaak 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Mémoriser les verbes à préposition fixe.
Une préposition par phrase, chacune utilisée une fois. Prolongez : faites remplacer le complément par er (Ik wacht erop.).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la question avec waar + préposition ou préposition + wie.
Faites d'abord trier : chose (n° 1, 2, 3, 6) ou personne (n° 4, 5) ? Les formes collées (Waarop wacht je?) sont aussi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er + préposition et préposition + pronom.
Les paires 3-4 et 5-6 sont construites en miroir : même verbe, même préposition, mais une chose / une personne. N° 3 et 5 : er avant l'adverbe, la préposition au bout (diapo 7) ; pour la personne, le groupe reste entier (graag met hem, al lang op haar).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courriel.
Leurres : ik werk er elke dag aan et met Sofie over het budget (personne, puis nom) sont corrects. N° 3 : Lotte est une personne (diapo 6). N° 4 : Waar moet ik eerst mee beginnen?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personnelles avec waar + préposition.
bang zijn voor (avoir peur de), dromen van (rêver de), trots zijn op (être fier de), goed zijn in (être bon en), uitkijken naar (avoir hâte de). Les réactions avec daar (diapo 4) sont l'objectif principal.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faire le point sur les tâches.
letten op = faire attention à ; zorgen voor = s'occuper de. Chaque membre déplace ses tâches sur le tableau en expliquant. Exigez au moins deux er + préposition.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wacht erop.
2. in · aan · over.
3. Waarmee betaal je? (ou Waar betaal je mee?)
Teaser M24 : Kom maar even binnen, hoor!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23 · Waar denk je aan?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2.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2.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2.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23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Waar denk je aan?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adverbes pronominaux : er, daar, waar + préposition</a:t>
            </a:r>
            <a:endParaRPr lang="en-US" sz="2000" dirty="0"/>
          </a:p>
          <a:p>
            <a:pPr algn="l" indent="0" marL="0">
              <a:buNone/>
            </a:pPr>
            <a:r>
              <a:rPr lang="en-US" sz="2000" b="1" dirty="0">
                <a:solidFill>
                  <a:srgbClr val="FFFFFF"/>
                </a:solidFill>
              </a:rPr>
              <a:t>Ik denk eraan. · Waarmee schrijf je?</a:t>
            </a:r>
            <a:endParaRPr lang="en-US" sz="2000" dirty="0"/>
          </a:p>
        </p:txBody>
      </p:sp>
      <p:sp>
        <p:nvSpPr>
          <p:cNvPr id="5" name="Shape 3"/>
          <p:cNvSpPr/>
          <p:nvPr/>
        </p:nvSpPr>
        <p:spPr>
          <a:xfrm>
            <a:off x="8915400" y="685800"/>
            <a:ext cx="2377440" cy="1554480"/>
          </a:xfrm>
          <a:prstGeom prst="ellipse">
            <a:avLst/>
          </a:prstGeom>
          <a:solidFill>
            <a:srgbClr val="FFFFFF"/>
          </a:solidFill>
          <a:ln w="12700">
            <a:solidFill>
              <a:srgbClr val="FFFFFF">
                <a:alpha val="0"/>
              </a:srgbClr>
            </a:solidFill>
            <a:prstDash val="solid"/>
          </a:ln>
        </p:spPr>
      </p:sp>
      <p:sp>
        <p:nvSpPr>
          <p:cNvPr id="6" name="Shape 4"/>
          <p:cNvSpPr/>
          <p:nvPr/>
        </p:nvSpPr>
        <p:spPr>
          <a:xfrm>
            <a:off x="8549640" y="2240280"/>
            <a:ext cx="347472" cy="256032"/>
          </a:xfrm>
          <a:prstGeom prst="ellipse">
            <a:avLst/>
          </a:prstGeom>
          <a:solidFill>
            <a:srgbClr val="FFFFFF"/>
          </a:solidFill>
          <a:ln w="12700">
            <a:solidFill>
              <a:srgbClr val="FFFFFF">
                <a:alpha val="0"/>
              </a:srgbClr>
            </a:solidFill>
            <a:prstDash val="solid"/>
          </a:ln>
        </p:spPr>
      </p:sp>
      <p:sp>
        <p:nvSpPr>
          <p:cNvPr id="7" name="Shape 5"/>
          <p:cNvSpPr/>
          <p:nvPr/>
        </p:nvSpPr>
        <p:spPr>
          <a:xfrm>
            <a:off x="8229600" y="2560320"/>
            <a:ext cx="219456" cy="164592"/>
          </a:xfrm>
          <a:prstGeom prst="ellipse">
            <a:avLst/>
          </a:prstGeom>
          <a:solidFill>
            <a:srgbClr val="FFFFFF"/>
          </a:solidFill>
          <a:ln w="12700">
            <a:solidFill>
              <a:srgbClr val="FFFFFF">
                <a:alpha val="0"/>
              </a:srgbClr>
            </a:solidFill>
            <a:prstDash val="solid"/>
          </a:ln>
        </p:spPr>
      </p:sp>
      <p:pic>
        <p:nvPicPr>
          <p:cNvPr id="8" name="Image 0" descr="spiral calendar">    </p:cNvPr>
          <p:cNvPicPr>
            <a:picLocks noChangeAspect="1"/>
          </p:cNvPicPr>
          <p:nvPr/>
        </p:nvPicPr>
        <p:blipFill>
          <a:blip r:embed="rId1"/>
          <a:stretch>
            <a:fillRect/>
          </a:stretch>
        </p:blipFill>
        <p:spPr>
          <a:xfrm>
            <a:off x="9646920" y="868680"/>
            <a:ext cx="1005840" cy="1005840"/>
          </a:xfrm>
          <a:prstGeom prst="rect">
            <a:avLst/>
          </a:prstGeom>
        </p:spPr>
      </p:pic>
      <p:sp>
        <p:nvSpPr>
          <p:cNvPr id="9" name="Text 6"/>
          <p:cNvSpPr txBox="1"/>
          <p:nvPr/>
        </p:nvSpPr>
        <p:spPr>
          <a:xfrm>
            <a:off x="8915400" y="1828800"/>
            <a:ext cx="2377440" cy="274320"/>
          </a:xfrm>
          <a:prstGeom prst="rect">
            <a:avLst/>
          </a:prstGeom>
          <a:noFill/>
          <a:ln/>
        </p:spPr>
        <p:txBody>
          <a:bodyPr wrap="square" lIns="0" tIns="0" rIns="0" bIns="0" rtlCol="0" anchor="t"/>
          <a:lstStyle/>
          <a:p>
            <a:pPr algn="ctr" indent="0" marL="0">
              <a:buNone/>
            </a:pPr>
            <a:r>
              <a:rPr lang="en-US" sz="1100" b="1" dirty="0">
                <a:solidFill>
                  <a:schemeClr val="accent6"/>
                </a:solidFill>
              </a:rPr>
              <a:t>DEADLINE</a:t>
            </a:r>
            <a:endParaRPr lang="en-US" sz="1100" dirty="0"/>
          </a:p>
        </p:txBody>
      </p:sp>
      <p:pic>
        <p:nvPicPr>
          <p:cNvPr id="10" name="Image 1" descr="thinking face">    </p:cNvPr>
          <p:cNvPicPr>
            <a:picLocks noChangeAspect="1"/>
          </p:cNvPicPr>
          <p:nvPr/>
        </p:nvPicPr>
        <p:blipFill>
          <a:blip r:embed="rId2"/>
          <a:stretch>
            <a:fillRect/>
          </a:stretch>
        </p:blipFill>
        <p:spPr>
          <a:xfrm>
            <a:off x="6766560" y="960120"/>
            <a:ext cx="1463040" cy="1463040"/>
          </a:xfrm>
          <a:prstGeom prst="rect">
            <a:avLst/>
          </a:prstGeom>
        </p:spPr>
      </p:pic>
      <p:sp>
        <p:nvSpPr>
          <p:cNvPr id="11" name="Shape 7"/>
          <p:cNvSpPr/>
          <p:nvPr/>
        </p:nvSpPr>
        <p:spPr>
          <a:xfrm>
            <a:off x="6400800" y="2880360"/>
            <a:ext cx="4023360" cy="685800"/>
          </a:xfrm>
          <a:prstGeom prst="roundRect">
            <a:avLst>
              <a:gd name="adj" fmla="val 2400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583680" y="2880360"/>
            <a:ext cx="3749040" cy="685800"/>
          </a:xfrm>
          <a:prstGeom prst="rect">
            <a:avLst/>
          </a:prstGeom>
          <a:noFill/>
          <a:ln/>
        </p:spPr>
        <p:txBody>
          <a:bodyPr wrap="square" lIns="0" tIns="0" rIns="0" bIns="0" rtlCol="0" anchor="ctr"/>
          <a:lstStyle/>
          <a:p>
            <a:pPr algn="l" indent="0" marL="0">
              <a:buNone/>
            </a:pPr>
            <a:r>
              <a:rPr lang="en-US" sz="2000" i="1" dirty="0">
                <a:solidFill>
                  <a:schemeClr val="tx1"/>
                </a:solidFill>
                <a:latin typeface="+mj-lt" pitchFamily="34" charset="0"/>
                <a:ea typeface="+mj-lt" pitchFamily="34" charset="-122"/>
                <a:cs typeface="+mj-lt" pitchFamily="34" charset="-120"/>
              </a:rPr>
              <a:t>Waar denk je aan?</a:t>
            </a:r>
            <a:endParaRPr lang="en-US" sz="2000" dirty="0"/>
          </a:p>
        </p:txBody>
      </p:sp>
      <p:sp>
        <p:nvSpPr>
          <p:cNvPr id="13" name="Shape 9"/>
          <p:cNvSpPr/>
          <p:nvPr/>
        </p:nvSpPr>
        <p:spPr>
          <a:xfrm>
            <a:off x="7315200" y="3749040"/>
            <a:ext cx="4297680" cy="1051560"/>
          </a:xfrm>
          <a:prstGeom prst="roundRect">
            <a:avLst>
              <a:gd name="adj" fmla="val 15652"/>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7498080" y="3749040"/>
            <a:ext cx="4023360" cy="1051560"/>
          </a:xfrm>
          <a:prstGeom prst="rect">
            <a:avLst/>
          </a:prstGeom>
          <a:noFill/>
          <a:ln/>
        </p:spPr>
        <p:txBody>
          <a:bodyPr wrap="square" lIns="0" tIns="0" rIns="0" bIns="0" rtlCol="0" anchor="ctr"/>
          <a:lstStyle/>
          <a:p>
            <a:pPr algn="l" indent="0" marL="0">
              <a:buNone/>
            </a:pPr>
            <a:r>
              <a:rPr lang="en-US" sz="1900" i="1" dirty="0">
                <a:solidFill>
                  <a:schemeClr val="tx1"/>
                </a:solidFill>
                <a:latin typeface="+mj-lt" pitchFamily="34" charset="0"/>
                <a:ea typeface="+mj-lt" pitchFamily="34" charset="-122"/>
                <a:cs typeface="+mj-lt" pitchFamily="34" charset="-120"/>
              </a:rPr>
              <a:t>Aan de deadline. Ik denk </a:t>
            </a:r>
            <a:r>
              <a:rPr lang="en-US" sz="1900" b="1" i="1" dirty="0">
                <a:solidFill>
                  <a:schemeClr val="accent3"/>
                </a:solidFill>
                <a:latin typeface="+mj-lt" pitchFamily="34" charset="0"/>
                <a:ea typeface="+mj-lt" pitchFamily="34" charset="-122"/>
                <a:cs typeface="+mj-lt" pitchFamily="34" charset="-120"/>
              </a:rPr>
              <a:t>er</a:t>
            </a:r>
            <a:r>
              <a:rPr lang="en-US" sz="1900" i="1" dirty="0">
                <a:solidFill>
                  <a:schemeClr val="tx1"/>
                </a:solidFill>
                <a:latin typeface="+mj-lt" pitchFamily="34" charset="0"/>
                <a:ea typeface="+mj-lt" pitchFamily="34" charset="-122"/>
                <a:cs typeface="+mj-lt" pitchFamily="34" charset="-120"/>
              </a:rPr>
              <a:t> de hele dag </a:t>
            </a:r>
            <a:r>
              <a:rPr lang="en-US" sz="1900" b="1" i="1" dirty="0">
                <a:solidFill>
                  <a:schemeClr val="accent1"/>
                </a:solidFill>
                <a:latin typeface="+mj-lt" pitchFamily="34" charset="0"/>
                <a:ea typeface="+mj-lt" pitchFamily="34" charset="-122"/>
                <a:cs typeface="+mj-lt" pitchFamily="34" charset="-120"/>
              </a:rPr>
              <a:t>aan</a:t>
            </a:r>
            <a:r>
              <a:rPr lang="en-US" sz="1900" i="1" dirty="0">
                <a:solidFill>
                  <a:schemeClr val="tx1"/>
                </a:solidFill>
                <a:latin typeface="+mj-lt" pitchFamily="34" charset="0"/>
                <a:ea typeface="+mj-lt" pitchFamily="34" charset="-122"/>
                <a:cs typeface="+mj-lt" pitchFamily="34" charset="-120"/>
              </a:rPr>
              <a:t>!</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Remplacer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remplace « préposition + chose » : </a:t>
            </a:r>
            <a:r>
              <a:rPr lang="en-US" sz="2000" i="1" dirty="0">
                <a:solidFill>
                  <a:schemeClr val="tx1"/>
                </a:solidFill>
              </a:rPr>
              <a:t>met de pen → ermee</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Combiner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J’apprends le verbe avec sa préposition : </a:t>
            </a:r>
            <a:r>
              <a:rPr lang="en-US" sz="2000" i="1" dirty="0">
                <a:solidFill>
                  <a:schemeClr val="tx1"/>
                </a:solidFill>
              </a:rPr>
              <a:t>wachten op, denken aan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Questionner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et je réponds : </a:t>
            </a:r>
            <a:r>
              <a:rPr lang="en-US" sz="2000" i="1" dirty="0">
                <a:solidFill>
                  <a:schemeClr val="tx1"/>
                </a:solidFill>
              </a:rPr>
              <a:t>Waar wacht je op? — Op de bus.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Partout à l’oral : </a:t>
            </a:r>
            <a:r>
              <a:rPr lang="en-US" sz="1700" i="1" dirty="0">
                <a:solidFill>
                  <a:schemeClr val="tx1"/>
                </a:solidFill>
              </a:rPr>
              <a:t>Ik ben ermee bezig. · Daar heb ik geen zin in. · Waar gaat het over?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p:cNvPr>
          <p:cNvPicPr>
            <a:picLocks noChangeAspect="1"/>
          </p:cNvPicPr>
          <p:nvPr/>
        </p:nvPicPr>
        <p:blipFill>
          <a:blip r:embed="rId1"/>
          <a:stretch>
            <a:fillRect/>
          </a:stretch>
        </p:blipFill>
        <p:spPr>
          <a:xfrm>
            <a:off x="548640" y="1554480"/>
            <a:ext cx="731520" cy="731520"/>
          </a:xfrm>
          <a:prstGeom prst="rect">
            <a:avLst/>
          </a:prstGeom>
        </p:spPr>
      </p:pic>
      <p:sp>
        <p:nvSpPr>
          <p:cNvPr id="6" name="Shape 2"/>
          <p:cNvSpPr/>
          <p:nvPr/>
        </p:nvSpPr>
        <p:spPr>
          <a:xfrm>
            <a:off x="1417320" y="155448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7" name="Text 3"/>
          <p:cNvSpPr txBox="1"/>
          <p:nvPr/>
        </p:nvSpPr>
        <p:spPr>
          <a:xfrm>
            <a:off x="1581912" y="155448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Heb je de offerte al gestuurd?</a:t>
            </a:r>
            <a:endParaRPr lang="en-US" sz="1800" dirty="0"/>
          </a:p>
        </p:txBody>
      </p:sp>
      <p:pic>
        <p:nvPicPr>
          <p:cNvPr id="8" name="Image 1" descr="man office worker">    </p:cNvPr>
          <p:cNvPicPr>
            <a:picLocks noChangeAspect="1"/>
          </p:cNvPicPr>
          <p:nvPr/>
        </p:nvPicPr>
        <p:blipFill>
          <a:blip r:embed="rId2"/>
          <a:stretch>
            <a:fillRect/>
          </a:stretch>
        </p:blipFill>
        <p:spPr>
          <a:xfrm>
            <a:off x="10908792" y="2423160"/>
            <a:ext cx="731520" cy="731520"/>
          </a:xfrm>
          <a:prstGeom prst="rect">
            <a:avLst/>
          </a:prstGeom>
        </p:spPr>
      </p:pic>
      <p:sp>
        <p:nvSpPr>
          <p:cNvPr id="9" name="Shape 4"/>
          <p:cNvSpPr/>
          <p:nvPr/>
        </p:nvSpPr>
        <p:spPr>
          <a:xfrm>
            <a:off x="3840480" y="242316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0" name="Text 5"/>
          <p:cNvSpPr txBox="1"/>
          <p:nvPr/>
        </p:nvSpPr>
        <p:spPr>
          <a:xfrm>
            <a:off x="4005072" y="242316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Nee, ik ben </a:t>
            </a:r>
            <a:r>
              <a:rPr lang="en-US" sz="1800" b="1" i="1" dirty="0">
                <a:solidFill>
                  <a:schemeClr val="accent3"/>
                </a:solidFill>
              </a:rPr>
              <a:t>er</a:t>
            </a:r>
            <a:r>
              <a:rPr lang="en-US" sz="1800" i="1" dirty="0">
                <a:solidFill>
                  <a:schemeClr val="tx1"/>
                </a:solidFill>
              </a:rPr>
              <a:t> nog </a:t>
            </a:r>
            <a:r>
              <a:rPr lang="en-US" sz="1800" b="1" i="1" dirty="0">
                <a:solidFill>
                  <a:schemeClr val="accent1"/>
                </a:solidFill>
              </a:rPr>
              <a:t>mee</a:t>
            </a:r>
            <a:r>
              <a:rPr lang="en-US" sz="1800" i="1" dirty="0">
                <a:solidFill>
                  <a:schemeClr val="tx1"/>
                </a:solidFill>
              </a:rPr>
              <a:t> bezig.</a:t>
            </a:r>
            <a:endParaRPr lang="en-US" sz="1800" dirty="0"/>
          </a:p>
        </p:txBody>
      </p:sp>
      <p:pic>
        <p:nvPicPr>
          <p:cNvPr id="11" name="Image 2" descr="woman">    </p:cNvPr>
          <p:cNvPicPr>
            <a:picLocks noChangeAspect="1"/>
          </p:cNvPicPr>
          <p:nvPr/>
        </p:nvPicPr>
        <p:blipFill>
          <a:blip r:embed="rId3"/>
          <a:stretch>
            <a:fillRect/>
          </a:stretch>
        </p:blipFill>
        <p:spPr>
          <a:xfrm>
            <a:off x="548640" y="3291840"/>
            <a:ext cx="731520" cy="731520"/>
          </a:xfrm>
          <a:prstGeom prst="rect">
            <a:avLst/>
          </a:prstGeom>
        </p:spPr>
      </p:pic>
      <p:sp>
        <p:nvSpPr>
          <p:cNvPr id="12" name="Shape 6"/>
          <p:cNvSpPr/>
          <p:nvPr/>
        </p:nvSpPr>
        <p:spPr>
          <a:xfrm>
            <a:off x="1417320" y="3291840"/>
            <a:ext cx="6949440" cy="731520"/>
          </a:xfrm>
          <a:prstGeom prst="roundRect">
            <a:avLst>
              <a:gd name="adj" fmla="val 22500"/>
            </a:avLst>
          </a:prstGeom>
          <a:solidFill>
            <a:schemeClr val="accent4">
              <a:alpha val="12000"/>
            </a:schemeClr>
          </a:solidFill>
          <a:ln w="15875">
            <a:solidFill>
              <a:srgbClr val="B4236A"/>
            </a:solidFill>
            <a:prstDash val="solid"/>
          </a:ln>
        </p:spPr>
      </p:sp>
      <p:sp>
        <p:nvSpPr>
          <p:cNvPr id="13" name="Text 7"/>
          <p:cNvSpPr txBox="1"/>
          <p:nvPr/>
        </p:nvSpPr>
        <p:spPr>
          <a:xfrm>
            <a:off x="1581912" y="329184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Sofie</a:t>
            </a:r>
            <a:r>
              <a:rPr lang="en-US" sz="1800" dirty="0">
                <a:solidFill>
                  <a:schemeClr val="tx1"/>
                </a:solidFill>
              </a:rPr>
              <a:t> · </a:t>
            </a:r>
            <a:r>
              <a:rPr lang="en-US" sz="1800" i="1" dirty="0">
                <a:solidFill>
                  <a:schemeClr val="tx1"/>
                </a:solidFill>
              </a:rPr>
              <a:t>Denk je </a:t>
            </a:r>
            <a:r>
              <a:rPr lang="en-US" sz="1800" b="1" i="1" dirty="0">
                <a:solidFill>
                  <a:schemeClr val="accent3"/>
                </a:solidFill>
              </a:rPr>
              <a:t>er</a:t>
            </a:r>
            <a:r>
              <a:rPr lang="en-US" sz="1800" b="1" i="1" dirty="0">
                <a:solidFill>
                  <a:schemeClr val="accent1"/>
                </a:solidFill>
              </a:rPr>
              <a:t>aan</a:t>
            </a:r>
            <a:r>
              <a:rPr lang="en-US" sz="1800" i="1" dirty="0">
                <a:solidFill>
                  <a:schemeClr val="tx1"/>
                </a:solidFill>
              </a:rPr>
              <a:t>? Het is dringend!</a:t>
            </a:r>
            <a:endParaRPr lang="en-US" sz="1800" dirty="0"/>
          </a:p>
        </p:txBody>
      </p:sp>
      <p:pic>
        <p:nvPicPr>
          <p:cNvPr id="14" name="Image 3" descr="man office worker">    </p:cNvPr>
          <p:cNvPicPr>
            <a:picLocks noChangeAspect="1"/>
          </p:cNvPicPr>
          <p:nvPr/>
        </p:nvPicPr>
        <p:blipFill>
          <a:blip r:embed="rId4"/>
          <a:stretch>
            <a:fillRect/>
          </a:stretch>
        </p:blipFill>
        <p:spPr>
          <a:xfrm>
            <a:off x="10908792" y="4160520"/>
            <a:ext cx="731520" cy="731520"/>
          </a:xfrm>
          <a:prstGeom prst="rect">
            <a:avLst/>
          </a:prstGeom>
        </p:spPr>
      </p:pic>
      <p:sp>
        <p:nvSpPr>
          <p:cNvPr id="15" name="Shape 8"/>
          <p:cNvSpPr/>
          <p:nvPr/>
        </p:nvSpPr>
        <p:spPr>
          <a:xfrm>
            <a:off x="3840480" y="4160520"/>
            <a:ext cx="6949440" cy="731520"/>
          </a:xfrm>
          <a:prstGeom prst="roundRect">
            <a:avLst>
              <a:gd name="adj" fmla="val 22500"/>
            </a:avLst>
          </a:prstGeom>
          <a:solidFill>
            <a:schemeClr val="accent2">
              <a:alpha val="12000"/>
            </a:schemeClr>
          </a:solidFill>
          <a:ln w="15875">
            <a:solidFill>
              <a:srgbClr val="2A6FB0"/>
            </a:solidFill>
            <a:prstDash val="solid"/>
          </a:ln>
        </p:spPr>
      </p:sp>
      <p:sp>
        <p:nvSpPr>
          <p:cNvPr id="16" name="Text 9"/>
          <p:cNvSpPr txBox="1"/>
          <p:nvPr/>
        </p:nvSpPr>
        <p:spPr>
          <a:xfrm>
            <a:off x="4005072" y="4160520"/>
            <a:ext cx="6620256" cy="731520"/>
          </a:xfrm>
          <a:prstGeom prst="rect">
            <a:avLst/>
          </a:prstGeom>
          <a:noFill/>
          <a:ln/>
        </p:spPr>
        <p:txBody>
          <a:bodyPr wrap="square" lIns="0" tIns="0" rIns="0" bIns="0" rtlCol="0" anchor="ctr"/>
          <a:lstStyle/>
          <a:p>
            <a:pPr algn="l" indent="0" marL="0">
              <a:buNone/>
            </a:pPr>
            <a:r>
              <a:rPr lang="en-US" sz="1800" b="1" dirty="0">
                <a:solidFill>
                  <a:schemeClr val="tx1"/>
                </a:solidFill>
              </a:rPr>
              <a:t>Karim</a:t>
            </a:r>
            <a:r>
              <a:rPr lang="en-US" sz="1800" dirty="0">
                <a:solidFill>
                  <a:schemeClr val="tx1"/>
                </a:solidFill>
              </a:rPr>
              <a:t> · </a:t>
            </a:r>
            <a:r>
              <a:rPr lang="en-US" sz="1800" i="1" dirty="0">
                <a:solidFill>
                  <a:schemeClr val="tx1"/>
                </a:solidFill>
              </a:rPr>
              <a:t>Ja, ik denk </a:t>
            </a:r>
            <a:r>
              <a:rPr lang="en-US" sz="1800" b="1" i="1" dirty="0">
                <a:solidFill>
                  <a:schemeClr val="accent3"/>
                </a:solidFill>
              </a:rPr>
              <a:t>er</a:t>
            </a:r>
            <a:r>
              <a:rPr lang="en-US" sz="1800" i="1" dirty="0">
                <a:solidFill>
                  <a:schemeClr val="tx1"/>
                </a:solidFill>
              </a:rPr>
              <a:t> de hele dag </a:t>
            </a:r>
            <a:r>
              <a:rPr lang="en-US" sz="1800" b="1" i="1" dirty="0">
                <a:solidFill>
                  <a:schemeClr val="accent1"/>
                </a:solidFill>
              </a:rPr>
              <a:t>aan</a:t>
            </a:r>
            <a:r>
              <a:rPr lang="en-US" sz="1800" i="1" dirty="0">
                <a:solidFill>
                  <a:schemeClr val="tx1"/>
                </a:solidFill>
              </a:rPr>
              <a:t>!</a:t>
            </a:r>
            <a:endParaRPr lang="en-US" sz="1800" dirty="0"/>
          </a:p>
        </p:txBody>
      </p:sp>
      <p:sp>
        <p:nvSpPr>
          <p:cNvPr id="17" name="Shape 10"/>
          <p:cNvSpPr/>
          <p:nvPr/>
        </p:nvSpPr>
        <p:spPr>
          <a:xfrm>
            <a:off x="548640" y="516636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18" name="Image 4" descr="thinking face">    </p:cNvPr>
          <p:cNvPicPr>
            <a:picLocks noChangeAspect="1"/>
          </p:cNvPicPr>
          <p:nvPr/>
        </p:nvPicPr>
        <p:blipFill>
          <a:blip r:embed="rId5"/>
          <a:stretch>
            <a:fillRect/>
          </a:stretch>
        </p:blipFill>
        <p:spPr>
          <a:xfrm>
            <a:off x="777240" y="5303520"/>
            <a:ext cx="822960" cy="822960"/>
          </a:xfrm>
          <a:prstGeom prst="rect">
            <a:avLst/>
          </a:prstGeom>
        </p:spPr>
      </p:pic>
      <p:sp>
        <p:nvSpPr>
          <p:cNvPr id="19" name="Text 11"/>
          <p:cNvSpPr txBox="1"/>
          <p:nvPr/>
        </p:nvSpPr>
        <p:spPr>
          <a:xfrm>
            <a:off x="1828800" y="516636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 remplacent </a:t>
            </a:r>
            <a:r>
              <a:rPr lang="en-US" sz="1800" i="1" dirty="0">
                <a:solidFill>
                  <a:schemeClr val="tx1"/>
                </a:solidFill>
              </a:rPr>
              <a:t>er… mee</a:t>
            </a:r>
            <a:r>
              <a:rPr lang="en-US" sz="1800" dirty="0">
                <a:solidFill>
                  <a:schemeClr val="tx1"/>
                </a:solidFill>
              </a:rPr>
              <a:t> et </a:t>
            </a:r>
            <a:r>
              <a:rPr lang="en-US" sz="1800" i="1" dirty="0">
                <a:solidFill>
                  <a:schemeClr val="tx1"/>
                </a:solidFill>
              </a:rPr>
              <a:t>eraan</a:t>
            </a:r>
            <a:r>
              <a:rPr lang="en-US" sz="1800" dirty="0">
                <a:solidFill>
                  <a:schemeClr val="tx1"/>
                </a:solidFill>
              </a:rPr>
              <a:t> ? Retrouvez le nom.</a:t>
            </a:r>
            <a:endParaRPr lang="en-US" sz="1800" dirty="0"/>
          </a:p>
          <a:p>
            <a:pPr algn="l" indent="0" marL="0">
              <a:spcAft>
                <a:spcPts val="400"/>
              </a:spcAft>
              <a:buNone/>
            </a:pPr>
            <a:r>
              <a:rPr lang="en-US" sz="1800" i="1" dirty="0">
                <a:solidFill>
                  <a:schemeClr val="tx1"/>
                </a:solidFill>
              </a:rPr>
              <a:t>bezig zijn met</a:t>
            </a:r>
            <a:r>
              <a:rPr lang="en-US" sz="1800" dirty="0">
                <a:solidFill>
                  <a:schemeClr val="tx1"/>
                </a:solidFill>
              </a:rPr>
              <a:t> = être occupé à · </a:t>
            </a:r>
            <a:r>
              <a:rPr lang="en-US" sz="1800" i="1" dirty="0">
                <a:solidFill>
                  <a:schemeClr val="tx1"/>
                </a:solidFill>
              </a:rPr>
              <a:t>dringend</a:t>
            </a:r>
            <a:r>
              <a:rPr lang="en-US" sz="1800" dirty="0">
                <a:solidFill>
                  <a:schemeClr val="tx1"/>
                </a:solidFill>
              </a:rPr>
              <a:t> = urgent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 de « préposition + het » pour une chose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6"/>
                </a:solidFill>
              </a:rPr>
              <a:t>✗ INTERDIT</a:t>
            </a:r>
            <a:endParaRPr lang="en-US" sz="1200" dirty="0"/>
          </a:p>
        </p:txBody>
      </p:sp>
      <p:sp>
        <p:nvSpPr>
          <p:cNvPr id="6" name="Text 3"/>
          <p:cNvSpPr txBox="1"/>
          <p:nvPr/>
        </p:nvSpPr>
        <p:spPr>
          <a:xfrm>
            <a:off x="3200400" y="1481328"/>
            <a:ext cx="2103120" cy="292608"/>
          </a:xfrm>
          <a:prstGeom prst="rect">
            <a:avLst/>
          </a:prstGeom>
          <a:noFill/>
          <a:ln/>
        </p:spPr>
        <p:txBody>
          <a:bodyPr wrap="square" lIns="0" tIns="0" rIns="0" bIns="0" rtlCol="0" anchor="t"/>
          <a:lstStyle/>
          <a:p>
            <a:pPr algn="ctr" indent="0" marL="0">
              <a:buNone/>
            </a:pPr>
            <a:r>
              <a:rPr lang="en-US" sz="1200" b="1" spc="100" kern="0" dirty="0">
                <a:solidFill>
                  <a:schemeClr val="accent3"/>
                </a:solidFill>
              </a:rPr>
              <a:t>✓ CORRECT</a:t>
            </a:r>
            <a:endParaRPr lang="en-US" sz="1200" dirty="0"/>
          </a:p>
        </p:txBody>
      </p:sp>
      <p:sp>
        <p:nvSpPr>
          <p:cNvPr id="7" name="Text 4"/>
          <p:cNvSpPr txBox="1"/>
          <p:nvPr/>
        </p:nvSpPr>
        <p:spPr>
          <a:xfrm>
            <a:off x="5532120" y="1481328"/>
            <a:ext cx="20116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NUANCE</a:t>
            </a:r>
            <a:endParaRPr lang="en-US" sz="1200" dirty="0"/>
          </a:p>
        </p:txBody>
      </p:sp>
      <p:sp>
        <p:nvSpPr>
          <p:cNvPr id="8" name="Text 5"/>
          <p:cNvSpPr txBox="1"/>
          <p:nvPr/>
        </p:nvSpPr>
        <p:spPr>
          <a:xfrm>
            <a:off x="7726680" y="1481328"/>
            <a:ext cx="3840480" cy="292608"/>
          </a:xfrm>
          <a:prstGeom prst="rect">
            <a:avLst/>
          </a:prstGeom>
          <a:noFill/>
          <a:ln/>
        </p:spPr>
        <p:txBody>
          <a:bodyPr wrap="square" lIns="0" tIns="0" rIns="0" bIns="0" rtlCol="0" anchor="t"/>
          <a:lstStyle/>
          <a:p>
            <a:pPr algn="l" indent="0" marL="0">
              <a:buNone/>
            </a:pPr>
            <a:r>
              <a:rPr lang="en-US" sz="1200" b="1" spc="100" kern="0" dirty="0">
                <a:solidFill>
                  <a:schemeClr val="accent5"/>
                </a:solidFill>
              </a:rPr>
              <a:t>EXEMPLE</a:t>
            </a:r>
            <a:endParaRPr lang="en-US" sz="1200" dirty="0"/>
          </a:p>
        </p:txBody>
      </p:sp>
      <p:sp>
        <p:nvSpPr>
          <p:cNvPr id="9" name="Shape 6"/>
          <p:cNvSpPr/>
          <p:nvPr/>
        </p:nvSpPr>
        <p:spPr>
          <a:xfrm>
            <a:off x="548640" y="187452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0" name="Text 7"/>
          <p:cNvSpPr txBox="1"/>
          <p:nvPr/>
        </p:nvSpPr>
        <p:spPr>
          <a:xfrm>
            <a:off x="548640" y="187452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het</a:t>
            </a:r>
            <a:endParaRPr lang="en-US" sz="2200" dirty="0"/>
          </a:p>
        </p:txBody>
      </p:sp>
      <p:sp>
        <p:nvSpPr>
          <p:cNvPr id="11" name="Shape 8"/>
          <p:cNvSpPr/>
          <p:nvPr/>
        </p:nvSpPr>
        <p:spPr>
          <a:xfrm>
            <a:off x="2697480" y="2231136"/>
            <a:ext cx="457200" cy="914"/>
          </a:xfrm>
          <a:prstGeom prst="line">
            <a:avLst/>
          </a:prstGeom>
          <a:noFill/>
          <a:ln w="31750">
            <a:solidFill>
              <a:srgbClr val="17375E"/>
            </a:solidFill>
            <a:prstDash val="solid"/>
            <a:tailEnd type="triangle"/>
          </a:ln>
        </p:spPr>
      </p:sp>
      <p:sp>
        <p:nvSpPr>
          <p:cNvPr id="12" name="Shape 9"/>
          <p:cNvSpPr/>
          <p:nvPr/>
        </p:nvSpPr>
        <p:spPr>
          <a:xfrm>
            <a:off x="3200400" y="187452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13" name="Text 10"/>
          <p:cNvSpPr txBox="1"/>
          <p:nvPr/>
        </p:nvSpPr>
        <p:spPr>
          <a:xfrm>
            <a:off x="3200400" y="187452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er</a:t>
            </a:r>
            <a:r>
              <a:rPr lang="en-US" sz="2400" b="1" dirty="0">
                <a:solidFill>
                  <a:schemeClr val="accent1"/>
                </a:solidFill>
              </a:rPr>
              <a:t>op</a:t>
            </a:r>
            <a:endParaRPr lang="en-US" sz="2400" dirty="0"/>
          </a:p>
        </p:txBody>
      </p:sp>
      <p:sp>
        <p:nvSpPr>
          <p:cNvPr id="14" name="Text 11"/>
          <p:cNvSpPr txBox="1"/>
          <p:nvPr/>
        </p:nvSpPr>
        <p:spPr>
          <a:xfrm>
            <a:off x="5532120" y="187452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neutre</a:t>
            </a:r>
            <a:endParaRPr lang="en-US" sz="1500" dirty="0"/>
          </a:p>
        </p:txBody>
      </p:sp>
      <p:sp>
        <p:nvSpPr>
          <p:cNvPr id="15" name="Text 12"/>
          <p:cNvSpPr txBox="1"/>
          <p:nvPr/>
        </p:nvSpPr>
        <p:spPr>
          <a:xfrm>
            <a:off x="7726680" y="1874520"/>
            <a:ext cx="3913632" cy="713232"/>
          </a:xfrm>
          <a:prstGeom prst="rect">
            <a:avLst/>
          </a:prstGeom>
          <a:noFill/>
          <a:ln/>
        </p:spPr>
        <p:txBody>
          <a:bodyPr wrap="square" lIns="0" tIns="0" rIns="0" bIns="0" rtlCol="0" anchor="ctr"/>
          <a:lstStyle/>
          <a:p>
            <a:pPr algn="l" indent="0" marL="0">
              <a:buNone/>
            </a:pPr>
            <a:r>
              <a:rPr lang="en-US" sz="1900" i="1" dirty="0">
                <a:solidFill>
                  <a:schemeClr val="tx1"/>
                </a:solidFill>
              </a:rPr>
              <a:t>Ik wacht </a:t>
            </a:r>
            <a:r>
              <a:rPr lang="en-US" sz="1900" b="1" i="1" dirty="0">
                <a:solidFill>
                  <a:schemeClr val="accent3"/>
                </a:solidFill>
              </a:rPr>
              <a:t>er</a:t>
            </a:r>
            <a:r>
              <a:rPr lang="en-US" sz="1900" b="1" i="1" dirty="0">
                <a:solidFill>
                  <a:schemeClr val="accent1"/>
                </a:solidFill>
              </a:rPr>
              <a:t>op</a:t>
            </a:r>
            <a:r>
              <a:rPr lang="en-US" sz="1900" i="1" dirty="0">
                <a:solidFill>
                  <a:schemeClr val="tx1"/>
                </a:solidFill>
              </a:rPr>
              <a:t>.</a:t>
            </a:r>
            <a:endParaRPr lang="en-US" sz="1900" dirty="0"/>
          </a:p>
        </p:txBody>
      </p:sp>
      <p:sp>
        <p:nvSpPr>
          <p:cNvPr id="16" name="Shape 13"/>
          <p:cNvSpPr/>
          <p:nvPr/>
        </p:nvSpPr>
        <p:spPr>
          <a:xfrm>
            <a:off x="548640" y="274320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17" name="Text 14"/>
          <p:cNvSpPr txBox="1"/>
          <p:nvPr/>
        </p:nvSpPr>
        <p:spPr>
          <a:xfrm>
            <a:off x="548640" y="274320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dat</a:t>
            </a:r>
            <a:endParaRPr lang="en-US" sz="2200" dirty="0"/>
          </a:p>
        </p:txBody>
      </p:sp>
      <p:sp>
        <p:nvSpPr>
          <p:cNvPr id="18" name="Shape 15"/>
          <p:cNvSpPr/>
          <p:nvPr/>
        </p:nvSpPr>
        <p:spPr>
          <a:xfrm>
            <a:off x="2697480" y="3099816"/>
            <a:ext cx="457200" cy="914"/>
          </a:xfrm>
          <a:prstGeom prst="line">
            <a:avLst/>
          </a:prstGeom>
          <a:noFill/>
          <a:ln w="31750">
            <a:solidFill>
              <a:srgbClr val="17375E"/>
            </a:solidFill>
            <a:prstDash val="solid"/>
            <a:tailEnd type="triangle"/>
          </a:ln>
        </p:spPr>
      </p:sp>
      <p:sp>
        <p:nvSpPr>
          <p:cNvPr id="19" name="Shape 16"/>
          <p:cNvSpPr/>
          <p:nvPr/>
        </p:nvSpPr>
        <p:spPr>
          <a:xfrm>
            <a:off x="3200400" y="274320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20" name="Text 17"/>
          <p:cNvSpPr txBox="1"/>
          <p:nvPr/>
        </p:nvSpPr>
        <p:spPr>
          <a:xfrm>
            <a:off x="3200400" y="274320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daar</a:t>
            </a:r>
            <a:r>
              <a:rPr lang="en-US" sz="2400" b="1" dirty="0">
                <a:solidFill>
                  <a:schemeClr val="accent1"/>
                </a:solidFill>
              </a:rPr>
              <a:t>op</a:t>
            </a:r>
            <a:endParaRPr lang="en-US" sz="2400" dirty="0"/>
          </a:p>
        </p:txBody>
      </p:sp>
      <p:sp>
        <p:nvSpPr>
          <p:cNvPr id="21" name="Text 18"/>
          <p:cNvSpPr txBox="1"/>
          <p:nvPr/>
        </p:nvSpPr>
        <p:spPr>
          <a:xfrm>
            <a:off x="5532120" y="274320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ça » (insistance)</a:t>
            </a:r>
            <a:endParaRPr lang="en-US" sz="1500" dirty="0"/>
          </a:p>
        </p:txBody>
      </p:sp>
      <p:sp>
        <p:nvSpPr>
          <p:cNvPr id="22" name="Text 19"/>
          <p:cNvSpPr txBox="1"/>
          <p:nvPr/>
        </p:nvSpPr>
        <p:spPr>
          <a:xfrm>
            <a:off x="7726680" y="274320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Daar</a:t>
            </a:r>
            <a:r>
              <a:rPr lang="en-US" sz="1900" i="1" dirty="0">
                <a:solidFill>
                  <a:schemeClr val="tx1"/>
                </a:solidFill>
              </a:rPr>
              <a:t> wacht ik al lang </a:t>
            </a:r>
            <a:r>
              <a:rPr lang="en-US" sz="1900" b="1" i="1" dirty="0">
                <a:solidFill>
                  <a:schemeClr val="accent1"/>
                </a:solidFill>
              </a:rPr>
              <a:t>op</a:t>
            </a:r>
            <a:r>
              <a:rPr lang="en-US" sz="1900" i="1" dirty="0">
                <a:solidFill>
                  <a:schemeClr val="tx1"/>
                </a:solidFill>
              </a:rPr>
              <a:t>!</a:t>
            </a:r>
            <a:endParaRPr lang="en-US" sz="1900" dirty="0"/>
          </a:p>
        </p:txBody>
      </p:sp>
      <p:sp>
        <p:nvSpPr>
          <p:cNvPr id="23" name="Shape 20"/>
          <p:cNvSpPr/>
          <p:nvPr/>
        </p:nvSpPr>
        <p:spPr>
          <a:xfrm>
            <a:off x="548640" y="361188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24" name="Text 21"/>
          <p:cNvSpPr txBox="1"/>
          <p:nvPr/>
        </p:nvSpPr>
        <p:spPr>
          <a:xfrm>
            <a:off x="548640" y="361188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wat</a:t>
            </a:r>
            <a:endParaRPr lang="en-US" sz="2200" dirty="0"/>
          </a:p>
        </p:txBody>
      </p:sp>
      <p:sp>
        <p:nvSpPr>
          <p:cNvPr id="25" name="Shape 22"/>
          <p:cNvSpPr/>
          <p:nvPr/>
        </p:nvSpPr>
        <p:spPr>
          <a:xfrm>
            <a:off x="2697480" y="3968496"/>
            <a:ext cx="457200" cy="914"/>
          </a:xfrm>
          <a:prstGeom prst="line">
            <a:avLst/>
          </a:prstGeom>
          <a:noFill/>
          <a:ln w="31750">
            <a:solidFill>
              <a:srgbClr val="17375E"/>
            </a:solidFill>
            <a:prstDash val="solid"/>
            <a:tailEnd type="triangle"/>
          </a:ln>
        </p:spPr>
      </p:sp>
      <p:sp>
        <p:nvSpPr>
          <p:cNvPr id="26" name="Shape 23"/>
          <p:cNvSpPr/>
          <p:nvPr/>
        </p:nvSpPr>
        <p:spPr>
          <a:xfrm>
            <a:off x="3200400" y="3611880"/>
            <a:ext cx="2103120" cy="713232"/>
          </a:xfrm>
          <a:prstGeom prst="roundRect">
            <a:avLst>
              <a:gd name="adj" fmla="val 12821"/>
            </a:avLst>
          </a:prstGeom>
          <a:solidFill>
            <a:schemeClr val="accent4">
              <a:alpha val="15000"/>
            </a:schemeClr>
          </a:solidFill>
          <a:ln w="19050">
            <a:solidFill>
              <a:srgbClr val="B4236A"/>
            </a:solidFill>
            <a:prstDash val="solid"/>
          </a:ln>
        </p:spPr>
      </p:sp>
      <p:sp>
        <p:nvSpPr>
          <p:cNvPr id="27" name="Text 24"/>
          <p:cNvSpPr txBox="1"/>
          <p:nvPr/>
        </p:nvSpPr>
        <p:spPr>
          <a:xfrm>
            <a:off x="3200400" y="3611880"/>
            <a:ext cx="2103120" cy="713232"/>
          </a:xfrm>
          <a:prstGeom prst="rect">
            <a:avLst/>
          </a:prstGeom>
          <a:noFill/>
          <a:ln/>
        </p:spPr>
        <p:txBody>
          <a:bodyPr wrap="square" lIns="0" tIns="0" rIns="0" bIns="0" rtlCol="0" anchor="ctr"/>
          <a:lstStyle/>
          <a:p>
            <a:pPr algn="ctr" indent="0" marL="0">
              <a:buNone/>
            </a:pPr>
            <a:r>
              <a:rPr lang="en-US" sz="2400" b="1" dirty="0">
                <a:solidFill>
                  <a:schemeClr val="accent4"/>
                </a:solidFill>
              </a:rPr>
              <a:t>waar</a:t>
            </a:r>
            <a:r>
              <a:rPr lang="en-US" sz="2400" b="1" dirty="0">
                <a:solidFill>
                  <a:schemeClr val="accent1"/>
                </a:solidFill>
              </a:rPr>
              <a:t>op</a:t>
            </a:r>
            <a:endParaRPr lang="en-US" sz="2400" dirty="0"/>
          </a:p>
        </p:txBody>
      </p:sp>
      <p:sp>
        <p:nvSpPr>
          <p:cNvPr id="28" name="Text 25"/>
          <p:cNvSpPr txBox="1"/>
          <p:nvPr/>
        </p:nvSpPr>
        <p:spPr>
          <a:xfrm>
            <a:off x="5532120" y="361188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question, relatif</a:t>
            </a:r>
            <a:endParaRPr lang="en-US" sz="1500" dirty="0"/>
          </a:p>
        </p:txBody>
      </p:sp>
      <p:sp>
        <p:nvSpPr>
          <p:cNvPr id="29" name="Text 26"/>
          <p:cNvSpPr txBox="1"/>
          <p:nvPr/>
        </p:nvSpPr>
        <p:spPr>
          <a:xfrm>
            <a:off x="7726680" y="3611880"/>
            <a:ext cx="3913632" cy="713232"/>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op</a:t>
            </a:r>
            <a:r>
              <a:rPr lang="en-US" sz="1900" i="1" dirty="0">
                <a:solidFill>
                  <a:schemeClr val="tx1"/>
                </a:solidFill>
              </a:rPr>
              <a:t> wacht je?</a:t>
            </a:r>
            <a:endParaRPr lang="en-US" sz="1900" dirty="0"/>
          </a:p>
        </p:txBody>
      </p:sp>
      <p:sp>
        <p:nvSpPr>
          <p:cNvPr id="30" name="Shape 27"/>
          <p:cNvSpPr/>
          <p:nvPr/>
        </p:nvSpPr>
        <p:spPr>
          <a:xfrm>
            <a:off x="548640" y="4480560"/>
            <a:ext cx="2103120" cy="713232"/>
          </a:xfrm>
          <a:prstGeom prst="roundRect">
            <a:avLst>
              <a:gd name="adj" fmla="val 12821"/>
            </a:avLst>
          </a:prstGeom>
          <a:solidFill>
            <a:schemeClr val="accent6">
              <a:alpha val="10000"/>
            </a:schemeClr>
          </a:solidFill>
          <a:ln w="15875">
            <a:solidFill>
              <a:srgbClr val="B83227"/>
            </a:solidFill>
            <a:prstDash val="solid"/>
          </a:ln>
        </p:spPr>
      </p:sp>
      <p:sp>
        <p:nvSpPr>
          <p:cNvPr id="31" name="Text 28"/>
          <p:cNvSpPr txBox="1"/>
          <p:nvPr/>
        </p:nvSpPr>
        <p:spPr>
          <a:xfrm>
            <a:off x="548640" y="4480560"/>
            <a:ext cx="2103120" cy="713232"/>
          </a:xfrm>
          <a:prstGeom prst="rect">
            <a:avLst/>
          </a:prstGeom>
          <a:noFill/>
          <a:ln/>
        </p:spPr>
        <p:txBody>
          <a:bodyPr wrap="square" lIns="0" tIns="0" rIns="0" bIns="0" rtlCol="0" anchor="ctr"/>
          <a:lstStyle/>
          <a:p>
            <a:pPr algn="ctr" indent="0" marL="0">
              <a:buNone/>
            </a:pPr>
            <a:r>
              <a:rPr lang="en-US" sz="2200" i="1" dirty="0">
                <a:solidFill>
                  <a:schemeClr val="tx1"/>
                </a:solidFill>
              </a:rPr>
              <a:t>op</a:t>
            </a:r>
            <a:r>
              <a:rPr lang="en-US" sz="2200" dirty="0">
                <a:solidFill>
                  <a:schemeClr val="tx1"/>
                </a:solidFill>
              </a:rPr>
              <a:t> </a:t>
            </a:r>
            <a:r>
              <a:rPr lang="en-US" sz="2200" strike="sngStrike" dirty="0">
                <a:solidFill>
                  <a:schemeClr val="accent6"/>
                </a:solidFill>
              </a:rPr>
              <a:t>dit</a:t>
            </a:r>
            <a:endParaRPr lang="en-US" sz="2200" dirty="0"/>
          </a:p>
        </p:txBody>
      </p:sp>
      <p:sp>
        <p:nvSpPr>
          <p:cNvPr id="32" name="Shape 29"/>
          <p:cNvSpPr/>
          <p:nvPr/>
        </p:nvSpPr>
        <p:spPr>
          <a:xfrm>
            <a:off x="2697480" y="4837176"/>
            <a:ext cx="457200" cy="914"/>
          </a:xfrm>
          <a:prstGeom prst="line">
            <a:avLst/>
          </a:prstGeom>
          <a:noFill/>
          <a:ln w="31750">
            <a:solidFill>
              <a:srgbClr val="17375E"/>
            </a:solidFill>
            <a:prstDash val="solid"/>
            <a:tailEnd type="triangle"/>
          </a:ln>
        </p:spPr>
      </p:sp>
      <p:sp>
        <p:nvSpPr>
          <p:cNvPr id="33" name="Shape 30"/>
          <p:cNvSpPr/>
          <p:nvPr/>
        </p:nvSpPr>
        <p:spPr>
          <a:xfrm>
            <a:off x="3200400" y="4480560"/>
            <a:ext cx="2103120" cy="713232"/>
          </a:xfrm>
          <a:prstGeom prst="roundRect">
            <a:avLst>
              <a:gd name="adj" fmla="val 12821"/>
            </a:avLst>
          </a:prstGeom>
          <a:solidFill>
            <a:schemeClr val="accent3">
              <a:alpha val="15000"/>
            </a:schemeClr>
          </a:solidFill>
          <a:ln w="19050">
            <a:solidFill>
              <a:srgbClr val="2E7D4F"/>
            </a:solidFill>
            <a:prstDash val="solid"/>
          </a:ln>
        </p:spPr>
      </p:sp>
      <p:sp>
        <p:nvSpPr>
          <p:cNvPr id="34" name="Text 31"/>
          <p:cNvSpPr txBox="1"/>
          <p:nvPr/>
        </p:nvSpPr>
        <p:spPr>
          <a:xfrm>
            <a:off x="3200400" y="4480560"/>
            <a:ext cx="2103120" cy="713232"/>
          </a:xfrm>
          <a:prstGeom prst="rect">
            <a:avLst/>
          </a:prstGeom>
          <a:noFill/>
          <a:ln/>
        </p:spPr>
        <p:txBody>
          <a:bodyPr wrap="square" lIns="0" tIns="0" rIns="0" bIns="0" rtlCol="0" anchor="ctr"/>
          <a:lstStyle/>
          <a:p>
            <a:pPr algn="ctr" indent="0" marL="0">
              <a:buNone/>
            </a:pPr>
            <a:r>
              <a:rPr lang="en-US" sz="2400" b="1" dirty="0">
                <a:solidFill>
                  <a:schemeClr val="accent3"/>
                </a:solidFill>
              </a:rPr>
              <a:t>hier</a:t>
            </a:r>
            <a:r>
              <a:rPr lang="en-US" sz="2400" b="1" dirty="0">
                <a:solidFill>
                  <a:schemeClr val="accent1"/>
                </a:solidFill>
              </a:rPr>
              <a:t>op</a:t>
            </a:r>
            <a:endParaRPr lang="en-US" sz="2400" dirty="0"/>
          </a:p>
        </p:txBody>
      </p:sp>
      <p:sp>
        <p:nvSpPr>
          <p:cNvPr id="35" name="Text 32"/>
          <p:cNvSpPr txBox="1"/>
          <p:nvPr/>
        </p:nvSpPr>
        <p:spPr>
          <a:xfrm>
            <a:off x="5532120" y="4480560"/>
            <a:ext cx="2103120" cy="713232"/>
          </a:xfrm>
          <a:prstGeom prst="rect">
            <a:avLst/>
          </a:prstGeom>
          <a:noFill/>
          <a:ln/>
        </p:spPr>
        <p:txBody>
          <a:bodyPr wrap="square" lIns="0" tIns="0" rIns="0" bIns="0" rtlCol="0" anchor="ctr"/>
          <a:lstStyle/>
          <a:p>
            <a:pPr algn="l" indent="0" marL="0">
              <a:buNone/>
            </a:pPr>
            <a:r>
              <a:rPr lang="en-US" sz="1500" i="1" dirty="0">
                <a:solidFill>
                  <a:schemeClr val="accent5"/>
                </a:solidFill>
              </a:rPr>
              <a:t>« ceci »</a:t>
            </a:r>
            <a:endParaRPr lang="en-US" sz="1500" dirty="0"/>
          </a:p>
        </p:txBody>
      </p:sp>
      <p:sp>
        <p:nvSpPr>
          <p:cNvPr id="36" name="Text 33"/>
          <p:cNvSpPr txBox="1"/>
          <p:nvPr/>
        </p:nvSpPr>
        <p:spPr>
          <a:xfrm>
            <a:off x="7726680" y="4480560"/>
            <a:ext cx="3913632" cy="713232"/>
          </a:xfrm>
          <a:prstGeom prst="rect">
            <a:avLst/>
          </a:prstGeom>
          <a:noFill/>
          <a:ln/>
        </p:spPr>
        <p:txBody>
          <a:bodyPr wrap="square" lIns="0" tIns="0" rIns="0" bIns="0" rtlCol="0" anchor="ctr"/>
          <a:lstStyle/>
          <a:p>
            <a:pPr algn="l" indent="0" marL="0">
              <a:buNone/>
            </a:pPr>
            <a:r>
              <a:rPr lang="en-US" sz="1900" b="1" i="1" dirty="0">
                <a:solidFill>
                  <a:schemeClr val="accent3"/>
                </a:solidFill>
              </a:rPr>
              <a:t>Hier</a:t>
            </a:r>
            <a:r>
              <a:rPr lang="en-US" sz="1900" b="1" i="1" dirty="0">
                <a:solidFill>
                  <a:schemeClr val="accent1"/>
                </a:solidFill>
              </a:rPr>
              <a:t>op</a:t>
            </a:r>
            <a:r>
              <a:rPr lang="en-US" sz="1900" i="1" dirty="0">
                <a:solidFill>
                  <a:schemeClr val="tx1"/>
                </a:solidFill>
              </a:rPr>
              <a:t> staat je naam.</a:t>
            </a:r>
            <a:endParaRPr lang="en-US" sz="1900" dirty="0"/>
          </a:p>
        </p:txBody>
      </p:sp>
      <p:sp>
        <p:nvSpPr>
          <p:cNvPr id="37" name="Shape 34"/>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8" name="Text 35"/>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Pour une </a:t>
            </a:r>
            <a:r>
              <a:rPr lang="en-US" sz="1700" b="1" dirty="0">
                <a:solidFill>
                  <a:schemeClr val="bg1"/>
                </a:solidFill>
              </a:rPr>
              <a:t>chose</a:t>
            </a:r>
            <a:r>
              <a:rPr lang="en-US" sz="1700" dirty="0">
                <a:solidFill>
                  <a:schemeClr val="bg1"/>
                </a:solidFill>
              </a:rPr>
              <a:t> : jamais « préposition + </a:t>
            </a:r>
            <a:r>
              <a:rPr lang="en-US" sz="1700" i="1" dirty="0">
                <a:solidFill>
                  <a:schemeClr val="bg1"/>
                </a:solidFill>
              </a:rPr>
              <a:t>het, dat, wat, dit</a:t>
            </a:r>
            <a:r>
              <a:rPr lang="en-US" sz="1700" dirty="0">
                <a:solidFill>
                  <a:schemeClr val="bg1"/>
                </a:solidFill>
              </a:rPr>
              <a:t> » → </a:t>
            </a:r>
            <a:r>
              <a:rPr lang="en-US" sz="1700" i="1" dirty="0">
                <a:solidFill>
                  <a:schemeClr val="bg1"/>
                </a:solidFill>
              </a:rPr>
              <a:t>er, daar, waar, hier</a:t>
            </a:r>
            <a:r>
              <a:rPr lang="en-US" sz="1700" dirty="0">
                <a:solidFill>
                  <a:schemeClr val="bg1"/>
                </a:solidFill>
              </a:rPr>
              <a:t> + préposition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met → mee, tot → toe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154680"/>
          </a:xfrm>
          <a:prstGeom prst="roundRect">
            <a:avLst>
              <a:gd name="adj" fmla="val 2319"/>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731520" y="1691640"/>
            <a:ext cx="1761287" cy="292608"/>
          </a:xfrm>
          <a:prstGeom prst="roundRect">
            <a:avLst>
              <a:gd name="adj" fmla="val 15625"/>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TRÈS FRÉQUENT</a:t>
            </a:r>
            <a:endParaRPr lang="en-US" sz="1100" dirty="0"/>
          </a:p>
        </p:txBody>
      </p:sp>
      <p:sp>
        <p:nvSpPr>
          <p:cNvPr id="7" name="Shape 4"/>
          <p:cNvSpPr/>
          <p:nvPr/>
        </p:nvSpPr>
        <p:spPr>
          <a:xfrm>
            <a:off x="1097280"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8" name="Text 5"/>
          <p:cNvSpPr txBox="1"/>
          <p:nvPr/>
        </p:nvSpPr>
        <p:spPr>
          <a:xfrm>
            <a:off x="1097280"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met</a:t>
            </a:r>
            <a:endParaRPr lang="en-US" sz="3000" dirty="0"/>
          </a:p>
        </p:txBody>
      </p:sp>
      <p:sp>
        <p:nvSpPr>
          <p:cNvPr id="9" name="Shape 6"/>
          <p:cNvSpPr/>
          <p:nvPr/>
        </p:nvSpPr>
        <p:spPr>
          <a:xfrm>
            <a:off x="2560320" y="2578608"/>
            <a:ext cx="822960" cy="914"/>
          </a:xfrm>
          <a:prstGeom prst="line">
            <a:avLst/>
          </a:prstGeom>
          <a:noFill/>
          <a:ln w="38100">
            <a:solidFill>
              <a:srgbClr val="17375E"/>
            </a:solidFill>
            <a:prstDash val="solid"/>
            <a:tailEnd type="triangle"/>
          </a:ln>
        </p:spPr>
      </p:sp>
      <p:sp>
        <p:nvSpPr>
          <p:cNvPr id="10" name="Shape 7"/>
          <p:cNvSpPr/>
          <p:nvPr/>
        </p:nvSpPr>
        <p:spPr>
          <a:xfrm>
            <a:off x="3474720" y="2148840"/>
            <a:ext cx="1463040" cy="868680"/>
          </a:xfrm>
          <a:prstGeom prst="roundRect">
            <a:avLst>
              <a:gd name="adj" fmla="val 12632"/>
            </a:avLst>
          </a:prstGeom>
          <a:solidFill>
            <a:schemeClr val="accent3"/>
          </a:solidFill>
          <a:ln w="12700">
            <a:solidFill>
              <a:srgbClr val="FFFFFF">
                <a:alpha val="0"/>
              </a:srgbClr>
            </a:solidFill>
            <a:prstDash val="solid"/>
          </a:ln>
        </p:spPr>
      </p:sp>
      <p:sp>
        <p:nvSpPr>
          <p:cNvPr id="11" name="Text 8"/>
          <p:cNvSpPr txBox="1"/>
          <p:nvPr/>
        </p:nvSpPr>
        <p:spPr>
          <a:xfrm>
            <a:off x="3474720"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mee</a:t>
            </a:r>
            <a:endParaRPr lang="en-US" sz="3000" dirty="0"/>
          </a:p>
        </p:txBody>
      </p:sp>
      <p:sp>
        <p:nvSpPr>
          <p:cNvPr id="12" name="Text 9"/>
          <p:cNvSpPr txBox="1"/>
          <p:nvPr/>
        </p:nvSpPr>
        <p:spPr>
          <a:xfrm>
            <a:off x="822960"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tx1"/>
                </a:solidFill>
              </a:rPr>
              <a:t>er</a:t>
            </a:r>
            <a:r>
              <a:rPr lang="en-US" sz="1800" b="1" i="1" dirty="0">
                <a:solidFill>
                  <a:schemeClr val="accent3"/>
                </a:solidFill>
              </a:rPr>
              <a:t>mee</a:t>
            </a:r>
            <a:r>
              <a:rPr lang="en-US" sz="1800" i="1" dirty="0">
                <a:solidFill>
                  <a:schemeClr val="tx1"/>
                </a:solidFill>
              </a:rPr>
              <a:t> · daar</a:t>
            </a:r>
            <a:r>
              <a:rPr lang="en-US" sz="1800" b="1" i="1" dirty="0">
                <a:solidFill>
                  <a:schemeClr val="accent3"/>
                </a:solidFill>
              </a:rPr>
              <a:t>mee</a:t>
            </a:r>
            <a:r>
              <a:rPr lang="en-US" sz="1800" i="1" dirty="0">
                <a:solidFill>
                  <a:schemeClr val="tx1"/>
                </a:solidFill>
              </a:rPr>
              <a:t> · waar</a:t>
            </a:r>
            <a:r>
              <a:rPr lang="en-US" sz="1800" b="1" i="1" dirty="0">
                <a:solidFill>
                  <a:schemeClr val="accent3"/>
                </a:solidFill>
              </a:rPr>
              <a:t>mee</a:t>
            </a:r>
            <a:endParaRPr lang="en-US" sz="1800" dirty="0"/>
          </a:p>
          <a:p>
            <a:pPr algn="ctr" indent="0" marL="0">
              <a:spcAft>
                <a:spcPts val="600"/>
              </a:spcAft>
              <a:buNone/>
            </a:pPr>
            <a:r>
              <a:rPr lang="en-US" sz="1800" i="1" dirty="0">
                <a:solidFill>
                  <a:schemeClr val="tx1"/>
                </a:solidFill>
              </a:rPr>
              <a:t>Heb je je kaart? — Ja, ik betaal </a:t>
            </a:r>
            <a:r>
              <a:rPr lang="en-US" sz="1800" b="1" i="1" dirty="0">
                <a:solidFill>
                  <a:schemeClr val="tx1"/>
                </a:solidFill>
              </a:rPr>
              <a:t>ermee</a:t>
            </a:r>
            <a:r>
              <a:rPr lang="en-US" sz="1800" i="1" dirty="0">
                <a:solidFill>
                  <a:schemeClr val="tx1"/>
                </a:solidFill>
              </a:rPr>
              <a:t>.</a:t>
            </a:r>
            <a:endParaRPr lang="en-US" sz="1800" dirty="0"/>
          </a:p>
          <a:p>
            <a:pPr algn="ctr" indent="0" marL="0">
              <a:spcAft>
                <a:spcPts val="600"/>
              </a:spcAft>
              <a:buNone/>
            </a:pPr>
            <a:r>
              <a:rPr lang="en-US" sz="1800" i="1" dirty="0">
                <a:solidFill>
                  <a:schemeClr val="tx1"/>
                </a:solidFill>
              </a:rPr>
              <a:t>Wat doe je </a:t>
            </a:r>
            <a:r>
              <a:rPr lang="en-US" sz="1800" b="1" i="1" dirty="0">
                <a:solidFill>
                  <a:schemeClr val="tx1"/>
                </a:solidFill>
              </a:rPr>
              <a:t>ermee</a:t>
            </a:r>
            <a:r>
              <a:rPr lang="en-US" sz="1800" i="1" dirty="0">
                <a:solidFill>
                  <a:schemeClr val="tx1"/>
                </a:solidFill>
              </a:rPr>
              <a:t>? · Ik ben </a:t>
            </a:r>
            <a:r>
              <a:rPr lang="en-US" sz="1800" b="1" i="1" dirty="0">
                <a:solidFill>
                  <a:schemeClr val="tx1"/>
                </a:solidFill>
              </a:rPr>
              <a:t>ermee</a:t>
            </a:r>
            <a:r>
              <a:rPr lang="en-US" sz="1800" i="1" dirty="0">
                <a:solidFill>
                  <a:schemeClr val="tx1"/>
                </a:solidFill>
              </a:rPr>
              <a:t> bezig.</a:t>
            </a:r>
            <a:endParaRPr lang="en-US" sz="1800" dirty="0"/>
          </a:p>
        </p:txBody>
      </p:sp>
      <p:sp>
        <p:nvSpPr>
          <p:cNvPr id="13" name="Shape 10"/>
          <p:cNvSpPr/>
          <p:nvPr/>
        </p:nvSpPr>
        <p:spPr>
          <a:xfrm>
            <a:off x="6227064" y="1554480"/>
            <a:ext cx="5413248" cy="3154680"/>
          </a:xfrm>
          <a:prstGeom prst="roundRect">
            <a:avLst>
              <a:gd name="adj" fmla="val 23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ag"/>
          <p:cNvSpPr/>
          <p:nvPr/>
        </p:nvSpPr>
        <p:spPr>
          <a:xfrm>
            <a:off x="6409944" y="1691640"/>
            <a:ext cx="125592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PLUS RARE</a:t>
            </a:r>
            <a:endParaRPr lang="en-US" sz="1100" dirty="0"/>
          </a:p>
        </p:txBody>
      </p:sp>
      <p:sp>
        <p:nvSpPr>
          <p:cNvPr id="15" name="Shape 12"/>
          <p:cNvSpPr/>
          <p:nvPr/>
        </p:nvSpPr>
        <p:spPr>
          <a:xfrm>
            <a:off x="6775704" y="2148840"/>
            <a:ext cx="1371600" cy="868680"/>
          </a:xfrm>
          <a:prstGeom prst="roundRect">
            <a:avLst>
              <a:gd name="adj" fmla="val 12632"/>
            </a:avLst>
          </a:prstGeom>
          <a:solidFill>
            <a:schemeClr val="accent1"/>
          </a:solidFill>
          <a:ln w="12700">
            <a:solidFill>
              <a:srgbClr val="FFFFFF">
                <a:alpha val="0"/>
              </a:srgbClr>
            </a:solidFill>
            <a:prstDash val="solid"/>
          </a:ln>
        </p:spPr>
      </p:sp>
      <p:sp>
        <p:nvSpPr>
          <p:cNvPr id="16" name="Text 13"/>
          <p:cNvSpPr txBox="1"/>
          <p:nvPr/>
        </p:nvSpPr>
        <p:spPr>
          <a:xfrm>
            <a:off x="6775704" y="2148840"/>
            <a:ext cx="137160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tot</a:t>
            </a:r>
            <a:endParaRPr lang="en-US" sz="3000" dirty="0"/>
          </a:p>
        </p:txBody>
      </p:sp>
      <p:sp>
        <p:nvSpPr>
          <p:cNvPr id="17" name="Shape 14"/>
          <p:cNvSpPr/>
          <p:nvPr/>
        </p:nvSpPr>
        <p:spPr>
          <a:xfrm>
            <a:off x="8238744" y="2578608"/>
            <a:ext cx="822960" cy="914"/>
          </a:xfrm>
          <a:prstGeom prst="line">
            <a:avLst/>
          </a:prstGeom>
          <a:noFill/>
          <a:ln w="38100">
            <a:solidFill>
              <a:srgbClr val="17375E"/>
            </a:solidFill>
            <a:prstDash val="solid"/>
            <a:tailEnd type="triangle"/>
          </a:ln>
        </p:spPr>
      </p:sp>
      <p:sp>
        <p:nvSpPr>
          <p:cNvPr id="18" name="Shape 15"/>
          <p:cNvSpPr/>
          <p:nvPr/>
        </p:nvSpPr>
        <p:spPr>
          <a:xfrm>
            <a:off x="9153144" y="2148840"/>
            <a:ext cx="1463040" cy="868680"/>
          </a:xfrm>
          <a:prstGeom prst="roundRect">
            <a:avLst>
              <a:gd name="adj" fmla="val 12632"/>
            </a:avLst>
          </a:prstGeom>
          <a:solidFill>
            <a:schemeClr val="accent5"/>
          </a:solidFill>
          <a:ln w="12700">
            <a:solidFill>
              <a:srgbClr val="FFFFFF">
                <a:alpha val="0"/>
              </a:srgbClr>
            </a:solidFill>
            <a:prstDash val="solid"/>
          </a:ln>
        </p:spPr>
      </p:sp>
      <p:sp>
        <p:nvSpPr>
          <p:cNvPr id="19" name="Text 16"/>
          <p:cNvSpPr txBox="1"/>
          <p:nvPr/>
        </p:nvSpPr>
        <p:spPr>
          <a:xfrm>
            <a:off x="9153144" y="2148840"/>
            <a:ext cx="1463040" cy="8686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toe</a:t>
            </a:r>
            <a:endParaRPr lang="en-US" sz="3000" dirty="0"/>
          </a:p>
        </p:txBody>
      </p:sp>
      <p:sp>
        <p:nvSpPr>
          <p:cNvPr id="20" name="Text 17"/>
          <p:cNvSpPr txBox="1"/>
          <p:nvPr/>
        </p:nvSpPr>
        <p:spPr>
          <a:xfrm>
            <a:off x="6501384" y="3154680"/>
            <a:ext cx="4864608" cy="1463040"/>
          </a:xfrm>
          <a:prstGeom prst="rect">
            <a:avLst/>
          </a:prstGeom>
          <a:noFill/>
          <a:ln/>
        </p:spPr>
        <p:txBody>
          <a:bodyPr wrap="square" lIns="0" tIns="0" rIns="0" bIns="0" rtlCol="0" anchor="ctr"/>
          <a:lstStyle/>
          <a:p>
            <a:pPr algn="ctr" indent="0" marL="0">
              <a:spcAft>
                <a:spcPts val="600"/>
              </a:spcAft>
              <a:buNone/>
            </a:pPr>
            <a:r>
              <a:rPr lang="en-US" sz="1800" b="1" i="1" dirty="0">
                <a:solidFill>
                  <a:schemeClr val="accent5"/>
                </a:solidFill>
              </a:rPr>
              <a:t>er</a:t>
            </a:r>
            <a:r>
              <a:rPr lang="en-US" sz="1800" b="1" i="1" dirty="0">
                <a:solidFill>
                  <a:schemeClr val="accent3"/>
                </a:solidFill>
              </a:rPr>
              <a:t>toe</a:t>
            </a:r>
            <a:r>
              <a:rPr lang="en-US" sz="1800" i="1" dirty="0">
                <a:solidFill>
                  <a:schemeClr val="accent5"/>
                </a:solidFill>
              </a:rPr>
              <a:t> · waar</a:t>
            </a:r>
            <a:r>
              <a:rPr lang="en-US" sz="1800" b="1" i="1" dirty="0">
                <a:solidFill>
                  <a:schemeClr val="accent3"/>
                </a:solidFill>
              </a:rPr>
              <a:t>toe</a:t>
            </a:r>
            <a:endParaRPr lang="en-US" sz="1800" dirty="0"/>
          </a:p>
          <a:p>
            <a:pPr algn="ctr" indent="0" marL="0">
              <a:spcAft>
                <a:spcPts val="600"/>
              </a:spcAft>
              <a:buNone/>
            </a:pPr>
            <a:r>
              <a:rPr lang="en-US" sz="1800" i="1" dirty="0">
                <a:solidFill>
                  <a:schemeClr val="accent5"/>
                </a:solidFill>
              </a:rPr>
              <a:t>surtout à l’écrit</a:t>
            </a:r>
            <a:endParaRPr lang="en-US" sz="1800" dirty="0"/>
          </a:p>
          <a:p>
            <a:pPr algn="ctr" indent="0" marL="0">
              <a:spcAft>
                <a:spcPts val="600"/>
              </a:spcAft>
              <a:buNone/>
            </a:pPr>
            <a:r>
              <a:rPr lang="en-US" sz="1800" i="1" dirty="0">
                <a:solidFill>
                  <a:schemeClr val="accent5"/>
                </a:solidFill>
              </a:rPr>
              <a:t>à reconnaître</a:t>
            </a:r>
            <a:endParaRPr lang="en-US" sz="1800" dirty="0"/>
          </a:p>
        </p:txBody>
      </p:sp>
      <p:sp>
        <p:nvSpPr>
          <p:cNvPr id="21" name="Shape 18"/>
          <p:cNvSpPr/>
          <p:nvPr/>
        </p:nvSpPr>
        <p:spPr>
          <a:xfrm>
            <a:off x="548640" y="4937760"/>
            <a:ext cx="11091672" cy="777240"/>
          </a:xfrm>
          <a:prstGeom prst="roundRect">
            <a:avLst>
              <a:gd name="adj" fmla="val 9412"/>
            </a:avLst>
          </a:prstGeom>
          <a:solidFill>
            <a:schemeClr val="bg2"/>
          </a:solidFill>
          <a:ln w="12700">
            <a:solidFill>
              <a:srgbClr val="D5DCE6"/>
            </a:solidFill>
            <a:prstDash val="solid"/>
          </a:ln>
        </p:spPr>
      </p:sp>
      <p:sp>
        <p:nvSpPr>
          <p:cNvPr id="22" name="Text 19"/>
          <p:cNvSpPr txBox="1"/>
          <p:nvPr/>
        </p:nvSpPr>
        <p:spPr>
          <a:xfrm>
            <a:off x="777240" y="49377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Les autres ne changent pas : </a:t>
            </a:r>
            <a:r>
              <a:rPr lang="en-US" sz="1900" i="1" dirty="0">
                <a:solidFill>
                  <a:schemeClr val="tx1"/>
                </a:solidFill>
              </a:rPr>
              <a:t>er</a:t>
            </a:r>
            <a:r>
              <a:rPr lang="en-US" sz="1900" b="1" i="1" dirty="0">
                <a:solidFill>
                  <a:schemeClr val="accent1"/>
                </a:solidFill>
              </a:rPr>
              <a:t>aan</a:t>
            </a:r>
            <a:r>
              <a:rPr lang="en-US" sz="1900" i="1" dirty="0">
                <a:solidFill>
                  <a:schemeClr val="tx1"/>
                </a:solidFill>
              </a:rPr>
              <a:t> · er</a:t>
            </a:r>
            <a:r>
              <a:rPr lang="en-US" sz="1900" b="1" i="1" dirty="0">
                <a:solidFill>
                  <a:schemeClr val="accent1"/>
                </a:solidFill>
              </a:rPr>
              <a:t>op</a:t>
            </a:r>
            <a:r>
              <a:rPr lang="en-US" sz="1900" i="1" dirty="0">
                <a:solidFill>
                  <a:schemeClr val="tx1"/>
                </a:solidFill>
              </a:rPr>
              <a:t> · er</a:t>
            </a:r>
            <a:r>
              <a:rPr lang="en-US" sz="1900" b="1" i="1" dirty="0">
                <a:solidFill>
                  <a:schemeClr val="accent1"/>
                </a:solidFill>
              </a:rPr>
              <a:t>over</a:t>
            </a:r>
            <a:r>
              <a:rPr lang="en-US" sz="1900" i="1" dirty="0">
                <a:solidFill>
                  <a:schemeClr val="tx1"/>
                </a:solidFill>
              </a:rPr>
              <a:t> · er</a:t>
            </a:r>
            <a:r>
              <a:rPr lang="en-US" sz="1900" b="1" i="1" dirty="0">
                <a:solidFill>
                  <a:schemeClr val="accent1"/>
                </a:solidFill>
              </a:rPr>
              <a:t>van</a:t>
            </a:r>
            <a:r>
              <a:rPr lang="en-US" sz="1900" i="1" dirty="0">
                <a:solidFill>
                  <a:schemeClr val="tx1"/>
                </a:solidFill>
              </a:rPr>
              <a:t> · er</a:t>
            </a:r>
            <a:r>
              <a:rPr lang="en-US" sz="1900" b="1" i="1" dirty="0">
                <a:solidFill>
                  <a:schemeClr val="accent1"/>
                </a:solidFill>
              </a:rPr>
              <a:t>in</a:t>
            </a:r>
            <a:r>
              <a:rPr lang="en-US" sz="1900" i="1" dirty="0">
                <a:solidFill>
                  <a:schemeClr val="tx1"/>
                </a:solidFill>
              </a:rPr>
              <a:t> · er</a:t>
            </a:r>
            <a:r>
              <a:rPr lang="en-US" sz="1900" b="1" i="1" dirty="0">
                <a:solidFill>
                  <a:schemeClr val="accent1"/>
                </a:solidFill>
              </a:rPr>
              <a:t>naar</a:t>
            </a:r>
            <a:r>
              <a:rPr lang="en-US" sz="1900" i="1" dirty="0">
                <a:solidFill>
                  <a:schemeClr val="tx1"/>
                </a:solidFill>
              </a:rPr>
              <a:t> · er</a:t>
            </a:r>
            <a:r>
              <a:rPr lang="en-US" sz="1900" b="1" i="1" dirty="0">
                <a:solidFill>
                  <a:schemeClr val="accent1"/>
                </a:solidFill>
              </a:rPr>
              <a:t>voor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une personne ou une chose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48840"/>
            <a:ext cx="5193792" cy="3200400"/>
          </a:xfrm>
          <a:prstGeom prst="roundRect">
            <a:avLst>
              <a:gd name="adj" fmla="val 2286"/>
            </a:avLst>
          </a:prstGeom>
          <a:solidFill>
            <a:srgbClr val="FFFFFF"/>
          </a:solidFill>
          <a:ln w="25400">
            <a:solidFill>
              <a:srgbClr val="2A6FB0"/>
            </a:solidFill>
            <a:prstDash val="solid"/>
          </a:ln>
        </p:spPr>
      </p:sp>
      <p:sp>
        <p:nvSpPr>
          <p:cNvPr id="8" name="Shape 5"/>
          <p:cNvSpPr/>
          <p:nvPr/>
        </p:nvSpPr>
        <p:spPr>
          <a:xfrm>
            <a:off x="777240" y="2148840"/>
            <a:ext cx="5193792" cy="457200"/>
          </a:xfrm>
          <a:prstGeom prst="roundRect">
            <a:avLst>
              <a:gd name="adj" fmla="val 16000"/>
            </a:avLst>
          </a:prstGeom>
          <a:solidFill>
            <a:schemeClr val="accent2"/>
          </a:solidFill>
          <a:ln w="12700">
            <a:solidFill>
              <a:srgbClr val="FFFFFF">
                <a:alpha val="0"/>
              </a:srgbClr>
            </a:solidFill>
            <a:prstDash val="solid"/>
          </a:ln>
        </p:spPr>
      </p:sp>
      <p:sp>
        <p:nvSpPr>
          <p:cNvPr id="9" name="Text 6"/>
          <p:cNvSpPr txBox="1"/>
          <p:nvPr/>
        </p:nvSpPr>
        <p:spPr>
          <a:xfrm>
            <a:off x="77724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PERSONNE</a:t>
            </a:r>
            <a:endParaRPr lang="en-US" sz="1500" dirty="0"/>
          </a:p>
        </p:txBody>
      </p:sp>
      <p:pic>
        <p:nvPicPr>
          <p:cNvPr id="10" name="Image 0" descr="woman">    </p:cNvPr>
          <p:cNvPicPr>
            <a:picLocks noChangeAspect="1"/>
          </p:cNvPicPr>
          <p:nvPr/>
        </p:nvPicPr>
        <p:blipFill>
          <a:blip r:embed="rId1"/>
          <a:stretch>
            <a:fillRect/>
          </a:stretch>
        </p:blipFill>
        <p:spPr>
          <a:xfrm>
            <a:off x="960120" y="2743200"/>
            <a:ext cx="731520" cy="731520"/>
          </a:xfrm>
          <a:prstGeom prst="rect">
            <a:avLst/>
          </a:prstGeom>
        </p:spPr>
      </p:pic>
      <p:sp>
        <p:nvSpPr>
          <p:cNvPr id="11" name="Text 7"/>
          <p:cNvSpPr txBox="1"/>
          <p:nvPr/>
        </p:nvSpPr>
        <p:spPr>
          <a:xfrm>
            <a:off x="1828800" y="2743200"/>
            <a:ext cx="4005072" cy="73152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hem, haar, hen</a:t>
            </a:r>
            <a:endParaRPr lang="en-US" sz="1800" dirty="0"/>
          </a:p>
        </p:txBody>
      </p:sp>
      <p:sp>
        <p:nvSpPr>
          <p:cNvPr id="12" name="Text 8"/>
          <p:cNvSpPr txBox="1"/>
          <p:nvPr/>
        </p:nvSpPr>
        <p:spPr>
          <a:xfrm>
            <a:off x="100584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Je pense à </a:t>
            </a:r>
            <a:r>
              <a:rPr lang="en-US" sz="1600" b="1" dirty="0">
                <a:solidFill>
                  <a:schemeClr val="tx1"/>
                </a:solidFill>
              </a:rPr>
              <a:t>elle</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denk </a:t>
            </a:r>
            <a:r>
              <a:rPr lang="en-US" sz="1600" b="1" i="1" dirty="0">
                <a:solidFill>
                  <a:schemeClr val="accent2"/>
                </a:solidFill>
              </a:rPr>
              <a:t>aan haar</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a:t>
            </a:r>
            <a:r>
              <a:rPr lang="en-US" sz="1600" b="1" dirty="0">
                <a:solidFill>
                  <a:schemeClr val="tx1"/>
                </a:solidFill>
              </a:rPr>
              <a:t>lui</a:t>
            </a:r>
            <a:r>
              <a:rPr lang="en-US" sz="1600" dirty="0">
                <a:solidFill>
                  <a:schemeClr val="tx1"/>
                </a:solidFill>
              </a:rPr>
              <a:t> »</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2"/>
                </a:solidFill>
              </a:rPr>
              <a:t>met hem</a:t>
            </a:r>
            <a:r>
              <a:rPr lang="en-US" sz="1600" i="1" dirty="0">
                <a:solidFill>
                  <a:schemeClr val="tx1"/>
                </a:solidFill>
              </a:rPr>
              <a:t>.</a:t>
            </a:r>
            <a:endParaRPr lang="en-US" sz="1600" dirty="0"/>
          </a:p>
        </p:txBody>
      </p:sp>
      <p:sp>
        <p:nvSpPr>
          <p:cNvPr id="13" name="Shape 9"/>
          <p:cNvSpPr/>
          <p:nvPr/>
        </p:nvSpPr>
        <p:spPr>
          <a:xfrm>
            <a:off x="6217920" y="2148840"/>
            <a:ext cx="5193792" cy="3200400"/>
          </a:xfrm>
          <a:prstGeom prst="roundRect">
            <a:avLst>
              <a:gd name="adj" fmla="val 2286"/>
            </a:avLst>
          </a:prstGeom>
          <a:solidFill>
            <a:srgbClr val="FFFFFF"/>
          </a:solidFill>
          <a:ln w="25400">
            <a:solidFill>
              <a:srgbClr val="2E7D4F"/>
            </a:solidFill>
            <a:prstDash val="solid"/>
          </a:ln>
        </p:spPr>
      </p:sp>
      <p:sp>
        <p:nvSpPr>
          <p:cNvPr id="14" name="Shape 10"/>
          <p:cNvSpPr/>
          <p:nvPr/>
        </p:nvSpPr>
        <p:spPr>
          <a:xfrm>
            <a:off x="6217920" y="2148840"/>
            <a:ext cx="5193792" cy="457200"/>
          </a:xfrm>
          <a:prstGeom prst="roundRect">
            <a:avLst>
              <a:gd name="adj" fmla="val 16000"/>
            </a:avLst>
          </a:prstGeom>
          <a:solidFill>
            <a:schemeClr val="accent3"/>
          </a:solidFill>
          <a:ln w="12700">
            <a:solidFill>
              <a:srgbClr val="FFFFFF">
                <a:alpha val="0"/>
              </a:srgbClr>
            </a:solidFill>
            <a:prstDash val="solid"/>
          </a:ln>
        </p:spPr>
      </p:sp>
      <p:sp>
        <p:nvSpPr>
          <p:cNvPr id="15" name="Text 11"/>
          <p:cNvSpPr txBox="1"/>
          <p:nvPr/>
        </p:nvSpPr>
        <p:spPr>
          <a:xfrm>
            <a:off x="6217920" y="2148840"/>
            <a:ext cx="5193792" cy="457200"/>
          </a:xfrm>
          <a:prstGeom prst="rect">
            <a:avLst/>
          </a:prstGeom>
          <a:noFill/>
          <a:ln/>
        </p:spPr>
        <p:txBody>
          <a:bodyPr wrap="square" lIns="0" tIns="0" rIns="0" bIns="0" rtlCol="0" anchor="ctr"/>
          <a:lstStyle/>
          <a:p>
            <a:pPr algn="ctr" indent="0" marL="0">
              <a:buNone/>
            </a:pPr>
            <a:r>
              <a:rPr lang="en-US" sz="1500" b="1" spc="200" kern="0" dirty="0">
                <a:solidFill>
                  <a:schemeClr val="bg1"/>
                </a:solidFill>
              </a:rPr>
              <a:t>UNE CHOSE</a:t>
            </a:r>
            <a:endParaRPr lang="en-US" sz="1500" dirty="0"/>
          </a:p>
        </p:txBody>
      </p:sp>
      <p:pic>
        <p:nvPicPr>
          <p:cNvPr id="16" name="Image 1" descr="spiral calendar">    </p:cNvPr>
          <p:cNvPicPr>
            <a:picLocks noChangeAspect="1"/>
          </p:cNvPicPr>
          <p:nvPr/>
        </p:nvPicPr>
        <p:blipFill>
          <a:blip r:embed="rId2"/>
          <a:stretch>
            <a:fillRect/>
          </a:stretch>
        </p:blipFill>
        <p:spPr>
          <a:xfrm>
            <a:off x="6400800" y="2743200"/>
            <a:ext cx="731520" cy="731520"/>
          </a:xfrm>
          <a:prstGeom prst="rect">
            <a:avLst/>
          </a:prstGeom>
        </p:spPr>
      </p:pic>
      <p:sp>
        <p:nvSpPr>
          <p:cNvPr id="17" name="Text 12"/>
          <p:cNvSpPr txBox="1"/>
          <p:nvPr/>
        </p:nvSpPr>
        <p:spPr>
          <a:xfrm>
            <a:off x="7269480" y="2743200"/>
            <a:ext cx="4005072" cy="731520"/>
          </a:xfrm>
          <a:prstGeom prst="rect">
            <a:avLst/>
          </a:prstGeom>
          <a:noFill/>
          <a:ln/>
        </p:spPr>
        <p:txBody>
          <a:bodyPr wrap="square" lIns="0" tIns="0" rIns="0" bIns="0" rtlCol="0" anchor="ctr"/>
          <a:lstStyle/>
          <a:p>
            <a:pPr algn="l" indent="0" marL="0">
              <a:buNone/>
            </a:pPr>
            <a:r>
              <a:rPr lang="en-US" sz="1800" b="1" i="1" dirty="0">
                <a:solidFill>
                  <a:schemeClr val="accent3"/>
                </a:solidFill>
              </a:rPr>
              <a:t>er</a:t>
            </a:r>
            <a:r>
              <a:rPr lang="en-US" sz="1800" b="1" dirty="0">
                <a:solidFill>
                  <a:schemeClr val="accent3"/>
                </a:solidFill>
              </a:rPr>
              <a:t> + préposition</a:t>
            </a:r>
            <a:endParaRPr lang="en-US" sz="1800" dirty="0"/>
          </a:p>
        </p:txBody>
      </p:sp>
      <p:sp>
        <p:nvSpPr>
          <p:cNvPr id="18" name="Text 13"/>
          <p:cNvSpPr txBox="1"/>
          <p:nvPr/>
        </p:nvSpPr>
        <p:spPr>
          <a:xfrm>
            <a:off x="6446520" y="3566160"/>
            <a:ext cx="4782312" cy="1737360"/>
          </a:xfrm>
          <a:prstGeom prst="rect">
            <a:avLst/>
          </a:prstGeom>
          <a:noFill/>
          <a:ln/>
        </p:spPr>
        <p:txBody>
          <a:bodyPr wrap="square" lIns="0" tIns="0" rIns="0" bIns="0" rtlCol="0" anchor="ctr"/>
          <a:lstStyle/>
          <a:p>
            <a:pPr algn="l" indent="0" marL="0">
              <a:spcAft>
                <a:spcPts val="300"/>
              </a:spcAft>
              <a:buNone/>
            </a:pPr>
            <a:r>
              <a:rPr lang="en-US" sz="1600" dirty="0">
                <a:solidFill>
                  <a:schemeClr val="tx1"/>
                </a:solidFill>
              </a:rPr>
              <a:t>« J’</a:t>
            </a:r>
            <a:r>
              <a:rPr lang="en-US" sz="1600" b="1" dirty="0">
                <a:solidFill>
                  <a:schemeClr val="tx1"/>
                </a:solidFill>
              </a:rPr>
              <a:t>y</a:t>
            </a:r>
            <a:r>
              <a:rPr lang="en-US" sz="1600" dirty="0">
                <a:solidFill>
                  <a:schemeClr val="tx1"/>
                </a:solidFill>
              </a:rPr>
              <a:t> pense » (le rendez-vous)</a:t>
            </a:r>
            <a:endParaRPr lang="en-US" sz="1600" dirty="0"/>
          </a:p>
          <a:p>
            <a:pPr algn="l" indent="0" marL="0">
              <a:spcAft>
                <a:spcPts val="300"/>
              </a:spcAft>
              <a:buNone/>
            </a:pPr>
            <a:r>
              <a:rPr lang="en-US" sz="1600" dirty="0">
                <a:solidFill>
                  <a:schemeClr val="tx1"/>
                </a:solidFill>
              </a:rPr>
              <a:t>→ ✗ </a:t>
            </a:r>
            <a:r>
              <a:rPr lang="en-US" sz="1600" i="1" strike="sngStrike" dirty="0">
                <a:solidFill>
                  <a:schemeClr val="accent6"/>
                </a:solidFill>
              </a:rPr>
              <a:t>Ik denk aan het.</a:t>
            </a:r>
            <a:r>
              <a:rPr lang="en-US" sz="1600" dirty="0">
                <a:solidFill>
                  <a:schemeClr val="tx1"/>
                </a:solidFill>
              </a:rPr>
              <a:t> ✓ </a:t>
            </a:r>
            <a:r>
              <a:rPr lang="en-US" sz="1600" i="1" dirty="0">
                <a:solidFill>
                  <a:schemeClr val="tx1"/>
                </a:solidFill>
              </a:rPr>
              <a:t>Ik denk </a:t>
            </a:r>
            <a:r>
              <a:rPr lang="en-US" sz="1600" b="1" i="1" dirty="0">
                <a:solidFill>
                  <a:schemeClr val="accent3"/>
                </a:solidFill>
              </a:rPr>
              <a:t>eraan</a:t>
            </a:r>
            <a:r>
              <a:rPr lang="en-US" sz="1600" i="1" dirty="0">
                <a:solidFill>
                  <a:schemeClr val="tx1"/>
                </a:solidFill>
              </a:rPr>
              <a:t>.</a:t>
            </a:r>
            <a:endParaRPr lang="en-US" sz="1600" dirty="0"/>
          </a:p>
          <a:p>
            <a:pPr algn="l" indent="0" marL="0">
              <a:spcAft>
                <a:spcPts val="300"/>
              </a:spcAft>
              <a:buNone/>
            </a:pPr>
            <a:r>
              <a:rPr lang="en-US" sz="1600" dirty="0">
                <a:solidFill>
                  <a:schemeClr val="tx1"/>
                </a:solidFill>
              </a:rPr>
              <a:t>« Je travaille avec » (l’ordinateur)</a:t>
            </a:r>
            <a:endParaRPr lang="en-US" sz="1600" dirty="0"/>
          </a:p>
          <a:p>
            <a:pPr algn="l" indent="0" marL="0">
              <a:spcAft>
                <a:spcPts val="300"/>
              </a:spcAft>
              <a:buNone/>
            </a:pPr>
            <a:r>
              <a:rPr lang="en-US" sz="1600" dirty="0">
                <a:solidFill>
                  <a:schemeClr val="tx1"/>
                </a:solidFill>
              </a:rPr>
              <a:t>→ </a:t>
            </a:r>
            <a:r>
              <a:rPr lang="en-US" sz="1600" i="1" dirty="0">
                <a:solidFill>
                  <a:schemeClr val="tx1"/>
                </a:solidFill>
              </a:rPr>
              <a:t>Ik werk </a:t>
            </a:r>
            <a:r>
              <a:rPr lang="en-US" sz="1600" b="1" i="1" dirty="0">
                <a:solidFill>
                  <a:schemeClr val="accent3"/>
                </a:solidFill>
              </a:rPr>
              <a:t>ermee</a:t>
            </a:r>
            <a:r>
              <a:rPr lang="en-US" sz="1600" i="1" dirty="0">
                <a:solidFill>
                  <a:schemeClr val="tx1"/>
                </a:solidFill>
              </a:rPr>
              <a:t>.</a:t>
            </a:r>
            <a:endParaRPr lang="en-US" sz="1600" dirty="0"/>
          </a:p>
        </p:txBody>
      </p:sp>
      <p:sp>
        <p:nvSpPr>
          <p:cNvPr id="19" name="Shape 1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0" name="Text 1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800" dirty="0">
                <a:solidFill>
                  <a:schemeClr val="bg1"/>
                </a:solidFill>
              </a:rPr>
              <a:t>Question-réflexe : « une </a:t>
            </a:r>
            <a:r>
              <a:rPr lang="en-US" sz="1800" b="1" dirty="0">
                <a:solidFill>
                  <a:schemeClr val="bg1"/>
                </a:solidFill>
              </a:rPr>
              <a:t>personne</a:t>
            </a:r>
            <a:r>
              <a:rPr lang="en-US" sz="1800" dirty="0">
                <a:solidFill>
                  <a:schemeClr val="bg1"/>
                </a:solidFill>
              </a:rPr>
              <a:t> ou une </a:t>
            </a:r>
            <a:r>
              <a:rPr lang="en-US" sz="1800" b="1" dirty="0">
                <a:solidFill>
                  <a:schemeClr val="bg1"/>
                </a:solidFill>
              </a:rPr>
              <a:t>chose</a:t>
            </a:r>
            <a:r>
              <a:rPr lang="en-US" sz="1800" dirty="0">
                <a:solidFill>
                  <a:schemeClr val="bg1"/>
                </a:solidFill>
              </a:rPr>
              <a:t> ? » — personne : préposition + pronom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deux morceaux se séparent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874520"/>
            <a:ext cx="1390985" cy="566928"/>
          </a:xfrm>
          <a:prstGeom prst="roundRect">
            <a:avLst>
              <a:gd name="adj" fmla="val 12903"/>
            </a:avLst>
          </a:prstGeom>
          <a:solidFill>
            <a:schemeClr val="bg1"/>
          </a:solidFill>
          <a:ln w="15875">
            <a:solidFill>
              <a:srgbClr val="D5DCE6"/>
            </a:solidFill>
            <a:prstDash val="solid"/>
          </a:ln>
        </p:spPr>
      </p:sp>
      <p:sp>
        <p:nvSpPr>
          <p:cNvPr id="6" name="Text 3"/>
          <p:cNvSpPr txBox="1"/>
          <p:nvPr/>
        </p:nvSpPr>
        <p:spPr>
          <a:xfrm>
            <a:off x="548640" y="187452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7" name="Shape 4"/>
          <p:cNvSpPr/>
          <p:nvPr/>
        </p:nvSpPr>
        <p:spPr>
          <a:xfrm>
            <a:off x="2031065" y="1874520"/>
            <a:ext cx="606430" cy="566928"/>
          </a:xfrm>
          <a:prstGeom prst="roundRect">
            <a:avLst>
              <a:gd name="adj" fmla="val 12903"/>
            </a:avLst>
          </a:prstGeom>
          <a:solidFill>
            <a:schemeClr val="accent3"/>
          </a:solidFill>
          <a:ln w="12700">
            <a:solidFill>
              <a:srgbClr val="FFFFFF">
                <a:alpha val="0"/>
              </a:srgbClr>
            </a:solidFill>
            <a:prstDash val="solid"/>
          </a:ln>
        </p:spPr>
      </p:sp>
      <p:sp>
        <p:nvSpPr>
          <p:cNvPr id="8" name="Text 5"/>
          <p:cNvSpPr txBox="1"/>
          <p:nvPr/>
        </p:nvSpPr>
        <p:spPr>
          <a:xfrm>
            <a:off x="2031065" y="187452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9" name="Shape 6"/>
          <p:cNvSpPr/>
          <p:nvPr/>
        </p:nvSpPr>
        <p:spPr>
          <a:xfrm>
            <a:off x="2728935" y="1874520"/>
            <a:ext cx="920252" cy="566928"/>
          </a:xfrm>
          <a:prstGeom prst="roundRect">
            <a:avLst>
              <a:gd name="adj" fmla="val 12903"/>
            </a:avLst>
          </a:prstGeom>
          <a:solidFill>
            <a:schemeClr val="bg1"/>
          </a:solidFill>
          <a:ln w="15875">
            <a:solidFill>
              <a:srgbClr val="D5DCE6"/>
            </a:solidFill>
            <a:prstDash val="solid"/>
          </a:ln>
        </p:spPr>
      </p:sp>
      <p:sp>
        <p:nvSpPr>
          <p:cNvPr id="10" name="Text 7"/>
          <p:cNvSpPr txBox="1"/>
          <p:nvPr/>
        </p:nvSpPr>
        <p:spPr>
          <a:xfrm>
            <a:off x="2728935" y="1874520"/>
            <a:ext cx="920252" cy="566928"/>
          </a:xfrm>
          <a:prstGeom prst="rect">
            <a:avLst/>
          </a:prstGeom>
          <a:noFill/>
          <a:ln/>
        </p:spPr>
        <p:txBody>
          <a:bodyPr wrap="square" lIns="0" tIns="0" rIns="0" bIns="0" rtlCol="0" anchor="ctr"/>
          <a:lstStyle/>
          <a:p>
            <a:pPr algn="ctr" indent="0" marL="0">
              <a:buNone/>
            </a:pPr>
            <a:r>
              <a:rPr lang="en-US" sz="2200" dirty="0">
                <a:solidFill>
                  <a:schemeClr val="tx1"/>
                </a:solidFill>
              </a:rPr>
              <a:t>vaak</a:t>
            </a:r>
            <a:endParaRPr lang="en-US" sz="2200" dirty="0"/>
          </a:p>
        </p:txBody>
      </p:sp>
      <p:sp>
        <p:nvSpPr>
          <p:cNvPr id="11" name="Shape 8"/>
          <p:cNvSpPr/>
          <p:nvPr/>
        </p:nvSpPr>
        <p:spPr>
          <a:xfrm>
            <a:off x="3740628" y="1874520"/>
            <a:ext cx="920252" cy="566928"/>
          </a:xfrm>
          <a:prstGeom prst="roundRect">
            <a:avLst>
              <a:gd name="adj" fmla="val 12903"/>
            </a:avLst>
          </a:prstGeom>
          <a:solidFill>
            <a:schemeClr val="accent1"/>
          </a:solidFill>
          <a:ln w="12700">
            <a:solidFill>
              <a:srgbClr val="FFFFFF">
                <a:alpha val="0"/>
              </a:srgbClr>
            </a:solidFill>
            <a:prstDash val="solid"/>
          </a:ln>
        </p:spPr>
      </p:sp>
      <p:sp>
        <p:nvSpPr>
          <p:cNvPr id="12" name="Text 9"/>
          <p:cNvSpPr txBox="1"/>
          <p:nvPr/>
        </p:nvSpPr>
        <p:spPr>
          <a:xfrm>
            <a:off x="3740628" y="187452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13" name="Shape 10"/>
          <p:cNvSpPr/>
          <p:nvPr/>
        </p:nvSpPr>
        <p:spPr>
          <a:xfrm>
            <a:off x="2334280" y="153619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14" name="Text 11"/>
          <p:cNvSpPr txBox="1"/>
          <p:nvPr/>
        </p:nvSpPr>
        <p:spPr>
          <a:xfrm>
            <a:off x="6126480" y="187452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préposition va au bout</a:t>
            </a:r>
            <a:endParaRPr lang="en-US" sz="1700" dirty="0"/>
          </a:p>
        </p:txBody>
      </p:sp>
      <p:sp>
        <p:nvSpPr>
          <p:cNvPr id="15" name="Shape 12"/>
          <p:cNvSpPr/>
          <p:nvPr/>
        </p:nvSpPr>
        <p:spPr>
          <a:xfrm>
            <a:off x="548640" y="2834640"/>
            <a:ext cx="920252" cy="566928"/>
          </a:xfrm>
          <a:prstGeom prst="roundRect">
            <a:avLst>
              <a:gd name="adj" fmla="val 12903"/>
            </a:avLst>
          </a:prstGeom>
          <a:solidFill>
            <a:schemeClr val="accent3"/>
          </a:solidFill>
          <a:ln w="12700">
            <a:solidFill>
              <a:srgbClr val="FFFFFF">
                <a:alpha val="0"/>
              </a:srgbClr>
            </a:solidFill>
            <a:prstDash val="solid"/>
          </a:ln>
        </p:spPr>
      </p:sp>
      <p:sp>
        <p:nvSpPr>
          <p:cNvPr id="16" name="Text 13"/>
          <p:cNvSpPr txBox="1"/>
          <p:nvPr/>
        </p:nvSpPr>
        <p:spPr>
          <a:xfrm>
            <a:off x="548640" y="283464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Daar</a:t>
            </a:r>
            <a:endParaRPr lang="en-US" sz="2200" dirty="0"/>
          </a:p>
        </p:txBody>
      </p:sp>
      <p:sp>
        <p:nvSpPr>
          <p:cNvPr id="17" name="Shape 14"/>
          <p:cNvSpPr/>
          <p:nvPr/>
        </p:nvSpPr>
        <p:spPr>
          <a:xfrm>
            <a:off x="1560332" y="2834640"/>
            <a:ext cx="2646274" cy="566928"/>
          </a:xfrm>
          <a:prstGeom prst="roundRect">
            <a:avLst>
              <a:gd name="adj" fmla="val 12903"/>
            </a:avLst>
          </a:prstGeom>
          <a:solidFill>
            <a:schemeClr val="bg1"/>
          </a:solidFill>
          <a:ln w="15875">
            <a:solidFill>
              <a:srgbClr val="D5DCE6"/>
            </a:solidFill>
            <a:prstDash val="solid"/>
          </a:ln>
        </p:spPr>
      </p:sp>
      <p:sp>
        <p:nvSpPr>
          <p:cNvPr id="18" name="Text 15"/>
          <p:cNvSpPr txBox="1"/>
          <p:nvPr/>
        </p:nvSpPr>
        <p:spPr>
          <a:xfrm>
            <a:off x="1560332" y="2834640"/>
            <a:ext cx="2646274" cy="566928"/>
          </a:xfrm>
          <a:prstGeom prst="rect">
            <a:avLst/>
          </a:prstGeom>
          <a:noFill/>
          <a:ln/>
        </p:spPr>
        <p:txBody>
          <a:bodyPr wrap="square" lIns="0" tIns="0" rIns="0" bIns="0" rtlCol="0" anchor="ctr"/>
          <a:lstStyle/>
          <a:p>
            <a:pPr algn="ctr" indent="0" marL="0">
              <a:buNone/>
            </a:pPr>
            <a:r>
              <a:rPr lang="en-US" sz="2200" dirty="0">
                <a:solidFill>
                  <a:schemeClr val="tx1"/>
                </a:solidFill>
              </a:rPr>
              <a:t>heb ik geen zin</a:t>
            </a:r>
            <a:endParaRPr lang="en-US" sz="2200" dirty="0"/>
          </a:p>
        </p:txBody>
      </p:sp>
      <p:sp>
        <p:nvSpPr>
          <p:cNvPr id="19" name="Shape 16"/>
          <p:cNvSpPr/>
          <p:nvPr/>
        </p:nvSpPr>
        <p:spPr>
          <a:xfrm>
            <a:off x="4298046" y="2834640"/>
            <a:ext cx="763341" cy="566928"/>
          </a:xfrm>
          <a:prstGeom prst="roundRect">
            <a:avLst>
              <a:gd name="adj" fmla="val 12903"/>
            </a:avLst>
          </a:prstGeom>
          <a:solidFill>
            <a:schemeClr val="accent1"/>
          </a:solidFill>
          <a:ln w="12700">
            <a:solidFill>
              <a:srgbClr val="FFFFFF">
                <a:alpha val="0"/>
              </a:srgbClr>
            </a:solidFill>
            <a:prstDash val="solid"/>
          </a:ln>
        </p:spPr>
      </p:sp>
      <p:sp>
        <p:nvSpPr>
          <p:cNvPr id="20" name="Text 17"/>
          <p:cNvSpPr txBox="1"/>
          <p:nvPr/>
        </p:nvSpPr>
        <p:spPr>
          <a:xfrm>
            <a:off x="4298046" y="283464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Shape 18"/>
          <p:cNvSpPr/>
          <p:nvPr/>
        </p:nvSpPr>
        <p:spPr>
          <a:xfrm>
            <a:off x="1008766" y="2496312"/>
            <a:ext cx="3670950"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22" name="Text 19"/>
          <p:cNvSpPr txBox="1"/>
          <p:nvPr/>
        </p:nvSpPr>
        <p:spPr>
          <a:xfrm>
            <a:off x="6126480" y="283464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 ça ne me dit rien »</a:t>
            </a:r>
            <a:endParaRPr lang="en-US" sz="1700" dirty="0"/>
          </a:p>
        </p:txBody>
      </p:sp>
      <p:sp>
        <p:nvSpPr>
          <p:cNvPr id="23" name="Shape 20"/>
          <p:cNvSpPr/>
          <p:nvPr/>
        </p:nvSpPr>
        <p:spPr>
          <a:xfrm>
            <a:off x="548640" y="3794760"/>
            <a:ext cx="920252" cy="566928"/>
          </a:xfrm>
          <a:prstGeom prst="roundRect">
            <a:avLst>
              <a:gd name="adj" fmla="val 12903"/>
            </a:avLst>
          </a:prstGeom>
          <a:solidFill>
            <a:schemeClr val="accent4"/>
          </a:solidFill>
          <a:ln w="12700">
            <a:solidFill>
              <a:srgbClr val="FFFFFF">
                <a:alpha val="0"/>
              </a:srgbClr>
            </a:solidFill>
            <a:prstDash val="solid"/>
          </a:ln>
        </p:spPr>
      </p:sp>
      <p:sp>
        <p:nvSpPr>
          <p:cNvPr id="24" name="Text 21"/>
          <p:cNvSpPr txBox="1"/>
          <p:nvPr/>
        </p:nvSpPr>
        <p:spPr>
          <a:xfrm>
            <a:off x="548640" y="379476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Waar</a:t>
            </a:r>
            <a:endParaRPr lang="en-US" sz="2200" dirty="0"/>
          </a:p>
        </p:txBody>
      </p:sp>
      <p:sp>
        <p:nvSpPr>
          <p:cNvPr id="25" name="Shape 22"/>
          <p:cNvSpPr/>
          <p:nvPr/>
        </p:nvSpPr>
        <p:spPr>
          <a:xfrm>
            <a:off x="1560332" y="3794760"/>
            <a:ext cx="1547896" cy="566928"/>
          </a:xfrm>
          <a:prstGeom prst="roundRect">
            <a:avLst>
              <a:gd name="adj" fmla="val 12903"/>
            </a:avLst>
          </a:prstGeom>
          <a:solidFill>
            <a:schemeClr val="bg1"/>
          </a:solidFill>
          <a:ln w="15875">
            <a:solidFill>
              <a:srgbClr val="D5DCE6"/>
            </a:solidFill>
            <a:prstDash val="solid"/>
          </a:ln>
        </p:spPr>
      </p:sp>
      <p:sp>
        <p:nvSpPr>
          <p:cNvPr id="26" name="Text 23"/>
          <p:cNvSpPr txBox="1"/>
          <p:nvPr/>
        </p:nvSpPr>
        <p:spPr>
          <a:xfrm>
            <a:off x="1560332" y="3794760"/>
            <a:ext cx="1547896" cy="566928"/>
          </a:xfrm>
          <a:prstGeom prst="rect">
            <a:avLst/>
          </a:prstGeom>
          <a:noFill/>
          <a:ln/>
        </p:spPr>
        <p:txBody>
          <a:bodyPr wrap="square" lIns="0" tIns="0" rIns="0" bIns="0" rtlCol="0" anchor="ctr"/>
          <a:lstStyle/>
          <a:p>
            <a:pPr algn="ctr" indent="0" marL="0">
              <a:buNone/>
            </a:pPr>
            <a:r>
              <a:rPr lang="en-US" sz="2200" dirty="0">
                <a:solidFill>
                  <a:schemeClr val="tx1"/>
                </a:solidFill>
              </a:rPr>
              <a:t>wacht je</a:t>
            </a:r>
            <a:endParaRPr lang="en-US" sz="2200" dirty="0"/>
          </a:p>
        </p:txBody>
      </p:sp>
      <p:sp>
        <p:nvSpPr>
          <p:cNvPr id="27" name="Shape 24"/>
          <p:cNvSpPr/>
          <p:nvPr/>
        </p:nvSpPr>
        <p:spPr>
          <a:xfrm>
            <a:off x="3199668" y="3794760"/>
            <a:ext cx="763341" cy="566928"/>
          </a:xfrm>
          <a:prstGeom prst="roundRect">
            <a:avLst>
              <a:gd name="adj" fmla="val 12903"/>
            </a:avLst>
          </a:prstGeom>
          <a:solidFill>
            <a:schemeClr val="accent1"/>
          </a:solidFill>
          <a:ln w="12700">
            <a:solidFill>
              <a:srgbClr val="FFFFFF">
                <a:alpha val="0"/>
              </a:srgbClr>
            </a:solidFill>
            <a:prstDash val="solid"/>
          </a:ln>
        </p:spPr>
      </p:sp>
      <p:sp>
        <p:nvSpPr>
          <p:cNvPr id="28" name="Text 25"/>
          <p:cNvSpPr txBox="1"/>
          <p:nvPr/>
        </p:nvSpPr>
        <p:spPr>
          <a:xfrm>
            <a:off x="3199668" y="3794760"/>
            <a:ext cx="763341" cy="566928"/>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29" name="Shape 26"/>
          <p:cNvSpPr/>
          <p:nvPr/>
        </p:nvSpPr>
        <p:spPr>
          <a:xfrm>
            <a:off x="1008766" y="3456432"/>
            <a:ext cx="25725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30" name="Text 27"/>
          <p:cNvSpPr txBox="1"/>
          <p:nvPr/>
        </p:nvSpPr>
        <p:spPr>
          <a:xfrm>
            <a:off x="6126480" y="3794760"/>
            <a:ext cx="5486400" cy="566928"/>
          </a:xfrm>
          <a:prstGeom prst="rect">
            <a:avLst/>
          </a:prstGeom>
          <a:noFill/>
          <a:ln/>
        </p:spPr>
        <p:txBody>
          <a:bodyPr wrap="square" lIns="0" tIns="0" rIns="0" bIns="0" rtlCol="0" anchor="ctr"/>
          <a:lstStyle/>
          <a:p>
            <a:pPr algn="l" indent="0" marL="0">
              <a:buNone/>
            </a:pPr>
            <a:r>
              <a:rPr lang="en-US" sz="1700" i="1" dirty="0">
                <a:solidFill>
                  <a:schemeClr val="accent5"/>
                </a:solidFill>
              </a:rPr>
              <a:t>la question (diapo 10)</a:t>
            </a:r>
            <a:endParaRPr lang="en-US" sz="1700" dirty="0"/>
          </a:p>
        </p:txBody>
      </p:sp>
      <p:sp>
        <p:nvSpPr>
          <p:cNvPr id="31" name="Shape 28"/>
          <p:cNvSpPr/>
          <p:nvPr/>
        </p:nvSpPr>
        <p:spPr>
          <a:xfrm>
            <a:off x="548640" y="4754880"/>
            <a:ext cx="1390985" cy="566928"/>
          </a:xfrm>
          <a:prstGeom prst="roundRect">
            <a:avLst>
              <a:gd name="adj" fmla="val 12903"/>
            </a:avLst>
          </a:prstGeom>
          <a:solidFill>
            <a:schemeClr val="bg1"/>
          </a:solidFill>
          <a:ln w="15875">
            <a:solidFill>
              <a:srgbClr val="D5DCE6"/>
            </a:solidFill>
            <a:prstDash val="solid"/>
          </a:ln>
        </p:spPr>
      </p:sp>
      <p:sp>
        <p:nvSpPr>
          <p:cNvPr id="32" name="Text 29"/>
          <p:cNvSpPr txBox="1"/>
          <p:nvPr/>
        </p:nvSpPr>
        <p:spPr>
          <a:xfrm>
            <a:off x="548640" y="4754880"/>
            <a:ext cx="1390985" cy="566928"/>
          </a:xfrm>
          <a:prstGeom prst="rect">
            <a:avLst/>
          </a:prstGeom>
          <a:noFill/>
          <a:ln/>
        </p:spPr>
        <p:txBody>
          <a:bodyPr wrap="square" lIns="0" tIns="0" rIns="0" bIns="0" rtlCol="0" anchor="ctr"/>
          <a:lstStyle/>
          <a:p>
            <a:pPr algn="ctr" indent="0" marL="0">
              <a:buNone/>
            </a:pPr>
            <a:r>
              <a:rPr lang="en-US" sz="2200" dirty="0">
                <a:solidFill>
                  <a:schemeClr val="tx1"/>
                </a:solidFill>
              </a:rPr>
              <a:t>Ik denk</a:t>
            </a:r>
            <a:endParaRPr lang="en-US" sz="2200" dirty="0"/>
          </a:p>
        </p:txBody>
      </p:sp>
      <p:sp>
        <p:nvSpPr>
          <p:cNvPr id="33" name="Shape 30"/>
          <p:cNvSpPr/>
          <p:nvPr/>
        </p:nvSpPr>
        <p:spPr>
          <a:xfrm>
            <a:off x="2031065" y="4754880"/>
            <a:ext cx="606430" cy="566928"/>
          </a:xfrm>
          <a:prstGeom prst="roundRect">
            <a:avLst>
              <a:gd name="adj" fmla="val 12903"/>
            </a:avLst>
          </a:prstGeom>
          <a:solidFill>
            <a:schemeClr val="accent3"/>
          </a:solidFill>
          <a:ln w="12700">
            <a:solidFill>
              <a:srgbClr val="FFFFFF">
                <a:alpha val="0"/>
              </a:srgbClr>
            </a:solidFill>
            <a:prstDash val="solid"/>
          </a:ln>
        </p:spPr>
      </p:sp>
      <p:sp>
        <p:nvSpPr>
          <p:cNvPr id="34" name="Text 31"/>
          <p:cNvSpPr txBox="1"/>
          <p:nvPr/>
        </p:nvSpPr>
        <p:spPr>
          <a:xfrm>
            <a:off x="2031065" y="4754880"/>
            <a:ext cx="606430" cy="566928"/>
          </a:xfrm>
          <a:prstGeom prst="rect">
            <a:avLst/>
          </a:prstGeom>
          <a:noFill/>
          <a:ln/>
        </p:spPr>
        <p:txBody>
          <a:bodyPr wrap="square" lIns="0" tIns="0" rIns="0" bIns="0" rtlCol="0" anchor="ctr"/>
          <a:lstStyle/>
          <a:p>
            <a:pPr algn="ctr" indent="0" marL="0">
              <a:buNone/>
            </a:pPr>
            <a:r>
              <a:rPr lang="en-US" sz="2200" b="1" dirty="0">
                <a:solidFill>
                  <a:schemeClr val="bg1"/>
                </a:solidFill>
              </a:rPr>
              <a:t>er</a:t>
            </a:r>
            <a:endParaRPr lang="en-US" sz="2200" dirty="0"/>
          </a:p>
        </p:txBody>
      </p:sp>
      <p:sp>
        <p:nvSpPr>
          <p:cNvPr id="35" name="Shape 32"/>
          <p:cNvSpPr/>
          <p:nvPr/>
        </p:nvSpPr>
        <p:spPr>
          <a:xfrm>
            <a:off x="2728935" y="4754880"/>
            <a:ext cx="920252" cy="566928"/>
          </a:xfrm>
          <a:prstGeom prst="roundRect">
            <a:avLst>
              <a:gd name="adj" fmla="val 12903"/>
            </a:avLst>
          </a:prstGeom>
          <a:solidFill>
            <a:schemeClr val="bg1"/>
          </a:solidFill>
          <a:ln w="25400">
            <a:solidFill>
              <a:srgbClr val="B83227"/>
            </a:solidFill>
            <a:prstDash val="solid"/>
          </a:ln>
        </p:spPr>
      </p:sp>
      <p:sp>
        <p:nvSpPr>
          <p:cNvPr id="36" name="Text 33"/>
          <p:cNvSpPr txBox="1"/>
          <p:nvPr/>
        </p:nvSpPr>
        <p:spPr>
          <a:xfrm>
            <a:off x="2728935" y="4754880"/>
            <a:ext cx="920252" cy="566928"/>
          </a:xfrm>
          <a:prstGeom prst="rect">
            <a:avLst/>
          </a:prstGeom>
          <a:noFill/>
          <a:ln/>
        </p:spPr>
        <p:txBody>
          <a:bodyPr wrap="square" lIns="0" tIns="0" rIns="0" bIns="0" rtlCol="0" anchor="ctr"/>
          <a:lstStyle/>
          <a:p>
            <a:pPr algn="ctr" indent="0" marL="0">
              <a:buNone/>
            </a:pPr>
            <a:r>
              <a:rPr lang="en-US" sz="2200" b="1" dirty="0">
                <a:solidFill>
                  <a:schemeClr val="accent6"/>
                </a:solidFill>
              </a:rPr>
              <a:t>niet</a:t>
            </a:r>
            <a:endParaRPr lang="en-US" sz="2200" dirty="0"/>
          </a:p>
        </p:txBody>
      </p:sp>
      <p:sp>
        <p:nvSpPr>
          <p:cNvPr id="37" name="Shape 34"/>
          <p:cNvSpPr/>
          <p:nvPr/>
        </p:nvSpPr>
        <p:spPr>
          <a:xfrm>
            <a:off x="3740628" y="4754880"/>
            <a:ext cx="920252" cy="566928"/>
          </a:xfrm>
          <a:prstGeom prst="roundRect">
            <a:avLst>
              <a:gd name="adj" fmla="val 12903"/>
            </a:avLst>
          </a:prstGeom>
          <a:solidFill>
            <a:schemeClr val="accent1"/>
          </a:solidFill>
          <a:ln w="12700">
            <a:solidFill>
              <a:srgbClr val="FFFFFF">
                <a:alpha val="0"/>
              </a:srgbClr>
            </a:solidFill>
            <a:prstDash val="solid"/>
          </a:ln>
        </p:spPr>
      </p:sp>
      <p:sp>
        <p:nvSpPr>
          <p:cNvPr id="38" name="Text 35"/>
          <p:cNvSpPr txBox="1"/>
          <p:nvPr/>
        </p:nvSpPr>
        <p:spPr>
          <a:xfrm>
            <a:off x="3740628" y="4754880"/>
            <a:ext cx="920252" cy="566928"/>
          </a:xfrm>
          <a:prstGeom prst="rect">
            <a:avLst/>
          </a:prstGeom>
          <a:noFill/>
          <a:ln/>
        </p:spPr>
        <p:txBody>
          <a:bodyPr wrap="square" lIns="0" tIns="0" rIns="0" bIns="0" rtlCol="0" anchor="ctr"/>
          <a:lstStyle/>
          <a:p>
            <a:pPr algn="ctr" indent="0" marL="0">
              <a:buNone/>
            </a:pPr>
            <a:r>
              <a:rPr lang="en-US" sz="2200" b="1" dirty="0">
                <a:solidFill>
                  <a:schemeClr val="bg1"/>
                </a:solidFill>
              </a:rPr>
              <a:t>aan.</a:t>
            </a:r>
            <a:endParaRPr lang="en-US" sz="2200" dirty="0"/>
          </a:p>
        </p:txBody>
      </p:sp>
      <p:sp>
        <p:nvSpPr>
          <p:cNvPr id="39" name="Shape 36"/>
          <p:cNvSpPr/>
          <p:nvPr/>
        </p:nvSpPr>
        <p:spPr>
          <a:xfrm>
            <a:off x="2334280" y="4416552"/>
            <a:ext cx="1866473" cy="640080"/>
          </a:xfrm>
          <a:prstGeom prst="arc">
            <a:avLst>
              <a:gd name="adj1" fmla="val 10800000"/>
              <a:gd name="adj2" fmla="val 21600000"/>
            </a:avLst>
          </a:prstGeom>
          <a:solidFill>
            <a:srgbClr val="FFFFFF">
              <a:alpha val="0"/>
            </a:srgbClr>
          </a:solidFill>
          <a:ln w="25400">
            <a:solidFill>
              <a:srgbClr val="2E7D4F"/>
            </a:solidFill>
            <a:prstDash val="solid"/>
            <a:tailEnd type="triangle"/>
          </a:ln>
        </p:spPr>
      </p:sp>
      <p:sp>
        <p:nvSpPr>
          <p:cNvPr id="40" name="Text 37"/>
          <p:cNvSpPr txBox="1"/>
          <p:nvPr/>
        </p:nvSpPr>
        <p:spPr>
          <a:xfrm>
            <a:off x="6126480" y="4754880"/>
            <a:ext cx="5486400" cy="566928"/>
          </a:xfrm>
          <a:prstGeom prst="rect">
            <a:avLst/>
          </a:prstGeom>
          <a:noFill/>
          <a:ln/>
        </p:spPr>
        <p:txBody>
          <a:bodyPr wrap="square" lIns="0" tIns="0" rIns="0" bIns="0" rtlCol="0" anchor="ctr"/>
          <a:lstStyle/>
          <a:p>
            <a:pPr algn="l" indent="0" marL="0">
              <a:buNone/>
            </a:pPr>
            <a:r>
              <a:rPr lang="en-US" sz="1700" i="1" dirty="0">
                <a:solidFill>
                  <a:schemeClr val="accent6"/>
                </a:solidFill>
              </a:rPr>
              <a:t>niet</a:t>
            </a:r>
            <a:r>
              <a:rPr lang="en-US" sz="1700" i="1" dirty="0">
                <a:solidFill>
                  <a:schemeClr val="accent6"/>
                </a:solidFill>
              </a:rPr>
              <a:t> avant la préposition · aussi « pas question ! »</a:t>
            </a:r>
            <a:endParaRPr lang="en-US" sz="1700" dirty="0"/>
          </a:p>
        </p:txBody>
      </p:sp>
      <p:sp>
        <p:nvSpPr>
          <p:cNvPr id="41" name="Shape 38"/>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42" name="Text 39"/>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dirty="0">
                <a:solidFill>
                  <a:schemeClr val="bg1"/>
                </a:solidFill>
              </a:rPr>
              <a:t>Rien entre les deux → collé : </a:t>
            </a:r>
            <a:r>
              <a:rPr lang="en-US" sz="1700" i="1" dirty="0">
                <a:solidFill>
                  <a:schemeClr val="bg1"/>
                </a:solidFill>
              </a:rPr>
              <a:t>Ik denk eraan.</a:t>
            </a:r>
            <a:r>
              <a:rPr lang="en-US" sz="1700" dirty="0">
                <a:solidFill>
                  <a:schemeClr val="bg1"/>
                </a:solidFill>
              </a:rPr>
              <a:t> · </a:t>
            </a:r>
            <a:r>
              <a:rPr lang="en-US" sz="1700" i="1" dirty="0">
                <a:solidFill>
                  <a:schemeClr val="bg1"/>
                </a:solidFill>
              </a:rPr>
              <a:t>Waarop wacht je?</a:t>
            </a:r>
            <a:r>
              <a:rPr lang="en-US" sz="1700" dirty="0">
                <a:solidFill>
                  <a:schemeClr val="bg1"/>
                </a:solidFill>
              </a:rPr>
              <a:t> = plus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à préposition fixe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thought balloon">    </p:cNvPr>
          <p:cNvPicPr>
            <a:picLocks noChangeAspect="1"/>
          </p:cNvPicPr>
          <p:nvPr/>
        </p:nvPicPr>
        <p:blipFill>
          <a:blip r:embed="rId1"/>
          <a:stretch>
            <a:fillRect/>
          </a:stretch>
        </p:blipFill>
        <p:spPr>
          <a:xfrm>
            <a:off x="658368" y="1856232"/>
            <a:ext cx="566928" cy="566928"/>
          </a:xfrm>
          <a:prstGeom prst="rect">
            <a:avLst/>
          </a:prstGeom>
        </p:spPr>
      </p:pic>
      <p:sp>
        <p:nvSpPr>
          <p:cNvPr id="7" name="Text 3"/>
          <p:cNvSpPr txBox="1"/>
          <p:nvPr/>
        </p:nvSpPr>
        <p:spPr>
          <a:xfrm>
            <a:off x="1325880"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denken</a:t>
            </a:r>
            <a:endParaRPr lang="en-US" sz="1700" dirty="0"/>
          </a:p>
        </p:txBody>
      </p:sp>
      <p:sp>
        <p:nvSpPr>
          <p:cNvPr id="8" name="Text 4"/>
          <p:cNvSpPr txBox="1"/>
          <p:nvPr/>
        </p:nvSpPr>
        <p:spPr>
          <a:xfrm>
            <a:off x="1325880"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aan</a:t>
            </a:r>
            <a:endParaRPr lang="en-US" sz="1700" dirty="0"/>
          </a:p>
        </p:txBody>
      </p:sp>
      <p:sp>
        <p:nvSpPr>
          <p:cNvPr id="9" name="Text 5"/>
          <p:cNvSpPr txBox="1"/>
          <p:nvPr/>
        </p:nvSpPr>
        <p:spPr>
          <a:xfrm>
            <a:off x="1325880"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penser à</a:t>
            </a:r>
            <a:endParaRPr lang="en-US" sz="1400" dirty="0"/>
          </a:p>
        </p:txBody>
      </p:sp>
      <p:sp>
        <p:nvSpPr>
          <p:cNvPr id="10" name="Shape 6"/>
          <p:cNvSpPr/>
          <p:nvPr/>
        </p:nvSpPr>
        <p:spPr>
          <a:xfrm>
            <a:off x="3362706"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rglass not done">    </p:cNvPr>
          <p:cNvPicPr>
            <a:picLocks noChangeAspect="1"/>
          </p:cNvPicPr>
          <p:nvPr/>
        </p:nvPicPr>
        <p:blipFill>
          <a:blip r:embed="rId2"/>
          <a:stretch>
            <a:fillRect/>
          </a:stretch>
        </p:blipFill>
        <p:spPr>
          <a:xfrm>
            <a:off x="3472434" y="1856232"/>
            <a:ext cx="566928" cy="566928"/>
          </a:xfrm>
          <a:prstGeom prst="rect">
            <a:avLst/>
          </a:prstGeom>
        </p:spPr>
      </p:pic>
      <p:sp>
        <p:nvSpPr>
          <p:cNvPr id="12" name="Text 7"/>
          <p:cNvSpPr txBox="1"/>
          <p:nvPr/>
        </p:nvSpPr>
        <p:spPr>
          <a:xfrm>
            <a:off x="4139946"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wachten</a:t>
            </a:r>
            <a:endParaRPr lang="en-US" sz="1700" dirty="0"/>
          </a:p>
        </p:txBody>
      </p:sp>
      <p:sp>
        <p:nvSpPr>
          <p:cNvPr id="13" name="Text 8"/>
          <p:cNvSpPr txBox="1"/>
          <p:nvPr/>
        </p:nvSpPr>
        <p:spPr>
          <a:xfrm>
            <a:off x="4139946"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14" name="Text 9"/>
          <p:cNvSpPr txBox="1"/>
          <p:nvPr/>
        </p:nvSpPr>
        <p:spPr>
          <a:xfrm>
            <a:off x="4139946"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attendre</a:t>
            </a:r>
            <a:endParaRPr lang="en-US" sz="1400" dirty="0"/>
          </a:p>
        </p:txBody>
      </p:sp>
      <p:sp>
        <p:nvSpPr>
          <p:cNvPr id="15" name="Shape 10"/>
          <p:cNvSpPr/>
          <p:nvPr/>
        </p:nvSpPr>
        <p:spPr>
          <a:xfrm>
            <a:off x="6176772"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6" name="Image 2" descr="speaking head">    </p:cNvPr>
          <p:cNvPicPr>
            <a:picLocks noChangeAspect="1"/>
          </p:cNvPicPr>
          <p:nvPr/>
        </p:nvPicPr>
        <p:blipFill>
          <a:blip r:embed="rId3"/>
          <a:stretch>
            <a:fillRect/>
          </a:stretch>
        </p:blipFill>
        <p:spPr>
          <a:xfrm>
            <a:off x="6286500" y="1856232"/>
            <a:ext cx="566928" cy="566928"/>
          </a:xfrm>
          <a:prstGeom prst="rect">
            <a:avLst/>
          </a:prstGeom>
        </p:spPr>
      </p:pic>
      <p:sp>
        <p:nvSpPr>
          <p:cNvPr id="17" name="Text 11"/>
          <p:cNvSpPr txBox="1"/>
          <p:nvPr/>
        </p:nvSpPr>
        <p:spPr>
          <a:xfrm>
            <a:off x="6954012"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praten</a:t>
            </a:r>
            <a:endParaRPr lang="en-US" sz="1700" dirty="0"/>
          </a:p>
        </p:txBody>
      </p:sp>
      <p:sp>
        <p:nvSpPr>
          <p:cNvPr id="18" name="Text 12"/>
          <p:cNvSpPr txBox="1"/>
          <p:nvPr/>
        </p:nvSpPr>
        <p:spPr>
          <a:xfrm>
            <a:off x="6954012"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over</a:t>
            </a:r>
            <a:endParaRPr lang="en-US" sz="1700" dirty="0"/>
          </a:p>
        </p:txBody>
      </p:sp>
      <p:sp>
        <p:nvSpPr>
          <p:cNvPr id="19" name="Text 13"/>
          <p:cNvSpPr txBox="1"/>
          <p:nvPr/>
        </p:nvSpPr>
        <p:spPr>
          <a:xfrm>
            <a:off x="6954012"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parler de</a:t>
            </a:r>
            <a:endParaRPr lang="en-US" sz="1400" dirty="0"/>
          </a:p>
        </p:txBody>
      </p:sp>
      <p:sp>
        <p:nvSpPr>
          <p:cNvPr id="20" name="Shape 14"/>
          <p:cNvSpPr/>
          <p:nvPr/>
        </p:nvSpPr>
        <p:spPr>
          <a:xfrm>
            <a:off x="8990838" y="155448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3" descr="red heart">    </p:cNvPr>
          <p:cNvPicPr>
            <a:picLocks noChangeAspect="1"/>
          </p:cNvPicPr>
          <p:nvPr/>
        </p:nvPicPr>
        <p:blipFill>
          <a:blip r:embed="rId4"/>
          <a:stretch>
            <a:fillRect/>
          </a:stretch>
        </p:blipFill>
        <p:spPr>
          <a:xfrm>
            <a:off x="9100566" y="1856232"/>
            <a:ext cx="566928" cy="566928"/>
          </a:xfrm>
          <a:prstGeom prst="rect">
            <a:avLst/>
          </a:prstGeom>
        </p:spPr>
      </p:pic>
      <p:sp>
        <p:nvSpPr>
          <p:cNvPr id="22" name="Text 15"/>
          <p:cNvSpPr txBox="1"/>
          <p:nvPr/>
        </p:nvSpPr>
        <p:spPr>
          <a:xfrm>
            <a:off x="9768078" y="164592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houden</a:t>
            </a:r>
            <a:endParaRPr lang="en-US" sz="1700" dirty="0"/>
          </a:p>
        </p:txBody>
      </p:sp>
      <p:sp>
        <p:nvSpPr>
          <p:cNvPr id="23" name="Text 16"/>
          <p:cNvSpPr txBox="1"/>
          <p:nvPr/>
        </p:nvSpPr>
        <p:spPr>
          <a:xfrm>
            <a:off x="9768078" y="199339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van</a:t>
            </a:r>
            <a:endParaRPr lang="en-US" sz="1700" dirty="0"/>
          </a:p>
        </p:txBody>
      </p:sp>
      <p:sp>
        <p:nvSpPr>
          <p:cNvPr id="24" name="Text 17"/>
          <p:cNvSpPr txBox="1"/>
          <p:nvPr/>
        </p:nvSpPr>
        <p:spPr>
          <a:xfrm>
            <a:off x="9768078" y="234086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aimer</a:t>
            </a:r>
            <a:endParaRPr lang="en-US" sz="1400" dirty="0"/>
          </a:p>
        </p:txBody>
      </p:sp>
      <p:sp>
        <p:nvSpPr>
          <p:cNvPr id="25" name="Shape 18"/>
          <p:cNvSpPr/>
          <p:nvPr/>
        </p:nvSpPr>
        <p:spPr>
          <a:xfrm>
            <a:off x="548640"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4" descr="face savoring food">    </p:cNvPr>
          <p:cNvPicPr>
            <a:picLocks noChangeAspect="1"/>
          </p:cNvPicPr>
          <p:nvPr/>
        </p:nvPicPr>
        <p:blipFill>
          <a:blip r:embed="rId5"/>
          <a:stretch>
            <a:fillRect/>
          </a:stretch>
        </p:blipFill>
        <p:spPr>
          <a:xfrm>
            <a:off x="658368" y="3182112"/>
            <a:ext cx="566928" cy="566928"/>
          </a:xfrm>
          <a:prstGeom prst="rect">
            <a:avLst/>
          </a:prstGeom>
        </p:spPr>
      </p:pic>
      <p:sp>
        <p:nvSpPr>
          <p:cNvPr id="27" name="Text 19"/>
          <p:cNvSpPr txBox="1"/>
          <p:nvPr/>
        </p:nvSpPr>
        <p:spPr>
          <a:xfrm>
            <a:off x="1325880"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zin hebben</a:t>
            </a:r>
            <a:endParaRPr lang="en-US" sz="1700" dirty="0"/>
          </a:p>
        </p:txBody>
      </p:sp>
      <p:sp>
        <p:nvSpPr>
          <p:cNvPr id="28" name="Text 20"/>
          <p:cNvSpPr txBox="1"/>
          <p:nvPr/>
        </p:nvSpPr>
        <p:spPr>
          <a:xfrm>
            <a:off x="1325880"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in</a:t>
            </a:r>
            <a:endParaRPr lang="en-US" sz="1700" dirty="0"/>
          </a:p>
        </p:txBody>
      </p:sp>
      <p:sp>
        <p:nvSpPr>
          <p:cNvPr id="29" name="Text 21"/>
          <p:cNvSpPr txBox="1"/>
          <p:nvPr/>
        </p:nvSpPr>
        <p:spPr>
          <a:xfrm>
            <a:off x="1325880"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envie de</a:t>
            </a:r>
            <a:endParaRPr lang="en-US" sz="1400" dirty="0"/>
          </a:p>
        </p:txBody>
      </p:sp>
      <p:sp>
        <p:nvSpPr>
          <p:cNvPr id="30" name="Shape 22"/>
          <p:cNvSpPr/>
          <p:nvPr/>
        </p:nvSpPr>
        <p:spPr>
          <a:xfrm>
            <a:off x="3362706"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5" descr="laptop">    </p:cNvPr>
          <p:cNvPicPr>
            <a:picLocks noChangeAspect="1"/>
          </p:cNvPicPr>
          <p:nvPr/>
        </p:nvPicPr>
        <p:blipFill>
          <a:blip r:embed="rId6"/>
          <a:stretch>
            <a:fillRect/>
          </a:stretch>
        </p:blipFill>
        <p:spPr>
          <a:xfrm>
            <a:off x="3472434" y="3182112"/>
            <a:ext cx="566928" cy="566928"/>
          </a:xfrm>
          <a:prstGeom prst="rect">
            <a:avLst/>
          </a:prstGeom>
        </p:spPr>
      </p:pic>
      <p:sp>
        <p:nvSpPr>
          <p:cNvPr id="32" name="Text 23"/>
          <p:cNvSpPr txBox="1"/>
          <p:nvPr/>
        </p:nvSpPr>
        <p:spPr>
          <a:xfrm>
            <a:off x="4139946"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bezig zijn</a:t>
            </a:r>
            <a:endParaRPr lang="en-US" sz="1700" dirty="0"/>
          </a:p>
        </p:txBody>
      </p:sp>
      <p:sp>
        <p:nvSpPr>
          <p:cNvPr id="33" name="Text 24"/>
          <p:cNvSpPr txBox="1"/>
          <p:nvPr/>
        </p:nvSpPr>
        <p:spPr>
          <a:xfrm>
            <a:off x="4139946"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34" name="Text 25"/>
          <p:cNvSpPr txBox="1"/>
          <p:nvPr/>
        </p:nvSpPr>
        <p:spPr>
          <a:xfrm>
            <a:off x="4139946"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être occupé à</a:t>
            </a:r>
            <a:endParaRPr lang="en-US" sz="1400" dirty="0"/>
          </a:p>
        </p:txBody>
      </p:sp>
      <p:sp>
        <p:nvSpPr>
          <p:cNvPr id="35" name="Shape 26"/>
          <p:cNvSpPr/>
          <p:nvPr/>
        </p:nvSpPr>
        <p:spPr>
          <a:xfrm>
            <a:off x="6176772"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6" descr="potted plant">    </p:cNvPr>
          <p:cNvPicPr>
            <a:picLocks noChangeAspect="1"/>
          </p:cNvPicPr>
          <p:nvPr/>
        </p:nvPicPr>
        <p:blipFill>
          <a:blip r:embed="rId7"/>
          <a:stretch>
            <a:fillRect/>
          </a:stretch>
        </p:blipFill>
        <p:spPr>
          <a:xfrm>
            <a:off x="6286500" y="3182112"/>
            <a:ext cx="566928" cy="566928"/>
          </a:xfrm>
          <a:prstGeom prst="rect">
            <a:avLst/>
          </a:prstGeom>
        </p:spPr>
      </p:pic>
      <p:sp>
        <p:nvSpPr>
          <p:cNvPr id="37" name="Text 27"/>
          <p:cNvSpPr txBox="1"/>
          <p:nvPr/>
        </p:nvSpPr>
        <p:spPr>
          <a:xfrm>
            <a:off x="6954012"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zorgen</a:t>
            </a:r>
            <a:endParaRPr lang="en-US" sz="1700" dirty="0"/>
          </a:p>
        </p:txBody>
      </p:sp>
      <p:sp>
        <p:nvSpPr>
          <p:cNvPr id="38" name="Text 28"/>
          <p:cNvSpPr txBox="1"/>
          <p:nvPr/>
        </p:nvSpPr>
        <p:spPr>
          <a:xfrm>
            <a:off x="6954012"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voor</a:t>
            </a:r>
            <a:endParaRPr lang="en-US" sz="1700" dirty="0"/>
          </a:p>
        </p:txBody>
      </p:sp>
      <p:sp>
        <p:nvSpPr>
          <p:cNvPr id="39" name="Text 29"/>
          <p:cNvSpPr txBox="1"/>
          <p:nvPr/>
        </p:nvSpPr>
        <p:spPr>
          <a:xfrm>
            <a:off x="6954012"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s’occuper de</a:t>
            </a:r>
            <a:endParaRPr lang="en-US" sz="1400" dirty="0"/>
          </a:p>
        </p:txBody>
      </p:sp>
      <p:sp>
        <p:nvSpPr>
          <p:cNvPr id="40" name="Shape 30"/>
          <p:cNvSpPr/>
          <p:nvPr/>
        </p:nvSpPr>
        <p:spPr>
          <a:xfrm>
            <a:off x="8990838" y="288036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1" name="Image 7" descr="eyes">    </p:cNvPr>
          <p:cNvPicPr>
            <a:picLocks noChangeAspect="1"/>
          </p:cNvPicPr>
          <p:nvPr/>
        </p:nvPicPr>
        <p:blipFill>
          <a:blip r:embed="rId8"/>
          <a:stretch>
            <a:fillRect/>
          </a:stretch>
        </p:blipFill>
        <p:spPr>
          <a:xfrm>
            <a:off x="9100566" y="3182112"/>
            <a:ext cx="566928" cy="566928"/>
          </a:xfrm>
          <a:prstGeom prst="rect">
            <a:avLst/>
          </a:prstGeom>
        </p:spPr>
      </p:pic>
      <p:sp>
        <p:nvSpPr>
          <p:cNvPr id="42" name="Text 31"/>
          <p:cNvSpPr txBox="1"/>
          <p:nvPr/>
        </p:nvSpPr>
        <p:spPr>
          <a:xfrm>
            <a:off x="9768078" y="297180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kijken</a:t>
            </a:r>
            <a:endParaRPr lang="en-US" sz="1700" dirty="0"/>
          </a:p>
        </p:txBody>
      </p:sp>
      <p:sp>
        <p:nvSpPr>
          <p:cNvPr id="43" name="Text 32"/>
          <p:cNvSpPr txBox="1"/>
          <p:nvPr/>
        </p:nvSpPr>
        <p:spPr>
          <a:xfrm>
            <a:off x="9768078" y="331927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4" name="Text 33"/>
          <p:cNvSpPr txBox="1"/>
          <p:nvPr/>
        </p:nvSpPr>
        <p:spPr>
          <a:xfrm>
            <a:off x="9768078" y="366674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regarder</a:t>
            </a:r>
            <a:endParaRPr lang="en-US" sz="1400" dirty="0"/>
          </a:p>
        </p:txBody>
      </p:sp>
      <p:sp>
        <p:nvSpPr>
          <p:cNvPr id="45" name="Shape 34"/>
          <p:cNvSpPr/>
          <p:nvPr/>
        </p:nvSpPr>
        <p:spPr>
          <a:xfrm>
            <a:off x="548640"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46" name="Image 8" descr="headphone">    </p:cNvPr>
          <p:cNvPicPr>
            <a:picLocks noChangeAspect="1"/>
          </p:cNvPicPr>
          <p:nvPr/>
        </p:nvPicPr>
        <p:blipFill>
          <a:blip r:embed="rId9"/>
          <a:stretch>
            <a:fillRect/>
          </a:stretch>
        </p:blipFill>
        <p:spPr>
          <a:xfrm>
            <a:off x="658368" y="4507992"/>
            <a:ext cx="566928" cy="566928"/>
          </a:xfrm>
          <a:prstGeom prst="rect">
            <a:avLst/>
          </a:prstGeom>
        </p:spPr>
      </p:pic>
      <p:sp>
        <p:nvSpPr>
          <p:cNvPr id="47" name="Text 35"/>
          <p:cNvSpPr txBox="1"/>
          <p:nvPr/>
        </p:nvSpPr>
        <p:spPr>
          <a:xfrm>
            <a:off x="1325880"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luisteren</a:t>
            </a:r>
            <a:endParaRPr lang="en-US" sz="1700" dirty="0"/>
          </a:p>
        </p:txBody>
      </p:sp>
      <p:sp>
        <p:nvSpPr>
          <p:cNvPr id="48" name="Text 36"/>
          <p:cNvSpPr txBox="1"/>
          <p:nvPr/>
        </p:nvSpPr>
        <p:spPr>
          <a:xfrm>
            <a:off x="1325880"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naar</a:t>
            </a:r>
            <a:endParaRPr lang="en-US" sz="1700" dirty="0"/>
          </a:p>
        </p:txBody>
      </p:sp>
      <p:sp>
        <p:nvSpPr>
          <p:cNvPr id="49" name="Text 37"/>
          <p:cNvSpPr txBox="1"/>
          <p:nvPr/>
        </p:nvSpPr>
        <p:spPr>
          <a:xfrm>
            <a:off x="1325880"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écouter</a:t>
            </a:r>
            <a:endParaRPr lang="en-US" sz="1400" dirty="0"/>
          </a:p>
        </p:txBody>
      </p:sp>
      <p:sp>
        <p:nvSpPr>
          <p:cNvPr id="50" name="Shape 38"/>
          <p:cNvSpPr/>
          <p:nvPr/>
        </p:nvSpPr>
        <p:spPr>
          <a:xfrm>
            <a:off x="3362706"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1" name="Image 9" descr="rocket">    </p:cNvPr>
          <p:cNvPicPr>
            <a:picLocks noChangeAspect="1"/>
          </p:cNvPicPr>
          <p:nvPr/>
        </p:nvPicPr>
        <p:blipFill>
          <a:blip r:embed="rId10"/>
          <a:stretch>
            <a:fillRect/>
          </a:stretch>
        </p:blipFill>
        <p:spPr>
          <a:xfrm>
            <a:off x="3472434" y="4507992"/>
            <a:ext cx="566928" cy="566928"/>
          </a:xfrm>
          <a:prstGeom prst="rect">
            <a:avLst/>
          </a:prstGeom>
        </p:spPr>
      </p:pic>
      <p:sp>
        <p:nvSpPr>
          <p:cNvPr id="52" name="Text 39"/>
          <p:cNvSpPr txBox="1"/>
          <p:nvPr/>
        </p:nvSpPr>
        <p:spPr>
          <a:xfrm>
            <a:off x="4139946"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beginnen</a:t>
            </a:r>
            <a:endParaRPr lang="en-US" sz="1700" dirty="0"/>
          </a:p>
        </p:txBody>
      </p:sp>
      <p:sp>
        <p:nvSpPr>
          <p:cNvPr id="53" name="Text 40"/>
          <p:cNvSpPr txBox="1"/>
          <p:nvPr/>
        </p:nvSpPr>
        <p:spPr>
          <a:xfrm>
            <a:off x="4139946"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4" name="Text 41"/>
          <p:cNvSpPr txBox="1"/>
          <p:nvPr/>
        </p:nvSpPr>
        <p:spPr>
          <a:xfrm>
            <a:off x="4139946"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commencer par</a:t>
            </a:r>
            <a:endParaRPr lang="en-US" sz="1400" dirty="0"/>
          </a:p>
        </p:txBody>
      </p:sp>
      <p:sp>
        <p:nvSpPr>
          <p:cNvPr id="55" name="Shape 42"/>
          <p:cNvSpPr/>
          <p:nvPr/>
        </p:nvSpPr>
        <p:spPr>
          <a:xfrm>
            <a:off x="6176772"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56" name="Image 10" descr="stop sign">    </p:cNvPr>
          <p:cNvPicPr>
            <a:picLocks noChangeAspect="1"/>
          </p:cNvPicPr>
          <p:nvPr/>
        </p:nvPicPr>
        <p:blipFill>
          <a:blip r:embed="rId11"/>
          <a:stretch>
            <a:fillRect/>
          </a:stretch>
        </p:blipFill>
        <p:spPr>
          <a:xfrm>
            <a:off x="6286500" y="4507992"/>
            <a:ext cx="566928" cy="566928"/>
          </a:xfrm>
          <a:prstGeom prst="rect">
            <a:avLst/>
          </a:prstGeom>
        </p:spPr>
      </p:pic>
      <p:sp>
        <p:nvSpPr>
          <p:cNvPr id="57" name="Text 43"/>
          <p:cNvSpPr txBox="1"/>
          <p:nvPr/>
        </p:nvSpPr>
        <p:spPr>
          <a:xfrm>
            <a:off x="6954012"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stoppen</a:t>
            </a:r>
            <a:endParaRPr lang="en-US" sz="1700" dirty="0"/>
          </a:p>
        </p:txBody>
      </p:sp>
      <p:sp>
        <p:nvSpPr>
          <p:cNvPr id="58" name="Text 44"/>
          <p:cNvSpPr txBox="1"/>
          <p:nvPr/>
        </p:nvSpPr>
        <p:spPr>
          <a:xfrm>
            <a:off x="6954012"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met</a:t>
            </a:r>
            <a:endParaRPr lang="en-US" sz="1700" dirty="0"/>
          </a:p>
        </p:txBody>
      </p:sp>
      <p:sp>
        <p:nvSpPr>
          <p:cNvPr id="59" name="Text 45"/>
          <p:cNvSpPr txBox="1"/>
          <p:nvPr/>
        </p:nvSpPr>
        <p:spPr>
          <a:xfrm>
            <a:off x="6954012"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arrêter de</a:t>
            </a:r>
            <a:endParaRPr lang="en-US" sz="1400" dirty="0"/>
          </a:p>
        </p:txBody>
      </p:sp>
      <p:sp>
        <p:nvSpPr>
          <p:cNvPr id="60" name="Shape 46"/>
          <p:cNvSpPr/>
          <p:nvPr/>
        </p:nvSpPr>
        <p:spPr>
          <a:xfrm>
            <a:off x="8990838" y="4206240"/>
            <a:ext cx="2649474" cy="1188720"/>
          </a:xfrm>
          <a:prstGeom prst="roundRect">
            <a:avLst>
              <a:gd name="adj" fmla="val 615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1" name="Image 11" descr="handshake">    </p:cNvPr>
          <p:cNvPicPr>
            <a:picLocks noChangeAspect="1"/>
          </p:cNvPicPr>
          <p:nvPr/>
        </p:nvPicPr>
        <p:blipFill>
          <a:blip r:embed="rId12"/>
          <a:stretch>
            <a:fillRect/>
          </a:stretch>
        </p:blipFill>
        <p:spPr>
          <a:xfrm>
            <a:off x="9100566" y="4507992"/>
            <a:ext cx="566928" cy="566928"/>
          </a:xfrm>
          <a:prstGeom prst="rect">
            <a:avLst/>
          </a:prstGeom>
        </p:spPr>
      </p:pic>
      <p:sp>
        <p:nvSpPr>
          <p:cNvPr id="62" name="Text 47"/>
          <p:cNvSpPr txBox="1"/>
          <p:nvPr/>
        </p:nvSpPr>
        <p:spPr>
          <a:xfrm>
            <a:off x="9768078" y="4297680"/>
            <a:ext cx="1780794" cy="384048"/>
          </a:xfrm>
          <a:prstGeom prst="rect">
            <a:avLst/>
          </a:prstGeom>
          <a:noFill/>
          <a:ln/>
        </p:spPr>
        <p:txBody>
          <a:bodyPr wrap="square" lIns="0" tIns="0" rIns="0" bIns="0" rtlCol="0" anchor="ctr"/>
          <a:lstStyle/>
          <a:p>
            <a:pPr algn="l" indent="0" marL="0">
              <a:buNone/>
            </a:pPr>
            <a:r>
              <a:rPr lang="en-US" sz="1700" b="1" dirty="0">
                <a:solidFill>
                  <a:schemeClr val="tx1"/>
                </a:solidFill>
              </a:rPr>
              <a:t>rekenen</a:t>
            </a:r>
            <a:endParaRPr lang="en-US" sz="1700" dirty="0"/>
          </a:p>
        </p:txBody>
      </p:sp>
      <p:sp>
        <p:nvSpPr>
          <p:cNvPr id="63" name="Text 48"/>
          <p:cNvSpPr txBox="1"/>
          <p:nvPr/>
        </p:nvSpPr>
        <p:spPr>
          <a:xfrm>
            <a:off x="9768078" y="4645152"/>
            <a:ext cx="1780794" cy="347472"/>
          </a:xfrm>
          <a:prstGeom prst="rect">
            <a:avLst/>
          </a:prstGeom>
          <a:noFill/>
          <a:ln/>
        </p:spPr>
        <p:txBody>
          <a:bodyPr wrap="square" lIns="0" tIns="0" rIns="0" bIns="0" rtlCol="0" anchor="ctr"/>
          <a:lstStyle/>
          <a:p>
            <a:pPr algn="l" indent="0" marL="0">
              <a:buNone/>
            </a:pPr>
            <a:r>
              <a:rPr lang="en-US" sz="1700" b="1" dirty="0">
                <a:solidFill>
                  <a:schemeClr val="accent1"/>
                </a:solidFill>
              </a:rPr>
              <a:t>op</a:t>
            </a:r>
            <a:endParaRPr lang="en-US" sz="1700" dirty="0"/>
          </a:p>
        </p:txBody>
      </p:sp>
      <p:sp>
        <p:nvSpPr>
          <p:cNvPr id="64" name="Text 49"/>
          <p:cNvSpPr txBox="1"/>
          <p:nvPr/>
        </p:nvSpPr>
        <p:spPr>
          <a:xfrm>
            <a:off x="9768078" y="4992624"/>
            <a:ext cx="1780794" cy="329184"/>
          </a:xfrm>
          <a:prstGeom prst="rect">
            <a:avLst/>
          </a:prstGeom>
          <a:noFill/>
          <a:ln/>
        </p:spPr>
        <p:txBody>
          <a:bodyPr wrap="square" lIns="0" tIns="0" rIns="0" bIns="0" rtlCol="0" anchor="ctr"/>
          <a:lstStyle/>
          <a:p>
            <a:pPr algn="l" indent="0" marL="0">
              <a:buNone/>
            </a:pPr>
            <a:r>
              <a:rPr lang="en-US" sz="1400" i="1" dirty="0">
                <a:solidFill>
                  <a:schemeClr val="accent5"/>
                </a:solidFill>
              </a:rPr>
              <a:t>compter sur</a:t>
            </a:r>
            <a:endParaRPr lang="en-US" sz="1400" dirty="0"/>
          </a:p>
        </p:txBody>
      </p:sp>
      <p:sp>
        <p:nvSpPr>
          <p:cNvPr id="65" name="Shape 5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66" name="Text 51"/>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On apprend le verbe </a:t>
            </a:r>
            <a:r>
              <a:rPr lang="en-US" sz="1700" b="1" dirty="0">
                <a:solidFill>
                  <a:schemeClr val="bg1"/>
                </a:solidFill>
              </a:rPr>
              <a:t>et</a:t>
            </a:r>
            <a:r>
              <a:rPr lang="en-US" sz="1700" dirty="0">
                <a:solidFill>
                  <a:schemeClr val="bg1"/>
                </a:solidFill>
              </a:rPr>
              <a:t> sa préposition : </a:t>
            </a:r>
            <a:r>
              <a:rPr lang="en-US" sz="1700" i="1" dirty="0">
                <a:solidFill>
                  <a:schemeClr val="bg1"/>
                </a:solidFill>
              </a:rPr>
              <a:t>Ik heb zin in koffie. · Wie zorgt voor de lunch?</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prépositions ne se traduisent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bus">    </p:cNvPr>
          <p:cNvPicPr>
            <a:picLocks noChangeAspect="1"/>
          </p:cNvPicPr>
          <p:nvPr/>
        </p:nvPicPr>
        <p:blipFill>
          <a:blip r:embed="rId1"/>
          <a:stretch>
            <a:fillRect/>
          </a:stretch>
        </p:blipFill>
        <p:spPr>
          <a:xfrm>
            <a:off x="777240" y="2221992"/>
            <a:ext cx="594360" cy="594360"/>
          </a:xfrm>
          <a:prstGeom prst="rect">
            <a:avLst/>
          </a:prstGeom>
        </p:spPr>
      </p:pic>
      <p:sp>
        <p:nvSpPr>
          <p:cNvPr id="8" name="Text 4"/>
          <p:cNvSpPr txBox="1"/>
          <p:nvPr/>
        </p:nvSpPr>
        <p:spPr>
          <a:xfrm>
            <a:off x="1554480" y="214884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attendre </a:t>
            </a:r>
            <a:r>
              <a:rPr lang="en-US" sz="1700" b="1" dirty="0">
                <a:solidFill>
                  <a:schemeClr val="tx1"/>
                </a:solidFill>
              </a:rPr>
              <a:t>le</a:t>
            </a:r>
            <a:r>
              <a:rPr lang="en-US" sz="1700" dirty="0">
                <a:solidFill>
                  <a:schemeClr val="tx1"/>
                </a:solidFill>
              </a:rPr>
              <a:t> bus »</a:t>
            </a:r>
            <a:endParaRPr lang="en-US" sz="1700" dirty="0"/>
          </a:p>
        </p:txBody>
      </p:sp>
      <p:sp>
        <p:nvSpPr>
          <p:cNvPr id="9" name="Text 5"/>
          <p:cNvSpPr txBox="1"/>
          <p:nvPr/>
        </p:nvSpPr>
        <p:spPr>
          <a:xfrm>
            <a:off x="4846320" y="214884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wachten de bus</a:t>
            </a:r>
            <a:endParaRPr lang="en-US" sz="1500" dirty="0"/>
          </a:p>
        </p:txBody>
      </p:sp>
      <p:sp>
        <p:nvSpPr>
          <p:cNvPr id="10" name="Shape 6"/>
          <p:cNvSpPr/>
          <p:nvPr/>
        </p:nvSpPr>
        <p:spPr>
          <a:xfrm>
            <a:off x="7543800" y="2514600"/>
            <a:ext cx="320040" cy="914"/>
          </a:xfrm>
          <a:prstGeom prst="line">
            <a:avLst/>
          </a:prstGeom>
          <a:noFill/>
          <a:ln w="25400">
            <a:solidFill>
              <a:srgbClr val="2E7D4F"/>
            </a:solidFill>
            <a:prstDash val="solid"/>
            <a:tailEnd type="triangle"/>
          </a:ln>
        </p:spPr>
      </p:sp>
      <p:sp>
        <p:nvSpPr>
          <p:cNvPr id="11" name="Shape 7"/>
          <p:cNvSpPr/>
          <p:nvPr/>
        </p:nvSpPr>
        <p:spPr>
          <a:xfrm>
            <a:off x="7909560" y="220370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2" name="Text 8"/>
          <p:cNvSpPr txBox="1"/>
          <p:nvPr/>
        </p:nvSpPr>
        <p:spPr>
          <a:xfrm>
            <a:off x="8046720" y="220370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wachten </a:t>
            </a:r>
            <a:r>
              <a:rPr lang="en-US" sz="1800" b="1" i="1" dirty="0">
                <a:solidFill>
                  <a:schemeClr val="accent1"/>
                </a:solidFill>
              </a:rPr>
              <a:t>op</a:t>
            </a:r>
            <a:r>
              <a:rPr lang="en-US" sz="1800" i="1" dirty="0">
                <a:solidFill>
                  <a:schemeClr val="tx1"/>
                </a:solidFill>
              </a:rPr>
              <a:t> de bus</a:t>
            </a:r>
            <a:endParaRPr lang="en-US" sz="1800" dirty="0"/>
          </a:p>
        </p:txBody>
      </p:sp>
      <p:pic>
        <p:nvPicPr>
          <p:cNvPr id="13" name="Image 1" descr="hot beverage">    </p:cNvPr>
          <p:cNvPicPr>
            <a:picLocks noChangeAspect="1"/>
          </p:cNvPicPr>
          <p:nvPr/>
        </p:nvPicPr>
        <p:blipFill>
          <a:blip r:embed="rId2"/>
          <a:stretch>
            <a:fillRect/>
          </a:stretch>
        </p:blipFill>
        <p:spPr>
          <a:xfrm>
            <a:off x="777240" y="3090672"/>
            <a:ext cx="594360" cy="594360"/>
          </a:xfrm>
          <a:prstGeom prst="rect">
            <a:avLst/>
          </a:prstGeom>
        </p:spPr>
      </p:pic>
      <p:sp>
        <p:nvSpPr>
          <p:cNvPr id="14" name="Text 9"/>
          <p:cNvSpPr txBox="1"/>
          <p:nvPr/>
        </p:nvSpPr>
        <p:spPr>
          <a:xfrm>
            <a:off x="1554480" y="301752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avoir envie </a:t>
            </a:r>
            <a:r>
              <a:rPr lang="en-US" sz="1700" b="1" dirty="0">
                <a:solidFill>
                  <a:schemeClr val="tx1"/>
                </a:solidFill>
              </a:rPr>
              <a:t>d’</a:t>
            </a:r>
            <a:r>
              <a:rPr lang="en-US" sz="1700" dirty="0">
                <a:solidFill>
                  <a:schemeClr val="tx1"/>
                </a:solidFill>
              </a:rPr>
              <a:t>un café »</a:t>
            </a:r>
            <a:endParaRPr lang="en-US" sz="1700" dirty="0"/>
          </a:p>
        </p:txBody>
      </p:sp>
      <p:sp>
        <p:nvSpPr>
          <p:cNvPr id="15" name="Text 10"/>
          <p:cNvSpPr txBox="1"/>
          <p:nvPr/>
        </p:nvSpPr>
        <p:spPr>
          <a:xfrm>
            <a:off x="4846320" y="301752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zin hebben van koffie</a:t>
            </a:r>
            <a:endParaRPr lang="en-US" sz="1500" dirty="0"/>
          </a:p>
        </p:txBody>
      </p:sp>
      <p:sp>
        <p:nvSpPr>
          <p:cNvPr id="16" name="Shape 11"/>
          <p:cNvSpPr/>
          <p:nvPr/>
        </p:nvSpPr>
        <p:spPr>
          <a:xfrm>
            <a:off x="7543800" y="3383280"/>
            <a:ext cx="320040" cy="914"/>
          </a:xfrm>
          <a:prstGeom prst="line">
            <a:avLst/>
          </a:prstGeom>
          <a:noFill/>
          <a:ln w="25400">
            <a:solidFill>
              <a:srgbClr val="2E7D4F"/>
            </a:solidFill>
            <a:prstDash val="solid"/>
            <a:tailEnd type="triangle"/>
          </a:ln>
        </p:spPr>
      </p:sp>
      <p:sp>
        <p:nvSpPr>
          <p:cNvPr id="17" name="Shape 12"/>
          <p:cNvSpPr/>
          <p:nvPr/>
        </p:nvSpPr>
        <p:spPr>
          <a:xfrm>
            <a:off x="7909560" y="307238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18" name="Text 13"/>
          <p:cNvSpPr txBox="1"/>
          <p:nvPr/>
        </p:nvSpPr>
        <p:spPr>
          <a:xfrm>
            <a:off x="8046720" y="307238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zin hebben </a:t>
            </a:r>
            <a:r>
              <a:rPr lang="en-US" sz="1800" b="1" i="1" dirty="0">
                <a:solidFill>
                  <a:schemeClr val="accent1"/>
                </a:solidFill>
              </a:rPr>
              <a:t>in</a:t>
            </a:r>
            <a:r>
              <a:rPr lang="en-US" sz="1800" i="1" dirty="0">
                <a:solidFill>
                  <a:schemeClr val="tx1"/>
                </a:solidFill>
              </a:rPr>
              <a:t> een koffie</a:t>
            </a:r>
            <a:endParaRPr lang="en-US" sz="1800" dirty="0"/>
          </a:p>
        </p:txBody>
      </p:sp>
      <p:pic>
        <p:nvPicPr>
          <p:cNvPr id="19" name="Image 2" descr="thinking face">    </p:cNvPr>
          <p:cNvPicPr>
            <a:picLocks noChangeAspect="1"/>
          </p:cNvPicPr>
          <p:nvPr/>
        </p:nvPicPr>
        <p:blipFill>
          <a:blip r:embed="rId3"/>
          <a:stretch>
            <a:fillRect/>
          </a:stretch>
        </p:blipFill>
        <p:spPr>
          <a:xfrm>
            <a:off x="777240" y="3959352"/>
            <a:ext cx="594360" cy="594360"/>
          </a:xfrm>
          <a:prstGeom prst="rect">
            <a:avLst/>
          </a:prstGeom>
        </p:spPr>
      </p:pic>
      <p:sp>
        <p:nvSpPr>
          <p:cNvPr id="20" name="Text 14"/>
          <p:cNvSpPr txBox="1"/>
          <p:nvPr/>
        </p:nvSpPr>
        <p:spPr>
          <a:xfrm>
            <a:off x="1554480" y="388620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ça dépend </a:t>
            </a:r>
            <a:r>
              <a:rPr lang="en-US" sz="1700" b="1" dirty="0">
                <a:solidFill>
                  <a:schemeClr val="tx1"/>
                </a:solidFill>
              </a:rPr>
              <a:t>de</a:t>
            </a:r>
            <a:r>
              <a:rPr lang="en-US" sz="1700" dirty="0">
                <a:solidFill>
                  <a:schemeClr val="tx1"/>
                </a:solidFill>
              </a:rPr>
              <a:t>… »</a:t>
            </a:r>
            <a:endParaRPr lang="en-US" sz="1700" dirty="0"/>
          </a:p>
        </p:txBody>
      </p:sp>
      <p:sp>
        <p:nvSpPr>
          <p:cNvPr id="21" name="Text 15"/>
          <p:cNvSpPr txBox="1"/>
          <p:nvPr/>
        </p:nvSpPr>
        <p:spPr>
          <a:xfrm>
            <a:off x="4846320" y="388620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Dat hangt af van het.</a:t>
            </a:r>
            <a:endParaRPr lang="en-US" sz="1500" dirty="0"/>
          </a:p>
        </p:txBody>
      </p:sp>
      <p:sp>
        <p:nvSpPr>
          <p:cNvPr id="22" name="Shape 16"/>
          <p:cNvSpPr/>
          <p:nvPr/>
        </p:nvSpPr>
        <p:spPr>
          <a:xfrm>
            <a:off x="7543800" y="4251960"/>
            <a:ext cx="320040" cy="914"/>
          </a:xfrm>
          <a:prstGeom prst="line">
            <a:avLst/>
          </a:prstGeom>
          <a:noFill/>
          <a:ln w="25400">
            <a:solidFill>
              <a:srgbClr val="2E7D4F"/>
            </a:solidFill>
            <a:prstDash val="solid"/>
            <a:tailEnd type="triangle"/>
          </a:ln>
        </p:spPr>
      </p:sp>
      <p:sp>
        <p:nvSpPr>
          <p:cNvPr id="23" name="Shape 17"/>
          <p:cNvSpPr/>
          <p:nvPr/>
        </p:nvSpPr>
        <p:spPr>
          <a:xfrm>
            <a:off x="7909560" y="394106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24" name="Text 18"/>
          <p:cNvSpPr txBox="1"/>
          <p:nvPr/>
        </p:nvSpPr>
        <p:spPr>
          <a:xfrm>
            <a:off x="8046720" y="394106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Dat hangt </a:t>
            </a:r>
            <a:r>
              <a:rPr lang="en-US" sz="1800" b="1" i="1" dirty="0">
                <a:solidFill>
                  <a:schemeClr val="accent3"/>
                </a:solidFill>
              </a:rPr>
              <a:t>er</a:t>
            </a:r>
            <a:r>
              <a:rPr lang="en-US" sz="1800" b="1" i="1" dirty="0">
                <a:solidFill>
                  <a:schemeClr val="accent1"/>
                </a:solidFill>
              </a:rPr>
              <a:t>van</a:t>
            </a:r>
            <a:r>
              <a:rPr lang="en-US" sz="1800" i="1" dirty="0">
                <a:solidFill>
                  <a:schemeClr val="tx1"/>
                </a:solidFill>
              </a:rPr>
              <a:t> af.</a:t>
            </a:r>
            <a:endParaRPr lang="en-US" sz="1800" dirty="0"/>
          </a:p>
        </p:txBody>
      </p:sp>
      <p:pic>
        <p:nvPicPr>
          <p:cNvPr id="25" name="Image 3" descr="potted plant">    </p:cNvPr>
          <p:cNvPicPr>
            <a:picLocks noChangeAspect="1"/>
          </p:cNvPicPr>
          <p:nvPr/>
        </p:nvPicPr>
        <p:blipFill>
          <a:blip r:embed="rId4"/>
          <a:stretch>
            <a:fillRect/>
          </a:stretch>
        </p:blipFill>
        <p:spPr>
          <a:xfrm>
            <a:off x="777240" y="4828032"/>
            <a:ext cx="594360" cy="594360"/>
          </a:xfrm>
          <a:prstGeom prst="rect">
            <a:avLst/>
          </a:prstGeom>
        </p:spPr>
      </p:pic>
      <p:sp>
        <p:nvSpPr>
          <p:cNvPr id="26" name="Text 19"/>
          <p:cNvSpPr txBox="1"/>
          <p:nvPr/>
        </p:nvSpPr>
        <p:spPr>
          <a:xfrm>
            <a:off x="1554480" y="4754880"/>
            <a:ext cx="3291840" cy="731520"/>
          </a:xfrm>
          <a:prstGeom prst="rect">
            <a:avLst/>
          </a:prstGeom>
          <a:noFill/>
          <a:ln/>
        </p:spPr>
        <p:txBody>
          <a:bodyPr wrap="square" lIns="0" tIns="0" rIns="0" bIns="0" rtlCol="0" anchor="ctr"/>
          <a:lstStyle/>
          <a:p>
            <a:pPr algn="l" indent="0" marL="0">
              <a:buNone/>
            </a:pPr>
            <a:r>
              <a:rPr lang="en-US" sz="1700" dirty="0">
                <a:solidFill>
                  <a:schemeClr val="tx1"/>
                </a:solidFill>
              </a:rPr>
              <a:t>« s’occuper </a:t>
            </a:r>
            <a:r>
              <a:rPr lang="en-US" sz="1700" b="1" dirty="0">
                <a:solidFill>
                  <a:schemeClr val="tx1"/>
                </a:solidFill>
              </a:rPr>
              <a:t>de</a:t>
            </a:r>
            <a:r>
              <a:rPr lang="en-US" sz="1700" dirty="0">
                <a:solidFill>
                  <a:schemeClr val="tx1"/>
                </a:solidFill>
              </a:rPr>
              <a:t> »</a:t>
            </a:r>
            <a:endParaRPr lang="en-US" sz="1700" dirty="0"/>
          </a:p>
        </p:txBody>
      </p:sp>
      <p:sp>
        <p:nvSpPr>
          <p:cNvPr id="27" name="Text 20"/>
          <p:cNvSpPr txBox="1"/>
          <p:nvPr/>
        </p:nvSpPr>
        <p:spPr>
          <a:xfrm>
            <a:off x="4846320" y="4754880"/>
            <a:ext cx="2651760" cy="731520"/>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zorgen van</a:t>
            </a:r>
            <a:endParaRPr lang="en-US" sz="1500" dirty="0"/>
          </a:p>
        </p:txBody>
      </p:sp>
      <p:sp>
        <p:nvSpPr>
          <p:cNvPr id="28" name="Shape 21"/>
          <p:cNvSpPr/>
          <p:nvPr/>
        </p:nvSpPr>
        <p:spPr>
          <a:xfrm>
            <a:off x="7543800" y="5120640"/>
            <a:ext cx="320040" cy="914"/>
          </a:xfrm>
          <a:prstGeom prst="line">
            <a:avLst/>
          </a:prstGeom>
          <a:noFill/>
          <a:ln w="25400">
            <a:solidFill>
              <a:srgbClr val="2E7D4F"/>
            </a:solidFill>
            <a:prstDash val="solid"/>
            <a:tailEnd type="triangle"/>
          </a:ln>
        </p:spPr>
      </p:sp>
      <p:sp>
        <p:nvSpPr>
          <p:cNvPr id="29" name="Shape 22"/>
          <p:cNvSpPr/>
          <p:nvPr/>
        </p:nvSpPr>
        <p:spPr>
          <a:xfrm>
            <a:off x="7909560" y="4809744"/>
            <a:ext cx="3566160" cy="640080"/>
          </a:xfrm>
          <a:prstGeom prst="roundRect">
            <a:avLst>
              <a:gd name="adj" fmla="val 14286"/>
            </a:avLst>
          </a:prstGeom>
          <a:solidFill>
            <a:schemeClr val="accent3">
              <a:alpha val="12000"/>
            </a:schemeClr>
          </a:solidFill>
          <a:ln w="19050">
            <a:solidFill>
              <a:srgbClr val="2E7D4F"/>
            </a:solidFill>
            <a:prstDash val="solid"/>
          </a:ln>
        </p:spPr>
      </p:sp>
      <p:sp>
        <p:nvSpPr>
          <p:cNvPr id="30" name="Text 23"/>
          <p:cNvSpPr txBox="1"/>
          <p:nvPr/>
        </p:nvSpPr>
        <p:spPr>
          <a:xfrm>
            <a:off x="8046720" y="4809744"/>
            <a:ext cx="3383280" cy="640080"/>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zorgen </a:t>
            </a:r>
            <a:r>
              <a:rPr lang="en-US" sz="1800" b="1" i="1" dirty="0">
                <a:solidFill>
                  <a:schemeClr val="accent1"/>
                </a:solidFill>
              </a:rPr>
              <a:t>voor</a:t>
            </a:r>
            <a:endParaRPr lang="en-US" sz="1800" dirty="0"/>
          </a:p>
        </p:txBody>
      </p:sp>
      <p:sp>
        <p:nvSpPr>
          <p:cNvPr id="31" name="Shape 24"/>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5"/>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de » peut devenir </a:t>
            </a:r>
            <a:r>
              <a:rPr lang="en-US" sz="1700" i="1" dirty="0">
                <a:solidFill>
                  <a:schemeClr val="bg1"/>
                </a:solidFill>
              </a:rPr>
              <a:t>van, in, voor, over, met</a:t>
            </a:r>
            <a:r>
              <a:rPr lang="en-US" sz="1700" dirty="0">
                <a:solidFill>
                  <a:schemeClr val="bg1"/>
                </a:solidFill>
              </a:rPr>
              <a:t>… Apprenez la carte « verbe + préposition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une question : waar… op ? op wie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02920"/>
          </a:xfrm>
          <a:prstGeom prst="roundRect">
            <a:avLst>
              <a:gd name="adj" fmla="val 14545"/>
            </a:avLst>
          </a:prstGeom>
          <a:solidFill>
            <a:schemeClr val="accent3"/>
          </a:solidFill>
          <a:ln w="12700">
            <a:solidFill>
              <a:srgbClr val="FFFFFF">
                <a:alpha val="0"/>
              </a:srgbClr>
            </a:solidFill>
            <a:prstDash val="solid"/>
          </a:ln>
        </p:spPr>
      </p:sp>
      <p:sp>
        <p:nvSpPr>
          <p:cNvPr id="7" name="Text 4"/>
          <p:cNvSpPr txBox="1"/>
          <p:nvPr/>
        </p:nvSpPr>
        <p:spPr>
          <a:xfrm>
            <a:off x="548640"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CHOSE</a:t>
            </a:r>
            <a:endParaRPr lang="en-US" sz="1700" dirty="0"/>
          </a:p>
        </p:txBody>
      </p:sp>
      <p:pic>
        <p:nvPicPr>
          <p:cNvPr id="8" name="Image 0" descr="spiral calendar">    </p:cNvPr>
          <p:cNvPicPr>
            <a:picLocks noChangeAspect="1"/>
          </p:cNvPicPr>
          <p:nvPr/>
        </p:nvPicPr>
        <p:blipFill>
          <a:blip r:embed="rId1"/>
          <a:stretch>
            <a:fillRect/>
          </a:stretch>
        </p:blipFill>
        <p:spPr>
          <a:xfrm>
            <a:off x="777240" y="2194560"/>
            <a:ext cx="640080" cy="640080"/>
          </a:xfrm>
          <a:prstGeom prst="rect">
            <a:avLst/>
          </a:prstGeom>
        </p:spPr>
      </p:pic>
      <p:sp>
        <p:nvSpPr>
          <p:cNvPr id="9" name="Text 5"/>
          <p:cNvSpPr txBox="1"/>
          <p:nvPr/>
        </p:nvSpPr>
        <p:spPr>
          <a:xfrm>
            <a:off x="1554480" y="2194560"/>
            <a:ext cx="4224528" cy="640080"/>
          </a:xfrm>
          <a:prstGeom prst="rect">
            <a:avLst/>
          </a:prstGeom>
          <a:noFill/>
          <a:ln/>
        </p:spPr>
        <p:txBody>
          <a:bodyPr wrap="square" lIns="0" tIns="0" rIns="0" bIns="0" rtlCol="0" anchor="ctr"/>
          <a:lstStyle/>
          <a:p>
            <a:pPr algn="l" indent="0" marL="0">
              <a:buNone/>
            </a:pPr>
            <a:r>
              <a:rPr lang="en-US" sz="1800" b="1" i="1" dirty="0">
                <a:solidFill>
                  <a:schemeClr val="accent3"/>
                </a:solidFill>
              </a:rPr>
              <a:t>waar</a:t>
            </a:r>
            <a:r>
              <a:rPr lang="en-US" sz="1800" b="1" dirty="0">
                <a:solidFill>
                  <a:schemeClr val="accent3"/>
                </a:solidFill>
              </a:rPr>
              <a:t> … préposition au bout</a:t>
            </a:r>
            <a:endParaRPr lang="en-US" sz="1800" dirty="0"/>
          </a:p>
        </p:txBody>
      </p:sp>
      <p:sp>
        <p:nvSpPr>
          <p:cNvPr id="10" name="Shape 6"/>
          <p:cNvSpPr/>
          <p:nvPr/>
        </p:nvSpPr>
        <p:spPr>
          <a:xfrm>
            <a:off x="777240"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11" name="Text 7"/>
          <p:cNvSpPr txBox="1"/>
          <p:nvPr/>
        </p:nvSpPr>
        <p:spPr>
          <a:xfrm>
            <a:off x="914400"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wacht je </a:t>
            </a:r>
            <a:r>
              <a:rPr lang="en-US" sz="1900" b="1" i="1" dirty="0">
                <a:solidFill>
                  <a:schemeClr val="accent1"/>
                </a:solidFill>
              </a:rPr>
              <a:t>op</a:t>
            </a:r>
            <a:r>
              <a:rPr lang="en-US" sz="1900" i="1" dirty="0">
                <a:solidFill>
                  <a:schemeClr val="tx1"/>
                </a:solidFill>
              </a:rPr>
              <a:t>?</a:t>
            </a:r>
            <a:endParaRPr lang="en-US" sz="1900" dirty="0"/>
          </a:p>
        </p:txBody>
      </p:sp>
      <p:sp>
        <p:nvSpPr>
          <p:cNvPr id="12" name="Text 8"/>
          <p:cNvSpPr txBox="1"/>
          <p:nvPr/>
        </p:nvSpPr>
        <p:spPr>
          <a:xfrm>
            <a:off x="3703320"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de bus.</a:t>
            </a:r>
            <a:endParaRPr lang="en-US" sz="1600" dirty="0"/>
          </a:p>
        </p:txBody>
      </p:sp>
      <p:sp>
        <p:nvSpPr>
          <p:cNvPr id="13" name="Shape 9"/>
          <p:cNvSpPr/>
          <p:nvPr/>
        </p:nvSpPr>
        <p:spPr>
          <a:xfrm>
            <a:off x="777240"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14" name="Text 10"/>
          <p:cNvSpPr txBox="1"/>
          <p:nvPr/>
        </p:nvSpPr>
        <p:spPr>
          <a:xfrm>
            <a:off x="914400"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i="1" dirty="0">
                <a:solidFill>
                  <a:schemeClr val="tx1"/>
                </a:solidFill>
              </a:rPr>
              <a:t> denk je </a:t>
            </a:r>
            <a:r>
              <a:rPr lang="en-US" sz="1900" b="1" i="1" dirty="0">
                <a:solidFill>
                  <a:schemeClr val="accent1"/>
                </a:solidFill>
              </a:rPr>
              <a:t>aan</a:t>
            </a:r>
            <a:r>
              <a:rPr lang="en-US" sz="1900" i="1" dirty="0">
                <a:solidFill>
                  <a:schemeClr val="tx1"/>
                </a:solidFill>
              </a:rPr>
              <a:t>?</a:t>
            </a:r>
            <a:endParaRPr lang="en-US" sz="1900" dirty="0"/>
          </a:p>
        </p:txBody>
      </p:sp>
      <p:sp>
        <p:nvSpPr>
          <p:cNvPr id="15" name="Text 11"/>
          <p:cNvSpPr txBox="1"/>
          <p:nvPr/>
        </p:nvSpPr>
        <p:spPr>
          <a:xfrm>
            <a:off x="3703320"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vakantie.</a:t>
            </a:r>
            <a:endParaRPr lang="en-US" sz="1600" dirty="0"/>
          </a:p>
        </p:txBody>
      </p:sp>
      <p:sp>
        <p:nvSpPr>
          <p:cNvPr id="16" name="Shape 12"/>
          <p:cNvSpPr/>
          <p:nvPr/>
        </p:nvSpPr>
        <p:spPr>
          <a:xfrm>
            <a:off x="777240"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17" name="Text 13"/>
          <p:cNvSpPr txBox="1"/>
          <p:nvPr/>
        </p:nvSpPr>
        <p:spPr>
          <a:xfrm>
            <a:off x="914400"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4"/>
                </a:solidFill>
              </a:rPr>
              <a:t>Waar</a:t>
            </a:r>
            <a:r>
              <a:rPr lang="en-US" sz="1900" b="1" i="1" dirty="0">
                <a:solidFill>
                  <a:schemeClr val="accent1"/>
                </a:solidFill>
              </a:rPr>
              <a:t>mee</a:t>
            </a:r>
            <a:r>
              <a:rPr lang="en-US" sz="1900" i="1" dirty="0">
                <a:solidFill>
                  <a:schemeClr val="tx1"/>
                </a:solidFill>
              </a:rPr>
              <a:t> betaal je?</a:t>
            </a:r>
            <a:endParaRPr lang="en-US" sz="1900" dirty="0"/>
          </a:p>
        </p:txBody>
      </p:sp>
      <p:sp>
        <p:nvSpPr>
          <p:cNvPr id="18" name="Text 14"/>
          <p:cNvSpPr txBox="1"/>
          <p:nvPr/>
        </p:nvSpPr>
        <p:spPr>
          <a:xfrm>
            <a:off x="3703320"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mijn kaart.</a:t>
            </a:r>
            <a:endParaRPr lang="en-US" sz="1600" dirty="0"/>
          </a:p>
        </p:txBody>
      </p:sp>
      <p:sp>
        <p:nvSpPr>
          <p:cNvPr id="19" name="Shape 15"/>
          <p:cNvSpPr/>
          <p:nvPr/>
        </p:nvSpPr>
        <p:spPr>
          <a:xfrm>
            <a:off x="6227064" y="1554480"/>
            <a:ext cx="5413248" cy="3931920"/>
          </a:xfrm>
          <a:prstGeom prst="roundRect">
            <a:avLst>
              <a:gd name="adj" fmla="val 186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0" name="Shape 16"/>
          <p:cNvSpPr/>
          <p:nvPr/>
        </p:nvSpPr>
        <p:spPr>
          <a:xfrm>
            <a:off x="6227064" y="1554480"/>
            <a:ext cx="5413248" cy="502920"/>
          </a:xfrm>
          <a:prstGeom prst="roundRect">
            <a:avLst>
              <a:gd name="adj" fmla="val 14545"/>
            </a:avLst>
          </a:prstGeom>
          <a:solidFill>
            <a:schemeClr val="accent2"/>
          </a:solidFill>
          <a:ln w="12700">
            <a:solidFill>
              <a:srgbClr val="FFFFFF">
                <a:alpha val="0"/>
              </a:srgbClr>
            </a:solidFill>
            <a:prstDash val="solid"/>
          </a:ln>
        </p:spPr>
      </p:sp>
      <p:sp>
        <p:nvSpPr>
          <p:cNvPr id="21" name="Text 17"/>
          <p:cNvSpPr txBox="1"/>
          <p:nvPr/>
        </p:nvSpPr>
        <p:spPr>
          <a:xfrm>
            <a:off x="6227064" y="1554480"/>
            <a:ext cx="5413248" cy="502920"/>
          </a:xfrm>
          <a:prstGeom prst="rect">
            <a:avLst/>
          </a:prstGeom>
          <a:noFill/>
          <a:ln/>
        </p:spPr>
        <p:txBody>
          <a:bodyPr wrap="square" lIns="0" tIns="0" rIns="0" bIns="0" rtlCol="0" anchor="ctr"/>
          <a:lstStyle/>
          <a:p>
            <a:pPr algn="ctr" indent="0" marL="0">
              <a:buNone/>
            </a:pPr>
            <a:r>
              <a:rPr lang="en-US" sz="1700" b="1" spc="200" kern="0" dirty="0">
                <a:solidFill>
                  <a:schemeClr val="bg1"/>
                </a:solidFill>
              </a:rPr>
              <a:t>UNE PERSONNE</a:t>
            </a:r>
            <a:endParaRPr lang="en-US" sz="1700" dirty="0"/>
          </a:p>
        </p:txBody>
      </p:sp>
      <p:pic>
        <p:nvPicPr>
          <p:cNvPr id="22" name="Image 1" descr="busts in silhouette">    </p:cNvPr>
          <p:cNvPicPr>
            <a:picLocks noChangeAspect="1"/>
          </p:cNvPicPr>
          <p:nvPr/>
        </p:nvPicPr>
        <p:blipFill>
          <a:blip r:embed="rId2"/>
          <a:stretch>
            <a:fillRect/>
          </a:stretch>
        </p:blipFill>
        <p:spPr>
          <a:xfrm>
            <a:off x="6455664" y="2194560"/>
            <a:ext cx="640080" cy="640080"/>
          </a:xfrm>
          <a:prstGeom prst="rect">
            <a:avLst/>
          </a:prstGeom>
        </p:spPr>
      </p:pic>
      <p:sp>
        <p:nvSpPr>
          <p:cNvPr id="23" name="Text 18"/>
          <p:cNvSpPr txBox="1"/>
          <p:nvPr/>
        </p:nvSpPr>
        <p:spPr>
          <a:xfrm>
            <a:off x="7232904" y="2194560"/>
            <a:ext cx="4224528" cy="640080"/>
          </a:xfrm>
          <a:prstGeom prst="rect">
            <a:avLst/>
          </a:prstGeom>
          <a:noFill/>
          <a:ln/>
        </p:spPr>
        <p:txBody>
          <a:bodyPr wrap="square" lIns="0" tIns="0" rIns="0" bIns="0" rtlCol="0" anchor="ctr"/>
          <a:lstStyle/>
          <a:p>
            <a:pPr algn="l" indent="0" marL="0">
              <a:buNone/>
            </a:pPr>
            <a:r>
              <a:rPr lang="en-US" sz="1800" b="1" dirty="0">
                <a:solidFill>
                  <a:schemeClr val="accent2"/>
                </a:solidFill>
              </a:rPr>
              <a:t>préposition + </a:t>
            </a:r>
            <a:r>
              <a:rPr lang="en-US" sz="1800" b="1" i="1" dirty="0">
                <a:solidFill>
                  <a:schemeClr val="accent2"/>
                </a:solidFill>
              </a:rPr>
              <a:t>wie</a:t>
            </a:r>
            <a:endParaRPr lang="en-US" sz="1800" dirty="0"/>
          </a:p>
        </p:txBody>
      </p:sp>
      <p:sp>
        <p:nvSpPr>
          <p:cNvPr id="24" name="Shape 19"/>
          <p:cNvSpPr/>
          <p:nvPr/>
        </p:nvSpPr>
        <p:spPr>
          <a:xfrm>
            <a:off x="6455664" y="3017520"/>
            <a:ext cx="4956048" cy="685800"/>
          </a:xfrm>
          <a:prstGeom prst="roundRect">
            <a:avLst>
              <a:gd name="adj" fmla="val 10667"/>
            </a:avLst>
          </a:prstGeom>
          <a:solidFill>
            <a:schemeClr val="bg2"/>
          </a:solidFill>
          <a:ln w="12700">
            <a:solidFill>
              <a:srgbClr val="FFFFFF">
                <a:alpha val="0"/>
              </a:srgbClr>
            </a:solidFill>
            <a:prstDash val="solid"/>
          </a:ln>
        </p:spPr>
      </p:sp>
      <p:sp>
        <p:nvSpPr>
          <p:cNvPr id="25" name="Text 20"/>
          <p:cNvSpPr txBox="1"/>
          <p:nvPr/>
        </p:nvSpPr>
        <p:spPr>
          <a:xfrm>
            <a:off x="6592824" y="3017520"/>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Op</a:t>
            </a:r>
            <a:r>
              <a:rPr lang="en-US" sz="1900" i="1" dirty="0">
                <a:solidFill>
                  <a:schemeClr val="tx1"/>
                </a:solidFill>
              </a:rPr>
              <a:t> </a:t>
            </a:r>
            <a:r>
              <a:rPr lang="en-US" sz="1900" b="1" i="1" dirty="0">
                <a:solidFill>
                  <a:schemeClr val="accent2"/>
                </a:solidFill>
              </a:rPr>
              <a:t>wie</a:t>
            </a:r>
            <a:r>
              <a:rPr lang="en-US" sz="1900" i="1" dirty="0">
                <a:solidFill>
                  <a:schemeClr val="tx1"/>
                </a:solidFill>
              </a:rPr>
              <a:t> wacht je?</a:t>
            </a:r>
            <a:endParaRPr lang="en-US" sz="1900" dirty="0"/>
          </a:p>
        </p:txBody>
      </p:sp>
      <p:sp>
        <p:nvSpPr>
          <p:cNvPr id="26" name="Text 21"/>
          <p:cNvSpPr txBox="1"/>
          <p:nvPr/>
        </p:nvSpPr>
        <p:spPr>
          <a:xfrm>
            <a:off x="9381744" y="3017520"/>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Op An.</a:t>
            </a:r>
            <a:endParaRPr lang="en-US" sz="1600" dirty="0"/>
          </a:p>
        </p:txBody>
      </p:sp>
      <p:sp>
        <p:nvSpPr>
          <p:cNvPr id="27" name="Shape 22"/>
          <p:cNvSpPr/>
          <p:nvPr/>
        </p:nvSpPr>
        <p:spPr>
          <a:xfrm>
            <a:off x="6455664" y="3822192"/>
            <a:ext cx="4956048" cy="685800"/>
          </a:xfrm>
          <a:prstGeom prst="roundRect">
            <a:avLst>
              <a:gd name="adj" fmla="val 10667"/>
            </a:avLst>
          </a:prstGeom>
          <a:solidFill>
            <a:schemeClr val="bg2"/>
          </a:solidFill>
          <a:ln w="12700">
            <a:solidFill>
              <a:srgbClr val="FFFFFF">
                <a:alpha val="0"/>
              </a:srgbClr>
            </a:solidFill>
            <a:prstDash val="solid"/>
          </a:ln>
        </p:spPr>
      </p:sp>
      <p:sp>
        <p:nvSpPr>
          <p:cNvPr id="28" name="Text 23"/>
          <p:cNvSpPr txBox="1"/>
          <p:nvPr/>
        </p:nvSpPr>
        <p:spPr>
          <a:xfrm>
            <a:off x="6592824" y="3822192"/>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Aan</a:t>
            </a:r>
            <a:r>
              <a:rPr lang="en-US" sz="1900" i="1" dirty="0">
                <a:solidFill>
                  <a:schemeClr val="tx1"/>
                </a:solidFill>
              </a:rPr>
              <a:t> </a:t>
            </a:r>
            <a:r>
              <a:rPr lang="en-US" sz="1900" b="1" i="1" dirty="0">
                <a:solidFill>
                  <a:schemeClr val="accent2"/>
                </a:solidFill>
              </a:rPr>
              <a:t>wie</a:t>
            </a:r>
            <a:r>
              <a:rPr lang="en-US" sz="1900" i="1" dirty="0">
                <a:solidFill>
                  <a:schemeClr val="tx1"/>
                </a:solidFill>
              </a:rPr>
              <a:t> denk je?</a:t>
            </a:r>
            <a:endParaRPr lang="en-US" sz="1900" dirty="0"/>
          </a:p>
        </p:txBody>
      </p:sp>
      <p:sp>
        <p:nvSpPr>
          <p:cNvPr id="29" name="Text 24"/>
          <p:cNvSpPr txBox="1"/>
          <p:nvPr/>
        </p:nvSpPr>
        <p:spPr>
          <a:xfrm>
            <a:off x="9381744" y="3822192"/>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Aan mijn moeder.</a:t>
            </a:r>
            <a:endParaRPr lang="en-US" sz="1600" dirty="0"/>
          </a:p>
        </p:txBody>
      </p:sp>
      <p:sp>
        <p:nvSpPr>
          <p:cNvPr id="30" name="Shape 25"/>
          <p:cNvSpPr/>
          <p:nvPr/>
        </p:nvSpPr>
        <p:spPr>
          <a:xfrm>
            <a:off x="6455664" y="4626864"/>
            <a:ext cx="4956048" cy="685800"/>
          </a:xfrm>
          <a:prstGeom prst="roundRect">
            <a:avLst>
              <a:gd name="adj" fmla="val 10667"/>
            </a:avLst>
          </a:prstGeom>
          <a:solidFill>
            <a:schemeClr val="bg2"/>
          </a:solidFill>
          <a:ln w="12700">
            <a:solidFill>
              <a:srgbClr val="FFFFFF">
                <a:alpha val="0"/>
              </a:srgbClr>
            </a:solidFill>
            <a:prstDash val="solid"/>
          </a:ln>
        </p:spPr>
      </p:sp>
      <p:sp>
        <p:nvSpPr>
          <p:cNvPr id="31" name="Text 26"/>
          <p:cNvSpPr txBox="1"/>
          <p:nvPr/>
        </p:nvSpPr>
        <p:spPr>
          <a:xfrm>
            <a:off x="6592824" y="4626864"/>
            <a:ext cx="2834640" cy="685800"/>
          </a:xfrm>
          <a:prstGeom prst="rect">
            <a:avLst/>
          </a:prstGeom>
          <a:noFill/>
          <a:ln/>
        </p:spPr>
        <p:txBody>
          <a:bodyPr wrap="square" lIns="0" tIns="0" rIns="0" bIns="0" rtlCol="0" anchor="ctr"/>
          <a:lstStyle/>
          <a:p>
            <a:pPr algn="l" indent="0" marL="0">
              <a:buNone/>
            </a:pPr>
            <a:r>
              <a:rPr lang="en-US" sz="1900" b="1" i="1" dirty="0">
                <a:solidFill>
                  <a:schemeClr val="accent1"/>
                </a:solidFill>
              </a:rPr>
              <a:t>Met</a:t>
            </a:r>
            <a:r>
              <a:rPr lang="en-US" sz="1900" i="1" dirty="0">
                <a:solidFill>
                  <a:schemeClr val="tx1"/>
                </a:solidFill>
              </a:rPr>
              <a:t> </a:t>
            </a:r>
            <a:r>
              <a:rPr lang="en-US" sz="1900" b="1" i="1" dirty="0">
                <a:solidFill>
                  <a:schemeClr val="accent2"/>
                </a:solidFill>
              </a:rPr>
              <a:t>wie</a:t>
            </a:r>
            <a:r>
              <a:rPr lang="en-US" sz="1900" i="1" dirty="0">
                <a:solidFill>
                  <a:schemeClr val="tx1"/>
                </a:solidFill>
              </a:rPr>
              <a:t> praat je?</a:t>
            </a:r>
            <a:endParaRPr lang="en-US" sz="1900" dirty="0"/>
          </a:p>
        </p:txBody>
      </p:sp>
      <p:sp>
        <p:nvSpPr>
          <p:cNvPr id="32" name="Text 27"/>
          <p:cNvSpPr txBox="1"/>
          <p:nvPr/>
        </p:nvSpPr>
        <p:spPr>
          <a:xfrm>
            <a:off x="9381744" y="4626864"/>
            <a:ext cx="1984248" cy="685800"/>
          </a:xfrm>
          <a:prstGeom prst="rect">
            <a:avLst/>
          </a:prstGeom>
          <a:noFill/>
          <a:ln/>
        </p:spPr>
        <p:txBody>
          <a:bodyPr wrap="square" lIns="0" tIns="0" rIns="0" bIns="0" rtlCol="0" anchor="ctr"/>
          <a:lstStyle/>
          <a:p>
            <a:pPr algn="l" indent="0" marL="0">
              <a:buNone/>
            </a:pPr>
            <a:r>
              <a:rPr lang="en-US" sz="1600" i="1" dirty="0">
                <a:solidFill>
                  <a:schemeClr val="accent5"/>
                </a:solidFill>
              </a:rPr>
              <a:t>Met Sofie.</a:t>
            </a:r>
            <a:endParaRPr lang="en-US" sz="1600" dirty="0"/>
          </a:p>
        </p:txBody>
      </p:sp>
      <p:sp>
        <p:nvSpPr>
          <p:cNvPr id="33" name="Shape 28"/>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34"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La réponse courte reprend la préposition : </a:t>
            </a:r>
            <a:r>
              <a:rPr lang="en-US" sz="1700" i="1" dirty="0">
                <a:solidFill>
                  <a:schemeClr val="bg1"/>
                </a:solidFill>
              </a:rPr>
              <a:t>Op de bus. · Met Sofie.</a:t>
            </a:r>
            <a:r>
              <a:rPr lang="en-US" sz="1700" dirty="0">
                <a:solidFill>
                  <a:schemeClr val="bg1"/>
                </a:solidFill>
              </a:rPr>
              <a:t> Collé, plus formel : </a:t>
            </a:r>
            <a:r>
              <a:rPr lang="en-US" sz="1700" i="1" dirty="0">
                <a:solidFill>
                  <a:schemeClr val="bg1"/>
                </a:solidFill>
              </a:rPr>
              <a:t>Waarop wacht je?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relative : waarmee, waarover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pen">    </p:cNvPr>
          <p:cNvPicPr>
            <a:picLocks noChangeAspect="1"/>
          </p:cNvPicPr>
          <p:nvPr/>
        </p:nvPicPr>
        <p:blipFill>
          <a:blip r:embed="rId1"/>
          <a:stretch>
            <a:fillRect/>
          </a:stretch>
        </p:blipFill>
        <p:spPr>
          <a:xfrm>
            <a:off x="548640" y="1645920"/>
            <a:ext cx="640080" cy="640080"/>
          </a:xfrm>
          <a:prstGeom prst="rect">
            <a:avLst/>
          </a:prstGeom>
        </p:spPr>
      </p:pic>
      <p:sp>
        <p:nvSpPr>
          <p:cNvPr id="6" name="Shape 2"/>
          <p:cNvSpPr/>
          <p:nvPr/>
        </p:nvSpPr>
        <p:spPr>
          <a:xfrm>
            <a:off x="1371600" y="1600200"/>
            <a:ext cx="1920240" cy="713232"/>
          </a:xfrm>
          <a:prstGeom prst="roundRect">
            <a:avLst>
              <a:gd name="adj" fmla="val 10256"/>
            </a:avLst>
          </a:prstGeom>
          <a:solidFill>
            <a:schemeClr val="bg1"/>
          </a:solidFill>
          <a:ln w="15875">
            <a:solidFill>
              <a:srgbClr val="D5DCE6"/>
            </a:solidFill>
            <a:prstDash val="solid"/>
          </a:ln>
        </p:spPr>
      </p:sp>
      <p:sp>
        <p:nvSpPr>
          <p:cNvPr id="7" name="Text 3"/>
          <p:cNvSpPr txBox="1"/>
          <p:nvPr/>
        </p:nvSpPr>
        <p:spPr>
          <a:xfrm>
            <a:off x="1371600" y="16002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pen</a:t>
            </a:r>
            <a:endParaRPr lang="en-US" sz="2200" dirty="0"/>
          </a:p>
        </p:txBody>
      </p:sp>
      <p:sp>
        <p:nvSpPr>
          <p:cNvPr id="8" name="Shape 4"/>
          <p:cNvSpPr/>
          <p:nvPr/>
        </p:nvSpPr>
        <p:spPr>
          <a:xfrm>
            <a:off x="3383280" y="1600200"/>
            <a:ext cx="1737360" cy="713232"/>
          </a:xfrm>
          <a:prstGeom prst="roundRect">
            <a:avLst>
              <a:gd name="adj" fmla="val 10256"/>
            </a:avLst>
          </a:prstGeom>
          <a:solidFill>
            <a:schemeClr val="accent4"/>
          </a:solidFill>
          <a:ln w="12700">
            <a:solidFill>
              <a:srgbClr val="FFFFFF">
                <a:alpha val="0"/>
              </a:srgbClr>
            </a:solidFill>
            <a:prstDash val="solid"/>
          </a:ln>
        </p:spPr>
      </p:sp>
      <p:sp>
        <p:nvSpPr>
          <p:cNvPr id="9" name="Text 5"/>
          <p:cNvSpPr txBox="1"/>
          <p:nvPr/>
        </p:nvSpPr>
        <p:spPr>
          <a:xfrm>
            <a:off x="3383280" y="16002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waarmee</a:t>
            </a:r>
            <a:endParaRPr lang="en-US" sz="2200" dirty="0"/>
          </a:p>
        </p:txBody>
      </p:sp>
      <p:sp>
        <p:nvSpPr>
          <p:cNvPr id="10" name="Shape 6"/>
          <p:cNvSpPr/>
          <p:nvPr/>
        </p:nvSpPr>
        <p:spPr>
          <a:xfrm>
            <a:off x="5212080" y="1600200"/>
            <a:ext cx="640080" cy="713232"/>
          </a:xfrm>
          <a:prstGeom prst="roundRect">
            <a:avLst>
              <a:gd name="adj" fmla="val 11429"/>
            </a:avLst>
          </a:prstGeom>
          <a:solidFill>
            <a:srgbClr val="FDF1E6"/>
          </a:solidFill>
          <a:ln w="15875">
            <a:solidFill>
              <a:srgbClr val="D9700F"/>
            </a:solidFill>
            <a:prstDash val="solid"/>
          </a:ln>
        </p:spPr>
      </p:sp>
      <p:sp>
        <p:nvSpPr>
          <p:cNvPr id="11" name="Text 7"/>
          <p:cNvSpPr txBox="1"/>
          <p:nvPr/>
        </p:nvSpPr>
        <p:spPr>
          <a:xfrm>
            <a:off x="5212080" y="16002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8"/>
          <p:cNvSpPr/>
          <p:nvPr/>
        </p:nvSpPr>
        <p:spPr>
          <a:xfrm>
            <a:off x="5943600" y="1600200"/>
            <a:ext cx="1371600" cy="713232"/>
          </a:xfrm>
          <a:prstGeom prst="roundRect">
            <a:avLst>
              <a:gd name="adj" fmla="val 10256"/>
            </a:avLst>
          </a:prstGeom>
          <a:solidFill>
            <a:srgbClr val="FBEDEB"/>
          </a:solidFill>
          <a:ln w="31750">
            <a:solidFill>
              <a:srgbClr val="B83227"/>
            </a:solidFill>
            <a:prstDash val="solid"/>
          </a:ln>
        </p:spPr>
      </p:sp>
      <p:sp>
        <p:nvSpPr>
          <p:cNvPr id="13" name="Text 9"/>
          <p:cNvSpPr txBox="1"/>
          <p:nvPr/>
        </p:nvSpPr>
        <p:spPr>
          <a:xfrm>
            <a:off x="5943600" y="16002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schrijf</a:t>
            </a:r>
            <a:endParaRPr lang="en-US" sz="2200" dirty="0"/>
          </a:p>
        </p:txBody>
      </p:sp>
      <p:pic>
        <p:nvPicPr>
          <p:cNvPr id="14" name="Image 1" descr="file folder">    </p:cNvPr>
          <p:cNvPicPr>
            <a:picLocks noChangeAspect="1"/>
          </p:cNvPicPr>
          <p:nvPr/>
        </p:nvPicPr>
        <p:blipFill>
          <a:blip r:embed="rId2"/>
          <a:stretch>
            <a:fillRect/>
          </a:stretch>
        </p:blipFill>
        <p:spPr>
          <a:xfrm>
            <a:off x="548640" y="2560320"/>
            <a:ext cx="640080" cy="640080"/>
          </a:xfrm>
          <a:prstGeom prst="rect">
            <a:avLst/>
          </a:prstGeom>
        </p:spPr>
      </p:pic>
      <p:sp>
        <p:nvSpPr>
          <p:cNvPr id="15" name="Shape 10"/>
          <p:cNvSpPr/>
          <p:nvPr/>
        </p:nvSpPr>
        <p:spPr>
          <a:xfrm>
            <a:off x="1371600" y="2514600"/>
            <a:ext cx="1920240" cy="713232"/>
          </a:xfrm>
          <a:prstGeom prst="roundRect">
            <a:avLst>
              <a:gd name="adj" fmla="val 10256"/>
            </a:avLst>
          </a:prstGeom>
          <a:solidFill>
            <a:schemeClr val="bg1"/>
          </a:solidFill>
          <a:ln w="15875">
            <a:solidFill>
              <a:srgbClr val="D5DCE6"/>
            </a:solidFill>
            <a:prstDash val="solid"/>
          </a:ln>
        </p:spPr>
      </p:sp>
      <p:sp>
        <p:nvSpPr>
          <p:cNvPr id="16" name="Text 11"/>
          <p:cNvSpPr txBox="1"/>
          <p:nvPr/>
        </p:nvSpPr>
        <p:spPr>
          <a:xfrm>
            <a:off x="1371600" y="25146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het project</a:t>
            </a:r>
            <a:endParaRPr lang="en-US" sz="2200" dirty="0"/>
          </a:p>
        </p:txBody>
      </p:sp>
      <p:sp>
        <p:nvSpPr>
          <p:cNvPr id="17" name="Shape 12"/>
          <p:cNvSpPr/>
          <p:nvPr/>
        </p:nvSpPr>
        <p:spPr>
          <a:xfrm>
            <a:off x="3383280" y="2514600"/>
            <a:ext cx="1737360" cy="713232"/>
          </a:xfrm>
          <a:prstGeom prst="roundRect">
            <a:avLst>
              <a:gd name="adj" fmla="val 10256"/>
            </a:avLst>
          </a:prstGeom>
          <a:solidFill>
            <a:schemeClr val="accent4"/>
          </a:solidFill>
          <a:ln w="12700">
            <a:solidFill>
              <a:srgbClr val="FFFFFF">
                <a:alpha val="0"/>
              </a:srgbClr>
            </a:solidFill>
            <a:prstDash val="solid"/>
          </a:ln>
        </p:spPr>
      </p:sp>
      <p:sp>
        <p:nvSpPr>
          <p:cNvPr id="18" name="Text 13"/>
          <p:cNvSpPr txBox="1"/>
          <p:nvPr/>
        </p:nvSpPr>
        <p:spPr>
          <a:xfrm>
            <a:off x="3383280" y="25146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waaraan</a:t>
            </a:r>
            <a:endParaRPr lang="en-US" sz="2200" dirty="0"/>
          </a:p>
        </p:txBody>
      </p:sp>
      <p:sp>
        <p:nvSpPr>
          <p:cNvPr id="19" name="Shape 14"/>
          <p:cNvSpPr/>
          <p:nvPr/>
        </p:nvSpPr>
        <p:spPr>
          <a:xfrm>
            <a:off x="5212080" y="2514600"/>
            <a:ext cx="640080" cy="713232"/>
          </a:xfrm>
          <a:prstGeom prst="roundRect">
            <a:avLst>
              <a:gd name="adj" fmla="val 11429"/>
            </a:avLst>
          </a:prstGeom>
          <a:solidFill>
            <a:srgbClr val="FDF1E6"/>
          </a:solidFill>
          <a:ln w="15875">
            <a:solidFill>
              <a:srgbClr val="D9700F"/>
            </a:solidFill>
            <a:prstDash val="solid"/>
          </a:ln>
        </p:spPr>
      </p:sp>
      <p:sp>
        <p:nvSpPr>
          <p:cNvPr id="20" name="Text 15"/>
          <p:cNvSpPr txBox="1"/>
          <p:nvPr/>
        </p:nvSpPr>
        <p:spPr>
          <a:xfrm>
            <a:off x="5212080" y="25146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1" name="Shape 16"/>
          <p:cNvSpPr/>
          <p:nvPr/>
        </p:nvSpPr>
        <p:spPr>
          <a:xfrm>
            <a:off x="5943600" y="2514600"/>
            <a:ext cx="1371600" cy="713232"/>
          </a:xfrm>
          <a:prstGeom prst="roundRect">
            <a:avLst>
              <a:gd name="adj" fmla="val 10256"/>
            </a:avLst>
          </a:prstGeom>
          <a:solidFill>
            <a:srgbClr val="FBEDEB"/>
          </a:solidFill>
          <a:ln w="31750">
            <a:solidFill>
              <a:srgbClr val="B83227"/>
            </a:solidFill>
            <a:prstDash val="solid"/>
          </a:ln>
        </p:spPr>
      </p:sp>
      <p:sp>
        <p:nvSpPr>
          <p:cNvPr id="22" name="Text 17"/>
          <p:cNvSpPr txBox="1"/>
          <p:nvPr/>
        </p:nvSpPr>
        <p:spPr>
          <a:xfrm>
            <a:off x="5943600" y="25146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werk</a:t>
            </a:r>
            <a:endParaRPr lang="en-US" sz="2200" dirty="0"/>
          </a:p>
        </p:txBody>
      </p:sp>
      <p:pic>
        <p:nvPicPr>
          <p:cNvPr id="23" name="Image 2" descr="chair">    </p:cNvPr>
          <p:cNvPicPr>
            <a:picLocks noChangeAspect="1"/>
          </p:cNvPicPr>
          <p:nvPr/>
        </p:nvPicPr>
        <p:blipFill>
          <a:blip r:embed="rId3"/>
          <a:stretch>
            <a:fillRect/>
          </a:stretch>
        </p:blipFill>
        <p:spPr>
          <a:xfrm>
            <a:off x="548640" y="3474720"/>
            <a:ext cx="640080" cy="640080"/>
          </a:xfrm>
          <a:prstGeom prst="rect">
            <a:avLst/>
          </a:prstGeom>
        </p:spPr>
      </p:pic>
      <p:sp>
        <p:nvSpPr>
          <p:cNvPr id="24" name="Shape 18"/>
          <p:cNvSpPr/>
          <p:nvPr/>
        </p:nvSpPr>
        <p:spPr>
          <a:xfrm>
            <a:off x="1371600" y="3429000"/>
            <a:ext cx="1920240" cy="713232"/>
          </a:xfrm>
          <a:prstGeom prst="roundRect">
            <a:avLst>
              <a:gd name="adj" fmla="val 10256"/>
            </a:avLst>
          </a:prstGeom>
          <a:solidFill>
            <a:schemeClr val="bg1"/>
          </a:solidFill>
          <a:ln w="15875">
            <a:solidFill>
              <a:srgbClr val="D5DCE6"/>
            </a:solidFill>
            <a:prstDash val="solid"/>
          </a:ln>
        </p:spPr>
      </p:sp>
      <p:sp>
        <p:nvSpPr>
          <p:cNvPr id="25" name="Text 19"/>
          <p:cNvSpPr txBox="1"/>
          <p:nvPr/>
        </p:nvSpPr>
        <p:spPr>
          <a:xfrm>
            <a:off x="1371600" y="3429000"/>
            <a:ext cx="1920240" cy="713232"/>
          </a:xfrm>
          <a:prstGeom prst="rect">
            <a:avLst/>
          </a:prstGeom>
          <a:noFill/>
          <a:ln/>
        </p:spPr>
        <p:txBody>
          <a:bodyPr wrap="square" lIns="0" tIns="0" rIns="0" bIns="0" rtlCol="0" anchor="ctr"/>
          <a:lstStyle/>
          <a:p>
            <a:pPr algn="ctr" indent="0" marL="0">
              <a:buNone/>
            </a:pPr>
            <a:r>
              <a:rPr lang="en-US" sz="2200" dirty="0">
                <a:solidFill>
                  <a:schemeClr val="tx1"/>
                </a:solidFill>
              </a:rPr>
              <a:t>de stoel</a:t>
            </a:r>
            <a:endParaRPr lang="en-US" sz="2200" dirty="0"/>
          </a:p>
        </p:txBody>
      </p:sp>
      <p:sp>
        <p:nvSpPr>
          <p:cNvPr id="26" name="Shape 20"/>
          <p:cNvSpPr/>
          <p:nvPr/>
        </p:nvSpPr>
        <p:spPr>
          <a:xfrm>
            <a:off x="3383280" y="3429000"/>
            <a:ext cx="1737360" cy="713232"/>
          </a:xfrm>
          <a:prstGeom prst="roundRect">
            <a:avLst>
              <a:gd name="adj" fmla="val 10256"/>
            </a:avLst>
          </a:prstGeom>
          <a:solidFill>
            <a:schemeClr val="accent4"/>
          </a:solidFill>
          <a:ln w="12700">
            <a:solidFill>
              <a:srgbClr val="FFFFFF">
                <a:alpha val="0"/>
              </a:srgbClr>
            </a:solidFill>
            <a:prstDash val="solid"/>
          </a:ln>
        </p:spPr>
      </p:sp>
      <p:sp>
        <p:nvSpPr>
          <p:cNvPr id="27" name="Text 21"/>
          <p:cNvSpPr txBox="1"/>
          <p:nvPr/>
        </p:nvSpPr>
        <p:spPr>
          <a:xfrm>
            <a:off x="3383280" y="3429000"/>
            <a:ext cx="1737360" cy="713232"/>
          </a:xfrm>
          <a:prstGeom prst="rect">
            <a:avLst/>
          </a:prstGeom>
          <a:noFill/>
          <a:ln/>
        </p:spPr>
        <p:txBody>
          <a:bodyPr wrap="square" lIns="0" tIns="0" rIns="0" bIns="0" rtlCol="0" anchor="ctr"/>
          <a:lstStyle/>
          <a:p>
            <a:pPr algn="ctr" indent="0" marL="0">
              <a:buNone/>
            </a:pPr>
            <a:r>
              <a:rPr lang="en-US" sz="2200" b="1" dirty="0">
                <a:solidFill>
                  <a:schemeClr val="bg1"/>
                </a:solidFill>
              </a:rPr>
              <a:t>waarop</a:t>
            </a:r>
            <a:endParaRPr lang="en-US" sz="2200" dirty="0"/>
          </a:p>
        </p:txBody>
      </p:sp>
      <p:sp>
        <p:nvSpPr>
          <p:cNvPr id="28" name="Shape 22"/>
          <p:cNvSpPr/>
          <p:nvPr/>
        </p:nvSpPr>
        <p:spPr>
          <a:xfrm>
            <a:off x="5212080" y="3429000"/>
            <a:ext cx="640080" cy="713232"/>
          </a:xfrm>
          <a:prstGeom prst="roundRect">
            <a:avLst>
              <a:gd name="adj" fmla="val 11429"/>
            </a:avLst>
          </a:prstGeom>
          <a:solidFill>
            <a:srgbClr val="FDF1E6"/>
          </a:solidFill>
          <a:ln w="15875">
            <a:solidFill>
              <a:srgbClr val="D9700F"/>
            </a:solidFill>
            <a:prstDash val="solid"/>
          </a:ln>
        </p:spPr>
      </p:sp>
      <p:sp>
        <p:nvSpPr>
          <p:cNvPr id="29" name="Text 23"/>
          <p:cNvSpPr txBox="1"/>
          <p:nvPr/>
        </p:nvSpPr>
        <p:spPr>
          <a:xfrm>
            <a:off x="5212080" y="3429000"/>
            <a:ext cx="640080" cy="713232"/>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30" name="Shape 24"/>
          <p:cNvSpPr/>
          <p:nvPr/>
        </p:nvSpPr>
        <p:spPr>
          <a:xfrm>
            <a:off x="5943600" y="3429000"/>
            <a:ext cx="1371600" cy="713232"/>
          </a:xfrm>
          <a:prstGeom prst="roundRect">
            <a:avLst>
              <a:gd name="adj" fmla="val 10256"/>
            </a:avLst>
          </a:prstGeom>
          <a:solidFill>
            <a:srgbClr val="FBEDEB"/>
          </a:solidFill>
          <a:ln w="31750">
            <a:solidFill>
              <a:srgbClr val="B83227"/>
            </a:solidFill>
            <a:prstDash val="solid"/>
          </a:ln>
        </p:spPr>
      </p:sp>
      <p:sp>
        <p:nvSpPr>
          <p:cNvPr id="31" name="Text 25"/>
          <p:cNvSpPr txBox="1"/>
          <p:nvPr/>
        </p:nvSpPr>
        <p:spPr>
          <a:xfrm>
            <a:off x="5943600" y="3429000"/>
            <a:ext cx="1371600" cy="713232"/>
          </a:xfrm>
          <a:prstGeom prst="rect">
            <a:avLst/>
          </a:prstGeom>
          <a:noFill/>
          <a:ln/>
        </p:spPr>
        <p:txBody>
          <a:bodyPr wrap="square" lIns="0" tIns="0" rIns="0" bIns="0" rtlCol="0" anchor="ctr"/>
          <a:lstStyle/>
          <a:p>
            <a:pPr algn="ctr" indent="0" marL="0">
              <a:buNone/>
            </a:pPr>
            <a:r>
              <a:rPr lang="en-US" sz="2200" b="1" dirty="0">
                <a:solidFill>
                  <a:schemeClr val="accent6"/>
                </a:solidFill>
              </a:rPr>
              <a:t>zit</a:t>
            </a:r>
            <a:endParaRPr lang="en-US" sz="2200" dirty="0"/>
          </a:p>
        </p:txBody>
      </p:sp>
      <p:sp>
        <p:nvSpPr>
          <p:cNvPr id="32" name="Text 26"/>
          <p:cNvSpPr txBox="1"/>
          <p:nvPr/>
        </p:nvSpPr>
        <p:spPr>
          <a:xfrm>
            <a:off x="1371600" y="4389120"/>
            <a:ext cx="6035040" cy="292608"/>
          </a:xfrm>
          <a:prstGeom prst="rect">
            <a:avLst/>
          </a:prstGeom>
          <a:noFill/>
          <a:ln/>
        </p:spPr>
        <p:txBody>
          <a:bodyPr wrap="square" lIns="0" tIns="0" rIns="0" bIns="0" rtlCol="0" anchor="t"/>
          <a:lstStyle/>
          <a:p>
            <a:pPr algn="l" indent="0" marL="0">
              <a:buNone/>
            </a:pPr>
            <a:r>
              <a:rPr lang="en-US" sz="1200" b="1" spc="200" kern="0" dirty="0">
                <a:solidFill>
                  <a:schemeClr val="accent1"/>
                </a:solidFill>
              </a:rPr>
              <a:t>LE WAGON (M9, M22)</a:t>
            </a:r>
            <a:endParaRPr lang="en-US" sz="1200" dirty="0"/>
          </a:p>
        </p:txBody>
      </p:sp>
      <p:sp>
        <p:nvSpPr>
          <p:cNvPr id="33" name="Text 27"/>
          <p:cNvSpPr txBox="1"/>
          <p:nvPr/>
        </p:nvSpPr>
        <p:spPr>
          <a:xfrm>
            <a:off x="1371600" y="4663440"/>
            <a:ext cx="6035040" cy="411480"/>
          </a:xfrm>
          <a:prstGeom prst="rect">
            <a:avLst/>
          </a:prstGeom>
          <a:noFill/>
          <a:ln/>
        </p:spPr>
        <p:txBody>
          <a:bodyPr wrap="square" lIns="0" tIns="0" rIns="0" bIns="0" rtlCol="0" anchor="t"/>
          <a:lstStyle/>
          <a:p>
            <a:pPr algn="l" indent="0" marL="0">
              <a:buNone/>
            </a:pPr>
            <a:r>
              <a:rPr lang="en-US" sz="1600" i="1" dirty="0">
                <a:solidFill>
                  <a:schemeClr val="accent5"/>
                </a:solidFill>
              </a:rPr>
              <a:t>nom → </a:t>
            </a:r>
            <a:r>
              <a:rPr lang="en-US" sz="1600" i="1" dirty="0">
                <a:solidFill>
                  <a:schemeClr val="accent5"/>
                </a:solidFill>
              </a:rPr>
              <a:t>waar</a:t>
            </a:r>
            <a:r>
              <a:rPr lang="en-US" sz="1600" i="1" dirty="0">
                <a:solidFill>
                  <a:schemeClr val="accent5"/>
                </a:solidFill>
              </a:rPr>
              <a:t> + préposition → … → verbe à la fin</a:t>
            </a:r>
            <a:endParaRPr lang="en-US" sz="1600" dirty="0"/>
          </a:p>
        </p:txBody>
      </p:sp>
      <p:sp>
        <p:nvSpPr>
          <p:cNvPr id="34" name="Shape 28"/>
          <p:cNvSpPr/>
          <p:nvPr/>
        </p:nvSpPr>
        <p:spPr>
          <a:xfrm>
            <a:off x="7863840" y="160020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Shape 29"/>
          <p:cNvSpPr/>
          <p:nvPr/>
        </p:nvSpPr>
        <p:spPr>
          <a:xfrm>
            <a:off x="8046720" y="1764792"/>
            <a:ext cx="566928" cy="566928"/>
          </a:xfrm>
          <a:prstGeom prst="ellipse">
            <a:avLst/>
          </a:prstGeom>
          <a:solidFill>
            <a:schemeClr val="accent1"/>
          </a:solidFill>
          <a:ln w="12700">
            <a:solidFill>
              <a:srgbClr val="FFFFFF">
                <a:alpha val="0"/>
              </a:srgbClr>
            </a:solidFill>
            <a:prstDash val="solid"/>
          </a:ln>
        </p:spPr>
      </p:sp>
      <p:pic>
        <p:nvPicPr>
          <p:cNvPr id="36" name="Image 3" descr="Comments">    </p:cNvPr>
          <p:cNvPicPr>
            <a:picLocks noChangeAspect="1"/>
          </p:cNvPicPr>
          <p:nvPr/>
        </p:nvPicPr>
        <p:blipFill>
          <a:blip r:embed="rId4"/>
          <a:stretch>
            <a:fillRect/>
          </a:stretch>
        </p:blipFill>
        <p:spPr>
          <a:xfrm>
            <a:off x="8182783" y="1900855"/>
            <a:ext cx="294803" cy="294803"/>
          </a:xfrm>
          <a:prstGeom prst="rect">
            <a:avLst/>
          </a:prstGeom>
        </p:spPr>
      </p:pic>
      <p:sp>
        <p:nvSpPr>
          <p:cNvPr id="37" name="Text 30"/>
          <p:cNvSpPr txBox="1"/>
          <p:nvPr/>
        </p:nvSpPr>
        <p:spPr>
          <a:xfrm>
            <a:off x="8759952" y="1746504"/>
            <a:ext cx="2743200" cy="603504"/>
          </a:xfrm>
          <a:prstGeom prst="rect">
            <a:avLst/>
          </a:prstGeom>
          <a:noFill/>
          <a:ln/>
        </p:spPr>
        <p:txBody>
          <a:bodyPr wrap="square" lIns="0" tIns="0" rIns="0" bIns="0" rtlCol="0" anchor="ctr"/>
          <a:lstStyle/>
          <a:p>
            <a:pPr algn="l" indent="0" marL="0">
              <a:buNone/>
            </a:pPr>
            <a:r>
              <a:rPr lang="en-US" sz="1900" b="1" dirty="0">
                <a:solidFill>
                  <a:schemeClr val="accent1"/>
                </a:solidFill>
              </a:rPr>
              <a:t>À l’oral</a:t>
            </a:r>
            <a:endParaRPr lang="en-US" sz="1900" dirty="0"/>
          </a:p>
        </p:txBody>
      </p:sp>
      <p:sp>
        <p:nvSpPr>
          <p:cNvPr id="38" name="Text 31"/>
          <p:cNvSpPr txBox="1"/>
          <p:nvPr/>
        </p:nvSpPr>
        <p:spPr>
          <a:xfrm>
            <a:off x="8065008" y="246888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het project </a:t>
            </a:r>
            <a:r>
              <a:rPr lang="en-US" sz="1700" b="1" i="1" dirty="0">
                <a:solidFill>
                  <a:schemeClr val="accent4"/>
                </a:solidFill>
              </a:rPr>
              <a:t>waar</a:t>
            </a:r>
            <a:r>
              <a:rPr lang="en-US" sz="1700" i="1" dirty="0">
                <a:solidFill>
                  <a:schemeClr val="tx1"/>
                </a:solidFill>
              </a:rPr>
              <a:t> ik </a:t>
            </a:r>
            <a:r>
              <a:rPr lang="en-US" sz="1700" b="1" i="1" dirty="0">
                <a:solidFill>
                  <a:schemeClr val="accent1"/>
                </a:solidFill>
              </a:rPr>
              <a:t>aan</a:t>
            </a:r>
            <a:r>
              <a:rPr lang="en-US" sz="1700" i="1" dirty="0">
                <a:solidFill>
                  <a:schemeClr val="tx1"/>
                </a:solidFill>
              </a:rPr>
              <a:t> werk</a:t>
            </a:r>
            <a:endParaRPr lang="en-US" sz="1700" dirty="0"/>
          </a:p>
        </p:txBody>
      </p:sp>
      <p:sp>
        <p:nvSpPr>
          <p:cNvPr id="39" name="Shape 32"/>
          <p:cNvSpPr/>
          <p:nvPr/>
        </p:nvSpPr>
        <p:spPr>
          <a:xfrm>
            <a:off x="7863840" y="3383280"/>
            <a:ext cx="3776472" cy="1600200"/>
          </a:xfrm>
          <a:prstGeom prst="roundRect">
            <a:avLst>
              <a:gd name="adj" fmla="val 571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Shape 33"/>
          <p:cNvSpPr/>
          <p:nvPr/>
        </p:nvSpPr>
        <p:spPr>
          <a:xfrm>
            <a:off x="8046720" y="3547872"/>
            <a:ext cx="566928" cy="566928"/>
          </a:xfrm>
          <a:prstGeom prst="ellipse">
            <a:avLst/>
          </a:prstGeom>
          <a:solidFill>
            <a:schemeClr val="accent2"/>
          </a:solidFill>
          <a:ln w="12700">
            <a:solidFill>
              <a:srgbClr val="FFFFFF">
                <a:alpha val="0"/>
              </a:srgbClr>
            </a:solidFill>
            <a:prstDash val="solid"/>
          </a:ln>
        </p:spPr>
      </p:sp>
      <p:pic>
        <p:nvPicPr>
          <p:cNvPr id="41" name="Image 4" descr="UserFriends">    </p:cNvPr>
          <p:cNvPicPr>
            <a:picLocks noChangeAspect="1"/>
          </p:cNvPicPr>
          <p:nvPr/>
        </p:nvPicPr>
        <p:blipFill>
          <a:blip r:embed="rId5"/>
          <a:stretch>
            <a:fillRect/>
          </a:stretch>
        </p:blipFill>
        <p:spPr>
          <a:xfrm>
            <a:off x="8182783" y="3683935"/>
            <a:ext cx="294803" cy="294803"/>
          </a:xfrm>
          <a:prstGeom prst="rect">
            <a:avLst/>
          </a:prstGeom>
        </p:spPr>
      </p:pic>
      <p:sp>
        <p:nvSpPr>
          <p:cNvPr id="42" name="Text 34"/>
          <p:cNvSpPr txBox="1"/>
          <p:nvPr/>
        </p:nvSpPr>
        <p:spPr>
          <a:xfrm>
            <a:off x="8759952" y="3529584"/>
            <a:ext cx="2743200" cy="603504"/>
          </a:xfrm>
          <a:prstGeom prst="rect">
            <a:avLst/>
          </a:prstGeom>
          <a:noFill/>
          <a:ln/>
        </p:spPr>
        <p:txBody>
          <a:bodyPr wrap="square" lIns="0" tIns="0" rIns="0" bIns="0" rtlCol="0" anchor="ctr"/>
          <a:lstStyle/>
          <a:p>
            <a:pPr algn="l" indent="0" marL="0">
              <a:buNone/>
            </a:pPr>
            <a:r>
              <a:rPr lang="en-US" sz="1900" b="1" dirty="0">
                <a:solidFill>
                  <a:schemeClr val="accent2"/>
                </a:solidFill>
              </a:rPr>
              <a:t>Personnes</a:t>
            </a:r>
            <a:endParaRPr lang="en-US" sz="1900" dirty="0"/>
          </a:p>
        </p:txBody>
      </p:sp>
      <p:sp>
        <p:nvSpPr>
          <p:cNvPr id="43" name="Text 35"/>
          <p:cNvSpPr txBox="1"/>
          <p:nvPr/>
        </p:nvSpPr>
        <p:spPr>
          <a:xfrm>
            <a:off x="8065008" y="4251960"/>
            <a:ext cx="3374136" cy="621792"/>
          </a:xfrm>
          <a:prstGeom prst="rect">
            <a:avLst/>
          </a:prstGeom>
          <a:noFill/>
          <a:ln/>
        </p:spPr>
        <p:txBody>
          <a:bodyPr wrap="square" lIns="0" tIns="0" rIns="0" bIns="0" rtlCol="0" anchor="t"/>
          <a:lstStyle/>
          <a:p>
            <a:pPr algn="l" indent="0" marL="0">
              <a:spcAft>
                <a:spcPts val="600"/>
              </a:spcAft>
              <a:buNone/>
            </a:pPr>
            <a:r>
              <a:rPr lang="en-US" sz="1700" i="1" dirty="0">
                <a:solidFill>
                  <a:schemeClr val="tx1"/>
                </a:solidFill>
              </a:rPr>
              <a:t>de collega </a:t>
            </a:r>
            <a:r>
              <a:rPr lang="en-US" sz="1700" b="1" i="1" dirty="0">
                <a:solidFill>
                  <a:schemeClr val="accent2"/>
                </a:solidFill>
              </a:rPr>
              <a:t>met wie</a:t>
            </a:r>
            <a:r>
              <a:rPr lang="en-US" sz="1700" i="1" dirty="0">
                <a:solidFill>
                  <a:schemeClr val="tx1"/>
                </a:solidFill>
              </a:rPr>
              <a:t> ik werk</a:t>
            </a:r>
            <a:r>
              <a:rPr lang="en-US" sz="1700" dirty="0">
                <a:solidFill>
                  <a:schemeClr val="tx1"/>
                </a:solidFill>
              </a:rPr>
              <a:t> (M22)</a:t>
            </a:r>
            <a:endParaRPr lang="en-US" sz="1700" dirty="0"/>
          </a:p>
        </p:txBody>
      </p:sp>
      <p:sp>
        <p:nvSpPr>
          <p:cNvPr id="44" name="Shape 36"/>
          <p:cNvSpPr/>
          <p:nvPr/>
        </p:nvSpPr>
        <p:spPr>
          <a:xfrm>
            <a:off x="548640" y="5440680"/>
            <a:ext cx="11091672" cy="777240"/>
          </a:xfrm>
          <a:prstGeom prst="roundRect">
            <a:avLst>
              <a:gd name="adj" fmla="val 9412"/>
            </a:avLst>
          </a:prstGeom>
          <a:solidFill>
            <a:schemeClr val="tx2"/>
          </a:solidFill>
          <a:ln w="12700">
            <a:solidFill>
              <a:srgbClr val="FFFFFF">
                <a:alpha val="0"/>
              </a:srgbClr>
            </a:solidFill>
            <a:prstDash val="solid"/>
          </a:ln>
        </p:spPr>
      </p:sp>
      <p:sp>
        <p:nvSpPr>
          <p:cNvPr id="45" name="Text 37"/>
          <p:cNvSpPr txBox="1"/>
          <p:nvPr/>
        </p:nvSpPr>
        <p:spPr>
          <a:xfrm>
            <a:off x="822960" y="5440680"/>
            <a:ext cx="10607040" cy="777240"/>
          </a:xfrm>
          <a:prstGeom prst="rect">
            <a:avLst/>
          </a:prstGeom>
          <a:noFill/>
          <a:ln/>
        </p:spPr>
        <p:txBody>
          <a:bodyPr wrap="square" lIns="0" tIns="0" rIns="0" bIns="0" rtlCol="0" anchor="ctr"/>
          <a:lstStyle/>
          <a:p>
            <a:pPr algn="l" indent="0" marL="0">
              <a:buNone/>
            </a:pPr>
            <a:r>
              <a:rPr lang="en-US" sz="1800" dirty="0">
                <a:solidFill>
                  <a:schemeClr val="bg1"/>
                </a:solidFill>
              </a:rPr>
              <a:t>✗ </a:t>
            </a:r>
            <a:r>
              <a:rPr lang="en-US" sz="1800" i="1" strike="sngStrike" dirty="0">
                <a:solidFill>
                  <a:schemeClr val="accent6"/>
                </a:solidFill>
              </a:rPr>
              <a:t>de pen met die ik schrijf</a:t>
            </a:r>
            <a:r>
              <a:rPr lang="en-US" sz="1800" dirty="0">
                <a:solidFill>
                  <a:schemeClr val="bg1"/>
                </a:solidFill>
              </a:rPr>
              <a:t> → </a:t>
            </a:r>
            <a:r>
              <a:rPr lang="en-US" sz="1800" i="1" dirty="0">
                <a:solidFill>
                  <a:schemeClr val="bg1"/>
                </a:solidFill>
              </a:rPr>
              <a:t>de pen </a:t>
            </a:r>
            <a:r>
              <a:rPr lang="en-US" sz="1800" b="1" i="1" dirty="0">
                <a:solidFill>
                  <a:schemeClr val="bg1"/>
                </a:solidFill>
              </a:rPr>
              <a:t>waarmee</a:t>
            </a:r>
            <a:r>
              <a:rPr lang="en-US" sz="1800" i="1" dirty="0">
                <a:solidFill>
                  <a:schemeClr val="bg1"/>
                </a:solidFill>
              </a:rPr>
              <a:t> ik schrijf</a:t>
            </a:r>
            <a:r>
              <a:rPr lang="en-US" sz="1800" dirty="0">
                <a:solidFill>
                  <a:schemeClr val="bg1"/>
                </a:solidFill>
              </a:rPr>
              <a:t> (« avec lequel », « dont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autres emplois de er</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flipH="1" flipV="1">
            <a:off x="4389120" y="2446020"/>
            <a:ext cx="365760" cy="617220"/>
          </a:xfrm>
          <a:prstGeom prst="line">
            <a:avLst/>
          </a:prstGeom>
          <a:noFill/>
          <a:ln w="38100">
            <a:solidFill>
              <a:srgbClr val="A9B4C2"/>
            </a:solidFill>
            <a:prstDash val="solid"/>
          </a:ln>
        </p:spPr>
      </p:sp>
      <p:sp>
        <p:nvSpPr>
          <p:cNvPr id="6" name="Shape 3"/>
          <p:cNvSpPr/>
          <p:nvPr/>
        </p:nvSpPr>
        <p:spPr>
          <a:xfrm>
            <a:off x="548640"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31520"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① lieu</a:t>
            </a:r>
            <a:endParaRPr lang="en-US" sz="1800" dirty="0"/>
          </a:p>
        </p:txBody>
      </p:sp>
      <p:sp>
        <p:nvSpPr>
          <p:cNvPr id="8" name="Text 5"/>
          <p:cNvSpPr txBox="1"/>
          <p:nvPr/>
        </p:nvSpPr>
        <p:spPr>
          <a:xfrm>
            <a:off x="731520"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y », « là »</a:t>
            </a:r>
            <a:endParaRPr lang="en-US" sz="1400" dirty="0"/>
          </a:p>
        </p:txBody>
      </p:sp>
      <p:sp>
        <p:nvSpPr>
          <p:cNvPr id="9" name="Text 6"/>
          <p:cNvSpPr txBox="1"/>
          <p:nvPr/>
        </p:nvSpPr>
        <p:spPr>
          <a:xfrm>
            <a:off x="731520" y="242316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Ken je Gent? Ik woon </a:t>
            </a:r>
            <a:r>
              <a:rPr lang="en-US" sz="1700" b="1" i="1" dirty="0">
                <a:solidFill>
                  <a:schemeClr val="tx1"/>
                </a:solidFill>
              </a:rPr>
              <a:t>er</a:t>
            </a:r>
            <a:r>
              <a:rPr lang="en-US" sz="1700" i="1" dirty="0">
                <a:solidFill>
                  <a:schemeClr val="tx1"/>
                </a:solidFill>
              </a:rPr>
              <a:t> al tien jaar.</a:t>
            </a:r>
            <a:endParaRPr lang="en-US" sz="1700" dirty="0"/>
          </a:p>
        </p:txBody>
      </p:sp>
      <p:sp>
        <p:nvSpPr>
          <p:cNvPr id="10" name="Shape 7"/>
          <p:cNvSpPr/>
          <p:nvPr/>
        </p:nvSpPr>
        <p:spPr>
          <a:xfrm flipV="1">
            <a:off x="7434072" y="2446020"/>
            <a:ext cx="365760" cy="617220"/>
          </a:xfrm>
          <a:prstGeom prst="line">
            <a:avLst/>
          </a:prstGeom>
          <a:noFill/>
          <a:ln w="38100">
            <a:solidFill>
              <a:srgbClr val="A9B4C2"/>
            </a:solidFill>
            <a:prstDash val="solid"/>
          </a:ln>
        </p:spPr>
      </p:sp>
      <p:sp>
        <p:nvSpPr>
          <p:cNvPr id="11" name="Shape 8"/>
          <p:cNvSpPr/>
          <p:nvPr/>
        </p:nvSpPr>
        <p:spPr>
          <a:xfrm>
            <a:off x="7799832" y="155448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7982712" y="166420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② « il y a »</a:t>
            </a:r>
            <a:endParaRPr lang="en-US" sz="1800" dirty="0"/>
          </a:p>
        </p:txBody>
      </p:sp>
      <p:sp>
        <p:nvSpPr>
          <p:cNvPr id="13" name="Text 10"/>
          <p:cNvSpPr txBox="1"/>
          <p:nvPr/>
        </p:nvSpPr>
        <p:spPr>
          <a:xfrm>
            <a:off x="7982712" y="205740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er is · er zijn</a:t>
            </a:r>
            <a:endParaRPr lang="en-US" sz="1400" dirty="0"/>
          </a:p>
        </p:txBody>
      </p:sp>
      <p:sp>
        <p:nvSpPr>
          <p:cNvPr id="14" name="Text 11"/>
          <p:cNvSpPr txBox="1"/>
          <p:nvPr/>
        </p:nvSpPr>
        <p:spPr>
          <a:xfrm>
            <a:off x="7982712" y="2423160"/>
            <a:ext cx="3474720" cy="822960"/>
          </a:xfrm>
          <a:prstGeom prst="rect">
            <a:avLst/>
          </a:prstGeom>
          <a:noFill/>
          <a:ln/>
        </p:spPr>
        <p:txBody>
          <a:bodyPr wrap="square" lIns="0" tIns="0" rIns="0" bIns="0" rtlCol="0" anchor="ctr"/>
          <a:lstStyle/>
          <a:p>
            <a:pPr algn="l" indent="0" marL="0">
              <a:buNone/>
            </a:pPr>
            <a:r>
              <a:rPr lang="en-US" sz="1700" b="1" i="1" dirty="0">
                <a:solidFill>
                  <a:schemeClr val="tx1"/>
                </a:solidFill>
              </a:rPr>
              <a:t>Er</a:t>
            </a:r>
            <a:r>
              <a:rPr lang="en-US" sz="1700" i="1" dirty="0">
                <a:solidFill>
                  <a:schemeClr val="tx1"/>
                </a:solidFill>
              </a:rPr>
              <a:t> is een probleem. · </a:t>
            </a:r>
            <a:r>
              <a:rPr lang="en-US" sz="1700" b="1" i="1" dirty="0">
                <a:solidFill>
                  <a:schemeClr val="tx1"/>
                </a:solidFill>
              </a:rPr>
              <a:t>Er</a:t>
            </a:r>
            <a:r>
              <a:rPr lang="en-US" sz="1700" i="1" dirty="0">
                <a:solidFill>
                  <a:schemeClr val="tx1"/>
                </a:solidFill>
              </a:rPr>
              <a:t> zijn veel klanten.</a:t>
            </a:r>
            <a:endParaRPr lang="en-US" sz="1700" dirty="0"/>
          </a:p>
        </p:txBody>
      </p:sp>
      <p:sp>
        <p:nvSpPr>
          <p:cNvPr id="15" name="Shape 12"/>
          <p:cNvSpPr/>
          <p:nvPr/>
        </p:nvSpPr>
        <p:spPr>
          <a:xfrm flipH="1">
            <a:off x="4389120" y="3840480"/>
            <a:ext cx="365760" cy="1028700"/>
          </a:xfrm>
          <a:prstGeom prst="line">
            <a:avLst/>
          </a:prstGeom>
          <a:noFill/>
          <a:ln w="38100">
            <a:solidFill>
              <a:srgbClr val="A9B4C2"/>
            </a:solidFill>
            <a:prstDash val="solid"/>
          </a:ln>
        </p:spPr>
      </p:sp>
      <p:sp>
        <p:nvSpPr>
          <p:cNvPr id="16" name="Shape 13"/>
          <p:cNvSpPr/>
          <p:nvPr/>
        </p:nvSpPr>
        <p:spPr>
          <a:xfrm>
            <a:off x="548640" y="3977640"/>
            <a:ext cx="3840480" cy="1783080"/>
          </a:xfrm>
          <a:prstGeom prst="roundRect">
            <a:avLst>
              <a:gd name="adj" fmla="val 4103"/>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731520" y="4087368"/>
            <a:ext cx="3474720" cy="411480"/>
          </a:xfrm>
          <a:prstGeom prst="rect">
            <a:avLst/>
          </a:prstGeom>
          <a:noFill/>
          <a:ln/>
        </p:spPr>
        <p:txBody>
          <a:bodyPr wrap="square" lIns="0" tIns="0" rIns="0" bIns="0" rtlCol="0" anchor="ctr"/>
          <a:lstStyle/>
          <a:p>
            <a:pPr algn="l" indent="0" marL="0">
              <a:buNone/>
            </a:pPr>
            <a:r>
              <a:rPr lang="en-US" sz="1800" b="1" dirty="0">
                <a:solidFill>
                  <a:schemeClr val="tx2"/>
                </a:solidFill>
              </a:rPr>
              <a:t>③ avec un nombre</a:t>
            </a:r>
            <a:endParaRPr lang="en-US" sz="1800" dirty="0"/>
          </a:p>
        </p:txBody>
      </p:sp>
      <p:sp>
        <p:nvSpPr>
          <p:cNvPr id="18" name="Text 15"/>
          <p:cNvSpPr txBox="1"/>
          <p:nvPr/>
        </p:nvSpPr>
        <p:spPr>
          <a:xfrm>
            <a:off x="731520"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 en »</a:t>
            </a:r>
            <a:endParaRPr lang="en-US" sz="1400" dirty="0"/>
          </a:p>
        </p:txBody>
      </p:sp>
      <p:sp>
        <p:nvSpPr>
          <p:cNvPr id="19" name="Text 16"/>
          <p:cNvSpPr txBox="1"/>
          <p:nvPr/>
        </p:nvSpPr>
        <p:spPr>
          <a:xfrm>
            <a:off x="731520"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Hoeveel kinderen heb je? Ik heb </a:t>
            </a:r>
            <a:r>
              <a:rPr lang="en-US" sz="1700" b="1" i="1" dirty="0">
                <a:solidFill>
                  <a:schemeClr val="tx1"/>
                </a:solidFill>
              </a:rPr>
              <a:t>er</a:t>
            </a:r>
            <a:r>
              <a:rPr lang="en-US" sz="1700" i="1" dirty="0">
                <a:solidFill>
                  <a:schemeClr val="tx1"/>
                </a:solidFill>
              </a:rPr>
              <a:t> twee.</a:t>
            </a:r>
            <a:endParaRPr lang="en-US" sz="1700" dirty="0"/>
          </a:p>
        </p:txBody>
      </p:sp>
      <p:sp>
        <p:nvSpPr>
          <p:cNvPr id="20" name="Shape 17"/>
          <p:cNvSpPr/>
          <p:nvPr/>
        </p:nvSpPr>
        <p:spPr>
          <a:xfrm>
            <a:off x="7434072" y="3840480"/>
            <a:ext cx="365760" cy="1028700"/>
          </a:xfrm>
          <a:prstGeom prst="line">
            <a:avLst/>
          </a:prstGeom>
          <a:noFill/>
          <a:ln w="50800">
            <a:solidFill>
              <a:srgbClr val="2E7D4F"/>
            </a:solidFill>
            <a:prstDash val="solid"/>
          </a:ln>
        </p:spPr>
      </p:sp>
      <p:sp>
        <p:nvSpPr>
          <p:cNvPr id="21" name="Shape 18"/>
          <p:cNvSpPr/>
          <p:nvPr/>
        </p:nvSpPr>
        <p:spPr>
          <a:xfrm>
            <a:off x="7799832" y="3977640"/>
            <a:ext cx="3840480" cy="1783080"/>
          </a:xfrm>
          <a:prstGeom prst="roundRect">
            <a:avLst>
              <a:gd name="adj" fmla="val 4103"/>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7982712" y="4087368"/>
            <a:ext cx="3474720" cy="411480"/>
          </a:xfrm>
          <a:prstGeom prst="rect">
            <a:avLst/>
          </a:prstGeom>
          <a:noFill/>
          <a:ln/>
        </p:spPr>
        <p:txBody>
          <a:bodyPr wrap="square" lIns="0" tIns="0" rIns="0" bIns="0" rtlCol="0" anchor="ctr"/>
          <a:lstStyle/>
          <a:p>
            <a:pPr algn="l" indent="0" marL="0">
              <a:buNone/>
            </a:pPr>
            <a:r>
              <a:rPr lang="en-US" sz="1800" b="1" dirty="0">
                <a:solidFill>
                  <a:schemeClr val="accent3"/>
                </a:solidFill>
              </a:rPr>
              <a:t>④ + préposition</a:t>
            </a:r>
            <a:endParaRPr lang="en-US" sz="1800" dirty="0"/>
          </a:p>
        </p:txBody>
      </p:sp>
      <p:sp>
        <p:nvSpPr>
          <p:cNvPr id="23" name="Text 20"/>
          <p:cNvSpPr txBox="1"/>
          <p:nvPr/>
        </p:nvSpPr>
        <p:spPr>
          <a:xfrm>
            <a:off x="7982712" y="4480560"/>
            <a:ext cx="3474720" cy="320040"/>
          </a:xfrm>
          <a:prstGeom prst="rect">
            <a:avLst/>
          </a:prstGeom>
          <a:noFill/>
          <a:ln/>
        </p:spPr>
        <p:txBody>
          <a:bodyPr wrap="square" lIns="0" tIns="0" rIns="0" bIns="0" rtlCol="0" anchor="ctr"/>
          <a:lstStyle/>
          <a:p>
            <a:pPr algn="l" indent="0" marL="0">
              <a:buNone/>
            </a:pPr>
            <a:r>
              <a:rPr lang="en-US" sz="1400" i="1" dirty="0">
                <a:solidFill>
                  <a:schemeClr val="accent5"/>
                </a:solidFill>
              </a:rPr>
              <a:t>ce module</a:t>
            </a:r>
            <a:endParaRPr lang="en-US" sz="1400" dirty="0"/>
          </a:p>
        </p:txBody>
      </p:sp>
      <p:sp>
        <p:nvSpPr>
          <p:cNvPr id="24" name="Text 21"/>
          <p:cNvSpPr txBox="1"/>
          <p:nvPr/>
        </p:nvSpPr>
        <p:spPr>
          <a:xfrm>
            <a:off x="7982712" y="4846320"/>
            <a:ext cx="3474720" cy="822960"/>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accent3"/>
                </a:solidFill>
              </a:rPr>
              <a:t>er</a:t>
            </a:r>
            <a:r>
              <a:rPr lang="en-US" sz="1700" b="1" i="1" dirty="0">
                <a:solidFill>
                  <a:schemeClr val="accent1"/>
                </a:solidFill>
              </a:rPr>
              <a:t>aan</a:t>
            </a:r>
            <a:r>
              <a:rPr lang="en-US" sz="1700" i="1" dirty="0">
                <a:solidFill>
                  <a:schemeClr val="tx1"/>
                </a:solidFill>
              </a:rPr>
              <a:t>.</a:t>
            </a:r>
            <a:endParaRPr lang="en-US" sz="1700" dirty="0"/>
          </a:p>
        </p:txBody>
      </p:sp>
      <p:sp>
        <p:nvSpPr>
          <p:cNvPr id="25" name="Shape 22"/>
          <p:cNvSpPr/>
          <p:nvPr/>
        </p:nvSpPr>
        <p:spPr>
          <a:xfrm>
            <a:off x="4754880" y="2926080"/>
            <a:ext cx="2679192" cy="1051560"/>
          </a:xfrm>
          <a:prstGeom prst="roundRect">
            <a:avLst>
              <a:gd name="adj" fmla="val 2608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5074920" y="3355848"/>
            <a:ext cx="384048" cy="128016"/>
          </a:xfrm>
          <a:prstGeom prst="roundRect">
            <a:avLst>
              <a:gd name="adj" fmla="val 57143"/>
            </a:avLst>
          </a:prstGeom>
          <a:solidFill>
            <a:srgbClr val="FFFFFF"/>
          </a:solidFill>
          <a:ln w="12700">
            <a:solidFill>
              <a:srgbClr val="FFFFFF">
                <a:alpha val="0"/>
              </a:srgbClr>
            </a:solidFill>
            <a:prstDash val="solid"/>
          </a:ln>
        </p:spPr>
      </p:sp>
      <p:sp>
        <p:nvSpPr>
          <p:cNvPr id="27" name="Shape 24"/>
          <p:cNvSpPr/>
          <p:nvPr/>
        </p:nvSpPr>
        <p:spPr>
          <a:xfrm>
            <a:off x="5202936" y="3227832"/>
            <a:ext cx="128016" cy="384048"/>
          </a:xfrm>
          <a:prstGeom prst="roundRect">
            <a:avLst>
              <a:gd name="adj" fmla="val 57143"/>
            </a:avLst>
          </a:prstGeom>
          <a:solidFill>
            <a:srgbClr val="FFFFFF"/>
          </a:solidFill>
          <a:ln w="12700">
            <a:solidFill>
              <a:srgbClr val="FFFFFF">
                <a:alpha val="0"/>
              </a:srgbClr>
            </a:solidFill>
            <a:prstDash val="solid"/>
          </a:ln>
        </p:spPr>
      </p:sp>
      <p:sp>
        <p:nvSpPr>
          <p:cNvPr id="28" name="Text 25"/>
          <p:cNvSpPr txBox="1"/>
          <p:nvPr/>
        </p:nvSpPr>
        <p:spPr>
          <a:xfrm>
            <a:off x="5577840" y="2926080"/>
            <a:ext cx="1673352" cy="105156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er</a:t>
            </a:r>
            <a:endParaRPr lang="en-US" sz="4000" dirty="0"/>
          </a:p>
        </p:txBody>
      </p:sp>
      <p:sp>
        <p:nvSpPr>
          <p:cNvPr id="29" name="Text 26"/>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① à ③ : à reconnaître — travaillés en Néerlandais 2. Le contexte suffit presque toujours.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fiche er / daar / waar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361188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77240" y="1737360"/>
            <a:ext cx="640080" cy="640080"/>
          </a:xfrm>
          <a:prstGeom prst="ellipse">
            <a:avLst/>
          </a:prstGeom>
          <a:solidFill>
            <a:schemeClr val="accent3"/>
          </a:solidFill>
          <a:ln w="12700">
            <a:solidFill>
              <a:srgbClr val="FFFFFF">
                <a:alpha val="0"/>
              </a:srgbClr>
            </a:solidFill>
            <a:prstDash val="solid"/>
          </a:ln>
        </p:spPr>
      </p:sp>
      <p:pic>
        <p:nvPicPr>
          <p:cNvPr id="7" name="Image 0" descr="ExchangeAlt">    </p:cNvPr>
          <p:cNvPicPr>
            <a:picLocks noChangeAspect="1"/>
          </p:cNvPicPr>
          <p:nvPr/>
        </p:nvPicPr>
        <p:blipFill>
          <a:blip r:embed="rId1"/>
          <a:stretch>
            <a:fillRect/>
          </a:stretch>
        </p:blipFill>
        <p:spPr>
          <a:xfrm>
            <a:off x="930859" y="1890979"/>
            <a:ext cx="332842" cy="332842"/>
          </a:xfrm>
          <a:prstGeom prst="rect">
            <a:avLst/>
          </a:prstGeom>
        </p:spPr>
      </p:pic>
      <p:sp>
        <p:nvSpPr>
          <p:cNvPr id="8" name="Text 4"/>
          <p:cNvSpPr txBox="1"/>
          <p:nvPr/>
        </p:nvSpPr>
        <p:spPr>
          <a:xfrm>
            <a:off x="1554480" y="1737360"/>
            <a:ext cx="2401824" cy="64008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Convertir</a:t>
            </a:r>
            <a:endParaRPr lang="en-US" sz="2200" dirty="0"/>
          </a:p>
        </p:txBody>
      </p:sp>
      <p:sp>
        <p:nvSpPr>
          <p:cNvPr id="9" name="Text 5"/>
          <p:cNvSpPr txBox="1"/>
          <p:nvPr/>
        </p:nvSpPr>
        <p:spPr>
          <a:xfrm>
            <a:off x="822960"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chose → </a:t>
            </a:r>
            <a:r>
              <a:rPr lang="en-US" sz="1900" i="1" dirty="0">
                <a:solidFill>
                  <a:schemeClr val="tx1"/>
                </a:solidFill>
              </a:rPr>
              <a:t>er, daar, waar, hier</a:t>
            </a:r>
            <a:r>
              <a:rPr lang="en-US" sz="1900" dirty="0">
                <a:solidFill>
                  <a:schemeClr val="tx1"/>
                </a:solidFill>
              </a:rPr>
              <a:t> + préposition</a:t>
            </a:r>
            <a:endParaRPr lang="en-US" sz="1900" dirty="0"/>
          </a:p>
          <a:p>
            <a:pPr algn="l" indent="0" marL="0">
              <a:spcAft>
                <a:spcPts val="1400"/>
              </a:spcAft>
              <a:buNone/>
            </a:pPr>
            <a:r>
              <a:rPr lang="en-US" sz="1900" i="1" dirty="0">
                <a:solidFill>
                  <a:schemeClr val="tx1"/>
                </a:solidFill>
              </a:rPr>
              <a:t>met → mee</a:t>
            </a:r>
            <a:endParaRPr lang="en-US" sz="1900" dirty="0"/>
          </a:p>
          <a:p>
            <a:pPr algn="l" indent="0" marL="0">
              <a:spcAft>
                <a:spcPts val="1400"/>
              </a:spcAft>
              <a:buNone/>
            </a:pPr>
            <a:r>
              <a:rPr lang="en-US" sz="1900" dirty="0">
                <a:solidFill>
                  <a:schemeClr val="tx1"/>
                </a:solidFill>
              </a:rPr>
              <a:t>personne → préposition + </a:t>
            </a:r>
            <a:r>
              <a:rPr lang="en-US" sz="1900" i="1" dirty="0">
                <a:solidFill>
                  <a:schemeClr val="tx1"/>
                </a:solidFill>
              </a:rPr>
              <a:t>hem, haar, wie</a:t>
            </a:r>
            <a:endParaRPr lang="en-US" sz="1900" dirty="0"/>
          </a:p>
        </p:txBody>
      </p:sp>
      <p:sp>
        <p:nvSpPr>
          <p:cNvPr id="10" name="Shape 6"/>
          <p:cNvSpPr/>
          <p:nvPr/>
        </p:nvSpPr>
        <p:spPr>
          <a:xfrm>
            <a:off x="4322064" y="1554480"/>
            <a:ext cx="3544824" cy="3611880"/>
          </a:xfrm>
          <a:prstGeom prst="roundRect">
            <a:avLst>
              <a:gd name="adj" fmla="val 258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4550664" y="1737360"/>
            <a:ext cx="640080" cy="640080"/>
          </a:xfrm>
          <a:prstGeom prst="ellipse">
            <a:avLst/>
          </a:prstGeom>
          <a:solidFill>
            <a:schemeClr val="accent1"/>
          </a:solidFill>
          <a:ln w="12700">
            <a:solidFill>
              <a:srgbClr val="FFFFFF">
                <a:alpha val="0"/>
              </a:srgbClr>
            </a:solidFill>
            <a:prstDash val="solid"/>
          </a:ln>
        </p:spPr>
      </p:sp>
      <p:pic>
        <p:nvPicPr>
          <p:cNvPr id="12" name="Image 1" descr="ArrowsAltH">    </p:cNvPr>
          <p:cNvPicPr>
            <a:picLocks noChangeAspect="1"/>
          </p:cNvPicPr>
          <p:nvPr/>
        </p:nvPicPr>
        <p:blipFill>
          <a:blip r:embed="rId2"/>
          <a:stretch>
            <a:fillRect/>
          </a:stretch>
        </p:blipFill>
        <p:spPr>
          <a:xfrm>
            <a:off x="4704283" y="1890979"/>
            <a:ext cx="332842" cy="332842"/>
          </a:xfrm>
          <a:prstGeom prst="rect">
            <a:avLst/>
          </a:prstGeom>
        </p:spPr>
      </p:pic>
      <p:sp>
        <p:nvSpPr>
          <p:cNvPr id="13" name="Text 8"/>
          <p:cNvSpPr txBox="1"/>
          <p:nvPr/>
        </p:nvSpPr>
        <p:spPr>
          <a:xfrm>
            <a:off x="5327904" y="1737360"/>
            <a:ext cx="2401824" cy="64008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Placer</a:t>
            </a:r>
            <a:endParaRPr lang="en-US" sz="2200" dirty="0"/>
          </a:p>
        </p:txBody>
      </p:sp>
      <p:sp>
        <p:nvSpPr>
          <p:cNvPr id="14" name="Text 9"/>
          <p:cNvSpPr txBox="1"/>
          <p:nvPr/>
        </p:nvSpPr>
        <p:spPr>
          <a:xfrm>
            <a:off x="4596384" y="2560320"/>
            <a:ext cx="3041904" cy="2468880"/>
          </a:xfrm>
          <a:prstGeom prst="rect">
            <a:avLst/>
          </a:prstGeom>
          <a:noFill/>
          <a:ln/>
        </p:spPr>
        <p:txBody>
          <a:bodyPr wrap="square" lIns="0" tIns="0" rIns="0" bIns="0" rtlCol="0" anchor="t"/>
          <a:lstStyle/>
          <a:p>
            <a:pPr algn="l" indent="0" marL="0">
              <a:spcAft>
                <a:spcPts val="1400"/>
              </a:spcAft>
              <a:buNone/>
            </a:pPr>
            <a:r>
              <a:rPr lang="en-US" sz="1900" dirty="0">
                <a:solidFill>
                  <a:schemeClr val="tx1"/>
                </a:solidFill>
              </a:rPr>
              <a:t>Les deux morceaux se séparent :</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vaak </a:t>
            </a:r>
            <a:r>
              <a:rPr lang="en-US" sz="1900" b="1" i="1" dirty="0">
                <a:solidFill>
                  <a:schemeClr val="tx1"/>
                </a:solidFill>
              </a:rPr>
              <a:t>aan</a:t>
            </a:r>
            <a:r>
              <a:rPr lang="en-US" sz="1900" i="1" dirty="0">
                <a:solidFill>
                  <a:schemeClr val="tx1"/>
                </a:solidFill>
              </a:rPr>
              <a:t>.</a:t>
            </a:r>
            <a:endParaRPr lang="en-US" sz="1900" dirty="0"/>
          </a:p>
          <a:p>
            <a:pPr algn="l" indent="0" marL="0">
              <a:spcAft>
                <a:spcPts val="1400"/>
              </a:spcAft>
              <a:buNone/>
            </a:pPr>
            <a:r>
              <a:rPr lang="en-US" sz="1900" i="1" dirty="0">
                <a:solidFill>
                  <a:schemeClr val="tx1"/>
                </a:solidFill>
              </a:rPr>
              <a:t>Ik denk </a:t>
            </a:r>
            <a:r>
              <a:rPr lang="en-US" sz="1900" b="1" i="1" dirty="0">
                <a:solidFill>
                  <a:schemeClr val="tx1"/>
                </a:solidFill>
              </a:rPr>
              <a:t>er</a:t>
            </a:r>
            <a:r>
              <a:rPr lang="en-US" sz="1900" i="1" dirty="0">
                <a:solidFill>
                  <a:schemeClr val="tx1"/>
                </a:solidFill>
              </a:rPr>
              <a:t> niet </a:t>
            </a:r>
            <a:r>
              <a:rPr lang="en-US" sz="1900" b="1" i="1" dirty="0">
                <a:solidFill>
                  <a:schemeClr val="tx1"/>
                </a:solidFill>
              </a:rPr>
              <a:t>aan</a:t>
            </a:r>
            <a:r>
              <a:rPr lang="en-US" sz="1900" i="1" dirty="0">
                <a:solidFill>
                  <a:schemeClr val="tx1"/>
                </a:solidFill>
              </a:rPr>
              <a:t>.</a:t>
            </a:r>
            <a:endParaRPr lang="en-US" sz="1900" dirty="0"/>
          </a:p>
        </p:txBody>
      </p:sp>
      <p:sp>
        <p:nvSpPr>
          <p:cNvPr id="15" name="Shape 10"/>
          <p:cNvSpPr/>
          <p:nvPr/>
        </p:nvSpPr>
        <p:spPr>
          <a:xfrm>
            <a:off x="8095488" y="1554480"/>
            <a:ext cx="3544824" cy="3611880"/>
          </a:xfrm>
          <a:prstGeom prst="roundRect">
            <a:avLst>
              <a:gd name="adj" fmla="val 2580"/>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8324088" y="1737360"/>
            <a:ext cx="640080" cy="640080"/>
          </a:xfrm>
          <a:prstGeom prst="ellipse">
            <a:avLst/>
          </a:prstGeom>
          <a:solidFill>
            <a:schemeClr val="accent4"/>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477707" y="1890979"/>
            <a:ext cx="332842" cy="332842"/>
          </a:xfrm>
          <a:prstGeom prst="rect">
            <a:avLst/>
          </a:prstGeom>
        </p:spPr>
      </p:pic>
      <p:sp>
        <p:nvSpPr>
          <p:cNvPr id="18" name="Text 12"/>
          <p:cNvSpPr txBox="1"/>
          <p:nvPr/>
        </p:nvSpPr>
        <p:spPr>
          <a:xfrm>
            <a:off x="9101328" y="1737360"/>
            <a:ext cx="2401824" cy="640080"/>
          </a:xfrm>
          <a:prstGeom prst="rect">
            <a:avLst/>
          </a:prstGeom>
          <a:noFill/>
          <a:ln/>
        </p:spPr>
        <p:txBody>
          <a:bodyPr wrap="square" lIns="0" tIns="0" rIns="0" bIns="0" rtlCol="0" anchor="ctr"/>
          <a:lstStyle/>
          <a:p>
            <a:pPr algn="l" indent="0" marL="0">
              <a:buNone/>
            </a:pPr>
            <a:r>
              <a:rPr lang="en-US" sz="2200" b="1" dirty="0">
                <a:solidFill>
                  <a:schemeClr val="accent4"/>
                </a:solidFill>
                <a:latin typeface="+mj-lt" pitchFamily="34" charset="0"/>
                <a:ea typeface="+mj-lt" pitchFamily="34" charset="-122"/>
                <a:cs typeface="+mj-lt" pitchFamily="34" charset="-120"/>
              </a:rPr>
              <a:t>Questionner</a:t>
            </a:r>
            <a:endParaRPr lang="en-US" sz="2200" dirty="0"/>
          </a:p>
        </p:txBody>
      </p:sp>
      <p:sp>
        <p:nvSpPr>
          <p:cNvPr id="19" name="Text 13"/>
          <p:cNvSpPr txBox="1"/>
          <p:nvPr/>
        </p:nvSpPr>
        <p:spPr>
          <a:xfrm>
            <a:off x="8369808" y="2560320"/>
            <a:ext cx="3041904" cy="2468880"/>
          </a:xfrm>
          <a:prstGeom prst="rect">
            <a:avLst/>
          </a:prstGeom>
          <a:noFill/>
          <a:ln/>
        </p:spPr>
        <p:txBody>
          <a:bodyPr wrap="square" lIns="0" tIns="0" rIns="0" bIns="0" rtlCol="0" anchor="t"/>
          <a:lstStyle/>
          <a:p>
            <a:pPr algn="l" indent="0" marL="0">
              <a:spcAft>
                <a:spcPts val="1400"/>
              </a:spcAft>
              <a:buNone/>
            </a:pPr>
            <a:r>
              <a:rPr lang="en-US" sz="1900" b="1" i="1" dirty="0">
                <a:solidFill>
                  <a:schemeClr val="tx1"/>
                </a:solidFill>
              </a:rPr>
              <a:t>Waar</a:t>
            </a:r>
            <a:r>
              <a:rPr lang="en-US" sz="1900" i="1" dirty="0">
                <a:solidFill>
                  <a:schemeClr val="tx1"/>
                </a:solidFill>
              </a:rPr>
              <a:t> wacht je </a:t>
            </a:r>
            <a:r>
              <a:rPr lang="en-US" sz="1900" b="1" i="1" dirty="0">
                <a:solidFill>
                  <a:schemeClr val="tx1"/>
                </a:solidFill>
              </a:rPr>
              <a:t>op</a:t>
            </a:r>
            <a:r>
              <a:rPr lang="en-US" sz="1900" i="1" dirty="0">
                <a:solidFill>
                  <a:schemeClr val="tx1"/>
                </a:solidFill>
              </a:rPr>
              <a:t>?</a:t>
            </a:r>
            <a:endParaRPr lang="en-US" sz="1900" dirty="0"/>
          </a:p>
          <a:p>
            <a:pPr algn="l" indent="0" marL="0">
              <a:spcAft>
                <a:spcPts val="1400"/>
              </a:spcAft>
              <a:buNone/>
            </a:pPr>
            <a:r>
              <a:rPr lang="en-US" sz="1900" b="1" i="1" dirty="0">
                <a:solidFill>
                  <a:schemeClr val="tx1"/>
                </a:solidFill>
              </a:rPr>
              <a:t>Op wie</a:t>
            </a:r>
            <a:r>
              <a:rPr lang="en-US" sz="1900" i="1" dirty="0">
                <a:solidFill>
                  <a:schemeClr val="tx1"/>
                </a:solidFill>
              </a:rPr>
              <a:t> wacht je?</a:t>
            </a:r>
            <a:endParaRPr lang="en-US" sz="1900" dirty="0"/>
          </a:p>
          <a:p>
            <a:pPr algn="l" indent="0" marL="0">
              <a:spcAft>
                <a:spcPts val="1400"/>
              </a:spcAft>
              <a:buNone/>
            </a:pPr>
            <a:r>
              <a:rPr lang="en-US" sz="1900" dirty="0">
                <a:solidFill>
                  <a:schemeClr val="tx1"/>
                </a:solidFill>
              </a:rPr>
              <a:t>relatif : </a:t>
            </a:r>
            <a:r>
              <a:rPr lang="en-US" sz="1900" i="1" dirty="0">
                <a:solidFill>
                  <a:schemeClr val="tx1"/>
                </a:solidFill>
              </a:rPr>
              <a:t>de pen </a:t>
            </a:r>
            <a:r>
              <a:rPr lang="en-US" sz="1900" b="1" i="1" dirty="0">
                <a:solidFill>
                  <a:schemeClr val="tx1"/>
                </a:solidFill>
              </a:rPr>
              <a:t>waarmee</a:t>
            </a:r>
            <a:r>
              <a:rPr lang="en-US" sz="1900" i="1" dirty="0">
                <a:solidFill>
                  <a:schemeClr val="tx1"/>
                </a:solidFill>
              </a:rPr>
              <a:t> ik schrijf</a:t>
            </a:r>
            <a:endParaRPr lang="en-US" sz="1900" dirty="0"/>
          </a:p>
        </p:txBody>
      </p:sp>
      <p:sp>
        <p:nvSpPr>
          <p:cNvPr id="20" name="Shape 14"/>
          <p:cNvSpPr/>
          <p:nvPr/>
        </p:nvSpPr>
        <p:spPr>
          <a:xfrm>
            <a:off x="548640" y="5440680"/>
            <a:ext cx="11091672" cy="640080"/>
          </a:xfrm>
          <a:prstGeom prst="roundRect">
            <a:avLst>
              <a:gd name="adj" fmla="val 11429"/>
            </a:avLst>
          </a:prstGeom>
          <a:solidFill>
            <a:schemeClr val="accent6"/>
          </a:solidFill>
          <a:ln w="12700">
            <a:solidFill>
              <a:srgbClr val="FFFFFF">
                <a:alpha val="0"/>
              </a:srgbClr>
            </a:solidFill>
            <a:prstDash val="solid"/>
          </a:ln>
        </p:spPr>
      </p:sp>
      <p:sp>
        <p:nvSpPr>
          <p:cNvPr id="21" name="Text 15"/>
          <p:cNvSpPr txBox="1"/>
          <p:nvPr/>
        </p:nvSpPr>
        <p:spPr>
          <a:xfrm>
            <a:off x="822960" y="544068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Les 12 verbes à préposition (diapo 8) : à apprendre </a:t>
            </a:r>
            <a:r>
              <a:rPr lang="en-US" sz="1800" b="1" dirty="0">
                <a:solidFill>
                  <a:schemeClr val="bg1"/>
                </a:solidFill>
              </a:rPr>
              <a:t>par cœur</a:t>
            </a:r>
            <a:r>
              <a:rPr lang="en-US" sz="1800" dirty="0">
                <a:solidFill>
                  <a:schemeClr val="bg1"/>
                </a:solidFill>
              </a:rPr>
              <a:t>, avec leur préposition !</a:t>
            </a:r>
            <a:endParaRPr lang="en-US" sz="1800" dirty="0"/>
          </a:p>
        </p:txBody>
      </p:sp>
      <p:pic>
        <p:nvPicPr>
          <p:cNvPr id="22"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ExchangeAl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Remplacez</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verbe et sa préposition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Posez la question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UserFriends">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Chose ou personne ?</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L’interview</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de suivi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2" name="Shape 8"/>
          <p:cNvSpPr/>
          <p:nvPr/>
        </p:nvSpPr>
        <p:spPr>
          <a:xfrm>
            <a:off x="6035040" y="2295652"/>
            <a:ext cx="868680" cy="914"/>
          </a:xfrm>
          <a:prstGeom prst="line">
            <a:avLst/>
          </a:prstGeom>
          <a:noFill/>
          <a:ln w="38100">
            <a:solidFill>
              <a:srgbClr val="2E7D4F"/>
            </a:solidFill>
            <a:prstDash val="solid"/>
            <a:tailEnd type="triangle"/>
          </a:ln>
        </p:spPr>
      </p:sp>
      <p:sp>
        <p:nvSpPr>
          <p:cNvPr id="13" name="Text 9"/>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4" name="Shape 10"/>
          <p:cNvSpPr/>
          <p:nvPr/>
        </p:nvSpPr>
        <p:spPr>
          <a:xfrm>
            <a:off x="6995160" y="1978152"/>
            <a:ext cx="46451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9" name="Shape 15"/>
          <p:cNvSpPr/>
          <p:nvPr/>
        </p:nvSpPr>
        <p:spPr>
          <a:xfrm>
            <a:off x="6035040" y="3022092"/>
            <a:ext cx="868680" cy="914"/>
          </a:xfrm>
          <a:prstGeom prst="line">
            <a:avLst/>
          </a:prstGeom>
          <a:noFill/>
          <a:ln w="38100">
            <a:solidFill>
              <a:srgbClr val="2E7D4F"/>
            </a:solidFill>
            <a:prstDash val="solid"/>
            <a:tailEnd type="triangle"/>
          </a:ln>
        </p:spPr>
      </p:sp>
      <p:sp>
        <p:nvSpPr>
          <p:cNvPr id="20" name="Text 16"/>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1" name="Shape 17"/>
          <p:cNvSpPr/>
          <p:nvPr/>
        </p:nvSpPr>
        <p:spPr>
          <a:xfrm>
            <a:off x="6995160" y="2704592"/>
            <a:ext cx="46451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6" name="Shape 22"/>
          <p:cNvSpPr/>
          <p:nvPr/>
        </p:nvSpPr>
        <p:spPr>
          <a:xfrm>
            <a:off x="6035040" y="3748532"/>
            <a:ext cx="868680" cy="914"/>
          </a:xfrm>
          <a:prstGeom prst="line">
            <a:avLst/>
          </a:prstGeom>
          <a:noFill/>
          <a:ln w="38100">
            <a:solidFill>
              <a:srgbClr val="2E7D4F"/>
            </a:solidFill>
            <a:prstDash val="solid"/>
            <a:tailEnd type="triangle"/>
          </a:ln>
        </p:spPr>
      </p:sp>
      <p:sp>
        <p:nvSpPr>
          <p:cNvPr id="27" name="Text 23"/>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8" name="Shape 24"/>
          <p:cNvSpPr/>
          <p:nvPr/>
        </p:nvSpPr>
        <p:spPr>
          <a:xfrm>
            <a:off x="6995160" y="3431032"/>
            <a:ext cx="46451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3" name="Shape 29"/>
          <p:cNvSpPr/>
          <p:nvPr/>
        </p:nvSpPr>
        <p:spPr>
          <a:xfrm>
            <a:off x="6035040" y="4474972"/>
            <a:ext cx="868680" cy="914"/>
          </a:xfrm>
          <a:prstGeom prst="line">
            <a:avLst/>
          </a:prstGeom>
          <a:noFill/>
          <a:ln w="38100">
            <a:solidFill>
              <a:srgbClr val="2E7D4F"/>
            </a:solidFill>
            <a:prstDash val="solid"/>
            <a:tailEnd type="triangle"/>
          </a:ln>
        </p:spPr>
      </p:sp>
      <p:sp>
        <p:nvSpPr>
          <p:cNvPr id="34" name="Text 30"/>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5" name="Shape 31"/>
          <p:cNvSpPr/>
          <p:nvPr/>
        </p:nvSpPr>
        <p:spPr>
          <a:xfrm>
            <a:off x="6995160" y="4157472"/>
            <a:ext cx="46451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0" name="Shape 36"/>
          <p:cNvSpPr/>
          <p:nvPr/>
        </p:nvSpPr>
        <p:spPr>
          <a:xfrm>
            <a:off x="6035040" y="5201412"/>
            <a:ext cx="868680" cy="914"/>
          </a:xfrm>
          <a:prstGeom prst="line">
            <a:avLst/>
          </a:prstGeom>
          <a:noFill/>
          <a:ln w="38100">
            <a:solidFill>
              <a:srgbClr val="2E7D4F"/>
            </a:solidFill>
            <a:prstDash val="solid"/>
            <a:tailEnd type="triangle"/>
          </a:ln>
        </p:spPr>
      </p:sp>
      <p:sp>
        <p:nvSpPr>
          <p:cNvPr id="41" name="Text 37"/>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2" name="Shape 38"/>
          <p:cNvSpPr/>
          <p:nvPr/>
        </p:nvSpPr>
        <p:spPr>
          <a:xfrm>
            <a:off x="6995160" y="4883912"/>
            <a:ext cx="46451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47" name="Shape 43"/>
          <p:cNvSpPr/>
          <p:nvPr/>
        </p:nvSpPr>
        <p:spPr>
          <a:xfrm>
            <a:off x="6035040" y="5927852"/>
            <a:ext cx="868680" cy="914"/>
          </a:xfrm>
          <a:prstGeom prst="line">
            <a:avLst/>
          </a:prstGeom>
          <a:noFill/>
          <a:ln w="38100">
            <a:solidFill>
              <a:srgbClr val="2E7D4F"/>
            </a:solidFill>
            <a:prstDash val="solid"/>
            <a:tailEnd type="triangle"/>
          </a:ln>
        </p:spPr>
      </p:sp>
      <p:sp>
        <p:nvSpPr>
          <p:cNvPr id="48" name="Text 44"/>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9" name="Shape 45"/>
          <p:cNvSpPr/>
          <p:nvPr/>
        </p:nvSpPr>
        <p:spPr>
          <a:xfrm>
            <a:off x="6995160" y="5610352"/>
            <a:ext cx="46451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Remplacez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la partie soulignée par er + préposition. Attention : met → mee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schrijf </a:t>
            </a:r>
            <a:r>
              <a:rPr lang="en-US" sz="1800" i="1" u="sng" dirty="0">
                <a:solidFill>
                  <a:schemeClr val="tx1"/>
                </a:solidFill>
              </a:rPr>
              <a:t>met de pen</a:t>
            </a:r>
            <a:r>
              <a:rPr lang="en-US" sz="1800" i="1" dirty="0">
                <a:solidFill>
                  <a:schemeClr val="tx1"/>
                </a:solidFill>
              </a:rPr>
              <a:t>.</a:t>
            </a:r>
            <a:endParaRPr lang="en-US" sz="1800" dirty="0"/>
          </a:p>
        </p:txBody>
      </p:sp>
      <p:sp>
        <p:nvSpPr>
          <p:cNvPr id="13" name="Shape 9"/>
          <p:cNvSpPr/>
          <p:nvPr/>
        </p:nvSpPr>
        <p:spPr>
          <a:xfrm>
            <a:off x="6035040" y="2295652"/>
            <a:ext cx="868680" cy="914"/>
          </a:xfrm>
          <a:prstGeom prst="line">
            <a:avLst/>
          </a:prstGeom>
          <a:noFill/>
          <a:ln w="38100">
            <a:solidFill>
              <a:srgbClr val="2E7D4F"/>
            </a:solidFill>
            <a:prstDash val="solid"/>
            <a:tailEnd type="triangle"/>
          </a:ln>
        </p:spPr>
      </p:sp>
      <p:sp>
        <p:nvSpPr>
          <p:cNvPr id="14" name="Text 10"/>
          <p:cNvSpPr txBox="1"/>
          <p:nvPr/>
        </p:nvSpPr>
        <p:spPr>
          <a:xfrm>
            <a:off x="6035040" y="19664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15" name="Shape 11"/>
          <p:cNvSpPr/>
          <p:nvPr/>
        </p:nvSpPr>
        <p:spPr>
          <a:xfrm>
            <a:off x="6995160" y="1978152"/>
            <a:ext cx="46451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132320" y="19781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schrijf ermee.</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21" name="Shape 17"/>
          <p:cNvSpPr/>
          <p:nvPr/>
        </p:nvSpPr>
        <p:spPr>
          <a:xfrm>
            <a:off x="6035040" y="3022092"/>
            <a:ext cx="868680" cy="914"/>
          </a:xfrm>
          <a:prstGeom prst="line">
            <a:avLst/>
          </a:prstGeom>
          <a:noFill/>
          <a:ln w="38100">
            <a:solidFill>
              <a:srgbClr val="2E7D4F"/>
            </a:solidFill>
            <a:prstDash val="solid"/>
            <a:tailEnd type="triangle"/>
          </a:ln>
        </p:spPr>
      </p:sp>
      <p:sp>
        <p:nvSpPr>
          <p:cNvPr id="22" name="Text 18"/>
          <p:cNvSpPr txBox="1"/>
          <p:nvPr/>
        </p:nvSpPr>
        <p:spPr>
          <a:xfrm>
            <a:off x="6035040" y="269290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23" name="Shape 19"/>
          <p:cNvSpPr/>
          <p:nvPr/>
        </p:nvSpPr>
        <p:spPr>
          <a:xfrm>
            <a:off x="6995160" y="2704592"/>
            <a:ext cx="46451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7132320" y="270459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wacht erop.</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Hij praat </a:t>
            </a:r>
            <a:r>
              <a:rPr lang="en-US" sz="1800" i="1" u="sng" dirty="0">
                <a:solidFill>
                  <a:schemeClr val="tx1"/>
                </a:solidFill>
              </a:rPr>
              <a:t>over het project</a:t>
            </a:r>
            <a:r>
              <a:rPr lang="en-US" sz="1800" i="1" dirty="0">
                <a:solidFill>
                  <a:schemeClr val="tx1"/>
                </a:solidFill>
              </a:rPr>
              <a:t>.</a:t>
            </a:r>
            <a:endParaRPr lang="en-US" sz="1800" dirty="0"/>
          </a:p>
        </p:txBody>
      </p:sp>
      <p:sp>
        <p:nvSpPr>
          <p:cNvPr id="29" name="Shape 25"/>
          <p:cNvSpPr/>
          <p:nvPr/>
        </p:nvSpPr>
        <p:spPr>
          <a:xfrm>
            <a:off x="6035040" y="3748532"/>
            <a:ext cx="868680" cy="914"/>
          </a:xfrm>
          <a:prstGeom prst="line">
            <a:avLst/>
          </a:prstGeom>
          <a:noFill/>
          <a:ln w="38100">
            <a:solidFill>
              <a:srgbClr val="2E7D4F"/>
            </a:solidFill>
            <a:prstDash val="solid"/>
            <a:tailEnd type="triangle"/>
          </a:ln>
        </p:spPr>
      </p:sp>
      <p:sp>
        <p:nvSpPr>
          <p:cNvPr id="30" name="Text 26"/>
          <p:cNvSpPr txBox="1"/>
          <p:nvPr/>
        </p:nvSpPr>
        <p:spPr>
          <a:xfrm>
            <a:off x="6035040" y="341934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1" name="Shape 27"/>
          <p:cNvSpPr/>
          <p:nvPr/>
        </p:nvSpPr>
        <p:spPr>
          <a:xfrm>
            <a:off x="6995160" y="3431032"/>
            <a:ext cx="46451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7132320" y="343103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Hij praat erover.</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We beginnen </a:t>
            </a:r>
            <a:r>
              <a:rPr lang="en-US" sz="1800" i="1" u="sng" dirty="0">
                <a:solidFill>
                  <a:schemeClr val="tx1"/>
                </a:solidFill>
              </a:rPr>
              <a:t>met de vergadering</a:t>
            </a:r>
            <a:r>
              <a:rPr lang="en-US" sz="1800" i="1" dirty="0">
                <a:solidFill>
                  <a:schemeClr val="tx1"/>
                </a:solidFill>
              </a:rPr>
              <a:t>.</a:t>
            </a:r>
            <a:endParaRPr lang="en-US" sz="1800" dirty="0"/>
          </a:p>
        </p:txBody>
      </p:sp>
      <p:sp>
        <p:nvSpPr>
          <p:cNvPr id="37" name="Shape 33"/>
          <p:cNvSpPr/>
          <p:nvPr/>
        </p:nvSpPr>
        <p:spPr>
          <a:xfrm>
            <a:off x="6035040" y="4474972"/>
            <a:ext cx="868680" cy="914"/>
          </a:xfrm>
          <a:prstGeom prst="line">
            <a:avLst/>
          </a:prstGeom>
          <a:noFill/>
          <a:ln w="38100">
            <a:solidFill>
              <a:srgbClr val="2E7D4F"/>
            </a:solidFill>
            <a:prstDash val="solid"/>
            <a:tailEnd type="triangle"/>
          </a:ln>
        </p:spPr>
      </p:sp>
      <p:sp>
        <p:nvSpPr>
          <p:cNvPr id="38" name="Text 34"/>
          <p:cNvSpPr txBox="1"/>
          <p:nvPr/>
        </p:nvSpPr>
        <p:spPr>
          <a:xfrm>
            <a:off x="6035040" y="414578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39" name="Shape 35"/>
          <p:cNvSpPr/>
          <p:nvPr/>
        </p:nvSpPr>
        <p:spPr>
          <a:xfrm>
            <a:off x="6995160" y="4157472"/>
            <a:ext cx="46451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7132320" y="415747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We beginnen ermee.</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de afspraak</a:t>
            </a:r>
            <a:r>
              <a:rPr lang="en-US" sz="1800" i="1" dirty="0">
                <a:solidFill>
                  <a:schemeClr val="tx1"/>
                </a:solidFill>
              </a:rPr>
              <a:t>.</a:t>
            </a:r>
            <a:endParaRPr lang="en-US" sz="1800" dirty="0"/>
          </a:p>
        </p:txBody>
      </p:sp>
      <p:sp>
        <p:nvSpPr>
          <p:cNvPr id="45" name="Shape 41"/>
          <p:cNvSpPr/>
          <p:nvPr/>
        </p:nvSpPr>
        <p:spPr>
          <a:xfrm>
            <a:off x="6035040" y="5201412"/>
            <a:ext cx="868680" cy="914"/>
          </a:xfrm>
          <a:prstGeom prst="line">
            <a:avLst/>
          </a:prstGeom>
          <a:noFill/>
          <a:ln w="38100">
            <a:solidFill>
              <a:srgbClr val="2E7D4F"/>
            </a:solidFill>
            <a:prstDash val="solid"/>
            <a:tailEnd type="triangle"/>
          </a:ln>
        </p:spPr>
      </p:sp>
      <p:sp>
        <p:nvSpPr>
          <p:cNvPr id="46" name="Text 42"/>
          <p:cNvSpPr txBox="1"/>
          <p:nvPr/>
        </p:nvSpPr>
        <p:spPr>
          <a:xfrm>
            <a:off x="6035040" y="487222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47" name="Shape 43"/>
          <p:cNvSpPr/>
          <p:nvPr/>
        </p:nvSpPr>
        <p:spPr>
          <a:xfrm>
            <a:off x="6995160" y="4883912"/>
            <a:ext cx="46451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7132320" y="488391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Ik denk eraan.</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i="1" dirty="0">
                <a:solidFill>
                  <a:schemeClr val="tx1"/>
                </a:solidFill>
              </a:rPr>
              <a:t>Ze houdt </a:t>
            </a:r>
            <a:r>
              <a:rPr lang="en-US" sz="1800" i="1" u="sng" dirty="0">
                <a:solidFill>
                  <a:schemeClr val="tx1"/>
                </a:solidFill>
              </a:rPr>
              <a:t>van chocolade</a:t>
            </a:r>
            <a:r>
              <a:rPr lang="en-US" sz="1800" i="1" dirty="0">
                <a:solidFill>
                  <a:schemeClr val="tx1"/>
                </a:solidFill>
              </a:rPr>
              <a:t>.</a:t>
            </a:r>
            <a:endParaRPr lang="en-US" sz="1800" dirty="0"/>
          </a:p>
        </p:txBody>
      </p:sp>
      <p:sp>
        <p:nvSpPr>
          <p:cNvPr id="53" name="Shape 49"/>
          <p:cNvSpPr/>
          <p:nvPr/>
        </p:nvSpPr>
        <p:spPr>
          <a:xfrm>
            <a:off x="6035040" y="5927852"/>
            <a:ext cx="868680" cy="914"/>
          </a:xfrm>
          <a:prstGeom prst="line">
            <a:avLst/>
          </a:prstGeom>
          <a:noFill/>
          <a:ln w="38100">
            <a:solidFill>
              <a:srgbClr val="2E7D4F"/>
            </a:solidFill>
            <a:prstDash val="solid"/>
            <a:tailEnd type="triangle"/>
          </a:ln>
        </p:spPr>
      </p:sp>
      <p:sp>
        <p:nvSpPr>
          <p:cNvPr id="54" name="Text 50"/>
          <p:cNvSpPr txBox="1"/>
          <p:nvPr/>
        </p:nvSpPr>
        <p:spPr>
          <a:xfrm>
            <a:off x="6035040" y="5598668"/>
            <a:ext cx="822960" cy="274320"/>
          </a:xfrm>
          <a:prstGeom prst="rect">
            <a:avLst/>
          </a:prstGeom>
          <a:noFill/>
          <a:ln/>
        </p:spPr>
        <p:txBody>
          <a:bodyPr wrap="square" lIns="0" tIns="0" rIns="0" bIns="0" rtlCol="0" anchor="t"/>
          <a:lstStyle/>
          <a:p>
            <a:pPr algn="ctr" indent="0" marL="0">
              <a:buNone/>
            </a:pPr>
            <a:r>
              <a:rPr lang="en-US" sz="1200" b="1" dirty="0">
                <a:solidFill>
                  <a:schemeClr val="accent3"/>
                </a:solidFill>
              </a:rPr>
              <a:t>er</a:t>
            </a:r>
            <a:endParaRPr lang="en-US" sz="1200" dirty="0"/>
          </a:p>
        </p:txBody>
      </p:sp>
      <p:sp>
        <p:nvSpPr>
          <p:cNvPr id="55" name="Shape 51"/>
          <p:cNvSpPr/>
          <p:nvPr/>
        </p:nvSpPr>
        <p:spPr>
          <a:xfrm>
            <a:off x="6995160" y="5610352"/>
            <a:ext cx="46451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7132320" y="5610352"/>
            <a:ext cx="4434840" cy="616712"/>
          </a:xfrm>
          <a:prstGeom prst="rect">
            <a:avLst/>
          </a:prstGeom>
          <a:noFill/>
          <a:ln/>
        </p:spPr>
        <p:txBody>
          <a:bodyPr wrap="square" lIns="0" tIns="0" rIns="0" bIns="0" rtlCol="0" anchor="ctr"/>
          <a:lstStyle/>
          <a:p>
            <a:pPr algn="l" indent="0" marL="0">
              <a:buNone/>
            </a:pPr>
            <a:r>
              <a:rPr lang="en-US" sz="1900" b="1" i="1" dirty="0">
                <a:solidFill>
                  <a:schemeClr val="accent3"/>
                </a:solidFill>
              </a:rPr>
              <a:t>Ze houdt ervan.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8" name="Text 4"/>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i="1" dirty="0">
                <a:solidFill>
                  <a:schemeClr val="accent5"/>
                </a:solidFill>
              </a:rPr>
              <a:t>…………</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i="1" dirty="0">
                <a:solidFill>
                  <a:schemeClr val="accent5"/>
                </a:solidFill>
              </a:rPr>
              <a:t>…………</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i="1" dirty="0">
                <a:solidFill>
                  <a:schemeClr val="accent5"/>
                </a:solidFill>
              </a:rPr>
              <a:t>…………</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i="1" dirty="0">
                <a:solidFill>
                  <a:schemeClr val="accent5"/>
                </a:solidFill>
              </a:rPr>
              <a:t>…………</a:t>
            </a:r>
            <a:r>
              <a:rPr lang="en-US" sz="2100" i="1" dirty="0">
                <a:solidFill>
                  <a:schemeClr val="tx1"/>
                </a:solidFill>
              </a:rPr>
              <a:t> koken.</a:t>
            </a:r>
            <a:endParaRPr lang="en-US" sz="2100" dirty="0"/>
          </a:p>
        </p:txBody>
      </p:sp>
      <p:sp>
        <p:nvSpPr>
          <p:cNvPr id="9" name="Text 5"/>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i="1" dirty="0">
                <a:solidFill>
                  <a:schemeClr val="accent5"/>
                </a:solidFill>
              </a:rPr>
              <a:t>…………</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i="1" dirty="0">
                <a:solidFill>
                  <a:schemeClr val="accent5"/>
                </a:solidFill>
              </a:rPr>
              <a: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i="1" dirty="0">
                <a:solidFill>
                  <a:schemeClr val="accent5"/>
                </a:solidFill>
              </a:rPr>
              <a:t>…………</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i="1" dirty="0">
                <a:solidFill>
                  <a:schemeClr val="accent5"/>
                </a:solidFill>
              </a:rPr>
              <a:t>…………</a:t>
            </a:r>
            <a:r>
              <a:rPr lang="en-US" sz="2100" i="1" dirty="0">
                <a:solidFill>
                  <a:schemeClr val="tx1"/>
                </a:solidFill>
              </a:rPr>
              <a:t> het nieuws.</a:t>
            </a:r>
            <a:endParaRPr lang="en-US" sz="2100" dirty="0"/>
          </a:p>
        </p:txBody>
      </p:sp>
      <p:sp>
        <p:nvSpPr>
          <p:cNvPr id="10" name="Shape 6"/>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1" name="Text 7"/>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2" name="Shape 8"/>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3" name="Text 9"/>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4" name="Shape 10"/>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5" name="Text 11"/>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6" name="Shape 12"/>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7" name="Text 13"/>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8" name="Shape 14"/>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9" name="Text 15"/>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0" name="Shape 16"/>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1" name="Text 17"/>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2" name="Shape 18"/>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3" name="Text 19"/>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4" name="Shape 20"/>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5" name="Text 21"/>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6" name="Shape 22"/>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7" name="Text 23"/>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verbe et sa préposition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bonne préposition. Chaque préposition sert une fois.</a:t>
            </a:r>
            <a:endParaRPr lang="en-US" sz="1700" dirty="0"/>
          </a:p>
        </p:txBody>
      </p:sp>
      <p:sp>
        <p:nvSpPr>
          <p:cNvPr id="9" name="Text 5"/>
          <p:cNvSpPr txBox="1"/>
          <p:nvPr/>
        </p:nvSpPr>
        <p:spPr>
          <a:xfrm>
            <a:off x="548640"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1  </a:t>
            </a:r>
            <a:r>
              <a:rPr lang="en-US" sz="2100" i="1" dirty="0">
                <a:solidFill>
                  <a:schemeClr val="tx1"/>
                </a:solidFill>
              </a:rPr>
              <a:t>Ik wacht </a:t>
            </a:r>
            <a:r>
              <a:rPr lang="en-US" sz="2100" b="1" i="1" dirty="0">
                <a:solidFill>
                  <a:schemeClr val="accent3"/>
                </a:solidFill>
              </a:rPr>
              <a:t>op</a:t>
            </a:r>
            <a:r>
              <a:rPr lang="en-US" sz="2100" i="1" dirty="0">
                <a:solidFill>
                  <a:schemeClr val="tx1"/>
                </a:solidFill>
              </a:rPr>
              <a:t> de trein.</a:t>
            </a:r>
            <a:endParaRPr lang="en-US" sz="2100" dirty="0"/>
          </a:p>
          <a:p>
            <a:pPr indent="0" marL="0">
              <a:spcAft>
                <a:spcPts val="3000"/>
              </a:spcAft>
              <a:buNone/>
            </a:pPr>
            <a:r>
              <a:rPr lang="en-US" sz="2100" b="1" dirty="0">
                <a:solidFill>
                  <a:schemeClr val="tx2"/>
                </a:solidFill>
              </a:rPr>
              <a:t>2  </a:t>
            </a:r>
            <a:r>
              <a:rPr lang="en-US" sz="2100" i="1" dirty="0">
                <a:solidFill>
                  <a:schemeClr val="tx1"/>
                </a:solidFill>
              </a:rPr>
              <a:t>Denk je </a:t>
            </a:r>
            <a:r>
              <a:rPr lang="en-US" sz="2100" b="1" i="1" dirty="0">
                <a:solidFill>
                  <a:schemeClr val="accent3"/>
                </a:solidFill>
              </a:rPr>
              <a:t>aan</a:t>
            </a:r>
            <a:r>
              <a:rPr lang="en-US" sz="2100" i="1" dirty="0">
                <a:solidFill>
                  <a:schemeClr val="tx1"/>
                </a:solidFill>
              </a:rPr>
              <a:t> de vergadering?</a:t>
            </a:r>
            <a:endParaRPr lang="en-US" sz="2100" dirty="0"/>
          </a:p>
          <a:p>
            <a:pPr indent="0" marL="0">
              <a:spcAft>
                <a:spcPts val="3000"/>
              </a:spcAft>
              <a:buNone/>
            </a:pPr>
            <a:r>
              <a:rPr lang="en-US" sz="2100" b="1" dirty="0">
                <a:solidFill>
                  <a:schemeClr val="tx2"/>
                </a:solidFill>
              </a:rPr>
              <a:t>3  </a:t>
            </a:r>
            <a:r>
              <a:rPr lang="en-US" sz="2100" i="1" dirty="0">
                <a:solidFill>
                  <a:schemeClr val="tx1"/>
                </a:solidFill>
              </a:rPr>
              <a:t>We praten </a:t>
            </a:r>
            <a:r>
              <a:rPr lang="en-US" sz="2100" b="1" i="1" dirty="0">
                <a:solidFill>
                  <a:schemeClr val="accent3"/>
                </a:solidFill>
              </a:rPr>
              <a:t>over</a:t>
            </a:r>
            <a:r>
              <a:rPr lang="en-US" sz="2100" i="1" dirty="0">
                <a:solidFill>
                  <a:schemeClr val="tx1"/>
                </a:solidFill>
              </a:rPr>
              <a:t> het budget.</a:t>
            </a:r>
            <a:endParaRPr lang="en-US" sz="2100" dirty="0"/>
          </a:p>
          <a:p>
            <a:pPr indent="0" marL="0">
              <a:spcAft>
                <a:spcPts val="3000"/>
              </a:spcAft>
              <a:buNone/>
            </a:pPr>
            <a:r>
              <a:rPr lang="en-US" sz="2100" b="1" dirty="0">
                <a:solidFill>
                  <a:schemeClr val="tx2"/>
                </a:solidFill>
              </a:rPr>
              <a:t>4  </a:t>
            </a:r>
            <a:r>
              <a:rPr lang="en-US" sz="2100" i="1" dirty="0">
                <a:solidFill>
                  <a:schemeClr val="tx1"/>
                </a:solidFill>
              </a:rPr>
              <a:t>Hij houdt </a:t>
            </a:r>
            <a:r>
              <a:rPr lang="en-US" sz="2100" b="1" i="1" dirty="0">
                <a:solidFill>
                  <a:schemeClr val="accent3"/>
                </a:solidFill>
              </a:rPr>
              <a:t>van</a:t>
            </a:r>
            <a:r>
              <a:rPr lang="en-US" sz="2100" i="1" dirty="0">
                <a:solidFill>
                  <a:schemeClr val="tx1"/>
                </a:solidFill>
              </a:rPr>
              <a:t> koken.</a:t>
            </a:r>
            <a:endParaRPr lang="en-US" sz="2100" dirty="0"/>
          </a:p>
        </p:txBody>
      </p:sp>
      <p:sp>
        <p:nvSpPr>
          <p:cNvPr id="10" name="Text 6"/>
          <p:cNvSpPr txBox="1"/>
          <p:nvPr/>
        </p:nvSpPr>
        <p:spPr>
          <a:xfrm>
            <a:off x="6300216" y="2115312"/>
            <a:ext cx="5340096" cy="3657600"/>
          </a:xfrm>
          <a:prstGeom prst="rect">
            <a:avLst/>
          </a:prstGeom>
          <a:noFill/>
          <a:ln/>
        </p:spPr>
        <p:txBody>
          <a:bodyPr wrap="square" lIns="0" tIns="0" rIns="0" bIns="0" rtlCol="0" anchor="t"/>
          <a:lstStyle/>
          <a:p>
            <a:pPr indent="0" marL="0">
              <a:spcAft>
                <a:spcPts val="3000"/>
              </a:spcAft>
              <a:buNone/>
            </a:pPr>
            <a:r>
              <a:rPr lang="en-US" sz="2100" b="1" dirty="0">
                <a:solidFill>
                  <a:schemeClr val="tx2"/>
                </a:solidFill>
              </a:rPr>
              <a:t>5  </a:t>
            </a:r>
            <a:r>
              <a:rPr lang="en-US" sz="2100" i="1" dirty="0">
                <a:solidFill>
                  <a:schemeClr val="tx1"/>
                </a:solidFill>
              </a:rPr>
              <a:t>Ik heb zin </a:t>
            </a:r>
            <a:r>
              <a:rPr lang="en-US" sz="2100" b="1" i="1" dirty="0">
                <a:solidFill>
                  <a:schemeClr val="accent3"/>
                </a:solidFill>
              </a:rPr>
              <a:t>in</a:t>
            </a:r>
            <a:r>
              <a:rPr lang="en-US" sz="2100" i="1" dirty="0">
                <a:solidFill>
                  <a:schemeClr val="tx1"/>
                </a:solidFill>
              </a:rPr>
              <a:t> een koffie.</a:t>
            </a:r>
            <a:endParaRPr lang="en-US" sz="2100" dirty="0"/>
          </a:p>
          <a:p>
            <a:pPr indent="0" marL="0">
              <a:spcAft>
                <a:spcPts val="3000"/>
              </a:spcAft>
              <a:buNone/>
            </a:pPr>
            <a:r>
              <a:rPr lang="en-US" sz="2100" b="1" dirty="0">
                <a:solidFill>
                  <a:schemeClr val="tx2"/>
                </a:solidFill>
              </a:rPr>
              <a:t>6  </a:t>
            </a:r>
            <a:r>
              <a:rPr lang="en-US" sz="2100" i="1" dirty="0">
                <a:solidFill>
                  <a:schemeClr val="tx1"/>
                </a:solidFill>
              </a:rPr>
              <a:t>Ze is bezig </a:t>
            </a:r>
            <a:r>
              <a:rPr lang="en-US" sz="2100" b="1" i="1" dirty="0">
                <a:solidFill>
                  <a:schemeClr val="accent3"/>
                </a:solidFill>
              </a:rPr>
              <a:t>met</a:t>
            </a:r>
            <a:r>
              <a:rPr lang="en-US" sz="2100" i="1" dirty="0">
                <a:solidFill>
                  <a:schemeClr val="tx1"/>
                </a:solidFill>
              </a:rPr>
              <a:t> een rapport.</a:t>
            </a:r>
            <a:endParaRPr lang="en-US" sz="2100" dirty="0"/>
          </a:p>
          <a:p>
            <a:pPr indent="0" marL="0">
              <a:spcAft>
                <a:spcPts val="3000"/>
              </a:spcAft>
              <a:buNone/>
            </a:pPr>
            <a:r>
              <a:rPr lang="en-US" sz="2100" b="1" dirty="0">
                <a:solidFill>
                  <a:schemeClr val="tx2"/>
                </a:solidFill>
              </a:rPr>
              <a:t>7  </a:t>
            </a:r>
            <a:r>
              <a:rPr lang="en-US" sz="2100" i="1" dirty="0">
                <a:solidFill>
                  <a:schemeClr val="tx1"/>
                </a:solidFill>
              </a:rPr>
              <a:t>Wie zorgt </a:t>
            </a:r>
            <a:r>
              <a:rPr lang="en-US" sz="2100" b="1" i="1" dirty="0">
                <a:solidFill>
                  <a:schemeClr val="accent3"/>
                </a:solidFill>
              </a:rPr>
              <a:t>voor</a:t>
            </a:r>
            <a:r>
              <a:rPr lang="en-US" sz="2100" i="1" dirty="0">
                <a:solidFill>
                  <a:schemeClr val="tx1"/>
                </a:solidFill>
              </a:rPr>
              <a:t> de lunch?</a:t>
            </a:r>
            <a:endParaRPr lang="en-US" sz="2100" dirty="0"/>
          </a:p>
          <a:p>
            <a:pPr indent="0" marL="0">
              <a:spcAft>
                <a:spcPts val="3000"/>
              </a:spcAft>
              <a:buNone/>
            </a:pPr>
            <a:r>
              <a:rPr lang="en-US" sz="2100" b="1" dirty="0">
                <a:solidFill>
                  <a:schemeClr val="tx2"/>
                </a:solidFill>
              </a:rPr>
              <a:t>8  </a:t>
            </a:r>
            <a:r>
              <a:rPr lang="en-US" sz="2100" i="1" dirty="0">
                <a:solidFill>
                  <a:schemeClr val="tx1"/>
                </a:solidFill>
              </a:rPr>
              <a:t>Ik kijk </a:t>
            </a:r>
            <a:r>
              <a:rPr lang="en-US" sz="2100" b="1" i="1" dirty="0">
                <a:solidFill>
                  <a:schemeClr val="accent3"/>
                </a:solidFill>
              </a:rPr>
              <a:t>naar</a:t>
            </a:r>
            <a:r>
              <a:rPr lang="en-US" sz="2100" i="1" dirty="0">
                <a:solidFill>
                  <a:schemeClr val="tx1"/>
                </a:solidFill>
              </a:rPr>
              <a:t> het nieuws.</a:t>
            </a:r>
            <a:endParaRPr lang="en-US" sz="2100" dirty="0"/>
          </a:p>
        </p:txBody>
      </p:sp>
      <p:sp>
        <p:nvSpPr>
          <p:cNvPr id="11" name="Shape 7"/>
          <p:cNvSpPr/>
          <p:nvPr/>
        </p:nvSpPr>
        <p:spPr>
          <a:xfrm>
            <a:off x="548640" y="5486400"/>
            <a:ext cx="11091672" cy="777240"/>
          </a:xfrm>
          <a:prstGeom prst="roundRect">
            <a:avLst>
              <a:gd name="adj" fmla="val 9412"/>
            </a:avLst>
          </a:prstGeom>
          <a:solidFill>
            <a:schemeClr val="bg2"/>
          </a:solidFill>
          <a:ln w="12700">
            <a:solidFill>
              <a:srgbClr val="D5DCE6"/>
            </a:solidFill>
            <a:prstDash val="solid"/>
          </a:ln>
        </p:spPr>
      </p:sp>
      <p:sp>
        <p:nvSpPr>
          <p:cNvPr id="12" name="Text 8"/>
          <p:cNvSpPr txBox="1"/>
          <p:nvPr/>
        </p:nvSpPr>
        <p:spPr>
          <a:xfrm>
            <a:off x="731520" y="5486400"/>
            <a:ext cx="1188720" cy="77724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BANQUE</a:t>
            </a:r>
            <a:endParaRPr lang="en-US" sz="1200" dirty="0"/>
          </a:p>
        </p:txBody>
      </p:sp>
      <p:sp>
        <p:nvSpPr>
          <p:cNvPr id="13" name="Shape 9"/>
          <p:cNvSpPr/>
          <p:nvPr/>
        </p:nvSpPr>
        <p:spPr>
          <a:xfrm>
            <a:off x="20116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4" name="Text 10"/>
          <p:cNvSpPr txBox="1"/>
          <p:nvPr/>
        </p:nvSpPr>
        <p:spPr>
          <a:xfrm>
            <a:off x="20116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15" name="Shape 11"/>
          <p:cNvSpPr/>
          <p:nvPr/>
        </p:nvSpPr>
        <p:spPr>
          <a:xfrm>
            <a:off x="32004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6" name="Text 12"/>
          <p:cNvSpPr txBox="1"/>
          <p:nvPr/>
        </p:nvSpPr>
        <p:spPr>
          <a:xfrm>
            <a:off x="32004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naar</a:t>
            </a:r>
            <a:endParaRPr lang="en-US" sz="1800" dirty="0"/>
          </a:p>
        </p:txBody>
      </p:sp>
      <p:sp>
        <p:nvSpPr>
          <p:cNvPr id="17" name="Shape 13"/>
          <p:cNvSpPr/>
          <p:nvPr/>
        </p:nvSpPr>
        <p:spPr>
          <a:xfrm>
            <a:off x="43891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18" name="Text 14"/>
          <p:cNvSpPr txBox="1"/>
          <p:nvPr/>
        </p:nvSpPr>
        <p:spPr>
          <a:xfrm>
            <a:off x="43891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9" name="Shape 15"/>
          <p:cNvSpPr/>
          <p:nvPr/>
        </p:nvSpPr>
        <p:spPr>
          <a:xfrm>
            <a:off x="557784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0" name="Text 16"/>
          <p:cNvSpPr txBox="1"/>
          <p:nvPr/>
        </p:nvSpPr>
        <p:spPr>
          <a:xfrm>
            <a:off x="557784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met</a:t>
            </a:r>
            <a:endParaRPr lang="en-US" sz="1800" dirty="0"/>
          </a:p>
        </p:txBody>
      </p:sp>
      <p:sp>
        <p:nvSpPr>
          <p:cNvPr id="21" name="Shape 17"/>
          <p:cNvSpPr/>
          <p:nvPr/>
        </p:nvSpPr>
        <p:spPr>
          <a:xfrm>
            <a:off x="676656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2" name="Text 18"/>
          <p:cNvSpPr txBox="1"/>
          <p:nvPr/>
        </p:nvSpPr>
        <p:spPr>
          <a:xfrm>
            <a:off x="676656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van</a:t>
            </a:r>
            <a:endParaRPr lang="en-US" sz="1800" dirty="0"/>
          </a:p>
        </p:txBody>
      </p:sp>
      <p:sp>
        <p:nvSpPr>
          <p:cNvPr id="23" name="Shape 19"/>
          <p:cNvSpPr/>
          <p:nvPr/>
        </p:nvSpPr>
        <p:spPr>
          <a:xfrm>
            <a:off x="795528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4" name="Text 20"/>
          <p:cNvSpPr txBox="1"/>
          <p:nvPr/>
        </p:nvSpPr>
        <p:spPr>
          <a:xfrm>
            <a:off x="795528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voor</a:t>
            </a:r>
            <a:endParaRPr lang="en-US" sz="1800" dirty="0"/>
          </a:p>
        </p:txBody>
      </p:sp>
      <p:sp>
        <p:nvSpPr>
          <p:cNvPr id="25" name="Shape 21"/>
          <p:cNvSpPr/>
          <p:nvPr/>
        </p:nvSpPr>
        <p:spPr>
          <a:xfrm>
            <a:off x="914400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6" name="Text 22"/>
          <p:cNvSpPr txBox="1"/>
          <p:nvPr/>
        </p:nvSpPr>
        <p:spPr>
          <a:xfrm>
            <a:off x="914400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27" name="Shape 23"/>
          <p:cNvSpPr/>
          <p:nvPr/>
        </p:nvSpPr>
        <p:spPr>
          <a:xfrm>
            <a:off x="10332720" y="5632704"/>
            <a:ext cx="1005840" cy="484632"/>
          </a:xfrm>
          <a:prstGeom prst="roundRect">
            <a:avLst>
              <a:gd name="adj" fmla="val 18868"/>
            </a:avLst>
          </a:prstGeom>
          <a:solidFill>
            <a:schemeClr val="accent1"/>
          </a:solidFill>
          <a:ln w="12700">
            <a:solidFill>
              <a:srgbClr val="FFFFFF">
                <a:alpha val="0"/>
              </a:srgbClr>
            </a:solidFill>
            <a:prstDash val="solid"/>
          </a:ln>
        </p:spPr>
      </p:sp>
      <p:sp>
        <p:nvSpPr>
          <p:cNvPr id="28" name="Text 24"/>
          <p:cNvSpPr txBox="1"/>
          <p:nvPr/>
        </p:nvSpPr>
        <p:spPr>
          <a:xfrm>
            <a:off x="10332720" y="5632704"/>
            <a:ext cx="1005840" cy="484632"/>
          </a:xfrm>
          <a:prstGeom prst="rect">
            <a:avLst/>
          </a:prstGeom>
          <a:noFill/>
          <a:ln/>
        </p:spPr>
        <p:txBody>
          <a:bodyPr wrap="square" lIns="0" tIns="0" rIns="0" bIns="0" rtlCol="0" anchor="ctr"/>
          <a:lstStyle/>
          <a:p>
            <a:pPr algn="ctr" indent="0" marL="0">
              <a:buNone/>
            </a:pPr>
            <a:r>
              <a:rPr lang="en-US" sz="1800" b="1" dirty="0">
                <a:solidFill>
                  <a:schemeClr val="bg1"/>
                </a:solidFill>
              </a:rPr>
              <a:t>over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2" name="Shape 8"/>
          <p:cNvSpPr/>
          <p:nvPr/>
        </p:nvSpPr>
        <p:spPr>
          <a:xfrm>
            <a:off x="6446520" y="2295652"/>
            <a:ext cx="411480" cy="914"/>
          </a:xfrm>
          <a:prstGeom prst="line">
            <a:avLst/>
          </a:prstGeom>
          <a:noFill/>
          <a:ln w="31750">
            <a:solidFill>
              <a:srgbClr val="D9700F"/>
            </a:solidFill>
            <a:prstDash val="solid"/>
            <a:tailEnd type="triangle"/>
          </a:ln>
        </p:spPr>
      </p:sp>
      <p:sp>
        <p:nvSpPr>
          <p:cNvPr id="13" name="Shape 9"/>
          <p:cNvSpPr/>
          <p:nvPr/>
        </p:nvSpPr>
        <p:spPr>
          <a:xfrm>
            <a:off x="6903720" y="1978152"/>
            <a:ext cx="473659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18" name="Shape 14"/>
          <p:cNvSpPr/>
          <p:nvPr/>
        </p:nvSpPr>
        <p:spPr>
          <a:xfrm>
            <a:off x="6446520" y="3022092"/>
            <a:ext cx="411480" cy="914"/>
          </a:xfrm>
          <a:prstGeom prst="line">
            <a:avLst/>
          </a:prstGeom>
          <a:noFill/>
          <a:ln w="31750">
            <a:solidFill>
              <a:srgbClr val="D9700F"/>
            </a:solidFill>
            <a:prstDash val="solid"/>
            <a:tailEnd type="triangle"/>
          </a:ln>
        </p:spPr>
      </p:sp>
      <p:sp>
        <p:nvSpPr>
          <p:cNvPr id="19" name="Shape 15"/>
          <p:cNvSpPr/>
          <p:nvPr/>
        </p:nvSpPr>
        <p:spPr>
          <a:xfrm>
            <a:off x="6903720" y="2704592"/>
            <a:ext cx="473659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24" name="Shape 20"/>
          <p:cNvSpPr/>
          <p:nvPr/>
        </p:nvSpPr>
        <p:spPr>
          <a:xfrm>
            <a:off x="6446520" y="3748532"/>
            <a:ext cx="411480" cy="914"/>
          </a:xfrm>
          <a:prstGeom prst="line">
            <a:avLst/>
          </a:prstGeom>
          <a:noFill/>
          <a:ln w="31750">
            <a:solidFill>
              <a:srgbClr val="D9700F"/>
            </a:solidFill>
            <a:prstDash val="solid"/>
            <a:tailEnd type="triangle"/>
          </a:ln>
        </p:spPr>
      </p:sp>
      <p:sp>
        <p:nvSpPr>
          <p:cNvPr id="25" name="Shape 21"/>
          <p:cNvSpPr/>
          <p:nvPr/>
        </p:nvSpPr>
        <p:spPr>
          <a:xfrm>
            <a:off x="6903720" y="3431032"/>
            <a:ext cx="473659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30" name="Shape 26"/>
          <p:cNvSpPr/>
          <p:nvPr/>
        </p:nvSpPr>
        <p:spPr>
          <a:xfrm>
            <a:off x="6446520" y="4474972"/>
            <a:ext cx="411480" cy="914"/>
          </a:xfrm>
          <a:prstGeom prst="line">
            <a:avLst/>
          </a:prstGeom>
          <a:noFill/>
          <a:ln w="31750">
            <a:solidFill>
              <a:srgbClr val="D9700F"/>
            </a:solidFill>
            <a:prstDash val="solid"/>
            <a:tailEnd type="triangle"/>
          </a:ln>
        </p:spPr>
      </p:sp>
      <p:sp>
        <p:nvSpPr>
          <p:cNvPr id="31" name="Shape 27"/>
          <p:cNvSpPr/>
          <p:nvPr/>
        </p:nvSpPr>
        <p:spPr>
          <a:xfrm>
            <a:off x="6903720" y="4157472"/>
            <a:ext cx="473659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36" name="Shape 32"/>
          <p:cNvSpPr/>
          <p:nvPr/>
        </p:nvSpPr>
        <p:spPr>
          <a:xfrm>
            <a:off x="6446520" y="5201412"/>
            <a:ext cx="411480" cy="914"/>
          </a:xfrm>
          <a:prstGeom prst="line">
            <a:avLst/>
          </a:prstGeom>
          <a:noFill/>
          <a:ln w="31750">
            <a:solidFill>
              <a:srgbClr val="D9700F"/>
            </a:solidFill>
            <a:prstDash val="solid"/>
            <a:tailEnd type="triangle"/>
          </a:ln>
        </p:spPr>
      </p:sp>
      <p:sp>
        <p:nvSpPr>
          <p:cNvPr id="37" name="Shape 33"/>
          <p:cNvSpPr/>
          <p:nvPr/>
        </p:nvSpPr>
        <p:spPr>
          <a:xfrm>
            <a:off x="6903720" y="4883912"/>
            <a:ext cx="473659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42" name="Shape 38"/>
          <p:cNvSpPr/>
          <p:nvPr/>
        </p:nvSpPr>
        <p:spPr>
          <a:xfrm>
            <a:off x="6446520" y="5927852"/>
            <a:ext cx="411480" cy="914"/>
          </a:xfrm>
          <a:prstGeom prst="line">
            <a:avLst/>
          </a:prstGeom>
          <a:noFill/>
          <a:ln w="31750">
            <a:solidFill>
              <a:srgbClr val="D9700F"/>
            </a:solidFill>
            <a:prstDash val="solid"/>
            <a:tailEnd type="triangle"/>
          </a:ln>
        </p:spPr>
      </p:sp>
      <p:sp>
        <p:nvSpPr>
          <p:cNvPr id="43" name="Shape 39"/>
          <p:cNvSpPr/>
          <p:nvPr/>
        </p:nvSpPr>
        <p:spPr>
          <a:xfrm>
            <a:off x="6903720" y="5610352"/>
            <a:ext cx="473659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Posez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question qui correspond à la partie soulignée. Chose ou personne ?</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16052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de bus</a:t>
            </a:r>
            <a:r>
              <a:rPr lang="en-US" sz="1800" i="1" dirty="0">
                <a:solidFill>
                  <a:schemeClr val="tx1"/>
                </a:solidFill>
              </a:rPr>
              <a:t>.</a:t>
            </a:r>
            <a:endParaRPr lang="en-US" sz="1800" dirty="0"/>
          </a:p>
        </p:txBody>
      </p:sp>
      <p:sp>
        <p:nvSpPr>
          <p:cNvPr id="13" name="tag"/>
          <p:cNvSpPr/>
          <p:nvPr/>
        </p:nvSpPr>
        <p:spPr>
          <a:xfrm>
            <a:off x="5285232" y="21584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14" name="Shape 10"/>
          <p:cNvSpPr/>
          <p:nvPr/>
        </p:nvSpPr>
        <p:spPr>
          <a:xfrm>
            <a:off x="6446520" y="2295652"/>
            <a:ext cx="411480" cy="914"/>
          </a:xfrm>
          <a:prstGeom prst="line">
            <a:avLst/>
          </a:prstGeom>
          <a:noFill/>
          <a:ln w="31750">
            <a:solidFill>
              <a:srgbClr val="D9700F"/>
            </a:solidFill>
            <a:prstDash val="solid"/>
            <a:tailEnd type="triangle"/>
          </a:ln>
        </p:spPr>
      </p:sp>
      <p:sp>
        <p:nvSpPr>
          <p:cNvPr id="15" name="Shape 11"/>
          <p:cNvSpPr/>
          <p:nvPr/>
        </p:nvSpPr>
        <p:spPr>
          <a:xfrm>
            <a:off x="6903720" y="1978152"/>
            <a:ext cx="473659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7040880" y="19964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wacht je op?</a:t>
            </a:r>
            <a:endParaRPr lang="en-US" sz="1700" dirty="0"/>
          </a:p>
        </p:txBody>
      </p:sp>
      <p:sp>
        <p:nvSpPr>
          <p:cNvPr id="17" name="Text 13"/>
          <p:cNvSpPr txBox="1"/>
          <p:nvPr/>
        </p:nvSpPr>
        <p:spPr>
          <a:xfrm>
            <a:off x="7040880" y="22988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Waarop wacht je?</a:t>
            </a:r>
            <a:endParaRPr lang="en-US" sz="1300" dirty="0"/>
          </a:p>
        </p:txBody>
      </p:sp>
      <p:sp>
        <p:nvSpPr>
          <p:cNvPr id="18" name="Shape 14"/>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9" name="Text 15"/>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Shape 16"/>
          <p:cNvSpPr/>
          <p:nvPr/>
        </p:nvSpPr>
        <p:spPr>
          <a:xfrm>
            <a:off x="1005840" y="2704592"/>
            <a:ext cx="4160520" cy="616712"/>
          </a:xfrm>
          <a:prstGeom prst="roundRect">
            <a:avLst>
              <a:gd name="adj" fmla="val 11862"/>
            </a:avLst>
          </a:prstGeom>
          <a:solidFill>
            <a:schemeClr val="bg2"/>
          </a:solidFill>
          <a:ln w="12700">
            <a:solidFill>
              <a:srgbClr val="D5DCE6"/>
            </a:solidFill>
            <a:prstDash val="solid"/>
          </a:ln>
        </p:spPr>
      </p:sp>
      <p:sp>
        <p:nvSpPr>
          <p:cNvPr id="21" name="Text 17"/>
          <p:cNvSpPr txBox="1"/>
          <p:nvPr/>
        </p:nvSpPr>
        <p:spPr>
          <a:xfrm>
            <a:off x="1143000" y="270459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denk </a:t>
            </a:r>
            <a:r>
              <a:rPr lang="en-US" sz="1800" i="1" u="sng" dirty="0">
                <a:solidFill>
                  <a:schemeClr val="tx1"/>
                </a:solidFill>
              </a:rPr>
              <a:t>aan mijn vakantie</a:t>
            </a:r>
            <a:r>
              <a:rPr lang="en-US" sz="1800" i="1" dirty="0">
                <a:solidFill>
                  <a:schemeClr val="tx1"/>
                </a:solidFill>
              </a:rPr>
              <a:t>.</a:t>
            </a:r>
            <a:endParaRPr lang="en-US" sz="1800" dirty="0"/>
          </a:p>
        </p:txBody>
      </p:sp>
      <p:sp>
        <p:nvSpPr>
          <p:cNvPr id="22" name="tag"/>
          <p:cNvSpPr/>
          <p:nvPr/>
        </p:nvSpPr>
        <p:spPr>
          <a:xfrm>
            <a:off x="5285232" y="288493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23" name="Shape 19"/>
          <p:cNvSpPr/>
          <p:nvPr/>
        </p:nvSpPr>
        <p:spPr>
          <a:xfrm>
            <a:off x="6446520" y="3022092"/>
            <a:ext cx="411480" cy="914"/>
          </a:xfrm>
          <a:prstGeom prst="line">
            <a:avLst/>
          </a:prstGeom>
          <a:noFill/>
          <a:ln w="31750">
            <a:solidFill>
              <a:srgbClr val="D9700F"/>
            </a:solidFill>
            <a:prstDash val="solid"/>
            <a:tailEnd type="triangle"/>
          </a:ln>
        </p:spPr>
      </p:sp>
      <p:sp>
        <p:nvSpPr>
          <p:cNvPr id="24" name="Shape 20"/>
          <p:cNvSpPr/>
          <p:nvPr/>
        </p:nvSpPr>
        <p:spPr>
          <a:xfrm>
            <a:off x="6903720" y="2704592"/>
            <a:ext cx="4736592" cy="616712"/>
          </a:xfrm>
          <a:prstGeom prst="roundRect">
            <a:avLst>
              <a:gd name="adj" fmla="val 11862"/>
            </a:avLst>
          </a:prstGeom>
          <a:solidFill>
            <a:srgbClr val="EDF6F0"/>
          </a:solidFill>
          <a:ln w="15875">
            <a:solidFill>
              <a:srgbClr val="2E7D4F"/>
            </a:solidFill>
            <a:prstDash val="solid"/>
          </a:ln>
        </p:spPr>
      </p:sp>
      <p:sp>
        <p:nvSpPr>
          <p:cNvPr id="25" name="Text 21"/>
          <p:cNvSpPr txBox="1"/>
          <p:nvPr/>
        </p:nvSpPr>
        <p:spPr>
          <a:xfrm>
            <a:off x="7040880" y="272288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 denk je aan?</a:t>
            </a:r>
            <a:endParaRPr lang="en-US" sz="1700" dirty="0"/>
          </a:p>
        </p:txBody>
      </p:sp>
      <p:sp>
        <p:nvSpPr>
          <p:cNvPr id="26" name="Text 22"/>
          <p:cNvSpPr txBox="1"/>
          <p:nvPr/>
        </p:nvSpPr>
        <p:spPr>
          <a:xfrm>
            <a:off x="7040880" y="302528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Waaraan denk je?</a:t>
            </a:r>
            <a:endParaRPr lang="en-US" sz="1300" dirty="0"/>
          </a:p>
        </p:txBody>
      </p:sp>
      <p:sp>
        <p:nvSpPr>
          <p:cNvPr id="27" name="Shape 23"/>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8" name="Text 24"/>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5"/>
          <p:cNvSpPr/>
          <p:nvPr/>
        </p:nvSpPr>
        <p:spPr>
          <a:xfrm>
            <a:off x="1005840" y="3431032"/>
            <a:ext cx="4160520" cy="616712"/>
          </a:xfrm>
          <a:prstGeom prst="roundRect">
            <a:avLst>
              <a:gd name="adj" fmla="val 11862"/>
            </a:avLst>
          </a:prstGeom>
          <a:solidFill>
            <a:schemeClr val="bg2"/>
          </a:solidFill>
          <a:ln w="12700">
            <a:solidFill>
              <a:srgbClr val="D5DCE6"/>
            </a:solidFill>
            <a:prstDash val="solid"/>
          </a:ln>
        </p:spPr>
      </p:sp>
      <p:sp>
        <p:nvSpPr>
          <p:cNvPr id="30" name="Text 26"/>
          <p:cNvSpPr txBox="1"/>
          <p:nvPr/>
        </p:nvSpPr>
        <p:spPr>
          <a:xfrm>
            <a:off x="1143000" y="343103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betaal </a:t>
            </a:r>
            <a:r>
              <a:rPr lang="en-US" sz="1800" i="1" u="sng" dirty="0">
                <a:solidFill>
                  <a:schemeClr val="tx1"/>
                </a:solidFill>
              </a:rPr>
              <a:t>met mijn kaart</a:t>
            </a:r>
            <a:r>
              <a:rPr lang="en-US" sz="1800" i="1" dirty="0">
                <a:solidFill>
                  <a:schemeClr val="tx1"/>
                </a:solidFill>
              </a:rPr>
              <a:t>.</a:t>
            </a:r>
            <a:endParaRPr lang="en-US" sz="1800" dirty="0"/>
          </a:p>
        </p:txBody>
      </p:sp>
      <p:sp>
        <p:nvSpPr>
          <p:cNvPr id="31" name="tag"/>
          <p:cNvSpPr/>
          <p:nvPr/>
        </p:nvSpPr>
        <p:spPr>
          <a:xfrm>
            <a:off x="5285232" y="361137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32" name="Shape 28"/>
          <p:cNvSpPr/>
          <p:nvPr/>
        </p:nvSpPr>
        <p:spPr>
          <a:xfrm>
            <a:off x="6446520" y="3748532"/>
            <a:ext cx="411480" cy="914"/>
          </a:xfrm>
          <a:prstGeom prst="line">
            <a:avLst/>
          </a:prstGeom>
          <a:noFill/>
          <a:ln w="31750">
            <a:solidFill>
              <a:srgbClr val="D9700F"/>
            </a:solidFill>
            <a:prstDash val="solid"/>
            <a:tailEnd type="triangle"/>
          </a:ln>
        </p:spPr>
      </p:sp>
      <p:sp>
        <p:nvSpPr>
          <p:cNvPr id="33" name="Shape 29"/>
          <p:cNvSpPr/>
          <p:nvPr/>
        </p:nvSpPr>
        <p:spPr>
          <a:xfrm>
            <a:off x="6903720" y="3431032"/>
            <a:ext cx="4736592" cy="616712"/>
          </a:xfrm>
          <a:prstGeom prst="roundRect">
            <a:avLst>
              <a:gd name="adj" fmla="val 11862"/>
            </a:avLst>
          </a:prstGeom>
          <a:solidFill>
            <a:srgbClr val="EDF6F0"/>
          </a:solidFill>
          <a:ln w="15875">
            <a:solidFill>
              <a:srgbClr val="2E7D4F"/>
            </a:solidFill>
            <a:prstDash val="solid"/>
          </a:ln>
        </p:spPr>
      </p:sp>
      <p:sp>
        <p:nvSpPr>
          <p:cNvPr id="34" name="Text 30"/>
          <p:cNvSpPr txBox="1"/>
          <p:nvPr/>
        </p:nvSpPr>
        <p:spPr>
          <a:xfrm>
            <a:off x="7040880" y="344932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Waarmee betaal je?</a:t>
            </a:r>
            <a:endParaRPr lang="en-US" sz="1700" dirty="0"/>
          </a:p>
        </p:txBody>
      </p:sp>
      <p:sp>
        <p:nvSpPr>
          <p:cNvPr id="35" name="Text 31"/>
          <p:cNvSpPr txBox="1"/>
          <p:nvPr/>
        </p:nvSpPr>
        <p:spPr>
          <a:xfrm>
            <a:off x="7040880" y="375172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betaal je mee?</a:t>
            </a:r>
            <a:endParaRPr lang="en-US" sz="1300" dirty="0"/>
          </a:p>
        </p:txBody>
      </p:sp>
      <p:sp>
        <p:nvSpPr>
          <p:cNvPr id="36" name="Shape 3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Shape 34"/>
          <p:cNvSpPr/>
          <p:nvPr/>
        </p:nvSpPr>
        <p:spPr>
          <a:xfrm>
            <a:off x="1005840" y="4157472"/>
            <a:ext cx="416052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15747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praat </a:t>
            </a:r>
            <a:r>
              <a:rPr lang="en-US" sz="1800" i="1" u="sng" dirty="0">
                <a:solidFill>
                  <a:schemeClr val="tx1"/>
                </a:solidFill>
              </a:rPr>
              <a:t>met Sofie</a:t>
            </a:r>
            <a:r>
              <a:rPr lang="en-US" sz="1800" i="1" dirty="0">
                <a:solidFill>
                  <a:schemeClr val="tx1"/>
                </a:solidFill>
              </a:rPr>
              <a:t>.</a:t>
            </a:r>
            <a:endParaRPr lang="en-US" sz="1800" dirty="0"/>
          </a:p>
        </p:txBody>
      </p:sp>
      <p:sp>
        <p:nvSpPr>
          <p:cNvPr id="40" name="tag"/>
          <p:cNvSpPr/>
          <p:nvPr/>
        </p:nvSpPr>
        <p:spPr>
          <a:xfrm>
            <a:off x="5285232" y="433781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1" name="Shape 37"/>
          <p:cNvSpPr/>
          <p:nvPr/>
        </p:nvSpPr>
        <p:spPr>
          <a:xfrm>
            <a:off x="6446520" y="4474972"/>
            <a:ext cx="411480" cy="914"/>
          </a:xfrm>
          <a:prstGeom prst="line">
            <a:avLst/>
          </a:prstGeom>
          <a:noFill/>
          <a:ln w="31750">
            <a:solidFill>
              <a:srgbClr val="D9700F"/>
            </a:solidFill>
            <a:prstDash val="solid"/>
            <a:tailEnd type="triangle"/>
          </a:ln>
        </p:spPr>
      </p:sp>
      <p:sp>
        <p:nvSpPr>
          <p:cNvPr id="42" name="Shape 38"/>
          <p:cNvSpPr/>
          <p:nvPr/>
        </p:nvSpPr>
        <p:spPr>
          <a:xfrm>
            <a:off x="6903720" y="4157472"/>
            <a:ext cx="473659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7040880" y="415747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Met wie praat je?</a:t>
            </a:r>
            <a:endParaRPr lang="en-US" sz="1800" dirty="0"/>
          </a:p>
        </p:txBody>
      </p:sp>
      <p:sp>
        <p:nvSpPr>
          <p:cNvPr id="44" name="Shape 40"/>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6" name="Shape 42"/>
          <p:cNvSpPr/>
          <p:nvPr/>
        </p:nvSpPr>
        <p:spPr>
          <a:xfrm>
            <a:off x="1005840" y="4883912"/>
            <a:ext cx="416052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488391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Ik wacht </a:t>
            </a:r>
            <a:r>
              <a:rPr lang="en-US" sz="1800" i="1" u="sng" dirty="0">
                <a:solidFill>
                  <a:schemeClr val="tx1"/>
                </a:solidFill>
              </a:rPr>
              <a:t>op An</a:t>
            </a:r>
            <a:r>
              <a:rPr lang="en-US" sz="1800" i="1" dirty="0">
                <a:solidFill>
                  <a:schemeClr val="tx1"/>
                </a:solidFill>
              </a:rPr>
              <a:t>.</a:t>
            </a:r>
            <a:endParaRPr lang="en-US" sz="1800" dirty="0"/>
          </a:p>
        </p:txBody>
      </p:sp>
      <p:sp>
        <p:nvSpPr>
          <p:cNvPr id="48" name="tag"/>
          <p:cNvSpPr/>
          <p:nvPr/>
        </p:nvSpPr>
        <p:spPr>
          <a:xfrm>
            <a:off x="5285232" y="5064252"/>
            <a:ext cx="1157021"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100" b="1" spc="100" kern="0" dirty="0">
                <a:solidFill>
                  <a:srgbClr val="FFFFFF"/>
                </a:solidFill>
              </a:rPr>
              <a:t>personne</a:t>
            </a:r>
            <a:endParaRPr lang="en-US" sz="1100" dirty="0"/>
          </a:p>
        </p:txBody>
      </p:sp>
      <p:sp>
        <p:nvSpPr>
          <p:cNvPr id="49" name="Shape 45"/>
          <p:cNvSpPr/>
          <p:nvPr/>
        </p:nvSpPr>
        <p:spPr>
          <a:xfrm>
            <a:off x="6446520" y="5201412"/>
            <a:ext cx="411480" cy="914"/>
          </a:xfrm>
          <a:prstGeom prst="line">
            <a:avLst/>
          </a:prstGeom>
          <a:noFill/>
          <a:ln w="31750">
            <a:solidFill>
              <a:srgbClr val="D9700F"/>
            </a:solidFill>
            <a:prstDash val="solid"/>
            <a:tailEnd type="triangle"/>
          </a:ln>
        </p:spPr>
      </p:sp>
      <p:sp>
        <p:nvSpPr>
          <p:cNvPr id="50" name="Shape 46"/>
          <p:cNvSpPr/>
          <p:nvPr/>
        </p:nvSpPr>
        <p:spPr>
          <a:xfrm>
            <a:off x="6903720" y="4883912"/>
            <a:ext cx="4736592" cy="616712"/>
          </a:xfrm>
          <a:prstGeom prst="roundRect">
            <a:avLst>
              <a:gd name="adj" fmla="val 11862"/>
            </a:avLst>
          </a:prstGeom>
          <a:solidFill>
            <a:srgbClr val="EDF6F0"/>
          </a:solidFill>
          <a:ln w="15875">
            <a:solidFill>
              <a:srgbClr val="2E7D4F"/>
            </a:solidFill>
            <a:prstDash val="solid"/>
          </a:ln>
        </p:spPr>
      </p:sp>
      <p:sp>
        <p:nvSpPr>
          <p:cNvPr id="51" name="Text 47"/>
          <p:cNvSpPr txBox="1"/>
          <p:nvPr/>
        </p:nvSpPr>
        <p:spPr>
          <a:xfrm>
            <a:off x="7040880" y="4883912"/>
            <a:ext cx="45262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wie wacht je?</a:t>
            </a:r>
            <a:endParaRPr lang="en-US" sz="1800" dirty="0"/>
          </a:p>
        </p:txBody>
      </p:sp>
      <p:sp>
        <p:nvSpPr>
          <p:cNvPr id="52" name="Shape 48"/>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53" name="Text 49"/>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Shape 50"/>
          <p:cNvSpPr/>
          <p:nvPr/>
        </p:nvSpPr>
        <p:spPr>
          <a:xfrm>
            <a:off x="1005840" y="5610352"/>
            <a:ext cx="4160520" cy="616712"/>
          </a:xfrm>
          <a:prstGeom prst="roundRect">
            <a:avLst>
              <a:gd name="adj" fmla="val 11862"/>
            </a:avLst>
          </a:prstGeom>
          <a:solidFill>
            <a:schemeClr val="bg2"/>
          </a:solidFill>
          <a:ln w="12700">
            <a:solidFill>
              <a:srgbClr val="D5DCE6"/>
            </a:solidFill>
            <a:prstDash val="solid"/>
          </a:ln>
        </p:spPr>
      </p:sp>
      <p:sp>
        <p:nvSpPr>
          <p:cNvPr id="55" name="Text 51"/>
          <p:cNvSpPr txBox="1"/>
          <p:nvPr/>
        </p:nvSpPr>
        <p:spPr>
          <a:xfrm>
            <a:off x="1143000" y="5610352"/>
            <a:ext cx="3977640" cy="616712"/>
          </a:xfrm>
          <a:prstGeom prst="rect">
            <a:avLst/>
          </a:prstGeom>
          <a:noFill/>
          <a:ln/>
        </p:spPr>
        <p:txBody>
          <a:bodyPr wrap="square" lIns="0" tIns="0" rIns="0" bIns="0" rtlCol="0" anchor="ctr"/>
          <a:lstStyle/>
          <a:p>
            <a:pPr algn="l" indent="0" marL="0">
              <a:buNone/>
            </a:pPr>
            <a:r>
              <a:rPr lang="en-US" sz="1800" i="1" dirty="0">
                <a:solidFill>
                  <a:schemeClr val="tx1"/>
                </a:solidFill>
              </a:rPr>
              <a:t>We praten </a:t>
            </a:r>
            <a:r>
              <a:rPr lang="en-US" sz="1800" i="1" u="sng" dirty="0">
                <a:solidFill>
                  <a:schemeClr val="tx1"/>
                </a:solidFill>
              </a:rPr>
              <a:t>over het budget</a:t>
            </a:r>
            <a:r>
              <a:rPr lang="en-US" sz="1800" i="1" dirty="0">
                <a:solidFill>
                  <a:schemeClr val="tx1"/>
                </a:solidFill>
              </a:rPr>
              <a:t>.</a:t>
            </a:r>
            <a:endParaRPr lang="en-US" sz="1800" dirty="0"/>
          </a:p>
        </p:txBody>
      </p:sp>
      <p:sp>
        <p:nvSpPr>
          <p:cNvPr id="56" name="tag"/>
          <p:cNvSpPr/>
          <p:nvPr/>
        </p:nvSpPr>
        <p:spPr>
          <a:xfrm>
            <a:off x="5285232" y="5790692"/>
            <a:ext cx="860298"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chose</a:t>
            </a:r>
            <a:endParaRPr lang="en-US" sz="1100" dirty="0"/>
          </a:p>
        </p:txBody>
      </p:sp>
      <p:sp>
        <p:nvSpPr>
          <p:cNvPr id="57" name="Shape 53"/>
          <p:cNvSpPr/>
          <p:nvPr/>
        </p:nvSpPr>
        <p:spPr>
          <a:xfrm>
            <a:off x="6446520" y="5927852"/>
            <a:ext cx="411480" cy="914"/>
          </a:xfrm>
          <a:prstGeom prst="line">
            <a:avLst/>
          </a:prstGeom>
          <a:noFill/>
          <a:ln w="31750">
            <a:solidFill>
              <a:srgbClr val="D9700F"/>
            </a:solidFill>
            <a:prstDash val="solid"/>
            <a:tailEnd type="triangle"/>
          </a:ln>
        </p:spPr>
      </p:sp>
      <p:sp>
        <p:nvSpPr>
          <p:cNvPr id="58" name="Shape 54"/>
          <p:cNvSpPr/>
          <p:nvPr/>
        </p:nvSpPr>
        <p:spPr>
          <a:xfrm>
            <a:off x="6903720" y="5610352"/>
            <a:ext cx="4736592" cy="616712"/>
          </a:xfrm>
          <a:prstGeom prst="roundRect">
            <a:avLst>
              <a:gd name="adj" fmla="val 11862"/>
            </a:avLst>
          </a:prstGeom>
          <a:solidFill>
            <a:srgbClr val="EDF6F0"/>
          </a:solidFill>
          <a:ln w="15875">
            <a:solidFill>
              <a:srgbClr val="2E7D4F"/>
            </a:solidFill>
            <a:prstDash val="solid"/>
          </a:ln>
        </p:spPr>
      </p:sp>
      <p:sp>
        <p:nvSpPr>
          <p:cNvPr id="59" name="Text 55"/>
          <p:cNvSpPr txBox="1"/>
          <p:nvPr/>
        </p:nvSpPr>
        <p:spPr>
          <a:xfrm>
            <a:off x="7040880" y="5628640"/>
            <a:ext cx="4526280" cy="339192"/>
          </a:xfrm>
          <a:prstGeom prst="rect">
            <a:avLst/>
          </a:prstGeom>
          <a:noFill/>
          <a:ln/>
        </p:spPr>
        <p:txBody>
          <a:bodyPr wrap="square" lIns="0" tIns="0" rIns="0" bIns="0" rtlCol="0" anchor="ctr"/>
          <a:lstStyle/>
          <a:p>
            <a:pPr algn="l" indent="0" marL="0">
              <a:buNone/>
            </a:pPr>
            <a:r>
              <a:rPr lang="en-US" sz="1700" b="1" i="1" dirty="0">
                <a:solidFill>
                  <a:schemeClr val="accent3"/>
                </a:solidFill>
              </a:rPr>
              <a:t>Waarover praten jullie?</a:t>
            </a:r>
            <a:endParaRPr lang="en-US" sz="1700" dirty="0"/>
          </a:p>
        </p:txBody>
      </p:sp>
      <p:sp>
        <p:nvSpPr>
          <p:cNvPr id="60" name="Text 56"/>
          <p:cNvSpPr txBox="1"/>
          <p:nvPr/>
        </p:nvSpPr>
        <p:spPr>
          <a:xfrm>
            <a:off x="7040880" y="5931042"/>
            <a:ext cx="4526280" cy="277520"/>
          </a:xfrm>
          <a:prstGeom prst="rect">
            <a:avLst/>
          </a:prstGeom>
          <a:noFill/>
          <a:ln/>
        </p:spPr>
        <p:txBody>
          <a:bodyPr wrap="square" lIns="0" tIns="0" rIns="0" bIns="0" rtlCol="0" anchor="ctr"/>
          <a:lstStyle/>
          <a:p>
            <a:pPr algn="l" indent="0" marL="0">
              <a:buNone/>
            </a:pPr>
            <a:r>
              <a:rPr lang="en-US" sz="1300" dirty="0">
                <a:solidFill>
                  <a:schemeClr val="accent5"/>
                </a:solidFill>
              </a:rPr>
              <a:t>ou </a:t>
            </a:r>
            <a:r>
              <a:rPr lang="en-US" sz="1300" i="1" dirty="0">
                <a:solidFill>
                  <a:schemeClr val="accent5"/>
                </a:solidFill>
              </a:rPr>
              <a:t>Waar praten jullie over?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8" name="Shape 4"/>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9" name="Text 5"/>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0"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1" name="Text 6"/>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i="1" dirty="0">
                <a:solidFill>
                  <a:schemeClr val="accent5"/>
                </a:solidFill>
              </a:rPr>
              <a:t>……………</a:t>
            </a:r>
            <a:r>
              <a:rPr lang="en-US" sz="2000" i="1" dirty="0">
                <a:solidFill>
                  <a:schemeClr val="tx1"/>
                </a:solidFill>
              </a:rPr>
              <a:t>.</a:t>
            </a:r>
            <a:endParaRPr lang="en-US" sz="2000" dirty="0"/>
          </a:p>
        </p:txBody>
      </p:sp>
      <p:sp>
        <p:nvSpPr>
          <p:cNvPr id="12" name="Shape 7"/>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3" name="Text 8"/>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4"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5" name="Text 9"/>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i="1" dirty="0">
                <a:solidFill>
                  <a:schemeClr val="accent5"/>
                </a:solidFill>
              </a:rPr>
              <a:t>…………</a:t>
            </a:r>
            <a:r>
              <a:rPr lang="en-US" sz="2000" i="1" dirty="0">
                <a:solidFill>
                  <a:schemeClr val="tx1"/>
                </a:solidFill>
              </a:rPr>
              <a:t>?</a:t>
            </a:r>
            <a:endParaRPr lang="en-US" sz="2000" dirty="0"/>
          </a:p>
        </p:txBody>
      </p:sp>
      <p:sp>
        <p:nvSpPr>
          <p:cNvPr id="16" name="Shape 10"/>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7" name="Text 11"/>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8"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19" name="Text 12"/>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i="1" dirty="0">
                <a:solidFill>
                  <a:schemeClr val="accent5"/>
                </a:solidFill>
              </a:rPr>
              <a:t>…………</a:t>
            </a:r>
            <a:r>
              <a:rPr lang="en-US" sz="2000" i="1" dirty="0">
                <a:solidFill>
                  <a:schemeClr val="tx1"/>
                </a:solidFill>
              </a:rPr>
              <a:t> graag </a:t>
            </a:r>
            <a:r>
              <a:rPr lang="en-US" sz="2000" i="1" dirty="0">
                <a:solidFill>
                  <a:schemeClr val="accent5"/>
                </a:solidFill>
              </a:rPr>
              <a:t>…………</a:t>
            </a:r>
            <a:r>
              <a:rPr lang="en-US" sz="2000" i="1" dirty="0">
                <a:solidFill>
                  <a:schemeClr val="tx1"/>
                </a:solidFill>
              </a:rPr>
              <a:t>.</a:t>
            </a:r>
            <a:endParaRPr lang="en-US" sz="2000" dirty="0"/>
          </a:p>
        </p:txBody>
      </p:sp>
      <p:sp>
        <p:nvSpPr>
          <p:cNvPr id="20" name="Shape 13"/>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1" name="Text 14"/>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2"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3" name="Text 15"/>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i="1" dirty="0">
                <a:solidFill>
                  <a:schemeClr val="accent5"/>
                </a:solidFill>
              </a:rPr>
              <a:t>…………</a:t>
            </a:r>
            <a:r>
              <a:rPr lang="en-US" sz="2000" i="1" dirty="0">
                <a:solidFill>
                  <a:schemeClr val="tx1"/>
                </a:solidFill>
              </a:rPr>
              <a:t>.</a:t>
            </a:r>
            <a:endParaRPr lang="en-US" sz="2000" dirty="0"/>
          </a:p>
        </p:txBody>
      </p:sp>
      <p:sp>
        <p:nvSpPr>
          <p:cNvPr id="24" name="Shape 16"/>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5" name="Text 17"/>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6"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7" name="Text 18"/>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i="1" dirty="0">
                <a:solidFill>
                  <a:schemeClr val="accent5"/>
                </a:solidFill>
              </a:rPr>
              <a:t>…………</a:t>
            </a:r>
            <a:r>
              <a:rPr lang="en-US" sz="2000" i="1" dirty="0">
                <a:solidFill>
                  <a:schemeClr val="tx1"/>
                </a:solidFill>
              </a:rPr>
              <a:t> al lang </a:t>
            </a:r>
            <a:r>
              <a:rPr lang="en-US" sz="2000" i="1" dirty="0">
                <a:solidFill>
                  <a:schemeClr val="accent5"/>
                </a:solidFill>
              </a:rPr>
              <a:t>…………</a:t>
            </a:r>
            <a:r>
              <a:rPr lang="en-US" sz="2000" i="1" dirty="0">
                <a:solidFill>
                  <a:schemeClr val="tx1"/>
                </a:solidFill>
              </a:rPr>
              <a:t>.</a:t>
            </a:r>
            <a:endParaRPr lang="en-US" sz="2000" dirty="0"/>
          </a:p>
        </p:txBody>
      </p:sp>
      <p:sp>
        <p:nvSpPr>
          <p:cNvPr id="28" name="Shape 19"/>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29" name="Text 20"/>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0"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1" name="Text 21"/>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Chose ou personne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 er + préposition (chose) ou préposition + pronom (personne) ?</a:t>
            </a:r>
            <a:endParaRPr lang="en-US" sz="1700" dirty="0"/>
          </a:p>
        </p:txBody>
      </p:sp>
      <p:sp>
        <p:nvSpPr>
          <p:cNvPr id="9" name="Shape 5"/>
          <p:cNvSpPr/>
          <p:nvPr/>
        </p:nvSpPr>
        <p:spPr>
          <a:xfrm>
            <a:off x="548640" y="1969008"/>
            <a:ext cx="11091672" cy="653288"/>
          </a:xfrm>
          <a:prstGeom prst="roundRect">
            <a:avLst>
              <a:gd name="adj" fmla="val 11198"/>
            </a:avLst>
          </a:prstGeom>
          <a:solidFill>
            <a:schemeClr val="bg2"/>
          </a:solidFill>
          <a:ln w="9525">
            <a:solidFill>
              <a:srgbClr val="D5DCE6"/>
            </a:solidFill>
            <a:prstDash val="solid"/>
          </a:ln>
        </p:spPr>
      </p:sp>
      <p:sp>
        <p:nvSpPr>
          <p:cNvPr id="10" name="Text 6"/>
          <p:cNvSpPr txBox="1"/>
          <p:nvPr/>
        </p:nvSpPr>
        <p:spPr>
          <a:xfrm>
            <a:off x="685800" y="19690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pic>
        <p:nvPicPr>
          <p:cNvPr id="11" name="Image 1" descr="face with thermometer">    </p:cNvPr>
          <p:cNvPicPr>
            <a:picLocks noChangeAspect="1"/>
          </p:cNvPicPr>
          <p:nvPr/>
        </p:nvPicPr>
        <p:blipFill>
          <a:blip r:embed="rId2"/>
          <a:stretch>
            <a:fillRect/>
          </a:stretch>
        </p:blipFill>
        <p:spPr>
          <a:xfrm>
            <a:off x="1097280" y="2021332"/>
            <a:ext cx="548640" cy="548640"/>
          </a:xfrm>
          <a:prstGeom prst="rect">
            <a:avLst/>
          </a:prstGeom>
        </p:spPr>
      </p:pic>
      <p:sp>
        <p:nvSpPr>
          <p:cNvPr id="12" name="Text 7"/>
          <p:cNvSpPr txBox="1"/>
          <p:nvPr/>
        </p:nvSpPr>
        <p:spPr>
          <a:xfrm>
            <a:off x="1828800" y="19690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Mijn moeder is ziek. Ik denk vaak </a:t>
            </a:r>
            <a:r>
              <a:rPr lang="en-US" sz="2000" b="1" i="1" dirty="0">
                <a:solidFill>
                  <a:schemeClr val="accent3"/>
                </a:solidFill>
              </a:rPr>
              <a:t>aan haar</a:t>
            </a:r>
            <a:r>
              <a:rPr lang="en-US" sz="2000" i="1" dirty="0">
                <a:solidFill>
                  <a:schemeClr val="tx1"/>
                </a:solidFill>
              </a:rPr>
              <a:t>.</a:t>
            </a:r>
            <a:endParaRPr lang="en-US" sz="2000" dirty="0"/>
          </a:p>
        </p:txBody>
      </p:sp>
      <p:sp>
        <p:nvSpPr>
          <p:cNvPr id="13" name="Shape 8"/>
          <p:cNvSpPr/>
          <p:nvPr/>
        </p:nvSpPr>
        <p:spPr>
          <a:xfrm>
            <a:off x="548640" y="2695448"/>
            <a:ext cx="11091672" cy="653288"/>
          </a:xfrm>
          <a:prstGeom prst="roundRect">
            <a:avLst>
              <a:gd name="adj" fmla="val 11198"/>
            </a:avLst>
          </a:prstGeom>
          <a:solidFill>
            <a:schemeClr val="bg2"/>
          </a:solidFill>
          <a:ln w="9525">
            <a:solidFill>
              <a:srgbClr val="D5DCE6"/>
            </a:solidFill>
            <a:prstDash val="solid"/>
          </a:ln>
        </p:spPr>
      </p:sp>
      <p:sp>
        <p:nvSpPr>
          <p:cNvPr id="14" name="Text 9"/>
          <p:cNvSpPr txBox="1"/>
          <p:nvPr/>
        </p:nvSpPr>
        <p:spPr>
          <a:xfrm>
            <a:off x="685800" y="269544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pic>
        <p:nvPicPr>
          <p:cNvPr id="15" name="Image 2" descr="spiral calendar">    </p:cNvPr>
          <p:cNvPicPr>
            <a:picLocks noChangeAspect="1"/>
          </p:cNvPicPr>
          <p:nvPr/>
        </p:nvPicPr>
        <p:blipFill>
          <a:blip r:embed="rId3"/>
          <a:stretch>
            <a:fillRect/>
          </a:stretch>
        </p:blipFill>
        <p:spPr>
          <a:xfrm>
            <a:off x="1097280" y="2747772"/>
            <a:ext cx="548640" cy="548640"/>
          </a:xfrm>
          <a:prstGeom prst="rect">
            <a:avLst/>
          </a:prstGeom>
        </p:spPr>
      </p:pic>
      <p:sp>
        <p:nvSpPr>
          <p:cNvPr id="16" name="Text 10"/>
          <p:cNvSpPr txBox="1"/>
          <p:nvPr/>
        </p:nvSpPr>
        <p:spPr>
          <a:xfrm>
            <a:off x="1828800" y="269544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deadline is morgen. Denk je </a:t>
            </a:r>
            <a:r>
              <a:rPr lang="en-US" sz="2000" b="1" i="1" dirty="0">
                <a:solidFill>
                  <a:schemeClr val="accent3"/>
                </a:solidFill>
              </a:rPr>
              <a:t>eraan</a:t>
            </a:r>
            <a:r>
              <a:rPr lang="en-US" sz="2000" i="1" dirty="0">
                <a:solidFill>
                  <a:schemeClr val="tx1"/>
                </a:solidFill>
              </a:rPr>
              <a:t>?</a:t>
            </a:r>
            <a:endParaRPr lang="en-US" sz="2000" dirty="0"/>
          </a:p>
        </p:txBody>
      </p:sp>
      <p:sp>
        <p:nvSpPr>
          <p:cNvPr id="17" name="Shape 11"/>
          <p:cNvSpPr/>
          <p:nvPr/>
        </p:nvSpPr>
        <p:spPr>
          <a:xfrm>
            <a:off x="548640" y="3421888"/>
            <a:ext cx="11091672" cy="653288"/>
          </a:xfrm>
          <a:prstGeom prst="roundRect">
            <a:avLst>
              <a:gd name="adj" fmla="val 11198"/>
            </a:avLst>
          </a:prstGeom>
          <a:solidFill>
            <a:schemeClr val="bg1"/>
          </a:solidFill>
          <a:ln w="9525">
            <a:solidFill>
              <a:srgbClr val="D5DCE6"/>
            </a:solidFill>
            <a:prstDash val="solid"/>
          </a:ln>
        </p:spPr>
      </p:sp>
      <p:sp>
        <p:nvSpPr>
          <p:cNvPr id="18" name="Text 12"/>
          <p:cNvSpPr txBox="1"/>
          <p:nvPr/>
        </p:nvSpPr>
        <p:spPr>
          <a:xfrm>
            <a:off x="685800" y="342188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pic>
        <p:nvPicPr>
          <p:cNvPr id="19" name="Image 3" descr="laptop">    </p:cNvPr>
          <p:cNvPicPr>
            <a:picLocks noChangeAspect="1"/>
          </p:cNvPicPr>
          <p:nvPr/>
        </p:nvPicPr>
        <p:blipFill>
          <a:blip r:embed="rId4"/>
          <a:stretch>
            <a:fillRect/>
          </a:stretch>
        </p:blipFill>
        <p:spPr>
          <a:xfrm>
            <a:off x="1097280" y="3474212"/>
            <a:ext cx="548640" cy="548640"/>
          </a:xfrm>
          <a:prstGeom prst="rect">
            <a:avLst/>
          </a:prstGeom>
        </p:spPr>
      </p:pic>
      <p:sp>
        <p:nvSpPr>
          <p:cNvPr id="20" name="Text 13"/>
          <p:cNvSpPr txBox="1"/>
          <p:nvPr/>
        </p:nvSpPr>
        <p:spPr>
          <a:xfrm>
            <a:off x="1828800" y="342188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laptop. Ik werk </a:t>
            </a:r>
            <a:r>
              <a:rPr lang="en-US" sz="2000" b="1" i="1" dirty="0">
                <a:solidFill>
                  <a:schemeClr val="accent3"/>
                </a:solidFill>
              </a:rPr>
              <a:t>er</a:t>
            </a:r>
            <a:r>
              <a:rPr lang="en-US" sz="2000" i="1" dirty="0">
                <a:solidFill>
                  <a:schemeClr val="tx1"/>
                </a:solidFill>
              </a:rPr>
              <a:t> graag </a:t>
            </a:r>
            <a:r>
              <a:rPr lang="en-US" sz="2000" b="1" i="1" dirty="0">
                <a:solidFill>
                  <a:schemeClr val="accent3"/>
                </a:solidFill>
              </a:rPr>
              <a:t>mee</a:t>
            </a:r>
            <a:r>
              <a:rPr lang="en-US" sz="2000" i="1" dirty="0">
                <a:solidFill>
                  <a:schemeClr val="tx1"/>
                </a:solidFill>
              </a:rPr>
              <a:t>.</a:t>
            </a:r>
            <a:endParaRPr lang="en-US" sz="2000" dirty="0"/>
          </a:p>
        </p:txBody>
      </p:sp>
      <p:sp>
        <p:nvSpPr>
          <p:cNvPr id="21" name="Shape 14"/>
          <p:cNvSpPr/>
          <p:nvPr/>
        </p:nvSpPr>
        <p:spPr>
          <a:xfrm>
            <a:off x="548640" y="4148328"/>
            <a:ext cx="11091672" cy="653288"/>
          </a:xfrm>
          <a:prstGeom prst="roundRect">
            <a:avLst>
              <a:gd name="adj" fmla="val 11198"/>
            </a:avLst>
          </a:prstGeom>
          <a:solidFill>
            <a:schemeClr val="bg1"/>
          </a:solidFill>
          <a:ln w="9525">
            <a:solidFill>
              <a:srgbClr val="D5DCE6"/>
            </a:solidFill>
            <a:prstDash val="solid"/>
          </a:ln>
        </p:spPr>
      </p:sp>
      <p:sp>
        <p:nvSpPr>
          <p:cNvPr id="22" name="Text 15"/>
          <p:cNvSpPr txBox="1"/>
          <p:nvPr/>
        </p:nvSpPr>
        <p:spPr>
          <a:xfrm>
            <a:off x="685800" y="414832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pic>
        <p:nvPicPr>
          <p:cNvPr id="23" name="Image 4" descr="man office worker">    </p:cNvPr>
          <p:cNvPicPr>
            <a:picLocks noChangeAspect="1"/>
          </p:cNvPicPr>
          <p:nvPr/>
        </p:nvPicPr>
        <p:blipFill>
          <a:blip r:embed="rId5"/>
          <a:stretch>
            <a:fillRect/>
          </a:stretch>
        </p:blipFill>
        <p:spPr>
          <a:xfrm>
            <a:off x="1097280" y="4200652"/>
            <a:ext cx="548640" cy="548640"/>
          </a:xfrm>
          <a:prstGeom prst="rect">
            <a:avLst/>
          </a:prstGeom>
        </p:spPr>
      </p:pic>
      <p:sp>
        <p:nvSpPr>
          <p:cNvPr id="24" name="Text 16"/>
          <p:cNvSpPr txBox="1"/>
          <p:nvPr/>
        </p:nvSpPr>
        <p:spPr>
          <a:xfrm>
            <a:off x="1828800" y="414832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Dit is mijn nieuwe collega. Ik werk graag </a:t>
            </a:r>
            <a:r>
              <a:rPr lang="en-US" sz="2000" b="1" i="1" dirty="0">
                <a:solidFill>
                  <a:schemeClr val="accent3"/>
                </a:solidFill>
              </a:rPr>
              <a:t>met hem</a:t>
            </a:r>
            <a:r>
              <a:rPr lang="en-US" sz="2000" i="1" dirty="0">
                <a:solidFill>
                  <a:schemeClr val="tx1"/>
                </a:solidFill>
              </a:rPr>
              <a:t>.</a:t>
            </a:r>
            <a:endParaRPr lang="en-US" sz="2000" dirty="0"/>
          </a:p>
        </p:txBody>
      </p:sp>
      <p:sp>
        <p:nvSpPr>
          <p:cNvPr id="25" name="Shape 17"/>
          <p:cNvSpPr/>
          <p:nvPr/>
        </p:nvSpPr>
        <p:spPr>
          <a:xfrm>
            <a:off x="548640" y="4874768"/>
            <a:ext cx="11091672" cy="653288"/>
          </a:xfrm>
          <a:prstGeom prst="roundRect">
            <a:avLst>
              <a:gd name="adj" fmla="val 11198"/>
            </a:avLst>
          </a:prstGeom>
          <a:solidFill>
            <a:schemeClr val="bg2"/>
          </a:solidFill>
          <a:ln w="9525">
            <a:solidFill>
              <a:srgbClr val="D5DCE6"/>
            </a:solidFill>
            <a:prstDash val="solid"/>
          </a:ln>
        </p:spPr>
      </p:sp>
      <p:sp>
        <p:nvSpPr>
          <p:cNvPr id="26" name="Text 18"/>
          <p:cNvSpPr txBox="1"/>
          <p:nvPr/>
        </p:nvSpPr>
        <p:spPr>
          <a:xfrm>
            <a:off x="685800" y="487476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pic>
        <p:nvPicPr>
          <p:cNvPr id="27" name="Image 5" descr="bus">    </p:cNvPr>
          <p:cNvPicPr>
            <a:picLocks noChangeAspect="1"/>
          </p:cNvPicPr>
          <p:nvPr/>
        </p:nvPicPr>
        <p:blipFill>
          <a:blip r:embed="rId6"/>
          <a:stretch>
            <a:fillRect/>
          </a:stretch>
        </p:blipFill>
        <p:spPr>
          <a:xfrm>
            <a:off x="1097280" y="4927092"/>
            <a:ext cx="548640" cy="548640"/>
          </a:xfrm>
          <a:prstGeom prst="rect">
            <a:avLst/>
          </a:prstGeom>
        </p:spPr>
      </p:pic>
      <p:sp>
        <p:nvSpPr>
          <p:cNvPr id="28" name="Text 19"/>
          <p:cNvSpPr txBox="1"/>
          <p:nvPr/>
        </p:nvSpPr>
        <p:spPr>
          <a:xfrm>
            <a:off x="1828800" y="487476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De bus is laat. We wachten </a:t>
            </a:r>
            <a:r>
              <a:rPr lang="en-US" sz="2000" b="1" i="1" dirty="0">
                <a:solidFill>
                  <a:schemeClr val="accent3"/>
                </a:solidFill>
              </a:rPr>
              <a:t>er</a:t>
            </a:r>
            <a:r>
              <a:rPr lang="en-US" sz="2000" i="1" dirty="0">
                <a:solidFill>
                  <a:schemeClr val="tx1"/>
                </a:solidFill>
              </a:rPr>
              <a:t> al lang </a:t>
            </a:r>
            <a:r>
              <a:rPr lang="en-US" sz="2000" b="1" i="1" dirty="0">
                <a:solidFill>
                  <a:schemeClr val="accent3"/>
                </a:solidFill>
              </a:rPr>
              <a:t>op</a:t>
            </a:r>
            <a:r>
              <a:rPr lang="en-US" sz="2000" i="1" dirty="0">
                <a:solidFill>
                  <a:schemeClr val="tx1"/>
                </a:solidFill>
              </a:rPr>
              <a:t>.</a:t>
            </a:r>
            <a:endParaRPr lang="en-US" sz="2000" dirty="0"/>
          </a:p>
        </p:txBody>
      </p:sp>
      <p:sp>
        <p:nvSpPr>
          <p:cNvPr id="29" name="Shape 20"/>
          <p:cNvSpPr/>
          <p:nvPr/>
        </p:nvSpPr>
        <p:spPr>
          <a:xfrm>
            <a:off x="548640" y="5601208"/>
            <a:ext cx="11091672" cy="653288"/>
          </a:xfrm>
          <a:prstGeom prst="roundRect">
            <a:avLst>
              <a:gd name="adj" fmla="val 11198"/>
            </a:avLst>
          </a:prstGeom>
          <a:solidFill>
            <a:schemeClr val="bg2"/>
          </a:solidFill>
          <a:ln w="9525">
            <a:solidFill>
              <a:srgbClr val="D5DCE6"/>
            </a:solidFill>
            <a:prstDash val="solid"/>
          </a:ln>
        </p:spPr>
      </p:sp>
      <p:sp>
        <p:nvSpPr>
          <p:cNvPr id="30" name="Text 21"/>
          <p:cNvSpPr txBox="1"/>
          <p:nvPr/>
        </p:nvSpPr>
        <p:spPr>
          <a:xfrm>
            <a:off x="685800" y="5601208"/>
            <a:ext cx="365760" cy="653288"/>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pic>
        <p:nvPicPr>
          <p:cNvPr id="31" name="Image 6" descr="woman">    </p:cNvPr>
          <p:cNvPicPr>
            <a:picLocks noChangeAspect="1"/>
          </p:cNvPicPr>
          <p:nvPr/>
        </p:nvPicPr>
        <p:blipFill>
          <a:blip r:embed="rId7"/>
          <a:stretch>
            <a:fillRect/>
          </a:stretch>
        </p:blipFill>
        <p:spPr>
          <a:xfrm>
            <a:off x="1097280" y="5653532"/>
            <a:ext cx="548640" cy="548640"/>
          </a:xfrm>
          <a:prstGeom prst="rect">
            <a:avLst/>
          </a:prstGeom>
        </p:spPr>
      </p:pic>
      <p:sp>
        <p:nvSpPr>
          <p:cNvPr id="32" name="Text 22"/>
          <p:cNvSpPr txBox="1"/>
          <p:nvPr/>
        </p:nvSpPr>
        <p:spPr>
          <a:xfrm>
            <a:off x="1828800" y="5601208"/>
            <a:ext cx="9692640" cy="653288"/>
          </a:xfrm>
          <a:prstGeom prst="rect">
            <a:avLst/>
          </a:prstGeom>
          <a:noFill/>
          <a:ln/>
        </p:spPr>
        <p:txBody>
          <a:bodyPr wrap="square" lIns="0" tIns="0" rIns="0" bIns="0" rtlCol="0" anchor="ctr"/>
          <a:lstStyle/>
          <a:p>
            <a:pPr algn="l" indent="0" marL="0">
              <a:buNone/>
            </a:pPr>
            <a:r>
              <a:rPr lang="en-US" sz="2000" i="1" dirty="0">
                <a:solidFill>
                  <a:schemeClr val="tx1"/>
                </a:solidFill>
              </a:rPr>
              <a:t>Sofie is laat. We wachten al lang </a:t>
            </a:r>
            <a:r>
              <a:rPr lang="en-US" sz="2000" b="1" i="1" dirty="0">
                <a:solidFill>
                  <a:schemeClr val="accent3"/>
                </a:solidFill>
              </a:rPr>
              <a:t>op haar</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dirty="0">
                <a:solidFill>
                  <a:schemeClr val="tx1"/>
                </a:solidFill>
              </a:rPr>
              <a:t>op het</a:t>
            </a:r>
            <a:r>
              <a:rPr lang="en-US" sz="1800" i="1" dirty="0">
                <a:solidFill>
                  <a:schemeClr val="tx1"/>
                </a:solidFill>
              </a:rPr>
              <a:t>, maar ik kan het vrijdag sturen. Gisteren heb ik met Sofie over het budget gepraat. Ze heeft goede ideeën en </a:t>
            </a:r>
            <a:r>
              <a:rPr lang="en-US" sz="1800" i="1" dirty="0">
                <a:solidFill>
                  <a:schemeClr val="tx1"/>
                </a:solidFill>
              </a:rPr>
              <a:t>ik ben blij met het</a:t>
            </a:r>
            <a:r>
              <a:rPr lang="en-US" sz="1800" i="1" dirty="0">
                <a:solidFill>
                  <a:schemeClr val="tx1"/>
                </a:solidFill>
              </a:rPr>
              <a:t>. Lotte is een goede stagiaire: ik werk graag </a:t>
            </a:r>
            <a:r>
              <a:rPr lang="en-US" sz="1800" i="1" dirty="0">
                <a:solidFill>
                  <a:schemeClr val="tx1"/>
                </a:solidFill>
              </a:rPr>
              <a:t>ermee</a:t>
            </a:r>
            <a:r>
              <a:rPr lang="en-US" sz="1800" i="1" dirty="0">
                <a:solidFill>
                  <a:schemeClr val="tx1"/>
                </a:solidFill>
              </a:rPr>
              <a:t>. Over het nieuwe project: </a:t>
            </a:r>
            <a:r>
              <a:rPr lang="en-US" sz="1800" i="1" dirty="0">
                <a:solidFill>
                  <a:schemeClr val="tx1"/>
                </a:solidFill>
              </a:rPr>
              <a:t>met wat</a:t>
            </a:r>
            <a:r>
              <a:rPr lang="en-US" sz="1800" i="1" dirty="0">
                <a:solidFill>
                  <a:schemeClr val="tx1"/>
                </a:solidFill>
              </a:rPr>
              <a:t> moet ik eerst beginnen? </a:t>
            </a:r>
            <a:r>
              <a:rPr lang="en-US" sz="1800" i="1" dirty="0">
                <a:solidFill>
                  <a:schemeClr val="tx1"/>
                </a:solidFill>
              </a:rPr>
              <a:t>Ik heb nog twee vragen over het.</a:t>
            </a:r>
            <a:r>
              <a:rPr lang="en-US" sz="1800" i="1" dirty="0">
                <a:solidFill>
                  <a:schemeClr val="tx1"/>
                </a:solidFill>
              </a:rPr>
              <a:t> Groeten, 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An.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An Janssens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buNone/>
            </a:pPr>
            <a:r>
              <a:rPr lang="en-US" sz="1800" i="1" dirty="0">
                <a:solidFill>
                  <a:schemeClr val="tx1"/>
                </a:solidFill>
              </a:rPr>
              <a:t>Beste An, het rapport is nog niet klaar, maar ik werk er elke dag aan. De klant wacht </a:t>
            </a:r>
            <a:r>
              <a:rPr lang="en-US" sz="1800" i="1" strike="sngStrike" dirty="0">
                <a:solidFill>
                  <a:schemeClr val="accent6"/>
                </a:solidFill>
              </a:rPr>
              <a:t>op het</a:t>
            </a:r>
            <a:r>
              <a:rPr lang="en-US" sz="1800" b="1" i="1" dirty="0">
                <a:solidFill>
                  <a:schemeClr val="accent3"/>
                </a:solidFill>
              </a:rPr>
              <a:t> erop</a:t>
            </a:r>
            <a:r>
              <a:rPr lang="en-US" sz="1800" i="1" dirty="0">
                <a:solidFill>
                  <a:schemeClr val="tx1"/>
                </a:solidFill>
              </a:rPr>
              <a:t>, maar ik kan het vrijdag sturen. Gisteren heb ik met Sofie over het budget gepraat. Ze heeft goede ideeën en </a:t>
            </a:r>
            <a:r>
              <a:rPr lang="en-US" sz="1800" i="1" strike="sngStrike" dirty="0">
                <a:solidFill>
                  <a:schemeClr val="accent6"/>
                </a:solidFill>
              </a:rPr>
              <a:t>ik ben blij met het</a:t>
            </a:r>
            <a:r>
              <a:rPr lang="en-US" sz="1800" b="1" i="1" dirty="0">
                <a:solidFill>
                  <a:schemeClr val="accent3"/>
                </a:solidFill>
              </a:rPr>
              <a:t> ik ben er blij mee</a:t>
            </a:r>
            <a:r>
              <a:rPr lang="en-US" sz="1800" i="1" dirty="0">
                <a:solidFill>
                  <a:schemeClr val="tx1"/>
                </a:solidFill>
              </a:rPr>
              <a:t>. Lotte is een goede stagiaire: ik werk graag </a:t>
            </a:r>
            <a:r>
              <a:rPr lang="en-US" sz="1800" i="1" strike="sngStrike" dirty="0">
                <a:solidFill>
                  <a:schemeClr val="accent6"/>
                </a:solidFill>
              </a:rPr>
              <a:t>ermee</a:t>
            </a:r>
            <a:r>
              <a:rPr lang="en-US" sz="1800" b="1" i="1" dirty="0">
                <a:solidFill>
                  <a:schemeClr val="accent3"/>
                </a:solidFill>
              </a:rPr>
              <a:t> met haar</a:t>
            </a:r>
            <a:r>
              <a:rPr lang="en-US" sz="1800" i="1" dirty="0">
                <a:solidFill>
                  <a:schemeClr val="tx1"/>
                </a:solidFill>
              </a:rPr>
              <a:t>. Over het nieuwe project: </a:t>
            </a:r>
            <a:r>
              <a:rPr lang="en-US" sz="1800" i="1" strike="sngStrike" dirty="0">
                <a:solidFill>
                  <a:schemeClr val="accent6"/>
                </a:solidFill>
              </a:rPr>
              <a:t>met wat</a:t>
            </a:r>
            <a:r>
              <a:rPr lang="en-US" sz="1800" b="1" i="1" dirty="0">
                <a:solidFill>
                  <a:schemeClr val="accent3"/>
                </a:solidFill>
              </a:rPr>
              <a:t> waarmee</a:t>
            </a:r>
            <a:r>
              <a:rPr lang="en-US" sz="1800" i="1" dirty="0">
                <a:solidFill>
                  <a:schemeClr val="tx1"/>
                </a:solidFill>
              </a:rPr>
              <a:t> moet ik eerst beginnen? </a:t>
            </a:r>
            <a:r>
              <a:rPr lang="en-US" sz="1800" i="1" strike="sngStrike" dirty="0">
                <a:solidFill>
                  <a:schemeClr val="accent6"/>
                </a:solidFill>
              </a:rPr>
              <a:t>Ik heb nog twee vragen over het.</a:t>
            </a:r>
            <a:r>
              <a:rPr lang="en-US" sz="1800" b="1" i="1" dirty="0">
                <a:solidFill>
                  <a:schemeClr val="accent3"/>
                </a:solidFill>
              </a:rPr>
              <a:t> Ik heb er nog twee vragen over.</a:t>
            </a:r>
            <a:r>
              <a:rPr lang="en-US" sz="1800" i="1" dirty="0">
                <a:solidFill>
                  <a:schemeClr val="tx1"/>
                </a:solidFill>
              </a:rPr>
              <a:t> Groeten, 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ik werk er elke dag aan · met Sofie over het budget</a:t>
            </a:r>
            <a:r>
              <a:rPr lang="en-US" sz="1400" i="1" dirty="0">
                <a:solidFill>
                  <a:schemeClr val="accent5"/>
                </a:solidFill>
              </a:rPr>
              <a:t> (personne, puis nom)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L’interview</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7" name="Image 0" descr="face savoring food">    </p:cNvPr>
          <p:cNvPicPr>
            <a:picLocks noChangeAspect="1"/>
          </p:cNvPicPr>
          <p:nvPr/>
        </p:nvPicPr>
        <p:blipFill>
          <a:blip r:embed="rId1"/>
          <a:stretch>
            <a:fillRect/>
          </a:stretch>
        </p:blipFill>
        <p:spPr>
          <a:xfrm>
            <a:off x="1280160" y="1737360"/>
            <a:ext cx="777240" cy="777240"/>
          </a:xfrm>
          <a:prstGeom prst="rect">
            <a:avLst/>
          </a:prstGeom>
        </p:spPr>
      </p:pic>
      <p:sp>
        <p:nvSpPr>
          <p:cNvPr id="8" name="Text 4"/>
          <p:cNvSpPr txBox="1"/>
          <p:nvPr/>
        </p:nvSpPr>
        <p:spPr>
          <a:xfrm>
            <a:off x="64008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heb je zin in?</a:t>
            </a:r>
            <a:endParaRPr lang="en-US" sz="1700" dirty="0"/>
          </a:p>
        </p:txBody>
      </p:sp>
      <p:sp>
        <p:nvSpPr>
          <p:cNvPr id="9" name="Shape 5"/>
          <p:cNvSpPr/>
          <p:nvPr/>
        </p:nvSpPr>
        <p:spPr>
          <a:xfrm>
            <a:off x="292608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0" name="Image 1" descr="fearful face">    </p:cNvPr>
          <p:cNvPicPr>
            <a:picLocks noChangeAspect="1"/>
          </p:cNvPicPr>
          <p:nvPr/>
        </p:nvPicPr>
        <p:blipFill>
          <a:blip r:embed="rId2"/>
          <a:stretch>
            <a:fillRect/>
          </a:stretch>
        </p:blipFill>
        <p:spPr>
          <a:xfrm>
            <a:off x="3657600" y="1737360"/>
            <a:ext cx="777240" cy="777240"/>
          </a:xfrm>
          <a:prstGeom prst="rect">
            <a:avLst/>
          </a:prstGeom>
        </p:spPr>
      </p:pic>
      <p:sp>
        <p:nvSpPr>
          <p:cNvPr id="11" name="Text 6"/>
          <p:cNvSpPr txBox="1"/>
          <p:nvPr/>
        </p:nvSpPr>
        <p:spPr>
          <a:xfrm>
            <a:off x="301752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bang voor?</a:t>
            </a:r>
            <a:endParaRPr lang="en-US" sz="1700" dirty="0"/>
          </a:p>
        </p:txBody>
      </p:sp>
      <p:sp>
        <p:nvSpPr>
          <p:cNvPr id="12" name="Shape 7"/>
          <p:cNvSpPr/>
          <p:nvPr/>
        </p:nvSpPr>
        <p:spPr>
          <a:xfrm>
            <a:off x="5303520" y="1600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3" name="Image 2" descr="sleeping face">    </p:cNvPr>
          <p:cNvPicPr>
            <a:picLocks noChangeAspect="1"/>
          </p:cNvPicPr>
          <p:nvPr/>
        </p:nvPicPr>
        <p:blipFill>
          <a:blip r:embed="rId3"/>
          <a:stretch>
            <a:fillRect/>
          </a:stretch>
        </p:blipFill>
        <p:spPr>
          <a:xfrm>
            <a:off x="6035040" y="1737360"/>
            <a:ext cx="777240" cy="777240"/>
          </a:xfrm>
          <a:prstGeom prst="rect">
            <a:avLst/>
          </a:prstGeom>
        </p:spPr>
      </p:pic>
      <p:sp>
        <p:nvSpPr>
          <p:cNvPr id="14" name="Text 8"/>
          <p:cNvSpPr txBox="1"/>
          <p:nvPr/>
        </p:nvSpPr>
        <p:spPr>
          <a:xfrm>
            <a:off x="5394960" y="2606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droom je van?</a:t>
            </a:r>
            <a:endParaRPr lang="en-US" sz="1700" dirty="0"/>
          </a:p>
        </p:txBody>
      </p:sp>
      <p:sp>
        <p:nvSpPr>
          <p:cNvPr id="15" name="Shape 9"/>
          <p:cNvSpPr/>
          <p:nvPr/>
        </p:nvSpPr>
        <p:spPr>
          <a:xfrm>
            <a:off x="54864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6" name="Image 3" descr="trophy">    </p:cNvPr>
          <p:cNvPicPr>
            <a:picLocks noChangeAspect="1"/>
          </p:cNvPicPr>
          <p:nvPr/>
        </p:nvPicPr>
        <p:blipFill>
          <a:blip r:embed="rId4"/>
          <a:stretch>
            <a:fillRect/>
          </a:stretch>
        </p:blipFill>
        <p:spPr>
          <a:xfrm>
            <a:off x="1280160" y="4023360"/>
            <a:ext cx="777240" cy="777240"/>
          </a:xfrm>
          <a:prstGeom prst="rect">
            <a:avLst/>
          </a:prstGeom>
        </p:spPr>
      </p:pic>
      <p:sp>
        <p:nvSpPr>
          <p:cNvPr id="17" name="Text 10"/>
          <p:cNvSpPr txBox="1"/>
          <p:nvPr/>
        </p:nvSpPr>
        <p:spPr>
          <a:xfrm>
            <a:off x="64008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trots op?</a:t>
            </a:r>
            <a:endParaRPr lang="en-US" sz="1700" dirty="0"/>
          </a:p>
        </p:txBody>
      </p:sp>
      <p:sp>
        <p:nvSpPr>
          <p:cNvPr id="18" name="Shape 11"/>
          <p:cNvSpPr/>
          <p:nvPr/>
        </p:nvSpPr>
        <p:spPr>
          <a:xfrm>
            <a:off x="292608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9" name="Image 4" descr="flexed biceps">    </p:cNvPr>
          <p:cNvPicPr>
            <a:picLocks noChangeAspect="1"/>
          </p:cNvPicPr>
          <p:nvPr/>
        </p:nvPicPr>
        <p:blipFill>
          <a:blip r:embed="rId5"/>
          <a:stretch>
            <a:fillRect/>
          </a:stretch>
        </p:blipFill>
        <p:spPr>
          <a:xfrm>
            <a:off x="3657600" y="4023360"/>
            <a:ext cx="777240" cy="777240"/>
          </a:xfrm>
          <a:prstGeom prst="rect">
            <a:avLst/>
          </a:prstGeom>
        </p:spPr>
      </p:pic>
      <p:sp>
        <p:nvSpPr>
          <p:cNvPr id="20" name="Text 12"/>
          <p:cNvSpPr txBox="1"/>
          <p:nvPr/>
        </p:nvSpPr>
        <p:spPr>
          <a:xfrm>
            <a:off x="301752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ben je goed in?</a:t>
            </a:r>
            <a:endParaRPr lang="en-US" sz="1700" dirty="0"/>
          </a:p>
        </p:txBody>
      </p:sp>
      <p:sp>
        <p:nvSpPr>
          <p:cNvPr id="21" name="Shape 13"/>
          <p:cNvSpPr/>
          <p:nvPr/>
        </p:nvSpPr>
        <p:spPr>
          <a:xfrm>
            <a:off x="5303520" y="3886200"/>
            <a:ext cx="2240280" cy="2103120"/>
          </a:xfrm>
          <a:prstGeom prst="roundRect">
            <a:avLst>
              <a:gd name="adj" fmla="val 521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22" name="Image 5" descr="party popper">    </p:cNvPr>
          <p:cNvPicPr>
            <a:picLocks noChangeAspect="1"/>
          </p:cNvPicPr>
          <p:nvPr/>
        </p:nvPicPr>
        <p:blipFill>
          <a:blip r:embed="rId6"/>
          <a:stretch>
            <a:fillRect/>
          </a:stretch>
        </p:blipFill>
        <p:spPr>
          <a:xfrm>
            <a:off x="6035040" y="4023360"/>
            <a:ext cx="777240" cy="777240"/>
          </a:xfrm>
          <a:prstGeom prst="rect">
            <a:avLst/>
          </a:prstGeom>
        </p:spPr>
      </p:pic>
      <p:sp>
        <p:nvSpPr>
          <p:cNvPr id="23" name="Text 14"/>
          <p:cNvSpPr txBox="1"/>
          <p:nvPr/>
        </p:nvSpPr>
        <p:spPr>
          <a:xfrm>
            <a:off x="5394960" y="4892040"/>
            <a:ext cx="2057400" cy="960120"/>
          </a:xfrm>
          <a:prstGeom prst="rect">
            <a:avLst/>
          </a:prstGeom>
          <a:noFill/>
          <a:ln/>
        </p:spPr>
        <p:txBody>
          <a:bodyPr wrap="square" lIns="0" tIns="0" rIns="0" bIns="0" rtlCol="0" anchor="ctr"/>
          <a:lstStyle/>
          <a:p>
            <a:pPr algn="ctr" indent="0" marL="0">
              <a:buNone/>
            </a:pPr>
            <a:r>
              <a:rPr lang="en-US" sz="1700" b="1" i="1" dirty="0">
                <a:solidFill>
                  <a:schemeClr val="accent4"/>
                </a:solidFill>
              </a:rPr>
              <a:t>Waar kijk je naar uit?</a:t>
            </a:r>
            <a:endParaRPr lang="en-US" sz="1700" dirty="0"/>
          </a:p>
        </p:txBody>
      </p:sp>
      <p:pic>
        <p:nvPicPr>
          <p:cNvPr id="24" name="Image 6" descr="microphone">    </p:cNvPr>
          <p:cNvPicPr>
            <a:picLocks noChangeAspect="1"/>
          </p:cNvPicPr>
          <p:nvPr/>
        </p:nvPicPr>
        <p:blipFill>
          <a:blip r:embed="rId7"/>
          <a:stretch>
            <a:fillRect/>
          </a:stretch>
        </p:blipFill>
        <p:spPr>
          <a:xfrm>
            <a:off x="7863840" y="1600200"/>
            <a:ext cx="731520" cy="731520"/>
          </a:xfrm>
          <a:prstGeom prst="rect">
            <a:avLst/>
          </a:prstGeom>
        </p:spPr>
      </p:pic>
      <p:sp>
        <p:nvSpPr>
          <p:cNvPr id="25" name="Text 15"/>
          <p:cNvSpPr txBox="1"/>
          <p:nvPr/>
        </p:nvSpPr>
        <p:spPr>
          <a:xfrm>
            <a:off x="8686800" y="1600200"/>
            <a:ext cx="2953512" cy="731520"/>
          </a:xfrm>
          <a:prstGeom prst="rect">
            <a:avLst/>
          </a:prstGeom>
          <a:noFill/>
          <a:ln/>
        </p:spPr>
        <p:txBody>
          <a:bodyPr wrap="square" lIns="0" tIns="0" rIns="0" bIns="0" rtlCol="0" anchor="ctr"/>
          <a:lstStyle/>
          <a:p>
            <a:pPr algn="l" indent="0" marL="0">
              <a:buNone/>
            </a:pPr>
            <a:r>
              <a:rPr lang="en-US" sz="2600" b="1" dirty="0">
                <a:solidFill>
                  <a:schemeClr val="accent4"/>
                </a:solidFill>
                <a:latin typeface="+mj-lt" pitchFamily="34" charset="0"/>
                <a:ea typeface="+mj-lt" pitchFamily="34" charset="-122"/>
                <a:cs typeface="+mj-lt" pitchFamily="34" charset="-120"/>
              </a:rPr>
              <a:t>Interview!</a:t>
            </a:r>
            <a:endParaRPr lang="en-US" sz="2600" dirty="0"/>
          </a:p>
        </p:txBody>
      </p:sp>
      <p:sp>
        <p:nvSpPr>
          <p:cNvPr id="26" name="Text 16"/>
          <p:cNvSpPr txBox="1"/>
          <p:nvPr/>
        </p:nvSpPr>
        <p:spPr>
          <a:xfrm>
            <a:off x="7863840" y="2514600"/>
            <a:ext cx="3776472" cy="246888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Par deux : posez 4 questions, notez les réponses.</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Réagissez avec </a:t>
            </a:r>
            <a:r>
              <a:rPr lang="en-US" sz="1600" i="1" dirty="0">
                <a:solidFill>
                  <a:schemeClr val="tx1"/>
                </a:solidFill>
              </a:rPr>
              <a:t>daar</a:t>
            </a:r>
            <a:r>
              <a:rPr lang="en-US" sz="1600" dirty="0">
                <a:solidFill>
                  <a:schemeClr val="tx1"/>
                </a:solidFill>
              </a:rPr>
              <a:t> : </a:t>
            </a:r>
            <a:r>
              <a:rPr lang="en-US" sz="1600" i="1" dirty="0">
                <a:solidFill>
                  <a:schemeClr val="tx1"/>
                </a:solidFill>
              </a:rPr>
              <a:t>Daar ben ik ook bang voor! · Daar heb ik geen zin in!</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Présentez votre partenaire à la classe.</a:t>
            </a:r>
            <a:endParaRPr lang="en-US" sz="1600" dirty="0"/>
          </a:p>
        </p:txBody>
      </p:sp>
      <p:sp>
        <p:nvSpPr>
          <p:cNvPr id="27" name="Text 17"/>
          <p:cNvSpPr txBox="1"/>
          <p:nvPr/>
        </p:nvSpPr>
        <p:spPr>
          <a:xfrm>
            <a:off x="7863840" y="5074920"/>
            <a:ext cx="3776472" cy="914400"/>
          </a:xfrm>
          <a:prstGeom prst="rect">
            <a:avLst/>
          </a:prstGeom>
          <a:noFill/>
          <a:ln/>
        </p:spPr>
        <p:txBody>
          <a:bodyPr wrap="square" lIns="0" tIns="0" rIns="0" bIns="0" rtlCol="0" anchor="t"/>
          <a:lstStyle/>
          <a:p>
            <a:pPr algn="l" indent="0" marL="0">
              <a:spcAft>
                <a:spcPts val="100"/>
              </a:spcAft>
              <a:buNone/>
            </a:pPr>
            <a:r>
              <a:rPr lang="en-US" sz="1300" i="1" dirty="0">
                <a:solidFill>
                  <a:schemeClr val="accent5"/>
                </a:solidFill>
              </a:rPr>
              <a:t>bang zijn voor</a:t>
            </a:r>
            <a:r>
              <a:rPr lang="en-US" sz="1300" i="1" dirty="0">
                <a:solidFill>
                  <a:schemeClr val="accent5"/>
                </a:solidFill>
              </a:rPr>
              <a:t> = avoir peur de</a:t>
            </a:r>
            <a:endParaRPr lang="en-US" sz="1300" dirty="0"/>
          </a:p>
          <a:p>
            <a:pPr algn="l" indent="0" marL="0">
              <a:spcAft>
                <a:spcPts val="100"/>
              </a:spcAft>
              <a:buNone/>
            </a:pPr>
            <a:r>
              <a:rPr lang="en-US" sz="1300" i="1" dirty="0">
                <a:solidFill>
                  <a:schemeClr val="accent5"/>
                </a:solidFill>
              </a:rPr>
              <a:t>trots zijn op</a:t>
            </a:r>
            <a:r>
              <a:rPr lang="en-US" sz="1300" i="1" dirty="0">
                <a:solidFill>
                  <a:schemeClr val="accent5"/>
                </a:solidFill>
              </a:rPr>
              <a:t> = être fier de</a:t>
            </a:r>
            <a:endParaRPr lang="en-US" sz="1300" dirty="0"/>
          </a:p>
          <a:p>
            <a:pPr algn="l" indent="0" marL="0">
              <a:spcAft>
                <a:spcPts val="100"/>
              </a:spcAft>
              <a:buNone/>
            </a:pPr>
            <a:r>
              <a:rPr lang="en-US" sz="1300" i="1" dirty="0">
                <a:solidFill>
                  <a:schemeClr val="accent5"/>
                </a:solidFill>
              </a:rPr>
              <a:t>uitkijken naar</a:t>
            </a:r>
            <a:r>
              <a:rPr lang="en-US" sz="1300" i="1" dirty="0">
                <a:solidFill>
                  <a:schemeClr val="accent5"/>
                </a:solidFill>
              </a:rPr>
              <a:t> = avoir hâte de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de suivi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matin, An fait le point avec chaque membre de l’équipe. Chacun déplace ses tâches sur le tableau.</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An</a:t>
            </a:r>
            <a:r>
              <a:rPr lang="en-US" sz="1700" dirty="0">
                <a:solidFill>
                  <a:schemeClr val="tx1"/>
                </a:solidFill>
              </a:rPr>
              <a:t> (la cheffe) : demandez où en est chaque tâche : </a:t>
            </a:r>
            <a:r>
              <a:rPr lang="en-US" sz="1700" i="1" dirty="0">
                <a:solidFill>
                  <a:schemeClr val="tx1"/>
                </a:solidFill>
              </a:rPr>
              <a:t>Waar ben je mee bezig? Heb je aan… gedacht?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Un membre de l’équipe</a:t>
            </a:r>
            <a:r>
              <a:rPr lang="en-US" sz="1700" dirty="0">
                <a:solidFill>
                  <a:schemeClr val="tx1"/>
                </a:solidFill>
              </a:rPr>
              <a:t> : répondez avec au moins deux </a:t>
            </a:r>
            <a:r>
              <a:rPr lang="en-US" sz="1700" i="1" dirty="0">
                <a:solidFill>
                  <a:schemeClr val="tx1"/>
                </a:solidFill>
              </a:rPr>
              <a:t>er</a:t>
            </a:r>
            <a:r>
              <a:rPr lang="en-US" sz="1700" dirty="0">
                <a:solidFill>
                  <a:schemeClr val="tx1"/>
                </a:solidFill>
              </a:rPr>
              <a:t> + préposition : </a:t>
            </a:r>
            <a:r>
              <a:rPr lang="en-US" sz="1700" i="1" dirty="0">
                <a:solidFill>
                  <a:schemeClr val="tx1"/>
                </a:solidFill>
              </a:rPr>
              <a:t>Ik ben ermee bezig.</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Waar ben je mee bezig? · Ik ben bezig met de facturen. · Heb je aan de offerte gedacht? — Ja, ik heb eraan gedacht. · Waar wacht je nog op? — Op het antwoord van de klant. · Daar zorg ik voor. · Kun je erop letten?</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200" b="1" spc="100" kern="0" dirty="0">
                <a:solidFill>
                  <a:schemeClr val="bg1"/>
                </a:solidFill>
              </a:rPr>
              <a:t>TAKENBORD · WEEK 12</a:t>
            </a:r>
            <a:endParaRPr lang="en-US" sz="1200" dirty="0"/>
          </a:p>
        </p:txBody>
      </p:sp>
      <p:sp>
        <p:nvSpPr>
          <p:cNvPr id="22" name="Shape 19"/>
          <p:cNvSpPr/>
          <p:nvPr/>
        </p:nvSpPr>
        <p:spPr>
          <a:xfrm>
            <a:off x="816559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3" name="Text 20"/>
          <p:cNvSpPr txBox="1"/>
          <p:nvPr/>
        </p:nvSpPr>
        <p:spPr>
          <a:xfrm>
            <a:off x="816559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TE DOEN</a:t>
            </a:r>
            <a:endParaRPr lang="en-US" sz="1000" dirty="0"/>
          </a:p>
        </p:txBody>
      </p:sp>
      <p:sp>
        <p:nvSpPr>
          <p:cNvPr id="24" name="Shape 21"/>
          <p:cNvSpPr/>
          <p:nvPr/>
        </p:nvSpPr>
        <p:spPr>
          <a:xfrm rot="-120000">
            <a:off x="8238744" y="262432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2"/>
          <p:cNvSpPr txBox="1"/>
          <p:nvPr/>
        </p:nvSpPr>
        <p:spPr>
          <a:xfrm>
            <a:off x="825703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offerte</a:t>
            </a:r>
            <a:endParaRPr lang="en-US" sz="1100" dirty="0"/>
          </a:p>
        </p:txBody>
      </p:sp>
      <p:sp>
        <p:nvSpPr>
          <p:cNvPr id="26" name="Shape 23"/>
          <p:cNvSpPr/>
          <p:nvPr/>
        </p:nvSpPr>
        <p:spPr>
          <a:xfrm rot="120000">
            <a:off x="8238744" y="367588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25703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lunch van vrijdag</a:t>
            </a:r>
            <a:endParaRPr lang="en-US" sz="1100" dirty="0"/>
          </a:p>
        </p:txBody>
      </p:sp>
      <p:sp>
        <p:nvSpPr>
          <p:cNvPr id="28" name="Shape 25"/>
          <p:cNvSpPr/>
          <p:nvPr/>
        </p:nvSpPr>
        <p:spPr>
          <a:xfrm>
            <a:off x="932383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29" name="Text 26"/>
          <p:cNvSpPr txBox="1"/>
          <p:nvPr/>
        </p:nvSpPr>
        <p:spPr>
          <a:xfrm>
            <a:off x="932383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1"/>
                </a:solidFill>
              </a:rPr>
              <a:t>BEZIG</a:t>
            </a:r>
            <a:endParaRPr lang="en-US" sz="1000" dirty="0"/>
          </a:p>
        </p:txBody>
      </p:sp>
      <p:sp>
        <p:nvSpPr>
          <p:cNvPr id="30" name="Shape 27"/>
          <p:cNvSpPr/>
          <p:nvPr/>
        </p:nvSpPr>
        <p:spPr>
          <a:xfrm rot="-120000">
            <a:off x="9396984" y="2624328"/>
            <a:ext cx="920496" cy="868680"/>
          </a:xfrm>
          <a:prstGeom prst="roundRect">
            <a:avLst>
              <a:gd name="adj" fmla="val 8421"/>
            </a:avLst>
          </a:prstGeom>
          <a:solidFill>
            <a:srgbClr val="FDE2E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1" name="Text 28"/>
          <p:cNvSpPr txBox="1"/>
          <p:nvPr/>
        </p:nvSpPr>
        <p:spPr>
          <a:xfrm>
            <a:off x="941527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facturen</a:t>
            </a:r>
            <a:endParaRPr lang="en-US" sz="1100" dirty="0"/>
          </a:p>
        </p:txBody>
      </p:sp>
      <p:sp>
        <p:nvSpPr>
          <p:cNvPr id="32" name="Shape 29"/>
          <p:cNvSpPr/>
          <p:nvPr/>
        </p:nvSpPr>
        <p:spPr>
          <a:xfrm rot="120000">
            <a:off x="9396984" y="367588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941527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het rapport</a:t>
            </a:r>
            <a:endParaRPr lang="en-US" sz="1100" dirty="0"/>
          </a:p>
        </p:txBody>
      </p:sp>
      <p:sp>
        <p:nvSpPr>
          <p:cNvPr id="34" name="Shape 31"/>
          <p:cNvSpPr/>
          <p:nvPr/>
        </p:nvSpPr>
        <p:spPr>
          <a:xfrm>
            <a:off x="10482072" y="2121408"/>
            <a:ext cx="1066800" cy="4032504"/>
          </a:xfrm>
          <a:prstGeom prst="roundRect">
            <a:avLst>
              <a:gd name="adj" fmla="val 5143"/>
            </a:avLst>
          </a:prstGeom>
          <a:solidFill>
            <a:schemeClr val="bg2"/>
          </a:solidFill>
          <a:ln w="12700">
            <a:solidFill>
              <a:srgbClr val="FFFFFF">
                <a:alpha val="0"/>
              </a:srgbClr>
            </a:solidFill>
            <a:prstDash val="solid"/>
          </a:ln>
        </p:spPr>
      </p:sp>
      <p:sp>
        <p:nvSpPr>
          <p:cNvPr id="35" name="Text 32"/>
          <p:cNvSpPr txBox="1"/>
          <p:nvPr/>
        </p:nvSpPr>
        <p:spPr>
          <a:xfrm>
            <a:off x="10482072" y="2167128"/>
            <a:ext cx="1066800" cy="320040"/>
          </a:xfrm>
          <a:prstGeom prst="rect">
            <a:avLst/>
          </a:prstGeom>
          <a:noFill/>
          <a:ln/>
        </p:spPr>
        <p:txBody>
          <a:bodyPr wrap="square" lIns="0" tIns="0" rIns="0" bIns="0" rtlCol="0" anchor="ctr"/>
          <a:lstStyle/>
          <a:p>
            <a:pPr algn="ctr" indent="0" marL="0">
              <a:buNone/>
            </a:pPr>
            <a:r>
              <a:rPr lang="en-US" sz="1000" b="1" spc="100" kern="0" dirty="0">
                <a:solidFill>
                  <a:schemeClr val="accent3"/>
                </a:solidFill>
              </a:rPr>
              <a:t>KLAAR</a:t>
            </a:r>
            <a:endParaRPr lang="en-US" sz="1000" dirty="0"/>
          </a:p>
        </p:txBody>
      </p:sp>
      <p:sp>
        <p:nvSpPr>
          <p:cNvPr id="36" name="Shape 33"/>
          <p:cNvSpPr/>
          <p:nvPr/>
        </p:nvSpPr>
        <p:spPr>
          <a:xfrm rot="-120000">
            <a:off x="10555224" y="2624328"/>
            <a:ext cx="920496" cy="868680"/>
          </a:xfrm>
          <a:prstGeom prst="roundRect">
            <a:avLst>
              <a:gd name="adj" fmla="val 8421"/>
            </a:avLst>
          </a:prstGeom>
          <a:solidFill>
            <a:srgbClr val="DDF0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4"/>
          <p:cNvSpPr txBox="1"/>
          <p:nvPr/>
        </p:nvSpPr>
        <p:spPr>
          <a:xfrm>
            <a:off x="10573512" y="262432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planning</a:t>
            </a:r>
            <a:endParaRPr lang="en-US" sz="1100" dirty="0"/>
          </a:p>
        </p:txBody>
      </p:sp>
      <p:sp>
        <p:nvSpPr>
          <p:cNvPr id="38" name="Shape 35"/>
          <p:cNvSpPr/>
          <p:nvPr/>
        </p:nvSpPr>
        <p:spPr>
          <a:xfrm rot="120000">
            <a:off x="10555224" y="3675888"/>
            <a:ext cx="920496" cy="868680"/>
          </a:xfrm>
          <a:prstGeom prst="roundRect">
            <a:avLst>
              <a:gd name="adj" fmla="val 8421"/>
            </a:avLst>
          </a:prstGeom>
          <a:solidFill>
            <a:srgbClr val="FFF4C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6"/>
          <p:cNvSpPr txBox="1"/>
          <p:nvPr/>
        </p:nvSpPr>
        <p:spPr>
          <a:xfrm>
            <a:off x="10573512" y="3675888"/>
            <a:ext cx="883920" cy="868680"/>
          </a:xfrm>
          <a:prstGeom prst="rect">
            <a:avLst/>
          </a:prstGeom>
          <a:noFill/>
          <a:ln/>
        </p:spPr>
        <p:txBody>
          <a:bodyPr wrap="square" lIns="0" tIns="0" rIns="0" bIns="0" rtlCol="0" anchor="ctr"/>
          <a:lstStyle/>
          <a:p>
            <a:pPr algn="ctr" indent="0" marL="0">
              <a:buNone/>
            </a:pPr>
            <a:r>
              <a:rPr lang="en-US" sz="1100" i="1" dirty="0">
                <a:solidFill>
                  <a:schemeClr val="tx1"/>
                </a:solidFill>
              </a:rPr>
              <a:t>de mail aan de klant</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Remplacez : </a:t>
            </a:r>
            <a:r>
              <a:rPr lang="en-US" sz="2000" i="1" dirty="0">
                <a:solidFill>
                  <a:schemeClr val="tx1"/>
                </a:solidFill>
              </a:rPr>
              <a:t>Ik wacht op de bus.</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La préposition : </a:t>
            </a:r>
            <a:r>
              <a:rPr lang="en-US" sz="2000" i="1" dirty="0">
                <a:solidFill>
                  <a:schemeClr val="tx1"/>
                </a:solidFill>
              </a:rPr>
              <a:t>zin hebben …… · denken …… · praten ……</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 </a:t>
            </a:r>
            <a:r>
              <a:rPr lang="en-US" sz="2000" i="1" dirty="0">
                <a:solidFill>
                  <a:schemeClr val="tx1"/>
                </a:solidFill>
              </a:rPr>
              <a:t>Ik betaal met mijn kaart.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Remplacer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Combiner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Questionner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Comments">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Nou, toch, maar…</a:t>
            </a:r>
            <a:r>
              <a:rPr lang="en-US" sz="1800" dirty="0">
                <a:solidFill>
                  <a:schemeClr val="bg1"/>
                </a:solidFill>
              </a:rPr>
              <a:t> — </a:t>
            </a:r>
            <a:r>
              <a:rPr lang="en-US" sz="1800" i="1" dirty="0">
                <a:solidFill>
                  <a:schemeClr val="bg1"/>
                </a:solidFill>
              </a:rPr>
              <a:t>Kom maar even binnen, hoor!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23 — Waar denk je aan? — Les adverbes pronominaux</dc:title>
  <dc:subject>Néerlandais 1 — Langue en situation, en milieu professionnel</dc:subject>
  <dc:creator>A. Jouniaux</dc:creator>
  <cp:lastModifiedBy>A. Jouniaux</cp:lastModifiedBy>
  <cp:revision>1</cp:revision>
  <dcterms:created xsi:type="dcterms:W3CDTF">2026-10-05T19:06:54Z</dcterms:created>
  <dcterms:modified xsi:type="dcterms:W3CDTF">2026-10-05T19:06:54Z</dcterms:modified>
</cp:coreProperties>
</file>