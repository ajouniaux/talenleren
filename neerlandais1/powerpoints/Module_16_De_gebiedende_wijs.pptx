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7de965be-b996-f260-ff4c-780875fdf87d}">
          <p14:sldIdLst>
            <p14:sldId id="256"/>
          </p14:sldIdLst>
        </p14:section>
        <p14:section name="Découvrir" id="{4281e53b-923d-cb8e-a9c0-0dfa7e5138a3}">
          <p14:sldIdLst>
            <p14:sldId id="257"/>
            <p14:sldId id="258"/>
          </p14:sldIdLst>
        </p14:section>
        <p14:section name="Comprendre" id="{8d6b4b28-5d4a-503e-7b38-0bb08310ec63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  <p14:section name="JIJ NU ! — Oefeningen" id="{133ce69f-6d5f-f373-49f0-efbd056dfbd8}">
          <p14:sldIdLst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Clôture" id="{d4b9a898-d84e-ee1e-bb64-1bc900638503}">
          <p14:sldIdLst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donner un ordre, une consigne, une invitation.
Mimez la scène : frappez à la porte de la classe, et faites répondre « Kom binnen! ». Demandez : « Comment dit-on Entre ! ? Et Entrez ! ? » → une seule forme.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L'impératif sert à inviter, conseiller et guider. Au bureau, il est partout : consignes, modes d'emploi, panneaux, accueil des visiteurs.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la forme à partir de consignes déjà connues.
Faites deviner le sens par le geste, puis retrouver l'infinitif de chaque consigne. La règle tombe d'elle-même : impératif = radical (M3). herhalen (répéter) est inséparable (her-, 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des verbes réguliers.
Rappel M3 : radical = infinitif − en, avec les ajustements (neem, stop, bel). Pour plusieurs personnes, la forme ne change pas. La forme Komt! est vieillie : on ne l'enseigne 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Appliquer les ajustements du M4 et retenir les formes spéciales.
Wees est la seule vraie forme irrégulière. Heb geduld! (sois patient) est régulier (radical heb) ; au téléphone : Hebt u even geduld. Ga!, Doe!, Sta! sont simplement des radicaux de verbes courts (M4). Ga zitten! Doe de deur dicht! sont très fréquents.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Neutraliser les calques des formes françaises.
Laten we… = « faisons… » (1re personne du pluriel). À l'oral, on entend aussi Kom, we gaan! (« Allez, on y va ! »). Ben voorzichtig est une erreur fréquente : zijn a sa forme propre, wees.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phrase impérative : verbe en tête, particule au bout, niet à sa place.
Comme dans une question oui / non (M3), le verbe vient en tête, mais sans sujet. niet se place comme d'habitude : à la fin, ou devant la particule et l'infinitif (Doe de deur niet dicht!). Pronom réfléchi : je en informel, u en formel.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de politesse avec u.
Lien M8 : avec un client, une personne âgée ou un supérieur, on choisit u. Wacht u even : pas de t en plus (radical en t, M4). Blijft u even aan de lijn (« Ne quittez pas ») est la phrase-clé du téléphone (M8).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degré de politesse adapté à la situation.
L'impératif n'est pas impoli en soi : avec maar, even ou alstublieft, c'est une invitation. La marche ⑤ utilise zou (le conditionnel, travaillé au M29) : à reconnaître seulement. À l'accueil ou au téléphone, la marche ③ suffit.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even, maar, eens, gerust et alsjeblieft / alstublieft.
Ces mots n'ont pas de vraie traduction : ils « arrondissent » l'ordre. Zeg het maar = « je vous écoute » (au comptoir, au téléphone). Ils se placent juste après le verbe, ou après le pronom : Kom maar binnen, Bel me gerust.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l'infinitif des panneaux et des consignes écrites.
Le français mélange : « Poussez » (impératif) mais « Ne pas fumer » (infinitif). Le néerlandais écrit les panneaux à l'infinitif et parle à l'impératif. Lien M12 : Je mag hier niet roken (la règle expliquée).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une suite de consignes avec des mots d'ordre chronologique.
Les mots eerst, dan, daarna, tot slot se placent juste après le verbe. Variante très fréquente au bureau, plus douce : le présent avec je (Eerst leg je het document…). meenemen : la particule va au bout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dans un bâtiment.
de verdieping = l'étage. het gelijkvloers (BE) = de begane grond (NL) = le rez-de-chaussée. Faites le parcours en direct : un apprenant guide, l'autre marche dans la classe.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Former l'impératif : réguliers, ajustements du M4, formes spéciales.
Faites justifier chaque forme par la fiche (diapo 14). N° 9 et 12 : la particule va au bout. N° 7 : la seule forme irrégulière.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 ordre direct en demande polie avec u.
Acceptez toute combinaison correcte de petits mots. Variante en question (M12) : Kunt u even wachten? Faites lire à voix haute avec une intonation aimable. tekenen = signer (et dessiner).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Passer de l'infinitif écrit à l'impératif oral.
N° 3 : storen → stoor (voyelle longue doublée, M1 et M4). Pour un client, ajoutez alstublieft, et passez à u : Rookt u hier niet, alstublieft.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Remettre des consignes dans l'ordre logique, puis les relier.
Ensuite, faites ajouter les mots de liaison : Doe eerst… Zet dan… Kies daarna… Druk tot slot… Lien M17 : zetten = mettre debout (le gobelet). Les étapes 2 et 3 peuvent s'inverser : acceptez-le.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de l'impératif.
Leurres : Neem je laptop mee, log in, vraag het gerust. Chaque erreur renvoie à une diapo : 4 (Kom), 5 (Wees), 7 (particule, niet), 4 (radical Lees).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Guider quelqu'un à l'oral dans un bâtiment.
Variante dans la salle : un apprenant, les yeux fermés, est guidé entre les tables. Décidez avant de commencer : informel (je) ou formel (u, un client).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professionnelle : accueillir une stagiaire.
B pose des questions (Waar is…? Hoe werkt…?). Inversez ensuite les rôles en formel : meneer Maes, un client, visite l'entreprise (u). de nooduitgang = la sortie de secours.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Wees voorzichtig! · Bel de klant op!
2. Wacht u even, alstublieft.
3. Laten we beginnen!
Teaser M17 : Waar ligt mijn sleutel?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16 · De gebiedende wijs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image" Target="../media/image-20-10.png"/><Relationship Id="rId11" Type="http://schemas.openxmlformats.org/officeDocument/2006/relationships/image" Target="../media/image-20-11.png"/><Relationship Id="rId12" Type="http://schemas.openxmlformats.org/officeDocument/2006/relationships/image" Target="../media/image-20-12.png"/><Relationship Id="rId13" Type="http://schemas.openxmlformats.org/officeDocument/2006/relationships/image" Target="../media/image-20-13.png"/><Relationship Id="rId14" Type="http://schemas.openxmlformats.org/officeDocument/2006/relationships/image" Target="../media/image-20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slideLayout" Target="../slideLayouts/slideLayout2.xml"/><Relationship Id="rId1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image" Target="../media/image-2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image" Target="../media/image-28-9.png"/><Relationship Id="rId10" Type="http://schemas.openxmlformats.org/officeDocument/2006/relationships/image" Target="../media/image-28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16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De gebiedende wijs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L’impératif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binnen! Neem plaats.</a:t>
            </a:r>
            <a:endParaRPr lang="en-US" sz="2000" dirty="0"/>
          </a:p>
        </p:txBody>
      </p:sp>
      <p:pic>
        <p:nvPicPr>
          <p:cNvPr id="5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914400"/>
            <a:ext cx="2377440" cy="23774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915400" y="1325880"/>
            <a:ext cx="274320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381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915400" y="132588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binnen!</a:t>
            </a:r>
            <a:endParaRPr lang="en-US" sz="3000" dirty="0"/>
          </a:p>
        </p:txBody>
      </p:sp>
      <p:sp>
        <p:nvSpPr>
          <p:cNvPr id="8" name="Shape 5"/>
          <p:cNvSpPr/>
          <p:nvPr/>
        </p:nvSpPr>
        <p:spPr>
          <a:xfrm flipH="1">
            <a:off x="8366760" y="1810512"/>
            <a:ext cx="502920" cy="914"/>
          </a:xfrm>
          <a:prstGeom prst="line">
            <a:avLst/>
          </a:prstGeom>
          <a:noFill/>
          <a:ln w="25400">
            <a:solidFill>
              <a:srgbClr val="F6C27E"/>
            </a:solidFill>
            <a:prstDash val="dash"/>
          </a:ln>
        </p:spPr>
      </p:sp>
      <p:pic>
        <p:nvPicPr>
          <p:cNvPr id="9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65760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726680" y="3611880"/>
            <a:ext cx="3931920" cy="1005840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7726680" y="361188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Neem</a:t>
            </a:r>
            <a:r>
              <a:rPr lang="en-US" sz="28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plaats.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Former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forme l’impératif : </a:t>
            </a:r>
            <a:r>
              <a:rPr lang="en-US" sz="2000" i="1" dirty="0">
                <a:solidFill>
                  <a:schemeClr val="tx1"/>
                </a:solidFill>
              </a:rPr>
              <a:t>Werk! Lees! Wees voorzichtig!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Adoucir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J’adapte l’ordre à la personne : </a:t>
            </a:r>
            <a:r>
              <a:rPr lang="en-US" sz="2000" i="1" dirty="0">
                <a:solidFill>
                  <a:schemeClr val="tx1"/>
                </a:solidFill>
              </a:rPr>
              <a:t>Kom maar binnen. Gaat u zitten.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pas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Guider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des consignes et j’indique le chemin au bureau.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Au bureau, l’impératif est partout : consignes, modes d’emploi, panneaux, accueil des visiteurs.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les consignes de la classe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e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87452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37360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Luister!</a:t>
            </a:r>
            <a:endParaRPr lang="en-US" sz="2600" dirty="0"/>
          </a:p>
        </p:txBody>
      </p:sp>
      <p:sp>
        <p:nvSpPr>
          <p:cNvPr id="8" name="Text 4"/>
          <p:cNvSpPr txBox="1"/>
          <p:nvPr/>
        </p:nvSpPr>
        <p:spPr>
          <a:xfrm>
            <a:off x="1737360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luisteren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315968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0" name="Image 1" descr="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187452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504688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Kijk!</a:t>
            </a:r>
            <a:endParaRPr lang="en-US" sz="2600" dirty="0"/>
          </a:p>
        </p:txBody>
      </p:sp>
      <p:sp>
        <p:nvSpPr>
          <p:cNvPr id="12" name="Text 7"/>
          <p:cNvSpPr txBox="1"/>
          <p:nvPr/>
        </p:nvSpPr>
        <p:spPr>
          <a:xfrm>
            <a:off x="5504688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kijken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8083296" y="160020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4" name="Image 2" descr="open 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6176" y="1874520"/>
            <a:ext cx="822960" cy="8229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9272016" y="17373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Lees!</a:t>
            </a:r>
            <a:endParaRPr lang="en-US" sz="2600" dirty="0"/>
          </a:p>
        </p:txBody>
      </p:sp>
      <p:sp>
        <p:nvSpPr>
          <p:cNvPr id="16" name="Text 10"/>
          <p:cNvSpPr txBox="1"/>
          <p:nvPr/>
        </p:nvSpPr>
        <p:spPr>
          <a:xfrm>
            <a:off x="9272016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lezen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48640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3" descr="penci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429000"/>
            <a:ext cx="822960" cy="8229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737360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Schrijf!</a:t>
            </a:r>
            <a:endParaRPr lang="en-US" sz="2600" dirty="0"/>
          </a:p>
        </p:txBody>
      </p:sp>
      <p:sp>
        <p:nvSpPr>
          <p:cNvPr id="20" name="Text 13"/>
          <p:cNvSpPr txBox="1"/>
          <p:nvPr/>
        </p:nvSpPr>
        <p:spPr>
          <a:xfrm>
            <a:off x="1737360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schrijven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4315968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2" name="Image 4" descr="repeat butt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98848" y="3429000"/>
            <a:ext cx="822960" cy="8229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504688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Herhaal!</a:t>
            </a:r>
            <a:endParaRPr lang="en-US" sz="2600" dirty="0"/>
          </a:p>
        </p:txBody>
      </p:sp>
      <p:sp>
        <p:nvSpPr>
          <p:cNvPr id="24" name="Text 16"/>
          <p:cNvSpPr txBox="1"/>
          <p:nvPr/>
        </p:nvSpPr>
        <p:spPr>
          <a:xfrm>
            <a:off x="5504688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herhalen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8083296" y="3154680"/>
            <a:ext cx="3557016" cy="1371600"/>
          </a:xfrm>
          <a:prstGeom prst="roundRect">
            <a:avLst>
              <a:gd name="adj" fmla="val 1333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6" name="Image 5" descr="handshak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6176" y="3429000"/>
            <a:ext cx="822960" cy="8229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9272016" y="32918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 samen!</a:t>
            </a:r>
            <a:endParaRPr lang="en-US" sz="2600" dirty="0"/>
          </a:p>
        </p:txBody>
      </p:sp>
      <p:sp>
        <p:nvSpPr>
          <p:cNvPr id="28" name="Text 19"/>
          <p:cNvSpPr txBox="1"/>
          <p:nvPr/>
        </p:nvSpPr>
        <p:spPr>
          <a:xfrm>
            <a:off x="9272016" y="39959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B8C2CF"/>
                </a:solidFill>
              </a:rPr>
              <a:t>samenwerken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48640" y="4846320"/>
            <a:ext cx="11091672" cy="1417320"/>
          </a:xfrm>
          <a:prstGeom prst="roundRect">
            <a:avLst>
              <a:gd name="adj" fmla="val 5161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30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120640"/>
            <a:ext cx="822960" cy="82296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828800" y="4846320"/>
            <a:ext cx="9601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Quelle forme du verbe est-ce ?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luisteren → luister</a:t>
            </a:r>
            <a:r>
              <a:rPr lang="en-US" sz="2000" dirty="0">
                <a:solidFill>
                  <a:schemeClr val="tx1"/>
                </a:solidFill>
              </a:rPr>
              <a:t> … c’est le </a:t>
            </a:r>
            <a:r>
              <a:rPr lang="en-US" sz="2000" b="1" dirty="0">
                <a:solidFill>
                  <a:schemeClr val="tx1"/>
                </a:solidFill>
              </a:rPr>
              <a:t>radical</a:t>
            </a:r>
            <a:r>
              <a:rPr lang="en-US" sz="2000" dirty="0">
                <a:solidFill>
                  <a:schemeClr val="tx1"/>
                </a:solidFill>
              </a:rPr>
              <a:t> du M3 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L’impératif = le radical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infinitif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343400" y="1572768"/>
            <a:ext cx="438912" cy="43891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u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8739" y="1678107"/>
            <a:ext cx="228234" cy="22823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① − en : le radical (M3)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8138160" y="1572768"/>
            <a:ext cx="438912" cy="438912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0" name="Image 1" descr="Excla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3499" y="1678107"/>
            <a:ext cx="228234" cy="22823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0" y="1572768"/>
            <a:ext cx="29535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② sans sujet, sans -t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48640" y="3017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54864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Text 9"/>
          <p:cNvSpPr txBox="1"/>
          <p:nvPr/>
        </p:nvSpPr>
        <p:spPr>
          <a:xfrm>
            <a:off x="54864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werken</a:t>
            </a:r>
            <a:endParaRPr lang="en-US" sz="2800" dirty="0"/>
          </a:p>
        </p:txBody>
      </p:sp>
      <p:sp>
        <p:nvSpPr>
          <p:cNvPr id="15" name="Shape 10"/>
          <p:cNvSpPr/>
          <p:nvPr/>
        </p:nvSpPr>
        <p:spPr>
          <a:xfrm>
            <a:off x="408736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6" name="Shape 11"/>
          <p:cNvSpPr/>
          <p:nvPr/>
        </p:nvSpPr>
        <p:spPr>
          <a:xfrm>
            <a:off x="434340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Text 12"/>
          <p:cNvSpPr txBox="1"/>
          <p:nvPr/>
        </p:nvSpPr>
        <p:spPr>
          <a:xfrm>
            <a:off x="434340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</a:t>
            </a:r>
            <a:endParaRPr lang="en-US" sz="2800" dirty="0"/>
          </a:p>
        </p:txBody>
      </p:sp>
      <p:sp>
        <p:nvSpPr>
          <p:cNvPr id="18" name="Shape 13"/>
          <p:cNvSpPr/>
          <p:nvPr/>
        </p:nvSpPr>
        <p:spPr>
          <a:xfrm>
            <a:off x="7882128" y="2560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8138160" y="2176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138160" y="2176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Werk!</a:t>
            </a:r>
            <a:endParaRPr lang="en-US" sz="2800" dirty="0"/>
          </a:p>
        </p:txBody>
      </p:sp>
      <p:sp>
        <p:nvSpPr>
          <p:cNvPr id="21" name="Shape 16"/>
          <p:cNvSpPr/>
          <p:nvPr/>
        </p:nvSpPr>
        <p:spPr>
          <a:xfrm>
            <a:off x="548640" y="4160520"/>
            <a:ext cx="11091672" cy="7315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4864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54864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komen</a:t>
            </a:r>
            <a:endParaRPr lang="en-US" sz="2800" dirty="0"/>
          </a:p>
        </p:txBody>
      </p:sp>
      <p:sp>
        <p:nvSpPr>
          <p:cNvPr id="24" name="Shape 19"/>
          <p:cNvSpPr/>
          <p:nvPr/>
        </p:nvSpPr>
        <p:spPr>
          <a:xfrm>
            <a:off x="408736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0"/>
          <p:cNvSpPr/>
          <p:nvPr/>
        </p:nvSpPr>
        <p:spPr>
          <a:xfrm>
            <a:off x="434340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434340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</a:t>
            </a:r>
            <a:endParaRPr lang="en-US" sz="2800" dirty="0"/>
          </a:p>
        </p:txBody>
      </p:sp>
      <p:sp>
        <p:nvSpPr>
          <p:cNvPr id="27" name="Shape 22"/>
          <p:cNvSpPr/>
          <p:nvPr/>
        </p:nvSpPr>
        <p:spPr>
          <a:xfrm>
            <a:off x="7882128" y="3703320"/>
            <a:ext cx="219456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3"/>
          <p:cNvSpPr/>
          <p:nvPr/>
        </p:nvSpPr>
        <p:spPr>
          <a:xfrm>
            <a:off x="8138160" y="3319272"/>
            <a:ext cx="3502152" cy="777240"/>
          </a:xfrm>
          <a:prstGeom prst="roundRect">
            <a:avLst>
              <a:gd name="adj" fmla="val 11765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9" name="Text 24"/>
          <p:cNvSpPr txBox="1"/>
          <p:nvPr/>
        </p:nvSpPr>
        <p:spPr>
          <a:xfrm>
            <a:off x="8138160" y="3319272"/>
            <a:ext cx="35021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Kom!</a:t>
            </a:r>
            <a:endParaRPr lang="en-US" sz="2800" dirty="0"/>
          </a:p>
        </p:txBody>
      </p:sp>
      <p:sp>
        <p:nvSpPr>
          <p:cNvPr id="30" name="Shape 25"/>
          <p:cNvSpPr/>
          <p:nvPr/>
        </p:nvSpPr>
        <p:spPr>
          <a:xfrm>
            <a:off x="548640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548640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nemen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2" name="Shape 27"/>
          <p:cNvSpPr/>
          <p:nvPr/>
        </p:nvSpPr>
        <p:spPr>
          <a:xfrm>
            <a:off x="3364992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364992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wachten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Wacht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4" name="Shape 29"/>
          <p:cNvSpPr/>
          <p:nvPr/>
        </p:nvSpPr>
        <p:spPr>
          <a:xfrm>
            <a:off x="6181344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6181344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stoppen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Stop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6" name="Shape 31"/>
          <p:cNvSpPr/>
          <p:nvPr/>
        </p:nvSpPr>
        <p:spPr>
          <a:xfrm>
            <a:off x="8997696" y="4526280"/>
            <a:ext cx="2642616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8997696" y="4526280"/>
            <a:ext cx="2642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bellen</a:t>
            </a:r>
            <a:r>
              <a:rPr lang="en-US" sz="2100" dirty="0">
                <a:solidFill>
                  <a:schemeClr val="tx1"/>
                </a:solidFill>
              </a:rPr>
              <a:t> → </a:t>
            </a:r>
            <a:r>
              <a:rPr lang="en-US" sz="2100" b="1" i="1" dirty="0">
                <a:solidFill>
                  <a:schemeClr val="accent6"/>
                </a:solidFill>
              </a:rPr>
              <a:t>Bel</a:t>
            </a:r>
            <a:r>
              <a:rPr lang="en-US" sz="2100" b="1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sp>
        <p:nvSpPr>
          <p:cNvPr id="38" name="Shape 33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Pas de sujet, pas de </a:t>
            </a:r>
            <a:r>
              <a:rPr lang="en-US" sz="1800" i="1" dirty="0">
                <a:solidFill>
                  <a:schemeClr val="bg1"/>
                </a:solidFill>
              </a:rPr>
              <a:t>-t</a:t>
            </a:r>
            <a:r>
              <a:rPr lang="en-US" sz="1800" dirty="0">
                <a:solidFill>
                  <a:schemeClr val="bg1"/>
                </a:solidFill>
              </a:rPr>
              <a:t>, une seule forme :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Karim! · </a:t>
            </a:r>
            <a:r>
              <a:rPr lang="en-US" sz="1800" b="1" i="1" dirty="0">
                <a:solidFill>
                  <a:schemeClr val="bg1"/>
                </a:solidFill>
              </a:rPr>
              <a:t>Kom</a:t>
            </a:r>
            <a:r>
              <a:rPr lang="en-US" sz="1800" i="1" dirty="0">
                <a:solidFill>
                  <a:schemeClr val="bg1"/>
                </a:solidFill>
              </a:rPr>
              <a:t>, jongens!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qui s’adaptent… et Wees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LES AJUSTEMENTS DU M4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9659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lezen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2331720" y="196596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2743200" y="19659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Lees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19659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z → s · voyelle longue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715768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271576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geven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2331720" y="2715768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0" y="27157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Geef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297680" y="27157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 · voyelle longue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48640" y="3465576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346557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blijven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2331720" y="3465576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2743200" y="346557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Blijf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4297680" y="3465576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48640" y="4215384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31520" y="42153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schrijven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2331720" y="4215384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2743200" y="421538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Schrijf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2153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 → f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48640" y="4965192"/>
            <a:ext cx="603504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" y="496519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zetten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2331720" y="4965192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1"/>
                </a:solidFill>
              </a:rPr>
              <a:t>→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743200" y="496519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i="1" dirty="0">
                <a:solidFill>
                  <a:schemeClr val="accent6"/>
                </a:solidFill>
              </a:rPr>
              <a:t>Zet</a:t>
            </a:r>
            <a:r>
              <a:rPr lang="en-US" sz="2200" b="1" i="1" dirty="0">
                <a:solidFill>
                  <a:schemeClr val="tx1"/>
                </a:solidFill>
              </a:rPr>
              <a:t>!</a:t>
            </a:r>
            <a:endParaRPr lang="en-US" sz="2200" dirty="0"/>
          </a:p>
        </p:txBody>
      </p:sp>
      <p:sp>
        <p:nvSpPr>
          <p:cNvPr id="30" name="Text 27"/>
          <p:cNvSpPr txBox="1"/>
          <p:nvPr/>
        </p:nvSpPr>
        <p:spPr>
          <a:xfrm>
            <a:off x="4297680" y="496519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tt → t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6858000" y="1554480"/>
            <a:ext cx="4782312" cy="3886200"/>
          </a:xfrm>
          <a:prstGeom prst="roundRect">
            <a:avLst>
              <a:gd name="adj" fmla="val 1882"/>
            </a:avLst>
          </a:prstGeom>
          <a:solidFill>
            <a:srgbClr val="FFFDF2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2" name="Image 0" descr="glowing s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1691640"/>
            <a:ext cx="548640" cy="548640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7680960" y="1691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FORMES SPÉCIALES</a:t>
            </a:r>
            <a:endParaRPr lang="en-US" sz="1500" dirty="0"/>
          </a:p>
        </p:txBody>
      </p:sp>
      <p:sp>
        <p:nvSpPr>
          <p:cNvPr id="34" name="Text 30"/>
          <p:cNvSpPr txBox="1"/>
          <p:nvPr/>
        </p:nvSpPr>
        <p:spPr>
          <a:xfrm>
            <a:off x="7040880" y="2331720"/>
            <a:ext cx="4480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zijn</a:t>
            </a:r>
            <a:r>
              <a:rPr lang="en-US" sz="30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→ </a:t>
            </a:r>
            <a:r>
              <a:rPr lang="en-US" sz="3000" b="1" i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Wees</a:t>
            </a:r>
            <a:endParaRPr lang="en-US" sz="3000" dirty="0"/>
          </a:p>
        </p:txBody>
      </p:sp>
      <p:sp>
        <p:nvSpPr>
          <p:cNvPr id="35" name="Text 31"/>
          <p:cNvSpPr txBox="1"/>
          <p:nvPr/>
        </p:nvSpPr>
        <p:spPr>
          <a:xfrm>
            <a:off x="7086600" y="306324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voorzichtig!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gerust!</a:t>
            </a:r>
            <a:endParaRPr lang="en-US" sz="18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Wees</a:t>
            </a:r>
            <a:r>
              <a:rPr lang="en-US" sz="1800" i="1" dirty="0">
                <a:solidFill>
                  <a:schemeClr val="tx1"/>
                </a:solidFill>
              </a:rPr>
              <a:t> op tijd!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7086600" y="4343400"/>
            <a:ext cx="4343400" cy="914"/>
          </a:xfrm>
          <a:prstGeom prst="line">
            <a:avLst/>
          </a:prstGeom>
          <a:noFill/>
          <a:ln w="12700">
            <a:solidFill>
              <a:srgbClr val="E8D9B5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7086600" y="4434840"/>
            <a:ext cx="4434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Verbes courts (M4) : </a:t>
            </a:r>
            <a:r>
              <a:rPr lang="en-US" sz="1700" i="1" dirty="0">
                <a:solidFill>
                  <a:schemeClr val="tx1"/>
                </a:solidFill>
              </a:rPr>
              <a:t>gaan → </a:t>
            </a:r>
            <a:r>
              <a:rPr lang="en-US" sz="1700" b="1" i="1" dirty="0">
                <a:solidFill>
                  <a:schemeClr val="tx1"/>
                </a:solidFill>
              </a:rPr>
              <a:t>Ga!</a:t>
            </a:r>
            <a:r>
              <a:rPr lang="en-US" sz="1700" i="1" dirty="0">
                <a:solidFill>
                  <a:schemeClr val="tx1"/>
                </a:solidFill>
              </a:rPr>
              <a:t> · doen → </a:t>
            </a:r>
            <a:r>
              <a:rPr lang="en-US" sz="1700" b="1" i="1" dirty="0">
                <a:solidFill>
                  <a:schemeClr val="tx1"/>
                </a:solidFill>
              </a:rPr>
              <a:t>Doe!</a:t>
            </a:r>
            <a:r>
              <a:rPr lang="en-US" sz="1700" i="1" dirty="0">
                <a:solidFill>
                  <a:schemeClr val="tx1"/>
                </a:solidFill>
              </a:rPr>
              <a:t> · staan → </a:t>
            </a:r>
            <a:r>
              <a:rPr lang="en-US" sz="1700" b="1" i="1" dirty="0">
                <a:solidFill>
                  <a:schemeClr val="tx1"/>
                </a:solidFill>
              </a:rPr>
              <a:t>Sta!</a:t>
            </a:r>
            <a:endParaRPr lang="en-US" sz="1700" dirty="0"/>
          </a:p>
        </p:txBody>
      </p:sp>
      <p:sp>
        <p:nvSpPr>
          <p:cNvPr id="38" name="Text 34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Heb geduld!</a:t>
            </a:r>
            <a:r>
              <a:rPr lang="en-US" sz="1600" i="1" dirty="0">
                <a:solidFill>
                  <a:schemeClr val="accent5"/>
                </a:solidFill>
              </a:rPr>
              <a:t> (sois patient) : radical </a:t>
            </a:r>
            <a:r>
              <a:rPr lang="en-US" sz="1600" i="1" dirty="0">
                <a:solidFill>
                  <a:schemeClr val="accent5"/>
                </a:solidFill>
              </a:rPr>
              <a:t>heb</a:t>
            </a:r>
            <a:r>
              <a:rPr lang="en-US" sz="1600" i="1" dirty="0">
                <a:solidFill>
                  <a:schemeClr val="accent5"/>
                </a:solidFill>
              </a:rPr>
              <a:t> · au téléphone : </a:t>
            </a:r>
            <a:r>
              <a:rPr lang="en-US" sz="1600" i="1" dirty="0">
                <a:solidFill>
                  <a:schemeClr val="accent5"/>
                </a:solidFill>
              </a:rPr>
              <a:t>Hebt u even geduld.</a:t>
            </a:r>
            <a:r>
              <a:rPr lang="en-US" sz="1600" i="1" dirty="0">
                <a:solidFill>
                  <a:schemeClr val="accent5"/>
                </a:solidFill>
              </a:rPr>
              <a:t> · très fréquent : </a:t>
            </a:r>
            <a:r>
              <a:rPr lang="en-US" sz="1600" i="1" dirty="0">
                <a:solidFill>
                  <a:schemeClr val="accent5"/>
                </a:solidFill>
              </a:rPr>
              <a:t>Ga zitten!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viens, venez, venons — une seule forme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3977640"/>
          </a:xfrm>
          <a:prstGeom prst="roundRect">
            <a:avLst>
              <a:gd name="adj" fmla="val 1839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pic>
        <p:nvPicPr>
          <p:cNvPr id="7" name="Image 0" descr="wav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40280"/>
            <a:ext cx="731520" cy="731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Venez ! » (à plusieurs)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4983480" y="214884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Komen!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7589520" y="260604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8046720" y="224028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83880" y="224028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Kom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3" name="Image 1" descr="rocke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37560"/>
            <a:ext cx="731520" cy="7315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916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Commençons ! »</a:t>
            </a:r>
            <a:endParaRPr lang="en-US" sz="19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32461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Beginnen we!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7589520" y="370332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8046720" y="333756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183880" y="333756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Laten</a:t>
            </a:r>
            <a:r>
              <a:rPr lang="en-US" sz="2100" i="1" dirty="0">
                <a:solidFill>
                  <a:schemeClr val="tx1"/>
                </a:solidFill>
              </a:rPr>
              <a:t> we </a:t>
            </a:r>
            <a:r>
              <a:rPr lang="en-US" sz="2100" b="1" i="1" dirty="0">
                <a:solidFill>
                  <a:schemeClr val="tx1"/>
                </a:solidFill>
              </a:rPr>
              <a:t>beginnen</a:t>
            </a:r>
            <a:r>
              <a:rPr lang="en-US" sz="2100" i="1" dirty="0">
                <a:solidFill>
                  <a:schemeClr val="tx1"/>
                </a:solidFill>
              </a:rPr>
              <a:t>!</a:t>
            </a:r>
            <a:endParaRPr lang="en-US" sz="2100" dirty="0"/>
          </a:p>
        </p:txBody>
      </p:sp>
      <p:pic>
        <p:nvPicPr>
          <p:cNvPr id="19" name="Image 2" descr="warn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434840"/>
            <a:ext cx="731520" cy="7315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6916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Sois prudent ! »</a:t>
            </a:r>
            <a:endParaRPr lang="en-US" sz="1900" dirty="0"/>
          </a:p>
        </p:txBody>
      </p:sp>
      <p:sp>
        <p:nvSpPr>
          <p:cNvPr id="21" name="Text 15"/>
          <p:cNvSpPr txBox="1"/>
          <p:nvPr/>
        </p:nvSpPr>
        <p:spPr>
          <a:xfrm>
            <a:off x="4983480" y="434340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accent6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Ben voorzichtig!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7589520" y="4800600"/>
            <a:ext cx="41148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8046720" y="4434840"/>
            <a:ext cx="3429000" cy="731520"/>
          </a:xfrm>
          <a:prstGeom prst="roundRect">
            <a:avLst>
              <a:gd name="adj" fmla="val 125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183880" y="443484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✓ </a:t>
            </a:r>
            <a:r>
              <a:rPr lang="en-US" sz="2100" b="1" i="1" dirty="0">
                <a:solidFill>
                  <a:schemeClr val="accent6"/>
                </a:solidFill>
              </a:rPr>
              <a:t>Wees</a:t>
            </a:r>
            <a:r>
              <a:rPr lang="en-US" sz="2100" i="1" dirty="0">
                <a:solidFill>
                  <a:schemeClr val="tx1"/>
                </a:solidFill>
              </a:rPr>
              <a:t> voorzichtig!</a:t>
            </a:r>
            <a:endParaRPr lang="en-US" sz="21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Laten we…</a:t>
            </a:r>
            <a:r>
              <a:rPr lang="en-US" sz="1700" dirty="0">
                <a:solidFill>
                  <a:schemeClr val="bg1"/>
                </a:solidFill>
              </a:rPr>
              <a:t> = « faisons… » · à l’oral aussi : </a:t>
            </a:r>
            <a:r>
              <a:rPr lang="en-US" sz="1700" i="1" dirty="0">
                <a:solidFill>
                  <a:schemeClr val="bg1"/>
                </a:solidFill>
              </a:rPr>
              <a:t>Kom, we gaan!</a:t>
            </a:r>
            <a:r>
              <a:rPr lang="en-US" sz="1700" dirty="0">
                <a:solidFill>
                  <a:schemeClr val="bg1"/>
                </a:solidFill>
              </a:rPr>
              <a:t> (« Allez, on y va ! »)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phrase à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1170432" y="1536192"/>
            <a:ext cx="402336" cy="402336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70432" y="1536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53619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le verbe en tête · pas de sujet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05740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20574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Doe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2286000" y="205740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286000" y="20574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de deur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303520" y="205740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13" name="Text 10"/>
          <p:cNvSpPr txBox="1"/>
          <p:nvPr/>
        </p:nvSpPr>
        <p:spPr>
          <a:xfrm>
            <a:off x="5303520" y="205740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dicht!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949440" y="205740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283464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8346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Bel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2286000" y="283464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2286000" y="28346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 morgen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5303520" y="283464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dash"/>
          </a:ln>
        </p:spPr>
      </p:sp>
      <p:sp>
        <p:nvSpPr>
          <p:cNvPr id="20" name="Text 17"/>
          <p:cNvSpPr txBox="1"/>
          <p:nvPr/>
        </p:nvSpPr>
        <p:spPr>
          <a:xfrm>
            <a:off x="5303520" y="283464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terug!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949440" y="283464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particule au bout (M11)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48640" y="361188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36118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2286000" y="361188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286000" y="36118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even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5303520" y="3611880"/>
            <a:ext cx="146304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7" name="Text 24"/>
          <p:cNvSpPr txBox="1"/>
          <p:nvPr/>
        </p:nvSpPr>
        <p:spPr>
          <a:xfrm>
            <a:off x="5303520" y="361188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zitten!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6949440" y="361188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infinitif au bout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548640" y="4389120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3891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Vergeet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2286000" y="4389120"/>
            <a:ext cx="2926080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286000" y="4389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 badge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5303520" y="4389120"/>
            <a:ext cx="1463040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303520" y="4389120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niet!</a:t>
            </a:r>
            <a:endParaRPr lang="en-US" sz="22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89120"/>
            <a:ext cx="4690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←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à la fin (M13)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548640" y="5257800"/>
            <a:ext cx="1109167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77240" y="5321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VERBES RÉFLÉCHIS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777240" y="5596128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je!</a:t>
            </a:r>
            <a:r>
              <a:rPr lang="en-US" sz="1900" dirty="0">
                <a:solidFill>
                  <a:schemeClr val="tx1"/>
                </a:solidFill>
              </a:rPr>
              <a:t> (dépêche-toi) · </a:t>
            </a:r>
            <a:r>
              <a:rPr lang="en-US" sz="1900" b="1" i="1" dirty="0">
                <a:solidFill>
                  <a:schemeClr val="accent6"/>
                </a:solidFill>
              </a:rPr>
              <a:t>Kleed</a:t>
            </a:r>
            <a:r>
              <a:rPr lang="en-US" sz="1900" i="1" dirty="0">
                <a:solidFill>
                  <a:schemeClr val="tx1"/>
                </a:solidFill>
              </a:rPr>
              <a:t> je </a:t>
            </a:r>
            <a:r>
              <a:rPr lang="en-US" sz="1900" b="1" i="1" dirty="0">
                <a:solidFill>
                  <a:schemeClr val="accent1"/>
                </a:solidFill>
              </a:rPr>
              <a:t>aan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r>
              <a:rPr lang="en-US" sz="1900" dirty="0">
                <a:solidFill>
                  <a:schemeClr val="tx1"/>
                </a:solidFill>
              </a:rPr>
              <a:t> (habille-toi) · avec </a:t>
            </a:r>
            <a:r>
              <a:rPr lang="en-US" sz="1900" i="1" dirty="0">
                <a:solidFill>
                  <a:schemeClr val="tx1"/>
                </a:solidFill>
              </a:rPr>
              <a:t>u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b="1" i="1" dirty="0">
                <a:solidFill>
                  <a:schemeClr val="accent6"/>
                </a:solidFill>
              </a:rPr>
              <a:t>Haast</a:t>
            </a:r>
            <a:r>
              <a:rPr lang="en-US" sz="1900" i="1" dirty="0">
                <a:solidFill>
                  <a:schemeClr val="tx1"/>
                </a:solidFill>
              </a:rPr>
              <a:t> u!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Avec u : l’impératif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JE · informel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355080" y="1554480"/>
            <a:ext cx="528523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355080" y="1554480"/>
            <a:ext cx="5285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spc="200" kern="0" dirty="0">
                <a:solidFill>
                  <a:schemeClr val="bg1"/>
                </a:solidFill>
              </a:rPr>
              <a:t>U · formel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4864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 binnen.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897880" y="2478024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355080" y="2194560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83680" y="219456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Kom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binnen.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 plaats.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897880" y="3136392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6355080" y="2852928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0" y="2852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Neem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plaats.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4864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 zitten.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5897880" y="3794760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6355080" y="3511296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3511296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Gaa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zitten.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54864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7724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even.</a:t>
            </a:r>
            <a:endParaRPr lang="en-US" sz="2000" dirty="0"/>
          </a:p>
        </p:txBody>
      </p:sp>
      <p:sp>
        <p:nvSpPr>
          <p:cNvPr id="26" name="Shape 23"/>
          <p:cNvSpPr/>
          <p:nvPr/>
        </p:nvSpPr>
        <p:spPr>
          <a:xfrm>
            <a:off x="5897880" y="4453128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355080" y="4169664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16966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Wacht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even.</a:t>
            </a:r>
            <a:endParaRPr lang="en-US" sz="2000" dirty="0"/>
          </a:p>
        </p:txBody>
      </p:sp>
      <p:sp>
        <p:nvSpPr>
          <p:cNvPr id="29" name="Shape 26"/>
          <p:cNvSpPr/>
          <p:nvPr/>
        </p:nvSpPr>
        <p:spPr>
          <a:xfrm>
            <a:off x="54864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 aan de lijn.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897880" y="5111496"/>
            <a:ext cx="39319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6355080" y="4828032"/>
            <a:ext cx="5285232" cy="566928"/>
          </a:xfrm>
          <a:prstGeom prst="roundRect">
            <a:avLst>
              <a:gd name="adj" fmla="val 12903"/>
            </a:avLst>
          </a:prstGeom>
          <a:solidFill>
            <a:srgbClr val="EEF3F8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583680" y="482803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Blijf</a:t>
            </a:r>
            <a:r>
              <a:rPr lang="en-US" sz="2000" b="1" i="1" dirty="0">
                <a:solidFill>
                  <a:schemeClr val="accent1"/>
                </a:solidFill>
              </a:rPr>
              <a:t>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u</a:t>
            </a:r>
            <a:r>
              <a:rPr lang="en-US" sz="2000" i="1" dirty="0">
                <a:solidFill>
                  <a:schemeClr val="tx1"/>
                </a:solidFill>
              </a:rPr>
              <a:t> even aan de lijn.</a:t>
            </a:r>
            <a:endParaRPr lang="en-US" sz="2000" dirty="0"/>
          </a:p>
        </p:txBody>
      </p:sp>
      <p:sp>
        <p:nvSpPr>
          <p:cNvPr id="34" name="Shape 31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Formule : radical + </a:t>
            </a:r>
            <a:r>
              <a:rPr lang="en-US" sz="1800" b="1" dirty="0">
                <a:solidFill>
                  <a:schemeClr val="bg1"/>
                </a:solidFill>
              </a:rPr>
              <a:t>t</a:t>
            </a:r>
            <a:r>
              <a:rPr lang="en-US" sz="1800" dirty="0">
                <a:solidFill>
                  <a:schemeClr val="bg1"/>
                </a:solidFill>
              </a:rPr>
              <a:t> + </a:t>
            </a:r>
            <a:r>
              <a:rPr lang="en-US" sz="1800" b="1" dirty="0">
                <a:solidFill>
                  <a:schemeClr val="bg1"/>
                </a:solidFill>
              </a:rPr>
              <a:t>u</a:t>
            </a:r>
            <a:r>
              <a:rPr lang="en-US" sz="1800" dirty="0">
                <a:solidFill>
                  <a:schemeClr val="bg1"/>
                </a:solidFill>
              </a:rPr>
              <a:t> — comme la question </a:t>
            </a:r>
            <a:r>
              <a:rPr lang="en-US" sz="1800" i="1" dirty="0">
                <a:solidFill>
                  <a:schemeClr val="bg1"/>
                </a:solidFill>
              </a:rPr>
              <a:t>Komt u?</a:t>
            </a:r>
            <a:r>
              <a:rPr lang="en-US" sz="1800" dirty="0">
                <a:solidFill>
                  <a:schemeClr val="bg1"/>
                </a:solidFill>
              </a:rPr>
              <a:t>, mais avec un point.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L’échelle de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892040"/>
            <a:ext cx="2145182" cy="548640"/>
          </a:xfrm>
          <a:prstGeom prst="roundRect">
            <a:avLst>
              <a:gd name="adj" fmla="val 6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892040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① direct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3703320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6">
              <a:alpha val="12000"/>
            </a:schemeClr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" y="3703320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zitten!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2785262" y="4507992"/>
            <a:ext cx="2145182" cy="932688"/>
          </a:xfrm>
          <a:prstGeom prst="roundRect">
            <a:avLst>
              <a:gd name="adj" fmla="val 392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4507992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② invitation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785262" y="3319272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1">
              <a:alpha val="12000"/>
            </a:schemeClr>
          </a:solidFill>
          <a:ln w="19050">
            <a:solidFill>
              <a:srgbClr val="D9700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876702" y="3319272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zitten.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1885" y="4123944"/>
            <a:ext cx="2145182" cy="1316736"/>
          </a:xfrm>
          <a:prstGeom prst="roundRect">
            <a:avLst>
              <a:gd name="adj" fmla="val 277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4123944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③ poli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1885" y="2935224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13325" y="2935224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Gaat </a:t>
            </a:r>
            <a:r>
              <a:rPr lang="en-US" sz="1700" b="1" i="1" dirty="0">
                <a:solidFill>
                  <a:schemeClr val="tx1"/>
                </a:solidFill>
              </a:rPr>
              <a:t>u</a:t>
            </a:r>
            <a:r>
              <a:rPr lang="en-US" sz="1700" i="1" dirty="0">
                <a:solidFill>
                  <a:schemeClr val="tx1"/>
                </a:solidFill>
              </a:rPr>
              <a:t> zitten,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7258507" y="3739896"/>
            <a:ext cx="2145182" cy="1700784"/>
          </a:xfrm>
          <a:prstGeom prst="roundRect">
            <a:avLst>
              <a:gd name="adj" fmla="val 215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3739896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④ demande (M12)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258507" y="2551176"/>
            <a:ext cx="2145182" cy="1024128"/>
          </a:xfrm>
          <a:prstGeom prst="roundRect">
            <a:avLst>
              <a:gd name="adj" fmla="val 13393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349947" y="2551176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Kunt u</a:t>
            </a:r>
            <a:r>
              <a:rPr lang="en-US" sz="1700" i="1" dirty="0">
                <a:solidFill>
                  <a:schemeClr val="tx1"/>
                </a:solidFill>
              </a:rPr>
              <a:t> even gaan zitten?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495130" y="3355848"/>
            <a:ext cx="2145182" cy="2084832"/>
          </a:xfrm>
          <a:prstGeom prst="roundRect">
            <a:avLst>
              <a:gd name="adj" fmla="val 17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3355848"/>
            <a:ext cx="214518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⑤ très poli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95130" y="2167128"/>
            <a:ext cx="2145182" cy="1024128"/>
          </a:xfrm>
          <a:prstGeom prst="roundRect">
            <a:avLst>
              <a:gd name="adj" fmla="val 13393"/>
            </a:avLst>
          </a:prstGeom>
          <a:solidFill>
            <a:srgbClr val="6E4A9E">
              <a:alpha val="12000"/>
            </a:srgbClr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586570" y="2167128"/>
            <a:ext cx="196230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tx1"/>
                </a:solidFill>
              </a:rPr>
              <a:t>Zou u</a:t>
            </a:r>
            <a:r>
              <a:rPr lang="en-US" sz="1700" i="1" dirty="0">
                <a:solidFill>
                  <a:schemeClr val="tx1"/>
                </a:solidFill>
              </a:rPr>
              <a:t> even willen gaan zitten?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548640" y="562356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62356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Avec </a:t>
            </a:r>
            <a:r>
              <a:rPr lang="en-US" sz="1700" i="1" dirty="0">
                <a:solidFill>
                  <a:schemeClr val="bg1"/>
                </a:solidFill>
              </a:rPr>
              <a:t>maar, even</a:t>
            </a:r>
            <a:r>
              <a:rPr lang="en-US" sz="1700" dirty="0">
                <a:solidFill>
                  <a:schemeClr val="bg1"/>
                </a:solidFill>
              </a:rPr>
              <a:t> ou </a:t>
            </a:r>
            <a:r>
              <a:rPr lang="en-US" sz="1700" i="1" dirty="0">
                <a:solidFill>
                  <a:schemeClr val="bg1"/>
                </a:solidFill>
              </a:rPr>
              <a:t>alstublieft</a:t>
            </a:r>
            <a:r>
              <a:rPr lang="en-US" sz="1700" dirty="0">
                <a:solidFill>
                  <a:schemeClr val="bg1"/>
                </a:solidFill>
              </a:rPr>
              <a:t>, l’impératif devient une </a:t>
            </a:r>
            <a:r>
              <a:rPr lang="en-US" sz="1700" b="1" dirty="0">
                <a:solidFill>
                  <a:schemeClr val="bg1"/>
                </a:solidFill>
              </a:rPr>
              <a:t>invitation</a:t>
            </a:r>
            <a:r>
              <a:rPr lang="en-US" sz="1700" dirty="0">
                <a:solidFill>
                  <a:schemeClr val="bg1"/>
                </a:solidFill>
              </a:rPr>
              <a:t>. À l’accueil, la marche ③ suffit.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petits mots qui adoucissent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rapidement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822960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27944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944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7944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29041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0687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29041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Zeg het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5040173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040173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40173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5149901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(essaie) donc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314493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149901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Kijk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Probeer het </a:t>
            </a:r>
            <a:r>
              <a:rPr lang="en-US" sz="1700" b="1" i="1" dirty="0">
                <a:solidFill>
                  <a:schemeClr val="tx1"/>
                </a:solidFill>
              </a:rPr>
              <a:t>eens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7285939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85939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285939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gerust</a:t>
            </a:r>
            <a:endParaRPr lang="en-US" sz="2600" dirty="0"/>
          </a:p>
        </p:txBody>
      </p:sp>
      <p:sp>
        <p:nvSpPr>
          <p:cNvPr id="26" name="Text 23"/>
          <p:cNvSpPr txBox="1"/>
          <p:nvPr/>
        </p:nvSpPr>
        <p:spPr>
          <a:xfrm>
            <a:off x="7395667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n’hésite pas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560259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395667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Bel me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Vraag het </a:t>
            </a:r>
            <a:r>
              <a:rPr lang="en-US" sz="1700" b="1" i="1" dirty="0">
                <a:solidFill>
                  <a:schemeClr val="tx1"/>
                </a:solidFill>
              </a:rPr>
              <a:t>gerust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9531706" y="1600200"/>
            <a:ext cx="2108606" cy="3931920"/>
          </a:xfrm>
          <a:prstGeom prst="roundRect">
            <a:avLst>
              <a:gd name="adj" fmla="val 3469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531706" y="1600200"/>
            <a:ext cx="2108606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531706" y="1600200"/>
            <a:ext cx="21086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alstublieft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9641434" y="2514600"/>
            <a:ext cx="188915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s’il vous plaît (u) · </a:t>
            </a:r>
            <a:r>
              <a:rPr lang="en-US" sz="1400" i="1" dirty="0">
                <a:solidFill>
                  <a:schemeClr val="accent5"/>
                </a:solidFill>
              </a:rPr>
              <a:t>alsjeblieft</a:t>
            </a:r>
            <a:r>
              <a:rPr lang="en-US" sz="1400" i="1" dirty="0">
                <a:solidFill>
                  <a:schemeClr val="accent5"/>
                </a:solidFill>
              </a:rPr>
              <a:t> (je)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9806026" y="3364992"/>
            <a:ext cx="1559966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641434" y="3474720"/>
            <a:ext cx="188915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Sluit de deur, </a:t>
            </a:r>
            <a:r>
              <a:rPr lang="en-US" sz="1700" b="1" i="1" dirty="0">
                <a:solidFill>
                  <a:schemeClr val="tx1"/>
                </a:solidFill>
              </a:rPr>
              <a:t>alstublieft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35" name="Image 0" descr="cand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0" y="868680"/>
            <a:ext cx="457200" cy="45720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548640" y="566928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Ils se placent juste après le verbe, ou après le pronom : </a:t>
            </a:r>
            <a:r>
              <a:rPr lang="en-US" sz="1500" i="1" dirty="0">
                <a:solidFill>
                  <a:schemeClr val="accent5"/>
                </a:solidFill>
              </a:rPr>
              <a:t>Kom </a:t>
            </a:r>
            <a:r>
              <a:rPr lang="en-US" sz="1500" b="1" i="1" dirty="0">
                <a:solidFill>
                  <a:schemeClr val="accent5"/>
                </a:solidFill>
              </a:rPr>
              <a:t>maar</a:t>
            </a:r>
            <a:r>
              <a:rPr lang="en-US" sz="1500" i="1" dirty="0">
                <a:solidFill>
                  <a:schemeClr val="accent5"/>
                </a:solidFill>
              </a:rPr>
              <a:t> binnen · Bel me </a:t>
            </a:r>
            <a:r>
              <a:rPr lang="en-US" sz="1500" b="1" i="1" dirty="0">
                <a:solidFill>
                  <a:schemeClr val="accent5"/>
                </a:solidFill>
              </a:rPr>
              <a:t>gerust</a:t>
            </a:r>
            <a:r>
              <a:rPr lang="en-US" sz="1500" i="1" dirty="0">
                <a:solidFill>
                  <a:schemeClr val="accent5"/>
                </a:solidFill>
              </a:rPr>
              <a:t>. </a:t>
            </a:r>
            <a:r>
              <a:rPr lang="en-US" sz="1500" i="1" dirty="0">
                <a:solidFill>
                  <a:schemeClr val="accent5"/>
                </a:solidFill>
              </a:rPr>
              <a:t>Zeg het maar</a:t>
            </a:r>
            <a:r>
              <a:rPr lang="en-US" sz="1500" i="1" dirty="0">
                <a:solidFill>
                  <a:schemeClr val="accent5"/>
                </a:solidFill>
              </a:rPr>
              <a:t> = « je vous écoute ».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panneaux parlent à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do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9546" y="1755648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2179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7732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do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638" y="1755648"/>
            <a:ext cx="914400" cy="9144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500884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TREKKEN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306824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no smok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7730" y="1755648"/>
            <a:ext cx="914400" cy="9144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79976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85916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 butt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6822" y="1755648"/>
            <a:ext cx="914400" cy="914400"/>
          </a:xfrm>
          <a:prstGeom prst="rect">
            <a:avLst/>
          </a:prstGeom>
        </p:spPr>
      </p:pic>
      <p:pic>
        <p:nvPicPr>
          <p:cNvPr id="16" name="Image 4" descr="Ba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1102" y="1709928"/>
            <a:ext cx="1005840" cy="1005840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6259068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NIET PARKEREN</a:t>
            </a:r>
            <a:endParaRPr lang="en-US" sz="1300" dirty="0"/>
          </a:p>
        </p:txBody>
      </p:sp>
      <p:sp>
        <p:nvSpPr>
          <p:cNvPr id="18" name="Shape 10"/>
          <p:cNvSpPr/>
          <p:nvPr/>
        </p:nvSpPr>
        <p:spPr>
          <a:xfrm>
            <a:off x="8065008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55914" y="1755648"/>
            <a:ext cx="914400" cy="914400"/>
          </a:xfrm>
          <a:prstGeom prst="rect">
            <a:avLst/>
          </a:prstGeom>
        </p:spPr>
      </p:pic>
      <p:sp>
        <p:nvSpPr>
          <p:cNvPr id="20" name="Text 11"/>
          <p:cNvSpPr txBox="1"/>
          <p:nvPr/>
        </p:nvSpPr>
        <p:spPr>
          <a:xfrm>
            <a:off x="8138160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1" name="Shape 12"/>
          <p:cNvSpPr/>
          <p:nvPr/>
        </p:nvSpPr>
        <p:spPr>
          <a:xfrm>
            <a:off x="9944100" y="1600200"/>
            <a:ext cx="1696212" cy="2011680"/>
          </a:xfrm>
          <a:prstGeom prst="roundRect">
            <a:avLst>
              <a:gd name="adj" fmla="val 6469"/>
            </a:avLst>
          </a:prstGeom>
          <a:solidFill>
            <a:srgbClr val="FFFFFF"/>
          </a:solidFill>
          <a:ln w="381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6" descr="soap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35006" y="1755648"/>
            <a:ext cx="914400" cy="914400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10017252" y="2743200"/>
            <a:ext cx="15499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HANDEN WASSEN</a:t>
            </a:r>
            <a:endParaRPr lang="en-US" sz="1300" dirty="0"/>
          </a:p>
        </p:txBody>
      </p:sp>
      <p:sp>
        <p:nvSpPr>
          <p:cNvPr id="24" name="Shape 14"/>
          <p:cNvSpPr/>
          <p:nvPr/>
        </p:nvSpPr>
        <p:spPr>
          <a:xfrm>
            <a:off x="548640" y="3840480"/>
            <a:ext cx="11091672" cy="2423160"/>
          </a:xfrm>
          <a:prstGeom prst="roundRect">
            <a:avLst>
              <a:gd name="adj" fmla="val 3019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5" name="tag"/>
          <p:cNvSpPr/>
          <p:nvPr/>
        </p:nvSpPr>
        <p:spPr>
          <a:xfrm>
            <a:off x="731520" y="4005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6" name="Text 16"/>
          <p:cNvSpPr txBox="1"/>
          <p:nvPr/>
        </p:nvSpPr>
        <p:spPr>
          <a:xfrm>
            <a:off x="822960" y="434340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« </a:t>
            </a:r>
            <a:r>
              <a:rPr lang="en-US" sz="1900" b="1" dirty="0">
                <a:solidFill>
                  <a:schemeClr val="tx1"/>
                </a:solidFill>
              </a:rPr>
              <a:t>Poussez</a:t>
            </a:r>
            <a:r>
              <a:rPr lang="en-US" sz="1900" dirty="0">
                <a:solidFill>
                  <a:schemeClr val="tx1"/>
                </a:solidFill>
              </a:rPr>
              <a:t> / Tirez » · « Ne pas fumer » → à l’écrit, l’</a:t>
            </a:r>
            <a:r>
              <a:rPr lang="en-US" sz="1900" b="1" dirty="0">
                <a:solidFill>
                  <a:schemeClr val="tx1"/>
                </a:solidFill>
              </a:rPr>
              <a:t>infinitif</a:t>
            </a:r>
            <a:r>
              <a:rPr lang="en-US" sz="1900" dirty="0">
                <a:solidFill>
                  <a:schemeClr val="tx1"/>
                </a:solidFill>
              </a:rPr>
              <a:t> : </a:t>
            </a:r>
            <a:r>
              <a:rPr lang="en-US" sz="1900" i="1" dirty="0">
                <a:solidFill>
                  <a:schemeClr val="tx1"/>
                </a:solidFill>
              </a:rPr>
              <a:t>Duwen · Trekken · Niet roken · Niet storen</a:t>
            </a:r>
            <a:endParaRPr lang="en-US" sz="1900" dirty="0"/>
          </a:p>
        </p:txBody>
      </p:sp>
      <p:pic>
        <p:nvPicPr>
          <p:cNvPr id="27" name="Image 7" descr="ArrowDow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148072"/>
            <a:ext cx="237744" cy="237744"/>
          </a:xfrm>
          <a:prstGeom prst="rect">
            <a:avLst/>
          </a:prstGeom>
        </p:spPr>
      </p:pic>
      <p:sp>
        <p:nvSpPr>
          <p:cNvPr id="28" name="Shape 17"/>
          <p:cNvSpPr/>
          <p:nvPr/>
        </p:nvSpPr>
        <p:spPr>
          <a:xfrm>
            <a:off x="777240" y="5376672"/>
            <a:ext cx="10634472" cy="786384"/>
          </a:xfrm>
          <a:prstGeom prst="roundRect">
            <a:avLst>
              <a:gd name="adj" fmla="val 930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18"/>
          <p:cNvSpPr txBox="1"/>
          <p:nvPr/>
        </p:nvSpPr>
        <p:spPr>
          <a:xfrm>
            <a:off x="914400" y="5376672"/>
            <a:ext cx="103601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À l’oral, à une personne : </a:t>
            </a:r>
            <a:r>
              <a:rPr lang="en-US" sz="1900" b="1" i="1" dirty="0">
                <a:solidFill>
                  <a:schemeClr val="accent6"/>
                </a:solidFill>
              </a:rPr>
              <a:t>Rook</a:t>
            </a:r>
            <a:r>
              <a:rPr lang="en-US" sz="1900" i="1" dirty="0">
                <a:solidFill>
                  <a:schemeClr val="tx1"/>
                </a:solidFill>
              </a:rPr>
              <a:t> hier niet, alstublieft.</a:t>
            </a:r>
            <a:r>
              <a:rPr lang="en-US" sz="1900" dirty="0">
                <a:solidFill>
                  <a:schemeClr val="tx1"/>
                </a:solidFill>
              </a:rPr>
              <a:t> (impératif)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mode d’emploi : la photocopieuse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1</a:t>
            </a:r>
            <a:endParaRPr lang="en-US" sz="1700" dirty="0"/>
          </a:p>
        </p:txBody>
      </p:sp>
      <p:pic>
        <p:nvPicPr>
          <p:cNvPr id="8" name="Image 0" descr="page facing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724" y="1965960"/>
            <a:ext cx="1188720" cy="1188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5800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Leg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tx1"/>
                </a:solidFill>
              </a:rPr>
              <a:t> het document op de glasplaat.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3118104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3401568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3538728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53872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1" descr="input numb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652" y="1965960"/>
            <a:ext cx="1188720" cy="11887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538728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Kies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 het aantal kopieën.</a:t>
            </a:r>
            <a:endParaRPr lang="en-US" sz="1900" dirty="0"/>
          </a:p>
        </p:txBody>
      </p:sp>
      <p:sp>
        <p:nvSpPr>
          <p:cNvPr id="16" name="Shape 11"/>
          <p:cNvSpPr/>
          <p:nvPr/>
        </p:nvSpPr>
        <p:spPr>
          <a:xfrm>
            <a:off x="5971032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2"/>
          <p:cNvSpPr/>
          <p:nvPr/>
        </p:nvSpPr>
        <p:spPr>
          <a:xfrm>
            <a:off x="6254496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391656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391656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3</a:t>
            </a:r>
            <a:endParaRPr lang="en-US" sz="1700" dirty="0"/>
          </a:p>
        </p:txBody>
      </p:sp>
      <p:pic>
        <p:nvPicPr>
          <p:cNvPr id="20" name="Image 2" descr="green circ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0" y="1965960"/>
            <a:ext cx="1188720" cy="118872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391656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Druk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tx1"/>
                </a:solidFill>
              </a:rPr>
              <a:t> op de groene knop.</a:t>
            </a:r>
            <a:endParaRPr lang="en-US" sz="1900" dirty="0"/>
          </a:p>
        </p:txBody>
      </p:sp>
      <p:sp>
        <p:nvSpPr>
          <p:cNvPr id="22" name="Shape 16"/>
          <p:cNvSpPr/>
          <p:nvPr/>
        </p:nvSpPr>
        <p:spPr>
          <a:xfrm>
            <a:off x="8823960" y="3355848"/>
            <a:ext cx="246888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3" name="Shape 17"/>
          <p:cNvSpPr/>
          <p:nvPr/>
        </p:nvSpPr>
        <p:spPr>
          <a:xfrm>
            <a:off x="9107424" y="1645920"/>
            <a:ext cx="2532888" cy="3429000"/>
          </a:xfrm>
          <a:prstGeom prst="roundRect">
            <a:avLst>
              <a:gd name="adj" fmla="val 288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9244584" y="1783080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244584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4</a:t>
            </a:r>
            <a:endParaRPr lang="en-US" sz="1700" dirty="0"/>
          </a:p>
        </p:txBody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9508" y="1965960"/>
            <a:ext cx="1188720" cy="11887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244584" y="3291840"/>
            <a:ext cx="22585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Neem</a:t>
            </a:r>
            <a:r>
              <a:rPr lang="en-US" sz="1900" i="1" dirty="0">
                <a:solidFill>
                  <a:schemeClr val="tx1"/>
                </a:solidFill>
              </a:rPr>
              <a:t>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i="1" dirty="0">
                <a:solidFill>
                  <a:schemeClr val="tx1"/>
                </a:solidFill>
              </a:rPr>
              <a:t> je document </a:t>
            </a:r>
            <a:r>
              <a:rPr lang="en-US" sz="1900" b="1" i="1" dirty="0">
                <a:solidFill>
                  <a:schemeClr val="accent1"/>
                </a:solidFill>
              </a:rPr>
              <a:t>mee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8" name="Shape 21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822960" y="5349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eerst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dan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daarna</a:t>
            </a:r>
            <a:r>
              <a:rPr lang="en-US" sz="1900" i="1" dirty="0">
                <a:solidFill>
                  <a:schemeClr val="bg1"/>
                </a:solidFill>
              </a:rPr>
              <a:t> · </a:t>
            </a:r>
            <a:r>
              <a:rPr lang="en-US" sz="1900" b="1" i="1" dirty="0">
                <a:solidFill>
                  <a:schemeClr val="accent1"/>
                </a:solidFill>
              </a:rPr>
              <a:t>tot slot</a:t>
            </a:r>
            <a:r>
              <a:rPr lang="en-US" sz="1900" dirty="0">
                <a:solidFill>
                  <a:schemeClr val="bg1"/>
                </a:solidFill>
              </a:rPr>
              <a:t> se placent juste </a:t>
            </a:r>
            <a:r>
              <a:rPr lang="en-US" sz="1900" b="1" dirty="0">
                <a:solidFill>
                  <a:schemeClr val="bg1"/>
                </a:solidFill>
              </a:rPr>
              <a:t>après le verbe</a:t>
            </a:r>
            <a:r>
              <a:rPr lang="en-US" sz="1900" dirty="0">
                <a:solidFill>
                  <a:schemeClr val="bg1"/>
                </a:solidFill>
              </a:rPr>
              <a:t>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Indiquer le chemin dans le bâtiment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760720" cy="402336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3290011"/>
            <a:ext cx="5394960" cy="7242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73152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10871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201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12598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0317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17170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52044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89763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6" name="Image 0" descr="wo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7630" y="1810512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56616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203 · An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914900" y="1737360"/>
            <a:ext cx="1211580" cy="1479499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292090" y="3198571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4960620" y="2832811"/>
            <a:ext cx="11201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204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73152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10871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1" descr="elevat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8710" y="4434840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7724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lift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212598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250317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17170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205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352044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389763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0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7630" y="4434840"/>
            <a:ext cx="457200" cy="4572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356616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keuken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4914900" y="4087368"/>
            <a:ext cx="1211580" cy="1399032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5292090" y="4014216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3" descr="restroo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90" y="4434840"/>
            <a:ext cx="457200" cy="4572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4960620" y="4105656"/>
            <a:ext cx="11201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toilet</a:t>
            </a:r>
            <a:endParaRPr lang="en-US" sz="1200" dirty="0"/>
          </a:p>
        </p:txBody>
      </p:sp>
      <p:pic>
        <p:nvPicPr>
          <p:cNvPr id="36" name="Image 4" descr="MapMarkerAl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3487522"/>
            <a:ext cx="310896" cy="310896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170432" y="3317443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960120" y="3652114"/>
            <a:ext cx="3166110" cy="914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</a:ln>
        </p:spPr>
      </p:sp>
      <p:sp>
        <p:nvSpPr>
          <p:cNvPr id="39" name="Shape 31"/>
          <p:cNvSpPr/>
          <p:nvPr/>
        </p:nvSpPr>
        <p:spPr>
          <a:xfrm flipV="1">
            <a:off x="4126230" y="3180283"/>
            <a:ext cx="914" cy="471830"/>
          </a:xfrm>
          <a:prstGeom prst="line">
            <a:avLst/>
          </a:prstGeom>
          <a:noFill/>
          <a:ln w="38100">
            <a:solidFill>
              <a:srgbClr val="B83227"/>
            </a:solidFill>
            <a:prstDash val="dash"/>
            <a:tailEnd type="triangle"/>
          </a:ln>
        </p:spPr>
      </p:sp>
      <p:sp>
        <p:nvSpPr>
          <p:cNvPr id="40" name="Shape 32"/>
          <p:cNvSpPr/>
          <p:nvPr/>
        </p:nvSpPr>
        <p:spPr>
          <a:xfrm>
            <a:off x="6583680" y="1664208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ArrowU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4381" y="1784909"/>
            <a:ext cx="261518" cy="261518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269480" y="162763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rechtdoor.</a:t>
            </a:r>
            <a:endParaRPr lang="en-US" sz="1900" dirty="0"/>
          </a:p>
        </p:txBody>
      </p:sp>
      <p:sp>
        <p:nvSpPr>
          <p:cNvPr id="43" name="Shape 34"/>
          <p:cNvSpPr/>
          <p:nvPr/>
        </p:nvSpPr>
        <p:spPr>
          <a:xfrm>
            <a:off x="6583680" y="2331720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4" name="Image 6" descr="ArrowLef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4381" y="2452421"/>
            <a:ext cx="261518" cy="261518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7269480" y="2295144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links.</a:t>
            </a:r>
            <a:endParaRPr lang="en-US" sz="1900" dirty="0"/>
          </a:p>
        </p:txBody>
      </p:sp>
      <p:sp>
        <p:nvSpPr>
          <p:cNvPr id="46" name="Shape 36"/>
          <p:cNvSpPr/>
          <p:nvPr/>
        </p:nvSpPr>
        <p:spPr>
          <a:xfrm>
            <a:off x="6583680" y="2999232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7" descr="Arrow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4381" y="3119933"/>
            <a:ext cx="261518" cy="261518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269480" y="2962656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rechts.</a:t>
            </a:r>
            <a:endParaRPr lang="en-US" sz="1900" dirty="0"/>
          </a:p>
        </p:txBody>
      </p:sp>
      <p:sp>
        <p:nvSpPr>
          <p:cNvPr id="49" name="Shape 38"/>
          <p:cNvSpPr/>
          <p:nvPr/>
        </p:nvSpPr>
        <p:spPr>
          <a:xfrm>
            <a:off x="6583680" y="3666744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0" name="Image 8" descr="LevelUpAl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4381" y="3787445"/>
            <a:ext cx="261518" cy="261518"/>
          </a:xfrm>
          <a:prstGeom prst="rect">
            <a:avLst/>
          </a:prstGeom>
        </p:spPr>
      </p:pic>
      <p:sp>
        <p:nvSpPr>
          <p:cNvPr id="51" name="Text 39"/>
          <p:cNvSpPr txBox="1"/>
          <p:nvPr/>
        </p:nvSpPr>
        <p:spPr>
          <a:xfrm>
            <a:off x="7269480" y="3630168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Neem de lift / de trap.</a:t>
            </a:r>
            <a:endParaRPr lang="en-US" sz="1900" dirty="0"/>
          </a:p>
        </p:txBody>
      </p:sp>
      <p:sp>
        <p:nvSpPr>
          <p:cNvPr id="52" name="Shape 40"/>
          <p:cNvSpPr/>
          <p:nvPr/>
        </p:nvSpPr>
        <p:spPr>
          <a:xfrm>
            <a:off x="6583680" y="4334256"/>
            <a:ext cx="502920" cy="50292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9" descr="Buildi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04381" y="4454957"/>
            <a:ext cx="261518" cy="261518"/>
          </a:xfrm>
          <a:prstGeom prst="rect">
            <a:avLst/>
          </a:prstGeom>
        </p:spPr>
      </p:pic>
      <p:sp>
        <p:nvSpPr>
          <p:cNvPr id="54" name="Text 41"/>
          <p:cNvSpPr txBox="1"/>
          <p:nvPr/>
        </p:nvSpPr>
        <p:spPr>
          <a:xfrm>
            <a:off x="7269480" y="4297680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Ga naar de tweede verdieping.</a:t>
            </a:r>
            <a:endParaRPr lang="en-US" sz="1900" dirty="0"/>
          </a:p>
        </p:txBody>
      </p:sp>
      <p:sp>
        <p:nvSpPr>
          <p:cNvPr id="55" name="Shape 42"/>
          <p:cNvSpPr/>
          <p:nvPr/>
        </p:nvSpPr>
        <p:spPr>
          <a:xfrm>
            <a:off x="6583680" y="5001768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6" name="Image 10" descr="DoorOpe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04381" y="5122469"/>
            <a:ext cx="261518" cy="261518"/>
          </a:xfrm>
          <a:prstGeom prst="rect">
            <a:avLst/>
          </a:prstGeom>
        </p:spPr>
      </p:pic>
      <p:sp>
        <p:nvSpPr>
          <p:cNvPr id="57" name="Text 43"/>
          <p:cNvSpPr txBox="1"/>
          <p:nvPr/>
        </p:nvSpPr>
        <p:spPr>
          <a:xfrm>
            <a:off x="7269480" y="4965192"/>
            <a:ext cx="4389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Het is de derde deur links.</a:t>
            </a:r>
            <a:endParaRPr lang="en-US" sz="1900" dirty="0"/>
          </a:p>
        </p:txBody>
      </p:sp>
      <p:sp>
        <p:nvSpPr>
          <p:cNvPr id="58" name="Text 44"/>
          <p:cNvSpPr txBox="1"/>
          <p:nvPr/>
        </p:nvSpPr>
        <p:spPr>
          <a:xfrm>
            <a:off x="548640" y="577900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Dans la rue : </a:t>
            </a:r>
            <a:r>
              <a:rPr lang="en-US" sz="1500" i="1" dirty="0">
                <a:solidFill>
                  <a:schemeClr val="accent5"/>
                </a:solidFill>
              </a:rPr>
              <a:t>Sla linksaf / rechtsaf.</a:t>
            </a:r>
            <a:r>
              <a:rPr lang="en-US" sz="1500" i="1" dirty="0">
                <a:solidFill>
                  <a:schemeClr val="accent5"/>
                </a:solidFill>
              </a:rPr>
              <a:t> · </a:t>
            </a:r>
            <a:r>
              <a:rPr lang="en-US" sz="1500" i="1" dirty="0">
                <a:solidFill>
                  <a:schemeClr val="accent5"/>
                </a:solidFill>
              </a:rPr>
              <a:t>het gelijkvloers</a:t>
            </a:r>
            <a:r>
              <a:rPr lang="en-US" sz="1500" i="1" dirty="0">
                <a:solidFill>
                  <a:schemeClr val="accent5"/>
                </a:solidFill>
              </a:rPr>
              <a:t> (BE) = </a:t>
            </a:r>
            <a:r>
              <a:rPr lang="en-US" sz="1500" i="1" dirty="0">
                <a:solidFill>
                  <a:schemeClr val="accent5"/>
                </a:solidFill>
              </a:rPr>
              <a:t>de begane grond</a:t>
            </a:r>
            <a:r>
              <a:rPr lang="en-US" sz="1500" i="1" dirty="0">
                <a:solidFill>
                  <a:schemeClr val="accent5"/>
                </a:solidFill>
              </a:rPr>
              <a:t> (NL) = le rez-de-chaussée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 l’impératif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719072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7583" y="1855135"/>
            <a:ext cx="294803" cy="29480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44752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6"/>
                </a:solidFill>
              </a:rPr>
              <a:t>Former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le </a:t>
            </a:r>
            <a:r>
              <a:rPr lang="en-US" sz="1800" b="1" dirty="0">
                <a:solidFill>
                  <a:schemeClr val="tx1"/>
                </a:solidFill>
              </a:rPr>
              <a:t>radical</a:t>
            </a:r>
            <a:r>
              <a:rPr lang="en-US" sz="1800" dirty="0">
                <a:solidFill>
                  <a:schemeClr val="tx1"/>
                </a:solidFill>
              </a:rPr>
              <a:t> (M3, M4)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Werk! Lees! Blijf!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⭐ </a:t>
            </a:r>
            <a:r>
              <a:rPr lang="en-US" sz="1800" i="1" dirty="0">
                <a:solidFill>
                  <a:schemeClr val="tx1"/>
                </a:solidFill>
              </a:rPr>
              <a:t>zijn → </a:t>
            </a:r>
            <a:r>
              <a:rPr lang="en-US" sz="1800" b="1" i="1" dirty="0">
                <a:solidFill>
                  <a:schemeClr val="tx1"/>
                </a:solidFill>
              </a:rPr>
              <a:t>Wees!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199632" y="155448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82512" y="171907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575" y="1855135"/>
            <a:ext cx="294803" cy="29480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95744" y="170078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Adoucir</a:t>
            </a:r>
            <a:endParaRPr lang="en-US" sz="19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242316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even, maar, eens, gerust, alstublieft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poli : radical + </a:t>
            </a:r>
            <a:r>
              <a:rPr lang="en-US" sz="1800" b="1" dirty="0">
                <a:solidFill>
                  <a:schemeClr val="tx1"/>
                </a:solidFill>
              </a:rPr>
              <a:t>t</a:t>
            </a:r>
            <a:r>
              <a:rPr lang="en-US" sz="1800" dirty="0">
                <a:solidFill>
                  <a:schemeClr val="tx1"/>
                </a:solidFill>
              </a:rPr>
              <a:t> + </a:t>
            </a:r>
            <a:r>
              <a:rPr lang="en-US" sz="1800" b="1" dirty="0">
                <a:solidFill>
                  <a:schemeClr val="tx1"/>
                </a:solidFill>
              </a:rPr>
              <a:t>u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Komt u binnen.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548640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31520" y="409651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List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583" y="4232575"/>
            <a:ext cx="294803" cy="29480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44752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Placer</a:t>
            </a:r>
            <a:endParaRPr lang="en-US" sz="1900" dirty="0"/>
          </a:p>
        </p:txBody>
      </p:sp>
      <p:sp>
        <p:nvSpPr>
          <p:cNvPr id="19" name="Text 13"/>
          <p:cNvSpPr txBox="1"/>
          <p:nvPr/>
        </p:nvSpPr>
        <p:spPr>
          <a:xfrm>
            <a:off x="749808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</a:t>
            </a:r>
            <a:r>
              <a:rPr lang="en-US" sz="1800" b="1" dirty="0">
                <a:solidFill>
                  <a:schemeClr val="tx1"/>
                </a:solidFill>
              </a:rPr>
              <a:t>en tête</a:t>
            </a:r>
            <a:r>
              <a:rPr lang="en-US" sz="1800" dirty="0">
                <a:solidFill>
                  <a:schemeClr val="tx1"/>
                </a:solidFill>
              </a:rPr>
              <a:t>, pas de sujet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particule au bout (M11)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Doe de deur </a:t>
            </a:r>
            <a:r>
              <a:rPr lang="en-US" sz="1800" b="1" i="1" dirty="0">
                <a:solidFill>
                  <a:schemeClr val="tx1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dicht!</a:t>
            </a:r>
            <a:r>
              <a:rPr lang="en-US" sz="1800" dirty="0">
                <a:solidFill>
                  <a:schemeClr val="tx1"/>
                </a:solidFill>
              </a:rPr>
              <a:t> (M13)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6199632" y="3931920"/>
            <a:ext cx="5440680" cy="2212848"/>
          </a:xfrm>
          <a:prstGeom prst="roundRect">
            <a:avLst>
              <a:gd name="adj" fmla="val 4132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382512" y="4096512"/>
            <a:ext cx="566928" cy="566928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Sig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8575" y="4232575"/>
            <a:ext cx="294803" cy="29480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95744" y="4078224"/>
            <a:ext cx="440740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accent5"/>
                </a:solidFill>
              </a:rPr>
              <a:t>Écrire</a:t>
            </a:r>
            <a:endParaRPr lang="en-US" sz="1900" dirty="0"/>
          </a:p>
        </p:txBody>
      </p:sp>
      <p:sp>
        <p:nvSpPr>
          <p:cNvPr id="24" name="Text 17"/>
          <p:cNvSpPr txBox="1"/>
          <p:nvPr/>
        </p:nvSpPr>
        <p:spPr>
          <a:xfrm>
            <a:off x="6400800" y="4800600"/>
            <a:ext cx="5038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panneaux : l’</a:t>
            </a:r>
            <a:r>
              <a:rPr lang="en-US" sz="1800" b="1" dirty="0">
                <a:solidFill>
                  <a:schemeClr val="tx1"/>
                </a:solidFill>
              </a:rPr>
              <a:t>infinitif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Niet roken · Duwen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Faisons… » = </a:t>
            </a:r>
            <a:r>
              <a:rPr lang="en-US" sz="1800" b="1" i="1" dirty="0">
                <a:solidFill>
                  <a:schemeClr val="tx1"/>
                </a:solidFill>
              </a:rPr>
              <a:t>Laten we</a:t>
            </a:r>
            <a:r>
              <a:rPr lang="en-US" sz="1800" i="1" dirty="0">
                <a:solidFill>
                  <a:schemeClr val="tx1"/>
                </a:solidFill>
              </a:rPr>
              <a:t>…</a:t>
            </a:r>
            <a:endParaRPr lang="en-US" sz="1800" dirty="0"/>
          </a:p>
        </p:txBody>
      </p:sp>
      <p:pic>
        <p:nvPicPr>
          <p:cNvPr id="25" name="Image 4" descr="Came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machine à ordres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poli, s’il vous plaît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Du panneau à la phrase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ListO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mode d’emploi en désordre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Rou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GPS humain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UserTi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premier jour de Lotte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1" name="Shape 57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76" name="Shape 72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7" name="Text 73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78" name="Shape 74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9" name="Shape 75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La machine à ordres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Formez l’impératif (à une personne que vous tutoyez).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51560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werken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3291840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639312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675888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Werk!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51560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luisteren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3291840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3639312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3675888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Luister!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51560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lezen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3291840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3639312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3675888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Lees!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51560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schrijven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3291840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3639312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3675888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Schrijf!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51560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stoppen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3291840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3639312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3675888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Stop!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51560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wachten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3291840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3639312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3675888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Wacht!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6199632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199632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53" name="Shape 49"/>
          <p:cNvSpPr/>
          <p:nvPr/>
        </p:nvSpPr>
        <p:spPr>
          <a:xfrm>
            <a:off x="6656832" y="19872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6702552" y="19872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zijn (voorzichtig)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8942832" y="22773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9290304" y="19872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9326880" y="19872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Wees voorzichtig!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6199632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6199632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6656832" y="271373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6702552" y="271373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gaan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8942832" y="300380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9290304" y="271373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9326880" y="271373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Ga!</a:t>
            </a:r>
            <a:endParaRPr lang="en-US" sz="1800" dirty="0"/>
          </a:p>
        </p:txBody>
      </p:sp>
      <p:sp>
        <p:nvSpPr>
          <p:cNvPr id="65" name="Shape 61"/>
          <p:cNvSpPr/>
          <p:nvPr/>
        </p:nvSpPr>
        <p:spPr>
          <a:xfrm>
            <a:off x="6199632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Text 62"/>
          <p:cNvSpPr txBox="1"/>
          <p:nvPr/>
        </p:nvSpPr>
        <p:spPr>
          <a:xfrm>
            <a:off x="6199632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67" name="Shape 63"/>
          <p:cNvSpPr/>
          <p:nvPr/>
        </p:nvSpPr>
        <p:spPr>
          <a:xfrm>
            <a:off x="6656832" y="344017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4"/>
          <p:cNvSpPr txBox="1"/>
          <p:nvPr/>
        </p:nvSpPr>
        <p:spPr>
          <a:xfrm>
            <a:off x="6702552" y="344017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opbellen (de klant)</a:t>
            </a:r>
            <a:endParaRPr lang="en-US" sz="1800" dirty="0"/>
          </a:p>
        </p:txBody>
      </p:sp>
      <p:sp>
        <p:nvSpPr>
          <p:cNvPr id="69" name="Shape 65"/>
          <p:cNvSpPr/>
          <p:nvPr/>
        </p:nvSpPr>
        <p:spPr>
          <a:xfrm>
            <a:off x="8942832" y="373024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0" name="Shape 66"/>
          <p:cNvSpPr/>
          <p:nvPr/>
        </p:nvSpPr>
        <p:spPr>
          <a:xfrm>
            <a:off x="9290304" y="344017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9326880" y="344017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Bel de klant </a:t>
            </a:r>
            <a:r>
              <a:rPr lang="en-US" sz="1800" b="1" i="1" dirty="0">
                <a:solidFill>
                  <a:schemeClr val="accent1"/>
                </a:solidFill>
              </a:rPr>
              <a:t>op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199632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199632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656832" y="416661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702552" y="416661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blijven</a:t>
            </a:r>
            <a:endParaRPr lang="en-US" sz="1800" dirty="0"/>
          </a:p>
        </p:txBody>
      </p:sp>
      <p:sp>
        <p:nvSpPr>
          <p:cNvPr id="76" name="Shape 72"/>
          <p:cNvSpPr/>
          <p:nvPr/>
        </p:nvSpPr>
        <p:spPr>
          <a:xfrm>
            <a:off x="8942832" y="445668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7" name="Shape 73"/>
          <p:cNvSpPr/>
          <p:nvPr/>
        </p:nvSpPr>
        <p:spPr>
          <a:xfrm>
            <a:off x="9290304" y="416661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8" name="Text 74"/>
          <p:cNvSpPr txBox="1"/>
          <p:nvPr/>
        </p:nvSpPr>
        <p:spPr>
          <a:xfrm>
            <a:off x="9326880" y="416661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Blijf!</a:t>
            </a:r>
            <a:endParaRPr lang="en-US" sz="1800" dirty="0"/>
          </a:p>
        </p:txBody>
      </p:sp>
      <p:sp>
        <p:nvSpPr>
          <p:cNvPr id="79" name="Shape 75"/>
          <p:cNvSpPr/>
          <p:nvPr/>
        </p:nvSpPr>
        <p:spPr>
          <a:xfrm>
            <a:off x="6199632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Text 76"/>
          <p:cNvSpPr txBox="1"/>
          <p:nvPr/>
        </p:nvSpPr>
        <p:spPr>
          <a:xfrm>
            <a:off x="6199632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81" name="Shape 77"/>
          <p:cNvSpPr/>
          <p:nvPr/>
        </p:nvSpPr>
        <p:spPr>
          <a:xfrm>
            <a:off x="6656832" y="489305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2" name="Text 78"/>
          <p:cNvSpPr txBox="1"/>
          <p:nvPr/>
        </p:nvSpPr>
        <p:spPr>
          <a:xfrm>
            <a:off x="6702552" y="489305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geven</a:t>
            </a:r>
            <a:endParaRPr lang="en-US" sz="1800" dirty="0"/>
          </a:p>
        </p:txBody>
      </p:sp>
      <p:sp>
        <p:nvSpPr>
          <p:cNvPr id="83" name="Shape 79"/>
          <p:cNvSpPr/>
          <p:nvPr/>
        </p:nvSpPr>
        <p:spPr>
          <a:xfrm>
            <a:off x="8942832" y="518312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84" name="Shape 80"/>
          <p:cNvSpPr/>
          <p:nvPr/>
        </p:nvSpPr>
        <p:spPr>
          <a:xfrm>
            <a:off x="9290304" y="489305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85" name="Text 81"/>
          <p:cNvSpPr txBox="1"/>
          <p:nvPr/>
        </p:nvSpPr>
        <p:spPr>
          <a:xfrm>
            <a:off x="9326880" y="489305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Geef!</a:t>
            </a:r>
            <a:endParaRPr lang="en-US" sz="1800" dirty="0"/>
          </a:p>
        </p:txBody>
      </p:sp>
      <p:sp>
        <p:nvSpPr>
          <p:cNvPr id="86" name="Shape 82"/>
          <p:cNvSpPr/>
          <p:nvPr/>
        </p:nvSpPr>
        <p:spPr>
          <a:xfrm>
            <a:off x="6199632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83"/>
          <p:cNvSpPr txBox="1"/>
          <p:nvPr/>
        </p:nvSpPr>
        <p:spPr>
          <a:xfrm>
            <a:off x="6199632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88" name="Shape 84"/>
          <p:cNvSpPr/>
          <p:nvPr/>
        </p:nvSpPr>
        <p:spPr>
          <a:xfrm>
            <a:off x="6656832" y="5619496"/>
            <a:ext cx="2240280" cy="598424"/>
          </a:xfrm>
          <a:prstGeom prst="roundRect">
            <a:avLst>
              <a:gd name="adj" fmla="val 122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89" name="Text 85"/>
          <p:cNvSpPr txBox="1"/>
          <p:nvPr/>
        </p:nvSpPr>
        <p:spPr>
          <a:xfrm>
            <a:off x="6702552" y="5619496"/>
            <a:ext cx="2148840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meenemen (je laptop)</a:t>
            </a:r>
            <a:endParaRPr lang="en-US" sz="1800" dirty="0"/>
          </a:p>
        </p:txBody>
      </p:sp>
      <p:sp>
        <p:nvSpPr>
          <p:cNvPr id="90" name="Shape 86"/>
          <p:cNvSpPr/>
          <p:nvPr/>
        </p:nvSpPr>
        <p:spPr>
          <a:xfrm>
            <a:off x="8942832" y="5909564"/>
            <a:ext cx="301752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91" name="Shape 87"/>
          <p:cNvSpPr/>
          <p:nvPr/>
        </p:nvSpPr>
        <p:spPr>
          <a:xfrm>
            <a:off x="9290304" y="5619496"/>
            <a:ext cx="2350008" cy="598424"/>
          </a:xfrm>
          <a:prstGeom prst="roundRect">
            <a:avLst>
              <a:gd name="adj" fmla="val 12224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92" name="Text 88"/>
          <p:cNvSpPr txBox="1"/>
          <p:nvPr/>
        </p:nvSpPr>
        <p:spPr>
          <a:xfrm>
            <a:off x="9326880" y="5619496"/>
            <a:ext cx="2276856" cy="598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Neem je laptop </a:t>
            </a:r>
            <a:r>
              <a:rPr lang="en-US" sz="1800" b="1" i="1" dirty="0">
                <a:solidFill>
                  <a:schemeClr val="accent1"/>
                </a:solidFill>
              </a:rPr>
              <a:t>mee</a:t>
            </a:r>
            <a:r>
              <a:rPr lang="en-US" sz="1800" b="1" i="1" dirty="0">
                <a:solidFill>
                  <a:schemeClr val="accent3"/>
                </a:solidFill>
              </a:rPr>
              <a:t>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Plus poli, s’il vous plaît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Vous parlez à un client : utilisez u et un petit mot (even, maar, gerust, alstublieft).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Wacht</a:t>
            </a:r>
            <a:r>
              <a:rPr lang="en-US" sz="1900" b="1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4434840" y="19324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577840" y="19781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715000" y="19781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u even, alstublieft.</a:t>
            </a:r>
            <a:endParaRPr lang="en-US" sz="19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Kom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4434840" y="265887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5577840" y="270459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715000" y="270459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Komt u maar binnen.</a:t>
            </a:r>
            <a:endParaRPr lang="en-US" sz="19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Ga</a:t>
            </a:r>
            <a:r>
              <a:rPr lang="en-US" sz="1900" i="1" dirty="0">
                <a:solidFill>
                  <a:schemeClr val="tx1"/>
                </a:solidFill>
              </a:rPr>
              <a:t> zitten!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4434840" y="338531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5577840" y="343103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715000" y="343103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Gaat u zitten, alstublieft.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Teken</a:t>
            </a:r>
            <a:r>
              <a:rPr lang="en-US" sz="1900" i="1" dirty="0">
                <a:solidFill>
                  <a:schemeClr val="tx1"/>
                </a:solidFill>
              </a:rPr>
              <a:t> hier!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4434840" y="411175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5577840" y="415747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5715000" y="415747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Tekent u hier, alstublieft.</a:t>
            </a:r>
            <a:endParaRPr lang="en-US" sz="19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Bel</a:t>
            </a:r>
            <a:r>
              <a:rPr lang="en-US" sz="1900" i="1" dirty="0">
                <a:solidFill>
                  <a:schemeClr val="tx1"/>
                </a:solidFill>
              </a:rPr>
              <a:t> morgen terug!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4434840" y="483819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47" name="Shape 43"/>
          <p:cNvSpPr/>
          <p:nvPr/>
        </p:nvSpPr>
        <p:spPr>
          <a:xfrm>
            <a:off x="5577840" y="488391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5715000" y="488391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Belt u morgen gerust terug.</a:t>
            </a:r>
            <a:endParaRPr lang="en-US" sz="19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20040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Vul</a:t>
            </a:r>
            <a:r>
              <a:rPr lang="en-US" sz="1900" i="1" dirty="0">
                <a:solidFill>
                  <a:schemeClr val="tx1"/>
                </a:solidFill>
              </a:rPr>
              <a:t> het formulier in!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4434840" y="5564632"/>
            <a:ext cx="1097280" cy="3449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+ u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577840" y="5610352"/>
            <a:ext cx="6062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5715000" y="5610352"/>
            <a:ext cx="5852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Vult u het formulier even in, alstublieft.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1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4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9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2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7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0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1" name="Shape 21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5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36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38" name="Shape 26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9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0" name="Shape 27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1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0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4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45" name="Text 31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46" name="Shape 32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7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48" name="Shape 33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9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36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2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3" name="Text 37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54" name="Shape 38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5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56" name="Shape 39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Du panneau à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Le panneau parle à l’infinitif. Dites-le à un collègue, à l’impératif.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12" name="Image 1" descr="no sm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021332"/>
            <a:ext cx="548640" cy="54864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737360" y="19781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ROKEN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4480560" y="22956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15" name="Image 2" descr="speech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067052"/>
            <a:ext cx="457200" cy="45720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172200" y="19781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309360" y="19781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Rook hier niet!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1005840" y="270459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21" name="Image 3" descr="doo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2747772"/>
            <a:ext cx="548640" cy="5486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737360" y="270459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DUWEN</a:t>
            </a:r>
            <a:endParaRPr lang="en-US" sz="1600" dirty="0"/>
          </a:p>
        </p:txBody>
      </p:sp>
      <p:sp>
        <p:nvSpPr>
          <p:cNvPr id="23" name="Shape 16"/>
          <p:cNvSpPr/>
          <p:nvPr/>
        </p:nvSpPr>
        <p:spPr>
          <a:xfrm>
            <a:off x="4480560" y="302209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24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3560" y="2793492"/>
            <a:ext cx="457200" cy="45720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172200" y="270459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09360" y="270459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Duw!</a:t>
            </a:r>
            <a:endParaRPr lang="en-US" sz="2000" dirty="0"/>
          </a:p>
        </p:txBody>
      </p:sp>
      <p:sp>
        <p:nvSpPr>
          <p:cNvPr id="27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1005840" y="343103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0" name="Image 5" descr="shushing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7280" y="3474212"/>
            <a:ext cx="548640" cy="548640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1737360" y="343103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STOREN</a:t>
            </a:r>
            <a:endParaRPr lang="en-US" sz="1600" dirty="0"/>
          </a:p>
        </p:txBody>
      </p:sp>
      <p:sp>
        <p:nvSpPr>
          <p:cNvPr id="32" name="Shape 23"/>
          <p:cNvSpPr/>
          <p:nvPr/>
        </p:nvSpPr>
        <p:spPr>
          <a:xfrm>
            <a:off x="4480560" y="374853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33" name="Image 6" descr="speech ballo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3560" y="3519932"/>
            <a:ext cx="457200" cy="457200"/>
          </a:xfrm>
          <a:prstGeom prst="rect">
            <a:avLst/>
          </a:prstGeom>
        </p:spPr>
      </p:pic>
      <p:sp>
        <p:nvSpPr>
          <p:cNvPr id="34" name="Shape 24"/>
          <p:cNvSpPr/>
          <p:nvPr/>
        </p:nvSpPr>
        <p:spPr>
          <a:xfrm>
            <a:off x="6172200" y="343103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309360" y="343103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Stoor me niet!</a:t>
            </a:r>
            <a:endParaRPr lang="en-US" sz="2000" dirty="0"/>
          </a:p>
        </p:txBody>
      </p:sp>
      <p:sp>
        <p:nvSpPr>
          <p:cNvPr id="36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Shape 28"/>
          <p:cNvSpPr/>
          <p:nvPr/>
        </p:nvSpPr>
        <p:spPr>
          <a:xfrm>
            <a:off x="1005840" y="415747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39" name="Image 7" descr="p butt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7280" y="4200652"/>
            <a:ext cx="548640" cy="548640"/>
          </a:xfrm>
          <a:prstGeom prst="rect">
            <a:avLst/>
          </a:prstGeom>
        </p:spPr>
      </p:pic>
      <p:pic>
        <p:nvPicPr>
          <p:cNvPr id="40" name="Image 8" descr="Ba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9848" y="4173220"/>
            <a:ext cx="603504" cy="603504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1737360" y="415747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NIET PARKEREN</a:t>
            </a:r>
            <a:endParaRPr lang="en-US" sz="1600" dirty="0"/>
          </a:p>
        </p:txBody>
      </p:sp>
      <p:sp>
        <p:nvSpPr>
          <p:cNvPr id="42" name="Shape 30"/>
          <p:cNvSpPr/>
          <p:nvPr/>
        </p:nvSpPr>
        <p:spPr>
          <a:xfrm>
            <a:off x="4480560" y="447497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43" name="Image 9" descr="speech ballo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23560" y="4246372"/>
            <a:ext cx="457200" cy="457200"/>
          </a:xfrm>
          <a:prstGeom prst="rect">
            <a:avLst/>
          </a:prstGeom>
        </p:spPr>
      </p:pic>
      <p:sp>
        <p:nvSpPr>
          <p:cNvPr id="44" name="Shape 31"/>
          <p:cNvSpPr/>
          <p:nvPr/>
        </p:nvSpPr>
        <p:spPr>
          <a:xfrm>
            <a:off x="6172200" y="415747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5" name="Text 32"/>
          <p:cNvSpPr txBox="1"/>
          <p:nvPr/>
        </p:nvSpPr>
        <p:spPr>
          <a:xfrm>
            <a:off x="6309360" y="415747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Parkeer hier niet!</a:t>
            </a:r>
            <a:endParaRPr lang="en-US" sz="2000" dirty="0"/>
          </a:p>
        </p:txBody>
      </p:sp>
      <p:sp>
        <p:nvSpPr>
          <p:cNvPr id="46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8" name="Shape 35"/>
          <p:cNvSpPr/>
          <p:nvPr/>
        </p:nvSpPr>
        <p:spPr>
          <a:xfrm>
            <a:off x="1005840" y="488391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49" name="Image 10" descr="soa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97280" y="4927092"/>
            <a:ext cx="548640" cy="548640"/>
          </a:xfrm>
          <a:prstGeom prst="rect">
            <a:avLst/>
          </a:prstGeom>
        </p:spPr>
      </p:pic>
      <p:sp>
        <p:nvSpPr>
          <p:cNvPr id="50" name="Text 36"/>
          <p:cNvSpPr txBox="1"/>
          <p:nvPr/>
        </p:nvSpPr>
        <p:spPr>
          <a:xfrm>
            <a:off x="1737360" y="488391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HANDEN WASSEN</a:t>
            </a:r>
            <a:endParaRPr lang="en-US" sz="1600" dirty="0"/>
          </a:p>
        </p:txBody>
      </p:sp>
      <p:sp>
        <p:nvSpPr>
          <p:cNvPr id="51" name="Shape 37"/>
          <p:cNvSpPr/>
          <p:nvPr/>
        </p:nvSpPr>
        <p:spPr>
          <a:xfrm>
            <a:off x="4480560" y="520141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52" name="Image 11" descr="speech ballo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23560" y="4972812"/>
            <a:ext cx="457200" cy="457200"/>
          </a:xfrm>
          <a:prstGeom prst="rect">
            <a:avLst/>
          </a:prstGeom>
        </p:spPr>
      </p:pic>
      <p:sp>
        <p:nvSpPr>
          <p:cNvPr id="53" name="Shape 38"/>
          <p:cNvSpPr/>
          <p:nvPr/>
        </p:nvSpPr>
        <p:spPr>
          <a:xfrm>
            <a:off x="6172200" y="488391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4" name="Text 39"/>
          <p:cNvSpPr txBox="1"/>
          <p:nvPr/>
        </p:nvSpPr>
        <p:spPr>
          <a:xfrm>
            <a:off x="6309360" y="488391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Was je handen!</a:t>
            </a:r>
            <a:endParaRPr lang="en-US" sz="2000" dirty="0"/>
          </a:p>
        </p:txBody>
      </p:sp>
      <p:sp>
        <p:nvSpPr>
          <p:cNvPr id="55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7" name="Shape 42"/>
          <p:cNvSpPr/>
          <p:nvPr/>
        </p:nvSpPr>
        <p:spPr>
          <a:xfrm>
            <a:off x="1005840" y="5610352"/>
            <a:ext cx="3383280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</p:spPr>
      </p:sp>
      <p:pic>
        <p:nvPicPr>
          <p:cNvPr id="58" name="Image 12" descr="door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97280" y="5653532"/>
            <a:ext cx="548640" cy="548640"/>
          </a:xfrm>
          <a:prstGeom prst="rect">
            <a:avLst/>
          </a:prstGeom>
        </p:spPr>
      </p:pic>
      <p:sp>
        <p:nvSpPr>
          <p:cNvPr id="59" name="Text 43"/>
          <p:cNvSpPr txBox="1"/>
          <p:nvPr/>
        </p:nvSpPr>
        <p:spPr>
          <a:xfrm>
            <a:off x="1737360" y="5610352"/>
            <a:ext cx="2606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DEUR SLUITEN</a:t>
            </a:r>
            <a:endParaRPr lang="en-US" sz="1600" dirty="0"/>
          </a:p>
        </p:txBody>
      </p:sp>
      <p:sp>
        <p:nvSpPr>
          <p:cNvPr id="60" name="Shape 44"/>
          <p:cNvSpPr/>
          <p:nvPr/>
        </p:nvSpPr>
        <p:spPr>
          <a:xfrm>
            <a:off x="4480560" y="5927852"/>
            <a:ext cx="1005840" cy="914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pic>
        <p:nvPicPr>
          <p:cNvPr id="61" name="Image 13" descr="speech ballo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623560" y="5699252"/>
            <a:ext cx="457200" cy="457200"/>
          </a:xfrm>
          <a:prstGeom prst="rect">
            <a:avLst/>
          </a:prstGeom>
        </p:spPr>
      </p:pic>
      <p:sp>
        <p:nvSpPr>
          <p:cNvPr id="62" name="Shape 45"/>
          <p:cNvSpPr/>
          <p:nvPr/>
        </p:nvSpPr>
        <p:spPr>
          <a:xfrm>
            <a:off x="6172200" y="5610352"/>
            <a:ext cx="546811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46"/>
          <p:cNvSpPr txBox="1"/>
          <p:nvPr/>
        </p:nvSpPr>
        <p:spPr>
          <a:xfrm>
            <a:off x="6309360" y="5610352"/>
            <a:ext cx="52120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Sluit de deur!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9" name="Shape 5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11" name="Shape 7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2" name="Shape 8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5" name="Shape 11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18" name="Shape 14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0" name="Shape 16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</p:spPr>
      </p:sp>
      <p:sp>
        <p:nvSpPr>
          <p:cNvPr id="21" name="Shape 17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pic>
        <p:nvPicPr>
          <p:cNvPr id="23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mode d’emploi en désordre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consignes de la machine à café dans l’ordre (1 à 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6836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68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1234440" y="2005584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417320" y="2005584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Doe</a:t>
            </a:r>
            <a:r>
              <a:rPr lang="en-US" sz="2100" i="1" dirty="0">
                <a:solidFill>
                  <a:schemeClr val="tx1"/>
                </a:solidFill>
              </a:rPr>
              <a:t> een capsule in de machine.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2988564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29885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1234440" y="2877312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417320" y="2877312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Zet</a:t>
            </a:r>
            <a:r>
              <a:rPr lang="en-US" sz="2100" i="1" dirty="0">
                <a:solidFill>
                  <a:schemeClr val="tx1"/>
                </a:solidFill>
              </a:rPr>
              <a:t> een beker onder de machine.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860292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8602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1234440" y="3749040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417320" y="3749040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Kies</a:t>
            </a:r>
            <a:r>
              <a:rPr lang="en-US" sz="2100" i="1" dirty="0">
                <a:solidFill>
                  <a:schemeClr val="tx1"/>
                </a:solidFill>
              </a:rPr>
              <a:t> de sterkte: normaal of sterk.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7320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7320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1234440" y="4620768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417320" y="4620768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Druk</a:t>
            </a:r>
            <a:r>
              <a:rPr lang="en-US" sz="2100" i="1" dirty="0">
                <a:solidFill>
                  <a:schemeClr val="tx1"/>
                </a:solidFill>
              </a:rPr>
              <a:t> op de knop « koffie ».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03748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037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1234440" y="5492496"/>
            <a:ext cx="6949440" cy="707136"/>
          </a:xfrm>
          <a:prstGeom prst="roundRect">
            <a:avLst>
              <a:gd name="adj" fmla="val 10345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417320" y="5492496"/>
            <a:ext cx="6675120" cy="707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6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je beker en geniet!</a:t>
            </a:r>
            <a:endParaRPr lang="en-US" sz="2100" dirty="0"/>
          </a:p>
        </p:txBody>
      </p:sp>
      <p:pic>
        <p:nvPicPr>
          <p:cNvPr id="29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206752"/>
            <a:ext cx="2103120" cy="2103120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8595360" y="4492752"/>
            <a:ext cx="3044952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Puis reliez avec :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accent5"/>
                </a:solidFill>
              </a:rPr>
              <a:t>Doe </a:t>
            </a:r>
            <a:r>
              <a:rPr lang="en-US" sz="1500" b="1" i="1" dirty="0">
                <a:solidFill>
                  <a:schemeClr val="accent1"/>
                </a:solidFill>
              </a:rPr>
              <a:t>eerst</a:t>
            </a:r>
            <a:r>
              <a:rPr lang="en-US" sz="1500" b="1" i="1" dirty="0">
                <a:solidFill>
                  <a:schemeClr val="accent5"/>
                </a:solidFill>
              </a:rPr>
              <a:t>… Zet </a:t>
            </a:r>
            <a:r>
              <a:rPr lang="en-US" sz="1500" b="1" i="1" dirty="0">
                <a:solidFill>
                  <a:schemeClr val="accent1"/>
                </a:solidFill>
              </a:rPr>
              <a:t>dan</a:t>
            </a:r>
            <a:r>
              <a:rPr lang="en-US" sz="1500" b="1" i="1" dirty="0">
                <a:solidFill>
                  <a:schemeClr val="accent5"/>
                </a:solidFill>
              </a:rPr>
              <a:t>… Kies </a:t>
            </a:r>
            <a:r>
              <a:rPr lang="en-US" sz="1500" b="1" i="1" dirty="0">
                <a:solidFill>
                  <a:schemeClr val="accent1"/>
                </a:solidFill>
              </a:rPr>
              <a:t>daarna</a:t>
            </a:r>
            <a:r>
              <a:rPr lang="en-US" sz="1500" b="1" i="1" dirty="0">
                <a:solidFill>
                  <a:schemeClr val="accent5"/>
                </a:solidFill>
              </a:rPr>
              <a:t>… Druk </a:t>
            </a:r>
            <a:r>
              <a:rPr lang="en-US" sz="1500" b="1" i="1" dirty="0">
                <a:solidFill>
                  <a:schemeClr val="accent1"/>
                </a:solidFill>
              </a:rPr>
              <a:t>tot slot</a:t>
            </a:r>
            <a:r>
              <a:rPr lang="en-US" sz="1500" b="1" i="1" dirty="0">
                <a:solidFill>
                  <a:schemeClr val="accent5"/>
                </a:solidFill>
              </a:rPr>
              <a:t>…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accent5"/>
                </a:solidFill>
              </a:rPr>
              <a:t>(2 et 3 peuvent s’inverser)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dirty="0">
                <a:solidFill>
                  <a:schemeClr val="tx1"/>
                </a:solidFill>
              </a:rPr>
              <a:t>Komt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dirty="0">
                <a:solidFill>
                  <a:schemeClr val="tx1"/>
                </a:solidFill>
              </a:rPr>
              <a:t>Ben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dirty="0">
                <a:solidFill>
                  <a:schemeClr val="tx1"/>
                </a:solidFill>
              </a:rPr>
              <a:t>Doe dicht de deur van het archief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dirty="0">
                <a:solidFill>
                  <a:schemeClr val="tx1"/>
                </a:solidFill>
              </a:rPr>
              <a:t>Vergeet niet je wachtwoord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dirty="0">
                <a:solidFill>
                  <a:schemeClr val="tx1"/>
                </a:solidFill>
              </a:rPr>
              <a:t>Lezen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1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a collé un post-it sur l’écran de Lotte.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420"/>
            </a:avLst>
          </a:prstGeom>
          <a:solidFill>
            <a:srgbClr val="FFF6C9"/>
          </a:solidFill>
          <a:ln w="15875">
            <a:solidFill>
              <a:srgbClr val="E3C65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round pushp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1749552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2343912"/>
            <a:ext cx="7589520" cy="381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Hoi Lotte! Welkom! </a:t>
            </a:r>
            <a:r>
              <a:rPr lang="en-US" sz="2000" i="1" strike="sngStrike" dirty="0">
                <a:solidFill>
                  <a:schemeClr val="accent6"/>
                </a:solidFill>
              </a:rPr>
              <a:t>Komt</a:t>
            </a:r>
            <a:r>
              <a:rPr lang="en-US" sz="2000" b="1" i="1" dirty="0">
                <a:solidFill>
                  <a:schemeClr val="accent3"/>
                </a:solidFill>
              </a:rPr>
              <a:t> Kom</a:t>
            </a:r>
            <a:r>
              <a:rPr lang="en-US" sz="2000" i="1" dirty="0">
                <a:solidFill>
                  <a:schemeClr val="tx1"/>
                </a:solidFill>
              </a:rPr>
              <a:t> morgen om 9 uur. </a:t>
            </a:r>
            <a:r>
              <a:rPr lang="en-US" sz="2000" i="1" strike="sngStrike" dirty="0">
                <a:solidFill>
                  <a:schemeClr val="accent6"/>
                </a:solidFill>
              </a:rPr>
              <a:t>Ben</a:t>
            </a:r>
            <a:r>
              <a:rPr lang="en-US" sz="2000" b="1" i="1" dirty="0">
                <a:solidFill>
                  <a:schemeClr val="accent3"/>
                </a:solidFill>
              </a:rPr>
              <a:t> Wees</a:t>
            </a:r>
            <a:r>
              <a:rPr lang="en-US" sz="2000" i="1" dirty="0">
                <a:solidFill>
                  <a:schemeClr val="tx1"/>
                </a:solidFill>
              </a:rPr>
              <a:t> op tijd, want we hebben een vergadering. Neem je laptop mee en log in met je badge. </a:t>
            </a:r>
            <a:r>
              <a:rPr lang="en-US" sz="2000" i="1" strike="sngStrike" dirty="0">
                <a:solidFill>
                  <a:schemeClr val="accent6"/>
                </a:solidFill>
              </a:rPr>
              <a:t>Doe dicht de deur van het archief</a:t>
            </a:r>
            <a:r>
              <a:rPr lang="en-US" sz="2000" b="1" i="1" dirty="0">
                <a:solidFill>
                  <a:schemeClr val="accent3"/>
                </a:solidFill>
              </a:rPr>
              <a:t> Doe de deur van het archief dicht</a:t>
            </a:r>
            <a:r>
              <a:rPr lang="en-US" sz="2000" i="1" dirty="0">
                <a:solidFill>
                  <a:schemeClr val="tx1"/>
                </a:solidFill>
              </a:rPr>
              <a:t>. </a:t>
            </a:r>
            <a:r>
              <a:rPr lang="en-US" sz="2000" i="1" strike="sngStrike" dirty="0">
                <a:solidFill>
                  <a:schemeClr val="accent6"/>
                </a:solidFill>
              </a:rPr>
              <a:t>Vergeet niet je wachtwoord</a:t>
            </a:r>
            <a:r>
              <a:rPr lang="en-US" sz="2000" b="1" i="1" dirty="0">
                <a:solidFill>
                  <a:schemeClr val="accent3"/>
                </a:solidFill>
              </a:rPr>
              <a:t> Vergeet je wachtwoord niet</a:t>
            </a:r>
            <a:r>
              <a:rPr lang="en-US" sz="2000" i="1" dirty="0">
                <a:solidFill>
                  <a:schemeClr val="tx1"/>
                </a:solidFill>
              </a:rPr>
              <a:t>! </a:t>
            </a:r>
            <a:r>
              <a:rPr lang="en-US" sz="2000" i="1" strike="sngStrike" dirty="0">
                <a:solidFill>
                  <a:schemeClr val="accent6"/>
                </a:solidFill>
              </a:rPr>
              <a:t>Lezen</a:t>
            </a:r>
            <a:r>
              <a:rPr lang="en-US" sz="2000" b="1" i="1" dirty="0">
                <a:solidFill>
                  <a:schemeClr val="accent3"/>
                </a:solidFill>
              </a:rPr>
              <a:t> Lees</a:t>
            </a:r>
            <a:r>
              <a:rPr lang="en-US" sz="2000" i="1" dirty="0">
                <a:solidFill>
                  <a:schemeClr val="tx1"/>
                </a:solidFill>
              </a:rPr>
              <a:t> de handleiding en vraag het gerust als je iets niet begrijpt. — Sofie</a:t>
            </a:r>
            <a:endParaRPr lang="en-US" sz="2000" dirty="0"/>
          </a:p>
        </p:txBody>
      </p:sp>
      <p:pic>
        <p:nvPicPr>
          <p:cNvPr id="12" name="Image 2" descr="magnifying glass tilted lef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5" name="Text 9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Neem je laptop mee · log in · vraag het gerust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GPS humain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6583680" cy="4663440"/>
          </a:xfrm>
          <a:prstGeom prst="roundRect">
            <a:avLst>
              <a:gd name="adj" fmla="val 784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solidFill>
            <a:srgbClr val="EEF3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3558845"/>
            <a:ext cx="6217920" cy="8394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B8C2CF"/>
                </a:solidFill>
              </a:rPr>
              <a:t>gang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2115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1580" y="1810512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772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1 · keuken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23317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8117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5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1780" y="181051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23774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2 · vergaderzaal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39319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44119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9" name="Image 2" descr="restro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1980" y="1810512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9776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3 · toilet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532120" y="1737360"/>
            <a:ext cx="1417320" cy="1748333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012180" y="3467405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2180" y="1810512"/>
            <a:ext cx="457200" cy="4572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577840" y="3101645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4 · printer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7315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2115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7" name="Image 4" descr="elevat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1580" y="4818888"/>
            <a:ext cx="457200" cy="4572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772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5 · lift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23317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28117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23774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32" name="Shape 24"/>
          <p:cNvSpPr/>
          <p:nvPr/>
        </p:nvSpPr>
        <p:spPr>
          <a:xfrm>
            <a:off x="39319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44119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5" descr="woman office work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1980" y="4818888"/>
            <a:ext cx="457200" cy="45720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39776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6 · kantoor An</a:t>
            </a:r>
            <a:endParaRPr lang="en-US" sz="1200" dirty="0"/>
          </a:p>
        </p:txBody>
      </p:sp>
      <p:sp>
        <p:nvSpPr>
          <p:cNvPr id="36" name="Shape 27"/>
          <p:cNvSpPr/>
          <p:nvPr/>
        </p:nvSpPr>
        <p:spPr>
          <a:xfrm>
            <a:off x="5532120" y="4471416"/>
            <a:ext cx="1417320" cy="1655064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6012180" y="4398264"/>
            <a:ext cx="457200" cy="91440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5577840" y="4489704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pic>
        <p:nvPicPr>
          <p:cNvPr id="39" name="Image 6" descr="MapMarkerAl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3813962"/>
            <a:ext cx="310896" cy="310896"/>
          </a:xfrm>
          <a:prstGeom prst="rect">
            <a:avLst/>
          </a:prstGeom>
        </p:spPr>
      </p:pic>
      <p:sp>
        <p:nvSpPr>
          <p:cNvPr id="40" name="Text 30"/>
          <p:cNvSpPr txBox="1"/>
          <p:nvPr/>
        </p:nvSpPr>
        <p:spPr>
          <a:xfrm>
            <a:off x="1170432" y="3586277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6"/>
                </a:solidFill>
              </a:rPr>
              <a:t>ingang</a:t>
            </a:r>
            <a:endParaRPr lang="en-US" sz="1100" dirty="0"/>
          </a:p>
        </p:txBody>
      </p:sp>
      <p:pic>
        <p:nvPicPr>
          <p:cNvPr id="41" name="Image 7" descr="stopwatc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0" y="1600200"/>
            <a:ext cx="822960" cy="822960"/>
          </a:xfrm>
          <a:prstGeom prst="rect">
            <a:avLst/>
          </a:prstGeom>
        </p:spPr>
      </p:pic>
      <p:sp>
        <p:nvSpPr>
          <p:cNvPr id="42" name="Text 31"/>
          <p:cNvSpPr txBox="1"/>
          <p:nvPr/>
        </p:nvSpPr>
        <p:spPr>
          <a:xfrm>
            <a:off x="8366760" y="1600200"/>
            <a:ext cx="3273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Waar ga ik naartoe?</a:t>
            </a:r>
            <a:endParaRPr lang="en-US" sz="2000" dirty="0"/>
          </a:p>
        </p:txBody>
      </p:sp>
      <p:sp>
        <p:nvSpPr>
          <p:cNvPr id="43" name="Text 32"/>
          <p:cNvSpPr txBox="1"/>
          <p:nvPr/>
        </p:nvSpPr>
        <p:spPr>
          <a:xfrm>
            <a:off x="7452360" y="2514600"/>
            <a:ext cx="4187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A choisit une destination en secret.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A guide B depuis l’entrée ; B suit le chemin du doigt.</a:t>
            </a:r>
            <a:endParaRPr lang="en-US" sz="16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B devine : </a:t>
            </a:r>
            <a:r>
              <a:rPr lang="en-US" sz="1600" i="1" dirty="0">
                <a:solidFill>
                  <a:schemeClr val="tx1"/>
                </a:solidFill>
              </a:rPr>
              <a:t>Is het de keuken?</a:t>
            </a:r>
            <a:endParaRPr lang="en-US" sz="1600" dirty="0"/>
          </a:p>
        </p:txBody>
      </p:sp>
      <p:sp>
        <p:nvSpPr>
          <p:cNvPr id="44" name="Shape 33"/>
          <p:cNvSpPr/>
          <p:nvPr/>
        </p:nvSpPr>
        <p:spPr>
          <a:xfrm>
            <a:off x="7452360" y="4343400"/>
            <a:ext cx="4187952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Text 34"/>
          <p:cNvSpPr txBox="1"/>
          <p:nvPr/>
        </p:nvSpPr>
        <p:spPr>
          <a:xfrm>
            <a:off x="7635240" y="44074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46" name="Text 35"/>
          <p:cNvSpPr txBox="1"/>
          <p:nvPr/>
        </p:nvSpPr>
        <p:spPr>
          <a:xfrm>
            <a:off x="7635240" y="4709160"/>
            <a:ext cx="3840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Ga rechtdoor. · Ga naar links / rechts. · Neem de lift. · Het is de eerste / tweede deur links / rechts.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premier jour de Lotte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Lotte commence son stage chez Peeters &amp; Co. Sofie lui fait visiter les lieux et lui donne les consignes.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Sofie</a:t>
            </a:r>
            <a:r>
              <a:rPr lang="en-US" sz="1700" dirty="0">
                <a:solidFill>
                  <a:schemeClr val="tx1"/>
                </a:solidFill>
              </a:rPr>
              <a:t> : accueillez Lotte, montrez-lui les lieux et donnez </a:t>
            </a:r>
            <a:r>
              <a:rPr lang="en-US" sz="1700" b="1" dirty="0">
                <a:solidFill>
                  <a:schemeClr val="tx1"/>
                </a:solidFill>
              </a:rPr>
              <a:t>5 consignes</a:t>
            </a:r>
            <a:r>
              <a:rPr lang="en-US" sz="1700" dirty="0">
                <a:solidFill>
                  <a:schemeClr val="tx1"/>
                </a:solidFill>
              </a:rPr>
              <a:t> de la checklist.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Lotte</a:t>
            </a:r>
            <a:r>
              <a:rPr lang="en-US" sz="1700" dirty="0">
                <a:solidFill>
                  <a:schemeClr val="tx1"/>
                </a:solidFill>
              </a:rPr>
              <a:t> : posez des questions : </a:t>
            </a:r>
            <a:r>
              <a:rPr lang="en-US" sz="1700" i="1" dirty="0">
                <a:solidFill>
                  <a:schemeClr val="tx1"/>
                </a:solidFill>
              </a:rPr>
              <a:t>Waar is…? Hoe werkt…? Mag ik…?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Kom maar binnen! · Neem plaats. · Hier is je badge: verlies hem niet! · Log in met je naam. · Neem de lift naar de tweede verdieping. · Vraag het gerust aan An. · Laten we koffie gaan drinken!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CHECKLIST EERSTE WERKDAG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257032" y="223113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3" name="Image 0" descr="identification c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68512" y="2157984"/>
            <a:ext cx="438912" cy="438912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9217152" y="212140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badge</a:t>
            </a:r>
            <a:endParaRPr lang="en-US" sz="1500" dirty="0"/>
          </a:p>
        </p:txBody>
      </p:sp>
      <p:sp>
        <p:nvSpPr>
          <p:cNvPr id="25" name="Shape 21"/>
          <p:cNvSpPr/>
          <p:nvPr/>
        </p:nvSpPr>
        <p:spPr>
          <a:xfrm>
            <a:off x="8257032" y="2813739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6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8512" y="2740587"/>
            <a:ext cx="438912" cy="438912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217152" y="2704011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laptop</a:t>
            </a:r>
            <a:endParaRPr lang="en-US" sz="1500" dirty="0"/>
          </a:p>
        </p:txBody>
      </p:sp>
      <p:sp>
        <p:nvSpPr>
          <p:cNvPr id="28" name="Shape 23"/>
          <p:cNvSpPr/>
          <p:nvPr/>
        </p:nvSpPr>
        <p:spPr>
          <a:xfrm>
            <a:off x="8257032" y="339634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29" name="Image 2" descr="ke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68512" y="3323191"/>
            <a:ext cx="438912" cy="438912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217152" y="328661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wachtwoord</a:t>
            </a:r>
            <a:endParaRPr lang="en-US" sz="1500" dirty="0"/>
          </a:p>
        </p:txBody>
      </p:sp>
      <p:sp>
        <p:nvSpPr>
          <p:cNvPr id="31" name="Shape 25"/>
          <p:cNvSpPr/>
          <p:nvPr/>
        </p:nvSpPr>
        <p:spPr>
          <a:xfrm>
            <a:off x="8257032" y="3978946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2" name="Image 3" descr="hot bevera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2" y="3905794"/>
            <a:ext cx="438912" cy="43891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217152" y="386921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koffiemachine</a:t>
            </a:r>
            <a:endParaRPr lang="en-US" sz="1500" dirty="0"/>
          </a:p>
        </p:txBody>
      </p:sp>
      <p:sp>
        <p:nvSpPr>
          <p:cNvPr id="34" name="Shape 27"/>
          <p:cNvSpPr/>
          <p:nvPr/>
        </p:nvSpPr>
        <p:spPr>
          <a:xfrm>
            <a:off x="8257032" y="4561550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5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8512" y="4488398"/>
            <a:ext cx="438912" cy="43891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217152" y="445182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printer</a:t>
            </a:r>
            <a:endParaRPr lang="en-US" sz="1500" dirty="0"/>
          </a:p>
        </p:txBody>
      </p:sp>
      <p:sp>
        <p:nvSpPr>
          <p:cNvPr id="37" name="Shape 29"/>
          <p:cNvSpPr/>
          <p:nvPr/>
        </p:nvSpPr>
        <p:spPr>
          <a:xfrm>
            <a:off x="8257032" y="5144153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38" name="Image 5" descr="person runn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8512" y="5071001"/>
            <a:ext cx="438912" cy="438912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217152" y="5034425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nooduitgang</a:t>
            </a:r>
            <a:endParaRPr lang="en-US" sz="1500" dirty="0"/>
          </a:p>
        </p:txBody>
      </p:sp>
      <p:sp>
        <p:nvSpPr>
          <p:cNvPr id="40" name="Shape 31"/>
          <p:cNvSpPr/>
          <p:nvPr/>
        </p:nvSpPr>
        <p:spPr>
          <a:xfrm>
            <a:off x="8257032" y="5726757"/>
            <a:ext cx="274320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pic>
        <p:nvPicPr>
          <p:cNvPr id="41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68512" y="5653605"/>
            <a:ext cx="438912" cy="438912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9217152" y="5617029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lunch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L’impératif de </a:t>
            </a:r>
            <a:r>
              <a:rPr lang="en-US" sz="2000" i="1" dirty="0">
                <a:solidFill>
                  <a:schemeClr val="tx1"/>
                </a:solidFill>
              </a:rPr>
              <a:t>zijn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voorzichtig</a:t>
            </a:r>
            <a:r>
              <a:rPr lang="en-US" sz="2000" dirty="0">
                <a:solidFill>
                  <a:schemeClr val="tx1"/>
                </a:solidFill>
              </a:rPr>
              <a:t>) ? de </a:t>
            </a:r>
            <a:r>
              <a:rPr lang="en-US" sz="2000" i="1" dirty="0">
                <a:solidFill>
                  <a:schemeClr val="tx1"/>
                </a:solidFill>
              </a:rPr>
              <a:t>opbellen</a:t>
            </a:r>
            <a:r>
              <a:rPr lang="en-US" sz="2000" dirty="0">
                <a:solidFill>
                  <a:schemeClr val="tx1"/>
                </a:solidFill>
              </a:rPr>
              <a:t> (+ </a:t>
            </a:r>
            <a:r>
              <a:rPr lang="en-US" sz="2000" i="1" dirty="0">
                <a:solidFill>
                  <a:schemeClr val="tx1"/>
                </a:solidFill>
              </a:rPr>
              <a:t>de klant</a:t>
            </a:r>
            <a:r>
              <a:rPr lang="en-US" sz="2000" dirty="0">
                <a:solidFill>
                  <a:schemeClr val="tx1"/>
                </a:solidFill>
              </a:rPr>
              <a:t>) 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poli, avec </a:t>
            </a:r>
            <a:r>
              <a:rPr lang="en-US" sz="2000" i="1" dirty="0">
                <a:solidFill>
                  <a:schemeClr val="tx1"/>
                </a:solidFill>
              </a:rPr>
              <a:t>u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Comment dit-on « Commençons ! » 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Former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Adoucir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Guider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Ke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Zitten, staan, liggen, hangen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Waar ligt mijn sleutel?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16 — De gebiedende wijs — L’impératif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2026-10-05T19:06:51Z</dcterms:created>
  <dcterms:modified xsi:type="dcterms:W3CDTF">2026-10-05T19:06:51Z</dcterms:modified>
</cp:coreProperties>
</file>