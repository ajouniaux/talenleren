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4b75a3c4-2129-e5b5-08db-fc3334fcf253}">
          <p14:sldIdLst>
            <p14:sldId id="256"/>
          </p14:sldIdLst>
        </p14:section>
        <p14:section name="Découvrir" id="{4735c1e4-c746-3864-6d0b-ec9f94ac29b0}">
          <p14:sldIdLst>
            <p14:sldId id="257"/>
            <p14:sldId id="258"/>
          </p14:sldIdLst>
        </p14:section>
        <p14:section name="Comprendre" id="{897559d0-a3d0-2c5c-1b24-b04dcb2163a6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0b0d3318-eb06-b77c-9f27-74fb772bf4c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ôture" id="{c41784b3-eb67-bc72-abfd-ff6bd17951f1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donner un ordre, une consigne, une invitation.
Mimez la scène : frappez à la porte de la classe, et faites répondre « Kom binnen! ». Demandez : « Comment dit-on Entre ! ? Et Entrez ! ? » → une seule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L'impératif sert à inviter, conseiller et guider. Au bureau, il est partout : consignes, modes d'emploi, panneaux, accueil des visiteurs.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à partir de consignes déjà connues.
Faites deviner le sens par le geste, puis retrouver l'infinitif de chaque consigne. La règle tombe d'elle-même : impératif = radical (M3). herhalen (répéter) est inséparable (her-,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des verbes réguliers.
Rappel M3 : radical = infinitif − en, avec les ajustements (neem, stop, bel). Pour plusieurs personnes, la forme ne change pas. La forme Komt! est vieillie : on ne l'enseigne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ajustements du M4 et retenir les formes spéciales.
Wees est la seule vraie forme irrégulière. Heb geduld! (sois patient) est régulier (radical heb) ; au téléphone : Hebt u even geduld. Ga!, Doe!, Sta! sont simplement des radicaux de verbes courts (M4). Ga zitten! Doe de deur dicht! sont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des formes françaises.
Laten we… = « faisons… » (1re personne du pluriel). À l'oral, on entend aussi Kom, we gaan! (« Allez, on y va ! »). Ben voorzichtig est une erreur fréquente : zijn a sa forme propre, wees.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phrase impérative : verbe en tête, particule au bout, niet à sa place.
Comme dans une question oui / non (M3), le verbe vient en tête, mais sans sujet. niet se place comme d'habitude : à la fin, ou devant la particule et l'infinitif (Doe de deur niet dicht!). Pronom réfléchi : je en informel, u en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 politesse avec u.
Lien M8 : avec un client, une personne âgée ou un supérieur, on choisit u. Wacht u even : pas de t en plus (radical en t, M4). Blijft u even aan de lijn (« Ne quittez pas ») est la phrase-clé du téléphone (M8).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degré de politesse adapté à la situation.
L'impératif n'est pas impoli en soi : avec maar, even ou alstublieft, c'est une invitation. La marche ⑤ utilise zou (le conditionnel, Néerlandais 2) : à reconnaître seulement. À l'accueil ou au téléphone, la marche ③ suffit.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even, maar, eens, gerust et alsjeblieft / alstublieft.
Ces mots n'ont pas de vraie traduction : ils « arrondissent » l'ordre. Zeg het maar = « je vous écoute » (au comptoir, au téléphone). Ils se placent juste après le verbe, ou après le pronom : Kom maar binnen, Bel me gerust.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l'infinitif des panneaux et des consignes écrites.
Le français mélange : « Poussez » (impératif) mais « Ne pas fumer » (infinitif). Le néerlandais écrit les panneaux à l'infinitif et parle à l'impératif. Lien M12 : Je mag hier niet roken (la règle expliquée).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suite de consignes avec des mots d'ordre chronologique.
Les mots eerst, dan, daarna, tot slot se placent juste après le verbe. Variante très fréquente au bureau, plus douce : le présent avec je (Eerst leg je het document…). meenemen : la particule va au bout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dans un bâtiment.
de verdieping = l'étage. het gelijkvloers (BE) = de begane grond (NL) = le rez-de-chaussée. Faites le parcours en direct : un apprenant guide, l'autre marche dans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à l'oral dans un bâtiment.
Variante dans la salle : un apprenant, les yeux fermés, est guidé entre les tables. Décidez avant de commencer : informel (je) ou formel (u, un client).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accueillir une stagiaire.
B pose des questions (Waar is…? Hoe werkt…?). Inversez ensuite les rôles en formel : meneer Maes, un client, visite l'entreprise (u). de nooduitgang = la sortie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Wees voorzichtig! · Bel de klant op!
2. Wacht u even, alstublieft.
3. Laten we beginnen!
Teaser M17 : Waar ligt mijn sleutel?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16 / 19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gebiedende wijs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L’impératif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binnen! Neem plaats.</a:t>
            </a:r>
            <a:endParaRPr lang="en-US" sz="2000" dirty="0"/>
          </a:p>
        </p:txBody>
      </p:sp>
      <p:pic>
        <p:nvPicPr>
          <p:cNvPr id="5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23774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1540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1540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binnen!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 flipH="1">
            <a:off x="8366760" y="1810512"/>
            <a:ext cx="502920" cy="914"/>
          </a:xfrm>
          <a:prstGeom prst="line">
            <a:avLst/>
          </a:prstGeom>
          <a:noFill/>
          <a:ln w="25400">
            <a:solidFill>
              <a:srgbClr val="F6C27E"/>
            </a:solidFill>
            <a:prstDash val="dash"/>
          </a:ln>
        </p:spPr>
      </p:sp>
      <p:pic>
        <p:nvPicPr>
          <p:cNvPr id="9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65760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26680" y="3611880"/>
            <a:ext cx="39319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2668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Neem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plaats.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l’impératif : </a:t>
            </a:r>
            <a:r>
              <a:rPr lang="en-US" sz="2000" i="1" dirty="0">
                <a:solidFill>
                  <a:schemeClr val="tx1"/>
                </a:solidFill>
              </a:rPr>
              <a:t>Werk! Lees! Wees voorzichtig!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Adoucir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J’adapte l’ordre à la personne : </a:t>
            </a:r>
            <a:r>
              <a:rPr lang="en-US" sz="2000" i="1" dirty="0">
                <a:solidFill>
                  <a:schemeClr val="tx1"/>
                </a:solidFill>
              </a:rPr>
              <a:t>Kom maar binnen. Gaat u zitten.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Guider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des consignes et j’indique le chemin au bureau.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l’impératif est partout : consignes, modes d’emploi, panneaux, accueil des visiteurs.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consignes de la classe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Luister!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luisteren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15968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0" name="Image 1" descr="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7452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504688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Kijk!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504688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kijken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83296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4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8745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72016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Lees!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9272016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lezen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3" descr="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2900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3736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Schrijf!</a:t>
            </a:r>
            <a:endParaRPr lang="en-US" sz="2600" dirty="0"/>
          </a:p>
        </p:txBody>
      </p:sp>
      <p:sp>
        <p:nvSpPr>
          <p:cNvPr id="20" name="Text 13"/>
          <p:cNvSpPr txBox="1"/>
          <p:nvPr/>
        </p:nvSpPr>
        <p:spPr>
          <a:xfrm>
            <a:off x="173736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schrijven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15968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2" name="Image 4" descr="repeat but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429000"/>
            <a:ext cx="822960" cy="8229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504688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Herhaal!</a:t>
            </a:r>
            <a:endParaRPr lang="en-US" sz="2600" dirty="0"/>
          </a:p>
        </p:txBody>
      </p:sp>
      <p:sp>
        <p:nvSpPr>
          <p:cNvPr id="24" name="Text 16"/>
          <p:cNvSpPr txBox="1"/>
          <p:nvPr/>
        </p:nvSpPr>
        <p:spPr>
          <a:xfrm>
            <a:off x="550468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herhalen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83296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6" name="Image 5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3429000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272016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 samen!</a:t>
            </a:r>
            <a:endParaRPr lang="en-US" sz="2600" dirty="0"/>
          </a:p>
        </p:txBody>
      </p:sp>
      <p:sp>
        <p:nvSpPr>
          <p:cNvPr id="28" name="Text 19"/>
          <p:cNvSpPr txBox="1"/>
          <p:nvPr/>
        </p:nvSpPr>
        <p:spPr>
          <a:xfrm>
            <a:off x="9272016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samenwerken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0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20640"/>
            <a:ext cx="822960" cy="8229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28800" y="484632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Quelle forme du verbe est-ce 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luisteren → luister</a:t>
            </a:r>
            <a:r>
              <a:rPr lang="en-US" sz="2000" dirty="0">
                <a:solidFill>
                  <a:schemeClr val="tx1"/>
                </a:solidFill>
              </a:rPr>
              <a:t> … c’est le </a:t>
            </a:r>
            <a:r>
              <a:rPr lang="en-US" sz="2000" b="1" dirty="0">
                <a:solidFill>
                  <a:schemeClr val="tx1"/>
                </a:solidFill>
              </a:rPr>
              <a:t>radical</a:t>
            </a:r>
            <a:r>
              <a:rPr lang="en-US" sz="2000" dirty="0">
                <a:solidFill>
                  <a:schemeClr val="tx1"/>
                </a:solidFill>
              </a:rPr>
              <a:t> du M3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L’impératif = le radical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− en :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② sans sujet, sans -t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8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8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13816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Werk!</a:t>
            </a:r>
            <a:endParaRPr lang="en-US" sz="2800" dirty="0"/>
          </a:p>
        </p:txBody>
      </p:sp>
      <p:sp>
        <p:nvSpPr>
          <p:cNvPr id="21" name="Shape 16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komen</a:t>
            </a:r>
            <a:endParaRPr lang="en-US" sz="2800" dirty="0"/>
          </a:p>
        </p:txBody>
      </p:sp>
      <p:sp>
        <p:nvSpPr>
          <p:cNvPr id="24" name="Shape 19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13816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Kom!</a:t>
            </a:r>
            <a:endParaRPr lang="en-US" sz="2800" dirty="0"/>
          </a:p>
        </p:txBody>
      </p:sp>
      <p:sp>
        <p:nvSpPr>
          <p:cNvPr id="30" name="Shape 25"/>
          <p:cNvSpPr/>
          <p:nvPr/>
        </p:nvSpPr>
        <p:spPr>
          <a:xfrm>
            <a:off x="548640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nemen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3364992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364992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wachten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Wacht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4" name="Shape 29"/>
          <p:cNvSpPr/>
          <p:nvPr/>
        </p:nvSpPr>
        <p:spPr>
          <a:xfrm>
            <a:off x="6181344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181344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stoppen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Stop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6" name="Shape 31"/>
          <p:cNvSpPr/>
          <p:nvPr/>
        </p:nvSpPr>
        <p:spPr>
          <a:xfrm>
            <a:off x="8997696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997696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bellen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Bel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Pas de sujet, pas de </a:t>
            </a:r>
            <a:r>
              <a:rPr lang="en-US" sz="1800" i="1" dirty="0">
                <a:solidFill>
                  <a:schemeClr val="bg1"/>
                </a:solidFill>
              </a:rPr>
              <a:t>-t</a:t>
            </a:r>
            <a:r>
              <a:rPr lang="en-US" sz="1800" dirty="0">
                <a:solidFill>
                  <a:schemeClr val="bg1"/>
                </a:solidFill>
              </a:rPr>
              <a:t>, une seule forme :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Karim! ·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jongens!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qui s’adaptent… et Wees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LES AJUSTEMENTS DU M4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lezen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965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Lees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z → s · voyelle longue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715768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geven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27157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7157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Geef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715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 · voyelle longue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465576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46557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blijven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331720" y="346557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346557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Blijf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4655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15384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153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schrijven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331720" y="421538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21538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Schrijf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2153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965192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96519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zetten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496519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74320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Zet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4297680" y="4965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tt → 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1554480"/>
            <a:ext cx="4782312" cy="3886200"/>
          </a:xfrm>
          <a:prstGeom prst="roundRect">
            <a:avLst>
              <a:gd name="adj" fmla="val 1882"/>
            </a:avLst>
          </a:prstGeom>
          <a:solidFill>
            <a:srgbClr val="FFFDF2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0" descr="glowing 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548640" cy="54864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68096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FORMES SPÉCIALES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040880" y="23317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zijn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r>
              <a:rPr lang="en-US" sz="30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Wees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7086600" y="3063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voorzichtig!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gerust!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op tijd!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7086600" y="4343400"/>
            <a:ext cx="4343400" cy="914"/>
          </a:xfrm>
          <a:prstGeom prst="line">
            <a:avLst/>
          </a:prstGeom>
          <a:noFill/>
          <a:ln w="12700">
            <a:solidFill>
              <a:srgbClr val="E8D9B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086600" y="44348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Verbes courts (M4) : </a:t>
            </a:r>
            <a:r>
              <a:rPr lang="en-US" sz="1700" i="1" dirty="0">
                <a:solidFill>
                  <a:schemeClr val="tx1"/>
                </a:solidFill>
              </a:rPr>
              <a:t>gaan → </a:t>
            </a:r>
            <a:r>
              <a:rPr lang="en-US" sz="1700" b="1" i="1" dirty="0">
                <a:solidFill>
                  <a:schemeClr val="tx1"/>
                </a:solidFill>
              </a:rPr>
              <a:t>Ga!</a:t>
            </a:r>
            <a:r>
              <a:rPr lang="en-US" sz="1700" i="1" dirty="0">
                <a:solidFill>
                  <a:schemeClr val="tx1"/>
                </a:solidFill>
              </a:rPr>
              <a:t> · doen → </a:t>
            </a:r>
            <a:r>
              <a:rPr lang="en-US" sz="1700" b="1" i="1" dirty="0">
                <a:solidFill>
                  <a:schemeClr val="tx1"/>
                </a:solidFill>
              </a:rPr>
              <a:t>Doe!</a:t>
            </a:r>
            <a:r>
              <a:rPr lang="en-US" sz="1700" i="1" dirty="0">
                <a:solidFill>
                  <a:schemeClr val="tx1"/>
                </a:solidFill>
              </a:rPr>
              <a:t> · staan → </a:t>
            </a:r>
            <a:r>
              <a:rPr lang="en-US" sz="1700" b="1" i="1" dirty="0">
                <a:solidFill>
                  <a:schemeClr val="tx1"/>
                </a:solidFill>
              </a:rPr>
              <a:t>Sta!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Heb geduld!</a:t>
            </a:r>
            <a:r>
              <a:rPr lang="en-US" sz="1600" i="1" dirty="0">
                <a:solidFill>
                  <a:schemeClr val="accent5"/>
                </a:solidFill>
              </a:rPr>
              <a:t> (sois patient) : radical </a:t>
            </a:r>
            <a:r>
              <a:rPr lang="en-US" sz="1600" i="1" dirty="0">
                <a:solidFill>
                  <a:schemeClr val="accent5"/>
                </a:solidFill>
              </a:rPr>
              <a:t>heb</a:t>
            </a:r>
            <a:r>
              <a:rPr lang="en-US" sz="1600" i="1" dirty="0">
                <a:solidFill>
                  <a:schemeClr val="accent5"/>
                </a:solidFill>
              </a:rPr>
              <a:t> · au téléphone : </a:t>
            </a:r>
            <a:r>
              <a:rPr lang="en-US" sz="1600" i="1" dirty="0">
                <a:solidFill>
                  <a:schemeClr val="accent5"/>
                </a:solidFill>
              </a:rPr>
              <a:t>Hebt u even geduld.</a:t>
            </a:r>
            <a:r>
              <a:rPr lang="en-US" sz="1600" i="1" dirty="0">
                <a:solidFill>
                  <a:schemeClr val="accent5"/>
                </a:solidFill>
              </a:rPr>
              <a:t> · très fréquent : </a:t>
            </a:r>
            <a:r>
              <a:rPr lang="en-US" sz="1600" i="1" dirty="0">
                <a:solidFill>
                  <a:schemeClr val="accent5"/>
                </a:solidFill>
              </a:rPr>
              <a:t>Ga zitten!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viens, venez, venons — une seule forme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av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Venez ! » (à plusieurs)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48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Komen!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7589520" y="260604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46720" y="224028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2402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Kom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1" descr="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Commençons ! »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Beginnen we!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7589520" y="370332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46720" y="333756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83880" y="33375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Laten</a:t>
            </a:r>
            <a:r>
              <a:rPr lang="en-US" sz="2100" i="1" dirty="0">
                <a:solidFill>
                  <a:schemeClr val="tx1"/>
                </a:solidFill>
              </a:rPr>
              <a:t> we </a:t>
            </a:r>
            <a:r>
              <a:rPr lang="en-US" sz="2100" b="1" i="1" dirty="0">
                <a:solidFill>
                  <a:schemeClr val="tx1"/>
                </a:solidFill>
              </a:rPr>
              <a:t>beginnen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Sois prudent ! »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498348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Ben voorzichtig!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7589520" y="480060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8046720" y="443484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83880" y="4434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Wees</a:t>
            </a:r>
            <a:r>
              <a:rPr lang="en-US" sz="2100" i="1" dirty="0">
                <a:solidFill>
                  <a:schemeClr val="tx1"/>
                </a:solidFill>
              </a:rPr>
              <a:t> voorzichtig!</a:t>
            </a:r>
            <a:endParaRPr lang="en-US" sz="21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Laten we…</a:t>
            </a:r>
            <a:r>
              <a:rPr lang="en-US" sz="1700" dirty="0">
                <a:solidFill>
                  <a:schemeClr val="bg1"/>
                </a:solidFill>
              </a:rPr>
              <a:t> = « faisons… » · à l’oral aussi : </a:t>
            </a:r>
            <a:r>
              <a:rPr lang="en-US" sz="1700" i="1" dirty="0">
                <a:solidFill>
                  <a:schemeClr val="bg1"/>
                </a:solidFill>
              </a:rPr>
              <a:t>Kom, we gaan!</a:t>
            </a:r>
            <a:r>
              <a:rPr lang="en-US" sz="1700" dirty="0">
                <a:solidFill>
                  <a:schemeClr val="bg1"/>
                </a:solidFill>
              </a:rPr>
              <a:t> (« Allez, on y va !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phrase à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170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70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5361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le verbe en tête · pas de sujet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Doe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286000" y="205740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057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deur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303520" y="205740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30352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dicht!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205740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286000" y="283464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 morgen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303520" y="283464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3035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terug!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83464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286000" y="361188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even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303520" y="361188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530352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zitten!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361188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infinitif au bout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89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Vergeet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2286000" y="438912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86000" y="4389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badge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5303520" y="438912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0352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niet!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8912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à la fin (M13)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VERBES RÉFLÉCHIS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je!</a:t>
            </a:r>
            <a:r>
              <a:rPr lang="en-US" sz="1900" dirty="0">
                <a:solidFill>
                  <a:schemeClr val="tx1"/>
                </a:solidFill>
              </a:rPr>
              <a:t> (dépêche-toi) · </a:t>
            </a:r>
            <a:r>
              <a:rPr lang="en-US" sz="1900" b="1" i="1" dirty="0">
                <a:solidFill>
                  <a:schemeClr val="accent6"/>
                </a:solidFill>
              </a:rPr>
              <a:t>Kleed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chemeClr val="accent1"/>
                </a:solidFill>
              </a:rPr>
              <a:t>aan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r>
              <a:rPr lang="en-US" sz="1900" dirty="0">
                <a:solidFill>
                  <a:schemeClr val="tx1"/>
                </a:solidFill>
              </a:rPr>
              <a:t> (habille-toi) · avec </a:t>
            </a:r>
            <a:r>
              <a:rPr lang="en-US" sz="1900" i="1" dirty="0">
                <a:solidFill>
                  <a:schemeClr val="tx1"/>
                </a:solidFill>
              </a:rPr>
              <a:t>u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u!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 : l’impératif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JE · informel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5508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U · formel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 binnen.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897880" y="2478024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binnen.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 plaats.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5508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plaats.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 zitten.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897880" y="3794760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35508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zitten.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even.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897880" y="4453128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35508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even.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 aan de lijn.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897880" y="5111496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35508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 aan de lijn.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Formule : radical + </a:t>
            </a:r>
            <a:r>
              <a:rPr lang="en-US" sz="1800" b="1" dirty="0">
                <a:solidFill>
                  <a:schemeClr val="bg1"/>
                </a:solidFill>
              </a:rPr>
              <a:t>t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b="1" dirty="0">
                <a:solidFill>
                  <a:schemeClr val="bg1"/>
                </a:solidFill>
              </a:rPr>
              <a:t>u</a:t>
            </a:r>
            <a:r>
              <a:rPr lang="en-US" sz="1800" dirty="0">
                <a:solidFill>
                  <a:schemeClr val="bg1"/>
                </a:solidFill>
              </a:rPr>
              <a:t> — comme la question </a:t>
            </a:r>
            <a:r>
              <a:rPr lang="en-US" sz="1800" i="1" dirty="0">
                <a:solidFill>
                  <a:schemeClr val="bg1"/>
                </a:solidFill>
              </a:rPr>
              <a:t>Komt u?</a:t>
            </a:r>
            <a:r>
              <a:rPr lang="en-US" sz="1800" dirty="0">
                <a:solidFill>
                  <a:schemeClr val="bg1"/>
                </a:solidFill>
              </a:rPr>
              <a:t>, mais avec un 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892040"/>
            <a:ext cx="2145182" cy="54864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direct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03320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6">
              <a:alpha val="12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703320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zitten!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2785262" y="4507992"/>
            <a:ext cx="2145182" cy="932688"/>
          </a:xfrm>
          <a:prstGeom prst="roundRect">
            <a:avLst>
              <a:gd name="adj" fmla="val 39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4507992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invitation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5262" y="3319272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76702" y="3319272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zitten.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1885" y="4123944"/>
            <a:ext cx="2145182" cy="1316736"/>
          </a:xfrm>
          <a:prstGeom prst="roundRect">
            <a:avLst>
              <a:gd name="adj" fmla="val 277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4123944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poli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1885" y="2935224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13325" y="2935224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Gaat </a:t>
            </a:r>
            <a:r>
              <a:rPr lang="en-US" sz="1700" b="1" i="1" dirty="0">
                <a:solidFill>
                  <a:schemeClr val="tx1"/>
                </a:solidFill>
              </a:rPr>
              <a:t>u</a:t>
            </a:r>
            <a:r>
              <a:rPr lang="en-US" sz="1700" i="1" dirty="0">
                <a:solidFill>
                  <a:schemeClr val="tx1"/>
                </a:solidFill>
              </a:rPr>
              <a:t> zitten,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258507" y="3739896"/>
            <a:ext cx="2145182" cy="1700784"/>
          </a:xfrm>
          <a:prstGeom prst="roundRect">
            <a:avLst>
              <a:gd name="adj" fmla="val 215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3739896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demande (M12)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8507" y="2551176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49947" y="2551176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Kunt u</a:t>
            </a:r>
            <a:r>
              <a:rPr lang="en-US" sz="1700" i="1" dirty="0">
                <a:solidFill>
                  <a:schemeClr val="tx1"/>
                </a:solidFill>
              </a:rPr>
              <a:t> even gaan zitten?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495130" y="3355848"/>
            <a:ext cx="2145182" cy="2084832"/>
          </a:xfrm>
          <a:prstGeom prst="roundRect">
            <a:avLst>
              <a:gd name="adj" fmla="val 17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3355848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⑤ très poli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95130" y="2167128"/>
            <a:ext cx="2145182" cy="1024128"/>
          </a:xfrm>
          <a:prstGeom prst="roundRect">
            <a:avLst>
              <a:gd name="adj" fmla="val 13393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6570" y="2167128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Zou u</a:t>
            </a:r>
            <a:r>
              <a:rPr lang="en-US" sz="1700" i="1" dirty="0">
                <a:solidFill>
                  <a:schemeClr val="tx1"/>
                </a:solidFill>
              </a:rPr>
              <a:t> even willen gaan zitten?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Avec </a:t>
            </a:r>
            <a:r>
              <a:rPr lang="en-US" sz="1700" i="1" dirty="0">
                <a:solidFill>
                  <a:schemeClr val="bg1"/>
                </a:solidFill>
              </a:rPr>
              <a:t>maar, even</a:t>
            </a:r>
            <a:r>
              <a:rPr lang="en-US" sz="1700" dirty="0">
                <a:solidFill>
                  <a:schemeClr val="bg1"/>
                </a:solidFill>
              </a:rPr>
              <a:t> ou </a:t>
            </a:r>
            <a:r>
              <a:rPr lang="en-US" sz="1700" i="1" dirty="0">
                <a:solidFill>
                  <a:schemeClr val="bg1"/>
                </a:solidFill>
              </a:rPr>
              <a:t>alstublieft</a:t>
            </a:r>
            <a:r>
              <a:rPr lang="en-US" sz="1700" dirty="0">
                <a:solidFill>
                  <a:schemeClr val="bg1"/>
                </a:solidFill>
              </a:rPr>
              <a:t>, l’impératif devient une </a:t>
            </a:r>
            <a:r>
              <a:rPr lang="en-US" sz="1700" b="1" dirty="0">
                <a:solidFill>
                  <a:schemeClr val="bg1"/>
                </a:solidFill>
              </a:rPr>
              <a:t>invitation</a:t>
            </a:r>
            <a:r>
              <a:rPr lang="en-US" sz="1700" dirty="0">
                <a:solidFill>
                  <a:schemeClr val="bg1"/>
                </a:solidFill>
              </a:rPr>
              <a:t>. À l’accueil, la marche ③ suffit.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petits mots qui adoucissent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rapidement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7944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944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44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041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687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041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Zeg het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040173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40173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40173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5149901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(essaie) donc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14493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149901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Probeer het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285939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85939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85939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gerust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395667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n’hésite pas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560259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95667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Bel me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Vraag het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317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5317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317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alstublieft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6414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s’il vous plaît (u) · </a:t>
            </a:r>
            <a:r>
              <a:rPr lang="en-US" sz="1400" i="1" dirty="0">
                <a:solidFill>
                  <a:schemeClr val="accent5"/>
                </a:solidFill>
              </a:rPr>
              <a:t>alsjeblieft</a:t>
            </a:r>
            <a:r>
              <a:rPr lang="en-US" sz="1400" i="1" dirty="0">
                <a:solidFill>
                  <a:schemeClr val="accent5"/>
                </a:solidFill>
              </a:rPr>
              <a:t> (je)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8060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14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Sluit de deur,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35" name="Image 0" descr="can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86868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Ils se placent juste après le verbe, ou après le pronom : </a:t>
            </a:r>
            <a:r>
              <a:rPr lang="en-US" sz="1500" i="1" dirty="0">
                <a:solidFill>
                  <a:schemeClr val="accent5"/>
                </a:solidFill>
              </a:rPr>
              <a:t>Kom </a:t>
            </a:r>
            <a:r>
              <a:rPr lang="en-US" sz="1500" b="1" i="1" dirty="0">
                <a:solidFill>
                  <a:schemeClr val="accent5"/>
                </a:solidFill>
              </a:rPr>
              <a:t>maar</a:t>
            </a:r>
            <a:r>
              <a:rPr lang="en-US" sz="1500" i="1" dirty="0">
                <a:solidFill>
                  <a:schemeClr val="accent5"/>
                </a:solidFill>
              </a:rPr>
              <a:t> binnen · Bel me </a:t>
            </a:r>
            <a:r>
              <a:rPr lang="en-US" sz="1500" b="1" i="1" dirty="0">
                <a:solidFill>
                  <a:schemeClr val="accent5"/>
                </a:solidFill>
              </a:rPr>
              <a:t>gerust</a:t>
            </a:r>
            <a:r>
              <a:rPr lang="en-US" sz="1500" i="1" dirty="0">
                <a:solidFill>
                  <a:schemeClr val="accent5"/>
                </a:solidFill>
              </a:rPr>
              <a:t>. </a:t>
            </a:r>
            <a:r>
              <a:rPr lang="en-US" sz="1500" i="1" dirty="0">
                <a:solidFill>
                  <a:schemeClr val="accent5"/>
                </a:solidFill>
              </a:rPr>
              <a:t>Zeg het maar</a:t>
            </a:r>
            <a:r>
              <a:rPr lang="en-US" sz="1500" i="1" dirty="0">
                <a:solidFill>
                  <a:schemeClr val="accent5"/>
                </a:solidFill>
              </a:rPr>
              <a:t> = « je vous écoute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panneaux parlent à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17556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7732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o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638" y="17556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500884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TREKKEN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306824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730" y="17556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79976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85916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55648"/>
            <a:ext cx="914400" cy="914400"/>
          </a:xfrm>
          <a:prstGeom prst="rect">
            <a:avLst/>
          </a:prstGeom>
        </p:spPr>
      </p:pic>
      <p:pic>
        <p:nvPicPr>
          <p:cNvPr id="16" name="Image 4" descr="B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02" y="1709928"/>
            <a:ext cx="1005840" cy="10058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259068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NIET PARKEREN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8065008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14" y="1755648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138160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1" name="Shape 12"/>
          <p:cNvSpPr/>
          <p:nvPr/>
        </p:nvSpPr>
        <p:spPr>
          <a:xfrm>
            <a:off x="994410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6" descr="so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1755648"/>
            <a:ext cx="914400" cy="9144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1001725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HANDEN WASSEN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548640" y="3840480"/>
            <a:ext cx="11091672" cy="2423160"/>
          </a:xfrm>
          <a:prstGeom prst="roundRect">
            <a:avLst>
              <a:gd name="adj" fmla="val 3019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731520" y="4005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822960" y="43434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</a:t>
            </a:r>
            <a:r>
              <a:rPr lang="en-US" sz="1900" b="1" dirty="0">
                <a:solidFill>
                  <a:schemeClr val="tx1"/>
                </a:solidFill>
              </a:rPr>
              <a:t>Poussez</a:t>
            </a:r>
            <a:r>
              <a:rPr lang="en-US" sz="1900" dirty="0">
                <a:solidFill>
                  <a:schemeClr val="tx1"/>
                </a:solidFill>
              </a:rPr>
              <a:t> / Tirez » · « Ne pas fumer » → à l’écrit, l’</a:t>
            </a:r>
            <a:r>
              <a:rPr lang="en-US" sz="1900" b="1" dirty="0">
                <a:solidFill>
                  <a:schemeClr val="tx1"/>
                </a:solidFill>
              </a:rPr>
              <a:t>infinitif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Duwen · Trekken · Niet roken · Niet storen</a:t>
            </a:r>
            <a:endParaRPr lang="en-US" sz="1900" dirty="0"/>
          </a:p>
        </p:txBody>
      </p:sp>
      <p:pic>
        <p:nvPicPr>
          <p:cNvPr id="27" name="Image 7" descr="Arrow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777240" y="5376672"/>
            <a:ext cx="10634472" cy="786384"/>
          </a:xfrm>
          <a:prstGeom prst="roundRect">
            <a:avLst>
              <a:gd name="adj" fmla="val 930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914400" y="5376672"/>
            <a:ext cx="10360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à une personne : </a:t>
            </a:r>
            <a:r>
              <a:rPr lang="en-US" sz="1900" b="1" i="1" dirty="0">
                <a:solidFill>
                  <a:schemeClr val="accent6"/>
                </a:solidFill>
              </a:rPr>
              <a:t>Rook</a:t>
            </a:r>
            <a:r>
              <a:rPr lang="en-US" sz="1900" i="1" dirty="0">
                <a:solidFill>
                  <a:schemeClr val="tx1"/>
                </a:solidFill>
              </a:rPr>
              <a:t> hier niet, alstublieft.</a:t>
            </a:r>
            <a:r>
              <a:rPr lang="en-US" sz="1900" dirty="0">
                <a:solidFill>
                  <a:schemeClr val="tx1"/>
                </a:solidFill>
              </a:rPr>
              <a:t> (impératif)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mode d’emploi : la photocopieuse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pic>
        <p:nvPicPr>
          <p:cNvPr id="8" name="Image 0" descr="page facing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724" y="196596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tx1"/>
                </a:solidFill>
              </a:rPr>
              <a:t> het document op de glasplaat.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3118104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3401568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8728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87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1" descr="input nu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52" y="1965960"/>
            <a:ext cx="1188720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8728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Kies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 het aantal kopieën.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971032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254496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656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pic>
        <p:nvPicPr>
          <p:cNvPr id="20" name="Image 2" descr="green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965960"/>
            <a:ext cx="1188720" cy="11887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Druk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tx1"/>
                </a:solidFill>
              </a:rPr>
              <a:t> op de groene knop.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8823960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107424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4458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508" y="1965960"/>
            <a:ext cx="1188720" cy="11887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4584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Neem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i="1" dirty="0">
                <a:solidFill>
                  <a:schemeClr val="tx1"/>
                </a:solidFill>
              </a:rPr>
              <a:t> je document </a:t>
            </a:r>
            <a:r>
              <a:rPr lang="en-US" sz="1900" b="1" i="1" dirty="0">
                <a:solidFill>
                  <a:schemeClr val="accent1"/>
                </a:solidFill>
              </a:rPr>
              <a:t>mee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dirty="0">
                <a:solidFill>
                  <a:schemeClr val="bg1"/>
                </a:solidFill>
              </a:rPr>
              <a:t> se placent juste </a:t>
            </a:r>
            <a:r>
              <a:rPr lang="en-US" sz="1900" b="1" dirty="0">
                <a:solidFill>
                  <a:schemeClr val="bg1"/>
                </a:solidFill>
              </a:rPr>
              <a:t>après le verbe</a:t>
            </a:r>
            <a:r>
              <a:rPr lang="en-US" sz="1900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Indiquer le chemin dans le bâtiment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76072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0871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2598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0317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7170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52044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9763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7630" y="18105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6616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203 · 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1490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9209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6062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204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3152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0871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1" descr="elev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" y="443484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7724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lift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212598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50317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17170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205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52044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89763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30" y="44348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56616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keuken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29209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3" descr="rest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4434840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96062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toilet</a:t>
            </a:r>
            <a:endParaRPr lang="en-US" sz="1200" dirty="0"/>
          </a:p>
        </p:txBody>
      </p:sp>
      <p:pic>
        <p:nvPicPr>
          <p:cNvPr id="36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487522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70432" y="331744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60120" y="3652114"/>
            <a:ext cx="3166110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4126230" y="3180283"/>
            <a:ext cx="914" cy="471830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6583680" y="16642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ArrowU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1784909"/>
            <a:ext cx="261518" cy="2615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69480" y="162763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rechtdoor.</a:t>
            </a:r>
            <a:endParaRPr lang="en-US" sz="1900" dirty="0"/>
          </a:p>
        </p:txBody>
      </p:sp>
      <p:sp>
        <p:nvSpPr>
          <p:cNvPr id="43" name="Shape 3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6" descr="ArrowLe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381" y="2452421"/>
            <a:ext cx="261518" cy="26151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269480" y="2295144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links.</a:t>
            </a:r>
            <a:endParaRPr lang="en-US" sz="1900" dirty="0"/>
          </a:p>
        </p:txBody>
      </p:sp>
      <p:sp>
        <p:nvSpPr>
          <p:cNvPr id="46" name="Shape 36"/>
          <p:cNvSpPr/>
          <p:nvPr/>
        </p:nvSpPr>
        <p:spPr>
          <a:xfrm>
            <a:off x="6583680" y="299923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7" descr="Arrow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4381" y="3119933"/>
            <a:ext cx="261518" cy="26151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69480" y="2962656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rechts.</a:t>
            </a:r>
            <a:endParaRPr lang="en-US" sz="1900" dirty="0"/>
          </a:p>
        </p:txBody>
      </p:sp>
      <p:sp>
        <p:nvSpPr>
          <p:cNvPr id="49" name="Shape 38"/>
          <p:cNvSpPr/>
          <p:nvPr/>
        </p:nvSpPr>
        <p:spPr>
          <a:xfrm>
            <a:off x="6583680" y="366674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8" descr="LevelUp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4381" y="3787445"/>
            <a:ext cx="261518" cy="261518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269480" y="3630168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Neem de lift / de trap.</a:t>
            </a:r>
            <a:endParaRPr lang="en-US" sz="1900" dirty="0"/>
          </a:p>
        </p:txBody>
      </p:sp>
      <p:sp>
        <p:nvSpPr>
          <p:cNvPr id="52" name="Shape 40"/>
          <p:cNvSpPr/>
          <p:nvPr/>
        </p:nvSpPr>
        <p:spPr>
          <a:xfrm>
            <a:off x="6583680" y="433425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9" descr="Build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4381" y="4454957"/>
            <a:ext cx="261518" cy="261518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269480" y="4297680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de tweede verdieping.</a:t>
            </a:r>
            <a:endParaRPr lang="en-US" sz="1900" dirty="0"/>
          </a:p>
        </p:txBody>
      </p:sp>
      <p:sp>
        <p:nvSpPr>
          <p:cNvPr id="55" name="Shape 42"/>
          <p:cNvSpPr/>
          <p:nvPr/>
        </p:nvSpPr>
        <p:spPr>
          <a:xfrm>
            <a:off x="6583680" y="500176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0" descr="DoorOp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4381" y="5122469"/>
            <a:ext cx="261518" cy="261518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69480" y="496519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de derde deur links.</a:t>
            </a:r>
            <a:endParaRPr lang="en-US" sz="1900" dirty="0"/>
          </a:p>
        </p:txBody>
      </p:sp>
      <p:sp>
        <p:nvSpPr>
          <p:cNvPr id="58" name="Text 44"/>
          <p:cNvSpPr txBox="1"/>
          <p:nvPr/>
        </p:nvSpPr>
        <p:spPr>
          <a:xfrm>
            <a:off x="548640" y="57790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Dans la rue : </a:t>
            </a:r>
            <a:r>
              <a:rPr lang="en-US" sz="1500" i="1" dirty="0">
                <a:solidFill>
                  <a:schemeClr val="accent5"/>
                </a:solidFill>
              </a:rPr>
              <a:t>Sla linksaf / rechtsaf.</a:t>
            </a:r>
            <a:r>
              <a:rPr lang="en-US" sz="1500" i="1" dirty="0">
                <a:solidFill>
                  <a:schemeClr val="accent5"/>
                </a:solidFill>
              </a:rPr>
              <a:t> · </a:t>
            </a:r>
            <a:r>
              <a:rPr lang="en-US" sz="1500" i="1" dirty="0">
                <a:solidFill>
                  <a:schemeClr val="accent5"/>
                </a:solidFill>
              </a:rPr>
              <a:t>het gelijkvloers</a:t>
            </a:r>
            <a:r>
              <a:rPr lang="en-US" sz="1500" i="1" dirty="0">
                <a:solidFill>
                  <a:schemeClr val="accent5"/>
                </a:solidFill>
              </a:rPr>
              <a:t> (BE) = </a:t>
            </a:r>
            <a:r>
              <a:rPr lang="en-US" sz="1500" i="1" dirty="0">
                <a:solidFill>
                  <a:schemeClr val="accent5"/>
                </a:solidFill>
              </a:rPr>
              <a:t>de begane grond</a:t>
            </a:r>
            <a:r>
              <a:rPr lang="en-US" sz="1500" i="1" dirty="0">
                <a:solidFill>
                  <a:schemeClr val="accent5"/>
                </a:solidFill>
              </a:rPr>
              <a:t> (NL) = le rez-de-chaussée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radical</a:t>
            </a:r>
            <a:r>
              <a:rPr lang="en-US" sz="1800" dirty="0">
                <a:solidFill>
                  <a:schemeClr val="tx1"/>
                </a:solidFill>
              </a:rPr>
              <a:t> (M3, M4)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Werk! Lees! Blijf!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⭐ </a:t>
            </a:r>
            <a:r>
              <a:rPr lang="en-US" sz="1800" i="1" dirty="0">
                <a:solidFill>
                  <a:schemeClr val="tx1"/>
                </a:solidFill>
              </a:rPr>
              <a:t>zijn → </a:t>
            </a:r>
            <a:r>
              <a:rPr lang="en-US" sz="1800" b="1" i="1" dirty="0">
                <a:solidFill>
                  <a:schemeClr val="tx1"/>
                </a:solidFill>
              </a:rPr>
              <a:t>Wees!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99632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575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95744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Adoucir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even, maar, eens, gerust, alstublieft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poli : radical + </a:t>
            </a:r>
            <a:r>
              <a:rPr lang="en-US" sz="1800" b="1" dirty="0">
                <a:solidFill>
                  <a:schemeClr val="tx1"/>
                </a:solidFill>
              </a:rPr>
              <a:t>t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u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Komt u binnen.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3257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Placer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</a:t>
            </a:r>
            <a:r>
              <a:rPr lang="en-US" sz="1800" b="1" dirty="0">
                <a:solidFill>
                  <a:schemeClr val="tx1"/>
                </a:solidFill>
              </a:rPr>
              <a:t>en tête</a:t>
            </a:r>
            <a:r>
              <a:rPr lang="en-US" sz="1800" dirty="0">
                <a:solidFill>
                  <a:schemeClr val="tx1"/>
                </a:solidFill>
              </a:rPr>
              <a:t>, pas de sujet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particule au bout (M11)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Doe de deur </a:t>
            </a:r>
            <a:r>
              <a:rPr lang="en-US" sz="1800" b="1" i="1" dirty="0">
                <a:solidFill>
                  <a:schemeClr val="tx1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dicht!</a:t>
            </a:r>
            <a:r>
              <a:rPr lang="en-US" sz="1800" dirty="0">
                <a:solidFill>
                  <a:schemeClr val="tx1"/>
                </a:solidFill>
              </a:rPr>
              <a:t> (M13)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199632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82512" y="4096512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575" y="4232575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95744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Écrire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panneaux : l’</a:t>
            </a:r>
            <a:r>
              <a:rPr lang="en-US" sz="1800" b="1" dirty="0">
                <a:solidFill>
                  <a:schemeClr val="tx1"/>
                </a:solidFill>
              </a:rPr>
              <a:t>infinitif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Niet roken · Duwen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Faisons… » = </a:t>
            </a:r>
            <a:r>
              <a:rPr lang="en-US" sz="1800" b="1" i="1" dirty="0">
                <a:solidFill>
                  <a:schemeClr val="tx1"/>
                </a:solidFill>
              </a:rPr>
              <a:t>Laten we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endParaRPr lang="en-US" sz="1800" dirty="0"/>
          </a:p>
        </p:txBody>
      </p:sp>
      <p:pic>
        <p:nvPicPr>
          <p:cNvPr id="25" name="Image 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ordres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poli, s’il vous plaît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 panneau à la phrase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ist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mode d’emploi en désordre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GPS humain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premier jour de Lotte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76" name="Shape 72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9" name="Shape 75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75888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Werk!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75888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Luister!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75888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Lees!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75888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Schrijf!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5888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Stop!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75888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Wacht!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326880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Wees voorzichtig!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326880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Ga!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326880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Bel de klant </a:t>
            </a:r>
            <a:r>
              <a:rPr lang="en-US" sz="1800" b="1" i="1" dirty="0">
                <a:solidFill>
                  <a:schemeClr val="accent1"/>
                </a:solidFill>
              </a:rPr>
              <a:t>op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76" name="Shape 7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326880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Blijf!</a:t>
            </a:r>
            <a:endParaRPr lang="en-US" sz="1800" dirty="0"/>
          </a:p>
        </p:txBody>
      </p:sp>
      <p:sp>
        <p:nvSpPr>
          <p:cNvPr id="79" name="Shape 75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4" name="Shape 80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9326880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Geef!</a:t>
            </a:r>
            <a:endParaRPr lang="en-US" sz="1800" dirty="0"/>
          </a:p>
        </p:txBody>
      </p:sp>
      <p:sp>
        <p:nvSpPr>
          <p:cNvPr id="86" name="Shape 82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88" name="Shape 84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90" name="Shape 86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326880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Neem je laptop </a:t>
            </a:r>
            <a:r>
              <a:rPr lang="en-US" sz="1800" b="1" i="1" dirty="0">
                <a:solidFill>
                  <a:schemeClr val="accent1"/>
                </a:solidFill>
              </a:rPr>
              <a:t>mee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19781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u even, alstublieft.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270459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Komt u maar binnen.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343103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Gaat u zitten, alstublieft.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715000" y="415747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Tekent u hier, alstublieft.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15000" y="488391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Belt u morgen gerust terug.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715000" y="56103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Vult u het formulier even in, alstublieft.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4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9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2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7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0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5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36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38" name="Shape 26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9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0" name="Shape 27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0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4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46" name="Shape 32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7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2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54" name="Shape 38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5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56" name="Shape 39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2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5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09360" y="19781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Rook hier niet!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1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09360" y="270459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Duw!</a:t>
            </a:r>
            <a:endParaRPr lang="en-US" sz="2000" dirty="0"/>
          </a:p>
        </p:txBody>
      </p:sp>
      <p:sp>
        <p:nvSpPr>
          <p:cNvPr id="27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0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32" name="Shape 23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3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309360" y="343103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Stoor me niet!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9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40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42" name="Shape 30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3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6309360" y="415747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Parkeer hier niet!</a:t>
            </a:r>
            <a:endParaRPr lang="en-US" sz="2000" dirty="0"/>
          </a:p>
        </p:txBody>
      </p:sp>
      <p:sp>
        <p:nvSpPr>
          <p:cNvPr id="46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9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51" name="Shape 37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2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6309360" y="488391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Was je handen!</a:t>
            </a:r>
            <a:endParaRPr lang="en-US" sz="2000" dirty="0"/>
          </a:p>
        </p:txBody>
      </p:sp>
      <p:sp>
        <p:nvSpPr>
          <p:cNvPr id="55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7" name="Shape 42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8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60" name="Shape 44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61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62" name="Shape 45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309360" y="56103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Sluit de deur!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pic>
        <p:nvPicPr>
          <p:cNvPr id="23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6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885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60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732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037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pic>
        <p:nvPicPr>
          <p:cNvPr id="29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4492752"/>
            <a:ext cx="3044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Puis reliez avec :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accent5"/>
                </a:solidFill>
              </a:rPr>
              <a:t>Doe </a:t>
            </a:r>
            <a:r>
              <a:rPr lang="en-US" sz="1500" b="1" i="1" dirty="0">
                <a:solidFill>
                  <a:schemeClr val="accent1"/>
                </a:solidFill>
              </a:rPr>
              <a:t>eerst</a:t>
            </a:r>
            <a:r>
              <a:rPr lang="en-US" sz="1500" b="1" i="1" dirty="0">
                <a:solidFill>
                  <a:schemeClr val="accent5"/>
                </a:solidFill>
              </a:rPr>
              <a:t>… Zet </a:t>
            </a:r>
            <a:r>
              <a:rPr lang="en-US" sz="1500" b="1" i="1" dirty="0">
                <a:solidFill>
                  <a:schemeClr val="accent1"/>
                </a:solidFill>
              </a:rPr>
              <a:t>dan</a:t>
            </a:r>
            <a:r>
              <a:rPr lang="en-US" sz="1500" b="1" i="1" dirty="0">
                <a:solidFill>
                  <a:schemeClr val="accent5"/>
                </a:solidFill>
              </a:rPr>
              <a:t>… Kies </a:t>
            </a:r>
            <a:r>
              <a:rPr lang="en-US" sz="1500" b="1" i="1" dirty="0">
                <a:solidFill>
                  <a:schemeClr val="accent1"/>
                </a:solidFill>
              </a:rPr>
              <a:t>daarna</a:t>
            </a:r>
            <a:r>
              <a:rPr lang="en-US" sz="1500" b="1" i="1" dirty="0">
                <a:solidFill>
                  <a:schemeClr val="accent5"/>
                </a:solidFill>
              </a:rPr>
              <a:t>… Druk </a:t>
            </a:r>
            <a:r>
              <a:rPr lang="en-US" sz="1500" b="1" i="1" dirty="0">
                <a:solidFill>
                  <a:schemeClr val="accent1"/>
                </a:solidFill>
              </a:rPr>
              <a:t>tot slot</a:t>
            </a:r>
            <a:r>
              <a:rPr lang="en-US" sz="1500" b="1" i="1" dirty="0">
                <a:solidFill>
                  <a:schemeClr val="accent5"/>
                </a:solidFill>
              </a:rPr>
              <a:t>…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(2 et 3 peuvent s’inverser)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dirty="0">
                <a:solidFill>
                  <a:schemeClr val="tx1"/>
                </a:solidFill>
              </a:rPr>
              <a:t>Komt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dirty="0">
                <a:solidFill>
                  <a:schemeClr val="tx1"/>
                </a:solidFill>
              </a:rPr>
              <a:t>Ben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dirty="0">
                <a:solidFill>
                  <a:schemeClr val="tx1"/>
                </a:solidFill>
              </a:rPr>
              <a:t>Doe dicht de deur van het archief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dirty="0">
                <a:solidFill>
                  <a:schemeClr val="tx1"/>
                </a:solidFill>
              </a:rPr>
              <a:t>Vergeet niet je wachtwoord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dirty="0">
                <a:solidFill>
                  <a:schemeClr val="tx1"/>
                </a:solidFill>
              </a:rPr>
              <a:t>Lezen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1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strike="sngStrike" dirty="0">
                <a:solidFill>
                  <a:schemeClr val="accent6"/>
                </a:solidFill>
              </a:rPr>
              <a:t>Komt</a:t>
            </a:r>
            <a:r>
              <a:rPr lang="en-US" sz="2000" b="1" i="1" dirty="0">
                <a:solidFill>
                  <a:schemeClr val="accent3"/>
                </a:solidFill>
              </a:rPr>
              <a:t> Kom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strike="sngStrike" dirty="0">
                <a:solidFill>
                  <a:schemeClr val="accent6"/>
                </a:solidFill>
              </a:rPr>
              <a:t>Ben</a:t>
            </a:r>
            <a:r>
              <a:rPr lang="en-US" sz="2000" b="1" i="1" dirty="0">
                <a:solidFill>
                  <a:schemeClr val="accent3"/>
                </a:solidFill>
              </a:rPr>
              <a:t> Wees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strike="sngStrike" dirty="0">
                <a:solidFill>
                  <a:schemeClr val="accent6"/>
                </a:solidFill>
              </a:rPr>
              <a:t>Doe dicht de deur van het archief</a:t>
            </a:r>
            <a:r>
              <a:rPr lang="en-US" sz="2000" b="1" i="1" dirty="0">
                <a:solidFill>
                  <a:schemeClr val="accent3"/>
                </a:solidFill>
              </a:rPr>
              <a:t> Doe de deur van het archief dicht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strike="sngStrike" dirty="0">
                <a:solidFill>
                  <a:schemeClr val="accent6"/>
                </a:solidFill>
              </a:rPr>
              <a:t>Vergeet niet je wachtwoord</a:t>
            </a:r>
            <a:r>
              <a:rPr lang="en-US" sz="2000" b="1" i="1" dirty="0">
                <a:solidFill>
                  <a:schemeClr val="accent3"/>
                </a:solidFill>
              </a:rPr>
              <a:t> Vergeet je wachtwoord niet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strike="sngStrike" dirty="0">
                <a:solidFill>
                  <a:schemeClr val="accent6"/>
                </a:solidFill>
              </a:rPr>
              <a:t>Lezen</a:t>
            </a:r>
            <a:r>
              <a:rPr lang="en-US" sz="2000" b="1" i="1" dirty="0">
                <a:solidFill>
                  <a:schemeClr val="accent3"/>
                </a:solidFill>
              </a:rPr>
              <a:t> Lees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Neem je laptop mee · log in · vraag het gerust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GPS humain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466344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115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8105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 · keuken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317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117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18105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3774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 · vergaderzaal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9319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4119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restro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1051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776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 · toilet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5321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121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180" y="181051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778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· printer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315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2115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818888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72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· lift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23317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28117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23774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39319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4119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wo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980" y="4818888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9776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6 · kantoor An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55321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0121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5778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pic>
        <p:nvPicPr>
          <p:cNvPr id="3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813962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170432" y="35862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pic>
        <p:nvPicPr>
          <p:cNvPr id="41" name="Image 7" descr="stop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0" y="1600200"/>
            <a:ext cx="822960" cy="82296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66760" y="160020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ga ik naartoe?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452360" y="2514600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A choisit une destination en secret.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A guide B depuis l’entrée ; B suit le chemin du doigt.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B devine : </a:t>
            </a:r>
            <a:r>
              <a:rPr lang="en-US" sz="1600" i="1" dirty="0">
                <a:solidFill>
                  <a:schemeClr val="tx1"/>
                </a:solidFill>
              </a:rPr>
              <a:t>Is het de keuken?</a:t>
            </a:r>
            <a:endParaRPr lang="en-US" sz="1600" dirty="0"/>
          </a:p>
        </p:txBody>
      </p:sp>
      <p:sp>
        <p:nvSpPr>
          <p:cNvPr id="44" name="Shape 33"/>
          <p:cNvSpPr/>
          <p:nvPr/>
        </p:nvSpPr>
        <p:spPr>
          <a:xfrm>
            <a:off x="7452360" y="4343400"/>
            <a:ext cx="418795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6352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635240" y="47091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Ga rechtdoor. · Ga naar links / rechts. · Neem de lift. · Het is de eerste / tweede deur links / rechts.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premier jour de Lotte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commence son stage chez Peeters &amp; Co. Sofie lui fait visiter les lieux et lui donne les consignes.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accueillez Lotte, montrez-lui les lieux et donnez </a:t>
            </a:r>
            <a:r>
              <a:rPr lang="en-US" sz="1700" b="1" dirty="0">
                <a:solidFill>
                  <a:schemeClr val="tx1"/>
                </a:solidFill>
              </a:rPr>
              <a:t>5 consignes</a:t>
            </a:r>
            <a:r>
              <a:rPr lang="en-US" sz="1700" dirty="0">
                <a:solidFill>
                  <a:schemeClr val="tx1"/>
                </a:solidFill>
              </a:rPr>
              <a:t> de la checklist.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Waar is…? Hoe werkt…? Mag ik…?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Kom maar binnen! · Neem plaats. · Hier is je badge: verlies hem niet! · Log in met je naam. · Neem de lift naar de tweede verdieping. · Vraag het gerust aan An. · Laten we koffie gaan drinken!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CHECKLIST EERSTE WERKDAG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57032" y="223113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3" name="Image 0" descr="identification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2" y="2157984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17152" y="21214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badge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257032" y="2813739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6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2740587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217152" y="2704011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laptop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257032" y="339634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3323191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217152" y="328661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wachtwoord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257032" y="397894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3905794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217152" y="386921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koffiemachine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257032" y="456155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5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4488398"/>
            <a:ext cx="438912" cy="43891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17152" y="445182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printer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8257032" y="514415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8" name="Image 5" descr="person runn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5071001"/>
            <a:ext cx="438912" cy="43891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217152" y="503442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nooduitgang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8257032" y="5726757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41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8512" y="5653605"/>
            <a:ext cx="438912" cy="4389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17152" y="561702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L’impératif de </a:t>
            </a:r>
            <a:r>
              <a:rPr lang="en-US" sz="2000" i="1" dirty="0">
                <a:solidFill>
                  <a:schemeClr val="tx1"/>
                </a:solidFill>
              </a:rPr>
              <a:t>zijn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voorzichtig</a:t>
            </a:r>
            <a:r>
              <a:rPr lang="en-US" sz="2000" dirty="0">
                <a:solidFill>
                  <a:schemeClr val="tx1"/>
                </a:solidFill>
              </a:rPr>
              <a:t>) ? de </a:t>
            </a:r>
            <a:r>
              <a:rPr lang="en-US" sz="2000" i="1" dirty="0">
                <a:solidFill>
                  <a:schemeClr val="tx1"/>
                </a:solidFill>
              </a:rPr>
              <a:t>opbellen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de klant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poli, avec </a:t>
            </a:r>
            <a:r>
              <a:rPr lang="en-US" sz="2000" i="1" dirty="0">
                <a:solidFill>
                  <a:schemeClr val="tx1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dit-on « Commençons ! »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Adoucir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Guider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Ke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Zitten, staan, liggen, hangen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ligt mijn sleutel?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De gebiedende wijs — L’impératif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2026-10-04T12:12:22Z</dcterms:created>
  <dcterms:modified xsi:type="dcterms:W3CDTF">2026-10-04T12:12:22Z</dcterms:modified>
</cp:coreProperties>
</file>