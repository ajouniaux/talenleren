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96beed0f-aaef-59fa-f3d1-41455c9c6721}">
          <p14:sldIdLst>
            <p14:sldId id="256"/>
          </p14:sldIdLst>
        </p14:section>
        <p14:section name="Découvrir" id="{8b086f4b-02a9-963d-c107-0f58f1e91f42}">
          <p14:sldIdLst>
            <p14:sldId id="257"/>
            <p14:sldId id="258"/>
            <p14:sldId id="259"/>
          </p14:sldIdLst>
        </p14:section>
        <p14:section name="Comprendre" id="{9d056a6e-7cd6-0460-5a5b-907f54567796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f561860f-ef82-db4c-5fec-d0d02317444c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269796e6-b97c-c6b5-d2f2-c533b8522c9b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avec une image : des mots qui s'emboîtent comme des Lego.
Question d'entrée : « Comment dit-on salle de réunion ? Et dans quel ordre ? » Le néerlandais colle les mots, et à l'envers du français.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Avec 500 mots de base, on en comprend des milliers : c'est la stratégie la plus rentable du vocabulaire néerlandais.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deviner le sens de mots composés transparents (et drôles).
Faites deviner avant de révéler. Le côté imagé (« chaussure de main ») aide à mémoriser. ziekenhuis et brievenbus montrent un petit lien -en-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Faire deviner le sens de mots composés transparents (et drôles).
Faites deviner avant de révéler. Le côté imagé (« chaussure de main ») aide à mémoriser. ziekenhuis et brievenbus montrent un petit lien -en-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que le dernier élément donne le sens principal et l'article.
Rappel du M5 (diapo « mots composés »). Le premier mot précise : une kantoordeur est une porte (pas un bureau).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4 types de composés (archive diapo 4, classement corrigé).
Correction de l'archive : vliegtuig et knipbeurt (une coupe de cheveux) sont des « radical + nom ». Le radical s'obtient comme au M3 (eten → eet).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Neutraliser le calque de l'ordre français.
Deux erreurs typiques : l'ordre français et l'écriture en deux mots (influence de l'anglais). de identiteitskaart = la carte d'identité belge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éléments de liaison (sans les produire systématiquement).
En A1, on apprend ces mots tels quels. -en- ressemble souvent au pluriel (boeken + kast). de arbeidsovereenkomst (le contrat de travail) est utile au bureau.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les diminutifs les plus fréquents (approfondit M5 : -je = het).
Les diminutifs figés sont très fréquents : een kopje koffie, een broodje, een biertje, even een momentje. Le diminutif exprime aussi l'affection (mijn zusje).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Dériver des noms d'action et de personne à partir d'un verbe.
Lien M5 : -ing fait partie des familles DE. La consonne se double si la voyelle est courte (bakken → bakker), règle du M1. Lien M2 : les métiers (bakker, schrijver, verpleger).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trois suffixes et préfixes très productifs.
werkloos vient du M2 (Ik ben werkloos). Gezondheid! = « À tes souhaits ! » (après un éternuement) : effet garanti en classe.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une méthode de lecture et de compréhension (lien avec la méthode de lecture du M1).
Défi : le mot composé le plus long que la classe connaît. La note de la diapo 20 propose une version jeu.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Montrer que le découpage aide, mais ne remplace pas le dictionnaire.
stof = la poussière et le tissu ; schoon = propre, mais aussi « beau » dans les noms de famille par alliance (schoonmoeder, schoonzus) : le contexte tranche. Encouragez l'usage d'un dictionnaire en ligne (Van Dale, woorden.org).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Référence pour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Les exercices 5 et 6 peuvent être joués en équipes, en fin de séance.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Assembler des mots composés.
N° 7 : parkeer est le radical de parkeren. de tandarts = le dentiste. Acceptez aussi 3d vergaderkamer et 4g wachtzaal (le mot usuel en Belgique).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Assembler des mots composés.
N° 7 : parkeer est le radical de parkeren. de tandarts = le dentiste. Acceptez aussi 3d vergaderkamer et 4g wachtzaal (le mot usuel en Belgique).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Trouver l'article grâce au dernier mot (lien M5).
Aucun calcul : seul le dernier article compte. het telefoonnummer est utile pour les formulaires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Trouver l'article grâce au dernier mot (lien M5).
Aucun calcul : seul le dernier article compte. het telefoonnummer est utile pour les formulaires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bonne terminaison du diminutif.
N° 5 : het broodje = le petit pain (sandwich belge), un incontournable du midi. Tous deviennent 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bonne terminaison du diminutif.
N° 5 : het broodje = le petit pain (sandwich belge), un incontournable du midi. Tous deviennent 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un composé à partir du français (ordre inversé).
Avec un verbe, on garde le radical (wacht-, parkeer-, vergader-). En Belgique, on dit aussi het appelsiensap (appelsien = orange).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Construire un composé à partir du français (ordre inversé).
Avec un verbe, on garde le radical (wacht-, parkeer-, vergader-). En Belgique, on dit aussi het appelsiensap (appelsien = orange).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Explorer une famille de mots (carte mentale collective).
werknemer (celui qui « prend » le travail = l'employé) ≠ werkgever (celui qui le « donne » = l'employeur). het werkwoord = le verbe (« mot de travail ») : un mot du métier d'apprenant ! Variante : huis, school, koffie.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Explorer une famille de mots (carte mentale collective).
werknemer (celui qui « prend » le travail = l'employé) ≠ werkgever (celui qui le « donne » = l'employeur). het werkwoord = le verbe (« mot de travail ») : un mot du métier d'apprenant ! Variante : huis, school, koffie.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Jeu d'équipe : construire des composés longs et corrects.
L'article du mot final est celui du dernier bloc : het vergaderzaalsleutelkastje (-je = het). Demandez à chaque équipe de traduire son mot de droite à gauche.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Le parking à vélos.
2. het schoolgebouw.
3. het balletje.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14 · Woordvorming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14 · Woordvorming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14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Woordvorming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La formation des mots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vergader + zaal = de vergaderzaal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67816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706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6312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1828800"/>
            <a:ext cx="2377440" cy="822960"/>
          </a:xfrm>
          <a:prstGeom prst="roundRect">
            <a:avLst>
              <a:gd name="adj" fmla="val 5556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0" y="18288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0708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80236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23960" y="1828800"/>
            <a:ext cx="1463040" cy="822960"/>
          </a:xfrm>
          <a:prstGeom prst="roundRect">
            <a:avLst>
              <a:gd name="adj" fmla="val 5556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23960" y="18288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2400" dirty="0"/>
          </a:p>
        </p:txBody>
      </p:sp>
      <p:pic>
        <p:nvPicPr>
          <p:cNvPr id="14" name="Image 0" descr="busts in silhou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1600200"/>
            <a:ext cx="1097280" cy="109728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321040" y="2880360"/>
            <a:ext cx="914" cy="59436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6400800" y="3611880"/>
            <a:ext cx="5212080" cy="109728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400800" y="361188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r>
              <a:rPr lang="en-US" sz="3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</a:t>
            </a: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r>
              <a:rPr lang="en-US" sz="3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34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0" y="48006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bg2"/>
                </a:solidFill>
              </a:rPr>
              <a:t>la salle de réunion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Comprendre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découpe un mot long pour le comprendre.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ub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Former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fabrique des mots composés et des diminutifs.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Deviner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devine le </a:t>
            </a:r>
            <a:r>
              <a:rPr lang="en-US" sz="2000" b="1" dirty="0">
                <a:solidFill>
                  <a:schemeClr val="tx1"/>
                </a:solidFill>
              </a:rPr>
              <a:t>sens</a:t>
            </a:r>
            <a:r>
              <a:rPr lang="en-US" sz="2000" dirty="0">
                <a:solidFill>
                  <a:schemeClr val="tx1"/>
                </a:solidFill>
              </a:rPr>
              <a:t> et l’</a:t>
            </a:r>
            <a:r>
              <a:rPr lang="en-US" sz="2000" b="1" dirty="0">
                <a:solidFill>
                  <a:schemeClr val="tx1"/>
                </a:solidFill>
              </a:rPr>
              <a:t>article</a:t>
            </a:r>
            <a:r>
              <a:rPr lang="en-US" sz="2000" dirty="0">
                <a:solidFill>
                  <a:schemeClr val="tx1"/>
                </a:solidFill>
              </a:rPr>
              <a:t> d’un mot nouveau.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Avec 500 mots de base, on en comprend des milliers : c’est la stratégie la plus rentable du vocabulaire.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devinez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5156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5156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hand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2157984" y="182880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157984" y="182880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schoen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main + chaussure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97180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12" name="Shape 9"/>
          <p:cNvSpPr/>
          <p:nvPr/>
        </p:nvSpPr>
        <p:spPr>
          <a:xfrm>
            <a:off x="429768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800600" y="1828800"/>
            <a:ext cx="1581912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00600" y="1828800"/>
            <a:ext cx="1581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brieven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428232" y="182880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28232" y="182880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bus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429768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lettres + boîte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97180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19" name="Shape 16"/>
          <p:cNvSpPr/>
          <p:nvPr/>
        </p:nvSpPr>
        <p:spPr>
          <a:xfrm>
            <a:off x="804672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723376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23376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koel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982980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82980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kast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frais + armoire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297180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26" name="Shape 23"/>
          <p:cNvSpPr/>
          <p:nvPr/>
        </p:nvSpPr>
        <p:spPr>
          <a:xfrm>
            <a:off x="54864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1051560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051560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zieken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2505456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505456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malades + maison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48640" y="534924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33" name="Shape 30"/>
          <p:cNvSpPr/>
          <p:nvPr/>
        </p:nvSpPr>
        <p:spPr>
          <a:xfrm>
            <a:off x="429768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974336" y="4206240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974336" y="420624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fiets</a:t>
            </a:r>
            <a:endParaRPr lang="en-US" sz="2200" dirty="0"/>
          </a:p>
        </p:txBody>
      </p:sp>
      <p:sp>
        <p:nvSpPr>
          <p:cNvPr id="36" name="Shape 33"/>
          <p:cNvSpPr/>
          <p:nvPr/>
        </p:nvSpPr>
        <p:spPr>
          <a:xfrm>
            <a:off x="6254496" y="420624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254496" y="420624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pad</a:t>
            </a:r>
            <a:endParaRPr lang="en-US" sz="2200" dirty="0"/>
          </a:p>
        </p:txBody>
      </p:sp>
      <p:sp>
        <p:nvSpPr>
          <p:cNvPr id="38" name="Text 35"/>
          <p:cNvSpPr txBox="1"/>
          <p:nvPr/>
        </p:nvSpPr>
        <p:spPr>
          <a:xfrm>
            <a:off x="429768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vélo + chemin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4297680" y="534924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40" name="Shape 37"/>
          <p:cNvSpPr/>
          <p:nvPr/>
        </p:nvSpPr>
        <p:spPr>
          <a:xfrm>
            <a:off x="804672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8549640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549640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stof</a:t>
            </a:r>
            <a:endParaRPr lang="en-US" sz="2200" dirty="0"/>
          </a:p>
        </p:txBody>
      </p:sp>
      <p:sp>
        <p:nvSpPr>
          <p:cNvPr id="43" name="Shape 40"/>
          <p:cNvSpPr/>
          <p:nvPr/>
        </p:nvSpPr>
        <p:spPr>
          <a:xfrm>
            <a:off x="9656064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656064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zuiger</a:t>
            </a:r>
            <a:endParaRPr lang="en-US" sz="2200" dirty="0"/>
          </a:p>
        </p:txBody>
      </p:sp>
      <p:sp>
        <p:nvSpPr>
          <p:cNvPr id="45" name="Text 42"/>
          <p:cNvSpPr txBox="1"/>
          <p:nvPr/>
        </p:nvSpPr>
        <p:spPr>
          <a:xfrm>
            <a:off x="804672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poussière + suceur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8046720" y="534924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C2CF"/>
                </a:solidFill>
              </a:rPr>
              <a:t>?</a:t>
            </a: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devinez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428646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05156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5156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hand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2157984" y="182880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157984" y="182880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schoen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main + chaussure</a:t>
            </a:r>
            <a:endParaRPr lang="en-US" sz="1400" dirty="0"/>
          </a:p>
        </p:txBody>
      </p:sp>
      <p:pic>
        <p:nvPicPr>
          <p:cNvPr id="12" name="Image 0" descr="glov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3017520"/>
            <a:ext cx="594360" cy="5943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508760" y="30175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le gant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429768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800600" y="1828800"/>
            <a:ext cx="1581912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800600" y="1828800"/>
            <a:ext cx="1581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brieven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6428232" y="182880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28232" y="182880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bus</a:t>
            </a:r>
            <a:endParaRPr lang="en-US" sz="2200" dirty="0"/>
          </a:p>
        </p:txBody>
      </p:sp>
      <p:sp>
        <p:nvSpPr>
          <p:cNvPr id="19" name="Text 15"/>
          <p:cNvSpPr txBox="1"/>
          <p:nvPr/>
        </p:nvSpPr>
        <p:spPr>
          <a:xfrm>
            <a:off x="429768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lettres + boîte</a:t>
            </a:r>
            <a:endParaRPr lang="en-US" sz="1400" dirty="0"/>
          </a:p>
        </p:txBody>
      </p:sp>
      <p:pic>
        <p:nvPicPr>
          <p:cNvPr id="20" name="Image 1" descr="closed mailbox with raised fl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3017520"/>
            <a:ext cx="594360" cy="59436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257800" y="30175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la boîte aux lettres</a:t>
            </a:r>
            <a:endParaRPr lang="en-US" sz="1800" dirty="0"/>
          </a:p>
        </p:txBody>
      </p:sp>
      <p:sp>
        <p:nvSpPr>
          <p:cNvPr id="22" name="Shape 17"/>
          <p:cNvSpPr/>
          <p:nvPr/>
        </p:nvSpPr>
        <p:spPr>
          <a:xfrm>
            <a:off x="8046720" y="16002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8723376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8723376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koel</a:t>
            </a:r>
            <a:endParaRPr lang="en-US" sz="2200" dirty="0"/>
          </a:p>
        </p:txBody>
      </p:sp>
      <p:sp>
        <p:nvSpPr>
          <p:cNvPr id="25" name="Shape 20"/>
          <p:cNvSpPr/>
          <p:nvPr/>
        </p:nvSpPr>
        <p:spPr>
          <a:xfrm>
            <a:off x="9829800" y="182880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9829800" y="182880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kast</a:t>
            </a:r>
            <a:endParaRPr lang="en-US" sz="2200" dirty="0"/>
          </a:p>
        </p:txBody>
      </p:sp>
      <p:sp>
        <p:nvSpPr>
          <p:cNvPr id="27" name="Text 22"/>
          <p:cNvSpPr txBox="1"/>
          <p:nvPr/>
        </p:nvSpPr>
        <p:spPr>
          <a:xfrm>
            <a:off x="8046720" y="2606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frais + armoire</a:t>
            </a:r>
            <a:endParaRPr lang="en-US" sz="1400" dirty="0"/>
          </a:p>
        </p:txBody>
      </p:sp>
      <p:pic>
        <p:nvPicPr>
          <p:cNvPr id="28" name="Image 2" descr="i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3017520"/>
            <a:ext cx="594360" cy="59436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9006840" y="30175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le frigo</a:t>
            </a:r>
            <a:endParaRPr lang="en-US" sz="1800" dirty="0"/>
          </a:p>
        </p:txBody>
      </p:sp>
      <p:sp>
        <p:nvSpPr>
          <p:cNvPr id="30" name="Shape 24"/>
          <p:cNvSpPr/>
          <p:nvPr/>
        </p:nvSpPr>
        <p:spPr>
          <a:xfrm>
            <a:off x="54864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1051560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1051560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zieken</a:t>
            </a:r>
            <a:endParaRPr lang="en-US" sz="2200" dirty="0"/>
          </a:p>
        </p:txBody>
      </p:sp>
      <p:sp>
        <p:nvSpPr>
          <p:cNvPr id="33" name="Shape 27"/>
          <p:cNvSpPr/>
          <p:nvPr/>
        </p:nvSpPr>
        <p:spPr>
          <a:xfrm>
            <a:off x="2505456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2505456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malades + maison</a:t>
            </a:r>
            <a:endParaRPr lang="en-US" sz="1400" dirty="0"/>
          </a:p>
        </p:txBody>
      </p:sp>
      <p:pic>
        <p:nvPicPr>
          <p:cNvPr id="36" name="Image 3" descr="hospit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394960"/>
            <a:ext cx="594360" cy="594360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508760" y="5394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l’hôpital</a:t>
            </a:r>
            <a:endParaRPr lang="en-US" sz="1800" dirty="0"/>
          </a:p>
        </p:txBody>
      </p:sp>
      <p:sp>
        <p:nvSpPr>
          <p:cNvPr id="38" name="Shape 31"/>
          <p:cNvSpPr/>
          <p:nvPr/>
        </p:nvSpPr>
        <p:spPr>
          <a:xfrm>
            <a:off x="429768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Shape 32"/>
          <p:cNvSpPr/>
          <p:nvPr/>
        </p:nvSpPr>
        <p:spPr>
          <a:xfrm>
            <a:off x="4974336" y="4206240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4974336" y="420624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fiets</a:t>
            </a:r>
            <a:endParaRPr lang="en-US" sz="2200" dirty="0"/>
          </a:p>
        </p:txBody>
      </p:sp>
      <p:sp>
        <p:nvSpPr>
          <p:cNvPr id="41" name="Shape 34"/>
          <p:cNvSpPr/>
          <p:nvPr/>
        </p:nvSpPr>
        <p:spPr>
          <a:xfrm>
            <a:off x="6254496" y="4206240"/>
            <a:ext cx="886968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6254496" y="4206240"/>
            <a:ext cx="886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pad</a:t>
            </a:r>
            <a:endParaRPr lang="en-US" sz="2200" dirty="0"/>
          </a:p>
        </p:txBody>
      </p:sp>
      <p:sp>
        <p:nvSpPr>
          <p:cNvPr id="43" name="Text 36"/>
          <p:cNvSpPr txBox="1"/>
          <p:nvPr/>
        </p:nvSpPr>
        <p:spPr>
          <a:xfrm>
            <a:off x="429768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vélo + chemin</a:t>
            </a:r>
            <a:endParaRPr lang="en-US" sz="1400" dirty="0"/>
          </a:p>
        </p:txBody>
      </p:sp>
      <p:pic>
        <p:nvPicPr>
          <p:cNvPr id="44" name="Image 4" descr="bicyc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7720" y="5394960"/>
            <a:ext cx="594360" cy="594360"/>
          </a:xfrm>
          <a:prstGeom prst="rect">
            <a:avLst/>
          </a:prstGeom>
        </p:spPr>
      </p:pic>
      <p:sp>
        <p:nvSpPr>
          <p:cNvPr id="45" name="Text 37"/>
          <p:cNvSpPr txBox="1"/>
          <p:nvPr/>
        </p:nvSpPr>
        <p:spPr>
          <a:xfrm>
            <a:off x="5257800" y="5394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la piste cyclable</a:t>
            </a:r>
            <a:endParaRPr lang="en-US" sz="1800" dirty="0"/>
          </a:p>
        </p:txBody>
      </p:sp>
      <p:sp>
        <p:nvSpPr>
          <p:cNvPr id="46" name="Shape 38"/>
          <p:cNvSpPr/>
          <p:nvPr/>
        </p:nvSpPr>
        <p:spPr>
          <a:xfrm>
            <a:off x="804672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7" name="Shape 39"/>
          <p:cNvSpPr/>
          <p:nvPr/>
        </p:nvSpPr>
        <p:spPr>
          <a:xfrm>
            <a:off x="8549640" y="4206240"/>
            <a:ext cx="1060704" cy="731520"/>
          </a:xfrm>
          <a:prstGeom prst="roundRect">
            <a:avLst>
              <a:gd name="adj" fmla="val 7500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8549640" y="4206240"/>
            <a:ext cx="1060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stof</a:t>
            </a:r>
            <a:endParaRPr lang="en-US" sz="2200" dirty="0"/>
          </a:p>
        </p:txBody>
      </p:sp>
      <p:sp>
        <p:nvSpPr>
          <p:cNvPr id="49" name="Shape 41"/>
          <p:cNvSpPr/>
          <p:nvPr/>
        </p:nvSpPr>
        <p:spPr>
          <a:xfrm>
            <a:off x="9656064" y="4206240"/>
            <a:ext cx="1408176" cy="731520"/>
          </a:xfrm>
          <a:prstGeom prst="roundRect">
            <a:avLst>
              <a:gd name="adj" fmla="val 75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2"/>
          <p:cNvSpPr txBox="1"/>
          <p:nvPr/>
        </p:nvSpPr>
        <p:spPr>
          <a:xfrm>
            <a:off x="9656064" y="420624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zuiger</a:t>
            </a:r>
            <a:endParaRPr lang="en-US" sz="2200" dirty="0"/>
          </a:p>
        </p:txBody>
      </p:sp>
      <p:sp>
        <p:nvSpPr>
          <p:cNvPr id="51" name="Text 43"/>
          <p:cNvSpPr txBox="1"/>
          <p:nvPr/>
        </p:nvSpPr>
        <p:spPr>
          <a:xfrm>
            <a:off x="8046720" y="49834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poussière + suceur</a:t>
            </a:r>
            <a:endParaRPr lang="en-US" sz="1400" dirty="0"/>
          </a:p>
        </p:txBody>
      </p:sp>
      <p:pic>
        <p:nvPicPr>
          <p:cNvPr id="52" name="Image 5" descr="broom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6760" y="5394960"/>
            <a:ext cx="594360" cy="594360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9006840" y="5394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l’aspirateur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règle d’or : le dernier mot commande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29844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93852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57860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218688" y="190195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97280" y="2011680"/>
            <a:ext cx="2560320" cy="914400"/>
          </a:xfrm>
          <a:prstGeom prst="roundRect">
            <a:avLst>
              <a:gd name="adj" fmla="val 5000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97280" y="20116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398068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77316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5656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703320" y="1828800"/>
            <a:ext cx="2377440" cy="1097280"/>
          </a:xfrm>
          <a:prstGeom prst="roundRect">
            <a:avLst>
              <a:gd name="adj" fmla="val 4167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703320" y="182880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3200" dirty="0"/>
          </a:p>
        </p:txBody>
      </p:sp>
      <p:pic>
        <p:nvPicPr>
          <p:cNvPr id="16" name="Image 0" descr="c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143000"/>
            <a:ext cx="731520" cy="73152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 flipV="1">
            <a:off x="6126480" y="1828800"/>
            <a:ext cx="1005840" cy="365760"/>
          </a:xfrm>
          <a:prstGeom prst="line">
            <a:avLst/>
          </a:prstGeom>
          <a:noFill/>
          <a:ln w="3175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6126480" y="2651760"/>
            <a:ext cx="1005840" cy="365760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7178040" y="1508760"/>
            <a:ext cx="4462272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5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315200" y="150876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 sens</a:t>
            </a:r>
            <a:r>
              <a:rPr lang="en-US" sz="1700" dirty="0">
                <a:solidFill>
                  <a:schemeClr val="tx1"/>
                </a:solidFill>
              </a:rPr>
              <a:t> : une </a:t>
            </a:r>
            <a:r>
              <a:rPr lang="en-US" sz="1700" i="1" dirty="0">
                <a:solidFill>
                  <a:schemeClr val="tx1"/>
                </a:solidFill>
              </a:rPr>
              <a:t>zaal</a:t>
            </a:r>
            <a:r>
              <a:rPr lang="en-US" sz="1700" dirty="0">
                <a:solidFill>
                  <a:schemeClr val="tx1"/>
                </a:solidFill>
              </a:rPr>
              <a:t> (salle) pour </a:t>
            </a:r>
            <a:r>
              <a:rPr lang="en-US" sz="1700" i="1" dirty="0">
                <a:solidFill>
                  <a:schemeClr val="tx1"/>
                </a:solidFill>
              </a:rPr>
              <a:t>vergaderen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7178040" y="2697480"/>
            <a:ext cx="4462272" cy="685800"/>
          </a:xfrm>
          <a:prstGeom prst="roundRect">
            <a:avLst>
              <a:gd name="adj" fmla="val 10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315200" y="269748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l’article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b="1" dirty="0">
                <a:solidFill>
                  <a:schemeClr val="tx2"/>
                </a:solidFill>
              </a:rPr>
              <a:t>de</a:t>
            </a:r>
            <a:r>
              <a:rPr lang="en-US" sz="1700" dirty="0">
                <a:solidFill>
                  <a:schemeClr val="tx1"/>
                </a:solidFill>
              </a:rPr>
              <a:t> zaal → </a:t>
            </a:r>
            <a:r>
              <a:rPr lang="en-US" sz="1700" b="1" dirty="0">
                <a:solidFill>
                  <a:schemeClr val="tx2"/>
                </a:solidFill>
              </a:rPr>
              <a:t>de</a:t>
            </a:r>
            <a:r>
              <a:rPr lang="en-US" sz="1700" dirty="0">
                <a:solidFill>
                  <a:schemeClr val="tx1"/>
                </a:solidFill>
              </a:rPr>
              <a:t> vergaderzaal</a:t>
            </a:r>
            <a:endParaRPr lang="en-US" sz="1700" dirty="0"/>
          </a:p>
        </p:txBody>
      </p:sp>
      <p:sp>
        <p:nvSpPr>
          <p:cNvPr id="23" name="Text 19"/>
          <p:cNvSpPr txBox="1"/>
          <p:nvPr/>
        </p:nvSpPr>
        <p:spPr>
          <a:xfrm>
            <a:off x="1097280" y="38404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1"/>
                </a:solidFill>
              </a:rPr>
              <a:t>het</a:t>
            </a:r>
            <a:r>
              <a:rPr lang="en-US" sz="2200" i="1" dirty="0">
                <a:solidFill>
                  <a:schemeClr val="tx1"/>
                </a:solidFill>
              </a:rPr>
              <a:t> kantoor</a:t>
            </a:r>
            <a:r>
              <a:rPr lang="en-US" sz="2200" dirty="0">
                <a:solidFill>
                  <a:schemeClr val="tx1"/>
                </a:solidFill>
              </a:rPr>
              <a:t> + </a:t>
            </a:r>
            <a:r>
              <a:rPr lang="en-US" sz="2200" b="1" i="1" dirty="0">
                <a:solidFill>
                  <a:schemeClr val="tx2"/>
                </a:solidFill>
              </a:rPr>
              <a:t>de</a:t>
            </a:r>
            <a:r>
              <a:rPr lang="en-US" sz="2200" i="1" dirty="0">
                <a:solidFill>
                  <a:schemeClr val="tx1"/>
                </a:solidFill>
              </a:rPr>
              <a:t> deur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035040" y="4178808"/>
            <a:ext cx="82296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Text 21"/>
          <p:cNvSpPr txBox="1"/>
          <p:nvPr/>
        </p:nvSpPr>
        <p:spPr>
          <a:xfrm>
            <a:off x="7040880" y="38404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chemeClr val="tx2"/>
                </a:solidFill>
              </a:rPr>
              <a:t>de</a:t>
            </a:r>
            <a:r>
              <a:rPr lang="en-US" sz="2400" b="1" i="1" dirty="0">
                <a:solidFill>
                  <a:schemeClr val="tx1"/>
                </a:solidFill>
              </a:rPr>
              <a:t> kantoordeur</a:t>
            </a:r>
            <a:endParaRPr lang="en-US" sz="24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46634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tx2"/>
                </a:solidFill>
              </a:rPr>
              <a:t>de</a:t>
            </a:r>
            <a:r>
              <a:rPr lang="en-US" sz="2200" i="1" dirty="0">
                <a:solidFill>
                  <a:schemeClr val="tx1"/>
                </a:solidFill>
              </a:rPr>
              <a:t> computer</a:t>
            </a:r>
            <a:r>
              <a:rPr lang="en-US" sz="2200" dirty="0">
                <a:solidFill>
                  <a:schemeClr val="tx1"/>
                </a:solidFill>
              </a:rPr>
              <a:t> + </a:t>
            </a:r>
            <a:r>
              <a:rPr lang="en-US" sz="2200" b="1" i="1" dirty="0">
                <a:solidFill>
                  <a:schemeClr val="accent1"/>
                </a:solidFill>
              </a:rPr>
              <a:t>het</a:t>
            </a:r>
            <a:r>
              <a:rPr lang="en-US" sz="2200" i="1" dirty="0">
                <a:solidFill>
                  <a:schemeClr val="tx1"/>
                </a:solidFill>
              </a:rPr>
              <a:t> scherm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6035040" y="5001768"/>
            <a:ext cx="82296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8" name="Text 24"/>
          <p:cNvSpPr txBox="1"/>
          <p:nvPr/>
        </p:nvSpPr>
        <p:spPr>
          <a:xfrm>
            <a:off x="7040880" y="46634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chemeClr val="accent1"/>
                </a:solidFill>
              </a:rPr>
              <a:t>het</a:t>
            </a:r>
            <a:r>
              <a:rPr lang="en-US" sz="2400" b="1" i="1" dirty="0">
                <a:solidFill>
                  <a:schemeClr val="tx1"/>
                </a:solidFill>
              </a:rPr>
              <a:t> computerscherm</a:t>
            </a:r>
            <a:endParaRPr lang="en-US" sz="2400" dirty="0"/>
          </a:p>
        </p:txBody>
      </p:sp>
      <p:sp>
        <p:nvSpPr>
          <p:cNvPr id="29" name="Shape 25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</a:t>
            </a:r>
            <a:r>
              <a:rPr lang="en-US" sz="1800" b="1" dirty="0">
                <a:solidFill>
                  <a:schemeClr val="bg1"/>
                </a:solidFill>
              </a:rPr>
              <a:t>dernier</a:t>
            </a:r>
            <a:r>
              <a:rPr lang="en-US" sz="1800" dirty="0">
                <a:solidFill>
                  <a:schemeClr val="bg1"/>
                </a:solidFill>
              </a:rPr>
              <a:t> mot donne le </a:t>
            </a:r>
            <a:r>
              <a:rPr lang="en-US" sz="1800" b="1" dirty="0">
                <a:solidFill>
                  <a:schemeClr val="bg1"/>
                </a:solidFill>
              </a:rPr>
              <a:t>sens</a:t>
            </a:r>
            <a:r>
              <a:rPr lang="en-US" sz="1800" dirty="0">
                <a:solidFill>
                  <a:schemeClr val="bg1"/>
                </a:solidFill>
              </a:rPr>
              <a:t> et l’</a:t>
            </a:r>
            <a:r>
              <a:rPr lang="en-US" sz="1800" b="1" dirty="0">
                <a:solidFill>
                  <a:schemeClr val="bg1"/>
                </a:solidFill>
              </a:rPr>
              <a:t>article</a:t>
            </a:r>
            <a:r>
              <a:rPr lang="en-US" sz="1800" dirty="0">
                <a:solidFill>
                  <a:schemeClr val="bg1"/>
                </a:solidFill>
              </a:rPr>
              <a:t> (M5). Le premier mot </a:t>
            </a:r>
            <a:r>
              <a:rPr lang="en-US" sz="1800" b="1" dirty="0">
                <a:solidFill>
                  <a:schemeClr val="bg1"/>
                </a:solidFill>
              </a:rPr>
              <a:t>précise</a:t>
            </a:r>
            <a:r>
              <a:rPr lang="en-US" sz="1800" dirty="0">
                <a:solidFill>
                  <a:schemeClr val="bg1"/>
                </a:solidFill>
              </a:rPr>
              <a:t> : une </a:t>
            </a:r>
            <a:r>
              <a:rPr lang="en-US" sz="1800" i="1" dirty="0">
                <a:solidFill>
                  <a:schemeClr val="bg1"/>
                </a:solidFill>
              </a:rPr>
              <a:t>kantoordeur</a:t>
            </a:r>
            <a:r>
              <a:rPr lang="en-US" sz="1800" dirty="0">
                <a:solidFill>
                  <a:schemeClr val="bg1"/>
                </a:solidFill>
              </a:rPr>
              <a:t> est une porte.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4 recettes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73837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35559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828800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82880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196138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46430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828800" y="182880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828800" y="182880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063240" y="1691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A6FB0"/>
                </a:solidFill>
              </a:rPr>
              <a:t>nom + nom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760720" y="1691640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2A6FB0">
              <a:alpha val="10000"/>
            </a:srgb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43600" y="169164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politieman · de schoenmaat · het appelsap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73837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5559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2944368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2944368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radical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196138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464308" y="2834640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828800" y="2944368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828800" y="2944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3063240" y="2807208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3227"/>
                </a:solidFill>
              </a:rPr>
              <a:t>radical de verbe + nom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760720" y="2807208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B83227">
              <a:alpha val="10000"/>
            </a:srgb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943600" y="2807208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eetkamer (eet-en) · de zitplaats · het vliegtuig · de wachtkamer</a:t>
            </a:r>
            <a:endParaRPr lang="en-US" sz="1700" dirty="0"/>
          </a:p>
        </p:txBody>
      </p:sp>
      <p:sp>
        <p:nvSpPr>
          <p:cNvPr id="27" name="Shape 24"/>
          <p:cNvSpPr/>
          <p:nvPr/>
        </p:nvSpPr>
        <p:spPr>
          <a:xfrm>
            <a:off x="73837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35559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48640" y="4059936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059936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prép.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196138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464308" y="3950208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828800" y="4059936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828800" y="4059936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3063240" y="3922776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7D4F"/>
                </a:solidFill>
              </a:rPr>
              <a:t>préposition + nom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5760720" y="3922776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2E7D4F">
              <a:alpha val="10000"/>
            </a:srgb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943600" y="3922776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voordeur · de ingang · de uitgang · de achterdeur</a:t>
            </a:r>
            <a:endParaRPr lang="en-US" sz="1700" dirty="0"/>
          </a:p>
        </p:txBody>
      </p:sp>
      <p:sp>
        <p:nvSpPr>
          <p:cNvPr id="38" name="Shape 35"/>
          <p:cNvSpPr/>
          <p:nvPr/>
        </p:nvSpPr>
        <p:spPr>
          <a:xfrm>
            <a:off x="73837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35559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48640" y="5175504"/>
            <a:ext cx="1234440" cy="640080"/>
          </a:xfrm>
          <a:prstGeom prst="roundRect">
            <a:avLst>
              <a:gd name="adj" fmla="val 7143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8640" y="5175504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adj.</a:t>
            </a:r>
            <a:endParaRPr lang="en-US" sz="1500" dirty="0"/>
          </a:p>
        </p:txBody>
      </p:sp>
      <p:sp>
        <p:nvSpPr>
          <p:cNvPr id="42" name="Shape 39"/>
          <p:cNvSpPr/>
          <p:nvPr/>
        </p:nvSpPr>
        <p:spPr>
          <a:xfrm>
            <a:off x="196138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2464308" y="5065776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828800" y="5175504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828800" y="5175504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</a:t>
            </a:r>
            <a:endParaRPr lang="en-US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3063240" y="5038344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9700F"/>
                </a:solidFill>
              </a:rPr>
              <a:t>adjectif + nom</a:t>
            </a:r>
            <a:endParaRPr lang="en-US" sz="1800" dirty="0"/>
          </a:p>
        </p:txBody>
      </p:sp>
      <p:sp>
        <p:nvSpPr>
          <p:cNvPr id="47" name="Shape 44"/>
          <p:cNvSpPr/>
          <p:nvPr/>
        </p:nvSpPr>
        <p:spPr>
          <a:xfrm>
            <a:off x="5760720" y="5038344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D9700F">
              <a:alpha val="10000"/>
            </a:srgb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943600" y="5038344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grootvader · de snelweg · het kleinkind</a:t>
            </a:r>
            <a:endParaRPr lang="en-US" sz="1700" dirty="0"/>
          </a:p>
        </p:txBody>
      </p:sp>
      <p:sp>
        <p:nvSpPr>
          <p:cNvPr id="49" name="Text 46"/>
          <p:cNvSpPr txBox="1"/>
          <p:nvPr/>
        </p:nvSpPr>
        <p:spPr>
          <a:xfrm>
            <a:off x="548640" y="60350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Correction de l’archive : </a:t>
            </a:r>
            <a:r>
              <a:rPr lang="en-US" sz="1400" i="1" dirty="0">
                <a:solidFill>
                  <a:schemeClr val="accent5"/>
                </a:solidFill>
              </a:rPr>
              <a:t>vliegtuig</a:t>
            </a:r>
            <a:r>
              <a:rPr lang="en-US" sz="1400" i="1" dirty="0">
                <a:solidFill>
                  <a:schemeClr val="accent5"/>
                </a:solidFill>
              </a:rPr>
              <a:t> (vlieg-en) et </a:t>
            </a:r>
            <a:r>
              <a:rPr lang="en-US" sz="1400" i="1" dirty="0">
                <a:solidFill>
                  <a:schemeClr val="accent5"/>
                </a:solidFill>
              </a:rPr>
              <a:t>knipbeurt</a:t>
            </a:r>
            <a:r>
              <a:rPr lang="en-US" sz="1400" i="1" dirty="0">
                <a:solidFill>
                  <a:schemeClr val="accent5"/>
                </a:solidFill>
              </a:rPr>
              <a:t> (knipp-en) sont des « radical + nom ».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l’ordre est inversé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709160"/>
          </a:xfrm>
          <a:prstGeom prst="roundRect">
            <a:avLst>
              <a:gd name="adj" fmla="val 1553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1488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7375E"/>
                </a:solidFill>
              </a:rPr>
              <a:t>salle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965960" y="214884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trike="sngStrike" dirty="0">
                <a:solidFill>
                  <a:schemeClr val="accent6"/>
                </a:solidFill>
              </a:rPr>
              <a:t>d’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2468880" y="21488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83227"/>
                </a:solidFill>
              </a:rPr>
              <a:t>attente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3931920" y="2331720"/>
            <a:ext cx="1097280" cy="274320"/>
          </a:xfrm>
          <a:prstGeom prst="line">
            <a:avLst/>
          </a:prstGeom>
          <a:noFill/>
          <a:ln w="2540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 flipV="1">
            <a:off x="3931920" y="2331720"/>
            <a:ext cx="1097280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5166360" y="2148840"/>
            <a:ext cx="1051560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166360" y="21488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wacht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263640" y="214884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63640" y="21488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kamer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7406640" y="21488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de wachtkamer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2004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7375E"/>
                </a:solidFill>
              </a:rPr>
              <a:t>carte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1965960" y="32004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trike="sngStrike" dirty="0">
                <a:solidFill>
                  <a:schemeClr val="accent6"/>
                </a:solidFill>
              </a:rPr>
              <a:t>d’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2468880" y="3200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83227"/>
                </a:solidFill>
              </a:rPr>
              <a:t>identité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3931920" y="3383280"/>
            <a:ext cx="1097280" cy="274320"/>
          </a:xfrm>
          <a:prstGeom prst="line">
            <a:avLst/>
          </a:prstGeom>
          <a:noFill/>
          <a:ln w="2540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 flipV="1">
            <a:off x="3931920" y="3383280"/>
            <a:ext cx="1097280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5166360" y="3200400"/>
            <a:ext cx="1984248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166360" y="3200400"/>
            <a:ext cx="19842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identiteits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7196328" y="320040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196328" y="320040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kaart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8339328" y="3200400"/>
            <a:ext cx="3090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de identiteitskaart</a:t>
            </a:r>
            <a:endParaRPr lang="en-US" sz="1900" dirty="0"/>
          </a:p>
        </p:txBody>
      </p:sp>
      <p:sp>
        <p:nvSpPr>
          <p:cNvPr id="27" name="Text 24"/>
          <p:cNvSpPr txBox="1"/>
          <p:nvPr/>
        </p:nvSpPr>
        <p:spPr>
          <a:xfrm>
            <a:off x="822960" y="42519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7375E"/>
                </a:solidFill>
              </a:rPr>
              <a:t>verre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1965960" y="42519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trike="sngStrike" dirty="0">
                <a:solidFill>
                  <a:schemeClr val="accent6"/>
                </a:solidFill>
              </a:rPr>
              <a:t>à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468880" y="42519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83227"/>
                </a:solidFill>
              </a:rPr>
              <a:t>vin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3931920" y="4434840"/>
            <a:ext cx="1097280" cy="274320"/>
          </a:xfrm>
          <a:prstGeom prst="line">
            <a:avLst/>
          </a:prstGeom>
          <a:noFill/>
          <a:ln w="2540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 flipV="1">
            <a:off x="3931920" y="4434840"/>
            <a:ext cx="1097280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5166360" y="4251960"/>
            <a:ext cx="896112" cy="640080"/>
          </a:xfrm>
          <a:prstGeom prst="roundRect">
            <a:avLst>
              <a:gd name="adj" fmla="val 7143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6360" y="425196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wijn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6108192" y="4251960"/>
            <a:ext cx="1005840" cy="640080"/>
          </a:xfrm>
          <a:prstGeom prst="roundRect">
            <a:avLst>
              <a:gd name="adj" fmla="val 7143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108192" y="425196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glas</a:t>
            </a:r>
            <a:endParaRPr lang="en-US" sz="2000" dirty="0"/>
          </a:p>
        </p:txBody>
      </p:sp>
      <p:sp>
        <p:nvSpPr>
          <p:cNvPr id="36" name="Text 33"/>
          <p:cNvSpPr txBox="1"/>
          <p:nvPr/>
        </p:nvSpPr>
        <p:spPr>
          <a:xfrm>
            <a:off x="7251192" y="4251960"/>
            <a:ext cx="4178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het wijnglas</a:t>
            </a:r>
            <a:endParaRPr lang="en-US" sz="1900" dirty="0"/>
          </a:p>
        </p:txBody>
      </p:sp>
      <p:sp>
        <p:nvSpPr>
          <p:cNvPr id="37" name="Shape 34"/>
          <p:cNvSpPr/>
          <p:nvPr/>
        </p:nvSpPr>
        <p:spPr>
          <a:xfrm>
            <a:off x="822960" y="5349240"/>
            <a:ext cx="10543032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005840" y="53492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strike="sngStrike" dirty="0">
                <a:solidFill>
                  <a:schemeClr val="accent6"/>
                </a:solidFill>
              </a:rPr>
              <a:t>kamer wacht</a:t>
            </a:r>
            <a:r>
              <a:rPr lang="en-US" sz="1900" dirty="0">
                <a:solidFill>
                  <a:schemeClr val="tx1"/>
                </a:solidFill>
              </a:rPr>
              <a:t> · </a:t>
            </a:r>
            <a:r>
              <a:rPr lang="en-US" sz="1900" strike="sngStrike" dirty="0">
                <a:solidFill>
                  <a:schemeClr val="accent6"/>
                </a:solidFill>
              </a:rPr>
              <a:t>wacht kamer</a:t>
            </a:r>
            <a:r>
              <a:rPr lang="en-US" sz="1900" dirty="0">
                <a:solidFill>
                  <a:schemeClr val="tx1"/>
                </a:solidFill>
              </a:rPr>
              <a:t> → ✓ </a:t>
            </a:r>
            <a:r>
              <a:rPr lang="en-US" sz="1900" b="1" i="1" dirty="0">
                <a:solidFill>
                  <a:schemeClr val="tx1"/>
                </a:solidFill>
              </a:rPr>
              <a:t>wachtkamer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b="1" dirty="0">
                <a:solidFill>
                  <a:schemeClr val="tx1"/>
                </a:solidFill>
              </a:rPr>
              <a:t>un seul mot</a:t>
            </a:r>
            <a:r>
              <a:rPr lang="en-US" sz="1900" dirty="0">
                <a:solidFill>
                  <a:schemeClr val="tx1"/>
                </a:solidFill>
              </a:rPr>
              <a:t>, sans préposition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petit lien : -s- ou -en-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977640"/>
          </a:xfrm>
          <a:prstGeom prst="roundRect">
            <a:avLst>
              <a:gd name="adj" fmla="val 1839"/>
            </a:avLst>
          </a:prstGeom>
          <a:solidFill>
            <a:schemeClr val="bg1"/>
          </a:solidFill>
          <a:ln w="317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685800"/>
          </a:xfrm>
          <a:prstGeom prst="roundRect">
            <a:avLst>
              <a:gd name="adj" fmla="val 10667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-s-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verjaardag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taart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3886200" y="2377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tarte d’anniversaire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154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station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plein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3886200" y="3154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place de la gare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931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identiteit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kaart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3886200" y="3931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carte d’identité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4709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arbeid</a:t>
            </a:r>
            <a:r>
              <a:rPr lang="en-US" sz="2000" b="1" i="1" dirty="0">
                <a:solidFill>
                  <a:schemeClr val="accent1"/>
                </a:solidFill>
              </a:rPr>
              <a:t>s</a:t>
            </a:r>
            <a:r>
              <a:rPr lang="en-US" sz="2000" i="1" dirty="0">
                <a:solidFill>
                  <a:schemeClr val="tx1"/>
                </a:solidFill>
              </a:rPr>
              <a:t>overeenkomst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3886200" y="47091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contrat de travail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227064" y="1554480"/>
            <a:ext cx="5413248" cy="3977640"/>
          </a:xfrm>
          <a:prstGeom prst="roundRect">
            <a:avLst>
              <a:gd name="adj" fmla="val 1839"/>
            </a:avLst>
          </a:prstGeom>
          <a:solidFill>
            <a:schemeClr val="bg1"/>
          </a:solidFill>
          <a:ln w="317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27064" y="1554480"/>
            <a:ext cx="5413248" cy="685800"/>
          </a:xfrm>
          <a:prstGeom prst="roundRect">
            <a:avLst>
              <a:gd name="adj" fmla="val 10667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27064" y="1554480"/>
            <a:ext cx="5413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-en-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6501384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zieke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9564624" y="2377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l’hôpital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6501384" y="3154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brieve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bus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9564624" y="3154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boîte aux lettres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6501384" y="3931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panne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koek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9564624" y="3931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crêpe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6501384" y="4709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boeke</a:t>
            </a:r>
            <a:r>
              <a:rPr lang="en-US" sz="2000" b="1" i="1" dirty="0">
                <a:solidFill>
                  <a:schemeClr val="accent1"/>
                </a:solidFill>
              </a:rPr>
              <a:t>n</a:t>
            </a:r>
            <a:r>
              <a:rPr lang="en-US" sz="2000" i="1" dirty="0">
                <a:solidFill>
                  <a:schemeClr val="tx1"/>
                </a:solidFill>
              </a:rPr>
              <a:t>kast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9564624" y="47091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bibliothèque (meuble)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48640" y="562356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6235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</a:t>
            </a:r>
            <a:r>
              <a:rPr lang="en-US" sz="1800" i="1" dirty="0">
                <a:solidFill>
                  <a:schemeClr val="bg1"/>
                </a:solidFill>
              </a:rPr>
              <a:t>-s-</a:t>
            </a:r>
            <a:r>
              <a:rPr lang="en-US" sz="1800" dirty="0">
                <a:solidFill>
                  <a:schemeClr val="bg1"/>
                </a:solidFill>
              </a:rPr>
              <a:t> s’écrit quand on l’</a:t>
            </a:r>
            <a:r>
              <a:rPr lang="en-US" sz="1800" b="1" dirty="0">
                <a:solidFill>
                  <a:schemeClr val="bg1"/>
                </a:solidFill>
              </a:rPr>
              <a:t>entend</a:t>
            </a:r>
            <a:r>
              <a:rPr lang="en-US" sz="1800" dirty="0">
                <a:solidFill>
                  <a:schemeClr val="bg1"/>
                </a:solidFill>
              </a:rPr>
              <a:t> ; le </a:t>
            </a:r>
            <a:r>
              <a:rPr lang="en-US" sz="1800" i="1" dirty="0">
                <a:solidFill>
                  <a:schemeClr val="bg1"/>
                </a:solidFill>
              </a:rPr>
              <a:t>n</a:t>
            </a:r>
            <a:r>
              <a:rPr lang="en-US" sz="1800" dirty="0">
                <a:solidFill>
                  <a:schemeClr val="bg1"/>
                </a:solidFill>
              </a:rPr>
              <a:t> de </a:t>
            </a:r>
            <a:r>
              <a:rPr lang="en-US" sz="1800" i="1" dirty="0">
                <a:solidFill>
                  <a:schemeClr val="bg1"/>
                </a:solidFill>
              </a:rPr>
              <a:t>-en-</a:t>
            </a:r>
            <a:r>
              <a:rPr lang="en-US" sz="1800" dirty="0">
                <a:solidFill>
                  <a:schemeClr val="bg1"/>
                </a:solidFill>
              </a:rPr>
              <a:t>, lui, ne s’entend souvent pas (</a:t>
            </a:r>
            <a:r>
              <a:rPr lang="en-US" sz="1800" i="1" dirty="0">
                <a:solidFill>
                  <a:schemeClr val="bg1"/>
                </a:solidFill>
              </a:rPr>
              <a:t>pannenkoek</a:t>
            </a:r>
            <a:r>
              <a:rPr lang="en-US" sz="1800" dirty="0">
                <a:solidFill>
                  <a:schemeClr val="bg1"/>
                </a:solidFill>
              </a:rPr>
              <a:t>). En A1, on apprend ces mots tels quels.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diminutifs : -je, -tje, -pje, -etje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544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Tous les diminutifs sont </a:t>
            </a:r>
            <a:r>
              <a:rPr lang="en-US" sz="1900" b="1" dirty="0">
                <a:solidFill>
                  <a:schemeClr val="bg1"/>
                </a:solidFill>
              </a:rPr>
              <a:t>HET</a:t>
            </a:r>
            <a:r>
              <a:rPr lang="en-US" sz="1900" dirty="0">
                <a:solidFill>
                  <a:schemeClr val="bg1"/>
                </a:solidFill>
              </a:rPr>
              <a:t> : de stoel → </a:t>
            </a:r>
            <a:r>
              <a:rPr lang="en-US" sz="1900" b="1" dirty="0">
                <a:solidFill>
                  <a:schemeClr val="bg1"/>
                </a:solidFill>
              </a:rPr>
              <a:t>het</a:t>
            </a:r>
            <a:r>
              <a:rPr lang="en-US" sz="1900" dirty="0">
                <a:solidFill>
                  <a:schemeClr val="bg1"/>
                </a:solidFill>
              </a:rPr>
              <a:t> stoeltje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48640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548640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-je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cas général</a:t>
            </a:r>
            <a:endParaRPr lang="en-US" sz="1300" dirty="0"/>
          </a:p>
        </p:txBody>
      </p:sp>
      <p:pic>
        <p:nvPicPr>
          <p:cNvPr id="10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479" y="3611880"/>
            <a:ext cx="640080" cy="6400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0080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huis</a:t>
            </a:r>
            <a:r>
              <a:rPr lang="en-US" sz="1700" b="1" i="1" dirty="0">
                <a:solidFill>
                  <a:schemeClr val="accent1"/>
                </a:solidFill>
              </a:rPr>
              <a:t>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boek</a:t>
            </a:r>
            <a:r>
              <a:rPr lang="en-US" sz="1700" b="1" i="1" dirty="0">
                <a:solidFill>
                  <a:schemeClr val="accent1"/>
                </a:solidFill>
              </a:rPr>
              <a:t>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kop</a:t>
            </a:r>
            <a:r>
              <a:rPr lang="en-US" sz="1700" b="1" i="1" dirty="0">
                <a:solidFill>
                  <a:schemeClr val="accent1"/>
                </a:solidFill>
              </a:rPr>
              <a:t>je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3367278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3367278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-tje</a:t>
            </a:r>
            <a:endParaRPr lang="en-US" sz="3200" dirty="0"/>
          </a:p>
        </p:txBody>
      </p:sp>
      <p:sp>
        <p:nvSpPr>
          <p:cNvPr id="14" name="Text 10"/>
          <p:cNvSpPr txBox="1"/>
          <p:nvPr/>
        </p:nvSpPr>
        <p:spPr>
          <a:xfrm>
            <a:off x="3458718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voyelle longue (+ l, n, r, w)</a:t>
            </a:r>
            <a:endParaRPr lang="en-US" sz="1300" dirty="0"/>
          </a:p>
        </p:txBody>
      </p:sp>
      <p:pic>
        <p:nvPicPr>
          <p:cNvPr id="15" name="Image 1" descr="ch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5117" y="3611880"/>
            <a:ext cx="640080" cy="6400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458718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stoel</a:t>
            </a:r>
            <a:r>
              <a:rPr lang="en-US" sz="1700" b="1" i="1" dirty="0">
                <a:solidFill>
                  <a:schemeClr val="accent1"/>
                </a:solidFill>
              </a:rPr>
              <a:t>tje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ei</a:t>
            </a:r>
            <a:r>
              <a:rPr lang="en-US" sz="1700" b="1" i="1" dirty="0">
                <a:solidFill>
                  <a:schemeClr val="accent1"/>
                </a:solidFill>
              </a:rPr>
              <a:t>tje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vrouw</a:t>
            </a:r>
            <a:r>
              <a:rPr lang="en-US" sz="1700" b="1" i="1" dirty="0">
                <a:solidFill>
                  <a:schemeClr val="accent1"/>
                </a:solidFill>
              </a:rPr>
              <a:t>tje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185916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6185916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-pje</a:t>
            </a:r>
            <a:endParaRPr lang="en-US" sz="3200" dirty="0"/>
          </a:p>
        </p:txBody>
      </p:sp>
      <p:sp>
        <p:nvSpPr>
          <p:cNvPr id="19" name="Text 14"/>
          <p:cNvSpPr txBox="1"/>
          <p:nvPr/>
        </p:nvSpPr>
        <p:spPr>
          <a:xfrm>
            <a:off x="6277356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voyelle longue + m</a:t>
            </a:r>
            <a:endParaRPr lang="en-US" sz="1300" dirty="0"/>
          </a:p>
        </p:txBody>
      </p:sp>
      <p:pic>
        <p:nvPicPr>
          <p:cNvPr id="20" name="Image 2" descr="deciduous tr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3755" y="3611880"/>
            <a:ext cx="640080" cy="6400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277356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boom</a:t>
            </a:r>
            <a:r>
              <a:rPr lang="en-US" sz="1700" b="1" i="1" dirty="0">
                <a:solidFill>
                  <a:schemeClr val="accent1"/>
                </a:solidFill>
              </a:rPr>
              <a:t>pje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raam</a:t>
            </a:r>
            <a:r>
              <a:rPr lang="en-US" sz="1700" b="1" i="1" dirty="0">
                <a:solidFill>
                  <a:schemeClr val="accent1"/>
                </a:solidFill>
              </a:rPr>
              <a:t>pje</a:t>
            </a:r>
            <a:endParaRPr lang="en-US" sz="1700" dirty="0"/>
          </a:p>
        </p:txBody>
      </p:sp>
      <p:sp>
        <p:nvSpPr>
          <p:cNvPr id="22" name="Shape 16"/>
          <p:cNvSpPr/>
          <p:nvPr/>
        </p:nvSpPr>
        <p:spPr>
          <a:xfrm>
            <a:off x="9004554" y="2331720"/>
            <a:ext cx="2635758" cy="329184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7"/>
          <p:cNvSpPr txBox="1"/>
          <p:nvPr/>
        </p:nvSpPr>
        <p:spPr>
          <a:xfrm>
            <a:off x="9004554" y="2423160"/>
            <a:ext cx="26357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-etje</a:t>
            </a:r>
            <a:endParaRPr lang="en-US" sz="3200" dirty="0"/>
          </a:p>
        </p:txBody>
      </p:sp>
      <p:sp>
        <p:nvSpPr>
          <p:cNvPr id="24" name="Text 18"/>
          <p:cNvSpPr txBox="1"/>
          <p:nvPr/>
        </p:nvSpPr>
        <p:spPr>
          <a:xfrm>
            <a:off x="9095994" y="3063240"/>
            <a:ext cx="24528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voyelle courte + l, m, n, r, ng</a:t>
            </a:r>
            <a:endParaRPr lang="en-US" sz="1300" dirty="0"/>
          </a:p>
        </p:txBody>
      </p:sp>
      <p:pic>
        <p:nvPicPr>
          <p:cNvPr id="25" name="Image 3" descr="r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2393" y="3611880"/>
            <a:ext cx="640080" cy="6400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095994" y="4297680"/>
            <a:ext cx="24528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bal</a:t>
            </a:r>
            <a:r>
              <a:rPr lang="en-US" sz="1700" b="1" i="1" dirty="0">
                <a:solidFill>
                  <a:schemeClr val="accent1"/>
                </a:solidFill>
              </a:rPr>
              <a:t>letje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ring</a:t>
            </a:r>
            <a:r>
              <a:rPr lang="en-US" sz="1700" b="1" i="1" dirty="0">
                <a:solidFill>
                  <a:schemeClr val="accent1"/>
                </a:solidFill>
              </a:rPr>
              <a:t>etje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Diminutifs figés : </a:t>
            </a:r>
            <a:r>
              <a:rPr lang="en-US" sz="1600" i="1" dirty="0">
                <a:solidFill>
                  <a:schemeClr val="tx2"/>
                </a:solidFill>
              </a:rPr>
              <a:t>een kopje koffie · een broodje · een biertje · even een momentje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Du verbe au nom : -ing et -er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4114800"/>
          </a:xfrm>
          <a:prstGeom prst="roundRect">
            <a:avLst>
              <a:gd name="adj" fmla="val 1778"/>
            </a:avLst>
          </a:prstGeom>
          <a:solidFill>
            <a:schemeClr val="bg1"/>
          </a:solidFill>
          <a:ln w="317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868680"/>
          </a:xfrm>
          <a:prstGeom prst="roundRect">
            <a:avLst>
              <a:gd name="adj" fmla="val 842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radical + ing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011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l’action · toujours </a:t>
            </a:r>
            <a:r>
              <a:rPr lang="en-US" sz="1400" b="1" dirty="0">
                <a:solidFill>
                  <a:schemeClr val="bg1"/>
                </a:solidFill>
              </a:rPr>
              <a:t>de</a:t>
            </a:r>
            <a:endParaRPr lang="en-US" sz="1400" dirty="0"/>
          </a:p>
        </p:txBody>
      </p:sp>
      <p:pic>
        <p:nvPicPr>
          <p:cNvPr id="9" name="Image 0" descr="g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600200"/>
            <a:ext cx="731520" cy="7315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2606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vergaderen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2834640" y="2880360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2" name="Text 8"/>
          <p:cNvSpPr txBox="1"/>
          <p:nvPr/>
        </p:nvSpPr>
        <p:spPr>
          <a:xfrm>
            <a:off x="3474720" y="2606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vergader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335584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bestellen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2834640" y="3630168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5" name="Text 11"/>
          <p:cNvSpPr txBox="1"/>
          <p:nvPr/>
        </p:nvSpPr>
        <p:spPr>
          <a:xfrm>
            <a:off x="3474720" y="335584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bestell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822960" y="41056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opleiden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2834640" y="4379976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8" name="Text 14"/>
          <p:cNvSpPr txBox="1"/>
          <p:nvPr/>
        </p:nvSpPr>
        <p:spPr>
          <a:xfrm>
            <a:off x="3474720" y="410565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opleid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19" name="Text 15"/>
          <p:cNvSpPr txBox="1"/>
          <p:nvPr/>
        </p:nvSpPr>
        <p:spPr>
          <a:xfrm>
            <a:off x="822960" y="485546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rekenen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2834640" y="5129784"/>
            <a:ext cx="548640" cy="914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1" name="Text 17"/>
          <p:cNvSpPr txBox="1"/>
          <p:nvPr/>
        </p:nvSpPr>
        <p:spPr>
          <a:xfrm>
            <a:off x="3474720" y="485546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reken</a:t>
            </a:r>
            <a:r>
              <a:rPr lang="en-US" sz="1900" b="1" i="1" dirty="0">
                <a:solidFill>
                  <a:schemeClr val="accent1"/>
                </a:solidFill>
              </a:rPr>
              <a:t>ing</a:t>
            </a:r>
            <a:endParaRPr lang="en-US" sz="1900" dirty="0"/>
          </a:p>
        </p:txBody>
      </p:sp>
      <p:sp>
        <p:nvSpPr>
          <p:cNvPr id="22" name="Shape 18"/>
          <p:cNvSpPr/>
          <p:nvPr/>
        </p:nvSpPr>
        <p:spPr>
          <a:xfrm>
            <a:off x="6227064" y="1554480"/>
            <a:ext cx="5413248" cy="4114800"/>
          </a:xfrm>
          <a:prstGeom prst="roundRect">
            <a:avLst>
              <a:gd name="adj" fmla="val 1778"/>
            </a:avLst>
          </a:prstGeom>
          <a:solidFill>
            <a:schemeClr val="bg1"/>
          </a:solidFill>
          <a:ln w="317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227064" y="1554480"/>
            <a:ext cx="5413248" cy="868680"/>
          </a:xfrm>
          <a:prstGeom prst="roundRect">
            <a:avLst>
              <a:gd name="adj" fmla="val 84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55664" y="15544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radical + er</a:t>
            </a:r>
            <a:endParaRPr lang="en-US" sz="2200" dirty="0"/>
          </a:p>
        </p:txBody>
      </p:sp>
      <p:sp>
        <p:nvSpPr>
          <p:cNvPr id="25" name="Text 21"/>
          <p:cNvSpPr txBox="1"/>
          <p:nvPr/>
        </p:nvSpPr>
        <p:spPr>
          <a:xfrm>
            <a:off x="6455664" y="2011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la personne</a:t>
            </a:r>
            <a:endParaRPr lang="en-US" sz="1400" dirty="0"/>
          </a:p>
        </p:txBody>
      </p:sp>
      <p:pic>
        <p:nvPicPr>
          <p:cNvPr id="26" name="Image 1" descr="man coo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3344" y="1600200"/>
            <a:ext cx="731520" cy="73152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6501384" y="2606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bakken</a:t>
            </a:r>
            <a:endParaRPr lang="en-US" sz="1900" dirty="0"/>
          </a:p>
        </p:txBody>
      </p:sp>
      <p:sp>
        <p:nvSpPr>
          <p:cNvPr id="28" name="Shape 23"/>
          <p:cNvSpPr/>
          <p:nvPr/>
        </p:nvSpPr>
        <p:spPr>
          <a:xfrm>
            <a:off x="8513064" y="2880360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9" name="Text 24"/>
          <p:cNvSpPr txBox="1"/>
          <p:nvPr/>
        </p:nvSpPr>
        <p:spPr>
          <a:xfrm>
            <a:off x="9153144" y="2606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bakk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0" name="Text 25"/>
          <p:cNvSpPr txBox="1"/>
          <p:nvPr/>
        </p:nvSpPr>
        <p:spPr>
          <a:xfrm>
            <a:off x="6501384" y="335584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werken</a:t>
            </a:r>
            <a:endParaRPr lang="en-US" sz="1900" dirty="0"/>
          </a:p>
        </p:txBody>
      </p:sp>
      <p:sp>
        <p:nvSpPr>
          <p:cNvPr id="31" name="Shape 26"/>
          <p:cNvSpPr/>
          <p:nvPr/>
        </p:nvSpPr>
        <p:spPr>
          <a:xfrm>
            <a:off x="8513064" y="3630168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2" name="Text 27"/>
          <p:cNvSpPr txBox="1"/>
          <p:nvPr/>
        </p:nvSpPr>
        <p:spPr>
          <a:xfrm>
            <a:off x="9153144" y="335584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werk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3" name="Text 28"/>
          <p:cNvSpPr txBox="1"/>
          <p:nvPr/>
        </p:nvSpPr>
        <p:spPr>
          <a:xfrm>
            <a:off x="6501384" y="41056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schrijven</a:t>
            </a:r>
            <a:endParaRPr lang="en-US" sz="1900" dirty="0"/>
          </a:p>
        </p:txBody>
      </p:sp>
      <p:sp>
        <p:nvSpPr>
          <p:cNvPr id="34" name="Shape 29"/>
          <p:cNvSpPr/>
          <p:nvPr/>
        </p:nvSpPr>
        <p:spPr>
          <a:xfrm>
            <a:off x="8513064" y="4379976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5" name="Text 30"/>
          <p:cNvSpPr txBox="1"/>
          <p:nvPr/>
        </p:nvSpPr>
        <p:spPr>
          <a:xfrm>
            <a:off x="9153144" y="410565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schrijv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6" name="Text 31"/>
          <p:cNvSpPr txBox="1"/>
          <p:nvPr/>
        </p:nvSpPr>
        <p:spPr>
          <a:xfrm>
            <a:off x="6501384" y="485546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lezen</a:t>
            </a:r>
            <a:endParaRPr lang="en-US" sz="1900" dirty="0"/>
          </a:p>
        </p:txBody>
      </p:sp>
      <p:sp>
        <p:nvSpPr>
          <p:cNvPr id="37" name="Shape 32"/>
          <p:cNvSpPr/>
          <p:nvPr/>
        </p:nvSpPr>
        <p:spPr>
          <a:xfrm>
            <a:off x="8513064" y="5129784"/>
            <a:ext cx="5486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8" name="Text 33"/>
          <p:cNvSpPr txBox="1"/>
          <p:nvPr/>
        </p:nvSpPr>
        <p:spPr>
          <a:xfrm>
            <a:off x="9153144" y="485546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lez</a:t>
            </a:r>
            <a:r>
              <a:rPr lang="en-US" sz="1900" b="1" i="1" dirty="0">
                <a:solidFill>
                  <a:schemeClr val="accent1"/>
                </a:solidFill>
              </a:rPr>
              <a:t>er</a:t>
            </a:r>
            <a:endParaRPr lang="en-US" sz="1900" dirty="0"/>
          </a:p>
        </p:txBody>
      </p:sp>
      <p:sp>
        <p:nvSpPr>
          <p:cNvPr id="39" name="Text 34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Féminin (à reconnaître) : </a:t>
            </a:r>
            <a:r>
              <a:rPr lang="en-US" sz="1500" b="1" i="1" dirty="0">
                <a:solidFill>
                  <a:schemeClr val="accent5"/>
                </a:solidFill>
              </a:rPr>
              <a:t>-ster</a:t>
            </a:r>
            <a:r>
              <a:rPr lang="en-US" sz="1500" i="1" dirty="0">
                <a:solidFill>
                  <a:schemeClr val="accent5"/>
                </a:solidFill>
              </a:rPr>
              <a:t> (</a:t>
            </a:r>
            <a:r>
              <a:rPr lang="en-US" sz="1500" i="1" dirty="0">
                <a:solidFill>
                  <a:schemeClr val="accent5"/>
                </a:solidFill>
              </a:rPr>
              <a:t>de schrijfster</a:t>
            </a:r>
            <a:r>
              <a:rPr lang="en-US" sz="1500" i="1" dirty="0">
                <a:solidFill>
                  <a:schemeClr val="accent5"/>
                </a:solidFill>
              </a:rPr>
              <a:t>) ou </a:t>
            </a:r>
            <a:r>
              <a:rPr lang="en-US" sz="1500" b="1" i="1" dirty="0">
                <a:solidFill>
                  <a:schemeClr val="accent5"/>
                </a:solidFill>
              </a:rPr>
              <a:t>-e</a:t>
            </a:r>
            <a:r>
              <a:rPr lang="en-US" sz="1500" i="1" dirty="0">
                <a:solidFill>
                  <a:schemeClr val="accent5"/>
                </a:solidFill>
              </a:rPr>
              <a:t> (</a:t>
            </a:r>
            <a:r>
              <a:rPr lang="en-US" sz="1500" i="1" dirty="0">
                <a:solidFill>
                  <a:schemeClr val="accent5"/>
                </a:solidFill>
              </a:rPr>
              <a:t>de studente</a:t>
            </a:r>
            <a:r>
              <a:rPr lang="en-US" sz="1500" i="1" dirty="0">
                <a:solidFill>
                  <a:schemeClr val="accent5"/>
                </a:solidFill>
              </a:rPr>
              <a:t>) · </a:t>
            </a:r>
            <a:r>
              <a:rPr lang="en-US" sz="1500" i="1" dirty="0">
                <a:solidFill>
                  <a:schemeClr val="accent5"/>
                </a:solidFill>
              </a:rPr>
              <a:t>bakken → bakker</a:t>
            </a:r>
            <a:r>
              <a:rPr lang="en-US" sz="1500" i="1" dirty="0">
                <a:solidFill>
                  <a:schemeClr val="accent5"/>
                </a:solidFill>
              </a:rPr>
              <a:t> : la consonne double reste (M1).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 l’adjectif au nom… et au contraire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20440" cy="393192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52044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72768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-heid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1031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adjectif → nom (</a:t>
            </a:r>
            <a:r>
              <a:rPr lang="en-US" sz="1400" b="1" dirty="0">
                <a:solidFill>
                  <a:schemeClr val="bg1"/>
                </a:solidFill>
              </a:rPr>
              <a:t>de</a:t>
            </a:r>
            <a:r>
              <a:rPr lang="en-US" sz="1400" dirty="0">
                <a:solidFill>
                  <a:schemeClr val="bg1"/>
                </a:solidFill>
              </a:rPr>
              <a:t>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743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vrij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 vrij</a:t>
            </a:r>
            <a:r>
              <a:rPr lang="en-US" sz="1800" b="1" i="1" dirty="0">
                <a:solidFill>
                  <a:schemeClr val="tx1"/>
                </a:solidFill>
              </a:rPr>
              <a:t>heid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6118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gezond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 gezond</a:t>
            </a:r>
            <a:r>
              <a:rPr lang="en-US" sz="1800" b="1" i="1" dirty="0">
                <a:solidFill>
                  <a:schemeClr val="tx1"/>
                </a:solidFill>
              </a:rPr>
              <a:t>heid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4805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snel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 snel</a:t>
            </a:r>
            <a:r>
              <a:rPr lang="en-US" sz="1800" b="1" i="1" dirty="0">
                <a:solidFill>
                  <a:schemeClr val="tx1"/>
                </a:solidFill>
              </a:rPr>
              <a:t>heid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7680" y="1554480"/>
            <a:ext cx="3520440" cy="393192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297680" y="1554480"/>
            <a:ext cx="3520440" cy="1005840"/>
          </a:xfrm>
          <a:prstGeom prst="roundRect">
            <a:avLst>
              <a:gd name="adj" fmla="val 7273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297680" y="1572768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on-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4297680" y="21031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le contraire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434840" y="2743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mogelijk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i="1" dirty="0">
                <a:solidFill>
                  <a:schemeClr val="tx1"/>
                </a:solidFill>
              </a:rPr>
              <a:t>on</a:t>
            </a:r>
            <a:r>
              <a:rPr lang="en-US" sz="1800" i="1" dirty="0">
                <a:solidFill>
                  <a:schemeClr val="tx1"/>
                </a:solidFill>
              </a:rPr>
              <a:t>mogelijk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4434840" y="36118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gezond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i="1" dirty="0">
                <a:solidFill>
                  <a:schemeClr val="tx1"/>
                </a:solidFill>
              </a:rPr>
              <a:t>on</a:t>
            </a:r>
            <a:r>
              <a:rPr lang="en-US" sz="1800" i="1" dirty="0">
                <a:solidFill>
                  <a:schemeClr val="tx1"/>
                </a:solidFill>
              </a:rPr>
              <a:t>gezond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4434840" y="44805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bekend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i="1" dirty="0">
                <a:solidFill>
                  <a:schemeClr val="tx1"/>
                </a:solidFill>
              </a:rPr>
              <a:t>on</a:t>
            </a:r>
            <a:r>
              <a:rPr lang="en-US" sz="1800" i="1" dirty="0">
                <a:solidFill>
                  <a:schemeClr val="tx1"/>
                </a:solidFill>
              </a:rPr>
              <a:t>bekend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8046720" y="1554480"/>
            <a:ext cx="3520440" cy="393192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317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46720" y="1554480"/>
            <a:ext cx="3520440" cy="1005840"/>
          </a:xfrm>
          <a:prstGeom prst="roundRect">
            <a:avLst>
              <a:gd name="adj" fmla="val 7273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46720" y="1572768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-loos</a:t>
            </a:r>
            <a:endParaRPr lang="en-US" sz="30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21031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sans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183880" y="2743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werk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werk</a:t>
            </a:r>
            <a:r>
              <a:rPr lang="en-US" sz="1800" b="1" i="1" dirty="0">
                <a:solidFill>
                  <a:schemeClr val="tx1"/>
                </a:solidFill>
              </a:rPr>
              <a:t>loos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8183880" y="36118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draad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draad</a:t>
            </a:r>
            <a:r>
              <a:rPr lang="en-US" sz="1800" b="1" i="1" dirty="0">
                <a:solidFill>
                  <a:schemeClr val="tx1"/>
                </a:solidFill>
              </a:rPr>
              <a:t>loos</a:t>
            </a:r>
            <a:r>
              <a:rPr lang="en-US" sz="1800" i="1" dirty="0">
                <a:solidFill>
                  <a:schemeClr val="tx1"/>
                </a:solidFill>
              </a:rPr>
              <a:t> (sans fil)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183880" y="44805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zorg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zorge</a:t>
            </a:r>
            <a:r>
              <a:rPr lang="en-US" sz="1800" b="1" i="1" dirty="0">
                <a:solidFill>
                  <a:schemeClr val="tx1"/>
                </a:solidFill>
              </a:rPr>
              <a:t>loos</a:t>
            </a:r>
            <a:endParaRPr lang="en-US" sz="1800" dirty="0"/>
          </a:p>
        </p:txBody>
      </p:sp>
      <p:pic>
        <p:nvPicPr>
          <p:cNvPr id="26" name="Image 0" descr="sneez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623560"/>
            <a:ext cx="594360" cy="594360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371600" y="562356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Gezondheid!</a:t>
            </a:r>
            <a:r>
              <a:rPr lang="en-US" sz="1700" dirty="0">
                <a:solidFill>
                  <a:schemeClr val="tx1"/>
                </a:solidFill>
              </a:rPr>
              <a:t> = « À tes souhaits ! » · </a:t>
            </a:r>
            <a:r>
              <a:rPr lang="en-US" sz="1700" i="1" dirty="0">
                <a:solidFill>
                  <a:schemeClr val="tx1"/>
                </a:solidFill>
              </a:rPr>
              <a:t>werkloos</a:t>
            </a:r>
            <a:r>
              <a:rPr lang="en-US" sz="1700" dirty="0">
                <a:solidFill>
                  <a:schemeClr val="tx1"/>
                </a:solidFill>
              </a:rPr>
              <a:t> vient du M2.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Lire un mot très long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600200"/>
            <a:ext cx="3703320" cy="777240"/>
          </a:xfrm>
          <a:prstGeom prst="chevron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1 · Je trouve le dernier mot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4206240" y="1600200"/>
            <a:ext cx="3703320" cy="777240"/>
          </a:xfrm>
          <a:prstGeom prst="chevr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2 · Je coupe les blocs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863840" y="1600200"/>
            <a:ext cx="3703320" cy="777240"/>
          </a:xfrm>
          <a:prstGeom prst="chevron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3 · Je lis de droite à gauche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21284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85292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9300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133088" y="27706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11680" y="2880360"/>
            <a:ext cx="2560320" cy="822960"/>
          </a:xfrm>
          <a:prstGeom prst="roundRect">
            <a:avLst>
              <a:gd name="adj" fmla="val 5556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11680" y="28803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personeel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4613148" y="2862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841748" y="2862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17720" y="2971800"/>
            <a:ext cx="457200" cy="731520"/>
          </a:xfrm>
          <a:prstGeom prst="roundRect">
            <a:avLst>
              <a:gd name="adj" fmla="val 1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617720" y="29718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5312664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934456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556248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78040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799832" y="267919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20640" y="2788920"/>
            <a:ext cx="3108960" cy="914400"/>
          </a:xfrm>
          <a:prstGeom prst="roundRect">
            <a:avLst>
              <a:gd name="adj" fmla="val 5000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20640" y="27889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vergadering</a:t>
            </a:r>
            <a:endParaRPr lang="en-US" sz="2600" dirty="0"/>
          </a:p>
        </p:txBody>
      </p:sp>
      <p:pic>
        <p:nvPicPr>
          <p:cNvPr id="25" name="Image 0" descr="c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2194560"/>
            <a:ext cx="548640" cy="548640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3291840" y="3383280"/>
            <a:ext cx="3383280" cy="822960"/>
          </a:xfrm>
          <a:prstGeom prst="arc">
            <a:avLst>
              <a:gd name="adj1" fmla="val 0"/>
              <a:gd name="adj2" fmla="val 10800000"/>
            </a:avLst>
          </a:prstGeom>
          <a:solidFill>
            <a:srgbClr val="FFFFFF">
              <a:alpha val="0"/>
            </a:srgbClr>
          </a:solidFill>
          <a:ln w="3175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8412480" y="278892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= une </a:t>
            </a:r>
            <a:r>
              <a:rPr lang="en-US" sz="1900" b="1" dirty="0">
                <a:solidFill>
                  <a:schemeClr val="tx1"/>
                </a:solidFill>
              </a:rPr>
              <a:t>réunion</a:t>
            </a:r>
            <a:r>
              <a:rPr lang="en-US" sz="1900" dirty="0">
                <a:solidFill>
                  <a:schemeClr val="tx1"/>
                </a:solidFill>
              </a:rPr>
              <a:t> du </a:t>
            </a:r>
            <a:r>
              <a:rPr lang="en-US" sz="1900" b="1" dirty="0">
                <a:solidFill>
                  <a:schemeClr val="tx1"/>
                </a:solidFill>
              </a:rPr>
              <a:t>personnel</a:t>
            </a:r>
            <a:endParaRPr lang="en-US" sz="1900" dirty="0"/>
          </a:p>
        </p:txBody>
      </p:sp>
      <p:sp>
        <p:nvSpPr>
          <p:cNvPr id="28" name="Text 24"/>
          <p:cNvSpPr txBox="1"/>
          <p:nvPr/>
        </p:nvSpPr>
        <p:spPr>
          <a:xfrm>
            <a:off x="1097280" y="45262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de verjaardagstaart</a:t>
            </a:r>
            <a:endParaRPr lang="en-US" sz="2000" dirty="0"/>
          </a:p>
        </p:txBody>
      </p:sp>
      <p:sp>
        <p:nvSpPr>
          <p:cNvPr id="29" name="Text 25"/>
          <p:cNvSpPr txBox="1"/>
          <p:nvPr/>
        </p:nvSpPr>
        <p:spPr>
          <a:xfrm>
            <a:off x="5303520" y="452628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une </a:t>
            </a:r>
            <a:r>
              <a:rPr lang="en-US" sz="1900" b="1" dirty="0">
                <a:solidFill>
                  <a:schemeClr val="tx1"/>
                </a:solidFill>
              </a:rPr>
              <a:t>tarte</a:t>
            </a:r>
            <a:r>
              <a:rPr lang="en-US" sz="1900" dirty="0">
                <a:solidFill>
                  <a:schemeClr val="tx1"/>
                </a:solidFill>
              </a:rPr>
              <a:t> d’</a:t>
            </a:r>
            <a:r>
              <a:rPr lang="en-US" sz="1900" b="1" dirty="0">
                <a:solidFill>
                  <a:schemeClr val="tx1"/>
                </a:solidFill>
              </a:rPr>
              <a:t>anniversaire</a:t>
            </a:r>
            <a:endParaRPr lang="en-US" sz="1900" dirty="0"/>
          </a:p>
        </p:txBody>
      </p:sp>
      <p:sp>
        <p:nvSpPr>
          <p:cNvPr id="30" name="Text 26"/>
          <p:cNvSpPr txBox="1"/>
          <p:nvPr/>
        </p:nvSpPr>
        <p:spPr>
          <a:xfrm>
            <a:off x="1097280" y="51663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het fietsenrek</a:t>
            </a:r>
            <a:endParaRPr lang="en-US" sz="2000" dirty="0"/>
          </a:p>
        </p:txBody>
      </p:sp>
      <p:sp>
        <p:nvSpPr>
          <p:cNvPr id="31" name="Text 27"/>
          <p:cNvSpPr txBox="1"/>
          <p:nvPr/>
        </p:nvSpPr>
        <p:spPr>
          <a:xfrm>
            <a:off x="5303520" y="516636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un </a:t>
            </a:r>
            <a:r>
              <a:rPr lang="en-US" sz="1900" b="1" dirty="0">
                <a:solidFill>
                  <a:schemeClr val="tx1"/>
                </a:solidFill>
              </a:rPr>
              <a:t>râtelier</a:t>
            </a:r>
            <a:r>
              <a:rPr lang="en-US" sz="1900" dirty="0">
                <a:solidFill>
                  <a:schemeClr val="tx1"/>
                </a:solidFill>
              </a:rPr>
              <a:t> à </a:t>
            </a:r>
            <a:r>
              <a:rPr lang="en-US" sz="1900" b="1" dirty="0">
                <a:solidFill>
                  <a:schemeClr val="tx1"/>
                </a:solidFill>
              </a:rPr>
              <a:t>vélos</a:t>
            </a:r>
            <a:endParaRPr lang="en-US" sz="1900" dirty="0"/>
          </a:p>
        </p:txBody>
      </p:sp>
      <p:pic>
        <p:nvPicPr>
          <p:cNvPr id="32" name="Image 1" descr="Came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les faux amis composés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broo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1737360"/>
            <a:ext cx="1143000" cy="11430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29718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stof + zuiger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3474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 suceur de tissu »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9319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accent3"/>
                </a:solidFill>
              </a:rPr>
              <a:t>✓ </a:t>
            </a:r>
            <a:r>
              <a:rPr lang="en-US" sz="1900" b="1" dirty="0">
                <a:solidFill>
                  <a:schemeClr val="accent3"/>
                </a:solidFill>
              </a:rPr>
              <a:t>l’aspirateur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4297680" y="160020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old wom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37360"/>
            <a:ext cx="1143000" cy="11430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297680" y="29718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schoon + moeder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4297680" y="3474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 mère propre »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4297680" y="39319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accent3"/>
                </a:solidFill>
              </a:rPr>
              <a:t>✓ </a:t>
            </a:r>
            <a:r>
              <a:rPr lang="en-US" sz="1900" b="1" dirty="0">
                <a:solidFill>
                  <a:schemeClr val="accent3"/>
                </a:solidFill>
              </a:rPr>
              <a:t>la belle-mère</a:t>
            </a:r>
            <a:endParaRPr lang="en-US" sz="1900" dirty="0"/>
          </a:p>
        </p:txBody>
      </p:sp>
      <p:sp>
        <p:nvSpPr>
          <p:cNvPr id="15" name="Shape 10"/>
          <p:cNvSpPr/>
          <p:nvPr/>
        </p:nvSpPr>
        <p:spPr>
          <a:xfrm>
            <a:off x="8046720" y="1600200"/>
            <a:ext cx="3520440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glov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0" y="1737360"/>
            <a:ext cx="1143000" cy="11430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046720" y="29718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hand + schoen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8046720" y="3474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 chaussure de main »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8046720" y="39319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accent3"/>
                </a:solidFill>
              </a:rPr>
              <a:t>✓ </a:t>
            </a:r>
            <a:r>
              <a:rPr lang="en-US" sz="1900" b="1" dirty="0">
                <a:solidFill>
                  <a:schemeClr val="accent3"/>
                </a:solidFill>
              </a:rPr>
              <a:t>le gant</a:t>
            </a:r>
            <a:endParaRPr lang="en-US" sz="1900" dirty="0"/>
          </a:p>
        </p:txBody>
      </p:sp>
      <p:sp>
        <p:nvSpPr>
          <p:cNvPr id="20" name="Shape 14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77240" y="5166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stof</a:t>
            </a:r>
            <a:r>
              <a:rPr lang="en-US" sz="1600" dirty="0">
                <a:solidFill>
                  <a:schemeClr val="tx1"/>
                </a:solidFill>
              </a:rPr>
              <a:t> = poussière </a:t>
            </a:r>
            <a:r>
              <a:rPr lang="en-US" sz="1600" b="1" dirty="0">
                <a:solidFill>
                  <a:schemeClr val="tx1"/>
                </a:solidFill>
              </a:rPr>
              <a:t>et</a:t>
            </a:r>
            <a:r>
              <a:rPr lang="en-US" sz="1600" dirty="0">
                <a:solidFill>
                  <a:schemeClr val="tx1"/>
                </a:solidFill>
              </a:rPr>
              <a:t> tissu ; </a:t>
            </a:r>
            <a:r>
              <a:rPr lang="en-US" sz="1600" i="1" dirty="0">
                <a:solidFill>
                  <a:schemeClr val="tx1"/>
                </a:solidFill>
              </a:rPr>
              <a:t>schoon</a:t>
            </a:r>
            <a:r>
              <a:rPr lang="en-US" sz="1600" dirty="0">
                <a:solidFill>
                  <a:schemeClr val="tx1"/>
                </a:solidFill>
              </a:rPr>
              <a:t> = propre, mais « belle » dans la famille (</a:t>
            </a:r>
            <a:r>
              <a:rPr lang="en-US" sz="1600" i="1" dirty="0">
                <a:solidFill>
                  <a:schemeClr val="tx1"/>
                </a:solidFill>
              </a:rPr>
              <a:t>schoonmoeder, schoonzus</a:t>
            </a:r>
            <a:r>
              <a:rPr lang="en-US" sz="1600" dirty="0">
                <a:solidFill>
                  <a:schemeClr val="tx1"/>
                </a:solidFill>
              </a:rPr>
              <a:t>).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Le contexte et le </a:t>
            </a:r>
            <a:r>
              <a:rPr lang="en-US" sz="1600" b="1" dirty="0">
                <a:solidFill>
                  <a:schemeClr val="tx1"/>
                </a:solidFill>
              </a:rPr>
              <a:t>dictionnaire</a:t>
            </a:r>
            <a:r>
              <a:rPr lang="en-US" sz="1600" dirty="0">
                <a:solidFill>
                  <a:schemeClr val="tx1"/>
                </a:solidFill>
              </a:rPr>
              <a:t> confirment (Van Dale, woorden.org).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boîte à outils du mot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448056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6479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ub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900855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44752" y="1746504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Composer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68880"/>
            <a:ext cx="3118104" cy="3502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le </a:t>
            </a:r>
            <a:r>
              <a:rPr lang="en-US" sz="1800" b="1" dirty="0">
                <a:solidFill>
                  <a:schemeClr val="tx1"/>
                </a:solidFill>
              </a:rPr>
              <a:t>dernier</a:t>
            </a:r>
            <a:r>
              <a:rPr lang="en-US" sz="1800" dirty="0">
                <a:solidFill>
                  <a:schemeClr val="tx1"/>
                </a:solidFill>
              </a:rPr>
              <a:t> mot commande (sens + article)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un seul</a:t>
            </a:r>
            <a:r>
              <a:rPr lang="en-US" sz="1800" dirty="0">
                <a:solidFill>
                  <a:schemeClr val="tx1"/>
                </a:solidFill>
              </a:rPr>
              <a:t> mot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ordre </a:t>
            </a:r>
            <a:r>
              <a:rPr lang="en-US" sz="1800" b="1" dirty="0">
                <a:solidFill>
                  <a:schemeClr val="tx1"/>
                </a:solidFill>
              </a:rPr>
              <a:t>inversé</a:t>
            </a:r>
            <a:r>
              <a:rPr lang="en-US" sz="1800" dirty="0">
                <a:solidFill>
                  <a:schemeClr val="tx1"/>
                </a:solidFill>
              </a:rPr>
              <a:t> / français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4297680" y="1600200"/>
            <a:ext cx="3520440" cy="448056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480560" y="176479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earchPl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6623" y="1900855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93792" y="1746504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Diminuer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4498848" y="2468880"/>
            <a:ext cx="3118104" cy="3502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-je, -tje, -pje, -etje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toujours </a:t>
            </a:r>
            <a:r>
              <a:rPr lang="en-US" sz="1800" b="1" dirty="0">
                <a:solidFill>
                  <a:schemeClr val="tx1"/>
                </a:solidFill>
              </a:rPr>
              <a:t>het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een kopje, een broodje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8046720" y="1600200"/>
            <a:ext cx="3520440" cy="448056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29600" y="1764792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5663" y="1900855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42832" y="1746504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3"/>
                </a:solidFill>
              </a:rPr>
              <a:t>Dériver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8247888" y="2468880"/>
            <a:ext cx="3118104" cy="3502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-ing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dirty="0">
                <a:solidFill>
                  <a:schemeClr val="tx2"/>
                </a:solidFill>
              </a:rPr>
              <a:t>de</a:t>
            </a:r>
            <a:r>
              <a:rPr lang="en-US" sz="1800" dirty="0">
                <a:solidFill>
                  <a:schemeClr val="tx1"/>
                </a:solidFill>
              </a:rPr>
              <a:t> (l’action)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-er / -ster</a:t>
            </a:r>
            <a:r>
              <a:rPr lang="en-US" sz="1800" dirty="0">
                <a:solidFill>
                  <a:schemeClr val="tx1"/>
                </a:solidFill>
              </a:rPr>
              <a:t> → la personne</a:t>
            </a:r>
            <a:endParaRPr lang="en-US" sz="1800" dirty="0"/>
          </a:p>
          <a:p>
            <a:pPr algn="l"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-heid</a:t>
            </a:r>
            <a:r>
              <a:rPr lang="en-US" sz="1800" dirty="0">
                <a:solidFill>
                  <a:schemeClr val="tx1"/>
                </a:solidFill>
              </a:rPr>
              <a:t> (</a:t>
            </a:r>
            <a:r>
              <a:rPr lang="en-US" sz="1800" b="1" dirty="0">
                <a:solidFill>
                  <a:schemeClr val="tx2"/>
                </a:solidFill>
              </a:rPr>
              <a:t>de</a:t>
            </a:r>
            <a:r>
              <a:rPr lang="en-US" sz="1800" dirty="0">
                <a:solidFill>
                  <a:schemeClr val="tx1"/>
                </a:solidFill>
              </a:rPr>
              <a:t>) · </a:t>
            </a:r>
            <a:r>
              <a:rPr lang="en-US" sz="1800" i="1" dirty="0">
                <a:solidFill>
                  <a:schemeClr val="tx1"/>
                </a:solidFill>
              </a:rPr>
              <a:t>on-</a:t>
            </a:r>
            <a:r>
              <a:rPr lang="en-US" sz="1800" dirty="0">
                <a:solidFill>
                  <a:schemeClr val="tx1"/>
                </a:solidFill>
              </a:rPr>
              <a:t> (contraire) · </a:t>
            </a:r>
            <a:r>
              <a:rPr lang="en-US" sz="1800" i="1" dirty="0">
                <a:solidFill>
                  <a:schemeClr val="tx1"/>
                </a:solidFill>
              </a:rPr>
              <a:t>-loos</a:t>
            </a:r>
            <a:r>
              <a:rPr lang="en-US" sz="1800" dirty="0">
                <a:solidFill>
                  <a:schemeClr val="tx1"/>
                </a:solidFill>
              </a:rPr>
              <a:t> (sans)</a:t>
            </a:r>
            <a:endParaRPr lang="en-US" sz="1800" dirty="0"/>
          </a:p>
        </p:txBody>
      </p:sp>
      <p:pic>
        <p:nvPicPr>
          <p:cNvPr id="20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ub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04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Lego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76428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9014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9014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90144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 ou het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90144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97992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1708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170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SearchPl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1708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diminutifs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11708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Langu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040" y="45994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580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Traduction express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376428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390144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390144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itema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268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90144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famille « werk »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390144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697992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711708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11708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Troph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11708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mot le plus long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711708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2" name="Image 6" descr="man teach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Les Lego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Assemblez les briques (1–8 avec a–h).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9644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40080" y="199644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  koffie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548640" y="254127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0080" y="254127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  fiets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48640" y="308610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080" y="308610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  vergader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48640" y="363093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0080" y="363093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4  wacht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417576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40080" y="417576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5  voor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472059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40080" y="472059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6  tand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548640" y="526542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0080" y="526542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7  parkeer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548640" y="581025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40080" y="581025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8  brieven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5532120" y="199644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623560" y="199644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  bus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5532120" y="254127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623560" y="254127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b  pad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5532120" y="308610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623560" y="308610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  deur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>
            <a:off x="5532120" y="363093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623560" y="363093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  kamer</a:t>
            </a:r>
            <a:endParaRPr lang="en-US" sz="1700" dirty="0"/>
          </a:p>
        </p:txBody>
      </p:sp>
      <p:sp>
        <p:nvSpPr>
          <p:cNvPr id="32" name="Shape 28"/>
          <p:cNvSpPr/>
          <p:nvPr/>
        </p:nvSpPr>
        <p:spPr>
          <a:xfrm>
            <a:off x="5532120" y="417576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623560" y="417576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  pauze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5532120" y="472059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623560" y="472059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  arts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5532120" y="526542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623560" y="526542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g  zaal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532120" y="581025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623560" y="581025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  plaats</a:t>
            </a:r>
            <a:endParaRPr lang="en-US" sz="1700" dirty="0"/>
          </a:p>
        </p:txBody>
      </p:sp>
      <p:pic>
        <p:nvPicPr>
          <p:cNvPr id="40" name="Image 1" descr="building construc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3029712"/>
            <a:ext cx="1828800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Les Lego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Assemblez les briques (1–8 avec a–h).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2788920" y="2204847"/>
            <a:ext cx="269748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2788920" y="2749677"/>
            <a:ext cx="269748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2788920" y="3294507"/>
            <a:ext cx="269748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2788920" y="3839337"/>
            <a:ext cx="269748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 flipV="1">
            <a:off x="2788920" y="3294507"/>
            <a:ext cx="2697480" cy="108966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2788920" y="4928997"/>
            <a:ext cx="269748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2788920" y="5473827"/>
            <a:ext cx="2697480" cy="54483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 flipV="1">
            <a:off x="2788920" y="2204847"/>
            <a:ext cx="2697480" cy="381381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548640" y="199644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0080" y="199644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  koffie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48640" y="254127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40080" y="254127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  fiets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8640" y="308610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0080" y="308610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  vergader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48640" y="363093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0080" y="363093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4  wacht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548640" y="417576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40080" y="417576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5  voor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548640" y="472059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40080" y="472059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6  tand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>
            <a:off x="548640" y="526542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40080" y="526542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7  parkeer</a:t>
            </a:r>
            <a:endParaRPr lang="en-US" sz="1700" dirty="0"/>
          </a:p>
        </p:txBody>
      </p:sp>
      <p:sp>
        <p:nvSpPr>
          <p:cNvPr id="31" name="Shape 27"/>
          <p:cNvSpPr/>
          <p:nvPr/>
        </p:nvSpPr>
        <p:spPr>
          <a:xfrm>
            <a:off x="548640" y="5810250"/>
            <a:ext cx="2194560" cy="416814"/>
          </a:xfrm>
          <a:prstGeom prst="roundRect">
            <a:avLst>
              <a:gd name="adj" fmla="val 1096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40080" y="5810250"/>
            <a:ext cx="20116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8  brieven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532120" y="199644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623560" y="199644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  bus</a:t>
            </a:r>
            <a:endParaRPr lang="en-US" sz="1700" dirty="0"/>
          </a:p>
        </p:txBody>
      </p:sp>
      <p:sp>
        <p:nvSpPr>
          <p:cNvPr id="35" name="Shape 31"/>
          <p:cNvSpPr/>
          <p:nvPr/>
        </p:nvSpPr>
        <p:spPr>
          <a:xfrm>
            <a:off x="5532120" y="254127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623560" y="254127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b  pad</a:t>
            </a:r>
            <a:endParaRPr lang="en-US" sz="1700" dirty="0"/>
          </a:p>
        </p:txBody>
      </p:sp>
      <p:sp>
        <p:nvSpPr>
          <p:cNvPr id="37" name="Shape 33"/>
          <p:cNvSpPr/>
          <p:nvPr/>
        </p:nvSpPr>
        <p:spPr>
          <a:xfrm>
            <a:off x="5532120" y="308610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623560" y="308610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  deur</a:t>
            </a:r>
            <a:endParaRPr lang="en-US" sz="1700" dirty="0"/>
          </a:p>
        </p:txBody>
      </p:sp>
      <p:sp>
        <p:nvSpPr>
          <p:cNvPr id="39" name="Shape 35"/>
          <p:cNvSpPr/>
          <p:nvPr/>
        </p:nvSpPr>
        <p:spPr>
          <a:xfrm>
            <a:off x="5532120" y="363093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623560" y="363093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  kamer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5532120" y="417576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623560" y="417576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  pauze</a:t>
            </a:r>
            <a:endParaRPr lang="en-US" sz="1700" dirty="0"/>
          </a:p>
        </p:txBody>
      </p:sp>
      <p:sp>
        <p:nvSpPr>
          <p:cNvPr id="43" name="Shape 39"/>
          <p:cNvSpPr/>
          <p:nvPr/>
        </p:nvSpPr>
        <p:spPr>
          <a:xfrm>
            <a:off x="5532120" y="472059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623560" y="472059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  arts</a:t>
            </a:r>
            <a:endParaRPr lang="en-US" sz="1700" dirty="0"/>
          </a:p>
        </p:txBody>
      </p:sp>
      <p:sp>
        <p:nvSpPr>
          <p:cNvPr id="45" name="Shape 41"/>
          <p:cNvSpPr/>
          <p:nvPr/>
        </p:nvSpPr>
        <p:spPr>
          <a:xfrm>
            <a:off x="5532120" y="526542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623560" y="526542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g  zaal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5532120" y="5810250"/>
            <a:ext cx="1737360" cy="416814"/>
          </a:xfrm>
          <a:prstGeom prst="roundRect">
            <a:avLst>
              <a:gd name="adj" fmla="val 1096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5623560" y="5810250"/>
            <a:ext cx="1554480" cy="416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  plaats</a:t>
            </a:r>
            <a:endParaRPr lang="en-US" sz="1700" dirty="0"/>
          </a:p>
        </p:txBody>
      </p:sp>
      <p:sp>
        <p:nvSpPr>
          <p:cNvPr id="49" name="Shape 45"/>
          <p:cNvSpPr/>
          <p:nvPr/>
        </p:nvSpPr>
        <p:spPr>
          <a:xfrm>
            <a:off x="7680960" y="1932432"/>
            <a:ext cx="3959352" cy="4358640"/>
          </a:xfrm>
          <a:prstGeom prst="roundRect">
            <a:avLst>
              <a:gd name="adj" fmla="val 1848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7863840" y="2023872"/>
            <a:ext cx="3657600" cy="3627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1e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koffiepauze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2b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fietspad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3g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vergaderzaal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4d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wachtkamer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5c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voordeur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6f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tandarts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7h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parkeerplaats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8a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brievenbus</a:t>
            </a:r>
            <a:endParaRPr lang="en-US" sz="1800" dirty="0"/>
          </a:p>
        </p:txBody>
      </p:sp>
      <p:sp>
        <p:nvSpPr>
          <p:cNvPr id="51" name="Text 47"/>
          <p:cNvSpPr txBox="1"/>
          <p:nvPr/>
        </p:nvSpPr>
        <p:spPr>
          <a:xfrm>
            <a:off x="7863840" y="56692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Aussi correct : </a:t>
            </a:r>
            <a:r>
              <a:rPr lang="en-US" sz="1400" i="1" dirty="0">
                <a:solidFill>
                  <a:schemeClr val="accent5"/>
                </a:solidFill>
              </a:rPr>
              <a:t>3d vergaderkamer · 4g wachtzaal</a:t>
            </a:r>
            <a:r>
              <a:rPr lang="en-US" sz="1400" i="1" dirty="0">
                <a:solidFill>
                  <a:schemeClr val="accent5"/>
                </a:solidFill>
              </a:rPr>
              <a:t> (BE)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De ou het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Quel est l’article du mot composé ? Regardez le dernier bloc.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0558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31520" y="200558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kantoor (het)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stoel (de)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4572000" y="200558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6199632" y="200558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382512" y="200558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computer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scherm (het)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10222992" y="200558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548640" y="309524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731520" y="309524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koffie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kopje (het)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309524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6199632" y="309524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6382512" y="309524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fiets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pad (het)</a:t>
            </a:r>
            <a:endParaRPr lang="en-US" sz="1900" dirty="0"/>
          </a:p>
        </p:txBody>
      </p:sp>
      <p:sp>
        <p:nvSpPr>
          <p:cNvPr id="19" name="Text 15"/>
          <p:cNvSpPr txBox="1"/>
          <p:nvPr/>
        </p:nvSpPr>
        <p:spPr>
          <a:xfrm>
            <a:off x="10222992" y="309524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548640" y="418490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731520" y="418490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school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boek (het)</a:t>
            </a:r>
            <a:endParaRPr lang="en-US" sz="1900" dirty="0"/>
          </a:p>
        </p:txBody>
      </p:sp>
      <p:sp>
        <p:nvSpPr>
          <p:cNvPr id="22" name="Text 18"/>
          <p:cNvSpPr txBox="1"/>
          <p:nvPr/>
        </p:nvSpPr>
        <p:spPr>
          <a:xfrm>
            <a:off x="4572000" y="418490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6199632" y="418490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6382512" y="418490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huis (het)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deur (de)</a:t>
            </a:r>
            <a:endParaRPr lang="en-US" sz="1900" dirty="0"/>
          </a:p>
        </p:txBody>
      </p:sp>
      <p:sp>
        <p:nvSpPr>
          <p:cNvPr id="25" name="Text 21"/>
          <p:cNvSpPr txBox="1"/>
          <p:nvPr/>
        </p:nvSpPr>
        <p:spPr>
          <a:xfrm>
            <a:off x="10222992" y="418490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548640" y="527456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731520" y="527456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telefoon (de)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nummer (het)</a:t>
            </a:r>
            <a:endParaRPr lang="en-US" sz="1900" dirty="0"/>
          </a:p>
        </p:txBody>
      </p:sp>
      <p:sp>
        <p:nvSpPr>
          <p:cNvPr id="28" name="Text 24"/>
          <p:cNvSpPr txBox="1"/>
          <p:nvPr/>
        </p:nvSpPr>
        <p:spPr>
          <a:xfrm>
            <a:off x="4572000" y="527456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6199632" y="5274564"/>
            <a:ext cx="5440680" cy="943356"/>
          </a:xfrm>
          <a:prstGeom prst="roundRect">
            <a:avLst>
              <a:gd name="adj" fmla="val 77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Text 26"/>
          <p:cNvSpPr txBox="1"/>
          <p:nvPr/>
        </p:nvSpPr>
        <p:spPr>
          <a:xfrm>
            <a:off x="6382512" y="5274564"/>
            <a:ext cx="38404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werk (het)</a:t>
            </a:r>
            <a:r>
              <a:rPr lang="en-US" sz="1900" dirty="0">
                <a:solidFill>
                  <a:schemeClr val="tx1"/>
                </a:solidFill>
              </a:rPr>
              <a:t> + </a:t>
            </a:r>
            <a:r>
              <a:rPr lang="en-US" sz="1900" i="1" dirty="0">
                <a:solidFill>
                  <a:schemeClr val="tx1"/>
                </a:solidFill>
              </a:rPr>
              <a:t>plek (de)</a:t>
            </a:r>
            <a:endParaRPr lang="en-US" sz="1900" dirty="0"/>
          </a:p>
        </p:txBody>
      </p:sp>
      <p:sp>
        <p:nvSpPr>
          <p:cNvPr id="31" name="Text 27"/>
          <p:cNvSpPr txBox="1"/>
          <p:nvPr/>
        </p:nvSpPr>
        <p:spPr>
          <a:xfrm>
            <a:off x="10222992" y="5274564"/>
            <a:ext cx="1325880" cy="943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→ …… 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De ou het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Quel est l’article du mot composé ? Regardez le dernier bloc.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13248" cy="4358640"/>
          </a:xfrm>
          <a:prstGeom prst="roundRect">
            <a:avLst>
              <a:gd name="adj" fmla="val 1678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1932432"/>
            <a:ext cx="5413248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1932432"/>
            <a:ext cx="54132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270967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de kantoorstoel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334975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de huisdeur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398983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de werkplek</a:t>
            </a:r>
            <a:endParaRPr lang="en-US" sz="2200" dirty="0"/>
          </a:p>
        </p:txBody>
      </p:sp>
      <p:sp>
        <p:nvSpPr>
          <p:cNvPr id="15" name="Shape 11"/>
          <p:cNvSpPr/>
          <p:nvPr/>
        </p:nvSpPr>
        <p:spPr>
          <a:xfrm>
            <a:off x="6227064" y="1932432"/>
            <a:ext cx="5413248" cy="4358640"/>
          </a:xfrm>
          <a:prstGeom prst="roundRect">
            <a:avLst>
              <a:gd name="adj" fmla="val 1678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227064" y="1932432"/>
            <a:ext cx="5413248" cy="594360"/>
          </a:xfrm>
          <a:prstGeom prst="roundRect">
            <a:avLst>
              <a:gd name="adj" fmla="val 1230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227064" y="1932432"/>
            <a:ext cx="54132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HET</a:t>
            </a:r>
            <a:endParaRPr lang="en-US" sz="2600" dirty="0"/>
          </a:p>
        </p:txBody>
      </p:sp>
      <p:sp>
        <p:nvSpPr>
          <p:cNvPr id="18" name="Text 14"/>
          <p:cNvSpPr txBox="1"/>
          <p:nvPr/>
        </p:nvSpPr>
        <p:spPr>
          <a:xfrm>
            <a:off x="6227064" y="270967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computerscherm</a:t>
            </a:r>
            <a:endParaRPr lang="en-US" sz="2200" dirty="0"/>
          </a:p>
        </p:txBody>
      </p:sp>
      <p:sp>
        <p:nvSpPr>
          <p:cNvPr id="19" name="Text 15"/>
          <p:cNvSpPr txBox="1"/>
          <p:nvPr/>
        </p:nvSpPr>
        <p:spPr>
          <a:xfrm>
            <a:off x="6227064" y="334975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koffiekopje</a:t>
            </a:r>
            <a:endParaRPr lang="en-US" sz="2200" dirty="0"/>
          </a:p>
        </p:txBody>
      </p:sp>
      <p:sp>
        <p:nvSpPr>
          <p:cNvPr id="20" name="Text 16"/>
          <p:cNvSpPr txBox="1"/>
          <p:nvPr/>
        </p:nvSpPr>
        <p:spPr>
          <a:xfrm>
            <a:off x="6227064" y="398983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fietspad</a:t>
            </a:r>
            <a:endParaRPr lang="en-US" sz="2200" dirty="0"/>
          </a:p>
        </p:txBody>
      </p:sp>
      <p:sp>
        <p:nvSpPr>
          <p:cNvPr id="21" name="Text 17"/>
          <p:cNvSpPr txBox="1"/>
          <p:nvPr/>
        </p:nvSpPr>
        <p:spPr>
          <a:xfrm>
            <a:off x="6227064" y="462991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schoolboek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6227064" y="5269992"/>
            <a:ext cx="5413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het telefoonnummer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diminutifs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le diminutif : -je, -tje, -pje ou -etje ?</a:t>
            </a:r>
            <a:endParaRPr lang="en-US" sz="1700" dirty="0"/>
          </a:p>
        </p:txBody>
      </p:sp>
      <p:pic>
        <p:nvPicPr>
          <p:cNvPr id="8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57222"/>
            <a:ext cx="640080" cy="6400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32588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0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157222"/>
            <a:ext cx="640080" cy="64008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557784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stoel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stoel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2" name="Image 3" descr="deciduous tre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46882"/>
            <a:ext cx="640080" cy="64008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32588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boom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boom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4" name="Image 4" descr="soccer bal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3246882"/>
            <a:ext cx="640080" cy="640080"/>
          </a:xfrm>
          <a:prstGeom prst="rect">
            <a:avLst/>
          </a:prstGeom>
        </p:spPr>
      </p:pic>
      <p:sp>
        <p:nvSpPr>
          <p:cNvPr id="15" name="Text 7"/>
          <p:cNvSpPr txBox="1"/>
          <p:nvPr/>
        </p:nvSpPr>
        <p:spPr>
          <a:xfrm>
            <a:off x="557784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4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bal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bal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6" name="Image 5" descr="brea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336542"/>
            <a:ext cx="640080" cy="640080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132588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5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18" name="Image 6" descr="wo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4336542"/>
            <a:ext cx="640080" cy="640080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557784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vrouw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vrouw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20" name="Image 7" descr="r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426202"/>
            <a:ext cx="640080" cy="640080"/>
          </a:xfrm>
          <a:prstGeom prst="rect">
            <a:avLst/>
          </a:prstGeom>
        </p:spPr>
      </p:pic>
      <p:sp>
        <p:nvSpPr>
          <p:cNvPr id="21" name="Text 10"/>
          <p:cNvSpPr txBox="1"/>
          <p:nvPr/>
        </p:nvSpPr>
        <p:spPr>
          <a:xfrm>
            <a:off x="132588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7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ring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ring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pic>
        <p:nvPicPr>
          <p:cNvPr id="22" name="Image 8" descr="window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00600" y="5426202"/>
            <a:ext cx="640080" cy="640080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557784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8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endParaRPr lang="en-US" sz="1900" dirty="0"/>
          </a:p>
        </p:txBody>
      </p:sp>
      <p:sp>
        <p:nvSpPr>
          <p:cNvPr id="24" name="Shape 12"/>
          <p:cNvSpPr/>
          <p:nvPr/>
        </p:nvSpPr>
        <p:spPr>
          <a:xfrm>
            <a:off x="9052560" y="1932432"/>
            <a:ext cx="2587752" cy="4358640"/>
          </a:xfrm>
          <a:prstGeom prst="roundRect">
            <a:avLst>
              <a:gd name="adj" fmla="val 2827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13"/>
          <p:cNvSpPr txBox="1"/>
          <p:nvPr/>
        </p:nvSpPr>
        <p:spPr>
          <a:xfrm>
            <a:off x="9189720" y="2069592"/>
            <a:ext cx="2331720" cy="410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-je</a:t>
            </a:r>
            <a:r>
              <a:rPr lang="en-US" sz="1500" dirty="0">
                <a:solidFill>
                  <a:schemeClr val="tx1"/>
                </a:solidFill>
              </a:rPr>
              <a:t> général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-tje</a:t>
            </a:r>
            <a:r>
              <a:rPr lang="en-US" sz="1500" dirty="0">
                <a:solidFill>
                  <a:schemeClr val="tx1"/>
                </a:solidFill>
              </a:rPr>
              <a:t> voyelle longue (+ l, n, r, w)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-pje</a:t>
            </a:r>
            <a:r>
              <a:rPr lang="en-US" sz="1500" dirty="0">
                <a:solidFill>
                  <a:schemeClr val="tx1"/>
                </a:solidFill>
              </a:rPr>
              <a:t> voyelle longue + m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-etje</a:t>
            </a:r>
            <a:r>
              <a:rPr lang="en-US" sz="1500" dirty="0">
                <a:solidFill>
                  <a:schemeClr val="tx1"/>
                </a:solidFill>
              </a:rPr>
              <a:t> voyelle courte + l, m, n, r, ng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→ toujours </a:t>
            </a:r>
            <a:r>
              <a:rPr lang="en-US" sz="1500" b="1" dirty="0">
                <a:solidFill>
                  <a:schemeClr val="tx1"/>
                </a:solidFill>
              </a:rPr>
              <a:t>het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diminutifs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le diminutif : -je, -tje, -pje ou -etje ?</a:t>
            </a:r>
            <a:endParaRPr lang="en-US" sz="1700" dirty="0"/>
          </a:p>
        </p:txBody>
      </p:sp>
      <p:pic>
        <p:nvPicPr>
          <p:cNvPr id="9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57222"/>
            <a:ext cx="640080" cy="6400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2588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huis</a:t>
            </a:r>
            <a:r>
              <a:rPr lang="en-US" sz="1900" b="1" i="1" dirty="0">
                <a:solidFill>
                  <a:schemeClr val="accent3"/>
                </a:solidFill>
              </a:rPr>
              <a:t>je</a:t>
            </a:r>
            <a:endParaRPr lang="en-US" sz="1900" dirty="0"/>
          </a:p>
        </p:txBody>
      </p:sp>
      <p:pic>
        <p:nvPicPr>
          <p:cNvPr id="11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157222"/>
            <a:ext cx="640080" cy="64008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5577840" y="193243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stoel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stoel</a:t>
            </a:r>
            <a:r>
              <a:rPr lang="en-US" sz="1900" b="1" i="1" dirty="0">
                <a:solidFill>
                  <a:schemeClr val="accent3"/>
                </a:solidFill>
              </a:rPr>
              <a:t>tje</a:t>
            </a:r>
            <a:endParaRPr lang="en-US" sz="1900" dirty="0"/>
          </a:p>
        </p:txBody>
      </p:sp>
      <p:pic>
        <p:nvPicPr>
          <p:cNvPr id="13" name="Image 3" descr="deciduous tre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46882"/>
            <a:ext cx="640080" cy="64008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32588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boom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boom</a:t>
            </a:r>
            <a:r>
              <a:rPr lang="en-US" sz="1900" b="1" i="1" dirty="0">
                <a:solidFill>
                  <a:schemeClr val="accent3"/>
                </a:solidFill>
              </a:rPr>
              <a:t>pje</a:t>
            </a:r>
            <a:endParaRPr lang="en-US" sz="1900" dirty="0"/>
          </a:p>
        </p:txBody>
      </p:sp>
      <p:pic>
        <p:nvPicPr>
          <p:cNvPr id="15" name="Image 4" descr="soccer bal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3246882"/>
            <a:ext cx="640080" cy="64008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5577840" y="302209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4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bal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bal</a:t>
            </a:r>
            <a:r>
              <a:rPr lang="en-US" sz="1900" b="1" i="1" dirty="0">
                <a:solidFill>
                  <a:schemeClr val="accent3"/>
                </a:solidFill>
              </a:rPr>
              <a:t>letje</a:t>
            </a:r>
            <a:endParaRPr lang="en-US" sz="1900" dirty="0"/>
          </a:p>
        </p:txBody>
      </p:sp>
      <p:pic>
        <p:nvPicPr>
          <p:cNvPr id="17" name="Image 5" descr="brea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336542"/>
            <a:ext cx="640080" cy="640080"/>
          </a:xfrm>
          <a:prstGeom prst="rect">
            <a:avLst/>
          </a:prstGeom>
        </p:spPr>
      </p:pic>
      <p:sp>
        <p:nvSpPr>
          <p:cNvPr id="18" name="Text 9"/>
          <p:cNvSpPr txBox="1"/>
          <p:nvPr/>
        </p:nvSpPr>
        <p:spPr>
          <a:xfrm>
            <a:off x="132588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5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brood</a:t>
            </a:r>
            <a:r>
              <a:rPr lang="en-US" sz="1900" b="1" i="1" dirty="0">
                <a:solidFill>
                  <a:schemeClr val="accent3"/>
                </a:solidFill>
              </a:rPr>
              <a:t>je</a:t>
            </a:r>
            <a:endParaRPr lang="en-US" sz="1900" dirty="0"/>
          </a:p>
        </p:txBody>
      </p:sp>
      <p:pic>
        <p:nvPicPr>
          <p:cNvPr id="19" name="Image 6" descr="wo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4336542"/>
            <a:ext cx="640080" cy="640080"/>
          </a:xfrm>
          <a:prstGeom prst="rect">
            <a:avLst/>
          </a:prstGeom>
        </p:spPr>
      </p:pic>
      <p:sp>
        <p:nvSpPr>
          <p:cNvPr id="20" name="Text 10"/>
          <p:cNvSpPr txBox="1"/>
          <p:nvPr/>
        </p:nvSpPr>
        <p:spPr>
          <a:xfrm>
            <a:off x="5577840" y="411175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vrouw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vrouw</a:t>
            </a:r>
            <a:r>
              <a:rPr lang="en-US" sz="1900" b="1" i="1" dirty="0">
                <a:solidFill>
                  <a:schemeClr val="accent3"/>
                </a:solidFill>
              </a:rPr>
              <a:t>tje</a:t>
            </a:r>
            <a:endParaRPr lang="en-US" sz="1900" dirty="0"/>
          </a:p>
        </p:txBody>
      </p:sp>
      <p:pic>
        <p:nvPicPr>
          <p:cNvPr id="21" name="Image 7" descr="r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426202"/>
            <a:ext cx="640080" cy="640080"/>
          </a:xfrm>
          <a:prstGeom prst="rect">
            <a:avLst/>
          </a:prstGeom>
        </p:spPr>
      </p:pic>
      <p:sp>
        <p:nvSpPr>
          <p:cNvPr id="22" name="Text 11"/>
          <p:cNvSpPr txBox="1"/>
          <p:nvPr/>
        </p:nvSpPr>
        <p:spPr>
          <a:xfrm>
            <a:off x="132588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7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ring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ring</a:t>
            </a:r>
            <a:r>
              <a:rPr lang="en-US" sz="1900" b="1" i="1" dirty="0">
                <a:solidFill>
                  <a:schemeClr val="accent3"/>
                </a:solidFill>
              </a:rPr>
              <a:t>etje</a:t>
            </a:r>
            <a:endParaRPr lang="en-US" sz="1900" dirty="0"/>
          </a:p>
        </p:txBody>
      </p:sp>
      <p:pic>
        <p:nvPicPr>
          <p:cNvPr id="23" name="Image 8" descr="window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00600" y="5426202"/>
            <a:ext cx="640080" cy="640080"/>
          </a:xfrm>
          <a:prstGeom prst="rect">
            <a:avLst/>
          </a:prstGeom>
        </p:spPr>
      </p:pic>
      <p:sp>
        <p:nvSpPr>
          <p:cNvPr id="24" name="Text 12"/>
          <p:cNvSpPr txBox="1"/>
          <p:nvPr/>
        </p:nvSpPr>
        <p:spPr>
          <a:xfrm>
            <a:off x="5577840" y="5201412"/>
            <a:ext cx="3383280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8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endParaRPr lang="en-US" sz="19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het raam</a:t>
            </a:r>
            <a:r>
              <a:rPr lang="en-US" sz="1900" b="1" i="1" dirty="0">
                <a:solidFill>
                  <a:schemeClr val="accent3"/>
                </a:solidFill>
              </a:rPr>
              <a:t>pje</a:t>
            </a:r>
            <a:endParaRPr lang="en-US" sz="1900" dirty="0"/>
          </a:p>
        </p:txBody>
      </p:sp>
      <p:sp>
        <p:nvSpPr>
          <p:cNvPr id="25" name="Shape 13"/>
          <p:cNvSpPr/>
          <p:nvPr/>
        </p:nvSpPr>
        <p:spPr>
          <a:xfrm>
            <a:off x="9052560" y="1932432"/>
            <a:ext cx="2587752" cy="4358640"/>
          </a:xfrm>
          <a:prstGeom prst="roundRect">
            <a:avLst>
              <a:gd name="adj" fmla="val 2827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9189720" y="2069592"/>
            <a:ext cx="2331720" cy="410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-je</a:t>
            </a:r>
            <a:r>
              <a:rPr lang="en-US" sz="1500" dirty="0">
                <a:solidFill>
                  <a:schemeClr val="tx1"/>
                </a:solidFill>
              </a:rPr>
              <a:t> général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-tje</a:t>
            </a:r>
            <a:r>
              <a:rPr lang="en-US" sz="1500" dirty="0">
                <a:solidFill>
                  <a:schemeClr val="tx1"/>
                </a:solidFill>
              </a:rPr>
              <a:t> voyelle longue (+ l, n, r, w)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-pje</a:t>
            </a:r>
            <a:r>
              <a:rPr lang="en-US" sz="1500" dirty="0">
                <a:solidFill>
                  <a:schemeClr val="tx1"/>
                </a:solidFill>
              </a:rPr>
              <a:t> voyelle longue + m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-etje</a:t>
            </a:r>
            <a:r>
              <a:rPr lang="en-US" sz="1500" dirty="0">
                <a:solidFill>
                  <a:schemeClr val="tx1"/>
                </a:solidFill>
              </a:rPr>
              <a:t> voyelle courte + l, m, n, r, ng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→ toujours </a:t>
            </a:r>
            <a:r>
              <a:rPr lang="en-US" sz="1500" b="1" dirty="0">
                <a:solidFill>
                  <a:schemeClr val="tx1"/>
                </a:solidFill>
              </a:rPr>
              <a:t>het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Traduction express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Construisez le mot composé (avec son article). Attention à l’ordre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960120" y="196900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196900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d’attente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196900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(wachten, kamer)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903720" y="218655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7406640" y="196900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60120" y="251383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097280" y="251383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verre à vin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0" y="251383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(wijn, glas)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903720" y="273138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7406640" y="251383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960120" y="305866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97280" y="305866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brosse à dents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4572000" y="305866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(tanden, borstel)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6903720" y="327621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7406640" y="305866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960120" y="360349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097280" y="360349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jus d’orange</a:t>
            </a:r>
            <a:endParaRPr lang="en-US" sz="1700" dirty="0"/>
          </a:p>
        </p:txBody>
      </p:sp>
      <p:sp>
        <p:nvSpPr>
          <p:cNvPr id="33" name="Text 29"/>
          <p:cNvSpPr txBox="1"/>
          <p:nvPr/>
        </p:nvSpPr>
        <p:spPr>
          <a:xfrm>
            <a:off x="4572000" y="360349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(sinaasappel, sap)</a:t>
            </a:r>
            <a:endParaRPr lang="en-US" sz="1400" dirty="0"/>
          </a:p>
        </p:txBody>
      </p:sp>
      <p:sp>
        <p:nvSpPr>
          <p:cNvPr id="34" name="Shape 30"/>
          <p:cNvSpPr/>
          <p:nvPr/>
        </p:nvSpPr>
        <p:spPr>
          <a:xfrm>
            <a:off x="6903720" y="382104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7406640" y="360349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8" name="Shape 34"/>
          <p:cNvSpPr/>
          <p:nvPr/>
        </p:nvSpPr>
        <p:spPr>
          <a:xfrm>
            <a:off x="960120" y="414832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097280" y="414832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place de parking</a:t>
            </a:r>
            <a:endParaRPr lang="en-US" sz="1700" dirty="0"/>
          </a:p>
        </p:txBody>
      </p:sp>
      <p:sp>
        <p:nvSpPr>
          <p:cNvPr id="40" name="Text 36"/>
          <p:cNvSpPr txBox="1"/>
          <p:nvPr/>
        </p:nvSpPr>
        <p:spPr>
          <a:xfrm>
            <a:off x="4572000" y="414832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(parkeren, plaats)</a:t>
            </a:r>
            <a:endParaRPr lang="en-US" sz="1400" dirty="0"/>
          </a:p>
        </p:txBody>
      </p:sp>
      <p:sp>
        <p:nvSpPr>
          <p:cNvPr id="41" name="Shape 37"/>
          <p:cNvSpPr/>
          <p:nvPr/>
        </p:nvSpPr>
        <p:spPr>
          <a:xfrm>
            <a:off x="6903720" y="436587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7406640" y="414832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5" name="Shape 41"/>
          <p:cNvSpPr/>
          <p:nvPr/>
        </p:nvSpPr>
        <p:spPr>
          <a:xfrm>
            <a:off x="960120" y="469315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097280" y="469315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l’heure de pointe</a:t>
            </a:r>
            <a:endParaRPr lang="en-US" sz="1700" dirty="0"/>
          </a:p>
        </p:txBody>
      </p:sp>
      <p:sp>
        <p:nvSpPr>
          <p:cNvPr id="47" name="Text 43"/>
          <p:cNvSpPr txBox="1"/>
          <p:nvPr/>
        </p:nvSpPr>
        <p:spPr>
          <a:xfrm>
            <a:off x="4572000" y="469315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(spits, uur)</a:t>
            </a:r>
            <a:endParaRPr lang="en-US" sz="1400" dirty="0"/>
          </a:p>
        </p:txBody>
      </p:sp>
      <p:sp>
        <p:nvSpPr>
          <p:cNvPr id="48" name="Shape 44"/>
          <p:cNvSpPr/>
          <p:nvPr/>
        </p:nvSpPr>
        <p:spPr>
          <a:xfrm>
            <a:off x="6903720" y="491070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7406640" y="469315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>
            <a:off x="960120" y="523798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1097280" y="523798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numéro de téléphone</a:t>
            </a:r>
            <a:endParaRPr lang="en-US" sz="1700" dirty="0"/>
          </a:p>
        </p:txBody>
      </p:sp>
      <p:sp>
        <p:nvSpPr>
          <p:cNvPr id="54" name="Text 50"/>
          <p:cNvSpPr txBox="1"/>
          <p:nvPr/>
        </p:nvSpPr>
        <p:spPr>
          <a:xfrm>
            <a:off x="4572000" y="523798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(telefoon, nummer)</a:t>
            </a:r>
            <a:endParaRPr lang="en-US" sz="1400" dirty="0"/>
          </a:p>
        </p:txBody>
      </p:sp>
      <p:sp>
        <p:nvSpPr>
          <p:cNvPr id="55" name="Shape 51"/>
          <p:cNvSpPr/>
          <p:nvPr/>
        </p:nvSpPr>
        <p:spPr>
          <a:xfrm>
            <a:off x="6903720" y="545553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6" name="Shape 52"/>
          <p:cNvSpPr/>
          <p:nvPr/>
        </p:nvSpPr>
        <p:spPr>
          <a:xfrm>
            <a:off x="7406640" y="523798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9" name="Shape 55"/>
          <p:cNvSpPr/>
          <p:nvPr/>
        </p:nvSpPr>
        <p:spPr>
          <a:xfrm>
            <a:off x="960120" y="578281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1097280" y="578281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de réunion</a:t>
            </a:r>
            <a:endParaRPr lang="en-US" sz="1700" dirty="0"/>
          </a:p>
        </p:txBody>
      </p:sp>
      <p:sp>
        <p:nvSpPr>
          <p:cNvPr id="61" name="Text 57"/>
          <p:cNvSpPr txBox="1"/>
          <p:nvPr/>
        </p:nvSpPr>
        <p:spPr>
          <a:xfrm>
            <a:off x="4572000" y="578281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(vergaderen, zaal)</a:t>
            </a:r>
            <a:endParaRPr lang="en-US" sz="1400" dirty="0"/>
          </a:p>
        </p:txBody>
      </p:sp>
      <p:sp>
        <p:nvSpPr>
          <p:cNvPr id="62" name="Shape 58"/>
          <p:cNvSpPr/>
          <p:nvPr/>
        </p:nvSpPr>
        <p:spPr>
          <a:xfrm>
            <a:off x="6903720" y="600036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7406640" y="5782818"/>
            <a:ext cx="42336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Traduction express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Construisez le mot composé (avec son article). Attention à l’ordre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960120" y="196900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97280" y="196900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d’attente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196900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(wachten, kamer)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903720" y="218655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7406640" y="196900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543800" y="196900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wachtkamer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960120" y="251383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097280" y="251383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verre à vin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0" y="251383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(wijn, glas)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6903720" y="273138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7406640" y="251383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543800" y="251383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wijnglas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960120" y="305866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97280" y="305866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brosse à dents</a:t>
            </a:r>
            <a:endParaRPr lang="en-US" sz="1700" dirty="0"/>
          </a:p>
        </p:txBody>
      </p:sp>
      <p:sp>
        <p:nvSpPr>
          <p:cNvPr id="29" name="Text 25"/>
          <p:cNvSpPr txBox="1"/>
          <p:nvPr/>
        </p:nvSpPr>
        <p:spPr>
          <a:xfrm>
            <a:off x="4572000" y="305866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(tanden, borstel)</a:t>
            </a:r>
            <a:endParaRPr 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6903720" y="327621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7406640" y="305866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7543800" y="305866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tandenborstel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960120" y="360349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097280" y="360349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jus d’orange</a:t>
            </a:r>
            <a:endParaRPr lang="en-US" sz="1700" dirty="0"/>
          </a:p>
        </p:txBody>
      </p:sp>
      <p:sp>
        <p:nvSpPr>
          <p:cNvPr id="37" name="Text 33"/>
          <p:cNvSpPr txBox="1"/>
          <p:nvPr/>
        </p:nvSpPr>
        <p:spPr>
          <a:xfrm>
            <a:off x="4572000" y="360349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(sinaasappel, sap)</a:t>
            </a:r>
            <a:endParaRPr lang="en-US" sz="1400" dirty="0"/>
          </a:p>
        </p:txBody>
      </p:sp>
      <p:sp>
        <p:nvSpPr>
          <p:cNvPr id="38" name="Shape 34"/>
          <p:cNvSpPr/>
          <p:nvPr/>
        </p:nvSpPr>
        <p:spPr>
          <a:xfrm>
            <a:off x="6903720" y="382104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9" name="Shape 35"/>
          <p:cNvSpPr/>
          <p:nvPr/>
        </p:nvSpPr>
        <p:spPr>
          <a:xfrm>
            <a:off x="7406640" y="360349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543800" y="360349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sinaasappelsap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3" name="Shape 39"/>
          <p:cNvSpPr/>
          <p:nvPr/>
        </p:nvSpPr>
        <p:spPr>
          <a:xfrm>
            <a:off x="960120" y="414832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097280" y="414832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place de parking</a:t>
            </a:r>
            <a:endParaRPr lang="en-US" sz="1700" dirty="0"/>
          </a:p>
        </p:txBody>
      </p:sp>
      <p:sp>
        <p:nvSpPr>
          <p:cNvPr id="45" name="Text 41"/>
          <p:cNvSpPr txBox="1"/>
          <p:nvPr/>
        </p:nvSpPr>
        <p:spPr>
          <a:xfrm>
            <a:off x="4572000" y="414832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(parkeren, plaats)</a:t>
            </a:r>
            <a:endParaRPr lang="en-US" sz="1400" dirty="0"/>
          </a:p>
        </p:txBody>
      </p:sp>
      <p:sp>
        <p:nvSpPr>
          <p:cNvPr id="46" name="Shape 42"/>
          <p:cNvSpPr/>
          <p:nvPr/>
        </p:nvSpPr>
        <p:spPr>
          <a:xfrm>
            <a:off x="6903720" y="436587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7" name="Shape 43"/>
          <p:cNvSpPr/>
          <p:nvPr/>
        </p:nvSpPr>
        <p:spPr>
          <a:xfrm>
            <a:off x="7406640" y="414832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7543800" y="414832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parkeerplaats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51" name="Shape 47"/>
          <p:cNvSpPr/>
          <p:nvPr/>
        </p:nvSpPr>
        <p:spPr>
          <a:xfrm>
            <a:off x="960120" y="469315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097280" y="469315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l’heure de pointe</a:t>
            </a:r>
            <a:endParaRPr lang="en-US" sz="1700" dirty="0"/>
          </a:p>
        </p:txBody>
      </p:sp>
      <p:sp>
        <p:nvSpPr>
          <p:cNvPr id="53" name="Text 49"/>
          <p:cNvSpPr txBox="1"/>
          <p:nvPr/>
        </p:nvSpPr>
        <p:spPr>
          <a:xfrm>
            <a:off x="4572000" y="469315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(spits, uur)</a:t>
            </a:r>
            <a:endParaRPr lang="en-US" sz="1400" dirty="0"/>
          </a:p>
        </p:txBody>
      </p:sp>
      <p:sp>
        <p:nvSpPr>
          <p:cNvPr id="54" name="Shape 50"/>
          <p:cNvSpPr/>
          <p:nvPr/>
        </p:nvSpPr>
        <p:spPr>
          <a:xfrm>
            <a:off x="6903720" y="491070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7406640" y="469315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7543800" y="469315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spitsuur</a:t>
            </a:r>
            <a:endParaRPr lang="en-US" sz="1800" dirty="0"/>
          </a:p>
        </p:txBody>
      </p:sp>
      <p:sp>
        <p:nvSpPr>
          <p:cNvPr id="57" name="Shape 53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9" name="Shape 55"/>
          <p:cNvSpPr/>
          <p:nvPr/>
        </p:nvSpPr>
        <p:spPr>
          <a:xfrm>
            <a:off x="960120" y="523798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1097280" y="523798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numéro de téléphone</a:t>
            </a:r>
            <a:endParaRPr lang="en-US" sz="1700" dirty="0"/>
          </a:p>
        </p:txBody>
      </p:sp>
      <p:sp>
        <p:nvSpPr>
          <p:cNvPr id="61" name="Text 57"/>
          <p:cNvSpPr txBox="1"/>
          <p:nvPr/>
        </p:nvSpPr>
        <p:spPr>
          <a:xfrm>
            <a:off x="4572000" y="523798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(telefoon, nummer)</a:t>
            </a:r>
            <a:endParaRPr lang="en-US" sz="1400" dirty="0"/>
          </a:p>
        </p:txBody>
      </p:sp>
      <p:sp>
        <p:nvSpPr>
          <p:cNvPr id="62" name="Shape 58"/>
          <p:cNvSpPr/>
          <p:nvPr/>
        </p:nvSpPr>
        <p:spPr>
          <a:xfrm>
            <a:off x="6903720" y="545553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7406640" y="523798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7543800" y="523798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telefoonnummer</a:t>
            </a:r>
            <a:endParaRPr lang="en-US" sz="1800" dirty="0"/>
          </a:p>
        </p:txBody>
      </p:sp>
      <p:sp>
        <p:nvSpPr>
          <p:cNvPr id="65" name="Shape 61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67" name="Shape 63"/>
          <p:cNvSpPr/>
          <p:nvPr/>
        </p:nvSpPr>
        <p:spPr>
          <a:xfrm>
            <a:off x="960120" y="5782818"/>
            <a:ext cx="356616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1097280" y="5782818"/>
            <a:ext cx="338328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salle de réunion</a:t>
            </a:r>
            <a:endParaRPr lang="en-US" sz="1700" dirty="0"/>
          </a:p>
        </p:txBody>
      </p:sp>
      <p:sp>
        <p:nvSpPr>
          <p:cNvPr id="69" name="Text 65"/>
          <p:cNvSpPr txBox="1"/>
          <p:nvPr/>
        </p:nvSpPr>
        <p:spPr>
          <a:xfrm>
            <a:off x="4572000" y="5782818"/>
            <a:ext cx="23774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(vergaderen, zaal)</a:t>
            </a:r>
            <a:endParaRPr lang="en-US" sz="1400" dirty="0"/>
          </a:p>
        </p:txBody>
      </p:sp>
      <p:sp>
        <p:nvSpPr>
          <p:cNvPr id="70" name="Shape 66"/>
          <p:cNvSpPr/>
          <p:nvPr/>
        </p:nvSpPr>
        <p:spPr>
          <a:xfrm>
            <a:off x="6903720" y="6000369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1" name="Shape 67"/>
          <p:cNvSpPr/>
          <p:nvPr/>
        </p:nvSpPr>
        <p:spPr>
          <a:xfrm>
            <a:off x="7406640" y="5782818"/>
            <a:ext cx="42336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2" name="Text 68"/>
          <p:cNvSpPr txBox="1"/>
          <p:nvPr/>
        </p:nvSpPr>
        <p:spPr>
          <a:xfrm>
            <a:off x="7543800" y="5782818"/>
            <a:ext cx="40233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vergaderzaal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La famille « werk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Combien de mots avec « werk » connaissez-vous ? Complétez la carte mentale.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 flipH="1" flipV="1">
            <a:off x="316382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 flipH="1" flipV="1">
            <a:off x="316382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H="1">
            <a:off x="316382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H="1">
            <a:off x="316382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718718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718718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18718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18718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946904" y="3517392"/>
            <a:ext cx="2286000" cy="11887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946904" y="351739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3400" dirty="0"/>
          </a:p>
        </p:txBody>
      </p:sp>
      <p:sp>
        <p:nvSpPr>
          <p:cNvPr id="18" name="Shape 14"/>
          <p:cNvSpPr/>
          <p:nvPr/>
        </p:nvSpPr>
        <p:spPr>
          <a:xfrm>
            <a:off x="60350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19" name="Shape 15"/>
          <p:cNvSpPr/>
          <p:nvPr/>
        </p:nvSpPr>
        <p:spPr>
          <a:xfrm>
            <a:off x="60350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0" name="Shape 16"/>
          <p:cNvSpPr/>
          <p:nvPr/>
        </p:nvSpPr>
        <p:spPr>
          <a:xfrm>
            <a:off x="60350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1" name="Shape 17"/>
          <p:cNvSpPr/>
          <p:nvPr/>
        </p:nvSpPr>
        <p:spPr>
          <a:xfrm>
            <a:off x="60350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2" name="Shape 18"/>
          <p:cNvSpPr/>
          <p:nvPr/>
        </p:nvSpPr>
        <p:spPr>
          <a:xfrm>
            <a:off x="901598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3" name="Shape 19"/>
          <p:cNvSpPr/>
          <p:nvPr/>
        </p:nvSpPr>
        <p:spPr>
          <a:xfrm>
            <a:off x="901598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4" name="Shape 20"/>
          <p:cNvSpPr/>
          <p:nvPr/>
        </p:nvSpPr>
        <p:spPr>
          <a:xfrm>
            <a:off x="901598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5" name="Shape 21"/>
          <p:cNvSpPr/>
          <p:nvPr/>
        </p:nvSpPr>
        <p:spPr>
          <a:xfrm>
            <a:off x="901598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9050">
            <a:solidFill>
              <a:srgbClr val="B8C2CF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La famille « werk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Combien de mots avec « werk » connaissez-vous ? Complétez la carte mentale.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 flipH="1" flipV="1">
            <a:off x="316382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H="1" flipV="1">
            <a:off x="316382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H="1">
            <a:off x="316382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H="1">
            <a:off x="316382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7187184" y="260299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7187184" y="360883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187184" y="4111752"/>
            <a:ext cx="1828800" cy="5029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187184" y="4111752"/>
            <a:ext cx="1828800" cy="15087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46904" y="3517392"/>
            <a:ext cx="2286000" cy="11887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946904" y="351739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3400" dirty="0"/>
          </a:p>
        </p:txBody>
      </p:sp>
      <p:sp>
        <p:nvSpPr>
          <p:cNvPr id="19" name="Shape 15"/>
          <p:cNvSpPr/>
          <p:nvPr/>
        </p:nvSpPr>
        <p:spPr>
          <a:xfrm>
            <a:off x="60350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03504" y="221894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werken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travailler</a:t>
            </a:r>
            <a:endParaRPr lang="en-US" sz="1500" dirty="0"/>
          </a:p>
        </p:txBody>
      </p:sp>
      <p:sp>
        <p:nvSpPr>
          <p:cNvPr id="21" name="Shape 17"/>
          <p:cNvSpPr/>
          <p:nvPr/>
        </p:nvSpPr>
        <p:spPr>
          <a:xfrm>
            <a:off x="60350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03504" y="322478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travailleur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60350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03504" y="423062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werknemer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l’employé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60350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03504" y="523646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werkgever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l’employeur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9015984" y="221894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015984" y="221894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werkplek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poste de travail</a:t>
            </a:r>
            <a:endParaRPr lang="en-US" sz="1500" dirty="0"/>
          </a:p>
        </p:txBody>
      </p:sp>
      <p:sp>
        <p:nvSpPr>
          <p:cNvPr id="29" name="Shape 25"/>
          <p:cNvSpPr/>
          <p:nvPr/>
        </p:nvSpPr>
        <p:spPr>
          <a:xfrm>
            <a:off x="9015984" y="322478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015984" y="322478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werkloos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sans emploi</a:t>
            </a:r>
            <a:endParaRPr lang="en-US" sz="1500" dirty="0"/>
          </a:p>
        </p:txBody>
      </p:sp>
      <p:sp>
        <p:nvSpPr>
          <p:cNvPr id="31" name="Shape 27"/>
          <p:cNvSpPr/>
          <p:nvPr/>
        </p:nvSpPr>
        <p:spPr>
          <a:xfrm>
            <a:off x="9015984" y="423062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9015984" y="423062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het thuiswerk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travail à domicile</a:t>
            </a:r>
            <a:endParaRPr lang="en-US" sz="1500" dirty="0"/>
          </a:p>
        </p:txBody>
      </p:sp>
      <p:sp>
        <p:nvSpPr>
          <p:cNvPr id="33" name="Shape 29"/>
          <p:cNvSpPr/>
          <p:nvPr/>
        </p:nvSpPr>
        <p:spPr>
          <a:xfrm>
            <a:off x="9015984" y="5236464"/>
            <a:ext cx="2560320" cy="768096"/>
          </a:xfrm>
          <a:prstGeom prst="roundRect">
            <a:avLst>
              <a:gd name="adj" fmla="val 23810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9015984" y="5236464"/>
            <a:ext cx="2560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het werkwoord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verbe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mot le plus long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01650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64134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266188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22960" y="1828800"/>
            <a:ext cx="1874520" cy="777240"/>
          </a:xfrm>
          <a:prstGeom prst="roundRect">
            <a:avLst>
              <a:gd name="adj" fmla="val 5882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182880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vergader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2919222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90722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752344" y="1828800"/>
            <a:ext cx="1143000" cy="777240"/>
          </a:xfrm>
          <a:prstGeom prst="roundRect">
            <a:avLst>
              <a:gd name="adj" fmla="val 5882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752344" y="1828800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zaal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4254246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100066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950208" y="1828800"/>
            <a:ext cx="1691640" cy="777240"/>
          </a:xfrm>
          <a:prstGeom prst="roundRect">
            <a:avLst>
              <a:gd name="adj" fmla="val 5882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950208" y="18288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sleutel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863590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35090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96712" y="1828800"/>
            <a:ext cx="1143000" cy="777240"/>
          </a:xfrm>
          <a:prstGeom prst="roundRect">
            <a:avLst>
              <a:gd name="adj" fmla="val 5882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696712" y="1828800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kast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6970014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358634" y="171907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894576" y="1828800"/>
            <a:ext cx="777240" cy="777240"/>
          </a:xfrm>
          <a:prstGeom prst="roundRect">
            <a:avLst>
              <a:gd name="adj" fmla="val 5882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94576" y="18288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je</a:t>
            </a:r>
            <a:endParaRPr lang="en-US" sz="22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278892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→ </a:t>
            </a:r>
            <a:r>
              <a:rPr lang="en-US" sz="1800" b="1" dirty="0">
                <a:solidFill>
                  <a:schemeClr val="accent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i="1" dirty="0">
                <a:solidFill>
                  <a:schemeClr val="tx1"/>
                </a:solidFill>
              </a:rPr>
              <a:t>vergaderzaalsleutelkastje</a:t>
            </a:r>
            <a:r>
              <a:rPr lang="en-US" sz="1800" dirty="0">
                <a:solidFill>
                  <a:schemeClr val="tx1"/>
                </a:solidFill>
              </a:rPr>
              <a:t> (le petit coffre à clés de la salle de réunion)</a:t>
            </a:r>
            <a:endParaRPr lang="en-US" sz="1800" dirty="0"/>
          </a:p>
        </p:txBody>
      </p:sp>
      <p:pic>
        <p:nvPicPr>
          <p:cNvPr id="28" name="Image 0" descr="stopwat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57600"/>
            <a:ext cx="1188720" cy="118872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2103120" y="356616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Par équipes, 3 minutes.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Chaque brique doit avoir un sens.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On gagne avec le mot le plus long </a:t>
            </a:r>
            <a:r>
              <a:rPr lang="en-US" sz="1800" b="1" dirty="0">
                <a:solidFill>
                  <a:schemeClr val="tx1"/>
                </a:solidFill>
              </a:rPr>
              <a:t>et</a:t>
            </a:r>
            <a:r>
              <a:rPr lang="en-US" sz="1800" dirty="0">
                <a:solidFill>
                  <a:schemeClr val="tx1"/>
                </a:solidFill>
              </a:rPr>
              <a:t> correct (article compris !).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7863840" y="3566160"/>
            <a:ext cx="3776472" cy="2697480"/>
          </a:xfrm>
          <a:prstGeom prst="roundRect">
            <a:avLst>
              <a:gd name="adj" fmla="val 27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863840" y="3657600"/>
            <a:ext cx="3776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BRIQUES DE DÉPART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836218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913942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8092440" y="42519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2A6FB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092440" y="42519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koffie</a:t>
            </a:r>
            <a:endParaRPr lang="en-US" sz="1600" dirty="0"/>
          </a:p>
        </p:txBody>
      </p:sp>
      <p:sp>
        <p:nvSpPr>
          <p:cNvPr id="36" name="Shape 32"/>
          <p:cNvSpPr/>
          <p:nvPr/>
        </p:nvSpPr>
        <p:spPr>
          <a:xfrm>
            <a:off x="1009954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10876788" y="41422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9829800" y="42519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9829800" y="42519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fiets</a:t>
            </a:r>
            <a:endParaRPr lang="en-US" sz="1600" dirty="0"/>
          </a:p>
        </p:txBody>
      </p:sp>
      <p:sp>
        <p:nvSpPr>
          <p:cNvPr id="40" name="Shape 36"/>
          <p:cNvSpPr/>
          <p:nvPr/>
        </p:nvSpPr>
        <p:spPr>
          <a:xfrm>
            <a:off x="836218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913942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8092440" y="49377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D970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8092440" y="49377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school</a:t>
            </a:r>
            <a:endParaRPr lang="en-US" sz="1600" dirty="0"/>
          </a:p>
        </p:txBody>
      </p:sp>
      <p:sp>
        <p:nvSpPr>
          <p:cNvPr id="44" name="Shape 40"/>
          <p:cNvSpPr/>
          <p:nvPr/>
        </p:nvSpPr>
        <p:spPr>
          <a:xfrm>
            <a:off x="1009954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10876788" y="48280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9829800" y="49377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9829800" y="49377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kantoor</a:t>
            </a:r>
            <a:endParaRPr lang="en-US" sz="1600" dirty="0"/>
          </a:p>
        </p:txBody>
      </p:sp>
      <p:sp>
        <p:nvSpPr>
          <p:cNvPr id="48" name="Shape 44"/>
          <p:cNvSpPr/>
          <p:nvPr/>
        </p:nvSpPr>
        <p:spPr>
          <a:xfrm>
            <a:off x="8362188" y="55138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9139428" y="5513832"/>
            <a:ext cx="237744" cy="128016"/>
          </a:xfrm>
          <a:prstGeom prst="roundRect">
            <a:avLst>
              <a:gd name="adj" fmla="val 21429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8092440" y="5623560"/>
            <a:ext cx="1554480" cy="502920"/>
          </a:xfrm>
          <a:prstGeom prst="roundRect">
            <a:avLst>
              <a:gd name="adj" fmla="val 9091"/>
            </a:avLst>
          </a:prstGeom>
          <a:solidFill>
            <a:srgbClr val="B83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8092440" y="56235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1600" dirty="0"/>
          </a:p>
        </p:txBody>
      </p:sp>
      <p:pic>
        <p:nvPicPr>
          <p:cNvPr id="52" name="Image 1" descr="troph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5212080"/>
            <a:ext cx="1005840" cy="10058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Que signifie </a:t>
            </a:r>
            <a:r>
              <a:rPr lang="en-US" sz="2000" i="1" dirty="0">
                <a:solidFill>
                  <a:schemeClr val="tx1"/>
                </a:solidFill>
              </a:rPr>
              <a:t>de fietsenstalling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stalling</a:t>
            </a:r>
            <a:r>
              <a:rPr lang="en-US" sz="2000" dirty="0">
                <a:solidFill>
                  <a:schemeClr val="tx1"/>
                </a:solidFill>
              </a:rPr>
              <a:t> = le garage)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Article : </a:t>
            </a:r>
            <a:r>
              <a:rPr lang="en-US" sz="2000" i="1" dirty="0">
                <a:solidFill>
                  <a:schemeClr val="tx1"/>
                </a:solidFill>
              </a:rPr>
              <a:t>school (de) + gebouw (het)</a:t>
            </a:r>
            <a:r>
              <a:rPr lang="en-US" sz="2000" dirty="0">
                <a:solidFill>
                  <a:schemeClr val="tx1"/>
                </a:solidFill>
              </a:rPr>
              <a:t> → …… </a:t>
            </a:r>
            <a:r>
              <a:rPr lang="en-US" sz="2000" i="1" dirty="0">
                <a:solidFill>
                  <a:schemeClr val="tx1"/>
                </a:solidFill>
              </a:rPr>
              <a:t>schoolgebouw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Le diminutif de </a:t>
            </a:r>
            <a:r>
              <a:rPr lang="en-US" sz="2000" i="1" dirty="0">
                <a:solidFill>
                  <a:schemeClr val="tx1"/>
                </a:solidFill>
              </a:rPr>
              <a:t>de bal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Comprendre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Former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Deviner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Histor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Het perfectum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Wat heb je gisteren gedaan?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14 — Woordvorming — La formation des mots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2026-10-05T15:46:45Z</dcterms:created>
  <dcterms:modified xsi:type="dcterms:W3CDTF">2026-10-05T15:46:45Z</dcterms:modified>
</cp:coreProperties>
</file>