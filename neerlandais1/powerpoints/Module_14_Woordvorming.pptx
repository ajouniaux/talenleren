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35b93fc-5f2d-44cc-a4d7-d73d501852f0}">
          <p14:sldIdLst>
            <p14:sldId id="256"/>
          </p14:sldIdLst>
        </p14:section>
        <p14:section name="Découvrir" id="{10f06e4e-a839-4094-1214-a3352a147200}">
          <p14:sldIdLst>
            <p14:sldId id="257"/>
            <p14:sldId id="258"/>
            <p14:sldId id="259"/>
          </p14:sldIdLst>
        </p14:section>
        <p14:section name="Comprendre" id="{b9672143-7044-39e7-d330-74dff5270290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8b850c5f-2563-e505-c763-487415b900da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69060052-96aa-31b1-221a-0bf0960868a7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une image : des mots qui s'emboîtent comme des Lego.
Question d'entrée : « Comment dit-on salle de réunion ? Et dans quel ordre ? » Le néerlandais colle les mots, et à l'envers du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Avec 500 mots de base, on en comprend des milliers : c'est la stratégie la plus rentable du vocabulaire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le dernier élément donne le sens principal et l'article.
Rappel du M5 (diapo « mots composés »). Le premier mot précise : une kantoordeur est une porte (pas un bureau).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4 types de composés (archive diapo 4, classement corrigé).
Correction de l'archive : vliegtuig et knipbeurt (une coupe de cheveux) sont des « radical + nom ». Le radical s'obtient comme au M3 (eten → 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 calque de l'ordre français.
Deux erreurs typiques : l'ordre français et l'écriture en deux mots (influence de l'anglais). de identiteitskaart = la carte d'identité belge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éléments de liaison (sans les produire systématiquement).
En A1, on apprend ces mots tels quels. -en- ressemble souvent au pluriel (boeken + kast). de arbeidsovereenkomst (le contrat de travail) est utile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les diminutifs les plus fréquents (approfondit M5 : -je = het).
Les diminutifs figés sont très fréquents : een kopje koffie, een broodje, een biertje, even een momentje. Le diminutif exprime aussi l'affection (mijn zusje).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Dériver des noms d'action et de personne à partir d'un verbe.
Lien M5 : -ing fait partie des familles DE. La consonne se double si la voyelle est courte (bakken → bakker), règle du M1. Lien M2 : les métiers (bakker, schrijver, verpleger).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trois suffixes et préfixes très productifs.
werkloos vient du M2 (Ik ben werkloos). Gezondheid! = « À tes souhaits ! » (après un éternuement) : effet garanti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une méthode de lecture et de compréhension (lien avec la méthode de lecture du M1).
Défi : le mot composé le plus long que la classe connaît. La note de la diapo 20 propose une version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le découpage aide, mais ne remplace pas le dictionnaire.
stof = la poussière et le tissu ; schoon = propre, mais aussi « beau » dans les noms de famille par alliance (schoonmoeder, schoonzus) : le contexte tranche. Encouragez l'usage d'un dictionnaire en ligne (Van Dale, woorden.org).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Les exercices 5 et 6 peuvent être joués en équipes, en fin de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Jeu d'équipe : construire des composés longs et corrects.
L'article du mot final est celui du dernier bloc : het vergaderzaalsleutelkastje (-je = het). Demandez à chaque équipe de traduire son mot de droite à gauche.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Le parking à vélos.
2. het schoolgebouw.
3. het balletje.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Woordvorming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formation des mots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vergader + zaal = de vergaderzaal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678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70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6312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28800"/>
            <a:ext cx="2377440" cy="822960"/>
          </a:xfrm>
          <a:prstGeom prst="roundRect">
            <a:avLst>
              <a:gd name="adj" fmla="val 5556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28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0708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023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23960" y="1828800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1828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400" dirty="0"/>
          </a:p>
        </p:txBody>
      </p:sp>
      <p:pic>
        <p:nvPicPr>
          <p:cNvPr id="14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600200"/>
            <a:ext cx="1097280" cy="10972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21040" y="2880360"/>
            <a:ext cx="914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00800" y="3611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4800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la salle de réunion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Comprendre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découpe un mot long pour le comprendre.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fabrique des mots composés et des diminutifs.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Deviner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devine le </a:t>
            </a:r>
            <a:r>
              <a:rPr lang="en-US" sz="2000" b="1" dirty="0">
                <a:solidFill>
                  <a:schemeClr val="tx1"/>
                </a:solidFill>
              </a:rPr>
              <a:t>sens</a:t>
            </a:r>
            <a:r>
              <a:rPr lang="en-US" sz="2000" dirty="0">
                <a:solidFill>
                  <a:schemeClr val="tx1"/>
                </a:solidFill>
              </a:rPr>
              <a:t> et l’</a:t>
            </a:r>
            <a:r>
              <a:rPr lang="en-US" sz="2000" b="1" dirty="0">
                <a:solidFill>
                  <a:schemeClr val="tx1"/>
                </a:solidFill>
              </a:rPr>
              <a:t>article</a:t>
            </a:r>
            <a:r>
              <a:rPr lang="en-US" sz="2000" dirty="0">
                <a:solidFill>
                  <a:schemeClr val="tx1"/>
                </a:solidFill>
              </a:rPr>
              <a:t> d’un mot nouveau.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Avec 500 mots de base, on en comprend des milliers : c’est la stratégie la plus rentable du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6" name="Shape 23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429768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45" name="Text 42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pic>
        <p:nvPicPr>
          <p:cNvPr id="12" name="Image 0" descr="glo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1752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gant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pic>
        <p:nvPicPr>
          <p:cNvPr id="20" name="Image 1" descr="closed mailbox with raised 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017520"/>
            <a:ext cx="594360" cy="5943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boîte aux lettres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pic>
        <p:nvPicPr>
          <p:cNvPr id="28" name="Image 2" descr="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017520"/>
            <a:ext cx="594360" cy="594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0684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frigo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33" name="Shape 27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pic>
        <p:nvPicPr>
          <p:cNvPr id="36" name="Image 3" descr="hospi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94960"/>
            <a:ext cx="594360" cy="5943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50876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l’hôpital</a:t>
            </a:r>
            <a:endParaRPr lang="en-US" sz="1800" dirty="0"/>
          </a:p>
        </p:txBody>
      </p:sp>
      <p:sp>
        <p:nvSpPr>
          <p:cNvPr id="38" name="Shape 31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pic>
        <p:nvPicPr>
          <p:cNvPr id="44" name="Image 4" descr="bicy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5394960"/>
            <a:ext cx="594360" cy="59436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25780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piste cyclable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51" name="Text 43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pic>
        <p:nvPicPr>
          <p:cNvPr id="52" name="Image 5" descr="bro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5394960"/>
            <a:ext cx="594360" cy="59436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900684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l’aspirateur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d’or : le dernier mot commande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29844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3852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7860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868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201168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20116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9806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73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65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03320" y="182880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3320" y="1828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200" dirty="0"/>
          </a:p>
        </p:txBody>
      </p:sp>
      <p:pic>
        <p:nvPicPr>
          <p:cNvPr id="16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43000"/>
            <a:ext cx="731520" cy="7315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 flipV="1">
            <a:off x="6126480" y="1828800"/>
            <a:ext cx="1005840" cy="36576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2651760"/>
            <a:ext cx="1005840" cy="365760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7178040" y="150876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0" y="15087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sens</a:t>
            </a:r>
            <a:r>
              <a:rPr lang="en-US" sz="1700" dirty="0">
                <a:solidFill>
                  <a:schemeClr val="tx1"/>
                </a:solidFill>
              </a:rPr>
              <a:t> : une </a:t>
            </a:r>
            <a:r>
              <a:rPr lang="en-US" sz="1700" i="1" dirty="0">
                <a:solidFill>
                  <a:schemeClr val="tx1"/>
                </a:solidFill>
              </a:rPr>
              <a:t>zaal</a:t>
            </a:r>
            <a:r>
              <a:rPr lang="en-US" sz="1700" dirty="0">
                <a:solidFill>
                  <a:schemeClr val="tx1"/>
                </a:solidFill>
              </a:rPr>
              <a:t> (salle) pour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l’article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zaal →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97280" y="38404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deur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035040" y="417880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040880" y="3840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tx2"/>
                </a:solidFill>
              </a:rPr>
              <a:t>de</a:t>
            </a:r>
            <a:r>
              <a:rPr lang="en-US" sz="2400" b="1" i="1" dirty="0">
                <a:solidFill>
                  <a:schemeClr val="tx1"/>
                </a:solidFill>
              </a:rPr>
              <a:t> kantoordeur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4663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computer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scherm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6035040" y="500176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040880" y="4663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accent1"/>
                </a:solidFill>
              </a:rPr>
              <a:t>het</a:t>
            </a:r>
            <a:r>
              <a:rPr lang="en-US" sz="2400" b="1" i="1" dirty="0">
                <a:solidFill>
                  <a:schemeClr val="tx1"/>
                </a:solidFill>
              </a:rPr>
              <a:t> computerscherm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b="1" dirty="0">
                <a:solidFill>
                  <a:schemeClr val="bg1"/>
                </a:solidFill>
              </a:rPr>
              <a:t>dernier</a:t>
            </a:r>
            <a:r>
              <a:rPr lang="en-US" sz="1800" dirty="0">
                <a:solidFill>
                  <a:schemeClr val="bg1"/>
                </a:solidFill>
              </a:rPr>
              <a:t> mot donne le </a:t>
            </a:r>
            <a:r>
              <a:rPr lang="en-US" sz="1800" b="1" dirty="0">
                <a:solidFill>
                  <a:schemeClr val="bg1"/>
                </a:solidFill>
              </a:rPr>
              <a:t>sens</a:t>
            </a:r>
            <a:r>
              <a:rPr lang="en-US" sz="1800" dirty="0">
                <a:solidFill>
                  <a:schemeClr val="bg1"/>
                </a:solidFill>
              </a:rPr>
              <a:t> et l’</a:t>
            </a:r>
            <a:r>
              <a:rPr lang="en-US" sz="1800" b="1" dirty="0">
                <a:solidFill>
                  <a:schemeClr val="bg1"/>
                </a:solidFill>
              </a:rPr>
              <a:t>article</a:t>
            </a:r>
            <a:r>
              <a:rPr lang="en-US" sz="1800" dirty="0">
                <a:solidFill>
                  <a:schemeClr val="bg1"/>
                </a:solidFill>
              </a:rPr>
              <a:t> (M5). Le premier mot </a:t>
            </a:r>
            <a:r>
              <a:rPr lang="en-US" sz="1800" b="1" dirty="0">
                <a:solidFill>
                  <a:schemeClr val="bg1"/>
                </a:solidFill>
              </a:rPr>
              <a:t>précise</a:t>
            </a:r>
            <a:r>
              <a:rPr lang="en-US" sz="1800" dirty="0">
                <a:solidFill>
                  <a:schemeClr val="bg1"/>
                </a:solidFill>
              </a:rPr>
              <a:t> : une </a:t>
            </a:r>
            <a:r>
              <a:rPr lang="en-US" sz="1800" i="1" dirty="0">
                <a:solidFill>
                  <a:schemeClr val="bg1"/>
                </a:solidFill>
              </a:rPr>
              <a:t>kantoordeur</a:t>
            </a:r>
            <a:r>
              <a:rPr lang="en-US" sz="1800" dirty="0">
                <a:solidFill>
                  <a:schemeClr val="bg1"/>
                </a:solidFill>
              </a:rPr>
              <a:t> est une porte.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4 recettes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3837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5559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8288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613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43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28800" y="18288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28800" y="18288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1691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6FB0"/>
                </a:solidFill>
              </a:rPr>
              <a:t>nom + nom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760720" y="169164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A6FB0">
              <a:alpha val="10000"/>
            </a:srgb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0" y="16916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politieman · de schoenmaat · het appelsap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3837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5559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944368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94436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96138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430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828800" y="2944368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828800" y="2944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3227"/>
                </a:solidFill>
              </a:rPr>
              <a:t>radical de verbe + nom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760720" y="28072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B83227">
              <a:alpha val="10000"/>
            </a:srgb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43600" y="2807208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eetkamer (eet-en) · de zitplaats · het vliegtuig · de wachtkamer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837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35559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059936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05993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prép.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96138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46430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828800" y="4059936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28800" y="405993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3063240" y="392277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4F"/>
                </a:solidFill>
              </a:rPr>
              <a:t>préposition + nom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760720" y="392277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E7D4F">
              <a:alpha val="10000"/>
            </a:srgb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43600" y="3922776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voordeur · de ingang · de uitgang · de achterdeur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73837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5559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8640" y="5175504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517550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adj.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196138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430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828800" y="5175504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828800" y="51755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3063240" y="50383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00F"/>
                </a:solidFill>
              </a:rPr>
              <a:t>adjectif + nom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760720" y="5038344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D9700F">
              <a:alpha val="10000"/>
            </a:srgb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943600" y="5038344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grootvader · de snelweg · het kleinkind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Correction de l’archive : </a:t>
            </a:r>
            <a:r>
              <a:rPr lang="en-US" sz="1400" i="1" dirty="0">
                <a:solidFill>
                  <a:schemeClr val="accent5"/>
                </a:solidFill>
              </a:rPr>
              <a:t>vliegtuig</a:t>
            </a:r>
            <a:r>
              <a:rPr lang="en-US" sz="1400" i="1" dirty="0">
                <a:solidFill>
                  <a:schemeClr val="accent5"/>
                </a:solidFill>
              </a:rPr>
              <a:t> (vlieg-en) et </a:t>
            </a:r>
            <a:r>
              <a:rPr lang="en-US" sz="1400" i="1" dirty="0">
                <a:solidFill>
                  <a:schemeClr val="accent5"/>
                </a:solidFill>
              </a:rPr>
              <a:t>knipbeurt</a:t>
            </a:r>
            <a:r>
              <a:rPr lang="en-US" sz="1400" i="1" dirty="0">
                <a:solidFill>
                  <a:schemeClr val="accent5"/>
                </a:solidFill>
              </a:rPr>
              <a:t> (knipp-en) sont des « radical + nom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l’ordre est inversé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salle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148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attente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166360" y="2148840"/>
            <a:ext cx="105156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21488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wacht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63640" y="214884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kamer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wachtkamer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carte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965960" y="32004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3200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identité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166360" y="3200400"/>
            <a:ext cx="1984248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66360" y="3200400"/>
            <a:ext cx="198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identiteits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7196328" y="32004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96328" y="32004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kaart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320040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identiteitskaart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251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verre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965960" y="4251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à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468880" y="4251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vin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 flipV="1"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166360" y="4251960"/>
            <a:ext cx="896112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6360" y="425196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wijn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08192" y="425196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108192" y="42519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glas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7251192" y="4251960"/>
            <a:ext cx="4178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het wijnglas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822960" y="5349240"/>
            <a:ext cx="1054303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05840" y="53492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strike="sngStrike" dirty="0">
                <a:solidFill>
                  <a:schemeClr val="accent6"/>
                </a:solidFill>
              </a:rPr>
              <a:t>kamer wacht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strike="sngStrike" dirty="0">
                <a:solidFill>
                  <a:schemeClr val="accent6"/>
                </a:solidFill>
              </a:rPr>
              <a:t>wacht kamer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b="1" i="1" dirty="0">
                <a:solidFill>
                  <a:schemeClr val="tx1"/>
                </a:solidFill>
              </a:rPr>
              <a:t>wachtkamer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dirty="0">
                <a:solidFill>
                  <a:schemeClr val="tx1"/>
                </a:solidFill>
              </a:rPr>
              <a:t>un seul mot</a:t>
            </a:r>
            <a:r>
              <a:rPr lang="en-US" sz="1900" dirty="0">
                <a:solidFill>
                  <a:schemeClr val="tx1"/>
                </a:solidFill>
              </a:rPr>
              <a:t>, sans préposition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petit lien : -s- ou -en-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-s-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verjaardag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taart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tarte d’anniversaire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station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plein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place de la gare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identiteit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kaart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88620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carte d’identité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arbeid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overeenkomst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contrat de travail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27064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27064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27064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-en-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564624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l’hôpital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01384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brieve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9564624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boîte aux lettres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01384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panne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koek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crêpe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01384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kast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9564624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bibliothèque (meuble)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i="1" dirty="0">
                <a:solidFill>
                  <a:schemeClr val="bg1"/>
                </a:solidFill>
              </a:rPr>
              <a:t>-s-</a:t>
            </a:r>
            <a:r>
              <a:rPr lang="en-US" sz="1800" dirty="0">
                <a:solidFill>
                  <a:schemeClr val="bg1"/>
                </a:solidFill>
              </a:rPr>
              <a:t> s’écrit quand on l’</a:t>
            </a:r>
            <a:r>
              <a:rPr lang="en-US" sz="1800" b="1" dirty="0">
                <a:solidFill>
                  <a:schemeClr val="bg1"/>
                </a:solidFill>
              </a:rPr>
              <a:t>entend</a:t>
            </a:r>
            <a:r>
              <a:rPr lang="en-US" sz="1800" dirty="0">
                <a:solidFill>
                  <a:schemeClr val="bg1"/>
                </a:solidFill>
              </a:rPr>
              <a:t> ; le </a:t>
            </a:r>
            <a:r>
              <a:rPr lang="en-US" sz="1800" i="1" dirty="0">
                <a:solidFill>
                  <a:schemeClr val="bg1"/>
                </a:solidFill>
              </a:rPr>
              <a:t>n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i="1" dirty="0">
                <a:solidFill>
                  <a:schemeClr val="bg1"/>
                </a:solidFill>
              </a:rPr>
              <a:t>-en-</a:t>
            </a:r>
            <a:r>
              <a:rPr lang="en-US" sz="1800" dirty="0">
                <a:solidFill>
                  <a:schemeClr val="bg1"/>
                </a:solidFill>
              </a:rPr>
              <a:t>, lui, ne s’entend souvent pas (</a:t>
            </a:r>
            <a:r>
              <a:rPr lang="en-US" sz="1800" i="1" dirty="0">
                <a:solidFill>
                  <a:schemeClr val="bg1"/>
                </a:solidFill>
              </a:rPr>
              <a:t>pannenkoek</a:t>
            </a:r>
            <a:r>
              <a:rPr lang="en-US" sz="1800" dirty="0">
                <a:solidFill>
                  <a:schemeClr val="bg1"/>
                </a:solidFill>
              </a:rPr>
              <a:t>). En A1, on apprend ces mots tels quels.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diminutifs : -je, -tje, -pje, -etje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Tous les diminutifs sont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: de stoel →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stoeltje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-je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cas général</a:t>
            </a:r>
            <a:endParaRPr lang="en-US" sz="1300" dirty="0"/>
          </a:p>
        </p:txBody>
      </p:sp>
      <p:pic>
        <p:nvPicPr>
          <p:cNvPr id="10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479" y="361188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huis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3367278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367278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-tje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3458718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(+ l, n, r, w)</a:t>
            </a:r>
            <a:endParaRPr lang="en-US" sz="1300" dirty="0"/>
          </a:p>
        </p:txBody>
      </p:sp>
      <p:pic>
        <p:nvPicPr>
          <p:cNvPr id="1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117" y="361188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stoel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ei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vrouw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185916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-pje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6277356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+ m</a:t>
            </a:r>
            <a:endParaRPr lang="en-US" sz="1300" dirty="0"/>
          </a:p>
        </p:txBody>
      </p:sp>
      <p:pic>
        <p:nvPicPr>
          <p:cNvPr id="20" name="Image 2" descr="deciduous tr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755" y="361188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7356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boom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raam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9004554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9004554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-etje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9095994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courte + l, m, n, r, ng</a:t>
            </a:r>
            <a:endParaRPr lang="en-US" sz="1300" dirty="0"/>
          </a:p>
        </p:txBody>
      </p:sp>
      <p:pic>
        <p:nvPicPr>
          <p:cNvPr id="25" name="Image 3" descr="r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393" y="361188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95994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bal</a:t>
            </a:r>
            <a:r>
              <a:rPr lang="en-US" sz="1700" b="1" i="1" dirty="0">
                <a:solidFill>
                  <a:schemeClr val="accent1"/>
                </a:solidFill>
              </a:rPr>
              <a:t>letje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ring</a:t>
            </a:r>
            <a:r>
              <a:rPr lang="en-US" sz="1700" b="1" i="1" dirty="0">
                <a:solidFill>
                  <a:schemeClr val="accent1"/>
                </a:solidFill>
              </a:rPr>
              <a:t>etje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Diminutifs figés : </a:t>
            </a:r>
            <a:r>
              <a:rPr lang="en-US" sz="1600" i="1" dirty="0">
                <a:solidFill>
                  <a:schemeClr val="tx2"/>
                </a:solidFill>
              </a:rPr>
              <a:t>een kopje koffie · een broodje · een biertje · even een momentje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verbe au nom : -ing et -er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ing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l’action · toujours 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endParaRPr lang="en-US" sz="14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vergaderen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834640" y="2880360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34747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bestellen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834640" y="3630168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3474720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bestell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opleiden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2834640" y="4379976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347472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opleid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822960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rekenen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834640" y="5129784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3474720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reken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227064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27064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55664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personne</a:t>
            </a:r>
            <a:endParaRPr lang="en-US" sz="1400" dirty="0"/>
          </a:p>
        </p:txBody>
      </p:sp>
      <p:pic>
        <p:nvPicPr>
          <p:cNvPr id="26" name="Image 1" descr="man c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4" y="160020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501384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bakken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8513064" y="2880360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Text 24"/>
          <p:cNvSpPr txBox="1"/>
          <p:nvPr/>
        </p:nvSpPr>
        <p:spPr>
          <a:xfrm>
            <a:off x="915314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bakk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6501384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31" name="Shape 26"/>
          <p:cNvSpPr/>
          <p:nvPr/>
        </p:nvSpPr>
        <p:spPr>
          <a:xfrm>
            <a:off x="8513064" y="3630168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7"/>
          <p:cNvSpPr txBox="1"/>
          <p:nvPr/>
        </p:nvSpPr>
        <p:spPr>
          <a:xfrm>
            <a:off x="9153144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werk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6501384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schrijven</a:t>
            </a:r>
            <a:endParaRPr lang="en-US" sz="1900" dirty="0"/>
          </a:p>
        </p:txBody>
      </p:sp>
      <p:sp>
        <p:nvSpPr>
          <p:cNvPr id="34" name="Shape 29"/>
          <p:cNvSpPr/>
          <p:nvPr/>
        </p:nvSpPr>
        <p:spPr>
          <a:xfrm>
            <a:off x="8513064" y="4379976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30"/>
          <p:cNvSpPr txBox="1"/>
          <p:nvPr/>
        </p:nvSpPr>
        <p:spPr>
          <a:xfrm>
            <a:off x="9153144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schrijv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6" name="Text 31"/>
          <p:cNvSpPr txBox="1"/>
          <p:nvPr/>
        </p:nvSpPr>
        <p:spPr>
          <a:xfrm>
            <a:off x="6501384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lezen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513064" y="5129784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3144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lez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Féminin (à reconnaître) : </a:t>
            </a:r>
            <a:r>
              <a:rPr lang="en-US" sz="1500" b="1" i="1" dirty="0">
                <a:solidFill>
                  <a:schemeClr val="accent5"/>
                </a:solidFill>
              </a:rPr>
              <a:t>-ster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schrijfster</a:t>
            </a:r>
            <a:r>
              <a:rPr lang="en-US" sz="1500" i="1" dirty="0">
                <a:solidFill>
                  <a:schemeClr val="accent5"/>
                </a:solidFill>
              </a:rPr>
              <a:t>) ou </a:t>
            </a:r>
            <a:r>
              <a:rPr lang="en-US" sz="1500" b="1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studente</a:t>
            </a:r>
            <a:r>
              <a:rPr lang="en-US" sz="1500" i="1" dirty="0">
                <a:solidFill>
                  <a:schemeClr val="accent5"/>
                </a:solidFill>
              </a:rPr>
              <a:t>) · </a:t>
            </a:r>
            <a:r>
              <a:rPr lang="en-US" sz="1500" i="1" dirty="0">
                <a:solidFill>
                  <a:schemeClr val="accent5"/>
                </a:solidFill>
              </a:rPr>
              <a:t>bakken → bakker</a:t>
            </a:r>
            <a:r>
              <a:rPr lang="en-US" sz="1500" i="1" dirty="0">
                <a:solidFill>
                  <a:schemeClr val="accent5"/>
                </a:solidFill>
              </a:rPr>
              <a:t> : la consonne double reste (M1).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l’adjectif au nom… et au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-heid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adjectif → nom (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vrij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gezond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snel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snel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9768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on-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 contraire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mogelijk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mogelijk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gezond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bekend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bekend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4672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-loos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r>
              <a:rPr lang="en-US" sz="1800" i="1" dirty="0">
                <a:solidFill>
                  <a:schemeClr val="tx1"/>
                </a:solidFill>
              </a:rPr>
              <a:t> (sans fil)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zorg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zorge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pic>
        <p:nvPicPr>
          <p:cNvPr id="26" name="Image 0" descr="sneez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23560"/>
            <a:ext cx="594360" cy="5943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71600" y="56235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Gezondheid!</a:t>
            </a:r>
            <a:r>
              <a:rPr lang="en-US" sz="1700" dirty="0">
                <a:solidFill>
                  <a:schemeClr val="tx1"/>
                </a:solidFill>
              </a:rPr>
              <a:t> = « À tes souhaits ! » · </a:t>
            </a:r>
            <a:r>
              <a:rPr lang="en-US" sz="1700" i="1" dirty="0">
                <a:solidFill>
                  <a:schemeClr val="tx1"/>
                </a:solidFill>
              </a:rPr>
              <a:t>werkloos</a:t>
            </a:r>
            <a:r>
              <a:rPr lang="en-US" sz="1700" dirty="0">
                <a:solidFill>
                  <a:schemeClr val="tx1"/>
                </a:solidFill>
              </a:rPr>
              <a:t> vient du M2.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très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77724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 · Je trouve le dernier mot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77724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· Je coupe les blocs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77724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· Je lis de droite à gauche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21284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292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300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3308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1680" y="288036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16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personeel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46131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17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971800"/>
            <a:ext cx="45720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17720" y="29718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312664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34456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56248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78040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99832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20640" y="2788920"/>
            <a:ext cx="3108960" cy="914400"/>
          </a:xfrm>
          <a:prstGeom prst="roundRect">
            <a:avLst>
              <a:gd name="adj" fmla="val 50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20640" y="2788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vergadering</a:t>
            </a:r>
            <a:endParaRPr lang="en-US" sz="2600" dirty="0"/>
          </a:p>
        </p:txBody>
      </p:sp>
      <p:pic>
        <p:nvPicPr>
          <p:cNvPr id="25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94560"/>
            <a:ext cx="548640" cy="54864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3291840" y="3383280"/>
            <a:ext cx="3383280" cy="822960"/>
          </a:xfrm>
          <a:prstGeom prst="arc">
            <a:avLst>
              <a:gd name="adj1" fmla="val 0"/>
              <a:gd name="adj2" fmla="val 108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8412480" y="2788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= une </a:t>
            </a:r>
            <a:r>
              <a:rPr lang="en-US" sz="1900" b="1" dirty="0">
                <a:solidFill>
                  <a:schemeClr val="tx1"/>
                </a:solidFill>
              </a:rPr>
              <a:t>réunion</a:t>
            </a:r>
            <a:r>
              <a:rPr lang="en-US" sz="1900" dirty="0">
                <a:solidFill>
                  <a:schemeClr val="tx1"/>
                </a:solidFill>
              </a:rPr>
              <a:t> du </a:t>
            </a:r>
            <a:r>
              <a:rPr lang="en-US" sz="1900" b="1" dirty="0">
                <a:solidFill>
                  <a:schemeClr val="tx1"/>
                </a:solidFill>
              </a:rPr>
              <a:t>personnel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4526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 verjaardagstaart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5303520" y="45262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une </a:t>
            </a:r>
            <a:r>
              <a:rPr lang="en-US" sz="1900" b="1" dirty="0">
                <a:solidFill>
                  <a:schemeClr val="tx1"/>
                </a:solidFill>
              </a:rPr>
              <a:t>tarte</a:t>
            </a:r>
            <a:r>
              <a:rPr lang="en-US" sz="1900" dirty="0">
                <a:solidFill>
                  <a:schemeClr val="tx1"/>
                </a:solidFill>
              </a:rPr>
              <a:t> d’</a:t>
            </a:r>
            <a:r>
              <a:rPr lang="en-US" sz="1900" b="1" dirty="0">
                <a:solidFill>
                  <a:schemeClr val="tx1"/>
                </a:solidFill>
              </a:rPr>
              <a:t>anniversaire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1097280" y="5166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het fietsenrek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1663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 </a:t>
            </a:r>
            <a:r>
              <a:rPr lang="en-US" sz="1900" b="1" dirty="0">
                <a:solidFill>
                  <a:schemeClr val="tx1"/>
                </a:solidFill>
              </a:rPr>
              <a:t>râtelier</a:t>
            </a:r>
            <a:r>
              <a:rPr lang="en-US" sz="1900" dirty="0">
                <a:solidFill>
                  <a:schemeClr val="tx1"/>
                </a:solidFill>
              </a:rPr>
              <a:t> à </a:t>
            </a:r>
            <a:r>
              <a:rPr lang="en-US" sz="1900" b="1" dirty="0">
                <a:solidFill>
                  <a:schemeClr val="tx1"/>
                </a:solidFill>
              </a:rPr>
              <a:t>vélos</a:t>
            </a:r>
            <a:endParaRPr lang="en-US" sz="1900" dirty="0"/>
          </a:p>
        </p:txBody>
      </p:sp>
      <p:pic>
        <p:nvPicPr>
          <p:cNvPr id="32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 composés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stof + zuiger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suceur de tissu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l’aspirateur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old 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1143000" cy="1143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9768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schoon + moeder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mère propre 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la belle-mère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glo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737360"/>
            <a:ext cx="1143000" cy="1143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hand + schoen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04672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chaussure de main »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le gant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66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stof</a:t>
            </a:r>
            <a:r>
              <a:rPr lang="en-US" sz="1600" dirty="0">
                <a:solidFill>
                  <a:schemeClr val="tx1"/>
                </a:solidFill>
              </a:rPr>
              <a:t> = poussière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tissu ; </a:t>
            </a:r>
            <a:r>
              <a:rPr lang="en-US" sz="1600" i="1" dirty="0">
                <a:solidFill>
                  <a:schemeClr val="tx1"/>
                </a:solidFill>
              </a:rPr>
              <a:t>schoon</a:t>
            </a:r>
            <a:r>
              <a:rPr lang="en-US" sz="1600" dirty="0">
                <a:solidFill>
                  <a:schemeClr val="tx1"/>
                </a:solidFill>
              </a:rPr>
              <a:t> = propre, mais « belle » dans la famille (</a:t>
            </a:r>
            <a:r>
              <a:rPr lang="en-US" sz="1600" i="1" dirty="0">
                <a:solidFill>
                  <a:schemeClr val="tx1"/>
                </a:solidFill>
              </a:rPr>
              <a:t>schoonmoeder, schoonzus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 contexte et le </a:t>
            </a:r>
            <a:r>
              <a:rPr lang="en-US" sz="1600" b="1" dirty="0">
                <a:solidFill>
                  <a:schemeClr val="tx1"/>
                </a:solidFill>
              </a:rPr>
              <a:t>dictionnaire</a:t>
            </a:r>
            <a:r>
              <a:rPr lang="en-US" sz="1600" dirty="0">
                <a:solidFill>
                  <a:schemeClr val="tx1"/>
                </a:solidFill>
              </a:rPr>
              <a:t> confirment (Van Dale, woorden.org).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outils du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6479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90085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Composer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dernier</a:t>
            </a:r>
            <a:r>
              <a:rPr lang="en-US" sz="1800" dirty="0">
                <a:solidFill>
                  <a:schemeClr val="tx1"/>
                </a:solidFill>
              </a:rPr>
              <a:t> mot commande (sens + article)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 seul</a:t>
            </a:r>
            <a:r>
              <a:rPr lang="en-US" sz="1800" dirty="0">
                <a:solidFill>
                  <a:schemeClr val="tx1"/>
                </a:solidFill>
              </a:rPr>
              <a:t> mot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ordre </a:t>
            </a:r>
            <a:r>
              <a:rPr lang="en-US" sz="1800" b="1" dirty="0">
                <a:solidFill>
                  <a:schemeClr val="tx1"/>
                </a:solidFill>
              </a:rPr>
              <a:t>inversé</a:t>
            </a:r>
            <a:r>
              <a:rPr lang="en-US" sz="1800" dirty="0">
                <a:solidFill>
                  <a:schemeClr val="tx1"/>
                </a:solidFill>
              </a:rPr>
              <a:t> / français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80560" y="17647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earch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23" y="190085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9379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Diminuer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49884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-je, -tje, -pje, -etje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toujours </a:t>
            </a:r>
            <a:r>
              <a:rPr lang="en-US" sz="1800" b="1" dirty="0">
                <a:solidFill>
                  <a:schemeClr val="tx1"/>
                </a:solidFill>
              </a:rPr>
              <a:t>het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een kopje, een broodje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1764792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663" y="190085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4283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Dériver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4788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-ing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(l’action)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-er / -ster</a:t>
            </a:r>
            <a:r>
              <a:rPr lang="en-US" sz="1800" dirty="0">
                <a:solidFill>
                  <a:schemeClr val="tx1"/>
                </a:solidFill>
              </a:rPr>
              <a:t> → la personne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-heid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) · </a:t>
            </a:r>
            <a:r>
              <a:rPr lang="en-US" sz="1800" i="1" dirty="0">
                <a:solidFill>
                  <a:schemeClr val="tx1"/>
                </a:solidFill>
              </a:rPr>
              <a:t>on-</a:t>
            </a:r>
            <a:r>
              <a:rPr lang="en-US" sz="1800" dirty="0">
                <a:solidFill>
                  <a:schemeClr val="tx1"/>
                </a:solidFill>
              </a:rPr>
              <a:t> (contraire) · </a:t>
            </a:r>
            <a:r>
              <a:rPr lang="en-US" sz="1800" i="1" dirty="0">
                <a:solidFill>
                  <a:schemeClr val="tx1"/>
                </a:solidFill>
              </a:rPr>
              <a:t>-loos</a:t>
            </a:r>
            <a:r>
              <a:rPr lang="en-US" sz="1800" dirty="0">
                <a:solidFill>
                  <a:schemeClr val="tx1"/>
                </a:solidFill>
              </a:rPr>
              <a:t> (sans)</a:t>
            </a:r>
            <a:endParaRPr lang="en-US" sz="1800" dirty="0"/>
          </a:p>
        </p:txBody>
      </p:sp>
      <p:pic>
        <p:nvPicPr>
          <p:cNvPr id="20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Lego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ou het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earch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diminutifs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express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ite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famille « werk »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mot le plus long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pic>
        <p:nvPicPr>
          <p:cNvPr id="40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18288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788920" y="220484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788920" y="274967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788920" y="329450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788920" y="383933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2788920" y="3294507"/>
            <a:ext cx="2697480" cy="108966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788920" y="492899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788920" y="5473827"/>
            <a:ext cx="2697480" cy="54483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788920" y="2204847"/>
            <a:ext cx="2697480" cy="381381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7680960" y="1932432"/>
            <a:ext cx="3959352" cy="4358640"/>
          </a:xfrm>
          <a:prstGeom prst="roundRect">
            <a:avLst>
              <a:gd name="adj" fmla="val 1848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863840" y="2023872"/>
            <a:ext cx="36576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koffiepauze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2b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fietspad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wachtkamer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5c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voordeur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6f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tandarts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7h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parkeerplaats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8a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brievenbus</a:t>
            </a:r>
            <a:endParaRPr lang="en-US" sz="1800" dirty="0"/>
          </a:p>
        </p:txBody>
      </p:sp>
      <p:sp>
        <p:nvSpPr>
          <p:cNvPr id="51" name="Text 47"/>
          <p:cNvSpPr txBox="1"/>
          <p:nvPr/>
        </p:nvSpPr>
        <p:spPr>
          <a:xfrm>
            <a:off x="7863840" y="5669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3d vergaderkamer · 4g wachtzaal</a:t>
            </a:r>
            <a:r>
              <a:rPr lang="en-US" sz="1400" i="1" dirty="0">
                <a:solidFill>
                  <a:schemeClr val="accent5"/>
                </a:solidFill>
              </a:rPr>
              <a:t> (BE)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31520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kantoor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stoel (de)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199632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82512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computer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scherm (het)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0222992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1520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koffie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kopje (het)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199632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6382512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pad (het)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10222992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31520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school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boek (het)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199632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382512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huis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deur (de)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10222992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1520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telefoon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nummer (het)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199632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382512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plek (de)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10222992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kantoorstoel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huisdeur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werkplek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227064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27064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27064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227064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computerscherm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6227064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koffiekopje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fietspad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462991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schoolboek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227064" y="526999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telefoonnummer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8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0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2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4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6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8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0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2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sp>
        <p:nvSpPr>
          <p:cNvPr id="24" name="Shape 12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9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13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pic>
        <p:nvPicPr>
          <p:cNvPr id="15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b="1" i="1" dirty="0">
                <a:solidFill>
                  <a:schemeClr val="accent3"/>
                </a:solidFill>
              </a:rPr>
              <a:t>letje</a:t>
            </a:r>
            <a:endParaRPr lang="en-US" sz="1900" dirty="0"/>
          </a:p>
        </p:txBody>
      </p:sp>
      <p:pic>
        <p:nvPicPr>
          <p:cNvPr id="17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9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21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b="1" i="1" dirty="0">
                <a:solidFill>
                  <a:schemeClr val="accent3"/>
                </a:solidFill>
              </a:rPr>
              <a:t>etje</a:t>
            </a:r>
            <a:endParaRPr lang="en-US" sz="1900" dirty="0"/>
          </a:p>
        </p:txBody>
      </p:sp>
      <p:pic>
        <p:nvPicPr>
          <p:cNvPr id="23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sp>
        <p:nvSpPr>
          <p:cNvPr id="25" name="Shape 13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54" name="Text 50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43800" y="196900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wachtkamer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543800" y="251383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wijnglas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43800" y="305866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tandenborstel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43800" y="360349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sinaasappelsap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543800" y="414832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parkeerplaats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543800" y="469315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spitsuur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543800" y="523798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telefoonnummer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9" name="Text 65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70" name="Shape 66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1" name="Shape 67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543800" y="578281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2" name="Shape 18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4" name="Shape 20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0350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travailler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0350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travailleur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350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werknemer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l’employé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350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werkgever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l’employeur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01598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werkplek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poste de travail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1598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werkloos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sans emploi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01598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thuiswerk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 à domicile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01598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werkwoord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mot le plus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165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13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661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828800"/>
            <a:ext cx="1874520" cy="777240"/>
          </a:xfrm>
          <a:prstGeom prst="roundRect">
            <a:avLst>
              <a:gd name="adj" fmla="val 5882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8288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9192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07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752344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52344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25424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0006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828800"/>
            <a:ext cx="1691640" cy="777240"/>
          </a:xfrm>
          <a:prstGeom prst="roundRect">
            <a:avLst>
              <a:gd name="adj" fmla="val 5882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sleutel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8635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350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96712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96712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97001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5863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94576" y="1828800"/>
            <a:ext cx="777240" cy="777240"/>
          </a:xfrm>
          <a:prstGeom prst="roundRect">
            <a:avLst>
              <a:gd name="adj" fmla="val 5882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94576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7889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b="1" dirty="0">
                <a:solidFill>
                  <a:schemeClr val="accent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vergaderzaalsleutelkastje</a:t>
            </a:r>
            <a:r>
              <a:rPr lang="en-US" sz="1800" dirty="0">
                <a:solidFill>
                  <a:schemeClr val="tx1"/>
                </a:solidFill>
              </a:rPr>
              <a:t> (le petit coffre à clés de la salle de réunion)</a:t>
            </a:r>
            <a:endParaRPr lang="en-US" sz="18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1188720" cy="118872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103120" y="35661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Par équipes, 3 minutes.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Chaque brique doit avoir un sens.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gagne avec le mot le plus long </a:t>
            </a:r>
            <a:r>
              <a:rPr lang="en-US" sz="1800" b="1" dirty="0">
                <a:solidFill>
                  <a:schemeClr val="tx1"/>
                </a:solidFill>
              </a:rPr>
              <a:t>et</a:t>
            </a:r>
            <a:r>
              <a:rPr lang="en-US" sz="1800" dirty="0">
                <a:solidFill>
                  <a:schemeClr val="tx1"/>
                </a:solidFill>
              </a:rPr>
              <a:t> correct (article compris !).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7863840" y="3566160"/>
            <a:ext cx="3776472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863840" y="3657600"/>
            <a:ext cx="3776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BRIQUES DE DÉPART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83621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3942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09244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koffie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1009954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8767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82980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82980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83621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3942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9244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09244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school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1009954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08767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82980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82980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kantoor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836218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13942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8092440" y="56235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092440" y="56235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1600" dirty="0"/>
          </a:p>
        </p:txBody>
      </p:sp>
      <p:pic>
        <p:nvPicPr>
          <p:cNvPr id="52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212080"/>
            <a:ext cx="1005840" cy="100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 signifie </a:t>
            </a:r>
            <a:r>
              <a:rPr lang="en-US" sz="2000" i="1" dirty="0">
                <a:solidFill>
                  <a:schemeClr val="tx1"/>
                </a:solidFill>
              </a:rPr>
              <a:t>de fietsenstalling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stalling</a:t>
            </a:r>
            <a:r>
              <a:rPr lang="en-US" sz="2000" dirty="0">
                <a:solidFill>
                  <a:schemeClr val="tx1"/>
                </a:solidFill>
              </a:rPr>
              <a:t> = le garage)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Article : </a:t>
            </a:r>
            <a:r>
              <a:rPr lang="en-US" sz="2000" i="1" dirty="0">
                <a:solidFill>
                  <a:schemeClr val="tx1"/>
                </a:solidFill>
              </a:rPr>
              <a:t>school (de) + gebouw (het)</a:t>
            </a:r>
            <a:r>
              <a:rPr lang="en-US" sz="2000" dirty="0">
                <a:solidFill>
                  <a:schemeClr val="tx1"/>
                </a:solidFill>
              </a:rPr>
              <a:t> → …… </a:t>
            </a:r>
            <a:r>
              <a:rPr lang="en-US" sz="2000" i="1" dirty="0">
                <a:solidFill>
                  <a:schemeClr val="tx1"/>
                </a:solidFill>
              </a:rPr>
              <a:t>schoolgebouw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diminutif de </a:t>
            </a:r>
            <a:r>
              <a:rPr lang="en-US" sz="2000" i="1" dirty="0">
                <a:solidFill>
                  <a:schemeClr val="tx1"/>
                </a:solidFill>
              </a:rPr>
              <a:t>de bal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Deviner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heb je gisteren gedaan?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Woordvorming — La formation des mots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2026-10-05T07:24:43Z</dcterms:created>
  <dcterms:modified xsi:type="dcterms:W3CDTF">2026-10-05T07:24:43Z</dcterms:modified>
</cp:coreProperties>
</file>