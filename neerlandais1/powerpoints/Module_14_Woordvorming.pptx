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fe0eee55-17f1-87df-e4f2-90d5ab8d7dbc}">
          <p14:sldIdLst>
            <p14:sldId id="256"/>
          </p14:sldIdLst>
        </p14:section>
        <p14:section name="Découvrir" id="{21ff6211-8e14-7a26-709c-b42e8b589649}">
          <p14:sldIdLst>
            <p14:sldId id="257"/>
            <p14:sldId id="258"/>
            <p14:sldId id="259"/>
          </p14:sldIdLst>
        </p14:section>
        <p14:section name="Comprendre" id="{a4ac8cec-4540-5fd9-3891-55726546b1f4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JIJ NU ! — Oefeningen" id="{903b03cd-31b6-6e90-3b60-b4766e09207b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a8504d64-b453-7fef-0fda-1b91b5faa936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avec une image : des mots qui s'emboîtent comme des Lego.
Question d'entrée : « Comment dit-on salle de réunion ? Et dans quel ordre ? » Le néerlandais colle les mots, et à l'envers du français.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Avec 500 mots de base, on en comprend des milliers : c'est la stratégie la plus rentable du vocabulaire néerlandais.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deviner le sens de mots composés transparents (et drôles).
Faites deviner avant de révéler. Le côté imagé (« chaussure de main ») aide à mémoriser. ziekenhuis et brievenbus montrent un petit lien -en- (diapo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Faire deviner le sens de mots composés transparents (et drôles).
Faites deviner avant de révéler. Le côté imagé (« chaussure de main ») aide à mémoriser. ziekenhuis et brievenbus montrent un petit lien -en- (diapo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que le dernier élément donne le sens principal et l'article.
Rappel du M5 (diapo « mots composés »). Le premier mot précise : une kantoordeur est une porte (pas un bureau).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4 types de composés (archive diapo 4, classement corrigé).
Correction de l'archive : vliegtuig et knipbeurt (une coupe de cheveux) sont des « radical + nom ». Le radical s'obtient comme au M3 (eten → 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Neutraliser le calque de l'ordre français.
Deux erreurs typiques : l'ordre français et l'écriture en deux mots (influence de l'anglais). de identiteitskaart = la carte d'identité belge 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éléments de liaison (sans les produire systématiquement).
En A1, on apprend ces mots tels quels. -en- ressemble souvent au pluriel (boeken + kast). de arbeidsovereenkomst (le contrat de travail) est utile au bureau.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les diminutifs les plus fréquents (approfondit M5 : -je = het).
Les diminutifs figés sont très fréquents : een kopje koffie, een broodje, een biertje, even een momentje. Le diminutif exprime aussi l'affection (mijn zusje).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Dériver des noms d'action et de personne à partir d'un verbe.
Lien M5 : -ing fait partie des familles DE. La consonne se double si la voyelle est courte (bakken → bakker), règle du M1. Lien M2 : les métiers (bakker, schrijver, verpleger).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trois suffixes et préfixes très productifs.
werkloos vient du M2 (Ik ben werkloos). Gezondheid! = « À tes souhaits ! » (après un éternuement) : effet garanti en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une méthode de lecture et de compréhension (lien avec la méthode de lecture du M1).
Défi : le mot composé le plus long que la classe connaît. La note de la diapo 20 propose une version jeu.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Montrer que le découpage aide, mais ne remplace pas le dictionnaire.
stof = la poussière et le tissu ; schoon = propre, mais aussi « beau » dans les noms de famille par alliance (schoonmoeder, schoonzus) : le contexte tranche. Encouragez l'usage d'un dictionnaire en ligne (Van Dale, woorden.org).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Référence pour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Les exercices 5 et 6 peuvent être joués en équipes, en fin de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Assembler des mots composés.
N° 7 : parkeer est le radical de parkeren. de tandarts = le dentiste. Acceptez aussi 3d vergaderkamer et 4g wachtzaal (le mot usuel en Belgique).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Assembler des mots composés.
N° 7 : parkeer est le radical de parkeren. de tandarts = le dentiste. Acceptez aussi 3d vergaderkamer et 4g wachtzaal (le mot usuel en Belgique).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Trouver l'article grâce au dernier mot (lien M5).
Aucun calcul : seul le dernier article compte. het telefoonnummer est utile pour les formulaires 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Trouver l'article grâce au dernier mot (lien M5).
Aucun calcul : seul le dernier article compte. het telefoonnummer est utile pour les formulaires 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bonne terminaison du diminutif.
N° 5 : het broodje = le petit pain (sandwich belge), un incontournable du midi. Tous deviennent 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la bonne terminaison du diminutif.
N° 5 : het broodje = le petit pain (sandwich belge), un incontournable du midi. Tous deviennent 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un composé à partir du français (ordre inversé).
Avec un verbe, on garde le radical (wacht-, parkeer-, vergader-). En Belgique, on dit aussi het appelsiensap (appelsien = orange).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Construire un composé à partir du français (ordre inversé).
Avec un verbe, on garde le radical (wacht-, parkeer-, vergader-). En Belgique, on dit aussi het appelsiensap (appelsien = orange).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Explorer une famille de mots (carte mentale collective).
werknemer (celui qui « prend » le travail = l'employé) ≠ werkgever (celui qui le « donne » = l'employeur). het werkwoord = le verbe (« mot de travail ») : un mot du métier d'apprenant ! Variante : huis, school, koffie.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Explorer une famille de mots (carte mentale collective).
werknemer (celui qui « prend » le travail = l'employé) ≠ werkgever (celui qui le « donne » = l'employeur). het werkwoord = le verbe (« mot de travail ») : un mot du métier d'apprenant ! Variante : huis, school, koffie.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Jeu d'équipe : construire des composés longs et corrects.
L'article du mot final est celui du dernier bloc : het vergaderzaalsleutelkastje (-je = het). Demandez à chaque équipe de traduire son mot de droite à gauche.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Le parking à vélos.
2. het schoolgebouw.
3. het balletje.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14 · Woordvorming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14 · Woordvorming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14 / 24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Woordvorming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La formation des mots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vergader + zaal = de vergaderzaal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816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4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6312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2880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vergader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07084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8288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2396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zaal</a:t>
            </a:r>
            <a:endParaRPr lang="en-US" sz="2400" dirty="0"/>
          </a:p>
        </p:txBody>
      </p:sp>
      <p:pic>
        <p:nvPicPr>
          <p:cNvPr id="14" name="Image 0" descr="busts in silhou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600200"/>
            <a:ext cx="1097280" cy="10972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21040" y="2880360"/>
            <a:ext cx="914" cy="5943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0" y="3611880"/>
            <a:ext cx="52120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00800" y="36118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</a:t>
            </a:r>
            <a:r>
              <a:rPr lang="en-US" sz="3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vergader</a:t>
            </a: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zaal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la salle de réunion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Comprendre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découpe un mot long pour le comprendre.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fabrique des mots composés et des diminutifs.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Deviner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devine le </a:t>
            </a:r>
            <a:r>
              <a:rPr lang="en-US" sz="2000" b="1" dirty="0">
                <a:solidFill>
                  <a:schemeClr val="tx1"/>
                </a:solidFill>
              </a:rPr>
              <a:t>sens</a:t>
            </a:r>
            <a:r>
              <a:rPr lang="en-US" sz="2000" dirty="0">
                <a:solidFill>
                  <a:schemeClr val="tx1"/>
                </a:solidFill>
              </a:rPr>
              <a:t> et l’</a:t>
            </a:r>
            <a:r>
              <a:rPr lang="en-US" sz="2000" b="1" dirty="0">
                <a:solidFill>
                  <a:schemeClr val="tx1"/>
                </a:solidFill>
              </a:rPr>
              <a:t>article</a:t>
            </a:r>
            <a:r>
              <a:rPr lang="en-US" sz="2000" dirty="0">
                <a:solidFill>
                  <a:schemeClr val="tx1"/>
                </a:solidFill>
              </a:rPr>
              <a:t> d’un mot nouveau.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Avec 500 mots de base, on en comprend des milliers : c’est la stratégie la plus rentable du vocabulaire.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devinez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82880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82880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hand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157984" y="1828800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57984" y="182880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schoen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main + chaussure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71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C2CF"/>
                </a:solidFill>
              </a:rPr>
              <a:t>?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828800"/>
            <a:ext cx="1581912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1828800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brieven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8232" y="182880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28232" y="1828800"/>
            <a:ext cx="886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lettres + boîte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971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C2CF"/>
                </a:solidFill>
              </a:rPr>
              <a:t>?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723376" y="182880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23376" y="182880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koel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829800" y="182880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29800" y="182880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kast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frais + armoire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2971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C2CF"/>
                </a:solidFill>
              </a:rPr>
              <a:t>?</a:t>
            </a:r>
            <a:endParaRPr lang="en-US" sz="3400" dirty="0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51560" y="4206240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51560" y="4206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zieken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2505456" y="420624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505456" y="420624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983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malades + maison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349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C2CF"/>
                </a:solidFill>
              </a:rPr>
              <a:t>?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974336" y="420624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74336" y="4206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fiets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6254496" y="420624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54496" y="4206240"/>
            <a:ext cx="886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pad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4297680" y="4983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vélo + chemin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297680" y="5349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C2CF"/>
                </a:solidFill>
              </a:rPr>
              <a:t>?</a:t>
            </a:r>
            <a:endParaRPr lang="en-US" sz="3400" dirty="0"/>
          </a:p>
        </p:txBody>
      </p:sp>
      <p:sp>
        <p:nvSpPr>
          <p:cNvPr id="40" name="Shape 37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549640" y="420624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549640" y="420624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stof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9656064" y="4206240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56064" y="4206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zuiger</a:t>
            </a:r>
            <a:endParaRPr lang="en-US" sz="2200" dirty="0"/>
          </a:p>
        </p:txBody>
      </p:sp>
      <p:sp>
        <p:nvSpPr>
          <p:cNvPr id="45" name="Text 42"/>
          <p:cNvSpPr txBox="1"/>
          <p:nvPr/>
        </p:nvSpPr>
        <p:spPr>
          <a:xfrm>
            <a:off x="8046720" y="4983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poussière + suceur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8046720" y="5349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C2CF"/>
                </a:solidFill>
              </a:rPr>
              <a:t>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devinez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428646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182880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182880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hand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157984" y="1828800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57984" y="182880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schoen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main + chaussure</a:t>
            </a:r>
            <a:endParaRPr lang="en-US" sz="1400" dirty="0"/>
          </a:p>
        </p:txBody>
      </p:sp>
      <p:pic>
        <p:nvPicPr>
          <p:cNvPr id="12" name="Image 0" descr="glo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1752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le gant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1828800"/>
            <a:ext cx="1581912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00600" y="1828800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brieven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28232" y="182880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28232" y="1828800"/>
            <a:ext cx="886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429768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lettres + boîte</a:t>
            </a:r>
            <a:endParaRPr lang="en-US" sz="1400" dirty="0"/>
          </a:p>
        </p:txBody>
      </p:sp>
      <p:pic>
        <p:nvPicPr>
          <p:cNvPr id="20" name="Image 1" descr="closed mailbox with raised 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01752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5780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la boîte aux lettres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723376" y="182880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23376" y="182880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koel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829800" y="182880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829800" y="182880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kast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804672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frais + armoire</a:t>
            </a:r>
            <a:endParaRPr lang="en-US" sz="1400" dirty="0"/>
          </a:p>
        </p:txBody>
      </p:sp>
      <p:pic>
        <p:nvPicPr>
          <p:cNvPr id="28" name="Image 2" descr="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01752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0684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le frigo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51560" y="4206240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51560" y="4206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zieken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2505456" y="420624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2505456" y="420624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</a:t>
            </a:r>
            <a:endParaRPr lang="en-US" sz="22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983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malades + maison</a:t>
            </a:r>
            <a:endParaRPr lang="en-US" sz="1400" dirty="0"/>
          </a:p>
        </p:txBody>
      </p:sp>
      <p:pic>
        <p:nvPicPr>
          <p:cNvPr id="36" name="Image 3" descr="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94960"/>
            <a:ext cx="594360" cy="59436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50876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l’hôpital</a:t>
            </a:r>
            <a:endParaRPr lang="en-US" sz="1800" dirty="0"/>
          </a:p>
        </p:txBody>
      </p:sp>
      <p:sp>
        <p:nvSpPr>
          <p:cNvPr id="38" name="Shape 31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974336" y="420624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4974336" y="4206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fiets</a:t>
            </a:r>
            <a:endParaRPr lang="en-US" sz="2200" dirty="0"/>
          </a:p>
        </p:txBody>
      </p:sp>
      <p:sp>
        <p:nvSpPr>
          <p:cNvPr id="41" name="Shape 34"/>
          <p:cNvSpPr/>
          <p:nvPr/>
        </p:nvSpPr>
        <p:spPr>
          <a:xfrm>
            <a:off x="6254496" y="420624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254496" y="4206240"/>
            <a:ext cx="886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pad</a:t>
            </a:r>
            <a:endParaRPr lang="en-US" sz="2200" dirty="0"/>
          </a:p>
        </p:txBody>
      </p:sp>
      <p:sp>
        <p:nvSpPr>
          <p:cNvPr id="43" name="Text 36"/>
          <p:cNvSpPr txBox="1"/>
          <p:nvPr/>
        </p:nvSpPr>
        <p:spPr>
          <a:xfrm>
            <a:off x="4297680" y="4983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vélo + chemin</a:t>
            </a:r>
            <a:endParaRPr lang="en-US" sz="1400" dirty="0"/>
          </a:p>
        </p:txBody>
      </p:sp>
      <p:pic>
        <p:nvPicPr>
          <p:cNvPr id="44" name="Image 4" descr="bicy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5394960"/>
            <a:ext cx="594360" cy="59436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525780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la piste cyclable</a:t>
            </a:r>
            <a:endParaRPr lang="en-US" sz="1800" dirty="0"/>
          </a:p>
        </p:txBody>
      </p:sp>
      <p:sp>
        <p:nvSpPr>
          <p:cNvPr id="46" name="Shape 38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8549640" y="4206240"/>
            <a:ext cx="1060704" cy="731520"/>
          </a:xfrm>
          <a:prstGeom prst="roundRect">
            <a:avLst>
              <a:gd name="adj" fmla="val 7500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8549640" y="420624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stof</a:t>
            </a:r>
            <a:endParaRPr lang="en-US" sz="2200" dirty="0"/>
          </a:p>
        </p:txBody>
      </p:sp>
      <p:sp>
        <p:nvSpPr>
          <p:cNvPr id="49" name="Shape 41"/>
          <p:cNvSpPr/>
          <p:nvPr/>
        </p:nvSpPr>
        <p:spPr>
          <a:xfrm>
            <a:off x="9656064" y="4206240"/>
            <a:ext cx="1408176" cy="731520"/>
          </a:xfrm>
          <a:prstGeom prst="roundRect">
            <a:avLst>
              <a:gd name="adj" fmla="val 75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9656064" y="4206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zuiger</a:t>
            </a:r>
            <a:endParaRPr lang="en-US" sz="2200" dirty="0"/>
          </a:p>
        </p:txBody>
      </p:sp>
      <p:sp>
        <p:nvSpPr>
          <p:cNvPr id="51" name="Text 43"/>
          <p:cNvSpPr txBox="1"/>
          <p:nvPr/>
        </p:nvSpPr>
        <p:spPr>
          <a:xfrm>
            <a:off x="8046720" y="4983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poussière + suceur</a:t>
            </a:r>
            <a:endParaRPr lang="en-US" sz="1400" dirty="0"/>
          </a:p>
        </p:txBody>
      </p:sp>
      <p:pic>
        <p:nvPicPr>
          <p:cNvPr id="52" name="Image 5" descr="broo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5394960"/>
            <a:ext cx="594360" cy="594360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9006840" y="5394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l’aspirateur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règle d’or : le dernier mot commande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298448" y="190195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38528" y="190195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78608" y="190195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18688" y="190195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01168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9728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vergader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98068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7316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564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03320" y="182880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03320" y="1828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zaal</a:t>
            </a:r>
            <a:endParaRPr lang="en-US" sz="3200" dirty="0"/>
          </a:p>
        </p:txBody>
      </p:sp>
      <p:pic>
        <p:nvPicPr>
          <p:cNvPr id="16" name="Image 0" descr="c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43000"/>
            <a:ext cx="731520" cy="7315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 flipV="1">
            <a:off x="6126480" y="1828800"/>
            <a:ext cx="1005840" cy="365760"/>
          </a:xfrm>
          <a:prstGeom prst="line">
            <a:avLst/>
          </a:prstGeom>
          <a:noFill/>
          <a:ln w="317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126480" y="2651760"/>
            <a:ext cx="1005840" cy="365760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7178040" y="1508760"/>
            <a:ext cx="44622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0" y="1508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 sens</a:t>
            </a:r>
            <a:r>
              <a:rPr lang="en-US" sz="1700" dirty="0">
                <a:solidFill>
                  <a:schemeClr val="tx1"/>
                </a:solidFill>
              </a:rPr>
              <a:t> : une </a:t>
            </a:r>
            <a:r>
              <a:rPr lang="en-US" sz="1700" i="1" dirty="0">
                <a:solidFill>
                  <a:schemeClr val="tx1"/>
                </a:solidFill>
              </a:rPr>
              <a:t>zaal</a:t>
            </a:r>
            <a:r>
              <a:rPr lang="en-US" sz="1700" dirty="0">
                <a:solidFill>
                  <a:schemeClr val="tx1"/>
                </a:solidFill>
              </a:rPr>
              <a:t> (salle) pour </a:t>
            </a:r>
            <a:r>
              <a:rPr lang="en-US" sz="1700" i="1" dirty="0">
                <a:solidFill>
                  <a:schemeClr val="tx1"/>
                </a:solidFill>
              </a:rPr>
              <a:t>vergaderen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7178040" y="2697480"/>
            <a:ext cx="4462272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315200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l’article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dirty="0">
                <a:solidFill>
                  <a:schemeClr val="tx2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zaal → </a:t>
            </a:r>
            <a:r>
              <a:rPr lang="en-US" sz="1700" b="1" dirty="0">
                <a:solidFill>
                  <a:schemeClr val="tx2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vergaderzaal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1097280" y="3840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het</a:t>
            </a:r>
            <a:r>
              <a:rPr lang="en-US" sz="2200" i="1" dirty="0">
                <a:solidFill>
                  <a:schemeClr val="tx1"/>
                </a:solidFill>
              </a:rPr>
              <a:t> kantoor</a:t>
            </a:r>
            <a:r>
              <a:rPr lang="en-US" sz="2200" dirty="0">
                <a:solidFill>
                  <a:schemeClr val="tx1"/>
                </a:solidFill>
              </a:rPr>
              <a:t> + </a:t>
            </a:r>
            <a:r>
              <a:rPr lang="en-US" sz="2200" b="1" i="1" dirty="0">
                <a:solidFill>
                  <a:schemeClr val="tx2"/>
                </a:solidFill>
              </a:rPr>
              <a:t>de</a:t>
            </a:r>
            <a:r>
              <a:rPr lang="en-US" sz="2200" i="1" dirty="0">
                <a:solidFill>
                  <a:schemeClr val="tx1"/>
                </a:solidFill>
              </a:rPr>
              <a:t> deur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6035040" y="4178808"/>
            <a:ext cx="82296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5" name="Text 21"/>
          <p:cNvSpPr txBox="1"/>
          <p:nvPr/>
        </p:nvSpPr>
        <p:spPr>
          <a:xfrm>
            <a:off x="7040880" y="3840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chemeClr val="tx2"/>
                </a:solidFill>
              </a:rPr>
              <a:t>de</a:t>
            </a:r>
            <a:r>
              <a:rPr lang="en-US" sz="2400" b="1" i="1" dirty="0">
                <a:solidFill>
                  <a:schemeClr val="tx1"/>
                </a:solidFill>
              </a:rPr>
              <a:t> kantoordeur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4663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de</a:t>
            </a:r>
            <a:r>
              <a:rPr lang="en-US" sz="2200" i="1" dirty="0">
                <a:solidFill>
                  <a:schemeClr val="tx1"/>
                </a:solidFill>
              </a:rPr>
              <a:t> computer</a:t>
            </a:r>
            <a:r>
              <a:rPr lang="en-US" sz="2200" dirty="0">
                <a:solidFill>
                  <a:schemeClr val="tx1"/>
                </a:solidFill>
              </a:rPr>
              <a:t> + </a:t>
            </a:r>
            <a:r>
              <a:rPr lang="en-US" sz="2200" b="1" i="1" dirty="0">
                <a:solidFill>
                  <a:schemeClr val="accent1"/>
                </a:solidFill>
              </a:rPr>
              <a:t>het</a:t>
            </a:r>
            <a:r>
              <a:rPr lang="en-US" sz="2200" i="1" dirty="0">
                <a:solidFill>
                  <a:schemeClr val="tx1"/>
                </a:solidFill>
              </a:rPr>
              <a:t> scherm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6035040" y="5001768"/>
            <a:ext cx="82296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7040880" y="46634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het</a:t>
            </a:r>
            <a:r>
              <a:rPr lang="en-US" sz="2400" b="1" i="1" dirty="0">
                <a:solidFill>
                  <a:schemeClr val="tx1"/>
                </a:solidFill>
              </a:rPr>
              <a:t> computerscherm</a:t>
            </a:r>
            <a:endParaRPr lang="en-US" sz="2400" dirty="0"/>
          </a:p>
        </p:txBody>
      </p:sp>
      <p:sp>
        <p:nvSpPr>
          <p:cNvPr id="29" name="Shape 25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</a:t>
            </a:r>
            <a:r>
              <a:rPr lang="en-US" sz="1800" b="1" dirty="0">
                <a:solidFill>
                  <a:schemeClr val="bg1"/>
                </a:solidFill>
              </a:rPr>
              <a:t>dernier</a:t>
            </a:r>
            <a:r>
              <a:rPr lang="en-US" sz="1800" dirty="0">
                <a:solidFill>
                  <a:schemeClr val="bg1"/>
                </a:solidFill>
              </a:rPr>
              <a:t> mot donne le </a:t>
            </a:r>
            <a:r>
              <a:rPr lang="en-US" sz="1800" b="1" dirty="0">
                <a:solidFill>
                  <a:schemeClr val="bg1"/>
                </a:solidFill>
              </a:rPr>
              <a:t>sens</a:t>
            </a:r>
            <a:r>
              <a:rPr lang="en-US" sz="1800" dirty="0">
                <a:solidFill>
                  <a:schemeClr val="bg1"/>
                </a:solidFill>
              </a:rPr>
              <a:t> et l’</a:t>
            </a:r>
            <a:r>
              <a:rPr lang="en-US" sz="1800" b="1" dirty="0">
                <a:solidFill>
                  <a:schemeClr val="bg1"/>
                </a:solidFill>
              </a:rPr>
              <a:t>article</a:t>
            </a:r>
            <a:r>
              <a:rPr lang="en-US" sz="1800" dirty="0">
                <a:solidFill>
                  <a:schemeClr val="bg1"/>
                </a:solidFill>
              </a:rPr>
              <a:t> (M5). Le premier mot </a:t>
            </a:r>
            <a:r>
              <a:rPr lang="en-US" sz="1800" b="1" dirty="0">
                <a:solidFill>
                  <a:schemeClr val="bg1"/>
                </a:solidFill>
              </a:rPr>
              <a:t>précise</a:t>
            </a:r>
            <a:r>
              <a:rPr lang="en-US" sz="1800" dirty="0">
                <a:solidFill>
                  <a:schemeClr val="bg1"/>
                </a:solidFill>
              </a:rPr>
              <a:t> : une </a:t>
            </a:r>
            <a:r>
              <a:rPr lang="en-US" sz="1800" i="1" dirty="0">
                <a:solidFill>
                  <a:schemeClr val="bg1"/>
                </a:solidFill>
              </a:rPr>
              <a:t>kantoordeur</a:t>
            </a:r>
            <a:r>
              <a:rPr lang="en-US" sz="1800" dirty="0">
                <a:solidFill>
                  <a:schemeClr val="bg1"/>
                </a:solidFill>
              </a:rPr>
              <a:t> est une porte.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4 recettes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837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5559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82880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8288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96138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6430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0" y="182880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2880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6FB0"/>
                </a:solidFill>
              </a:rPr>
              <a:t>nom + nom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760720" y="1691640"/>
            <a:ext cx="5879592" cy="914400"/>
          </a:xfrm>
          <a:prstGeom prst="roundRect">
            <a:avLst>
              <a:gd name="adj" fmla="val 8000"/>
            </a:avLst>
          </a:prstGeom>
          <a:solidFill>
            <a:srgbClr val="2A6FB0">
              <a:alpha val="10000"/>
            </a:srgb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1691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politieman · de schoenmaat · het appelsap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38378" y="2834640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55598" y="2834640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944368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94436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radical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961388" y="2834640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64308" y="2834640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0" y="2944368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28800" y="2944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280720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3227"/>
                </a:solidFill>
              </a:rPr>
              <a:t>radical de verbe + nom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760720" y="2807208"/>
            <a:ext cx="5879592" cy="914400"/>
          </a:xfrm>
          <a:prstGeom prst="roundRect">
            <a:avLst>
              <a:gd name="adj" fmla="val 8000"/>
            </a:avLst>
          </a:prstGeom>
          <a:solidFill>
            <a:srgbClr val="B83227">
              <a:alpha val="10000"/>
            </a:srgb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0" y="280720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eetkamer (eet-en) · de zitplaats · het vliegtuig · de wachtkamer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38378" y="3950208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355598" y="3950208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4059936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0599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prép.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961388" y="3950208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464308" y="3950208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28800" y="4059936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828800" y="405993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3063240" y="392277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4F"/>
                </a:solidFill>
              </a:rPr>
              <a:t>préposition + nom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760720" y="3922776"/>
            <a:ext cx="5879592" cy="914400"/>
          </a:xfrm>
          <a:prstGeom prst="roundRect">
            <a:avLst>
              <a:gd name="adj" fmla="val 8000"/>
            </a:avLst>
          </a:prstGeom>
          <a:solidFill>
            <a:srgbClr val="2E7D4F">
              <a:alpha val="10000"/>
            </a:srgb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943600" y="3922776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voordeur · de ingang · de uitgang · de achterdeur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738378" y="5065776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55598" y="5065776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8640" y="5175504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8640" y="517550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adj.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1961388" y="5065776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464308" y="5065776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828800" y="5175504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828800" y="517550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3063240" y="503834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00F"/>
                </a:solidFill>
              </a:rPr>
              <a:t>adjectif + nom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5760720" y="5038344"/>
            <a:ext cx="5879592" cy="914400"/>
          </a:xfrm>
          <a:prstGeom prst="roundRect">
            <a:avLst>
              <a:gd name="adj" fmla="val 8000"/>
            </a:avLst>
          </a:prstGeom>
          <a:solidFill>
            <a:srgbClr val="D9700F">
              <a:alpha val="10000"/>
            </a:srgb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943600" y="5038344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grootvader · de snelweg · het kleinkind</a:t>
            </a:r>
            <a:endParaRPr lang="en-US" sz="17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Correction de l’archive : </a:t>
            </a:r>
            <a:r>
              <a:rPr lang="en-US" sz="1400" i="1" dirty="0">
                <a:solidFill>
                  <a:schemeClr val="accent5"/>
                </a:solidFill>
              </a:rPr>
              <a:t>vliegtuig</a:t>
            </a:r>
            <a:r>
              <a:rPr lang="en-US" sz="1400" i="1" dirty="0">
                <a:solidFill>
                  <a:schemeClr val="accent5"/>
                </a:solidFill>
              </a:rPr>
              <a:t> (vlieg-en) et </a:t>
            </a:r>
            <a:r>
              <a:rPr lang="en-US" sz="1400" i="1" dirty="0">
                <a:solidFill>
                  <a:schemeClr val="accent5"/>
                </a:solidFill>
              </a:rPr>
              <a:t>knipbeurt</a:t>
            </a:r>
            <a:r>
              <a:rPr lang="en-US" sz="1400" i="1" dirty="0">
                <a:solidFill>
                  <a:schemeClr val="accent5"/>
                </a:solidFill>
              </a:rPr>
              <a:t> (knipp-en) sont des « radical + nom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l’ordre est inversé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709160"/>
          </a:xfrm>
          <a:prstGeom prst="roundRect">
            <a:avLst>
              <a:gd name="adj" fmla="val 1553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7375E"/>
                </a:solidFill>
              </a:rPr>
              <a:t>salle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148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d’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3227"/>
                </a:solidFill>
              </a:rPr>
              <a:t>attente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931920" y="2331720"/>
            <a:ext cx="1097280" cy="274320"/>
          </a:xfrm>
          <a:prstGeom prst="line">
            <a:avLst/>
          </a:prstGeom>
          <a:noFill/>
          <a:ln w="2540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 flipV="1">
            <a:off x="3931920" y="2331720"/>
            <a:ext cx="1097280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66360" y="214884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21488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wacht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63640" y="214884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kamer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de wachtkamer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7375E"/>
                </a:solidFill>
              </a:rPr>
              <a:t>carte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3200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d’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3227"/>
                </a:solidFill>
              </a:rPr>
              <a:t>identité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931920" y="3383280"/>
            <a:ext cx="1097280" cy="274320"/>
          </a:xfrm>
          <a:prstGeom prst="line">
            <a:avLst/>
          </a:prstGeom>
          <a:noFill/>
          <a:ln w="2540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V="1">
            <a:off x="3931920" y="3383280"/>
            <a:ext cx="1097280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166360" y="3200400"/>
            <a:ext cx="1984248" cy="640080"/>
          </a:xfrm>
          <a:prstGeom prst="roundRect">
            <a:avLst>
              <a:gd name="adj" fmla="val 7143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66360" y="320040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identiteits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7196328" y="320040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96328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kaart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339328" y="320040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de identiteitskaart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251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7375E"/>
                </a:solidFill>
              </a:rPr>
              <a:t>verre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1965960" y="4251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à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468880" y="4251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3227"/>
                </a:solidFill>
              </a:rPr>
              <a:t>vin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3931920" y="4434840"/>
            <a:ext cx="1097280" cy="274320"/>
          </a:xfrm>
          <a:prstGeom prst="line">
            <a:avLst/>
          </a:prstGeom>
          <a:noFill/>
          <a:ln w="25400">
            <a:solidFill>
              <a:srgbClr val="B83227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V="1">
            <a:off x="3931920" y="4434840"/>
            <a:ext cx="1097280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166360" y="4251960"/>
            <a:ext cx="896112" cy="640080"/>
          </a:xfrm>
          <a:prstGeom prst="roundRect">
            <a:avLst>
              <a:gd name="adj" fmla="val 7143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6360" y="425196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wijn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6108192" y="425196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08192" y="4251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glas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7251192" y="425196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b="1" i="1" dirty="0">
                <a:solidFill>
                  <a:schemeClr val="tx1"/>
                </a:solidFill>
              </a:rPr>
              <a:t>het wijnglas</a:t>
            </a:r>
            <a:endParaRPr lang="en-US" sz="1900" dirty="0"/>
          </a:p>
        </p:txBody>
      </p:sp>
      <p:sp>
        <p:nvSpPr>
          <p:cNvPr id="37" name="Shape 34"/>
          <p:cNvSpPr/>
          <p:nvPr/>
        </p:nvSpPr>
        <p:spPr>
          <a:xfrm>
            <a:off x="822960" y="5349240"/>
            <a:ext cx="1054303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5840" y="53492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kamer wacht</a:t>
            </a:r>
            <a:r>
              <a:rPr lang="en-US" sz="1900" dirty="0">
                <a:solidFill>
                  <a:schemeClr val="tx1"/>
                </a:solidFill>
              </a:rPr>
              <a:t> · </a:t>
            </a:r>
            <a:r>
              <a:rPr lang="en-US" sz="1900" strike="sngStrike" dirty="0">
                <a:solidFill>
                  <a:schemeClr val="accent6"/>
                </a:solidFill>
              </a:rPr>
              <a:t>wacht kamer</a:t>
            </a:r>
            <a:r>
              <a:rPr lang="en-US" sz="1900" dirty="0">
                <a:solidFill>
                  <a:schemeClr val="tx1"/>
                </a:solidFill>
              </a:rPr>
              <a:t> → ✓ </a:t>
            </a:r>
            <a:r>
              <a:rPr lang="en-US" sz="1900" b="1" i="1" dirty="0">
                <a:solidFill>
                  <a:schemeClr val="tx1"/>
                </a:solidFill>
              </a:rPr>
              <a:t>wachtkamer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b="1" dirty="0">
                <a:solidFill>
                  <a:schemeClr val="tx1"/>
                </a:solidFill>
              </a:rPr>
              <a:t>un seul mot</a:t>
            </a:r>
            <a:r>
              <a:rPr lang="en-US" sz="1900" dirty="0">
                <a:solidFill>
                  <a:schemeClr val="tx1"/>
                </a:solidFill>
              </a:rPr>
              <a:t>, sans préposition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petit lien : -s- ou -en-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317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685800"/>
          </a:xfrm>
          <a:prstGeom prst="roundRect">
            <a:avLst>
              <a:gd name="adj" fmla="val 10667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5413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-s-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verjaardag</a:t>
            </a:r>
            <a:r>
              <a:rPr lang="en-US" sz="2000" b="1" i="1" dirty="0">
                <a:solidFill>
                  <a:schemeClr val="accent1"/>
                </a:solidFill>
              </a:rPr>
              <a:t>s</a:t>
            </a:r>
            <a:r>
              <a:rPr lang="en-US" sz="2000" i="1" dirty="0">
                <a:solidFill>
                  <a:schemeClr val="tx1"/>
                </a:solidFill>
              </a:rPr>
              <a:t>taart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tarte d’anniversaire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station</a:t>
            </a:r>
            <a:r>
              <a:rPr lang="en-US" sz="2000" b="1" i="1" dirty="0">
                <a:solidFill>
                  <a:schemeClr val="accent1"/>
                </a:solidFill>
              </a:rPr>
              <a:t>s</a:t>
            </a:r>
            <a:r>
              <a:rPr lang="en-US" sz="2000" i="1" dirty="0">
                <a:solidFill>
                  <a:schemeClr val="tx1"/>
                </a:solidFill>
              </a:rPr>
              <a:t>plein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place de la gare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identiteit</a:t>
            </a:r>
            <a:r>
              <a:rPr lang="en-US" sz="2000" b="1" i="1" dirty="0">
                <a:solidFill>
                  <a:schemeClr val="accent1"/>
                </a:solidFill>
              </a:rPr>
              <a:t>s</a:t>
            </a:r>
            <a:r>
              <a:rPr lang="en-US" sz="2000" i="1" dirty="0">
                <a:solidFill>
                  <a:schemeClr val="tx1"/>
                </a:solidFill>
              </a:rPr>
              <a:t>kaart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88620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carte d’identité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arbeid</a:t>
            </a:r>
            <a:r>
              <a:rPr lang="en-US" sz="2000" b="1" i="1" dirty="0">
                <a:solidFill>
                  <a:schemeClr val="accent1"/>
                </a:solidFill>
              </a:rPr>
              <a:t>s</a:t>
            </a:r>
            <a:r>
              <a:rPr lang="en-US" sz="2000" i="1" dirty="0">
                <a:solidFill>
                  <a:schemeClr val="tx1"/>
                </a:solidFill>
              </a:rPr>
              <a:t>overeenkomst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88620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contrat de travail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27064" y="1554480"/>
            <a:ext cx="5413248" cy="3977640"/>
          </a:xfrm>
          <a:prstGeom prst="roundRect">
            <a:avLst>
              <a:gd name="adj" fmla="val 1839"/>
            </a:avLst>
          </a:prstGeom>
          <a:solidFill>
            <a:schemeClr val="bg1"/>
          </a:solidFill>
          <a:ln w="317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27064" y="1554480"/>
            <a:ext cx="5413248" cy="685800"/>
          </a:xfrm>
          <a:prstGeom prst="roundRect">
            <a:avLst>
              <a:gd name="adj" fmla="val 10667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27064" y="1554480"/>
            <a:ext cx="5413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-en-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501384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zieke</a:t>
            </a:r>
            <a:r>
              <a:rPr lang="en-US" sz="2000" b="1" i="1" dirty="0">
                <a:solidFill>
                  <a:schemeClr val="accent1"/>
                </a:solidFill>
              </a:rPr>
              <a:t>n</a:t>
            </a:r>
            <a:r>
              <a:rPr lang="en-US" sz="2000" i="1" dirty="0">
                <a:solidFill>
                  <a:schemeClr val="tx1"/>
                </a:solidFill>
              </a:rPr>
              <a:t>huis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564624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l’hôpital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501384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brieve</a:t>
            </a:r>
            <a:r>
              <a:rPr lang="en-US" sz="2000" b="1" i="1" dirty="0">
                <a:solidFill>
                  <a:schemeClr val="accent1"/>
                </a:solidFill>
              </a:rPr>
              <a:t>n</a:t>
            </a:r>
            <a:r>
              <a:rPr lang="en-US" sz="2000" i="1" dirty="0">
                <a:solidFill>
                  <a:schemeClr val="tx1"/>
                </a:solidFill>
              </a:rPr>
              <a:t>bus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564624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boîte aux lettres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501384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panne</a:t>
            </a:r>
            <a:r>
              <a:rPr lang="en-US" sz="2000" b="1" i="1" dirty="0">
                <a:solidFill>
                  <a:schemeClr val="accent1"/>
                </a:solidFill>
              </a:rPr>
              <a:t>n</a:t>
            </a:r>
            <a:r>
              <a:rPr lang="en-US" sz="2000" i="1" dirty="0">
                <a:solidFill>
                  <a:schemeClr val="tx1"/>
                </a:solidFill>
              </a:rPr>
              <a:t>koek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564624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crêpe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01384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boeke</a:t>
            </a:r>
            <a:r>
              <a:rPr lang="en-US" sz="2000" b="1" i="1" dirty="0">
                <a:solidFill>
                  <a:schemeClr val="accent1"/>
                </a:solidFill>
              </a:rPr>
              <a:t>n</a:t>
            </a:r>
            <a:r>
              <a:rPr lang="en-US" sz="2000" i="1" dirty="0">
                <a:solidFill>
                  <a:schemeClr val="tx1"/>
                </a:solidFill>
              </a:rPr>
              <a:t>kast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9564624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bibliothèque (meuble)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</a:t>
            </a:r>
            <a:r>
              <a:rPr lang="en-US" sz="1800" i="1" dirty="0">
                <a:solidFill>
                  <a:schemeClr val="bg1"/>
                </a:solidFill>
              </a:rPr>
              <a:t>-s-</a:t>
            </a:r>
            <a:r>
              <a:rPr lang="en-US" sz="1800" dirty="0">
                <a:solidFill>
                  <a:schemeClr val="bg1"/>
                </a:solidFill>
              </a:rPr>
              <a:t> s’écrit quand on l’</a:t>
            </a:r>
            <a:r>
              <a:rPr lang="en-US" sz="1800" b="1" dirty="0">
                <a:solidFill>
                  <a:schemeClr val="bg1"/>
                </a:solidFill>
              </a:rPr>
              <a:t>entend</a:t>
            </a:r>
            <a:r>
              <a:rPr lang="en-US" sz="1800" dirty="0">
                <a:solidFill>
                  <a:schemeClr val="bg1"/>
                </a:solidFill>
              </a:rPr>
              <a:t> ; le </a:t>
            </a:r>
            <a:r>
              <a:rPr lang="en-US" sz="1800" i="1" dirty="0">
                <a:solidFill>
                  <a:schemeClr val="bg1"/>
                </a:solidFill>
              </a:rPr>
              <a:t>n</a:t>
            </a:r>
            <a:r>
              <a:rPr lang="en-US" sz="1800" dirty="0">
                <a:solidFill>
                  <a:schemeClr val="bg1"/>
                </a:solidFill>
              </a:rPr>
              <a:t> de </a:t>
            </a:r>
            <a:r>
              <a:rPr lang="en-US" sz="1800" i="1" dirty="0">
                <a:solidFill>
                  <a:schemeClr val="bg1"/>
                </a:solidFill>
              </a:rPr>
              <a:t>-en-</a:t>
            </a:r>
            <a:r>
              <a:rPr lang="en-US" sz="1800" dirty="0">
                <a:solidFill>
                  <a:schemeClr val="bg1"/>
                </a:solidFill>
              </a:rPr>
              <a:t>, lui, ne s’entend souvent pas (</a:t>
            </a:r>
            <a:r>
              <a:rPr lang="en-US" sz="1800" i="1" dirty="0">
                <a:solidFill>
                  <a:schemeClr val="bg1"/>
                </a:solidFill>
              </a:rPr>
              <a:t>pannenkoek</a:t>
            </a:r>
            <a:r>
              <a:rPr lang="en-US" sz="1800" dirty="0">
                <a:solidFill>
                  <a:schemeClr val="bg1"/>
                </a:solidFill>
              </a:rPr>
              <a:t>). En A1, on apprend ces mots tels quels.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diminutifs : -je, -tje, -pje, -etje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Tous les diminutifs sont </a:t>
            </a:r>
            <a:r>
              <a:rPr lang="en-US" sz="1900" b="1" dirty="0">
                <a:solidFill>
                  <a:schemeClr val="bg1"/>
                </a:solidFill>
              </a:rPr>
              <a:t>HET</a:t>
            </a:r>
            <a:r>
              <a:rPr lang="en-US" sz="1900" dirty="0">
                <a:solidFill>
                  <a:schemeClr val="bg1"/>
                </a:solidFill>
              </a:rPr>
              <a:t> : de stoel → </a:t>
            </a:r>
            <a:r>
              <a:rPr lang="en-US" sz="1900" b="1" dirty="0">
                <a:solidFill>
                  <a:schemeClr val="bg1"/>
                </a:solidFill>
              </a:rPr>
              <a:t>het</a:t>
            </a:r>
            <a:r>
              <a:rPr lang="en-US" sz="1900" dirty="0">
                <a:solidFill>
                  <a:schemeClr val="bg1"/>
                </a:solidFill>
              </a:rPr>
              <a:t> stoeltje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635758" cy="329184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48640" y="242316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-je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0632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cas général</a:t>
            </a:r>
            <a:endParaRPr lang="en-US" sz="1300" dirty="0"/>
          </a:p>
        </p:txBody>
      </p:sp>
      <p:pic>
        <p:nvPicPr>
          <p:cNvPr id="10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479" y="36118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4297680"/>
            <a:ext cx="24528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huis</a:t>
            </a:r>
            <a:r>
              <a:rPr lang="en-US" sz="1700" b="1" i="1" dirty="0">
                <a:solidFill>
                  <a:schemeClr val="accent1"/>
                </a:solidFill>
              </a:rPr>
              <a:t>je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boek</a:t>
            </a:r>
            <a:r>
              <a:rPr lang="en-US" sz="1700" b="1" i="1" dirty="0">
                <a:solidFill>
                  <a:schemeClr val="accent1"/>
                </a:solidFill>
              </a:rPr>
              <a:t>je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kop</a:t>
            </a:r>
            <a:r>
              <a:rPr lang="en-US" sz="1700" b="1" i="1" dirty="0">
                <a:solidFill>
                  <a:schemeClr val="accent1"/>
                </a:solidFill>
              </a:rPr>
              <a:t>je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367278" y="2331720"/>
            <a:ext cx="2635758" cy="329184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367278" y="242316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-tje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3458718" y="30632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voyelle longue (+ l, n, r, w)</a:t>
            </a:r>
            <a:endParaRPr lang="en-US" sz="1300" dirty="0"/>
          </a:p>
        </p:txBody>
      </p:sp>
      <p:pic>
        <p:nvPicPr>
          <p:cNvPr id="15" name="Image 1" descr="ch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117" y="36118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58718" y="4297680"/>
            <a:ext cx="24528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stoel</a:t>
            </a:r>
            <a:r>
              <a:rPr lang="en-US" sz="1700" b="1" i="1" dirty="0">
                <a:solidFill>
                  <a:schemeClr val="accent1"/>
                </a:solidFill>
              </a:rPr>
              <a:t>tje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ei</a:t>
            </a:r>
            <a:r>
              <a:rPr lang="en-US" sz="1700" b="1" i="1" dirty="0">
                <a:solidFill>
                  <a:schemeClr val="accent1"/>
                </a:solidFill>
              </a:rPr>
              <a:t>tje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vrouw</a:t>
            </a:r>
            <a:r>
              <a:rPr lang="en-US" sz="1700" b="1" i="1" dirty="0">
                <a:solidFill>
                  <a:schemeClr val="accent1"/>
                </a:solidFill>
              </a:rPr>
              <a:t>tje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185916" y="2331720"/>
            <a:ext cx="2635758" cy="329184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185916" y="242316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-pje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6277356" y="30632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voyelle longue + m</a:t>
            </a:r>
            <a:endParaRPr lang="en-US" sz="1300" dirty="0"/>
          </a:p>
        </p:txBody>
      </p:sp>
      <p:pic>
        <p:nvPicPr>
          <p:cNvPr id="20" name="Image 2" descr="deciduous 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361188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77356" y="4297680"/>
            <a:ext cx="24528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boom</a:t>
            </a:r>
            <a:r>
              <a:rPr lang="en-US" sz="1700" b="1" i="1" dirty="0">
                <a:solidFill>
                  <a:schemeClr val="accent1"/>
                </a:solidFill>
              </a:rPr>
              <a:t>pje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raam</a:t>
            </a:r>
            <a:r>
              <a:rPr lang="en-US" sz="1700" b="1" i="1" dirty="0">
                <a:solidFill>
                  <a:schemeClr val="accent1"/>
                </a:solidFill>
              </a:rPr>
              <a:t>pje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9004554" y="2331720"/>
            <a:ext cx="2635758" cy="329184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9004554" y="242316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-etje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9095994" y="30632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voyelle courte + l, m, n, r, ng</a:t>
            </a:r>
            <a:endParaRPr lang="en-US" sz="1300" dirty="0"/>
          </a:p>
        </p:txBody>
      </p:sp>
      <p:pic>
        <p:nvPicPr>
          <p:cNvPr id="25" name="Image 3" descr="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393" y="3611880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95994" y="4297680"/>
            <a:ext cx="24528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bal</a:t>
            </a:r>
            <a:r>
              <a:rPr lang="en-US" sz="1700" b="1" i="1" dirty="0">
                <a:solidFill>
                  <a:schemeClr val="accent1"/>
                </a:solidFill>
              </a:rPr>
              <a:t>letje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ring</a:t>
            </a:r>
            <a:r>
              <a:rPr lang="en-US" sz="1700" b="1" i="1" dirty="0">
                <a:solidFill>
                  <a:schemeClr val="accent1"/>
                </a:solidFill>
              </a:rPr>
              <a:t>etje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Diminutifs figés : </a:t>
            </a:r>
            <a:r>
              <a:rPr lang="en-US" sz="1600" i="1" dirty="0">
                <a:solidFill>
                  <a:schemeClr val="tx2"/>
                </a:solidFill>
              </a:rPr>
              <a:t>een kopje koffie · een broodje · een biertje · even een momentje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Du verbe au nom : -ing et -er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4114800"/>
          </a:xfrm>
          <a:prstGeom prst="roundRect">
            <a:avLst>
              <a:gd name="adj" fmla="val 1778"/>
            </a:avLst>
          </a:prstGeom>
          <a:solidFill>
            <a:schemeClr val="bg1"/>
          </a:solidFill>
          <a:ln w="317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radical + 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l’action · toujours </a:t>
            </a:r>
            <a:r>
              <a:rPr lang="en-US" sz="1400" b="1" dirty="0">
                <a:solidFill>
                  <a:schemeClr val="bg1"/>
                </a:solidFill>
              </a:rPr>
              <a:t>de</a:t>
            </a:r>
            <a:endParaRPr lang="en-US" sz="1400" dirty="0"/>
          </a:p>
        </p:txBody>
      </p:sp>
      <p:pic>
        <p:nvPicPr>
          <p:cNvPr id="9" name="Image 0" descr="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0020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vergaderen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2834640" y="2880360"/>
            <a:ext cx="548640" cy="914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347472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vergader</a:t>
            </a:r>
            <a:r>
              <a:rPr lang="en-US" sz="1900" b="1" i="1" dirty="0">
                <a:solidFill>
                  <a:schemeClr val="accent1"/>
                </a:solidFill>
              </a:rPr>
              <a:t>ing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355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bestellen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834640" y="3630168"/>
            <a:ext cx="548640" cy="914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3474720" y="3355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bestell</a:t>
            </a:r>
            <a:r>
              <a:rPr lang="en-US" sz="1900" b="1" i="1" dirty="0">
                <a:solidFill>
                  <a:schemeClr val="accent1"/>
                </a:solidFill>
              </a:rPr>
              <a:t>ing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1056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opleiden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2834640" y="4379976"/>
            <a:ext cx="548640" cy="914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3474720" y="41056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opleid</a:t>
            </a:r>
            <a:r>
              <a:rPr lang="en-US" sz="1900" b="1" i="1" dirty="0">
                <a:solidFill>
                  <a:schemeClr val="accent1"/>
                </a:solidFill>
              </a:rPr>
              <a:t>ing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" y="48554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rekenen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2834640" y="5129784"/>
            <a:ext cx="548640" cy="914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21" name="Text 17"/>
          <p:cNvSpPr txBox="1"/>
          <p:nvPr/>
        </p:nvSpPr>
        <p:spPr>
          <a:xfrm>
            <a:off x="3474720" y="48554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reken</a:t>
            </a:r>
            <a:r>
              <a:rPr lang="en-US" sz="1900" b="1" i="1" dirty="0">
                <a:solidFill>
                  <a:schemeClr val="accent1"/>
                </a:solidFill>
              </a:rPr>
              <a:t>ing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227064" y="1554480"/>
            <a:ext cx="5413248" cy="4114800"/>
          </a:xfrm>
          <a:prstGeom prst="roundRect">
            <a:avLst>
              <a:gd name="adj" fmla="val 1778"/>
            </a:avLst>
          </a:prstGeom>
          <a:solidFill>
            <a:schemeClr val="bg1"/>
          </a:solidFill>
          <a:ln w="317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27064" y="1554480"/>
            <a:ext cx="5413248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55664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radical + er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6455664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personne</a:t>
            </a:r>
            <a:endParaRPr lang="en-US" sz="1400" dirty="0"/>
          </a:p>
        </p:txBody>
      </p:sp>
      <p:pic>
        <p:nvPicPr>
          <p:cNvPr id="26" name="Image 1" descr="man c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1600200"/>
            <a:ext cx="731520" cy="7315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01384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bakken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8513064" y="2880360"/>
            <a:ext cx="5486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9153144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bakk</a:t>
            </a:r>
            <a:r>
              <a:rPr lang="en-US" sz="1900" b="1" i="1" dirty="0">
                <a:solidFill>
                  <a:schemeClr val="accent1"/>
                </a:solidFill>
              </a:rPr>
              <a:t>er</a:t>
            </a:r>
            <a:endParaRPr lang="en-US" sz="1900" dirty="0"/>
          </a:p>
        </p:txBody>
      </p:sp>
      <p:sp>
        <p:nvSpPr>
          <p:cNvPr id="30" name="Text 25"/>
          <p:cNvSpPr txBox="1"/>
          <p:nvPr/>
        </p:nvSpPr>
        <p:spPr>
          <a:xfrm>
            <a:off x="6501384" y="3355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werken</a:t>
            </a:r>
            <a:endParaRPr lang="en-US" sz="1900" dirty="0"/>
          </a:p>
        </p:txBody>
      </p:sp>
      <p:sp>
        <p:nvSpPr>
          <p:cNvPr id="31" name="Shape 26"/>
          <p:cNvSpPr/>
          <p:nvPr/>
        </p:nvSpPr>
        <p:spPr>
          <a:xfrm>
            <a:off x="8513064" y="3630168"/>
            <a:ext cx="5486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2" name="Text 27"/>
          <p:cNvSpPr txBox="1"/>
          <p:nvPr/>
        </p:nvSpPr>
        <p:spPr>
          <a:xfrm>
            <a:off x="9153144" y="3355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werk</a:t>
            </a:r>
            <a:r>
              <a:rPr lang="en-US" sz="1900" b="1" i="1" dirty="0">
                <a:solidFill>
                  <a:schemeClr val="accent1"/>
                </a:solidFill>
              </a:rPr>
              <a:t>er</a:t>
            </a:r>
            <a:endParaRPr lang="en-US" sz="1900" dirty="0"/>
          </a:p>
        </p:txBody>
      </p:sp>
      <p:sp>
        <p:nvSpPr>
          <p:cNvPr id="33" name="Text 28"/>
          <p:cNvSpPr txBox="1"/>
          <p:nvPr/>
        </p:nvSpPr>
        <p:spPr>
          <a:xfrm>
            <a:off x="6501384" y="41056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schrijven</a:t>
            </a:r>
            <a:endParaRPr lang="en-US" sz="1900" dirty="0"/>
          </a:p>
        </p:txBody>
      </p:sp>
      <p:sp>
        <p:nvSpPr>
          <p:cNvPr id="34" name="Shape 29"/>
          <p:cNvSpPr/>
          <p:nvPr/>
        </p:nvSpPr>
        <p:spPr>
          <a:xfrm>
            <a:off x="8513064" y="4379976"/>
            <a:ext cx="5486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5" name="Text 30"/>
          <p:cNvSpPr txBox="1"/>
          <p:nvPr/>
        </p:nvSpPr>
        <p:spPr>
          <a:xfrm>
            <a:off x="9153144" y="41056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schrijv</a:t>
            </a:r>
            <a:r>
              <a:rPr lang="en-US" sz="1900" b="1" i="1" dirty="0">
                <a:solidFill>
                  <a:schemeClr val="accent1"/>
                </a:solidFill>
              </a:rPr>
              <a:t>er</a:t>
            </a:r>
            <a:endParaRPr lang="en-US" sz="1900" dirty="0"/>
          </a:p>
        </p:txBody>
      </p:sp>
      <p:sp>
        <p:nvSpPr>
          <p:cNvPr id="36" name="Text 31"/>
          <p:cNvSpPr txBox="1"/>
          <p:nvPr/>
        </p:nvSpPr>
        <p:spPr>
          <a:xfrm>
            <a:off x="6501384" y="48554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lezen</a:t>
            </a:r>
            <a:endParaRPr lang="en-US" sz="1900" dirty="0"/>
          </a:p>
        </p:txBody>
      </p:sp>
      <p:sp>
        <p:nvSpPr>
          <p:cNvPr id="37" name="Shape 32"/>
          <p:cNvSpPr/>
          <p:nvPr/>
        </p:nvSpPr>
        <p:spPr>
          <a:xfrm>
            <a:off x="8513064" y="5129784"/>
            <a:ext cx="5486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8" name="Text 33"/>
          <p:cNvSpPr txBox="1"/>
          <p:nvPr/>
        </p:nvSpPr>
        <p:spPr>
          <a:xfrm>
            <a:off x="9153144" y="48554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lez</a:t>
            </a:r>
            <a:r>
              <a:rPr lang="en-US" sz="1900" b="1" i="1" dirty="0">
                <a:solidFill>
                  <a:schemeClr val="accent1"/>
                </a:solidFill>
              </a:rPr>
              <a:t>er</a:t>
            </a:r>
            <a:endParaRPr lang="en-US" sz="190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Féminin (à reconnaître) : </a:t>
            </a:r>
            <a:r>
              <a:rPr lang="en-US" sz="1500" b="1" i="1" dirty="0">
                <a:solidFill>
                  <a:schemeClr val="accent5"/>
                </a:solidFill>
              </a:rPr>
              <a:t>-ster</a:t>
            </a:r>
            <a:r>
              <a:rPr lang="en-US" sz="1500" i="1" dirty="0">
                <a:solidFill>
                  <a:schemeClr val="accent5"/>
                </a:solidFill>
              </a:rPr>
              <a:t> (</a:t>
            </a:r>
            <a:r>
              <a:rPr lang="en-US" sz="1500" i="1" dirty="0">
                <a:solidFill>
                  <a:schemeClr val="accent5"/>
                </a:solidFill>
              </a:rPr>
              <a:t>de schrijfster</a:t>
            </a:r>
            <a:r>
              <a:rPr lang="en-US" sz="1500" i="1" dirty="0">
                <a:solidFill>
                  <a:schemeClr val="accent5"/>
                </a:solidFill>
              </a:rPr>
              <a:t>) ou </a:t>
            </a:r>
            <a:r>
              <a:rPr lang="en-US" sz="1500" b="1" i="1" dirty="0">
                <a:solidFill>
                  <a:schemeClr val="accent5"/>
                </a:solidFill>
              </a:rPr>
              <a:t>-e</a:t>
            </a:r>
            <a:r>
              <a:rPr lang="en-US" sz="1500" i="1" dirty="0">
                <a:solidFill>
                  <a:schemeClr val="accent5"/>
                </a:solidFill>
              </a:rPr>
              <a:t> (</a:t>
            </a:r>
            <a:r>
              <a:rPr lang="en-US" sz="1500" i="1" dirty="0">
                <a:solidFill>
                  <a:schemeClr val="accent5"/>
                </a:solidFill>
              </a:rPr>
              <a:t>de studente</a:t>
            </a:r>
            <a:r>
              <a:rPr lang="en-US" sz="1500" i="1" dirty="0">
                <a:solidFill>
                  <a:schemeClr val="accent5"/>
                </a:solidFill>
              </a:rPr>
              <a:t>) · </a:t>
            </a:r>
            <a:r>
              <a:rPr lang="en-US" sz="1500" i="1" dirty="0">
                <a:solidFill>
                  <a:schemeClr val="accent5"/>
                </a:solidFill>
              </a:rPr>
              <a:t>bakken → bakker</a:t>
            </a:r>
            <a:r>
              <a:rPr lang="en-US" sz="1500" i="1" dirty="0">
                <a:solidFill>
                  <a:schemeClr val="accent5"/>
                </a:solidFill>
              </a:rPr>
              <a:t> : la consonne double reste (M1).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 l’adjectif au nom… et au contraire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5204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7276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-heid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03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adjectif → nom (</a:t>
            </a:r>
            <a:r>
              <a:rPr lang="en-US" sz="1400" b="1" dirty="0">
                <a:solidFill>
                  <a:schemeClr val="bg1"/>
                </a:solidFill>
              </a:rPr>
              <a:t>de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vrij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de vrij</a:t>
            </a:r>
            <a:r>
              <a:rPr lang="en-US" sz="1800" b="1" i="1" dirty="0">
                <a:solidFill>
                  <a:schemeClr val="tx1"/>
                </a:solidFill>
              </a:rPr>
              <a:t>heid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11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gezond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de gezond</a:t>
            </a:r>
            <a:r>
              <a:rPr lang="en-US" sz="1800" b="1" i="1" dirty="0">
                <a:solidFill>
                  <a:schemeClr val="tx1"/>
                </a:solidFill>
              </a:rPr>
              <a:t>heid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4805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snel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de snel</a:t>
            </a:r>
            <a:r>
              <a:rPr lang="en-US" sz="1800" b="1" i="1" dirty="0">
                <a:solidFill>
                  <a:schemeClr val="tx1"/>
                </a:solidFill>
              </a:rPr>
              <a:t>heid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768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317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554480"/>
            <a:ext cx="352044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0" y="157276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on-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2103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 contraire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mogelijk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i="1" dirty="0">
                <a:solidFill>
                  <a:schemeClr val="tx1"/>
                </a:solidFill>
              </a:rPr>
              <a:t>on</a:t>
            </a:r>
            <a:r>
              <a:rPr lang="en-US" sz="1800" i="1" dirty="0">
                <a:solidFill>
                  <a:schemeClr val="tx1"/>
                </a:solidFill>
              </a:rPr>
              <a:t>mogelijk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3611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gezond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i="1" dirty="0">
                <a:solidFill>
                  <a:schemeClr val="tx1"/>
                </a:solidFill>
              </a:rPr>
              <a:t>on</a:t>
            </a:r>
            <a:r>
              <a:rPr lang="en-US" sz="1800" i="1" dirty="0">
                <a:solidFill>
                  <a:schemeClr val="tx1"/>
                </a:solidFill>
              </a:rPr>
              <a:t>gezond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4805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bekend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i="1" dirty="0">
                <a:solidFill>
                  <a:schemeClr val="tx1"/>
                </a:solidFill>
              </a:rPr>
              <a:t>on</a:t>
            </a:r>
            <a:r>
              <a:rPr lang="en-US" sz="1800" i="1" dirty="0">
                <a:solidFill>
                  <a:schemeClr val="tx1"/>
                </a:solidFill>
              </a:rPr>
              <a:t>bekend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3175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46720" y="1554480"/>
            <a:ext cx="35204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0" y="157276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-loos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2103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sans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werk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werk</a:t>
            </a:r>
            <a:r>
              <a:rPr lang="en-US" sz="1800" b="1" i="1" dirty="0">
                <a:solidFill>
                  <a:schemeClr val="tx1"/>
                </a:solidFill>
              </a:rPr>
              <a:t>loos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3611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draad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draad</a:t>
            </a:r>
            <a:r>
              <a:rPr lang="en-US" sz="1800" b="1" i="1" dirty="0">
                <a:solidFill>
                  <a:schemeClr val="tx1"/>
                </a:solidFill>
              </a:rPr>
              <a:t>loos</a:t>
            </a:r>
            <a:r>
              <a:rPr lang="en-US" sz="1800" i="1" dirty="0">
                <a:solidFill>
                  <a:schemeClr val="tx1"/>
                </a:solidFill>
              </a:rPr>
              <a:t> (sans fil)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44805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zorg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zorge</a:t>
            </a:r>
            <a:r>
              <a:rPr lang="en-US" sz="1800" b="1" i="1" dirty="0">
                <a:solidFill>
                  <a:schemeClr val="tx1"/>
                </a:solidFill>
              </a:rPr>
              <a:t>loos</a:t>
            </a:r>
            <a:endParaRPr lang="en-US" sz="1800" dirty="0"/>
          </a:p>
        </p:txBody>
      </p:sp>
      <p:pic>
        <p:nvPicPr>
          <p:cNvPr id="26" name="Image 0" descr="sneezing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23560"/>
            <a:ext cx="594360" cy="5943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371600" y="5623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Gezondheid!</a:t>
            </a:r>
            <a:r>
              <a:rPr lang="en-US" sz="1700" dirty="0">
                <a:solidFill>
                  <a:schemeClr val="tx1"/>
                </a:solidFill>
              </a:rPr>
              <a:t> = « À tes souhaits ! » · </a:t>
            </a:r>
            <a:r>
              <a:rPr lang="en-US" sz="1700" i="1" dirty="0">
                <a:solidFill>
                  <a:schemeClr val="tx1"/>
                </a:solidFill>
              </a:rPr>
              <a:t>werkloos</a:t>
            </a:r>
            <a:r>
              <a:rPr lang="en-US" sz="1700" dirty="0">
                <a:solidFill>
                  <a:schemeClr val="tx1"/>
                </a:solidFill>
              </a:rPr>
              <a:t> vient du M2.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Lire un mot très long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3703320" cy="77724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 · Je trouve le dernier mot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206240" y="1600200"/>
            <a:ext cx="3703320" cy="77724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 · Je coupe les blocs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63840" y="1600200"/>
            <a:ext cx="3703320" cy="77724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 · Je lis de droite à gauche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212848" y="27706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2928" y="27706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27706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33088" y="27706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288036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1168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personeel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613148" y="2862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1748" y="2862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2971800"/>
            <a:ext cx="457200" cy="731520"/>
          </a:xfrm>
          <a:prstGeom prst="roundRect">
            <a:avLst>
              <a:gd name="adj" fmla="val 10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2971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312664" y="267919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4456" y="267919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56248" y="267919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78040" y="267919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99832" y="267919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0" y="278892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2064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vergadering</a:t>
            </a:r>
            <a:endParaRPr lang="en-US" sz="2600" dirty="0"/>
          </a:p>
        </p:txBody>
      </p:sp>
      <p:pic>
        <p:nvPicPr>
          <p:cNvPr id="25" name="Image 0" descr="c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194560"/>
            <a:ext cx="548640" cy="54864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291840" y="3383280"/>
            <a:ext cx="3383280" cy="822960"/>
          </a:xfrm>
          <a:prstGeom prst="arc">
            <a:avLst>
              <a:gd name="adj1" fmla="val 0"/>
              <a:gd name="adj2" fmla="val 10800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8412480" y="2788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= une </a:t>
            </a:r>
            <a:r>
              <a:rPr lang="en-US" sz="1900" b="1" dirty="0">
                <a:solidFill>
                  <a:schemeClr val="tx1"/>
                </a:solidFill>
              </a:rPr>
              <a:t>réunion</a:t>
            </a:r>
            <a:r>
              <a:rPr lang="en-US" sz="1900" dirty="0">
                <a:solidFill>
                  <a:schemeClr val="tx1"/>
                </a:solidFill>
              </a:rPr>
              <a:t> du </a:t>
            </a:r>
            <a:r>
              <a:rPr lang="en-US" sz="1900" b="1" dirty="0">
                <a:solidFill>
                  <a:schemeClr val="tx1"/>
                </a:solidFill>
              </a:rPr>
              <a:t>personnel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1097280" y="4526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de verjaardagstaart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5303520" y="4526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une </a:t>
            </a:r>
            <a:r>
              <a:rPr lang="en-US" sz="1900" b="1" dirty="0">
                <a:solidFill>
                  <a:schemeClr val="tx1"/>
                </a:solidFill>
              </a:rPr>
              <a:t>tarte</a:t>
            </a:r>
            <a:r>
              <a:rPr lang="en-US" sz="1900" dirty="0">
                <a:solidFill>
                  <a:schemeClr val="tx1"/>
                </a:solidFill>
              </a:rPr>
              <a:t> d’</a:t>
            </a:r>
            <a:r>
              <a:rPr lang="en-US" sz="1900" b="1" dirty="0">
                <a:solidFill>
                  <a:schemeClr val="tx1"/>
                </a:solidFill>
              </a:rPr>
              <a:t>anniversaire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109728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het fietsenrek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5303520" y="5166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un </a:t>
            </a:r>
            <a:r>
              <a:rPr lang="en-US" sz="1900" b="1" dirty="0">
                <a:solidFill>
                  <a:schemeClr val="tx1"/>
                </a:solidFill>
              </a:rPr>
              <a:t>râtelier</a:t>
            </a:r>
            <a:r>
              <a:rPr lang="en-US" sz="1900" dirty="0">
                <a:solidFill>
                  <a:schemeClr val="tx1"/>
                </a:solidFill>
              </a:rPr>
              <a:t> à </a:t>
            </a:r>
            <a:r>
              <a:rPr lang="en-US" sz="1900" b="1" dirty="0">
                <a:solidFill>
                  <a:schemeClr val="tx1"/>
                </a:solidFill>
              </a:rPr>
              <a:t>vélos</a:t>
            </a:r>
            <a:endParaRPr lang="en-US" sz="1900" dirty="0"/>
          </a:p>
        </p:txBody>
      </p:sp>
      <p:pic>
        <p:nvPicPr>
          <p:cNvPr id="32" name="Image 1" descr="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les faux amis composés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b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3736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971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stof + zuiger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474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trike="sngStrike" dirty="0">
                <a:solidFill>
                  <a:schemeClr val="accent6"/>
                </a:solidFill>
              </a:rPr>
              <a:t>« suceur de tissu »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✓ </a:t>
            </a:r>
            <a:r>
              <a:rPr lang="en-US" sz="1900" b="1" dirty="0">
                <a:solidFill>
                  <a:schemeClr val="accent3"/>
                </a:solidFill>
              </a:rPr>
              <a:t>l’aspirateur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old wom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1143000" cy="1143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97680" y="2971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schoon + moeder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297680" y="3474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trike="sngStrike" dirty="0">
                <a:solidFill>
                  <a:schemeClr val="accent6"/>
                </a:solidFill>
              </a:rPr>
              <a:t>« mère propre »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29768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✓ </a:t>
            </a:r>
            <a:r>
              <a:rPr lang="en-US" sz="1900" b="1" dirty="0">
                <a:solidFill>
                  <a:schemeClr val="accent3"/>
                </a:solidFill>
              </a:rPr>
              <a:t>la belle-mère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046720" y="160020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glov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737360"/>
            <a:ext cx="1143000" cy="11430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46720" y="2971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hand + schoen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046720" y="3474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trike="sngStrike" dirty="0">
                <a:solidFill>
                  <a:schemeClr val="accent6"/>
                </a:solidFill>
              </a:rPr>
              <a:t>« chaussure de main »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04672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3"/>
                </a:solidFill>
              </a:rPr>
              <a:t>✓ </a:t>
            </a:r>
            <a:r>
              <a:rPr lang="en-US" sz="1900" b="1" dirty="0">
                <a:solidFill>
                  <a:schemeClr val="accent3"/>
                </a:solidFill>
              </a:rPr>
              <a:t>le gant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5166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stof</a:t>
            </a:r>
            <a:r>
              <a:rPr lang="en-US" sz="1600" dirty="0">
                <a:solidFill>
                  <a:schemeClr val="tx1"/>
                </a:solidFill>
              </a:rPr>
              <a:t> = poussière </a:t>
            </a:r>
            <a:r>
              <a:rPr lang="en-US" sz="1600" b="1" dirty="0">
                <a:solidFill>
                  <a:schemeClr val="tx1"/>
                </a:solidFill>
              </a:rPr>
              <a:t>et</a:t>
            </a:r>
            <a:r>
              <a:rPr lang="en-US" sz="1600" dirty="0">
                <a:solidFill>
                  <a:schemeClr val="tx1"/>
                </a:solidFill>
              </a:rPr>
              <a:t> tissu ; </a:t>
            </a:r>
            <a:r>
              <a:rPr lang="en-US" sz="1600" i="1" dirty="0">
                <a:solidFill>
                  <a:schemeClr val="tx1"/>
                </a:solidFill>
              </a:rPr>
              <a:t>schoon</a:t>
            </a:r>
            <a:r>
              <a:rPr lang="en-US" sz="1600" dirty="0">
                <a:solidFill>
                  <a:schemeClr val="tx1"/>
                </a:solidFill>
              </a:rPr>
              <a:t> = propre, mais « belle » dans la famille (</a:t>
            </a:r>
            <a:r>
              <a:rPr lang="en-US" sz="1600" i="1" dirty="0">
                <a:solidFill>
                  <a:schemeClr val="tx1"/>
                </a:solidFill>
              </a:rPr>
              <a:t>schoonmoeder, schoonzus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Le contexte et le </a:t>
            </a:r>
            <a:r>
              <a:rPr lang="en-US" sz="1600" b="1" dirty="0">
                <a:solidFill>
                  <a:schemeClr val="tx1"/>
                </a:solidFill>
              </a:rPr>
              <a:t>dictionnaire</a:t>
            </a:r>
            <a:r>
              <a:rPr lang="en-US" sz="1600" dirty="0">
                <a:solidFill>
                  <a:schemeClr val="tx1"/>
                </a:solidFill>
              </a:rPr>
              <a:t> confirment (Van Dale, woorden.org).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la boîte à outils du mot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0085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44752" y="1746504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Composer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468880"/>
            <a:ext cx="3118104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dernier</a:t>
            </a:r>
            <a:r>
              <a:rPr lang="en-US" sz="1800" dirty="0">
                <a:solidFill>
                  <a:schemeClr val="tx1"/>
                </a:solidFill>
              </a:rPr>
              <a:t> mot commande (sens + article)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un seul</a:t>
            </a:r>
            <a:r>
              <a:rPr lang="en-US" sz="1800" dirty="0">
                <a:solidFill>
                  <a:schemeClr val="tx1"/>
                </a:solidFill>
              </a:rPr>
              <a:t> mot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ordre </a:t>
            </a:r>
            <a:r>
              <a:rPr lang="en-US" sz="1800" b="1" dirty="0">
                <a:solidFill>
                  <a:schemeClr val="tx1"/>
                </a:solidFill>
              </a:rPr>
              <a:t>inversé</a:t>
            </a:r>
            <a:r>
              <a:rPr lang="en-US" sz="1800" dirty="0">
                <a:solidFill>
                  <a:schemeClr val="tx1"/>
                </a:solidFill>
              </a:rPr>
              <a:t> / français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80560" y="176479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Search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23" y="190085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93792" y="1746504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Diminuer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498848" y="2468880"/>
            <a:ext cx="3118104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-je, -tje, -pje, -etje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toujours </a:t>
            </a:r>
            <a:r>
              <a:rPr lang="en-US" sz="1800" b="1" dirty="0">
                <a:solidFill>
                  <a:schemeClr val="tx1"/>
                </a:solidFill>
              </a:rPr>
              <a:t>het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kopje, een broodje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04672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0" y="1764792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o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663" y="1900855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42832" y="1746504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Dériver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2468880"/>
            <a:ext cx="3118104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-ing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(l’action)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-er / -ster</a:t>
            </a:r>
            <a:r>
              <a:rPr lang="en-US" sz="1800" dirty="0">
                <a:solidFill>
                  <a:schemeClr val="tx1"/>
                </a:solidFill>
              </a:rPr>
              <a:t> → la personne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-heid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b="1" dirty="0">
                <a:solidFill>
                  <a:schemeClr val="tx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) · </a:t>
            </a:r>
            <a:r>
              <a:rPr lang="en-US" sz="1800" i="1" dirty="0">
                <a:solidFill>
                  <a:schemeClr val="tx1"/>
                </a:solidFill>
              </a:rPr>
              <a:t>on-</a:t>
            </a:r>
            <a:r>
              <a:rPr lang="en-US" sz="1800" dirty="0">
                <a:solidFill>
                  <a:schemeClr val="tx1"/>
                </a:solidFill>
              </a:rPr>
              <a:t> (contraire) · </a:t>
            </a:r>
            <a:r>
              <a:rPr lang="en-US" sz="1800" i="1" dirty="0">
                <a:solidFill>
                  <a:schemeClr val="tx1"/>
                </a:solidFill>
              </a:rPr>
              <a:t>-loos</a:t>
            </a:r>
            <a:r>
              <a:rPr lang="en-US" sz="1800" dirty="0">
                <a:solidFill>
                  <a:schemeClr val="tx1"/>
                </a:solidFill>
              </a:rPr>
              <a:t> (sans)</a:t>
            </a:r>
            <a:endParaRPr lang="en-US" sz="1800" dirty="0"/>
          </a:p>
        </p:txBody>
      </p:sp>
      <p:pic>
        <p:nvPicPr>
          <p:cNvPr id="20" name="Image 3" descr="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Lego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6428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144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ou het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0144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7992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SearchPl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708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diminutifs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1708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Traduction express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76428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item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90144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famille « werk »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90144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97992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1708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1708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Troph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1708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mot le plus long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1708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2" name="Image 6" descr="man teach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Les Lego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Assemblez les briques (1–8 avec a–h).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9644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99644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  koffie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254127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254127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  fiets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08610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308610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 vergader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363093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363093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  wacht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417576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0080" y="417576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  voor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472059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472059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6  tand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48640" y="526542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526542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7  parkeer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581025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0080" y="581025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8  brieven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532120" y="199644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623560" y="199644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  bus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532120" y="254127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623560" y="254127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  pad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532120" y="308610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623560" y="308610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  deur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532120" y="363093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623560" y="363093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  kamer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5532120" y="417576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623560" y="417576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  pauze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5532120" y="472059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623560" y="472059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  arts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5532120" y="526542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623560" y="526542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  zaal</a:t>
            </a:r>
            <a:endParaRPr lang="en-US" sz="1700" dirty="0"/>
          </a:p>
        </p:txBody>
      </p:sp>
      <p:sp>
        <p:nvSpPr>
          <p:cNvPr id="38" name="Shape 34"/>
          <p:cNvSpPr/>
          <p:nvPr/>
        </p:nvSpPr>
        <p:spPr>
          <a:xfrm>
            <a:off x="5532120" y="581025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623560" y="581025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  plaats</a:t>
            </a:r>
            <a:endParaRPr lang="en-US" sz="1700" dirty="0"/>
          </a:p>
        </p:txBody>
      </p:sp>
      <p:pic>
        <p:nvPicPr>
          <p:cNvPr id="40" name="Image 1" descr="building constru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3029712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Les Lego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Assemblez les briques (1–8 avec a–h).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2788920" y="2204847"/>
            <a:ext cx="269748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788920" y="2749677"/>
            <a:ext cx="2697480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788920" y="3294507"/>
            <a:ext cx="269748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788920" y="3839337"/>
            <a:ext cx="2697480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 flipV="1">
            <a:off x="2788920" y="3294507"/>
            <a:ext cx="2697480" cy="108966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788920" y="4928997"/>
            <a:ext cx="2697480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788920" y="5473827"/>
            <a:ext cx="2697480" cy="54483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 flipV="1">
            <a:off x="2788920" y="2204847"/>
            <a:ext cx="2697480" cy="381381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199644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199644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  koffie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254127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254127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  fiets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48640" y="308610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" y="308610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 vergader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48640" y="363093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0080" y="363093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  wacht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548640" y="417576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0080" y="417576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  voor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472059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0080" y="472059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6  tand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48640" y="526542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0080" y="526542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7  parkeer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48640" y="5810250"/>
            <a:ext cx="2194560" cy="416814"/>
          </a:xfrm>
          <a:prstGeom prst="roundRect">
            <a:avLst>
              <a:gd name="adj" fmla="val 1096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0080" y="5810250"/>
            <a:ext cx="20116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8  brieven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5532120" y="199644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623560" y="199644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  bus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5532120" y="254127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623560" y="254127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  pad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5532120" y="308610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623560" y="308610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  deur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5532120" y="363093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623560" y="363093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  kamer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5532120" y="417576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23560" y="417576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  pauze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5532120" y="472059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623560" y="472059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  arts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5532120" y="526542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623560" y="526542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  zaal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5532120" y="5810250"/>
            <a:ext cx="1737360" cy="416814"/>
          </a:xfrm>
          <a:prstGeom prst="roundRect">
            <a:avLst>
              <a:gd name="adj" fmla="val 1096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623560" y="5810250"/>
            <a:ext cx="1554480" cy="41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  plaats</a:t>
            </a:r>
            <a:endParaRPr lang="en-US" sz="1700" dirty="0"/>
          </a:p>
        </p:txBody>
      </p:sp>
      <p:sp>
        <p:nvSpPr>
          <p:cNvPr id="49" name="Shape 45"/>
          <p:cNvSpPr/>
          <p:nvPr/>
        </p:nvSpPr>
        <p:spPr>
          <a:xfrm>
            <a:off x="7680960" y="1932432"/>
            <a:ext cx="3959352" cy="4358640"/>
          </a:xfrm>
          <a:prstGeom prst="roundRect">
            <a:avLst>
              <a:gd name="adj" fmla="val 1848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863840" y="2023872"/>
            <a:ext cx="365760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koffiepauze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2b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fietspad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3g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vergaderzaal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4d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wachtkamer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5c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voordeur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6f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tandarts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7h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parkeerplaats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8a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brievenbus</a:t>
            </a:r>
            <a:endParaRPr lang="en-US" sz="1800" dirty="0"/>
          </a:p>
        </p:txBody>
      </p:sp>
      <p:sp>
        <p:nvSpPr>
          <p:cNvPr id="51" name="Text 47"/>
          <p:cNvSpPr txBox="1"/>
          <p:nvPr/>
        </p:nvSpPr>
        <p:spPr>
          <a:xfrm>
            <a:off x="7863840" y="5669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Aussi correct : </a:t>
            </a:r>
            <a:r>
              <a:rPr lang="en-US" sz="1400" i="1" dirty="0">
                <a:solidFill>
                  <a:schemeClr val="accent5"/>
                </a:solidFill>
              </a:rPr>
              <a:t>3d vergaderkamer · 4g wachtzaal</a:t>
            </a:r>
            <a:r>
              <a:rPr lang="en-US" sz="1400" i="1" dirty="0">
                <a:solidFill>
                  <a:schemeClr val="accent5"/>
                </a:solidFill>
              </a:rPr>
              <a:t> (BE)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De ou het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Quel est l’article du mot composé ? Regardez le dernier bloc.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00558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31520" y="200558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kantoor (het)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stoel (de)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200558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199632" y="200558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382512" y="200558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computer (de)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scherm (het)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0222992" y="200558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309524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31520" y="309524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koffie (de)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kopje (het)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09524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6199632" y="309524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382512" y="309524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fiets (de)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pad (het)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0222992" y="309524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548640" y="418490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31520" y="418490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school (de)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boek (het)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0" y="418490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199632" y="418490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6382512" y="418490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huis (het)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deur (de)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10222992" y="418490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548640" y="527456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31520" y="527456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telefoon (de)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nummer (het)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0" y="527456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6199632" y="5274564"/>
            <a:ext cx="5440680" cy="943356"/>
          </a:xfrm>
          <a:prstGeom prst="roundRect">
            <a:avLst>
              <a:gd name="adj" fmla="val 775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382512" y="5274564"/>
            <a:ext cx="38404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werk (het)</a:t>
            </a:r>
            <a:r>
              <a:rPr lang="en-US" sz="1900" dirty="0">
                <a:solidFill>
                  <a:schemeClr val="tx1"/>
                </a:solidFill>
              </a:rPr>
              <a:t> + </a:t>
            </a:r>
            <a:r>
              <a:rPr lang="en-US" sz="1900" i="1" dirty="0">
                <a:solidFill>
                  <a:schemeClr val="tx1"/>
                </a:solidFill>
              </a:rPr>
              <a:t>plek (de)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10222992" y="5274564"/>
            <a:ext cx="132588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→ …… 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De ou het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Quel est l’article du mot composé ? Regardez le dernier bloc.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5413248" cy="4358640"/>
          </a:xfrm>
          <a:prstGeom prst="roundRect">
            <a:avLst>
              <a:gd name="adj" fmla="val 1678"/>
            </a:avLst>
          </a:prstGeom>
          <a:solidFill>
            <a:schemeClr val="tx2">
              <a:alpha val="10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1932432"/>
            <a:ext cx="5413248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932432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0967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de kantoorstoel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4975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de huisdeur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98983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de werkplek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227064" y="1932432"/>
            <a:ext cx="5413248" cy="4358640"/>
          </a:xfrm>
          <a:prstGeom prst="roundRect">
            <a:avLst>
              <a:gd name="adj" fmla="val 1678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7064" y="1932432"/>
            <a:ext cx="5413248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27064" y="1932432"/>
            <a:ext cx="5413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6227064" y="270967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het computerscherm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6227064" y="334975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het koffiekopje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227064" y="398983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het fietspad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6227064" y="462991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het schoolboek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227064" y="5269992"/>
            <a:ext cx="5413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het telefoonnummer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Les diminutifs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Formez le diminutif : -je, -tje, -pje ou -etje ?</a:t>
            </a:r>
            <a:endParaRPr lang="en-US" sz="1700" dirty="0"/>
          </a:p>
        </p:txBody>
      </p:sp>
      <p:pic>
        <p:nvPicPr>
          <p:cNvPr id="8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222"/>
            <a:ext cx="640080" cy="6400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193243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huis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huis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10" name="Image 2" descr="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57222"/>
            <a:ext cx="640080" cy="6400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577840" y="193243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stoel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stoel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12" name="Image 3" descr="deciduous tre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882"/>
            <a:ext cx="640080" cy="6400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25880" y="302209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3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boom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boom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14" name="Image 4" descr="soccer ba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246882"/>
            <a:ext cx="640080" cy="64008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577840" y="302209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4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bal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bal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16" name="Image 5" descr="bre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36542"/>
            <a:ext cx="640080" cy="64008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25880" y="411175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5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brood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brood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18" name="Image 6" descr="wom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336542"/>
            <a:ext cx="640080" cy="64008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5577840" y="411175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6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vrouw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vrouw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20" name="Image 7" descr="r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26202"/>
            <a:ext cx="640080" cy="64008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325880" y="520141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7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ring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ring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pic>
        <p:nvPicPr>
          <p:cNvPr id="22" name="Image 8" descr="wind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5426202"/>
            <a:ext cx="640080" cy="64008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5577840" y="520141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8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raam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raam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endParaRPr lang="en-US" sz="1900" dirty="0"/>
          </a:p>
        </p:txBody>
      </p:sp>
      <p:sp>
        <p:nvSpPr>
          <p:cNvPr id="24" name="Shape 12"/>
          <p:cNvSpPr/>
          <p:nvPr/>
        </p:nvSpPr>
        <p:spPr>
          <a:xfrm>
            <a:off x="9052560" y="1932432"/>
            <a:ext cx="2587752" cy="4358640"/>
          </a:xfrm>
          <a:prstGeom prst="roundRect">
            <a:avLst>
              <a:gd name="adj" fmla="val 2827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5" name="Text 13"/>
          <p:cNvSpPr txBox="1"/>
          <p:nvPr/>
        </p:nvSpPr>
        <p:spPr>
          <a:xfrm>
            <a:off x="9189720" y="2069592"/>
            <a:ext cx="2331720" cy="410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-je</a:t>
            </a:r>
            <a:r>
              <a:rPr lang="en-US" sz="1500" dirty="0">
                <a:solidFill>
                  <a:schemeClr val="tx1"/>
                </a:solidFill>
              </a:rPr>
              <a:t> général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-tje</a:t>
            </a:r>
            <a:r>
              <a:rPr lang="en-US" sz="1500" dirty="0">
                <a:solidFill>
                  <a:schemeClr val="tx1"/>
                </a:solidFill>
              </a:rPr>
              <a:t> voyelle longue (+ l, n, r, w)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-pje</a:t>
            </a:r>
            <a:r>
              <a:rPr lang="en-US" sz="1500" dirty="0">
                <a:solidFill>
                  <a:schemeClr val="tx1"/>
                </a:solidFill>
              </a:rPr>
              <a:t> voyelle longue + m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-etje</a:t>
            </a:r>
            <a:r>
              <a:rPr lang="en-US" sz="1500" dirty="0">
                <a:solidFill>
                  <a:schemeClr val="tx1"/>
                </a:solidFill>
              </a:rPr>
              <a:t> voyelle courte + l, m, n, r, ng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→ toujours </a:t>
            </a:r>
            <a:r>
              <a:rPr lang="en-US" sz="1500" b="1" dirty="0">
                <a:solidFill>
                  <a:schemeClr val="tx1"/>
                </a:solidFill>
              </a:rPr>
              <a:t>het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Les diminutifs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Formez le diminutif : -je, -tje, -pje ou -etje ?</a:t>
            </a:r>
            <a:endParaRPr lang="en-US" sz="1700" dirty="0"/>
          </a:p>
        </p:txBody>
      </p:sp>
      <p:pic>
        <p:nvPicPr>
          <p:cNvPr id="9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222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193243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huis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huis</a:t>
            </a:r>
            <a:r>
              <a:rPr lang="en-US" sz="1900" b="1" i="1" dirty="0">
                <a:solidFill>
                  <a:schemeClr val="accent3"/>
                </a:solidFill>
              </a:rPr>
              <a:t>je</a:t>
            </a:r>
            <a:endParaRPr lang="en-US" sz="1900" dirty="0"/>
          </a:p>
        </p:txBody>
      </p:sp>
      <p:pic>
        <p:nvPicPr>
          <p:cNvPr id="11" name="Image 2" descr="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57222"/>
            <a:ext cx="640080" cy="6400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577840" y="193243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stoel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stoel</a:t>
            </a:r>
            <a:r>
              <a:rPr lang="en-US" sz="1900" b="1" i="1" dirty="0">
                <a:solidFill>
                  <a:schemeClr val="accent3"/>
                </a:solidFill>
              </a:rPr>
              <a:t>tje</a:t>
            </a:r>
            <a:endParaRPr lang="en-US" sz="1900" dirty="0"/>
          </a:p>
        </p:txBody>
      </p:sp>
      <p:pic>
        <p:nvPicPr>
          <p:cNvPr id="13" name="Image 3" descr="deciduous tre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882"/>
            <a:ext cx="640080" cy="6400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25880" y="302209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3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boom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boom</a:t>
            </a:r>
            <a:r>
              <a:rPr lang="en-US" sz="1900" b="1" i="1" dirty="0">
                <a:solidFill>
                  <a:schemeClr val="accent3"/>
                </a:solidFill>
              </a:rPr>
              <a:t>pje</a:t>
            </a:r>
            <a:endParaRPr lang="en-US" sz="1900" dirty="0"/>
          </a:p>
        </p:txBody>
      </p:sp>
      <p:pic>
        <p:nvPicPr>
          <p:cNvPr id="15" name="Image 4" descr="soccer ba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246882"/>
            <a:ext cx="640080" cy="6400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577840" y="302209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4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bal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bal</a:t>
            </a:r>
            <a:r>
              <a:rPr lang="en-US" sz="1900" b="1" i="1" dirty="0">
                <a:solidFill>
                  <a:schemeClr val="accent3"/>
                </a:solidFill>
              </a:rPr>
              <a:t>letje</a:t>
            </a:r>
            <a:endParaRPr lang="en-US" sz="1900" dirty="0"/>
          </a:p>
        </p:txBody>
      </p:sp>
      <p:pic>
        <p:nvPicPr>
          <p:cNvPr id="17" name="Image 5" descr="bre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36542"/>
            <a:ext cx="640080" cy="64008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325880" y="411175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5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brood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brood</a:t>
            </a:r>
            <a:r>
              <a:rPr lang="en-US" sz="1900" b="1" i="1" dirty="0">
                <a:solidFill>
                  <a:schemeClr val="accent3"/>
                </a:solidFill>
              </a:rPr>
              <a:t>je</a:t>
            </a:r>
            <a:endParaRPr lang="en-US" sz="1900" dirty="0"/>
          </a:p>
        </p:txBody>
      </p:sp>
      <p:pic>
        <p:nvPicPr>
          <p:cNvPr id="19" name="Image 6" descr="wom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336542"/>
            <a:ext cx="640080" cy="64008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5577840" y="411175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6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vrouw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vrouw</a:t>
            </a:r>
            <a:r>
              <a:rPr lang="en-US" sz="1900" b="1" i="1" dirty="0">
                <a:solidFill>
                  <a:schemeClr val="accent3"/>
                </a:solidFill>
              </a:rPr>
              <a:t>tje</a:t>
            </a:r>
            <a:endParaRPr lang="en-US" sz="1900" dirty="0"/>
          </a:p>
        </p:txBody>
      </p:sp>
      <p:pic>
        <p:nvPicPr>
          <p:cNvPr id="21" name="Image 7" descr="r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26202"/>
            <a:ext cx="640080" cy="64008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325880" y="520141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7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ring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ring</a:t>
            </a:r>
            <a:r>
              <a:rPr lang="en-US" sz="1900" b="1" i="1" dirty="0">
                <a:solidFill>
                  <a:schemeClr val="accent3"/>
                </a:solidFill>
              </a:rPr>
              <a:t>etje</a:t>
            </a:r>
            <a:endParaRPr lang="en-US" sz="1900" dirty="0"/>
          </a:p>
        </p:txBody>
      </p:sp>
      <p:pic>
        <p:nvPicPr>
          <p:cNvPr id="23" name="Image 8" descr="wind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5426202"/>
            <a:ext cx="640080" cy="64008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5577840" y="5201412"/>
            <a:ext cx="338328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8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raam</a:t>
            </a:r>
            <a:endParaRPr lang="en-US" sz="1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het raam</a:t>
            </a:r>
            <a:r>
              <a:rPr lang="en-US" sz="1900" b="1" i="1" dirty="0">
                <a:solidFill>
                  <a:schemeClr val="accent3"/>
                </a:solidFill>
              </a:rPr>
              <a:t>pje</a:t>
            </a:r>
            <a:endParaRPr lang="en-US" sz="1900" dirty="0"/>
          </a:p>
        </p:txBody>
      </p:sp>
      <p:sp>
        <p:nvSpPr>
          <p:cNvPr id="25" name="Shape 13"/>
          <p:cNvSpPr/>
          <p:nvPr/>
        </p:nvSpPr>
        <p:spPr>
          <a:xfrm>
            <a:off x="9052560" y="1932432"/>
            <a:ext cx="2587752" cy="4358640"/>
          </a:xfrm>
          <a:prstGeom prst="roundRect">
            <a:avLst>
              <a:gd name="adj" fmla="val 2827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9189720" y="2069592"/>
            <a:ext cx="2331720" cy="410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-je</a:t>
            </a:r>
            <a:r>
              <a:rPr lang="en-US" sz="1500" dirty="0">
                <a:solidFill>
                  <a:schemeClr val="tx1"/>
                </a:solidFill>
              </a:rPr>
              <a:t> général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-tje</a:t>
            </a:r>
            <a:r>
              <a:rPr lang="en-US" sz="1500" dirty="0">
                <a:solidFill>
                  <a:schemeClr val="tx1"/>
                </a:solidFill>
              </a:rPr>
              <a:t> voyelle longue (+ l, n, r, w)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-pje</a:t>
            </a:r>
            <a:r>
              <a:rPr lang="en-US" sz="1500" dirty="0">
                <a:solidFill>
                  <a:schemeClr val="tx1"/>
                </a:solidFill>
              </a:rPr>
              <a:t> voyelle longue + m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-etje</a:t>
            </a:r>
            <a:r>
              <a:rPr lang="en-US" sz="1500" dirty="0">
                <a:solidFill>
                  <a:schemeClr val="tx1"/>
                </a:solidFill>
              </a:rPr>
              <a:t> voyelle courte + l, m, n, r, ng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→ toujours </a:t>
            </a:r>
            <a:r>
              <a:rPr lang="en-US" sz="1500" b="1" dirty="0">
                <a:solidFill>
                  <a:schemeClr val="tx1"/>
                </a:solidFill>
              </a:rPr>
              <a:t>het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Traduction express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Construisez le mot composé (avec son article). Attention à l’ordre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04025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0402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60120" y="196900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196900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salle d’attente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196900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(wachten, kamer)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03720" y="218655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406640" y="196900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58508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5850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60120" y="251383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251383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verre à vin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251383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(wijn, glas)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903720" y="273138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406640" y="251383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12991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129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60120" y="305866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97280" y="305866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brosse à dents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305866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(tanden, borstel)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903720" y="327621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7406640" y="305866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367474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3674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60120" y="360349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97280" y="360349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jus d’orange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0" y="360349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(sinaasappel, sap)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903720" y="382104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7406640" y="360349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8640" y="421957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42195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960120" y="414832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97280" y="414832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place de parking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0" y="414832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(parkeren, plaats)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903720" y="436587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7406640" y="414832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476440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48640" y="47644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960120" y="469315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097280" y="469315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l’heure de pointe</a:t>
            </a:r>
            <a:endParaRPr lang="en-US" sz="1700" dirty="0"/>
          </a:p>
        </p:txBody>
      </p:sp>
      <p:sp>
        <p:nvSpPr>
          <p:cNvPr id="47" name="Text 43"/>
          <p:cNvSpPr txBox="1"/>
          <p:nvPr/>
        </p:nvSpPr>
        <p:spPr>
          <a:xfrm>
            <a:off x="4572000" y="469315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(spits, uur)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903720" y="491070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7406640" y="469315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48640" y="530923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48640" y="53092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960120" y="523798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97280" y="523798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numéro de téléphone</a:t>
            </a:r>
            <a:endParaRPr lang="en-US" sz="1700" dirty="0"/>
          </a:p>
        </p:txBody>
      </p:sp>
      <p:sp>
        <p:nvSpPr>
          <p:cNvPr id="54" name="Text 50"/>
          <p:cNvSpPr txBox="1"/>
          <p:nvPr/>
        </p:nvSpPr>
        <p:spPr>
          <a:xfrm>
            <a:off x="4572000" y="523798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(telefoon, nummer)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6903720" y="545553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7406640" y="523798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48640" y="585406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48640" y="58540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960120" y="578281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097280" y="578281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salle de réunion</a:t>
            </a:r>
            <a:endParaRPr lang="en-US" sz="1700" dirty="0"/>
          </a:p>
        </p:txBody>
      </p:sp>
      <p:sp>
        <p:nvSpPr>
          <p:cNvPr id="61" name="Text 57"/>
          <p:cNvSpPr txBox="1"/>
          <p:nvPr/>
        </p:nvSpPr>
        <p:spPr>
          <a:xfrm>
            <a:off x="4572000" y="578281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(vergaderen, zaal)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6903720" y="600036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7406640" y="5782818"/>
            <a:ext cx="42336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Traduction express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Construisez le mot composé (avec son article). Attention à l’ordre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04025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0402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196900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97280" y="196900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salle d’attente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196900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(wachten, kamer)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03720" y="218655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406640" y="196900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543800" y="196900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wachtkamer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258508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5850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60120" y="251383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251383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verre à vin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251383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(wijn, glas)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903720" y="273138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406640" y="251383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543800" y="251383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wijnglas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312991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3129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60120" y="305866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97280" y="305866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brosse à dents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0" y="305866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(tanden, borstel)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903720" y="327621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7406640" y="305866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543800" y="305866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tandenborstel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548640" y="367474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3674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960120" y="360349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097280" y="360349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jus d’orange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4572000" y="360349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(sinaasappel, sap)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903720" y="382104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7406640" y="360349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543800" y="360349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sinaasappelsap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548640" y="421957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48640" y="42195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960120" y="414832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097280" y="414832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place de parking</a:t>
            </a:r>
            <a:endParaRPr lang="en-US" sz="1700" dirty="0"/>
          </a:p>
        </p:txBody>
      </p:sp>
      <p:sp>
        <p:nvSpPr>
          <p:cNvPr id="45" name="Text 41"/>
          <p:cNvSpPr txBox="1"/>
          <p:nvPr/>
        </p:nvSpPr>
        <p:spPr>
          <a:xfrm>
            <a:off x="4572000" y="414832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(parkeren, plaats)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6903720" y="436587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7406640" y="414832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543800" y="414832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parkeerplaats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548640" y="476440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48640" y="47644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960120" y="469315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097280" y="469315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l’heure de pointe</a:t>
            </a:r>
            <a:endParaRPr lang="en-US" sz="1700" dirty="0"/>
          </a:p>
        </p:txBody>
      </p:sp>
      <p:sp>
        <p:nvSpPr>
          <p:cNvPr id="53" name="Text 49"/>
          <p:cNvSpPr txBox="1"/>
          <p:nvPr/>
        </p:nvSpPr>
        <p:spPr>
          <a:xfrm>
            <a:off x="4572000" y="469315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(spits, uur)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6903720" y="491070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7406640" y="469315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7543800" y="469315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spitsuur</a:t>
            </a:r>
            <a:endParaRPr lang="en-US" sz="1800" dirty="0"/>
          </a:p>
        </p:txBody>
      </p:sp>
      <p:sp>
        <p:nvSpPr>
          <p:cNvPr id="57" name="Shape 53"/>
          <p:cNvSpPr/>
          <p:nvPr/>
        </p:nvSpPr>
        <p:spPr>
          <a:xfrm>
            <a:off x="548640" y="530923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48640" y="53092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960120" y="523798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097280" y="523798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numéro de téléphone</a:t>
            </a:r>
            <a:endParaRPr lang="en-US" sz="1700" dirty="0"/>
          </a:p>
        </p:txBody>
      </p:sp>
      <p:sp>
        <p:nvSpPr>
          <p:cNvPr id="61" name="Text 57"/>
          <p:cNvSpPr txBox="1"/>
          <p:nvPr/>
        </p:nvSpPr>
        <p:spPr>
          <a:xfrm>
            <a:off x="4572000" y="523798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(telefoon, nummer)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6903720" y="545553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7406640" y="523798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7543800" y="523798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telefoonnummer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548640" y="585406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548640" y="58540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960120" y="5782818"/>
            <a:ext cx="356616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1097280" y="5782818"/>
            <a:ext cx="33832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salle de réunion</a:t>
            </a:r>
            <a:endParaRPr lang="en-US" sz="1700" dirty="0"/>
          </a:p>
        </p:txBody>
      </p:sp>
      <p:sp>
        <p:nvSpPr>
          <p:cNvPr id="69" name="Text 65"/>
          <p:cNvSpPr txBox="1"/>
          <p:nvPr/>
        </p:nvSpPr>
        <p:spPr>
          <a:xfrm>
            <a:off x="4572000" y="5782818"/>
            <a:ext cx="23774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(vergaderen, zaal)</a:t>
            </a:r>
            <a:endParaRPr lang="en-US" sz="1400" dirty="0"/>
          </a:p>
        </p:txBody>
      </p:sp>
      <p:sp>
        <p:nvSpPr>
          <p:cNvPr id="70" name="Shape 66"/>
          <p:cNvSpPr/>
          <p:nvPr/>
        </p:nvSpPr>
        <p:spPr>
          <a:xfrm>
            <a:off x="6903720" y="6000369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7406640" y="5782818"/>
            <a:ext cx="42336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7543800" y="5782818"/>
            <a:ext cx="40233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vergaderzaal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La famille « werk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Combien de mots avec « werk » connaissez-vous ? Complétez la carte mentale.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 flipH="1" flipV="1">
            <a:off x="3163824" y="260299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 flipH="1" flipV="1">
            <a:off x="3163824" y="360883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H="1">
            <a:off x="3163824" y="411175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H="1">
            <a:off x="3163824" y="411175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7187184" y="260299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7187184" y="360883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87184" y="411175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87184" y="411175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946904" y="3517392"/>
            <a:ext cx="228600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46904" y="35173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603504" y="221894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603504" y="322478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603504" y="423062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03504" y="523646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9015984" y="221894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9015984" y="322478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9015984" y="423062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9015984" y="5236464"/>
            <a:ext cx="2560320" cy="768096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B8C2CF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La famille « werk »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Combien de mots avec « werk » connaissez-vous ? Complétez la carte mentale.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 flipH="1" flipV="1">
            <a:off x="3163824" y="260299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H="1" flipV="1">
            <a:off x="3163824" y="360883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H="1">
            <a:off x="3163824" y="411175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H="1">
            <a:off x="3163824" y="411175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7187184" y="260299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7187184" y="360883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87184" y="4111752"/>
            <a:ext cx="1828800" cy="5029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87184" y="4111752"/>
            <a:ext cx="1828800" cy="150876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46904" y="3517392"/>
            <a:ext cx="228600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946904" y="35173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603504" y="221894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03504" y="221894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werken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travailler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03504" y="322478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3504" y="322478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de werker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travailleur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03504" y="423062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03504" y="423062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de werknemer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l’employé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03504" y="523646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03504" y="523646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de werkgever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l’employeur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9015984" y="221894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015984" y="221894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de werkplek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poste de travail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9015984" y="322478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015984" y="322478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werkloos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sans emploi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9015984" y="423062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015984" y="423062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het thuiswerk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travail à domicile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9015984" y="5236464"/>
            <a:ext cx="2560320" cy="768096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015984" y="523646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het werkwoord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verbe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Le mot le plus long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50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134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66188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1874520" cy="777240"/>
          </a:xfrm>
          <a:prstGeom prst="roundRect">
            <a:avLst>
              <a:gd name="adj" fmla="val 5882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828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vergader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919222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0722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52344" y="1828800"/>
            <a:ext cx="1143000" cy="777240"/>
          </a:xfrm>
          <a:prstGeom prst="roundRect">
            <a:avLst>
              <a:gd name="adj" fmla="val 5882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52344" y="18288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zaal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254246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00066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50208" y="182880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0208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sleutel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863590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35090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96712" y="1828800"/>
            <a:ext cx="1143000" cy="777240"/>
          </a:xfrm>
          <a:prstGeom prst="roundRect">
            <a:avLst>
              <a:gd name="adj" fmla="val 5882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96712" y="18288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kast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970014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58634" y="171907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94576" y="182880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94576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je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27889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→ </a:t>
            </a:r>
            <a:r>
              <a:rPr lang="en-US" sz="1800" b="1" dirty="0">
                <a:solidFill>
                  <a:schemeClr val="accent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vergaderzaalsleutelkastje</a:t>
            </a:r>
            <a:r>
              <a:rPr lang="en-US" sz="1800" dirty="0">
                <a:solidFill>
                  <a:schemeClr val="tx1"/>
                </a:solidFill>
              </a:rPr>
              <a:t> (le petit coffre à clés de la salle de réunion)</a:t>
            </a:r>
            <a:endParaRPr lang="en-US" sz="1800" dirty="0"/>
          </a:p>
        </p:txBody>
      </p:sp>
      <p:pic>
        <p:nvPicPr>
          <p:cNvPr id="28" name="Image 0" descr="stop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1188720" cy="11887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1031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Par équipes, 3 minutes.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Chaque brique doit avoir un sens.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On gagne avec le mot le plus long </a:t>
            </a:r>
            <a:r>
              <a:rPr lang="en-US" sz="1800" b="1" dirty="0">
                <a:solidFill>
                  <a:schemeClr val="tx1"/>
                </a:solidFill>
              </a:rPr>
              <a:t>et</a:t>
            </a:r>
            <a:r>
              <a:rPr lang="en-US" sz="1800" dirty="0">
                <a:solidFill>
                  <a:schemeClr val="tx1"/>
                </a:solidFill>
              </a:rPr>
              <a:t> correct (article compris !).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7863840" y="3566160"/>
            <a:ext cx="3776472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863840" y="365760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BRIQUES DE DÉPART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362188" y="41422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139428" y="41422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092440" y="42519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2A6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9244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koffie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10099548" y="41422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876788" y="41422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829800" y="42519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2E7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8298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fiets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8362188" y="48280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139428" y="48280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092440" y="49377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D970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09244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school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10099548" y="48280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0876788" y="48280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9829800" y="49377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173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82980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kantoor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8362188" y="55138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139428" y="5513832"/>
            <a:ext cx="237744" cy="128016"/>
          </a:xfrm>
          <a:prstGeom prst="roundRect">
            <a:avLst>
              <a:gd name="adj" fmla="val 21429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092440" y="56235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B83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8092440" y="5623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</a:t>
            </a:r>
            <a:endParaRPr lang="en-US" sz="1600" dirty="0"/>
          </a:p>
        </p:txBody>
      </p:sp>
      <p:pic>
        <p:nvPicPr>
          <p:cNvPr id="52" name="Image 1" descr="troph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21208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Que signifie </a:t>
            </a:r>
            <a:r>
              <a:rPr lang="en-US" sz="2000" i="1" dirty="0">
                <a:solidFill>
                  <a:schemeClr val="tx1"/>
                </a:solidFill>
              </a:rPr>
              <a:t>de fietsenstalling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i="1" dirty="0">
                <a:solidFill>
                  <a:schemeClr val="tx1"/>
                </a:solidFill>
              </a:rPr>
              <a:t>stalling</a:t>
            </a:r>
            <a:r>
              <a:rPr lang="en-US" sz="2000" dirty="0">
                <a:solidFill>
                  <a:schemeClr val="tx1"/>
                </a:solidFill>
              </a:rPr>
              <a:t> = le garage)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Article : </a:t>
            </a:r>
            <a:r>
              <a:rPr lang="en-US" sz="2000" i="1" dirty="0">
                <a:solidFill>
                  <a:schemeClr val="tx1"/>
                </a:solidFill>
              </a:rPr>
              <a:t>school (de) + gebouw (het)</a:t>
            </a:r>
            <a:r>
              <a:rPr lang="en-US" sz="2000" dirty="0">
                <a:solidFill>
                  <a:schemeClr val="tx1"/>
                </a:solidFill>
              </a:rPr>
              <a:t> → …… </a:t>
            </a:r>
            <a:r>
              <a:rPr lang="en-US" sz="2000" i="1" dirty="0">
                <a:solidFill>
                  <a:schemeClr val="tx1"/>
                </a:solidFill>
              </a:rPr>
              <a:t>schoolgebouw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Le diminutif de </a:t>
            </a:r>
            <a:r>
              <a:rPr lang="en-US" sz="2000" i="1" dirty="0">
                <a:solidFill>
                  <a:schemeClr val="tx1"/>
                </a:solidFill>
              </a:rPr>
              <a:t>de bal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Comprendre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Deviner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Histor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Het perfectum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Wat heb je gisteren gedaan?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 — Woordvorming — La formation des mots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2026-10-04T18:33:15Z</dcterms:created>
  <dcterms:modified xsi:type="dcterms:W3CDTF">2026-10-04T18:33:15Z</dcterms:modified>
</cp:coreProperties>
</file>