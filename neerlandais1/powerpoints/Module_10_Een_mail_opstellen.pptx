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3d238a8-4705-2812-1523-3a57727d505f}">
          <p14:sldIdLst>
            <p14:sldId id="256"/>
          </p14:sldIdLst>
        </p14:section>
        <p14:section name="Découvrir" id="{a8bafc3c-d0c8-874d-0810-3e4dae2aa380}">
          <p14:sldIdLst>
            <p14:sldId id="257"/>
            <p14:sldId id="258"/>
            <p14:sldId id="259"/>
          </p14:sldIdLst>
        </p14:section>
        <p14:section name="Comprendre" id="{cfb86591-d7b1-8cc1-54c3-da4437b8d1c3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62717555-10d7-1026-84c3-108377151fb1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26245d44-ccc5-3a27-ae80-46ba216425b4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tâche finale du parcours : écrire un vrai e-mail professionnel.
Question d'entrée : « Combien d'e-mails envoyez-vous par jour au travail ? En quelle langue ? » Annoncez : à la fin de la séance, chacun écrit son premier e-mail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module réutilise presque tout le parcours : le registre (M8), omdat (M9), le verbe en 2e position (M3), les nombres et l'épellation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l'intuition du registre à partir de vrais objets d'e-mails.
Demandez : « Formel (F) ou informel (I) ? Comment le savez-vous déjà, sans ouvrir le mail ? » Réponses : 1 I · 2 F · 3 F · 4 I · 5 F. Les indices : le prénom, le point d'interrogation familier, uw, le numéro de dossier. Bolero est une enseigne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 (reprise de la diapo 3 de l'archive).
de bestemmeling (archive) est le terme belge pour de ontvanger : les deux sont corrects. Faites remarquer que la signature formelle contient le prénom, le nom et la fonction.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d'appel selon la distance avec le destinataire.
Beste est le plus courant dans les e-mails professionnels en Flandre. Il convient presque partout. Geachte est plus distant (lettres, premiers contacts). meneer / mevrouw + nom de famille, jamais + prénom. Avec Beste, on écrit meneer (Beste meneer Maes) ; avec Geachte, on écrit heer (Geachte heer Maes).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finale, en miroir de la formule d'appel.
Hou je taai! (« prends soin de toi ») et Kusjes / Veel liefs sont réservés aux proches (archive diapo 5). La virgule après la formule finale est facultative ; on l'omet de plus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Empêcher la traduction littérale des formules françaises.
Lieve (cher, chère) s'emploie seulement pour les proches (Lieve mama). Le néerlandais professionnel est plus direct que le français : une formule courte n'est pas impolie.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patron de rédaction réutilisable.
Chaque bloc fait une ou deux phrases. En A1, un bon e-mail fait 5 à 8 lignes. Le bloc ② peut être omis entre collègues proches.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des phrases toutes faites pour chaque bloc, dans les deux registres.
de bijlage = la pièce jointe. Ik hoor graag van u = « dans l'attente de votre réponse ». Als u vragen hebt, … réinvestit l'inversion après als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interne (à sa cheffe), bloc par bloc.
Beste et non Geachte : c'est sa cheffe directe, qu'il connaît. Relevez Morgen bel ik (inversion, M3) et la pince kan … komen (M4). En Belgique, on prévient aussi par téléphone (M8, exercice 7) et on envoie un certificat médical.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externe.
Past … voor u? = « Est-ce que … vous convient ? ». Faites lire la date et l'heure à voix haute (dinsdag twaalf mei om tien uur, M2). Maesbouw est une entreprise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informel et comparer avec les modèles formels.
trakteren = offrir (à boire, à manger), une tradition d'anniversaire au bureau en Belgique et aux Pays-Bas. Faites comparer les 3 modèles : la structure en 5 blocs est la même, seuls les « curseurs » du registre changent (M8, diapo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bon objet et connaître le vocabulaire de la messagerie.
Si votre messagerie est en néerlandais, montrez-la en direct. Doorsturen est un verbe séparable : Ik stuur je de mail door 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 et outil d'autocorrection.
Cette checklist sert de grille d'évaluation aux exercices 5 et 6. Distribuez-la sur papier : les apprenants cochent avant de rendre leur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 ; 4 à 7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du module et clore le bloc 2.
Réponses :
1. Geachte heer, geachte mevrouw, (ou Geachte heer / mevrouw + nom).
2. Met vriendelijke groet.
3. Beste meneer Maes, (ou Geachte heer Maes,) ↵ Ik stuur u de factuur. (virgule, ligne vide, majuscule)
Bilan : faites relire à chacun la frise des 10 modules et choisir le module à retravailler. Le bloc 3 approfondit le verbe et la phrase : verbes à particule, modaux, négation, formation des mots et passé composé.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10 / 24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Een mail opstellen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Écrire un e-mail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Beste mevrouw Janssens, … Met vriendelijke groet, Karim Benali</a:t>
            </a:r>
            <a:endParaRPr lang="en-US" sz="2000" dirty="0"/>
          </a:p>
        </p:txBody>
      </p:sp>
      <p:pic>
        <p:nvPicPr>
          <p:cNvPr id="5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2743200" cy="2743200"/>
          </a:xfrm>
          <a:prstGeom prst="rect">
            <a:avLst/>
          </a:prstGeom>
        </p:spPr>
      </p:pic>
      <p:pic>
        <p:nvPicPr>
          <p:cNvPr id="6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1887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4206240"/>
            <a:ext cx="2194560" cy="7315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8" name="Image 2" descr="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407408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82980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Verzenden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</a:t>
            </a:r>
            <a:r>
              <a:rPr lang="en-US" sz="2000" b="1" dirty="0">
                <a:solidFill>
                  <a:schemeClr val="tx1"/>
                </a:solidFill>
              </a:rPr>
              <a:t>5 blocs</a:t>
            </a:r>
            <a:r>
              <a:rPr lang="en-US" sz="2000" dirty="0">
                <a:solidFill>
                  <a:schemeClr val="tx1"/>
                </a:solidFill>
              </a:rPr>
              <a:t> d’un e-mail.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ortAmount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l’ouverture et la clôture selon le </a:t>
            </a:r>
            <a:r>
              <a:rPr lang="en-US" sz="2000" b="1" dirty="0">
                <a:solidFill>
                  <a:schemeClr val="tx1"/>
                </a:solidFill>
              </a:rPr>
              <a:t>destinataire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Rédiger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J’écris un e-mail court, formel ou informel.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module réutilise tout le parcours : registre (M8), </a:t>
            </a:r>
            <a:r>
              <a:rPr lang="en-US" sz="1700" i="1" dirty="0">
                <a:solidFill>
                  <a:schemeClr val="tx1"/>
                </a:solidFill>
              </a:rPr>
              <a:t>omdat</a:t>
            </a:r>
            <a:r>
              <a:rPr lang="en-US" sz="1700" dirty="0">
                <a:solidFill>
                  <a:schemeClr val="tx1"/>
                </a:solidFill>
              </a:rPr>
              <a:t> (M9), verbe en 2e position (M3), dates (M2).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boîte de réception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3268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932688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Postvak IN — karim.benali@peetersco.be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1965960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7692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1965960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 Peeters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1965960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Lunch morgen?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1965960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9.12</a:t>
            </a:r>
            <a:endParaRPr lang="en-US" sz="1400" dirty="0"/>
          </a:p>
        </p:txBody>
      </p:sp>
      <p:pic>
        <p:nvPicPr>
          <p:cNvPr id="1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8084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2816352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Directie Peeters &amp; 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206240" y="2816352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Vergadering donderdag 10 uur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2816352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9.40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94360" y="3666744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shopping 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08476"/>
            <a:ext cx="566928" cy="5669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66744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Webshop Bolero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206240" y="3666744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Uw bestelling 4521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666744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10.05</a:t>
            </a:r>
            <a:endParaRPr lang="en-US" sz="1400" dirty="0"/>
          </a:p>
        </p:txBody>
      </p:sp>
      <p:pic>
        <p:nvPicPr>
          <p:cNvPr id="25" name="Image 3" descr="old 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5886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17136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Mama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206240" y="4517136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Zondag eten bij ons?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412480" y="4517136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11.30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" y="5367528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09260"/>
            <a:ext cx="566928" cy="56692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367528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Jan Maes (klant)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4206240" y="5367528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367528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14.02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10104120" y="1508760"/>
            <a:ext cx="1536192" cy="47548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0104120" y="160020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 ou I ?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10643616" y="21625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7" name="Text 29"/>
          <p:cNvSpPr txBox="1"/>
          <p:nvPr/>
        </p:nvSpPr>
        <p:spPr>
          <a:xfrm>
            <a:off x="10643616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10643616" y="301294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10643616" y="30129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10643616" y="38633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1" name="Text 33"/>
          <p:cNvSpPr txBox="1"/>
          <p:nvPr/>
        </p:nvSpPr>
        <p:spPr>
          <a:xfrm>
            <a:off x="10643616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10643616" y="471373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3" name="Text 35"/>
          <p:cNvSpPr txBox="1"/>
          <p:nvPr/>
        </p:nvSpPr>
        <p:spPr>
          <a:xfrm>
            <a:off x="1064361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10643616" y="55641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5" name="Text 37"/>
          <p:cNvSpPr txBox="1"/>
          <p:nvPr/>
        </p:nvSpPr>
        <p:spPr>
          <a:xfrm>
            <a:off x="10643616" y="55641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20440" y="1554480"/>
            <a:ext cx="512064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520440" y="155448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5032" y="168249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13632" y="168249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42232" y="168249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3320" y="201168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Van: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karim.benali@peetersco.be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Aan: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408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an.janssens@peetersco.be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6700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Onderwerp: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2670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Ziek vandaag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0" y="3035808"/>
            <a:ext cx="48463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0" y="3200400"/>
            <a:ext cx="91440" cy="3383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0040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0" y="3611880"/>
            <a:ext cx="91440" cy="14813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40480" y="3611880"/>
            <a:ext cx="4663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vandaag helaas ziek: ik heb koorts. Ik kan dus niet naar de vergadering van 14 uur komen. Morgen bel ik u.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57600" y="5166360"/>
            <a:ext cx="91440" cy="33832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40480" y="516636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57600" y="5577840"/>
            <a:ext cx="91440" cy="47548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40480" y="55778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2057400"/>
            <a:ext cx="457200" cy="457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afzender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van wie?</a:t>
            </a:r>
            <a:r>
              <a:rPr lang="en-US" sz="1300" dirty="0">
                <a:solidFill>
                  <a:schemeClr val="accent5"/>
                </a:solidFill>
              </a:rPr>
              <a:t> · l’expéditeur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 flipV="1">
            <a:off x="3154680" y="2432304"/>
            <a:ext cx="457200" cy="76809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48640" y="2743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ontvanger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aan wie?</a:t>
            </a:r>
            <a:r>
              <a:rPr lang="en-US" sz="1300" dirty="0">
                <a:solidFill>
                  <a:schemeClr val="accent5"/>
                </a:solidFill>
              </a:rPr>
              <a:t> · le destinataire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 flipV="1">
            <a:off x="3154680" y="2761488"/>
            <a:ext cx="457200" cy="1581912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548640" y="3886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het onderwerp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waarover?</a:t>
            </a:r>
            <a:r>
              <a:rPr lang="en-US" sz="1300" dirty="0">
                <a:solidFill>
                  <a:schemeClr val="accent5"/>
                </a:solidFill>
              </a:rPr>
              <a:t> · l’objet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 flipH="1">
            <a:off x="8549640" y="2057400"/>
            <a:ext cx="457200" cy="1312164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9006840" y="1600200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144000" y="1645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aanhef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20574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d’appel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 flipH="1">
            <a:off x="8549640" y="3218688"/>
            <a:ext cx="457200" cy="113385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9006840" y="2761488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0" y="28072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hoofdtekst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9144000" y="32186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waarom?</a:t>
            </a:r>
            <a:r>
              <a:rPr lang="en-US" sz="1300" dirty="0">
                <a:solidFill>
                  <a:schemeClr val="accent5"/>
                </a:solidFill>
              </a:rPr>
              <a:t> · le corps du message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 flipH="1">
            <a:off x="8549640" y="4379976"/>
            <a:ext cx="457200" cy="955548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006840" y="3922776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39684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afsluiting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9144000" y="437997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finale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 flipH="1">
            <a:off x="8549640" y="5541264"/>
            <a:ext cx="457200" cy="2743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9006840" y="5084064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144000" y="512978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handtekening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9144000" y="554126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signature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1663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 : </a:t>
            </a:r>
            <a:r>
              <a:rPr lang="en-US" sz="1300" i="1" dirty="0">
                <a:solidFill>
                  <a:schemeClr val="accent5"/>
                </a:solidFill>
              </a:rPr>
              <a:t>de bestemmeling</a:t>
            </a:r>
            <a:r>
              <a:rPr lang="en-US" sz="1300" i="1" dirty="0">
                <a:solidFill>
                  <a:schemeClr val="accent5"/>
                </a:solidFill>
              </a:rPr>
              <a:t> = </a:t>
            </a:r>
            <a:r>
              <a:rPr lang="en-US" sz="1300" i="1" dirty="0">
                <a:solidFill>
                  <a:schemeClr val="accent5"/>
                </a:solidFill>
              </a:rPr>
              <a:t>de ontvanger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salutations (aanhef)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66176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6733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6733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heer, geachte mevrouw,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135270" y="16733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inconnu (service, entreprise)</a:t>
            </a:r>
            <a:endParaRPr lang="en-US" sz="1300" dirty="0"/>
          </a:p>
        </p:txBody>
      </p:sp>
      <p:pic>
        <p:nvPicPr>
          <p:cNvPr id="10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64792"/>
            <a:ext cx="585216" cy="5852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25877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60120" y="25877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mevrouw Claes, / Geachte heer Maes,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135270" y="25877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client, administration, 1er contact</a:t>
            </a:r>
            <a:endParaRPr lang="en-US" sz="130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79192"/>
            <a:ext cx="585216" cy="5852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35021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60120" y="35021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Beste mevrouw Janssens, / Beste Sofie,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135270" y="35021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collègue, cheffe, contact connu</a:t>
            </a:r>
            <a:endParaRPr lang="en-US" sz="1300" dirty="0"/>
          </a:p>
        </p:txBody>
      </p:sp>
      <p:pic>
        <p:nvPicPr>
          <p:cNvPr id="18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593592"/>
            <a:ext cx="585216" cy="5852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77240" y="44165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60120" y="44165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Hoi Lies, / Hallo Tom,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135270" y="44165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ami·e, collègue proche</a:t>
            </a:r>
            <a:endParaRPr lang="en-US" sz="1300" dirty="0"/>
          </a:p>
        </p:txBody>
      </p:sp>
      <p:pic>
        <p:nvPicPr>
          <p:cNvPr id="22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507992"/>
            <a:ext cx="585216" cy="5852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410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▲ très formel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64108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▼ informel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641080" y="2103120"/>
            <a:ext cx="299923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8239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023" y="2403775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37192" y="22494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8842248" y="2971800"/>
            <a:ext cx="259689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 plus courant en Flandre : il convient </a:t>
            </a:r>
            <a:r>
              <a:rPr lang="en-US" sz="1500" b="1" dirty="0">
                <a:solidFill>
                  <a:schemeClr val="tx1"/>
                </a:solidFill>
              </a:rPr>
              <a:t>presque partout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meneer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Geachte heer</a:t>
            </a:r>
            <a:r>
              <a:rPr lang="en-US" sz="1500" dirty="0">
                <a:solidFill>
                  <a:schemeClr val="tx1"/>
                </a:solidFill>
              </a:rPr>
              <a:t> + </a:t>
            </a:r>
            <a:r>
              <a:rPr lang="en-US" sz="1500" b="1" dirty="0">
                <a:solidFill>
                  <a:schemeClr val="tx1"/>
                </a:solidFill>
              </a:rPr>
              <a:t>nom de famille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Après la formule : </a:t>
            </a:r>
            <a:r>
              <a:rPr lang="en-US" sz="1800" b="1" dirty="0">
                <a:solidFill>
                  <a:schemeClr val="bg1"/>
                </a:solidFill>
              </a:rPr>
              <a:t>virgule</a:t>
            </a:r>
            <a:r>
              <a:rPr lang="en-US" sz="1800" dirty="0">
                <a:solidFill>
                  <a:schemeClr val="bg1"/>
                </a:solidFill>
              </a:rPr>
              <a:t>, ligne vide, puis </a:t>
            </a:r>
            <a:r>
              <a:rPr lang="en-US" sz="1800" b="1" dirty="0">
                <a:solidFill>
                  <a:schemeClr val="bg1"/>
                </a:solidFill>
              </a:rPr>
              <a:t>majuscule</a:t>
            </a:r>
            <a:r>
              <a:rPr lang="en-US" sz="1800" dirty="0">
                <a:solidFill>
                  <a:schemeClr val="bg1"/>
                </a:solidFill>
              </a:rPr>
              <a:t>.   </a:t>
            </a:r>
            <a:r>
              <a:rPr lang="en-US" sz="1800" i="1" dirty="0">
                <a:solidFill>
                  <a:schemeClr val="bg1"/>
                </a:solidFill>
              </a:rPr>
              <a:t>Beste Sofie,</a:t>
            </a:r>
            <a:r>
              <a:rPr lang="en-US" sz="1800" dirty="0">
                <a:solidFill>
                  <a:schemeClr val="bg1"/>
                </a:solidFill>
              </a:rPr>
              <a:t> ↵ </a:t>
            </a:r>
            <a:r>
              <a:rPr lang="en-US" sz="1800" i="1" dirty="0">
                <a:solidFill>
                  <a:schemeClr val="bg1"/>
                </a:solidFill>
              </a:rPr>
              <a:t>Ik stuur je…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clôtures (afsluiting)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733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733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heer, geachte mevrouw,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60520" y="20574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846320" y="16733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6733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16733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très formel (lettre officielle)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877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/ Beste mevrouw…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60520" y="29718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846320" y="25877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5877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Met vriendelijke groet(en)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5877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formel, le passe-partout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5021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5021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Sofie,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60520" y="38862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846320" y="35021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35021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Vriendelijke groeten · Beste groeten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35021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neutre, collègues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4165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4165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Hoi Lies,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160520" y="48006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46320" y="44165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44165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Groetjes · Tot morgen! · Veel liefs · Kusjes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0" y="44165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familier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AANHEF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525780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AFSLUITING (en miroir)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slotzin</a:t>
            </a:r>
            <a:r>
              <a:rPr lang="en-US" sz="1600" dirty="0">
                <a:solidFill>
                  <a:schemeClr val="tx1"/>
                </a:solidFill>
              </a:rPr>
              <a:t> avant la formule : </a:t>
            </a:r>
            <a:r>
              <a:rPr lang="en-US" sz="1600" i="1" dirty="0">
                <a:solidFill>
                  <a:schemeClr val="tx1"/>
                </a:solidFill>
              </a:rPr>
              <a:t>Alvast bedankt.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Kusjes</a:t>
            </a:r>
            <a:r>
              <a:rPr lang="en-US" sz="1600" dirty="0">
                <a:solidFill>
                  <a:schemeClr val="tx1"/>
                </a:solidFill>
              </a:rPr>
              <a:t> = proches seulement · virgule finale facultative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formule finale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331720"/>
          </a:xfrm>
          <a:prstGeom prst="roundRect">
            <a:avLst>
              <a:gd name="adj" fmla="val 3137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« Veuillez agréer, Madame, l’expression de mes salutations distinguées. »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1635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3044952"/>
            <a:ext cx="10634472" cy="740664"/>
          </a:xfrm>
          <a:prstGeom prst="roundRect">
            <a:avLst>
              <a:gd name="adj" fmla="val 987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044952"/>
            <a:ext cx="10360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Met vriendelijke groet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1879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5262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Chère Madame, » → </a:t>
            </a:r>
            <a:r>
              <a:rPr lang="en-US" sz="2000" i="1" strike="sngStrike" dirty="0">
                <a:solidFill>
                  <a:schemeClr val="accent6"/>
                </a:solidFill>
              </a:rPr>
              <a:t>Lieve mevrouw,</a:t>
            </a:r>
            <a:endParaRPr lang="en-US" sz="20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1947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48072"/>
            <a:ext cx="10634472" cy="374904"/>
          </a:xfrm>
          <a:prstGeom prst="roundRect">
            <a:avLst>
              <a:gd name="adj" fmla="val 1951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48072"/>
            <a:ext cx="1036015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Beste mevrouw Janssens,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e-mail formel néerlandais reste </a:t>
            </a:r>
            <a:r>
              <a:rPr lang="en-US" sz="1800" b="1" dirty="0">
                <a:solidFill>
                  <a:schemeClr val="bg1"/>
                </a:solidFill>
              </a:rPr>
              <a:t>court et direct</a:t>
            </a:r>
            <a:r>
              <a:rPr lang="en-US" sz="1800" dirty="0">
                <a:solidFill>
                  <a:schemeClr val="bg1"/>
                </a:solidFill>
              </a:rPr>
              <a:t>. </a:t>
            </a:r>
            <a:r>
              <a:rPr lang="en-US" sz="1800" i="1" dirty="0">
                <a:solidFill>
                  <a:schemeClr val="bg1"/>
                </a:solidFill>
              </a:rPr>
              <a:t>Lieve</a:t>
            </a:r>
            <a:r>
              <a:rPr lang="en-US" sz="1800" dirty="0">
                <a:solidFill>
                  <a:schemeClr val="bg1"/>
                </a:solidFill>
              </a:rPr>
              <a:t> = pour les proches.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5 blocs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08760"/>
            <a:ext cx="64008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377440" y="1508760"/>
            <a:ext cx="640080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420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06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92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1508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20482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20482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1717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Aanhef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2011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À qui 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514600" y="27340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2">
              <a:alpha val="15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97480" y="27340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u omdat…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575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575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697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2697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Pourquoi j’écris 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514600" y="3419856"/>
            <a:ext cx="6126480" cy="1252728"/>
          </a:xfrm>
          <a:prstGeom prst="roundRect">
            <a:avLst>
              <a:gd name="adj" fmla="val 5839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97480" y="3419856"/>
            <a:ext cx="57607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Kunt u…?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8633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863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38328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Kern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3383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Quoi 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2514600" y="474573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97480" y="474573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Alvast bedankt. · Ik hoor graag van u.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48691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869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7091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Slotzin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961120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Et maintenant ?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2514600" y="5431536"/>
            <a:ext cx="6126480" cy="704088"/>
          </a:xfrm>
          <a:prstGeom prst="roundRect">
            <a:avLst>
              <a:gd name="adj" fmla="val 10390"/>
            </a:avLst>
          </a:prstGeom>
          <a:solidFill>
            <a:srgbClr val="6E4A9E">
              <a:alpha val="15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97480" y="5431536"/>
            <a:ext cx="5760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56007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600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60120" y="5394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Afsluiting + naam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961120" y="5394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E4A9E"/>
                </a:solidFill>
              </a:rPr>
              <a:t>Qui signe ?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1554480"/>
            <a:ext cx="2679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 A1 : 5 à 8 lignes. Une ou deux phrases par bloc.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banque de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48640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② Opening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5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Hartelijk dank voor uw mail.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schrijf u omdat…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Bedankt voor je mail!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Hoe gaat het met je?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③ Kern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wil graag een afspraak maken.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Kunt u mij … sturen?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In de bijlage vindt u…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Heb je morgen tijd?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 je me helpen?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Hier is…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④ Slotzin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Alvast bedankt.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hoor graag van u.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Als u vragen hebt, mag u me altijd bellen.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Laat je iets weten?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Tot morgen!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 bijlage</a:t>
            </a:r>
            <a:r>
              <a:rPr lang="en-US" sz="1400" i="1" dirty="0">
                <a:solidFill>
                  <a:schemeClr val="accent5"/>
                </a:solidFill>
              </a:rPr>
              <a:t> = la pièce jointe · </a:t>
            </a:r>
            <a:r>
              <a:rPr lang="en-US" sz="1400" i="1" dirty="0">
                <a:solidFill>
                  <a:schemeClr val="accent5"/>
                </a:solidFill>
              </a:rPr>
              <a:t>Ik hoor graag van u</a:t>
            </a:r>
            <a:r>
              <a:rPr lang="en-US" sz="1400" i="1" dirty="0">
                <a:solidFill>
                  <a:schemeClr val="accent5"/>
                </a:solidFill>
              </a:rPr>
              <a:t> = dans l’attente de votre réponse · </a:t>
            </a:r>
            <a:r>
              <a:rPr lang="en-US" sz="1400" i="1" dirty="0">
                <a:solidFill>
                  <a:schemeClr val="accent5"/>
                </a:solidFill>
              </a:rPr>
              <a:t>Als u vragen hebt…</a:t>
            </a:r>
            <a:r>
              <a:rPr lang="en-US" sz="1400" i="1" dirty="0">
                <a:solidFill>
                  <a:schemeClr val="accent5"/>
                </a:solidFill>
              </a:rPr>
              <a:t> = inversion après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 (M9)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1 — prévenir qu’on est malade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Van: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karim.benali@peetersco.be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an.janssens@peetersco.be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24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6243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Ziek vandaag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2990088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3136392"/>
            <a:ext cx="109728" cy="44658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320423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204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108960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85800" y="3637837"/>
            <a:ext cx="109728" cy="44658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705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3705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3610405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vandaag helaas ziek: ik heb koorts.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5800" y="4139282"/>
            <a:ext cx="109728" cy="797593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8680" y="438263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8680" y="4382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111850"/>
            <a:ext cx="6720840" cy="852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dus niet naar de vergadering van 14 uur komen. Sofie Peeters heeft de documenten.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85800" y="4991739"/>
            <a:ext cx="109728" cy="44658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68680" y="5059582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50595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4964307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 bel ik u.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85800" y="5493184"/>
            <a:ext cx="109728" cy="6973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8680" y="56863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686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325880" y="5465752"/>
            <a:ext cx="6720840" cy="75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800" dirty="0"/>
          </a:p>
        </p:txBody>
      </p:sp>
      <p:pic>
        <p:nvPicPr>
          <p:cNvPr id="38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00200"/>
            <a:ext cx="2011680" cy="201168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8503920" y="3794760"/>
            <a:ext cx="3136392" cy="246888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686800" y="39593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4095415"/>
            <a:ext cx="294803" cy="294803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400032" y="39410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43" name="Text 38"/>
          <p:cNvSpPr txBox="1"/>
          <p:nvPr/>
        </p:nvSpPr>
        <p:spPr>
          <a:xfrm>
            <a:off x="8705088" y="4663440"/>
            <a:ext cx="2734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et non </a:t>
            </a:r>
            <a:r>
              <a:rPr lang="en-US" sz="1500" i="1" dirty="0">
                <a:solidFill>
                  <a:schemeClr val="tx1"/>
                </a:solidFill>
              </a:rPr>
              <a:t>Geachte</a:t>
            </a:r>
            <a:r>
              <a:rPr lang="en-US" sz="1500" dirty="0">
                <a:solidFill>
                  <a:schemeClr val="tx1"/>
                </a:solidFill>
              </a:rPr>
              <a:t> : c’est sa </a:t>
            </a:r>
            <a:r>
              <a:rPr lang="en-US" sz="1500" b="1" dirty="0">
                <a:solidFill>
                  <a:schemeClr val="tx1"/>
                </a:solidFill>
              </a:rPr>
              <a:t>cheffe directe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Pince : </a:t>
            </a:r>
            <a:r>
              <a:rPr lang="en-US" sz="1500" i="1" dirty="0">
                <a:solidFill>
                  <a:schemeClr val="tx1"/>
                </a:solidFill>
              </a:rPr>
              <a:t>kan … komen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2 — proposer un rendez-vous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j.maes@maesbouw.be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Afspraak dinsdag 12 mei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2938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66451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664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291454"/>
            <a:ext cx="109728" cy="42938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506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50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64022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Hartelijk dank voor uw mail.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775699"/>
            <a:ext cx="109728" cy="120417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22339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22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748267"/>
            <a:ext cx="6720840" cy="125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wil graag een afspraak met u maken. We moeten over de facturen praten. Past </a:t>
            </a:r>
            <a:r>
              <a:rPr lang="en-US" sz="1800" b="1" i="1" dirty="0">
                <a:solidFill>
                  <a:schemeClr val="accent1"/>
                </a:solidFill>
              </a:rPr>
              <a:t>dinsdag 12 mei om 10 uur</a:t>
            </a:r>
            <a:r>
              <a:rPr lang="en-US" sz="1800" i="1" dirty="0">
                <a:solidFill>
                  <a:schemeClr val="tx1"/>
                </a:solidFill>
              </a:rPr>
              <a:t> voor u? Ons kantoor is in de Wetstraat 25 in Brussel.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5034738"/>
            <a:ext cx="109728" cy="42938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93981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939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500730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518984"/>
            <a:ext cx="109728" cy="6715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992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99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91552"/>
            <a:ext cx="6720840" cy="72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Boekhouder, Peeters &amp; Co · 02 123 45 67</a:t>
            </a:r>
            <a:endParaRPr lang="en-US" sz="1800" dirty="0"/>
          </a:p>
        </p:txBody>
      </p:sp>
      <p:pic>
        <p:nvPicPr>
          <p:cNvPr id="36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600200"/>
            <a:ext cx="1828800" cy="1828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503920" y="3611880"/>
            <a:ext cx="313639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686800" y="37764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3912535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00032" y="37581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À l’oral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8705088" y="4480560"/>
            <a:ext cx="273405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Past … voor u?</a:t>
            </a:r>
            <a:r>
              <a:rPr lang="en-US" sz="1500" dirty="0">
                <a:solidFill>
                  <a:schemeClr val="tx1"/>
                </a:solidFill>
              </a:rPr>
              <a:t> = Est-ce que … vous convient ?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dinsdag twaalf mei om tien uur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3 — inviter une collègue (informel)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sofie.peeters@peetersco.be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Lunch vrijdag?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5829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8090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80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Hoi Sofie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320364"/>
            <a:ext cx="109728" cy="4582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9406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94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92932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Hoe gaat het met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833520"/>
            <a:ext cx="109728" cy="107407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1511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15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806088"/>
            <a:ext cx="6720840" cy="1128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Vrijdag is mijn verjaardag! Ik trakteer op een lunch in de brasserie naast het kantoor. Heb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om 12.30 uur tijd?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4962462"/>
            <a:ext cx="109728" cy="45829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3616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3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935030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Laat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iets weten?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475618"/>
            <a:ext cx="109728" cy="71487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77605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776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48186"/>
            <a:ext cx="6720840" cy="769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Groetjes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b="1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pic>
        <p:nvPicPr>
          <p:cNvPr id="36" name="Image 0" descr="birthday 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45920"/>
            <a:ext cx="1371600" cy="1371600"/>
          </a:xfrm>
          <a:prstGeom prst="rect">
            <a:avLst/>
          </a:prstGeom>
        </p:spPr>
      </p:pic>
      <p:pic>
        <p:nvPicPr>
          <p:cNvPr id="37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920240"/>
            <a:ext cx="1188720" cy="11887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8503920" y="3337560"/>
            <a:ext cx="3136392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686800" y="3502152"/>
            <a:ext cx="566928" cy="566928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2" descr="Slider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863" y="3638215"/>
            <a:ext cx="294803" cy="294803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9400032" y="34838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9BD5"/>
                </a:solidFill>
              </a:rPr>
              <a:t>Comparez</a:t>
            </a:r>
            <a:endParaRPr lang="en-US" sz="1900" dirty="0"/>
          </a:p>
        </p:txBody>
      </p:sp>
      <p:sp>
        <p:nvSpPr>
          <p:cNvPr id="42" name="Text 36"/>
          <p:cNvSpPr txBox="1"/>
          <p:nvPr/>
        </p:nvSpPr>
        <p:spPr>
          <a:xfrm>
            <a:off x="8705088" y="4206240"/>
            <a:ext cx="273405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Même structure en </a:t>
            </a:r>
            <a:r>
              <a:rPr lang="en-US" sz="1500" b="1" dirty="0">
                <a:solidFill>
                  <a:schemeClr val="tx1"/>
                </a:solidFill>
              </a:rPr>
              <a:t>5 blocs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Seuls les </a:t>
            </a:r>
            <a:r>
              <a:rPr lang="en-US" sz="1500" b="1" dirty="0">
                <a:solidFill>
                  <a:schemeClr val="tx1"/>
                </a:solidFill>
              </a:rPr>
              <a:t>curseurs</a:t>
            </a:r>
            <a:r>
              <a:rPr lang="en-US" sz="1500" dirty="0">
                <a:solidFill>
                  <a:schemeClr val="tx1"/>
                </a:solidFill>
              </a:rPr>
              <a:t> du registre changent (M8).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trakteren</a:t>
            </a:r>
            <a:r>
              <a:rPr lang="en-US" sz="1500" dirty="0">
                <a:solidFill>
                  <a:schemeClr val="tx1"/>
                </a:solidFill>
              </a:rPr>
              <a:t> = offrir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L’objet et les boutons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L’OBJET (</a:t>
            </a:r>
            <a:r>
              <a:rPr lang="en-US" sz="1700" i="1" dirty="0">
                <a:solidFill>
                  <a:schemeClr val="tx2"/>
                </a:solidFill>
              </a:rPr>
              <a:t>het onderwerp</a:t>
            </a:r>
            <a:r>
              <a:rPr lang="en-US" sz="1700" dirty="0">
                <a:solidFill>
                  <a:schemeClr val="tx2"/>
                </a:solidFill>
              </a:rPr>
              <a:t>) : </a:t>
            </a:r>
            <a:r>
              <a:rPr lang="en-US" sz="1700" b="1" dirty="0">
                <a:solidFill>
                  <a:schemeClr val="tx2"/>
                </a:solidFill>
              </a:rPr>
              <a:t>court</a:t>
            </a:r>
            <a:r>
              <a:rPr lang="en-US" sz="1700" dirty="0">
                <a:solidFill>
                  <a:schemeClr val="tx2"/>
                </a:solidFill>
              </a:rPr>
              <a:t> (2 à 6 mots), </a:t>
            </a:r>
            <a:r>
              <a:rPr lang="en-US" sz="1700" b="1" dirty="0">
                <a:solidFill>
                  <a:schemeClr val="tx2"/>
                </a:solidFill>
              </a:rPr>
              <a:t>précis</a:t>
            </a:r>
            <a:r>
              <a:rPr lang="en-US" sz="1700" dirty="0">
                <a:solidFill>
                  <a:schemeClr val="tx2"/>
                </a:solidFill>
              </a:rPr>
              <a:t>, pas de phrase complète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7" name="Image 0" descr="Ti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1284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057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(geen onderwerp)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0" name="Image 1" descr="Ti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9864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4290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3" name="Image 2" descr="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444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3429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Hallo!</a:t>
            </a:r>
            <a:endParaRPr lang="en-US" sz="1800" dirty="0"/>
          </a:p>
        </p:txBody>
      </p:sp>
      <p:pic>
        <p:nvPicPr>
          <p:cNvPr id="15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57200" cy="45720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760720" y="20574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17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21284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309360" y="20574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Ziek vandaag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5760720" y="27432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0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89864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309360" y="2743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Afspraak dinsdag 12 mei</a:t>
            </a:r>
            <a:endParaRPr lang="en-US" sz="1800" dirty="0"/>
          </a:p>
        </p:txBody>
      </p:sp>
      <p:sp>
        <p:nvSpPr>
          <p:cNvPr id="22" name="Shape 13"/>
          <p:cNvSpPr/>
          <p:nvPr/>
        </p:nvSpPr>
        <p:spPr>
          <a:xfrm>
            <a:off x="5760720" y="34290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5312" y="358444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309360" y="3429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25" name="Shape 15"/>
          <p:cNvSpPr/>
          <p:nvPr/>
        </p:nvSpPr>
        <p:spPr>
          <a:xfrm>
            <a:off x="548640" y="434340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E6EBF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731520" y="4407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BOUTONS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731520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1474927" y="4873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7" descr="PaperPla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601" y="5005426"/>
            <a:ext cx="285293" cy="285293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31520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Verzenden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731520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envoyer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2904134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2"/>
          <p:cNvSpPr/>
          <p:nvPr/>
        </p:nvSpPr>
        <p:spPr>
          <a:xfrm>
            <a:off x="3647542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Repl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215" y="5005426"/>
            <a:ext cx="285293" cy="285293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2904134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Beantwoorden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2904134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076749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5820156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Reply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30" y="5005426"/>
            <a:ext cx="285293" cy="28529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076749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Allen beantwoorden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5076749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 à tous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7249363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30"/>
          <p:cNvSpPr/>
          <p:nvPr/>
        </p:nvSpPr>
        <p:spPr>
          <a:xfrm>
            <a:off x="7992770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10" descr="Sh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444" y="5005426"/>
            <a:ext cx="285293" cy="285293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7249363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Doorsturen</a:t>
            </a:r>
            <a:endParaRPr lang="en-US" sz="1500" dirty="0"/>
          </a:p>
        </p:txBody>
      </p:sp>
      <p:sp>
        <p:nvSpPr>
          <p:cNvPr id="46" name="Text 32"/>
          <p:cNvSpPr txBox="1"/>
          <p:nvPr/>
        </p:nvSpPr>
        <p:spPr>
          <a:xfrm>
            <a:off x="7249363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transférer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9421978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10165385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9" name="Image 11" descr="Papercli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058" y="5005426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421978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Bijlage toevoegen</a:t>
            </a:r>
            <a:endParaRPr lang="en-US" sz="1200" dirty="0"/>
          </a:p>
        </p:txBody>
      </p:sp>
      <p:sp>
        <p:nvSpPr>
          <p:cNvPr id="51" name="Text 36"/>
          <p:cNvSpPr txBox="1"/>
          <p:nvPr/>
        </p:nvSpPr>
        <p:spPr>
          <a:xfrm>
            <a:off x="9421978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joindre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checklist avant d’envoyer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g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411480" cy="411480"/>
          </a:xfrm>
          <a:prstGeom prst="rect">
            <a:avLst/>
          </a:prstGeom>
        </p:spPr>
      </p:pic>
      <p:pic>
        <p:nvPicPr>
          <p:cNvPr id="7" name="Image 1" descr="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92808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783080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Onderwerp</a:t>
            </a:r>
            <a:r>
              <a:rPr lang="en-US" sz="1600" dirty="0">
                <a:solidFill>
                  <a:schemeClr val="tx1"/>
                </a:solidFill>
              </a:rPr>
              <a:t> court et précis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2" descr="Reg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44368"/>
            <a:ext cx="411480" cy="411480"/>
          </a:xfrm>
          <a:prstGeom prst="rect">
            <a:avLst/>
          </a:prstGeom>
        </p:spPr>
      </p:pic>
      <p:pic>
        <p:nvPicPr>
          <p:cNvPr id="11" name="Image 3" descr="User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9008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83080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Aanhef</a:t>
            </a:r>
            <a:r>
              <a:rPr lang="en-US" sz="1600" dirty="0">
                <a:solidFill>
                  <a:schemeClr val="tx1"/>
                </a:solidFill>
              </a:rPr>
              <a:t> adapté au destinataire (</a:t>
            </a:r>
            <a:r>
              <a:rPr lang="en-US" sz="1600" i="1" dirty="0">
                <a:solidFill>
                  <a:schemeClr val="tx1"/>
                </a:solidFill>
              </a:rPr>
              <a:t>Hoi / Beste / Geachte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4" descr="Reg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411480" cy="411480"/>
          </a:xfrm>
          <a:prstGeom prst="rect">
            <a:avLst/>
          </a:prstGeom>
        </p:spPr>
      </p:pic>
      <p:pic>
        <p:nvPicPr>
          <p:cNvPr id="15" name="Image 5" descr="Slider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8736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783080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 même partout, avec le bon possessif (</a:t>
            </a:r>
            <a:r>
              <a:rPr lang="en-US" sz="1600" i="1" dirty="0">
                <a:solidFill>
                  <a:schemeClr val="tx1"/>
                </a:solidFill>
              </a:rPr>
              <a:t>je / uw</a:t>
            </a:r>
            <a:r>
              <a:rPr lang="en-US" sz="1600" dirty="0">
                <a:solidFill>
                  <a:schemeClr val="tx1"/>
                </a:solidFill>
              </a:rPr>
              <a:t>) — M8</a:t>
            </a:r>
            <a:endParaRPr lang="en-US" sz="1600" dirty="0"/>
          </a:p>
        </p:txBody>
      </p:sp>
      <p:sp>
        <p:nvSpPr>
          <p:cNvPr id="17" name="Shape 8"/>
          <p:cNvSpPr/>
          <p:nvPr/>
        </p:nvSpPr>
        <p:spPr>
          <a:xfrm>
            <a:off x="548640" y="486460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6" descr="Reg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38928"/>
            <a:ext cx="411480" cy="411480"/>
          </a:xfrm>
          <a:prstGeom prst="rect">
            <a:avLst/>
          </a:prstGeom>
        </p:spPr>
      </p:pic>
      <p:pic>
        <p:nvPicPr>
          <p:cNvPr id="19" name="Image 7" descr="Exchange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5184648"/>
            <a:ext cx="320040" cy="32004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783080" y="486460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Verbe</a:t>
            </a:r>
            <a:r>
              <a:rPr lang="en-US" sz="1600" dirty="0">
                <a:solidFill>
                  <a:schemeClr val="tx1"/>
                </a:solidFill>
              </a:rPr>
              <a:t> en 2e position… et à la fin après </a:t>
            </a:r>
            <a:r>
              <a:rPr lang="en-US" sz="1600" i="1" dirty="0">
                <a:solidFill>
                  <a:schemeClr val="tx1"/>
                </a:solidFill>
              </a:rPr>
              <a:t>omdat, dat, als</a:t>
            </a:r>
            <a:r>
              <a:rPr lang="en-US" sz="1600" dirty="0">
                <a:solidFill>
                  <a:schemeClr val="tx1"/>
                </a:solidFill>
              </a:rPr>
              <a:t> — M3, M9</a:t>
            </a:r>
            <a:endParaRPr lang="en-US" sz="1600" dirty="0"/>
          </a:p>
        </p:txBody>
      </p:sp>
      <p:sp>
        <p:nvSpPr>
          <p:cNvPr id="21" name="Shape 10"/>
          <p:cNvSpPr/>
          <p:nvPr/>
        </p:nvSpPr>
        <p:spPr>
          <a:xfrm>
            <a:off x="6199632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8" descr="RegSqua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847088"/>
            <a:ext cx="411480" cy="411480"/>
          </a:xfrm>
          <a:prstGeom prst="rect">
            <a:avLst/>
          </a:prstGeom>
        </p:spPr>
      </p:pic>
      <p:pic>
        <p:nvPicPr>
          <p:cNvPr id="23" name="Image 9" descr="CommentDo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1892808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7434072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Slotzin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Alvast bedankt. / Ik hoor graag van u.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25" name="Shape 12"/>
          <p:cNvSpPr/>
          <p:nvPr/>
        </p:nvSpPr>
        <p:spPr>
          <a:xfrm>
            <a:off x="6199632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0" descr="RegSqu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2944368"/>
            <a:ext cx="411480" cy="411480"/>
          </a:xfrm>
          <a:prstGeom prst="rect">
            <a:avLst/>
          </a:prstGeom>
        </p:spPr>
      </p:pic>
      <p:pic>
        <p:nvPicPr>
          <p:cNvPr id="27" name="Image 11" descr="SortAmount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872" y="2990088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34072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Afsluiting</a:t>
            </a:r>
            <a:r>
              <a:rPr lang="en-US" sz="1600" dirty="0">
                <a:solidFill>
                  <a:schemeClr val="tx1"/>
                </a:solidFill>
              </a:rPr>
              <a:t> en miroir de l’aanhef</a:t>
            </a:r>
            <a:endParaRPr lang="en-US" sz="1600" dirty="0"/>
          </a:p>
        </p:txBody>
      </p:sp>
      <p:sp>
        <p:nvSpPr>
          <p:cNvPr id="29" name="Shape 14"/>
          <p:cNvSpPr/>
          <p:nvPr/>
        </p:nvSpPr>
        <p:spPr>
          <a:xfrm>
            <a:off x="6199632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12" descr="RegSqu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4041648"/>
            <a:ext cx="411480" cy="411480"/>
          </a:xfrm>
          <a:prstGeom prst="rect">
            <a:avLst/>
          </a:prstGeom>
        </p:spPr>
      </p:pic>
      <p:pic>
        <p:nvPicPr>
          <p:cNvPr id="31" name="Image 13" descr="Paperclip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6872" y="4087368"/>
            <a:ext cx="320040" cy="320040"/>
          </a:xfrm>
          <a:prstGeom prst="rect">
            <a:avLst/>
          </a:prstGeom>
        </p:spPr>
      </p:pic>
      <p:sp>
        <p:nvSpPr>
          <p:cNvPr id="32" name="Text 15"/>
          <p:cNvSpPr txBox="1"/>
          <p:nvPr/>
        </p:nvSpPr>
        <p:spPr>
          <a:xfrm>
            <a:off x="7434072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Naam</a:t>
            </a:r>
            <a:r>
              <a:rPr lang="en-US" sz="1600" dirty="0">
                <a:solidFill>
                  <a:schemeClr val="tx1"/>
                </a:solidFill>
              </a:rPr>
              <a:t> (+ fonction en formel) · </a:t>
            </a:r>
            <a:r>
              <a:rPr lang="en-US" sz="1600" b="1" dirty="0">
                <a:solidFill>
                  <a:schemeClr val="tx1"/>
                </a:solidFill>
              </a:rPr>
              <a:t>bijlage</a:t>
            </a:r>
            <a:r>
              <a:rPr lang="en-US" sz="1600" dirty="0">
                <a:solidFill>
                  <a:schemeClr val="tx1"/>
                </a:solidFill>
              </a:rPr>
              <a:t> jointe ?</a:t>
            </a:r>
            <a:endParaRPr lang="en-US" sz="1600" dirty="0"/>
          </a:p>
        </p:txBody>
      </p:sp>
      <p:sp>
        <p:nvSpPr>
          <p:cNvPr id="33" name="Shape 16"/>
          <p:cNvSpPr/>
          <p:nvPr/>
        </p:nvSpPr>
        <p:spPr>
          <a:xfrm>
            <a:off x="6199632" y="4937760"/>
            <a:ext cx="5440680" cy="914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14" descr="PaperPla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5184648"/>
            <a:ext cx="420624" cy="420624"/>
          </a:xfrm>
          <a:prstGeom prst="rect">
            <a:avLst/>
          </a:prstGeom>
        </p:spPr>
      </p:pic>
      <p:sp>
        <p:nvSpPr>
          <p:cNvPr id="35" name="Text 17"/>
          <p:cNvSpPr txBox="1"/>
          <p:nvPr/>
        </p:nvSpPr>
        <p:spPr>
          <a:xfrm>
            <a:off x="8183880" y="4937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Verzenden</a:t>
            </a:r>
            <a:endParaRPr lang="en-US" sz="2600" dirty="0"/>
          </a:p>
        </p:txBody>
      </p:sp>
      <p:pic>
        <p:nvPicPr>
          <p:cNvPr id="36" name="Image 15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L’anatomie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Formel ou informel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User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qui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mail en morceaux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Secr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À vous d’écrire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concours de politesse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9" name="Text 25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3" name="Text 29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1" name="Text 37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8" name="Text 14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55080" y="2469751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24697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4" name="Text 20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355080" y="3014037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55080" y="301403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355080" y="355832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355080" y="355832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355080" y="4102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55080" y="4102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6355080" y="464689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355080" y="464689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6355080" y="5191179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55080" y="519117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4" name="Text 50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55" name="Shape 51"/>
          <p:cNvSpPr/>
          <p:nvPr/>
        </p:nvSpPr>
        <p:spPr>
          <a:xfrm>
            <a:off x="6355080" y="5735465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55080" y="573546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59" name="Shape 55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67" name="Shape 63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1932432"/>
            <a:ext cx="109728" cy="4358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i="1" dirty="0">
                <a:solidFill>
                  <a:schemeClr val="tx1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i="1" dirty="0">
                <a:solidFill>
                  <a:schemeClr val="tx1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i="1" dirty="0">
                <a:solidFill>
                  <a:schemeClr val="tx1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17920" y="1932432"/>
            <a:ext cx="109728" cy="4358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9224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i="1" dirty="0">
                <a:solidFill>
                  <a:schemeClr val="tx1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i="1" dirty="0">
                <a:solidFill>
                  <a:schemeClr val="tx1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i="1" dirty="0">
                <a:solidFill>
                  <a:schemeClr val="tx1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1932432"/>
            <a:ext cx="109728" cy="3215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b="1" i="1" dirty="0">
                <a:solidFill>
                  <a:schemeClr val="accent3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b="1" i="1" dirty="0">
                <a:solidFill>
                  <a:schemeClr val="accent3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b="1" i="1" dirty="0">
                <a:solidFill>
                  <a:schemeClr val="accent3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1932432"/>
            <a:ext cx="109728" cy="3215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b="1" i="1" dirty="0">
                <a:solidFill>
                  <a:schemeClr val="accent3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b="1" i="1" dirty="0">
                <a:solidFill>
                  <a:schemeClr val="accent3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b="1" i="1" dirty="0">
                <a:solidFill>
                  <a:schemeClr val="accent3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rgbClr val="5B9BD5">
              <a:alpha val="20000"/>
            </a:srgbClr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Hoi</a:t>
            </a:r>
            <a:r>
              <a:rPr lang="en-US" sz="1400" dirty="0">
                <a:solidFill>
                  <a:schemeClr val="tx1"/>
                </a:solidFill>
              </a:rPr>
              <a:t> + prénom · </a:t>
            </a:r>
            <a:r>
              <a:rPr lang="en-US" sz="1400" i="1" dirty="0">
                <a:solidFill>
                  <a:schemeClr val="tx1"/>
                </a:solidFill>
              </a:rPr>
              <a:t>Alles goed?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jij</a:t>
            </a:r>
            <a:r>
              <a:rPr lang="en-US" sz="1400" dirty="0">
                <a:solidFill>
                  <a:schemeClr val="tx1"/>
                </a:solidFill>
              </a:rPr>
              <a:t> · exclamations, </a:t>
            </a:r>
            <a:r>
              <a:rPr lang="en-US" sz="1400" i="1" dirty="0">
                <a:solidFill>
                  <a:schemeClr val="tx1"/>
                </a:solidFill>
              </a:rPr>
              <a:t>wow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Mis je!</a:t>
            </a:r>
            <a:r>
              <a:rPr lang="en-US" sz="1400" dirty="0">
                <a:solidFill>
                  <a:schemeClr val="tx1"/>
                </a:solidFill>
              </a:rPr>
              <a:t> (sans sujet) · </a:t>
            </a:r>
            <a:r>
              <a:rPr lang="en-US" sz="1400" i="1" dirty="0">
                <a:solidFill>
                  <a:schemeClr val="tx1"/>
                </a:solidFill>
              </a:rPr>
              <a:t>Groetjes</a:t>
            </a:r>
            <a:r>
              <a:rPr lang="en-US" sz="1400" dirty="0">
                <a:solidFill>
                  <a:schemeClr val="tx1"/>
                </a:solidFill>
              </a:rPr>
              <a:t> + prénom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chemeClr val="tx2">
              <a:alpha val="15000"/>
            </a:schemeClr>
          </a:solidFill>
          <a:ln w="12700">
            <a:solidFill>
              <a:srgbClr val="17375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5508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Beste mevrouw</a:t>
            </a:r>
            <a:r>
              <a:rPr lang="en-US" sz="1400" dirty="0">
                <a:solidFill>
                  <a:schemeClr val="tx1"/>
                </a:solidFill>
              </a:rPr>
              <a:t> + nom · </a:t>
            </a:r>
            <a:r>
              <a:rPr lang="en-US" sz="1400" i="1" dirty="0">
                <a:solidFill>
                  <a:schemeClr val="tx1"/>
                </a:solidFill>
              </a:rPr>
              <a:t>met u</a:t>
            </a:r>
            <a:r>
              <a:rPr lang="en-US" sz="1400" dirty="0">
                <a:solidFill>
                  <a:schemeClr val="tx1"/>
                </a:solidFill>
              </a:rPr>
              <a:t> · phrases complètes · </a:t>
            </a:r>
            <a:r>
              <a:rPr lang="en-US" sz="1400" i="1" dirty="0">
                <a:solidFill>
                  <a:schemeClr val="tx1"/>
                </a:solidFill>
              </a:rPr>
              <a:t>Alvast bedankt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r>
              <a:rPr lang="en-US" sz="1400" dirty="0">
                <a:solidFill>
                  <a:schemeClr val="tx1"/>
                </a:solidFill>
              </a:rPr>
              <a:t> + prénom </a:t>
            </a:r>
            <a:r>
              <a:rPr lang="en-US" sz="1400" b="1" dirty="0">
                <a:solidFill>
                  <a:schemeClr val="tx1"/>
                </a:solidFill>
              </a:rPr>
              <a:t>et nom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groeten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355848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401568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Hoogachtend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63056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8776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Hoi Lies,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970264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15984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Tot morgen!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Veel liefs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55848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63056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08776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Sofie,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970264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15984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Bedankt voor uw tijd.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48640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Kusjes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3355848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01568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Bedankt!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63056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08776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mevrouw Claes,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970264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015984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89832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334256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334256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989832"/>
            <a:ext cx="502920" cy="50292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065776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5065776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8119872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19872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3989832"/>
            <a:ext cx="502920" cy="50292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8851392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8851392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Hoi Lies,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Kusjes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Veel liefs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Hou je taai!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4334256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34256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2115312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65776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65776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4334256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Sofie,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4334256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groeten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334256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Bedankt!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4334256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Tot morgen!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8119872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119872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115312"/>
            <a:ext cx="502920" cy="5029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51392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851392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Geachte mevrouw Claes,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8119872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Met vriendelijke groet</a:t>
            </a:r>
            <a:endParaRPr lang="en-US" sz="1900" dirty="0"/>
          </a:p>
        </p:txBody>
      </p:sp>
      <p:sp>
        <p:nvSpPr>
          <p:cNvPr id="34" name="Text 27"/>
          <p:cNvSpPr txBox="1"/>
          <p:nvPr/>
        </p:nvSpPr>
        <p:spPr>
          <a:xfrm>
            <a:off x="8119872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8119872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 voor uw tijd.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pic>
        <p:nvPicPr>
          <p:cNvPr id="8" name="Image 1" descr="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24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 rot="-48000">
            <a:off x="548640" y="2526792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 rot="-48000">
            <a:off x="713232" y="2526792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 rot="36000">
            <a:off x="822960" y="3064546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 rot="36000">
            <a:off x="987552" y="3064546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 rot="-24000">
            <a:off x="548640" y="3602301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24000">
            <a:off x="713232" y="3602301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Geachte mevrouw Wouters,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 rot="48000">
            <a:off x="822960" y="4140055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 rot="48000">
            <a:off x="987552" y="4140055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Karim Benali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 rot="-36000">
            <a:off x="548640" y="4677809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 rot="-36000">
            <a:off x="713232" y="4677809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 rot="24000">
            <a:off x="822960" y="5215563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 rot="24000">
            <a:off x="987552" y="5215563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hoor graag van u.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 rot="-42000">
            <a:off x="548640" y="5753318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 rot="-42000">
            <a:off x="713232" y="5753318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Onderwerp: Cursus Nederlands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949440" y="1932432"/>
            <a:ext cx="46908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1932432"/>
            <a:ext cx="46908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1140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426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5712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63840" y="193243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0866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543800" y="2860766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70866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66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43800" y="3405051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70866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0866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543800" y="3949337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70866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0866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7543800" y="4493623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1" name="Shape 36"/>
          <p:cNvSpPr/>
          <p:nvPr/>
        </p:nvSpPr>
        <p:spPr>
          <a:xfrm>
            <a:off x="70866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0866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7543800" y="5037909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4" name="Shape 39"/>
          <p:cNvSpPr/>
          <p:nvPr/>
        </p:nvSpPr>
        <p:spPr>
          <a:xfrm>
            <a:off x="70866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0866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7543800" y="5582194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70866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0866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7543800" y="6126480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10916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110916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43000" y="2860766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Text 14"/>
          <p:cNvSpPr txBox="1"/>
          <p:nvPr/>
        </p:nvSpPr>
        <p:spPr>
          <a:xfrm>
            <a:off x="1188720" y="2389632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Onderwerp: Cursus Nederlands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858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43000" y="3405051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Text 18"/>
          <p:cNvSpPr txBox="1"/>
          <p:nvPr/>
        </p:nvSpPr>
        <p:spPr>
          <a:xfrm>
            <a:off x="1188720" y="2933918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Geachte mevrouw Wouters,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858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143000" y="3949337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Text 22"/>
          <p:cNvSpPr txBox="1"/>
          <p:nvPr/>
        </p:nvSpPr>
        <p:spPr>
          <a:xfrm>
            <a:off x="1188720" y="3478203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858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143000" y="4493623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Text 26"/>
          <p:cNvSpPr txBox="1"/>
          <p:nvPr/>
        </p:nvSpPr>
        <p:spPr>
          <a:xfrm>
            <a:off x="1188720" y="4022489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6858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1143000" y="5037909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Text 30"/>
          <p:cNvSpPr txBox="1"/>
          <p:nvPr/>
        </p:nvSpPr>
        <p:spPr>
          <a:xfrm>
            <a:off x="1188720" y="4566775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6858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1143000" y="5582194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Text 34"/>
          <p:cNvSpPr txBox="1"/>
          <p:nvPr/>
        </p:nvSpPr>
        <p:spPr>
          <a:xfrm>
            <a:off x="1188720" y="5111061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858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858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1143000" y="6126480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8"/>
          <p:cNvSpPr txBox="1"/>
          <p:nvPr/>
        </p:nvSpPr>
        <p:spPr>
          <a:xfrm>
            <a:off x="1188720" y="5655346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Hoi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dirty="0">
                <a:solidFill>
                  <a:schemeClr val="tx1"/>
                </a:solidFill>
              </a:rPr>
              <a:t>omdat ik ben ziek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dirty="0">
                <a:solidFill>
                  <a:schemeClr val="tx1"/>
                </a:solidFill>
              </a:rPr>
              <a:t>je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Kusjes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Karim</a:t>
            </a:r>
            <a:endParaRPr lang="en-US" sz="2100" dirty="0"/>
          </a:p>
        </p:txBody>
      </p:sp>
      <p:pic>
        <p:nvPicPr>
          <p:cNvPr id="19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accent3"/>
                </a:solidFill>
              </a:rPr>
              <a:t>→ Afwezig morgen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Hoi</a:t>
            </a:r>
            <a:r>
              <a:rPr lang="en-US" sz="2100" b="1" i="1" dirty="0">
                <a:solidFill>
                  <a:schemeClr val="accent3"/>
                </a:solidFill>
              </a:rPr>
              <a:t> Beste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strike="sngStrike" dirty="0">
                <a:solidFill>
                  <a:schemeClr val="accent6"/>
                </a:solidFill>
              </a:rPr>
              <a:t>omdat ik ben ziek</a:t>
            </a:r>
            <a:r>
              <a:rPr lang="en-US" sz="2100" b="1" i="1" dirty="0">
                <a:solidFill>
                  <a:schemeClr val="accent3"/>
                </a:solidFill>
              </a:rPr>
              <a:t> omdat ik ziek ben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strike="sngStrike" dirty="0">
                <a:solidFill>
                  <a:schemeClr val="accent6"/>
                </a:solidFill>
              </a:rPr>
              <a:t>je</a:t>
            </a:r>
            <a:r>
              <a:rPr lang="en-US" sz="2100" b="1" i="1" dirty="0">
                <a:solidFill>
                  <a:schemeClr val="accent3"/>
                </a:solidFill>
              </a:rPr>
              <a:t> u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Kusjes</a:t>
            </a:r>
            <a:r>
              <a:rPr lang="en-US" sz="2100" b="1" i="1" dirty="0">
                <a:solidFill>
                  <a:schemeClr val="accent3"/>
                </a:solidFill>
              </a:rPr>
              <a:t> Met vriendelijke groet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Karim</a:t>
            </a:r>
            <a:r>
              <a:rPr lang="en-US" sz="2100" b="1" i="1" dirty="0">
                <a:solidFill>
                  <a:schemeClr val="accent3"/>
                </a:solidFill>
              </a:rPr>
              <a:t> Karim Benali</a:t>
            </a:r>
            <a:endParaRPr lang="en-US" sz="2100" dirty="0"/>
          </a:p>
        </p:txBody>
      </p:sp>
      <p:pic>
        <p:nvPicPr>
          <p:cNvPr id="20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✓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006840" y="4721352"/>
            <a:ext cx="26334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Kunt u de vergadering verplaatsen?</a:t>
            </a:r>
            <a:r>
              <a:rPr lang="en-US" sz="1400" i="1" dirty="0">
                <a:solidFill>
                  <a:schemeClr val="accent5"/>
                </a:solidFill>
              </a:rPr>
              <a:t> est correct. Chaque erreur = une case de la checklist.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1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115312"/>
            <a:ext cx="960120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êtes malade aujourd’hui. Écrivez à votre cheffe, mevrouw Janssens.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6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2115312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4576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invitez votre collègue Lies à déjeuner demain.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1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386072"/>
            <a:ext cx="960120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Votre colis (commande n° 4521) n’est pas arrivé. Écrivez au magasin en ligne.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26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12" y="4386072"/>
            <a:ext cx="960120" cy="960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94576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Rappelez à votre jeune collègue Tom que le rapport doit être prêt vendredi.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2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20421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Ziek vandaag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 Ik ben vandaag ziek. Ik blijf thuis en ik kan niet naar de vergadering komen. Morgen bel ik u. Met vriendelijke groet, Karim Benali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8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20421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Lunch morgen?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Lies, Heb je morgen tijd voor een lunch? Om 12.30 uur in de kantine? Laat je iets weten? Groetjes, Karim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4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431292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Bestelling 4521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31520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heer, geachte mevrouw, Ik wacht nog op mijn bestelling (nummer 4521). Het pakket is er nog niet. Kunt u mij helpen? Alvast bedankt. Met vriendelijke groet, Karim Benali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30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4512" y="43129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Rapport vrijdag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91656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Tom, Even een herinnering: het rapport moet vrijdag klaar zijn. Lukt dat? Groetjes, Sofie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5577840" y="316687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5577840" y="355092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2"/>
          <p:cNvSpPr/>
          <p:nvPr/>
        </p:nvSpPr>
        <p:spPr>
          <a:xfrm>
            <a:off x="5577840" y="393496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3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4" name="Shape 15"/>
          <p:cNvSpPr/>
          <p:nvPr/>
        </p:nvSpPr>
        <p:spPr>
          <a:xfrm>
            <a:off x="5577840" y="539191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16"/>
          <p:cNvSpPr/>
          <p:nvPr/>
        </p:nvSpPr>
        <p:spPr>
          <a:xfrm>
            <a:off x="5577840" y="577596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7"/>
          <p:cNvSpPr/>
          <p:nvPr/>
        </p:nvSpPr>
        <p:spPr>
          <a:xfrm>
            <a:off x="5577840" y="616000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9" name="Text 11"/>
          <p:cNvSpPr txBox="1"/>
          <p:nvPr/>
        </p:nvSpPr>
        <p:spPr>
          <a:xfrm>
            <a:off x="5577840" y="289255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Peeters, Ik wil graag vrijdag een dag verlof nemen. Is dat mogelijk? Mijn werk is klaar. Alvast hartelijk bedankt. Met vriendelijke groet, Karim Benali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3" name="Text 14"/>
          <p:cNvSpPr txBox="1"/>
          <p:nvPr/>
        </p:nvSpPr>
        <p:spPr>
          <a:xfrm>
            <a:off x="5577840" y="511759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Hé Peeters, vrijdag kom ik niet. Daag!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2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d’appel pour un client que vous ne connaissez pas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finale passe-partout en formel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Hoi meneer Maes, ik stuur je de factuur.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1 en 2 zijn klaar.</a:t>
            </a:r>
            <a:r>
              <a:rPr lang="en-US" sz="1800" dirty="0">
                <a:solidFill>
                  <a:schemeClr val="bg1"/>
                </a:solidFill>
              </a:rPr>
              <a:t> — Volgende stap : bloc 3, M11 Scheidbare werkwoorden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ET 2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7379208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37920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7808976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780897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3" name="Shape 30"/>
          <p:cNvSpPr/>
          <p:nvPr/>
        </p:nvSpPr>
        <p:spPr>
          <a:xfrm>
            <a:off x="8238744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3874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8668512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866851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9098280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909828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528048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952804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9957816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995781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10387584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1"/>
          <p:cNvSpPr txBox="1"/>
          <p:nvPr/>
        </p:nvSpPr>
        <p:spPr>
          <a:xfrm>
            <a:off x="1038758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10817352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1081735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</a:t>
            </a:r>
            <a:endParaRPr lang="en-US" sz="1200" dirty="0"/>
          </a:p>
        </p:txBody>
      </p:sp>
      <p:pic>
        <p:nvPicPr>
          <p:cNvPr id="5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0" y="48463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Een mail opstellen — Écrire un e-mail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2026-10-04T18:33:14Z</dcterms:created>
  <dcterms:modified xsi:type="dcterms:W3CDTF">2026-10-04T18:33:14Z</dcterms:modified>
</cp:coreProperties>
</file>