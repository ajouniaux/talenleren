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f9cfc50-180a-1396-7754-3ed6aea1b378}">
          <p14:sldIdLst>
            <p14:sldId id="256"/>
          </p14:sldIdLst>
        </p14:section>
        <p14:section name="Découvrir" id="{478d9286-8872-8216-1d0b-54e3c242d198}">
          <p14:sldIdLst>
            <p14:sldId id="257"/>
            <p14:sldId id="258"/>
            <p14:sldId id="259"/>
          </p14:sldIdLst>
        </p14:section>
        <p14:section name="Comprendre" id="{08c49da9-a14e-f45e-ded0-aed99c638e4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0a5767d7-11cc-dd0a-a6ec-3c86a208c35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1945445d-8e49-4202-d582-2cfe12d12dcf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tâche finale du parcours : écrire un vrai e-mail professionnel.
Question d'entrée : « Combien d'e-mails envoyez-vous par jour au travail ? En quelle langue ? » Annoncez : à la fin de la séance, chacun écrit son premier e-mail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module réutilise presque tout le parcours : le registre (M8), omdat (M9), le verbe en 2e position (M3), les nombres et l'épellation (M2).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Activer l'intuition du registre à partir de vrais objets d'e-mails.
Demandez : « Formel (F) ou informel (I) ? Comment le savez-vous déjà, sans ouvrir le mail ? » Réponses : 1 I · 2 F · 3 F · 4 I · 5 F. Les indices : le prénom, le point d'interrogation familier, uw, le numéro de dossier. Koopzo est une enseigne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 (reprise de la diapo 3 de l'archive).
de bestemmeling (archive) est le terme belge pour de ontvanger : les deux sont corrects. Faites remarquer que la signature formelle contient le prénom, le nom et la fonction.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d'appel selon la distance avec le destinataire.
Beste est le plus courant dans les e-mails professionnels en Flandre. Il convient presque partout. Geachte est plus distant (lettres, premiers contacts). meneer / mevrouw + nom de famille, jamais + prénom. Avec Beste, on écrit meneer (Beste meneer Maes) ; avec Geachte, on écrit heer (Geachte heer Maes).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formule finale, en miroir de la formule d'appel.
Hou je taai! (« prends soin de toi ») et Kusjes / Veel liefs sont réservés aux proches (archive diapo 5). La virgule après la formule finale est facultative ; on l'omet de plus en plus.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Empêcher la traduction littérale des formules françaises.
Lieve (cher, chère) s'emploie seulement pour les proches (Lieve mama). Le néerlandais professionnel est plus direct que le français : une formule courte n'est pas impolie.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patron de rédaction réutilisable.
Chaque bloc fait une ou deux phrases. En A1, un bon e-mail fait 5 à 8 lignes. Le bloc ② peut être omis entre collègues proches.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Fournir des phrases toutes faites pour chaque bloc, dans les deux registres.
de bijlage = la pièce jointe. Ik hoor graag van u = « dans l'attente de votre réponse ». Als u vragen hebt, … réinvestit l'inversion après als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interne (à sa cheffe), bloc par bloc.
Beste et non Geachte : c'est sa cheffe directe, qu'il connaît. Relevez Morgen bel ik (inversion, M3) et la pince kan … komen (M4). En Belgique, on prévient aussi par téléphone (M8, exercice 7) et on envoie un certificat médical.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formel externe.
Past … voor u? = « Est-ce que … vous convient ? ». Faites lire la date et l'heure à voix haute (dinsdag twaalf mei om tien uur, M2). Maesbouw est une entreprise fictive.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Observer un e-mail informel et comparer avec les modèles formels.
trakteren = offrir (à boire, à manger), une tradition d'anniversaire au bureau en Belgique et aux Pays-Bas. Faites comparer les 3 modèles : la structure en 5 blocs est la même, seuls les « curseurs » du registre changent (M8, diapo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bon objet et connaître le vocabulaire de la messagerie.
Si votre messagerie est en néerlandais, montrez-la en direct. Doorsturen est un verbe séparable : Ik stuur je de mail door 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 et outil d'autocorrection.
Cette checklist sert de grille d'évaluation aux exercices 5 et 6. Distribuez-la sur papier : les apprenants cochent avant de rendre leur e-mail.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 ; 4 à 7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parties d'un e-mail.
Faites ajouter la question-guide de chaque partie (van wie? aan wie? waarover?).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Relever les marqueurs de registre dans deux e-mails (archive diapo 4, corrigée).
L'archive signait l'e-mail B du seul prénom (Pieter) : en formel, on ajoute le nom de famille. Ik hoop dat het goed met u gaat : faites repérer le verbe à la fin après dat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les formules selon le destinataire (archive diapos 5–6).
Les frontières sont souples : Met vriendelijke groet convient aussi aux collègues, et Tot morgen! à un ami. Comme le disait l'archive : « le ton dépend du contexte et du degré de proximité ». Acceptez toute réponse justifiée.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un e-mail dans l'ordre des 5 blocs.
Faites justifier par les blocs : objet → aanhef → opening → kern → slotzin → afsluiting → naam. Prolongement : réécrire le même e-mail en informel, à une amie qui suit le cours (Hoi Nadia, …).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un e-mail qui mélange les registres et oublie la structure.
Chaque erreur renvoie à une case de la checklist (diapo 14). Kunt u de vergadering verplaatsen? est correct : c'est un leurre. Faites corriger par deux, puis comparez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Rédiger un e-mail complet à partir d'une situation (reprise des situations de l'archive, ramenées à l'A1).
Chaque apprenant choisit une situation F et une situation I. Les modèles sont au présent : le passé composé (Ik heb … besteld) est vu au M15. Faites échanger les e-mails : le voisin corrige avec la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Jouer avec le registre : écrire la version la plus polie et la plus impolie d'une même demande (archive diapos 18–19).
Faites expliquer pourquoi la version 😈 est impolie : pas d'objet, pas de meneer, pas de question, pas de remerciement, une clôture familière. C'est une révision ludique de toute la checklist. verlof (BE) = congé ; aux Pays-Bas, on dit aussi vrij nemen.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du module et clore le bloc 2.
Réponses :
1. Geachte heer, geachte mevrouw, (ou Geachte heer / mevrouw + nom).
2. Met vriendelijke groet.
3. Beste meneer Maes, (ou Geachte heer Maes,) ↵ Ik stuur u de factuur. (virgule, ligne vide, majuscule)
Bilan : faites relire à chacun la frise des 10 modules et choisir le module à retravailler. Le bloc 3 approfondit le verbe et la phrase : verbes à particule, modaux, négation, formation des mots et passé composé.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10 · Een mail opstellen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png"/><Relationship Id="rId15" Type="http://schemas.openxmlformats.org/officeDocument/2006/relationships/image" Target="../media/image-14-15.png"/><Relationship Id="rId16" Type="http://schemas.openxmlformats.org/officeDocument/2006/relationships/image" Target="../media/image-14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Een mail opstellen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Écrire un e-mail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Beste mevrouw Janssens, … Met vriendelijke groet, Karim Benali</a:t>
            </a:r>
            <a:endParaRPr lang="en-US" sz="2000" dirty="0"/>
          </a:p>
        </p:txBody>
      </p:sp>
      <p:pic>
        <p:nvPicPr>
          <p:cNvPr id="5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194560"/>
            <a:ext cx="2743200" cy="2743200"/>
          </a:xfrm>
          <a:prstGeom prst="rect">
            <a:avLst/>
          </a:prstGeom>
        </p:spPr>
      </p:pic>
      <p:pic>
        <p:nvPicPr>
          <p:cNvPr id="6" name="Image 1" descr="e 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11887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9235440" y="4206240"/>
            <a:ext cx="2194560" cy="7315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8" name="Image 2" descr="PaperPla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64040" y="4407408"/>
            <a:ext cx="329184" cy="32918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829800" y="42062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Verzenden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reconnais les </a:t>
            </a:r>
            <a:r>
              <a:rPr lang="en-US" sz="2000" b="1" dirty="0">
                <a:solidFill>
                  <a:schemeClr val="tx1"/>
                </a:solidFill>
              </a:rPr>
              <a:t>5 blocs</a:t>
            </a:r>
            <a:r>
              <a:rPr lang="en-US" sz="2000" dirty="0">
                <a:solidFill>
                  <a:schemeClr val="tx1"/>
                </a:solidFill>
              </a:rPr>
              <a:t> d’un e-mail.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ortAmount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l’ouverture et la clôture selon le </a:t>
            </a:r>
            <a:r>
              <a:rPr lang="en-US" sz="2000" b="1" dirty="0">
                <a:solidFill>
                  <a:schemeClr val="tx1"/>
                </a:solidFill>
              </a:rPr>
              <a:t>destinataire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Rédiger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J’écris un e-mail court, formel ou informel.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module réutilise tout le parcours : registre (M8), </a:t>
            </a:r>
            <a:r>
              <a:rPr lang="en-US" sz="1700" i="1" dirty="0">
                <a:solidFill>
                  <a:schemeClr val="tx1"/>
                </a:solidFill>
              </a:rPr>
              <a:t>omdat</a:t>
            </a:r>
            <a:r>
              <a:rPr lang="en-US" sz="1700" dirty="0">
                <a:solidFill>
                  <a:schemeClr val="tx1"/>
                </a:solidFill>
              </a:rPr>
              <a:t> (M9), verbe en 2e position (M3), dates (M2).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la boîte de réception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932688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932688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Postvak IN — karim.benali@peetersco.be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94360" y="1965960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107692"/>
            <a:ext cx="566928" cy="56692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63040" y="1965960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 Peeters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1965960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Lunch morgen?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412480" y="1965960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9.12</a:t>
            </a:r>
            <a:endParaRPr lang="en-US" sz="1400" dirty="0"/>
          </a:p>
        </p:txBody>
      </p:sp>
      <p:pic>
        <p:nvPicPr>
          <p:cNvPr id="16" name="Image 1" descr="office build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958084"/>
            <a:ext cx="566928" cy="56692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2816352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Directie Peeters &amp; Co</a:t>
            </a:r>
            <a:endParaRPr lang="en-US" sz="1700" dirty="0"/>
          </a:p>
        </p:txBody>
      </p:sp>
      <p:sp>
        <p:nvSpPr>
          <p:cNvPr id="18" name="Text 13"/>
          <p:cNvSpPr txBox="1"/>
          <p:nvPr/>
        </p:nvSpPr>
        <p:spPr>
          <a:xfrm>
            <a:off x="4206240" y="2816352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Vergadering donderdag 10 uur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8412480" y="2816352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9.40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594360" y="3666744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shopping c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808476"/>
            <a:ext cx="566928" cy="56692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63040" y="3666744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Webshop Koopzo</a:t>
            </a:r>
            <a:endParaRPr lang="en-US" sz="1700" dirty="0"/>
          </a:p>
        </p:txBody>
      </p:sp>
      <p:sp>
        <p:nvSpPr>
          <p:cNvPr id="23" name="Text 17"/>
          <p:cNvSpPr txBox="1"/>
          <p:nvPr/>
        </p:nvSpPr>
        <p:spPr>
          <a:xfrm>
            <a:off x="4206240" y="3666744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Uw bestelling 4521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412480" y="3666744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10.05</a:t>
            </a:r>
            <a:endParaRPr lang="en-US" sz="1400" dirty="0"/>
          </a:p>
        </p:txBody>
      </p:sp>
      <p:pic>
        <p:nvPicPr>
          <p:cNvPr id="25" name="Image 3" descr="old 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58868"/>
            <a:ext cx="566928" cy="56692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463040" y="4517136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Mama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206240" y="4517136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Zondag eten bij ons?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8412480" y="4517136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11.30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594360" y="5367528"/>
            <a:ext cx="9235440" cy="850392"/>
          </a:xfrm>
          <a:prstGeom prst="rect">
            <a:avLst/>
          </a:prstGeom>
          <a:solidFill>
            <a:srgbClr val="F4F7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509260"/>
            <a:ext cx="566928" cy="56692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463040" y="5367528"/>
            <a:ext cx="27432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Jan Maes (klant)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4206240" y="5367528"/>
            <a:ext cx="42062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33" name="Text 25"/>
          <p:cNvSpPr txBox="1"/>
          <p:nvPr/>
        </p:nvSpPr>
        <p:spPr>
          <a:xfrm>
            <a:off x="8412480" y="5367528"/>
            <a:ext cx="82296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14.02</a:t>
            </a:r>
            <a:endParaRPr lang="en-US" sz="1400" dirty="0"/>
          </a:p>
        </p:txBody>
      </p:sp>
      <p:sp>
        <p:nvSpPr>
          <p:cNvPr id="34" name="Shape 26"/>
          <p:cNvSpPr/>
          <p:nvPr/>
        </p:nvSpPr>
        <p:spPr>
          <a:xfrm>
            <a:off x="10104120" y="1508760"/>
            <a:ext cx="1536192" cy="47548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10104120" y="1600200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 ou I ?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10643616" y="2162556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7" name="Text 29"/>
          <p:cNvSpPr txBox="1"/>
          <p:nvPr/>
        </p:nvSpPr>
        <p:spPr>
          <a:xfrm>
            <a:off x="10643616" y="21625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38" name="Shape 30"/>
          <p:cNvSpPr/>
          <p:nvPr/>
        </p:nvSpPr>
        <p:spPr>
          <a:xfrm>
            <a:off x="10643616" y="3012948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39" name="Text 31"/>
          <p:cNvSpPr txBox="1"/>
          <p:nvPr/>
        </p:nvSpPr>
        <p:spPr>
          <a:xfrm>
            <a:off x="10643616" y="30129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0" name="Shape 32"/>
          <p:cNvSpPr/>
          <p:nvPr/>
        </p:nvSpPr>
        <p:spPr>
          <a:xfrm>
            <a:off x="10643616" y="3863340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1" name="Text 33"/>
          <p:cNvSpPr txBox="1"/>
          <p:nvPr/>
        </p:nvSpPr>
        <p:spPr>
          <a:xfrm>
            <a:off x="10643616" y="38633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2" name="Shape 34"/>
          <p:cNvSpPr/>
          <p:nvPr/>
        </p:nvSpPr>
        <p:spPr>
          <a:xfrm>
            <a:off x="10643616" y="4713732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3" name="Text 35"/>
          <p:cNvSpPr txBox="1"/>
          <p:nvPr/>
        </p:nvSpPr>
        <p:spPr>
          <a:xfrm>
            <a:off x="10643616" y="47137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44" name="Shape 36"/>
          <p:cNvSpPr/>
          <p:nvPr/>
        </p:nvSpPr>
        <p:spPr>
          <a:xfrm>
            <a:off x="10643616" y="5564124"/>
            <a:ext cx="457200" cy="4572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5" name="Text 37"/>
          <p:cNvSpPr txBox="1"/>
          <p:nvPr/>
        </p:nvSpPr>
        <p:spPr>
          <a:xfrm>
            <a:off x="10643616" y="55641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8C2CF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Anatomie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520440" y="1554480"/>
            <a:ext cx="512064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520440" y="1554480"/>
            <a:ext cx="512064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5032" y="168249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13632" y="168249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142232" y="168249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03320" y="201168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Van: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01168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karim.benali@peetersco.be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703320" y="234086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Aan: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34086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an.janssens@peetersco.be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703320" y="267004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Onderwerp: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26700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Ziek vandaag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657600" y="3035808"/>
            <a:ext cx="484632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657600" y="3200400"/>
            <a:ext cx="91440" cy="33832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840480" y="320040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657600" y="3611880"/>
            <a:ext cx="91440" cy="148132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40480" y="3611880"/>
            <a:ext cx="466344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vandaag helaas ziek: ik heb koorts. Ik kan dus niet naar de vergadering van 14 uur komen. Morgen bel ik u.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657600" y="5166360"/>
            <a:ext cx="91440" cy="33832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840480" y="516636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657600" y="5577840"/>
            <a:ext cx="91440" cy="475488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840480" y="55778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2057400"/>
            <a:ext cx="457200" cy="457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afzender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2057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van wie?</a:t>
            </a:r>
            <a:r>
              <a:rPr lang="en-US" sz="1300" dirty="0">
                <a:solidFill>
                  <a:schemeClr val="accent5"/>
                </a:solidFill>
              </a:rPr>
              <a:t> · l’expéditeur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 flipV="1">
            <a:off x="3154680" y="2432304"/>
            <a:ext cx="457200" cy="76809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48640" y="2743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85800" y="2788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ontvanger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85800" y="3200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aan wie?</a:t>
            </a:r>
            <a:r>
              <a:rPr lang="en-US" sz="1300" dirty="0">
                <a:solidFill>
                  <a:schemeClr val="accent5"/>
                </a:solidFill>
              </a:rPr>
              <a:t> · le destinataire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 flipV="1">
            <a:off x="3154680" y="2761488"/>
            <a:ext cx="457200" cy="1581912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4" name="Shape 31"/>
          <p:cNvSpPr/>
          <p:nvPr/>
        </p:nvSpPr>
        <p:spPr>
          <a:xfrm>
            <a:off x="548640" y="3886200"/>
            <a:ext cx="260604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85800" y="3931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het onderwerp</a:t>
            </a:r>
            <a:endParaRPr lang="en-US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6858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waarover?</a:t>
            </a:r>
            <a:r>
              <a:rPr lang="en-US" sz="1300" dirty="0">
                <a:solidFill>
                  <a:schemeClr val="accent5"/>
                </a:solidFill>
              </a:rPr>
              <a:t> · l’objet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 flipH="1">
            <a:off x="8549640" y="2057400"/>
            <a:ext cx="457200" cy="1312164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9006840" y="1600200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144000" y="16459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aanhef</a:t>
            </a:r>
            <a:endParaRPr lang="en-US" sz="17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0" y="205740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d’appel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 flipH="1">
            <a:off x="8549640" y="3218688"/>
            <a:ext cx="457200" cy="1133856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9006840" y="2761488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0" y="280720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hoofdtekst</a:t>
            </a:r>
            <a:endParaRPr lang="en-US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9144000" y="32186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waarom?</a:t>
            </a:r>
            <a:r>
              <a:rPr lang="en-US" sz="1300" dirty="0">
                <a:solidFill>
                  <a:schemeClr val="accent5"/>
                </a:solidFill>
              </a:rPr>
              <a:t> · le corps du message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 flipH="1">
            <a:off x="8549640" y="4379976"/>
            <a:ext cx="457200" cy="955548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9006840" y="3922776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144000" y="396849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afsluiting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9144000" y="4379976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formule finale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 flipH="1">
            <a:off x="8549640" y="5541264"/>
            <a:ext cx="457200" cy="274320"/>
          </a:xfrm>
          <a:prstGeom prst="line">
            <a:avLst/>
          </a:prstGeom>
          <a:noFill/>
          <a:ln w="1587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9006840" y="5084064"/>
            <a:ext cx="2633472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9144000" y="512978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 handtekening</a:t>
            </a:r>
            <a:endParaRPr lang="en-US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9144000" y="5541264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la signature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16636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 : </a:t>
            </a:r>
            <a:r>
              <a:rPr lang="en-US" sz="1300" i="1" dirty="0">
                <a:solidFill>
                  <a:schemeClr val="accent5"/>
                </a:solidFill>
              </a:rPr>
              <a:t>de bestemmeling</a:t>
            </a:r>
            <a:r>
              <a:rPr lang="en-US" sz="1300" i="1" dirty="0">
                <a:solidFill>
                  <a:schemeClr val="accent5"/>
                </a:solidFill>
              </a:rPr>
              <a:t> = </a:t>
            </a:r>
            <a:r>
              <a:rPr lang="en-US" sz="1300" i="1" dirty="0">
                <a:solidFill>
                  <a:schemeClr val="accent5"/>
                </a:solidFill>
              </a:rPr>
              <a:t>de ontvanger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salutations (aanhef)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66176" y="1554480"/>
            <a:ext cx="146304" cy="3749040"/>
          </a:xfrm>
          <a:prstGeom prst="rect">
            <a:avLst/>
          </a:prstGeom>
          <a:solidFill>
            <a:srgbClr val="B8C2C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7240" y="16733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16733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heer, geachte mevrouw,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5135270" y="16733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inconnu (service, entreprise)</a:t>
            </a:r>
            <a:endParaRPr lang="en-US" sz="1300" dirty="0"/>
          </a:p>
        </p:txBody>
      </p:sp>
      <p:pic>
        <p:nvPicPr>
          <p:cNvPr id="10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764792"/>
            <a:ext cx="585216" cy="5852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7240" y="25877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960120" y="25877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Geachte mevrouw Claes, / Geachte heer Maes,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135270" y="25877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client, administration, 1er contact</a:t>
            </a:r>
            <a:endParaRPr lang="en-US" sz="1300" dirty="0"/>
          </a:p>
        </p:txBody>
      </p:sp>
      <p:pic>
        <p:nvPicPr>
          <p:cNvPr id="14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2679192"/>
            <a:ext cx="585216" cy="585216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35021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60120" y="35021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Beste mevrouw Janssens, / Beste Sofie,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135270" y="35021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collègue, cheffe, contact connu</a:t>
            </a:r>
            <a:endParaRPr lang="en-US" sz="1300" dirty="0"/>
          </a:p>
        </p:txBody>
      </p:sp>
      <p:pic>
        <p:nvPicPr>
          <p:cNvPr id="18" name="Image 2" descr="woman office wor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3593592"/>
            <a:ext cx="585216" cy="5852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777240" y="4416552"/>
            <a:ext cx="7406640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960120" y="4416552"/>
            <a:ext cx="408919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Hoi Lies, / Hallo Tom,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5135270" y="4416552"/>
            <a:ext cx="213421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ami·e, collègue proche</a:t>
            </a:r>
            <a:endParaRPr lang="en-US" sz="1300" dirty="0"/>
          </a:p>
        </p:txBody>
      </p:sp>
      <p:pic>
        <p:nvPicPr>
          <p:cNvPr id="22" name="Image 3" descr="people hugg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4507992"/>
            <a:ext cx="585216" cy="5852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41080" y="1600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▲ très formel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641080" y="48920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5B9BD5"/>
                </a:solidFill>
              </a:rPr>
              <a:t>▼ informel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8641080" y="2103120"/>
            <a:ext cx="299923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88239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0023" y="2403775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537192" y="224942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29" name="Text 21"/>
          <p:cNvSpPr txBox="1"/>
          <p:nvPr/>
        </p:nvSpPr>
        <p:spPr>
          <a:xfrm>
            <a:off x="8842248" y="2971800"/>
            <a:ext cx="259689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le plus courant en Flandre : il convient </a:t>
            </a:r>
            <a:r>
              <a:rPr lang="en-US" sz="1500" b="1" dirty="0">
                <a:solidFill>
                  <a:schemeClr val="tx1"/>
                </a:solidFill>
              </a:rPr>
              <a:t>presque partout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meneer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Geachte heer</a:t>
            </a:r>
            <a:r>
              <a:rPr lang="en-US" sz="1500" dirty="0">
                <a:solidFill>
                  <a:schemeClr val="tx1"/>
                </a:solidFill>
              </a:rPr>
              <a:t> + </a:t>
            </a:r>
            <a:r>
              <a:rPr lang="en-US" sz="1500" b="1" dirty="0">
                <a:solidFill>
                  <a:schemeClr val="tx1"/>
                </a:solidFill>
              </a:rPr>
              <a:t>nom de famille</a:t>
            </a:r>
            <a:endParaRPr lang="en-US" sz="1500" dirty="0"/>
          </a:p>
        </p:txBody>
      </p:sp>
      <p:sp>
        <p:nvSpPr>
          <p:cNvPr id="30" name="Shape 22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Après la formule : </a:t>
            </a:r>
            <a:r>
              <a:rPr lang="en-US" sz="1800" b="1" dirty="0">
                <a:solidFill>
                  <a:schemeClr val="bg1"/>
                </a:solidFill>
              </a:rPr>
              <a:t>virgule</a:t>
            </a:r>
            <a:r>
              <a:rPr lang="en-US" sz="1800" dirty="0">
                <a:solidFill>
                  <a:schemeClr val="bg1"/>
                </a:solidFill>
              </a:rPr>
              <a:t>, ligne vide, puis </a:t>
            </a:r>
            <a:r>
              <a:rPr lang="en-US" sz="1800" b="1" dirty="0">
                <a:solidFill>
                  <a:schemeClr val="bg1"/>
                </a:solidFill>
              </a:rPr>
              <a:t>majuscule</a:t>
            </a:r>
            <a:r>
              <a:rPr lang="en-US" sz="1800" dirty="0">
                <a:solidFill>
                  <a:schemeClr val="bg1"/>
                </a:solidFill>
              </a:rPr>
              <a:t>.   </a:t>
            </a:r>
            <a:r>
              <a:rPr lang="en-US" sz="1800" i="1" dirty="0">
                <a:solidFill>
                  <a:schemeClr val="bg1"/>
                </a:solidFill>
              </a:rPr>
              <a:t>Beste Sofie,</a:t>
            </a:r>
            <a:r>
              <a:rPr lang="en-US" sz="1800" dirty="0">
                <a:solidFill>
                  <a:schemeClr val="bg1"/>
                </a:solidFill>
              </a:rPr>
              <a:t> ↵ </a:t>
            </a:r>
            <a:r>
              <a:rPr lang="en-US" sz="1800" i="1" dirty="0">
                <a:solidFill>
                  <a:schemeClr val="bg1"/>
                </a:solidFill>
              </a:rPr>
              <a:t>Ik stuur je…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des clôtures (afsluiting)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733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6733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heer, geachte mevrouw,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160520" y="20574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4846320" y="16733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0" y="16733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9235440" y="16733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très formel (lettre officielle)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5877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5877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/ Beste mevrouw…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160520" y="29718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846320" y="25877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2A5A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29200" y="25877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Met vriendelijke groet(en)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5877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formel, le passe-partout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5021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5021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Beste Sofie,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160520" y="38862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4846320" y="35021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3F7FB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29200" y="35021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Vriendelijke groeten · Beste groeten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35021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neutre, collègues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4416552"/>
            <a:ext cx="3566160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4416552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Hoi Lies,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160520" y="4800600"/>
            <a:ext cx="640080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4846320" y="4416552"/>
            <a:ext cx="6793992" cy="768096"/>
          </a:xfrm>
          <a:prstGeom prst="roundRect">
            <a:avLst>
              <a:gd name="adj" fmla="val 9524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29200" y="4416552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Groetjes · Tot morgen! · Veel liefs · Kusjes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9235440" y="4416552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familier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2578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AANHEF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846320" y="525780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AFSLUITING (en miroir)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55778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+ slotzin</a:t>
            </a:r>
            <a:r>
              <a:rPr lang="en-US" sz="1600" dirty="0">
                <a:solidFill>
                  <a:schemeClr val="tx1"/>
                </a:solidFill>
              </a:rPr>
              <a:t> avant la formule : </a:t>
            </a:r>
            <a:r>
              <a:rPr lang="en-US" sz="1600" i="1" dirty="0">
                <a:solidFill>
                  <a:schemeClr val="tx1"/>
                </a:solidFill>
              </a:rPr>
              <a:t>Alvast bedankt.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Kusjes</a:t>
            </a:r>
            <a:r>
              <a:rPr lang="en-US" sz="1600" dirty="0">
                <a:solidFill>
                  <a:schemeClr val="tx1"/>
                </a:solidFill>
              </a:rPr>
              <a:t> = proches seulement · virgule finale facultative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la formule finale à la française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331720"/>
          </a:xfrm>
          <a:prstGeom prst="roundRect">
            <a:avLst>
              <a:gd name="adj" fmla="val 3137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« Veuillez agréer, Madame, l’expression de mes salutations distinguées. »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1635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3044952"/>
            <a:ext cx="10634472" cy="740664"/>
          </a:xfrm>
          <a:prstGeom prst="roundRect">
            <a:avLst>
              <a:gd name="adj" fmla="val 9877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3044952"/>
            <a:ext cx="1036015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Met vriendelijke groet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571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1879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526280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Chère Madame, » → </a:t>
            </a:r>
            <a:r>
              <a:rPr lang="en-US" sz="2000" i="1" strike="sngStrike" dirty="0">
                <a:solidFill>
                  <a:schemeClr val="accent6"/>
                </a:solidFill>
              </a:rPr>
              <a:t>Lieve mevrouw,</a:t>
            </a:r>
            <a:endParaRPr lang="en-US" sz="20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91947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48072"/>
            <a:ext cx="10634472" cy="374904"/>
          </a:xfrm>
          <a:prstGeom prst="roundRect">
            <a:avLst>
              <a:gd name="adj" fmla="val 1951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48072"/>
            <a:ext cx="10360152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Beste mevrouw Janssens,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Un e-mail formel néerlandais reste </a:t>
            </a:r>
            <a:r>
              <a:rPr lang="en-US" sz="1800" b="1" dirty="0">
                <a:solidFill>
                  <a:schemeClr val="bg1"/>
                </a:solidFill>
              </a:rPr>
              <a:t>court et direct</a:t>
            </a:r>
            <a:r>
              <a:rPr lang="en-US" sz="1800" dirty="0">
                <a:solidFill>
                  <a:schemeClr val="bg1"/>
                </a:solidFill>
              </a:rPr>
              <a:t>. </a:t>
            </a:r>
            <a:r>
              <a:rPr lang="en-US" sz="1800" i="1" dirty="0">
                <a:solidFill>
                  <a:schemeClr val="bg1"/>
                </a:solidFill>
              </a:rPr>
              <a:t>Lieve</a:t>
            </a:r>
            <a:r>
              <a:rPr lang="en-US" sz="1800" dirty="0">
                <a:solidFill>
                  <a:schemeClr val="bg1"/>
                </a:solidFill>
              </a:rPr>
              <a:t> = pour les proches.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5 blocs d’un e-mail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08760"/>
            <a:ext cx="640080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377440" y="1508760"/>
            <a:ext cx="640080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420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706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992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291840" y="150876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514600" y="20482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97480" y="20482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1717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171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20116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Aanhef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61120" y="20116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À qui 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514600" y="273405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2">
              <a:alpha val="15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697480" y="273405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u omdat…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2857500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28575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269748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Opening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61120" y="26974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Pourquoi j’écris ?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2514600" y="3419856"/>
            <a:ext cx="6126480" cy="1252728"/>
          </a:xfrm>
          <a:prstGeom prst="roundRect">
            <a:avLst>
              <a:gd name="adj" fmla="val 5839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97480" y="3419856"/>
            <a:ext cx="57607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Kunt u…?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8633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8633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960120" y="3383280"/>
            <a:ext cx="1371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Kern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8961120" y="3383280"/>
            <a:ext cx="2651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Quoi ?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2514600" y="4745736"/>
            <a:ext cx="6126480" cy="612648"/>
          </a:xfrm>
          <a:prstGeom prst="roundRect">
            <a:avLst>
              <a:gd name="adj" fmla="val 11940"/>
            </a:avLst>
          </a:prstGeom>
          <a:solidFill>
            <a:schemeClr val="accent3">
              <a:alpha val="15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97480" y="4745736"/>
            <a:ext cx="57607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Alvast bedankt. · Ik hoor graag van u.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486918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48691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960120" y="47091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Slotzin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8961120" y="4709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3"/>
                </a:solidFill>
              </a:rPr>
              <a:t>Et maintenant ?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2514600" y="5431536"/>
            <a:ext cx="6126480" cy="704088"/>
          </a:xfrm>
          <a:prstGeom prst="roundRect">
            <a:avLst>
              <a:gd name="adj" fmla="val 10390"/>
            </a:avLst>
          </a:prstGeom>
          <a:solidFill>
            <a:srgbClr val="6E4A9E">
              <a:alpha val="15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697480" y="5431536"/>
            <a:ext cx="57607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56007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56007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60120" y="539496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E4A9E"/>
                </a:solidFill>
              </a:rPr>
              <a:t>Afsluiting + naam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961120" y="539496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E4A9E"/>
                </a:solidFill>
              </a:rPr>
              <a:t>Qui signe ?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8961120" y="1554480"/>
            <a:ext cx="26791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En A1 : 5 à 8 lignes. Une ou deux phrases par bloc.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banque de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486400"/>
                <a:gridCol w="36850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Informeel</a:t>
                      </a:r>
                      <a:endParaRPr lang="en-US" sz="15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9BD5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② Opening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E5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Hartelijk dank voor uw mail.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schrijf u omdat…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Bedankt voor je mail!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Hoe gaat het met je?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③ Kern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C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wil graag een afspraak maken.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Kunt u mij … sturen?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In de bijlage vindt u…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Heb je morgen tijd?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Kun je me helpen?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Hier is…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1325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④ Slotzin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5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Alvast bedankt.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Ik hoor graag van u.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Als u vragen hebt, mag u me altijd bellen.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Laat je iets weten?</a:t>
                      </a: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
</a:t>
                      </a:r>
                      <a:r>
                        <a:rPr lang="en-US" sz="1700" i="1" dirty="0">
                          <a:solidFill>
                            <a:schemeClr val="tx1"/>
                          </a:solidFill>
                        </a:rPr>
                        <a:t>Tot morgen!</a:t>
                      </a:r>
                      <a:endParaRPr lang="en-US" sz="1700" dirty="0"/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064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de bijlage</a:t>
            </a:r>
            <a:r>
              <a:rPr lang="en-US" sz="1400" i="1" dirty="0">
                <a:solidFill>
                  <a:schemeClr val="accent5"/>
                </a:solidFill>
              </a:rPr>
              <a:t> = la pièce jointe · </a:t>
            </a:r>
            <a:r>
              <a:rPr lang="en-US" sz="1400" i="1" dirty="0">
                <a:solidFill>
                  <a:schemeClr val="accent5"/>
                </a:solidFill>
              </a:rPr>
              <a:t>Ik hoor graag van u</a:t>
            </a:r>
            <a:r>
              <a:rPr lang="en-US" sz="1400" i="1" dirty="0">
                <a:solidFill>
                  <a:schemeClr val="accent5"/>
                </a:solidFill>
              </a:rPr>
              <a:t> = dans l’attente de votre réponse · </a:t>
            </a:r>
            <a:r>
              <a:rPr lang="en-US" sz="1400" i="1" dirty="0">
                <a:solidFill>
                  <a:schemeClr val="accent5"/>
                </a:solidFill>
              </a:rPr>
              <a:t>Als u vragen hebt…</a:t>
            </a:r>
            <a:r>
              <a:rPr lang="en-US" sz="1400" i="1" dirty="0">
                <a:solidFill>
                  <a:schemeClr val="accent5"/>
                </a:solidFill>
              </a:rPr>
              <a:t> = inversion après </a:t>
            </a:r>
            <a:r>
              <a:rPr lang="en-US" sz="1400" i="1" dirty="0">
                <a:solidFill>
                  <a:schemeClr val="accent5"/>
                </a:solidFill>
              </a:rPr>
              <a:t>als</a:t>
            </a:r>
            <a:r>
              <a:rPr lang="en-US" sz="1400" i="1" dirty="0">
                <a:solidFill>
                  <a:schemeClr val="accent5"/>
                </a:solidFill>
              </a:rPr>
              <a:t> (M9)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1 — prévenir qu’on est malade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Van: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karim.benali@peetersco.be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an.janssens@peetersco.be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26243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920240" y="262432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Ziek vandaag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85800" y="2990088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85800" y="3136392"/>
            <a:ext cx="109728" cy="446581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68680" y="320423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8680" y="32042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108960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Janssens,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85800" y="3637837"/>
            <a:ext cx="109728" cy="446581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68680" y="37056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8680" y="3705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325880" y="3610405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vandaag helaas ziek: ik heb koorts.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685800" y="4139282"/>
            <a:ext cx="109728" cy="797593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68680" y="438263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8680" y="438263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1325880" y="4111850"/>
            <a:ext cx="6720840" cy="852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dus niet naar de vergadering van 14 uur komen. Sofie Peeters heeft de documenten.</a:t>
            </a:r>
            <a:endParaRPr lang="en-US" sz="1800" dirty="0"/>
          </a:p>
        </p:txBody>
      </p:sp>
      <p:sp>
        <p:nvSpPr>
          <p:cNvPr id="30" name="Shape 27"/>
          <p:cNvSpPr/>
          <p:nvPr/>
        </p:nvSpPr>
        <p:spPr>
          <a:xfrm>
            <a:off x="685800" y="4991739"/>
            <a:ext cx="109728" cy="446581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68680" y="5059582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68680" y="505958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325880" y="4964307"/>
            <a:ext cx="6720840" cy="5014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Morgen bel ik u.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685800" y="5493184"/>
            <a:ext cx="109728" cy="6973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68680" y="56863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8680" y="56863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325880" y="5465752"/>
            <a:ext cx="6720840" cy="752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Karim Benali · Boekhouder, Peeters &amp; Co</a:t>
            </a:r>
            <a:endParaRPr lang="en-US" sz="1800" dirty="0"/>
          </a:p>
        </p:txBody>
      </p:sp>
      <p:pic>
        <p:nvPicPr>
          <p:cNvPr id="38" name="Image 0" descr="face with thermome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1600200"/>
            <a:ext cx="2011680" cy="2011680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8503920" y="3794760"/>
            <a:ext cx="3136392" cy="2468880"/>
          </a:xfrm>
          <a:prstGeom prst="roundRect">
            <a:avLst>
              <a:gd name="adj" fmla="val 37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8686800" y="395935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4095415"/>
            <a:ext cx="294803" cy="294803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9400032" y="39410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Beste</a:t>
            </a:r>
            <a:endParaRPr lang="en-US" sz="1900" dirty="0"/>
          </a:p>
        </p:txBody>
      </p:sp>
      <p:sp>
        <p:nvSpPr>
          <p:cNvPr id="43" name="Text 38"/>
          <p:cNvSpPr txBox="1"/>
          <p:nvPr/>
        </p:nvSpPr>
        <p:spPr>
          <a:xfrm>
            <a:off x="8705088" y="4663440"/>
            <a:ext cx="2734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et non </a:t>
            </a:r>
            <a:r>
              <a:rPr lang="en-US" sz="1500" i="1" dirty="0">
                <a:solidFill>
                  <a:schemeClr val="tx1"/>
                </a:solidFill>
              </a:rPr>
              <a:t>Geachte</a:t>
            </a:r>
            <a:r>
              <a:rPr lang="en-US" sz="1500" dirty="0">
                <a:solidFill>
                  <a:schemeClr val="tx1"/>
                </a:solidFill>
              </a:rPr>
              <a:t> : c’est sa </a:t>
            </a:r>
            <a:r>
              <a:rPr lang="en-US" sz="1500" b="1" dirty="0">
                <a:solidFill>
                  <a:schemeClr val="tx1"/>
                </a:solidFill>
              </a:rPr>
              <a:t>cheffe directe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Pince : </a:t>
            </a:r>
            <a:r>
              <a:rPr lang="en-US" sz="1500" i="1" dirty="0">
                <a:solidFill>
                  <a:schemeClr val="tx1"/>
                </a:solidFill>
              </a:rPr>
              <a:t>kan … komen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2 — proposer un rendez-vous (formel)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j.maes@maesbouw.be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Afspraak dinsdag 12 mei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2938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66451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6645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291454"/>
            <a:ext cx="109728" cy="42938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506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50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64022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Hartelijk dank voor uw mail.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775699"/>
            <a:ext cx="109728" cy="1204175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22339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2233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748267"/>
            <a:ext cx="6720840" cy="125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wil graag een afspraak met u maken. We moeten over de facturen praten. Past </a:t>
            </a:r>
            <a:r>
              <a:rPr lang="en-US" sz="1800" b="1" i="1" dirty="0">
                <a:solidFill>
                  <a:schemeClr val="accent1"/>
                </a:solidFill>
              </a:rPr>
              <a:t>dinsdag 12 mei om 10 uur</a:t>
            </a:r>
            <a:r>
              <a:rPr lang="en-US" sz="1800" i="1" dirty="0">
                <a:solidFill>
                  <a:schemeClr val="tx1"/>
                </a:solidFill>
              </a:rPr>
              <a:t> voor u? Ons kantoor is in de Wetstraat 25 in Brussel.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5034738"/>
            <a:ext cx="109728" cy="42938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93981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9398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5007306"/>
            <a:ext cx="6720840" cy="4842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518984"/>
            <a:ext cx="109728" cy="67150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99288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992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91552"/>
            <a:ext cx="6720840" cy="726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 · Karim Benali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i="1" dirty="0">
                <a:solidFill>
                  <a:schemeClr val="tx1"/>
                </a:solidFill>
              </a:rPr>
              <a:t>Boekhouder, Peeters &amp; Co · 02 123 45 67</a:t>
            </a:r>
            <a:endParaRPr lang="en-US" sz="1800" dirty="0"/>
          </a:p>
        </p:txBody>
      </p:sp>
      <p:pic>
        <p:nvPicPr>
          <p:cNvPr id="36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1600200"/>
            <a:ext cx="1828800" cy="182880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8503920" y="3611880"/>
            <a:ext cx="3136392" cy="2651760"/>
          </a:xfrm>
          <a:prstGeom prst="roundRect">
            <a:avLst>
              <a:gd name="adj" fmla="val 3448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8686800" y="37764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1" descr="Commen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863" y="3912535"/>
            <a:ext cx="294803" cy="294803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9400032" y="375818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À l’oral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8705088" y="4480560"/>
            <a:ext cx="2734056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Past … voor u?</a:t>
            </a:r>
            <a:r>
              <a:rPr lang="en-US" sz="1500" dirty="0">
                <a:solidFill>
                  <a:schemeClr val="tx1"/>
                </a:solidFill>
              </a:rPr>
              <a:t> = Est-ce que … vous convient ?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dinsdag twaalf mei om tien uur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Modèle 3 — inviter une collègue (informel)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7680960" cy="47548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76809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13232" y="1636776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41832" y="1636776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70432" y="1636776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463040" y="1508760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196596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Aan: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920240" y="1965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sofie.peeters@peetersco.be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95144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Onderwerp: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920240" y="2295144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Lunch vrijdag?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85800" y="2660904"/>
            <a:ext cx="74066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85800" y="2807208"/>
            <a:ext cx="109728" cy="458292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68680" y="288090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288090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2779776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Hoi Sofie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85800" y="3320364"/>
            <a:ext cx="109728" cy="4582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68680" y="339406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68680" y="33940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3292932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Hoe gaat het met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85800" y="3833520"/>
            <a:ext cx="109728" cy="1074079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68680" y="4215111"/>
            <a:ext cx="310896" cy="31089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" y="421511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3806088"/>
            <a:ext cx="6720840" cy="1128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Vrijdag is mijn verjaardag! Ik trakteer op een lunch in de brasserie naast het kantoor. Heb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om 12.30 uur tijd?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85800" y="4962462"/>
            <a:ext cx="109728" cy="458292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68680" y="5036160"/>
            <a:ext cx="310896" cy="31089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036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935030"/>
            <a:ext cx="6720840" cy="513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Laat </a:t>
            </a:r>
            <a:r>
              <a:rPr lang="en-US" sz="1800" b="1" i="1" dirty="0">
                <a:solidFill>
                  <a:schemeClr val="tx1"/>
                </a:solidFill>
              </a:rPr>
              <a:t>je</a:t>
            </a:r>
            <a:r>
              <a:rPr lang="en-US" sz="1800" i="1" dirty="0">
                <a:solidFill>
                  <a:schemeClr val="tx1"/>
                </a:solidFill>
              </a:rPr>
              <a:t> iets weten?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685800" y="5475618"/>
            <a:ext cx="109728" cy="71487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68680" y="5677605"/>
            <a:ext cx="310896" cy="310896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68680" y="56776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5" name="Text 32"/>
          <p:cNvSpPr txBox="1"/>
          <p:nvPr/>
        </p:nvSpPr>
        <p:spPr>
          <a:xfrm>
            <a:off x="1325880" y="5448186"/>
            <a:ext cx="6720840" cy="769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Groetjes</a:t>
            </a:r>
            <a:r>
              <a:rPr lang="en-US" sz="1800" dirty="0">
                <a:solidFill>
                  <a:schemeClr val="tx1"/>
                </a:solidFill>
              </a:rPr>
              <a:t>
</a:t>
            </a:r>
            <a:r>
              <a:rPr lang="en-US" sz="1800" b="1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pic>
        <p:nvPicPr>
          <p:cNvPr id="36" name="Image 0" descr="birthday c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1645920"/>
            <a:ext cx="1371600" cy="1371600"/>
          </a:xfrm>
          <a:prstGeom prst="rect">
            <a:avLst/>
          </a:prstGeom>
        </p:spPr>
      </p:pic>
      <p:pic>
        <p:nvPicPr>
          <p:cNvPr id="37" name="Image 1" descr="fork and knife with pl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1920240"/>
            <a:ext cx="1188720" cy="1188720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8503920" y="3337560"/>
            <a:ext cx="3136392" cy="2926080"/>
          </a:xfrm>
          <a:prstGeom prst="roundRect">
            <a:avLst>
              <a:gd name="adj" fmla="val 3125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4"/>
          <p:cNvSpPr/>
          <p:nvPr/>
        </p:nvSpPr>
        <p:spPr>
          <a:xfrm>
            <a:off x="8686800" y="3502152"/>
            <a:ext cx="566928" cy="566928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2" descr="Sliders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2863" y="3638215"/>
            <a:ext cx="294803" cy="294803"/>
          </a:xfrm>
          <a:prstGeom prst="rect">
            <a:avLst/>
          </a:prstGeom>
        </p:spPr>
      </p:pic>
      <p:sp>
        <p:nvSpPr>
          <p:cNvPr id="41" name="Text 35"/>
          <p:cNvSpPr txBox="1"/>
          <p:nvPr/>
        </p:nvSpPr>
        <p:spPr>
          <a:xfrm>
            <a:off x="9400032" y="3483864"/>
            <a:ext cx="2103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5B9BD5"/>
                </a:solidFill>
              </a:rPr>
              <a:t>Comparez</a:t>
            </a:r>
            <a:endParaRPr lang="en-US" sz="1900" dirty="0"/>
          </a:p>
        </p:txBody>
      </p:sp>
      <p:sp>
        <p:nvSpPr>
          <p:cNvPr id="42" name="Text 36"/>
          <p:cNvSpPr txBox="1"/>
          <p:nvPr/>
        </p:nvSpPr>
        <p:spPr>
          <a:xfrm>
            <a:off x="8705088" y="4206240"/>
            <a:ext cx="273405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Même structure en </a:t>
            </a:r>
            <a:r>
              <a:rPr lang="en-US" sz="1500" b="1" dirty="0">
                <a:solidFill>
                  <a:schemeClr val="tx1"/>
                </a:solidFill>
              </a:rPr>
              <a:t>5 blocs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Seuls les </a:t>
            </a:r>
            <a:r>
              <a:rPr lang="en-US" sz="1500" b="1" dirty="0">
                <a:solidFill>
                  <a:schemeClr val="tx1"/>
                </a:solidFill>
              </a:rPr>
              <a:t>curseurs</a:t>
            </a:r>
            <a:r>
              <a:rPr lang="en-US" sz="1500" dirty="0">
                <a:solidFill>
                  <a:schemeClr val="tx1"/>
                </a:solidFill>
              </a:rPr>
              <a:t> du registre changent (M8).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trakteren</a:t>
            </a:r>
            <a:r>
              <a:rPr lang="en-US" sz="1500" dirty="0">
                <a:solidFill>
                  <a:schemeClr val="tx1"/>
                </a:solidFill>
              </a:rPr>
              <a:t> = offrir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L’objet et les boutons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L’OBJET (</a:t>
            </a:r>
            <a:r>
              <a:rPr lang="en-US" sz="1700" i="1" dirty="0">
                <a:solidFill>
                  <a:schemeClr val="tx2"/>
                </a:solidFill>
              </a:rPr>
              <a:t>het onderwerp</a:t>
            </a:r>
            <a:r>
              <a:rPr lang="en-US" sz="1700" dirty="0">
                <a:solidFill>
                  <a:schemeClr val="tx2"/>
                </a:solidFill>
              </a:rPr>
              <a:t>) : </a:t>
            </a:r>
            <a:r>
              <a:rPr lang="en-US" sz="1700" b="1" dirty="0">
                <a:solidFill>
                  <a:schemeClr val="tx2"/>
                </a:solidFill>
              </a:rPr>
              <a:t>court</a:t>
            </a:r>
            <a:r>
              <a:rPr lang="en-US" sz="1700" dirty="0">
                <a:solidFill>
                  <a:schemeClr val="tx2"/>
                </a:solidFill>
              </a:rPr>
              <a:t> (2 à 6 mots), </a:t>
            </a:r>
            <a:r>
              <a:rPr lang="en-US" sz="1700" b="1" dirty="0">
                <a:solidFill>
                  <a:schemeClr val="tx2"/>
                </a:solidFill>
              </a:rPr>
              <a:t>précis</a:t>
            </a:r>
            <a:r>
              <a:rPr lang="en-US" sz="1700" dirty="0">
                <a:solidFill>
                  <a:schemeClr val="tx2"/>
                </a:solidFill>
              </a:rPr>
              <a:t>, pas de phrase complète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7" name="Image 0" descr="Tim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212848"/>
            <a:ext cx="256032" cy="25603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0574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(geen onderwerp)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548640" y="27432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0" name="Image 1" descr="Tim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898648"/>
            <a:ext cx="256032" cy="2560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27432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Vraag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48640" y="3429000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13" name="Image 2" descr="Tim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584448"/>
            <a:ext cx="256032" cy="25603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3429000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Hallo!</a:t>
            </a:r>
            <a:endParaRPr lang="en-US" sz="1800" dirty="0"/>
          </a:p>
        </p:txBody>
      </p:sp>
      <p:pic>
        <p:nvPicPr>
          <p:cNvPr id="15" name="Image 3" descr="Arrow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2697480"/>
            <a:ext cx="457200" cy="45720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760720" y="20574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17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2" y="2212848"/>
            <a:ext cx="256032" cy="25603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309360" y="20574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Ziek vandaag</a:t>
            </a:r>
            <a:endParaRPr lang="en-US" sz="1800" dirty="0"/>
          </a:p>
        </p:txBody>
      </p:sp>
      <p:sp>
        <p:nvSpPr>
          <p:cNvPr id="19" name="Shape 11"/>
          <p:cNvSpPr/>
          <p:nvPr/>
        </p:nvSpPr>
        <p:spPr>
          <a:xfrm>
            <a:off x="5760720" y="27432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0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5312" y="2898648"/>
            <a:ext cx="256032" cy="2560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6309360" y="27432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Afspraak dinsdag 12 mei</a:t>
            </a:r>
            <a:endParaRPr lang="en-US" sz="1800" dirty="0"/>
          </a:p>
        </p:txBody>
      </p:sp>
      <p:sp>
        <p:nvSpPr>
          <p:cNvPr id="22" name="Shape 13"/>
          <p:cNvSpPr/>
          <p:nvPr/>
        </p:nvSpPr>
        <p:spPr>
          <a:xfrm>
            <a:off x="5760720" y="3429000"/>
            <a:ext cx="5879592" cy="566928"/>
          </a:xfrm>
          <a:prstGeom prst="roundRect">
            <a:avLst>
              <a:gd name="adj" fmla="val 12903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pic>
        <p:nvPicPr>
          <p:cNvPr id="23" name="Image 6" descr="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5312" y="3584448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6309360" y="3429000"/>
            <a:ext cx="5212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Vraag over factuur 2026-118</a:t>
            </a:r>
            <a:endParaRPr lang="en-US" sz="1800" dirty="0"/>
          </a:p>
        </p:txBody>
      </p:sp>
      <p:sp>
        <p:nvSpPr>
          <p:cNvPr id="25" name="Shape 15"/>
          <p:cNvSpPr/>
          <p:nvPr/>
        </p:nvSpPr>
        <p:spPr>
          <a:xfrm>
            <a:off x="548640" y="4343400"/>
            <a:ext cx="11091672" cy="1920240"/>
          </a:xfrm>
          <a:prstGeom prst="roundRect">
            <a:avLst>
              <a:gd name="adj" fmla="val 3810"/>
            </a:avLst>
          </a:prstGeom>
          <a:solidFill>
            <a:srgbClr val="E6EBF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731520" y="440740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BOUTONS</a:t>
            </a:r>
            <a:endParaRPr lang="en-US" sz="1200" dirty="0"/>
          </a:p>
        </p:txBody>
      </p:sp>
      <p:sp>
        <p:nvSpPr>
          <p:cNvPr id="27" name="Shape 17"/>
          <p:cNvSpPr/>
          <p:nvPr/>
        </p:nvSpPr>
        <p:spPr>
          <a:xfrm>
            <a:off x="731520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18"/>
          <p:cNvSpPr/>
          <p:nvPr/>
        </p:nvSpPr>
        <p:spPr>
          <a:xfrm>
            <a:off x="1474927" y="487375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7" descr="PaperPla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6601" y="5005426"/>
            <a:ext cx="285293" cy="285293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731520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Verzenden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731520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envoyer</a:t>
            </a:r>
            <a:endParaRPr lang="en-US" sz="1300" dirty="0"/>
          </a:p>
        </p:txBody>
      </p:sp>
      <p:sp>
        <p:nvSpPr>
          <p:cNvPr id="32" name="Shape 21"/>
          <p:cNvSpPr/>
          <p:nvPr/>
        </p:nvSpPr>
        <p:spPr>
          <a:xfrm>
            <a:off x="2904134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2"/>
          <p:cNvSpPr/>
          <p:nvPr/>
        </p:nvSpPr>
        <p:spPr>
          <a:xfrm>
            <a:off x="3647542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8" descr="Repl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79215" y="5005426"/>
            <a:ext cx="285293" cy="285293"/>
          </a:xfrm>
          <a:prstGeom prst="rect">
            <a:avLst/>
          </a:prstGeom>
        </p:spPr>
      </p:pic>
      <p:sp>
        <p:nvSpPr>
          <p:cNvPr id="35" name="Text 23"/>
          <p:cNvSpPr txBox="1"/>
          <p:nvPr/>
        </p:nvSpPr>
        <p:spPr>
          <a:xfrm>
            <a:off x="2904134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Beantwoorden</a:t>
            </a:r>
            <a:endParaRPr lang="en-US" sz="1500" dirty="0"/>
          </a:p>
        </p:txBody>
      </p:sp>
      <p:sp>
        <p:nvSpPr>
          <p:cNvPr id="36" name="Text 24"/>
          <p:cNvSpPr txBox="1"/>
          <p:nvPr/>
        </p:nvSpPr>
        <p:spPr>
          <a:xfrm>
            <a:off x="2904134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</a:t>
            </a:r>
            <a:endParaRPr lang="en-US" sz="1300" dirty="0"/>
          </a:p>
        </p:txBody>
      </p:sp>
      <p:sp>
        <p:nvSpPr>
          <p:cNvPr id="37" name="Shape 25"/>
          <p:cNvSpPr/>
          <p:nvPr/>
        </p:nvSpPr>
        <p:spPr>
          <a:xfrm>
            <a:off x="5076749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26"/>
          <p:cNvSpPr/>
          <p:nvPr/>
        </p:nvSpPr>
        <p:spPr>
          <a:xfrm>
            <a:off x="5820156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9" descr="ReplyAl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51830" y="5005426"/>
            <a:ext cx="285293" cy="285293"/>
          </a:xfrm>
          <a:prstGeom prst="rect">
            <a:avLst/>
          </a:prstGeom>
        </p:spPr>
      </p:pic>
      <p:sp>
        <p:nvSpPr>
          <p:cNvPr id="40" name="Text 27"/>
          <p:cNvSpPr txBox="1"/>
          <p:nvPr/>
        </p:nvSpPr>
        <p:spPr>
          <a:xfrm>
            <a:off x="5076749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Allen beantwoorden</a:t>
            </a:r>
            <a:endParaRPr lang="en-US" sz="1200" dirty="0"/>
          </a:p>
        </p:txBody>
      </p:sp>
      <p:sp>
        <p:nvSpPr>
          <p:cNvPr id="41" name="Text 28"/>
          <p:cNvSpPr txBox="1"/>
          <p:nvPr/>
        </p:nvSpPr>
        <p:spPr>
          <a:xfrm>
            <a:off x="5076749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répondre à tous</a:t>
            </a:r>
            <a:endParaRPr lang="en-US" sz="1300" dirty="0"/>
          </a:p>
        </p:txBody>
      </p:sp>
      <p:sp>
        <p:nvSpPr>
          <p:cNvPr id="42" name="Shape 29"/>
          <p:cNvSpPr/>
          <p:nvPr/>
        </p:nvSpPr>
        <p:spPr>
          <a:xfrm>
            <a:off x="7249363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Shape 30"/>
          <p:cNvSpPr/>
          <p:nvPr/>
        </p:nvSpPr>
        <p:spPr>
          <a:xfrm>
            <a:off x="7992770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10" descr="Sh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24444" y="5005426"/>
            <a:ext cx="285293" cy="285293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7249363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Doorsturen</a:t>
            </a:r>
            <a:endParaRPr lang="en-US" sz="1500" dirty="0"/>
          </a:p>
        </p:txBody>
      </p:sp>
      <p:sp>
        <p:nvSpPr>
          <p:cNvPr id="46" name="Text 32"/>
          <p:cNvSpPr txBox="1"/>
          <p:nvPr/>
        </p:nvSpPr>
        <p:spPr>
          <a:xfrm>
            <a:off x="7249363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transférer</a:t>
            </a:r>
            <a:endParaRPr lang="en-US" sz="1300" dirty="0"/>
          </a:p>
        </p:txBody>
      </p:sp>
      <p:sp>
        <p:nvSpPr>
          <p:cNvPr id="47" name="Shape 33"/>
          <p:cNvSpPr/>
          <p:nvPr/>
        </p:nvSpPr>
        <p:spPr>
          <a:xfrm>
            <a:off x="9421978" y="4800600"/>
            <a:ext cx="2035454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8" name="Shape 34"/>
          <p:cNvSpPr/>
          <p:nvPr/>
        </p:nvSpPr>
        <p:spPr>
          <a:xfrm>
            <a:off x="10165385" y="4873752"/>
            <a:ext cx="548640" cy="54864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9" name="Image 11" descr="Papercli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297058" y="5005426"/>
            <a:ext cx="285293" cy="285293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9421978" y="5440680"/>
            <a:ext cx="20354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Bijlage toevoegen</a:t>
            </a:r>
            <a:endParaRPr lang="en-US" sz="1200" dirty="0"/>
          </a:p>
        </p:txBody>
      </p:sp>
      <p:sp>
        <p:nvSpPr>
          <p:cNvPr id="51" name="Text 36"/>
          <p:cNvSpPr txBox="1"/>
          <p:nvPr/>
        </p:nvSpPr>
        <p:spPr>
          <a:xfrm>
            <a:off x="9421978" y="5760720"/>
            <a:ext cx="20354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joindre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checklist avant d’envoyer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gSqu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47088"/>
            <a:ext cx="411480" cy="411480"/>
          </a:xfrm>
          <a:prstGeom prst="rect">
            <a:avLst/>
          </a:prstGeom>
        </p:spPr>
      </p:pic>
      <p:pic>
        <p:nvPicPr>
          <p:cNvPr id="7" name="Image 1" descr="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892808"/>
            <a:ext cx="320040" cy="320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783080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Onderwerp</a:t>
            </a:r>
            <a:r>
              <a:rPr lang="en-US" sz="1600" dirty="0">
                <a:solidFill>
                  <a:schemeClr val="tx1"/>
                </a:solidFill>
              </a:rPr>
              <a:t> court et précis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2" descr="RegSqua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944368"/>
            <a:ext cx="411480" cy="411480"/>
          </a:xfrm>
          <a:prstGeom prst="rect">
            <a:avLst/>
          </a:prstGeom>
        </p:spPr>
      </p:pic>
      <p:pic>
        <p:nvPicPr>
          <p:cNvPr id="11" name="Image 3" descr="UserT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2990088"/>
            <a:ext cx="320040" cy="3200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83080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Aanhef</a:t>
            </a:r>
            <a:r>
              <a:rPr lang="en-US" sz="1600" dirty="0">
                <a:solidFill>
                  <a:schemeClr val="tx1"/>
                </a:solidFill>
              </a:rPr>
              <a:t> adapté au destinataire (</a:t>
            </a:r>
            <a:r>
              <a:rPr lang="en-US" sz="1600" i="1" dirty="0">
                <a:solidFill>
                  <a:schemeClr val="tx1"/>
                </a:solidFill>
              </a:rPr>
              <a:t>Hoi / Beste / Geachte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48640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4" descr="Reg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411480" cy="411480"/>
          </a:xfrm>
          <a:prstGeom prst="rect">
            <a:avLst/>
          </a:prstGeom>
        </p:spPr>
      </p:pic>
      <p:pic>
        <p:nvPicPr>
          <p:cNvPr id="15" name="Image 5" descr="Slider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5880" y="4087368"/>
            <a:ext cx="320040" cy="320040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783080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1"/>
                </a:solidFill>
              </a:rPr>
              <a:t>je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: le même partout, avec le bon possessif (</a:t>
            </a:r>
            <a:r>
              <a:rPr lang="en-US" sz="1600" i="1" dirty="0">
                <a:solidFill>
                  <a:schemeClr val="tx1"/>
                </a:solidFill>
              </a:rPr>
              <a:t>je / uw</a:t>
            </a:r>
            <a:r>
              <a:rPr lang="en-US" sz="1600" dirty="0">
                <a:solidFill>
                  <a:schemeClr val="tx1"/>
                </a:solidFill>
              </a:rPr>
              <a:t>) — M8</a:t>
            </a:r>
            <a:endParaRPr lang="en-US" sz="1600" dirty="0"/>
          </a:p>
        </p:txBody>
      </p:sp>
      <p:sp>
        <p:nvSpPr>
          <p:cNvPr id="17" name="Shape 8"/>
          <p:cNvSpPr/>
          <p:nvPr/>
        </p:nvSpPr>
        <p:spPr>
          <a:xfrm>
            <a:off x="548640" y="486460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6" descr="RegSquar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5138928"/>
            <a:ext cx="411480" cy="411480"/>
          </a:xfrm>
          <a:prstGeom prst="rect">
            <a:avLst/>
          </a:prstGeom>
        </p:spPr>
      </p:pic>
      <p:pic>
        <p:nvPicPr>
          <p:cNvPr id="19" name="Image 7" descr="ExchangeAl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880" y="5184648"/>
            <a:ext cx="320040" cy="32004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783080" y="486460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Verbe</a:t>
            </a:r>
            <a:r>
              <a:rPr lang="en-US" sz="1600" dirty="0">
                <a:solidFill>
                  <a:schemeClr val="tx1"/>
                </a:solidFill>
              </a:rPr>
              <a:t> en 2e position… et à la fin après </a:t>
            </a:r>
            <a:r>
              <a:rPr lang="en-US" sz="1600" i="1" dirty="0">
                <a:solidFill>
                  <a:schemeClr val="tx1"/>
                </a:solidFill>
              </a:rPr>
              <a:t>omdat, dat, als</a:t>
            </a:r>
            <a:r>
              <a:rPr lang="en-US" sz="1600" dirty="0">
                <a:solidFill>
                  <a:schemeClr val="tx1"/>
                </a:solidFill>
              </a:rPr>
              <a:t> — M3, M9</a:t>
            </a:r>
            <a:endParaRPr lang="en-US" sz="1600" dirty="0"/>
          </a:p>
        </p:txBody>
      </p:sp>
      <p:sp>
        <p:nvSpPr>
          <p:cNvPr id="21" name="Shape 10"/>
          <p:cNvSpPr/>
          <p:nvPr/>
        </p:nvSpPr>
        <p:spPr>
          <a:xfrm>
            <a:off x="6199632" y="157276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8" descr="RegSqua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82512" y="1847088"/>
            <a:ext cx="411480" cy="411480"/>
          </a:xfrm>
          <a:prstGeom prst="rect">
            <a:avLst/>
          </a:prstGeom>
        </p:spPr>
      </p:pic>
      <p:pic>
        <p:nvPicPr>
          <p:cNvPr id="23" name="Image 9" descr="CommentDot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76872" y="1892808"/>
            <a:ext cx="320040" cy="320040"/>
          </a:xfrm>
          <a:prstGeom prst="rect">
            <a:avLst/>
          </a:prstGeom>
        </p:spPr>
      </p:pic>
      <p:sp>
        <p:nvSpPr>
          <p:cNvPr id="24" name="Text 11"/>
          <p:cNvSpPr txBox="1"/>
          <p:nvPr/>
        </p:nvSpPr>
        <p:spPr>
          <a:xfrm>
            <a:off x="7434072" y="157276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Slotzin</a:t>
            </a:r>
            <a:r>
              <a:rPr lang="en-US" sz="1600" dirty="0">
                <a:solidFill>
                  <a:schemeClr val="tx1"/>
                </a:solidFill>
              </a:rPr>
              <a:t> (</a:t>
            </a:r>
            <a:r>
              <a:rPr lang="en-US" sz="1600" i="1" dirty="0">
                <a:solidFill>
                  <a:schemeClr val="tx1"/>
                </a:solidFill>
              </a:rPr>
              <a:t>Alvast bedankt. / Ik hoor graag van u.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25" name="Shape 12"/>
          <p:cNvSpPr/>
          <p:nvPr/>
        </p:nvSpPr>
        <p:spPr>
          <a:xfrm>
            <a:off x="6199632" y="267004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0" descr="RegSquar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82512" y="2944368"/>
            <a:ext cx="411480" cy="411480"/>
          </a:xfrm>
          <a:prstGeom prst="rect">
            <a:avLst/>
          </a:prstGeom>
        </p:spPr>
      </p:pic>
      <p:pic>
        <p:nvPicPr>
          <p:cNvPr id="27" name="Image 11" descr="SortAmountUp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872" y="2990088"/>
            <a:ext cx="320040" cy="320040"/>
          </a:xfrm>
          <a:prstGeom prst="rect">
            <a:avLst/>
          </a:prstGeom>
        </p:spPr>
      </p:pic>
      <p:sp>
        <p:nvSpPr>
          <p:cNvPr id="28" name="Text 13"/>
          <p:cNvSpPr txBox="1"/>
          <p:nvPr/>
        </p:nvSpPr>
        <p:spPr>
          <a:xfrm>
            <a:off x="7434072" y="267004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Afsluiting</a:t>
            </a:r>
            <a:r>
              <a:rPr lang="en-US" sz="1600" dirty="0">
                <a:solidFill>
                  <a:schemeClr val="tx1"/>
                </a:solidFill>
              </a:rPr>
              <a:t> en miroir de l’aanhef</a:t>
            </a:r>
            <a:endParaRPr lang="en-US" sz="1600" dirty="0"/>
          </a:p>
        </p:txBody>
      </p:sp>
      <p:sp>
        <p:nvSpPr>
          <p:cNvPr id="29" name="Shape 14"/>
          <p:cNvSpPr/>
          <p:nvPr/>
        </p:nvSpPr>
        <p:spPr>
          <a:xfrm>
            <a:off x="6199632" y="3767328"/>
            <a:ext cx="5440680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12" descr="RegSquar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2512" y="4041648"/>
            <a:ext cx="411480" cy="411480"/>
          </a:xfrm>
          <a:prstGeom prst="rect">
            <a:avLst/>
          </a:prstGeom>
        </p:spPr>
      </p:pic>
      <p:pic>
        <p:nvPicPr>
          <p:cNvPr id="31" name="Image 13" descr="Paperclip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76872" y="4087368"/>
            <a:ext cx="320040" cy="320040"/>
          </a:xfrm>
          <a:prstGeom prst="rect">
            <a:avLst/>
          </a:prstGeom>
        </p:spPr>
      </p:pic>
      <p:sp>
        <p:nvSpPr>
          <p:cNvPr id="32" name="Text 15"/>
          <p:cNvSpPr txBox="1"/>
          <p:nvPr/>
        </p:nvSpPr>
        <p:spPr>
          <a:xfrm>
            <a:off x="7434072" y="3767328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Naam</a:t>
            </a:r>
            <a:r>
              <a:rPr lang="en-US" sz="1600" dirty="0">
                <a:solidFill>
                  <a:schemeClr val="tx1"/>
                </a:solidFill>
              </a:rPr>
              <a:t> (+ fonction en formel) · </a:t>
            </a:r>
            <a:r>
              <a:rPr lang="en-US" sz="1600" b="1" dirty="0">
                <a:solidFill>
                  <a:schemeClr val="tx1"/>
                </a:solidFill>
              </a:rPr>
              <a:t>bijlage</a:t>
            </a:r>
            <a:r>
              <a:rPr lang="en-US" sz="1600" dirty="0">
                <a:solidFill>
                  <a:schemeClr val="tx1"/>
                </a:solidFill>
              </a:rPr>
              <a:t> jointe ?</a:t>
            </a:r>
            <a:endParaRPr lang="en-US" sz="1600" dirty="0"/>
          </a:p>
        </p:txBody>
      </p:sp>
      <p:sp>
        <p:nvSpPr>
          <p:cNvPr id="33" name="Shape 16"/>
          <p:cNvSpPr/>
          <p:nvPr/>
        </p:nvSpPr>
        <p:spPr>
          <a:xfrm>
            <a:off x="6199632" y="4937760"/>
            <a:ext cx="5440680" cy="9144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14" descr="PaperPlan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589520" y="5184648"/>
            <a:ext cx="420624" cy="420624"/>
          </a:xfrm>
          <a:prstGeom prst="rect">
            <a:avLst/>
          </a:prstGeom>
        </p:spPr>
      </p:pic>
      <p:sp>
        <p:nvSpPr>
          <p:cNvPr id="35" name="Text 17"/>
          <p:cNvSpPr txBox="1"/>
          <p:nvPr/>
        </p:nvSpPr>
        <p:spPr>
          <a:xfrm>
            <a:off x="8183880" y="49377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Verzenden</a:t>
            </a:r>
            <a:endParaRPr lang="en-US" sz="2600" dirty="0"/>
          </a:p>
        </p:txBody>
      </p:sp>
      <p:pic>
        <p:nvPicPr>
          <p:cNvPr id="36" name="Image 15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L’anatomie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alanceSc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Formel ou informel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UserT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Pour qui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Cu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mail en morceaux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UserSecr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Pe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À vous d’écrire 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concours de politesse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7" name="Text 13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1" name="Text 17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5" name="Text 21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9" name="Text 25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3" name="Text 29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7" name="Text 33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38" name="Shape 34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1" name="Text 37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42" name="Shape 38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52" name="Shape 48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L’anatomie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zone (1–7) à son nom (a–g).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67665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67665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5669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731520" y="2497183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31520" y="2497183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234440" y="2453640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18" name="Text 14"/>
          <p:cNvSpPr txBox="1"/>
          <p:nvPr/>
        </p:nvSpPr>
        <p:spPr>
          <a:xfrm>
            <a:off x="1371600" y="2453640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Van: karim.benali@peetersco.be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6355080" y="2469751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355080" y="2469751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1520" y="3041469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31520" y="3041469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234440" y="2997926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24" name="Text 20"/>
          <p:cNvSpPr txBox="1"/>
          <p:nvPr/>
        </p:nvSpPr>
        <p:spPr>
          <a:xfrm>
            <a:off x="1371600" y="2997926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Aan: j.maes@maesbouw.be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6355080" y="3014037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55080" y="3014037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731520" y="358575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358575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1234440" y="3542211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4F7FB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1371600" y="3542211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Afspraak dinsdag 12 mei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355080" y="355832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355080" y="355832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731520" y="41300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31520" y="4130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234440" y="4086497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36" name="Text 32"/>
          <p:cNvSpPr txBox="1"/>
          <p:nvPr/>
        </p:nvSpPr>
        <p:spPr>
          <a:xfrm>
            <a:off x="1371600" y="4086497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Maes,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355080" y="41026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355080" y="4102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31520" y="467432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31520" y="467432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1" name="Shape 37"/>
          <p:cNvSpPr/>
          <p:nvPr/>
        </p:nvSpPr>
        <p:spPr>
          <a:xfrm>
            <a:off x="1234440" y="4630783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2" name="Text 38"/>
          <p:cNvSpPr txBox="1"/>
          <p:nvPr/>
        </p:nvSpPr>
        <p:spPr>
          <a:xfrm>
            <a:off x="1371600" y="4630783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Ik wil graag een afspraak met u maken…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6355080" y="464689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355080" y="464689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</a:t>
            </a:r>
            <a:endParaRPr lang="en-US" sz="1600" dirty="0"/>
          </a:p>
        </p:txBody>
      </p:sp>
      <p:sp>
        <p:nvSpPr>
          <p:cNvPr id="45" name="Shape 41"/>
          <p:cNvSpPr/>
          <p:nvPr/>
        </p:nvSpPr>
        <p:spPr>
          <a:xfrm>
            <a:off x="731520" y="5218611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31520" y="5218611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1234440" y="5175069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48" name="Text 44"/>
          <p:cNvSpPr txBox="1"/>
          <p:nvPr/>
        </p:nvSpPr>
        <p:spPr>
          <a:xfrm>
            <a:off x="1371600" y="5175069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Met vriendelijke groet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6355080" y="5191179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55080" y="5191179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</a:t>
            </a:r>
            <a:endParaRPr lang="en-US" sz="1600" dirty="0"/>
          </a:p>
        </p:txBody>
      </p:sp>
      <p:sp>
        <p:nvSpPr>
          <p:cNvPr id="51" name="Shape 47"/>
          <p:cNvSpPr/>
          <p:nvPr/>
        </p:nvSpPr>
        <p:spPr>
          <a:xfrm>
            <a:off x="731520" y="5762897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731520" y="5762897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1234440" y="5719354"/>
            <a:ext cx="4937760" cy="452846"/>
          </a:xfrm>
          <a:prstGeom prst="roundRect">
            <a:avLst>
              <a:gd name="adj" fmla="val 16154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dash"/>
          </a:ln>
        </p:spPr>
      </p:sp>
      <p:sp>
        <p:nvSpPr>
          <p:cNvPr id="54" name="Text 50"/>
          <p:cNvSpPr txBox="1"/>
          <p:nvPr/>
        </p:nvSpPr>
        <p:spPr>
          <a:xfrm>
            <a:off x="1371600" y="5719354"/>
            <a:ext cx="4754880" cy="4528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Karim Benali, Boekhouder</a:t>
            </a:r>
            <a:endParaRPr lang="en-US" sz="1500" dirty="0"/>
          </a:p>
        </p:txBody>
      </p:sp>
      <p:sp>
        <p:nvSpPr>
          <p:cNvPr id="55" name="Shape 51"/>
          <p:cNvSpPr/>
          <p:nvPr/>
        </p:nvSpPr>
        <p:spPr>
          <a:xfrm>
            <a:off x="6355080" y="5735465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355080" y="5735465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7680960" y="1987296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7863840" y="1987296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aanhef</a:t>
            </a:r>
            <a:endParaRPr lang="en-US" sz="1800" dirty="0"/>
          </a:p>
        </p:txBody>
      </p:sp>
      <p:sp>
        <p:nvSpPr>
          <p:cNvPr id="59" name="Shape 55"/>
          <p:cNvSpPr/>
          <p:nvPr/>
        </p:nvSpPr>
        <p:spPr>
          <a:xfrm>
            <a:off x="7680960" y="2609959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7863840" y="2609959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het onderwerp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7680960" y="3232622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7863840" y="3232622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handtekening</a:t>
            </a:r>
            <a:endParaRPr lang="en-US" sz="1800" dirty="0"/>
          </a:p>
        </p:txBody>
      </p:sp>
      <p:sp>
        <p:nvSpPr>
          <p:cNvPr id="63" name="Shape 59"/>
          <p:cNvSpPr/>
          <p:nvPr/>
        </p:nvSpPr>
        <p:spPr>
          <a:xfrm>
            <a:off x="7680960" y="3855285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7863840" y="3855285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afzender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7680960" y="4477947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7863840" y="4477947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hoofdtekst</a:t>
            </a:r>
            <a:endParaRPr lang="en-US" sz="1800" dirty="0"/>
          </a:p>
        </p:txBody>
      </p:sp>
      <p:sp>
        <p:nvSpPr>
          <p:cNvPr id="67" name="Shape 63"/>
          <p:cNvSpPr/>
          <p:nvPr/>
        </p:nvSpPr>
        <p:spPr>
          <a:xfrm>
            <a:off x="7680960" y="5100610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863840" y="5100610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ontvanger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7680960" y="5723273"/>
            <a:ext cx="3959352" cy="512935"/>
          </a:xfrm>
          <a:prstGeom prst="roundRect">
            <a:avLst>
              <a:gd name="adj" fmla="val 53480"/>
            </a:avLst>
          </a:prstGeom>
          <a:solidFill>
            <a:schemeClr val="bg2"/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7863840" y="5723273"/>
            <a:ext cx="3657600" cy="5129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de afsluiting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1932432"/>
            <a:ext cx="109728" cy="4358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2296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i="1" dirty="0">
                <a:solidFill>
                  <a:schemeClr val="tx1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i="1" dirty="0">
                <a:solidFill>
                  <a:schemeClr val="tx1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i="1" dirty="0">
                <a:solidFill>
                  <a:schemeClr val="tx1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1932432"/>
            <a:ext cx="542239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17920" y="1932432"/>
            <a:ext cx="109728" cy="4358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492240" y="2435352"/>
            <a:ext cx="4983480" cy="376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i="1" dirty="0">
                <a:solidFill>
                  <a:schemeClr val="tx1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i="1" dirty="0">
                <a:solidFill>
                  <a:schemeClr val="tx1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i="1" dirty="0">
                <a:solidFill>
                  <a:schemeClr val="tx1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Formel ou informel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Trouvez au moins 5 indices de registre dans chaque e-mail.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Anne → Max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1932432"/>
            <a:ext cx="109728" cy="3215640"/>
          </a:xfrm>
          <a:prstGeom prst="rect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296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Hoi Max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Alles goed?</a:t>
            </a:r>
            <a:r>
              <a:rPr lang="en-US" sz="1800" i="1" dirty="0">
                <a:solidFill>
                  <a:schemeClr val="tx1"/>
                </a:solidFill>
              </a:rPr>
              <a:t> Parijs is echt geweldig! De mensen zijn vriendelijk en de Eiffeltoren is </a:t>
            </a:r>
            <a:r>
              <a:rPr lang="en-US" sz="1800" b="1" i="1" dirty="0">
                <a:solidFill>
                  <a:schemeClr val="accent3"/>
                </a:solidFill>
              </a:rPr>
              <a:t>wow</a:t>
            </a:r>
            <a:r>
              <a:rPr lang="en-US" sz="1800" i="1" dirty="0">
                <a:solidFill>
                  <a:schemeClr val="tx1"/>
                </a:solidFill>
              </a:rPr>
              <a:t>. Heb </a:t>
            </a:r>
            <a:r>
              <a:rPr lang="en-US" sz="1800" b="1" i="1" dirty="0">
                <a:solidFill>
                  <a:schemeClr val="accent3"/>
                </a:solidFill>
              </a:rPr>
              <a:t>jij</a:t>
            </a:r>
            <a:r>
              <a:rPr lang="en-US" sz="1800" i="1" dirty="0">
                <a:solidFill>
                  <a:schemeClr val="tx1"/>
                </a:solidFill>
              </a:rPr>
              <a:t> plannen voor de zomer? </a:t>
            </a:r>
            <a:r>
              <a:rPr lang="en-US" sz="1800" b="1" i="1" dirty="0">
                <a:solidFill>
                  <a:schemeClr val="accent3"/>
                </a:solidFill>
              </a:rPr>
              <a:t>Mis je!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Groetjes</a:t>
            </a:r>
            <a:r>
              <a:rPr lang="en-US" sz="1800" i="1" dirty="0">
                <a:solidFill>
                  <a:schemeClr val="tx1"/>
                </a:solidFill>
              </a:rPr>
              <a:t>, Anne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1932432"/>
            <a:ext cx="5422392" cy="3215640"/>
          </a:xfrm>
          <a:prstGeom prst="roundRect">
            <a:avLst>
              <a:gd name="adj" fmla="val 170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217920" y="1932432"/>
            <a:ext cx="542239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38251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61111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3971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132320" y="1932432"/>
            <a:ext cx="4325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Pieter Smet → mevrouw De Vries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17920" y="1932432"/>
            <a:ext cx="109728" cy="3215640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492240" y="2435352"/>
            <a:ext cx="4983480" cy="2621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Beste mevrouw De Vries</a:t>
            </a:r>
            <a:r>
              <a:rPr lang="en-US" sz="1800" i="1" dirty="0">
                <a:solidFill>
                  <a:schemeClr val="tx1"/>
                </a:solidFill>
              </a:rPr>
              <a:t>,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dat het goed met </a:t>
            </a:r>
            <a:r>
              <a:rPr lang="en-US" sz="1800" b="1" i="1" dirty="0">
                <a:solidFill>
                  <a:schemeClr val="accent3"/>
                </a:solidFill>
              </a:rPr>
              <a:t>u</a:t>
            </a:r>
            <a:r>
              <a:rPr lang="en-US" sz="1800" i="1" dirty="0">
                <a:solidFill>
                  <a:schemeClr val="tx1"/>
                </a:solidFill>
              </a:rPr>
              <a:t> gaat. Kunnen we donderdag om 10 uur vergaderen? We moeten over het project praten. </a:t>
            </a:r>
            <a:r>
              <a:rPr lang="en-US" sz="1800" b="1" i="1" dirty="0">
                <a:solidFill>
                  <a:schemeClr val="accent3"/>
                </a:solidFill>
              </a:rPr>
              <a:t>Alvast bedankt.</a:t>
            </a:r>
            <a:endParaRPr lang="en-US" sz="18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Met vriendelijke groet</a:t>
            </a:r>
            <a:r>
              <a:rPr lang="en-US" sz="1800" i="1" dirty="0">
                <a:solidFill>
                  <a:schemeClr val="tx1"/>
                </a:solidFill>
              </a:rPr>
              <a:t>, Pieter </a:t>
            </a:r>
            <a:r>
              <a:rPr lang="en-US" sz="1800" b="1" i="1" dirty="0">
                <a:solidFill>
                  <a:schemeClr val="accent3"/>
                </a:solidFill>
              </a:rPr>
              <a:t>Smet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rgbClr val="5B9BD5">
              <a:alpha val="20000"/>
            </a:srgbClr>
          </a:solidFill>
          <a:ln w="12700">
            <a:solidFill>
              <a:srgbClr val="5B9BD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8580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Hoi</a:t>
            </a:r>
            <a:r>
              <a:rPr lang="en-US" sz="1400" dirty="0">
                <a:solidFill>
                  <a:schemeClr val="tx1"/>
                </a:solidFill>
              </a:rPr>
              <a:t> + prénom · </a:t>
            </a:r>
            <a:r>
              <a:rPr lang="en-US" sz="1400" i="1" dirty="0">
                <a:solidFill>
                  <a:schemeClr val="tx1"/>
                </a:solidFill>
              </a:rPr>
              <a:t>Alles goed?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jij</a:t>
            </a:r>
            <a:r>
              <a:rPr lang="en-US" sz="1400" dirty="0">
                <a:solidFill>
                  <a:schemeClr val="tx1"/>
                </a:solidFill>
              </a:rPr>
              <a:t> · exclamations, </a:t>
            </a:r>
            <a:r>
              <a:rPr lang="en-US" sz="1400" i="1" dirty="0">
                <a:solidFill>
                  <a:schemeClr val="tx1"/>
                </a:solidFill>
              </a:rPr>
              <a:t>wow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Mis je!</a:t>
            </a:r>
            <a:r>
              <a:rPr lang="en-US" sz="1400" dirty="0">
                <a:solidFill>
                  <a:schemeClr val="tx1"/>
                </a:solidFill>
              </a:rPr>
              <a:t> (sans sujet) · </a:t>
            </a:r>
            <a:r>
              <a:rPr lang="en-US" sz="1400" i="1" dirty="0">
                <a:solidFill>
                  <a:schemeClr val="tx1"/>
                </a:solidFill>
              </a:rPr>
              <a:t>Groetjes</a:t>
            </a:r>
            <a:r>
              <a:rPr lang="en-US" sz="1400" dirty="0">
                <a:solidFill>
                  <a:schemeClr val="tx1"/>
                </a:solidFill>
              </a:rPr>
              <a:t> + prénom</a:t>
            </a:r>
            <a:endParaRPr lang="en-US" sz="1400" dirty="0"/>
          </a:p>
        </p:txBody>
      </p:sp>
      <p:sp>
        <p:nvSpPr>
          <p:cNvPr id="27" name="Shape 23"/>
          <p:cNvSpPr/>
          <p:nvPr/>
        </p:nvSpPr>
        <p:spPr>
          <a:xfrm>
            <a:off x="6217920" y="5285232"/>
            <a:ext cx="5422392" cy="1005840"/>
          </a:xfrm>
          <a:prstGeom prst="roundRect">
            <a:avLst>
              <a:gd name="adj" fmla="val 7273"/>
            </a:avLst>
          </a:prstGeom>
          <a:solidFill>
            <a:schemeClr val="tx2">
              <a:alpha val="15000"/>
            </a:schemeClr>
          </a:solidFill>
          <a:ln w="12700">
            <a:solidFill>
              <a:srgbClr val="17375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55080" y="5285232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Formel</a:t>
            </a:r>
            <a:r>
              <a:rPr lang="en-US" sz="1400" dirty="0">
                <a:solidFill>
                  <a:schemeClr val="tx1"/>
                </a:solidFill>
              </a:rPr>
              <a:t> : </a:t>
            </a:r>
            <a:r>
              <a:rPr lang="en-US" sz="1400" i="1" dirty="0">
                <a:solidFill>
                  <a:schemeClr val="tx1"/>
                </a:solidFill>
              </a:rPr>
              <a:t>Beste mevrouw</a:t>
            </a:r>
            <a:r>
              <a:rPr lang="en-US" sz="1400" dirty="0">
                <a:solidFill>
                  <a:schemeClr val="tx1"/>
                </a:solidFill>
              </a:rPr>
              <a:t> + nom · </a:t>
            </a:r>
            <a:r>
              <a:rPr lang="en-US" sz="1400" i="1" dirty="0">
                <a:solidFill>
                  <a:schemeClr val="tx1"/>
                </a:solidFill>
              </a:rPr>
              <a:t>met u</a:t>
            </a:r>
            <a:r>
              <a:rPr lang="en-US" sz="1400" dirty="0">
                <a:solidFill>
                  <a:schemeClr val="tx1"/>
                </a:solidFill>
              </a:rPr>
              <a:t> · phrases complètes · </a:t>
            </a:r>
            <a:r>
              <a:rPr lang="en-US" sz="1400" i="1" dirty="0">
                <a:solidFill>
                  <a:schemeClr val="tx1"/>
                </a:solidFill>
              </a:rPr>
              <a:t>Alvast bedankt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r>
              <a:rPr lang="en-US" sz="1400" dirty="0">
                <a:solidFill>
                  <a:schemeClr val="tx1"/>
                </a:solidFill>
              </a:rPr>
              <a:t> + prénom </a:t>
            </a:r>
            <a:r>
              <a:rPr lang="en-US" sz="1400" b="1" dirty="0">
                <a:solidFill>
                  <a:schemeClr val="tx1"/>
                </a:solidFill>
              </a:rPr>
              <a:t>et nom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94360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groeten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3355848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401568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Hoogachtend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6163056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08776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Hoi Lies,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8970264" y="1932432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015984" y="1932432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Tot morgen!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548640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94360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Veel liefs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3355848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401568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163056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08776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Beste Sofie,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8970264" y="2554224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015984" y="2554224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Bedankt voor uw tijd.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548640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94360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Kusjes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3355848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401568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Bedankt!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63056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08776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mevrouw Claes,</a:t>
            </a:r>
            <a:endParaRPr 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970264" y="3176016"/>
            <a:ext cx="2651760" cy="512064"/>
          </a:xfrm>
          <a:prstGeom prst="roundRect">
            <a:avLst>
              <a:gd name="adj" fmla="val 17857"/>
            </a:avLst>
          </a:prstGeom>
          <a:solidFill>
            <a:schemeClr val="bg1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015984" y="3176016"/>
            <a:ext cx="2560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Hou je taai!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89832"/>
            <a:ext cx="502920" cy="5029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280160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1280160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4334256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4334256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3989832"/>
            <a:ext cx="502920" cy="502920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5065776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41" name="Text 35"/>
          <p:cNvSpPr txBox="1"/>
          <p:nvPr/>
        </p:nvSpPr>
        <p:spPr>
          <a:xfrm>
            <a:off x="5065776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8119872" y="3898392"/>
            <a:ext cx="3520440" cy="2392680"/>
          </a:xfrm>
          <a:prstGeom prst="roundRect">
            <a:avLst>
              <a:gd name="adj" fmla="val 3057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8119872" y="389839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3989832"/>
            <a:ext cx="502920" cy="502920"/>
          </a:xfrm>
          <a:prstGeom prst="rect">
            <a:avLst/>
          </a:prstGeom>
        </p:spPr>
      </p:pic>
      <p:sp>
        <p:nvSpPr>
          <p:cNvPr id="45" name="Text 38"/>
          <p:cNvSpPr txBox="1"/>
          <p:nvPr/>
        </p:nvSpPr>
        <p:spPr>
          <a:xfrm>
            <a:off x="8851392" y="389839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8851392" y="4282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Pour qui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formules selon le destinataire.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rgbClr val="5B9BD5">
              <a:alpha val="10000"/>
            </a:srgbClr>
          </a:solidFill>
          <a:ln w="25400">
            <a:solidFill>
              <a:srgbClr val="5B9BD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80160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VRIENDEN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1280160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amis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Hoi Lies,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Kusjes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548640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Veel liefs</a:t>
            </a:r>
            <a:endParaRPr lang="en-US" sz="19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Hou je taai!</a:t>
            </a:r>
            <a:endParaRPr lang="en-US" sz="1900" dirty="0"/>
          </a:p>
        </p:txBody>
      </p:sp>
      <p:sp>
        <p:nvSpPr>
          <p:cNvPr id="18" name="Shape 13"/>
          <p:cNvSpPr/>
          <p:nvPr/>
        </p:nvSpPr>
        <p:spPr>
          <a:xfrm>
            <a:off x="4334256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34256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6" y="2115312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065776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COLLEGA’S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065776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collègues</a:t>
            </a:r>
            <a:endParaRPr lang="en-US" sz="1200" dirty="0"/>
          </a:p>
        </p:txBody>
      </p:sp>
      <p:sp>
        <p:nvSpPr>
          <p:cNvPr id="23" name="Text 17"/>
          <p:cNvSpPr txBox="1"/>
          <p:nvPr/>
        </p:nvSpPr>
        <p:spPr>
          <a:xfrm>
            <a:off x="4334256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Sofie,</a:t>
            </a:r>
            <a:endParaRPr lang="en-US" sz="1900" dirty="0"/>
          </a:p>
        </p:txBody>
      </p:sp>
      <p:sp>
        <p:nvSpPr>
          <p:cNvPr id="24" name="Text 18"/>
          <p:cNvSpPr txBox="1"/>
          <p:nvPr/>
        </p:nvSpPr>
        <p:spPr>
          <a:xfrm>
            <a:off x="4334256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Beste groeten</a:t>
            </a:r>
            <a:endParaRPr lang="en-US" sz="1900" dirty="0"/>
          </a:p>
        </p:txBody>
      </p:sp>
      <p:sp>
        <p:nvSpPr>
          <p:cNvPr id="25" name="Text 19"/>
          <p:cNvSpPr txBox="1"/>
          <p:nvPr/>
        </p:nvSpPr>
        <p:spPr>
          <a:xfrm>
            <a:off x="4334256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Bedankt!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4334256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Tot morgen!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8119872" y="2023872"/>
            <a:ext cx="3520440" cy="4267200"/>
          </a:xfrm>
          <a:prstGeom prst="roundRect">
            <a:avLst>
              <a:gd name="adj" fmla="val 2078"/>
            </a:avLst>
          </a:prstGeom>
          <a:solidFill>
            <a:schemeClr val="tx2">
              <a:alpha val="10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8119872" y="2023872"/>
            <a:ext cx="352044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office buil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2115312"/>
            <a:ext cx="502920" cy="5029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8851392" y="202387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00" kern="0" dirty="0">
                <a:solidFill>
                  <a:schemeClr val="bg1"/>
                </a:solidFill>
              </a:rPr>
              <a:t>ONBEKENDEN</a:t>
            </a:r>
            <a:endParaRPr lang="en-US" sz="1800" dirty="0"/>
          </a:p>
        </p:txBody>
      </p:sp>
      <p:sp>
        <p:nvSpPr>
          <p:cNvPr id="31" name="Text 24"/>
          <p:cNvSpPr txBox="1"/>
          <p:nvPr/>
        </p:nvSpPr>
        <p:spPr>
          <a:xfrm>
            <a:off x="8851392" y="2407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inconnus, clients</a:t>
            </a:r>
            <a:endParaRPr lang="en-US" sz="1200" dirty="0"/>
          </a:p>
        </p:txBody>
      </p:sp>
      <p:sp>
        <p:nvSpPr>
          <p:cNvPr id="32" name="Text 25"/>
          <p:cNvSpPr txBox="1"/>
          <p:nvPr/>
        </p:nvSpPr>
        <p:spPr>
          <a:xfrm>
            <a:off x="8119872" y="289255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Geachte mevrouw Claes,</a:t>
            </a:r>
            <a:endParaRPr lang="en-US" sz="1900" dirty="0"/>
          </a:p>
        </p:txBody>
      </p:sp>
      <p:sp>
        <p:nvSpPr>
          <p:cNvPr id="33" name="Text 26"/>
          <p:cNvSpPr txBox="1"/>
          <p:nvPr/>
        </p:nvSpPr>
        <p:spPr>
          <a:xfrm>
            <a:off x="8119872" y="345948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Met vriendelijke groet</a:t>
            </a:r>
            <a:endParaRPr lang="en-US" sz="1900" dirty="0"/>
          </a:p>
        </p:txBody>
      </p:sp>
      <p:sp>
        <p:nvSpPr>
          <p:cNvPr id="34" name="Text 27"/>
          <p:cNvSpPr txBox="1"/>
          <p:nvPr/>
        </p:nvSpPr>
        <p:spPr>
          <a:xfrm>
            <a:off x="8119872" y="4026408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Hoogachtend</a:t>
            </a:r>
            <a:endParaRPr lang="en-US" sz="1900" dirty="0"/>
          </a:p>
        </p:txBody>
      </p:sp>
      <p:sp>
        <p:nvSpPr>
          <p:cNvPr id="35" name="Text 28"/>
          <p:cNvSpPr txBox="1"/>
          <p:nvPr/>
        </p:nvSpPr>
        <p:spPr>
          <a:xfrm>
            <a:off x="8119872" y="4593336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Bedankt voor uw tijd.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pic>
        <p:nvPicPr>
          <p:cNvPr id="8" name="Image 1" descr="scisso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2432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 rot="-48000">
            <a:off x="548640" y="2526792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5"/>
          <p:cNvSpPr txBox="1"/>
          <p:nvPr/>
        </p:nvSpPr>
        <p:spPr>
          <a:xfrm rot="-48000">
            <a:off x="713232" y="2526792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Met vriendelijke groet</a:t>
            </a:r>
            <a:endParaRPr lang="en-US" sz="1400" dirty="0"/>
          </a:p>
        </p:txBody>
      </p:sp>
      <p:sp>
        <p:nvSpPr>
          <p:cNvPr id="11" name="Shape 6"/>
          <p:cNvSpPr/>
          <p:nvPr/>
        </p:nvSpPr>
        <p:spPr>
          <a:xfrm rot="36000">
            <a:off x="822960" y="3064546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 rot="36000">
            <a:off x="987552" y="3064546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 rot="-24000">
            <a:off x="548640" y="3602301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 rot="-24000">
            <a:off x="713232" y="3602301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Geachte mevrouw Wouters,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 rot="48000">
            <a:off x="822960" y="4140055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 rot="48000">
            <a:off x="987552" y="4140055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Karim Benali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 rot="-36000">
            <a:off x="548640" y="4677809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3"/>
          <p:cNvSpPr txBox="1"/>
          <p:nvPr/>
        </p:nvSpPr>
        <p:spPr>
          <a:xfrm rot="-36000">
            <a:off x="713232" y="4677809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 rot="24000">
            <a:off x="822960" y="5215563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 rot="24000">
            <a:off x="987552" y="5215563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Ik hoor graag van u.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 rot="-42000">
            <a:off x="548640" y="5753318"/>
            <a:ext cx="5852160" cy="446314"/>
          </a:xfrm>
          <a:prstGeom prst="roundRect">
            <a:avLst>
              <a:gd name="adj" fmla="val 4098"/>
            </a:avLst>
          </a:prstGeom>
          <a:solidFill>
            <a:srgbClr val="FFFDF5"/>
          </a:solidFill>
          <a:ln w="12700">
            <a:solidFill>
              <a:srgbClr val="C9B98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 rot="-42000">
            <a:off x="713232" y="5753318"/>
            <a:ext cx="5577840" cy="4463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  </a:t>
            </a:r>
            <a:r>
              <a:rPr lang="en-US" sz="1400" i="1" dirty="0">
                <a:solidFill>
                  <a:schemeClr val="tx1"/>
                </a:solidFill>
              </a:rPr>
              <a:t>Onderwerp: Cursus Nederlands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6949440" y="1932432"/>
            <a:ext cx="46908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949440" y="1932432"/>
            <a:ext cx="46908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71140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3426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5712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7863840" y="1932432"/>
            <a:ext cx="3593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0866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70866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7543800" y="2860766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2" name="Shape 27"/>
          <p:cNvSpPr/>
          <p:nvPr/>
        </p:nvSpPr>
        <p:spPr>
          <a:xfrm>
            <a:off x="70866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0866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4" name="Shape 29"/>
          <p:cNvSpPr/>
          <p:nvPr/>
        </p:nvSpPr>
        <p:spPr>
          <a:xfrm>
            <a:off x="7543800" y="3405051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5" name="Shape 30"/>
          <p:cNvSpPr/>
          <p:nvPr/>
        </p:nvSpPr>
        <p:spPr>
          <a:xfrm>
            <a:off x="70866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70866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543800" y="3949337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33"/>
          <p:cNvSpPr/>
          <p:nvPr/>
        </p:nvSpPr>
        <p:spPr>
          <a:xfrm>
            <a:off x="70866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0866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7543800" y="4493623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1" name="Shape 36"/>
          <p:cNvSpPr/>
          <p:nvPr/>
        </p:nvSpPr>
        <p:spPr>
          <a:xfrm>
            <a:off x="70866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70866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3" name="Shape 38"/>
          <p:cNvSpPr/>
          <p:nvPr/>
        </p:nvSpPr>
        <p:spPr>
          <a:xfrm>
            <a:off x="7543800" y="5037909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4" name="Shape 39"/>
          <p:cNvSpPr/>
          <p:nvPr/>
        </p:nvSpPr>
        <p:spPr>
          <a:xfrm>
            <a:off x="70866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70866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1"/>
          <p:cNvSpPr/>
          <p:nvPr/>
        </p:nvSpPr>
        <p:spPr>
          <a:xfrm>
            <a:off x="7543800" y="5582194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7" name="Shape 42"/>
          <p:cNvSpPr/>
          <p:nvPr/>
        </p:nvSpPr>
        <p:spPr>
          <a:xfrm>
            <a:off x="70866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0866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9" name="Shape 44"/>
          <p:cNvSpPr/>
          <p:nvPr/>
        </p:nvSpPr>
        <p:spPr>
          <a:xfrm>
            <a:off x="7543800" y="6126480"/>
            <a:ext cx="39136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mail en morceaux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bandes dans le bon ordre.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11091672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11091672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463040" y="1932432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Nieuw bericht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85800" y="2497183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2497183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1143000" y="2860766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Text 14"/>
          <p:cNvSpPr txBox="1"/>
          <p:nvPr/>
        </p:nvSpPr>
        <p:spPr>
          <a:xfrm>
            <a:off x="1188720" y="2389632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Onderwerp: Cursus Nederlands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685800" y="3041469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041469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1143000" y="3405051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Text 18"/>
          <p:cNvSpPr txBox="1"/>
          <p:nvPr/>
        </p:nvSpPr>
        <p:spPr>
          <a:xfrm>
            <a:off x="1188720" y="2933918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Geachte mevrouw Wouters,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685800" y="358575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358575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1143000" y="3949337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Text 22"/>
          <p:cNvSpPr txBox="1"/>
          <p:nvPr/>
        </p:nvSpPr>
        <p:spPr>
          <a:xfrm>
            <a:off x="1188720" y="3478203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wil graag meer informatie over de cursus Nederlands.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685800" y="413004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85800" y="4130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1143000" y="4493623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Text 26"/>
          <p:cNvSpPr txBox="1"/>
          <p:nvPr/>
        </p:nvSpPr>
        <p:spPr>
          <a:xfrm>
            <a:off x="1188720" y="4022489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Wanneer begint de cursus en wat is de prijs?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685800" y="4674326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5800" y="467432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3" name="Shape 29"/>
          <p:cNvSpPr/>
          <p:nvPr/>
        </p:nvSpPr>
        <p:spPr>
          <a:xfrm>
            <a:off x="1143000" y="5037909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Text 30"/>
          <p:cNvSpPr txBox="1"/>
          <p:nvPr/>
        </p:nvSpPr>
        <p:spPr>
          <a:xfrm>
            <a:off x="1188720" y="4566775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Ik hoor graag van u.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685800" y="5218611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5218611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1143000" y="5582194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Text 34"/>
          <p:cNvSpPr txBox="1"/>
          <p:nvPr/>
        </p:nvSpPr>
        <p:spPr>
          <a:xfrm>
            <a:off x="1188720" y="5111061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Met vriendelijke groet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85800" y="5762897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85800" y="5762897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Shape 37"/>
          <p:cNvSpPr/>
          <p:nvPr/>
        </p:nvSpPr>
        <p:spPr>
          <a:xfrm>
            <a:off x="1143000" y="6126480"/>
            <a:ext cx="10314432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8"/>
          <p:cNvSpPr txBox="1"/>
          <p:nvPr/>
        </p:nvSpPr>
        <p:spPr>
          <a:xfrm>
            <a:off x="1188720" y="5655346"/>
            <a:ext cx="10268712" cy="49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</a:t>
            </a:r>
            <a:r>
              <a:rPr lang="en-US" sz="1800" dirty="0">
                <a:solidFill>
                  <a:schemeClr val="tx1"/>
                </a:solidFill>
              </a:rPr>
              <a:t>   </a:t>
            </a: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Hoi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dirty="0">
                <a:solidFill>
                  <a:schemeClr val="tx1"/>
                </a:solidFill>
              </a:rPr>
              <a:t>omdat ik ben ziek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dirty="0">
                <a:solidFill>
                  <a:schemeClr val="tx1"/>
                </a:solidFill>
              </a:rPr>
              <a:t>je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Kusjes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Karim</a:t>
            </a:r>
            <a:endParaRPr lang="en-US" sz="2100" dirty="0"/>
          </a:p>
        </p:txBody>
      </p:sp>
      <p:pic>
        <p:nvPicPr>
          <p:cNvPr id="19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 du mail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sa cheffe. Trouvez les 6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138160" cy="4358640"/>
          </a:xfrm>
          <a:prstGeom prst="roundRect">
            <a:avLst>
              <a:gd name="adj" fmla="val 125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138160" cy="384048"/>
          </a:xfrm>
          <a:prstGeom prst="roundRect">
            <a:avLst>
              <a:gd name="adj" fmla="val 14286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13232" y="2060448"/>
            <a:ext cx="128016" cy="128016"/>
          </a:xfrm>
          <a:prstGeom prst="ellipse">
            <a:avLst/>
          </a:prstGeom>
          <a:solidFill>
            <a:srgbClr val="E2725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41832" y="2060448"/>
            <a:ext cx="128016" cy="128016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170432" y="2060448"/>
            <a:ext cx="128016" cy="128016"/>
          </a:xfrm>
          <a:prstGeom prst="ellipse">
            <a:avLst/>
          </a:prstGeom>
          <a:solidFill>
            <a:srgbClr val="5FA7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23896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Aan: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920240" y="23896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an.janssens@peetersco.be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271881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Onderwerp: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1920240" y="271881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(leeg)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b="1" dirty="0">
                <a:solidFill>
                  <a:schemeClr val="accent3"/>
                </a:solidFill>
              </a:rPr>
              <a:t>→ Afwezig morgen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685800" y="3084576"/>
            <a:ext cx="786384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8680" y="3294888"/>
            <a:ext cx="7589520" cy="285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Hoi</a:t>
            </a:r>
            <a:r>
              <a:rPr lang="en-US" sz="2100" b="1" i="1" dirty="0">
                <a:solidFill>
                  <a:schemeClr val="accent3"/>
                </a:solidFill>
              </a:rPr>
              <a:t> Beste</a:t>
            </a:r>
            <a:r>
              <a:rPr lang="en-US" sz="2100" i="1" dirty="0">
                <a:solidFill>
                  <a:schemeClr val="tx1"/>
                </a:solidFill>
              </a:rPr>
              <a:t> mevrouw Janssens,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dirty="0">
                <a:solidFill>
                  <a:schemeClr val="tx1"/>
                </a:solidFill>
              </a:rPr>
              <a:t>Ik kan morgen niet komen </a:t>
            </a:r>
            <a:r>
              <a:rPr lang="en-US" sz="2100" i="1" strike="sngStrike" dirty="0">
                <a:solidFill>
                  <a:schemeClr val="accent6"/>
                </a:solidFill>
              </a:rPr>
              <a:t>omdat ik ben ziek</a:t>
            </a:r>
            <a:r>
              <a:rPr lang="en-US" sz="2100" b="1" i="1" dirty="0">
                <a:solidFill>
                  <a:schemeClr val="accent3"/>
                </a:solidFill>
              </a:rPr>
              <a:t> omdat ik ziek ben</a:t>
            </a:r>
            <a:r>
              <a:rPr lang="en-US" sz="2100" i="1" dirty="0">
                <a:solidFill>
                  <a:schemeClr val="tx1"/>
                </a:solidFill>
              </a:rPr>
              <a:t>. Kunt u de vergadering verplaatsen? Ik stuur </a:t>
            </a:r>
            <a:r>
              <a:rPr lang="en-US" sz="2100" i="1" strike="sngStrike" dirty="0">
                <a:solidFill>
                  <a:schemeClr val="accent6"/>
                </a:solidFill>
              </a:rPr>
              <a:t>je</a:t>
            </a:r>
            <a:r>
              <a:rPr lang="en-US" sz="2100" b="1" i="1" dirty="0">
                <a:solidFill>
                  <a:schemeClr val="accent3"/>
                </a:solidFill>
              </a:rPr>
              <a:t> u</a:t>
            </a:r>
            <a:r>
              <a:rPr lang="en-US" sz="2100" i="1" dirty="0">
                <a:solidFill>
                  <a:schemeClr val="tx1"/>
                </a:solidFill>
              </a:rPr>
              <a:t> de documenten.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Kusjes</a:t>
            </a:r>
            <a:r>
              <a:rPr lang="en-US" sz="2100" b="1" i="1" dirty="0">
                <a:solidFill>
                  <a:schemeClr val="accent3"/>
                </a:solidFill>
              </a:rPr>
              <a:t> Met vriendelijke groet</a:t>
            </a:r>
            <a:r>
              <a:rPr lang="en-US" sz="2100" i="1" dirty="0">
                <a:solidFill>
                  <a:schemeClr val="tx1"/>
                </a:solidFill>
              </a:rPr>
              <a:t>,</a:t>
            </a:r>
            <a:endParaRPr lang="en-US" sz="2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100" i="1" strike="sngStrike" dirty="0">
                <a:solidFill>
                  <a:schemeClr val="accent6"/>
                </a:solidFill>
              </a:rPr>
              <a:t>Karim</a:t>
            </a:r>
            <a:r>
              <a:rPr lang="en-US" sz="2100" b="1" i="1" dirty="0">
                <a:solidFill>
                  <a:schemeClr val="accent3"/>
                </a:solidFill>
              </a:rPr>
              <a:t> Karim Benali</a:t>
            </a:r>
            <a:endParaRPr lang="en-US" sz="2100" dirty="0"/>
          </a:p>
        </p:txBody>
      </p:sp>
      <p:pic>
        <p:nvPicPr>
          <p:cNvPr id="20" name="Image 1" descr="detecti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2023872"/>
            <a:ext cx="1554480" cy="155448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9006840" y="3761232"/>
            <a:ext cx="2633472" cy="777240"/>
          </a:xfrm>
          <a:prstGeom prst="roundRect">
            <a:avLst>
              <a:gd name="adj" fmla="val 941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9006840" y="3761232"/>
            <a:ext cx="2633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6 erreurs ✓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9006840" y="4721352"/>
            <a:ext cx="263347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Kunt u de vergadering verplaatsen?</a:t>
            </a:r>
            <a:r>
              <a:rPr lang="en-US" sz="1400" i="1" dirty="0">
                <a:solidFill>
                  <a:schemeClr val="accent5"/>
                </a:solidFill>
              </a:rPr>
              <a:t> est correct. Chaque erreur = une case de la checklist.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1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176" y="2115312"/>
            <a:ext cx="960120" cy="9601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34440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êtes malade aujourd’hui. Écrivez à votre cheffe, mevrouw Janssens.</a:t>
            </a:r>
            <a:endParaRPr lang="en-US" sz="1800" dirty="0"/>
          </a:p>
        </p:txBody>
      </p:sp>
      <p:sp>
        <p:nvSpPr>
          <p:cNvPr id="13" name="Shape 8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6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97312" y="2115312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894576" y="204216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Vous invitez votre collègue Lies à déjeuner demain.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1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7176" y="4386072"/>
            <a:ext cx="960120" cy="960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34440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Votre colis (commande n° 4521) n’est pas arrivé. Écrivez au magasin en ligne.</a:t>
            </a:r>
            <a:endParaRPr lang="en-US" sz="1800" dirty="0"/>
          </a:p>
        </p:txBody>
      </p:sp>
      <p:sp>
        <p:nvSpPr>
          <p:cNvPr id="23" name="Shape 16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26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97312" y="4386072"/>
            <a:ext cx="960120" cy="96012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94576" y="4312920"/>
            <a:ext cx="3511296" cy="186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Rappelez à votre jeune collègue Tom que le rapport doit être prêt vendredi.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À vous d’écrire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situation F et une situation I. Écrivez l’e-mail, puis vérifiez avec la checklist.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85800" y="206959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12" name="Image 1" descr="face with thermome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76" y="2042160"/>
            <a:ext cx="502920" cy="5029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34440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Ziek vandaag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731520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Beste mevrouw Janssens, Ik ben vandaag ziek. Ik blijf thuis en ik kan niet naar de vergadering komen. Morgen bel ik u. Met vriendelijke groet, Karim Benali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208776" y="193243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6345936" y="206959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345936" y="2069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18" name="Image 2" descr="sandwi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4512" y="2042160"/>
            <a:ext cx="502920" cy="50292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94576" y="204216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Lunch morgen?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391656" y="257251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Lies, Heb je morgen tijd voor een lunch? Om 12.30 uur in de kantine? Laat je iets weten? Groetjes, Karim</a:t>
            </a:r>
            <a:endParaRPr lang="en-US" sz="1400" dirty="0"/>
          </a:p>
        </p:txBody>
      </p:sp>
      <p:sp>
        <p:nvSpPr>
          <p:cNvPr id="21" name="Shape 15"/>
          <p:cNvSpPr/>
          <p:nvPr/>
        </p:nvSpPr>
        <p:spPr>
          <a:xfrm>
            <a:off x="548640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85800" y="4340352"/>
            <a:ext cx="411480" cy="4114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85800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</a:t>
            </a:r>
            <a:endParaRPr lang="en-US" sz="1500" dirty="0"/>
          </a:p>
        </p:txBody>
      </p:sp>
      <p:pic>
        <p:nvPicPr>
          <p:cNvPr id="24" name="Image 3" descr="pack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431292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34440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Bestelling 4521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31520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Geachte heer, geachte mevrouw, Ik wacht nog op mijn bestelling (nummer 4521). Het pakket is er nog niet. Kunt u mij helpen? Alvast bedankt. Met vriendelijke groet, Karim Benali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6208776" y="4203192"/>
            <a:ext cx="54315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25400">
            <a:solidFill>
              <a:srgbClr val="5B9BD5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345936" y="4340352"/>
            <a:ext cx="411480" cy="411480"/>
          </a:xfrm>
          <a:prstGeom prst="ellipse">
            <a:avLst/>
          </a:prstGeom>
          <a:solidFill>
            <a:srgbClr val="5B9BD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345936" y="4340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</a:t>
            </a:r>
            <a:endParaRPr lang="en-US" sz="1500" dirty="0"/>
          </a:p>
        </p:txBody>
      </p:sp>
      <p:pic>
        <p:nvPicPr>
          <p:cNvPr id="30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4512" y="431292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4312920"/>
            <a:ext cx="39684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Rapport vrijdag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391656" y="4843272"/>
            <a:ext cx="5065776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Hoi Tom, Even een herinnering: het rapport moet vrijdag klaar zijn. Lukt dat? Groetjes, Sofie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5" name="Shape 8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8" name="Shape 10"/>
          <p:cNvSpPr/>
          <p:nvPr/>
        </p:nvSpPr>
        <p:spPr>
          <a:xfrm>
            <a:off x="5577840" y="316687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9" name="Shape 11"/>
          <p:cNvSpPr/>
          <p:nvPr/>
        </p:nvSpPr>
        <p:spPr>
          <a:xfrm>
            <a:off x="5577840" y="355092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0" name="Shape 12"/>
          <p:cNvSpPr/>
          <p:nvPr/>
        </p:nvSpPr>
        <p:spPr>
          <a:xfrm>
            <a:off x="5577840" y="393496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1" name="Shape 13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4" name="Shape 15"/>
          <p:cNvSpPr/>
          <p:nvPr/>
        </p:nvSpPr>
        <p:spPr>
          <a:xfrm>
            <a:off x="5577840" y="5391912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16"/>
          <p:cNvSpPr/>
          <p:nvPr/>
        </p:nvSpPr>
        <p:spPr>
          <a:xfrm>
            <a:off x="5577840" y="5775960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7"/>
          <p:cNvSpPr/>
          <p:nvPr/>
        </p:nvSpPr>
        <p:spPr>
          <a:xfrm>
            <a:off x="5577840" y="6160008"/>
            <a:ext cx="585216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concours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voulez un jour de congé vendredi. Écrivez à votre chef, meneer Peeters.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868680" y="5376672"/>
            <a:ext cx="1188720" cy="914400"/>
          </a:xfrm>
          <a:prstGeom prst="roundRect">
            <a:avLst>
              <a:gd name="adj" fmla="val 3000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690872"/>
            <a:ext cx="640080" cy="6400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148840" y="4965192"/>
            <a:ext cx="1188720" cy="1325880"/>
          </a:xfrm>
          <a:prstGeom prst="roundRect">
            <a:avLst>
              <a:gd name="adj" fmla="val 2308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279392"/>
            <a:ext cx="640080" cy="6400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3429000" y="5650992"/>
            <a:ext cx="1188720" cy="640080"/>
          </a:xfrm>
          <a:prstGeom prst="roundRect">
            <a:avLst>
              <a:gd name="adj" fmla="val 4286"/>
            </a:avLst>
          </a:prstGeom>
          <a:solidFill>
            <a:schemeClr val="accent1">
              <a:alpha val="8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3320" y="4965192"/>
            <a:ext cx="640080" cy="64008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48640" y="1978152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Règles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par deux, </a:t>
            </a:r>
            <a:r>
              <a:rPr lang="en-US" sz="1600" b="1" dirty="0">
                <a:solidFill>
                  <a:schemeClr val="tx1"/>
                </a:solidFill>
              </a:rPr>
              <a:t>5 minutes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écrivez </a:t>
            </a:r>
            <a:r>
              <a:rPr lang="en-US" sz="1600" b="1" dirty="0">
                <a:solidFill>
                  <a:schemeClr val="tx1"/>
                </a:solidFill>
              </a:rPr>
              <a:t>deux</a:t>
            </a:r>
            <a:r>
              <a:rPr lang="en-US" sz="1600" dirty="0">
                <a:solidFill>
                  <a:schemeClr val="tx1"/>
                </a:solidFill>
              </a:rPr>
              <a:t> e-mails : le plus poli et le moins poli</a:t>
            </a:r>
            <a:endParaRPr lang="en-US" sz="16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• la classe vote : le plus poli et le plus drôle</a:t>
            </a:r>
            <a:endParaRPr lang="en-US" sz="1600" dirty="0"/>
          </a:p>
        </p:txBody>
      </p:sp>
      <p:sp>
        <p:nvSpPr>
          <p:cNvPr id="16" name="Shape 9"/>
          <p:cNvSpPr/>
          <p:nvPr/>
        </p:nvSpPr>
        <p:spPr>
          <a:xfrm>
            <a:off x="5394960" y="193243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4" descr="smiling face with hal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32120" y="2069592"/>
            <a:ext cx="777240" cy="77724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6446520" y="2069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le plus poli</a:t>
            </a:r>
            <a:endParaRPr lang="en-US" sz="2000" dirty="0"/>
          </a:p>
        </p:txBody>
      </p:sp>
      <p:sp>
        <p:nvSpPr>
          <p:cNvPr id="19" name="Text 11"/>
          <p:cNvSpPr txBox="1"/>
          <p:nvPr/>
        </p:nvSpPr>
        <p:spPr>
          <a:xfrm>
            <a:off x="5577840" y="289255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Geachte heer Peeters, Ik wil graag vrijdag een dag verlof nemen. Is dat mogelijk? Mijn werk is klaar. Alvast hartelijk bedankt. Met vriendelijke groet, Karim Benali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5394960" y="4157472"/>
            <a:ext cx="6245352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miling face with hor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2120" y="4294632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6446520" y="4294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le moins poli</a:t>
            </a:r>
            <a:endParaRPr lang="en-US" sz="2000" dirty="0"/>
          </a:p>
        </p:txBody>
      </p:sp>
      <p:sp>
        <p:nvSpPr>
          <p:cNvPr id="23" name="Text 14"/>
          <p:cNvSpPr txBox="1"/>
          <p:nvPr/>
        </p:nvSpPr>
        <p:spPr>
          <a:xfrm>
            <a:off x="5577840" y="5117592"/>
            <a:ext cx="5897880" cy="1036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Hé Peeters, vrijdag kom ik niet. Daag!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2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d’appel pour un client que vous ne connaissez pas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Formule finale passe-partout en formel 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Hoi meneer Maes, ik stuur je de factuur.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1 en 2 zijn klaar.</a:t>
            </a:r>
            <a:r>
              <a:rPr lang="en-US" sz="1800" dirty="0">
                <a:solidFill>
                  <a:schemeClr val="bg1"/>
                </a:solidFill>
              </a:rPr>
              <a:t> — Volgende stap : bloc 3, M11 Scheidbare werkwoorden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6177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ET 2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9" name="Shape 26"/>
          <p:cNvSpPr/>
          <p:nvPr/>
        </p:nvSpPr>
        <p:spPr>
          <a:xfrm>
            <a:off x="7379208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37920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1" name="Shape 28"/>
          <p:cNvSpPr/>
          <p:nvPr/>
        </p:nvSpPr>
        <p:spPr>
          <a:xfrm>
            <a:off x="7808976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780897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3" name="Shape 30"/>
          <p:cNvSpPr/>
          <p:nvPr/>
        </p:nvSpPr>
        <p:spPr>
          <a:xfrm>
            <a:off x="8238744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823874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45" name="Shape 32"/>
          <p:cNvSpPr/>
          <p:nvPr/>
        </p:nvSpPr>
        <p:spPr>
          <a:xfrm>
            <a:off x="8668512" y="49560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866851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47" name="Shape 34"/>
          <p:cNvSpPr/>
          <p:nvPr/>
        </p:nvSpPr>
        <p:spPr>
          <a:xfrm>
            <a:off x="9098280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9098280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528048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7"/>
          <p:cNvSpPr txBox="1"/>
          <p:nvPr/>
        </p:nvSpPr>
        <p:spPr>
          <a:xfrm>
            <a:off x="9528048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1" name="Shape 38"/>
          <p:cNvSpPr/>
          <p:nvPr/>
        </p:nvSpPr>
        <p:spPr>
          <a:xfrm>
            <a:off x="9957816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39"/>
          <p:cNvSpPr txBox="1"/>
          <p:nvPr/>
        </p:nvSpPr>
        <p:spPr>
          <a:xfrm>
            <a:off x="9957816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3" name="Shape 40"/>
          <p:cNvSpPr/>
          <p:nvPr/>
        </p:nvSpPr>
        <p:spPr>
          <a:xfrm>
            <a:off x="10387584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1"/>
          <p:cNvSpPr txBox="1"/>
          <p:nvPr/>
        </p:nvSpPr>
        <p:spPr>
          <a:xfrm>
            <a:off x="10387584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</a:t>
            </a:r>
            <a:endParaRPr lang="en-US" sz="1200" dirty="0"/>
          </a:p>
        </p:txBody>
      </p:sp>
      <p:sp>
        <p:nvSpPr>
          <p:cNvPr id="55" name="Shape 42"/>
          <p:cNvSpPr/>
          <p:nvPr/>
        </p:nvSpPr>
        <p:spPr>
          <a:xfrm>
            <a:off x="10817352" y="4956048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3"/>
          <p:cNvSpPr txBox="1"/>
          <p:nvPr/>
        </p:nvSpPr>
        <p:spPr>
          <a:xfrm>
            <a:off x="10817352" y="4956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</a:t>
            </a:r>
            <a:endParaRPr lang="en-US" sz="1200" dirty="0"/>
          </a:p>
        </p:txBody>
      </p:sp>
      <p:pic>
        <p:nvPicPr>
          <p:cNvPr id="5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47120" y="4846320"/>
            <a:ext cx="548640" cy="5486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— Een mail opstellen — Écrire un e-mail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2026-10-05T19:06:49Z</dcterms:created>
  <dcterms:modified xsi:type="dcterms:W3CDTF">2026-10-05T19:06:49Z</dcterms:modified>
</cp:coreProperties>
</file>