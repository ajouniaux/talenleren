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uverture" id="{dc6ace7f-0e9c-2e62-772e-66b5b8d1359d}">
          <p14:sldIdLst>
            <p14:sldId id="256"/>
          </p14:sldIdLst>
        </p14:section>
        <p14:section name="Découvrir" id="{9fd4b4e2-7aa7-35c6-4f1a-1c85c9b34ed9}">
          <p14:sldIdLst>
            <p14:sldId id="257"/>
            <p14:sldId id="258"/>
            <p14:sldId id="259"/>
          </p14:sldIdLst>
        </p14:section>
        <p14:section name="Comprendre" id="{5b71856a-680e-eed7-da60-96facab8c17c}">
          <p14:sldIdLst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JIJ NU ! — Oefeningen" id="{f3c236bf-f48b-2609-4279-39a3e625a540}">
          <p14:sldIdLst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</p14:sldIdLst>
        </p14:section>
        <p14:section name="Clôture" id="{bce81026-cfbe-abcf-9770-d5f4141adc9b}">
          <p14:sldIdLst>
            <p14:sldId id="28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Annoncer la tâche finale du parcours : écrire un vrai e-mail professionnel.
Question d'entrée : « Combien d'e-mails envoyez-vous par jour au travail ? En quelle langue ? » Annoncez : à la fin de la séance, chacun écrit son premier e-mail en néerlandais.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Rendre les objectifs explicites.
Ce module réutilise presque tout le parcours : le registre (M8), omdat (M9), le verbe en 2e position (M3), les nombres et l'épellation (M2).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Activer l'intuition du registre à partir de vrais objets d'e-mails.
Demandez : « Formel (F) ou informel (I) ? Comment le savez-vous déjà, sans ouvrir le mail ? » Réponses : 1 I · 2 F · 3 F · 4 I · 5 F. Les indices : le prénom, le point d'interrogation familier, uw, le numéro de dossier. Koopzo est une enseigne fictive.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Nommer les parties d'un e-mail (reprise de la diapo 3 de l'archive).
de bestemmeling (archive) est le terme belge pour de ontvanger : les deux sont corrects. Faites remarquer que la signature formelle contient le prénom, le nom et la fonction.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Choisir la formule d'appel selon la distance avec le destinataire.
Beste est le plus courant dans les e-mails professionnels en Flandre. Il convient presque partout. Geachte est plus distant (lettres, premiers contacts). meneer / mevrouw + nom de famille, jamais + prénom. Avec Beste, on écrit meneer (Beste meneer Maes) ; avec Geachte, on écrit heer (Geachte heer Maes).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Choisir la formule finale, en miroir de la formule d'appel.
Hou je taai! (« prends soin de toi ») et Kusjes / Veel liefs sont réservés aux proches (archive diapo 5). La virgule après la formule finale est facultative ; on l'omet de plus en plus.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Empêcher la traduction littérale des formules françaises.
Lieve (cher, chère) s'emploie seulement pour les proches (Lieve mama). Le néerlandais professionnel est plus direct que le français : une formule courte n'est pas impolie.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Donner un patron de rédaction réutilisable.
Chaque bloc fait une ou deux phrases. En A1, un bon e-mail fait 5 à 8 lignes. Le bloc ② peut être omis entre collègues proches.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Fournir des phrases toutes faites pour chaque bloc, dans les deux registres.
de bijlage = la pièce jointe. Ik hoor graag van u = « dans l'attente de votre réponse ». Als u vragen hebt, … réinvestit l'inversion après als (M9).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Observer un e-mail formel interne (à sa cheffe), bloc par bloc.
Beste et non Geachte : c'est sa cheffe directe, qu'il connaît. Relevez Morgen bel ik (inversion, M3) et la pince kan … komen (M4). En Belgique, on prévient aussi par téléphone (M8, exercice 7) et on envoie un certificat médical.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Observer un e-mail formel externe.
Past … voor u? = « Est-ce que … vous convient ? ». Faites lire la date et l'heure à voix haute (dinsdag twaalf mei om tien uur, M2). Maesbouw est une entreprise fictive.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Observer un e-mail informel et comparer avec les modèles formels.
trakteren = offrir (à boire, à manger), une tradition d'anniversaire au bureau en Belgique et aux Pays-Bas. Faites comparer les 3 modèles : la structure en 5 blocs est la même, seuls les « curseurs » du registre changent (M8, diapo 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Rédiger un bon objet et connaître le vocabulaire de la messagerie.
Si votre messagerie est en néerlandais, montrez-la en direct. Doorsturen est un verbe séparable : Ik stuur je de mail door (M3).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Synthèse à photographier et outil d'autocorrection.
Cette checklist sert de grille d'évaluation aux exercices 5 et 6. Distribuez-la sur papier : les apprenants cochent avant de rendre leur e-mail.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Annoncer la séquence d'exercices.
Exercices 1 à 3 en séance 1 ; 4 à 7 en séance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Nommer les parties d'un e-mail.
Faites ajouter la question-guide de chaque partie (van wie? aan wie? waarover?).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CORRIGÉ — révélez les réponses une à une, en faisant justifier chaque choix.
Objectif : Nommer les parties d'un e-mail.
Faites ajouter la question-guide de chaque partie (van wie? aan wie? waarover?).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Relever les marqueurs de registre dans deux e-mails (archive diapo 4, corrigée).
L'archive signait l'e-mail B du seul prénom (Pieter) : en formel, on ajoute le nom de famille. Ik hoop dat het goed met u gaat : faites repérer le verbe à la fin après dat (M9).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CORRIGÉ — révélez les réponses une à une, en faisant justifier chaque choix.
Objectif : Relever les marqueurs de registre dans deux e-mails (archive diapo 4, corrigée).
L'archive signait l'e-mail B du seul prénom (Pieter) : en formel, on ajoute le nom de famille. Ik hoop dat het goed met u gaat : faites repérer le verbe à la fin après dat (M9).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Classer les formules selon le destinataire (archive diapos 5–6).
Les frontières sont souples : Met vriendelijke groet convient aussi aux collègues, et Tot morgen! à un ami. Comme le disait l'archive : « le ton dépend du contexte et du degré de proximité ». Acceptez toute réponse justifiée.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CORRIGÉ — révélez les réponses une à une, en faisant justifier chaque choix.
Objectif : Classer les formules selon le destinataire (archive diapos 5–6).
Les frontières sont souples : Met vriendelijke groet convient aussi aux collègues, et Tot morgen! à un ami. Comme le disait l'archive : « le ton dépend du contexte et du degré de proximité ». Acceptez toute réponse justifiée.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Remettre un e-mail dans l'ordre des 5 blocs.
Faites justifier par les blocs : objet → aanhef → opening → kern → slotzin → afsluiting → naam. Prolongement : réécrire le même e-mail en informel, à une amie qui suit le cours (Hoi Nadia, …).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CORRIGÉ — révélez les réponses une à une, en faisant justifier chaque choix.
Objectif : Remettre un e-mail dans l'ordre des 5 blocs.
Faites justifier par les blocs : objet → aanhef → opening → kern → slotzin → afsluiting → naam. Prolongement : réécrire le même e-mail en informel, à une amie qui suit le cours (Hoi Nadia, …).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Corriger un e-mail qui mélange les registres et oublie la structure.
Chaque erreur renvoie à une case de la checklist (diapo 14). Kunt u de vergadering verplaatsen? est correct : c'est un leurre. Faites corriger par deux, puis comparez avec la checklist.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CORRIGÉ — révélez les réponses une à une, en faisant justifier chaque choix.
Objectif : Corriger un e-mail qui mélange les registres et oublie la structure.
Chaque erreur renvoie à une case de la checklist (diapo 14). Kunt u de vergadering verplaatsen? est correct : c'est un leurre. Faites corriger par deux, puis comparez avec la checklist.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Rédiger un e-mail complet à partir d'une situation (reprise des situations de l'archive, ramenées à l'A1).
Chaque apprenant choisit une situation F et une situation I. Les modèles sont au présent : le passé composé (Ik heb … besteld) est vu au M15. Faites échanger les e-mails : le voisin corrige avec la checklist.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CORRIGÉ — révélez les réponses une à une, en faisant justifier chaque choix.
Objectif : Rédiger un e-mail complet à partir d'une situation (reprise des situations de l'archive, ramenées à l'A1).
Chaque apprenant choisit une situation F et une situation I. Les modèles sont au présent : le passé composé (Ik heb … besteld) est vu au M15. Faites échanger les e-mails : le voisin corrige avec la checklist.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Jouer avec le registre : écrire la version la plus polie et la plus impolie d'une même demande (archive diapos 18–19).
Faites expliquer pourquoi la version 😈 est impolie : pas d'objet, pas de meneer, pas de question, pas de remerciement, une clôture familière. C'est une révision ludique de toute la checklist. verlof (BE) = congé ; aux Pays-Bas, on dit aussi vrij nemen.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CORRIGÉ — révélez les réponses une à une, en faisant justifier chaque choix.
Objectif : Jouer avec le registre : écrire la version la plus polie et la plus impolie d'une même demande (archive diapos 18–19).
Faites expliquer pourquoi la version 😈 est impolie : pas d'objet, pas de meneer, pas de question, pas de remerciement, une clôture familière. C'est une révision ludique de toute la checklist. verlof (BE) = congé ; aux Pays-Bas, on dit aussi vrij nemen.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Vérifier les 3 objectifs du module et clore le bloc 2.
Réponses :
1. Geachte heer, geachte mevrouw, (ou Geachte heer / mevrouw + nom).
2. Met vriendelijke groet.
3. Beste meneer Maes, (ou Geachte heer Maes,) ↵ Ik stuur u de factuur. (virgule, ligne vide, majuscule)
Bilan : faites relire à chacun la frise des 10 modules et choisir le module à retravailler. Le bloc 3 approfondit le verbe et la phrase : verbes à particule, modaux, négation, formation des mots et passé composé.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1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Néerlandais 1 · UE1 · Module 10 · Een mail opstellen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1_DARK">
    <p:bg>
      <p:bgPr>
        <a:solidFill>
          <a:srgbClr val="1737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Néerlandais 1 · UE1 · Module 10 · Een mail opstellen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EF3F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1_COVER">
    <p:bg>
      <p:bgPr>
        <a:solidFill>
          <a:srgbClr val="1737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263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Néerlandais 1 · UE1 · Langue en situation, en milieu professionnel · A. Jouniaux · IRAM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737360"/>
            <a:ext cx="566928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2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749040"/>
            <a:ext cx="56692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image" Target="../media/image-13-11.png"/><Relationship Id="rId12" Type="http://schemas.openxmlformats.org/officeDocument/2006/relationships/image" Target="../media/image-13-12.pn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image" Target="../media/image-14-10.png"/><Relationship Id="rId11" Type="http://schemas.openxmlformats.org/officeDocument/2006/relationships/image" Target="../media/image-14-11.png"/><Relationship Id="rId12" Type="http://schemas.openxmlformats.org/officeDocument/2006/relationships/image" Target="../media/image-14-12.png"/><Relationship Id="rId13" Type="http://schemas.openxmlformats.org/officeDocument/2006/relationships/image" Target="../media/image-14-13.png"/><Relationship Id="rId14" Type="http://schemas.openxmlformats.org/officeDocument/2006/relationships/image" Target="../media/image-14-14.png"/><Relationship Id="rId15" Type="http://schemas.openxmlformats.org/officeDocument/2006/relationships/image" Target="../media/image-14-15.png"/><Relationship Id="rId16" Type="http://schemas.openxmlformats.org/officeDocument/2006/relationships/image" Target="../media/image-14-16.png"/><Relationship Id="rId17" Type="http://schemas.openxmlformats.org/officeDocument/2006/relationships/slideLayout" Target="../slideLayouts/slideLayout2.xml"/><Relationship Id="rId1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image" Target="../media/image-28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image" Target="../media/image-29-5.png"/><Relationship Id="rId6" Type="http://schemas.openxmlformats.org/officeDocument/2006/relationships/image" Target="../media/image-29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image" Target="../media/image-30-5.png"/><Relationship Id="rId6" Type="http://schemas.openxmlformats.org/officeDocument/2006/relationships/image" Target="../media/image-30-6.png"/><Relationship Id="rId7" Type="http://schemas.openxmlformats.org/officeDocument/2006/relationships/image" Target="../media/image-30-7.png"/><Relationship Id="rId8" Type="http://schemas.openxmlformats.org/officeDocument/2006/relationships/image" Target="../media/image-30-8.png"/><Relationship Id="rId9" Type="http://schemas.openxmlformats.org/officeDocument/2006/relationships/image" Target="../media/image-30-9.png"/><Relationship Id="rId10" Type="http://schemas.openxmlformats.org/officeDocument/2006/relationships/image" Target="../media/image-30-10.png"/><Relationship Id="rId11" Type="http://schemas.openxmlformats.org/officeDocument/2006/relationships/image" Target="../media/image-30-11.pn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548640" y="640080"/>
            <a:ext cx="2128114" cy="384048"/>
          </a:xfrm>
          <a:prstGeom prst="roundRect">
            <a:avLst>
              <a:gd name="adj" fmla="val 1190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</a:rPr>
              <a:t>MODULE 10 / 32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737360"/>
            <a:ext cx="5669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200" b="1" dirty="0">
                <a:solidFill>
                  <a:schemeClr val="bg1"/>
                </a:solidFill>
              </a:rPr>
              <a:t>Een mail opstellen</a:t>
            </a:r>
            <a:endParaRPr lang="en-US" sz="42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74904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000" i="1" dirty="0">
                <a:solidFill>
                  <a:schemeClr val="bg2"/>
                </a:solidFill>
              </a:rPr>
              <a:t>Écrire un e-mail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Beste mevrouw Janssens, … Met vriendelijke groet, Karim Benali</a:t>
            </a:r>
            <a:endParaRPr lang="en-US" sz="2000" dirty="0"/>
          </a:p>
        </p:txBody>
      </p:sp>
      <p:pic>
        <p:nvPicPr>
          <p:cNvPr id="5" name="Image 0" descr="lapto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2194560"/>
            <a:ext cx="2743200" cy="2743200"/>
          </a:xfrm>
          <a:prstGeom prst="rect">
            <a:avLst/>
          </a:prstGeom>
        </p:spPr>
      </p:pic>
      <p:pic>
        <p:nvPicPr>
          <p:cNvPr id="6" name="Image 1" descr="e mai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1188720"/>
            <a:ext cx="2194560" cy="21945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9235440" y="4206240"/>
            <a:ext cx="2194560" cy="7315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8" name="Image 2" descr="PaperPlan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40" y="4407408"/>
            <a:ext cx="329184" cy="329184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9829800" y="420624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Verzenden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Missie van vandaag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013155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MISSIE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2865120" cy="393192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524000" y="1874520"/>
            <a:ext cx="914400" cy="914400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0" descr="Searc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3456" y="2093976"/>
            <a:ext cx="475488" cy="47548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31520" y="2926080"/>
            <a:ext cx="249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Reconnaître</a:t>
            </a:r>
            <a:endParaRPr lang="en-US" sz="24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3566160"/>
            <a:ext cx="2407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Je reconnais les </a:t>
            </a:r>
            <a:r>
              <a:rPr lang="en-US" sz="2000" b="1" dirty="0">
                <a:solidFill>
                  <a:schemeClr val="tx1"/>
                </a:solidFill>
              </a:rPr>
              <a:t>5 blocs</a:t>
            </a:r>
            <a:r>
              <a:rPr lang="en-US" sz="2000" dirty="0">
                <a:solidFill>
                  <a:schemeClr val="tx1"/>
                </a:solidFill>
              </a:rPr>
              <a:t> d’un e-mail.</a:t>
            </a:r>
            <a:endParaRPr lang="en-US" sz="2000" dirty="0"/>
          </a:p>
        </p:txBody>
      </p:sp>
      <p:sp>
        <p:nvSpPr>
          <p:cNvPr id="10" name="Shape 6"/>
          <p:cNvSpPr/>
          <p:nvPr/>
        </p:nvSpPr>
        <p:spPr>
          <a:xfrm>
            <a:off x="3688080" y="1554480"/>
            <a:ext cx="2865120" cy="393192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663440" y="187452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1" descr="SortAmountU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2896" y="2093976"/>
            <a:ext cx="475488" cy="47548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870960" y="2926080"/>
            <a:ext cx="249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Choisir</a:t>
            </a:r>
            <a:endParaRPr lang="en-US" sz="2400" dirty="0"/>
          </a:p>
        </p:txBody>
      </p:sp>
      <p:sp>
        <p:nvSpPr>
          <p:cNvPr id="14" name="Text 9"/>
          <p:cNvSpPr txBox="1"/>
          <p:nvPr/>
        </p:nvSpPr>
        <p:spPr>
          <a:xfrm>
            <a:off x="3916680" y="3566160"/>
            <a:ext cx="2407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Je choisis l’ouverture et la clôture selon le </a:t>
            </a:r>
            <a:r>
              <a:rPr lang="en-US" sz="2000" b="1" dirty="0">
                <a:solidFill>
                  <a:schemeClr val="tx1"/>
                </a:solidFill>
              </a:rPr>
              <a:t>destinataire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  <a:endParaRPr lang="en-US" sz="2000" dirty="0"/>
          </a:p>
        </p:txBody>
      </p:sp>
      <p:sp>
        <p:nvSpPr>
          <p:cNvPr id="15" name="Shape 10"/>
          <p:cNvSpPr/>
          <p:nvPr/>
        </p:nvSpPr>
        <p:spPr>
          <a:xfrm>
            <a:off x="6827520" y="1554480"/>
            <a:ext cx="2865120" cy="393192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802880" y="1874520"/>
            <a:ext cx="914400" cy="914400"/>
          </a:xfrm>
          <a:prstGeom prst="ellipse">
            <a:avLst/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7" name="Image 2" descr="Pe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2336" y="2093976"/>
            <a:ext cx="475488" cy="47548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010400" y="2926080"/>
            <a:ext cx="249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Rédiger</a:t>
            </a:r>
            <a:endParaRPr lang="en-US" sz="2400" dirty="0"/>
          </a:p>
        </p:txBody>
      </p:sp>
      <p:sp>
        <p:nvSpPr>
          <p:cNvPr id="19" name="Text 13"/>
          <p:cNvSpPr txBox="1"/>
          <p:nvPr/>
        </p:nvSpPr>
        <p:spPr>
          <a:xfrm>
            <a:off x="7056120" y="3566160"/>
            <a:ext cx="2407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J’écris un e-mail court, formel ou informel.</a:t>
            </a:r>
            <a:endParaRPr lang="en-US" sz="2000" dirty="0"/>
          </a:p>
        </p:txBody>
      </p:sp>
      <p:pic>
        <p:nvPicPr>
          <p:cNvPr id="20" name="Image 3" descr="man teache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240" y="1737360"/>
            <a:ext cx="1737360" cy="1737360"/>
          </a:xfrm>
          <a:prstGeom prst="rect">
            <a:avLst/>
          </a:prstGeom>
        </p:spPr>
      </p:pic>
      <p:pic>
        <p:nvPicPr>
          <p:cNvPr id="21" name="Image 4" descr="speech ballo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81360" y="1463040"/>
            <a:ext cx="731520" cy="731520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548640" y="5669280"/>
            <a:ext cx="11091672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9525">
            <a:solidFill>
              <a:srgbClr val="17375E"/>
            </a:solidFill>
            <a:prstDash val="solid"/>
          </a:ln>
        </p:spPr>
      </p:sp>
      <p:pic>
        <p:nvPicPr>
          <p:cNvPr id="23" name="Image 5" descr="Lightbulb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5788152"/>
            <a:ext cx="329184" cy="329184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188720" y="5669280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Ce module réutilise tout le parcours : registre (M8), </a:t>
            </a:r>
            <a:r>
              <a:rPr lang="en-US" sz="1700" i="1" dirty="0">
                <a:solidFill>
                  <a:schemeClr val="tx1"/>
                </a:solidFill>
              </a:rPr>
              <a:t>omdat</a:t>
            </a:r>
            <a:r>
              <a:rPr lang="en-US" sz="1700" dirty="0">
                <a:solidFill>
                  <a:schemeClr val="tx1"/>
                </a:solidFill>
              </a:rPr>
              <a:t> (M9), verbe en 2e position (M3), dates (M2).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Échauffement — la boîte de réception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770278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ÉCHAUFFEMENT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08760"/>
            <a:ext cx="9326880" cy="4754880"/>
          </a:xfrm>
          <a:prstGeom prst="roundRect">
            <a:avLst>
              <a:gd name="adj" fmla="val 1154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1508760"/>
            <a:ext cx="9326880" cy="384048"/>
          </a:xfrm>
          <a:prstGeom prst="roundRect">
            <a:avLst>
              <a:gd name="adj" fmla="val 14286"/>
            </a:avLst>
          </a:prstGeom>
          <a:solidFill>
            <a:srgbClr val="E6EB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13232" y="1636776"/>
            <a:ext cx="128016" cy="128016"/>
          </a:xfrm>
          <a:prstGeom prst="ellipse">
            <a:avLst/>
          </a:prstGeom>
          <a:solidFill>
            <a:srgbClr val="E2725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41832" y="1636776"/>
            <a:ext cx="128016" cy="128016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170432" y="1636776"/>
            <a:ext cx="128016" cy="128016"/>
          </a:xfrm>
          <a:prstGeom prst="ellipse">
            <a:avLst/>
          </a:prstGeom>
          <a:solidFill>
            <a:srgbClr val="5FA77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463040" y="150876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Postvak IN — karim.benali@peetersco.be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94360" y="1965960"/>
            <a:ext cx="9235440" cy="850392"/>
          </a:xfrm>
          <a:prstGeom prst="rect">
            <a:avLst/>
          </a:prstGeom>
          <a:solidFill>
            <a:srgbClr val="F4F7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0" descr="woman office work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107692"/>
            <a:ext cx="566928" cy="56692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463040" y="1965960"/>
            <a:ext cx="27432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Sofie Peeters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4206240" y="1965960"/>
            <a:ext cx="42062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Lunch morgen?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8412480" y="1965960"/>
            <a:ext cx="8229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9.12</a:t>
            </a:r>
            <a:endParaRPr lang="en-US" sz="1400" dirty="0"/>
          </a:p>
        </p:txBody>
      </p:sp>
      <p:pic>
        <p:nvPicPr>
          <p:cNvPr id="16" name="Image 1" descr="office build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958084"/>
            <a:ext cx="566928" cy="56692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63040" y="2816352"/>
            <a:ext cx="27432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Directie Peeters &amp; Co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4206240" y="2816352"/>
            <a:ext cx="42062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Vergadering donderdag 10 uur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8412480" y="2816352"/>
            <a:ext cx="8229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9.40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594360" y="3666744"/>
            <a:ext cx="9235440" cy="850392"/>
          </a:xfrm>
          <a:prstGeom prst="rect">
            <a:avLst/>
          </a:prstGeom>
          <a:solidFill>
            <a:srgbClr val="F4F7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1" name="Image 2" descr="shopping car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808476"/>
            <a:ext cx="566928" cy="56692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463040" y="3666744"/>
            <a:ext cx="27432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Webshop Koopzo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4206240" y="3666744"/>
            <a:ext cx="42062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Uw bestelling 4521</a:t>
            </a:r>
            <a:endParaRPr lang="en-US" sz="1800" dirty="0"/>
          </a:p>
        </p:txBody>
      </p:sp>
      <p:sp>
        <p:nvSpPr>
          <p:cNvPr id="24" name="Text 18"/>
          <p:cNvSpPr txBox="1"/>
          <p:nvPr/>
        </p:nvSpPr>
        <p:spPr>
          <a:xfrm>
            <a:off x="8412480" y="3666744"/>
            <a:ext cx="8229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10.05</a:t>
            </a:r>
            <a:endParaRPr lang="en-US" sz="1400" dirty="0"/>
          </a:p>
        </p:txBody>
      </p:sp>
      <p:pic>
        <p:nvPicPr>
          <p:cNvPr id="25" name="Image 3" descr="old woma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658868"/>
            <a:ext cx="566928" cy="566928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463040" y="4517136"/>
            <a:ext cx="27432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Mama</a:t>
            </a:r>
            <a:endParaRPr lang="en-US" sz="1700" dirty="0"/>
          </a:p>
        </p:txBody>
      </p:sp>
      <p:sp>
        <p:nvSpPr>
          <p:cNvPr id="27" name="Text 20"/>
          <p:cNvSpPr txBox="1"/>
          <p:nvPr/>
        </p:nvSpPr>
        <p:spPr>
          <a:xfrm>
            <a:off x="4206240" y="4517136"/>
            <a:ext cx="42062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Zondag eten bij ons?</a:t>
            </a:r>
            <a:endParaRPr lang="en-US" sz="1800" dirty="0"/>
          </a:p>
        </p:txBody>
      </p:sp>
      <p:sp>
        <p:nvSpPr>
          <p:cNvPr id="28" name="Text 21"/>
          <p:cNvSpPr txBox="1"/>
          <p:nvPr/>
        </p:nvSpPr>
        <p:spPr>
          <a:xfrm>
            <a:off x="8412480" y="4517136"/>
            <a:ext cx="8229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11.30</a:t>
            </a:r>
            <a:endParaRPr lang="en-US" sz="1400" dirty="0"/>
          </a:p>
        </p:txBody>
      </p:sp>
      <p:sp>
        <p:nvSpPr>
          <p:cNvPr id="29" name="Shape 22"/>
          <p:cNvSpPr/>
          <p:nvPr/>
        </p:nvSpPr>
        <p:spPr>
          <a:xfrm>
            <a:off x="594360" y="5367528"/>
            <a:ext cx="9235440" cy="850392"/>
          </a:xfrm>
          <a:prstGeom prst="rect">
            <a:avLst/>
          </a:prstGeom>
          <a:solidFill>
            <a:srgbClr val="F4F7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0" name="Image 4" descr="man office worke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5509260"/>
            <a:ext cx="566928" cy="566928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1463040" y="5367528"/>
            <a:ext cx="27432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Jan Maes (klant)</a:t>
            </a:r>
            <a:endParaRPr lang="en-US" sz="1700" dirty="0"/>
          </a:p>
        </p:txBody>
      </p:sp>
      <p:sp>
        <p:nvSpPr>
          <p:cNvPr id="32" name="Text 24"/>
          <p:cNvSpPr txBox="1"/>
          <p:nvPr/>
        </p:nvSpPr>
        <p:spPr>
          <a:xfrm>
            <a:off x="4206240" y="5367528"/>
            <a:ext cx="42062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Vraag over factuur 2026-118</a:t>
            </a:r>
            <a:endParaRPr lang="en-US" sz="1800" dirty="0"/>
          </a:p>
        </p:txBody>
      </p:sp>
      <p:sp>
        <p:nvSpPr>
          <p:cNvPr id="33" name="Text 25"/>
          <p:cNvSpPr txBox="1"/>
          <p:nvPr/>
        </p:nvSpPr>
        <p:spPr>
          <a:xfrm>
            <a:off x="8412480" y="5367528"/>
            <a:ext cx="8229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14.02</a:t>
            </a:r>
            <a:endParaRPr lang="en-US" sz="1400" dirty="0"/>
          </a:p>
        </p:txBody>
      </p:sp>
      <p:sp>
        <p:nvSpPr>
          <p:cNvPr id="34" name="Shape 26"/>
          <p:cNvSpPr/>
          <p:nvPr/>
        </p:nvSpPr>
        <p:spPr>
          <a:xfrm>
            <a:off x="10104120" y="1508760"/>
            <a:ext cx="1536192" cy="475488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35" name="Text 27"/>
          <p:cNvSpPr txBox="1"/>
          <p:nvPr/>
        </p:nvSpPr>
        <p:spPr>
          <a:xfrm>
            <a:off x="10104120" y="1600200"/>
            <a:ext cx="1536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F ou I ?</a:t>
            </a:r>
            <a:endParaRPr lang="en-US" sz="1700" dirty="0"/>
          </a:p>
        </p:txBody>
      </p:sp>
      <p:sp>
        <p:nvSpPr>
          <p:cNvPr id="36" name="Shape 28"/>
          <p:cNvSpPr/>
          <p:nvPr/>
        </p:nvSpPr>
        <p:spPr>
          <a:xfrm>
            <a:off x="10643616" y="2162556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</p:spPr>
      </p:sp>
      <p:sp>
        <p:nvSpPr>
          <p:cNvPr id="37" name="Text 29"/>
          <p:cNvSpPr txBox="1"/>
          <p:nvPr/>
        </p:nvSpPr>
        <p:spPr>
          <a:xfrm>
            <a:off x="10643616" y="21625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C2CF"/>
                </a:solidFill>
              </a:rPr>
              <a:t>?</a:t>
            </a:r>
            <a:endParaRPr lang="en-US" sz="1800" dirty="0"/>
          </a:p>
        </p:txBody>
      </p:sp>
      <p:sp>
        <p:nvSpPr>
          <p:cNvPr id="38" name="Shape 30"/>
          <p:cNvSpPr/>
          <p:nvPr/>
        </p:nvSpPr>
        <p:spPr>
          <a:xfrm>
            <a:off x="10643616" y="3012948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</p:spPr>
      </p:sp>
      <p:sp>
        <p:nvSpPr>
          <p:cNvPr id="39" name="Text 31"/>
          <p:cNvSpPr txBox="1"/>
          <p:nvPr/>
        </p:nvSpPr>
        <p:spPr>
          <a:xfrm>
            <a:off x="10643616" y="30129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C2CF"/>
                </a:solidFill>
              </a:rPr>
              <a:t>?</a:t>
            </a:r>
            <a:endParaRPr lang="en-US" sz="1800" dirty="0"/>
          </a:p>
        </p:txBody>
      </p:sp>
      <p:sp>
        <p:nvSpPr>
          <p:cNvPr id="40" name="Shape 32"/>
          <p:cNvSpPr/>
          <p:nvPr/>
        </p:nvSpPr>
        <p:spPr>
          <a:xfrm>
            <a:off x="10643616" y="386334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</p:spPr>
      </p:sp>
      <p:sp>
        <p:nvSpPr>
          <p:cNvPr id="41" name="Text 33"/>
          <p:cNvSpPr txBox="1"/>
          <p:nvPr/>
        </p:nvSpPr>
        <p:spPr>
          <a:xfrm>
            <a:off x="10643616" y="38633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C2CF"/>
                </a:solidFill>
              </a:rPr>
              <a:t>?</a:t>
            </a:r>
            <a:endParaRPr lang="en-US" sz="1800" dirty="0"/>
          </a:p>
        </p:txBody>
      </p:sp>
      <p:sp>
        <p:nvSpPr>
          <p:cNvPr id="42" name="Shape 34"/>
          <p:cNvSpPr/>
          <p:nvPr/>
        </p:nvSpPr>
        <p:spPr>
          <a:xfrm>
            <a:off x="10643616" y="4713732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</p:spPr>
      </p:sp>
      <p:sp>
        <p:nvSpPr>
          <p:cNvPr id="43" name="Text 35"/>
          <p:cNvSpPr txBox="1"/>
          <p:nvPr/>
        </p:nvSpPr>
        <p:spPr>
          <a:xfrm>
            <a:off x="10643616" y="47137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C2CF"/>
                </a:solidFill>
              </a:rPr>
              <a:t>?</a:t>
            </a:r>
            <a:endParaRPr lang="en-US" sz="1800" dirty="0"/>
          </a:p>
        </p:txBody>
      </p:sp>
      <p:sp>
        <p:nvSpPr>
          <p:cNvPr id="44" name="Shape 36"/>
          <p:cNvSpPr/>
          <p:nvPr/>
        </p:nvSpPr>
        <p:spPr>
          <a:xfrm>
            <a:off x="10643616" y="5564124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</p:spPr>
      </p:sp>
      <p:sp>
        <p:nvSpPr>
          <p:cNvPr id="45" name="Text 37"/>
          <p:cNvSpPr txBox="1"/>
          <p:nvPr/>
        </p:nvSpPr>
        <p:spPr>
          <a:xfrm>
            <a:off x="10643616" y="55641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C2CF"/>
                </a:solidFill>
              </a:rPr>
              <a:t>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Anatomie d’un e-mail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52651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VOCABULAIRE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3520440" y="1554480"/>
            <a:ext cx="5120640" cy="4709160"/>
          </a:xfrm>
          <a:prstGeom prst="roundRect">
            <a:avLst>
              <a:gd name="adj" fmla="val 1165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520440" y="1554480"/>
            <a:ext cx="5120640" cy="384048"/>
          </a:xfrm>
          <a:prstGeom prst="roundRect">
            <a:avLst>
              <a:gd name="adj" fmla="val 14286"/>
            </a:avLst>
          </a:prstGeom>
          <a:solidFill>
            <a:srgbClr val="E6EB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685032" y="1682496"/>
            <a:ext cx="128016" cy="128016"/>
          </a:xfrm>
          <a:prstGeom prst="ellipse">
            <a:avLst/>
          </a:prstGeom>
          <a:solidFill>
            <a:srgbClr val="E2725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913632" y="1682496"/>
            <a:ext cx="128016" cy="128016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142232" y="1682496"/>
            <a:ext cx="128016" cy="128016"/>
          </a:xfrm>
          <a:prstGeom prst="ellipse">
            <a:avLst/>
          </a:prstGeom>
          <a:solidFill>
            <a:srgbClr val="5FA77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03320" y="201168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Van: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4892040" y="201168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karim.benali@peetersco.be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3703320" y="2340864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Aan: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4892040" y="2340864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an.janssens@peetersco.be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3703320" y="2670048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Onderwerp: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4892040" y="267004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Ziek vandaag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657600" y="3035808"/>
            <a:ext cx="4846320" cy="914"/>
          </a:xfrm>
          <a:prstGeom prst="line">
            <a:avLst/>
          </a:prstGeom>
          <a:noFill/>
          <a:ln w="12700">
            <a:solidFill>
              <a:srgbClr val="D5DCE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657600" y="3200400"/>
            <a:ext cx="91440" cy="338328"/>
          </a:xfrm>
          <a:prstGeom prst="rect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840480" y="3200400"/>
            <a:ext cx="4663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Beste mevrouw Janssens,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3657600" y="3611880"/>
            <a:ext cx="91440" cy="1481328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840480" y="3611880"/>
            <a:ext cx="466344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Ik ben vandaag helaas ziek: ik heb koorts. Ik kan dus niet naar de vergadering van 14 uur komen. Morgen bel ik u.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3657600" y="5166360"/>
            <a:ext cx="91440" cy="338328"/>
          </a:xfrm>
          <a:prstGeom prst="rect">
            <a:avLst/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840480" y="5166360"/>
            <a:ext cx="4663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Met vriendelijke groet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3657600" y="5577840"/>
            <a:ext cx="91440" cy="475488"/>
          </a:xfrm>
          <a:prstGeom prst="rect">
            <a:avLst/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840480" y="557784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Karim Benali · Boekhouder, Peeters &amp; Co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3154680" y="2057400"/>
            <a:ext cx="457200" cy="45720"/>
          </a:xfrm>
          <a:prstGeom prst="line">
            <a:avLst/>
          </a:prstGeom>
          <a:noFill/>
          <a:ln w="15875">
            <a:solidFill>
              <a:srgbClr val="4A5A70"/>
            </a:solidFill>
            <a:prstDash val="solid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548640" y="1600200"/>
            <a:ext cx="260604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85800" y="1645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i="1" dirty="0">
                <a:solidFill>
                  <a:schemeClr val="tx2"/>
                </a:solidFill>
              </a:rPr>
              <a:t>de afzender</a:t>
            </a:r>
            <a:endParaRPr lang="en-US" sz="1700" dirty="0"/>
          </a:p>
        </p:txBody>
      </p:sp>
      <p:sp>
        <p:nvSpPr>
          <p:cNvPr id="28" name="Text 25"/>
          <p:cNvSpPr txBox="1"/>
          <p:nvPr/>
        </p:nvSpPr>
        <p:spPr>
          <a:xfrm>
            <a:off x="685800" y="20574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van wie?</a:t>
            </a:r>
            <a:r>
              <a:rPr lang="en-US" sz="1300" dirty="0">
                <a:solidFill>
                  <a:schemeClr val="accent5"/>
                </a:solidFill>
              </a:rPr>
              <a:t> · l’expéditeur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 flipV="1">
            <a:off x="3154680" y="2432304"/>
            <a:ext cx="457200" cy="768096"/>
          </a:xfrm>
          <a:prstGeom prst="line">
            <a:avLst/>
          </a:prstGeom>
          <a:noFill/>
          <a:ln w="15875">
            <a:solidFill>
              <a:srgbClr val="4A5A70"/>
            </a:solidFill>
            <a:prstDash val="solid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548640" y="2743200"/>
            <a:ext cx="260604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85800" y="2788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i="1" dirty="0">
                <a:solidFill>
                  <a:schemeClr val="tx2"/>
                </a:solidFill>
              </a:rPr>
              <a:t>de ontvanger</a:t>
            </a:r>
            <a:endParaRPr lang="en-US" sz="1700" dirty="0"/>
          </a:p>
        </p:txBody>
      </p:sp>
      <p:sp>
        <p:nvSpPr>
          <p:cNvPr id="32" name="Text 29"/>
          <p:cNvSpPr txBox="1"/>
          <p:nvPr/>
        </p:nvSpPr>
        <p:spPr>
          <a:xfrm>
            <a:off x="685800" y="32004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aan wie?</a:t>
            </a:r>
            <a:r>
              <a:rPr lang="en-US" sz="1300" dirty="0">
                <a:solidFill>
                  <a:schemeClr val="accent5"/>
                </a:solidFill>
              </a:rPr>
              <a:t> · le destinataire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 flipV="1">
            <a:off x="3154680" y="2761488"/>
            <a:ext cx="457200" cy="1581912"/>
          </a:xfrm>
          <a:prstGeom prst="line">
            <a:avLst/>
          </a:prstGeom>
          <a:noFill/>
          <a:ln w="15875">
            <a:solidFill>
              <a:srgbClr val="4A5A70"/>
            </a:solidFill>
            <a:prstDash val="solid"/>
            <a:tailEnd type="triangle"/>
          </a:ln>
        </p:spPr>
      </p:sp>
      <p:sp>
        <p:nvSpPr>
          <p:cNvPr id="34" name="Shape 31"/>
          <p:cNvSpPr/>
          <p:nvPr/>
        </p:nvSpPr>
        <p:spPr>
          <a:xfrm>
            <a:off x="548640" y="3886200"/>
            <a:ext cx="260604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85800" y="3931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i="1" dirty="0">
                <a:solidFill>
                  <a:schemeClr val="tx2"/>
                </a:solidFill>
              </a:rPr>
              <a:t>het onderwerp</a:t>
            </a:r>
            <a:endParaRPr lang="en-US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685800" y="43434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waarover?</a:t>
            </a:r>
            <a:r>
              <a:rPr lang="en-US" sz="1300" dirty="0">
                <a:solidFill>
                  <a:schemeClr val="accent5"/>
                </a:solidFill>
              </a:rPr>
              <a:t> · l’objet</a:t>
            </a:r>
            <a:endParaRPr lang="en-US" sz="1300" dirty="0"/>
          </a:p>
        </p:txBody>
      </p:sp>
      <p:sp>
        <p:nvSpPr>
          <p:cNvPr id="37" name="Shape 34"/>
          <p:cNvSpPr/>
          <p:nvPr/>
        </p:nvSpPr>
        <p:spPr>
          <a:xfrm flipH="1">
            <a:off x="8549640" y="2057400"/>
            <a:ext cx="457200" cy="1312164"/>
          </a:xfrm>
          <a:prstGeom prst="line">
            <a:avLst/>
          </a:prstGeom>
          <a:noFill/>
          <a:ln w="15875">
            <a:solidFill>
              <a:srgbClr val="4A5A70"/>
            </a:solidFill>
            <a:prstDash val="solid"/>
            <a:tailEnd type="triangle"/>
          </a:ln>
        </p:spPr>
      </p:sp>
      <p:sp>
        <p:nvSpPr>
          <p:cNvPr id="38" name="Shape 35"/>
          <p:cNvSpPr/>
          <p:nvPr/>
        </p:nvSpPr>
        <p:spPr>
          <a:xfrm>
            <a:off x="9006840" y="1600200"/>
            <a:ext cx="2633472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9144000" y="16459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i="1" dirty="0">
                <a:solidFill>
                  <a:schemeClr val="tx2"/>
                </a:solidFill>
              </a:rPr>
              <a:t>de aanhef</a:t>
            </a:r>
            <a:endParaRPr lang="en-US" sz="1700" dirty="0"/>
          </a:p>
        </p:txBody>
      </p:sp>
      <p:sp>
        <p:nvSpPr>
          <p:cNvPr id="40" name="Text 37"/>
          <p:cNvSpPr txBox="1"/>
          <p:nvPr/>
        </p:nvSpPr>
        <p:spPr>
          <a:xfrm>
            <a:off x="9144000" y="20574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la formule d’appel</a:t>
            </a:r>
            <a:endParaRPr lang="en-US" sz="1300" dirty="0"/>
          </a:p>
        </p:txBody>
      </p:sp>
      <p:sp>
        <p:nvSpPr>
          <p:cNvPr id="41" name="Shape 38"/>
          <p:cNvSpPr/>
          <p:nvPr/>
        </p:nvSpPr>
        <p:spPr>
          <a:xfrm flipH="1">
            <a:off x="8549640" y="3218688"/>
            <a:ext cx="457200" cy="1133856"/>
          </a:xfrm>
          <a:prstGeom prst="line">
            <a:avLst/>
          </a:prstGeom>
          <a:noFill/>
          <a:ln w="15875">
            <a:solidFill>
              <a:srgbClr val="4A5A70"/>
            </a:solidFill>
            <a:prstDash val="solid"/>
            <a:tailEnd type="triangle"/>
          </a:ln>
        </p:spPr>
      </p:sp>
      <p:sp>
        <p:nvSpPr>
          <p:cNvPr id="42" name="Shape 39"/>
          <p:cNvSpPr/>
          <p:nvPr/>
        </p:nvSpPr>
        <p:spPr>
          <a:xfrm>
            <a:off x="9006840" y="2761488"/>
            <a:ext cx="2633472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9144000" y="280720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i="1" dirty="0">
                <a:solidFill>
                  <a:schemeClr val="tx2"/>
                </a:solidFill>
              </a:rPr>
              <a:t>de hoofdtekst</a:t>
            </a:r>
            <a:endParaRPr lang="en-US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9144000" y="321868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waarom?</a:t>
            </a:r>
            <a:r>
              <a:rPr lang="en-US" sz="1300" dirty="0">
                <a:solidFill>
                  <a:schemeClr val="accent5"/>
                </a:solidFill>
              </a:rPr>
              <a:t> · le corps du message</a:t>
            </a:r>
            <a:endParaRPr lang="en-US" sz="1300" dirty="0"/>
          </a:p>
        </p:txBody>
      </p:sp>
      <p:sp>
        <p:nvSpPr>
          <p:cNvPr id="45" name="Shape 42"/>
          <p:cNvSpPr/>
          <p:nvPr/>
        </p:nvSpPr>
        <p:spPr>
          <a:xfrm flipH="1">
            <a:off x="8549640" y="4379976"/>
            <a:ext cx="457200" cy="955548"/>
          </a:xfrm>
          <a:prstGeom prst="line">
            <a:avLst/>
          </a:prstGeom>
          <a:noFill/>
          <a:ln w="15875">
            <a:solidFill>
              <a:srgbClr val="4A5A70"/>
            </a:solidFill>
            <a:prstDash val="solid"/>
            <a:tailEnd type="triangle"/>
          </a:ln>
        </p:spPr>
      </p:sp>
      <p:sp>
        <p:nvSpPr>
          <p:cNvPr id="46" name="Shape 43"/>
          <p:cNvSpPr/>
          <p:nvPr/>
        </p:nvSpPr>
        <p:spPr>
          <a:xfrm>
            <a:off x="9006840" y="3922776"/>
            <a:ext cx="2633472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9144000" y="3968496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i="1" dirty="0">
                <a:solidFill>
                  <a:schemeClr val="tx2"/>
                </a:solidFill>
              </a:rPr>
              <a:t>de afsluiting</a:t>
            </a:r>
            <a:endParaRPr lang="en-US" sz="1700" dirty="0"/>
          </a:p>
        </p:txBody>
      </p:sp>
      <p:sp>
        <p:nvSpPr>
          <p:cNvPr id="48" name="Text 45"/>
          <p:cNvSpPr txBox="1"/>
          <p:nvPr/>
        </p:nvSpPr>
        <p:spPr>
          <a:xfrm>
            <a:off x="9144000" y="4379976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la formule finale</a:t>
            </a:r>
            <a:endParaRPr lang="en-US" sz="1300" dirty="0"/>
          </a:p>
        </p:txBody>
      </p:sp>
      <p:sp>
        <p:nvSpPr>
          <p:cNvPr id="49" name="Shape 46"/>
          <p:cNvSpPr/>
          <p:nvPr/>
        </p:nvSpPr>
        <p:spPr>
          <a:xfrm flipH="1">
            <a:off x="8549640" y="5541264"/>
            <a:ext cx="457200" cy="274320"/>
          </a:xfrm>
          <a:prstGeom prst="line">
            <a:avLst/>
          </a:prstGeom>
          <a:noFill/>
          <a:ln w="15875">
            <a:solidFill>
              <a:srgbClr val="4A5A70"/>
            </a:solidFill>
            <a:prstDash val="solid"/>
            <a:tailEnd type="triangle"/>
          </a:ln>
        </p:spPr>
      </p:sp>
      <p:sp>
        <p:nvSpPr>
          <p:cNvPr id="50" name="Shape 47"/>
          <p:cNvSpPr/>
          <p:nvPr/>
        </p:nvSpPr>
        <p:spPr>
          <a:xfrm>
            <a:off x="9006840" y="5084064"/>
            <a:ext cx="2633472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9144000" y="5129784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i="1" dirty="0">
                <a:solidFill>
                  <a:schemeClr val="tx2"/>
                </a:solidFill>
              </a:rPr>
              <a:t>de handtekening</a:t>
            </a:r>
            <a:endParaRPr lang="en-US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9144000" y="5541264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la signature</a:t>
            </a:r>
            <a:endParaRPr lang="en-US" sz="1300" dirty="0"/>
          </a:p>
        </p:txBody>
      </p:sp>
      <p:sp>
        <p:nvSpPr>
          <p:cNvPr id="53" name="Text 50"/>
          <p:cNvSpPr txBox="1"/>
          <p:nvPr/>
        </p:nvSpPr>
        <p:spPr>
          <a:xfrm>
            <a:off x="548640" y="516636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BE : </a:t>
            </a:r>
            <a:r>
              <a:rPr lang="en-US" sz="1300" i="1" dirty="0">
                <a:solidFill>
                  <a:schemeClr val="accent5"/>
                </a:solidFill>
              </a:rPr>
              <a:t>de bestemmeling</a:t>
            </a:r>
            <a:r>
              <a:rPr lang="en-US" sz="1300" i="1" dirty="0">
                <a:solidFill>
                  <a:schemeClr val="accent5"/>
                </a:solidFill>
              </a:rPr>
              <a:t> = </a:t>
            </a:r>
            <a:r>
              <a:rPr lang="en-US" sz="1300" i="1" dirty="0">
                <a:solidFill>
                  <a:schemeClr val="accent5"/>
                </a:solidFill>
              </a:rPr>
              <a:t>de ontvanger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L’échelle des salutations (aanhef)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52651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VOCABULAIRE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146304" cy="3749040"/>
          </a:xfrm>
          <a:prstGeom prst="rect">
            <a:avLst/>
          </a:prstGeom>
          <a:solidFill>
            <a:srgbClr val="B8C2C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266176" y="1554480"/>
            <a:ext cx="146304" cy="3749040"/>
          </a:xfrm>
          <a:prstGeom prst="rect">
            <a:avLst/>
          </a:prstGeom>
          <a:solidFill>
            <a:srgbClr val="B8C2C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77240" y="1673352"/>
            <a:ext cx="7406640" cy="768096"/>
          </a:xfrm>
          <a:prstGeom prst="roundRect">
            <a:avLst>
              <a:gd name="adj" fmla="val 9524"/>
            </a:avLst>
          </a:prstGeom>
          <a:solidFill>
            <a:srgbClr val="1737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60120" y="1673352"/>
            <a:ext cx="4089197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i="1" dirty="0">
                <a:solidFill>
                  <a:schemeClr val="bg1"/>
                </a:solidFill>
              </a:rPr>
              <a:t>Geachte heer, geachte mevrouw,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5135270" y="1673352"/>
            <a:ext cx="213421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inconnu (service, entreprise)</a:t>
            </a:r>
            <a:endParaRPr lang="en-US" sz="1300" dirty="0"/>
          </a:p>
        </p:txBody>
      </p:sp>
      <p:pic>
        <p:nvPicPr>
          <p:cNvPr id="10" name="Image 0" descr="office build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1764792"/>
            <a:ext cx="585216" cy="585216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777240" y="2587752"/>
            <a:ext cx="7406640" cy="768096"/>
          </a:xfrm>
          <a:prstGeom prst="roundRect">
            <a:avLst>
              <a:gd name="adj" fmla="val 9524"/>
            </a:avLst>
          </a:prstGeom>
          <a:solidFill>
            <a:srgbClr val="2A5A8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960120" y="2587752"/>
            <a:ext cx="4089197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i="1" dirty="0">
                <a:solidFill>
                  <a:schemeClr val="bg1"/>
                </a:solidFill>
              </a:rPr>
              <a:t>Geachte mevrouw Claes, / Geachte heer Maes,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5135270" y="2587752"/>
            <a:ext cx="213421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client, administration, 1er contact</a:t>
            </a:r>
            <a:endParaRPr lang="en-US" sz="1300" dirty="0"/>
          </a:p>
        </p:txBody>
      </p:sp>
      <p:pic>
        <p:nvPicPr>
          <p:cNvPr id="14" name="Image 1" descr="man office work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2679192"/>
            <a:ext cx="585216" cy="585216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777240" y="3502152"/>
            <a:ext cx="7406640" cy="768096"/>
          </a:xfrm>
          <a:prstGeom prst="roundRect">
            <a:avLst>
              <a:gd name="adj" fmla="val 9524"/>
            </a:avLst>
          </a:prstGeom>
          <a:solidFill>
            <a:srgbClr val="3F7FB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960120" y="3502152"/>
            <a:ext cx="4089197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i="1" dirty="0">
                <a:solidFill>
                  <a:schemeClr val="bg1"/>
                </a:solidFill>
              </a:rPr>
              <a:t>Beste mevrouw Janssens, / Beste Sofie,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5135270" y="3502152"/>
            <a:ext cx="213421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collègue, cheffe, contact connu</a:t>
            </a:r>
            <a:endParaRPr lang="en-US" sz="1300" dirty="0"/>
          </a:p>
        </p:txBody>
      </p:sp>
      <p:pic>
        <p:nvPicPr>
          <p:cNvPr id="18" name="Image 2" descr="woman office work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3593592"/>
            <a:ext cx="585216" cy="585216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777240" y="4416552"/>
            <a:ext cx="7406640" cy="768096"/>
          </a:xfrm>
          <a:prstGeom prst="roundRect">
            <a:avLst>
              <a:gd name="adj" fmla="val 9524"/>
            </a:avLst>
          </a:prstGeom>
          <a:solidFill>
            <a:srgbClr val="5B9BD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960120" y="4416552"/>
            <a:ext cx="4089197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i="1" dirty="0">
                <a:solidFill>
                  <a:schemeClr val="bg1"/>
                </a:solidFill>
              </a:rPr>
              <a:t>Hoi Lies, / Hallo Tom,</a:t>
            </a:r>
            <a:endParaRPr lang="en-US" sz="1700" dirty="0"/>
          </a:p>
        </p:txBody>
      </p:sp>
      <p:sp>
        <p:nvSpPr>
          <p:cNvPr id="21" name="Text 15"/>
          <p:cNvSpPr txBox="1"/>
          <p:nvPr/>
        </p:nvSpPr>
        <p:spPr>
          <a:xfrm>
            <a:off x="5135270" y="4416552"/>
            <a:ext cx="213421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ami·e, collègue proche</a:t>
            </a:r>
            <a:endParaRPr lang="en-US" sz="1300" dirty="0"/>
          </a:p>
        </p:txBody>
      </p:sp>
      <p:pic>
        <p:nvPicPr>
          <p:cNvPr id="22" name="Image 3" descr="people huggi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0" y="4507992"/>
            <a:ext cx="585216" cy="585216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8641080" y="1600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▲ très formel</a:t>
            </a:r>
            <a:endParaRPr lang="en-US" sz="1500" dirty="0"/>
          </a:p>
        </p:txBody>
      </p:sp>
      <p:sp>
        <p:nvSpPr>
          <p:cNvPr id="24" name="Text 17"/>
          <p:cNvSpPr txBox="1"/>
          <p:nvPr/>
        </p:nvSpPr>
        <p:spPr>
          <a:xfrm>
            <a:off x="8641080" y="48920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B9BD5"/>
                </a:solidFill>
              </a:rPr>
              <a:t>▼ informel</a:t>
            </a:r>
            <a:endParaRPr lang="en-US" sz="1500" dirty="0"/>
          </a:p>
        </p:txBody>
      </p:sp>
      <p:sp>
        <p:nvSpPr>
          <p:cNvPr id="25" name="Shape 18"/>
          <p:cNvSpPr/>
          <p:nvPr/>
        </p:nvSpPr>
        <p:spPr>
          <a:xfrm>
            <a:off x="8641080" y="2103120"/>
            <a:ext cx="2999232" cy="2651760"/>
          </a:xfrm>
          <a:prstGeom prst="roundRect">
            <a:avLst>
              <a:gd name="adj" fmla="val 3448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8823960" y="2267712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7" name="Image 4" descr="Sta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0023" y="2403775"/>
            <a:ext cx="294803" cy="294803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9537192" y="2249424"/>
            <a:ext cx="1965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Beste</a:t>
            </a:r>
            <a:endParaRPr lang="en-US" sz="1900" dirty="0"/>
          </a:p>
        </p:txBody>
      </p:sp>
      <p:sp>
        <p:nvSpPr>
          <p:cNvPr id="29" name="Text 21"/>
          <p:cNvSpPr txBox="1"/>
          <p:nvPr/>
        </p:nvSpPr>
        <p:spPr>
          <a:xfrm>
            <a:off x="8842248" y="2971800"/>
            <a:ext cx="2596896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le plus courant en Flandre : il convient </a:t>
            </a:r>
            <a:r>
              <a:rPr lang="en-US" sz="1500" b="1" dirty="0">
                <a:solidFill>
                  <a:schemeClr val="tx1"/>
                </a:solidFill>
              </a:rPr>
              <a:t>presque partout</a:t>
            </a:r>
            <a:r>
              <a:rPr lang="en-US" sz="1500" dirty="0">
                <a:solidFill>
                  <a:schemeClr val="tx1"/>
                </a:solidFill>
              </a:rPr>
              <a:t>.</a:t>
            </a:r>
            <a:endParaRPr lang="en-US" sz="15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500" i="1" dirty="0">
                <a:solidFill>
                  <a:schemeClr val="tx1"/>
                </a:solidFill>
              </a:rPr>
              <a:t>Beste meneer</a:t>
            </a:r>
            <a:r>
              <a:rPr lang="en-US" sz="1500" dirty="0">
                <a:solidFill>
                  <a:schemeClr val="tx1"/>
                </a:solidFill>
              </a:rPr>
              <a:t> · </a:t>
            </a:r>
            <a:r>
              <a:rPr lang="en-US" sz="1500" i="1" dirty="0">
                <a:solidFill>
                  <a:schemeClr val="tx1"/>
                </a:solidFill>
              </a:rPr>
              <a:t>Geachte heer</a:t>
            </a:r>
            <a:r>
              <a:rPr lang="en-US" sz="1500" dirty="0">
                <a:solidFill>
                  <a:schemeClr val="tx1"/>
                </a:solidFill>
              </a:rPr>
              <a:t> + </a:t>
            </a:r>
            <a:r>
              <a:rPr lang="en-US" sz="1500" b="1" dirty="0">
                <a:solidFill>
                  <a:schemeClr val="tx1"/>
                </a:solidFill>
              </a:rPr>
              <a:t>nom de famille</a:t>
            </a:r>
            <a:endParaRPr lang="en-US" sz="1500" dirty="0"/>
          </a:p>
        </p:txBody>
      </p:sp>
      <p:sp>
        <p:nvSpPr>
          <p:cNvPr id="30" name="Shape 22"/>
          <p:cNvSpPr/>
          <p:nvPr/>
        </p:nvSpPr>
        <p:spPr>
          <a:xfrm>
            <a:off x="548640" y="5486400"/>
            <a:ext cx="11091672" cy="777240"/>
          </a:xfrm>
          <a:prstGeom prst="roundRect">
            <a:avLst>
              <a:gd name="adj" fmla="val 9412"/>
            </a:avLst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3"/>
          <p:cNvSpPr txBox="1"/>
          <p:nvPr/>
        </p:nvSpPr>
        <p:spPr>
          <a:xfrm>
            <a:off x="822960" y="548640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Après la formule : </a:t>
            </a:r>
            <a:r>
              <a:rPr lang="en-US" sz="1800" b="1" dirty="0">
                <a:solidFill>
                  <a:schemeClr val="bg1"/>
                </a:solidFill>
              </a:rPr>
              <a:t>virgule</a:t>
            </a:r>
            <a:r>
              <a:rPr lang="en-US" sz="1800" dirty="0">
                <a:solidFill>
                  <a:schemeClr val="bg1"/>
                </a:solidFill>
              </a:rPr>
              <a:t>, ligne vide, puis </a:t>
            </a:r>
            <a:r>
              <a:rPr lang="en-US" sz="1800" b="1" dirty="0">
                <a:solidFill>
                  <a:schemeClr val="bg1"/>
                </a:solidFill>
              </a:rPr>
              <a:t>majuscule</a:t>
            </a:r>
            <a:r>
              <a:rPr lang="en-US" sz="1800" dirty="0">
                <a:solidFill>
                  <a:schemeClr val="bg1"/>
                </a:solidFill>
              </a:rPr>
              <a:t>.   </a:t>
            </a:r>
            <a:r>
              <a:rPr lang="en-US" sz="1800" i="1" dirty="0">
                <a:solidFill>
                  <a:schemeClr val="bg1"/>
                </a:solidFill>
              </a:rPr>
              <a:t>Beste Sofie,</a:t>
            </a:r>
            <a:r>
              <a:rPr lang="en-US" sz="1800" dirty="0">
                <a:solidFill>
                  <a:schemeClr val="bg1"/>
                </a:solidFill>
              </a:rPr>
              <a:t> ↵ </a:t>
            </a:r>
            <a:r>
              <a:rPr lang="en-US" sz="1800" i="1" dirty="0">
                <a:solidFill>
                  <a:schemeClr val="bg1"/>
                </a:solidFill>
              </a:rPr>
              <a:t>Ik stuur je…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L’échelle des clôtures (afsluiting)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52651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VOCABULAIRE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673352"/>
            <a:ext cx="3566160" cy="768096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" y="1673352"/>
            <a:ext cx="3291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Geachte heer, geachte mevrouw,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160520" y="2057400"/>
            <a:ext cx="640080" cy="914"/>
          </a:xfrm>
          <a:prstGeom prst="line">
            <a:avLst/>
          </a:prstGeom>
          <a:noFill/>
          <a:ln w="25400">
            <a:solidFill>
              <a:srgbClr val="4A5A70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4846320" y="1673352"/>
            <a:ext cx="6793992" cy="768096"/>
          </a:xfrm>
          <a:prstGeom prst="roundRect">
            <a:avLst>
              <a:gd name="adj" fmla="val 9524"/>
            </a:avLst>
          </a:prstGeom>
          <a:solidFill>
            <a:srgbClr val="1737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029200" y="1673352"/>
            <a:ext cx="4206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i="1" dirty="0">
                <a:solidFill>
                  <a:schemeClr val="bg1"/>
                </a:solidFill>
              </a:rPr>
              <a:t>Hoogachtend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9235440" y="1673352"/>
            <a:ext cx="22860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bg1"/>
                </a:solidFill>
              </a:rPr>
              <a:t>très formel (lettre officielle)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2587752"/>
            <a:ext cx="3566160" cy="768096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85800" y="2587752"/>
            <a:ext cx="3291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Geachte / Beste mevrouw…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4160520" y="2971800"/>
            <a:ext cx="640080" cy="914"/>
          </a:xfrm>
          <a:prstGeom prst="line">
            <a:avLst/>
          </a:prstGeom>
          <a:noFill/>
          <a:ln w="25400">
            <a:solidFill>
              <a:srgbClr val="4A5A70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4846320" y="2587752"/>
            <a:ext cx="6793992" cy="768096"/>
          </a:xfrm>
          <a:prstGeom prst="roundRect">
            <a:avLst>
              <a:gd name="adj" fmla="val 9524"/>
            </a:avLst>
          </a:prstGeom>
          <a:solidFill>
            <a:srgbClr val="2A5A8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029200" y="2587752"/>
            <a:ext cx="4206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i="1" dirty="0">
                <a:solidFill>
                  <a:schemeClr val="bg1"/>
                </a:solidFill>
              </a:rPr>
              <a:t>Met vriendelijke groet(en)</a:t>
            </a:r>
            <a:endParaRPr lang="en-US" sz="1900" dirty="0"/>
          </a:p>
        </p:txBody>
      </p:sp>
      <p:sp>
        <p:nvSpPr>
          <p:cNvPr id="16" name="Text 13"/>
          <p:cNvSpPr txBox="1"/>
          <p:nvPr/>
        </p:nvSpPr>
        <p:spPr>
          <a:xfrm>
            <a:off x="9235440" y="2587752"/>
            <a:ext cx="22860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bg1"/>
                </a:solidFill>
              </a:rPr>
              <a:t>formel, le passe-partout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48640" y="3502152"/>
            <a:ext cx="3566160" cy="768096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85800" y="3502152"/>
            <a:ext cx="3291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Beste Sofie,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4160520" y="3886200"/>
            <a:ext cx="640080" cy="914"/>
          </a:xfrm>
          <a:prstGeom prst="line">
            <a:avLst/>
          </a:prstGeom>
          <a:noFill/>
          <a:ln w="25400">
            <a:solidFill>
              <a:srgbClr val="4A5A70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4846320" y="3502152"/>
            <a:ext cx="6793992" cy="768096"/>
          </a:xfrm>
          <a:prstGeom prst="roundRect">
            <a:avLst>
              <a:gd name="adj" fmla="val 9524"/>
            </a:avLst>
          </a:prstGeom>
          <a:solidFill>
            <a:srgbClr val="3F7FB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029200" y="3502152"/>
            <a:ext cx="4206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i="1" dirty="0">
                <a:solidFill>
                  <a:schemeClr val="bg1"/>
                </a:solidFill>
              </a:rPr>
              <a:t>Vriendelijke groeten · Beste groeten</a:t>
            </a:r>
            <a:endParaRPr lang="en-US" sz="1900" dirty="0"/>
          </a:p>
        </p:txBody>
      </p:sp>
      <p:sp>
        <p:nvSpPr>
          <p:cNvPr id="22" name="Text 19"/>
          <p:cNvSpPr txBox="1"/>
          <p:nvPr/>
        </p:nvSpPr>
        <p:spPr>
          <a:xfrm>
            <a:off x="9235440" y="3502152"/>
            <a:ext cx="22860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bg1"/>
                </a:solidFill>
              </a:rPr>
              <a:t>neutre, collègues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48640" y="4416552"/>
            <a:ext cx="3566160" cy="768096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85800" y="4416552"/>
            <a:ext cx="3291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Hoi Lies,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4160520" y="4800600"/>
            <a:ext cx="640080" cy="914"/>
          </a:xfrm>
          <a:prstGeom prst="line">
            <a:avLst/>
          </a:prstGeom>
          <a:noFill/>
          <a:ln w="25400">
            <a:solidFill>
              <a:srgbClr val="4A5A70"/>
            </a:solidFill>
            <a:prstDash val="solid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4846320" y="4416552"/>
            <a:ext cx="6793992" cy="768096"/>
          </a:xfrm>
          <a:prstGeom prst="roundRect">
            <a:avLst>
              <a:gd name="adj" fmla="val 9524"/>
            </a:avLst>
          </a:prstGeom>
          <a:solidFill>
            <a:srgbClr val="5B9BD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5029200" y="4416552"/>
            <a:ext cx="4206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i="1" dirty="0">
                <a:solidFill>
                  <a:schemeClr val="bg1"/>
                </a:solidFill>
              </a:rPr>
              <a:t>Groetjes · Tot morgen! · Veel liefs · Kusjes</a:t>
            </a:r>
            <a:endParaRPr lang="en-US" sz="1900" dirty="0"/>
          </a:p>
        </p:txBody>
      </p:sp>
      <p:sp>
        <p:nvSpPr>
          <p:cNvPr id="28" name="Text 25"/>
          <p:cNvSpPr txBox="1"/>
          <p:nvPr/>
        </p:nvSpPr>
        <p:spPr>
          <a:xfrm>
            <a:off x="9235440" y="4416552"/>
            <a:ext cx="22860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bg1"/>
                </a:solidFill>
              </a:rPr>
              <a:t>familier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548640" y="52578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AANHEF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4846320" y="5257800"/>
            <a:ext cx="6793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AFSLUITING (en miroir)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548640" y="5577840"/>
            <a:ext cx="11091672" cy="685800"/>
          </a:xfrm>
          <a:prstGeom prst="roundRect">
            <a:avLst>
              <a:gd name="adj" fmla="val 10667"/>
            </a:avLst>
          </a:prstGeom>
          <a:solidFill>
            <a:schemeClr val="accent3">
              <a:alpha val="15000"/>
            </a:schemeClr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77240" y="557784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+ slotzin</a:t>
            </a:r>
            <a:r>
              <a:rPr lang="en-US" sz="1600" dirty="0">
                <a:solidFill>
                  <a:schemeClr val="tx1"/>
                </a:solidFill>
              </a:rPr>
              <a:t> avant la formule : </a:t>
            </a:r>
            <a:r>
              <a:rPr lang="en-US" sz="1600" i="1" dirty="0">
                <a:solidFill>
                  <a:schemeClr val="tx1"/>
                </a:solidFill>
              </a:rPr>
              <a:t>Alvast bedankt.</a:t>
            </a:r>
            <a:r>
              <a:rPr lang="en-US" sz="1600" dirty="0">
                <a:solidFill>
                  <a:schemeClr val="tx1"/>
                </a:solidFill>
              </a:rPr>
              <a:t> · </a:t>
            </a:r>
            <a:r>
              <a:rPr lang="en-US" sz="1600" i="1" dirty="0">
                <a:solidFill>
                  <a:schemeClr val="tx1"/>
                </a:solidFill>
              </a:rPr>
              <a:t>Hou je taai!</a:t>
            </a:r>
            <a:r>
              <a:rPr lang="en-US" sz="1600" dirty="0">
                <a:solidFill>
                  <a:schemeClr val="tx1"/>
                </a:solidFill>
              </a:rPr>
              <a:t> et </a:t>
            </a:r>
            <a:r>
              <a:rPr lang="en-US" sz="1600" i="1" dirty="0">
                <a:solidFill>
                  <a:schemeClr val="tx1"/>
                </a:solidFill>
              </a:rPr>
              <a:t>Kusjes</a:t>
            </a:r>
            <a:r>
              <a:rPr lang="en-US" sz="1600" dirty="0">
                <a:solidFill>
                  <a:schemeClr val="tx1"/>
                </a:solidFill>
              </a:rPr>
              <a:t> = proches seulement · virgule finale facultative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PIÈGE : la formule finale à la française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878178" cy="310896"/>
          </a:xfrm>
          <a:prstGeom prst="roundRect">
            <a:avLst>
              <a:gd name="adj" fmla="val 14706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PIÈGE FR ≠ NL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11091672" cy="2331720"/>
          </a:xfrm>
          <a:prstGeom prst="roundRect">
            <a:avLst>
              <a:gd name="adj" fmla="val 3137"/>
            </a:avLst>
          </a:prstGeom>
          <a:solidFill>
            <a:schemeClr val="accent6">
              <a:alpha val="7000"/>
            </a:schemeClr>
          </a:solidFill>
          <a:ln w="12700">
            <a:solidFill>
              <a:srgbClr val="B83227">
                <a:alpha val="60000"/>
              </a:srgbClr>
            </a:solidFill>
            <a:prstDash val="solid"/>
          </a:ln>
        </p:spPr>
      </p:sp>
      <p:sp>
        <p:nvSpPr>
          <p:cNvPr id="6" name="tag"/>
          <p:cNvSpPr/>
          <p:nvPr/>
        </p:nvSpPr>
        <p:spPr>
          <a:xfrm>
            <a:off x="731520" y="1719072"/>
            <a:ext cx="1230782" cy="292608"/>
          </a:xfrm>
          <a:prstGeom prst="roundRect">
            <a:avLst>
              <a:gd name="adj" fmla="val 15625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⚠ PIÈGE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057400"/>
            <a:ext cx="10543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strike="sngStrike" dirty="0">
                <a:solidFill>
                  <a:schemeClr val="accent6"/>
                </a:solidFill>
              </a:rPr>
              <a:t>« Veuillez agréer, Madame, l’expression de mes salutations distinguées. »</a:t>
            </a:r>
            <a:endParaRPr lang="en-US" sz="2200" dirty="0"/>
          </a:p>
        </p:txBody>
      </p:sp>
      <p:pic>
        <p:nvPicPr>
          <p:cNvPr id="8" name="Image 0" descr="ArrowDow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816352"/>
            <a:ext cx="237744" cy="23774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777240" y="3044952"/>
            <a:ext cx="10634472" cy="740664"/>
          </a:xfrm>
          <a:prstGeom prst="roundRect">
            <a:avLst>
              <a:gd name="adj" fmla="val 9877"/>
            </a:avLst>
          </a:prstGeom>
          <a:solidFill>
            <a:schemeClr val="accent3">
              <a:alpha val="12000"/>
            </a:schemeClr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914400" y="3044952"/>
            <a:ext cx="10360152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i="1" dirty="0">
                <a:solidFill>
                  <a:schemeClr val="tx1"/>
                </a:solidFill>
              </a:rPr>
              <a:t>Met vriendelijke groet</a:t>
            </a:r>
            <a:endParaRPr lang="en-US" sz="2200" dirty="0"/>
          </a:p>
        </p:txBody>
      </p:sp>
      <p:sp>
        <p:nvSpPr>
          <p:cNvPr id="11" name="Shape 7"/>
          <p:cNvSpPr/>
          <p:nvPr/>
        </p:nvSpPr>
        <p:spPr>
          <a:xfrm>
            <a:off x="548640" y="4023360"/>
            <a:ext cx="11091672" cy="1600200"/>
          </a:xfrm>
          <a:prstGeom prst="roundRect">
            <a:avLst>
              <a:gd name="adj" fmla="val 4571"/>
            </a:avLst>
          </a:prstGeom>
          <a:solidFill>
            <a:schemeClr val="accent6">
              <a:alpha val="7000"/>
            </a:schemeClr>
          </a:solidFill>
          <a:ln w="12700">
            <a:solidFill>
              <a:srgbClr val="B83227">
                <a:alpha val="60000"/>
              </a:srgbClr>
            </a:solidFill>
            <a:prstDash val="solid"/>
          </a:ln>
        </p:spPr>
      </p:sp>
      <p:sp>
        <p:nvSpPr>
          <p:cNvPr id="12" name="tag"/>
          <p:cNvSpPr/>
          <p:nvPr/>
        </p:nvSpPr>
        <p:spPr>
          <a:xfrm>
            <a:off x="731520" y="4187952"/>
            <a:ext cx="1230782" cy="292608"/>
          </a:xfrm>
          <a:prstGeom prst="roundRect">
            <a:avLst>
              <a:gd name="adj" fmla="val 15625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⚠ PIÈGE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4526280"/>
            <a:ext cx="10543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« Chère Madame, » → </a:t>
            </a:r>
            <a:r>
              <a:rPr lang="en-US" sz="2000" i="1" strike="sngStrike" dirty="0">
                <a:solidFill>
                  <a:schemeClr val="accent6"/>
                </a:solidFill>
              </a:rPr>
              <a:t>Lieve mevrouw,</a:t>
            </a:r>
            <a:endParaRPr lang="en-US" sz="2000" dirty="0"/>
          </a:p>
        </p:txBody>
      </p:sp>
      <p:pic>
        <p:nvPicPr>
          <p:cNvPr id="14" name="Image 1" descr="ArrowDow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919472"/>
            <a:ext cx="237744" cy="237744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777240" y="5148072"/>
            <a:ext cx="10634472" cy="374904"/>
          </a:xfrm>
          <a:prstGeom prst="roundRect">
            <a:avLst>
              <a:gd name="adj" fmla="val 19512"/>
            </a:avLst>
          </a:prstGeom>
          <a:solidFill>
            <a:schemeClr val="accent3">
              <a:alpha val="12000"/>
            </a:schemeClr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914400" y="5148072"/>
            <a:ext cx="1036015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i="1" dirty="0">
                <a:solidFill>
                  <a:schemeClr val="tx1"/>
                </a:solidFill>
              </a:rPr>
              <a:t>Beste mevrouw Janssens,</a:t>
            </a:r>
            <a:endParaRPr lang="en-US" sz="2000" dirty="0"/>
          </a:p>
        </p:txBody>
      </p:sp>
      <p:sp>
        <p:nvSpPr>
          <p:cNvPr id="17" name="Shape 12"/>
          <p:cNvSpPr/>
          <p:nvPr/>
        </p:nvSpPr>
        <p:spPr>
          <a:xfrm>
            <a:off x="548640" y="5760720"/>
            <a:ext cx="11091672" cy="530352"/>
          </a:xfrm>
          <a:prstGeom prst="roundRect">
            <a:avLst>
              <a:gd name="adj" fmla="val 13793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822960" y="5760720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Un e-mail formel néerlandais reste </a:t>
            </a:r>
            <a:r>
              <a:rPr lang="en-US" sz="1800" b="1" dirty="0">
                <a:solidFill>
                  <a:schemeClr val="bg1"/>
                </a:solidFill>
              </a:rPr>
              <a:t>court et direct</a:t>
            </a:r>
            <a:r>
              <a:rPr lang="en-US" sz="1800" dirty="0">
                <a:solidFill>
                  <a:schemeClr val="bg1"/>
                </a:solidFill>
              </a:rPr>
              <a:t>. </a:t>
            </a:r>
            <a:r>
              <a:rPr lang="en-US" sz="1800" i="1" dirty="0">
                <a:solidFill>
                  <a:schemeClr val="bg1"/>
                </a:solidFill>
              </a:rPr>
              <a:t>Lieve</a:t>
            </a:r>
            <a:r>
              <a:rPr lang="en-US" sz="1800" dirty="0">
                <a:solidFill>
                  <a:schemeClr val="bg1"/>
                </a:solidFill>
              </a:rPr>
              <a:t> = pour les proches.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Les 5 blocs d’un e-mail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336853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GRAMMAIRE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2377440" y="1508760"/>
            <a:ext cx="6400800" cy="4754880"/>
          </a:xfrm>
          <a:prstGeom prst="roundRect">
            <a:avLst>
              <a:gd name="adj" fmla="val 1154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377440" y="1508760"/>
            <a:ext cx="6400800" cy="384048"/>
          </a:xfrm>
          <a:prstGeom prst="roundRect">
            <a:avLst>
              <a:gd name="adj" fmla="val 14286"/>
            </a:avLst>
          </a:prstGeom>
          <a:solidFill>
            <a:srgbClr val="E6EB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542032" y="1636776"/>
            <a:ext cx="128016" cy="128016"/>
          </a:xfrm>
          <a:prstGeom prst="ellipse">
            <a:avLst/>
          </a:prstGeom>
          <a:solidFill>
            <a:srgbClr val="E2725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770632" y="1636776"/>
            <a:ext cx="128016" cy="128016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999232" y="1636776"/>
            <a:ext cx="128016" cy="128016"/>
          </a:xfrm>
          <a:prstGeom prst="ellipse">
            <a:avLst/>
          </a:prstGeom>
          <a:solidFill>
            <a:srgbClr val="5FA77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291840" y="150876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Nieuw bericht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514600" y="2048256"/>
            <a:ext cx="6126480" cy="612648"/>
          </a:xfrm>
          <a:prstGeom prst="roundRect">
            <a:avLst>
              <a:gd name="adj" fmla="val 11940"/>
            </a:avLst>
          </a:prstGeom>
          <a:solidFill>
            <a:schemeClr val="tx2">
              <a:alpha val="15000"/>
            </a:schemeClr>
          </a:solidFill>
          <a:ln w="15875">
            <a:solidFill>
              <a:srgbClr val="17375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697480" y="2048256"/>
            <a:ext cx="57607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Beste mevrouw Janssens,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548640" y="2171700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21717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960120" y="201168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Aanhef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8961120" y="201168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chemeClr val="tx2"/>
                </a:solidFill>
              </a:rPr>
              <a:t>À qui ?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2514600" y="2734056"/>
            <a:ext cx="6126480" cy="612648"/>
          </a:xfrm>
          <a:prstGeom prst="roundRect">
            <a:avLst>
              <a:gd name="adj" fmla="val 11940"/>
            </a:avLst>
          </a:prstGeom>
          <a:solidFill>
            <a:schemeClr val="accent2">
              <a:alpha val="15000"/>
            </a:schemeClr>
          </a:solidFill>
          <a:ln w="15875">
            <a:solidFill>
              <a:srgbClr val="2A6FB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2697480" y="2734056"/>
            <a:ext cx="57607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Ik schrijf u omdat…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548640" y="2857500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48640" y="28575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960120" y="269748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Opening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8961120" y="269748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chemeClr val="accent2"/>
                </a:solidFill>
              </a:rPr>
              <a:t>Pourquoi j’écris ?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2514600" y="3419856"/>
            <a:ext cx="6126480" cy="1252728"/>
          </a:xfrm>
          <a:prstGeom prst="roundRect">
            <a:avLst>
              <a:gd name="adj" fmla="val 5839"/>
            </a:avLst>
          </a:prstGeom>
          <a:solidFill>
            <a:schemeClr val="accent1">
              <a:alpha val="15000"/>
            </a:schemeClr>
          </a:solidFill>
          <a:ln w="15875">
            <a:solidFill>
              <a:srgbClr val="D9700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2697480" y="3419856"/>
            <a:ext cx="576072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Kunt u…?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548640" y="386334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48640" y="38633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960120" y="3383280"/>
            <a:ext cx="1371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Kern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8961120" y="3383280"/>
            <a:ext cx="2651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chemeClr val="accent1"/>
                </a:solidFill>
              </a:rPr>
              <a:t>Quoi ?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2514600" y="4745736"/>
            <a:ext cx="6126480" cy="612648"/>
          </a:xfrm>
          <a:prstGeom prst="roundRect">
            <a:avLst>
              <a:gd name="adj" fmla="val 11940"/>
            </a:avLst>
          </a:prstGeom>
          <a:solidFill>
            <a:schemeClr val="accent3">
              <a:alpha val="15000"/>
            </a:schemeClr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2697480" y="4745736"/>
            <a:ext cx="57607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Alvast bedankt. · Ik hoor graag van u.</a:t>
            </a:r>
            <a:endParaRPr lang="en-US" sz="1800" dirty="0"/>
          </a:p>
        </p:txBody>
      </p:sp>
      <p:sp>
        <p:nvSpPr>
          <p:cNvPr id="31" name="Shape 28"/>
          <p:cNvSpPr/>
          <p:nvPr/>
        </p:nvSpPr>
        <p:spPr>
          <a:xfrm>
            <a:off x="548640" y="4869180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548640" y="48691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960120" y="470916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Slotzin</a:t>
            </a:r>
            <a:endParaRPr lang="en-US" sz="1500" dirty="0"/>
          </a:p>
        </p:txBody>
      </p:sp>
      <p:sp>
        <p:nvSpPr>
          <p:cNvPr id="34" name="Text 31"/>
          <p:cNvSpPr txBox="1"/>
          <p:nvPr/>
        </p:nvSpPr>
        <p:spPr>
          <a:xfrm>
            <a:off x="8961120" y="470916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chemeClr val="accent3"/>
                </a:solidFill>
              </a:rPr>
              <a:t>Et maintenant ?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2514600" y="5431536"/>
            <a:ext cx="6126480" cy="704088"/>
          </a:xfrm>
          <a:prstGeom prst="roundRect">
            <a:avLst>
              <a:gd name="adj" fmla="val 10390"/>
            </a:avLst>
          </a:prstGeom>
          <a:solidFill>
            <a:srgbClr val="6E4A9E">
              <a:alpha val="15000"/>
            </a:srgbClr>
          </a:solidFill>
          <a:ln w="15875">
            <a:solidFill>
              <a:srgbClr val="6E4A9E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2697480" y="5431536"/>
            <a:ext cx="57607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Met vriendelijke groet · Karim Benali</a:t>
            </a:r>
            <a:endParaRPr lang="en-US" sz="1800" dirty="0"/>
          </a:p>
        </p:txBody>
      </p:sp>
      <p:sp>
        <p:nvSpPr>
          <p:cNvPr id="37" name="Shape 34"/>
          <p:cNvSpPr/>
          <p:nvPr/>
        </p:nvSpPr>
        <p:spPr>
          <a:xfrm>
            <a:off x="548640" y="5600700"/>
            <a:ext cx="365760" cy="365760"/>
          </a:xfrm>
          <a:prstGeom prst="ellipse">
            <a:avLst/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548640" y="56007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39" name="Text 36"/>
          <p:cNvSpPr txBox="1"/>
          <p:nvPr/>
        </p:nvSpPr>
        <p:spPr>
          <a:xfrm>
            <a:off x="960120" y="539496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E4A9E"/>
                </a:solidFill>
              </a:rPr>
              <a:t>Afsluiting + naam</a:t>
            </a:r>
            <a:endParaRPr lang="en-US" sz="1500" dirty="0"/>
          </a:p>
        </p:txBody>
      </p:sp>
      <p:sp>
        <p:nvSpPr>
          <p:cNvPr id="40" name="Text 37"/>
          <p:cNvSpPr txBox="1"/>
          <p:nvPr/>
        </p:nvSpPr>
        <p:spPr>
          <a:xfrm>
            <a:off x="8961120" y="539496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6E4A9E"/>
                </a:solidFill>
              </a:rPr>
              <a:t>Qui signe ?</a:t>
            </a:r>
            <a:endParaRPr lang="en-US" sz="1600" dirty="0"/>
          </a:p>
        </p:txBody>
      </p:sp>
      <p:sp>
        <p:nvSpPr>
          <p:cNvPr id="41" name="Text 38"/>
          <p:cNvSpPr txBox="1"/>
          <p:nvPr/>
        </p:nvSpPr>
        <p:spPr>
          <a:xfrm>
            <a:off x="8961120" y="1554480"/>
            <a:ext cx="26791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En A1 : 5 à 8 lignes. Une ou deux phrases par bloc.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La banque de phrases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52651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VOCABULAIRE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5486400"/>
                <a:gridCol w="368503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Formeel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Informeel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② Opening</a:t>
                      </a:r>
                      <a:endParaRPr lang="en-US" sz="17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5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i="1" dirty="0">
                          <a:solidFill>
                            <a:schemeClr val="tx1"/>
                          </a:solidFill>
                        </a:rPr>
                        <a:t>Hartelijk dank voor uw mail.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
</a:t>
                      </a:r>
                      <a:r>
                        <a:rPr lang="en-US" sz="1700" i="1" dirty="0">
                          <a:solidFill>
                            <a:schemeClr val="tx1"/>
                          </a:solidFill>
                        </a:rPr>
                        <a:t>Ik schrijf u omdat…</a:t>
                      </a:r>
                      <a:endParaRPr lang="en-US" sz="17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i="1" dirty="0">
                          <a:solidFill>
                            <a:schemeClr val="tx1"/>
                          </a:solidFill>
                        </a:rPr>
                        <a:t>Bedankt voor je mail!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
</a:t>
                      </a:r>
                      <a:r>
                        <a:rPr lang="en-US" sz="1700" i="1" dirty="0">
                          <a:solidFill>
                            <a:schemeClr val="tx1"/>
                          </a:solidFill>
                        </a:rPr>
                        <a:t>Hoe gaat het met je?</a:t>
                      </a:r>
                      <a:endParaRPr lang="en-US" sz="17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325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③ Kern</a:t>
                      </a:r>
                      <a:endParaRPr lang="en-US" sz="17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i="1" dirty="0">
                          <a:solidFill>
                            <a:schemeClr val="tx1"/>
                          </a:solidFill>
                        </a:rPr>
                        <a:t>Ik wil graag een afspraak maken.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
</a:t>
                      </a:r>
                      <a:r>
                        <a:rPr lang="en-US" sz="1700" i="1" dirty="0">
                          <a:solidFill>
                            <a:schemeClr val="tx1"/>
                          </a:solidFill>
                        </a:rPr>
                        <a:t>Kunt u mij … sturen?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
</a:t>
                      </a:r>
                      <a:r>
                        <a:rPr lang="en-US" sz="1700" i="1" dirty="0">
                          <a:solidFill>
                            <a:schemeClr val="tx1"/>
                          </a:solidFill>
                        </a:rPr>
                        <a:t>In de bijlage vindt u…</a:t>
                      </a:r>
                      <a:endParaRPr lang="en-US" sz="17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i="1" dirty="0">
                          <a:solidFill>
                            <a:schemeClr val="tx1"/>
                          </a:solidFill>
                        </a:rPr>
                        <a:t>Heb je morgen tijd?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
</a:t>
                      </a:r>
                      <a:r>
                        <a:rPr lang="en-US" sz="1700" i="1" dirty="0">
                          <a:solidFill>
                            <a:schemeClr val="tx1"/>
                          </a:solidFill>
                        </a:rPr>
                        <a:t>Kun je me helpen?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
</a:t>
                      </a:r>
                      <a:r>
                        <a:rPr lang="en-US" sz="1700" i="1" dirty="0">
                          <a:solidFill>
                            <a:schemeClr val="tx1"/>
                          </a:solidFill>
                        </a:rPr>
                        <a:t>Hier is…</a:t>
                      </a:r>
                      <a:endParaRPr lang="en-US" sz="17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325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④ Slotzin</a:t>
                      </a:r>
                      <a:endParaRPr lang="en-US" sz="17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A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i="1" dirty="0">
                          <a:solidFill>
                            <a:schemeClr val="tx1"/>
                          </a:solidFill>
                        </a:rPr>
                        <a:t>Alvast bedankt.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
</a:t>
                      </a:r>
                      <a:r>
                        <a:rPr lang="en-US" sz="1700" i="1" dirty="0">
                          <a:solidFill>
                            <a:schemeClr val="tx1"/>
                          </a:solidFill>
                        </a:rPr>
                        <a:t>Ik hoor graag van u.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
</a:t>
                      </a:r>
                      <a:r>
                        <a:rPr lang="en-US" sz="1700" i="1" dirty="0">
                          <a:solidFill>
                            <a:schemeClr val="tx1"/>
                          </a:solidFill>
                        </a:rPr>
                        <a:t>Als u vragen hebt, mag u me altijd bellen.</a:t>
                      </a:r>
                      <a:endParaRPr lang="en-US" sz="17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i="1" dirty="0">
                          <a:solidFill>
                            <a:schemeClr val="tx1"/>
                          </a:solidFill>
                        </a:rPr>
                        <a:t>Laat je iets weten?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
</a:t>
                      </a:r>
                      <a:r>
                        <a:rPr lang="en-US" sz="1700" i="1" dirty="0">
                          <a:solidFill>
                            <a:schemeClr val="tx1"/>
                          </a:solidFill>
                        </a:rPr>
                        <a:t>Tot morgen!</a:t>
                      </a:r>
                      <a:endParaRPr lang="en-US" sz="17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de bijlage</a:t>
            </a:r>
            <a:r>
              <a:rPr lang="en-US" sz="1400" i="1" dirty="0">
                <a:solidFill>
                  <a:schemeClr val="accent5"/>
                </a:solidFill>
              </a:rPr>
              <a:t> = la pièce jointe · </a:t>
            </a:r>
            <a:r>
              <a:rPr lang="en-US" sz="1400" i="1" dirty="0">
                <a:solidFill>
                  <a:schemeClr val="accent5"/>
                </a:solidFill>
              </a:rPr>
              <a:t>Ik hoor graag van u</a:t>
            </a:r>
            <a:r>
              <a:rPr lang="en-US" sz="1400" i="1" dirty="0">
                <a:solidFill>
                  <a:schemeClr val="accent5"/>
                </a:solidFill>
              </a:rPr>
              <a:t> = dans l’attente de votre réponse · </a:t>
            </a:r>
            <a:r>
              <a:rPr lang="en-US" sz="1400" i="1" dirty="0">
                <a:solidFill>
                  <a:schemeClr val="accent5"/>
                </a:solidFill>
              </a:rPr>
              <a:t>Als u vragen hebt…</a:t>
            </a:r>
            <a:r>
              <a:rPr lang="en-US" sz="1400" i="1" dirty="0">
                <a:solidFill>
                  <a:schemeClr val="accent5"/>
                </a:solidFill>
              </a:rPr>
              <a:t> = inversion après </a:t>
            </a:r>
            <a:r>
              <a:rPr lang="en-US" sz="1400" i="1" dirty="0">
                <a:solidFill>
                  <a:schemeClr val="accent5"/>
                </a:solidFill>
              </a:rPr>
              <a:t>als</a:t>
            </a:r>
            <a:r>
              <a:rPr lang="en-US" sz="1400" i="1" dirty="0">
                <a:solidFill>
                  <a:schemeClr val="accent5"/>
                </a:solidFill>
              </a:rPr>
              <a:t> (M9)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Modèle 1 — prévenir qu’on est malade (formel)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52651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VOCABULAIRE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08760"/>
            <a:ext cx="7680960" cy="4754880"/>
          </a:xfrm>
          <a:prstGeom prst="roundRect">
            <a:avLst>
              <a:gd name="adj" fmla="val 1154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1508760"/>
            <a:ext cx="7680960" cy="384048"/>
          </a:xfrm>
          <a:prstGeom prst="roundRect">
            <a:avLst>
              <a:gd name="adj" fmla="val 14286"/>
            </a:avLst>
          </a:prstGeom>
          <a:solidFill>
            <a:srgbClr val="E6EB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13232" y="1636776"/>
            <a:ext cx="128016" cy="128016"/>
          </a:xfrm>
          <a:prstGeom prst="ellipse">
            <a:avLst/>
          </a:prstGeom>
          <a:solidFill>
            <a:srgbClr val="E2725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41832" y="1636776"/>
            <a:ext cx="128016" cy="128016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170432" y="1636776"/>
            <a:ext cx="128016" cy="128016"/>
          </a:xfrm>
          <a:prstGeom prst="ellipse">
            <a:avLst/>
          </a:prstGeom>
          <a:solidFill>
            <a:srgbClr val="5FA77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463040" y="1508760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Nieuw bericht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196596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Van: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1920240" y="1965960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karim.benali@peetersco.be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731520" y="2295144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Aan: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920240" y="2295144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an.janssens@peetersco.be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731520" y="2624328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Onderwerp: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1920240" y="2624328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Ziek vandaag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85800" y="2990088"/>
            <a:ext cx="7406640" cy="914"/>
          </a:xfrm>
          <a:prstGeom prst="line">
            <a:avLst/>
          </a:prstGeom>
          <a:noFill/>
          <a:ln w="12700">
            <a:solidFill>
              <a:srgbClr val="D5DCE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85800" y="3136392"/>
            <a:ext cx="109728" cy="446581"/>
          </a:xfrm>
          <a:prstGeom prst="rect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68680" y="3204235"/>
            <a:ext cx="310896" cy="310896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68680" y="320423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1325880" y="3108960"/>
            <a:ext cx="6720840" cy="5014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Beste mevrouw Janssens,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685800" y="3637837"/>
            <a:ext cx="109728" cy="446581"/>
          </a:xfrm>
          <a:prstGeom prst="rect">
            <a:avLst/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68680" y="370568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68680" y="3705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325880" y="3610405"/>
            <a:ext cx="6720840" cy="5014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Ik ben vandaag helaas ziek: ik heb koorts.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685800" y="4139282"/>
            <a:ext cx="109728" cy="797593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68680" y="4382631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68680" y="438263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1325880" y="4111850"/>
            <a:ext cx="6720840" cy="8524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Ik kan dus niet naar de vergadering van 14 uur komen. Sofie Peeters heeft de documenten.</a:t>
            </a:r>
            <a:endParaRPr lang="en-US" sz="1800" dirty="0"/>
          </a:p>
        </p:txBody>
      </p:sp>
      <p:sp>
        <p:nvSpPr>
          <p:cNvPr id="30" name="Shape 27"/>
          <p:cNvSpPr/>
          <p:nvPr/>
        </p:nvSpPr>
        <p:spPr>
          <a:xfrm>
            <a:off x="685800" y="4991739"/>
            <a:ext cx="109728" cy="446581"/>
          </a:xfrm>
          <a:prstGeom prst="rect">
            <a:avLst/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68680" y="5059582"/>
            <a:ext cx="310896" cy="310896"/>
          </a:xfrm>
          <a:prstGeom prst="ellipse">
            <a:avLst/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68680" y="505958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4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325880" y="4964307"/>
            <a:ext cx="6720840" cy="5014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Morgen bel ik u.</a:t>
            </a:r>
            <a:endParaRPr lang="en-US" sz="1800" dirty="0"/>
          </a:p>
        </p:txBody>
      </p:sp>
      <p:sp>
        <p:nvSpPr>
          <p:cNvPr id="34" name="Shape 31"/>
          <p:cNvSpPr/>
          <p:nvPr/>
        </p:nvSpPr>
        <p:spPr>
          <a:xfrm>
            <a:off x="685800" y="5493184"/>
            <a:ext cx="109728" cy="697304"/>
          </a:xfrm>
          <a:prstGeom prst="rect">
            <a:avLst/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868680" y="5686388"/>
            <a:ext cx="310896" cy="310896"/>
          </a:xfrm>
          <a:prstGeom prst="ellipse">
            <a:avLst/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68680" y="56863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5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325880" y="5465752"/>
            <a:ext cx="6720840" cy="75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Met vriendelijke groet</a:t>
            </a:r>
            <a:r>
              <a:rPr lang="en-US" sz="1800" dirty="0">
                <a:solidFill>
                  <a:schemeClr val="tx1"/>
                </a:solidFill>
              </a:rPr>
              <a:t>
</a:t>
            </a:r>
            <a:r>
              <a:rPr lang="en-US" sz="1800" i="1" dirty="0">
                <a:solidFill>
                  <a:schemeClr val="tx1"/>
                </a:solidFill>
              </a:rPr>
              <a:t>Karim Benali · Boekhouder, Peeters &amp; Co</a:t>
            </a:r>
            <a:endParaRPr lang="en-US" sz="1800" dirty="0"/>
          </a:p>
        </p:txBody>
      </p:sp>
      <p:pic>
        <p:nvPicPr>
          <p:cNvPr id="38" name="Image 0" descr="face with thermomet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0" y="1600200"/>
            <a:ext cx="2011680" cy="2011680"/>
          </a:xfrm>
          <a:prstGeom prst="rect">
            <a:avLst/>
          </a:prstGeom>
        </p:spPr>
      </p:pic>
      <p:sp>
        <p:nvSpPr>
          <p:cNvPr id="39" name="Shape 35"/>
          <p:cNvSpPr/>
          <p:nvPr/>
        </p:nvSpPr>
        <p:spPr>
          <a:xfrm>
            <a:off x="8503920" y="3794760"/>
            <a:ext cx="3136392" cy="2468880"/>
          </a:xfrm>
          <a:prstGeom prst="roundRect">
            <a:avLst>
              <a:gd name="adj" fmla="val 3704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40" name="Shape 36"/>
          <p:cNvSpPr/>
          <p:nvPr/>
        </p:nvSpPr>
        <p:spPr>
          <a:xfrm>
            <a:off x="8686800" y="3959352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1" name="Image 1" descr="Lightbulb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2863" y="4095415"/>
            <a:ext cx="294803" cy="294803"/>
          </a:xfrm>
          <a:prstGeom prst="rect">
            <a:avLst/>
          </a:prstGeom>
        </p:spPr>
      </p:pic>
      <p:sp>
        <p:nvSpPr>
          <p:cNvPr id="42" name="Text 37"/>
          <p:cNvSpPr txBox="1"/>
          <p:nvPr/>
        </p:nvSpPr>
        <p:spPr>
          <a:xfrm>
            <a:off x="9400032" y="3941064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Beste</a:t>
            </a:r>
            <a:endParaRPr lang="en-US" sz="1900" dirty="0"/>
          </a:p>
        </p:txBody>
      </p:sp>
      <p:sp>
        <p:nvSpPr>
          <p:cNvPr id="43" name="Text 38"/>
          <p:cNvSpPr txBox="1"/>
          <p:nvPr/>
        </p:nvSpPr>
        <p:spPr>
          <a:xfrm>
            <a:off x="8705088" y="4663440"/>
            <a:ext cx="273405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et non </a:t>
            </a:r>
            <a:r>
              <a:rPr lang="en-US" sz="1500" i="1" dirty="0">
                <a:solidFill>
                  <a:schemeClr val="tx1"/>
                </a:solidFill>
              </a:rPr>
              <a:t>Geachte</a:t>
            </a:r>
            <a:r>
              <a:rPr lang="en-US" sz="1500" dirty="0">
                <a:solidFill>
                  <a:schemeClr val="tx1"/>
                </a:solidFill>
              </a:rPr>
              <a:t> : c’est sa </a:t>
            </a:r>
            <a:r>
              <a:rPr lang="en-US" sz="1500" b="1" dirty="0">
                <a:solidFill>
                  <a:schemeClr val="tx1"/>
                </a:solidFill>
              </a:rPr>
              <a:t>cheffe directe</a:t>
            </a:r>
            <a:r>
              <a:rPr lang="en-US" sz="1500" dirty="0">
                <a:solidFill>
                  <a:schemeClr val="tx1"/>
                </a:solidFill>
              </a:rPr>
              <a:t>.</a:t>
            </a:r>
            <a:endParaRPr lang="en-US" sz="15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Pince : </a:t>
            </a:r>
            <a:r>
              <a:rPr lang="en-US" sz="1500" i="1" dirty="0">
                <a:solidFill>
                  <a:schemeClr val="tx1"/>
                </a:solidFill>
              </a:rPr>
              <a:t>kan … komen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Modèle 2 — proposer un rendez-vous (formel)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52651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VOCABULAIRE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08760"/>
            <a:ext cx="7680960" cy="4754880"/>
          </a:xfrm>
          <a:prstGeom prst="roundRect">
            <a:avLst>
              <a:gd name="adj" fmla="val 1154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1508760"/>
            <a:ext cx="7680960" cy="384048"/>
          </a:xfrm>
          <a:prstGeom prst="roundRect">
            <a:avLst>
              <a:gd name="adj" fmla="val 14286"/>
            </a:avLst>
          </a:prstGeom>
          <a:solidFill>
            <a:srgbClr val="E6EB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13232" y="1636776"/>
            <a:ext cx="128016" cy="128016"/>
          </a:xfrm>
          <a:prstGeom prst="ellipse">
            <a:avLst/>
          </a:prstGeom>
          <a:solidFill>
            <a:srgbClr val="E2725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41832" y="1636776"/>
            <a:ext cx="128016" cy="128016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170432" y="1636776"/>
            <a:ext cx="128016" cy="128016"/>
          </a:xfrm>
          <a:prstGeom prst="ellipse">
            <a:avLst/>
          </a:prstGeom>
          <a:solidFill>
            <a:srgbClr val="5FA77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463040" y="1508760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Nieuw bericht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196596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Aan: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1920240" y="1965960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j.maes@maesbouw.be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731520" y="2295144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Onderwerp: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920240" y="2295144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Afspraak dinsdag 12 mei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85800" y="2660904"/>
            <a:ext cx="7406640" cy="914"/>
          </a:xfrm>
          <a:prstGeom prst="line">
            <a:avLst/>
          </a:prstGeom>
          <a:noFill/>
          <a:ln w="12700">
            <a:solidFill>
              <a:srgbClr val="D5DCE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85800" y="2807208"/>
            <a:ext cx="109728" cy="429382"/>
          </a:xfrm>
          <a:prstGeom prst="rect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68680" y="2866451"/>
            <a:ext cx="310896" cy="310896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68680" y="286645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325880" y="2779776"/>
            <a:ext cx="6720840" cy="484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Geachte heer Maes,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685800" y="3291454"/>
            <a:ext cx="109728" cy="429382"/>
          </a:xfrm>
          <a:prstGeom prst="rect">
            <a:avLst/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68680" y="3350696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68680" y="33506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325880" y="3264022"/>
            <a:ext cx="6720840" cy="484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Hartelijk dank voor uw mail.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685800" y="3775699"/>
            <a:ext cx="109728" cy="1204175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68680" y="4222339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8680" y="422233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1325880" y="3748267"/>
            <a:ext cx="6720840" cy="1259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Ik wil graag een afspraak met u maken. We moeten over de facturen praten. Past </a:t>
            </a:r>
            <a:r>
              <a:rPr lang="en-US" sz="1800" b="1" i="1" dirty="0">
                <a:solidFill>
                  <a:schemeClr val="accent1"/>
                </a:solidFill>
              </a:rPr>
              <a:t>dinsdag 12 mei om 10 uur</a:t>
            </a:r>
            <a:r>
              <a:rPr lang="en-US" sz="1800" i="1" dirty="0">
                <a:solidFill>
                  <a:schemeClr val="tx1"/>
                </a:solidFill>
              </a:rPr>
              <a:t> voor u? Ons kantoor is in de Wetstraat 25 in Brussel.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685800" y="5034738"/>
            <a:ext cx="109728" cy="429382"/>
          </a:xfrm>
          <a:prstGeom prst="rect">
            <a:avLst/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68680" y="5093981"/>
            <a:ext cx="310896" cy="310896"/>
          </a:xfrm>
          <a:prstGeom prst="ellipse">
            <a:avLst/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68680" y="509398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4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1325880" y="5007306"/>
            <a:ext cx="6720840" cy="484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Ik hoor graag van u.</a:t>
            </a:r>
            <a:endParaRPr lang="en-US" sz="1800" dirty="0"/>
          </a:p>
        </p:txBody>
      </p:sp>
      <p:sp>
        <p:nvSpPr>
          <p:cNvPr id="32" name="Shape 29"/>
          <p:cNvSpPr/>
          <p:nvPr/>
        </p:nvSpPr>
        <p:spPr>
          <a:xfrm>
            <a:off x="685800" y="5518984"/>
            <a:ext cx="109728" cy="671504"/>
          </a:xfrm>
          <a:prstGeom prst="rect">
            <a:avLst/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868680" y="5699288"/>
            <a:ext cx="310896" cy="310896"/>
          </a:xfrm>
          <a:prstGeom prst="ellipse">
            <a:avLst/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68680" y="56992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5</a:t>
            </a:r>
            <a:endParaRPr lang="en-US" sz="1100" dirty="0"/>
          </a:p>
        </p:txBody>
      </p:sp>
      <p:sp>
        <p:nvSpPr>
          <p:cNvPr id="35" name="Text 32"/>
          <p:cNvSpPr txBox="1"/>
          <p:nvPr/>
        </p:nvSpPr>
        <p:spPr>
          <a:xfrm>
            <a:off x="1325880" y="5491552"/>
            <a:ext cx="6720840" cy="726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Met vriendelijke groet · Karim Benali</a:t>
            </a:r>
            <a:r>
              <a:rPr lang="en-US" sz="1800" dirty="0">
                <a:solidFill>
                  <a:schemeClr val="tx1"/>
                </a:solidFill>
              </a:rPr>
              <a:t>
</a:t>
            </a:r>
            <a:r>
              <a:rPr lang="en-US" sz="1800" i="1" dirty="0">
                <a:solidFill>
                  <a:schemeClr val="tx1"/>
                </a:solidFill>
              </a:rPr>
              <a:t>Boekhouder, Peeters &amp; Co · 02 123 45 67</a:t>
            </a:r>
            <a:endParaRPr lang="en-US" sz="1800" dirty="0"/>
          </a:p>
        </p:txBody>
      </p:sp>
      <p:pic>
        <p:nvPicPr>
          <p:cNvPr id="36" name="Image 0" descr="spiral calenda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1600200"/>
            <a:ext cx="1828800" cy="1828800"/>
          </a:xfrm>
          <a:prstGeom prst="rect">
            <a:avLst/>
          </a:prstGeom>
        </p:spPr>
      </p:pic>
      <p:sp>
        <p:nvSpPr>
          <p:cNvPr id="37" name="Shape 33"/>
          <p:cNvSpPr/>
          <p:nvPr/>
        </p:nvSpPr>
        <p:spPr>
          <a:xfrm>
            <a:off x="8503920" y="3611880"/>
            <a:ext cx="3136392" cy="2651760"/>
          </a:xfrm>
          <a:prstGeom prst="roundRect">
            <a:avLst>
              <a:gd name="adj" fmla="val 3448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38" name="Shape 34"/>
          <p:cNvSpPr/>
          <p:nvPr/>
        </p:nvSpPr>
        <p:spPr>
          <a:xfrm>
            <a:off x="8686800" y="3776472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9" name="Image 1" descr="Comment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2863" y="3912535"/>
            <a:ext cx="294803" cy="294803"/>
          </a:xfrm>
          <a:prstGeom prst="rect">
            <a:avLst/>
          </a:prstGeom>
        </p:spPr>
      </p:pic>
      <p:sp>
        <p:nvSpPr>
          <p:cNvPr id="40" name="Text 35"/>
          <p:cNvSpPr txBox="1"/>
          <p:nvPr/>
        </p:nvSpPr>
        <p:spPr>
          <a:xfrm>
            <a:off x="9400032" y="3758184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accent2"/>
                </a:solidFill>
              </a:rPr>
              <a:t>À l’oral</a:t>
            </a:r>
            <a:endParaRPr lang="en-US" sz="1900" dirty="0"/>
          </a:p>
        </p:txBody>
      </p:sp>
      <p:sp>
        <p:nvSpPr>
          <p:cNvPr id="41" name="Text 36"/>
          <p:cNvSpPr txBox="1"/>
          <p:nvPr/>
        </p:nvSpPr>
        <p:spPr>
          <a:xfrm>
            <a:off x="8705088" y="4480560"/>
            <a:ext cx="2734056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i="1" dirty="0">
                <a:solidFill>
                  <a:schemeClr val="tx1"/>
                </a:solidFill>
              </a:rPr>
              <a:t>Past … voor u?</a:t>
            </a:r>
            <a:r>
              <a:rPr lang="en-US" sz="1500" dirty="0">
                <a:solidFill>
                  <a:schemeClr val="tx1"/>
                </a:solidFill>
              </a:rPr>
              <a:t> = Est-ce que … vous convient ?</a:t>
            </a:r>
            <a:endParaRPr lang="en-US" sz="15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500" i="1" dirty="0">
                <a:solidFill>
                  <a:schemeClr val="tx1"/>
                </a:solidFill>
              </a:rPr>
              <a:t>dinsdag twaalf mei om tien uur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Modèle 3 — inviter une collègue (informel)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52651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VOCABULAIRE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08760"/>
            <a:ext cx="7680960" cy="4754880"/>
          </a:xfrm>
          <a:prstGeom prst="roundRect">
            <a:avLst>
              <a:gd name="adj" fmla="val 1154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1508760"/>
            <a:ext cx="7680960" cy="384048"/>
          </a:xfrm>
          <a:prstGeom prst="roundRect">
            <a:avLst>
              <a:gd name="adj" fmla="val 14286"/>
            </a:avLst>
          </a:prstGeom>
          <a:solidFill>
            <a:srgbClr val="E6EB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13232" y="1636776"/>
            <a:ext cx="128016" cy="128016"/>
          </a:xfrm>
          <a:prstGeom prst="ellipse">
            <a:avLst/>
          </a:prstGeom>
          <a:solidFill>
            <a:srgbClr val="E2725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41832" y="1636776"/>
            <a:ext cx="128016" cy="128016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170432" y="1636776"/>
            <a:ext cx="128016" cy="128016"/>
          </a:xfrm>
          <a:prstGeom prst="ellipse">
            <a:avLst/>
          </a:prstGeom>
          <a:solidFill>
            <a:srgbClr val="5FA77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463040" y="1508760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Nieuw bericht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196596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Aan: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1920240" y="1965960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sofie.peeters@peetersco.be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731520" y="2295144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Onderwerp: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920240" y="2295144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Lunch vrijdag?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85800" y="2660904"/>
            <a:ext cx="7406640" cy="914"/>
          </a:xfrm>
          <a:prstGeom prst="line">
            <a:avLst/>
          </a:prstGeom>
          <a:noFill/>
          <a:ln w="12700">
            <a:solidFill>
              <a:srgbClr val="D5DCE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85800" y="2807208"/>
            <a:ext cx="109728" cy="458292"/>
          </a:xfrm>
          <a:prstGeom prst="rect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68680" y="2880906"/>
            <a:ext cx="310896" cy="310896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68680" y="288090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325880" y="2779776"/>
            <a:ext cx="6720840" cy="513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i="1" dirty="0">
                <a:solidFill>
                  <a:schemeClr val="tx1"/>
                </a:solidFill>
              </a:rPr>
              <a:t>Hoi Sofie</a:t>
            </a:r>
            <a:r>
              <a:rPr lang="en-US" sz="1800" i="1" dirty="0">
                <a:solidFill>
                  <a:schemeClr val="tx1"/>
                </a:solidFill>
              </a:rPr>
              <a:t>,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685800" y="3320364"/>
            <a:ext cx="109728" cy="458292"/>
          </a:xfrm>
          <a:prstGeom prst="rect">
            <a:avLst/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68680" y="3394062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68680" y="339406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325880" y="3292932"/>
            <a:ext cx="6720840" cy="513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Hoe gaat het met </a:t>
            </a:r>
            <a:r>
              <a:rPr lang="en-US" sz="1800" b="1" i="1" dirty="0">
                <a:solidFill>
                  <a:schemeClr val="tx1"/>
                </a:solidFill>
              </a:rPr>
              <a:t>je</a:t>
            </a:r>
            <a:r>
              <a:rPr lang="en-US" sz="1800" i="1" dirty="0">
                <a:solidFill>
                  <a:schemeClr val="tx1"/>
                </a:solidFill>
              </a:rPr>
              <a:t>?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685800" y="3833520"/>
            <a:ext cx="109728" cy="107407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68680" y="4215111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8680" y="421511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1325880" y="3806088"/>
            <a:ext cx="6720840" cy="11289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Vrijdag is mijn verjaardag! Ik trakteer op een lunch in de brasserie naast het kantoor. Heb </a:t>
            </a:r>
            <a:r>
              <a:rPr lang="en-US" sz="1800" b="1" i="1" dirty="0">
                <a:solidFill>
                  <a:schemeClr val="tx1"/>
                </a:solidFill>
              </a:rPr>
              <a:t>je</a:t>
            </a:r>
            <a:r>
              <a:rPr lang="en-US" sz="1800" i="1" dirty="0">
                <a:solidFill>
                  <a:schemeClr val="tx1"/>
                </a:solidFill>
              </a:rPr>
              <a:t> om 12.30 uur tijd?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685800" y="4962462"/>
            <a:ext cx="109728" cy="458292"/>
          </a:xfrm>
          <a:prstGeom prst="rect">
            <a:avLst/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68680" y="5036160"/>
            <a:ext cx="310896" cy="310896"/>
          </a:xfrm>
          <a:prstGeom prst="ellipse">
            <a:avLst/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68680" y="5036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4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1325880" y="4935030"/>
            <a:ext cx="6720840" cy="513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Laat </a:t>
            </a:r>
            <a:r>
              <a:rPr lang="en-US" sz="1800" b="1" i="1" dirty="0">
                <a:solidFill>
                  <a:schemeClr val="tx1"/>
                </a:solidFill>
              </a:rPr>
              <a:t>je</a:t>
            </a:r>
            <a:r>
              <a:rPr lang="en-US" sz="1800" i="1" dirty="0">
                <a:solidFill>
                  <a:schemeClr val="tx1"/>
                </a:solidFill>
              </a:rPr>
              <a:t> iets weten?</a:t>
            </a:r>
            <a:endParaRPr lang="en-US" sz="1800" dirty="0"/>
          </a:p>
        </p:txBody>
      </p:sp>
      <p:sp>
        <p:nvSpPr>
          <p:cNvPr id="32" name="Shape 29"/>
          <p:cNvSpPr/>
          <p:nvPr/>
        </p:nvSpPr>
        <p:spPr>
          <a:xfrm>
            <a:off x="685800" y="5475618"/>
            <a:ext cx="109728" cy="714870"/>
          </a:xfrm>
          <a:prstGeom prst="rect">
            <a:avLst/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868680" y="5677605"/>
            <a:ext cx="310896" cy="310896"/>
          </a:xfrm>
          <a:prstGeom prst="ellipse">
            <a:avLst/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68680" y="567760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5</a:t>
            </a:r>
            <a:endParaRPr lang="en-US" sz="1100" dirty="0"/>
          </a:p>
        </p:txBody>
      </p:sp>
      <p:sp>
        <p:nvSpPr>
          <p:cNvPr id="35" name="Text 32"/>
          <p:cNvSpPr txBox="1"/>
          <p:nvPr/>
        </p:nvSpPr>
        <p:spPr>
          <a:xfrm>
            <a:off x="1325880" y="5448186"/>
            <a:ext cx="6720840" cy="7697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i="1" dirty="0">
                <a:solidFill>
                  <a:schemeClr val="tx1"/>
                </a:solidFill>
              </a:rPr>
              <a:t>Groetjes</a:t>
            </a:r>
            <a:r>
              <a:rPr lang="en-US" sz="1800" dirty="0">
                <a:solidFill>
                  <a:schemeClr val="tx1"/>
                </a:solidFill>
              </a:rPr>
              <a:t>
</a:t>
            </a:r>
            <a:r>
              <a:rPr lang="en-US" sz="1800" b="1" i="1" dirty="0">
                <a:solidFill>
                  <a:schemeClr val="tx1"/>
                </a:solidFill>
              </a:rPr>
              <a:t>Karim</a:t>
            </a:r>
            <a:endParaRPr lang="en-US" sz="1800" dirty="0"/>
          </a:p>
        </p:txBody>
      </p:sp>
      <p:pic>
        <p:nvPicPr>
          <p:cNvPr id="36" name="Image 0" descr="birthday cak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0" y="1645920"/>
            <a:ext cx="1371600" cy="1371600"/>
          </a:xfrm>
          <a:prstGeom prst="rect">
            <a:avLst/>
          </a:prstGeom>
        </p:spPr>
      </p:pic>
      <p:pic>
        <p:nvPicPr>
          <p:cNvPr id="37" name="Image 1" descr="fork and knife with plat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1920240"/>
            <a:ext cx="1188720" cy="1188720"/>
          </a:xfrm>
          <a:prstGeom prst="rect">
            <a:avLst/>
          </a:prstGeom>
        </p:spPr>
      </p:pic>
      <p:sp>
        <p:nvSpPr>
          <p:cNvPr id="38" name="Shape 33"/>
          <p:cNvSpPr/>
          <p:nvPr/>
        </p:nvSpPr>
        <p:spPr>
          <a:xfrm>
            <a:off x="8503920" y="3337560"/>
            <a:ext cx="3136392" cy="2926080"/>
          </a:xfrm>
          <a:prstGeom prst="roundRect">
            <a:avLst>
              <a:gd name="adj" fmla="val 3125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39" name="Shape 34"/>
          <p:cNvSpPr/>
          <p:nvPr/>
        </p:nvSpPr>
        <p:spPr>
          <a:xfrm>
            <a:off x="8686800" y="3502152"/>
            <a:ext cx="566928" cy="566928"/>
          </a:xfrm>
          <a:prstGeom prst="ellipse">
            <a:avLst/>
          </a:prstGeom>
          <a:solidFill>
            <a:srgbClr val="5B9BD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0" name="Image 2" descr="SlidersH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2863" y="3638215"/>
            <a:ext cx="294803" cy="294803"/>
          </a:xfrm>
          <a:prstGeom prst="rect">
            <a:avLst/>
          </a:prstGeom>
        </p:spPr>
      </p:pic>
      <p:sp>
        <p:nvSpPr>
          <p:cNvPr id="41" name="Text 35"/>
          <p:cNvSpPr txBox="1"/>
          <p:nvPr/>
        </p:nvSpPr>
        <p:spPr>
          <a:xfrm>
            <a:off x="9400032" y="3483864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5B9BD5"/>
                </a:solidFill>
              </a:rPr>
              <a:t>Comparez</a:t>
            </a:r>
            <a:endParaRPr lang="en-US" sz="1900" dirty="0"/>
          </a:p>
        </p:txBody>
      </p:sp>
      <p:sp>
        <p:nvSpPr>
          <p:cNvPr id="42" name="Text 36"/>
          <p:cNvSpPr txBox="1"/>
          <p:nvPr/>
        </p:nvSpPr>
        <p:spPr>
          <a:xfrm>
            <a:off x="8705088" y="4206240"/>
            <a:ext cx="2734056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Même structure en </a:t>
            </a:r>
            <a:r>
              <a:rPr lang="en-US" sz="1500" b="1" dirty="0">
                <a:solidFill>
                  <a:schemeClr val="tx1"/>
                </a:solidFill>
              </a:rPr>
              <a:t>5 blocs</a:t>
            </a:r>
            <a:r>
              <a:rPr lang="en-US" sz="1500" dirty="0">
                <a:solidFill>
                  <a:schemeClr val="tx1"/>
                </a:solidFill>
              </a:rPr>
              <a:t>.</a:t>
            </a:r>
            <a:endParaRPr lang="en-US" sz="15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Seuls les </a:t>
            </a:r>
            <a:r>
              <a:rPr lang="en-US" sz="1500" b="1" dirty="0">
                <a:solidFill>
                  <a:schemeClr val="tx1"/>
                </a:solidFill>
              </a:rPr>
              <a:t>curseurs</a:t>
            </a:r>
            <a:r>
              <a:rPr lang="en-US" sz="1500" dirty="0">
                <a:solidFill>
                  <a:schemeClr val="tx1"/>
                </a:solidFill>
              </a:rPr>
              <a:t> du registre changent (M8).</a:t>
            </a:r>
            <a:endParaRPr lang="en-US" sz="15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500" i="1" dirty="0">
                <a:solidFill>
                  <a:schemeClr val="tx1"/>
                </a:solidFill>
              </a:rPr>
              <a:t>trakteren</a:t>
            </a:r>
            <a:r>
              <a:rPr lang="en-US" sz="1500" dirty="0">
                <a:solidFill>
                  <a:schemeClr val="tx1"/>
                </a:solidFill>
              </a:rPr>
              <a:t> = offrir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L’objet et les boutons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52651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VOCABULAIRE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50876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L’OBJET (</a:t>
            </a:r>
            <a:r>
              <a:rPr lang="en-US" sz="1700" i="1" dirty="0">
                <a:solidFill>
                  <a:schemeClr val="tx2"/>
                </a:solidFill>
              </a:rPr>
              <a:t>het onderwerp</a:t>
            </a:r>
            <a:r>
              <a:rPr lang="en-US" sz="1700" dirty="0">
                <a:solidFill>
                  <a:schemeClr val="tx2"/>
                </a:solidFill>
              </a:rPr>
              <a:t>) : </a:t>
            </a:r>
            <a:r>
              <a:rPr lang="en-US" sz="1700" b="1" dirty="0">
                <a:solidFill>
                  <a:schemeClr val="tx2"/>
                </a:solidFill>
              </a:rPr>
              <a:t>court</a:t>
            </a:r>
            <a:r>
              <a:rPr lang="en-US" sz="1700" dirty="0">
                <a:solidFill>
                  <a:schemeClr val="tx2"/>
                </a:solidFill>
              </a:rPr>
              <a:t> (2 à 6 mots), </a:t>
            </a:r>
            <a:r>
              <a:rPr lang="en-US" sz="1700" b="1" dirty="0">
                <a:solidFill>
                  <a:schemeClr val="tx2"/>
                </a:solidFill>
              </a:rPr>
              <a:t>précis</a:t>
            </a:r>
            <a:r>
              <a:rPr lang="en-US" sz="1700" dirty="0">
                <a:solidFill>
                  <a:schemeClr val="tx2"/>
                </a:solidFill>
              </a:rPr>
              <a:t>, pas de phrase complète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548640" y="2057400"/>
            <a:ext cx="4206240" cy="566928"/>
          </a:xfrm>
          <a:prstGeom prst="roundRect">
            <a:avLst>
              <a:gd name="adj" fmla="val 12903"/>
            </a:avLst>
          </a:prstGeom>
          <a:solidFill>
            <a:srgbClr val="FBEDEB"/>
          </a:solidFill>
          <a:ln w="19050">
            <a:solidFill>
              <a:srgbClr val="B83227"/>
            </a:solidFill>
            <a:prstDash val="solid"/>
          </a:ln>
        </p:spPr>
      </p:sp>
      <p:pic>
        <p:nvPicPr>
          <p:cNvPr id="7" name="Image 0" descr="Tim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2212848"/>
            <a:ext cx="256032" cy="25603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097280" y="205740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(geen onderwerp)</a:t>
            </a:r>
            <a:endParaRPr lang="en-US" sz="1800" dirty="0"/>
          </a:p>
        </p:txBody>
      </p:sp>
      <p:sp>
        <p:nvSpPr>
          <p:cNvPr id="9" name="Shape 5"/>
          <p:cNvSpPr/>
          <p:nvPr/>
        </p:nvSpPr>
        <p:spPr>
          <a:xfrm>
            <a:off x="548640" y="2743200"/>
            <a:ext cx="4206240" cy="566928"/>
          </a:xfrm>
          <a:prstGeom prst="roundRect">
            <a:avLst>
              <a:gd name="adj" fmla="val 12903"/>
            </a:avLst>
          </a:prstGeom>
          <a:solidFill>
            <a:srgbClr val="FBEDEB"/>
          </a:solidFill>
          <a:ln w="19050">
            <a:solidFill>
              <a:srgbClr val="B83227"/>
            </a:solidFill>
            <a:prstDash val="solid"/>
          </a:ln>
        </p:spPr>
      </p:sp>
      <p:pic>
        <p:nvPicPr>
          <p:cNvPr id="10" name="Image 1" descr="Tim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898648"/>
            <a:ext cx="256032" cy="256032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097280" y="274320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Vraag</a:t>
            </a:r>
            <a:endParaRPr lang="en-US" sz="1800" dirty="0"/>
          </a:p>
        </p:txBody>
      </p:sp>
      <p:sp>
        <p:nvSpPr>
          <p:cNvPr id="12" name="Shape 7"/>
          <p:cNvSpPr/>
          <p:nvPr/>
        </p:nvSpPr>
        <p:spPr>
          <a:xfrm>
            <a:off x="548640" y="3429000"/>
            <a:ext cx="4206240" cy="566928"/>
          </a:xfrm>
          <a:prstGeom prst="roundRect">
            <a:avLst>
              <a:gd name="adj" fmla="val 12903"/>
            </a:avLst>
          </a:prstGeom>
          <a:solidFill>
            <a:srgbClr val="FBEDEB"/>
          </a:solidFill>
          <a:ln w="19050">
            <a:solidFill>
              <a:srgbClr val="B83227"/>
            </a:solidFill>
            <a:prstDash val="solid"/>
          </a:ln>
        </p:spPr>
      </p:sp>
      <p:pic>
        <p:nvPicPr>
          <p:cNvPr id="13" name="Image 2" descr="Tim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3584448"/>
            <a:ext cx="256032" cy="256032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097280" y="342900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Hallo!</a:t>
            </a:r>
            <a:endParaRPr lang="en-US" sz="1800" dirty="0"/>
          </a:p>
        </p:txBody>
      </p:sp>
      <p:pic>
        <p:nvPicPr>
          <p:cNvPr id="15" name="Image 3" descr="ArrowRigh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2697480"/>
            <a:ext cx="457200" cy="457200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5760720" y="2057400"/>
            <a:ext cx="5879592" cy="566928"/>
          </a:xfrm>
          <a:prstGeom prst="roundRect">
            <a:avLst>
              <a:gd name="adj" fmla="val 12903"/>
            </a:avLst>
          </a:prstGeom>
          <a:solidFill>
            <a:srgbClr val="EDF6F0"/>
          </a:solidFill>
          <a:ln w="19050">
            <a:solidFill>
              <a:srgbClr val="2E7D4F"/>
            </a:solidFill>
            <a:prstDash val="solid"/>
          </a:ln>
        </p:spPr>
      </p:sp>
      <p:pic>
        <p:nvPicPr>
          <p:cNvPr id="17" name="Image 4" descr="Che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5312" y="2212848"/>
            <a:ext cx="256032" cy="256032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6309360" y="2057400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i="1" dirty="0">
                <a:solidFill>
                  <a:schemeClr val="tx1"/>
                </a:solidFill>
              </a:rPr>
              <a:t>Ziek vandaag</a:t>
            </a:r>
            <a:endParaRPr lang="en-US" sz="1800" dirty="0"/>
          </a:p>
        </p:txBody>
      </p:sp>
      <p:sp>
        <p:nvSpPr>
          <p:cNvPr id="19" name="Shape 11"/>
          <p:cNvSpPr/>
          <p:nvPr/>
        </p:nvSpPr>
        <p:spPr>
          <a:xfrm>
            <a:off x="5760720" y="2743200"/>
            <a:ext cx="5879592" cy="566928"/>
          </a:xfrm>
          <a:prstGeom prst="roundRect">
            <a:avLst>
              <a:gd name="adj" fmla="val 12903"/>
            </a:avLst>
          </a:prstGeom>
          <a:solidFill>
            <a:srgbClr val="EDF6F0"/>
          </a:solidFill>
          <a:ln w="19050">
            <a:solidFill>
              <a:srgbClr val="2E7D4F"/>
            </a:solidFill>
            <a:prstDash val="solid"/>
          </a:ln>
        </p:spPr>
      </p:sp>
      <p:pic>
        <p:nvPicPr>
          <p:cNvPr id="20" name="Image 5" descr="Check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25312" y="2898648"/>
            <a:ext cx="256032" cy="256032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6309360" y="2743200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i="1" dirty="0">
                <a:solidFill>
                  <a:schemeClr val="tx1"/>
                </a:solidFill>
              </a:rPr>
              <a:t>Afspraak dinsdag 12 mei</a:t>
            </a:r>
            <a:endParaRPr lang="en-US" sz="1800" dirty="0"/>
          </a:p>
        </p:txBody>
      </p:sp>
      <p:sp>
        <p:nvSpPr>
          <p:cNvPr id="22" name="Shape 13"/>
          <p:cNvSpPr/>
          <p:nvPr/>
        </p:nvSpPr>
        <p:spPr>
          <a:xfrm>
            <a:off x="5760720" y="3429000"/>
            <a:ext cx="5879592" cy="566928"/>
          </a:xfrm>
          <a:prstGeom prst="roundRect">
            <a:avLst>
              <a:gd name="adj" fmla="val 12903"/>
            </a:avLst>
          </a:prstGeom>
          <a:solidFill>
            <a:srgbClr val="EDF6F0"/>
          </a:solidFill>
          <a:ln w="19050">
            <a:solidFill>
              <a:srgbClr val="2E7D4F"/>
            </a:solidFill>
            <a:prstDash val="solid"/>
          </a:ln>
        </p:spPr>
      </p:sp>
      <p:pic>
        <p:nvPicPr>
          <p:cNvPr id="23" name="Image 6" descr="Check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25312" y="3584448"/>
            <a:ext cx="256032" cy="256032"/>
          </a:xfrm>
          <a:prstGeom prst="rect">
            <a:avLst/>
          </a:prstGeom>
        </p:spPr>
      </p:pic>
      <p:sp>
        <p:nvSpPr>
          <p:cNvPr id="24" name="Text 14"/>
          <p:cNvSpPr txBox="1"/>
          <p:nvPr/>
        </p:nvSpPr>
        <p:spPr>
          <a:xfrm>
            <a:off x="6309360" y="3429000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i="1" dirty="0">
                <a:solidFill>
                  <a:schemeClr val="tx1"/>
                </a:solidFill>
              </a:rPr>
              <a:t>Vraag over factuur 2026-118</a:t>
            </a:r>
            <a:endParaRPr lang="en-US" sz="1800" dirty="0"/>
          </a:p>
        </p:txBody>
      </p:sp>
      <p:sp>
        <p:nvSpPr>
          <p:cNvPr id="25" name="Shape 15"/>
          <p:cNvSpPr/>
          <p:nvPr/>
        </p:nvSpPr>
        <p:spPr>
          <a:xfrm>
            <a:off x="548640" y="4343400"/>
            <a:ext cx="11091672" cy="1920240"/>
          </a:xfrm>
          <a:prstGeom prst="roundRect">
            <a:avLst>
              <a:gd name="adj" fmla="val 3810"/>
            </a:avLst>
          </a:prstGeom>
          <a:solidFill>
            <a:srgbClr val="E6EBF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26" name="Text 16"/>
          <p:cNvSpPr txBox="1"/>
          <p:nvPr/>
        </p:nvSpPr>
        <p:spPr>
          <a:xfrm>
            <a:off x="731520" y="44074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LES BOUTONS</a:t>
            </a:r>
            <a:endParaRPr lang="en-US" sz="1200" dirty="0"/>
          </a:p>
        </p:txBody>
      </p:sp>
      <p:sp>
        <p:nvSpPr>
          <p:cNvPr id="27" name="Shape 17"/>
          <p:cNvSpPr/>
          <p:nvPr/>
        </p:nvSpPr>
        <p:spPr>
          <a:xfrm>
            <a:off x="731520" y="4800600"/>
            <a:ext cx="2035454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8" name="Shape 18"/>
          <p:cNvSpPr/>
          <p:nvPr/>
        </p:nvSpPr>
        <p:spPr>
          <a:xfrm>
            <a:off x="1474927" y="4873752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9" name="Image 7" descr="PaperPlane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06601" y="5005426"/>
            <a:ext cx="285293" cy="285293"/>
          </a:xfrm>
          <a:prstGeom prst="rect">
            <a:avLst/>
          </a:prstGeom>
        </p:spPr>
      </p:pic>
      <p:sp>
        <p:nvSpPr>
          <p:cNvPr id="30" name="Text 19"/>
          <p:cNvSpPr txBox="1"/>
          <p:nvPr/>
        </p:nvSpPr>
        <p:spPr>
          <a:xfrm>
            <a:off x="731520" y="5440680"/>
            <a:ext cx="20354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chemeClr val="tx1"/>
                </a:solidFill>
              </a:rPr>
              <a:t>Verzenden</a:t>
            </a:r>
            <a:endParaRPr lang="en-US" sz="1500" dirty="0"/>
          </a:p>
        </p:txBody>
      </p:sp>
      <p:sp>
        <p:nvSpPr>
          <p:cNvPr id="31" name="Text 20"/>
          <p:cNvSpPr txBox="1"/>
          <p:nvPr/>
        </p:nvSpPr>
        <p:spPr>
          <a:xfrm>
            <a:off x="731520" y="5760720"/>
            <a:ext cx="203545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envoyer</a:t>
            </a:r>
            <a:endParaRPr lang="en-US" sz="1300" dirty="0"/>
          </a:p>
        </p:txBody>
      </p:sp>
      <p:sp>
        <p:nvSpPr>
          <p:cNvPr id="32" name="Shape 21"/>
          <p:cNvSpPr/>
          <p:nvPr/>
        </p:nvSpPr>
        <p:spPr>
          <a:xfrm>
            <a:off x="2904134" y="4800600"/>
            <a:ext cx="2035454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33" name="Shape 22"/>
          <p:cNvSpPr/>
          <p:nvPr/>
        </p:nvSpPr>
        <p:spPr>
          <a:xfrm>
            <a:off x="3647542" y="4873752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4" name="Image 8" descr="Reply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79215" y="5005426"/>
            <a:ext cx="285293" cy="285293"/>
          </a:xfrm>
          <a:prstGeom prst="rect">
            <a:avLst/>
          </a:prstGeom>
        </p:spPr>
      </p:pic>
      <p:sp>
        <p:nvSpPr>
          <p:cNvPr id="35" name="Text 23"/>
          <p:cNvSpPr txBox="1"/>
          <p:nvPr/>
        </p:nvSpPr>
        <p:spPr>
          <a:xfrm>
            <a:off x="2904134" y="5440680"/>
            <a:ext cx="20354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chemeClr val="tx1"/>
                </a:solidFill>
              </a:rPr>
              <a:t>Beantwoorden</a:t>
            </a:r>
            <a:endParaRPr lang="en-US" sz="1500" dirty="0"/>
          </a:p>
        </p:txBody>
      </p:sp>
      <p:sp>
        <p:nvSpPr>
          <p:cNvPr id="36" name="Text 24"/>
          <p:cNvSpPr txBox="1"/>
          <p:nvPr/>
        </p:nvSpPr>
        <p:spPr>
          <a:xfrm>
            <a:off x="2904134" y="5760720"/>
            <a:ext cx="203545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répondre</a:t>
            </a:r>
            <a:endParaRPr lang="en-US" sz="1300" dirty="0"/>
          </a:p>
        </p:txBody>
      </p:sp>
      <p:sp>
        <p:nvSpPr>
          <p:cNvPr id="37" name="Shape 25"/>
          <p:cNvSpPr/>
          <p:nvPr/>
        </p:nvSpPr>
        <p:spPr>
          <a:xfrm>
            <a:off x="5076749" y="4800600"/>
            <a:ext cx="2035454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38" name="Shape 26"/>
          <p:cNvSpPr/>
          <p:nvPr/>
        </p:nvSpPr>
        <p:spPr>
          <a:xfrm>
            <a:off x="5820156" y="4873752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9" name="Image 9" descr="ReplyAll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51830" y="5005426"/>
            <a:ext cx="285293" cy="285293"/>
          </a:xfrm>
          <a:prstGeom prst="rect">
            <a:avLst/>
          </a:prstGeom>
        </p:spPr>
      </p:pic>
      <p:sp>
        <p:nvSpPr>
          <p:cNvPr id="40" name="Text 27"/>
          <p:cNvSpPr txBox="1"/>
          <p:nvPr/>
        </p:nvSpPr>
        <p:spPr>
          <a:xfrm>
            <a:off x="5076749" y="5440680"/>
            <a:ext cx="20354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chemeClr val="tx1"/>
                </a:solidFill>
              </a:rPr>
              <a:t>Allen beantwoorden</a:t>
            </a:r>
            <a:endParaRPr lang="en-US" sz="1200" dirty="0"/>
          </a:p>
        </p:txBody>
      </p:sp>
      <p:sp>
        <p:nvSpPr>
          <p:cNvPr id="41" name="Text 28"/>
          <p:cNvSpPr txBox="1"/>
          <p:nvPr/>
        </p:nvSpPr>
        <p:spPr>
          <a:xfrm>
            <a:off x="5076749" y="5760720"/>
            <a:ext cx="203545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répondre à tous</a:t>
            </a:r>
            <a:endParaRPr lang="en-US" sz="1300" dirty="0"/>
          </a:p>
        </p:txBody>
      </p:sp>
      <p:sp>
        <p:nvSpPr>
          <p:cNvPr id="42" name="Shape 29"/>
          <p:cNvSpPr/>
          <p:nvPr/>
        </p:nvSpPr>
        <p:spPr>
          <a:xfrm>
            <a:off x="7249363" y="4800600"/>
            <a:ext cx="2035454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43" name="Shape 30"/>
          <p:cNvSpPr/>
          <p:nvPr/>
        </p:nvSpPr>
        <p:spPr>
          <a:xfrm>
            <a:off x="7992770" y="4873752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4" name="Image 10" descr="Share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24444" y="5005426"/>
            <a:ext cx="285293" cy="285293"/>
          </a:xfrm>
          <a:prstGeom prst="rect">
            <a:avLst/>
          </a:prstGeom>
        </p:spPr>
      </p:pic>
      <p:sp>
        <p:nvSpPr>
          <p:cNvPr id="45" name="Text 31"/>
          <p:cNvSpPr txBox="1"/>
          <p:nvPr/>
        </p:nvSpPr>
        <p:spPr>
          <a:xfrm>
            <a:off x="7249363" y="5440680"/>
            <a:ext cx="20354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chemeClr val="tx1"/>
                </a:solidFill>
              </a:rPr>
              <a:t>Doorsturen</a:t>
            </a:r>
            <a:endParaRPr lang="en-US" sz="1500" dirty="0"/>
          </a:p>
        </p:txBody>
      </p:sp>
      <p:sp>
        <p:nvSpPr>
          <p:cNvPr id="46" name="Text 32"/>
          <p:cNvSpPr txBox="1"/>
          <p:nvPr/>
        </p:nvSpPr>
        <p:spPr>
          <a:xfrm>
            <a:off x="7249363" y="5760720"/>
            <a:ext cx="203545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transférer</a:t>
            </a:r>
            <a:endParaRPr lang="en-US" sz="1300" dirty="0"/>
          </a:p>
        </p:txBody>
      </p:sp>
      <p:sp>
        <p:nvSpPr>
          <p:cNvPr id="47" name="Shape 33"/>
          <p:cNvSpPr/>
          <p:nvPr/>
        </p:nvSpPr>
        <p:spPr>
          <a:xfrm>
            <a:off x="9421978" y="4800600"/>
            <a:ext cx="2035454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48" name="Shape 34"/>
          <p:cNvSpPr/>
          <p:nvPr/>
        </p:nvSpPr>
        <p:spPr>
          <a:xfrm>
            <a:off x="10165385" y="4873752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9" name="Image 11" descr="Paperclip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297058" y="5005426"/>
            <a:ext cx="285293" cy="285293"/>
          </a:xfrm>
          <a:prstGeom prst="rect">
            <a:avLst/>
          </a:prstGeom>
        </p:spPr>
      </p:pic>
      <p:sp>
        <p:nvSpPr>
          <p:cNvPr id="50" name="Text 35"/>
          <p:cNvSpPr txBox="1"/>
          <p:nvPr/>
        </p:nvSpPr>
        <p:spPr>
          <a:xfrm>
            <a:off x="9421978" y="5440680"/>
            <a:ext cx="20354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chemeClr val="tx1"/>
                </a:solidFill>
              </a:rPr>
              <a:t>Bijlage toevoegen</a:t>
            </a:r>
            <a:endParaRPr lang="en-US" sz="1200" dirty="0"/>
          </a:p>
        </p:txBody>
      </p:sp>
      <p:sp>
        <p:nvSpPr>
          <p:cNvPr id="51" name="Text 36"/>
          <p:cNvSpPr txBox="1"/>
          <p:nvPr/>
        </p:nvSpPr>
        <p:spPr>
          <a:xfrm>
            <a:off x="9421978" y="5760720"/>
            <a:ext cx="203545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joindre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À retenir : la checklist avant d’envoyer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446581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À RETENIR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72768"/>
            <a:ext cx="5440680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6" name="Image 0" descr="RegSqua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47088"/>
            <a:ext cx="411480" cy="411480"/>
          </a:xfrm>
          <a:prstGeom prst="rect">
            <a:avLst/>
          </a:prstGeom>
        </p:spPr>
      </p:pic>
      <p:pic>
        <p:nvPicPr>
          <p:cNvPr id="7" name="Image 1" descr="Ta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1892808"/>
            <a:ext cx="320040" cy="32004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783080" y="1572768"/>
            <a:ext cx="411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Onderwerp</a:t>
            </a:r>
            <a:r>
              <a:rPr lang="en-US" sz="1600" dirty="0">
                <a:solidFill>
                  <a:schemeClr val="tx1"/>
                </a:solidFill>
              </a:rPr>
              <a:t> court et précis</a:t>
            </a:r>
            <a:endParaRPr lang="en-US" sz="1600" dirty="0"/>
          </a:p>
        </p:txBody>
      </p:sp>
      <p:sp>
        <p:nvSpPr>
          <p:cNvPr id="9" name="Shape 4"/>
          <p:cNvSpPr/>
          <p:nvPr/>
        </p:nvSpPr>
        <p:spPr>
          <a:xfrm>
            <a:off x="548640" y="2670048"/>
            <a:ext cx="5440680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10" name="Image 2" descr="RegSquar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944368"/>
            <a:ext cx="411480" cy="411480"/>
          </a:xfrm>
          <a:prstGeom prst="rect">
            <a:avLst/>
          </a:prstGeom>
        </p:spPr>
      </p:pic>
      <p:pic>
        <p:nvPicPr>
          <p:cNvPr id="11" name="Image 3" descr="UserTa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5880" y="2990088"/>
            <a:ext cx="320040" cy="320040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1783080" y="2670048"/>
            <a:ext cx="411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Aanhef</a:t>
            </a:r>
            <a:r>
              <a:rPr lang="en-US" sz="1600" dirty="0">
                <a:solidFill>
                  <a:schemeClr val="tx1"/>
                </a:solidFill>
              </a:rPr>
              <a:t> adapté au destinataire (</a:t>
            </a:r>
            <a:r>
              <a:rPr lang="en-US" sz="1600" i="1" dirty="0">
                <a:solidFill>
                  <a:schemeClr val="tx1"/>
                </a:solidFill>
              </a:rPr>
              <a:t>Hoi / Beste / Geachte</a:t>
            </a:r>
            <a:r>
              <a:rPr lang="en-US" sz="1600" dirty="0">
                <a:solidFill>
                  <a:schemeClr val="tx1"/>
                </a:solidFill>
              </a:rPr>
              <a:t>)</a:t>
            </a:r>
            <a:endParaRPr lang="en-US" sz="1600" dirty="0"/>
          </a:p>
        </p:txBody>
      </p:sp>
      <p:sp>
        <p:nvSpPr>
          <p:cNvPr id="13" name="Shape 6"/>
          <p:cNvSpPr/>
          <p:nvPr/>
        </p:nvSpPr>
        <p:spPr>
          <a:xfrm>
            <a:off x="548640" y="3767328"/>
            <a:ext cx="5440680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14" name="Image 4" descr="RegSquar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041648"/>
            <a:ext cx="411480" cy="411480"/>
          </a:xfrm>
          <a:prstGeom prst="rect">
            <a:avLst/>
          </a:prstGeom>
        </p:spPr>
      </p:pic>
      <p:pic>
        <p:nvPicPr>
          <p:cNvPr id="15" name="Image 5" descr="SlidersH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5880" y="4087368"/>
            <a:ext cx="320040" cy="320040"/>
          </a:xfrm>
          <a:prstGeom prst="rect">
            <a:avLst/>
          </a:prstGeom>
        </p:spPr>
      </p:pic>
      <p:sp>
        <p:nvSpPr>
          <p:cNvPr id="16" name="Text 7"/>
          <p:cNvSpPr txBox="1"/>
          <p:nvPr/>
        </p:nvSpPr>
        <p:spPr>
          <a:xfrm>
            <a:off x="1783080" y="3767328"/>
            <a:ext cx="411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i="1" dirty="0">
                <a:solidFill>
                  <a:schemeClr val="tx1"/>
                </a:solidFill>
              </a:rPr>
              <a:t>je</a:t>
            </a:r>
            <a:r>
              <a:rPr lang="en-US" sz="1600" dirty="0">
                <a:solidFill>
                  <a:schemeClr val="tx1"/>
                </a:solidFill>
              </a:rPr>
              <a:t> ou </a:t>
            </a:r>
            <a:r>
              <a:rPr lang="en-US" sz="1600" b="1" i="1" dirty="0">
                <a:solidFill>
                  <a:schemeClr val="tx1"/>
                </a:solidFill>
              </a:rPr>
              <a:t>u</a:t>
            </a:r>
            <a:r>
              <a:rPr lang="en-US" sz="1600" dirty="0">
                <a:solidFill>
                  <a:schemeClr val="tx1"/>
                </a:solidFill>
              </a:rPr>
              <a:t> : le même partout, avec le bon possessif (</a:t>
            </a:r>
            <a:r>
              <a:rPr lang="en-US" sz="1600" i="1" dirty="0">
                <a:solidFill>
                  <a:schemeClr val="tx1"/>
                </a:solidFill>
              </a:rPr>
              <a:t>je / uw</a:t>
            </a:r>
            <a:r>
              <a:rPr lang="en-US" sz="1600" dirty="0">
                <a:solidFill>
                  <a:schemeClr val="tx1"/>
                </a:solidFill>
              </a:rPr>
              <a:t>) — M8</a:t>
            </a:r>
            <a:endParaRPr lang="en-US" sz="1600" dirty="0"/>
          </a:p>
        </p:txBody>
      </p:sp>
      <p:sp>
        <p:nvSpPr>
          <p:cNvPr id="17" name="Shape 8"/>
          <p:cNvSpPr/>
          <p:nvPr/>
        </p:nvSpPr>
        <p:spPr>
          <a:xfrm>
            <a:off x="548640" y="4864608"/>
            <a:ext cx="5440680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18" name="Image 6" descr="RegSquare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5138928"/>
            <a:ext cx="411480" cy="411480"/>
          </a:xfrm>
          <a:prstGeom prst="rect">
            <a:avLst/>
          </a:prstGeom>
        </p:spPr>
      </p:pic>
      <p:pic>
        <p:nvPicPr>
          <p:cNvPr id="19" name="Image 7" descr="ExchangeAlt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25880" y="5184648"/>
            <a:ext cx="320040" cy="320040"/>
          </a:xfrm>
          <a:prstGeom prst="rect">
            <a:avLst/>
          </a:prstGeom>
        </p:spPr>
      </p:pic>
      <p:sp>
        <p:nvSpPr>
          <p:cNvPr id="20" name="Text 9"/>
          <p:cNvSpPr txBox="1"/>
          <p:nvPr/>
        </p:nvSpPr>
        <p:spPr>
          <a:xfrm>
            <a:off x="1783080" y="4864608"/>
            <a:ext cx="411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Verbe</a:t>
            </a:r>
            <a:r>
              <a:rPr lang="en-US" sz="1600" dirty="0">
                <a:solidFill>
                  <a:schemeClr val="tx1"/>
                </a:solidFill>
              </a:rPr>
              <a:t> en 2e position… et à la fin après </a:t>
            </a:r>
            <a:r>
              <a:rPr lang="en-US" sz="1600" i="1" dirty="0">
                <a:solidFill>
                  <a:schemeClr val="tx1"/>
                </a:solidFill>
              </a:rPr>
              <a:t>omdat, dat, als</a:t>
            </a:r>
            <a:r>
              <a:rPr lang="en-US" sz="1600" dirty="0">
                <a:solidFill>
                  <a:schemeClr val="tx1"/>
                </a:solidFill>
              </a:rPr>
              <a:t> — M3, M9</a:t>
            </a:r>
            <a:endParaRPr lang="en-US" sz="1600" dirty="0"/>
          </a:p>
        </p:txBody>
      </p:sp>
      <p:sp>
        <p:nvSpPr>
          <p:cNvPr id="21" name="Shape 10"/>
          <p:cNvSpPr/>
          <p:nvPr/>
        </p:nvSpPr>
        <p:spPr>
          <a:xfrm>
            <a:off x="6199632" y="1572768"/>
            <a:ext cx="5440680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22" name="Image 8" descr="RegSquare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82512" y="1847088"/>
            <a:ext cx="411480" cy="411480"/>
          </a:xfrm>
          <a:prstGeom prst="rect">
            <a:avLst/>
          </a:prstGeom>
        </p:spPr>
      </p:pic>
      <p:pic>
        <p:nvPicPr>
          <p:cNvPr id="23" name="Image 9" descr="CommentDots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76872" y="1892808"/>
            <a:ext cx="320040" cy="320040"/>
          </a:xfrm>
          <a:prstGeom prst="rect">
            <a:avLst/>
          </a:prstGeom>
        </p:spPr>
      </p:pic>
      <p:sp>
        <p:nvSpPr>
          <p:cNvPr id="24" name="Text 11"/>
          <p:cNvSpPr txBox="1"/>
          <p:nvPr/>
        </p:nvSpPr>
        <p:spPr>
          <a:xfrm>
            <a:off x="7434072" y="1572768"/>
            <a:ext cx="411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Slotzin</a:t>
            </a:r>
            <a:r>
              <a:rPr lang="en-US" sz="1600" dirty="0">
                <a:solidFill>
                  <a:schemeClr val="tx1"/>
                </a:solidFill>
              </a:rPr>
              <a:t> (</a:t>
            </a:r>
            <a:r>
              <a:rPr lang="en-US" sz="1600" i="1" dirty="0">
                <a:solidFill>
                  <a:schemeClr val="tx1"/>
                </a:solidFill>
              </a:rPr>
              <a:t>Alvast bedankt. / Ik hoor graag van u.</a:t>
            </a:r>
            <a:r>
              <a:rPr lang="en-US" sz="1600" dirty="0">
                <a:solidFill>
                  <a:schemeClr val="tx1"/>
                </a:solidFill>
              </a:rPr>
              <a:t>)</a:t>
            </a:r>
            <a:endParaRPr lang="en-US" sz="1600" dirty="0"/>
          </a:p>
        </p:txBody>
      </p:sp>
      <p:sp>
        <p:nvSpPr>
          <p:cNvPr id="25" name="Shape 12"/>
          <p:cNvSpPr/>
          <p:nvPr/>
        </p:nvSpPr>
        <p:spPr>
          <a:xfrm>
            <a:off x="6199632" y="2670048"/>
            <a:ext cx="5440680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26" name="Image 10" descr="RegSquare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82512" y="2944368"/>
            <a:ext cx="411480" cy="411480"/>
          </a:xfrm>
          <a:prstGeom prst="rect">
            <a:avLst/>
          </a:prstGeom>
        </p:spPr>
      </p:pic>
      <p:pic>
        <p:nvPicPr>
          <p:cNvPr id="27" name="Image 11" descr="SortAmountUp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76872" y="2990088"/>
            <a:ext cx="320040" cy="320040"/>
          </a:xfrm>
          <a:prstGeom prst="rect">
            <a:avLst/>
          </a:prstGeom>
        </p:spPr>
      </p:pic>
      <p:sp>
        <p:nvSpPr>
          <p:cNvPr id="28" name="Text 13"/>
          <p:cNvSpPr txBox="1"/>
          <p:nvPr/>
        </p:nvSpPr>
        <p:spPr>
          <a:xfrm>
            <a:off x="7434072" y="2670048"/>
            <a:ext cx="411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Afsluiting</a:t>
            </a:r>
            <a:r>
              <a:rPr lang="en-US" sz="1600" dirty="0">
                <a:solidFill>
                  <a:schemeClr val="tx1"/>
                </a:solidFill>
              </a:rPr>
              <a:t> en miroir de l’aanhef</a:t>
            </a:r>
            <a:endParaRPr lang="en-US" sz="1600" dirty="0"/>
          </a:p>
        </p:txBody>
      </p:sp>
      <p:sp>
        <p:nvSpPr>
          <p:cNvPr id="29" name="Shape 14"/>
          <p:cNvSpPr/>
          <p:nvPr/>
        </p:nvSpPr>
        <p:spPr>
          <a:xfrm>
            <a:off x="6199632" y="3767328"/>
            <a:ext cx="5440680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30" name="Image 12" descr="RegSquare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82512" y="4041648"/>
            <a:ext cx="411480" cy="411480"/>
          </a:xfrm>
          <a:prstGeom prst="rect">
            <a:avLst/>
          </a:prstGeom>
        </p:spPr>
      </p:pic>
      <p:pic>
        <p:nvPicPr>
          <p:cNvPr id="31" name="Image 13" descr="Paperclip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976872" y="4087368"/>
            <a:ext cx="320040" cy="320040"/>
          </a:xfrm>
          <a:prstGeom prst="rect">
            <a:avLst/>
          </a:prstGeom>
        </p:spPr>
      </p:pic>
      <p:sp>
        <p:nvSpPr>
          <p:cNvPr id="32" name="Text 15"/>
          <p:cNvSpPr txBox="1"/>
          <p:nvPr/>
        </p:nvSpPr>
        <p:spPr>
          <a:xfrm>
            <a:off x="7434072" y="3767328"/>
            <a:ext cx="411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Naam</a:t>
            </a:r>
            <a:r>
              <a:rPr lang="en-US" sz="1600" dirty="0">
                <a:solidFill>
                  <a:schemeClr val="tx1"/>
                </a:solidFill>
              </a:rPr>
              <a:t> (+ fonction en formel) · </a:t>
            </a:r>
            <a:r>
              <a:rPr lang="en-US" sz="1600" b="1" dirty="0">
                <a:solidFill>
                  <a:schemeClr val="tx1"/>
                </a:solidFill>
              </a:rPr>
              <a:t>bijlage</a:t>
            </a:r>
            <a:r>
              <a:rPr lang="en-US" sz="1600" dirty="0">
                <a:solidFill>
                  <a:schemeClr val="tx1"/>
                </a:solidFill>
              </a:rPr>
              <a:t> jointe ?</a:t>
            </a:r>
            <a:endParaRPr lang="en-US" sz="1600" dirty="0"/>
          </a:p>
        </p:txBody>
      </p:sp>
      <p:sp>
        <p:nvSpPr>
          <p:cNvPr id="33" name="Shape 16"/>
          <p:cNvSpPr/>
          <p:nvPr/>
        </p:nvSpPr>
        <p:spPr>
          <a:xfrm>
            <a:off x="6199632" y="4937760"/>
            <a:ext cx="5440680" cy="9144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34" name="Image 14" descr="PaperPlane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589520" y="5184648"/>
            <a:ext cx="420624" cy="420624"/>
          </a:xfrm>
          <a:prstGeom prst="rect">
            <a:avLst/>
          </a:prstGeom>
        </p:spPr>
      </p:pic>
      <p:sp>
        <p:nvSpPr>
          <p:cNvPr id="35" name="Text 17"/>
          <p:cNvSpPr txBox="1"/>
          <p:nvPr/>
        </p:nvSpPr>
        <p:spPr>
          <a:xfrm>
            <a:off x="8183880" y="49377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Verzenden</a:t>
            </a:r>
            <a:endParaRPr lang="en-US" sz="2600" dirty="0"/>
          </a:p>
        </p:txBody>
      </p:sp>
      <p:pic>
        <p:nvPicPr>
          <p:cNvPr id="36" name="Image 15" descr="Camera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247120" y="960120"/>
            <a:ext cx="347472" cy="3474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Oefeningen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4173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JIJ NU !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548640" y="2606040"/>
            <a:ext cx="218313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85800" y="27432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2743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pic>
        <p:nvPicPr>
          <p:cNvPr id="9" name="Image 0" descr="Searc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83130" y="2770632"/>
            <a:ext cx="384048" cy="38404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85800" y="3264408"/>
            <a:ext cx="190881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L’anatomie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685800" y="3840480"/>
            <a:ext cx="19088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2960370" y="2606040"/>
            <a:ext cx="218313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097530" y="27432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3097530" y="2743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pic>
        <p:nvPicPr>
          <p:cNvPr id="15" name="Image 1" descr="BalanceSca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4860" y="2770632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097530" y="3264408"/>
            <a:ext cx="190881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Formel ou informel ?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3097530" y="3840480"/>
            <a:ext cx="19088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5372100" y="2606040"/>
            <a:ext cx="218313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5509260" y="27432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5509260" y="2743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pic>
        <p:nvPicPr>
          <p:cNvPr id="21" name="Image 2" descr="UserTa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6590" y="2770632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509260" y="3264408"/>
            <a:ext cx="190881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Pour qui ?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5509260" y="3840480"/>
            <a:ext cx="19088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7783830" y="2606040"/>
            <a:ext cx="218313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7920990" y="27432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7920990" y="2743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pic>
        <p:nvPicPr>
          <p:cNvPr id="27" name="Image 3" descr="Cu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0" y="2770632"/>
            <a:ext cx="384048" cy="384048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7920990" y="3264408"/>
            <a:ext cx="190881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Le mail en morceaux</a:t>
            </a:r>
            <a:endParaRPr lang="en-US" sz="1600" dirty="0"/>
          </a:p>
        </p:txBody>
      </p:sp>
      <p:sp>
        <p:nvSpPr>
          <p:cNvPr id="29" name="Text 22"/>
          <p:cNvSpPr txBox="1"/>
          <p:nvPr/>
        </p:nvSpPr>
        <p:spPr>
          <a:xfrm>
            <a:off x="7920990" y="3840480"/>
            <a:ext cx="19088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★★</a:t>
            </a:r>
            <a:endParaRPr lang="en-US" sz="1400" dirty="0"/>
          </a:p>
        </p:txBody>
      </p:sp>
      <p:sp>
        <p:nvSpPr>
          <p:cNvPr id="30" name="Shape 23"/>
          <p:cNvSpPr/>
          <p:nvPr/>
        </p:nvSpPr>
        <p:spPr>
          <a:xfrm>
            <a:off x="548640" y="4434840"/>
            <a:ext cx="218313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685800" y="45720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685800" y="4572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pic>
        <p:nvPicPr>
          <p:cNvPr id="33" name="Image 4" descr="UserSecre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83130" y="4599432"/>
            <a:ext cx="384048" cy="384048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685800" y="5093208"/>
            <a:ext cx="190881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Le détective</a:t>
            </a:r>
            <a:endParaRPr lang="en-US" sz="1600" dirty="0"/>
          </a:p>
        </p:txBody>
      </p:sp>
      <p:sp>
        <p:nvSpPr>
          <p:cNvPr id="35" name="Text 27"/>
          <p:cNvSpPr txBox="1"/>
          <p:nvPr/>
        </p:nvSpPr>
        <p:spPr>
          <a:xfrm>
            <a:off x="685800" y="5669280"/>
            <a:ext cx="19088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★★</a:t>
            </a:r>
            <a:endParaRPr lang="en-US" sz="1400" dirty="0"/>
          </a:p>
        </p:txBody>
      </p:sp>
      <p:sp>
        <p:nvSpPr>
          <p:cNvPr id="36" name="Shape 28"/>
          <p:cNvSpPr/>
          <p:nvPr/>
        </p:nvSpPr>
        <p:spPr>
          <a:xfrm>
            <a:off x="2960370" y="4434840"/>
            <a:ext cx="218313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3097530" y="45720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0"/>
          <p:cNvSpPr txBox="1"/>
          <p:nvPr/>
        </p:nvSpPr>
        <p:spPr>
          <a:xfrm>
            <a:off x="3097530" y="4572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pic>
        <p:nvPicPr>
          <p:cNvPr id="39" name="Image 5" descr="Pe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4860" y="4599432"/>
            <a:ext cx="384048" cy="384048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3097530" y="5093208"/>
            <a:ext cx="190881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À vous d’écrire !</a:t>
            </a:r>
            <a:endParaRPr lang="en-US" sz="1600" dirty="0"/>
          </a:p>
        </p:txBody>
      </p:sp>
      <p:sp>
        <p:nvSpPr>
          <p:cNvPr id="41" name="Text 32"/>
          <p:cNvSpPr txBox="1"/>
          <p:nvPr/>
        </p:nvSpPr>
        <p:spPr>
          <a:xfrm>
            <a:off x="3097530" y="5669280"/>
            <a:ext cx="19088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★★★</a:t>
            </a:r>
            <a:endParaRPr lang="en-US" sz="1400" dirty="0"/>
          </a:p>
        </p:txBody>
      </p:sp>
      <p:sp>
        <p:nvSpPr>
          <p:cNvPr id="42" name="Shape 33"/>
          <p:cNvSpPr/>
          <p:nvPr/>
        </p:nvSpPr>
        <p:spPr>
          <a:xfrm>
            <a:off x="5372100" y="4434840"/>
            <a:ext cx="218313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43" name="Shape 34"/>
          <p:cNvSpPr/>
          <p:nvPr/>
        </p:nvSpPr>
        <p:spPr>
          <a:xfrm>
            <a:off x="5509260" y="45720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35"/>
          <p:cNvSpPr txBox="1"/>
          <p:nvPr/>
        </p:nvSpPr>
        <p:spPr>
          <a:xfrm>
            <a:off x="5509260" y="4572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7</a:t>
            </a:r>
            <a:endParaRPr lang="en-US" sz="1600" dirty="0"/>
          </a:p>
        </p:txBody>
      </p:sp>
      <p:pic>
        <p:nvPicPr>
          <p:cNvPr id="45" name="Image 6" descr="Trophy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06590" y="4599432"/>
            <a:ext cx="384048" cy="384048"/>
          </a:xfrm>
          <a:prstGeom prst="rect">
            <a:avLst/>
          </a:prstGeom>
        </p:spPr>
      </p:pic>
      <p:sp>
        <p:nvSpPr>
          <p:cNvPr id="46" name="Text 36"/>
          <p:cNvSpPr txBox="1"/>
          <p:nvPr/>
        </p:nvSpPr>
        <p:spPr>
          <a:xfrm>
            <a:off x="5509260" y="5093208"/>
            <a:ext cx="190881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Le concours de politesse</a:t>
            </a:r>
            <a:endParaRPr lang="en-US" sz="1600" dirty="0"/>
          </a:p>
        </p:txBody>
      </p:sp>
      <p:sp>
        <p:nvSpPr>
          <p:cNvPr id="47" name="Text 37"/>
          <p:cNvSpPr txBox="1"/>
          <p:nvPr/>
        </p:nvSpPr>
        <p:spPr>
          <a:xfrm>
            <a:off x="5509260" y="5669280"/>
            <a:ext cx="19088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★★★</a:t>
            </a:r>
            <a:endParaRPr lang="en-US" sz="1400" dirty="0"/>
          </a:p>
        </p:txBody>
      </p:sp>
      <p:pic>
        <p:nvPicPr>
          <p:cNvPr id="48" name="Image 7" descr="man teacher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58400" y="3657600"/>
            <a:ext cx="1645920" cy="16459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EF3F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1 — L’anatomie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</a:t>
            </a:r>
            <a:endParaRPr lang="en-US" sz="1600" dirty="0"/>
          </a:p>
        </p:txBody>
      </p:sp>
      <p:pic>
        <p:nvPicPr>
          <p:cNvPr id="6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Associez chaque zone (1–7) à son nom (a–g).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548640" y="1932432"/>
            <a:ext cx="6766560" cy="4358640"/>
          </a:xfrm>
          <a:prstGeom prst="roundRect">
            <a:avLst>
              <a:gd name="adj" fmla="val 1259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548640" y="1932432"/>
            <a:ext cx="6766560" cy="384048"/>
          </a:xfrm>
          <a:prstGeom prst="roundRect">
            <a:avLst>
              <a:gd name="adj" fmla="val 14286"/>
            </a:avLst>
          </a:prstGeom>
          <a:solidFill>
            <a:srgbClr val="E6EB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13232" y="2060448"/>
            <a:ext cx="128016" cy="128016"/>
          </a:xfrm>
          <a:prstGeom prst="ellipse">
            <a:avLst/>
          </a:prstGeom>
          <a:solidFill>
            <a:srgbClr val="E2725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941832" y="2060448"/>
            <a:ext cx="128016" cy="128016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1170432" y="2060448"/>
            <a:ext cx="128016" cy="128016"/>
          </a:xfrm>
          <a:prstGeom prst="ellipse">
            <a:avLst/>
          </a:prstGeom>
          <a:solidFill>
            <a:srgbClr val="5FA77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1463040" y="1932432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Nieuw bericht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31520" y="2497183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31520" y="2497183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1234440" y="2453640"/>
            <a:ext cx="4937760" cy="452846"/>
          </a:xfrm>
          <a:prstGeom prst="roundRect">
            <a:avLst>
              <a:gd name="adj" fmla="val 16154"/>
            </a:avLst>
          </a:prstGeom>
          <a:solidFill>
            <a:srgbClr val="F4F7FB"/>
          </a:solidFill>
          <a:ln w="12700">
            <a:solidFill>
              <a:srgbClr val="D5DCE6"/>
            </a:solidFill>
            <a:prstDash val="dash"/>
          </a:ln>
        </p:spPr>
      </p:sp>
      <p:sp>
        <p:nvSpPr>
          <p:cNvPr id="17" name="Text 13"/>
          <p:cNvSpPr txBox="1"/>
          <p:nvPr/>
        </p:nvSpPr>
        <p:spPr>
          <a:xfrm>
            <a:off x="1371600" y="2453640"/>
            <a:ext cx="4754880" cy="452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Van: karim.benali@peetersco.be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731520" y="3041469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731520" y="3041469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1234440" y="2997926"/>
            <a:ext cx="4937760" cy="452846"/>
          </a:xfrm>
          <a:prstGeom prst="roundRect">
            <a:avLst>
              <a:gd name="adj" fmla="val 16154"/>
            </a:avLst>
          </a:prstGeom>
          <a:solidFill>
            <a:srgbClr val="F4F7FB"/>
          </a:solidFill>
          <a:ln w="12700">
            <a:solidFill>
              <a:srgbClr val="D5DCE6"/>
            </a:solidFill>
            <a:prstDash val="dash"/>
          </a:ln>
        </p:spPr>
      </p:sp>
      <p:sp>
        <p:nvSpPr>
          <p:cNvPr id="21" name="Text 17"/>
          <p:cNvSpPr txBox="1"/>
          <p:nvPr/>
        </p:nvSpPr>
        <p:spPr>
          <a:xfrm>
            <a:off x="1371600" y="2997926"/>
            <a:ext cx="4754880" cy="452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Aan: j.maes@maesbouw.be</a:t>
            </a:r>
            <a:endParaRPr lang="en-US" sz="1500" dirty="0"/>
          </a:p>
        </p:txBody>
      </p:sp>
      <p:sp>
        <p:nvSpPr>
          <p:cNvPr id="22" name="Shape 18"/>
          <p:cNvSpPr/>
          <p:nvPr/>
        </p:nvSpPr>
        <p:spPr>
          <a:xfrm>
            <a:off x="731520" y="3585754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731520" y="358575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1234440" y="3542211"/>
            <a:ext cx="4937760" cy="452846"/>
          </a:xfrm>
          <a:prstGeom prst="roundRect">
            <a:avLst>
              <a:gd name="adj" fmla="val 16154"/>
            </a:avLst>
          </a:prstGeom>
          <a:solidFill>
            <a:srgbClr val="F4F7FB"/>
          </a:solidFill>
          <a:ln w="12700">
            <a:solidFill>
              <a:srgbClr val="D5DCE6"/>
            </a:solidFill>
            <a:prstDash val="dash"/>
          </a:ln>
        </p:spPr>
      </p:sp>
      <p:sp>
        <p:nvSpPr>
          <p:cNvPr id="25" name="Text 21"/>
          <p:cNvSpPr txBox="1"/>
          <p:nvPr/>
        </p:nvSpPr>
        <p:spPr>
          <a:xfrm>
            <a:off x="1371600" y="3542211"/>
            <a:ext cx="4754880" cy="452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Afspraak dinsdag 12 mei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731520" y="413004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731520" y="4130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1234440" y="4086497"/>
            <a:ext cx="4937760" cy="452846"/>
          </a:xfrm>
          <a:prstGeom prst="roundRect">
            <a:avLst>
              <a:gd name="adj" fmla="val 16154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dash"/>
          </a:ln>
        </p:spPr>
      </p:sp>
      <p:sp>
        <p:nvSpPr>
          <p:cNvPr id="29" name="Text 25"/>
          <p:cNvSpPr txBox="1"/>
          <p:nvPr/>
        </p:nvSpPr>
        <p:spPr>
          <a:xfrm>
            <a:off x="1371600" y="4086497"/>
            <a:ext cx="4754880" cy="452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Geachte heer Maes,</a:t>
            </a:r>
            <a:endParaRPr lang="en-US" sz="1500" dirty="0"/>
          </a:p>
        </p:txBody>
      </p:sp>
      <p:sp>
        <p:nvSpPr>
          <p:cNvPr id="30" name="Shape 26"/>
          <p:cNvSpPr/>
          <p:nvPr/>
        </p:nvSpPr>
        <p:spPr>
          <a:xfrm>
            <a:off x="731520" y="4674326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731520" y="467432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32" name="Shape 28"/>
          <p:cNvSpPr/>
          <p:nvPr/>
        </p:nvSpPr>
        <p:spPr>
          <a:xfrm>
            <a:off x="1234440" y="4630783"/>
            <a:ext cx="4937760" cy="452846"/>
          </a:xfrm>
          <a:prstGeom prst="roundRect">
            <a:avLst>
              <a:gd name="adj" fmla="val 16154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dash"/>
          </a:ln>
        </p:spPr>
      </p:sp>
      <p:sp>
        <p:nvSpPr>
          <p:cNvPr id="33" name="Text 29"/>
          <p:cNvSpPr txBox="1"/>
          <p:nvPr/>
        </p:nvSpPr>
        <p:spPr>
          <a:xfrm>
            <a:off x="1371600" y="4630783"/>
            <a:ext cx="4754880" cy="452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Ik wil graag een afspraak met u maken…</a:t>
            </a:r>
            <a:endParaRPr lang="en-US" sz="1500" dirty="0"/>
          </a:p>
        </p:txBody>
      </p:sp>
      <p:sp>
        <p:nvSpPr>
          <p:cNvPr id="34" name="Shape 30"/>
          <p:cNvSpPr/>
          <p:nvPr/>
        </p:nvSpPr>
        <p:spPr>
          <a:xfrm>
            <a:off x="731520" y="5218611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731520" y="5218611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36" name="Shape 32"/>
          <p:cNvSpPr/>
          <p:nvPr/>
        </p:nvSpPr>
        <p:spPr>
          <a:xfrm>
            <a:off x="1234440" y="5175069"/>
            <a:ext cx="4937760" cy="452846"/>
          </a:xfrm>
          <a:prstGeom prst="roundRect">
            <a:avLst>
              <a:gd name="adj" fmla="val 16154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dash"/>
          </a:ln>
        </p:spPr>
      </p:sp>
      <p:sp>
        <p:nvSpPr>
          <p:cNvPr id="37" name="Text 33"/>
          <p:cNvSpPr txBox="1"/>
          <p:nvPr/>
        </p:nvSpPr>
        <p:spPr>
          <a:xfrm>
            <a:off x="1371600" y="5175069"/>
            <a:ext cx="4754880" cy="452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Met vriendelijke groet</a:t>
            </a:r>
            <a:endParaRPr lang="en-US" sz="1500" dirty="0"/>
          </a:p>
        </p:txBody>
      </p:sp>
      <p:sp>
        <p:nvSpPr>
          <p:cNvPr id="38" name="Shape 34"/>
          <p:cNvSpPr/>
          <p:nvPr/>
        </p:nvSpPr>
        <p:spPr>
          <a:xfrm>
            <a:off x="731520" y="5762897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731520" y="5762897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40" name="Shape 36"/>
          <p:cNvSpPr/>
          <p:nvPr/>
        </p:nvSpPr>
        <p:spPr>
          <a:xfrm>
            <a:off x="1234440" y="5719354"/>
            <a:ext cx="4937760" cy="452846"/>
          </a:xfrm>
          <a:prstGeom prst="roundRect">
            <a:avLst>
              <a:gd name="adj" fmla="val 16154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dash"/>
          </a:ln>
        </p:spPr>
      </p:sp>
      <p:sp>
        <p:nvSpPr>
          <p:cNvPr id="41" name="Text 37"/>
          <p:cNvSpPr txBox="1"/>
          <p:nvPr/>
        </p:nvSpPr>
        <p:spPr>
          <a:xfrm>
            <a:off x="1371600" y="5719354"/>
            <a:ext cx="4754880" cy="452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Karim Benali, Boekhouder</a:t>
            </a:r>
            <a:endParaRPr lang="en-US" sz="1500" dirty="0"/>
          </a:p>
        </p:txBody>
      </p:sp>
      <p:sp>
        <p:nvSpPr>
          <p:cNvPr id="42" name="Shape 38"/>
          <p:cNvSpPr/>
          <p:nvPr/>
        </p:nvSpPr>
        <p:spPr>
          <a:xfrm>
            <a:off x="7680960" y="1987296"/>
            <a:ext cx="3959352" cy="512935"/>
          </a:xfrm>
          <a:prstGeom prst="roundRect">
            <a:avLst>
              <a:gd name="adj" fmla="val 53480"/>
            </a:avLst>
          </a:prstGeom>
          <a:solidFill>
            <a:schemeClr val="bg2"/>
          </a:solidFill>
          <a:ln w="15875">
            <a:solidFill>
              <a:srgbClr val="17375E"/>
            </a:solidFill>
            <a:prstDash val="solid"/>
          </a:ln>
        </p:spPr>
      </p:sp>
      <p:sp>
        <p:nvSpPr>
          <p:cNvPr id="43" name="Text 39"/>
          <p:cNvSpPr txBox="1"/>
          <p:nvPr/>
        </p:nvSpPr>
        <p:spPr>
          <a:xfrm>
            <a:off x="7863840" y="1987296"/>
            <a:ext cx="3657600" cy="512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</a:t>
            </a:r>
            <a:r>
              <a:rPr lang="en-US" sz="1800" dirty="0">
                <a:solidFill>
                  <a:schemeClr val="tx1"/>
                </a:solidFill>
              </a:rPr>
              <a:t>   </a:t>
            </a:r>
            <a:r>
              <a:rPr lang="en-US" sz="1800" i="1" dirty="0">
                <a:solidFill>
                  <a:schemeClr val="tx1"/>
                </a:solidFill>
              </a:rPr>
              <a:t>de aanhef</a:t>
            </a:r>
            <a:endParaRPr lang="en-US" sz="1800" dirty="0"/>
          </a:p>
        </p:txBody>
      </p:sp>
      <p:sp>
        <p:nvSpPr>
          <p:cNvPr id="44" name="Shape 40"/>
          <p:cNvSpPr/>
          <p:nvPr/>
        </p:nvSpPr>
        <p:spPr>
          <a:xfrm>
            <a:off x="7680960" y="2609959"/>
            <a:ext cx="3959352" cy="512935"/>
          </a:xfrm>
          <a:prstGeom prst="roundRect">
            <a:avLst>
              <a:gd name="adj" fmla="val 53480"/>
            </a:avLst>
          </a:prstGeom>
          <a:solidFill>
            <a:schemeClr val="bg2"/>
          </a:solidFill>
          <a:ln w="15875">
            <a:solidFill>
              <a:srgbClr val="17375E"/>
            </a:solidFill>
            <a:prstDash val="solid"/>
          </a:ln>
        </p:spPr>
      </p:sp>
      <p:sp>
        <p:nvSpPr>
          <p:cNvPr id="45" name="Text 41"/>
          <p:cNvSpPr txBox="1"/>
          <p:nvPr/>
        </p:nvSpPr>
        <p:spPr>
          <a:xfrm>
            <a:off x="7863840" y="2609959"/>
            <a:ext cx="3657600" cy="512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</a:t>
            </a:r>
            <a:r>
              <a:rPr lang="en-US" sz="1800" dirty="0">
                <a:solidFill>
                  <a:schemeClr val="tx1"/>
                </a:solidFill>
              </a:rPr>
              <a:t>   </a:t>
            </a:r>
            <a:r>
              <a:rPr lang="en-US" sz="1800" i="1" dirty="0">
                <a:solidFill>
                  <a:schemeClr val="tx1"/>
                </a:solidFill>
              </a:rPr>
              <a:t>het onderwerp</a:t>
            </a:r>
            <a:endParaRPr lang="en-US" sz="1800" dirty="0"/>
          </a:p>
        </p:txBody>
      </p:sp>
      <p:sp>
        <p:nvSpPr>
          <p:cNvPr id="46" name="Shape 42"/>
          <p:cNvSpPr/>
          <p:nvPr/>
        </p:nvSpPr>
        <p:spPr>
          <a:xfrm>
            <a:off x="7680960" y="3232622"/>
            <a:ext cx="3959352" cy="512935"/>
          </a:xfrm>
          <a:prstGeom prst="roundRect">
            <a:avLst>
              <a:gd name="adj" fmla="val 53480"/>
            </a:avLst>
          </a:prstGeom>
          <a:solidFill>
            <a:schemeClr val="bg2"/>
          </a:solidFill>
          <a:ln w="15875">
            <a:solidFill>
              <a:srgbClr val="17375E"/>
            </a:solidFill>
            <a:prstDash val="solid"/>
          </a:ln>
        </p:spPr>
      </p:sp>
      <p:sp>
        <p:nvSpPr>
          <p:cNvPr id="47" name="Text 43"/>
          <p:cNvSpPr txBox="1"/>
          <p:nvPr/>
        </p:nvSpPr>
        <p:spPr>
          <a:xfrm>
            <a:off x="7863840" y="3232622"/>
            <a:ext cx="3657600" cy="512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</a:t>
            </a:r>
            <a:r>
              <a:rPr lang="en-US" sz="1800" dirty="0">
                <a:solidFill>
                  <a:schemeClr val="tx1"/>
                </a:solidFill>
              </a:rPr>
              <a:t>   </a:t>
            </a:r>
            <a:r>
              <a:rPr lang="en-US" sz="1800" i="1" dirty="0">
                <a:solidFill>
                  <a:schemeClr val="tx1"/>
                </a:solidFill>
              </a:rPr>
              <a:t>de handtekening</a:t>
            </a:r>
            <a:endParaRPr lang="en-US" sz="1800" dirty="0"/>
          </a:p>
        </p:txBody>
      </p:sp>
      <p:sp>
        <p:nvSpPr>
          <p:cNvPr id="48" name="Shape 44"/>
          <p:cNvSpPr/>
          <p:nvPr/>
        </p:nvSpPr>
        <p:spPr>
          <a:xfrm>
            <a:off x="7680960" y="3855285"/>
            <a:ext cx="3959352" cy="512935"/>
          </a:xfrm>
          <a:prstGeom prst="roundRect">
            <a:avLst>
              <a:gd name="adj" fmla="val 53480"/>
            </a:avLst>
          </a:prstGeom>
          <a:solidFill>
            <a:schemeClr val="bg2"/>
          </a:solidFill>
          <a:ln w="15875">
            <a:solidFill>
              <a:srgbClr val="17375E"/>
            </a:solidFill>
            <a:prstDash val="solid"/>
          </a:ln>
        </p:spPr>
      </p:sp>
      <p:sp>
        <p:nvSpPr>
          <p:cNvPr id="49" name="Text 45"/>
          <p:cNvSpPr txBox="1"/>
          <p:nvPr/>
        </p:nvSpPr>
        <p:spPr>
          <a:xfrm>
            <a:off x="7863840" y="3855285"/>
            <a:ext cx="3657600" cy="512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</a:t>
            </a:r>
            <a:r>
              <a:rPr lang="en-US" sz="1800" dirty="0">
                <a:solidFill>
                  <a:schemeClr val="tx1"/>
                </a:solidFill>
              </a:rPr>
              <a:t>   </a:t>
            </a:r>
            <a:r>
              <a:rPr lang="en-US" sz="1800" i="1" dirty="0">
                <a:solidFill>
                  <a:schemeClr val="tx1"/>
                </a:solidFill>
              </a:rPr>
              <a:t>de afzender</a:t>
            </a:r>
            <a:endParaRPr lang="en-US" sz="1800" dirty="0"/>
          </a:p>
        </p:txBody>
      </p:sp>
      <p:sp>
        <p:nvSpPr>
          <p:cNvPr id="50" name="Shape 46"/>
          <p:cNvSpPr/>
          <p:nvPr/>
        </p:nvSpPr>
        <p:spPr>
          <a:xfrm>
            <a:off x="7680960" y="4477947"/>
            <a:ext cx="3959352" cy="512935"/>
          </a:xfrm>
          <a:prstGeom prst="roundRect">
            <a:avLst>
              <a:gd name="adj" fmla="val 53480"/>
            </a:avLst>
          </a:prstGeom>
          <a:solidFill>
            <a:schemeClr val="bg2"/>
          </a:solidFill>
          <a:ln w="15875">
            <a:solidFill>
              <a:srgbClr val="17375E"/>
            </a:solidFill>
            <a:prstDash val="solid"/>
          </a:ln>
        </p:spPr>
      </p:sp>
      <p:sp>
        <p:nvSpPr>
          <p:cNvPr id="51" name="Text 47"/>
          <p:cNvSpPr txBox="1"/>
          <p:nvPr/>
        </p:nvSpPr>
        <p:spPr>
          <a:xfrm>
            <a:off x="7863840" y="4477947"/>
            <a:ext cx="3657600" cy="512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</a:t>
            </a:r>
            <a:r>
              <a:rPr lang="en-US" sz="1800" dirty="0">
                <a:solidFill>
                  <a:schemeClr val="tx1"/>
                </a:solidFill>
              </a:rPr>
              <a:t>   </a:t>
            </a:r>
            <a:r>
              <a:rPr lang="en-US" sz="1800" i="1" dirty="0">
                <a:solidFill>
                  <a:schemeClr val="tx1"/>
                </a:solidFill>
              </a:rPr>
              <a:t>de hoofdtekst</a:t>
            </a:r>
            <a:endParaRPr lang="en-US" sz="1800" dirty="0"/>
          </a:p>
        </p:txBody>
      </p:sp>
      <p:sp>
        <p:nvSpPr>
          <p:cNvPr id="52" name="Shape 48"/>
          <p:cNvSpPr/>
          <p:nvPr/>
        </p:nvSpPr>
        <p:spPr>
          <a:xfrm>
            <a:off x="7680960" y="5100610"/>
            <a:ext cx="3959352" cy="512935"/>
          </a:xfrm>
          <a:prstGeom prst="roundRect">
            <a:avLst>
              <a:gd name="adj" fmla="val 53480"/>
            </a:avLst>
          </a:prstGeom>
          <a:solidFill>
            <a:schemeClr val="bg2"/>
          </a:solidFill>
          <a:ln w="15875">
            <a:solidFill>
              <a:srgbClr val="17375E"/>
            </a:solidFill>
            <a:prstDash val="solid"/>
          </a:ln>
        </p:spPr>
      </p:sp>
      <p:sp>
        <p:nvSpPr>
          <p:cNvPr id="53" name="Text 49"/>
          <p:cNvSpPr txBox="1"/>
          <p:nvPr/>
        </p:nvSpPr>
        <p:spPr>
          <a:xfrm>
            <a:off x="7863840" y="5100610"/>
            <a:ext cx="3657600" cy="512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</a:t>
            </a:r>
            <a:r>
              <a:rPr lang="en-US" sz="1800" dirty="0">
                <a:solidFill>
                  <a:schemeClr val="tx1"/>
                </a:solidFill>
              </a:rPr>
              <a:t>   </a:t>
            </a:r>
            <a:r>
              <a:rPr lang="en-US" sz="1800" i="1" dirty="0">
                <a:solidFill>
                  <a:schemeClr val="tx1"/>
                </a:solidFill>
              </a:rPr>
              <a:t>de ontvanger</a:t>
            </a:r>
            <a:endParaRPr lang="en-US" sz="1800" dirty="0"/>
          </a:p>
        </p:txBody>
      </p:sp>
      <p:sp>
        <p:nvSpPr>
          <p:cNvPr id="54" name="Shape 50"/>
          <p:cNvSpPr/>
          <p:nvPr/>
        </p:nvSpPr>
        <p:spPr>
          <a:xfrm>
            <a:off x="7680960" y="5723273"/>
            <a:ext cx="3959352" cy="512935"/>
          </a:xfrm>
          <a:prstGeom prst="roundRect">
            <a:avLst>
              <a:gd name="adj" fmla="val 53480"/>
            </a:avLst>
          </a:prstGeom>
          <a:solidFill>
            <a:schemeClr val="bg2"/>
          </a:solidFill>
          <a:ln w="15875">
            <a:solidFill>
              <a:srgbClr val="17375E"/>
            </a:solidFill>
            <a:prstDash val="solid"/>
          </a:ln>
        </p:spPr>
      </p:sp>
      <p:sp>
        <p:nvSpPr>
          <p:cNvPr id="55" name="Text 51"/>
          <p:cNvSpPr txBox="1"/>
          <p:nvPr/>
        </p:nvSpPr>
        <p:spPr>
          <a:xfrm>
            <a:off x="7863840" y="5723273"/>
            <a:ext cx="3657600" cy="512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g</a:t>
            </a:r>
            <a:r>
              <a:rPr lang="en-US" sz="1800" dirty="0">
                <a:solidFill>
                  <a:schemeClr val="tx1"/>
                </a:solidFill>
              </a:rPr>
              <a:t>   </a:t>
            </a:r>
            <a:r>
              <a:rPr lang="en-US" sz="1800" i="1" dirty="0">
                <a:solidFill>
                  <a:schemeClr val="tx1"/>
                </a:solidFill>
              </a:rPr>
              <a:t>de afsluiting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1 — L’anatomie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87322" y="237744"/>
            <a:ext cx="1662379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</a:t>
            </a:r>
            <a:endParaRPr lang="en-US" sz="1600" dirty="0"/>
          </a:p>
        </p:txBody>
      </p:sp>
      <p:pic>
        <p:nvPicPr>
          <p:cNvPr id="7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Associez chaque zone (1–7) à son nom (a–g).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548640" y="1932432"/>
            <a:ext cx="6766560" cy="4358640"/>
          </a:xfrm>
          <a:prstGeom prst="roundRect">
            <a:avLst>
              <a:gd name="adj" fmla="val 1259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548640" y="1932432"/>
            <a:ext cx="6766560" cy="384048"/>
          </a:xfrm>
          <a:prstGeom prst="roundRect">
            <a:avLst>
              <a:gd name="adj" fmla="val 14286"/>
            </a:avLst>
          </a:prstGeom>
          <a:solidFill>
            <a:srgbClr val="E6EB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13232" y="2060448"/>
            <a:ext cx="128016" cy="128016"/>
          </a:xfrm>
          <a:prstGeom prst="ellipse">
            <a:avLst/>
          </a:prstGeom>
          <a:solidFill>
            <a:srgbClr val="E2725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941832" y="2060448"/>
            <a:ext cx="128016" cy="128016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1170432" y="2060448"/>
            <a:ext cx="128016" cy="128016"/>
          </a:xfrm>
          <a:prstGeom prst="ellipse">
            <a:avLst/>
          </a:prstGeom>
          <a:solidFill>
            <a:srgbClr val="5FA77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1463040" y="1932432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Nieuw bericht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731520" y="2497183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731520" y="2497183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1234440" y="2453640"/>
            <a:ext cx="4937760" cy="452846"/>
          </a:xfrm>
          <a:prstGeom prst="roundRect">
            <a:avLst>
              <a:gd name="adj" fmla="val 16154"/>
            </a:avLst>
          </a:prstGeom>
          <a:solidFill>
            <a:srgbClr val="F4F7FB"/>
          </a:solidFill>
          <a:ln w="12700">
            <a:solidFill>
              <a:srgbClr val="D5DCE6"/>
            </a:solidFill>
            <a:prstDash val="dash"/>
          </a:ln>
        </p:spPr>
      </p:sp>
      <p:sp>
        <p:nvSpPr>
          <p:cNvPr id="18" name="Text 14"/>
          <p:cNvSpPr txBox="1"/>
          <p:nvPr/>
        </p:nvSpPr>
        <p:spPr>
          <a:xfrm>
            <a:off x="1371600" y="2453640"/>
            <a:ext cx="4754880" cy="452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Van: karim.benali@peetersco.be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6355080" y="2469751"/>
            <a:ext cx="420624" cy="420624"/>
          </a:xfrm>
          <a:prstGeom prst="ellipse">
            <a:avLst/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6355080" y="2469751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731520" y="3041469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731520" y="3041469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1234440" y="2997926"/>
            <a:ext cx="4937760" cy="452846"/>
          </a:xfrm>
          <a:prstGeom prst="roundRect">
            <a:avLst>
              <a:gd name="adj" fmla="val 16154"/>
            </a:avLst>
          </a:prstGeom>
          <a:solidFill>
            <a:srgbClr val="F4F7FB"/>
          </a:solidFill>
          <a:ln w="12700">
            <a:solidFill>
              <a:srgbClr val="D5DCE6"/>
            </a:solidFill>
            <a:prstDash val="dash"/>
          </a:ln>
        </p:spPr>
      </p:sp>
      <p:sp>
        <p:nvSpPr>
          <p:cNvPr id="24" name="Text 20"/>
          <p:cNvSpPr txBox="1"/>
          <p:nvPr/>
        </p:nvSpPr>
        <p:spPr>
          <a:xfrm>
            <a:off x="1371600" y="2997926"/>
            <a:ext cx="4754880" cy="452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Aan: j.maes@maesbouw.be</a:t>
            </a:r>
            <a:endParaRPr lang="en-US" sz="1500" dirty="0"/>
          </a:p>
        </p:txBody>
      </p:sp>
      <p:sp>
        <p:nvSpPr>
          <p:cNvPr id="25" name="Shape 21"/>
          <p:cNvSpPr/>
          <p:nvPr/>
        </p:nvSpPr>
        <p:spPr>
          <a:xfrm>
            <a:off x="6355080" y="3014037"/>
            <a:ext cx="420624" cy="420624"/>
          </a:xfrm>
          <a:prstGeom prst="ellipse">
            <a:avLst/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6355080" y="3014037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f</a:t>
            </a:r>
            <a:endParaRPr lang="en-US" sz="1600" dirty="0"/>
          </a:p>
        </p:txBody>
      </p:sp>
      <p:sp>
        <p:nvSpPr>
          <p:cNvPr id="27" name="Shape 23"/>
          <p:cNvSpPr/>
          <p:nvPr/>
        </p:nvSpPr>
        <p:spPr>
          <a:xfrm>
            <a:off x="731520" y="3585754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731520" y="358575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29" name="Shape 25"/>
          <p:cNvSpPr/>
          <p:nvPr/>
        </p:nvSpPr>
        <p:spPr>
          <a:xfrm>
            <a:off x="1234440" y="3542211"/>
            <a:ext cx="4937760" cy="452846"/>
          </a:xfrm>
          <a:prstGeom prst="roundRect">
            <a:avLst>
              <a:gd name="adj" fmla="val 16154"/>
            </a:avLst>
          </a:prstGeom>
          <a:solidFill>
            <a:srgbClr val="F4F7FB"/>
          </a:solidFill>
          <a:ln w="12700">
            <a:solidFill>
              <a:srgbClr val="D5DCE6"/>
            </a:solidFill>
            <a:prstDash val="dash"/>
          </a:ln>
        </p:spPr>
      </p:sp>
      <p:sp>
        <p:nvSpPr>
          <p:cNvPr id="30" name="Text 26"/>
          <p:cNvSpPr txBox="1"/>
          <p:nvPr/>
        </p:nvSpPr>
        <p:spPr>
          <a:xfrm>
            <a:off x="1371600" y="3542211"/>
            <a:ext cx="4754880" cy="452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Afspraak dinsdag 12 mei</a:t>
            </a:r>
            <a:endParaRPr lang="en-US" sz="1500" dirty="0"/>
          </a:p>
        </p:txBody>
      </p:sp>
      <p:sp>
        <p:nvSpPr>
          <p:cNvPr id="31" name="Shape 27"/>
          <p:cNvSpPr/>
          <p:nvPr/>
        </p:nvSpPr>
        <p:spPr>
          <a:xfrm>
            <a:off x="6355080" y="3558322"/>
            <a:ext cx="420624" cy="420624"/>
          </a:xfrm>
          <a:prstGeom prst="ellipse">
            <a:avLst/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6355080" y="355832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</a:t>
            </a:r>
            <a:endParaRPr lang="en-US" sz="1600" dirty="0"/>
          </a:p>
        </p:txBody>
      </p:sp>
      <p:sp>
        <p:nvSpPr>
          <p:cNvPr id="33" name="Shape 29"/>
          <p:cNvSpPr/>
          <p:nvPr/>
        </p:nvSpPr>
        <p:spPr>
          <a:xfrm>
            <a:off x="731520" y="413004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731520" y="4130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35" name="Shape 31"/>
          <p:cNvSpPr/>
          <p:nvPr/>
        </p:nvSpPr>
        <p:spPr>
          <a:xfrm>
            <a:off x="1234440" y="4086497"/>
            <a:ext cx="4937760" cy="452846"/>
          </a:xfrm>
          <a:prstGeom prst="roundRect">
            <a:avLst>
              <a:gd name="adj" fmla="val 16154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dash"/>
          </a:ln>
        </p:spPr>
      </p:sp>
      <p:sp>
        <p:nvSpPr>
          <p:cNvPr id="36" name="Text 32"/>
          <p:cNvSpPr txBox="1"/>
          <p:nvPr/>
        </p:nvSpPr>
        <p:spPr>
          <a:xfrm>
            <a:off x="1371600" y="4086497"/>
            <a:ext cx="4754880" cy="452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Geachte heer Maes,</a:t>
            </a:r>
            <a:endParaRPr lang="en-US" sz="1500" dirty="0"/>
          </a:p>
        </p:txBody>
      </p:sp>
      <p:sp>
        <p:nvSpPr>
          <p:cNvPr id="37" name="Shape 33"/>
          <p:cNvSpPr/>
          <p:nvPr/>
        </p:nvSpPr>
        <p:spPr>
          <a:xfrm>
            <a:off x="6355080" y="4102608"/>
            <a:ext cx="420624" cy="420624"/>
          </a:xfrm>
          <a:prstGeom prst="ellipse">
            <a:avLst/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6355080" y="41026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</a:t>
            </a:r>
            <a:endParaRPr lang="en-US" sz="1600" dirty="0"/>
          </a:p>
        </p:txBody>
      </p:sp>
      <p:sp>
        <p:nvSpPr>
          <p:cNvPr id="39" name="Shape 35"/>
          <p:cNvSpPr/>
          <p:nvPr/>
        </p:nvSpPr>
        <p:spPr>
          <a:xfrm>
            <a:off x="731520" y="4674326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731520" y="467432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41" name="Shape 37"/>
          <p:cNvSpPr/>
          <p:nvPr/>
        </p:nvSpPr>
        <p:spPr>
          <a:xfrm>
            <a:off x="1234440" y="4630783"/>
            <a:ext cx="4937760" cy="452846"/>
          </a:xfrm>
          <a:prstGeom prst="roundRect">
            <a:avLst>
              <a:gd name="adj" fmla="val 16154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dash"/>
          </a:ln>
        </p:spPr>
      </p:sp>
      <p:sp>
        <p:nvSpPr>
          <p:cNvPr id="42" name="Text 38"/>
          <p:cNvSpPr txBox="1"/>
          <p:nvPr/>
        </p:nvSpPr>
        <p:spPr>
          <a:xfrm>
            <a:off x="1371600" y="4630783"/>
            <a:ext cx="4754880" cy="452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Ik wil graag een afspraak met u maken…</a:t>
            </a:r>
            <a:endParaRPr lang="en-US" sz="1500" dirty="0"/>
          </a:p>
        </p:txBody>
      </p:sp>
      <p:sp>
        <p:nvSpPr>
          <p:cNvPr id="43" name="Shape 39"/>
          <p:cNvSpPr/>
          <p:nvPr/>
        </p:nvSpPr>
        <p:spPr>
          <a:xfrm>
            <a:off x="6355080" y="4646894"/>
            <a:ext cx="420624" cy="420624"/>
          </a:xfrm>
          <a:prstGeom prst="ellipse">
            <a:avLst/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40"/>
          <p:cNvSpPr txBox="1"/>
          <p:nvPr/>
        </p:nvSpPr>
        <p:spPr>
          <a:xfrm>
            <a:off x="6355080" y="464689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</a:t>
            </a:r>
            <a:endParaRPr lang="en-US" sz="1600" dirty="0"/>
          </a:p>
        </p:txBody>
      </p:sp>
      <p:sp>
        <p:nvSpPr>
          <p:cNvPr id="45" name="Shape 41"/>
          <p:cNvSpPr/>
          <p:nvPr/>
        </p:nvSpPr>
        <p:spPr>
          <a:xfrm>
            <a:off x="731520" y="5218611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Text 42"/>
          <p:cNvSpPr txBox="1"/>
          <p:nvPr/>
        </p:nvSpPr>
        <p:spPr>
          <a:xfrm>
            <a:off x="731520" y="5218611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47" name="Shape 43"/>
          <p:cNvSpPr/>
          <p:nvPr/>
        </p:nvSpPr>
        <p:spPr>
          <a:xfrm>
            <a:off x="1234440" y="5175069"/>
            <a:ext cx="4937760" cy="452846"/>
          </a:xfrm>
          <a:prstGeom prst="roundRect">
            <a:avLst>
              <a:gd name="adj" fmla="val 16154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dash"/>
          </a:ln>
        </p:spPr>
      </p:sp>
      <p:sp>
        <p:nvSpPr>
          <p:cNvPr id="48" name="Text 44"/>
          <p:cNvSpPr txBox="1"/>
          <p:nvPr/>
        </p:nvSpPr>
        <p:spPr>
          <a:xfrm>
            <a:off x="1371600" y="5175069"/>
            <a:ext cx="4754880" cy="452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Met vriendelijke groet</a:t>
            </a:r>
            <a:endParaRPr lang="en-US" sz="1500" dirty="0"/>
          </a:p>
        </p:txBody>
      </p:sp>
      <p:sp>
        <p:nvSpPr>
          <p:cNvPr id="49" name="Shape 45"/>
          <p:cNvSpPr/>
          <p:nvPr/>
        </p:nvSpPr>
        <p:spPr>
          <a:xfrm>
            <a:off x="6355080" y="5191179"/>
            <a:ext cx="420624" cy="420624"/>
          </a:xfrm>
          <a:prstGeom prst="ellipse">
            <a:avLst/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Text 46"/>
          <p:cNvSpPr txBox="1"/>
          <p:nvPr/>
        </p:nvSpPr>
        <p:spPr>
          <a:xfrm>
            <a:off x="6355080" y="5191179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g</a:t>
            </a:r>
            <a:endParaRPr lang="en-US" sz="1600" dirty="0"/>
          </a:p>
        </p:txBody>
      </p:sp>
      <p:sp>
        <p:nvSpPr>
          <p:cNvPr id="51" name="Shape 47"/>
          <p:cNvSpPr/>
          <p:nvPr/>
        </p:nvSpPr>
        <p:spPr>
          <a:xfrm>
            <a:off x="731520" y="5762897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Text 48"/>
          <p:cNvSpPr txBox="1"/>
          <p:nvPr/>
        </p:nvSpPr>
        <p:spPr>
          <a:xfrm>
            <a:off x="731520" y="5762897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53" name="Shape 49"/>
          <p:cNvSpPr/>
          <p:nvPr/>
        </p:nvSpPr>
        <p:spPr>
          <a:xfrm>
            <a:off x="1234440" y="5719354"/>
            <a:ext cx="4937760" cy="452846"/>
          </a:xfrm>
          <a:prstGeom prst="roundRect">
            <a:avLst>
              <a:gd name="adj" fmla="val 16154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dash"/>
          </a:ln>
        </p:spPr>
      </p:sp>
      <p:sp>
        <p:nvSpPr>
          <p:cNvPr id="54" name="Text 50"/>
          <p:cNvSpPr txBox="1"/>
          <p:nvPr/>
        </p:nvSpPr>
        <p:spPr>
          <a:xfrm>
            <a:off x="1371600" y="5719354"/>
            <a:ext cx="4754880" cy="452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Karim Benali, Boekhouder</a:t>
            </a:r>
            <a:endParaRPr lang="en-US" sz="1500" dirty="0"/>
          </a:p>
        </p:txBody>
      </p:sp>
      <p:sp>
        <p:nvSpPr>
          <p:cNvPr id="55" name="Shape 51"/>
          <p:cNvSpPr/>
          <p:nvPr/>
        </p:nvSpPr>
        <p:spPr>
          <a:xfrm>
            <a:off x="6355080" y="5735465"/>
            <a:ext cx="420624" cy="420624"/>
          </a:xfrm>
          <a:prstGeom prst="ellipse">
            <a:avLst/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Text 52"/>
          <p:cNvSpPr txBox="1"/>
          <p:nvPr/>
        </p:nvSpPr>
        <p:spPr>
          <a:xfrm>
            <a:off x="6355080" y="5735465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</a:t>
            </a:r>
            <a:endParaRPr lang="en-US" sz="1600" dirty="0"/>
          </a:p>
        </p:txBody>
      </p:sp>
      <p:sp>
        <p:nvSpPr>
          <p:cNvPr id="57" name="Shape 53"/>
          <p:cNvSpPr/>
          <p:nvPr/>
        </p:nvSpPr>
        <p:spPr>
          <a:xfrm>
            <a:off x="7680960" y="1987296"/>
            <a:ext cx="3959352" cy="512935"/>
          </a:xfrm>
          <a:prstGeom prst="roundRect">
            <a:avLst>
              <a:gd name="adj" fmla="val 53480"/>
            </a:avLst>
          </a:prstGeom>
          <a:solidFill>
            <a:schemeClr val="bg2"/>
          </a:solidFill>
          <a:ln w="15875">
            <a:solidFill>
              <a:srgbClr val="17375E"/>
            </a:solidFill>
            <a:prstDash val="solid"/>
          </a:ln>
        </p:spPr>
      </p:sp>
      <p:sp>
        <p:nvSpPr>
          <p:cNvPr id="58" name="Text 54"/>
          <p:cNvSpPr txBox="1"/>
          <p:nvPr/>
        </p:nvSpPr>
        <p:spPr>
          <a:xfrm>
            <a:off x="7863840" y="1987296"/>
            <a:ext cx="3657600" cy="512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</a:t>
            </a:r>
            <a:r>
              <a:rPr lang="en-US" sz="1800" dirty="0">
                <a:solidFill>
                  <a:schemeClr val="tx1"/>
                </a:solidFill>
              </a:rPr>
              <a:t>   </a:t>
            </a:r>
            <a:r>
              <a:rPr lang="en-US" sz="1800" i="1" dirty="0">
                <a:solidFill>
                  <a:schemeClr val="tx1"/>
                </a:solidFill>
              </a:rPr>
              <a:t>de aanhef</a:t>
            </a:r>
            <a:endParaRPr lang="en-US" sz="1800" dirty="0"/>
          </a:p>
        </p:txBody>
      </p:sp>
      <p:sp>
        <p:nvSpPr>
          <p:cNvPr id="59" name="Shape 55"/>
          <p:cNvSpPr/>
          <p:nvPr/>
        </p:nvSpPr>
        <p:spPr>
          <a:xfrm>
            <a:off x="7680960" y="2609959"/>
            <a:ext cx="3959352" cy="512935"/>
          </a:xfrm>
          <a:prstGeom prst="roundRect">
            <a:avLst>
              <a:gd name="adj" fmla="val 53480"/>
            </a:avLst>
          </a:prstGeom>
          <a:solidFill>
            <a:schemeClr val="bg2"/>
          </a:solidFill>
          <a:ln w="15875">
            <a:solidFill>
              <a:srgbClr val="17375E"/>
            </a:solidFill>
            <a:prstDash val="solid"/>
          </a:ln>
        </p:spPr>
      </p:sp>
      <p:sp>
        <p:nvSpPr>
          <p:cNvPr id="60" name="Text 56"/>
          <p:cNvSpPr txBox="1"/>
          <p:nvPr/>
        </p:nvSpPr>
        <p:spPr>
          <a:xfrm>
            <a:off x="7863840" y="2609959"/>
            <a:ext cx="3657600" cy="512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</a:t>
            </a:r>
            <a:r>
              <a:rPr lang="en-US" sz="1800" dirty="0">
                <a:solidFill>
                  <a:schemeClr val="tx1"/>
                </a:solidFill>
              </a:rPr>
              <a:t>   </a:t>
            </a:r>
            <a:r>
              <a:rPr lang="en-US" sz="1800" i="1" dirty="0">
                <a:solidFill>
                  <a:schemeClr val="tx1"/>
                </a:solidFill>
              </a:rPr>
              <a:t>het onderwerp</a:t>
            </a:r>
            <a:endParaRPr lang="en-US" sz="1800" dirty="0"/>
          </a:p>
        </p:txBody>
      </p:sp>
      <p:sp>
        <p:nvSpPr>
          <p:cNvPr id="61" name="Shape 57"/>
          <p:cNvSpPr/>
          <p:nvPr/>
        </p:nvSpPr>
        <p:spPr>
          <a:xfrm>
            <a:off x="7680960" y="3232622"/>
            <a:ext cx="3959352" cy="512935"/>
          </a:xfrm>
          <a:prstGeom prst="roundRect">
            <a:avLst>
              <a:gd name="adj" fmla="val 53480"/>
            </a:avLst>
          </a:prstGeom>
          <a:solidFill>
            <a:schemeClr val="bg2"/>
          </a:solidFill>
          <a:ln w="15875">
            <a:solidFill>
              <a:srgbClr val="17375E"/>
            </a:solidFill>
            <a:prstDash val="solid"/>
          </a:ln>
        </p:spPr>
      </p:sp>
      <p:sp>
        <p:nvSpPr>
          <p:cNvPr id="62" name="Text 58"/>
          <p:cNvSpPr txBox="1"/>
          <p:nvPr/>
        </p:nvSpPr>
        <p:spPr>
          <a:xfrm>
            <a:off x="7863840" y="3232622"/>
            <a:ext cx="3657600" cy="512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</a:t>
            </a:r>
            <a:r>
              <a:rPr lang="en-US" sz="1800" dirty="0">
                <a:solidFill>
                  <a:schemeClr val="tx1"/>
                </a:solidFill>
              </a:rPr>
              <a:t>   </a:t>
            </a:r>
            <a:r>
              <a:rPr lang="en-US" sz="1800" i="1" dirty="0">
                <a:solidFill>
                  <a:schemeClr val="tx1"/>
                </a:solidFill>
              </a:rPr>
              <a:t>de handtekening</a:t>
            </a:r>
            <a:endParaRPr lang="en-US" sz="1800" dirty="0"/>
          </a:p>
        </p:txBody>
      </p:sp>
      <p:sp>
        <p:nvSpPr>
          <p:cNvPr id="63" name="Shape 59"/>
          <p:cNvSpPr/>
          <p:nvPr/>
        </p:nvSpPr>
        <p:spPr>
          <a:xfrm>
            <a:off x="7680960" y="3855285"/>
            <a:ext cx="3959352" cy="512935"/>
          </a:xfrm>
          <a:prstGeom prst="roundRect">
            <a:avLst>
              <a:gd name="adj" fmla="val 53480"/>
            </a:avLst>
          </a:prstGeom>
          <a:solidFill>
            <a:schemeClr val="bg2"/>
          </a:solidFill>
          <a:ln w="15875">
            <a:solidFill>
              <a:srgbClr val="17375E"/>
            </a:solidFill>
            <a:prstDash val="solid"/>
          </a:ln>
        </p:spPr>
      </p:sp>
      <p:sp>
        <p:nvSpPr>
          <p:cNvPr id="64" name="Text 60"/>
          <p:cNvSpPr txBox="1"/>
          <p:nvPr/>
        </p:nvSpPr>
        <p:spPr>
          <a:xfrm>
            <a:off x="7863840" y="3855285"/>
            <a:ext cx="3657600" cy="512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</a:t>
            </a:r>
            <a:r>
              <a:rPr lang="en-US" sz="1800" dirty="0">
                <a:solidFill>
                  <a:schemeClr val="tx1"/>
                </a:solidFill>
              </a:rPr>
              <a:t>   </a:t>
            </a:r>
            <a:r>
              <a:rPr lang="en-US" sz="1800" i="1" dirty="0">
                <a:solidFill>
                  <a:schemeClr val="tx1"/>
                </a:solidFill>
              </a:rPr>
              <a:t>de afzender</a:t>
            </a:r>
            <a:endParaRPr lang="en-US" sz="1800" dirty="0"/>
          </a:p>
        </p:txBody>
      </p:sp>
      <p:sp>
        <p:nvSpPr>
          <p:cNvPr id="65" name="Shape 61"/>
          <p:cNvSpPr/>
          <p:nvPr/>
        </p:nvSpPr>
        <p:spPr>
          <a:xfrm>
            <a:off x="7680960" y="4477947"/>
            <a:ext cx="3959352" cy="512935"/>
          </a:xfrm>
          <a:prstGeom prst="roundRect">
            <a:avLst>
              <a:gd name="adj" fmla="val 53480"/>
            </a:avLst>
          </a:prstGeom>
          <a:solidFill>
            <a:schemeClr val="bg2"/>
          </a:solidFill>
          <a:ln w="15875">
            <a:solidFill>
              <a:srgbClr val="17375E"/>
            </a:solidFill>
            <a:prstDash val="solid"/>
          </a:ln>
        </p:spPr>
      </p:sp>
      <p:sp>
        <p:nvSpPr>
          <p:cNvPr id="66" name="Text 62"/>
          <p:cNvSpPr txBox="1"/>
          <p:nvPr/>
        </p:nvSpPr>
        <p:spPr>
          <a:xfrm>
            <a:off x="7863840" y="4477947"/>
            <a:ext cx="3657600" cy="512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</a:t>
            </a:r>
            <a:r>
              <a:rPr lang="en-US" sz="1800" dirty="0">
                <a:solidFill>
                  <a:schemeClr val="tx1"/>
                </a:solidFill>
              </a:rPr>
              <a:t>   </a:t>
            </a:r>
            <a:r>
              <a:rPr lang="en-US" sz="1800" i="1" dirty="0">
                <a:solidFill>
                  <a:schemeClr val="tx1"/>
                </a:solidFill>
              </a:rPr>
              <a:t>de hoofdtekst</a:t>
            </a:r>
            <a:endParaRPr lang="en-US" sz="1800" dirty="0"/>
          </a:p>
        </p:txBody>
      </p:sp>
      <p:sp>
        <p:nvSpPr>
          <p:cNvPr id="67" name="Shape 63"/>
          <p:cNvSpPr/>
          <p:nvPr/>
        </p:nvSpPr>
        <p:spPr>
          <a:xfrm>
            <a:off x="7680960" y="5100610"/>
            <a:ext cx="3959352" cy="512935"/>
          </a:xfrm>
          <a:prstGeom prst="roundRect">
            <a:avLst>
              <a:gd name="adj" fmla="val 53480"/>
            </a:avLst>
          </a:prstGeom>
          <a:solidFill>
            <a:schemeClr val="bg2"/>
          </a:solidFill>
          <a:ln w="15875">
            <a:solidFill>
              <a:srgbClr val="17375E"/>
            </a:solidFill>
            <a:prstDash val="solid"/>
          </a:ln>
        </p:spPr>
      </p:sp>
      <p:sp>
        <p:nvSpPr>
          <p:cNvPr id="68" name="Text 64"/>
          <p:cNvSpPr txBox="1"/>
          <p:nvPr/>
        </p:nvSpPr>
        <p:spPr>
          <a:xfrm>
            <a:off x="7863840" y="5100610"/>
            <a:ext cx="3657600" cy="512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</a:t>
            </a:r>
            <a:r>
              <a:rPr lang="en-US" sz="1800" dirty="0">
                <a:solidFill>
                  <a:schemeClr val="tx1"/>
                </a:solidFill>
              </a:rPr>
              <a:t>   </a:t>
            </a:r>
            <a:r>
              <a:rPr lang="en-US" sz="1800" i="1" dirty="0">
                <a:solidFill>
                  <a:schemeClr val="tx1"/>
                </a:solidFill>
              </a:rPr>
              <a:t>de ontvanger</a:t>
            </a:r>
            <a:endParaRPr lang="en-US" sz="1800" dirty="0"/>
          </a:p>
        </p:txBody>
      </p:sp>
      <p:sp>
        <p:nvSpPr>
          <p:cNvPr id="69" name="Shape 65"/>
          <p:cNvSpPr/>
          <p:nvPr/>
        </p:nvSpPr>
        <p:spPr>
          <a:xfrm>
            <a:off x="7680960" y="5723273"/>
            <a:ext cx="3959352" cy="512935"/>
          </a:xfrm>
          <a:prstGeom prst="roundRect">
            <a:avLst>
              <a:gd name="adj" fmla="val 53480"/>
            </a:avLst>
          </a:prstGeom>
          <a:solidFill>
            <a:schemeClr val="bg2"/>
          </a:solidFill>
          <a:ln w="15875">
            <a:solidFill>
              <a:srgbClr val="17375E"/>
            </a:solidFill>
            <a:prstDash val="solid"/>
          </a:ln>
        </p:spPr>
      </p:sp>
      <p:sp>
        <p:nvSpPr>
          <p:cNvPr id="70" name="Text 66"/>
          <p:cNvSpPr txBox="1"/>
          <p:nvPr/>
        </p:nvSpPr>
        <p:spPr>
          <a:xfrm>
            <a:off x="7863840" y="5723273"/>
            <a:ext cx="3657600" cy="512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g</a:t>
            </a:r>
            <a:r>
              <a:rPr lang="en-US" sz="1800" dirty="0">
                <a:solidFill>
                  <a:schemeClr val="tx1"/>
                </a:solidFill>
              </a:rPr>
              <a:t>   </a:t>
            </a:r>
            <a:r>
              <a:rPr lang="en-US" sz="1800" i="1" dirty="0">
                <a:solidFill>
                  <a:schemeClr val="tx1"/>
                </a:solidFill>
              </a:rPr>
              <a:t>de afsluiting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2 — Formel ou informel ?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</a:t>
            </a:r>
            <a:endParaRPr lang="en-US" sz="1600" dirty="0"/>
          </a:p>
        </p:txBody>
      </p:sp>
      <p:pic>
        <p:nvPicPr>
          <p:cNvPr id="6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Trouvez au moins 5 indices de registre dans chaque e-mail.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548640" y="1932432"/>
            <a:ext cx="5422392" cy="4358640"/>
          </a:xfrm>
          <a:prstGeom prst="roundRect">
            <a:avLst>
              <a:gd name="adj" fmla="val 1259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548640" y="1932432"/>
            <a:ext cx="5422392" cy="384048"/>
          </a:xfrm>
          <a:prstGeom prst="roundRect">
            <a:avLst>
              <a:gd name="adj" fmla="val 14286"/>
            </a:avLst>
          </a:prstGeom>
          <a:solidFill>
            <a:srgbClr val="E6EB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13232" y="2060448"/>
            <a:ext cx="128016" cy="128016"/>
          </a:xfrm>
          <a:prstGeom prst="ellipse">
            <a:avLst/>
          </a:prstGeom>
          <a:solidFill>
            <a:srgbClr val="E2725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941832" y="2060448"/>
            <a:ext cx="128016" cy="128016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1170432" y="2060448"/>
            <a:ext cx="128016" cy="128016"/>
          </a:xfrm>
          <a:prstGeom prst="ellipse">
            <a:avLst/>
          </a:prstGeom>
          <a:solidFill>
            <a:srgbClr val="5FA77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1463040" y="1932432"/>
            <a:ext cx="4325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Anne → Max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1932432"/>
            <a:ext cx="109728" cy="4358640"/>
          </a:xfrm>
          <a:prstGeom prst="rect">
            <a:avLst/>
          </a:prstGeom>
          <a:solidFill>
            <a:srgbClr val="5B9BD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822960" y="2435352"/>
            <a:ext cx="4983480" cy="3764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800" i="1" dirty="0">
                <a:solidFill>
                  <a:schemeClr val="tx1"/>
                </a:solidFill>
              </a:rPr>
              <a:t>Hoi Max</a:t>
            </a:r>
            <a:r>
              <a:rPr lang="en-US" sz="1800" i="1" dirty="0">
                <a:solidFill>
                  <a:schemeClr val="tx1"/>
                </a:solidFill>
              </a:rPr>
              <a:t>,</a:t>
            </a:r>
            <a:endParaRPr lang="en-US" sz="18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800" i="1" dirty="0">
                <a:solidFill>
                  <a:schemeClr val="tx1"/>
                </a:solidFill>
              </a:rPr>
              <a:t>Alles goed?</a:t>
            </a:r>
            <a:r>
              <a:rPr lang="en-US" sz="1800" i="1" dirty="0">
                <a:solidFill>
                  <a:schemeClr val="tx1"/>
                </a:solidFill>
              </a:rPr>
              <a:t> Parijs is echt geweldig! De mensen zijn vriendelijk en de Eiffeltoren is </a:t>
            </a:r>
            <a:r>
              <a:rPr lang="en-US" sz="1800" i="1" dirty="0">
                <a:solidFill>
                  <a:schemeClr val="tx1"/>
                </a:solidFill>
              </a:rPr>
              <a:t>wow</a:t>
            </a:r>
            <a:r>
              <a:rPr lang="en-US" sz="1800" i="1" dirty="0">
                <a:solidFill>
                  <a:schemeClr val="tx1"/>
                </a:solidFill>
              </a:rPr>
              <a:t>. Heb </a:t>
            </a:r>
            <a:r>
              <a:rPr lang="en-US" sz="1800" i="1" dirty="0">
                <a:solidFill>
                  <a:schemeClr val="tx1"/>
                </a:solidFill>
              </a:rPr>
              <a:t>jij</a:t>
            </a:r>
            <a:r>
              <a:rPr lang="en-US" sz="1800" i="1" dirty="0">
                <a:solidFill>
                  <a:schemeClr val="tx1"/>
                </a:solidFill>
              </a:rPr>
              <a:t> plannen voor de zomer? </a:t>
            </a:r>
            <a:r>
              <a:rPr lang="en-US" sz="1800" i="1" dirty="0">
                <a:solidFill>
                  <a:schemeClr val="tx1"/>
                </a:solidFill>
              </a:rPr>
              <a:t>Mis je!</a:t>
            </a:r>
            <a:endParaRPr lang="en-US" sz="18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800" i="1" dirty="0">
                <a:solidFill>
                  <a:schemeClr val="tx1"/>
                </a:solidFill>
              </a:rPr>
              <a:t>Groetjes</a:t>
            </a:r>
            <a:r>
              <a:rPr lang="en-US" sz="1800" i="1" dirty="0">
                <a:solidFill>
                  <a:schemeClr val="tx1"/>
                </a:solidFill>
              </a:rPr>
              <a:t>, Anne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6217920" y="1932432"/>
            <a:ext cx="5422392" cy="4358640"/>
          </a:xfrm>
          <a:prstGeom prst="roundRect">
            <a:avLst>
              <a:gd name="adj" fmla="val 1259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217920" y="1932432"/>
            <a:ext cx="5422392" cy="384048"/>
          </a:xfrm>
          <a:prstGeom prst="roundRect">
            <a:avLst>
              <a:gd name="adj" fmla="val 14286"/>
            </a:avLst>
          </a:prstGeom>
          <a:solidFill>
            <a:srgbClr val="E6EB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382512" y="2060448"/>
            <a:ext cx="128016" cy="128016"/>
          </a:xfrm>
          <a:prstGeom prst="ellipse">
            <a:avLst/>
          </a:prstGeom>
          <a:solidFill>
            <a:srgbClr val="E2725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611112" y="2060448"/>
            <a:ext cx="128016" cy="128016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839712" y="2060448"/>
            <a:ext cx="128016" cy="128016"/>
          </a:xfrm>
          <a:prstGeom prst="ellipse">
            <a:avLst/>
          </a:prstGeom>
          <a:solidFill>
            <a:srgbClr val="5FA77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7132320" y="1932432"/>
            <a:ext cx="4325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Pieter Smet → mevrouw De Vries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6217920" y="1932432"/>
            <a:ext cx="109728" cy="4358640"/>
          </a:xfrm>
          <a:prstGeom prst="rect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6492240" y="2435352"/>
            <a:ext cx="4983480" cy="3764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800" i="1" dirty="0">
                <a:solidFill>
                  <a:schemeClr val="tx1"/>
                </a:solidFill>
              </a:rPr>
              <a:t>Beste mevrouw De Vries</a:t>
            </a:r>
            <a:r>
              <a:rPr lang="en-US" sz="1800" i="1" dirty="0">
                <a:solidFill>
                  <a:schemeClr val="tx1"/>
                </a:solidFill>
              </a:rPr>
              <a:t>,</a:t>
            </a:r>
            <a:endParaRPr lang="en-US" sz="18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800" i="1" dirty="0">
                <a:solidFill>
                  <a:schemeClr val="tx1"/>
                </a:solidFill>
              </a:rPr>
              <a:t>Ik hoop dat het goed met </a:t>
            </a:r>
            <a:r>
              <a:rPr lang="en-US" sz="1800" i="1" dirty="0">
                <a:solidFill>
                  <a:schemeClr val="tx1"/>
                </a:solidFill>
              </a:rPr>
              <a:t>u</a:t>
            </a:r>
            <a:r>
              <a:rPr lang="en-US" sz="1800" i="1" dirty="0">
                <a:solidFill>
                  <a:schemeClr val="tx1"/>
                </a:solidFill>
              </a:rPr>
              <a:t> gaat. Kunnen we donderdag om 10 uur vergaderen? We moeten over het project praten. </a:t>
            </a:r>
            <a:r>
              <a:rPr lang="en-US" sz="1800" i="1" dirty="0">
                <a:solidFill>
                  <a:schemeClr val="tx1"/>
                </a:solidFill>
              </a:rPr>
              <a:t>Alvast bedankt.</a:t>
            </a:r>
            <a:endParaRPr lang="en-US" sz="18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800" i="1" dirty="0">
                <a:solidFill>
                  <a:schemeClr val="tx1"/>
                </a:solidFill>
              </a:rPr>
              <a:t>Met vriendelijke groet</a:t>
            </a:r>
            <a:r>
              <a:rPr lang="en-US" sz="1800" i="1" dirty="0">
                <a:solidFill>
                  <a:schemeClr val="tx1"/>
                </a:solidFill>
              </a:rPr>
              <a:t>, Pieter </a:t>
            </a:r>
            <a:r>
              <a:rPr lang="en-US" sz="1800" i="1" dirty="0">
                <a:solidFill>
                  <a:schemeClr val="tx1"/>
                </a:solidFill>
              </a:rPr>
              <a:t>Smet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2 — Formel ou informel ?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87322" y="237744"/>
            <a:ext cx="1662379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</a:t>
            </a:r>
            <a:endParaRPr lang="en-US" sz="1600" dirty="0"/>
          </a:p>
        </p:txBody>
      </p:sp>
      <p:pic>
        <p:nvPicPr>
          <p:cNvPr id="7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Trouvez au moins 5 indices de registre dans chaque e-mail.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548640" y="1932432"/>
            <a:ext cx="5422392" cy="3215640"/>
          </a:xfrm>
          <a:prstGeom prst="roundRect">
            <a:avLst>
              <a:gd name="adj" fmla="val 1706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548640" y="1932432"/>
            <a:ext cx="5422392" cy="384048"/>
          </a:xfrm>
          <a:prstGeom prst="roundRect">
            <a:avLst>
              <a:gd name="adj" fmla="val 14286"/>
            </a:avLst>
          </a:prstGeom>
          <a:solidFill>
            <a:srgbClr val="E6EB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13232" y="2060448"/>
            <a:ext cx="128016" cy="128016"/>
          </a:xfrm>
          <a:prstGeom prst="ellipse">
            <a:avLst/>
          </a:prstGeom>
          <a:solidFill>
            <a:srgbClr val="E2725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941832" y="2060448"/>
            <a:ext cx="128016" cy="128016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1170432" y="2060448"/>
            <a:ext cx="128016" cy="128016"/>
          </a:xfrm>
          <a:prstGeom prst="ellipse">
            <a:avLst/>
          </a:prstGeom>
          <a:solidFill>
            <a:srgbClr val="5FA77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1463040" y="1932432"/>
            <a:ext cx="4325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Anne → Max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48640" y="1932432"/>
            <a:ext cx="109728" cy="3215640"/>
          </a:xfrm>
          <a:prstGeom prst="rect">
            <a:avLst/>
          </a:prstGeom>
          <a:solidFill>
            <a:srgbClr val="5B9BD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822960" y="2435352"/>
            <a:ext cx="4983480" cy="2621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800" b="1" i="1" dirty="0">
                <a:solidFill>
                  <a:schemeClr val="accent3"/>
                </a:solidFill>
              </a:rPr>
              <a:t>Hoi Max</a:t>
            </a:r>
            <a:r>
              <a:rPr lang="en-US" sz="1800" i="1" dirty="0">
                <a:solidFill>
                  <a:schemeClr val="tx1"/>
                </a:solidFill>
              </a:rPr>
              <a:t>,</a:t>
            </a:r>
            <a:endParaRPr lang="en-US" sz="18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800" b="1" i="1" dirty="0">
                <a:solidFill>
                  <a:schemeClr val="accent3"/>
                </a:solidFill>
              </a:rPr>
              <a:t>Alles goed?</a:t>
            </a:r>
            <a:r>
              <a:rPr lang="en-US" sz="1800" i="1" dirty="0">
                <a:solidFill>
                  <a:schemeClr val="tx1"/>
                </a:solidFill>
              </a:rPr>
              <a:t> Parijs is echt geweldig! De mensen zijn vriendelijk en de Eiffeltoren is </a:t>
            </a:r>
            <a:r>
              <a:rPr lang="en-US" sz="1800" b="1" i="1" dirty="0">
                <a:solidFill>
                  <a:schemeClr val="accent3"/>
                </a:solidFill>
              </a:rPr>
              <a:t>wow</a:t>
            </a:r>
            <a:r>
              <a:rPr lang="en-US" sz="1800" i="1" dirty="0">
                <a:solidFill>
                  <a:schemeClr val="tx1"/>
                </a:solidFill>
              </a:rPr>
              <a:t>. Heb </a:t>
            </a:r>
            <a:r>
              <a:rPr lang="en-US" sz="1800" b="1" i="1" dirty="0">
                <a:solidFill>
                  <a:schemeClr val="accent3"/>
                </a:solidFill>
              </a:rPr>
              <a:t>jij</a:t>
            </a:r>
            <a:r>
              <a:rPr lang="en-US" sz="1800" i="1" dirty="0">
                <a:solidFill>
                  <a:schemeClr val="tx1"/>
                </a:solidFill>
              </a:rPr>
              <a:t> plannen voor de zomer? </a:t>
            </a:r>
            <a:r>
              <a:rPr lang="en-US" sz="1800" b="1" i="1" dirty="0">
                <a:solidFill>
                  <a:schemeClr val="accent3"/>
                </a:solidFill>
              </a:rPr>
              <a:t>Mis je!</a:t>
            </a:r>
            <a:endParaRPr lang="en-US" sz="18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800" b="1" i="1" dirty="0">
                <a:solidFill>
                  <a:schemeClr val="accent3"/>
                </a:solidFill>
              </a:rPr>
              <a:t>Groetjes</a:t>
            </a:r>
            <a:r>
              <a:rPr lang="en-US" sz="1800" i="1" dirty="0">
                <a:solidFill>
                  <a:schemeClr val="tx1"/>
                </a:solidFill>
              </a:rPr>
              <a:t>, Anne</a:t>
            </a:r>
            <a:endParaRPr lang="en-US" sz="1800" dirty="0"/>
          </a:p>
        </p:txBody>
      </p:sp>
      <p:sp>
        <p:nvSpPr>
          <p:cNvPr id="17" name="Shape 13"/>
          <p:cNvSpPr/>
          <p:nvPr/>
        </p:nvSpPr>
        <p:spPr>
          <a:xfrm>
            <a:off x="6217920" y="1932432"/>
            <a:ext cx="5422392" cy="3215640"/>
          </a:xfrm>
          <a:prstGeom prst="roundRect">
            <a:avLst>
              <a:gd name="adj" fmla="val 1706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217920" y="1932432"/>
            <a:ext cx="5422392" cy="384048"/>
          </a:xfrm>
          <a:prstGeom prst="roundRect">
            <a:avLst>
              <a:gd name="adj" fmla="val 14286"/>
            </a:avLst>
          </a:prstGeom>
          <a:solidFill>
            <a:srgbClr val="E6EB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382512" y="2060448"/>
            <a:ext cx="128016" cy="128016"/>
          </a:xfrm>
          <a:prstGeom prst="ellipse">
            <a:avLst/>
          </a:prstGeom>
          <a:solidFill>
            <a:srgbClr val="E2725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611112" y="2060448"/>
            <a:ext cx="128016" cy="128016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839712" y="2060448"/>
            <a:ext cx="128016" cy="128016"/>
          </a:xfrm>
          <a:prstGeom prst="ellipse">
            <a:avLst/>
          </a:prstGeom>
          <a:solidFill>
            <a:srgbClr val="5FA77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7132320" y="1932432"/>
            <a:ext cx="4325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Pieter Smet → mevrouw De Vries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6217920" y="1932432"/>
            <a:ext cx="109728" cy="3215640"/>
          </a:xfrm>
          <a:prstGeom prst="rect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6492240" y="2435352"/>
            <a:ext cx="4983480" cy="2621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800" b="1" i="1" dirty="0">
                <a:solidFill>
                  <a:schemeClr val="accent3"/>
                </a:solidFill>
              </a:rPr>
              <a:t>Beste mevrouw De Vries</a:t>
            </a:r>
            <a:r>
              <a:rPr lang="en-US" sz="1800" i="1" dirty="0">
                <a:solidFill>
                  <a:schemeClr val="tx1"/>
                </a:solidFill>
              </a:rPr>
              <a:t>,</a:t>
            </a:r>
            <a:endParaRPr lang="en-US" sz="18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800" i="1" dirty="0">
                <a:solidFill>
                  <a:schemeClr val="tx1"/>
                </a:solidFill>
              </a:rPr>
              <a:t>Ik hoop dat het goed met </a:t>
            </a:r>
            <a:r>
              <a:rPr lang="en-US" sz="1800" b="1" i="1" dirty="0">
                <a:solidFill>
                  <a:schemeClr val="accent3"/>
                </a:solidFill>
              </a:rPr>
              <a:t>u</a:t>
            </a:r>
            <a:r>
              <a:rPr lang="en-US" sz="1800" i="1" dirty="0">
                <a:solidFill>
                  <a:schemeClr val="tx1"/>
                </a:solidFill>
              </a:rPr>
              <a:t> gaat. Kunnen we donderdag om 10 uur vergaderen? We moeten over het project praten. </a:t>
            </a:r>
            <a:r>
              <a:rPr lang="en-US" sz="1800" b="1" i="1" dirty="0">
                <a:solidFill>
                  <a:schemeClr val="accent3"/>
                </a:solidFill>
              </a:rPr>
              <a:t>Alvast bedankt.</a:t>
            </a:r>
            <a:endParaRPr lang="en-US" sz="18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800" b="1" i="1" dirty="0">
                <a:solidFill>
                  <a:schemeClr val="accent3"/>
                </a:solidFill>
              </a:rPr>
              <a:t>Met vriendelijke groet</a:t>
            </a:r>
            <a:r>
              <a:rPr lang="en-US" sz="1800" i="1" dirty="0">
                <a:solidFill>
                  <a:schemeClr val="tx1"/>
                </a:solidFill>
              </a:rPr>
              <a:t>, Pieter </a:t>
            </a:r>
            <a:r>
              <a:rPr lang="en-US" sz="1800" b="1" i="1" dirty="0">
                <a:solidFill>
                  <a:schemeClr val="accent3"/>
                </a:solidFill>
              </a:rPr>
              <a:t>Smet</a:t>
            </a:r>
            <a:endParaRPr lang="en-US" sz="1800" dirty="0"/>
          </a:p>
        </p:txBody>
      </p:sp>
      <p:sp>
        <p:nvSpPr>
          <p:cNvPr id="25" name="Shape 21"/>
          <p:cNvSpPr/>
          <p:nvPr/>
        </p:nvSpPr>
        <p:spPr>
          <a:xfrm>
            <a:off x="548640" y="5285232"/>
            <a:ext cx="5422392" cy="1005840"/>
          </a:xfrm>
          <a:prstGeom prst="roundRect">
            <a:avLst>
              <a:gd name="adj" fmla="val 7273"/>
            </a:avLst>
          </a:prstGeom>
          <a:solidFill>
            <a:srgbClr val="5B9BD5">
              <a:alpha val="20000"/>
            </a:srgbClr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685800" y="5285232"/>
            <a:ext cx="5166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Informel</a:t>
            </a:r>
            <a:r>
              <a:rPr lang="en-US" sz="1400" dirty="0">
                <a:solidFill>
                  <a:schemeClr val="tx1"/>
                </a:solidFill>
              </a:rPr>
              <a:t> : </a:t>
            </a:r>
            <a:r>
              <a:rPr lang="en-US" sz="1400" i="1" dirty="0">
                <a:solidFill>
                  <a:schemeClr val="tx1"/>
                </a:solidFill>
              </a:rPr>
              <a:t>Hoi</a:t>
            </a:r>
            <a:r>
              <a:rPr lang="en-US" sz="1400" dirty="0">
                <a:solidFill>
                  <a:schemeClr val="tx1"/>
                </a:solidFill>
              </a:rPr>
              <a:t> + prénom · </a:t>
            </a:r>
            <a:r>
              <a:rPr lang="en-US" sz="1400" i="1" dirty="0">
                <a:solidFill>
                  <a:schemeClr val="tx1"/>
                </a:solidFill>
              </a:rPr>
              <a:t>Alles goed?</a:t>
            </a:r>
            <a:r>
              <a:rPr lang="en-US" sz="1400" dirty="0">
                <a:solidFill>
                  <a:schemeClr val="tx1"/>
                </a:solidFill>
              </a:rPr>
              <a:t> · </a:t>
            </a:r>
            <a:r>
              <a:rPr lang="en-US" sz="1400" i="1" dirty="0">
                <a:solidFill>
                  <a:schemeClr val="tx1"/>
                </a:solidFill>
              </a:rPr>
              <a:t>jij</a:t>
            </a:r>
            <a:r>
              <a:rPr lang="en-US" sz="1400" dirty="0">
                <a:solidFill>
                  <a:schemeClr val="tx1"/>
                </a:solidFill>
              </a:rPr>
              <a:t> · exclamations, </a:t>
            </a:r>
            <a:r>
              <a:rPr lang="en-US" sz="1400" i="1" dirty="0">
                <a:solidFill>
                  <a:schemeClr val="tx1"/>
                </a:solidFill>
              </a:rPr>
              <a:t>wow</a:t>
            </a:r>
            <a:r>
              <a:rPr lang="en-US" sz="1400" dirty="0">
                <a:solidFill>
                  <a:schemeClr val="tx1"/>
                </a:solidFill>
              </a:rPr>
              <a:t> · </a:t>
            </a:r>
            <a:r>
              <a:rPr lang="en-US" sz="1400" i="1" dirty="0">
                <a:solidFill>
                  <a:schemeClr val="tx1"/>
                </a:solidFill>
              </a:rPr>
              <a:t>Mis je!</a:t>
            </a:r>
            <a:r>
              <a:rPr lang="en-US" sz="1400" dirty="0">
                <a:solidFill>
                  <a:schemeClr val="tx1"/>
                </a:solidFill>
              </a:rPr>
              <a:t> (sans sujet) · </a:t>
            </a:r>
            <a:r>
              <a:rPr lang="en-US" sz="1400" i="1" dirty="0">
                <a:solidFill>
                  <a:schemeClr val="tx1"/>
                </a:solidFill>
              </a:rPr>
              <a:t>Groetjes</a:t>
            </a:r>
            <a:r>
              <a:rPr lang="en-US" sz="1400" dirty="0">
                <a:solidFill>
                  <a:schemeClr val="tx1"/>
                </a:solidFill>
              </a:rPr>
              <a:t> + prénom</a:t>
            </a:r>
            <a:endParaRPr lang="en-US" sz="1400" dirty="0"/>
          </a:p>
        </p:txBody>
      </p:sp>
      <p:sp>
        <p:nvSpPr>
          <p:cNvPr id="27" name="Shape 23"/>
          <p:cNvSpPr/>
          <p:nvPr/>
        </p:nvSpPr>
        <p:spPr>
          <a:xfrm>
            <a:off x="6217920" y="5285232"/>
            <a:ext cx="5422392" cy="1005840"/>
          </a:xfrm>
          <a:prstGeom prst="roundRect">
            <a:avLst>
              <a:gd name="adj" fmla="val 7273"/>
            </a:avLst>
          </a:prstGeom>
          <a:solidFill>
            <a:schemeClr val="tx2">
              <a:alpha val="15000"/>
            </a:schemeClr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6355080" y="5285232"/>
            <a:ext cx="5166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Formel</a:t>
            </a:r>
            <a:r>
              <a:rPr lang="en-US" sz="1400" dirty="0">
                <a:solidFill>
                  <a:schemeClr val="tx1"/>
                </a:solidFill>
              </a:rPr>
              <a:t> : </a:t>
            </a:r>
            <a:r>
              <a:rPr lang="en-US" sz="1400" i="1" dirty="0">
                <a:solidFill>
                  <a:schemeClr val="tx1"/>
                </a:solidFill>
              </a:rPr>
              <a:t>Beste mevrouw</a:t>
            </a:r>
            <a:r>
              <a:rPr lang="en-US" sz="1400" dirty="0">
                <a:solidFill>
                  <a:schemeClr val="tx1"/>
                </a:solidFill>
              </a:rPr>
              <a:t> + nom · </a:t>
            </a:r>
            <a:r>
              <a:rPr lang="en-US" sz="1400" i="1" dirty="0">
                <a:solidFill>
                  <a:schemeClr val="tx1"/>
                </a:solidFill>
              </a:rPr>
              <a:t>met u</a:t>
            </a:r>
            <a:r>
              <a:rPr lang="en-US" sz="1400" dirty="0">
                <a:solidFill>
                  <a:schemeClr val="tx1"/>
                </a:solidFill>
              </a:rPr>
              <a:t> · phrases complètes · </a:t>
            </a:r>
            <a:r>
              <a:rPr lang="en-US" sz="1400" i="1" dirty="0">
                <a:solidFill>
                  <a:schemeClr val="tx1"/>
                </a:solidFill>
              </a:rPr>
              <a:t>Alvast bedankt</a:t>
            </a:r>
            <a:r>
              <a:rPr lang="en-US" sz="1400" dirty="0">
                <a:solidFill>
                  <a:schemeClr val="tx1"/>
                </a:solidFill>
              </a:rPr>
              <a:t> · </a:t>
            </a:r>
            <a:r>
              <a:rPr lang="en-US" sz="1400" i="1" dirty="0">
                <a:solidFill>
                  <a:schemeClr val="tx1"/>
                </a:solidFill>
              </a:rPr>
              <a:t>Met vriendelijke groet</a:t>
            </a:r>
            <a:r>
              <a:rPr lang="en-US" sz="1400" dirty="0">
                <a:solidFill>
                  <a:schemeClr val="tx1"/>
                </a:solidFill>
              </a:rPr>
              <a:t> + prénom </a:t>
            </a:r>
            <a:r>
              <a:rPr lang="en-US" sz="1400" b="1" dirty="0">
                <a:solidFill>
                  <a:schemeClr val="tx1"/>
                </a:solidFill>
              </a:rPr>
              <a:t>et nom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3 — Pour qui ?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</a:t>
            </a:r>
            <a:endParaRPr lang="en-US" sz="1600" dirty="0"/>
          </a:p>
        </p:txBody>
      </p:sp>
      <p:pic>
        <p:nvPicPr>
          <p:cNvPr id="6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Classez les formules selon le destinataire.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548640" y="1932432"/>
            <a:ext cx="2651760" cy="512064"/>
          </a:xfrm>
          <a:prstGeom prst="roundRect">
            <a:avLst>
              <a:gd name="adj" fmla="val 17857"/>
            </a:avLst>
          </a:prstGeom>
          <a:solidFill>
            <a:schemeClr val="bg1"/>
          </a:solidFill>
          <a:ln w="15875">
            <a:solidFill>
              <a:srgbClr val="4A5A70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94360" y="1932432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Beste groeten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3355848" y="1932432"/>
            <a:ext cx="2651760" cy="512064"/>
          </a:xfrm>
          <a:prstGeom prst="roundRect">
            <a:avLst>
              <a:gd name="adj" fmla="val 17857"/>
            </a:avLst>
          </a:prstGeom>
          <a:solidFill>
            <a:schemeClr val="bg1"/>
          </a:solidFill>
          <a:ln w="15875">
            <a:solidFill>
              <a:srgbClr val="4A5A70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3401568" y="1932432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Hoogachtend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6163056" y="1932432"/>
            <a:ext cx="2651760" cy="512064"/>
          </a:xfrm>
          <a:prstGeom prst="roundRect">
            <a:avLst>
              <a:gd name="adj" fmla="val 17857"/>
            </a:avLst>
          </a:prstGeom>
          <a:solidFill>
            <a:schemeClr val="bg1"/>
          </a:solidFill>
          <a:ln w="15875">
            <a:solidFill>
              <a:srgbClr val="4A5A70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208776" y="1932432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Hoi Lies,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8970264" y="1932432"/>
            <a:ext cx="2651760" cy="512064"/>
          </a:xfrm>
          <a:prstGeom prst="roundRect">
            <a:avLst>
              <a:gd name="adj" fmla="val 17857"/>
            </a:avLst>
          </a:prstGeom>
          <a:solidFill>
            <a:schemeClr val="bg1"/>
          </a:solidFill>
          <a:ln w="15875">
            <a:solidFill>
              <a:srgbClr val="4A5A70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9015984" y="1932432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Tot morgen!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548640" y="2554224"/>
            <a:ext cx="2651760" cy="512064"/>
          </a:xfrm>
          <a:prstGeom prst="roundRect">
            <a:avLst>
              <a:gd name="adj" fmla="val 17857"/>
            </a:avLst>
          </a:prstGeom>
          <a:solidFill>
            <a:schemeClr val="bg1"/>
          </a:solidFill>
          <a:ln w="15875">
            <a:solidFill>
              <a:srgbClr val="4A5A70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594360" y="2554224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Veel liefs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3355848" y="2554224"/>
            <a:ext cx="2651760" cy="512064"/>
          </a:xfrm>
          <a:prstGeom prst="roundRect">
            <a:avLst>
              <a:gd name="adj" fmla="val 17857"/>
            </a:avLst>
          </a:prstGeom>
          <a:solidFill>
            <a:schemeClr val="bg1"/>
          </a:solidFill>
          <a:ln w="15875">
            <a:solidFill>
              <a:srgbClr val="4A5A70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3401568" y="2554224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Met vriendelijke groet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6163056" y="2554224"/>
            <a:ext cx="2651760" cy="512064"/>
          </a:xfrm>
          <a:prstGeom prst="roundRect">
            <a:avLst>
              <a:gd name="adj" fmla="val 17857"/>
            </a:avLst>
          </a:prstGeom>
          <a:solidFill>
            <a:schemeClr val="bg1"/>
          </a:solidFill>
          <a:ln w="15875">
            <a:solidFill>
              <a:srgbClr val="4A5A70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6208776" y="2554224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Beste Sofie,</a:t>
            </a:r>
            <a:endParaRPr lang="en-US" sz="1600" dirty="0"/>
          </a:p>
        </p:txBody>
      </p:sp>
      <p:sp>
        <p:nvSpPr>
          <p:cNvPr id="22" name="Shape 18"/>
          <p:cNvSpPr/>
          <p:nvPr/>
        </p:nvSpPr>
        <p:spPr>
          <a:xfrm>
            <a:off x="8970264" y="2554224"/>
            <a:ext cx="2651760" cy="512064"/>
          </a:xfrm>
          <a:prstGeom prst="roundRect">
            <a:avLst>
              <a:gd name="adj" fmla="val 17857"/>
            </a:avLst>
          </a:prstGeom>
          <a:solidFill>
            <a:schemeClr val="bg1"/>
          </a:solidFill>
          <a:ln w="15875">
            <a:solidFill>
              <a:srgbClr val="4A5A70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9015984" y="2554224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Bedankt voor uw tijd.</a:t>
            </a:r>
            <a:endParaRPr lang="en-US" sz="1400" dirty="0"/>
          </a:p>
        </p:txBody>
      </p:sp>
      <p:sp>
        <p:nvSpPr>
          <p:cNvPr id="24" name="Shape 20"/>
          <p:cNvSpPr/>
          <p:nvPr/>
        </p:nvSpPr>
        <p:spPr>
          <a:xfrm>
            <a:off x="548640" y="3176016"/>
            <a:ext cx="2651760" cy="512064"/>
          </a:xfrm>
          <a:prstGeom prst="roundRect">
            <a:avLst>
              <a:gd name="adj" fmla="val 17857"/>
            </a:avLst>
          </a:prstGeom>
          <a:solidFill>
            <a:schemeClr val="bg1"/>
          </a:solidFill>
          <a:ln w="15875">
            <a:solidFill>
              <a:srgbClr val="4A5A70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594360" y="3176016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Kusjes</a:t>
            </a:r>
            <a:endParaRPr lang="en-US" sz="1600" dirty="0"/>
          </a:p>
        </p:txBody>
      </p:sp>
      <p:sp>
        <p:nvSpPr>
          <p:cNvPr id="26" name="Shape 22"/>
          <p:cNvSpPr/>
          <p:nvPr/>
        </p:nvSpPr>
        <p:spPr>
          <a:xfrm>
            <a:off x="3355848" y="3176016"/>
            <a:ext cx="2651760" cy="512064"/>
          </a:xfrm>
          <a:prstGeom prst="roundRect">
            <a:avLst>
              <a:gd name="adj" fmla="val 17857"/>
            </a:avLst>
          </a:prstGeom>
          <a:solidFill>
            <a:schemeClr val="bg1"/>
          </a:solidFill>
          <a:ln w="15875">
            <a:solidFill>
              <a:srgbClr val="4A5A70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3401568" y="3176016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Bedankt!</a:t>
            </a:r>
            <a:endParaRPr lang="en-US" sz="1600" dirty="0"/>
          </a:p>
        </p:txBody>
      </p:sp>
      <p:sp>
        <p:nvSpPr>
          <p:cNvPr id="28" name="Shape 24"/>
          <p:cNvSpPr/>
          <p:nvPr/>
        </p:nvSpPr>
        <p:spPr>
          <a:xfrm>
            <a:off x="6163056" y="3176016"/>
            <a:ext cx="2651760" cy="512064"/>
          </a:xfrm>
          <a:prstGeom prst="roundRect">
            <a:avLst>
              <a:gd name="adj" fmla="val 17857"/>
            </a:avLst>
          </a:prstGeom>
          <a:solidFill>
            <a:schemeClr val="bg1"/>
          </a:solidFill>
          <a:ln w="15875">
            <a:solidFill>
              <a:srgbClr val="4A5A70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6208776" y="3176016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Geachte mevrouw Claes,</a:t>
            </a:r>
            <a:endParaRPr lang="en-US" sz="1400" dirty="0"/>
          </a:p>
        </p:txBody>
      </p:sp>
      <p:sp>
        <p:nvSpPr>
          <p:cNvPr id="30" name="Shape 26"/>
          <p:cNvSpPr/>
          <p:nvPr/>
        </p:nvSpPr>
        <p:spPr>
          <a:xfrm>
            <a:off x="8970264" y="3176016"/>
            <a:ext cx="2651760" cy="512064"/>
          </a:xfrm>
          <a:prstGeom prst="roundRect">
            <a:avLst>
              <a:gd name="adj" fmla="val 17857"/>
            </a:avLst>
          </a:prstGeom>
          <a:solidFill>
            <a:schemeClr val="bg1"/>
          </a:solidFill>
          <a:ln w="15875">
            <a:solidFill>
              <a:srgbClr val="4A5A70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9015984" y="3176016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Hou je taai!</a:t>
            </a:r>
            <a:endParaRPr lang="en-US" sz="1600" dirty="0"/>
          </a:p>
        </p:txBody>
      </p:sp>
      <p:sp>
        <p:nvSpPr>
          <p:cNvPr id="32" name="Shape 28"/>
          <p:cNvSpPr/>
          <p:nvPr/>
        </p:nvSpPr>
        <p:spPr>
          <a:xfrm>
            <a:off x="548640" y="3898392"/>
            <a:ext cx="3520440" cy="2392680"/>
          </a:xfrm>
          <a:prstGeom prst="roundRect">
            <a:avLst>
              <a:gd name="adj" fmla="val 3057"/>
            </a:avLst>
          </a:prstGeom>
          <a:solidFill>
            <a:srgbClr val="5B9BD5">
              <a:alpha val="10000"/>
            </a:srgbClr>
          </a:solidFill>
          <a:ln w="25400">
            <a:solidFill>
              <a:srgbClr val="5B9BD5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548640" y="3898392"/>
            <a:ext cx="3520440" cy="685800"/>
          </a:xfrm>
          <a:prstGeom prst="roundRect">
            <a:avLst>
              <a:gd name="adj" fmla="val 10667"/>
            </a:avLst>
          </a:prstGeom>
          <a:solidFill>
            <a:srgbClr val="5B9BD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4" name="Image 1" descr="people hugg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989832"/>
            <a:ext cx="502920" cy="502920"/>
          </a:xfrm>
          <a:prstGeom prst="rect">
            <a:avLst/>
          </a:prstGeom>
        </p:spPr>
      </p:pic>
      <p:sp>
        <p:nvSpPr>
          <p:cNvPr id="35" name="Text 30"/>
          <p:cNvSpPr txBox="1"/>
          <p:nvPr/>
        </p:nvSpPr>
        <p:spPr>
          <a:xfrm>
            <a:off x="1280160" y="3898392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spc="100" kern="0" dirty="0">
                <a:solidFill>
                  <a:schemeClr val="bg1"/>
                </a:solidFill>
              </a:rPr>
              <a:t>VRIENDEN</a:t>
            </a:r>
            <a:endParaRPr lang="en-US" sz="1800" dirty="0"/>
          </a:p>
        </p:txBody>
      </p:sp>
      <p:sp>
        <p:nvSpPr>
          <p:cNvPr id="36" name="Text 31"/>
          <p:cNvSpPr txBox="1"/>
          <p:nvPr/>
        </p:nvSpPr>
        <p:spPr>
          <a:xfrm>
            <a:off x="1280160" y="42824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chemeClr val="bg1"/>
                </a:solidFill>
              </a:rPr>
              <a:t>amis</a:t>
            </a:r>
            <a:endParaRPr lang="en-US" sz="1200" dirty="0"/>
          </a:p>
        </p:txBody>
      </p:sp>
      <p:sp>
        <p:nvSpPr>
          <p:cNvPr id="37" name="Shape 32"/>
          <p:cNvSpPr/>
          <p:nvPr/>
        </p:nvSpPr>
        <p:spPr>
          <a:xfrm>
            <a:off x="4334256" y="3898392"/>
            <a:ext cx="3520440" cy="2392680"/>
          </a:xfrm>
          <a:prstGeom prst="roundRect">
            <a:avLst>
              <a:gd name="adj" fmla="val 3057"/>
            </a:avLst>
          </a:prstGeom>
          <a:solidFill>
            <a:schemeClr val="accent2">
              <a:alpha val="10000"/>
            </a:schemeClr>
          </a:solidFill>
          <a:ln w="25400">
            <a:solidFill>
              <a:srgbClr val="2A6FB0"/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4334256" y="3898392"/>
            <a:ext cx="3520440" cy="685800"/>
          </a:xfrm>
          <a:prstGeom prst="roundRect">
            <a:avLst>
              <a:gd name="adj" fmla="val 10667"/>
            </a:avLst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9" name="Image 2" descr="busts in silhouett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1416" y="3989832"/>
            <a:ext cx="502920" cy="502920"/>
          </a:xfrm>
          <a:prstGeom prst="rect">
            <a:avLst/>
          </a:prstGeom>
        </p:spPr>
      </p:pic>
      <p:sp>
        <p:nvSpPr>
          <p:cNvPr id="40" name="Text 34"/>
          <p:cNvSpPr txBox="1"/>
          <p:nvPr/>
        </p:nvSpPr>
        <p:spPr>
          <a:xfrm>
            <a:off x="5065776" y="3898392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spc="100" kern="0" dirty="0">
                <a:solidFill>
                  <a:schemeClr val="bg1"/>
                </a:solidFill>
              </a:rPr>
              <a:t>COLLEGA’S</a:t>
            </a:r>
            <a:endParaRPr lang="en-US" sz="1800" dirty="0"/>
          </a:p>
        </p:txBody>
      </p:sp>
      <p:sp>
        <p:nvSpPr>
          <p:cNvPr id="41" name="Text 35"/>
          <p:cNvSpPr txBox="1"/>
          <p:nvPr/>
        </p:nvSpPr>
        <p:spPr>
          <a:xfrm>
            <a:off x="5065776" y="42824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chemeClr val="bg1"/>
                </a:solidFill>
              </a:rPr>
              <a:t>collègues</a:t>
            </a:r>
            <a:endParaRPr lang="en-US" sz="1200" dirty="0"/>
          </a:p>
        </p:txBody>
      </p:sp>
      <p:sp>
        <p:nvSpPr>
          <p:cNvPr id="42" name="Shape 36"/>
          <p:cNvSpPr/>
          <p:nvPr/>
        </p:nvSpPr>
        <p:spPr>
          <a:xfrm>
            <a:off x="8119872" y="3898392"/>
            <a:ext cx="3520440" cy="2392680"/>
          </a:xfrm>
          <a:prstGeom prst="roundRect">
            <a:avLst>
              <a:gd name="adj" fmla="val 3057"/>
            </a:avLst>
          </a:prstGeom>
          <a:solidFill>
            <a:schemeClr val="tx2">
              <a:alpha val="10000"/>
            </a:schemeClr>
          </a:solidFill>
          <a:ln w="25400">
            <a:solidFill>
              <a:srgbClr val="17375E"/>
            </a:solidFill>
            <a:prstDash val="solid"/>
          </a:ln>
        </p:spPr>
      </p:sp>
      <p:sp>
        <p:nvSpPr>
          <p:cNvPr id="43" name="Shape 37"/>
          <p:cNvSpPr/>
          <p:nvPr/>
        </p:nvSpPr>
        <p:spPr>
          <a:xfrm>
            <a:off x="8119872" y="3898392"/>
            <a:ext cx="3520440" cy="685800"/>
          </a:xfrm>
          <a:prstGeom prst="roundRect">
            <a:avLst>
              <a:gd name="adj" fmla="val 10667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4" name="Image 3" descr="office buildi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7032" y="3989832"/>
            <a:ext cx="502920" cy="502920"/>
          </a:xfrm>
          <a:prstGeom prst="rect">
            <a:avLst/>
          </a:prstGeom>
        </p:spPr>
      </p:pic>
      <p:sp>
        <p:nvSpPr>
          <p:cNvPr id="45" name="Text 38"/>
          <p:cNvSpPr txBox="1"/>
          <p:nvPr/>
        </p:nvSpPr>
        <p:spPr>
          <a:xfrm>
            <a:off x="8851392" y="3898392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spc="100" kern="0" dirty="0">
                <a:solidFill>
                  <a:schemeClr val="bg1"/>
                </a:solidFill>
              </a:rPr>
              <a:t>ONBEKENDEN</a:t>
            </a:r>
            <a:endParaRPr lang="en-US" sz="1800" dirty="0"/>
          </a:p>
        </p:txBody>
      </p:sp>
      <p:sp>
        <p:nvSpPr>
          <p:cNvPr id="46" name="Text 39"/>
          <p:cNvSpPr txBox="1"/>
          <p:nvPr/>
        </p:nvSpPr>
        <p:spPr>
          <a:xfrm>
            <a:off x="8851392" y="42824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chemeClr val="bg1"/>
                </a:solidFill>
              </a:rPr>
              <a:t>inconnus, clients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3 — Pour qui ?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87322" y="237744"/>
            <a:ext cx="1662379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</a:t>
            </a:r>
            <a:endParaRPr lang="en-US" sz="1600" dirty="0"/>
          </a:p>
        </p:txBody>
      </p:sp>
      <p:pic>
        <p:nvPicPr>
          <p:cNvPr id="7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Classez les formules selon le destinataire.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548640" y="2023872"/>
            <a:ext cx="3520440" cy="4267200"/>
          </a:xfrm>
          <a:prstGeom prst="roundRect">
            <a:avLst>
              <a:gd name="adj" fmla="val 2078"/>
            </a:avLst>
          </a:prstGeom>
          <a:solidFill>
            <a:srgbClr val="5B9BD5">
              <a:alpha val="10000"/>
            </a:srgbClr>
          </a:solidFill>
          <a:ln w="25400">
            <a:solidFill>
              <a:srgbClr val="5B9BD5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548640" y="2023872"/>
            <a:ext cx="3520440" cy="685800"/>
          </a:xfrm>
          <a:prstGeom prst="roundRect">
            <a:avLst>
              <a:gd name="adj" fmla="val 10667"/>
            </a:avLst>
          </a:prstGeom>
          <a:solidFill>
            <a:srgbClr val="5B9BD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1" name="Image 1" descr="people hugg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115312"/>
            <a:ext cx="502920" cy="5029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280160" y="2023872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spc="100" kern="0" dirty="0">
                <a:solidFill>
                  <a:schemeClr val="bg1"/>
                </a:solidFill>
              </a:rPr>
              <a:t>VRIENDEN</a:t>
            </a:r>
            <a:endParaRPr lang="en-US" sz="1800" dirty="0"/>
          </a:p>
        </p:txBody>
      </p:sp>
      <p:sp>
        <p:nvSpPr>
          <p:cNvPr id="13" name="Text 8"/>
          <p:cNvSpPr txBox="1"/>
          <p:nvPr/>
        </p:nvSpPr>
        <p:spPr>
          <a:xfrm>
            <a:off x="1280160" y="24079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chemeClr val="bg1"/>
                </a:solidFill>
              </a:rPr>
              <a:t>amis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548640" y="2892552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i="1" dirty="0">
                <a:solidFill>
                  <a:schemeClr val="tx1"/>
                </a:solidFill>
              </a:rPr>
              <a:t>Hoi Lies,</a:t>
            </a:r>
            <a:endParaRPr lang="en-US" sz="1900" dirty="0"/>
          </a:p>
        </p:txBody>
      </p:sp>
      <p:sp>
        <p:nvSpPr>
          <p:cNvPr id="15" name="Text 10"/>
          <p:cNvSpPr txBox="1"/>
          <p:nvPr/>
        </p:nvSpPr>
        <p:spPr>
          <a:xfrm>
            <a:off x="548640" y="345948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i="1" dirty="0">
                <a:solidFill>
                  <a:schemeClr val="tx1"/>
                </a:solidFill>
              </a:rPr>
              <a:t>Kusjes</a:t>
            </a:r>
            <a:endParaRPr lang="en-US" sz="1900" dirty="0"/>
          </a:p>
        </p:txBody>
      </p:sp>
      <p:sp>
        <p:nvSpPr>
          <p:cNvPr id="16" name="Text 11"/>
          <p:cNvSpPr txBox="1"/>
          <p:nvPr/>
        </p:nvSpPr>
        <p:spPr>
          <a:xfrm>
            <a:off x="548640" y="4026408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i="1" dirty="0">
                <a:solidFill>
                  <a:schemeClr val="tx1"/>
                </a:solidFill>
              </a:rPr>
              <a:t>Veel liefs</a:t>
            </a:r>
            <a:endParaRPr lang="en-US" sz="1900" dirty="0"/>
          </a:p>
        </p:txBody>
      </p:sp>
      <p:sp>
        <p:nvSpPr>
          <p:cNvPr id="17" name="Text 12"/>
          <p:cNvSpPr txBox="1"/>
          <p:nvPr/>
        </p:nvSpPr>
        <p:spPr>
          <a:xfrm>
            <a:off x="548640" y="4593336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i="1" dirty="0">
                <a:solidFill>
                  <a:schemeClr val="tx1"/>
                </a:solidFill>
              </a:rPr>
              <a:t>Hou je taai!</a:t>
            </a:r>
            <a:endParaRPr lang="en-US" sz="1900" dirty="0"/>
          </a:p>
        </p:txBody>
      </p:sp>
      <p:sp>
        <p:nvSpPr>
          <p:cNvPr id="18" name="Shape 13"/>
          <p:cNvSpPr/>
          <p:nvPr/>
        </p:nvSpPr>
        <p:spPr>
          <a:xfrm>
            <a:off x="4334256" y="2023872"/>
            <a:ext cx="3520440" cy="4267200"/>
          </a:xfrm>
          <a:prstGeom prst="roundRect">
            <a:avLst>
              <a:gd name="adj" fmla="val 2078"/>
            </a:avLst>
          </a:prstGeom>
          <a:solidFill>
            <a:schemeClr val="accent2">
              <a:alpha val="10000"/>
            </a:schemeClr>
          </a:solidFill>
          <a:ln w="25400">
            <a:solidFill>
              <a:srgbClr val="2A6FB0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334256" y="2023872"/>
            <a:ext cx="3520440" cy="685800"/>
          </a:xfrm>
          <a:prstGeom prst="roundRect">
            <a:avLst>
              <a:gd name="adj" fmla="val 10667"/>
            </a:avLst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0" name="Image 2" descr="busts in silhouett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1416" y="2115312"/>
            <a:ext cx="502920" cy="5029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065776" y="2023872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spc="100" kern="0" dirty="0">
                <a:solidFill>
                  <a:schemeClr val="bg1"/>
                </a:solidFill>
              </a:rPr>
              <a:t>COLLEGA’S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5065776" y="24079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chemeClr val="bg1"/>
                </a:solidFill>
              </a:rPr>
              <a:t>collègues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4334256" y="2892552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i="1" dirty="0">
                <a:solidFill>
                  <a:schemeClr val="tx1"/>
                </a:solidFill>
              </a:rPr>
              <a:t>Beste Sofie,</a:t>
            </a:r>
            <a:endParaRPr lang="en-US" sz="1900" dirty="0"/>
          </a:p>
        </p:txBody>
      </p:sp>
      <p:sp>
        <p:nvSpPr>
          <p:cNvPr id="24" name="Text 18"/>
          <p:cNvSpPr txBox="1"/>
          <p:nvPr/>
        </p:nvSpPr>
        <p:spPr>
          <a:xfrm>
            <a:off x="4334256" y="345948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i="1" dirty="0">
                <a:solidFill>
                  <a:schemeClr val="tx1"/>
                </a:solidFill>
              </a:rPr>
              <a:t>Beste groeten</a:t>
            </a:r>
            <a:endParaRPr lang="en-US" sz="1900" dirty="0"/>
          </a:p>
        </p:txBody>
      </p:sp>
      <p:sp>
        <p:nvSpPr>
          <p:cNvPr id="25" name="Text 19"/>
          <p:cNvSpPr txBox="1"/>
          <p:nvPr/>
        </p:nvSpPr>
        <p:spPr>
          <a:xfrm>
            <a:off x="4334256" y="4026408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i="1" dirty="0">
                <a:solidFill>
                  <a:schemeClr val="tx1"/>
                </a:solidFill>
              </a:rPr>
              <a:t>Bedankt!</a:t>
            </a:r>
            <a:endParaRPr lang="en-US" sz="1900" dirty="0"/>
          </a:p>
        </p:txBody>
      </p:sp>
      <p:sp>
        <p:nvSpPr>
          <p:cNvPr id="26" name="Text 20"/>
          <p:cNvSpPr txBox="1"/>
          <p:nvPr/>
        </p:nvSpPr>
        <p:spPr>
          <a:xfrm>
            <a:off x="4334256" y="4593336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i="1" dirty="0">
                <a:solidFill>
                  <a:schemeClr val="tx1"/>
                </a:solidFill>
              </a:rPr>
              <a:t>Tot morgen!</a:t>
            </a:r>
            <a:endParaRPr lang="en-US" sz="1900" dirty="0"/>
          </a:p>
        </p:txBody>
      </p:sp>
      <p:sp>
        <p:nvSpPr>
          <p:cNvPr id="27" name="Shape 21"/>
          <p:cNvSpPr/>
          <p:nvPr/>
        </p:nvSpPr>
        <p:spPr>
          <a:xfrm>
            <a:off x="8119872" y="2023872"/>
            <a:ext cx="3520440" cy="4267200"/>
          </a:xfrm>
          <a:prstGeom prst="roundRect">
            <a:avLst>
              <a:gd name="adj" fmla="val 2078"/>
            </a:avLst>
          </a:prstGeom>
          <a:solidFill>
            <a:schemeClr val="tx2">
              <a:alpha val="10000"/>
            </a:schemeClr>
          </a:solidFill>
          <a:ln w="25400">
            <a:solidFill>
              <a:srgbClr val="17375E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8119872" y="2023872"/>
            <a:ext cx="3520440" cy="685800"/>
          </a:xfrm>
          <a:prstGeom prst="roundRect">
            <a:avLst>
              <a:gd name="adj" fmla="val 10667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9" name="Image 3" descr="office buildi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7032" y="2115312"/>
            <a:ext cx="502920" cy="50292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8851392" y="2023872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spc="100" kern="0" dirty="0">
                <a:solidFill>
                  <a:schemeClr val="bg1"/>
                </a:solidFill>
              </a:rPr>
              <a:t>ONBEKENDEN</a:t>
            </a:r>
            <a:endParaRPr lang="en-US" sz="1800" dirty="0"/>
          </a:p>
        </p:txBody>
      </p:sp>
      <p:sp>
        <p:nvSpPr>
          <p:cNvPr id="31" name="Text 24"/>
          <p:cNvSpPr txBox="1"/>
          <p:nvPr/>
        </p:nvSpPr>
        <p:spPr>
          <a:xfrm>
            <a:off x="8851392" y="24079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chemeClr val="bg1"/>
                </a:solidFill>
              </a:rPr>
              <a:t>inconnus, clients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8119872" y="2892552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i="1" dirty="0">
                <a:solidFill>
                  <a:schemeClr val="tx1"/>
                </a:solidFill>
              </a:rPr>
              <a:t>Geachte mevrouw Claes,</a:t>
            </a:r>
            <a:endParaRPr lang="en-US" sz="1900" dirty="0"/>
          </a:p>
        </p:txBody>
      </p:sp>
      <p:sp>
        <p:nvSpPr>
          <p:cNvPr id="33" name="Text 26"/>
          <p:cNvSpPr txBox="1"/>
          <p:nvPr/>
        </p:nvSpPr>
        <p:spPr>
          <a:xfrm>
            <a:off x="8119872" y="345948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i="1" dirty="0">
                <a:solidFill>
                  <a:schemeClr val="tx1"/>
                </a:solidFill>
              </a:rPr>
              <a:t>Met vriendelijke groet</a:t>
            </a:r>
            <a:endParaRPr lang="en-US" sz="1900" dirty="0"/>
          </a:p>
        </p:txBody>
      </p:sp>
      <p:sp>
        <p:nvSpPr>
          <p:cNvPr id="34" name="Text 27"/>
          <p:cNvSpPr txBox="1"/>
          <p:nvPr/>
        </p:nvSpPr>
        <p:spPr>
          <a:xfrm>
            <a:off x="8119872" y="4026408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i="1" dirty="0">
                <a:solidFill>
                  <a:schemeClr val="tx1"/>
                </a:solidFill>
              </a:rPr>
              <a:t>Hoogachtend</a:t>
            </a:r>
            <a:endParaRPr lang="en-US" sz="1900" dirty="0"/>
          </a:p>
        </p:txBody>
      </p:sp>
      <p:sp>
        <p:nvSpPr>
          <p:cNvPr id="35" name="Text 28"/>
          <p:cNvSpPr txBox="1"/>
          <p:nvPr/>
        </p:nvSpPr>
        <p:spPr>
          <a:xfrm>
            <a:off x="8119872" y="4593336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i="1" dirty="0">
                <a:solidFill>
                  <a:schemeClr val="tx1"/>
                </a:solidFill>
              </a:rPr>
              <a:t>Bedankt voor uw tijd.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4 — Le mail en morceaux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pic>
        <p:nvPicPr>
          <p:cNvPr id="6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Remettez les bandes dans le bon ordre.</a:t>
            </a:r>
            <a:endParaRPr lang="en-US" sz="1700" dirty="0"/>
          </a:p>
        </p:txBody>
      </p:sp>
      <p:pic>
        <p:nvPicPr>
          <p:cNvPr id="8" name="Image 1" descr="scissor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32432"/>
            <a:ext cx="548640" cy="54864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 rot="-48000">
            <a:off x="548640" y="2526792"/>
            <a:ext cx="5852160" cy="446314"/>
          </a:xfrm>
          <a:prstGeom prst="roundRect">
            <a:avLst>
              <a:gd name="adj" fmla="val 4098"/>
            </a:avLst>
          </a:prstGeom>
          <a:solidFill>
            <a:srgbClr val="FFFDF5"/>
          </a:solidFill>
          <a:ln w="12700">
            <a:solidFill>
              <a:srgbClr val="C9B98A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0" name="Text 5"/>
          <p:cNvSpPr txBox="1"/>
          <p:nvPr/>
        </p:nvSpPr>
        <p:spPr>
          <a:xfrm rot="-48000">
            <a:off x="713232" y="2526792"/>
            <a:ext cx="5577840" cy="446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</a:t>
            </a:r>
            <a:r>
              <a:rPr lang="en-US" sz="1400" dirty="0">
                <a:solidFill>
                  <a:schemeClr val="tx1"/>
                </a:solidFill>
              </a:rPr>
              <a:t>   </a:t>
            </a:r>
            <a:r>
              <a:rPr lang="en-US" sz="1400" i="1" dirty="0">
                <a:solidFill>
                  <a:schemeClr val="tx1"/>
                </a:solidFill>
              </a:rPr>
              <a:t>Met vriendelijke groet</a:t>
            </a:r>
            <a:endParaRPr lang="en-US" sz="1400" dirty="0"/>
          </a:p>
        </p:txBody>
      </p:sp>
      <p:sp>
        <p:nvSpPr>
          <p:cNvPr id="11" name="Shape 6"/>
          <p:cNvSpPr/>
          <p:nvPr/>
        </p:nvSpPr>
        <p:spPr>
          <a:xfrm rot="36000">
            <a:off x="822960" y="3064546"/>
            <a:ext cx="5852160" cy="446314"/>
          </a:xfrm>
          <a:prstGeom prst="roundRect">
            <a:avLst>
              <a:gd name="adj" fmla="val 4098"/>
            </a:avLst>
          </a:prstGeom>
          <a:solidFill>
            <a:srgbClr val="FFFDF5"/>
          </a:solidFill>
          <a:ln w="12700">
            <a:solidFill>
              <a:srgbClr val="C9B98A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2" name="Text 7"/>
          <p:cNvSpPr txBox="1"/>
          <p:nvPr/>
        </p:nvSpPr>
        <p:spPr>
          <a:xfrm rot="36000">
            <a:off x="987552" y="3064546"/>
            <a:ext cx="5577840" cy="446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</a:t>
            </a:r>
            <a:r>
              <a:rPr lang="en-US" sz="1400" dirty="0">
                <a:solidFill>
                  <a:schemeClr val="tx1"/>
                </a:solidFill>
              </a:rPr>
              <a:t>   </a:t>
            </a:r>
            <a:r>
              <a:rPr lang="en-US" sz="1400" i="1" dirty="0">
                <a:solidFill>
                  <a:schemeClr val="tx1"/>
                </a:solidFill>
              </a:rPr>
              <a:t>Ik wil graag meer informatie over de cursus Nederlands.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 rot="-24000">
            <a:off x="548640" y="3602301"/>
            <a:ext cx="5852160" cy="446314"/>
          </a:xfrm>
          <a:prstGeom prst="roundRect">
            <a:avLst>
              <a:gd name="adj" fmla="val 4098"/>
            </a:avLst>
          </a:prstGeom>
          <a:solidFill>
            <a:srgbClr val="FFFDF5"/>
          </a:solidFill>
          <a:ln w="12700">
            <a:solidFill>
              <a:srgbClr val="C9B98A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4" name="Text 9"/>
          <p:cNvSpPr txBox="1"/>
          <p:nvPr/>
        </p:nvSpPr>
        <p:spPr>
          <a:xfrm rot="-24000">
            <a:off x="713232" y="3602301"/>
            <a:ext cx="5577840" cy="446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</a:t>
            </a:r>
            <a:r>
              <a:rPr lang="en-US" sz="1400" dirty="0">
                <a:solidFill>
                  <a:schemeClr val="tx1"/>
                </a:solidFill>
              </a:rPr>
              <a:t>   </a:t>
            </a:r>
            <a:r>
              <a:rPr lang="en-US" sz="1400" i="1" dirty="0">
                <a:solidFill>
                  <a:schemeClr val="tx1"/>
                </a:solidFill>
              </a:rPr>
              <a:t>Geachte mevrouw Wouters,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 rot="48000">
            <a:off x="822960" y="4140055"/>
            <a:ext cx="5852160" cy="446314"/>
          </a:xfrm>
          <a:prstGeom prst="roundRect">
            <a:avLst>
              <a:gd name="adj" fmla="val 4098"/>
            </a:avLst>
          </a:prstGeom>
          <a:solidFill>
            <a:srgbClr val="FFFDF5"/>
          </a:solidFill>
          <a:ln w="12700">
            <a:solidFill>
              <a:srgbClr val="C9B98A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6" name="Text 11"/>
          <p:cNvSpPr txBox="1"/>
          <p:nvPr/>
        </p:nvSpPr>
        <p:spPr>
          <a:xfrm rot="48000">
            <a:off x="987552" y="4140055"/>
            <a:ext cx="5577840" cy="446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</a:t>
            </a:r>
            <a:r>
              <a:rPr lang="en-US" sz="1400" dirty="0">
                <a:solidFill>
                  <a:schemeClr val="tx1"/>
                </a:solidFill>
              </a:rPr>
              <a:t>   </a:t>
            </a:r>
            <a:r>
              <a:rPr lang="en-US" sz="1400" i="1" dirty="0">
                <a:solidFill>
                  <a:schemeClr val="tx1"/>
                </a:solidFill>
              </a:rPr>
              <a:t>Karim Benali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 rot="-36000">
            <a:off x="548640" y="4677809"/>
            <a:ext cx="5852160" cy="446314"/>
          </a:xfrm>
          <a:prstGeom prst="roundRect">
            <a:avLst>
              <a:gd name="adj" fmla="val 4098"/>
            </a:avLst>
          </a:prstGeom>
          <a:solidFill>
            <a:srgbClr val="FFFDF5"/>
          </a:solidFill>
          <a:ln w="12700">
            <a:solidFill>
              <a:srgbClr val="C9B98A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8" name="Text 13"/>
          <p:cNvSpPr txBox="1"/>
          <p:nvPr/>
        </p:nvSpPr>
        <p:spPr>
          <a:xfrm rot="-36000">
            <a:off x="713232" y="4677809"/>
            <a:ext cx="5577840" cy="446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</a:t>
            </a:r>
            <a:r>
              <a:rPr lang="en-US" sz="1400" dirty="0">
                <a:solidFill>
                  <a:schemeClr val="tx1"/>
                </a:solidFill>
              </a:rPr>
              <a:t>   </a:t>
            </a:r>
            <a:r>
              <a:rPr lang="en-US" sz="1400" i="1" dirty="0">
                <a:solidFill>
                  <a:schemeClr val="tx1"/>
                </a:solidFill>
              </a:rPr>
              <a:t>Wanneer begint de cursus en wat is de prijs?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 rot="24000">
            <a:off x="822960" y="5215563"/>
            <a:ext cx="5852160" cy="446314"/>
          </a:xfrm>
          <a:prstGeom prst="roundRect">
            <a:avLst>
              <a:gd name="adj" fmla="val 4098"/>
            </a:avLst>
          </a:prstGeom>
          <a:solidFill>
            <a:srgbClr val="FFFDF5"/>
          </a:solidFill>
          <a:ln w="12700">
            <a:solidFill>
              <a:srgbClr val="C9B98A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0" name="Text 15"/>
          <p:cNvSpPr txBox="1"/>
          <p:nvPr/>
        </p:nvSpPr>
        <p:spPr>
          <a:xfrm rot="24000">
            <a:off x="987552" y="5215563"/>
            <a:ext cx="5577840" cy="446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</a:t>
            </a:r>
            <a:r>
              <a:rPr lang="en-US" sz="1400" dirty="0">
                <a:solidFill>
                  <a:schemeClr val="tx1"/>
                </a:solidFill>
              </a:rPr>
              <a:t>   </a:t>
            </a:r>
            <a:r>
              <a:rPr lang="en-US" sz="1400" i="1" dirty="0">
                <a:solidFill>
                  <a:schemeClr val="tx1"/>
                </a:solidFill>
              </a:rPr>
              <a:t>Ik hoor graag van u.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 rot="-42000">
            <a:off x="548640" y="5753318"/>
            <a:ext cx="5852160" cy="446314"/>
          </a:xfrm>
          <a:prstGeom prst="roundRect">
            <a:avLst>
              <a:gd name="adj" fmla="val 4098"/>
            </a:avLst>
          </a:prstGeom>
          <a:solidFill>
            <a:srgbClr val="FFFDF5"/>
          </a:solidFill>
          <a:ln w="12700">
            <a:solidFill>
              <a:srgbClr val="C9B98A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2" name="Text 17"/>
          <p:cNvSpPr txBox="1"/>
          <p:nvPr/>
        </p:nvSpPr>
        <p:spPr>
          <a:xfrm rot="-42000">
            <a:off x="713232" y="5753318"/>
            <a:ext cx="5577840" cy="446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G</a:t>
            </a:r>
            <a:r>
              <a:rPr lang="en-US" sz="1400" dirty="0">
                <a:solidFill>
                  <a:schemeClr val="tx1"/>
                </a:solidFill>
              </a:rPr>
              <a:t>   </a:t>
            </a:r>
            <a:r>
              <a:rPr lang="en-US" sz="1400" i="1" dirty="0">
                <a:solidFill>
                  <a:schemeClr val="tx1"/>
                </a:solidFill>
              </a:rPr>
              <a:t>Onderwerp: Cursus Nederlands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6949440" y="1932432"/>
            <a:ext cx="4690872" cy="4358640"/>
          </a:xfrm>
          <a:prstGeom prst="roundRect">
            <a:avLst>
              <a:gd name="adj" fmla="val 1259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949440" y="1932432"/>
            <a:ext cx="4690872" cy="384048"/>
          </a:xfrm>
          <a:prstGeom prst="roundRect">
            <a:avLst>
              <a:gd name="adj" fmla="val 14286"/>
            </a:avLst>
          </a:prstGeom>
          <a:solidFill>
            <a:srgbClr val="E6EB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7114032" y="2060448"/>
            <a:ext cx="128016" cy="128016"/>
          </a:xfrm>
          <a:prstGeom prst="ellipse">
            <a:avLst/>
          </a:prstGeom>
          <a:solidFill>
            <a:srgbClr val="E2725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7342632" y="2060448"/>
            <a:ext cx="128016" cy="128016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571232" y="2060448"/>
            <a:ext cx="128016" cy="128016"/>
          </a:xfrm>
          <a:prstGeom prst="ellipse">
            <a:avLst/>
          </a:prstGeom>
          <a:solidFill>
            <a:srgbClr val="5FA77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7863840" y="1932432"/>
            <a:ext cx="3593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Nieuw bericht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7086600" y="2497183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7086600" y="2497183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31" name="Shape 26"/>
          <p:cNvSpPr/>
          <p:nvPr/>
        </p:nvSpPr>
        <p:spPr>
          <a:xfrm>
            <a:off x="7543800" y="2860766"/>
            <a:ext cx="3913632" cy="914"/>
          </a:xfrm>
          <a:prstGeom prst="line">
            <a:avLst/>
          </a:prstGeom>
          <a:noFill/>
          <a:ln w="12700">
            <a:solidFill>
              <a:srgbClr val="B8C2CF"/>
            </a:solidFill>
            <a:prstDash val="sysDot"/>
          </a:ln>
        </p:spPr>
      </p:sp>
      <p:sp>
        <p:nvSpPr>
          <p:cNvPr id="32" name="Shape 27"/>
          <p:cNvSpPr/>
          <p:nvPr/>
        </p:nvSpPr>
        <p:spPr>
          <a:xfrm>
            <a:off x="7086600" y="3041469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7086600" y="3041469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34" name="Shape 29"/>
          <p:cNvSpPr/>
          <p:nvPr/>
        </p:nvSpPr>
        <p:spPr>
          <a:xfrm>
            <a:off x="7543800" y="3405051"/>
            <a:ext cx="3913632" cy="914"/>
          </a:xfrm>
          <a:prstGeom prst="line">
            <a:avLst/>
          </a:prstGeom>
          <a:noFill/>
          <a:ln w="12700">
            <a:solidFill>
              <a:srgbClr val="B8C2CF"/>
            </a:solidFill>
            <a:prstDash val="sysDot"/>
          </a:ln>
        </p:spPr>
      </p:sp>
      <p:sp>
        <p:nvSpPr>
          <p:cNvPr id="35" name="Shape 30"/>
          <p:cNvSpPr/>
          <p:nvPr/>
        </p:nvSpPr>
        <p:spPr>
          <a:xfrm>
            <a:off x="7086600" y="3585754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31"/>
          <p:cNvSpPr txBox="1"/>
          <p:nvPr/>
        </p:nvSpPr>
        <p:spPr>
          <a:xfrm>
            <a:off x="7086600" y="358575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37" name="Shape 32"/>
          <p:cNvSpPr/>
          <p:nvPr/>
        </p:nvSpPr>
        <p:spPr>
          <a:xfrm>
            <a:off x="7543800" y="3949337"/>
            <a:ext cx="3913632" cy="914"/>
          </a:xfrm>
          <a:prstGeom prst="line">
            <a:avLst/>
          </a:prstGeom>
          <a:noFill/>
          <a:ln w="12700">
            <a:solidFill>
              <a:srgbClr val="B8C2CF"/>
            </a:solidFill>
            <a:prstDash val="sysDot"/>
          </a:ln>
        </p:spPr>
      </p:sp>
      <p:sp>
        <p:nvSpPr>
          <p:cNvPr id="38" name="Shape 33"/>
          <p:cNvSpPr/>
          <p:nvPr/>
        </p:nvSpPr>
        <p:spPr>
          <a:xfrm>
            <a:off x="7086600" y="4130040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34"/>
          <p:cNvSpPr txBox="1"/>
          <p:nvPr/>
        </p:nvSpPr>
        <p:spPr>
          <a:xfrm>
            <a:off x="7086600" y="4130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40" name="Shape 35"/>
          <p:cNvSpPr/>
          <p:nvPr/>
        </p:nvSpPr>
        <p:spPr>
          <a:xfrm>
            <a:off x="7543800" y="4493623"/>
            <a:ext cx="3913632" cy="914"/>
          </a:xfrm>
          <a:prstGeom prst="line">
            <a:avLst/>
          </a:prstGeom>
          <a:noFill/>
          <a:ln w="12700">
            <a:solidFill>
              <a:srgbClr val="B8C2CF"/>
            </a:solidFill>
            <a:prstDash val="sysDot"/>
          </a:ln>
        </p:spPr>
      </p:sp>
      <p:sp>
        <p:nvSpPr>
          <p:cNvPr id="41" name="Shape 36"/>
          <p:cNvSpPr/>
          <p:nvPr/>
        </p:nvSpPr>
        <p:spPr>
          <a:xfrm>
            <a:off x="7086600" y="4674326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Text 37"/>
          <p:cNvSpPr txBox="1"/>
          <p:nvPr/>
        </p:nvSpPr>
        <p:spPr>
          <a:xfrm>
            <a:off x="7086600" y="467432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43" name="Shape 38"/>
          <p:cNvSpPr/>
          <p:nvPr/>
        </p:nvSpPr>
        <p:spPr>
          <a:xfrm>
            <a:off x="7543800" y="5037909"/>
            <a:ext cx="3913632" cy="914"/>
          </a:xfrm>
          <a:prstGeom prst="line">
            <a:avLst/>
          </a:prstGeom>
          <a:noFill/>
          <a:ln w="12700">
            <a:solidFill>
              <a:srgbClr val="B8C2CF"/>
            </a:solidFill>
            <a:prstDash val="sysDot"/>
          </a:ln>
        </p:spPr>
      </p:sp>
      <p:sp>
        <p:nvSpPr>
          <p:cNvPr id="44" name="Shape 39"/>
          <p:cNvSpPr/>
          <p:nvPr/>
        </p:nvSpPr>
        <p:spPr>
          <a:xfrm>
            <a:off x="7086600" y="5218611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Text 40"/>
          <p:cNvSpPr txBox="1"/>
          <p:nvPr/>
        </p:nvSpPr>
        <p:spPr>
          <a:xfrm>
            <a:off x="7086600" y="5218611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46" name="Shape 41"/>
          <p:cNvSpPr/>
          <p:nvPr/>
        </p:nvSpPr>
        <p:spPr>
          <a:xfrm>
            <a:off x="7543800" y="5582194"/>
            <a:ext cx="3913632" cy="914"/>
          </a:xfrm>
          <a:prstGeom prst="line">
            <a:avLst/>
          </a:prstGeom>
          <a:noFill/>
          <a:ln w="12700">
            <a:solidFill>
              <a:srgbClr val="B8C2CF"/>
            </a:solidFill>
            <a:prstDash val="sysDot"/>
          </a:ln>
        </p:spPr>
      </p:sp>
      <p:sp>
        <p:nvSpPr>
          <p:cNvPr id="47" name="Shape 42"/>
          <p:cNvSpPr/>
          <p:nvPr/>
        </p:nvSpPr>
        <p:spPr>
          <a:xfrm>
            <a:off x="7086600" y="5762897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Text 43"/>
          <p:cNvSpPr txBox="1"/>
          <p:nvPr/>
        </p:nvSpPr>
        <p:spPr>
          <a:xfrm>
            <a:off x="7086600" y="5762897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7</a:t>
            </a:r>
            <a:endParaRPr lang="en-US" sz="1200" dirty="0"/>
          </a:p>
        </p:txBody>
      </p:sp>
      <p:sp>
        <p:nvSpPr>
          <p:cNvPr id="49" name="Shape 44"/>
          <p:cNvSpPr/>
          <p:nvPr/>
        </p:nvSpPr>
        <p:spPr>
          <a:xfrm>
            <a:off x="7543800" y="6126480"/>
            <a:ext cx="3913632" cy="914"/>
          </a:xfrm>
          <a:prstGeom prst="line">
            <a:avLst/>
          </a:prstGeom>
          <a:noFill/>
          <a:ln w="12700">
            <a:solidFill>
              <a:srgbClr val="B8C2CF"/>
            </a:solidFill>
            <a:prstDash val="sysDot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4 — Le mail en morceaux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87322" y="237744"/>
            <a:ext cx="1662379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pic>
        <p:nvPicPr>
          <p:cNvPr id="7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Remettez les bandes dans le bon ordre.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548640" y="1932432"/>
            <a:ext cx="11091672" cy="4358640"/>
          </a:xfrm>
          <a:prstGeom prst="roundRect">
            <a:avLst>
              <a:gd name="adj" fmla="val 1259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548640" y="1932432"/>
            <a:ext cx="11091672" cy="384048"/>
          </a:xfrm>
          <a:prstGeom prst="roundRect">
            <a:avLst>
              <a:gd name="adj" fmla="val 14286"/>
            </a:avLst>
          </a:prstGeom>
          <a:solidFill>
            <a:srgbClr val="E6EB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13232" y="2060448"/>
            <a:ext cx="128016" cy="128016"/>
          </a:xfrm>
          <a:prstGeom prst="ellipse">
            <a:avLst/>
          </a:prstGeom>
          <a:solidFill>
            <a:srgbClr val="E2725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941832" y="2060448"/>
            <a:ext cx="128016" cy="128016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1170432" y="2060448"/>
            <a:ext cx="128016" cy="128016"/>
          </a:xfrm>
          <a:prstGeom prst="ellipse">
            <a:avLst/>
          </a:prstGeom>
          <a:solidFill>
            <a:srgbClr val="5FA77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1463040" y="1932432"/>
            <a:ext cx="9994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Nieuw bericht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85800" y="2497183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85800" y="2497183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1143000" y="2860766"/>
            <a:ext cx="10314432" cy="914"/>
          </a:xfrm>
          <a:prstGeom prst="line">
            <a:avLst/>
          </a:prstGeom>
          <a:noFill/>
          <a:ln w="12700">
            <a:solidFill>
              <a:srgbClr val="B8C2CF"/>
            </a:solidFill>
            <a:prstDash val="sysDot"/>
          </a:ln>
        </p:spPr>
      </p:sp>
      <p:sp>
        <p:nvSpPr>
          <p:cNvPr id="18" name="Text 14"/>
          <p:cNvSpPr txBox="1"/>
          <p:nvPr/>
        </p:nvSpPr>
        <p:spPr>
          <a:xfrm>
            <a:off x="1188720" y="2389632"/>
            <a:ext cx="10268712" cy="4985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G</a:t>
            </a:r>
            <a:r>
              <a:rPr lang="en-US" sz="1800" dirty="0">
                <a:solidFill>
                  <a:schemeClr val="tx1"/>
                </a:solidFill>
              </a:rPr>
              <a:t>   </a:t>
            </a:r>
            <a:r>
              <a:rPr lang="en-US" sz="1800" i="1" dirty="0">
                <a:solidFill>
                  <a:schemeClr val="tx1"/>
                </a:solidFill>
              </a:rPr>
              <a:t>Onderwerp: Cursus Nederlands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685800" y="3041469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685800" y="3041469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1143000" y="3405051"/>
            <a:ext cx="10314432" cy="914"/>
          </a:xfrm>
          <a:prstGeom prst="line">
            <a:avLst/>
          </a:prstGeom>
          <a:noFill/>
          <a:ln w="12700">
            <a:solidFill>
              <a:srgbClr val="B8C2CF"/>
            </a:solidFill>
            <a:prstDash val="sysDot"/>
          </a:ln>
        </p:spPr>
      </p:sp>
      <p:sp>
        <p:nvSpPr>
          <p:cNvPr id="22" name="Text 18"/>
          <p:cNvSpPr txBox="1"/>
          <p:nvPr/>
        </p:nvSpPr>
        <p:spPr>
          <a:xfrm>
            <a:off x="1188720" y="2933918"/>
            <a:ext cx="10268712" cy="4985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</a:t>
            </a:r>
            <a:r>
              <a:rPr lang="en-US" sz="1800" dirty="0">
                <a:solidFill>
                  <a:schemeClr val="tx1"/>
                </a:solidFill>
              </a:rPr>
              <a:t>   </a:t>
            </a:r>
            <a:r>
              <a:rPr lang="en-US" sz="1800" i="1" dirty="0">
                <a:solidFill>
                  <a:schemeClr val="tx1"/>
                </a:solidFill>
              </a:rPr>
              <a:t>Geachte mevrouw Wouters,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685800" y="3585754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685800" y="358575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1143000" y="3949337"/>
            <a:ext cx="10314432" cy="914"/>
          </a:xfrm>
          <a:prstGeom prst="line">
            <a:avLst/>
          </a:prstGeom>
          <a:noFill/>
          <a:ln w="12700">
            <a:solidFill>
              <a:srgbClr val="B8C2CF"/>
            </a:solidFill>
            <a:prstDash val="sysDot"/>
          </a:ln>
        </p:spPr>
      </p:sp>
      <p:sp>
        <p:nvSpPr>
          <p:cNvPr id="26" name="Text 22"/>
          <p:cNvSpPr txBox="1"/>
          <p:nvPr/>
        </p:nvSpPr>
        <p:spPr>
          <a:xfrm>
            <a:off x="1188720" y="3478203"/>
            <a:ext cx="10268712" cy="4985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</a:t>
            </a:r>
            <a:r>
              <a:rPr lang="en-US" sz="1800" dirty="0">
                <a:solidFill>
                  <a:schemeClr val="tx1"/>
                </a:solidFill>
              </a:rPr>
              <a:t>   </a:t>
            </a:r>
            <a:r>
              <a:rPr lang="en-US" sz="1800" i="1" dirty="0">
                <a:solidFill>
                  <a:schemeClr val="tx1"/>
                </a:solidFill>
              </a:rPr>
              <a:t>Ik wil graag meer informatie over de cursus Nederlands.</a:t>
            </a:r>
            <a:endParaRPr lang="en-US" sz="1800" dirty="0"/>
          </a:p>
        </p:txBody>
      </p:sp>
      <p:sp>
        <p:nvSpPr>
          <p:cNvPr id="27" name="Shape 23"/>
          <p:cNvSpPr/>
          <p:nvPr/>
        </p:nvSpPr>
        <p:spPr>
          <a:xfrm>
            <a:off x="685800" y="4130040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685800" y="4130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1143000" y="4493623"/>
            <a:ext cx="10314432" cy="914"/>
          </a:xfrm>
          <a:prstGeom prst="line">
            <a:avLst/>
          </a:prstGeom>
          <a:noFill/>
          <a:ln w="12700">
            <a:solidFill>
              <a:srgbClr val="B8C2CF"/>
            </a:solidFill>
            <a:prstDash val="sysDot"/>
          </a:ln>
        </p:spPr>
      </p:sp>
      <p:sp>
        <p:nvSpPr>
          <p:cNvPr id="30" name="Text 26"/>
          <p:cNvSpPr txBox="1"/>
          <p:nvPr/>
        </p:nvSpPr>
        <p:spPr>
          <a:xfrm>
            <a:off x="1188720" y="4022489"/>
            <a:ext cx="10268712" cy="4985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</a:t>
            </a:r>
            <a:r>
              <a:rPr lang="en-US" sz="1800" dirty="0">
                <a:solidFill>
                  <a:schemeClr val="tx1"/>
                </a:solidFill>
              </a:rPr>
              <a:t>   </a:t>
            </a:r>
            <a:r>
              <a:rPr lang="en-US" sz="1800" i="1" dirty="0">
                <a:solidFill>
                  <a:schemeClr val="tx1"/>
                </a:solidFill>
              </a:rPr>
              <a:t>Wanneer begint de cursus en wat is de prijs?</a:t>
            </a:r>
            <a:endParaRPr lang="en-US" sz="1800" dirty="0"/>
          </a:p>
        </p:txBody>
      </p:sp>
      <p:sp>
        <p:nvSpPr>
          <p:cNvPr id="31" name="Shape 27"/>
          <p:cNvSpPr/>
          <p:nvPr/>
        </p:nvSpPr>
        <p:spPr>
          <a:xfrm>
            <a:off x="685800" y="4674326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685800" y="467432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33" name="Shape 29"/>
          <p:cNvSpPr/>
          <p:nvPr/>
        </p:nvSpPr>
        <p:spPr>
          <a:xfrm>
            <a:off x="1143000" y="5037909"/>
            <a:ext cx="10314432" cy="914"/>
          </a:xfrm>
          <a:prstGeom prst="line">
            <a:avLst/>
          </a:prstGeom>
          <a:noFill/>
          <a:ln w="12700">
            <a:solidFill>
              <a:srgbClr val="B8C2CF"/>
            </a:solidFill>
            <a:prstDash val="sysDot"/>
          </a:ln>
        </p:spPr>
      </p:sp>
      <p:sp>
        <p:nvSpPr>
          <p:cNvPr id="34" name="Text 30"/>
          <p:cNvSpPr txBox="1"/>
          <p:nvPr/>
        </p:nvSpPr>
        <p:spPr>
          <a:xfrm>
            <a:off x="1188720" y="4566775"/>
            <a:ext cx="10268712" cy="4985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</a:t>
            </a:r>
            <a:r>
              <a:rPr lang="en-US" sz="1800" dirty="0">
                <a:solidFill>
                  <a:schemeClr val="tx1"/>
                </a:solidFill>
              </a:rPr>
              <a:t>   </a:t>
            </a:r>
            <a:r>
              <a:rPr lang="en-US" sz="1800" i="1" dirty="0">
                <a:solidFill>
                  <a:schemeClr val="tx1"/>
                </a:solidFill>
              </a:rPr>
              <a:t>Ik hoor graag van u.</a:t>
            </a:r>
            <a:endParaRPr lang="en-US" sz="1800" dirty="0"/>
          </a:p>
        </p:txBody>
      </p:sp>
      <p:sp>
        <p:nvSpPr>
          <p:cNvPr id="35" name="Shape 31"/>
          <p:cNvSpPr/>
          <p:nvPr/>
        </p:nvSpPr>
        <p:spPr>
          <a:xfrm>
            <a:off x="685800" y="5218611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685800" y="5218611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37" name="Shape 33"/>
          <p:cNvSpPr/>
          <p:nvPr/>
        </p:nvSpPr>
        <p:spPr>
          <a:xfrm>
            <a:off x="1143000" y="5582194"/>
            <a:ext cx="10314432" cy="914"/>
          </a:xfrm>
          <a:prstGeom prst="line">
            <a:avLst/>
          </a:prstGeom>
          <a:noFill/>
          <a:ln w="12700">
            <a:solidFill>
              <a:srgbClr val="B8C2CF"/>
            </a:solidFill>
            <a:prstDash val="sysDot"/>
          </a:ln>
        </p:spPr>
      </p:sp>
      <p:sp>
        <p:nvSpPr>
          <p:cNvPr id="38" name="Text 34"/>
          <p:cNvSpPr txBox="1"/>
          <p:nvPr/>
        </p:nvSpPr>
        <p:spPr>
          <a:xfrm>
            <a:off x="1188720" y="5111061"/>
            <a:ext cx="10268712" cy="4985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</a:t>
            </a:r>
            <a:r>
              <a:rPr lang="en-US" sz="1800" dirty="0">
                <a:solidFill>
                  <a:schemeClr val="tx1"/>
                </a:solidFill>
              </a:rPr>
              <a:t>   </a:t>
            </a:r>
            <a:r>
              <a:rPr lang="en-US" sz="1800" i="1" dirty="0">
                <a:solidFill>
                  <a:schemeClr val="tx1"/>
                </a:solidFill>
              </a:rPr>
              <a:t>Met vriendelijke groet</a:t>
            </a:r>
            <a:endParaRPr lang="en-US" sz="1800" dirty="0"/>
          </a:p>
        </p:txBody>
      </p:sp>
      <p:sp>
        <p:nvSpPr>
          <p:cNvPr id="39" name="Shape 35"/>
          <p:cNvSpPr/>
          <p:nvPr/>
        </p:nvSpPr>
        <p:spPr>
          <a:xfrm>
            <a:off x="685800" y="5762897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685800" y="5762897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7</a:t>
            </a:r>
            <a:endParaRPr lang="en-US" sz="1200" dirty="0"/>
          </a:p>
        </p:txBody>
      </p:sp>
      <p:sp>
        <p:nvSpPr>
          <p:cNvPr id="41" name="Shape 37"/>
          <p:cNvSpPr/>
          <p:nvPr/>
        </p:nvSpPr>
        <p:spPr>
          <a:xfrm>
            <a:off x="1143000" y="6126480"/>
            <a:ext cx="10314432" cy="914"/>
          </a:xfrm>
          <a:prstGeom prst="line">
            <a:avLst/>
          </a:prstGeom>
          <a:noFill/>
          <a:ln w="12700">
            <a:solidFill>
              <a:srgbClr val="B8C2CF"/>
            </a:solidFill>
            <a:prstDash val="sysDot"/>
          </a:ln>
        </p:spPr>
      </p:sp>
      <p:sp>
        <p:nvSpPr>
          <p:cNvPr id="42" name="Text 38"/>
          <p:cNvSpPr txBox="1"/>
          <p:nvPr/>
        </p:nvSpPr>
        <p:spPr>
          <a:xfrm>
            <a:off x="1188720" y="5655346"/>
            <a:ext cx="10268712" cy="4985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</a:t>
            </a:r>
            <a:r>
              <a:rPr lang="en-US" sz="1800" dirty="0">
                <a:solidFill>
                  <a:schemeClr val="tx1"/>
                </a:solidFill>
              </a:rPr>
              <a:t>   </a:t>
            </a:r>
            <a:r>
              <a:rPr lang="en-US" sz="1800" i="1" dirty="0">
                <a:solidFill>
                  <a:schemeClr val="tx1"/>
                </a:solidFill>
              </a:rPr>
              <a:t>Karim Benali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5 — Le détective du mail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pic>
        <p:nvPicPr>
          <p:cNvPr id="6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Karim écrit à sa cheffe. Trouvez les 6 erreurs.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548640" y="1932432"/>
            <a:ext cx="8138160" cy="4358640"/>
          </a:xfrm>
          <a:prstGeom prst="roundRect">
            <a:avLst>
              <a:gd name="adj" fmla="val 1259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548640" y="1932432"/>
            <a:ext cx="8138160" cy="384048"/>
          </a:xfrm>
          <a:prstGeom prst="roundRect">
            <a:avLst>
              <a:gd name="adj" fmla="val 14286"/>
            </a:avLst>
          </a:prstGeom>
          <a:solidFill>
            <a:srgbClr val="E6EB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13232" y="2060448"/>
            <a:ext cx="128016" cy="128016"/>
          </a:xfrm>
          <a:prstGeom prst="ellipse">
            <a:avLst/>
          </a:prstGeom>
          <a:solidFill>
            <a:srgbClr val="E2725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941832" y="2060448"/>
            <a:ext cx="128016" cy="128016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1170432" y="2060448"/>
            <a:ext cx="128016" cy="128016"/>
          </a:xfrm>
          <a:prstGeom prst="ellipse">
            <a:avLst/>
          </a:prstGeom>
          <a:solidFill>
            <a:srgbClr val="5FA77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731520" y="2389632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Aan: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1920240" y="2389632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an.janssens@peetersco.be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731520" y="2718816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Onderwerp: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1920240" y="2718816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(leeg)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685800" y="3084576"/>
            <a:ext cx="7863840" cy="914"/>
          </a:xfrm>
          <a:prstGeom prst="line">
            <a:avLst/>
          </a:prstGeom>
          <a:noFill/>
          <a:ln w="12700">
            <a:solidFill>
              <a:srgbClr val="D5DCE6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868680" y="3294888"/>
            <a:ext cx="7589520" cy="2859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100" i="1" dirty="0">
                <a:solidFill>
                  <a:schemeClr val="tx1"/>
                </a:solidFill>
              </a:rPr>
              <a:t>Hoi</a:t>
            </a:r>
            <a:r>
              <a:rPr lang="en-US" sz="2100" i="1" dirty="0">
                <a:solidFill>
                  <a:schemeClr val="tx1"/>
                </a:solidFill>
              </a:rPr>
              <a:t> mevrouw Janssens,</a:t>
            </a:r>
            <a:endParaRPr lang="en-US" sz="21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2100" i="1" dirty="0">
                <a:solidFill>
                  <a:schemeClr val="tx1"/>
                </a:solidFill>
              </a:rPr>
              <a:t>Ik kan morgen niet komen </a:t>
            </a:r>
            <a:r>
              <a:rPr lang="en-US" sz="2100" i="1" dirty="0">
                <a:solidFill>
                  <a:schemeClr val="tx1"/>
                </a:solidFill>
              </a:rPr>
              <a:t>omdat ik ben ziek</a:t>
            </a:r>
            <a:r>
              <a:rPr lang="en-US" sz="2100" i="1" dirty="0">
                <a:solidFill>
                  <a:schemeClr val="tx1"/>
                </a:solidFill>
              </a:rPr>
              <a:t>. Kunt u de vergadering verplaatsen? Ik stuur </a:t>
            </a:r>
            <a:r>
              <a:rPr lang="en-US" sz="2100" i="1" dirty="0">
                <a:solidFill>
                  <a:schemeClr val="tx1"/>
                </a:solidFill>
              </a:rPr>
              <a:t>je</a:t>
            </a:r>
            <a:r>
              <a:rPr lang="en-US" sz="2100" i="1" dirty="0">
                <a:solidFill>
                  <a:schemeClr val="tx1"/>
                </a:solidFill>
              </a:rPr>
              <a:t> de documenten.</a:t>
            </a:r>
            <a:endParaRPr lang="en-US" sz="21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2100" i="1" dirty="0">
                <a:solidFill>
                  <a:schemeClr val="tx1"/>
                </a:solidFill>
              </a:rPr>
              <a:t>Kusjes</a:t>
            </a:r>
            <a:r>
              <a:rPr lang="en-US" sz="2100" i="1" dirty="0">
                <a:solidFill>
                  <a:schemeClr val="tx1"/>
                </a:solidFill>
              </a:rPr>
              <a:t>,</a:t>
            </a:r>
            <a:endParaRPr lang="en-US" sz="21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2100" i="1" dirty="0">
                <a:solidFill>
                  <a:schemeClr val="tx1"/>
                </a:solidFill>
              </a:rPr>
              <a:t>Karim</a:t>
            </a:r>
            <a:endParaRPr lang="en-US" sz="2100" dirty="0"/>
          </a:p>
        </p:txBody>
      </p:sp>
      <p:pic>
        <p:nvPicPr>
          <p:cNvPr id="19" name="Image 1" descr="detectiv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0" y="2023872"/>
            <a:ext cx="1554480" cy="155448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9006840" y="3761232"/>
            <a:ext cx="2633472" cy="777240"/>
          </a:xfrm>
          <a:prstGeom prst="roundRect">
            <a:avLst>
              <a:gd name="adj" fmla="val 9412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9006840" y="3761232"/>
            <a:ext cx="2633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6 erreurs ?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5 — Le détective du mail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87322" y="237744"/>
            <a:ext cx="1662379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pic>
        <p:nvPicPr>
          <p:cNvPr id="7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Karim écrit à sa cheffe. Trouvez les 6 erreurs.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548640" y="1932432"/>
            <a:ext cx="8138160" cy="4358640"/>
          </a:xfrm>
          <a:prstGeom prst="roundRect">
            <a:avLst>
              <a:gd name="adj" fmla="val 1259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548640" y="1932432"/>
            <a:ext cx="8138160" cy="384048"/>
          </a:xfrm>
          <a:prstGeom prst="roundRect">
            <a:avLst>
              <a:gd name="adj" fmla="val 14286"/>
            </a:avLst>
          </a:prstGeom>
          <a:solidFill>
            <a:srgbClr val="E6EB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13232" y="2060448"/>
            <a:ext cx="128016" cy="128016"/>
          </a:xfrm>
          <a:prstGeom prst="ellipse">
            <a:avLst/>
          </a:prstGeom>
          <a:solidFill>
            <a:srgbClr val="E2725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941832" y="2060448"/>
            <a:ext cx="128016" cy="128016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1170432" y="2060448"/>
            <a:ext cx="128016" cy="128016"/>
          </a:xfrm>
          <a:prstGeom prst="ellipse">
            <a:avLst/>
          </a:prstGeom>
          <a:solidFill>
            <a:srgbClr val="5FA77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731520" y="2389632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Aan: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1920240" y="2389632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an.janssens@peetersco.be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731520" y="2718816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Onderwerp: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1920240" y="2718816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(leeg)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b="1" dirty="0">
                <a:solidFill>
                  <a:schemeClr val="accent3"/>
                </a:solidFill>
              </a:rPr>
              <a:t>→ Afwezig morgen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685800" y="3084576"/>
            <a:ext cx="7863840" cy="914"/>
          </a:xfrm>
          <a:prstGeom prst="line">
            <a:avLst/>
          </a:prstGeom>
          <a:noFill/>
          <a:ln w="12700">
            <a:solidFill>
              <a:srgbClr val="D5DCE6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868680" y="3294888"/>
            <a:ext cx="7589520" cy="2859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100" i="1" strike="sngStrike" dirty="0">
                <a:solidFill>
                  <a:schemeClr val="accent6"/>
                </a:solidFill>
              </a:rPr>
              <a:t>Hoi</a:t>
            </a:r>
            <a:r>
              <a:rPr lang="en-US" sz="2100" b="1" i="1" dirty="0">
                <a:solidFill>
                  <a:schemeClr val="accent3"/>
                </a:solidFill>
              </a:rPr>
              <a:t> Beste</a:t>
            </a:r>
            <a:r>
              <a:rPr lang="en-US" sz="2100" i="1" dirty="0">
                <a:solidFill>
                  <a:schemeClr val="tx1"/>
                </a:solidFill>
              </a:rPr>
              <a:t> mevrouw Janssens,</a:t>
            </a:r>
            <a:endParaRPr lang="en-US" sz="21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2100" i="1" dirty="0">
                <a:solidFill>
                  <a:schemeClr val="tx1"/>
                </a:solidFill>
              </a:rPr>
              <a:t>Ik kan morgen niet komen </a:t>
            </a:r>
            <a:r>
              <a:rPr lang="en-US" sz="2100" i="1" strike="sngStrike" dirty="0">
                <a:solidFill>
                  <a:schemeClr val="accent6"/>
                </a:solidFill>
              </a:rPr>
              <a:t>omdat ik ben ziek</a:t>
            </a:r>
            <a:r>
              <a:rPr lang="en-US" sz="2100" b="1" i="1" dirty="0">
                <a:solidFill>
                  <a:schemeClr val="accent3"/>
                </a:solidFill>
              </a:rPr>
              <a:t> omdat ik ziek ben</a:t>
            </a:r>
            <a:r>
              <a:rPr lang="en-US" sz="2100" i="1" dirty="0">
                <a:solidFill>
                  <a:schemeClr val="tx1"/>
                </a:solidFill>
              </a:rPr>
              <a:t>. Kunt u de vergadering verplaatsen? Ik stuur </a:t>
            </a:r>
            <a:r>
              <a:rPr lang="en-US" sz="2100" i="1" strike="sngStrike" dirty="0">
                <a:solidFill>
                  <a:schemeClr val="accent6"/>
                </a:solidFill>
              </a:rPr>
              <a:t>je</a:t>
            </a:r>
            <a:r>
              <a:rPr lang="en-US" sz="2100" b="1" i="1" dirty="0">
                <a:solidFill>
                  <a:schemeClr val="accent3"/>
                </a:solidFill>
              </a:rPr>
              <a:t> u</a:t>
            </a:r>
            <a:r>
              <a:rPr lang="en-US" sz="2100" i="1" dirty="0">
                <a:solidFill>
                  <a:schemeClr val="tx1"/>
                </a:solidFill>
              </a:rPr>
              <a:t> de documenten.</a:t>
            </a:r>
            <a:endParaRPr lang="en-US" sz="21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2100" i="1" strike="sngStrike" dirty="0">
                <a:solidFill>
                  <a:schemeClr val="accent6"/>
                </a:solidFill>
              </a:rPr>
              <a:t>Kusjes</a:t>
            </a:r>
            <a:r>
              <a:rPr lang="en-US" sz="2100" b="1" i="1" dirty="0">
                <a:solidFill>
                  <a:schemeClr val="accent3"/>
                </a:solidFill>
              </a:rPr>
              <a:t> Met vriendelijke groet</a:t>
            </a:r>
            <a:r>
              <a:rPr lang="en-US" sz="2100" i="1" dirty="0">
                <a:solidFill>
                  <a:schemeClr val="tx1"/>
                </a:solidFill>
              </a:rPr>
              <a:t>,</a:t>
            </a:r>
            <a:endParaRPr lang="en-US" sz="21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2100" i="1" strike="sngStrike" dirty="0">
                <a:solidFill>
                  <a:schemeClr val="accent6"/>
                </a:solidFill>
              </a:rPr>
              <a:t>Karim</a:t>
            </a:r>
            <a:r>
              <a:rPr lang="en-US" sz="2100" b="1" i="1" dirty="0">
                <a:solidFill>
                  <a:schemeClr val="accent3"/>
                </a:solidFill>
              </a:rPr>
              <a:t> Karim Benali</a:t>
            </a:r>
            <a:endParaRPr lang="en-US" sz="2100" dirty="0"/>
          </a:p>
        </p:txBody>
      </p:sp>
      <p:pic>
        <p:nvPicPr>
          <p:cNvPr id="20" name="Image 1" descr="detectiv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0" y="2023872"/>
            <a:ext cx="1554480" cy="1554480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9006840" y="3761232"/>
            <a:ext cx="2633472" cy="777240"/>
          </a:xfrm>
          <a:prstGeom prst="roundRect">
            <a:avLst>
              <a:gd name="adj" fmla="val 9412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9006840" y="3761232"/>
            <a:ext cx="2633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6 erreurs ✓</a:t>
            </a:r>
            <a:endParaRPr lang="en-US" sz="2200" dirty="0"/>
          </a:p>
        </p:txBody>
      </p:sp>
      <p:sp>
        <p:nvSpPr>
          <p:cNvPr id="23" name="Text 18"/>
          <p:cNvSpPr txBox="1"/>
          <p:nvPr/>
        </p:nvSpPr>
        <p:spPr>
          <a:xfrm>
            <a:off x="9006840" y="4721352"/>
            <a:ext cx="263347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Leurre : </a:t>
            </a:r>
            <a:r>
              <a:rPr lang="en-US" sz="1400" i="1" dirty="0">
                <a:solidFill>
                  <a:schemeClr val="accent5"/>
                </a:solidFill>
              </a:rPr>
              <a:t>Kunt u de vergadering verplaatsen?</a:t>
            </a:r>
            <a:r>
              <a:rPr lang="en-US" sz="1400" i="1" dirty="0">
                <a:solidFill>
                  <a:schemeClr val="accent5"/>
                </a:solidFill>
              </a:rPr>
              <a:t> est correct. Chaque erreur = une case de la checklist.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6 — À vous d’écrire !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★★★</a:t>
            </a:r>
            <a:endParaRPr lang="en-US" sz="1600" dirty="0"/>
          </a:p>
        </p:txBody>
      </p:sp>
      <p:pic>
        <p:nvPicPr>
          <p:cNvPr id="6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Choisissez une situation F et une situation I. Écrivez l’e-mail, puis vérifiez avec la checklist.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548640" y="1932432"/>
            <a:ext cx="5431536" cy="2087880"/>
          </a:xfrm>
          <a:prstGeom prst="roundRect">
            <a:avLst>
              <a:gd name="adj" fmla="val 3504"/>
            </a:avLst>
          </a:prstGeom>
          <a:solidFill>
            <a:schemeClr val="bg1"/>
          </a:solidFill>
          <a:ln w="25400">
            <a:solidFill>
              <a:srgbClr val="17375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685800" y="2069592"/>
            <a:ext cx="411480" cy="41148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85800" y="20695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F</a:t>
            </a:r>
            <a:endParaRPr lang="en-US" sz="1500" dirty="0"/>
          </a:p>
        </p:txBody>
      </p:sp>
      <p:pic>
        <p:nvPicPr>
          <p:cNvPr id="11" name="Image 1" descr="face with thermomet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7176" y="2115312"/>
            <a:ext cx="960120" cy="9601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234440" y="2042160"/>
            <a:ext cx="3511296" cy="1868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Vous êtes malade aujourd’hui. Écrivez à votre cheffe, mevrouw Janssens.</a:t>
            </a:r>
            <a:endParaRPr lang="en-US" sz="1800" dirty="0"/>
          </a:p>
        </p:txBody>
      </p:sp>
      <p:sp>
        <p:nvSpPr>
          <p:cNvPr id="13" name="Shape 8"/>
          <p:cNvSpPr/>
          <p:nvPr/>
        </p:nvSpPr>
        <p:spPr>
          <a:xfrm>
            <a:off x="6208776" y="1932432"/>
            <a:ext cx="5431536" cy="2087880"/>
          </a:xfrm>
          <a:prstGeom prst="roundRect">
            <a:avLst>
              <a:gd name="adj" fmla="val 3504"/>
            </a:avLst>
          </a:prstGeom>
          <a:solidFill>
            <a:schemeClr val="bg1"/>
          </a:solidFill>
          <a:ln w="25400">
            <a:solidFill>
              <a:srgbClr val="5B9BD5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6345936" y="2069592"/>
            <a:ext cx="411480" cy="411480"/>
          </a:xfrm>
          <a:prstGeom prst="ellipse">
            <a:avLst/>
          </a:prstGeom>
          <a:solidFill>
            <a:srgbClr val="5B9BD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345936" y="20695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I</a:t>
            </a:r>
            <a:endParaRPr lang="en-US" sz="1500" dirty="0"/>
          </a:p>
        </p:txBody>
      </p:sp>
      <p:pic>
        <p:nvPicPr>
          <p:cNvPr id="16" name="Image 2" descr="sandwich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7312" y="2115312"/>
            <a:ext cx="960120" cy="9601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894576" y="2042160"/>
            <a:ext cx="3511296" cy="1868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Vous invitez votre collègue Lies à déjeuner demain.</a:t>
            </a:r>
            <a:endParaRPr lang="en-US" sz="1800" dirty="0"/>
          </a:p>
        </p:txBody>
      </p:sp>
      <p:sp>
        <p:nvSpPr>
          <p:cNvPr id="18" name="Shape 12"/>
          <p:cNvSpPr/>
          <p:nvPr/>
        </p:nvSpPr>
        <p:spPr>
          <a:xfrm>
            <a:off x="548640" y="4203192"/>
            <a:ext cx="5431536" cy="2087880"/>
          </a:xfrm>
          <a:prstGeom prst="roundRect">
            <a:avLst>
              <a:gd name="adj" fmla="val 3504"/>
            </a:avLst>
          </a:prstGeom>
          <a:solidFill>
            <a:schemeClr val="bg1"/>
          </a:solidFill>
          <a:ln w="25400">
            <a:solidFill>
              <a:srgbClr val="17375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85800" y="4340352"/>
            <a:ext cx="411480" cy="41148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685800" y="43403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F</a:t>
            </a:r>
            <a:endParaRPr lang="en-US" sz="1500" dirty="0"/>
          </a:p>
        </p:txBody>
      </p:sp>
      <p:pic>
        <p:nvPicPr>
          <p:cNvPr id="21" name="Image 3" descr="packag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7176" y="4386072"/>
            <a:ext cx="960120" cy="96012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234440" y="4312920"/>
            <a:ext cx="3511296" cy="1868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Votre colis (commande n° 4521) n’est pas arrivé. Écrivez au magasin en ligne.</a:t>
            </a:r>
            <a:endParaRPr lang="en-US" sz="1800" dirty="0"/>
          </a:p>
        </p:txBody>
      </p:sp>
      <p:sp>
        <p:nvSpPr>
          <p:cNvPr id="23" name="Shape 16"/>
          <p:cNvSpPr/>
          <p:nvPr/>
        </p:nvSpPr>
        <p:spPr>
          <a:xfrm>
            <a:off x="6208776" y="4203192"/>
            <a:ext cx="5431536" cy="2087880"/>
          </a:xfrm>
          <a:prstGeom prst="roundRect">
            <a:avLst>
              <a:gd name="adj" fmla="val 3504"/>
            </a:avLst>
          </a:prstGeom>
          <a:solidFill>
            <a:schemeClr val="bg1"/>
          </a:solidFill>
          <a:ln w="25400">
            <a:solidFill>
              <a:srgbClr val="5B9BD5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4" name="Shape 17"/>
          <p:cNvSpPr/>
          <p:nvPr/>
        </p:nvSpPr>
        <p:spPr>
          <a:xfrm>
            <a:off x="6345936" y="4340352"/>
            <a:ext cx="411480" cy="411480"/>
          </a:xfrm>
          <a:prstGeom prst="ellipse">
            <a:avLst/>
          </a:prstGeom>
          <a:solidFill>
            <a:srgbClr val="5B9BD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18"/>
          <p:cNvSpPr txBox="1"/>
          <p:nvPr/>
        </p:nvSpPr>
        <p:spPr>
          <a:xfrm>
            <a:off x="6345936" y="43403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I</a:t>
            </a:r>
            <a:endParaRPr lang="en-US" sz="1500" dirty="0"/>
          </a:p>
        </p:txBody>
      </p:sp>
      <p:pic>
        <p:nvPicPr>
          <p:cNvPr id="26" name="Image 4" descr="memo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97312" y="4386072"/>
            <a:ext cx="960120" cy="960120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6894576" y="4312920"/>
            <a:ext cx="3511296" cy="1868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Rappelez à votre jeune collègue Tom que le rapport doit être prêt vendredi.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6 — À vous d’écrire !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87322" y="237744"/>
            <a:ext cx="1662379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★★★</a:t>
            </a:r>
            <a:endParaRPr lang="en-US" sz="1600" dirty="0"/>
          </a:p>
        </p:txBody>
      </p:sp>
      <p:pic>
        <p:nvPicPr>
          <p:cNvPr id="7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Choisissez une situation F et une situation I. Écrivez l’e-mail, puis vérifiez avec la checklist.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548640" y="1932432"/>
            <a:ext cx="5431536" cy="2087880"/>
          </a:xfrm>
          <a:prstGeom prst="roundRect">
            <a:avLst>
              <a:gd name="adj" fmla="val 3504"/>
            </a:avLst>
          </a:prstGeom>
          <a:solidFill>
            <a:schemeClr val="bg1"/>
          </a:solidFill>
          <a:ln w="25400">
            <a:solidFill>
              <a:srgbClr val="17375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685800" y="2069592"/>
            <a:ext cx="411480" cy="41148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85800" y="20695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F</a:t>
            </a:r>
            <a:endParaRPr lang="en-US" sz="1500" dirty="0"/>
          </a:p>
        </p:txBody>
      </p:sp>
      <p:pic>
        <p:nvPicPr>
          <p:cNvPr id="12" name="Image 1" descr="face with thermomet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4376" y="2042160"/>
            <a:ext cx="502920" cy="5029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34440" y="2042160"/>
            <a:ext cx="39684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Ziek vandaag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731520" y="2572512"/>
            <a:ext cx="5065776" cy="1356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Beste mevrouw Janssens, Ik ben vandaag ziek. Ik blijf thuis en ik kan niet naar de vergadering komen. Morgen bel ik u. Met vriendelijke groet, Karim Benali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6208776" y="1932432"/>
            <a:ext cx="5431536" cy="2087880"/>
          </a:xfrm>
          <a:prstGeom prst="roundRect">
            <a:avLst>
              <a:gd name="adj" fmla="val 3504"/>
            </a:avLst>
          </a:prstGeom>
          <a:solidFill>
            <a:schemeClr val="bg1"/>
          </a:solidFill>
          <a:ln w="25400">
            <a:solidFill>
              <a:srgbClr val="5B9BD5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6345936" y="2069592"/>
            <a:ext cx="411480" cy="411480"/>
          </a:xfrm>
          <a:prstGeom prst="ellipse">
            <a:avLst/>
          </a:prstGeom>
          <a:solidFill>
            <a:srgbClr val="5B9BD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6345936" y="20695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I</a:t>
            </a:r>
            <a:endParaRPr lang="en-US" sz="1500" dirty="0"/>
          </a:p>
        </p:txBody>
      </p:sp>
      <p:pic>
        <p:nvPicPr>
          <p:cNvPr id="18" name="Image 2" descr="sandwich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4512" y="2042160"/>
            <a:ext cx="502920" cy="5029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894576" y="2042160"/>
            <a:ext cx="39684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Lunch morgen?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6391656" y="2572512"/>
            <a:ext cx="5065776" cy="1356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Hoi Lies, Heb je morgen tijd voor een lunch? Om 12.30 uur in de kantine? Laat je iets weten? Groetjes, Karim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548640" y="4203192"/>
            <a:ext cx="5431536" cy="2087880"/>
          </a:xfrm>
          <a:prstGeom prst="roundRect">
            <a:avLst>
              <a:gd name="adj" fmla="val 3504"/>
            </a:avLst>
          </a:prstGeom>
          <a:solidFill>
            <a:schemeClr val="bg1"/>
          </a:solidFill>
          <a:ln w="25400">
            <a:solidFill>
              <a:srgbClr val="17375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85800" y="4340352"/>
            <a:ext cx="411480" cy="41148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685800" y="43403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F</a:t>
            </a:r>
            <a:endParaRPr lang="en-US" sz="1500" dirty="0"/>
          </a:p>
        </p:txBody>
      </p:sp>
      <p:pic>
        <p:nvPicPr>
          <p:cNvPr id="24" name="Image 3" descr="packag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4376" y="4312920"/>
            <a:ext cx="502920" cy="50292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234440" y="4312920"/>
            <a:ext cx="39684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Bestelling 4521</a:t>
            </a:r>
            <a:endParaRPr lang="en-US" sz="1500" dirty="0"/>
          </a:p>
        </p:txBody>
      </p:sp>
      <p:sp>
        <p:nvSpPr>
          <p:cNvPr id="26" name="Text 19"/>
          <p:cNvSpPr txBox="1"/>
          <p:nvPr/>
        </p:nvSpPr>
        <p:spPr>
          <a:xfrm>
            <a:off x="731520" y="4843272"/>
            <a:ext cx="5065776" cy="1356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Geachte heer, geachte mevrouw, Ik wacht nog op mijn bestelling (nummer 4521). Het pakket is er nog niet. Kunt u mij helpen? Alvast bedankt. Met vriendelijke groet, Karim Benali</a:t>
            </a:r>
            <a:endParaRPr lang="en-US" sz="1400" dirty="0"/>
          </a:p>
        </p:txBody>
      </p:sp>
      <p:sp>
        <p:nvSpPr>
          <p:cNvPr id="27" name="Shape 20"/>
          <p:cNvSpPr/>
          <p:nvPr/>
        </p:nvSpPr>
        <p:spPr>
          <a:xfrm>
            <a:off x="6208776" y="4203192"/>
            <a:ext cx="5431536" cy="2087880"/>
          </a:xfrm>
          <a:prstGeom prst="roundRect">
            <a:avLst>
              <a:gd name="adj" fmla="val 3504"/>
            </a:avLst>
          </a:prstGeom>
          <a:solidFill>
            <a:schemeClr val="bg1"/>
          </a:solidFill>
          <a:ln w="25400">
            <a:solidFill>
              <a:srgbClr val="5B9BD5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6345936" y="4340352"/>
            <a:ext cx="411480" cy="411480"/>
          </a:xfrm>
          <a:prstGeom prst="ellipse">
            <a:avLst/>
          </a:prstGeom>
          <a:solidFill>
            <a:srgbClr val="5B9BD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2"/>
          <p:cNvSpPr txBox="1"/>
          <p:nvPr/>
        </p:nvSpPr>
        <p:spPr>
          <a:xfrm>
            <a:off x="6345936" y="43403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I</a:t>
            </a:r>
            <a:endParaRPr lang="en-US" sz="1500" dirty="0"/>
          </a:p>
        </p:txBody>
      </p:sp>
      <p:pic>
        <p:nvPicPr>
          <p:cNvPr id="30" name="Image 4" descr="memo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54512" y="4312920"/>
            <a:ext cx="502920" cy="50292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894576" y="4312920"/>
            <a:ext cx="39684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Rapport vrijdag</a:t>
            </a:r>
            <a:endParaRPr lang="en-US" sz="1500" dirty="0"/>
          </a:p>
        </p:txBody>
      </p:sp>
      <p:sp>
        <p:nvSpPr>
          <p:cNvPr id="32" name="Text 24"/>
          <p:cNvSpPr txBox="1"/>
          <p:nvPr/>
        </p:nvSpPr>
        <p:spPr>
          <a:xfrm>
            <a:off x="6391656" y="4843272"/>
            <a:ext cx="5065776" cy="1356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Hoi Tom, Even een herinnering: het rapport moet vrijdag klaar zijn. Lukt dat? Groetjes, Sofie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7 — Le concours de politesse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★★★</a:t>
            </a:r>
            <a:endParaRPr lang="en-US" sz="1600" dirty="0"/>
          </a:p>
        </p:txBody>
      </p:sp>
      <p:pic>
        <p:nvPicPr>
          <p:cNvPr id="6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Vous voulez un jour de congé vendredi. Écrivez à votre chef, meneer Peeters.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868680" y="5376672"/>
            <a:ext cx="1188720" cy="914400"/>
          </a:xfrm>
          <a:prstGeom prst="roundRect">
            <a:avLst>
              <a:gd name="adj" fmla="val 3000"/>
            </a:avLst>
          </a:prstGeom>
          <a:solidFill>
            <a:schemeClr val="accent1">
              <a:alpha val="80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" name="Image 1" descr="2nd place meda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4690872"/>
            <a:ext cx="640080" cy="64008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2148840" y="4965192"/>
            <a:ext cx="1188720" cy="1325880"/>
          </a:xfrm>
          <a:prstGeom prst="roundRect">
            <a:avLst>
              <a:gd name="adj" fmla="val 2308"/>
            </a:avLst>
          </a:prstGeom>
          <a:solidFill>
            <a:schemeClr val="accent1">
              <a:alpha val="80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1" name="Image 2" descr="1st place meda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160" y="4279392"/>
            <a:ext cx="640080" cy="640080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3429000" y="5650992"/>
            <a:ext cx="1188720" cy="640080"/>
          </a:xfrm>
          <a:prstGeom prst="roundRect">
            <a:avLst>
              <a:gd name="adj" fmla="val 4286"/>
            </a:avLst>
          </a:prstGeom>
          <a:solidFill>
            <a:schemeClr val="accent1">
              <a:alpha val="80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3" name="Image 3" descr="3rd place medal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3320" y="4965192"/>
            <a:ext cx="640080" cy="640080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548640" y="1978152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Règles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• par deux, </a:t>
            </a:r>
            <a:r>
              <a:rPr lang="en-US" sz="1600" b="1" dirty="0">
                <a:solidFill>
                  <a:schemeClr val="tx1"/>
                </a:solidFill>
              </a:rPr>
              <a:t>5 minutes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• écrivez </a:t>
            </a:r>
            <a:r>
              <a:rPr lang="en-US" sz="1600" b="1" dirty="0">
                <a:solidFill>
                  <a:schemeClr val="tx1"/>
                </a:solidFill>
              </a:rPr>
              <a:t>deux</a:t>
            </a:r>
            <a:r>
              <a:rPr lang="en-US" sz="1600" dirty="0">
                <a:solidFill>
                  <a:schemeClr val="tx1"/>
                </a:solidFill>
              </a:rPr>
              <a:t> e-mails : le plus poli et le moins poli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• la classe vote : le plus poli et le plus drôle</a:t>
            </a:r>
            <a:endParaRPr lang="en-US" sz="1600" dirty="0"/>
          </a:p>
        </p:txBody>
      </p:sp>
      <p:sp>
        <p:nvSpPr>
          <p:cNvPr id="15" name="Shape 8"/>
          <p:cNvSpPr/>
          <p:nvPr/>
        </p:nvSpPr>
        <p:spPr>
          <a:xfrm>
            <a:off x="5394960" y="1932432"/>
            <a:ext cx="6245352" cy="2087880"/>
          </a:xfrm>
          <a:prstGeom prst="roundRect">
            <a:avLst>
              <a:gd name="adj" fmla="val 3504"/>
            </a:avLst>
          </a:prstGeom>
          <a:solidFill>
            <a:schemeClr val="bg1"/>
          </a:solidFill>
          <a:ln w="31750">
            <a:solidFill>
              <a:srgbClr val="17375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16" name="Image 4" descr="smiling face with halo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2120" y="2069592"/>
            <a:ext cx="777240" cy="777240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6446520" y="206959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le plus poli</a:t>
            </a:r>
            <a:endParaRPr lang="en-US" sz="2000" dirty="0"/>
          </a:p>
        </p:txBody>
      </p:sp>
      <p:sp>
        <p:nvSpPr>
          <p:cNvPr id="18" name="Shape 10"/>
          <p:cNvSpPr/>
          <p:nvPr/>
        </p:nvSpPr>
        <p:spPr>
          <a:xfrm>
            <a:off x="5577840" y="3166872"/>
            <a:ext cx="5852160" cy="914"/>
          </a:xfrm>
          <a:prstGeom prst="line">
            <a:avLst/>
          </a:prstGeom>
          <a:noFill/>
          <a:ln w="12700">
            <a:solidFill>
              <a:srgbClr val="B8C2CF"/>
            </a:solidFill>
            <a:prstDash val="sysDot"/>
          </a:ln>
        </p:spPr>
      </p:sp>
      <p:sp>
        <p:nvSpPr>
          <p:cNvPr id="19" name="Shape 11"/>
          <p:cNvSpPr/>
          <p:nvPr/>
        </p:nvSpPr>
        <p:spPr>
          <a:xfrm>
            <a:off x="5577840" y="3550920"/>
            <a:ext cx="5852160" cy="914"/>
          </a:xfrm>
          <a:prstGeom prst="line">
            <a:avLst/>
          </a:prstGeom>
          <a:noFill/>
          <a:ln w="12700">
            <a:solidFill>
              <a:srgbClr val="B8C2CF"/>
            </a:solidFill>
            <a:prstDash val="sysDot"/>
          </a:ln>
        </p:spPr>
      </p:sp>
      <p:sp>
        <p:nvSpPr>
          <p:cNvPr id="20" name="Shape 12"/>
          <p:cNvSpPr/>
          <p:nvPr/>
        </p:nvSpPr>
        <p:spPr>
          <a:xfrm>
            <a:off x="5577840" y="3934968"/>
            <a:ext cx="5852160" cy="914"/>
          </a:xfrm>
          <a:prstGeom prst="line">
            <a:avLst/>
          </a:prstGeom>
          <a:noFill/>
          <a:ln w="12700">
            <a:solidFill>
              <a:srgbClr val="B8C2CF"/>
            </a:solidFill>
            <a:prstDash val="sysDot"/>
          </a:ln>
        </p:spPr>
      </p:sp>
      <p:sp>
        <p:nvSpPr>
          <p:cNvPr id="21" name="Shape 13"/>
          <p:cNvSpPr/>
          <p:nvPr/>
        </p:nvSpPr>
        <p:spPr>
          <a:xfrm>
            <a:off x="5394960" y="4157472"/>
            <a:ext cx="6245352" cy="2087880"/>
          </a:xfrm>
          <a:prstGeom prst="roundRect">
            <a:avLst>
              <a:gd name="adj" fmla="val 3504"/>
            </a:avLst>
          </a:prstGeom>
          <a:solidFill>
            <a:schemeClr val="bg1"/>
          </a:solidFill>
          <a:ln w="31750">
            <a:solidFill>
              <a:srgbClr val="B83227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22" name="Image 5" descr="smiling face with horn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2120" y="4294632"/>
            <a:ext cx="777240" cy="777240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6446520" y="42946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le moins poli</a:t>
            </a:r>
            <a:endParaRPr lang="en-US" sz="2000" dirty="0"/>
          </a:p>
        </p:txBody>
      </p:sp>
      <p:sp>
        <p:nvSpPr>
          <p:cNvPr id="24" name="Shape 15"/>
          <p:cNvSpPr/>
          <p:nvPr/>
        </p:nvSpPr>
        <p:spPr>
          <a:xfrm>
            <a:off x="5577840" y="5391912"/>
            <a:ext cx="5852160" cy="914"/>
          </a:xfrm>
          <a:prstGeom prst="line">
            <a:avLst/>
          </a:prstGeom>
          <a:noFill/>
          <a:ln w="12700">
            <a:solidFill>
              <a:srgbClr val="B8C2CF"/>
            </a:solidFill>
            <a:prstDash val="sysDot"/>
          </a:ln>
        </p:spPr>
      </p:sp>
      <p:sp>
        <p:nvSpPr>
          <p:cNvPr id="25" name="Shape 16"/>
          <p:cNvSpPr/>
          <p:nvPr/>
        </p:nvSpPr>
        <p:spPr>
          <a:xfrm>
            <a:off x="5577840" y="5775960"/>
            <a:ext cx="5852160" cy="914"/>
          </a:xfrm>
          <a:prstGeom prst="line">
            <a:avLst/>
          </a:prstGeom>
          <a:noFill/>
          <a:ln w="12700">
            <a:solidFill>
              <a:srgbClr val="B8C2CF"/>
            </a:solidFill>
            <a:prstDash val="sysDot"/>
          </a:ln>
        </p:spPr>
      </p:sp>
      <p:sp>
        <p:nvSpPr>
          <p:cNvPr id="26" name="Shape 17"/>
          <p:cNvSpPr/>
          <p:nvPr/>
        </p:nvSpPr>
        <p:spPr>
          <a:xfrm>
            <a:off x="5577840" y="6160008"/>
            <a:ext cx="5852160" cy="914"/>
          </a:xfrm>
          <a:prstGeom prst="line">
            <a:avLst/>
          </a:prstGeom>
          <a:noFill/>
          <a:ln w="12700">
            <a:solidFill>
              <a:srgbClr val="B8C2CF"/>
            </a:solidFill>
            <a:prstDash val="sysDot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7 — Le concours de politesse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87322" y="237744"/>
            <a:ext cx="1662379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★★★</a:t>
            </a:r>
            <a:endParaRPr lang="en-US" sz="1600" dirty="0"/>
          </a:p>
        </p:txBody>
      </p:sp>
      <p:pic>
        <p:nvPicPr>
          <p:cNvPr id="7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Vous voulez un jour de congé vendredi. Écrivez à votre chef, meneer Peeters.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868680" y="5376672"/>
            <a:ext cx="1188720" cy="914400"/>
          </a:xfrm>
          <a:prstGeom prst="roundRect">
            <a:avLst>
              <a:gd name="adj" fmla="val 3000"/>
            </a:avLst>
          </a:prstGeom>
          <a:solidFill>
            <a:schemeClr val="accent1">
              <a:alpha val="80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" name="Image 1" descr="2nd place meda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4690872"/>
            <a:ext cx="640080" cy="64008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2148840" y="4965192"/>
            <a:ext cx="1188720" cy="1325880"/>
          </a:xfrm>
          <a:prstGeom prst="roundRect">
            <a:avLst>
              <a:gd name="adj" fmla="val 2308"/>
            </a:avLst>
          </a:prstGeom>
          <a:solidFill>
            <a:schemeClr val="accent1">
              <a:alpha val="80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2" descr="1st place meda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160" y="4279392"/>
            <a:ext cx="640080" cy="64008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3429000" y="5650992"/>
            <a:ext cx="1188720" cy="640080"/>
          </a:xfrm>
          <a:prstGeom prst="roundRect">
            <a:avLst>
              <a:gd name="adj" fmla="val 4286"/>
            </a:avLst>
          </a:prstGeom>
          <a:solidFill>
            <a:schemeClr val="accent1">
              <a:alpha val="80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4" name="Image 3" descr="3rd place medal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3320" y="4965192"/>
            <a:ext cx="640080" cy="64008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548640" y="1978152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Règles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• par deux, </a:t>
            </a:r>
            <a:r>
              <a:rPr lang="en-US" sz="1600" b="1" dirty="0">
                <a:solidFill>
                  <a:schemeClr val="tx1"/>
                </a:solidFill>
              </a:rPr>
              <a:t>5 minutes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• écrivez </a:t>
            </a:r>
            <a:r>
              <a:rPr lang="en-US" sz="1600" b="1" dirty="0">
                <a:solidFill>
                  <a:schemeClr val="tx1"/>
                </a:solidFill>
              </a:rPr>
              <a:t>deux</a:t>
            </a:r>
            <a:r>
              <a:rPr lang="en-US" sz="1600" dirty="0">
                <a:solidFill>
                  <a:schemeClr val="tx1"/>
                </a:solidFill>
              </a:rPr>
              <a:t> e-mails : le plus poli et le moins poli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• la classe vote : le plus poli et le plus drôle</a:t>
            </a:r>
            <a:endParaRPr lang="en-US" sz="1600" dirty="0"/>
          </a:p>
        </p:txBody>
      </p:sp>
      <p:sp>
        <p:nvSpPr>
          <p:cNvPr id="16" name="Shape 9"/>
          <p:cNvSpPr/>
          <p:nvPr/>
        </p:nvSpPr>
        <p:spPr>
          <a:xfrm>
            <a:off x="5394960" y="1932432"/>
            <a:ext cx="6245352" cy="2087880"/>
          </a:xfrm>
          <a:prstGeom prst="roundRect">
            <a:avLst>
              <a:gd name="adj" fmla="val 3504"/>
            </a:avLst>
          </a:prstGeom>
          <a:solidFill>
            <a:schemeClr val="bg1"/>
          </a:solidFill>
          <a:ln w="31750">
            <a:solidFill>
              <a:srgbClr val="17375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17" name="Image 4" descr="smiling face with halo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2120" y="2069592"/>
            <a:ext cx="777240" cy="777240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6446520" y="206959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le plus poli</a:t>
            </a:r>
            <a:endParaRPr lang="en-US" sz="2000" dirty="0"/>
          </a:p>
        </p:txBody>
      </p:sp>
      <p:sp>
        <p:nvSpPr>
          <p:cNvPr id="19" name="Text 11"/>
          <p:cNvSpPr txBox="1"/>
          <p:nvPr/>
        </p:nvSpPr>
        <p:spPr>
          <a:xfrm>
            <a:off x="5577840" y="2892552"/>
            <a:ext cx="589788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Geachte heer Peeters, Ik wil graag vrijdag een dag verlof nemen. Is dat mogelijk? Mijn werk is klaar. Alvast hartelijk bedankt. Met vriendelijke groet, Karim Benali</a:t>
            </a:r>
            <a:endParaRPr lang="en-US" sz="1500" dirty="0"/>
          </a:p>
        </p:txBody>
      </p:sp>
      <p:sp>
        <p:nvSpPr>
          <p:cNvPr id="20" name="Shape 12"/>
          <p:cNvSpPr/>
          <p:nvPr/>
        </p:nvSpPr>
        <p:spPr>
          <a:xfrm>
            <a:off x="5394960" y="4157472"/>
            <a:ext cx="6245352" cy="2087880"/>
          </a:xfrm>
          <a:prstGeom prst="roundRect">
            <a:avLst>
              <a:gd name="adj" fmla="val 3504"/>
            </a:avLst>
          </a:prstGeom>
          <a:solidFill>
            <a:schemeClr val="bg1"/>
          </a:solidFill>
          <a:ln w="31750">
            <a:solidFill>
              <a:srgbClr val="B83227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21" name="Image 5" descr="smiling face with horn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2120" y="4294632"/>
            <a:ext cx="777240" cy="777240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6446520" y="42946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le moins poli</a:t>
            </a:r>
            <a:endParaRPr lang="en-US" sz="2000" dirty="0"/>
          </a:p>
        </p:txBody>
      </p:sp>
      <p:sp>
        <p:nvSpPr>
          <p:cNvPr id="23" name="Text 14"/>
          <p:cNvSpPr txBox="1"/>
          <p:nvPr/>
        </p:nvSpPr>
        <p:spPr>
          <a:xfrm>
            <a:off x="5577840" y="5117592"/>
            <a:ext cx="589788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Hé Peeters, vrijdag kom ik niet. Daag!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Ticket de sortie et bilan du bloc 2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2092147" cy="310896"/>
          </a:xfrm>
          <a:prstGeom prst="roundRect">
            <a:avLst>
              <a:gd name="adj" fmla="val 14706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TICKET DE SORTIE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6035040" cy="112776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31520" y="1889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889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371600" y="1627632"/>
            <a:ext cx="5074920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Formule d’appel pour un client que vous ne connaissez pas ?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548640" y="2865120"/>
            <a:ext cx="6035040" cy="112776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31520" y="32004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371600" y="2938272"/>
            <a:ext cx="5074920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Formule finale passe-partout en formel ?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548640" y="4175760"/>
            <a:ext cx="6035040" cy="112776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31520" y="45110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31520" y="4511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1371600" y="4248912"/>
            <a:ext cx="5074920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Corrigez : </a:t>
            </a:r>
            <a:r>
              <a:rPr lang="en-US" sz="2000" i="1" dirty="0">
                <a:solidFill>
                  <a:schemeClr val="tx1"/>
                </a:solidFill>
              </a:rPr>
              <a:t>Hoi meneer Maes, ik stuur je de factuur.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6949440" y="15544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chemeClr val="accent5"/>
                </a:solidFill>
              </a:rPr>
              <a:t>AUTO-ÉVALUATION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949440" y="2011680"/>
            <a:ext cx="4690872" cy="758952"/>
          </a:xfrm>
          <a:prstGeom prst="roundRect">
            <a:avLst>
              <a:gd name="adj" fmla="val 9639"/>
            </a:avLst>
          </a:prstGeom>
          <a:solidFill>
            <a:schemeClr val="bg2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132320" y="2011680"/>
            <a:ext cx="23317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Reconnaître</a:t>
            </a:r>
            <a:endParaRPr lang="en-US" sz="1600" dirty="0"/>
          </a:p>
        </p:txBody>
      </p:sp>
      <p:pic>
        <p:nvPicPr>
          <p:cNvPr id="20" name="Image 0" descr="RegFrow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5480" y="2162556"/>
            <a:ext cx="457200" cy="457200"/>
          </a:xfrm>
          <a:prstGeom prst="rect">
            <a:avLst/>
          </a:prstGeom>
        </p:spPr>
      </p:pic>
      <p:pic>
        <p:nvPicPr>
          <p:cNvPr id="21" name="Image 1" descr="RegMe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2162556"/>
            <a:ext cx="457200" cy="457200"/>
          </a:xfrm>
          <a:prstGeom prst="rect">
            <a:avLst/>
          </a:prstGeom>
        </p:spPr>
      </p:pic>
      <p:pic>
        <p:nvPicPr>
          <p:cNvPr id="22" name="Image 2" descr="RegSmi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2162556"/>
            <a:ext cx="457200" cy="45720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6949440" y="2880360"/>
            <a:ext cx="4690872" cy="758952"/>
          </a:xfrm>
          <a:prstGeom prst="roundRect">
            <a:avLst>
              <a:gd name="adj" fmla="val 9639"/>
            </a:avLst>
          </a:prstGeom>
          <a:solidFill>
            <a:schemeClr val="bg1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7132320" y="2880360"/>
            <a:ext cx="23317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Choisir</a:t>
            </a:r>
            <a:endParaRPr lang="en-US" sz="1600" dirty="0"/>
          </a:p>
        </p:txBody>
      </p:sp>
      <p:pic>
        <p:nvPicPr>
          <p:cNvPr id="25" name="Image 3" descr="RegFrow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5480" y="3031236"/>
            <a:ext cx="457200" cy="457200"/>
          </a:xfrm>
          <a:prstGeom prst="rect">
            <a:avLst/>
          </a:prstGeom>
        </p:spPr>
      </p:pic>
      <p:pic>
        <p:nvPicPr>
          <p:cNvPr id="26" name="Image 4" descr="RegMeh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1280" y="3031236"/>
            <a:ext cx="457200" cy="457200"/>
          </a:xfrm>
          <a:prstGeom prst="rect">
            <a:avLst/>
          </a:prstGeom>
        </p:spPr>
      </p:pic>
      <p:pic>
        <p:nvPicPr>
          <p:cNvPr id="27" name="Image 5" descr="RegSmil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27080" y="3031236"/>
            <a:ext cx="457200" cy="457200"/>
          </a:xfrm>
          <a:prstGeom prst="rect">
            <a:avLst/>
          </a:prstGeom>
        </p:spPr>
      </p:pic>
      <p:sp>
        <p:nvSpPr>
          <p:cNvPr id="28" name="Shape 19"/>
          <p:cNvSpPr/>
          <p:nvPr/>
        </p:nvSpPr>
        <p:spPr>
          <a:xfrm>
            <a:off x="6949440" y="3749040"/>
            <a:ext cx="4690872" cy="758952"/>
          </a:xfrm>
          <a:prstGeom prst="roundRect">
            <a:avLst>
              <a:gd name="adj" fmla="val 9639"/>
            </a:avLst>
          </a:prstGeom>
          <a:solidFill>
            <a:schemeClr val="bg2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29" name="Text 20"/>
          <p:cNvSpPr txBox="1"/>
          <p:nvPr/>
        </p:nvSpPr>
        <p:spPr>
          <a:xfrm>
            <a:off x="7132320" y="3749040"/>
            <a:ext cx="23317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Rédiger</a:t>
            </a:r>
            <a:endParaRPr lang="en-US" sz="1600" dirty="0"/>
          </a:p>
        </p:txBody>
      </p:sp>
      <p:pic>
        <p:nvPicPr>
          <p:cNvPr id="30" name="Image 6" descr="RegFrow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55480" y="3899916"/>
            <a:ext cx="457200" cy="457200"/>
          </a:xfrm>
          <a:prstGeom prst="rect">
            <a:avLst/>
          </a:prstGeom>
        </p:spPr>
      </p:pic>
      <p:pic>
        <p:nvPicPr>
          <p:cNvPr id="31" name="Image 7" descr="RegMeh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41280" y="3899916"/>
            <a:ext cx="457200" cy="457200"/>
          </a:xfrm>
          <a:prstGeom prst="rect">
            <a:avLst/>
          </a:prstGeom>
        </p:spPr>
      </p:pic>
      <p:pic>
        <p:nvPicPr>
          <p:cNvPr id="32" name="Image 8" descr="RegSmile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27080" y="3899916"/>
            <a:ext cx="457200" cy="457200"/>
          </a:xfrm>
          <a:prstGeom prst="rect">
            <a:avLst/>
          </a:prstGeom>
        </p:spPr>
      </p:pic>
      <p:sp>
        <p:nvSpPr>
          <p:cNvPr id="33" name="Shape 21"/>
          <p:cNvSpPr/>
          <p:nvPr/>
        </p:nvSpPr>
        <p:spPr>
          <a:xfrm>
            <a:off x="548640" y="5532120"/>
            <a:ext cx="11091672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4" name="Image 9" descr="Trophy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7240" y="5715000"/>
            <a:ext cx="365760" cy="365760"/>
          </a:xfrm>
          <a:prstGeom prst="rect">
            <a:avLst/>
          </a:prstGeom>
        </p:spPr>
      </p:pic>
      <p:sp>
        <p:nvSpPr>
          <p:cNvPr id="35" name="Text 22"/>
          <p:cNvSpPr txBox="1"/>
          <p:nvPr/>
        </p:nvSpPr>
        <p:spPr>
          <a:xfrm>
            <a:off x="1325880" y="5532120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Proficiat! Bloc 1 en 2 zijn klaar.</a:t>
            </a:r>
            <a:r>
              <a:rPr lang="en-US" sz="1800" dirty="0">
                <a:solidFill>
                  <a:schemeClr val="bg1"/>
                </a:solidFill>
              </a:rPr>
              <a:t> — Volgende stap : bloc 3, M11 Scheidbare werkwoorden</a:t>
            </a:r>
            <a:endParaRPr lang="en-US" sz="1800" dirty="0"/>
          </a:p>
        </p:txBody>
      </p:sp>
      <p:sp>
        <p:nvSpPr>
          <p:cNvPr id="36" name="Text 23"/>
          <p:cNvSpPr txBox="1"/>
          <p:nvPr/>
        </p:nvSpPr>
        <p:spPr>
          <a:xfrm>
            <a:off x="6949440" y="4617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BLOCS 1 ET 2</a:t>
            </a:r>
            <a:endParaRPr lang="en-US" sz="1200" dirty="0"/>
          </a:p>
        </p:txBody>
      </p:sp>
      <p:sp>
        <p:nvSpPr>
          <p:cNvPr id="37" name="Shape 24"/>
          <p:cNvSpPr/>
          <p:nvPr/>
        </p:nvSpPr>
        <p:spPr>
          <a:xfrm>
            <a:off x="6949440" y="4956048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25"/>
          <p:cNvSpPr txBox="1"/>
          <p:nvPr/>
        </p:nvSpPr>
        <p:spPr>
          <a:xfrm>
            <a:off x="6949440" y="4956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39" name="Shape 26"/>
          <p:cNvSpPr/>
          <p:nvPr/>
        </p:nvSpPr>
        <p:spPr>
          <a:xfrm>
            <a:off x="7379208" y="4956048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Text 27"/>
          <p:cNvSpPr txBox="1"/>
          <p:nvPr/>
        </p:nvSpPr>
        <p:spPr>
          <a:xfrm>
            <a:off x="7379208" y="4956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41" name="Shape 28"/>
          <p:cNvSpPr/>
          <p:nvPr/>
        </p:nvSpPr>
        <p:spPr>
          <a:xfrm>
            <a:off x="7808976" y="4956048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Text 29"/>
          <p:cNvSpPr txBox="1"/>
          <p:nvPr/>
        </p:nvSpPr>
        <p:spPr>
          <a:xfrm>
            <a:off x="7808976" y="4956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43" name="Shape 30"/>
          <p:cNvSpPr/>
          <p:nvPr/>
        </p:nvSpPr>
        <p:spPr>
          <a:xfrm>
            <a:off x="8238744" y="4956048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31"/>
          <p:cNvSpPr txBox="1"/>
          <p:nvPr/>
        </p:nvSpPr>
        <p:spPr>
          <a:xfrm>
            <a:off x="8238744" y="4956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45" name="Shape 32"/>
          <p:cNvSpPr/>
          <p:nvPr/>
        </p:nvSpPr>
        <p:spPr>
          <a:xfrm>
            <a:off x="8668512" y="4956048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Text 33"/>
          <p:cNvSpPr txBox="1"/>
          <p:nvPr/>
        </p:nvSpPr>
        <p:spPr>
          <a:xfrm>
            <a:off x="8668512" y="4956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47" name="Shape 34"/>
          <p:cNvSpPr/>
          <p:nvPr/>
        </p:nvSpPr>
        <p:spPr>
          <a:xfrm>
            <a:off x="9098280" y="4956048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Text 35"/>
          <p:cNvSpPr txBox="1"/>
          <p:nvPr/>
        </p:nvSpPr>
        <p:spPr>
          <a:xfrm>
            <a:off x="9098280" y="4956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49" name="Shape 36"/>
          <p:cNvSpPr/>
          <p:nvPr/>
        </p:nvSpPr>
        <p:spPr>
          <a:xfrm>
            <a:off x="9528048" y="4956048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Text 37"/>
          <p:cNvSpPr txBox="1"/>
          <p:nvPr/>
        </p:nvSpPr>
        <p:spPr>
          <a:xfrm>
            <a:off x="9528048" y="4956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7</a:t>
            </a:r>
            <a:endParaRPr lang="en-US" sz="1200" dirty="0"/>
          </a:p>
        </p:txBody>
      </p:sp>
      <p:sp>
        <p:nvSpPr>
          <p:cNvPr id="51" name="Shape 38"/>
          <p:cNvSpPr/>
          <p:nvPr/>
        </p:nvSpPr>
        <p:spPr>
          <a:xfrm>
            <a:off x="9957816" y="4956048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Text 39"/>
          <p:cNvSpPr txBox="1"/>
          <p:nvPr/>
        </p:nvSpPr>
        <p:spPr>
          <a:xfrm>
            <a:off x="9957816" y="4956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8</a:t>
            </a:r>
            <a:endParaRPr lang="en-US" sz="1200" dirty="0"/>
          </a:p>
        </p:txBody>
      </p:sp>
      <p:sp>
        <p:nvSpPr>
          <p:cNvPr id="53" name="Shape 40"/>
          <p:cNvSpPr/>
          <p:nvPr/>
        </p:nvSpPr>
        <p:spPr>
          <a:xfrm>
            <a:off x="10387584" y="4956048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Text 41"/>
          <p:cNvSpPr txBox="1"/>
          <p:nvPr/>
        </p:nvSpPr>
        <p:spPr>
          <a:xfrm>
            <a:off x="10387584" y="4956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9</a:t>
            </a:r>
            <a:endParaRPr lang="en-US" sz="1200" dirty="0"/>
          </a:p>
        </p:txBody>
      </p:sp>
      <p:sp>
        <p:nvSpPr>
          <p:cNvPr id="55" name="Shape 42"/>
          <p:cNvSpPr/>
          <p:nvPr/>
        </p:nvSpPr>
        <p:spPr>
          <a:xfrm>
            <a:off x="10817352" y="4956048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Text 43"/>
          <p:cNvSpPr txBox="1"/>
          <p:nvPr/>
        </p:nvSpPr>
        <p:spPr>
          <a:xfrm>
            <a:off x="10817352" y="4956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10</a:t>
            </a:r>
            <a:endParaRPr lang="en-US" sz="1200" dirty="0"/>
          </a:p>
        </p:txBody>
      </p:sp>
      <p:pic>
        <p:nvPicPr>
          <p:cNvPr id="57" name="Image 10" descr="trophy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247120" y="4846320"/>
            <a:ext cx="548640" cy="5486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derlands 1">
  <a:themeElements>
    <a:clrScheme name="Nederlands 1">
      <a:dk1>
        <a:srgbClr val="1B2333"/>
      </a:dk1>
      <a:lt1>
        <a:srgbClr val="FFFFFF"/>
      </a:lt1>
      <a:dk2>
        <a:srgbClr val="17375E"/>
      </a:dk2>
      <a:lt2>
        <a:srgbClr val="EEF3F8"/>
      </a:lt2>
      <a:accent1>
        <a:srgbClr val="D9700F"/>
      </a:accent1>
      <a:accent2>
        <a:srgbClr val="2A6FB0"/>
      </a:accent2>
      <a:accent3>
        <a:srgbClr val="2E7D4F"/>
      </a:accent3>
      <a:accent4>
        <a:srgbClr val="B4236A"/>
      </a:accent4>
      <a:accent5>
        <a:srgbClr val="4A5A70"/>
      </a:accent5>
      <a:accent6>
        <a:srgbClr val="B83227"/>
      </a:accent6>
      <a:hlink>
        <a:srgbClr val="2A6FB0"/>
      </a:hlink>
      <a:folHlink>
        <a:srgbClr val="B4236A"/>
      </a:folHlink>
    </a:clrScheme>
    <a:fontScheme name="Nederlands 1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IRAM — Néerlandais 1 (UE1)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10 — Een mail opstellen — Écrire un e-mail</dc:title>
  <dc:subject>Néerlandais 1 — Langue en situation, en milieu professionnel</dc:subject>
  <dc:creator>A. Jouniaux</dc:creator>
  <cp:lastModifiedBy>A. Jouniaux</cp:lastModifiedBy>
  <cp:revision>1</cp:revision>
  <dcterms:created xsi:type="dcterms:W3CDTF">2026-10-05T11:25:54Z</dcterms:created>
  <dcterms:modified xsi:type="dcterms:W3CDTF">2026-10-05T11:25:54Z</dcterms:modified>
</cp:coreProperties>
</file>