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b4fcd9a-f39a-d587-b81c-e20e2e974e11}">
          <p14:sldIdLst>
            <p14:sldId id="256"/>
          </p14:sldIdLst>
        </p14:section>
        <p14:section name="Découvrir" id="{7135f266-154d-a7e9-5798-f4a348cafb47}">
          <p14:sldIdLst>
            <p14:sldId id="257"/>
            <p14:sldId id="258"/>
            <p14:sldId id="259"/>
            <p14:sldId id="260"/>
            <p14:sldId id="261"/>
          </p14:sldIdLst>
        </p14:section>
        <p14:section name="Verbe → nom" id="{506bcf9f-5c70-f56e-e307-5fa5eccc9515}">
          <p14:sldIdLst>
            <p14:sldId id="262"/>
            <p14:sldId id="263"/>
            <p14:sldId id="264"/>
            <p14:sldId id="265"/>
            <p14:sldId id="266"/>
          </p14:sldIdLst>
        </p14:section>
        <p14:section name="Adjectif → nom" id="{80f0763d-1e5b-c4b0-1f8c-a1acec6c2de4}">
          <p14:sldIdLst>
            <p14:sldId id="267"/>
            <p14:sldId id="268"/>
          </p14:sldIdLst>
        </p14:section>
        <p14:section name="Nom → adjectif" id="{724d75d8-bc4f-fb55-e26e-57f0208faa66}">
          <p14:sldIdLst>
            <p14:sldId id="269"/>
            <p14:sldId id="270"/>
          </p14:sldIdLst>
        </p14:section>
        <p14:section name="Verbe → adjectif" id="{627656aa-550c-a905-72e2-b931bc76d3f8}">
          <p14:sldIdLst>
            <p14:sldId id="271"/>
            <p14:sldId id="272"/>
          </p14:sldIdLst>
        </p14:section>
        <p14:section name="Vers le verbe" id="{1091ebb0-3551-473f-c3dc-54ef313e5f34}">
          <p14:sldIdLst>
            <p14:sldId id="273"/>
            <p14:sldId id="274"/>
          </p14:sldIdLst>
        </p14:section>
        <p14:section name="Adjectif et adverbe" id="{5e3aa206-4bde-2518-b818-e95d82e82f55}">
          <p14:sldIdLst>
            <p14:sldId id="275"/>
            <p14:sldId id="276"/>
          </p14:sldIdLst>
        </p14:section>
        <p14:section name="Combiner" id="{cd96f1b0-d260-03c7-d55b-eeea01ec6bbc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JIJ NU ! — Oefeningen" id="{d063c130-1549-be76-5ac6-bb2385fb81dd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Clôture" id="{68f0b90c-c956-b4bf-8463-b94621dd079f}">
          <p14:sldIdLst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même mot change de catégorie avec un petit morceau.
Demandez : « En français, combien de mots connaissez-vous avec travail ? » (travailler, travailleur, travailleuse, travaillé…). Le néerlandais fait pareil, avec ses propres suffixes.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Le M14 a présenté -ing, -er, -heid, on-, -loos : on systématise et on ajoute les exceptions.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observer, sans règle, que des suffixes changent la catégorie.
Par deux, 3 minutes : classer les huit mots et souligner le « morceau » ajouté. Réponses (diapo 24) : noms het werk, de werker, de werking, de werkloosheid · verbes werken, bewerken · adjectifs werkloos, werkbaar. Indices : de / het devant = nom ; -en = verbe ; -loos, -baar = adjectif.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Rappeler les catégories et leur rôle (sujet, verbe, complément, adjectif, adverbe).
Insistez sur le lien catégorie → fonction : pour qu'une action devienne sujet (Het roken is verboden), il faut un nom ; pour décrire un nom, un adjectif.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la carte complète (schéma DV1).
Cette carte revient en miniature sur chaque diapo de règle (en haut à droite). Invitez à la photographier : elle sert de sommaire.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construction d'un mot dérivé (schéma DV3).
Même logique qu'au M14 (« le dernier mot commande ») : ici, le dernier morceau commande. ver- s'ajoute devant l'adjectif et -en est la terminaison de l'infinitif (ik vergroot) : comme le français a-grand-ir.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Nominaliser un verbe avec het + infinitif (la règle sans exception).
het + infinitif est la « roue de secours » : quand on ne connaît pas le nom, il marche toujours. het ge- (het geblaf, het geroep, het gedoe) se reconnaît facilement à l'oral. ⚠ het gebruik (diapo 9) est un radical à préfixe, pas un het + infinitif.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noms en -ing et connaître leurs limites.
Lien M14. Astuce : -ing fonctionne très bien avec les verbes à préfixe ou à particule (de opleiding, de aanmelding, de inschrijving, de bestelling). Quand -ing n'existe pas, utilisez het + infinitif.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noms formés sur le radical seul et leur article.
La règle « préfixe inséparable → souvent het » est une tendance, pas une loi. Les changements de voyelle sont à apprendre comme du vocabulaire ; certains rappellent l'imperfectum (springen → sprong → de sprong), d'autres non (spreken → het gesprek).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nom de la personne (et de l'appareil) à partir du verbe.
leraar est une exception (leren ne finit pas par -el, -er, -en non accentué). Aujourd'hui, la forme en -er s'emploie souvent pour tout le monde (Ze is een goede werker) ; les formes féminines restent courantes pour les métiers (verkoopster, lerares). Consonne double après voyelle courte : bakken → bakker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Exploiter la ressemblance avec le français (-er → -ation).
Prononciation : -tie se dit [tsi] ou [si], et l'accent tombe sur la syllabe d'avant (informatie, organisatie). En Belgique, de reservatie est courant ; aux Pays-Bas, de reservering.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-heid et -te pour former un nom à partir d'un adjectif.
Les dimensions vont par paires : lang / lengte, breed / breedte, hoog / hoogte, diep / diepte, groot / grootte, dik / dikte. Gezondheid! = « À tes souhaits ! »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noms en -iteit et utiliser l'adjectif comme nom.
« le plus difficile » = het moeilijkste (superlatif). -iteit porte l'accent (activiteit). Het leuke is dat… est très fréquent à l'oral pour donner un avis (lien M27).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à partir d'un nom avec -ig, -lijk, -isch.
Prononciation de -lijk : [lək], avec le e de « le », jamais « laïk ». dagelijks, jaarlijks, wekelijks : le -s est fixe ; devant un nom : de dagelijkse vergadering.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de manque et d'abondance, et des adjectifs de matière.
-rijk (riche en) : kleurrijk, leerrijk (BE : instructif), succesrijk. -vol est plus fréquent. glas → glazen : s → z entre voyelles (diapo 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de possibilité avec -baar et leur contraire avec on-.
betaalbaar = abordable (pas cher) ; onbetaalbaar = hors de prix… ou inestimable. L'accent reste sur la racine : betaalbaar.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participes présent et passé comme adjectifs.
Lien M15 (formation du participe) et M21 (le -e). dringend est fréquent dans les e-mails (Dringend: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à partir de noms.
antwoorden op een vraag = een vraag beantwoorden : be- rend le verbe transitif (sans préposition). Autres : het oordeel → beoordelen (évaluer). Le radical du nouveau verbe = le nom : ik fiets, ik 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de changement à partir d'adjectifs.
Le nom en -ing suit : de vergroting, de verbetering, de verlenging (diapo 25, ex. 13). Vocabulaire très utile au travail : een contract verlengen, de service verbeteren.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l'adverbe a la même forme que l'adjectif (sans -e).
C'est la meilleure nouvelle du module : aucune transformation. Le piège vient du français (-ment) : certain·es apprenant·es inventent -lijk (snellijk). goed = bon et bien (Het eten is goed. Je kookt goed.).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quatre préfixes fréquents qui changent le sens sans changer la catégorie.
mislopen = rater (Ik ben de trein misgelopen, BE). ontdekken = dé-couvrir, ontwikkelen = dé-velopper : un pont avec le français. ⚠ ontevreden = on- + tevreden (pas ont-). on- s'utilise surtout avec des adjectifs « positifs » (ongelukkig, onvriendelijk) ; pour les autres, on prend l'antonyme (slecht ↔ goed).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Déduire de ou het du suffixe.
Lien M5 (les familles DE / HET). Couleurs du M5 : bleu nuit = DE, orange = HET. -schap : de vriendschap, de wetenschap mais het lidmaatschap, het voorzitterschap, het ouderschap (statut) et het landschap, het gezelschap, het gereedschap. -er : seulement pour les personnes et les appareils (het nummer, het water ne sont pas dérivés).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règles d'orthographe aux mots dérivés.
Rien de nouveau : ce sont les règles du pluriel et du verbe (M4). Faites couper au tableau : ver-gro-ten, zon-nig, gla-zen.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l'échauffement et montrer que les suffixes s'empilent.
Comparez avec l'hypothèse des apprenant·es (diapo 3). de werking = le fonctionnement (de werking van de machine) ; bewerken = travailler, modifier (een tekst bewerken).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verbale en groupe nominal (et inversement).
Le style nominal est typique des titres de presse, des notes de service et des e-mails administratifs. À l'oral, il paraît lourd : on revient au verbe. Faites lire un titre de journal flamand (Stijging van de energieprijzen) et reformuler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correspondances de suffixes entre le français et le néerlandais.
Jeu rapide : l'enseignant·e dit un mot français en -tion, -ité, -ique, le groupe propose la forme néerlandaise, puis vérifie au dictionnaire. Attention : -tie = de, -isme =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Anticiper les erreurs typiques.
Pour chaque piège, renvoyez à la diapo de règle (20, 8, 12, 22, 16,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Ex. 1 et 2 en séance 1, ex. 3 à 6 en séance 2, ex. 7 à 13 en séance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catégorie d'un mot grâce à son suffixe ou à son article.
Faites entourer l'indice : article, suffixe (-ing, -heid, -te, -baar, -ig, -lijk, -loos, -isch), -en / -eren du verbe. het lezen : un infinitif avec het = un nom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Reconnaître la catégorie d'un mot grâce à son suffixe ou à son article.
Faites entourer l'indice : article, suffixe (-ing, -heid, -te, -baar, -ig, -lijk, -loos, -isch), -en / -eren du verbe. het lezen : un infinitif avec het = un nom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nom demandé (action, personne, appareil) avec son article.
Les cases incluent l'article : le trouver fait partie de l'exercice. N° 2 : ✗ de roking. N° 6 : au masculin, de verkoper. N° 3 : -der après r ; n° 9 : -aar après -el.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le nom demandé (action, personne, appareil) avec son article.
Les cases incluent l'article : le trouver fait partie de l'exercice. N° 2 : ✗ de roking. N° 6 : au masculin, de verkoper. N° 3 : -der après r ; n° 9 : -aar après -el.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suffixe pour nominaliser un adjectif.
Faites justifier : qualité abstraite ou mesure ? lang → lengte : la voyelle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bon suffixe pour nominaliser un adjectif.
Faites justifier : qualité abstraite ou mesure ? lang → lengte : la voyelle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accorder un adjectif dérivé d'un nom, en contexte.
N° 4 : houten est invariable (M21). N° 3 : een technisch probleem (het probleem, pas de -e après een).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et accorder un adjectif dérivé d'un nom, en contexte.
N° 4 : houten est invariable (M21). N° 3 : een technisch probleem (het probleem, pas de -e après een).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avec un adjectif en -baar ou on-…-baar.
N° 6 : zichtbaar (exception, diapo 16). Prolongement : chacun·e invente une question pour un·e voisin·e.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Répondre avec un adjectif en -baar ou on-…-baar.
N° 6 : zichtbaar (exception, diapo 16). Prolongement : chacun·e invente une question pour un·e voisin·e.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de changement à partir d'adjectifs.
Demandez ensuite le nom en -ing : de vergroting, de verkorting, de verbetering, de verlenging, de verwarming, de vernieuwing. de refter (BE) = la cantine.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des verbes de changement à partir d'adjectifs.
Demandez ensuite le nom en -ing : de vergroting, de verkorting, de verbetering, de verlenging, de verwarming, de vernieuwing. de refter (BE) = la cantine.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adverbes français en -ment sans transformation.
N° 3 : l'impératif = la forme de ik : Rijd! (Rij! à l'oral). N° 5 et 6 : adverbes « à part » (diapo 20). Rappel M3 : l'adverbe en case ① entraîne l'inversion.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adverbes français en -ment sans transformation.
N° 3 : l'impératif = la forme de ik : Rijd! (Rij! à l'oral). N° 5 et 6 : adverbes « à part » (diapo 20). Rappel M3 : l'adverbe en case ① entraîne l'inversion.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famille complète à partir d'un verbe.
lezen : l'action est het lezen (✗ de lezing = la conférence). gebruiken : het gebruik (radical à préfixe, het), bruikbaar (exception). Accepter aussi het betalen.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famille complète à partir d'un verbe.
lezen : l'action est het lezen (✗ de lezing = la conférence). gebruiken : het gebruik (radical à préfixe, het), bruikbaar (exception). Accepter aussi het betalen.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des phrases en style nominal.
N° 5 : tevreden (adjectif) → de tevredenheid. N° 6 : dans un courrier formel, on lit souvent Spoedige betaling gevraagd. Variante : faire le chemin inverse avec des titres de journaux.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des phrases en style nominal.
N° 5 : tevreden (adjectif) → de tevredenheid. N° 6 : dans un courrier formel, on lit souvent Spoedige betaling gevraagd. Variante : faire le chemin inverse avec des titres de journaux.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Déduire l'article du suffixe.
Faites citer le suffixe-indice pour chaque mot (boussole, diapo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Déduire l'article du suffixe.
Faites citer le suffixe-indice pour chaque mot (boussole, diapo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de dérivation dans un écrit professionnel.
Faites nommer la règle pour chaque erreur (diapos 8, 11, 12, 16, 20). a.u.b. =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de dérivation dans un écrit professionnel.
Faites nommer la règle pour chaque erreur (diapos 8, 11, 12, 16, 20). a.u.b. =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un maximum de mots dérivés, de façon ludique.
Imprimez les cartes. L'équipe adverse peut contester un mot : on vérifie au dictionnaire (Van Dale, woorden.org). Exemples de réponses : speel- → spelen, de speler, het spel, speels, het speelgoed · groot- → de grootte, vergroten, de vergroting.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passer du style verbal (oral) au style nominal (avis écrit).
Wegens werken (BE) = « pour cause de travaux » (de werken = les travaux en Belgique ; NL : de werkzaamheden). Gelieve … te + infinitif = formule polie des avis (Gelieve de trap te gebruiken). Exemple d'avis : Verbouwing – Vergroting van de refter · Vernieuwing van de computers · Verbetering van de verwarming · Lift buiten gebruik tot 15 mei · Sluiting van de parking op 3 mei · Heropening van het kantoor op 1 juni.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vergadering
2. gevaarlijk
3. Hij werkt snel.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La dérivation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La dérivation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image" Target="../media/image-29-10.pn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pn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image" Target="../media/image-54-9.png"/><Relationship Id="rId10" Type="http://schemas.openxmlformats.org/officeDocument/2006/relationships/image" Target="../media/image-5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Werken,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werking,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werkbaar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dérivation : passer d’une catégorie de mot à l’autre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nom · verbe · adjectif · adverbe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09360" y="1097280"/>
            <a:ext cx="562356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0" y="2423160"/>
            <a:ext cx="914400" cy="914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1371600"/>
            <a:ext cx="1119811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7960" y="1371600"/>
            <a:ext cx="111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werken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464040" y="1371600"/>
            <a:ext cx="1599103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64040" y="1371600"/>
            <a:ext cx="15991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werking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37960" y="4069080"/>
            <a:ext cx="1359457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4069080"/>
            <a:ext cx="13594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werkbaar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92640" y="4069080"/>
            <a:ext cx="1359457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92640" y="4069080"/>
            <a:ext cx="13594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werkloos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537960" y="2697480"/>
            <a:ext cx="147928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2697480"/>
            <a:ext cx="147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werker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646920" y="2697480"/>
            <a:ext cx="2198218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46920" y="2697480"/>
            <a:ext cx="2198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werkloosheid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werk-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la catégorie d’un mot grâce à son suffixe.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Transformer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passe du verbe au nom, du nom à l’adjectif… avec la bonne règle.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Fanc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le style verbal (oral) ou nominal (écrit).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mot connu = toute une famille de mots en plus : la dérivation multiplie votre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Une racine, toute une famille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221224" y="3044952"/>
            <a:ext cx="1737360" cy="113385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221224" y="3044952"/>
            <a:ext cx="17373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werk-</a:t>
            </a:r>
            <a:endParaRPr lang="en-US" sz="2600" dirty="0"/>
          </a:p>
        </p:txBody>
      </p:sp>
      <p:pic>
        <p:nvPicPr>
          <p:cNvPr id="7" name="Image 0" descr="brief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822960" cy="822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flipV="1">
            <a:off x="6089904" y="2194560"/>
            <a:ext cx="914" cy="813816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282364" y="164592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282364" y="164592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het werk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 flipV="1">
            <a:off x="6736482" y="2609683"/>
            <a:ext cx="1476040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20454" y="2141390"/>
            <a:ext cx="131152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020454" y="2141390"/>
            <a:ext cx="1311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7004304" y="3611880"/>
            <a:ext cx="1859773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864077" y="3337560"/>
            <a:ext cx="176685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8864077" y="3337560"/>
            <a:ext cx="176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werker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736482" y="4038622"/>
            <a:ext cx="1261397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16902" y="4533730"/>
            <a:ext cx="1918631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716902" y="4533730"/>
            <a:ext cx="19186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werking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089904" y="4215384"/>
            <a:ext cx="914" cy="813816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2364" y="502920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282364" y="502920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werkloos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 flipH="1">
            <a:off x="4450233" y="4038622"/>
            <a:ext cx="993093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164835" y="4533730"/>
            <a:ext cx="26775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2164835" y="4533730"/>
            <a:ext cx="2677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werkloosheid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 flipH="1">
            <a:off x="3239844" y="3611880"/>
            <a:ext cx="1935660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624764" y="333756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1624764" y="333756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werkbaar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 flipH="1" flipV="1">
            <a:off x="4074607" y="2609683"/>
            <a:ext cx="1368719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696051" y="214139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2696051" y="214139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bewerken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Nom, verbe ou adjectif ? Quel petit morceau change la catégorie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Quatre catégories, quatre rôles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1691640"/>
            <a:ext cx="6349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915119" y="1691640"/>
            <a:ext cx="1551174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15119" y="1691640"/>
            <a:ext cx="15511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nieuwe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549359" y="2404872"/>
            <a:ext cx="22826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adjectif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557733" y="1691640"/>
            <a:ext cx="1742890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57733" y="1691640"/>
            <a:ext cx="17428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3191973" y="2404872"/>
            <a:ext cx="24744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nom · sujet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92063" y="1691640"/>
            <a:ext cx="1359457" cy="65836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92063" y="1691640"/>
            <a:ext cx="135945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werkt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6303" y="2404872"/>
            <a:ext cx="2090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verbe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960" y="1691640"/>
            <a:ext cx="1167740" cy="658368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42960" y="1691640"/>
            <a:ext cx="11677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snel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477200" y="2404872"/>
            <a:ext cx="18992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adverbe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02140" y="1691640"/>
            <a:ext cx="806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aan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8999715" y="1691640"/>
            <a:ext cx="2701474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99715" y="1691640"/>
            <a:ext cx="27014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het rapport.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633955" y="2404872"/>
            <a:ext cx="34329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nom · complément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8640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NOM</a:t>
            </a:r>
            <a:endParaRPr lang="en-US" sz="1600" dirty="0"/>
          </a:p>
        </p:txBody>
      </p:sp>
      <p:pic>
        <p:nvPicPr>
          <p:cNvPr id="2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624" y="3547872"/>
            <a:ext cx="640080" cy="64008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58368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 / het devant · un pluriel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collega · het rapport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658368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sujet ou complément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355848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355848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55848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VERBE</a:t>
            </a:r>
            <a:endParaRPr lang="en-US" sz="1600" dirty="0"/>
          </a:p>
        </p:txBody>
      </p:sp>
      <p:pic>
        <p:nvPicPr>
          <p:cNvPr id="3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3547872"/>
            <a:ext cx="640080" cy="64008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3465576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se conjugue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3465576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· hij werkte</a:t>
            </a:r>
            <a:endParaRPr lang="en-US" sz="1400" dirty="0"/>
          </a:p>
        </p:txBody>
      </p:sp>
      <p:sp>
        <p:nvSpPr>
          <p:cNvPr id="35" name="Text 30"/>
          <p:cNvSpPr txBox="1"/>
          <p:nvPr/>
        </p:nvSpPr>
        <p:spPr>
          <a:xfrm>
            <a:off x="3465576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cœur de la phrase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163056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163056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63056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ADJECTIF</a:t>
            </a:r>
            <a:endParaRPr lang="en-US" sz="1600" dirty="0"/>
          </a:p>
        </p:txBody>
      </p:sp>
      <p:pic>
        <p:nvPicPr>
          <p:cNvPr id="39" name="Image 2" descr="artist pal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547872"/>
            <a:ext cx="640080" cy="64008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272784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avant le nom (+ e) ou après zijn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272784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nieuwe collega · Ze is nieuw.</a:t>
            </a:r>
            <a:endParaRPr lang="en-US" sz="1400" dirty="0"/>
          </a:p>
        </p:txBody>
      </p:sp>
      <p:sp>
        <p:nvSpPr>
          <p:cNvPr id="42" name="Text 36"/>
          <p:cNvSpPr txBox="1"/>
          <p:nvPr/>
        </p:nvSpPr>
        <p:spPr>
          <a:xfrm>
            <a:off x="6272784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décrit un nom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8970264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8970264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8970264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ADVERBE</a:t>
            </a:r>
            <a:endParaRPr lang="en-US" sz="1600" dirty="0"/>
          </a:p>
        </p:txBody>
      </p:sp>
      <p:pic>
        <p:nvPicPr>
          <p:cNvPr id="46" name="Image 3" descr="stopwat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8" y="3547872"/>
            <a:ext cx="640080" cy="64008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079992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dit comment, quand, où</a:t>
            </a:r>
            <a:endParaRPr lang="en-US" sz="1300" dirty="0"/>
          </a:p>
        </p:txBody>
      </p:sp>
      <p:sp>
        <p:nvSpPr>
          <p:cNvPr id="48" name="Text 41"/>
          <p:cNvSpPr txBox="1"/>
          <p:nvPr/>
        </p:nvSpPr>
        <p:spPr>
          <a:xfrm>
            <a:off x="9079992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werkt snel.</a:t>
            </a:r>
            <a:endParaRPr lang="en-US" sz="1400" dirty="0"/>
          </a:p>
        </p:txBody>
      </p:sp>
      <p:sp>
        <p:nvSpPr>
          <p:cNvPr id="49" name="Text 42"/>
          <p:cNvSpPr txBox="1"/>
          <p:nvPr/>
        </p:nvSpPr>
        <p:spPr>
          <a:xfrm>
            <a:off x="9079992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décrit un verbe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Dériver = changer la </a:t>
            </a:r>
            <a:r>
              <a:rPr lang="en-US" sz="1700" b="1" dirty="0">
                <a:solidFill>
                  <a:schemeClr val="bg1"/>
                </a:solidFill>
              </a:rPr>
              <a:t>catégorie</a:t>
            </a:r>
            <a:r>
              <a:rPr lang="en-US" sz="1700" dirty="0">
                <a:solidFill>
                  <a:schemeClr val="bg1"/>
                </a:solidFill>
              </a:rPr>
              <a:t> d’un mot… donc son </a:t>
            </a:r>
            <a:r>
              <a:rPr lang="en-US" sz="1700" b="1" dirty="0">
                <a:solidFill>
                  <a:schemeClr val="bg1"/>
                </a:solidFill>
              </a:rPr>
              <a:t>rôle</a:t>
            </a:r>
            <a:r>
              <a:rPr lang="en-US" sz="1700" dirty="0">
                <a:solidFill>
                  <a:schemeClr val="bg1"/>
                </a:solidFill>
              </a:rPr>
              <a:t> dans la phrase.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carrefour des catégories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V="1">
            <a:off x="3365846" y="2617348"/>
            <a:ext cx="2309058" cy="1718821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 flipH="1">
            <a:off x="3249641" y="2384670"/>
            <a:ext cx="2309058" cy="1718821"/>
          </a:xfrm>
          <a:prstGeom prst="line">
            <a:avLst/>
          </a:prstGeom>
          <a:noFill/>
          <a:ln w="381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6467037" y="2591069"/>
            <a:ext cx="2292675" cy="171626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H="1" flipV="1">
            <a:off x="6657072" y="2413503"/>
            <a:ext cx="2292675" cy="1716268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01568" y="4700016"/>
            <a:ext cx="531266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 flipH="1">
            <a:off x="3447288" y="4443984"/>
            <a:ext cx="5312664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522976" y="1581912"/>
            <a:ext cx="1133856" cy="1133856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40096" y="194767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NOM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267712" y="4005072"/>
            <a:ext cx="1133856" cy="1133856"/>
          </a:xfrm>
          <a:prstGeom prst="ellipse">
            <a:avLst/>
          </a:prstGeom>
          <a:solidFill>
            <a:schemeClr val="accent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84832" y="437083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VERBE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759952" y="4005072"/>
            <a:ext cx="1133856" cy="1133856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77072" y="437083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ADJECTIF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808208" y="4160520"/>
            <a:ext cx="822960" cy="822960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25328" y="4370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ADVERBE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893808" y="429768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=</a:t>
            </a:r>
            <a:endParaRPr lang="en-US" sz="2800" dirty="0"/>
          </a:p>
        </p:txBody>
      </p:sp>
      <p:pic>
        <p:nvPicPr>
          <p:cNvPr id="20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154680"/>
            <a:ext cx="841248" cy="8412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37760" y="40050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le suffixe décide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141732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8580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3227"/>
                </a:solidFill>
              </a:rPr>
              <a:t>VERBE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A6FB0"/>
                </a:solidFill>
              </a:rPr>
              <a:t>NOM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" y="176479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het + inf. · radical · -ing · -er · -atie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548640" y="246888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85800" y="2514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6FB0"/>
                </a:solidFill>
              </a:rPr>
              <a:t>NOM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B83227"/>
                </a:solidFill>
              </a:rPr>
              <a:t>VERBE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85800" y="28163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+ -en · -eren · be-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1417320"/>
            <a:ext cx="35478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8229600" y="1463040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A6FB0"/>
                </a:solidFill>
              </a:rPr>
              <a:t>NOM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8229600" y="1764792"/>
            <a:ext cx="3273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-heid · -te · -iteit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8366760" y="2468880"/>
            <a:ext cx="327355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8503920" y="25146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6FB0"/>
                </a:solidFill>
              </a:rPr>
              <a:t>NOM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D9700F"/>
                </a:solidFill>
              </a:rPr>
              <a:t>ADJECTIF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8503920" y="2816352"/>
            <a:ext cx="2999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-ig · -lijk · -isch · -loos · -en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3429000" y="53035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3566160" y="5349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3227"/>
                </a:solidFill>
              </a:rPr>
              <a:t>VERBE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D9700F"/>
                </a:solidFill>
              </a:rPr>
              <a:t>ADJECTIF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3566160" y="565099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-baar · -end · participe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6355080" y="53035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492240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B83227"/>
                </a:solidFill>
              </a:rPr>
              <a:t>VERBE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65099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ver- … -en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9098280" y="5303520"/>
            <a:ext cx="254203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9235440" y="5349240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E7D4F"/>
                </a:solidFill>
              </a:rPr>
              <a:t>ADVERBE</a:t>
            </a:r>
            <a:endParaRPr lang="en-US" sz="1800" dirty="0"/>
          </a:p>
        </p:txBody>
      </p:sp>
      <p:sp>
        <p:nvSpPr>
          <p:cNvPr id="42" name="Text 38"/>
          <p:cNvSpPr txBox="1"/>
          <p:nvPr/>
        </p:nvSpPr>
        <p:spPr>
          <a:xfrm>
            <a:off x="9235440" y="5650992"/>
            <a:ext cx="2267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= rien ne change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Préfixe + racine + suffixe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pic>
        <p:nvPicPr>
          <p:cNvPr id="5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77240" cy="777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691640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116814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508760" y="155448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508760" y="155448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on-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2766038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91212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83158" y="155448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83158" y="155448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be-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3840436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41351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657556" y="1554480"/>
            <a:ext cx="1195274" cy="658368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657556" y="155448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reik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5090575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867229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07695" y="155448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07695" y="155448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-baar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25013" y="15544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23" name="Shape 19"/>
          <p:cNvSpPr/>
          <p:nvPr/>
        </p:nvSpPr>
        <p:spPr>
          <a:xfrm>
            <a:off x="7065093" y="1591056"/>
            <a:ext cx="2318041" cy="585216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065093" y="1591056"/>
            <a:ext cx="231804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onbereikbaar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9566014" y="1554480"/>
            <a:ext cx="20742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adjectif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« injoignable, inaccessible »</a:t>
            </a:r>
            <a:endParaRPr lang="en-US" sz="1400" dirty="0"/>
          </a:p>
        </p:txBody>
      </p:sp>
      <p:pic>
        <p:nvPicPr>
          <p:cNvPr id="26" name="Image 1" descr="chart increa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777240" cy="77724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691640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292554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508760" y="2743200"/>
            <a:ext cx="119527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508760" y="274320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ver-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2941778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718433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2758898" y="2743200"/>
            <a:ext cx="1371015" cy="658368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2758898" y="274320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groot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367657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792831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4184777" y="274320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4184777" y="274320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-en</a:t>
            </a:r>
            <a:endParaRPr lang="en-US" sz="2200" dirty="0"/>
          </a:p>
        </p:txBody>
      </p:sp>
      <p:sp>
        <p:nvSpPr>
          <p:cNvPr id="39" name="Text 34"/>
          <p:cNvSpPr txBox="1"/>
          <p:nvPr/>
        </p:nvSpPr>
        <p:spPr>
          <a:xfrm>
            <a:off x="5350615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40" name="Shape 35"/>
          <p:cNvSpPr/>
          <p:nvPr/>
        </p:nvSpPr>
        <p:spPr>
          <a:xfrm>
            <a:off x="5990695" y="2779776"/>
            <a:ext cx="1838749" cy="585216"/>
          </a:xfrm>
          <a:prstGeom prst="roundRect">
            <a:avLst>
              <a:gd name="adj" fmla="val 1875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90695" y="2779776"/>
            <a:ext cx="183874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vergroten</a:t>
            </a:r>
            <a:endParaRPr lang="en-US" sz="2000" dirty="0"/>
          </a:p>
        </p:txBody>
      </p:sp>
      <p:sp>
        <p:nvSpPr>
          <p:cNvPr id="42" name="Text 37"/>
          <p:cNvSpPr txBox="1"/>
          <p:nvPr/>
        </p:nvSpPr>
        <p:spPr>
          <a:xfrm>
            <a:off x="8012324" y="2743200"/>
            <a:ext cx="36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verbe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agrandir »</a:t>
            </a:r>
            <a:endParaRPr lang="en-US" sz="1400" dirty="0"/>
          </a:p>
        </p:txBody>
      </p:sp>
      <p:pic>
        <p:nvPicPr>
          <p:cNvPr id="43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777240" cy="777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1691640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2292554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1508760" y="3931920"/>
            <a:ext cx="1195274" cy="658368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1508760" y="393192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</a:t>
            </a:r>
            <a:endParaRPr lang="en-US" sz="2200" dirty="0"/>
          </a:p>
        </p:txBody>
      </p:sp>
      <p:sp>
        <p:nvSpPr>
          <p:cNvPr id="48" name="Shape 42"/>
          <p:cNvSpPr/>
          <p:nvPr/>
        </p:nvSpPr>
        <p:spPr>
          <a:xfrm>
            <a:off x="2941778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3718433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2758898" y="393192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758898" y="393192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-loos</a:t>
            </a:r>
            <a:endParaRPr lang="en-US" sz="2200" dirty="0"/>
          </a:p>
        </p:txBody>
      </p:sp>
      <p:sp>
        <p:nvSpPr>
          <p:cNvPr id="52" name="Shape 46"/>
          <p:cNvSpPr/>
          <p:nvPr/>
        </p:nvSpPr>
        <p:spPr>
          <a:xfrm>
            <a:off x="4367657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5144312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184777" y="393192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4184777" y="393192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-heid</a:t>
            </a:r>
            <a:endParaRPr lang="en-US" sz="2200" dirty="0"/>
          </a:p>
        </p:txBody>
      </p:sp>
      <p:sp>
        <p:nvSpPr>
          <p:cNvPr id="56" name="Text 50"/>
          <p:cNvSpPr txBox="1"/>
          <p:nvPr/>
        </p:nvSpPr>
        <p:spPr>
          <a:xfrm>
            <a:off x="5702096" y="39319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57" name="Shape 51"/>
          <p:cNvSpPr/>
          <p:nvPr/>
        </p:nvSpPr>
        <p:spPr>
          <a:xfrm>
            <a:off x="6342176" y="3968496"/>
            <a:ext cx="2797332" cy="585216"/>
          </a:xfrm>
          <a:prstGeom prst="roundRect">
            <a:avLst>
              <a:gd name="adj" fmla="val 1875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342176" y="3968496"/>
            <a:ext cx="27973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de werkloosheid</a:t>
            </a:r>
            <a:endParaRPr lang="en-US" sz="2000" dirty="0"/>
          </a:p>
        </p:txBody>
      </p:sp>
      <p:sp>
        <p:nvSpPr>
          <p:cNvPr id="59" name="Text 53"/>
          <p:cNvSpPr txBox="1"/>
          <p:nvPr/>
        </p:nvSpPr>
        <p:spPr>
          <a:xfrm>
            <a:off x="9322388" y="3931920"/>
            <a:ext cx="23179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nom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« le chômage »</a:t>
            </a:r>
            <a:endParaRPr lang="en-US" sz="1400" dirty="0"/>
          </a:p>
        </p:txBody>
      </p:sp>
      <p:sp>
        <p:nvSpPr>
          <p:cNvPr id="60" name="Shape 54"/>
          <p:cNvSpPr/>
          <p:nvPr/>
        </p:nvSpPr>
        <p:spPr>
          <a:xfrm>
            <a:off x="548640" y="5029200"/>
            <a:ext cx="228600" cy="228600"/>
          </a:xfrm>
          <a:prstGeom prst="roundRect">
            <a:avLst>
              <a:gd name="adj" fmla="val 16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914400" y="493776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</a:t>
            </a:r>
            <a:r>
              <a:rPr lang="en-US" sz="1500" b="1" dirty="0">
                <a:solidFill>
                  <a:schemeClr val="tx1"/>
                </a:solidFill>
              </a:rPr>
              <a:t>préfixe</a:t>
            </a:r>
            <a:r>
              <a:rPr lang="en-US" sz="1500" dirty="0">
                <a:solidFill>
                  <a:schemeClr val="tx1"/>
                </a:solidFill>
              </a:rPr>
              <a:t> (à gauche) change le </a:t>
            </a:r>
            <a:r>
              <a:rPr lang="en-US" sz="1500" b="1" dirty="0">
                <a:solidFill>
                  <a:schemeClr val="tx1"/>
                </a:solidFill>
              </a:rPr>
              <a:t>sens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on-</a:t>
            </a:r>
            <a:r>
              <a:rPr lang="en-US" sz="1500" dirty="0">
                <a:solidFill>
                  <a:schemeClr val="tx1"/>
                </a:solidFill>
              </a:rPr>
              <a:t> = le contraire, </a:t>
            </a:r>
            <a:r>
              <a:rPr lang="en-US" sz="1500" i="1" dirty="0">
                <a:solidFill>
                  <a:schemeClr val="tx1"/>
                </a:solidFill>
              </a:rPr>
              <a:t>ver-</a:t>
            </a:r>
            <a:r>
              <a:rPr lang="en-US" sz="1500" dirty="0">
                <a:solidFill>
                  <a:schemeClr val="tx1"/>
                </a:solidFill>
              </a:rPr>
              <a:t> = rendre…</a:t>
            </a:r>
            <a:endParaRPr lang="en-US" sz="1500" dirty="0"/>
          </a:p>
        </p:txBody>
      </p:sp>
      <p:sp>
        <p:nvSpPr>
          <p:cNvPr id="62" name="Shape 56"/>
          <p:cNvSpPr/>
          <p:nvPr/>
        </p:nvSpPr>
        <p:spPr>
          <a:xfrm>
            <a:off x="548640" y="5440680"/>
            <a:ext cx="228600" cy="2286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914400" y="53492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 </a:t>
            </a:r>
            <a:r>
              <a:rPr lang="en-US" sz="1500" b="1" dirty="0">
                <a:solidFill>
                  <a:schemeClr val="tx1"/>
                </a:solidFill>
              </a:rPr>
              <a:t>racine</a:t>
            </a:r>
            <a:r>
              <a:rPr lang="en-US" sz="1500" dirty="0">
                <a:solidFill>
                  <a:schemeClr val="tx1"/>
                </a:solidFill>
              </a:rPr>
              <a:t> porte l’idée : </a:t>
            </a:r>
            <a:r>
              <a:rPr lang="en-US" sz="1500" i="1" dirty="0">
                <a:solidFill>
                  <a:schemeClr val="tx1"/>
                </a:solidFill>
              </a:rPr>
              <a:t>reik</a:t>
            </a:r>
            <a:r>
              <a:rPr lang="en-US" sz="1500" dirty="0">
                <a:solidFill>
                  <a:schemeClr val="tx1"/>
                </a:solidFill>
              </a:rPr>
              <a:t> (bereiken), </a:t>
            </a:r>
            <a:r>
              <a:rPr lang="en-US" sz="1500" i="1" dirty="0">
                <a:solidFill>
                  <a:schemeClr val="tx1"/>
                </a:solidFill>
              </a:rPr>
              <a:t>groot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i="1" dirty="0">
                <a:solidFill>
                  <a:schemeClr val="tx1"/>
                </a:solidFill>
              </a:rPr>
              <a:t>werk</a:t>
            </a:r>
            <a:endParaRPr lang="en-US" sz="1500" dirty="0"/>
          </a:p>
        </p:txBody>
      </p:sp>
      <p:sp>
        <p:nvSpPr>
          <p:cNvPr id="64" name="Shape 58"/>
          <p:cNvSpPr/>
          <p:nvPr/>
        </p:nvSpPr>
        <p:spPr>
          <a:xfrm>
            <a:off x="548640" y="5852160"/>
            <a:ext cx="228600" cy="228600"/>
          </a:xfrm>
          <a:prstGeom prst="roundRect">
            <a:avLst>
              <a:gd name="adj" fmla="val 16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914400" y="57607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</a:t>
            </a:r>
            <a:r>
              <a:rPr lang="en-US" sz="1500" b="1" dirty="0">
                <a:solidFill>
                  <a:schemeClr val="tx1"/>
                </a:solidFill>
              </a:rPr>
              <a:t>suffixe</a:t>
            </a:r>
            <a:r>
              <a:rPr lang="en-US" sz="1500" dirty="0">
                <a:solidFill>
                  <a:schemeClr val="tx1"/>
                </a:solidFill>
              </a:rPr>
              <a:t> (à droite) décide la </a:t>
            </a:r>
            <a:r>
              <a:rPr lang="en-US" sz="1500" b="1" dirty="0">
                <a:solidFill>
                  <a:schemeClr val="tx1"/>
                </a:solidFill>
              </a:rPr>
              <a:t>catégorie</a:t>
            </a:r>
            <a:r>
              <a:rPr lang="en-US" sz="1500" dirty="0">
                <a:solidFill>
                  <a:schemeClr val="tx1"/>
                </a:solidFill>
              </a:rPr>
              <a:t> et l’</a:t>
            </a:r>
            <a:r>
              <a:rPr lang="en-US" sz="1500" b="1" dirty="0">
                <a:solidFill>
                  <a:schemeClr val="tx1"/>
                </a:solidFill>
              </a:rPr>
              <a:t>article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-baar</a:t>
            </a:r>
            <a:r>
              <a:rPr lang="en-US" sz="1500" dirty="0">
                <a:solidFill>
                  <a:schemeClr val="tx1"/>
                </a:solidFill>
              </a:rPr>
              <a:t> → adjectif, </a:t>
            </a:r>
            <a:r>
              <a:rPr lang="en-US" sz="1500" i="1" dirty="0">
                <a:solidFill>
                  <a:schemeClr val="tx1"/>
                </a:solidFill>
              </a:rPr>
              <a:t>-heid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i="1" dirty="0">
                <a:solidFill>
                  <a:schemeClr val="tx1"/>
                </a:solidFill>
              </a:rPr>
              <a:t>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L’action : het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40080" cy="6400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325880" y="15087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32588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roken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1508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19" name="Shape 15"/>
          <p:cNvSpPr/>
          <p:nvPr/>
        </p:nvSpPr>
        <p:spPr>
          <a:xfrm>
            <a:off x="3383280" y="150876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38328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roken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15087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roken is hier verboden.</a:t>
            </a:r>
            <a:endParaRPr lang="en-US" sz="1700" dirty="0"/>
          </a:p>
        </p:txBody>
      </p:sp>
      <p:pic>
        <p:nvPicPr>
          <p:cNvPr id="22" name="Image 1" descr="credit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" cy="6400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132588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3258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betalen</a:t>
            </a:r>
            <a:endParaRPr lang="en-US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288036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26" name="Shape 21"/>
          <p:cNvSpPr/>
          <p:nvPr/>
        </p:nvSpPr>
        <p:spPr>
          <a:xfrm>
            <a:off x="3383280" y="237744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38328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betalen</a:t>
            </a:r>
            <a:endParaRPr lang="en-US" sz="1900" dirty="0"/>
          </a:p>
        </p:txBody>
      </p:sp>
      <p:sp>
        <p:nvSpPr>
          <p:cNvPr id="28" name="Text 23"/>
          <p:cNvSpPr txBox="1"/>
          <p:nvPr/>
        </p:nvSpPr>
        <p:spPr>
          <a:xfrm>
            <a:off x="5440680" y="2377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betalen kan met de kaart.</a:t>
            </a:r>
            <a:endParaRPr lang="en-US" sz="1700" dirty="0"/>
          </a:p>
        </p:txBody>
      </p:sp>
      <p:pic>
        <p:nvPicPr>
          <p:cNvPr id="29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640080" cy="64008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325880" y="324612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32588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leren</a:t>
            </a:r>
            <a:endParaRPr lang="en-US" sz="1900" dirty="0"/>
          </a:p>
        </p:txBody>
      </p:sp>
      <p:sp>
        <p:nvSpPr>
          <p:cNvPr id="32" name="Text 26"/>
          <p:cNvSpPr txBox="1"/>
          <p:nvPr/>
        </p:nvSpPr>
        <p:spPr>
          <a:xfrm>
            <a:off x="2880360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33" name="Shape 27"/>
          <p:cNvSpPr/>
          <p:nvPr/>
        </p:nvSpPr>
        <p:spPr>
          <a:xfrm>
            <a:off x="3383280" y="324612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38328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leren</a:t>
            </a:r>
            <a:endParaRPr lang="en-US" sz="1900" dirty="0"/>
          </a:p>
        </p:txBody>
      </p:sp>
      <p:sp>
        <p:nvSpPr>
          <p:cNvPr id="35" name="Text 29"/>
          <p:cNvSpPr txBox="1"/>
          <p:nvPr/>
        </p:nvSpPr>
        <p:spPr>
          <a:xfrm>
            <a:off x="5440680" y="32461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leren van een taal kost tijd.</a:t>
            </a:r>
            <a:endParaRPr lang="en-US" sz="1700" dirty="0"/>
          </a:p>
        </p:txBody>
      </p:sp>
      <p:sp>
        <p:nvSpPr>
          <p:cNvPr id="36" name="Shape 30"/>
          <p:cNvSpPr/>
          <p:nvPr/>
        </p:nvSpPr>
        <p:spPr>
          <a:xfrm>
            <a:off x="548640" y="416052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31520" y="42336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731520" y="463600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toujours possible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dirty="0">
                <a:solidFill>
                  <a:schemeClr val="tx1"/>
                </a:solidFill>
              </a:rPr>
              <a:t>toujours het</a:t>
            </a:r>
            <a:r>
              <a:rPr lang="en-US" sz="1400" dirty="0">
                <a:solidFill>
                  <a:schemeClr val="tx1"/>
                </a:solidFill>
              </a:rPr>
              <a:t> · pas de pluriel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« le fait de… » : </a:t>
            </a:r>
            <a:r>
              <a:rPr lang="en-US" sz="1400" i="1" dirty="0">
                <a:solidFill>
                  <a:schemeClr val="tx1"/>
                </a:solidFill>
              </a:rPr>
              <a:t>het roken</a:t>
            </a:r>
            <a:r>
              <a:rPr lang="en-US" sz="1400" dirty="0">
                <a:solidFill>
                  <a:schemeClr val="tx1"/>
                </a:solidFill>
              </a:rPr>
              <a:t> = le fait de fumer</a:t>
            </a:r>
            <a:endParaRPr lang="en-US" sz="1400" dirty="0"/>
          </a:p>
        </p:txBody>
      </p:sp>
      <p:sp>
        <p:nvSpPr>
          <p:cNvPr id="39" name="Shape 33"/>
          <p:cNvSpPr/>
          <p:nvPr/>
        </p:nvSpPr>
        <p:spPr>
          <a:xfrm>
            <a:off x="6172200" y="4160520"/>
            <a:ext cx="5468112" cy="1417320"/>
          </a:xfrm>
          <a:prstGeom prst="roundRect">
            <a:avLst>
              <a:gd name="adj" fmla="val 7742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355080" y="4233672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+ het ge- + radical : l’action qui dure, se répète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6355080" y="4636008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praten → </a:t>
            </a:r>
            <a:r>
              <a:rPr lang="en-US" sz="1500" b="1" i="1" dirty="0">
                <a:solidFill>
                  <a:schemeClr val="tx1"/>
                </a:solidFill>
              </a:rPr>
              <a:t>het gepraat</a:t>
            </a:r>
            <a:r>
              <a:rPr lang="en-US" sz="1500" i="1" dirty="0">
                <a:solidFill>
                  <a:schemeClr val="tx1"/>
                </a:solidFill>
              </a:rPr>
              <a:t> · lachen → </a:t>
            </a:r>
            <a:r>
              <a:rPr lang="en-US" sz="1500" b="1" i="1" dirty="0">
                <a:solidFill>
                  <a:schemeClr val="tx1"/>
                </a:solidFill>
              </a:rPr>
              <a:t>het gelach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zoeken → </a:t>
            </a:r>
            <a:r>
              <a:rPr lang="en-US" sz="1500" b="1" i="1" dirty="0">
                <a:solidFill>
                  <a:schemeClr val="tx1"/>
                </a:solidFill>
              </a:rPr>
              <a:t>het gezoek</a:t>
            </a:r>
            <a:r>
              <a:rPr lang="en-US" sz="1500" dirty="0">
                <a:solidFill>
                  <a:schemeClr val="tx1"/>
                </a:solidFill>
              </a:rPr>
              <a:t> · souvent agaçant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À l’écrit (panneaux, règlements) : </a:t>
            </a:r>
            <a:r>
              <a:rPr lang="en-US" sz="1600" b="1" i="1" dirty="0">
                <a:solidFill>
                  <a:schemeClr val="bg1"/>
                </a:solidFill>
              </a:rPr>
              <a:t>Het</a:t>
            </a:r>
            <a:r>
              <a:rPr lang="en-US" sz="1600" i="1" dirty="0">
                <a:solidFill>
                  <a:schemeClr val="bg1"/>
                </a:solidFill>
              </a:rPr>
              <a:t> parkeren is verboden. · </a:t>
            </a:r>
            <a:r>
              <a:rPr lang="en-US" sz="1600" b="1" i="1" dirty="0">
                <a:solidFill>
                  <a:schemeClr val="bg1"/>
                </a:solidFill>
              </a:rPr>
              <a:t>Het</a:t>
            </a:r>
            <a:r>
              <a:rPr lang="en-US" sz="1600" i="1" dirty="0">
                <a:solidFill>
                  <a:schemeClr val="bg1"/>
                </a:solidFill>
              </a:rPr>
              <a:t> betreden van het gras…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-ing = de …ing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481328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4813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191256" y="148132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3483864" y="1481328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83864" y="1481328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306824" y="148132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4809744" y="1481328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9744" y="1481328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809744" y="19751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la réunion »</a:t>
            </a:r>
            <a:endParaRPr lang="en-US" sz="1150" dirty="0"/>
          </a:p>
        </p:txBody>
      </p:sp>
      <p:pic>
        <p:nvPicPr>
          <p:cNvPr id="25" name="Image 1" descr="credit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85416"/>
            <a:ext cx="585216" cy="58521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271016" y="2231136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271016" y="223113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betalen</a:t>
            </a:r>
            <a:endParaRPr lang="en-US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3191256" y="223113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3483864" y="2231136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483864" y="22311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4306824" y="223113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4809744" y="2231136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809744" y="223113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4809744" y="27249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le paiement »</a:t>
            </a:r>
            <a:endParaRPr lang="en-US" sz="1150" dirty="0"/>
          </a:p>
        </p:txBody>
      </p:sp>
      <p:pic>
        <p:nvPicPr>
          <p:cNvPr id="35" name="Image 2" descr="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35224"/>
            <a:ext cx="585216" cy="585216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271016" y="2980944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271016" y="298094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verwarmen</a:t>
            </a:r>
            <a:endParaRPr lang="en-US" sz="1700" dirty="0"/>
          </a:p>
        </p:txBody>
      </p:sp>
      <p:sp>
        <p:nvSpPr>
          <p:cNvPr id="38" name="Text 32"/>
          <p:cNvSpPr txBox="1"/>
          <p:nvPr/>
        </p:nvSpPr>
        <p:spPr>
          <a:xfrm>
            <a:off x="3191256" y="298094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39" name="Shape 33"/>
          <p:cNvSpPr/>
          <p:nvPr/>
        </p:nvSpPr>
        <p:spPr>
          <a:xfrm>
            <a:off x="3483864" y="2980944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483864" y="298094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41" name="Text 35"/>
          <p:cNvSpPr txBox="1"/>
          <p:nvPr/>
        </p:nvSpPr>
        <p:spPr>
          <a:xfrm>
            <a:off x="4306824" y="298094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2" name="Shape 36"/>
          <p:cNvSpPr/>
          <p:nvPr/>
        </p:nvSpPr>
        <p:spPr>
          <a:xfrm>
            <a:off x="4809744" y="2980944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809744" y="2980944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verwarming</a:t>
            </a:r>
            <a:endParaRPr lang="en-US" sz="1700" dirty="0"/>
          </a:p>
        </p:txBody>
      </p:sp>
      <p:sp>
        <p:nvSpPr>
          <p:cNvPr id="44" name="Text 38"/>
          <p:cNvSpPr txBox="1"/>
          <p:nvPr/>
        </p:nvSpPr>
        <p:spPr>
          <a:xfrm>
            <a:off x="4809744" y="3474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le chauffage »</a:t>
            </a:r>
            <a:endParaRPr lang="en-US" sz="1150" dirty="0"/>
          </a:p>
        </p:txBody>
      </p:sp>
      <p:pic>
        <p:nvPicPr>
          <p:cNvPr id="45" name="Image 3" descr="envelope with 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5032"/>
            <a:ext cx="585216" cy="585216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1271016" y="3730752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1271016" y="373075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uitnodigen</a:t>
            </a:r>
            <a:endParaRPr lang="en-US" sz="1700" dirty="0"/>
          </a:p>
        </p:txBody>
      </p:sp>
      <p:sp>
        <p:nvSpPr>
          <p:cNvPr id="48" name="Text 41"/>
          <p:cNvSpPr txBox="1"/>
          <p:nvPr/>
        </p:nvSpPr>
        <p:spPr>
          <a:xfrm>
            <a:off x="3191256" y="373075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49" name="Shape 42"/>
          <p:cNvSpPr/>
          <p:nvPr/>
        </p:nvSpPr>
        <p:spPr>
          <a:xfrm>
            <a:off x="3483864" y="3730752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483864" y="373075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51" name="Text 44"/>
          <p:cNvSpPr txBox="1"/>
          <p:nvPr/>
        </p:nvSpPr>
        <p:spPr>
          <a:xfrm>
            <a:off x="4306824" y="373075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52" name="Shape 45"/>
          <p:cNvSpPr/>
          <p:nvPr/>
        </p:nvSpPr>
        <p:spPr>
          <a:xfrm>
            <a:off x="4809744" y="3730752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809744" y="373075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uitnodiging</a:t>
            </a:r>
            <a:endParaRPr lang="en-US" sz="1700" dirty="0"/>
          </a:p>
        </p:txBody>
      </p:sp>
      <p:sp>
        <p:nvSpPr>
          <p:cNvPr id="54" name="Text 47"/>
          <p:cNvSpPr txBox="1"/>
          <p:nvPr/>
        </p:nvSpPr>
        <p:spPr>
          <a:xfrm>
            <a:off x="4809744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l’invitation »</a:t>
            </a:r>
            <a:endParaRPr lang="en-US" sz="1150" dirty="0"/>
          </a:p>
        </p:txBody>
      </p:sp>
      <p:sp>
        <p:nvSpPr>
          <p:cNvPr id="55" name="Shape 48"/>
          <p:cNvSpPr/>
          <p:nvPr/>
        </p:nvSpPr>
        <p:spPr>
          <a:xfrm>
            <a:off x="7589520" y="1463040"/>
            <a:ext cx="4050792" cy="2926080"/>
          </a:xfrm>
          <a:prstGeom prst="roundRect">
            <a:avLst>
              <a:gd name="adj" fmla="val 375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7772400" y="1536192"/>
            <a:ext cx="3685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Pas avec tous les verbes</a:t>
            </a:r>
            <a:endParaRPr lang="en-US" sz="1500" dirty="0"/>
          </a:p>
        </p:txBody>
      </p:sp>
      <p:sp>
        <p:nvSpPr>
          <p:cNvPr id="57" name="Text 50"/>
          <p:cNvSpPr txBox="1"/>
          <p:nvPr/>
        </p:nvSpPr>
        <p:spPr>
          <a:xfrm>
            <a:off x="7772400" y="1938528"/>
            <a:ext cx="3685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✗ </a:t>
            </a:r>
            <a:r>
              <a:rPr lang="en-US" sz="1450" i="1" dirty="0">
                <a:solidFill>
                  <a:schemeClr val="tx1"/>
                </a:solidFill>
              </a:rPr>
              <a:t>de eting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i="1" dirty="0">
                <a:solidFill>
                  <a:schemeClr val="tx1"/>
                </a:solidFill>
              </a:rPr>
              <a:t>het eten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✗ </a:t>
            </a:r>
            <a:r>
              <a:rPr lang="en-US" sz="1450" i="1" dirty="0">
                <a:solidFill>
                  <a:schemeClr val="tx1"/>
                </a:solidFill>
              </a:rPr>
              <a:t>de slaping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i="1" dirty="0">
                <a:solidFill>
                  <a:schemeClr val="tx1"/>
                </a:solidFill>
              </a:rPr>
              <a:t>de slaap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i="1" dirty="0">
                <a:solidFill>
                  <a:schemeClr val="tx1"/>
                </a:solidFill>
              </a:rPr>
              <a:t>de werking</a:t>
            </a:r>
            <a:r>
              <a:rPr lang="en-US" sz="1450" dirty="0">
                <a:solidFill>
                  <a:schemeClr val="tx1"/>
                </a:solidFill>
              </a:rPr>
              <a:t> = le fonctionnement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(le travail = </a:t>
            </a:r>
            <a:r>
              <a:rPr lang="en-US" sz="1450" i="1" dirty="0">
                <a:solidFill>
                  <a:schemeClr val="tx1"/>
                </a:solidFill>
              </a:rPr>
              <a:t>het werk</a:t>
            </a:r>
            <a:r>
              <a:rPr lang="en-US" sz="1450" dirty="0">
                <a:solidFill>
                  <a:schemeClr val="tx1"/>
                </a:solidFill>
              </a:rPr>
              <a:t>)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→ en cas de doute : </a:t>
            </a:r>
            <a:r>
              <a:rPr lang="en-US" sz="1450" i="1" dirty="0">
                <a:solidFill>
                  <a:schemeClr val="tx1"/>
                </a:solidFill>
              </a:rPr>
              <a:t>het</a:t>
            </a:r>
            <a:r>
              <a:rPr lang="en-US" sz="1450" dirty="0">
                <a:solidFill>
                  <a:schemeClr val="tx1"/>
                </a:solidFill>
              </a:rPr>
              <a:t> + infinitif</a:t>
            </a:r>
            <a:endParaRPr lang="en-US" sz="1450" dirty="0"/>
          </a:p>
        </p:txBody>
      </p:sp>
      <p:sp>
        <p:nvSpPr>
          <p:cNvPr id="58" name="Shape 51"/>
          <p:cNvSpPr/>
          <p:nvPr/>
        </p:nvSpPr>
        <p:spPr>
          <a:xfrm>
            <a:off x="548640" y="4526280"/>
            <a:ext cx="4206240" cy="1280160"/>
          </a:xfrm>
          <a:prstGeom prst="roundRect">
            <a:avLst>
              <a:gd name="adj" fmla="val 8571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731520" y="45994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0" name="Text 53"/>
          <p:cNvSpPr txBox="1"/>
          <p:nvPr/>
        </p:nvSpPr>
        <p:spPr>
          <a:xfrm>
            <a:off x="731520" y="5001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radical + </a:t>
            </a:r>
            <a:r>
              <a:rPr lang="en-US" sz="1350" i="1" dirty="0">
                <a:solidFill>
                  <a:schemeClr val="tx1"/>
                </a:solidFill>
              </a:rPr>
              <a:t>-ing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b="1" dirty="0">
                <a:solidFill>
                  <a:schemeClr val="tx1"/>
                </a:solidFill>
              </a:rPr>
              <a:t>toujours de</a:t>
            </a:r>
            <a:r>
              <a:rPr lang="en-US" sz="1350" dirty="0">
                <a:solidFill>
                  <a:schemeClr val="tx1"/>
                </a:solidFill>
              </a:rPr>
              <a:t> · pluriel </a:t>
            </a:r>
            <a:r>
              <a:rPr lang="en-US" sz="1350" i="1" dirty="0">
                <a:solidFill>
                  <a:schemeClr val="tx1"/>
                </a:solidFill>
              </a:rPr>
              <a:t>-en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surtout avec un préfixe ou une particule : </a:t>
            </a:r>
            <a:r>
              <a:rPr lang="en-US" sz="1350" i="1" dirty="0">
                <a:solidFill>
                  <a:schemeClr val="tx1"/>
                </a:solidFill>
              </a:rPr>
              <a:t>be-, ver-, uit-, op-…</a:t>
            </a:r>
            <a:endParaRPr lang="en-US" sz="1350" dirty="0"/>
          </a:p>
        </p:txBody>
      </p:sp>
      <p:sp>
        <p:nvSpPr>
          <p:cNvPr id="61" name="Shape 54"/>
          <p:cNvSpPr/>
          <p:nvPr/>
        </p:nvSpPr>
        <p:spPr>
          <a:xfrm>
            <a:off x="4937760" y="4526280"/>
            <a:ext cx="6702552" cy="1280160"/>
          </a:xfrm>
          <a:prstGeom prst="roundRect">
            <a:avLst>
              <a:gd name="adj" fmla="val 857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5120640" y="4599432"/>
            <a:ext cx="6336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Le sens glisse parfois vers le résultat</a:t>
            </a:r>
            <a:endParaRPr lang="en-US" sz="1500" dirty="0"/>
          </a:p>
        </p:txBody>
      </p:sp>
      <p:sp>
        <p:nvSpPr>
          <p:cNvPr id="63" name="Text 56"/>
          <p:cNvSpPr txBox="1"/>
          <p:nvPr/>
        </p:nvSpPr>
        <p:spPr>
          <a:xfrm>
            <a:off x="5120640" y="5001768"/>
            <a:ext cx="6336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de lezing</a:t>
            </a:r>
            <a:r>
              <a:rPr lang="en-US" sz="1350" dirty="0">
                <a:solidFill>
                  <a:schemeClr val="tx1"/>
                </a:solidFill>
              </a:rPr>
              <a:t> = la </a:t>
            </a:r>
            <a:r>
              <a:rPr lang="en-US" sz="1350" b="1" dirty="0">
                <a:solidFill>
                  <a:schemeClr val="tx1"/>
                </a:solidFill>
              </a:rPr>
              <a:t>conférence</a:t>
            </a:r>
            <a:r>
              <a:rPr lang="en-US" sz="1350" dirty="0">
                <a:solidFill>
                  <a:schemeClr val="tx1"/>
                </a:solidFill>
              </a:rPr>
              <a:t> (la lecture = </a:t>
            </a:r>
            <a:r>
              <a:rPr lang="en-US" sz="1350" i="1" dirty="0">
                <a:solidFill>
                  <a:schemeClr val="tx1"/>
                </a:solidFill>
              </a:rPr>
              <a:t>het lezen</a:t>
            </a:r>
            <a:r>
              <a:rPr lang="en-US" sz="1350" dirty="0">
                <a:solidFill>
                  <a:schemeClr val="tx1"/>
                </a:solidFill>
              </a:rPr>
              <a:t>) · </a:t>
            </a:r>
            <a:r>
              <a:rPr lang="en-US" sz="1350" i="1" dirty="0">
                <a:solidFill>
                  <a:schemeClr val="tx1"/>
                </a:solidFill>
              </a:rPr>
              <a:t>de woning</a:t>
            </a:r>
            <a:r>
              <a:rPr lang="en-US" sz="1350" dirty="0">
                <a:solidFill>
                  <a:schemeClr val="tx1"/>
                </a:solidFill>
              </a:rPr>
              <a:t> = le logement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de regering</a:t>
            </a:r>
            <a:r>
              <a:rPr lang="en-US" sz="1350" dirty="0">
                <a:solidFill>
                  <a:schemeClr val="tx1"/>
                </a:solidFill>
              </a:rPr>
              <a:t> = le gouvernement · </a:t>
            </a:r>
            <a:r>
              <a:rPr lang="en-US" sz="1350" i="1" dirty="0">
                <a:solidFill>
                  <a:schemeClr val="tx1"/>
                </a:solidFill>
              </a:rPr>
              <a:t>de opleiding</a:t>
            </a:r>
            <a:r>
              <a:rPr lang="en-US" sz="1350" dirty="0">
                <a:solidFill>
                  <a:schemeClr val="tx1"/>
                </a:solidFill>
              </a:rPr>
              <a:t> = la formation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radical seul : de start, het begin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233172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1463040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 + radical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 cas fréquent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017520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063240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starten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108960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start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196078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241798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wensen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287518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87518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wens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374636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20356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vragen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466076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6076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vraag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9553194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9598914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groeien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644634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44634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groei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2487168"/>
            <a:ext cx="2331720" cy="932688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2487168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HET</a:t>
            </a:r>
            <a:r>
              <a:rPr lang="en-US" sz="1400" dirty="0">
                <a:solidFill>
                  <a:schemeClr val="bg1"/>
                </a:solidFill>
              </a:rPr>
              <a:t> + radical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avec </a:t>
            </a:r>
            <a:r>
              <a:rPr lang="en-US" sz="1400" dirty="0">
                <a:solidFill>
                  <a:schemeClr val="bg1"/>
                </a:solidFill>
              </a:rPr>
              <a:t>be-, ge-, ver-</a:t>
            </a:r>
            <a:r>
              <a:rPr lang="en-US" sz="1400" i="1" dirty="0">
                <a:solidFill>
                  <a:schemeClr val="bg1"/>
                </a:solidFill>
              </a:rPr>
              <a:t> (souvent)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3017520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3063240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beginnen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108960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08960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begin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5196078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241798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gebruiken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87518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287518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gebruik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7374636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7420356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vertrekken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7466076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466076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vertrek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9553194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9598914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bezoeken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9644634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644634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bezoek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3511296"/>
            <a:ext cx="2331720" cy="932688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85800" y="3511296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la voyelle change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à apprendre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3017520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3063240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springen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108960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108960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sprong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196078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5241798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grijpen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5287518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287518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greep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7374636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2" name="Text 59"/>
          <p:cNvSpPr txBox="1"/>
          <p:nvPr/>
        </p:nvSpPr>
        <p:spPr>
          <a:xfrm>
            <a:off x="7420356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spreken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7466076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466076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gesprek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9553194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6" name="Text 63"/>
          <p:cNvSpPr txBox="1"/>
          <p:nvPr/>
        </p:nvSpPr>
        <p:spPr>
          <a:xfrm>
            <a:off x="9598914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verbieden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9644634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9644634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verbod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48640" y="45720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31520" y="4645152"/>
            <a:ext cx="10725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 à retenir</a:t>
            </a:r>
            <a:endParaRPr lang="en-US" sz="1500" dirty="0"/>
          </a:p>
        </p:txBody>
      </p:sp>
      <p:sp>
        <p:nvSpPr>
          <p:cNvPr id="71" name="Text 68"/>
          <p:cNvSpPr txBox="1"/>
          <p:nvPr/>
        </p:nvSpPr>
        <p:spPr>
          <a:xfrm>
            <a:off x="731520" y="5047488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r>
              <a:rPr lang="en-US" sz="1400" dirty="0">
                <a:solidFill>
                  <a:schemeClr val="tx1"/>
                </a:solidFill>
              </a:rPr>
              <a:t> (verkopen) · </a:t>
            </a:r>
            <a:r>
              <a:rPr lang="en-US" sz="1400" b="1" i="1" dirty="0">
                <a:solidFill>
                  <a:schemeClr val="tx1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verhuis</a:t>
            </a:r>
            <a:r>
              <a:rPr lang="en-US" sz="1400" dirty="0">
                <a:solidFill>
                  <a:schemeClr val="tx1"/>
                </a:solidFill>
              </a:rPr>
              <a:t> (BE, verhuizen) · </a:t>
            </a:r>
            <a:r>
              <a:rPr lang="en-US" sz="1400" i="1" dirty="0">
                <a:solidFill>
                  <a:schemeClr val="tx1"/>
                </a:solidFill>
              </a:rPr>
              <a:t>het slot</a:t>
            </a:r>
            <a:r>
              <a:rPr lang="en-US" sz="1400" dirty="0">
                <a:solidFill>
                  <a:schemeClr val="tx1"/>
                </a:solidFill>
              </a:rPr>
              <a:t> (sluiten) · </a:t>
            </a:r>
            <a:r>
              <a:rPr lang="en-US" sz="1400" b="1" dirty="0">
                <a:solidFill>
                  <a:schemeClr val="tx1"/>
                </a:solidFill>
              </a:rPr>
              <a:t>het</a:t>
            </a:r>
            <a:r>
              <a:rPr lang="en-US" sz="1400" dirty="0">
                <a:solidFill>
                  <a:schemeClr val="tx1"/>
                </a:solidFill>
              </a:rPr>
              <a:t> sans préfixe : </a:t>
            </a:r>
            <a:r>
              <a:rPr lang="en-US" sz="1400" i="1" dirty="0">
                <a:solidFill>
                  <a:schemeClr val="tx1"/>
                </a:solidFill>
              </a:rPr>
              <a:t>het werk, het spel</a:t>
            </a:r>
            <a:r>
              <a:rPr lang="en-US" sz="1400" dirty="0">
                <a:solidFill>
                  <a:schemeClr val="tx1"/>
                </a:solidFill>
              </a:rPr>
              <a:t> : vérifiez au dictionnaire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6235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radical seul = </a:t>
            </a:r>
            <a:r>
              <a:rPr lang="en-US" sz="1600" b="1" dirty="0">
                <a:solidFill>
                  <a:schemeClr val="bg1"/>
                </a:solidFill>
              </a:rPr>
              <a:t>l’acte</a:t>
            </a:r>
            <a:r>
              <a:rPr lang="en-US" sz="1600" dirty="0">
                <a:solidFill>
                  <a:schemeClr val="bg1"/>
                </a:solidFill>
              </a:rPr>
              <a:t> ou </a:t>
            </a:r>
            <a:r>
              <a:rPr lang="en-US" sz="1600" b="1" dirty="0">
                <a:solidFill>
                  <a:schemeClr val="bg1"/>
                </a:solidFill>
              </a:rPr>
              <a:t>le résultat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i="1" dirty="0">
                <a:solidFill>
                  <a:schemeClr val="bg1"/>
                </a:solidFill>
              </a:rPr>
              <a:t>de start, het vertrek, de vraag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Qui fait l’action ? -er, -aar, -der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1536192"/>
            <a:ext cx="808271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1536192"/>
            <a:ext cx="8082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19385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E4A9E"/>
                </a:solidFill>
              </a:rPr>
              <a:t>le cas normal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017520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063240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werken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108960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8960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werker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96078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241798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spelen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287518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287518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speler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374636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20356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bakken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466076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66076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bakker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553194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598914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schrijven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9644634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4634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schrijver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48640" y="23774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85800" y="2450592"/>
            <a:ext cx="944070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2450592"/>
            <a:ext cx="9440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-aar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685800" y="2852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E4A9E"/>
                </a:solidFill>
              </a:rPr>
              <a:t>-el, -er, -en</a:t>
            </a:r>
            <a:r>
              <a:rPr lang="en-US" sz="1150" dirty="0">
                <a:solidFill>
                  <a:srgbClr val="6E4A9E"/>
                </a:solidFill>
              </a:rPr>
              <a:t> non accentué · ⚠ </a:t>
            </a:r>
            <a:r>
              <a:rPr lang="en-US" sz="1150" i="1" dirty="0">
                <a:solidFill>
                  <a:srgbClr val="6E4A9E"/>
                </a:solidFill>
              </a:rPr>
              <a:t>leraar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017520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3063240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wandelen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3108960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08960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wandelaar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196078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241798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luisteren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287518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87518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luisteraar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7374636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7420356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tekenen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7466076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466076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tekenaar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9553194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9598914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leren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9644634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644634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leraar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548640" y="32918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5800" y="3364992"/>
            <a:ext cx="944070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85800" y="3364992"/>
            <a:ext cx="9440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-der</a:t>
            </a:r>
            <a:endParaRPr lang="en-US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685800" y="3767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E4A9E"/>
                </a:solidFill>
              </a:rPr>
              <a:t>radical en </a:t>
            </a:r>
            <a:r>
              <a:rPr lang="en-US" sz="1150" i="1" dirty="0">
                <a:solidFill>
                  <a:srgbClr val="6E4A9E"/>
                </a:solidFill>
              </a:rPr>
              <a:t>-r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3017520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3063240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besturen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3108960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3108960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bestuurder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5196078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5241798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huren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5" name="Shape 62"/>
          <p:cNvSpPr/>
          <p:nvPr/>
        </p:nvSpPr>
        <p:spPr>
          <a:xfrm>
            <a:off x="5287518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287518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huurder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7374636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8" name="Text 65"/>
          <p:cNvSpPr txBox="1"/>
          <p:nvPr/>
        </p:nvSpPr>
        <p:spPr>
          <a:xfrm>
            <a:off x="7420356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bewaren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9" name="Shape 66"/>
          <p:cNvSpPr/>
          <p:nvPr/>
        </p:nvSpPr>
        <p:spPr>
          <a:xfrm>
            <a:off x="7466076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66076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bewaarder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548640" y="4297680"/>
            <a:ext cx="640080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31520" y="437083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Au féminin (si on le précise)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731520" y="47731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-ster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verkoopster, de schrijfster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-es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lerares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-in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vriendin</a:t>
            </a:r>
            <a:r>
              <a:rPr lang="en-US" sz="1400" dirty="0">
                <a:solidFill>
                  <a:schemeClr val="tx1"/>
                </a:solidFill>
              </a:rPr>
              <a:t> · souvent </a:t>
            </a:r>
            <a:r>
              <a:rPr lang="en-US" sz="1400" b="1" dirty="0">
                <a:solidFill>
                  <a:schemeClr val="tx1"/>
                </a:solidFill>
              </a:rPr>
              <a:t>la même forme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manager, de collega, de dokter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7178040" y="429768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F1F3F6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360920" y="4343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l’appareil : toujours -er</a:t>
            </a:r>
            <a:endParaRPr lang="en-US" sz="1500" dirty="0"/>
          </a:p>
        </p:txBody>
      </p:sp>
      <p:pic>
        <p:nvPicPr>
          <p:cNvPr id="76" name="Image 0" descr="prin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4709160"/>
            <a:ext cx="402336" cy="402336"/>
          </a:xfrm>
          <a:prstGeom prst="rect">
            <a:avLst/>
          </a:prstGeom>
        </p:spPr>
      </p:pic>
      <p:sp>
        <p:nvSpPr>
          <p:cNvPr id="77" name="Shape 73"/>
          <p:cNvSpPr/>
          <p:nvPr/>
        </p:nvSpPr>
        <p:spPr>
          <a:xfrm>
            <a:off x="7900416" y="475488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7900416" y="47548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printen</a:t>
            </a:r>
            <a:endParaRPr lang="en-US" sz="1200" dirty="0"/>
          </a:p>
        </p:txBody>
      </p:sp>
      <p:sp>
        <p:nvSpPr>
          <p:cNvPr id="79" name="Text 75"/>
          <p:cNvSpPr txBox="1"/>
          <p:nvPr/>
        </p:nvSpPr>
        <p:spPr>
          <a:xfrm>
            <a:off x="8951976" y="475488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80" name="Shape 76"/>
          <p:cNvSpPr/>
          <p:nvPr/>
        </p:nvSpPr>
        <p:spPr>
          <a:xfrm>
            <a:off x="9317736" y="4754880"/>
            <a:ext cx="1359457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9317736" y="4754880"/>
            <a:ext cx="1359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82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5074920"/>
            <a:ext cx="402336" cy="402336"/>
          </a:xfrm>
          <a:prstGeom prst="rect">
            <a:avLst/>
          </a:prstGeom>
        </p:spPr>
      </p:pic>
      <p:sp>
        <p:nvSpPr>
          <p:cNvPr id="83" name="Shape 78"/>
          <p:cNvSpPr/>
          <p:nvPr/>
        </p:nvSpPr>
        <p:spPr>
          <a:xfrm>
            <a:off x="7900416" y="512064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7900416" y="51206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wekken</a:t>
            </a:r>
            <a:endParaRPr lang="en-US" sz="1200" dirty="0"/>
          </a:p>
        </p:txBody>
      </p:sp>
      <p:sp>
        <p:nvSpPr>
          <p:cNvPr id="85" name="Text 80"/>
          <p:cNvSpPr txBox="1"/>
          <p:nvPr/>
        </p:nvSpPr>
        <p:spPr>
          <a:xfrm>
            <a:off x="8951976" y="512064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86" name="Shape 81"/>
          <p:cNvSpPr/>
          <p:nvPr/>
        </p:nvSpPr>
        <p:spPr>
          <a:xfrm>
            <a:off x="9317736" y="5120640"/>
            <a:ext cx="1263598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9317736" y="5120640"/>
            <a:ext cx="12635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wekker</a:t>
            </a:r>
            <a:endParaRPr lang="en-US" sz="1200" dirty="0"/>
          </a:p>
        </p:txBody>
      </p:sp>
      <p:pic>
        <p:nvPicPr>
          <p:cNvPr id="88" name="Image 2" descr="fi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5440680"/>
            <a:ext cx="402336" cy="402336"/>
          </a:xfrm>
          <a:prstGeom prst="rect">
            <a:avLst/>
          </a:prstGeom>
        </p:spPr>
      </p:pic>
      <p:sp>
        <p:nvSpPr>
          <p:cNvPr id="89" name="Shape 83"/>
          <p:cNvSpPr/>
          <p:nvPr/>
        </p:nvSpPr>
        <p:spPr>
          <a:xfrm>
            <a:off x="7900416" y="548640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90" name="Text 84"/>
          <p:cNvSpPr txBox="1"/>
          <p:nvPr/>
        </p:nvSpPr>
        <p:spPr>
          <a:xfrm>
            <a:off x="7900416" y="54864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aansteken</a:t>
            </a:r>
            <a:endParaRPr lang="en-US" sz="1200" dirty="0"/>
          </a:p>
        </p:txBody>
      </p:sp>
      <p:sp>
        <p:nvSpPr>
          <p:cNvPr id="91" name="Text 85"/>
          <p:cNvSpPr txBox="1"/>
          <p:nvPr/>
        </p:nvSpPr>
        <p:spPr>
          <a:xfrm>
            <a:off x="8951976" y="548640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92" name="Shape 86"/>
          <p:cNvSpPr/>
          <p:nvPr/>
        </p:nvSpPr>
        <p:spPr>
          <a:xfrm>
            <a:off x="9317736" y="5486400"/>
            <a:ext cx="1551174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7"/>
          <p:cNvSpPr txBox="1"/>
          <p:nvPr/>
        </p:nvSpPr>
        <p:spPr>
          <a:xfrm>
            <a:off x="9317736" y="5486400"/>
            <a:ext cx="15511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aansteker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des francophones : -eren → -atie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81328"/>
            <a:ext cx="182880" cy="36210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1481328"/>
            <a:ext cx="182880" cy="36210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1481328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1481328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1481328"/>
            <a:ext cx="548640" cy="12070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88720" y="1602029"/>
            <a:ext cx="548640" cy="1207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1722730"/>
            <a:ext cx="548640" cy="12070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1481328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920240" y="14173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Les verbes en </a:t>
            </a:r>
            <a:r>
              <a:rPr lang="en-US" sz="1600" i="1" dirty="0">
                <a:solidFill>
                  <a:schemeClr val="tx2"/>
                </a:solidFill>
              </a:rPr>
              <a:t>-eren</a:t>
            </a:r>
            <a:r>
              <a:rPr lang="en-US" sz="1600" dirty="0">
                <a:solidFill>
                  <a:schemeClr val="tx2"/>
                </a:solidFill>
              </a:rPr>
              <a:t> viennent souvent du français : le nom ressemble au mot français en </a:t>
            </a:r>
            <a:r>
              <a:rPr lang="en-US" sz="1600" i="1" dirty="0">
                <a:solidFill>
                  <a:schemeClr val="tx2"/>
                </a:solidFill>
              </a:rPr>
              <a:t>-tion</a:t>
            </a:r>
            <a:r>
              <a:rPr lang="en-US" sz="1600" dirty="0">
                <a:solidFill>
                  <a:schemeClr val="tx2"/>
                </a:solidFill>
              </a:rPr>
              <a:t>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2148840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1488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organiseren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214884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3154680" y="2148840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154680" y="21488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organisatie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715000" y="21488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l’organisation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2660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l’organisation »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72200" y="2148840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172200" y="21488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informeren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214884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8778240" y="2148840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78240" y="21488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informatie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1338560" y="21488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l’information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6172200" y="2660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l’information 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" y="2898648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28986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presenteren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2651760" y="289864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3154680" y="2898648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289864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presentatie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715000" y="28986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présentation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34107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présentation »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172200" y="2898648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72200" y="28986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communiceren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8275320" y="289864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8778240" y="2898648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778240" y="289864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communicatie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1338560" y="28986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communication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6172200" y="34107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communication »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48640" y="3648456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48640" y="36484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installeren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2651760" y="3648456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5" name="Shape 52"/>
          <p:cNvSpPr/>
          <p:nvPr/>
        </p:nvSpPr>
        <p:spPr>
          <a:xfrm>
            <a:off x="3154680" y="3648456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154680" y="36484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installatie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5715000" y="364845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l’installation</a:t>
            </a:r>
            <a:endParaRPr lang="en-US" sz="1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41605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l’installation »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172200" y="3648456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172200" y="36484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reserveren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3648456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8778240" y="3648456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778240" y="36484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reservatie</a:t>
            </a:r>
            <a:endParaRPr lang="en-US" sz="1600" dirty="0"/>
          </a:p>
        </p:txBody>
      </p:sp>
      <p:sp>
        <p:nvSpPr>
          <p:cNvPr id="64" name="Text 61"/>
          <p:cNvSpPr txBox="1"/>
          <p:nvPr/>
        </p:nvSpPr>
        <p:spPr>
          <a:xfrm>
            <a:off x="11338560" y="364845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réservation (BE)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6172200" y="41605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réservation (BE) »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548640" y="4462272"/>
            <a:ext cx="5440680" cy="1261872"/>
          </a:xfrm>
          <a:prstGeom prst="roundRect">
            <a:avLst>
              <a:gd name="adj" fmla="val 8696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31520" y="453542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731520" y="4937760"/>
            <a:ext cx="5074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-eren</a:t>
            </a:r>
            <a:r>
              <a:rPr lang="en-US" sz="1350" dirty="0">
                <a:solidFill>
                  <a:schemeClr val="tx1"/>
                </a:solidFill>
              </a:rPr>
              <a:t> → </a:t>
            </a:r>
            <a:r>
              <a:rPr lang="en-US" sz="1350" i="1" dirty="0">
                <a:solidFill>
                  <a:schemeClr val="tx1"/>
                </a:solidFill>
              </a:rPr>
              <a:t>-atie</a:t>
            </a:r>
            <a:r>
              <a:rPr lang="en-US" sz="1350" dirty="0">
                <a:solidFill>
                  <a:schemeClr val="tx1"/>
                </a:solidFill>
              </a:rPr>
              <a:t> ou </a:t>
            </a:r>
            <a:r>
              <a:rPr lang="en-US" sz="1350" i="1" dirty="0">
                <a:solidFill>
                  <a:schemeClr val="tx1"/>
                </a:solidFill>
              </a:rPr>
              <a:t>-tie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b="1" dirty="0">
                <a:solidFill>
                  <a:schemeClr val="tx1"/>
                </a:solidFill>
              </a:rPr>
              <a:t>toujours de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l’accent tombe </a:t>
            </a:r>
            <a:r>
              <a:rPr lang="en-US" sz="1350" b="1" dirty="0">
                <a:solidFill>
                  <a:schemeClr val="tx1"/>
                </a:solidFill>
              </a:rPr>
              <a:t>avant</a:t>
            </a:r>
            <a:r>
              <a:rPr lang="en-US" sz="1350" dirty="0">
                <a:solidFill>
                  <a:schemeClr val="tx1"/>
                </a:solidFill>
              </a:rPr>
              <a:t> </a:t>
            </a:r>
            <a:r>
              <a:rPr lang="en-US" sz="1350" i="1" dirty="0">
                <a:solidFill>
                  <a:schemeClr val="tx1"/>
                </a:solidFill>
              </a:rPr>
              <a:t>-tie</a:t>
            </a:r>
            <a:r>
              <a:rPr lang="en-US" sz="1350" dirty="0">
                <a:solidFill>
                  <a:schemeClr val="tx1"/>
                </a:solidFill>
              </a:rPr>
              <a:t> : </a:t>
            </a:r>
            <a:r>
              <a:rPr lang="en-US" sz="1350" i="1" dirty="0">
                <a:solidFill>
                  <a:schemeClr val="tx1"/>
                </a:solidFill>
              </a:rPr>
              <a:t>infor</a:t>
            </a:r>
            <a:r>
              <a:rPr lang="en-US" sz="1350" b="1" i="1" dirty="0">
                <a:solidFill>
                  <a:schemeClr val="tx1"/>
                </a:solidFill>
              </a:rPr>
              <a:t>ma</a:t>
            </a:r>
            <a:r>
              <a:rPr lang="en-US" sz="1350" i="1" dirty="0">
                <a:solidFill>
                  <a:schemeClr val="tx1"/>
                </a:solidFill>
              </a:rPr>
              <a:t>tie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6199632" y="4462272"/>
            <a:ext cx="5440680" cy="1261872"/>
          </a:xfrm>
          <a:prstGeom prst="roundRect">
            <a:avLst>
              <a:gd name="adj" fmla="val 869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382512" y="453542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1" name="Text 68"/>
          <p:cNvSpPr txBox="1"/>
          <p:nvPr/>
        </p:nvSpPr>
        <p:spPr>
          <a:xfrm>
            <a:off x="6382512" y="4937760"/>
            <a:ext cx="5074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controleren → </a:t>
            </a:r>
            <a:r>
              <a:rPr lang="en-US" sz="1350" b="1" i="1" dirty="0">
                <a:solidFill>
                  <a:schemeClr val="tx1"/>
                </a:solidFill>
              </a:rPr>
              <a:t>de controle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i="1" dirty="0">
                <a:solidFill>
                  <a:schemeClr val="tx1"/>
                </a:solidFill>
              </a:rPr>
              <a:t>discussiëren → </a:t>
            </a:r>
            <a:r>
              <a:rPr lang="en-US" sz="1350" b="1" i="1" dirty="0">
                <a:solidFill>
                  <a:schemeClr val="tx1"/>
                </a:solidFill>
              </a:rPr>
              <a:t>de discussie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reserveren → de reservering</a:t>
            </a:r>
            <a:r>
              <a:rPr lang="en-US" sz="1350" dirty="0">
                <a:solidFill>
                  <a:schemeClr val="tx1"/>
                </a:solidFill>
              </a:rPr>
              <a:t> (NL)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Et dans l’autre sens (diapo 18) : </a:t>
            </a:r>
            <a:r>
              <a:rPr lang="en-US" sz="1500" i="1" dirty="0">
                <a:solidFill>
                  <a:schemeClr val="bg1"/>
                </a:solidFill>
              </a:rPr>
              <a:t>de organisatie → </a:t>
            </a:r>
            <a:r>
              <a:rPr lang="en-US" sz="1500" b="1" i="1" dirty="0">
                <a:solidFill>
                  <a:schemeClr val="bg1"/>
                </a:solidFill>
              </a:rPr>
              <a:t>organiseren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qualité :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 flipV="1">
            <a:off x="11126556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-heid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114093" y="1572768"/>
            <a:ext cx="37837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la qualité, l’abstrait</a:t>
            </a:r>
            <a:endParaRPr lang="en-US" sz="1500" dirty="0"/>
          </a:p>
        </p:txBody>
      </p:sp>
      <p:pic>
        <p:nvPicPr>
          <p:cNvPr id="19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417320" y="224028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417320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2971800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3474720" y="2240280"/>
            <a:ext cx="1806796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474720" y="2240280"/>
            <a:ext cx="1806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vrijheid</a:t>
            </a:r>
            <a:endParaRPr lang="en-US" sz="1600" dirty="0"/>
          </a:p>
        </p:txBody>
      </p:sp>
      <p:pic>
        <p:nvPicPr>
          <p:cNvPr id="25" name="Image 1" descr="green sa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79776"/>
            <a:ext cx="548640" cy="54864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417320" y="2825496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417320" y="2825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2971800" y="28254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3474720" y="2825496"/>
            <a:ext cx="2062418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474720" y="2825496"/>
            <a:ext cx="2062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gezondheid</a:t>
            </a:r>
            <a:endParaRPr lang="en-US" sz="1600" dirty="0"/>
          </a:p>
        </p:txBody>
      </p:sp>
      <p:pic>
        <p:nvPicPr>
          <p:cNvPr id="31" name="Image 2" descr="racing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64992"/>
            <a:ext cx="548640" cy="54864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1417320" y="3410712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141732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2971800" y="341071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5" name="Shape 29"/>
          <p:cNvSpPr/>
          <p:nvPr/>
        </p:nvSpPr>
        <p:spPr>
          <a:xfrm>
            <a:off x="3474720" y="3410712"/>
            <a:ext cx="1806796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474720" y="3410712"/>
            <a:ext cx="1806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snelheid</a:t>
            </a:r>
            <a:endParaRPr lang="en-US" sz="1600" dirty="0"/>
          </a:p>
        </p:txBody>
      </p:sp>
      <p:pic>
        <p:nvPicPr>
          <p:cNvPr id="37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548640" cy="54864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417320" y="3995928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41732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2971800" y="39959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1" name="Shape 34"/>
          <p:cNvSpPr/>
          <p:nvPr/>
        </p:nvSpPr>
        <p:spPr>
          <a:xfrm>
            <a:off x="3474720" y="3995928"/>
            <a:ext cx="231804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474720" y="3995928"/>
            <a:ext cx="23180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mogelijkheid</a:t>
            </a:r>
            <a:endParaRPr lang="en-US" sz="1600" dirty="0"/>
          </a:p>
        </p:txBody>
      </p:sp>
      <p:sp>
        <p:nvSpPr>
          <p:cNvPr id="43" name="Shape 36"/>
          <p:cNvSpPr/>
          <p:nvPr/>
        </p:nvSpPr>
        <p:spPr>
          <a:xfrm>
            <a:off x="6199632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6382512" y="1572768"/>
            <a:ext cx="880165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382512" y="1572768"/>
            <a:ext cx="880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-te</a:t>
            </a:r>
            <a:endParaRPr lang="en-US" sz="2000" dirty="0"/>
          </a:p>
        </p:txBody>
      </p:sp>
      <p:sp>
        <p:nvSpPr>
          <p:cNvPr id="46" name="Text 39"/>
          <p:cNvSpPr txBox="1"/>
          <p:nvPr/>
        </p:nvSpPr>
        <p:spPr>
          <a:xfrm>
            <a:off x="7445557" y="1572768"/>
            <a:ext cx="41033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la mesure, la sensation</a:t>
            </a:r>
            <a:endParaRPr lang="en-US" sz="1500" dirty="0"/>
          </a:p>
        </p:txBody>
      </p:sp>
      <p:pic>
        <p:nvPicPr>
          <p:cNvPr id="47" name="Image 4" descr="straight rul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194560"/>
            <a:ext cx="548640" cy="548640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7068312" y="224028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7068312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50" name="Text 42"/>
          <p:cNvSpPr txBox="1"/>
          <p:nvPr/>
        </p:nvSpPr>
        <p:spPr>
          <a:xfrm>
            <a:off x="8622792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1" name="Shape 43"/>
          <p:cNvSpPr/>
          <p:nvPr/>
        </p:nvSpPr>
        <p:spPr>
          <a:xfrm>
            <a:off x="9125712" y="2240280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125712" y="2240280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lengte</a:t>
            </a:r>
            <a:endParaRPr lang="en-US" sz="1600" dirty="0"/>
          </a:p>
        </p:txBody>
      </p:sp>
      <p:pic>
        <p:nvPicPr>
          <p:cNvPr id="53" name="Image 5" descr="thermome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2779776"/>
            <a:ext cx="548640" cy="548640"/>
          </a:xfrm>
          <a:prstGeom prst="rect">
            <a:avLst/>
          </a:prstGeom>
        </p:spPr>
      </p:pic>
      <p:sp>
        <p:nvSpPr>
          <p:cNvPr id="54" name="Shape 45"/>
          <p:cNvSpPr/>
          <p:nvPr/>
        </p:nvSpPr>
        <p:spPr>
          <a:xfrm>
            <a:off x="7068312" y="2825496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7068312" y="2825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56" name="Text 47"/>
          <p:cNvSpPr txBox="1"/>
          <p:nvPr/>
        </p:nvSpPr>
        <p:spPr>
          <a:xfrm>
            <a:off x="8622792" y="28254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7" name="Shape 48"/>
          <p:cNvSpPr/>
          <p:nvPr/>
        </p:nvSpPr>
        <p:spPr>
          <a:xfrm>
            <a:off x="9125712" y="2825496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9125712" y="2825496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warmte</a:t>
            </a:r>
            <a:endParaRPr lang="en-US" sz="1600" dirty="0"/>
          </a:p>
        </p:txBody>
      </p:sp>
      <p:pic>
        <p:nvPicPr>
          <p:cNvPr id="59" name="Image 6" descr="mountai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3364992"/>
            <a:ext cx="548640" cy="548640"/>
          </a:xfrm>
          <a:prstGeom prst="rect">
            <a:avLst/>
          </a:prstGeom>
        </p:spPr>
      </p:pic>
      <p:sp>
        <p:nvSpPr>
          <p:cNvPr id="60" name="Shape 50"/>
          <p:cNvSpPr/>
          <p:nvPr/>
        </p:nvSpPr>
        <p:spPr>
          <a:xfrm>
            <a:off x="7068312" y="3410712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7068312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62" name="Text 52"/>
          <p:cNvSpPr txBox="1"/>
          <p:nvPr/>
        </p:nvSpPr>
        <p:spPr>
          <a:xfrm>
            <a:off x="8622792" y="341071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3" name="Shape 53"/>
          <p:cNvSpPr/>
          <p:nvPr/>
        </p:nvSpPr>
        <p:spPr>
          <a:xfrm>
            <a:off x="9125712" y="3410712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25712" y="3410712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hoogte</a:t>
            </a:r>
            <a:endParaRPr lang="en-US" sz="1600" dirty="0"/>
          </a:p>
        </p:txBody>
      </p:sp>
      <p:pic>
        <p:nvPicPr>
          <p:cNvPr id="65" name="Image 7" descr="left right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2512" y="3950208"/>
            <a:ext cx="548640" cy="548640"/>
          </a:xfrm>
          <a:prstGeom prst="rect">
            <a:avLst/>
          </a:prstGeom>
        </p:spPr>
      </p:pic>
      <p:sp>
        <p:nvSpPr>
          <p:cNvPr id="66" name="Shape 55"/>
          <p:cNvSpPr/>
          <p:nvPr/>
        </p:nvSpPr>
        <p:spPr>
          <a:xfrm>
            <a:off x="7068312" y="3995928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7" name="Text 56"/>
          <p:cNvSpPr txBox="1"/>
          <p:nvPr/>
        </p:nvSpPr>
        <p:spPr>
          <a:xfrm>
            <a:off x="7068312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68" name="Text 57"/>
          <p:cNvSpPr txBox="1"/>
          <p:nvPr/>
        </p:nvSpPr>
        <p:spPr>
          <a:xfrm>
            <a:off x="8622792" y="39959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9" name="Shape 58"/>
          <p:cNvSpPr/>
          <p:nvPr/>
        </p:nvSpPr>
        <p:spPr>
          <a:xfrm>
            <a:off x="9125712" y="3995928"/>
            <a:ext cx="1678985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59"/>
          <p:cNvSpPr txBox="1"/>
          <p:nvPr/>
        </p:nvSpPr>
        <p:spPr>
          <a:xfrm>
            <a:off x="9125712" y="3995928"/>
            <a:ext cx="16789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breedte</a:t>
            </a:r>
            <a:endParaRPr lang="en-US" sz="1600" dirty="0"/>
          </a:p>
        </p:txBody>
      </p:sp>
      <p:sp>
        <p:nvSpPr>
          <p:cNvPr id="71" name="Shape 60"/>
          <p:cNvSpPr/>
          <p:nvPr/>
        </p:nvSpPr>
        <p:spPr>
          <a:xfrm>
            <a:off x="548640" y="47548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731520" y="482803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73" name="Text 62"/>
          <p:cNvSpPr txBox="1"/>
          <p:nvPr/>
        </p:nvSpPr>
        <p:spPr>
          <a:xfrm>
            <a:off x="731520" y="52303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toujours de</a:t>
            </a:r>
            <a:r>
              <a:rPr lang="en-US" sz="1400" dirty="0">
                <a:solidFill>
                  <a:schemeClr val="tx1"/>
                </a:solidFill>
              </a:rPr>
              <a:t> · pluriel : </a:t>
            </a:r>
            <a:r>
              <a:rPr lang="en-US" sz="1400" i="1" dirty="0">
                <a:solidFill>
                  <a:schemeClr val="tx1"/>
                </a:solidFill>
              </a:rPr>
              <a:t>-heden, -tes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i="1" dirty="0">
                <a:solidFill>
                  <a:schemeClr val="tx1"/>
                </a:solidFill>
              </a:rPr>
              <a:t>de mogelijkheden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  <a:endParaRPr lang="en-US" sz="1400" dirty="0"/>
          </a:p>
        </p:txBody>
      </p:sp>
      <p:sp>
        <p:nvSpPr>
          <p:cNvPr id="74" name="Shape 63"/>
          <p:cNvSpPr/>
          <p:nvPr/>
        </p:nvSpPr>
        <p:spPr>
          <a:xfrm>
            <a:off x="6199632" y="47548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6382512" y="482803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6" name="Text 65"/>
          <p:cNvSpPr txBox="1"/>
          <p:nvPr/>
        </p:nvSpPr>
        <p:spPr>
          <a:xfrm>
            <a:off x="6382512" y="52303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lang → de l</a:t>
            </a:r>
            <a:r>
              <a:rPr lang="en-US" sz="1400" b="1" i="1" dirty="0">
                <a:solidFill>
                  <a:schemeClr val="tx1"/>
                </a:solidFill>
              </a:rPr>
              <a:t>e</a:t>
            </a:r>
            <a:r>
              <a:rPr lang="en-US" sz="1400" i="1" dirty="0">
                <a:solidFill>
                  <a:schemeClr val="tx1"/>
                </a:solidFill>
              </a:rPr>
              <a:t>ngte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ziek → de </a:t>
            </a:r>
            <a:r>
              <a:rPr lang="en-US" sz="1400" b="1" i="1" dirty="0">
                <a:solidFill>
                  <a:schemeClr val="tx1"/>
                </a:solidFill>
              </a:rPr>
              <a:t>ziekte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lief → de </a:t>
            </a:r>
            <a:r>
              <a:rPr lang="en-US" sz="1400" b="1" i="1" dirty="0">
                <a:solidFill>
                  <a:schemeClr val="tx1"/>
                </a:solidFill>
              </a:rPr>
              <a:t>liefde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koud → de </a:t>
            </a:r>
            <a:r>
              <a:rPr lang="en-US" sz="1400" b="1" i="1" dirty="0">
                <a:solidFill>
                  <a:schemeClr val="tx1"/>
                </a:solidFill>
              </a:rPr>
              <a:t>kou(de)</a:t>
            </a:r>
            <a:endParaRPr lang="en-US" sz="1400" dirty="0"/>
          </a:p>
        </p:txBody>
      </p:sp>
      <p:sp>
        <p:nvSpPr>
          <p:cNvPr id="77" name="Shape 66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En cas de doute : </a:t>
            </a:r>
            <a:r>
              <a:rPr lang="en-US" sz="1500" i="1" dirty="0">
                <a:solidFill>
                  <a:schemeClr val="bg1"/>
                </a:solidFill>
              </a:rPr>
              <a:t>-heid</a:t>
            </a:r>
            <a:r>
              <a:rPr lang="en-US" sz="1500" dirty="0">
                <a:solidFill>
                  <a:schemeClr val="bg1"/>
                </a:solidFill>
              </a:rPr>
              <a:t> est le plus fréquent et le plus productif.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-iteit, et l’adjectif devenu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 flipV="1">
            <a:off x="11126556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600200"/>
            <a:ext cx="152400" cy="30175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83920" y="1600200"/>
            <a:ext cx="152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6320" y="1600200"/>
            <a:ext cx="152400" cy="30175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1600200"/>
            <a:ext cx="457200" cy="30175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2588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-iteit</a:t>
            </a:r>
            <a:r>
              <a:rPr lang="en-US" sz="1500" dirty="0">
                <a:solidFill>
                  <a:srgbClr val="6E4A9E"/>
                </a:solidFill>
              </a:rPr>
              <a:t> = le français </a:t>
            </a:r>
            <a:r>
              <a:rPr lang="en-US" sz="1500" b="1" dirty="0">
                <a:solidFill>
                  <a:srgbClr val="6E4A9E"/>
                </a:solidFill>
              </a:rPr>
              <a:t>-ité</a:t>
            </a:r>
            <a:r>
              <a:rPr lang="en-US" sz="1500" dirty="0">
                <a:solidFill>
                  <a:srgbClr val="6E4A9E"/>
                </a:solidFill>
              </a:rPr>
              <a:t> (toujours </a:t>
            </a:r>
            <a:r>
              <a:rPr lang="en-US" sz="1500" i="1" dirty="0">
                <a:solidFill>
                  <a:srgbClr val="6E4A9E"/>
                </a:solidFill>
              </a:rPr>
              <a:t>de</a:t>
            </a:r>
            <a:r>
              <a:rPr lang="en-US" sz="1500" dirty="0">
                <a:solidFill>
                  <a:srgbClr val="6E4A9E"/>
                </a:solidFill>
              </a:rPr>
              <a:t>)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31520" y="214884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21488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actief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214884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926080" y="2148840"/>
            <a:ext cx="2062418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6080" y="2148840"/>
            <a:ext cx="2062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activiteit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27889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creatief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2423160" y="278892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926080" y="2788920"/>
            <a:ext cx="2318041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6080" y="2788920"/>
            <a:ext cx="231804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creativiteit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1520" y="342900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31520" y="34290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flexibel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2423160" y="342900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2926080" y="3429000"/>
            <a:ext cx="2445852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26080" y="3429000"/>
            <a:ext cx="24458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flexibiliteit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731520" y="406908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" y="40690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populair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2423160" y="40690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26080" y="4069080"/>
            <a:ext cx="2318041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26080" y="4069080"/>
            <a:ext cx="231804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populariteit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31520" y="470916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47091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nationaal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2423160" y="470916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2926080" y="4709160"/>
            <a:ext cx="2445852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926080" y="4709160"/>
            <a:ext cx="24458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nationaliteit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199632" y="14630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6382512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l’adjectif devient nom</a:t>
            </a:r>
            <a:r>
              <a:rPr lang="en-US" sz="1500" dirty="0">
                <a:solidFill>
                  <a:srgbClr val="6E4A9E"/>
                </a:solidFill>
              </a:rPr>
              <a:t> : article + adjectif + </a:t>
            </a:r>
            <a:r>
              <a:rPr lang="en-US" sz="1500" i="1" dirty="0">
                <a:solidFill>
                  <a:srgbClr val="6E4A9E"/>
                </a:solidFill>
              </a:rPr>
              <a:t>-e</a:t>
            </a:r>
            <a:endParaRPr lang="en-US" sz="1500" dirty="0"/>
          </a:p>
        </p:txBody>
      </p:sp>
      <p:sp>
        <p:nvSpPr>
          <p:cNvPr id="48" name="Shape 45"/>
          <p:cNvSpPr/>
          <p:nvPr/>
        </p:nvSpPr>
        <p:spPr>
          <a:xfrm>
            <a:off x="6382512" y="2103120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565392" y="217627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het + adj. + -e = « ce qui est… »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565392" y="2578608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leuke</a:t>
            </a:r>
            <a:r>
              <a:rPr lang="en-US" sz="1500" i="1" dirty="0">
                <a:solidFill>
                  <a:schemeClr val="tx1"/>
                </a:solidFill>
              </a:rPr>
              <a:t> is dat we thuis werken.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moeilijke</a:t>
            </a:r>
            <a:r>
              <a:rPr lang="en-US" sz="1500" i="1" dirty="0">
                <a:solidFill>
                  <a:schemeClr val="tx1"/>
                </a:solidFill>
              </a:rPr>
              <a:t> is de uitspraak.</a:t>
            </a:r>
            <a:r>
              <a:rPr lang="en-US" sz="1500" dirty="0">
                <a:solidFill>
                  <a:schemeClr val="tx1"/>
                </a:solidFill>
              </a:rPr>
              <a:t> (ce qui est difficile)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6382512" y="3840480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565392" y="391363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 + adj. + -e(n) = les personnes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565392" y="4315968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zieken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tx1"/>
                </a:solidFill>
              </a:rPr>
              <a:t>de ouderen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tx1"/>
                </a:solidFill>
              </a:rPr>
              <a:t>de werklozen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nieuwe</a:t>
            </a:r>
            <a:r>
              <a:rPr lang="en-US" sz="1500" i="1" dirty="0">
                <a:solidFill>
                  <a:schemeClr val="tx1"/>
                </a:solidFill>
              </a:rPr>
              <a:t> begint maandag.</a:t>
            </a:r>
            <a:r>
              <a:rPr lang="en-US" sz="1500" dirty="0">
                <a:solidFill>
                  <a:schemeClr val="tx1"/>
                </a:solidFill>
              </a:rPr>
              <a:t> (la nouvelle / le nouveau)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français fait pareil : « </a:t>
            </a:r>
            <a:r>
              <a:rPr lang="en-US" sz="1600" i="1" dirty="0">
                <a:solidFill>
                  <a:schemeClr val="bg1"/>
                </a:solidFill>
              </a:rPr>
              <a:t>le difficile, c’est…</a:t>
            </a:r>
            <a:r>
              <a:rPr lang="en-US" sz="1600" dirty="0">
                <a:solidFill>
                  <a:schemeClr val="bg1"/>
                </a:solidFill>
              </a:rPr>
              <a:t> », « </a:t>
            </a:r>
            <a:r>
              <a:rPr lang="en-US" sz="1600" i="1" dirty="0">
                <a:solidFill>
                  <a:schemeClr val="bg1"/>
                </a:solidFill>
              </a:rPr>
              <a:t>les malades</a:t>
            </a:r>
            <a:r>
              <a:rPr lang="en-US" sz="1600" dirty="0">
                <a:solidFill>
                  <a:schemeClr val="bg1"/>
                </a:solidFill>
              </a:rPr>
              <a:t> 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suffixes : -ig, -lijk, -isch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NOM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16147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880165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880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-ig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748845" y="1572768"/>
            <a:ext cx="16740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qui a…</a:t>
            </a:r>
            <a:endParaRPr lang="en-US" sz="1300" dirty="0"/>
          </a:p>
        </p:txBody>
      </p:sp>
      <p:pic>
        <p:nvPicPr>
          <p:cNvPr id="19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8624" y="1536192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77240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22960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zonnig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2397252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2442972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geluk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2488692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488692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gelukkig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31520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777240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moed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22960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2960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moedig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2397252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2442972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honger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2488692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88692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hongerig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31520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</a:t>
            </a:r>
            <a:r>
              <a:rPr lang="en-US" sz="1350" i="1" dirty="0">
                <a:solidFill>
                  <a:schemeClr val="accent6"/>
                </a:solidFill>
              </a:rPr>
              <a:t>de wind → wind</a:t>
            </a:r>
            <a:r>
              <a:rPr lang="en-US" sz="1350" b="1" i="1" dirty="0">
                <a:solidFill>
                  <a:schemeClr val="accent6"/>
                </a:solidFill>
              </a:rPr>
              <a:t>erig</a:t>
            </a:r>
            <a:r>
              <a:rPr lang="en-US" sz="1350" dirty="0">
                <a:solidFill>
                  <a:schemeClr val="accent6"/>
                </a:solidFill>
              </a:rPr>
              <a:t> · </a:t>
            </a:r>
            <a:r>
              <a:rPr lang="en-US" sz="1350" i="1" dirty="0">
                <a:solidFill>
                  <a:schemeClr val="accent6"/>
                </a:solidFill>
              </a:rPr>
              <a:t>de nood → nodig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291584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474464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474464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5811317" y="1572768"/>
            <a:ext cx="1354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qui est comme…</a:t>
            </a:r>
            <a:endParaRPr lang="en-US" sz="1300" dirty="0"/>
          </a:p>
        </p:txBody>
      </p:sp>
      <p:pic>
        <p:nvPicPr>
          <p:cNvPr id="41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1568" y="1536192"/>
            <a:ext cx="548640" cy="5486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4474464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8"/>
          <p:cNvSpPr txBox="1"/>
          <p:nvPr/>
        </p:nvSpPr>
        <p:spPr>
          <a:xfrm>
            <a:off x="4520184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4565904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565904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vriendelijk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140196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185916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6231636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6231636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gevaarlijk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4474464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Text 46"/>
          <p:cNvSpPr txBox="1"/>
          <p:nvPr/>
        </p:nvSpPr>
        <p:spPr>
          <a:xfrm>
            <a:off x="4520184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natuur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52" name="Shape 47"/>
          <p:cNvSpPr/>
          <p:nvPr/>
        </p:nvSpPr>
        <p:spPr>
          <a:xfrm>
            <a:off x="4565904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4565904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natuurlijk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140196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Text 50"/>
          <p:cNvSpPr txBox="1"/>
          <p:nvPr/>
        </p:nvSpPr>
        <p:spPr>
          <a:xfrm>
            <a:off x="6185916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vrouw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56" name="Shape 51"/>
          <p:cNvSpPr/>
          <p:nvPr/>
        </p:nvSpPr>
        <p:spPr>
          <a:xfrm>
            <a:off x="6231636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6231636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vrouwelijk</a:t>
            </a:r>
            <a:endParaRPr lang="en-US" sz="1500" dirty="0"/>
          </a:p>
        </p:txBody>
      </p:sp>
      <p:sp>
        <p:nvSpPr>
          <p:cNvPr id="58" name="Text 53"/>
          <p:cNvSpPr txBox="1"/>
          <p:nvPr/>
        </p:nvSpPr>
        <p:spPr>
          <a:xfrm>
            <a:off x="4474464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+ </a:t>
            </a:r>
            <a:r>
              <a:rPr lang="en-US" sz="1350" i="1" dirty="0">
                <a:solidFill>
                  <a:schemeClr val="accent6"/>
                </a:solidFill>
              </a:rPr>
              <a:t>e</a:t>
            </a:r>
            <a:r>
              <a:rPr lang="en-US" sz="1350" dirty="0">
                <a:solidFill>
                  <a:schemeClr val="accent6"/>
                </a:solidFill>
              </a:rPr>
              <a:t> : </a:t>
            </a:r>
            <a:r>
              <a:rPr lang="en-US" sz="1350" i="1" dirty="0">
                <a:solidFill>
                  <a:schemeClr val="accent6"/>
                </a:solidFill>
              </a:rPr>
              <a:t>vriend</a:t>
            </a:r>
            <a:r>
              <a:rPr lang="en-US" sz="1350" b="1" i="1" dirty="0">
                <a:solidFill>
                  <a:schemeClr val="accent6"/>
                </a:solidFill>
              </a:rPr>
              <a:t>e</a:t>
            </a:r>
            <a:r>
              <a:rPr lang="en-US" sz="1350" i="1" dirty="0">
                <a:solidFill>
                  <a:schemeClr val="accent6"/>
                </a:solidFill>
              </a:rPr>
              <a:t>lijk, vrouw</a:t>
            </a:r>
            <a:r>
              <a:rPr lang="en-US" sz="1350" b="1" i="1" dirty="0">
                <a:solidFill>
                  <a:schemeClr val="accent6"/>
                </a:solidFill>
              </a:rPr>
              <a:t>e</a:t>
            </a:r>
            <a:r>
              <a:rPr lang="en-US" sz="1350" i="1" dirty="0">
                <a:solidFill>
                  <a:schemeClr val="accent6"/>
                </a:solidFill>
              </a:rPr>
              <a:t>lijk</a:t>
            </a:r>
            <a:r>
              <a:rPr lang="en-US" sz="1350" dirty="0">
                <a:solidFill>
                  <a:schemeClr val="accent6"/>
                </a:solidFill>
              </a:rPr>
              <a:t> · + </a:t>
            </a:r>
            <a:r>
              <a:rPr lang="en-US" sz="1350" i="1" dirty="0">
                <a:solidFill>
                  <a:schemeClr val="accent6"/>
                </a:solidFill>
              </a:rPr>
              <a:t>s</a:t>
            </a:r>
            <a:r>
              <a:rPr lang="en-US" sz="1350" dirty="0">
                <a:solidFill>
                  <a:schemeClr val="accent6"/>
                </a:solidFill>
              </a:rPr>
              <a:t> : </a:t>
            </a:r>
            <a:r>
              <a:rPr lang="en-US" sz="1350" i="1" dirty="0">
                <a:solidFill>
                  <a:schemeClr val="accent6"/>
                </a:solidFill>
              </a:rPr>
              <a:t>dagelijk</a:t>
            </a:r>
            <a:r>
              <a:rPr lang="en-US" sz="1350" b="1" i="1" dirty="0">
                <a:solidFill>
                  <a:schemeClr val="accent6"/>
                </a:solidFill>
              </a:rPr>
              <a:t>s</a:t>
            </a:r>
            <a:r>
              <a:rPr lang="en-US" sz="1350" dirty="0">
                <a:solidFill>
                  <a:schemeClr val="accent6"/>
                </a:solidFill>
              </a:rPr>
              <a:t> · </a:t>
            </a:r>
            <a:r>
              <a:rPr lang="en-US" sz="1350" i="1" dirty="0">
                <a:solidFill>
                  <a:schemeClr val="accent6"/>
                </a:solidFill>
              </a:rPr>
              <a:t>-lijk</a:t>
            </a:r>
            <a:r>
              <a:rPr lang="en-US" sz="1350" dirty="0">
                <a:solidFill>
                  <a:schemeClr val="accent6"/>
                </a:solidFill>
              </a:rPr>
              <a:t> se dit [lək] (le </a:t>
            </a:r>
            <a:r>
              <a:rPr lang="en-US" sz="1350" i="1" dirty="0">
                <a:solidFill>
                  <a:schemeClr val="accent6"/>
                </a:solidFill>
              </a:rPr>
              <a:t>e</a:t>
            </a:r>
            <a:r>
              <a:rPr lang="en-US" sz="1350" dirty="0">
                <a:solidFill>
                  <a:schemeClr val="accent6"/>
                </a:solidFill>
              </a:rPr>
              <a:t> de « le »)</a:t>
            </a:r>
            <a:endParaRPr lang="en-US" sz="1350" dirty="0"/>
          </a:p>
        </p:txBody>
      </p:sp>
      <p:sp>
        <p:nvSpPr>
          <p:cNvPr id="59" name="Shape 54"/>
          <p:cNvSpPr/>
          <p:nvPr/>
        </p:nvSpPr>
        <p:spPr>
          <a:xfrm>
            <a:off x="8034528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0" name="Shape 55"/>
          <p:cNvSpPr/>
          <p:nvPr/>
        </p:nvSpPr>
        <p:spPr>
          <a:xfrm>
            <a:off x="8217408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17408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-isch</a:t>
            </a:r>
            <a:endParaRPr lang="en-US" sz="2000" dirty="0"/>
          </a:p>
        </p:txBody>
      </p:sp>
      <p:sp>
        <p:nvSpPr>
          <p:cNvPr id="62" name="Text 57"/>
          <p:cNvSpPr txBox="1"/>
          <p:nvPr/>
        </p:nvSpPr>
        <p:spPr>
          <a:xfrm>
            <a:off x="9554261" y="1572768"/>
            <a:ext cx="1354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= le français -ique</a:t>
            </a:r>
            <a:endParaRPr lang="en-US" sz="1300" dirty="0"/>
          </a:p>
        </p:txBody>
      </p:sp>
      <p:pic>
        <p:nvPicPr>
          <p:cNvPr id="63" name="Image 2" descr="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1536192"/>
            <a:ext cx="548640" cy="548640"/>
          </a:xfrm>
          <a:prstGeom prst="rect">
            <a:avLst/>
          </a:prstGeom>
        </p:spPr>
      </p:pic>
      <p:sp>
        <p:nvSpPr>
          <p:cNvPr id="64" name="Shape 58"/>
          <p:cNvSpPr/>
          <p:nvPr/>
        </p:nvSpPr>
        <p:spPr>
          <a:xfrm>
            <a:off x="8217408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5" name="Text 59"/>
          <p:cNvSpPr txBox="1"/>
          <p:nvPr/>
        </p:nvSpPr>
        <p:spPr>
          <a:xfrm>
            <a:off x="8263128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66" name="Shape 60"/>
          <p:cNvSpPr/>
          <p:nvPr/>
        </p:nvSpPr>
        <p:spPr>
          <a:xfrm>
            <a:off x="8308848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8308848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technisch</a:t>
            </a:r>
            <a:endParaRPr lang="en-US" sz="1500" dirty="0"/>
          </a:p>
        </p:txBody>
      </p:sp>
      <p:sp>
        <p:nvSpPr>
          <p:cNvPr id="68" name="Shape 62"/>
          <p:cNvSpPr/>
          <p:nvPr/>
        </p:nvSpPr>
        <p:spPr>
          <a:xfrm>
            <a:off x="9883140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9" name="Text 63"/>
          <p:cNvSpPr txBox="1"/>
          <p:nvPr/>
        </p:nvSpPr>
        <p:spPr>
          <a:xfrm>
            <a:off x="9928860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logica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0" name="Shape 64"/>
          <p:cNvSpPr/>
          <p:nvPr/>
        </p:nvSpPr>
        <p:spPr>
          <a:xfrm>
            <a:off x="9974580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5"/>
          <p:cNvSpPr txBox="1"/>
          <p:nvPr/>
        </p:nvSpPr>
        <p:spPr>
          <a:xfrm>
            <a:off x="9974580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logisch</a:t>
            </a:r>
            <a:endParaRPr lang="en-US" sz="1500" dirty="0"/>
          </a:p>
        </p:txBody>
      </p:sp>
      <p:sp>
        <p:nvSpPr>
          <p:cNvPr id="72" name="Shape 66"/>
          <p:cNvSpPr/>
          <p:nvPr/>
        </p:nvSpPr>
        <p:spPr>
          <a:xfrm>
            <a:off x="8217408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3" name="Text 67"/>
          <p:cNvSpPr txBox="1"/>
          <p:nvPr/>
        </p:nvSpPr>
        <p:spPr>
          <a:xfrm>
            <a:off x="8263128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praktijk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4" name="Shape 68"/>
          <p:cNvSpPr/>
          <p:nvPr/>
        </p:nvSpPr>
        <p:spPr>
          <a:xfrm>
            <a:off x="8308848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8308848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praktisch</a:t>
            </a:r>
            <a:endParaRPr lang="en-US" sz="1500" dirty="0"/>
          </a:p>
        </p:txBody>
      </p:sp>
      <p:sp>
        <p:nvSpPr>
          <p:cNvPr id="76" name="Shape 70"/>
          <p:cNvSpPr/>
          <p:nvPr/>
        </p:nvSpPr>
        <p:spPr>
          <a:xfrm>
            <a:off x="9883140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7" name="Text 71"/>
          <p:cNvSpPr txBox="1"/>
          <p:nvPr/>
        </p:nvSpPr>
        <p:spPr>
          <a:xfrm>
            <a:off x="9928860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economie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8" name="Shape 72"/>
          <p:cNvSpPr/>
          <p:nvPr/>
        </p:nvSpPr>
        <p:spPr>
          <a:xfrm>
            <a:off x="9974580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9974580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economisch</a:t>
            </a:r>
            <a:endParaRPr lang="en-US" sz="1500" dirty="0"/>
          </a:p>
        </p:txBody>
      </p:sp>
      <p:sp>
        <p:nvSpPr>
          <p:cNvPr id="80" name="Text 74"/>
          <p:cNvSpPr txBox="1"/>
          <p:nvPr/>
        </p:nvSpPr>
        <p:spPr>
          <a:xfrm>
            <a:off x="8217408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</a:t>
            </a:r>
            <a:r>
              <a:rPr lang="en-US" sz="1350" i="1" dirty="0">
                <a:solidFill>
                  <a:schemeClr val="accent6"/>
                </a:solidFill>
              </a:rPr>
              <a:t>de politiek → politiek</a:t>
            </a:r>
            <a:r>
              <a:rPr lang="en-US" sz="1350" dirty="0">
                <a:solidFill>
                  <a:schemeClr val="accent6"/>
                </a:solidFill>
              </a:rPr>
              <a:t> (même mot)</a:t>
            </a:r>
            <a:endParaRPr lang="en-US" sz="1350" dirty="0"/>
          </a:p>
        </p:txBody>
      </p:sp>
      <p:sp>
        <p:nvSpPr>
          <p:cNvPr id="81" name="Shape 75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6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Orthographe : voyelle courte → consonne double : </a:t>
            </a:r>
            <a:r>
              <a:rPr lang="en-US" sz="1500" i="1" dirty="0">
                <a:solidFill>
                  <a:schemeClr val="bg1"/>
                </a:solidFill>
              </a:rPr>
              <a:t>de zon → zo</a:t>
            </a:r>
            <a:r>
              <a:rPr lang="en-US" sz="1500" b="1" i="1" dirty="0">
                <a:solidFill>
                  <a:schemeClr val="bg1"/>
                </a:solidFill>
              </a:rPr>
              <a:t>nn</a:t>
            </a:r>
            <a:r>
              <a:rPr lang="en-US" sz="1500" i="1" dirty="0">
                <a:solidFill>
                  <a:schemeClr val="bg1"/>
                </a:solidFill>
              </a:rPr>
              <a:t>ig</a:t>
            </a:r>
            <a:r>
              <a:rPr lang="en-US" sz="1500" dirty="0">
                <a:solidFill>
                  <a:schemeClr val="bg1"/>
                </a:solidFill>
              </a:rPr>
              <a:t> (diapo 23).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Sans ou plein de : -loos, -vol, -rijk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NOM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16147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66751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1600200"/>
            <a:ext cx="1119811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1600200"/>
            <a:ext cx="111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-loos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143939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sans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931920" y="1600200"/>
            <a:ext cx="2126324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1600200"/>
            <a:ext cx="2126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-vol · -rijk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167972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plein de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77240" y="2240280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2240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hopeloos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17520" y="2240280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17520" y="2240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hoop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4983480" y="2240280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983480" y="2240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hoopvol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77240" y="2898648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2898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zinloos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2606040" y="28986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017520" y="2898648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017520" y="289864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zin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28986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4983480" y="2898648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983480" y="2898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zinvol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777240" y="3557016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77240" y="35570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waardeloos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2606040" y="35570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3017520" y="3557016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17520" y="355701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waarde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0" y="35570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4983480" y="3557016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983480" y="35570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waardevol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77240" y="4215384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42153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kleurloos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606040" y="42153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3017520" y="4215384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017520" y="4215384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kleur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0" y="42153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2" name="Shape 49"/>
          <p:cNvSpPr/>
          <p:nvPr/>
        </p:nvSpPr>
        <p:spPr>
          <a:xfrm>
            <a:off x="4983480" y="4215384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983480" y="42153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kleurrijk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777240" y="48920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werkloos</a:t>
            </a:r>
            <a:r>
              <a:rPr lang="en-US" sz="1300" dirty="0">
                <a:solidFill>
                  <a:schemeClr val="tx1"/>
                </a:solidFill>
              </a:rPr>
              <a:t> = sans emploi · </a:t>
            </a:r>
            <a:r>
              <a:rPr lang="en-US" sz="1300" i="1" dirty="0">
                <a:solidFill>
                  <a:schemeClr val="tx1"/>
                </a:solidFill>
              </a:rPr>
              <a:t>draadloos</a:t>
            </a:r>
            <a:r>
              <a:rPr lang="en-US" sz="1300" dirty="0">
                <a:solidFill>
                  <a:schemeClr val="tx1"/>
                </a:solidFill>
              </a:rPr>
              <a:t> = sans fil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⚠ </a:t>
            </a:r>
            <a:r>
              <a:rPr lang="en-US" sz="1300" i="1" dirty="0">
                <a:solidFill>
                  <a:schemeClr val="tx1"/>
                </a:solidFill>
              </a:rPr>
              <a:t>-e-</a:t>
            </a:r>
            <a:r>
              <a:rPr lang="en-US" sz="1300" dirty="0">
                <a:solidFill>
                  <a:schemeClr val="tx1"/>
                </a:solidFill>
              </a:rPr>
              <a:t> de liaison : </a:t>
            </a:r>
            <a:r>
              <a:rPr lang="en-US" sz="1300" i="1" dirty="0">
                <a:solidFill>
                  <a:schemeClr val="tx1"/>
                </a:solidFill>
              </a:rPr>
              <a:t>hop</a:t>
            </a:r>
            <a:r>
              <a:rPr lang="en-US" sz="1300" b="1" i="1" dirty="0">
                <a:solidFill>
                  <a:schemeClr val="tx1"/>
                </a:solidFill>
              </a:rPr>
              <a:t>e</a:t>
            </a:r>
            <a:r>
              <a:rPr lang="en-US" sz="1300" i="1" dirty="0">
                <a:solidFill>
                  <a:schemeClr val="tx1"/>
                </a:solidFill>
              </a:rPr>
              <a:t>loos, nutt</a:t>
            </a:r>
            <a:r>
              <a:rPr lang="en-US" sz="1300" b="1" i="1" dirty="0">
                <a:solidFill>
                  <a:schemeClr val="tx1"/>
                </a:solidFill>
              </a:rPr>
              <a:t>e</a:t>
            </a:r>
            <a:r>
              <a:rPr lang="en-US" sz="1300" i="1" dirty="0">
                <a:solidFill>
                  <a:schemeClr val="tx1"/>
                </a:solidFill>
              </a:rPr>
              <a:t>loos</a:t>
            </a:r>
            <a:endParaRPr lang="en-US" sz="1300" dirty="0"/>
          </a:p>
        </p:txBody>
      </p:sp>
      <p:sp>
        <p:nvSpPr>
          <p:cNvPr id="55" name="Shape 52"/>
          <p:cNvSpPr/>
          <p:nvPr/>
        </p:nvSpPr>
        <p:spPr>
          <a:xfrm>
            <a:off x="7452360" y="1463040"/>
            <a:ext cx="4187952" cy="4160520"/>
          </a:xfrm>
          <a:prstGeom prst="roundRect">
            <a:avLst>
              <a:gd name="adj" fmla="val 2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635240" y="1536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-en : la matière</a:t>
            </a:r>
            <a:endParaRPr lang="en-US" sz="1600" dirty="0"/>
          </a:p>
        </p:txBody>
      </p:sp>
      <p:pic>
        <p:nvPicPr>
          <p:cNvPr id="5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554480"/>
            <a:ext cx="685800" cy="685800"/>
          </a:xfrm>
          <a:prstGeom prst="rect">
            <a:avLst/>
          </a:prstGeom>
        </p:spPr>
      </p:pic>
      <p:sp>
        <p:nvSpPr>
          <p:cNvPr id="58" name="Shape 54"/>
          <p:cNvSpPr/>
          <p:nvPr/>
        </p:nvSpPr>
        <p:spPr>
          <a:xfrm>
            <a:off x="7635240" y="2286000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635240" y="2286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hout</a:t>
            </a:r>
            <a:endParaRPr lang="en-US" sz="1500" dirty="0"/>
          </a:p>
        </p:txBody>
      </p:sp>
      <p:sp>
        <p:nvSpPr>
          <p:cNvPr id="60" name="Text 56"/>
          <p:cNvSpPr txBox="1"/>
          <p:nvPr/>
        </p:nvSpPr>
        <p:spPr>
          <a:xfrm>
            <a:off x="9098280" y="2286000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9601200" y="2286000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9601200" y="2286000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houten</a:t>
            </a:r>
            <a:endParaRPr lang="en-US" sz="1500" dirty="0"/>
          </a:p>
        </p:txBody>
      </p:sp>
      <p:sp>
        <p:nvSpPr>
          <p:cNvPr id="63" name="Shape 59"/>
          <p:cNvSpPr/>
          <p:nvPr/>
        </p:nvSpPr>
        <p:spPr>
          <a:xfrm>
            <a:off x="7635240" y="2889504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635240" y="28895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goud</a:t>
            </a:r>
            <a:endParaRPr lang="en-US" sz="1500" dirty="0"/>
          </a:p>
        </p:txBody>
      </p:sp>
      <p:sp>
        <p:nvSpPr>
          <p:cNvPr id="65" name="Text 61"/>
          <p:cNvSpPr txBox="1"/>
          <p:nvPr/>
        </p:nvSpPr>
        <p:spPr>
          <a:xfrm>
            <a:off x="9098280" y="2889504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66" name="Shape 62"/>
          <p:cNvSpPr/>
          <p:nvPr/>
        </p:nvSpPr>
        <p:spPr>
          <a:xfrm>
            <a:off x="9601200" y="2889504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601200" y="2889504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gouden</a:t>
            </a:r>
            <a:endParaRPr lang="en-US" sz="1500" dirty="0"/>
          </a:p>
        </p:txBody>
      </p:sp>
      <p:sp>
        <p:nvSpPr>
          <p:cNvPr id="68" name="Shape 64"/>
          <p:cNvSpPr/>
          <p:nvPr/>
        </p:nvSpPr>
        <p:spPr>
          <a:xfrm>
            <a:off x="7635240" y="3493008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7635240" y="34930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glas</a:t>
            </a:r>
            <a:endParaRPr lang="en-US" sz="1500" dirty="0"/>
          </a:p>
        </p:txBody>
      </p:sp>
      <p:sp>
        <p:nvSpPr>
          <p:cNvPr id="70" name="Text 66"/>
          <p:cNvSpPr txBox="1"/>
          <p:nvPr/>
        </p:nvSpPr>
        <p:spPr>
          <a:xfrm>
            <a:off x="9098280" y="3493008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71" name="Shape 67"/>
          <p:cNvSpPr/>
          <p:nvPr/>
        </p:nvSpPr>
        <p:spPr>
          <a:xfrm>
            <a:off x="9601200" y="3493008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9601200" y="3493008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glazen</a:t>
            </a:r>
            <a:endParaRPr lang="en-US" sz="1500" dirty="0"/>
          </a:p>
        </p:txBody>
      </p:sp>
      <p:sp>
        <p:nvSpPr>
          <p:cNvPr id="73" name="Shape 69"/>
          <p:cNvSpPr/>
          <p:nvPr/>
        </p:nvSpPr>
        <p:spPr>
          <a:xfrm>
            <a:off x="7635240" y="4096512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7635240" y="4096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de wol</a:t>
            </a:r>
            <a:endParaRPr lang="en-US" sz="1500" dirty="0"/>
          </a:p>
        </p:txBody>
      </p:sp>
      <p:sp>
        <p:nvSpPr>
          <p:cNvPr id="75" name="Text 71"/>
          <p:cNvSpPr txBox="1"/>
          <p:nvPr/>
        </p:nvSpPr>
        <p:spPr>
          <a:xfrm>
            <a:off x="9098280" y="4096512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76" name="Shape 72"/>
          <p:cNvSpPr/>
          <p:nvPr/>
        </p:nvSpPr>
        <p:spPr>
          <a:xfrm>
            <a:off x="9601200" y="4096512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601200" y="4096512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wollen</a:t>
            </a:r>
            <a:endParaRPr lang="en-US" sz="1500" dirty="0"/>
          </a:p>
        </p:txBody>
      </p:sp>
      <p:sp>
        <p:nvSpPr>
          <p:cNvPr id="78" name="Text 74"/>
          <p:cNvSpPr txBox="1"/>
          <p:nvPr/>
        </p:nvSpPr>
        <p:spPr>
          <a:xfrm>
            <a:off x="7635240" y="470916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invariables</a:t>
            </a:r>
            <a:r>
              <a:rPr lang="en-US" sz="1300" dirty="0">
                <a:solidFill>
                  <a:schemeClr val="tx1"/>
                </a:solidFill>
              </a:rPr>
              <a:t> (M21) : </a:t>
            </a:r>
            <a:r>
              <a:rPr lang="en-US" sz="1300" i="1" dirty="0">
                <a:solidFill>
                  <a:schemeClr val="tx1"/>
                </a:solidFill>
              </a:rPr>
              <a:t>een houten tafel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⚠ </a:t>
            </a:r>
            <a:r>
              <a:rPr lang="en-US" sz="1300" i="1" dirty="0">
                <a:solidFill>
                  <a:schemeClr val="tx1"/>
                </a:solidFill>
              </a:rPr>
              <a:t>plastic</a:t>
            </a:r>
            <a:r>
              <a:rPr lang="en-US" sz="1300" dirty="0">
                <a:solidFill>
                  <a:schemeClr val="tx1"/>
                </a:solidFill>
              </a:rPr>
              <a:t> ne change pas</a:t>
            </a:r>
            <a:endParaRPr lang="en-US" sz="1300" dirty="0"/>
          </a:p>
        </p:txBody>
      </p:sp>
      <p:sp>
        <p:nvSpPr>
          <p:cNvPr id="79" name="Shape 75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Retenez les paires de contraires : </a:t>
            </a:r>
            <a:r>
              <a:rPr lang="en-US" sz="1500" i="1" dirty="0">
                <a:solidFill>
                  <a:schemeClr val="bg1"/>
                </a:solidFill>
              </a:rPr>
              <a:t>hopeloos ↔ hoopvol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-baar = « qu’on peut…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187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89336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potable wa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481328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48132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drinken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2916936" y="148132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3209544" y="1481328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209544" y="14813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306824" y="148132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809744" y="1481328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9744" y="148132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drinkbaar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809744" y="197510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potable »</a:t>
            </a:r>
            <a:endParaRPr lang="en-US" sz="1150" dirty="0"/>
          </a:p>
        </p:txBody>
      </p:sp>
      <p:pic>
        <p:nvPicPr>
          <p:cNvPr id="25" name="Image 1" descr="fork and kni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21992"/>
            <a:ext cx="585216" cy="58521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271016" y="2267712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271016" y="226771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eten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2916936" y="226771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3209544" y="2267712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209544" y="226771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4306824" y="226771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32" name="Shape 27"/>
          <p:cNvSpPr/>
          <p:nvPr/>
        </p:nvSpPr>
        <p:spPr>
          <a:xfrm>
            <a:off x="4809744" y="2267712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809744" y="2267712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eetbaar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4809744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comestible »</a:t>
            </a:r>
            <a:endParaRPr lang="en-US" sz="1150" dirty="0"/>
          </a:p>
        </p:txBody>
      </p:sp>
      <p:pic>
        <p:nvPicPr>
          <p:cNvPr id="35" name="Image 2" descr="money with win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08376"/>
            <a:ext cx="585216" cy="585216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271016" y="3054096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271016" y="305409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betalen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2916936" y="305409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39" name="Shape 33"/>
          <p:cNvSpPr/>
          <p:nvPr/>
        </p:nvSpPr>
        <p:spPr>
          <a:xfrm>
            <a:off x="3209544" y="3054096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209544" y="305409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306824" y="305409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42" name="Shape 36"/>
          <p:cNvSpPr/>
          <p:nvPr/>
        </p:nvSpPr>
        <p:spPr>
          <a:xfrm>
            <a:off x="4809744" y="3054096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809744" y="305409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betaalbaar</a:t>
            </a:r>
            <a:endParaRPr lang="en-US" sz="1800" dirty="0"/>
          </a:p>
        </p:txBody>
      </p:sp>
      <p:sp>
        <p:nvSpPr>
          <p:cNvPr id="44" name="Text 38"/>
          <p:cNvSpPr txBox="1"/>
          <p:nvPr/>
        </p:nvSpPr>
        <p:spPr>
          <a:xfrm>
            <a:off x="4809744" y="35478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abordable »</a:t>
            </a:r>
            <a:endParaRPr lang="en-US" sz="1150" dirty="0"/>
          </a:p>
        </p:txBody>
      </p:sp>
      <p:pic>
        <p:nvPicPr>
          <p:cNvPr id="45" name="Image 3" descr="oncoming 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94760"/>
            <a:ext cx="585216" cy="585216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1271016" y="3840480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1271016" y="38404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bereiken</a:t>
            </a:r>
            <a:endParaRPr lang="en-US" sz="1800" dirty="0"/>
          </a:p>
        </p:txBody>
      </p:sp>
      <p:sp>
        <p:nvSpPr>
          <p:cNvPr id="48" name="Text 41"/>
          <p:cNvSpPr txBox="1"/>
          <p:nvPr/>
        </p:nvSpPr>
        <p:spPr>
          <a:xfrm>
            <a:off x="2916936" y="3840480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49" name="Shape 42"/>
          <p:cNvSpPr/>
          <p:nvPr/>
        </p:nvSpPr>
        <p:spPr>
          <a:xfrm>
            <a:off x="3209544" y="3840480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209544" y="38404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51" name="Text 44"/>
          <p:cNvSpPr txBox="1"/>
          <p:nvPr/>
        </p:nvSpPr>
        <p:spPr>
          <a:xfrm>
            <a:off x="4306824" y="384048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4809744" y="3840480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809744" y="384048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bereikbaar</a:t>
            </a:r>
            <a:endParaRPr lang="en-US" sz="1800" dirty="0"/>
          </a:p>
        </p:txBody>
      </p:sp>
      <p:sp>
        <p:nvSpPr>
          <p:cNvPr id="54" name="Text 47"/>
          <p:cNvSpPr txBox="1"/>
          <p:nvPr/>
        </p:nvSpPr>
        <p:spPr>
          <a:xfrm>
            <a:off x="4809744" y="43342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accessible, joignable »</a:t>
            </a:r>
            <a:endParaRPr lang="en-US" sz="1150" dirty="0"/>
          </a:p>
        </p:txBody>
      </p:sp>
      <p:pic>
        <p:nvPicPr>
          <p:cNvPr id="55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581144"/>
            <a:ext cx="585216" cy="585216"/>
          </a:xfrm>
          <a:prstGeom prst="rect">
            <a:avLst/>
          </a:prstGeom>
        </p:spPr>
      </p:pic>
      <p:sp>
        <p:nvSpPr>
          <p:cNvPr id="56" name="Shape 48"/>
          <p:cNvSpPr/>
          <p:nvPr/>
        </p:nvSpPr>
        <p:spPr>
          <a:xfrm>
            <a:off x="1271016" y="4626864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1271016" y="46268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lezen</a:t>
            </a:r>
            <a:endParaRPr lang="en-US" sz="1800" dirty="0"/>
          </a:p>
        </p:txBody>
      </p:sp>
      <p:sp>
        <p:nvSpPr>
          <p:cNvPr id="58" name="Text 50"/>
          <p:cNvSpPr txBox="1"/>
          <p:nvPr/>
        </p:nvSpPr>
        <p:spPr>
          <a:xfrm>
            <a:off x="2916936" y="462686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59" name="Shape 51"/>
          <p:cNvSpPr/>
          <p:nvPr/>
        </p:nvSpPr>
        <p:spPr>
          <a:xfrm>
            <a:off x="3209544" y="4626864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3209544" y="462686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61" name="Text 53"/>
          <p:cNvSpPr txBox="1"/>
          <p:nvPr/>
        </p:nvSpPr>
        <p:spPr>
          <a:xfrm>
            <a:off x="4306824" y="462686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62" name="Shape 54"/>
          <p:cNvSpPr/>
          <p:nvPr/>
        </p:nvSpPr>
        <p:spPr>
          <a:xfrm>
            <a:off x="4809744" y="4626864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4809744" y="4626864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leesbaar</a:t>
            </a:r>
            <a:endParaRPr lang="en-US" sz="1800" dirty="0"/>
          </a:p>
        </p:txBody>
      </p:sp>
      <p:sp>
        <p:nvSpPr>
          <p:cNvPr id="64" name="Text 56"/>
          <p:cNvSpPr txBox="1"/>
          <p:nvPr/>
        </p:nvSpPr>
        <p:spPr>
          <a:xfrm>
            <a:off x="4809744" y="51206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lisible »</a:t>
            </a:r>
            <a:endParaRPr lang="en-US" sz="1150" dirty="0"/>
          </a:p>
        </p:txBody>
      </p:sp>
      <p:sp>
        <p:nvSpPr>
          <p:cNvPr id="65" name="Shape 57"/>
          <p:cNvSpPr/>
          <p:nvPr/>
        </p:nvSpPr>
        <p:spPr>
          <a:xfrm>
            <a:off x="7680960" y="1463040"/>
            <a:ext cx="3959352" cy="1600200"/>
          </a:xfrm>
          <a:prstGeom prst="roundRect">
            <a:avLst>
              <a:gd name="adj" fmla="val 6857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7863840" y="153619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7" name="Text 59"/>
          <p:cNvSpPr txBox="1"/>
          <p:nvPr/>
        </p:nvSpPr>
        <p:spPr>
          <a:xfrm>
            <a:off x="7863840" y="1938528"/>
            <a:ext cx="3593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radical + </a:t>
            </a:r>
            <a:r>
              <a:rPr lang="en-US" sz="1400" i="1" dirty="0">
                <a:solidFill>
                  <a:schemeClr val="tx1"/>
                </a:solidFill>
              </a:rPr>
              <a:t>-baar</a:t>
            </a:r>
            <a:r>
              <a:rPr lang="en-US" sz="1400" dirty="0">
                <a:solidFill>
                  <a:schemeClr val="tx1"/>
                </a:solidFill>
              </a:rPr>
              <a:t> = </a:t>
            </a:r>
            <a:r>
              <a:rPr lang="en-US" sz="1400" i="1" dirty="0">
                <a:solidFill>
                  <a:schemeClr val="tx1"/>
                </a:solidFill>
              </a:rPr>
              <a:t>-able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contraire : </a:t>
            </a:r>
            <a:r>
              <a:rPr lang="en-US" sz="1400" b="1" dirty="0">
                <a:solidFill>
                  <a:schemeClr val="tx1"/>
                </a:solidFill>
              </a:rPr>
              <a:t>on-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b="1" i="1" dirty="0">
                <a:solidFill>
                  <a:schemeClr val="tx1"/>
                </a:solidFill>
              </a:rPr>
              <a:t>on</a:t>
            </a:r>
            <a:r>
              <a:rPr lang="en-US" sz="1400" i="1" dirty="0">
                <a:solidFill>
                  <a:schemeClr val="tx1"/>
                </a:solidFill>
              </a:rPr>
              <a:t>betaalbaar, </a:t>
            </a:r>
            <a:r>
              <a:rPr lang="en-US" sz="1400" b="1" i="1" dirty="0">
                <a:solidFill>
                  <a:schemeClr val="tx1"/>
                </a:solidFill>
              </a:rPr>
              <a:t>on</a:t>
            </a:r>
            <a:r>
              <a:rPr lang="en-US" sz="1400" i="1" dirty="0">
                <a:solidFill>
                  <a:schemeClr val="tx1"/>
                </a:solidFill>
              </a:rPr>
              <a:t>leesbaar</a:t>
            </a:r>
            <a:endParaRPr lang="en-US" sz="1400" dirty="0"/>
          </a:p>
        </p:txBody>
      </p:sp>
      <p:sp>
        <p:nvSpPr>
          <p:cNvPr id="68" name="Shape 60"/>
          <p:cNvSpPr/>
          <p:nvPr/>
        </p:nvSpPr>
        <p:spPr>
          <a:xfrm>
            <a:off x="7680960" y="3200400"/>
            <a:ext cx="3959352" cy="2194560"/>
          </a:xfrm>
          <a:prstGeom prst="roundRect">
            <a:avLst>
              <a:gd name="adj" fmla="val 500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7863840" y="327355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0" name="Text 62"/>
          <p:cNvSpPr txBox="1"/>
          <p:nvPr/>
        </p:nvSpPr>
        <p:spPr>
          <a:xfrm>
            <a:off x="7863840" y="3675888"/>
            <a:ext cx="35935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zien → </a:t>
            </a:r>
            <a:r>
              <a:rPr lang="en-US" sz="1400" b="1" i="1" dirty="0">
                <a:solidFill>
                  <a:schemeClr val="tx1"/>
                </a:solidFill>
              </a:rPr>
              <a:t>zicht</a:t>
            </a:r>
            <a:r>
              <a:rPr lang="en-US" sz="1400" i="1" dirty="0">
                <a:solidFill>
                  <a:schemeClr val="tx1"/>
                </a:solidFill>
              </a:rPr>
              <a:t>baar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gebruiken → </a:t>
            </a:r>
            <a:r>
              <a:rPr lang="en-US" sz="1400" b="1" i="1" dirty="0">
                <a:solidFill>
                  <a:schemeClr val="tx1"/>
                </a:solidFill>
              </a:rPr>
              <a:t>bruik</a:t>
            </a:r>
            <a:r>
              <a:rPr lang="en-US" sz="1400" i="1" dirty="0">
                <a:solidFill>
                  <a:schemeClr val="tx1"/>
                </a:solidFill>
              </a:rPr>
              <a:t>baar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mots français : </a:t>
            </a:r>
            <a:r>
              <a:rPr lang="en-US" sz="1400" i="1" dirty="0">
                <a:solidFill>
                  <a:schemeClr val="tx1"/>
                </a:solidFill>
              </a:rPr>
              <a:t>acceptabel, flexibel, rendabel</a:t>
            </a:r>
            <a:endParaRPr lang="en-US" sz="1400" dirty="0"/>
          </a:p>
        </p:txBody>
      </p:sp>
      <p:sp>
        <p:nvSpPr>
          <p:cNvPr id="71" name="Shape 63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Radical = la forme de </a:t>
            </a:r>
            <a:r>
              <a:rPr lang="en-US" sz="1500" i="1" dirty="0">
                <a:solidFill>
                  <a:schemeClr val="bg1"/>
                </a:solidFill>
              </a:rPr>
              <a:t>ik</a:t>
            </a:r>
            <a:r>
              <a:rPr lang="en-US" sz="1500" dirty="0">
                <a:solidFill>
                  <a:schemeClr val="bg1"/>
                </a:solidFill>
              </a:rPr>
              <a:t> : </a:t>
            </a:r>
            <a:r>
              <a:rPr lang="en-US" sz="1500" i="1" dirty="0">
                <a:solidFill>
                  <a:schemeClr val="bg1"/>
                </a:solidFill>
              </a:rPr>
              <a:t>lezen → ik </a:t>
            </a:r>
            <a:r>
              <a:rPr lang="en-US" sz="1500" b="1" i="1" dirty="0">
                <a:solidFill>
                  <a:schemeClr val="bg1"/>
                </a:solidFill>
              </a:rPr>
              <a:t>lees</a:t>
            </a:r>
            <a:r>
              <a:rPr lang="en-US" sz="1500" i="1" dirty="0">
                <a:solidFill>
                  <a:schemeClr val="bg1"/>
                </a:solidFill>
              </a:rPr>
              <a:t> → </a:t>
            </a:r>
            <a:r>
              <a:rPr lang="en-US" sz="1500" b="1" i="1" dirty="0">
                <a:solidFill>
                  <a:schemeClr val="bg1"/>
                </a:solidFill>
              </a:rPr>
              <a:t>lees</a:t>
            </a:r>
            <a:r>
              <a:rPr lang="en-US" sz="1500" i="1" dirty="0">
                <a:solidFill>
                  <a:schemeClr val="bg1"/>
                </a:solidFill>
              </a:rPr>
              <a:t>baar · eten → ik </a:t>
            </a:r>
            <a:r>
              <a:rPr lang="en-US" sz="1500" b="1" i="1" dirty="0">
                <a:solidFill>
                  <a:schemeClr val="bg1"/>
                </a:solidFill>
              </a:rPr>
              <a:t>eet</a:t>
            </a:r>
            <a:r>
              <a:rPr lang="en-US" sz="1500" i="1" dirty="0">
                <a:solidFill>
                  <a:schemeClr val="bg1"/>
                </a:solidFill>
              </a:rPr>
              <a:t> → </a:t>
            </a:r>
            <a:r>
              <a:rPr lang="en-US" sz="1500" b="1" i="1" dirty="0">
                <a:solidFill>
                  <a:schemeClr val="bg1"/>
                </a:solidFill>
              </a:rPr>
              <a:t>eet</a:t>
            </a:r>
            <a:r>
              <a:rPr lang="en-US" sz="1500" i="1" dirty="0">
                <a:solidFill>
                  <a:schemeClr val="bg1"/>
                </a:solidFill>
              </a:rPr>
              <a:t>baar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participes deviennent adjectifs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187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89336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94407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9440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-end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2084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le participe présent = « -ant »</a:t>
            </a:r>
            <a:endParaRPr lang="en-US" sz="1400" dirty="0"/>
          </a:p>
        </p:txBody>
      </p:sp>
      <p:pic>
        <p:nvPicPr>
          <p:cNvPr id="19" name="Image 0" descr="popc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554480"/>
            <a:ext cx="685800" cy="6858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256032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25603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boeien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377440" y="256032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2880360" y="2560320"/>
            <a:ext cx="1183716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80360" y="2560320"/>
            <a:ext cx="11837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boeiend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4246956" y="25603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passionnant »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31520" y="310896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1089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spannen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2377440" y="31089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2880360" y="310896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880360" y="310896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spannend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358791" y="310896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palpitant »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31520" y="365760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31520" y="36576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opvallen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2377440" y="365760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2880360" y="3657600"/>
            <a:ext cx="1407386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80360" y="3657600"/>
            <a:ext cx="1407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opvallend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4470626" y="3657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frappant »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31520" y="420624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4206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dringen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2377440" y="42062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2880360" y="420624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880360" y="420624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dringend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4358791" y="4206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urgent »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731520" y="4709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een </a:t>
            </a:r>
            <a:r>
              <a:rPr lang="en-US" sz="1400" b="1" i="1" dirty="0">
                <a:solidFill>
                  <a:schemeClr val="tx1"/>
                </a:solidFill>
              </a:rPr>
              <a:t>spannende</a:t>
            </a:r>
            <a:r>
              <a:rPr lang="en-US" sz="1400" i="1" dirty="0">
                <a:solidFill>
                  <a:schemeClr val="tx1"/>
                </a:solidFill>
              </a:rPr>
              <a:t> film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6199632" y="146304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382512" y="1572768"/>
            <a:ext cx="2166265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382512" y="1572768"/>
            <a:ext cx="21662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ge-…-t/-d/-en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6382512" y="2084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le participe passé = « -é » (pas de </a:t>
            </a:r>
            <a:r>
              <a:rPr lang="en-US" sz="1400" b="1" i="1" dirty="0">
                <a:solidFill>
                  <a:srgbClr val="6E4A9E"/>
                </a:solidFill>
              </a:rPr>
              <a:t>ge-</a:t>
            </a:r>
            <a:r>
              <a:rPr lang="en-US" sz="1400" b="1" i="1" dirty="0">
                <a:solidFill>
                  <a:srgbClr val="6E4A9E"/>
                </a:solidFill>
              </a:rPr>
              <a:t> après </a:t>
            </a:r>
            <a:r>
              <a:rPr lang="en-US" sz="1400" b="1" i="1" dirty="0">
                <a:solidFill>
                  <a:srgbClr val="6E4A9E"/>
                </a:solidFill>
              </a:rPr>
              <a:t>be-, ver-</a:t>
            </a:r>
            <a:r>
              <a:rPr lang="en-US" sz="1400" b="1" i="1" dirty="0">
                <a:solidFill>
                  <a:srgbClr val="6E4A9E"/>
                </a:solidFill>
              </a:rPr>
              <a:t>)</a:t>
            </a:r>
            <a:endParaRPr lang="en-US" sz="1400" dirty="0"/>
          </a:p>
        </p:txBody>
      </p:sp>
      <p:pic>
        <p:nvPicPr>
          <p:cNvPr id="49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554480"/>
            <a:ext cx="685800" cy="685800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6382512" y="256032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382512" y="25603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sluiten</a:t>
            </a:r>
            <a:endParaRPr lang="en-US" sz="1400" dirty="0"/>
          </a:p>
        </p:txBody>
      </p:sp>
      <p:sp>
        <p:nvSpPr>
          <p:cNvPr id="52" name="Text 47"/>
          <p:cNvSpPr txBox="1"/>
          <p:nvPr/>
        </p:nvSpPr>
        <p:spPr>
          <a:xfrm>
            <a:off x="8028432" y="256032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53" name="Shape 48"/>
          <p:cNvSpPr/>
          <p:nvPr/>
        </p:nvSpPr>
        <p:spPr>
          <a:xfrm>
            <a:off x="8531352" y="256032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531352" y="256032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gesloten</a:t>
            </a:r>
            <a:endParaRPr lang="en-US" sz="1400" dirty="0"/>
          </a:p>
        </p:txBody>
      </p:sp>
      <p:sp>
        <p:nvSpPr>
          <p:cNvPr id="55" name="Text 50"/>
          <p:cNvSpPr txBox="1"/>
          <p:nvPr/>
        </p:nvSpPr>
        <p:spPr>
          <a:xfrm>
            <a:off x="10009783" y="25603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fermé »</a:t>
            </a:r>
            <a:endParaRPr lang="en-US" sz="1200" dirty="0"/>
          </a:p>
        </p:txBody>
      </p:sp>
      <p:sp>
        <p:nvSpPr>
          <p:cNvPr id="56" name="Shape 51"/>
          <p:cNvSpPr/>
          <p:nvPr/>
        </p:nvSpPr>
        <p:spPr>
          <a:xfrm>
            <a:off x="6382512" y="310896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6382512" y="31089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trouwen</a:t>
            </a:r>
            <a:endParaRPr lang="en-US" sz="1400" dirty="0"/>
          </a:p>
        </p:txBody>
      </p:sp>
      <p:sp>
        <p:nvSpPr>
          <p:cNvPr id="58" name="Text 53"/>
          <p:cNvSpPr txBox="1"/>
          <p:nvPr/>
        </p:nvSpPr>
        <p:spPr>
          <a:xfrm>
            <a:off x="8028432" y="31089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8531352" y="310896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531352" y="310896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getrouwd</a:t>
            </a:r>
            <a:endParaRPr lang="en-US" sz="1400" dirty="0"/>
          </a:p>
        </p:txBody>
      </p:sp>
      <p:sp>
        <p:nvSpPr>
          <p:cNvPr id="61" name="Text 56"/>
          <p:cNvSpPr txBox="1"/>
          <p:nvPr/>
        </p:nvSpPr>
        <p:spPr>
          <a:xfrm>
            <a:off x="10009783" y="310896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marié »</a:t>
            </a:r>
            <a:endParaRPr lang="en-US" sz="1200" dirty="0"/>
          </a:p>
        </p:txBody>
      </p:sp>
      <p:sp>
        <p:nvSpPr>
          <p:cNvPr id="62" name="Shape 57"/>
          <p:cNvSpPr/>
          <p:nvPr/>
        </p:nvSpPr>
        <p:spPr>
          <a:xfrm>
            <a:off x="6382512" y="365760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6382512" y="36576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vermoeien</a:t>
            </a:r>
            <a:endParaRPr lang="en-US" sz="1400" dirty="0"/>
          </a:p>
        </p:txBody>
      </p:sp>
      <p:sp>
        <p:nvSpPr>
          <p:cNvPr id="64" name="Text 59"/>
          <p:cNvSpPr txBox="1"/>
          <p:nvPr/>
        </p:nvSpPr>
        <p:spPr>
          <a:xfrm>
            <a:off x="8028432" y="365760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65" name="Shape 60"/>
          <p:cNvSpPr/>
          <p:nvPr/>
        </p:nvSpPr>
        <p:spPr>
          <a:xfrm>
            <a:off x="8531352" y="365760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8531352" y="365760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vermoeid</a:t>
            </a:r>
            <a:endParaRPr lang="en-US" sz="1400" dirty="0"/>
          </a:p>
        </p:txBody>
      </p:sp>
      <p:sp>
        <p:nvSpPr>
          <p:cNvPr id="67" name="Text 62"/>
          <p:cNvSpPr txBox="1"/>
          <p:nvPr/>
        </p:nvSpPr>
        <p:spPr>
          <a:xfrm>
            <a:off x="10009783" y="3657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fatigué »</a:t>
            </a:r>
            <a:endParaRPr lang="en-US" sz="1200" dirty="0"/>
          </a:p>
        </p:txBody>
      </p:sp>
      <p:sp>
        <p:nvSpPr>
          <p:cNvPr id="68" name="Shape 63"/>
          <p:cNvSpPr/>
          <p:nvPr/>
        </p:nvSpPr>
        <p:spPr>
          <a:xfrm>
            <a:off x="6382512" y="420624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6382512" y="4206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interesseren</a:t>
            </a:r>
            <a:endParaRPr lang="en-US" sz="1400" dirty="0"/>
          </a:p>
        </p:txBody>
      </p:sp>
      <p:sp>
        <p:nvSpPr>
          <p:cNvPr id="70" name="Text 65"/>
          <p:cNvSpPr txBox="1"/>
          <p:nvPr/>
        </p:nvSpPr>
        <p:spPr>
          <a:xfrm>
            <a:off x="8028432" y="42062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71" name="Shape 66"/>
          <p:cNvSpPr/>
          <p:nvPr/>
        </p:nvSpPr>
        <p:spPr>
          <a:xfrm>
            <a:off x="8531352" y="4206240"/>
            <a:ext cx="1966560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8531352" y="4206240"/>
            <a:ext cx="19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geïnteresseerd</a:t>
            </a:r>
            <a:endParaRPr lang="en-US" sz="1400" dirty="0"/>
          </a:p>
        </p:txBody>
      </p:sp>
      <p:sp>
        <p:nvSpPr>
          <p:cNvPr id="73" name="Text 68"/>
          <p:cNvSpPr txBox="1"/>
          <p:nvPr/>
        </p:nvSpPr>
        <p:spPr>
          <a:xfrm>
            <a:off x="10680792" y="4206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intéressé »</a:t>
            </a:r>
            <a:endParaRPr lang="en-US" sz="1200" dirty="0"/>
          </a:p>
        </p:txBody>
      </p:sp>
      <p:sp>
        <p:nvSpPr>
          <p:cNvPr id="74" name="Text 69"/>
          <p:cNvSpPr txBox="1"/>
          <p:nvPr/>
        </p:nvSpPr>
        <p:spPr>
          <a:xfrm>
            <a:off x="6382512" y="4709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</a:t>
            </a:r>
            <a:r>
              <a:rPr lang="en-US" sz="1400" b="1" i="1" dirty="0">
                <a:solidFill>
                  <a:schemeClr val="tx1"/>
                </a:solidFill>
              </a:rPr>
              <a:t>gesloten</a:t>
            </a:r>
            <a:r>
              <a:rPr lang="en-US" sz="1400" i="1" dirty="0">
                <a:solidFill>
                  <a:schemeClr val="tx1"/>
                </a:solidFill>
              </a:rPr>
              <a:t> deur · een </a:t>
            </a:r>
            <a:r>
              <a:rPr lang="en-US" sz="1400" b="1" i="1" dirty="0">
                <a:solidFill>
                  <a:schemeClr val="tx1"/>
                </a:solidFill>
              </a:rPr>
              <a:t>getrouwde</a:t>
            </a:r>
            <a:r>
              <a:rPr lang="en-US" sz="1400" i="1" dirty="0">
                <a:solidFill>
                  <a:schemeClr val="tx1"/>
                </a:solidFill>
              </a:rPr>
              <a:t> collega</a:t>
            </a:r>
            <a:endParaRPr lang="en-US" sz="1400" dirty="0"/>
          </a:p>
        </p:txBody>
      </p:sp>
      <p:sp>
        <p:nvSpPr>
          <p:cNvPr id="75" name="Shape 70"/>
          <p:cNvSpPr/>
          <p:nvPr/>
        </p:nvSpPr>
        <p:spPr>
          <a:xfrm>
            <a:off x="548640" y="5230368"/>
            <a:ext cx="11091672" cy="987552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731520" y="5303520"/>
            <a:ext cx="10725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Le -e de l’adjectif (M21)</a:t>
            </a:r>
            <a:endParaRPr lang="en-US" sz="1500" dirty="0"/>
          </a:p>
        </p:txBody>
      </p:sp>
      <p:sp>
        <p:nvSpPr>
          <p:cNvPr id="77" name="Text 72"/>
          <p:cNvSpPr txBox="1"/>
          <p:nvPr/>
        </p:nvSpPr>
        <p:spPr>
          <a:xfrm>
            <a:off x="731520" y="5705856"/>
            <a:ext cx="10725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participe en </a:t>
            </a:r>
            <a:r>
              <a:rPr lang="en-US" sz="1350" i="1" dirty="0">
                <a:solidFill>
                  <a:schemeClr val="tx1"/>
                </a:solidFill>
              </a:rPr>
              <a:t>-en</a:t>
            </a:r>
            <a:r>
              <a:rPr lang="en-US" sz="1350" dirty="0">
                <a:solidFill>
                  <a:schemeClr val="tx1"/>
                </a:solidFill>
              </a:rPr>
              <a:t> : pas de </a:t>
            </a:r>
            <a:r>
              <a:rPr lang="en-US" sz="1350" i="1" dirty="0">
                <a:solidFill>
                  <a:schemeClr val="tx1"/>
                </a:solidFill>
              </a:rPr>
              <a:t>-e</a:t>
            </a:r>
            <a:r>
              <a:rPr lang="en-US" sz="1350" dirty="0">
                <a:solidFill>
                  <a:schemeClr val="tx1"/>
                </a:solidFill>
              </a:rPr>
              <a:t> en plus → </a:t>
            </a:r>
            <a:r>
              <a:rPr lang="en-US" sz="1350" i="1" dirty="0">
                <a:solidFill>
                  <a:schemeClr val="tx1"/>
                </a:solidFill>
              </a:rPr>
              <a:t>de gesloten deur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i="1" dirty="0">
                <a:solidFill>
                  <a:schemeClr val="tx1"/>
                </a:solidFill>
              </a:rPr>
              <a:t>interessant</a:t>
            </a:r>
            <a:r>
              <a:rPr lang="en-US" sz="1350" dirty="0">
                <a:solidFill>
                  <a:schemeClr val="tx1"/>
                </a:solidFill>
              </a:rPr>
              <a:t> = intéressant, </a:t>
            </a:r>
            <a:r>
              <a:rPr lang="en-US" sz="1350" i="1" dirty="0">
                <a:solidFill>
                  <a:schemeClr val="tx1"/>
                </a:solidFill>
              </a:rPr>
              <a:t>geïnteresseerd</a:t>
            </a:r>
            <a:r>
              <a:rPr lang="en-US" sz="1350" dirty="0">
                <a:solidFill>
                  <a:schemeClr val="tx1"/>
                </a:solidFill>
              </a:rPr>
              <a:t> = intéressé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nom au verbe : +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→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10632780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508760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50876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fiets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2962656" y="1508760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3255264" y="1508760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255264" y="150876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123944" y="150876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4626864" y="1508760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626864" y="150876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fietsen</a:t>
            </a:r>
            <a:endParaRPr lang="en-US" sz="1700" dirty="0"/>
          </a:p>
        </p:txBody>
      </p:sp>
      <p:pic>
        <p:nvPicPr>
          <p:cNvPr id="24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984"/>
            <a:ext cx="585216" cy="58521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1271016" y="2203704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1271016" y="220370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mail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2962656" y="220370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3255264" y="2203704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255264" y="220370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0" name="Text 25"/>
          <p:cNvSpPr txBox="1"/>
          <p:nvPr/>
        </p:nvSpPr>
        <p:spPr>
          <a:xfrm>
            <a:off x="4123944" y="220370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4626864" y="2203704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626864" y="220370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mailen</a:t>
            </a:r>
            <a:endParaRPr lang="en-US" sz="1700" dirty="0"/>
          </a:p>
        </p:txBody>
      </p:sp>
      <p:pic>
        <p:nvPicPr>
          <p:cNvPr id="33" name="Image 2" descr="ham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2928"/>
            <a:ext cx="585216" cy="58521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1271016" y="2898648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1016" y="289864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hamer</a:t>
            </a:r>
            <a:endParaRPr lang="en-US" sz="1700" dirty="0"/>
          </a:p>
        </p:txBody>
      </p:sp>
      <p:sp>
        <p:nvSpPr>
          <p:cNvPr id="36" name="Text 30"/>
          <p:cNvSpPr txBox="1"/>
          <p:nvPr/>
        </p:nvSpPr>
        <p:spPr>
          <a:xfrm>
            <a:off x="2962656" y="289864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37" name="Shape 31"/>
          <p:cNvSpPr/>
          <p:nvPr/>
        </p:nvSpPr>
        <p:spPr>
          <a:xfrm>
            <a:off x="3255264" y="2898648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3255264" y="2898648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4123944" y="289864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0" name="Shape 34"/>
          <p:cNvSpPr/>
          <p:nvPr/>
        </p:nvSpPr>
        <p:spPr>
          <a:xfrm>
            <a:off x="4626864" y="2898648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626864" y="289864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hameren</a:t>
            </a:r>
            <a:endParaRPr lang="en-US" sz="1700" dirty="0"/>
          </a:p>
        </p:txBody>
      </p:sp>
      <p:pic>
        <p:nvPicPr>
          <p:cNvPr id="42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47872"/>
            <a:ext cx="585216" cy="585216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1271016" y="3593592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271016" y="3593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het tennis</a:t>
            </a:r>
            <a:endParaRPr lang="en-US" sz="1700" dirty="0"/>
          </a:p>
        </p:txBody>
      </p:sp>
      <p:sp>
        <p:nvSpPr>
          <p:cNvPr id="45" name="Text 38"/>
          <p:cNvSpPr txBox="1"/>
          <p:nvPr/>
        </p:nvSpPr>
        <p:spPr>
          <a:xfrm>
            <a:off x="2962656" y="359359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46" name="Shape 39"/>
          <p:cNvSpPr/>
          <p:nvPr/>
        </p:nvSpPr>
        <p:spPr>
          <a:xfrm>
            <a:off x="3255264" y="3593592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255264" y="35935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48" name="Text 41"/>
          <p:cNvSpPr txBox="1"/>
          <p:nvPr/>
        </p:nvSpPr>
        <p:spPr>
          <a:xfrm>
            <a:off x="4123944" y="359359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9" name="Shape 42"/>
          <p:cNvSpPr/>
          <p:nvPr/>
        </p:nvSpPr>
        <p:spPr>
          <a:xfrm>
            <a:off x="4626864" y="3593592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626864" y="3593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tennissen</a:t>
            </a:r>
            <a:endParaRPr lang="en-US" sz="1700" dirty="0"/>
          </a:p>
        </p:txBody>
      </p:sp>
      <p:pic>
        <p:nvPicPr>
          <p:cNvPr id="51" name="Image 4" descr="ski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2816"/>
            <a:ext cx="585216" cy="585216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1271016" y="4288536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1271016" y="42885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ski</a:t>
            </a:r>
            <a:endParaRPr lang="en-US" sz="1700" dirty="0"/>
          </a:p>
        </p:txBody>
      </p:sp>
      <p:sp>
        <p:nvSpPr>
          <p:cNvPr id="54" name="Text 46"/>
          <p:cNvSpPr txBox="1"/>
          <p:nvPr/>
        </p:nvSpPr>
        <p:spPr>
          <a:xfrm>
            <a:off x="2962656" y="428853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55" name="Shape 47"/>
          <p:cNvSpPr/>
          <p:nvPr/>
        </p:nvSpPr>
        <p:spPr>
          <a:xfrm>
            <a:off x="3255264" y="4288536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3255264" y="42885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57" name="Text 49"/>
          <p:cNvSpPr txBox="1"/>
          <p:nvPr/>
        </p:nvSpPr>
        <p:spPr>
          <a:xfrm>
            <a:off x="4123944" y="428853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58" name="Shape 50"/>
          <p:cNvSpPr/>
          <p:nvPr/>
        </p:nvSpPr>
        <p:spPr>
          <a:xfrm>
            <a:off x="4626864" y="4288536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4626864" y="42885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skiën</a:t>
            </a:r>
            <a:endParaRPr lang="en-US" sz="1700" dirty="0"/>
          </a:p>
        </p:txBody>
      </p:sp>
      <p:sp>
        <p:nvSpPr>
          <p:cNvPr id="60" name="Shape 52"/>
          <p:cNvSpPr/>
          <p:nvPr/>
        </p:nvSpPr>
        <p:spPr>
          <a:xfrm>
            <a:off x="6446520" y="146304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6629400" y="153619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 : nom + -en</a:t>
            </a:r>
            <a:endParaRPr lang="en-US" sz="1500" dirty="0"/>
          </a:p>
        </p:txBody>
      </p:sp>
      <p:sp>
        <p:nvSpPr>
          <p:cNvPr id="62" name="Text 54"/>
          <p:cNvSpPr txBox="1"/>
          <p:nvPr/>
        </p:nvSpPr>
        <p:spPr>
          <a:xfrm>
            <a:off x="6629400" y="1938528"/>
            <a:ext cx="4828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très productif, surtout avec les mots anglais 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appen, googelen, sms’en, filmen</a:t>
            </a:r>
            <a:endParaRPr lang="en-US" sz="1400" dirty="0"/>
          </a:p>
        </p:txBody>
      </p:sp>
      <p:sp>
        <p:nvSpPr>
          <p:cNvPr id="63" name="Shape 55"/>
          <p:cNvSpPr/>
          <p:nvPr/>
        </p:nvSpPr>
        <p:spPr>
          <a:xfrm>
            <a:off x="6446520" y="301752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6629400" y="309067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Orthographe</a:t>
            </a:r>
            <a:endParaRPr lang="en-US" sz="1500" dirty="0"/>
          </a:p>
        </p:txBody>
      </p:sp>
      <p:sp>
        <p:nvSpPr>
          <p:cNvPr id="65" name="Text 57"/>
          <p:cNvSpPr txBox="1"/>
          <p:nvPr/>
        </p:nvSpPr>
        <p:spPr>
          <a:xfrm>
            <a:off x="6629400" y="3493008"/>
            <a:ext cx="4828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→ consonne double : </a:t>
            </a:r>
            <a:r>
              <a:rPr lang="en-US" sz="1400" i="1" dirty="0">
                <a:solidFill>
                  <a:schemeClr val="tx1"/>
                </a:solidFill>
              </a:rPr>
              <a:t>tenni</a:t>
            </a:r>
            <a:r>
              <a:rPr lang="en-US" sz="1400" b="1" i="1" dirty="0">
                <a:solidFill>
                  <a:schemeClr val="tx1"/>
                </a:solidFill>
              </a:rPr>
              <a:t>ss</a:t>
            </a:r>
            <a:r>
              <a:rPr lang="en-US" sz="1400" i="1" dirty="0">
                <a:solidFill>
                  <a:schemeClr val="tx1"/>
                </a:solidFill>
              </a:rPr>
              <a:t>en, cha</a:t>
            </a:r>
            <a:r>
              <a:rPr lang="en-US" sz="1400" b="1" i="1" dirty="0">
                <a:solidFill>
                  <a:schemeClr val="tx1"/>
                </a:solidFill>
              </a:rPr>
              <a:t>tt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tréma : </a:t>
            </a:r>
            <a:r>
              <a:rPr lang="en-US" sz="1400" i="1" dirty="0">
                <a:solidFill>
                  <a:schemeClr val="tx1"/>
                </a:solidFill>
              </a:rPr>
              <a:t>skiën</a:t>
            </a:r>
            <a:r>
              <a:rPr lang="en-US" sz="1400" dirty="0">
                <a:solidFill>
                  <a:schemeClr val="tx1"/>
                </a:solidFill>
              </a:rPr>
              <a:t> · apostrophe : </a:t>
            </a:r>
            <a:r>
              <a:rPr lang="en-US" sz="1400" i="1" dirty="0">
                <a:solidFill>
                  <a:schemeClr val="tx1"/>
                </a:solidFill>
              </a:rPr>
              <a:t>sms’en</a:t>
            </a:r>
            <a:endParaRPr lang="en-US" sz="1400" dirty="0"/>
          </a:p>
        </p:txBody>
      </p:sp>
      <p:sp>
        <p:nvSpPr>
          <p:cNvPr id="66" name="Shape 58"/>
          <p:cNvSpPr/>
          <p:nvPr/>
        </p:nvSpPr>
        <p:spPr>
          <a:xfrm>
            <a:off x="6446520" y="4572000"/>
            <a:ext cx="5193792" cy="1143000"/>
          </a:xfrm>
          <a:prstGeom prst="roundRect">
            <a:avLst>
              <a:gd name="adj" fmla="val 9600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6629400" y="464515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be- + nom : un complément direct</a:t>
            </a:r>
            <a:endParaRPr lang="en-US" sz="1500" dirty="0"/>
          </a:p>
        </p:txBody>
      </p:sp>
      <p:sp>
        <p:nvSpPr>
          <p:cNvPr id="68" name="Text 60"/>
          <p:cNvSpPr txBox="1"/>
          <p:nvPr/>
        </p:nvSpPr>
        <p:spPr>
          <a:xfrm>
            <a:off x="6629400" y="5047488"/>
            <a:ext cx="4828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het antwoord → </a:t>
            </a:r>
            <a:r>
              <a:rPr lang="en-US" sz="1400" b="1" i="1" dirty="0">
                <a:solidFill>
                  <a:schemeClr val="tx1"/>
                </a:solidFill>
              </a:rPr>
              <a:t>be</a:t>
            </a:r>
            <a:r>
              <a:rPr lang="en-US" sz="1400" i="1" dirty="0">
                <a:solidFill>
                  <a:schemeClr val="tx1"/>
                </a:solidFill>
              </a:rPr>
              <a:t>antwoorden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een vraag beantwoorden</a:t>
            </a:r>
            <a:endParaRPr lang="en-US" sz="1400" dirty="0"/>
          </a:p>
        </p:txBody>
      </p:sp>
      <p:sp>
        <p:nvSpPr>
          <p:cNvPr id="69" name="Shape 61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Et </a:t>
            </a:r>
            <a:r>
              <a:rPr lang="en-US" sz="1500" i="1" dirty="0">
                <a:solidFill>
                  <a:schemeClr val="bg1"/>
                </a:solidFill>
              </a:rPr>
              <a:t>-eren</a:t>
            </a:r>
            <a:r>
              <a:rPr lang="en-US" sz="1500" dirty="0">
                <a:solidFill>
                  <a:schemeClr val="bg1"/>
                </a:solidFill>
              </a:rPr>
              <a:t> pour les mots français : </a:t>
            </a:r>
            <a:r>
              <a:rPr lang="en-US" sz="1500" i="1" dirty="0">
                <a:solidFill>
                  <a:schemeClr val="bg1"/>
                </a:solidFill>
              </a:rPr>
              <a:t>de organisatie → </a:t>
            </a:r>
            <a:r>
              <a:rPr lang="en-US" sz="1500" b="1" i="1" dirty="0">
                <a:solidFill>
                  <a:schemeClr val="bg1"/>
                </a:solidFill>
              </a:rPr>
              <a:t>organiseren</a:t>
            </a:r>
            <a:r>
              <a:rPr lang="en-US" sz="1500" i="1" dirty="0">
                <a:solidFill>
                  <a:schemeClr val="bg1"/>
                </a:solidFill>
              </a:rPr>
              <a:t> · de controle → </a:t>
            </a:r>
            <a:r>
              <a:rPr lang="en-US" sz="1500" b="1" i="1" dirty="0">
                <a:solidFill>
                  <a:schemeClr val="bg1"/>
                </a:solidFill>
              </a:rPr>
              <a:t>controleren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Rendre plus… : ver- + adjectif +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→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10707624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508760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1508760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47574" y="1508760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47574" y="150876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groot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562558" y="1508760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2558" y="1508760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416550" y="150876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3873750" y="1508760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873750" y="150876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vergroten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873750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agrandir 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172200" y="1508760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72200" y="1508760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171134" y="1508760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71134" y="150876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klein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8186118" y="1508760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86118" y="1508760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9040110" y="150876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9497310" y="1508760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497310" y="150876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verkleinen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497310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réduire »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48640" y="2295144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2295144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1547574" y="2295144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547574" y="229514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beter</a:t>
            </a:r>
            <a:endParaRPr lang="en-US" sz="1700" dirty="0"/>
          </a:p>
        </p:txBody>
      </p:sp>
      <p:sp>
        <p:nvSpPr>
          <p:cNvPr id="39" name="Shape 36"/>
          <p:cNvSpPr/>
          <p:nvPr/>
        </p:nvSpPr>
        <p:spPr>
          <a:xfrm>
            <a:off x="2562558" y="2295144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562558" y="2295144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3416550" y="2295144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42" name="Shape 39"/>
          <p:cNvSpPr/>
          <p:nvPr/>
        </p:nvSpPr>
        <p:spPr>
          <a:xfrm>
            <a:off x="3873750" y="2295144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873750" y="2295144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verbeteren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3873750" y="2807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améliorer »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172200" y="2295144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72200" y="2295144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7171134" y="2295144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71134" y="229514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warm</a:t>
            </a:r>
            <a:endParaRPr lang="en-US" sz="1700" dirty="0"/>
          </a:p>
        </p:txBody>
      </p:sp>
      <p:sp>
        <p:nvSpPr>
          <p:cNvPr id="49" name="Shape 46"/>
          <p:cNvSpPr/>
          <p:nvPr/>
        </p:nvSpPr>
        <p:spPr>
          <a:xfrm>
            <a:off x="8186118" y="2295144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186118" y="2295144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51" name="Text 48"/>
          <p:cNvSpPr txBox="1"/>
          <p:nvPr/>
        </p:nvSpPr>
        <p:spPr>
          <a:xfrm>
            <a:off x="9040110" y="2295144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9497310" y="2295144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497310" y="2295144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verwarmen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9497310" y="2807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chauffer »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548640" y="3081528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48640" y="3081528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57" name="Shape 54"/>
          <p:cNvSpPr/>
          <p:nvPr/>
        </p:nvSpPr>
        <p:spPr>
          <a:xfrm>
            <a:off x="1547574" y="3081528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547574" y="308152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nieuw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2562558" y="3081528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562558" y="3081528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61" name="Text 58"/>
          <p:cNvSpPr txBox="1"/>
          <p:nvPr/>
        </p:nvSpPr>
        <p:spPr>
          <a:xfrm>
            <a:off x="3416550" y="308152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3873750" y="3081528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873750" y="3081528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vernieuwen</a:t>
            </a:r>
            <a:endParaRPr lang="en-US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3873750" y="35935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renouveler »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172200" y="3081528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172200" y="3081528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7171134" y="3081528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171134" y="308152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lang</a:t>
            </a:r>
            <a:endParaRPr lang="en-US" sz="1700" dirty="0"/>
          </a:p>
        </p:txBody>
      </p:sp>
      <p:sp>
        <p:nvSpPr>
          <p:cNvPr id="69" name="Shape 66"/>
          <p:cNvSpPr/>
          <p:nvPr/>
        </p:nvSpPr>
        <p:spPr>
          <a:xfrm>
            <a:off x="8186118" y="3081528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186118" y="3081528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71" name="Text 68"/>
          <p:cNvSpPr txBox="1"/>
          <p:nvPr/>
        </p:nvSpPr>
        <p:spPr>
          <a:xfrm>
            <a:off x="9040110" y="308152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72" name="Shape 69"/>
          <p:cNvSpPr/>
          <p:nvPr/>
        </p:nvSpPr>
        <p:spPr>
          <a:xfrm>
            <a:off x="9497310" y="3081528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97310" y="3081528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verlengen</a:t>
            </a:r>
            <a:endParaRPr lang="en-US" sz="1700" dirty="0"/>
          </a:p>
        </p:txBody>
      </p:sp>
      <p:sp>
        <p:nvSpPr>
          <p:cNvPr id="74" name="Text 71"/>
          <p:cNvSpPr txBox="1"/>
          <p:nvPr/>
        </p:nvSpPr>
        <p:spPr>
          <a:xfrm>
            <a:off x="9497310" y="35935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prolonger »</a:t>
            </a:r>
            <a:endParaRPr lang="en-US" sz="1150" dirty="0"/>
          </a:p>
        </p:txBody>
      </p:sp>
      <p:pic>
        <p:nvPicPr>
          <p:cNvPr id="75" name="Image 0" descr="chart increa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731520" cy="731520"/>
          </a:xfrm>
          <a:prstGeom prst="rect">
            <a:avLst/>
          </a:prstGeom>
        </p:spPr>
      </p:pic>
      <p:sp>
        <p:nvSpPr>
          <p:cNvPr id="76" name="Shape 72"/>
          <p:cNvSpPr/>
          <p:nvPr/>
        </p:nvSpPr>
        <p:spPr>
          <a:xfrm>
            <a:off x="1417320" y="3931920"/>
            <a:ext cx="4754880" cy="1691640"/>
          </a:xfrm>
          <a:prstGeom prst="roundRect">
            <a:avLst>
              <a:gd name="adj" fmla="val 6486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600200" y="40050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78" name="Text 74"/>
          <p:cNvSpPr txBox="1"/>
          <p:nvPr/>
        </p:nvSpPr>
        <p:spPr>
          <a:xfrm>
            <a:off x="1600200" y="4407408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ver-</a:t>
            </a:r>
            <a:r>
              <a:rPr lang="en-US" sz="1400" dirty="0">
                <a:solidFill>
                  <a:schemeClr val="tx1"/>
                </a:solidFill>
              </a:rPr>
              <a:t> + adjectif + </a:t>
            </a:r>
            <a:r>
              <a:rPr lang="en-US" sz="1400" i="1" dirty="0">
                <a:solidFill>
                  <a:schemeClr val="tx1"/>
                </a:solidFill>
              </a:rPr>
              <a:t>-en</a:t>
            </a:r>
            <a:r>
              <a:rPr lang="en-US" sz="1400" dirty="0">
                <a:solidFill>
                  <a:schemeClr val="tx1"/>
                </a:solidFill>
              </a:rPr>
              <a:t> = </a:t>
            </a:r>
            <a:r>
              <a:rPr lang="en-US" sz="1400" b="1" dirty="0">
                <a:solidFill>
                  <a:schemeClr val="tx1"/>
                </a:solidFill>
              </a:rPr>
              <a:t>rendre plus…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avec le comparatif : </a:t>
            </a:r>
            <a:r>
              <a:rPr lang="en-US" sz="1400" i="1" dirty="0">
                <a:solidFill>
                  <a:schemeClr val="tx1"/>
                </a:solidFill>
              </a:rPr>
              <a:t>verbeteren, verergeren, verminderen</a:t>
            </a:r>
            <a:endParaRPr lang="en-US" sz="1400" dirty="0"/>
          </a:p>
        </p:txBody>
      </p:sp>
      <p:sp>
        <p:nvSpPr>
          <p:cNvPr id="79" name="Shape 75"/>
          <p:cNvSpPr/>
          <p:nvPr/>
        </p:nvSpPr>
        <p:spPr>
          <a:xfrm>
            <a:off x="6355080" y="3931920"/>
            <a:ext cx="5285232" cy="1691640"/>
          </a:xfrm>
          <a:prstGeom prst="roundRect">
            <a:avLst>
              <a:gd name="adj" fmla="val 648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537960" y="4005072"/>
            <a:ext cx="4919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81" name="Text 77"/>
          <p:cNvSpPr txBox="1"/>
          <p:nvPr/>
        </p:nvSpPr>
        <p:spPr>
          <a:xfrm>
            <a:off x="6537960" y="4407408"/>
            <a:ext cx="4919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la voyelle change : </a:t>
            </a:r>
            <a:r>
              <a:rPr lang="en-US" sz="1350" i="1" dirty="0">
                <a:solidFill>
                  <a:schemeClr val="tx1"/>
                </a:solidFill>
              </a:rPr>
              <a:t>lang → verl</a:t>
            </a:r>
            <a:r>
              <a:rPr lang="en-US" sz="1350" b="1" i="1" dirty="0">
                <a:solidFill>
                  <a:schemeClr val="tx1"/>
                </a:solidFill>
              </a:rPr>
              <a:t>e</a:t>
            </a:r>
            <a:r>
              <a:rPr lang="en-US" sz="1350" i="1" dirty="0">
                <a:solidFill>
                  <a:schemeClr val="tx1"/>
                </a:solidFill>
              </a:rPr>
              <a:t>ngen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sans </a:t>
            </a:r>
            <a:r>
              <a:rPr lang="en-US" sz="1350" i="1" dirty="0">
                <a:solidFill>
                  <a:schemeClr val="tx1"/>
                </a:solidFill>
              </a:rPr>
              <a:t>ver-</a:t>
            </a:r>
            <a:r>
              <a:rPr lang="en-US" sz="1350" dirty="0">
                <a:solidFill>
                  <a:schemeClr val="tx1"/>
                </a:solidFill>
              </a:rPr>
              <a:t> : </a:t>
            </a:r>
            <a:r>
              <a:rPr lang="en-US" sz="1350" i="1" dirty="0">
                <a:solidFill>
                  <a:schemeClr val="tx1"/>
                </a:solidFill>
              </a:rPr>
              <a:t>open → openen · droog → drogen · leeg → legen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(ge)makkelijk → ver</a:t>
            </a:r>
            <a:r>
              <a:rPr lang="en-US" sz="1350" b="1" i="1" dirty="0">
                <a:solidFill>
                  <a:schemeClr val="tx1"/>
                </a:solidFill>
              </a:rPr>
              <a:t>ge</a:t>
            </a:r>
            <a:r>
              <a:rPr lang="en-US" sz="1350" i="1" dirty="0">
                <a:solidFill>
                  <a:schemeClr val="tx1"/>
                </a:solidFill>
              </a:rPr>
              <a:t>makkelijken</a:t>
            </a:r>
            <a:endParaRPr lang="en-US" sz="1350" dirty="0"/>
          </a:p>
        </p:txBody>
      </p:sp>
      <p:sp>
        <p:nvSpPr>
          <p:cNvPr id="82" name="Shape 78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 contraire avec un autre adjectif : </a:t>
            </a:r>
            <a:r>
              <a:rPr lang="en-US" sz="1500" i="1" dirty="0">
                <a:solidFill>
                  <a:schemeClr val="bg1"/>
                </a:solidFill>
              </a:rPr>
              <a:t>vergroten ↔ verkleinen · verlengen ↔ verkorten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L’adverbe :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307946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= ADVERBE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686032" y="941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= D</a:t>
            </a:r>
            <a:endParaRPr lang="en-US" sz="900" dirty="0"/>
          </a:p>
        </p:txBody>
      </p:sp>
      <p:pic>
        <p:nvPicPr>
          <p:cNvPr id="15" name="Image 0" descr="racing c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22960" cy="8229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554480" y="1600200"/>
            <a:ext cx="2797332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54480" y="1600200"/>
            <a:ext cx="2797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een snelle auto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206240" y="1554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=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846320" y="1600200"/>
            <a:ext cx="2797332" cy="54864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46320" y="1600200"/>
            <a:ext cx="2797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Hij rijdt snel.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21305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 : rapide → rapide</a:t>
            </a:r>
            <a:r>
              <a:rPr lang="en-US" sz="1400" b="1" dirty="0">
                <a:solidFill>
                  <a:schemeClr val="tx2"/>
                </a:solidFill>
              </a:rPr>
              <a:t>ment</a:t>
            </a:r>
            <a:r>
              <a:rPr lang="en-US" sz="1400" dirty="0">
                <a:solidFill>
                  <a:schemeClr val="tx2"/>
                </a:solidFill>
              </a:rPr>
              <a:t>   ·   NL : </a:t>
            </a:r>
            <a:r>
              <a:rPr lang="en-US" sz="1400" i="1" dirty="0">
                <a:solidFill>
                  <a:schemeClr val="tx2"/>
                </a:solidFill>
              </a:rPr>
              <a:t>snel → snel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48640" y="2468880"/>
            <a:ext cx="6675120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24688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néerlandais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2697480" y="2468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adjectif FR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24688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adverbe FR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48640" y="2907792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29077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duidelijk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2697480" y="290779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clair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4800600" y="29077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clairement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3383280"/>
            <a:ext cx="6675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85800" y="338328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voorzichtig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2697480" y="33832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prudent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800600" y="33832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prudemment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48640" y="3858768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5800" y="385876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langzaam</a:t>
            </a:r>
            <a:endParaRPr lang="en-US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2697480" y="38587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lent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800600" y="38587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lentement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548640" y="4334256"/>
            <a:ext cx="6675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85800" y="43342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echt</a:t>
            </a:r>
            <a:endParaRPr lang="en-US" sz="1600" dirty="0"/>
          </a:p>
        </p:txBody>
      </p:sp>
      <p:sp>
        <p:nvSpPr>
          <p:cNvPr id="40" name="Text 36"/>
          <p:cNvSpPr txBox="1"/>
          <p:nvPr/>
        </p:nvSpPr>
        <p:spPr>
          <a:xfrm>
            <a:off x="2697480" y="433425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vrai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4800600" y="433425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vraiment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48640" y="4809744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85800" y="480974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goed</a:t>
            </a:r>
            <a:endParaRPr lang="en-US" sz="1600" dirty="0"/>
          </a:p>
        </p:txBody>
      </p:sp>
      <p:sp>
        <p:nvSpPr>
          <p:cNvPr id="44" name="Text 40"/>
          <p:cNvSpPr txBox="1"/>
          <p:nvPr/>
        </p:nvSpPr>
        <p:spPr>
          <a:xfrm>
            <a:off x="2697480" y="48097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bon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4800600" y="48097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bien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7452360" y="2468880"/>
            <a:ext cx="4187952" cy="301752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635240" y="254203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7635240" y="2944368"/>
            <a:ext cx="38221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adverbes sans adjectif : </a:t>
            </a:r>
            <a:r>
              <a:rPr lang="en-US" sz="1400" b="1" i="1" dirty="0">
                <a:solidFill>
                  <a:schemeClr val="tx1"/>
                </a:solidFill>
              </a:rPr>
              <a:t>helaas</a:t>
            </a:r>
            <a:r>
              <a:rPr lang="en-US" sz="1400" dirty="0">
                <a:solidFill>
                  <a:schemeClr val="tx1"/>
                </a:solidFill>
              </a:rPr>
              <a:t> (malheureusement), </a:t>
            </a:r>
            <a:r>
              <a:rPr lang="en-US" sz="1400" b="1" i="1" dirty="0">
                <a:solidFill>
                  <a:schemeClr val="tx1"/>
                </a:solidFill>
              </a:rPr>
              <a:t>misschien</a:t>
            </a:r>
            <a:r>
              <a:rPr lang="en-US" sz="1400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chemeClr val="tx1"/>
                </a:solidFill>
              </a:rPr>
              <a:t>graag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gelukkig</a:t>
            </a:r>
            <a:r>
              <a:rPr lang="en-US" sz="1400" dirty="0">
                <a:solidFill>
                  <a:schemeClr val="tx1"/>
                </a:solidFill>
              </a:rPr>
              <a:t> = heureux </a:t>
            </a:r>
            <a:r>
              <a:rPr lang="en-US" sz="1400" b="1" dirty="0">
                <a:solidFill>
                  <a:schemeClr val="tx1"/>
                </a:solidFill>
              </a:rPr>
              <a:t>et</a:t>
            </a:r>
            <a:r>
              <a:rPr lang="en-US" sz="1400" dirty="0">
                <a:solidFill>
                  <a:schemeClr val="tx1"/>
                </a:solidFill>
              </a:rPr>
              <a:t> heureusement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-erwijs / -gewijs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gelukkig</a:t>
            </a:r>
            <a:r>
              <a:rPr lang="en-US" sz="1400" b="1" i="1" dirty="0">
                <a:solidFill>
                  <a:schemeClr val="tx1"/>
                </a:solidFill>
              </a:rPr>
              <a:t>erwijs</a:t>
            </a:r>
            <a:r>
              <a:rPr lang="en-US" sz="1400" i="1" dirty="0">
                <a:solidFill>
                  <a:schemeClr val="tx1"/>
                </a:solidFill>
              </a:rPr>
              <a:t>, stap</a:t>
            </a:r>
            <a:r>
              <a:rPr lang="en-US" sz="1400" b="1" i="1" dirty="0">
                <a:solidFill>
                  <a:schemeClr val="tx1"/>
                </a:solidFill>
              </a:rPr>
              <a:t>sgewijs</a:t>
            </a:r>
            <a:endParaRPr lang="en-US" sz="1400" dirty="0"/>
          </a:p>
        </p:txBody>
      </p:sp>
      <p:sp>
        <p:nvSpPr>
          <p:cNvPr id="49" name="Shape 45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⚠ ✗ </a:t>
            </a:r>
            <a:r>
              <a:rPr lang="en-US" sz="1600" i="1" dirty="0">
                <a:solidFill>
                  <a:schemeClr val="bg1"/>
                </a:solidFill>
              </a:rPr>
              <a:t>Hij werkt snellijk.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Hij werkt </a:t>
            </a:r>
            <a:r>
              <a:rPr lang="en-US" sz="1600" b="1" i="1" dirty="0">
                <a:solidFill>
                  <a:schemeClr val="bg1"/>
                </a:solidFill>
              </a:rPr>
              <a:t>snel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r>
              <a:rPr lang="en-US" sz="1600" dirty="0">
                <a:solidFill>
                  <a:schemeClr val="bg1"/>
                </a:solidFill>
              </a:rPr>
              <a:t> · L’adverbe ne prend </a:t>
            </a:r>
            <a:r>
              <a:rPr lang="en-US" sz="1600" b="1" dirty="0">
                <a:solidFill>
                  <a:schemeClr val="bg1"/>
                </a:solidFill>
              </a:rPr>
              <a:t>jamais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i="1" dirty="0">
                <a:solidFill>
                  <a:schemeClr val="bg1"/>
                </a:solidFill>
              </a:rPr>
              <a:t>-e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préfixes changent le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LES PRÉFIXES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ross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48640" cy="5486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371600" y="1600200"/>
            <a:ext cx="832236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0" y="1600200"/>
            <a:ext cx="832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on-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2340996" y="1600200"/>
            <a:ext cx="3547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le contraire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31520" y="219456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1945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mogelijk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103120" y="219456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2606040" y="2194560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194560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onmogelijk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2596896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5968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gezond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2103120" y="259689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2606040" y="2596896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06040" y="2596896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ongezond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31520" y="2999232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29992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bekend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2103120" y="2999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606040" y="2999232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06040" y="2999232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onbekend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163056" y="1463040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216" y="1572768"/>
            <a:ext cx="548640" cy="54864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986016" y="1600200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986016" y="1600200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her-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8099199" y="1600200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à nouveau (re-)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345936" y="219456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45936" y="21945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openen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7717536" y="219456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3" name="Shape 28"/>
          <p:cNvSpPr/>
          <p:nvPr/>
        </p:nvSpPr>
        <p:spPr>
          <a:xfrm>
            <a:off x="8220456" y="2194560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220456" y="2194560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heropenen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6345936" y="2596896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345936" y="25968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starten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7717536" y="259689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8" name="Shape 33"/>
          <p:cNvSpPr/>
          <p:nvPr/>
        </p:nvSpPr>
        <p:spPr>
          <a:xfrm>
            <a:off x="8220456" y="2596896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0456" y="2596896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herstarten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6345936" y="2999232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345936" y="29992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gebruiken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7717536" y="2999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3" name="Shape 38"/>
          <p:cNvSpPr/>
          <p:nvPr/>
        </p:nvSpPr>
        <p:spPr>
          <a:xfrm>
            <a:off x="8220456" y="2999232"/>
            <a:ext cx="164703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220456" y="2999232"/>
            <a:ext cx="1647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hergebruiken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548640" y="3538728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48456"/>
            <a:ext cx="548640" cy="54864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1371600" y="3675888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1371600" y="3675888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mis-</a:t>
            </a:r>
            <a:endParaRPr lang="en-US" sz="1800" dirty="0"/>
          </a:p>
        </p:txBody>
      </p:sp>
      <p:sp>
        <p:nvSpPr>
          <p:cNvPr id="49" name="Text 43"/>
          <p:cNvSpPr txBox="1"/>
          <p:nvPr/>
        </p:nvSpPr>
        <p:spPr>
          <a:xfrm>
            <a:off x="2484783" y="3675888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mal, de travers</a:t>
            </a:r>
            <a:endParaRPr lang="en-US" sz="1500" dirty="0"/>
          </a:p>
        </p:txBody>
      </p:sp>
      <p:sp>
        <p:nvSpPr>
          <p:cNvPr id="50" name="Shape 44"/>
          <p:cNvSpPr/>
          <p:nvPr/>
        </p:nvSpPr>
        <p:spPr>
          <a:xfrm>
            <a:off x="731520" y="4270248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31520" y="427024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lukken</a:t>
            </a:r>
            <a:endParaRPr lang="en-US" sz="1300" dirty="0"/>
          </a:p>
        </p:txBody>
      </p:sp>
      <p:sp>
        <p:nvSpPr>
          <p:cNvPr id="52" name="Text 46"/>
          <p:cNvSpPr txBox="1"/>
          <p:nvPr/>
        </p:nvSpPr>
        <p:spPr>
          <a:xfrm>
            <a:off x="2103120" y="427024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3" name="Shape 47"/>
          <p:cNvSpPr/>
          <p:nvPr/>
        </p:nvSpPr>
        <p:spPr>
          <a:xfrm>
            <a:off x="2606040" y="4270248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2606040" y="4270248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mislukken</a:t>
            </a:r>
            <a:endParaRPr lang="en-US" sz="1300" dirty="0"/>
          </a:p>
        </p:txBody>
      </p:sp>
      <p:sp>
        <p:nvSpPr>
          <p:cNvPr id="55" name="Shape 49"/>
          <p:cNvSpPr/>
          <p:nvPr/>
        </p:nvSpPr>
        <p:spPr>
          <a:xfrm>
            <a:off x="731520" y="4672584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31520" y="46725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gebruiken</a:t>
            </a:r>
            <a:endParaRPr lang="en-US" sz="1300" dirty="0"/>
          </a:p>
        </p:txBody>
      </p:sp>
      <p:sp>
        <p:nvSpPr>
          <p:cNvPr id="57" name="Text 51"/>
          <p:cNvSpPr txBox="1"/>
          <p:nvPr/>
        </p:nvSpPr>
        <p:spPr>
          <a:xfrm>
            <a:off x="2103120" y="467258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8" name="Shape 52"/>
          <p:cNvSpPr/>
          <p:nvPr/>
        </p:nvSpPr>
        <p:spPr>
          <a:xfrm>
            <a:off x="2606040" y="4672584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2606040" y="4672584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misbruiken</a:t>
            </a:r>
            <a:endParaRPr lang="en-US" sz="1300" dirty="0"/>
          </a:p>
        </p:txBody>
      </p:sp>
      <p:sp>
        <p:nvSpPr>
          <p:cNvPr id="60" name="Shape 54"/>
          <p:cNvSpPr/>
          <p:nvPr/>
        </p:nvSpPr>
        <p:spPr>
          <a:xfrm>
            <a:off x="731520" y="507492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0749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lopen</a:t>
            </a:r>
            <a:endParaRPr lang="en-US" sz="1300" dirty="0"/>
          </a:p>
        </p:txBody>
      </p:sp>
      <p:sp>
        <p:nvSpPr>
          <p:cNvPr id="62" name="Text 56"/>
          <p:cNvSpPr txBox="1"/>
          <p:nvPr/>
        </p:nvSpPr>
        <p:spPr>
          <a:xfrm>
            <a:off x="2103120" y="5074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63" name="Shape 57"/>
          <p:cNvSpPr/>
          <p:nvPr/>
        </p:nvSpPr>
        <p:spPr>
          <a:xfrm>
            <a:off x="2606040" y="5074920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2606040" y="5074920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mislopen</a:t>
            </a:r>
            <a:endParaRPr lang="en-US" sz="1300" dirty="0"/>
          </a:p>
        </p:txBody>
      </p:sp>
      <p:sp>
        <p:nvSpPr>
          <p:cNvPr id="65" name="Shape 59"/>
          <p:cNvSpPr/>
          <p:nvPr/>
        </p:nvSpPr>
        <p:spPr>
          <a:xfrm>
            <a:off x="6163056" y="3538728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6" name="Image 3" descr="unlock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3648456"/>
            <a:ext cx="548640" cy="548640"/>
          </a:xfrm>
          <a:prstGeom prst="rect">
            <a:avLst/>
          </a:prstGeom>
        </p:spPr>
      </p:pic>
      <p:sp>
        <p:nvSpPr>
          <p:cNvPr id="67" name="Shape 60"/>
          <p:cNvSpPr/>
          <p:nvPr/>
        </p:nvSpPr>
        <p:spPr>
          <a:xfrm>
            <a:off x="6986016" y="3675888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1"/>
          <p:cNvSpPr txBox="1"/>
          <p:nvPr/>
        </p:nvSpPr>
        <p:spPr>
          <a:xfrm>
            <a:off x="6986016" y="3675888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ont-</a:t>
            </a:r>
            <a:endParaRPr lang="en-US" sz="1800" dirty="0"/>
          </a:p>
        </p:txBody>
      </p:sp>
      <p:sp>
        <p:nvSpPr>
          <p:cNvPr id="69" name="Text 62"/>
          <p:cNvSpPr txBox="1"/>
          <p:nvPr/>
        </p:nvSpPr>
        <p:spPr>
          <a:xfrm>
            <a:off x="8099199" y="3675888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enlever, défaire</a:t>
            </a:r>
            <a:endParaRPr lang="en-US" sz="1500" dirty="0"/>
          </a:p>
        </p:txBody>
      </p:sp>
      <p:sp>
        <p:nvSpPr>
          <p:cNvPr id="70" name="Shape 63"/>
          <p:cNvSpPr/>
          <p:nvPr/>
        </p:nvSpPr>
        <p:spPr>
          <a:xfrm>
            <a:off x="6345936" y="4270248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6345936" y="427024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dekken</a:t>
            </a:r>
            <a:endParaRPr lang="en-US" sz="1300" dirty="0"/>
          </a:p>
        </p:txBody>
      </p:sp>
      <p:sp>
        <p:nvSpPr>
          <p:cNvPr id="72" name="Text 65"/>
          <p:cNvSpPr txBox="1"/>
          <p:nvPr/>
        </p:nvSpPr>
        <p:spPr>
          <a:xfrm>
            <a:off x="7717536" y="427024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73" name="Shape 66"/>
          <p:cNvSpPr/>
          <p:nvPr/>
        </p:nvSpPr>
        <p:spPr>
          <a:xfrm>
            <a:off x="8220456" y="4270248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7"/>
          <p:cNvSpPr txBox="1"/>
          <p:nvPr/>
        </p:nvSpPr>
        <p:spPr>
          <a:xfrm>
            <a:off x="8220456" y="4270248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ontdekken</a:t>
            </a:r>
            <a:endParaRPr lang="en-US" sz="1300" dirty="0"/>
          </a:p>
        </p:txBody>
      </p:sp>
      <p:sp>
        <p:nvSpPr>
          <p:cNvPr id="75" name="Shape 68"/>
          <p:cNvSpPr/>
          <p:nvPr/>
        </p:nvSpPr>
        <p:spPr>
          <a:xfrm>
            <a:off x="6345936" y="4672584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6345936" y="46725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wikkelen</a:t>
            </a:r>
            <a:endParaRPr lang="en-US" sz="1300" dirty="0"/>
          </a:p>
        </p:txBody>
      </p:sp>
      <p:sp>
        <p:nvSpPr>
          <p:cNvPr id="77" name="Text 70"/>
          <p:cNvSpPr txBox="1"/>
          <p:nvPr/>
        </p:nvSpPr>
        <p:spPr>
          <a:xfrm>
            <a:off x="7717536" y="467258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78" name="Shape 71"/>
          <p:cNvSpPr/>
          <p:nvPr/>
        </p:nvSpPr>
        <p:spPr>
          <a:xfrm>
            <a:off x="8220456" y="4672584"/>
            <a:ext cx="1543185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2"/>
          <p:cNvSpPr txBox="1"/>
          <p:nvPr/>
        </p:nvSpPr>
        <p:spPr>
          <a:xfrm>
            <a:off x="8220456" y="4672584"/>
            <a:ext cx="15431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ontwikkelen</a:t>
            </a:r>
            <a:endParaRPr lang="en-US" sz="1300" dirty="0"/>
          </a:p>
        </p:txBody>
      </p:sp>
      <p:sp>
        <p:nvSpPr>
          <p:cNvPr id="80" name="Shape 73"/>
          <p:cNvSpPr/>
          <p:nvPr/>
        </p:nvSpPr>
        <p:spPr>
          <a:xfrm>
            <a:off x="6345936" y="507492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81" name="Text 74"/>
          <p:cNvSpPr txBox="1"/>
          <p:nvPr/>
        </p:nvSpPr>
        <p:spPr>
          <a:xfrm>
            <a:off x="6345936" y="50749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dooien</a:t>
            </a:r>
            <a:endParaRPr lang="en-US" sz="1300" dirty="0"/>
          </a:p>
        </p:txBody>
      </p:sp>
      <p:sp>
        <p:nvSpPr>
          <p:cNvPr id="82" name="Text 75"/>
          <p:cNvSpPr txBox="1"/>
          <p:nvPr/>
        </p:nvSpPr>
        <p:spPr>
          <a:xfrm>
            <a:off x="7717536" y="5074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83" name="Shape 76"/>
          <p:cNvSpPr/>
          <p:nvPr/>
        </p:nvSpPr>
        <p:spPr>
          <a:xfrm>
            <a:off x="8220456" y="5074920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7"/>
          <p:cNvSpPr txBox="1"/>
          <p:nvPr/>
        </p:nvSpPr>
        <p:spPr>
          <a:xfrm>
            <a:off x="8220456" y="5074920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ontdooien</a:t>
            </a:r>
            <a:endParaRPr lang="en-US" sz="1300" dirty="0"/>
          </a:p>
        </p:txBody>
      </p:sp>
      <p:sp>
        <p:nvSpPr>
          <p:cNvPr id="85" name="Shape 78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9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Le préfixe garde la catégorie (sauf </a:t>
            </a:r>
            <a:r>
              <a:rPr lang="en-US" sz="1450" i="1" dirty="0">
                <a:solidFill>
                  <a:schemeClr val="bg1"/>
                </a:solidFill>
              </a:rPr>
              <a:t>be-</a:t>
            </a:r>
            <a:r>
              <a:rPr lang="en-US" sz="1450" dirty="0">
                <a:solidFill>
                  <a:schemeClr val="bg1"/>
                </a:solidFill>
              </a:rPr>
              <a:t>, </a:t>
            </a:r>
            <a:r>
              <a:rPr lang="en-US" sz="1450" i="1" dirty="0">
                <a:solidFill>
                  <a:schemeClr val="bg1"/>
                </a:solidFill>
              </a:rPr>
              <a:t>ver-</a:t>
            </a:r>
            <a:r>
              <a:rPr lang="en-US" sz="1450" dirty="0">
                <a:solidFill>
                  <a:schemeClr val="bg1"/>
                </a:solidFill>
              </a:rPr>
              <a:t>). ⚠ </a:t>
            </a:r>
            <a:r>
              <a:rPr lang="en-US" sz="1450" i="1" dirty="0">
                <a:solidFill>
                  <a:schemeClr val="bg1"/>
                </a:solidFill>
              </a:rPr>
              <a:t>on-</a:t>
            </a:r>
            <a:r>
              <a:rPr lang="en-US" sz="1450" dirty="0">
                <a:solidFill>
                  <a:schemeClr val="bg1"/>
                </a:solidFill>
              </a:rPr>
              <a:t> pas avec tous : ✗ </a:t>
            </a:r>
            <a:r>
              <a:rPr lang="en-US" sz="1450" i="1" dirty="0">
                <a:solidFill>
                  <a:schemeClr val="bg1"/>
                </a:solidFill>
              </a:rPr>
              <a:t>onslecht</a:t>
            </a:r>
            <a:r>
              <a:rPr lang="en-US" sz="1450" dirty="0">
                <a:solidFill>
                  <a:schemeClr val="bg1"/>
                </a:solidFill>
              </a:rPr>
              <a:t> → </a:t>
            </a:r>
            <a:r>
              <a:rPr lang="en-US" sz="1450" i="1" dirty="0">
                <a:solidFill>
                  <a:schemeClr val="bg1"/>
                </a:solidFill>
              </a:rPr>
              <a:t>goed</a:t>
            </a:r>
            <a:r>
              <a:rPr lang="en-US" sz="1450" dirty="0">
                <a:solidFill>
                  <a:schemeClr val="bg1"/>
                </a:solidFill>
              </a:rPr>
              <a:t>. </a:t>
            </a:r>
            <a:r>
              <a:rPr lang="en-US" sz="1450" i="1" dirty="0">
                <a:solidFill>
                  <a:schemeClr val="bg1"/>
                </a:solidFill>
              </a:rPr>
              <a:t>herhalen</a:t>
            </a:r>
            <a:r>
              <a:rPr lang="en-US" sz="1450" dirty="0">
                <a:solidFill>
                  <a:schemeClr val="bg1"/>
                </a:solidFill>
              </a:rPr>
              <a:t> = répéter (sens figé).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boussole : le suffixe donne l’article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pic>
        <p:nvPicPr>
          <p:cNvPr id="5" name="Image 0" descr="com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4" y="141732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86000"/>
            <a:ext cx="5239512" cy="3246120"/>
          </a:xfrm>
          <a:prstGeom prst="roundRect">
            <a:avLst>
              <a:gd name="adj" fmla="val 3380"/>
            </a:avLst>
          </a:prstGeom>
          <a:solidFill>
            <a:srgbClr val="E6EBF2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48640" y="2286000"/>
            <a:ext cx="5239512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228600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-ing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vergadering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-heid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vrijheid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-te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24612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lengte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-iteit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kwaliteit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-(a)tie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24612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informatie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3152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-er, -ster (personne)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324612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leraar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73152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-ij, -erij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4612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bakkerij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73152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-schap (relation)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324612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vriendschap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0" y="2286000"/>
            <a:ext cx="5239512" cy="3246120"/>
          </a:xfrm>
          <a:prstGeom prst="roundRect">
            <a:avLst>
              <a:gd name="adj" fmla="val 3380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00800" y="2286000"/>
            <a:ext cx="5239512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00800" y="228600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58368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het + infinitif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909828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roken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658368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ge- + radical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909828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gepraat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-je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909828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huisje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-isme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909828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toerisme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-ment, -um</a:t>
            </a:r>
            <a:endParaRPr lang="en-US" sz="1350" dirty="0"/>
          </a:p>
        </p:txBody>
      </p:sp>
      <p:sp>
        <p:nvSpPr>
          <p:cNvPr id="37" name="Text 33"/>
          <p:cNvSpPr txBox="1"/>
          <p:nvPr/>
        </p:nvSpPr>
        <p:spPr>
          <a:xfrm>
            <a:off x="909828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document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658368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-sel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909828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mengsel</a:t>
            </a:r>
            <a:endParaRPr lang="en-US" sz="1350" dirty="0"/>
          </a:p>
        </p:txBody>
      </p:sp>
      <p:sp>
        <p:nvSpPr>
          <p:cNvPr id="40" name="Text 36"/>
          <p:cNvSpPr txBox="1"/>
          <p:nvPr/>
        </p:nvSpPr>
        <p:spPr>
          <a:xfrm>
            <a:off x="658368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-schap (statut)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909828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lidmaatschap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658368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be-, ver-, ont- + radical</a:t>
            </a:r>
            <a:endParaRPr lang="en-US" sz="1350" dirty="0"/>
          </a:p>
        </p:txBody>
      </p:sp>
      <p:sp>
        <p:nvSpPr>
          <p:cNvPr id="43" name="Text 39"/>
          <p:cNvSpPr txBox="1"/>
          <p:nvPr/>
        </p:nvSpPr>
        <p:spPr>
          <a:xfrm>
            <a:off x="909828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begin (souvent)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Comme au M14 : le </a:t>
            </a:r>
            <a:r>
              <a:rPr lang="en-US" sz="1600" b="1" dirty="0">
                <a:solidFill>
                  <a:schemeClr val="tx2"/>
                </a:solidFill>
              </a:rPr>
              <a:t>dernier</a:t>
            </a:r>
            <a:r>
              <a:rPr lang="en-US" sz="1600" dirty="0">
                <a:solidFill>
                  <a:schemeClr val="tx2"/>
                </a:solidFill>
              </a:rPr>
              <a:t> élément commande.</a:t>
            </a:r>
            <a:endParaRPr lang="en-US" sz="1600" dirty="0"/>
          </a:p>
        </p:txBody>
      </p:sp>
      <p:sp>
        <p:nvSpPr>
          <p:cNvPr id="45" name="Text 41"/>
          <p:cNvSpPr txBox="1"/>
          <p:nvPr/>
        </p:nvSpPr>
        <p:spPr>
          <a:xfrm>
            <a:off x="6766560" y="1554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 </a:t>
            </a:r>
            <a:r>
              <a:rPr lang="en-US" sz="1500" i="1" dirty="0">
                <a:solidFill>
                  <a:schemeClr val="accent6"/>
                </a:solidFill>
              </a:rPr>
              <a:t>het schilderij · de datum · het gebergte · de verkoop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Les mots en </a:t>
            </a:r>
            <a:r>
              <a:rPr lang="en-US" sz="1600" i="1" dirty="0">
                <a:solidFill>
                  <a:schemeClr val="bg1"/>
                </a:solidFill>
              </a:rPr>
              <a:t>-ing, -heid, -te, -iteit, -tie</a:t>
            </a:r>
            <a:r>
              <a:rPr lang="en-US" sz="1600" dirty="0">
                <a:solidFill>
                  <a:schemeClr val="bg1"/>
                </a:solidFill>
              </a:rPr>
              <a:t> sont </a:t>
            </a:r>
            <a:r>
              <a:rPr lang="en-US" sz="1600" b="1" dirty="0">
                <a:solidFill>
                  <a:schemeClr val="bg1"/>
                </a:solidFill>
              </a:rPr>
              <a:t>toujours de</a:t>
            </a:r>
            <a:r>
              <a:rPr lang="en-US" sz="1600" dirty="0">
                <a:solidFill>
                  <a:schemeClr val="bg1"/>
                </a:solidFill>
              </a:rPr>
              <a:t> : une bonne nouvelle 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suit les règles du M4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 M4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Voyelle longue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syllabe ouverte : une seule lettre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468880"/>
            <a:ext cx="920106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468880"/>
            <a:ext cx="9201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groot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697346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063106" y="2468880"/>
            <a:ext cx="133549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63106" y="2468880"/>
            <a:ext cx="13354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vergroten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920106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108960"/>
            <a:ext cx="9201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droog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697346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063106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63106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drogen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3749040"/>
            <a:ext cx="1231646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749040"/>
            <a:ext cx="123164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droom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08886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374646" y="374904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74646" y="374904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dromen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syllabe fermée : deux lettres → </a:t>
            </a:r>
            <a:r>
              <a:rPr lang="en-US" sz="1300" i="1" dirty="0">
                <a:solidFill>
                  <a:schemeClr val="tx2"/>
                </a:solidFill>
              </a:rPr>
              <a:t>lezen → </a:t>
            </a:r>
            <a:r>
              <a:rPr lang="en-US" sz="1300" b="1" i="1" dirty="0">
                <a:solidFill>
                  <a:schemeClr val="tx2"/>
                </a:solidFill>
              </a:rPr>
              <a:t>lees</a:t>
            </a:r>
            <a:r>
              <a:rPr lang="en-US" sz="1300" i="1" dirty="0">
                <a:solidFill>
                  <a:schemeClr val="tx2"/>
                </a:solidFill>
              </a:rPr>
              <a:t>baar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291584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474464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② Voyelle courte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474464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la consonne se double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74464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474464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zon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544136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909896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9896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zonnig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474464" y="3108960"/>
            <a:ext cx="712413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474464" y="3108960"/>
            <a:ext cx="71241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wit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232597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5598357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598357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witten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4474464" y="3749040"/>
            <a:ext cx="143933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74464" y="3749040"/>
            <a:ext cx="14393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tennis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959523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325283" y="3749040"/>
            <a:ext cx="133549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25283" y="3749040"/>
            <a:ext cx="13354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tennissen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4474464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bakken → de ba</a:t>
            </a:r>
            <a:r>
              <a:rPr lang="en-US" sz="1300" b="1" i="1" dirty="0">
                <a:solidFill>
                  <a:schemeClr val="tx2"/>
                </a:solidFill>
              </a:rPr>
              <a:t>kk</a:t>
            </a:r>
            <a:r>
              <a:rPr lang="en-US" sz="1300" i="1" dirty="0">
                <a:solidFill>
                  <a:schemeClr val="tx2"/>
                </a:solidFill>
              </a:rPr>
              <a:t>er</a:t>
            </a:r>
            <a:r>
              <a:rPr lang="en-US" sz="1300" dirty="0">
                <a:solidFill>
                  <a:schemeClr val="tx2"/>
                </a:solidFill>
              </a:rPr>
              <a:t> · </a:t>
            </a:r>
            <a:r>
              <a:rPr lang="en-US" sz="1300" i="1" dirty="0">
                <a:solidFill>
                  <a:schemeClr val="tx2"/>
                </a:solidFill>
              </a:rPr>
              <a:t>de pot → po</a:t>
            </a:r>
            <a:r>
              <a:rPr lang="en-US" sz="1300" b="1" i="1" dirty="0">
                <a:solidFill>
                  <a:schemeClr val="tx2"/>
                </a:solidFill>
              </a:rPr>
              <a:t>tt</a:t>
            </a:r>
            <a:r>
              <a:rPr lang="en-US" sz="1300" i="1" dirty="0">
                <a:solidFill>
                  <a:schemeClr val="tx2"/>
                </a:solidFill>
              </a:rPr>
              <a:t>en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034528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217408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③ f / v · s / z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8217408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entre deux voyelles : v, z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8217408" y="2468880"/>
            <a:ext cx="1231646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7408" y="2468880"/>
            <a:ext cx="123164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glas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9494774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9" name="Shape 46"/>
          <p:cNvSpPr/>
          <p:nvPr/>
        </p:nvSpPr>
        <p:spPr>
          <a:xfrm>
            <a:off x="9860534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860534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glazen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8217408" y="3108960"/>
            <a:ext cx="112779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17408" y="3108960"/>
            <a:ext cx="1127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reis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390927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4" name="Shape 51"/>
          <p:cNvSpPr/>
          <p:nvPr/>
        </p:nvSpPr>
        <p:spPr>
          <a:xfrm>
            <a:off x="9756687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756687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reizen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8217408" y="3749040"/>
            <a:ext cx="143933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217408" y="3749040"/>
            <a:ext cx="14393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geloof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9702467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10068227" y="3749040"/>
            <a:ext cx="1127799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068227" y="3749040"/>
            <a:ext cx="1127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geloven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8217408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lief → de lie</a:t>
            </a:r>
            <a:r>
              <a:rPr lang="en-US" sz="1300" b="1" i="1" dirty="0">
                <a:solidFill>
                  <a:schemeClr val="tx2"/>
                </a:solidFill>
              </a:rPr>
              <a:t>f</a:t>
            </a:r>
            <a:r>
              <a:rPr lang="en-US" sz="1300" i="1" dirty="0">
                <a:solidFill>
                  <a:schemeClr val="tx2"/>
                </a:solidFill>
              </a:rPr>
              <a:t>de</a:t>
            </a:r>
            <a:r>
              <a:rPr lang="en-US" sz="1300" dirty="0">
                <a:solidFill>
                  <a:schemeClr val="tx2"/>
                </a:solidFill>
              </a:rPr>
              <a:t> : </a:t>
            </a:r>
            <a:r>
              <a:rPr lang="en-US" sz="1300" i="1" dirty="0">
                <a:solidFill>
                  <a:schemeClr val="tx2"/>
                </a:solidFill>
              </a:rPr>
              <a:t>f</a:t>
            </a:r>
            <a:r>
              <a:rPr lang="en-US" sz="1300" dirty="0">
                <a:solidFill>
                  <a:schemeClr val="tx2"/>
                </a:solidFill>
              </a:rPr>
              <a:t> reste devant consonne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Avant d’écrire le mot dérivé : </a:t>
            </a:r>
            <a:r>
              <a:rPr lang="en-US" sz="1600" b="1" dirty="0">
                <a:solidFill>
                  <a:schemeClr val="bg1"/>
                </a:solidFill>
              </a:rPr>
              <a:t>coupez en syllabes</a:t>
            </a:r>
            <a:r>
              <a:rPr lang="en-US" sz="1600" dirty="0">
                <a:solidFill>
                  <a:schemeClr val="bg1"/>
                </a:solidFill>
              </a:rPr>
              <a:t> et appliquez la règle (M1, M4).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famille werk, en couleurs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926080" y="2926080"/>
            <a:ext cx="14630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926080" y="2926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werk-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 flipV="1">
            <a:off x="3657600" y="2011680"/>
            <a:ext cx="914" cy="86868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945919" y="155448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5919" y="155448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het werk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2011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radical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V="1">
            <a:off x="4207192" y="2426803"/>
            <a:ext cx="912627" cy="614250"/>
          </a:xfrm>
          <a:prstGeom prst="line">
            <a:avLst/>
          </a:prstGeom>
          <a:noFill/>
          <a:ln w="19050">
            <a:solidFill>
              <a:srgbClr val="B832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48807" y="2036559"/>
            <a:ext cx="116774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48807" y="2036559"/>
            <a:ext cx="1167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werken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618277" y="249375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+ -en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34840" y="3429000"/>
            <a:ext cx="1098933" cy="914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33773" y="3200400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33773" y="3200400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werker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3657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207192" y="3816947"/>
            <a:ext cx="731875" cy="61425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93185" y="4364241"/>
            <a:ext cx="1678985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93185" y="4364241"/>
            <a:ext cx="16789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8277" y="4821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-ing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0" y="3977640"/>
            <a:ext cx="914" cy="868680"/>
          </a:xfrm>
          <a:prstGeom prst="line">
            <a:avLst/>
          </a:prstGeom>
          <a:noFill/>
          <a:ln w="1905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5919" y="484632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45919" y="484632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werkloos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2743200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-loos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 flipH="1">
            <a:off x="2602074" y="3816947"/>
            <a:ext cx="505935" cy="61425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3502" y="4364241"/>
            <a:ext cx="231804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3502" y="4364241"/>
            <a:ext cx="23180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werkloosheid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68123" y="4821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-loos + -heid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 flipH="1">
            <a:off x="1717521" y="3429000"/>
            <a:ext cx="1162839" cy="914"/>
          </a:xfrm>
          <a:prstGeom prst="line">
            <a:avLst/>
          </a:prstGeom>
          <a:noFill/>
          <a:ln w="19050">
            <a:solidFill>
              <a:srgbClr val="D9700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159" y="320040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4159" y="320040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werkbaar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440" y="3657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-baar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 flipH="1" flipV="1">
            <a:off x="2285757" y="2426803"/>
            <a:ext cx="822251" cy="614250"/>
          </a:xfrm>
          <a:prstGeom prst="line">
            <a:avLst/>
          </a:prstGeom>
          <a:noFill/>
          <a:ln w="19050">
            <a:solidFill>
              <a:srgbClr val="B832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70841" y="2036559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70841" y="2036559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bewerken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68123" y="249375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be- + -en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223760" y="1463040"/>
            <a:ext cx="4416552" cy="4069080"/>
          </a:xfrm>
          <a:prstGeom prst="roundRect">
            <a:avLst>
              <a:gd name="adj" fmla="val 2697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06640" y="1536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Les suffixes s’empilent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680960" y="2103120"/>
            <a:ext cx="1487268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80960" y="2103120"/>
            <a:ext cx="1487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werk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2606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↓  </a:t>
            </a:r>
            <a:r>
              <a:rPr lang="en-US" sz="1500" b="1" i="1" dirty="0">
                <a:solidFill>
                  <a:srgbClr val="6E4A9E"/>
                </a:solidFill>
              </a:rPr>
              <a:t>-loos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7680960" y="3017520"/>
            <a:ext cx="1487268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680960" y="3017520"/>
            <a:ext cx="1487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werkloos</a:t>
            </a:r>
            <a:endParaRPr lang="en-US" sz="1700" dirty="0"/>
          </a:p>
        </p:txBody>
      </p:sp>
      <p:sp>
        <p:nvSpPr>
          <p:cNvPr id="46" name="Text 43"/>
          <p:cNvSpPr txBox="1"/>
          <p:nvPr/>
        </p:nvSpPr>
        <p:spPr>
          <a:xfrm>
            <a:off x="7772400" y="3520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↓  </a:t>
            </a:r>
            <a:r>
              <a:rPr lang="en-US" sz="1500" b="1" i="1" dirty="0">
                <a:solidFill>
                  <a:srgbClr val="6E4A9E"/>
                </a:solidFill>
              </a:rPr>
              <a:t>-heid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7680960" y="3931920"/>
            <a:ext cx="2437864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680960" y="3931920"/>
            <a:ext cx="243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werkloosheid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70916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nom → adjectif → nom : chaque suffixe change la catégorie, le </a:t>
            </a:r>
            <a:r>
              <a:rPr lang="en-US" sz="1350" b="1" dirty="0">
                <a:solidFill>
                  <a:schemeClr val="tx1"/>
                </a:solidFill>
              </a:rPr>
              <a:t>dernier</a:t>
            </a:r>
            <a:r>
              <a:rPr lang="en-US" sz="1350" dirty="0">
                <a:solidFill>
                  <a:schemeClr val="tx1"/>
                </a:solidFill>
              </a:rPr>
              <a:t> décide.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Apprenez les mots </a:t>
            </a:r>
            <a:r>
              <a:rPr lang="en-US" sz="1600" b="1" dirty="0">
                <a:solidFill>
                  <a:schemeClr val="bg1"/>
                </a:solidFill>
              </a:rPr>
              <a:t>en familles</a:t>
            </a:r>
            <a:r>
              <a:rPr lang="en-US" sz="1600" dirty="0">
                <a:solidFill>
                  <a:schemeClr val="bg1"/>
                </a:solidFill>
              </a:rPr>
              <a:t> : un mot connu en donne cinq ou six.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Style verbal (oral) ↔ style nominal (écrit)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pic>
        <p:nvPicPr>
          <p:cNvPr id="5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ORAL</a:t>
            </a:r>
            <a:r>
              <a:rPr lang="en-US" sz="1600" dirty="0">
                <a:solidFill>
                  <a:schemeClr val="accent6"/>
                </a:solidFill>
              </a:rPr>
              <a:t> : des verbes</a:t>
            </a:r>
            <a:endParaRPr lang="en-US" sz="1600" dirty="0"/>
          </a:p>
        </p:txBody>
      </p:sp>
      <p:pic>
        <p:nvPicPr>
          <p:cNvPr id="7" name="Image 1" descr="mem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640080" cy="6400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04088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ÉCRIT</a:t>
            </a:r>
            <a:r>
              <a:rPr lang="en-US" sz="1600" dirty="0">
                <a:solidFill>
                  <a:schemeClr val="accent2"/>
                </a:solidFill>
              </a:rPr>
              <a:t> (titres, notes, e-mails formels) : des noms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148840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3152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prijzen </a:t>
            </a:r>
            <a:r>
              <a:rPr lang="en-US" sz="1700" b="1" i="1" dirty="0">
                <a:solidFill>
                  <a:srgbClr val="B83227"/>
                </a:solidFill>
              </a:rPr>
              <a:t>stijgen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12" name="Shape 7"/>
          <p:cNvSpPr/>
          <p:nvPr/>
        </p:nvSpPr>
        <p:spPr>
          <a:xfrm>
            <a:off x="6309360" y="2148840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21488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De stijging</a:t>
            </a:r>
            <a:r>
              <a:rPr lang="en-US" sz="1700" i="1" dirty="0">
                <a:solidFill>
                  <a:schemeClr val="tx1"/>
                </a:solidFill>
              </a:rPr>
              <a:t> van de prijzen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2862072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286207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rgbClr val="B83227"/>
                </a:solidFill>
              </a:rPr>
              <a:t>openen</a:t>
            </a:r>
            <a:r>
              <a:rPr lang="en-US" sz="1700" i="1" dirty="0">
                <a:solidFill>
                  <a:schemeClr val="tx1"/>
                </a:solidFill>
              </a:rPr>
              <a:t> het nieuwe kantoor.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715000" y="28620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6309360" y="2862072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92240" y="2862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De opening</a:t>
            </a:r>
            <a:r>
              <a:rPr lang="en-US" sz="1700" i="1" dirty="0">
                <a:solidFill>
                  <a:schemeClr val="tx1"/>
                </a:solidFill>
              </a:rPr>
              <a:t> van het nieuwe kantoor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48640" y="3575304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357530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trein </a:t>
            </a:r>
            <a:r>
              <a:rPr lang="en-US" sz="1700" b="1" i="1" dirty="0">
                <a:solidFill>
                  <a:srgbClr val="B83227"/>
                </a:solidFill>
              </a:rPr>
              <a:t>vertrekt</a:t>
            </a:r>
            <a:r>
              <a:rPr lang="en-US" sz="1700" i="1" dirty="0">
                <a:solidFill>
                  <a:schemeClr val="tx1"/>
                </a:solidFill>
              </a:rPr>
              <a:t> om 8 uur.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715000" y="35753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22" name="Shape 17"/>
          <p:cNvSpPr/>
          <p:nvPr/>
        </p:nvSpPr>
        <p:spPr>
          <a:xfrm>
            <a:off x="6309360" y="3575304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92240" y="35753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Het vertrek</a:t>
            </a:r>
            <a:r>
              <a:rPr lang="en-US" sz="1700" i="1" dirty="0">
                <a:solidFill>
                  <a:schemeClr val="tx1"/>
                </a:solidFill>
              </a:rPr>
              <a:t> van de trein: 8 uur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548640" y="4288536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1520" y="428853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Je moet </a:t>
            </a:r>
            <a:r>
              <a:rPr lang="en-US" sz="1700" b="1" i="1" dirty="0">
                <a:solidFill>
                  <a:srgbClr val="2E7D4F"/>
                </a:solidFill>
              </a:rPr>
              <a:t>snel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B83227"/>
                </a:solidFill>
              </a:rPr>
              <a:t>betalen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5715000" y="42885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309360" y="4288536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92240" y="42885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D9700F"/>
                </a:solidFill>
              </a:rPr>
              <a:t>Snelle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2A6FB0"/>
                </a:solidFill>
              </a:rPr>
              <a:t>betaling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548640" y="514807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04672" y="5074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1115568" y="514807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463040" y="50749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 → un nom (</a:t>
            </a:r>
            <a:r>
              <a:rPr lang="en-US" sz="1500" i="1" dirty="0">
                <a:solidFill>
                  <a:schemeClr val="tx1"/>
                </a:solidFill>
              </a:rPr>
              <a:t>-ing</a:t>
            </a:r>
            <a:r>
              <a:rPr lang="en-US" sz="1500" dirty="0">
                <a:solidFill>
                  <a:schemeClr val="tx1"/>
                </a:solidFill>
              </a:rPr>
              <a:t>, radical…)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548640" y="551383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04672" y="5440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1115568" y="551383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463040" y="54406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sujet, le complément → </a:t>
            </a:r>
            <a:r>
              <a:rPr lang="en-US" sz="1500" i="1" dirty="0">
                <a:solidFill>
                  <a:schemeClr val="tx1"/>
                </a:solidFill>
              </a:rPr>
              <a:t>van</a:t>
            </a:r>
            <a:r>
              <a:rPr lang="en-US" sz="1500" dirty="0">
                <a:solidFill>
                  <a:schemeClr val="tx1"/>
                </a:solidFill>
              </a:rPr>
              <a:t> + nom</a:t>
            </a:r>
            <a:endParaRPr lang="en-US" sz="1500" dirty="0"/>
          </a:p>
        </p:txBody>
      </p:sp>
      <p:sp>
        <p:nvSpPr>
          <p:cNvPr id="37" name="Shape 32"/>
          <p:cNvSpPr/>
          <p:nvPr/>
        </p:nvSpPr>
        <p:spPr>
          <a:xfrm>
            <a:off x="548640" y="587959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04672" y="5806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1115568" y="587959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63040" y="580644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l’adverbe → un adjectif (+ </a:t>
            </a:r>
            <a:r>
              <a:rPr lang="en-US" sz="1500" i="1" dirty="0">
                <a:solidFill>
                  <a:schemeClr val="tx1"/>
                </a:solidFill>
              </a:rPr>
              <a:t>-e</a:t>
            </a:r>
            <a:r>
              <a:rPr lang="en-US" sz="1500" dirty="0">
                <a:solidFill>
                  <a:schemeClr val="tx1"/>
                </a:solidFill>
              </a:rPr>
              <a:t>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des francophones : les suffixes jumeaux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FR ↔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463040" y="1417320"/>
            <a:ext cx="167640" cy="33192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30680" y="1417320"/>
            <a:ext cx="167640" cy="33192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98320" y="1417320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14173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417320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49440" y="1527962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1638605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14173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1874520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192024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-tion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331720" y="1874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l’information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1874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217920" y="192024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-tie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informatie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238658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2432304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24323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-ité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331720" y="23865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la qualité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577840" y="23865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217920" y="2432304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17920" y="24323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-iteit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92440" y="238658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kwaliteit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2898648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31520" y="2944368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152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-ique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331720" y="2898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technique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57784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217920" y="2944368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217920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-isch · -iek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092440" y="28986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technisch · de techniek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48640" y="341071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3456432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1520" y="34564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-able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331720" y="34107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payable · acceptable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57784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6217920" y="3456432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34564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-baar · -abel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092440" y="34107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betaalbaar · acceptabel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3922776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31520" y="3968496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31520" y="3968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-er (verbe)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331720" y="392277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informer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5778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50" name="Shape 47"/>
          <p:cNvSpPr/>
          <p:nvPr/>
        </p:nvSpPr>
        <p:spPr>
          <a:xfrm>
            <a:off x="6217920" y="3968496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217920" y="39684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-eren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8092440" y="392277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informeren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548640" y="443484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31520" y="448056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4480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-isme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33172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le tourisme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5577840" y="4434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58" name="Shape 55"/>
          <p:cNvSpPr/>
          <p:nvPr/>
        </p:nvSpPr>
        <p:spPr>
          <a:xfrm>
            <a:off x="6217920" y="448056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217920" y="4480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-isme (het)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092440" y="4434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toerisme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548640" y="4946904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31520" y="4992624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31520" y="4992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-iste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33172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le journaliste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557784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66" name="Shape 63"/>
          <p:cNvSpPr/>
          <p:nvPr/>
        </p:nvSpPr>
        <p:spPr>
          <a:xfrm>
            <a:off x="6217920" y="4992624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217920" y="49926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-ist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092440" y="494690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journalist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⚠ Faux ami : </a:t>
            </a:r>
            <a:r>
              <a:rPr lang="en-US" sz="1500" i="1" dirty="0">
                <a:solidFill>
                  <a:schemeClr val="bg1"/>
                </a:solidFill>
              </a:rPr>
              <a:t>de lezing</a:t>
            </a:r>
            <a:r>
              <a:rPr lang="en-US" sz="1500" dirty="0">
                <a:solidFill>
                  <a:schemeClr val="bg1"/>
                </a:solidFill>
              </a:rPr>
              <a:t> = la </a:t>
            </a:r>
            <a:r>
              <a:rPr lang="en-US" sz="1500" b="1" dirty="0">
                <a:solidFill>
                  <a:schemeClr val="bg1"/>
                </a:solidFill>
              </a:rPr>
              <a:t>conférence</a:t>
            </a:r>
            <a:r>
              <a:rPr lang="en-US" sz="1500" dirty="0">
                <a:solidFill>
                  <a:schemeClr val="bg1"/>
                </a:solidFill>
              </a:rPr>
              <a:t> (la lecture = </a:t>
            </a:r>
            <a:r>
              <a:rPr lang="en-US" sz="1500" i="1" dirty="0">
                <a:solidFill>
                  <a:schemeClr val="bg1"/>
                </a:solidFill>
              </a:rPr>
              <a:t>het lezen</a:t>
            </a:r>
            <a:r>
              <a:rPr lang="en-US" sz="1500" dirty="0">
                <a:solidFill>
                  <a:schemeClr val="bg1"/>
                </a:solidFill>
              </a:rPr>
              <a:t>). Le pont aide, le dictionnaire confirme.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pièges à éviter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288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l’adverbe en -lijk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Hij werkt snellijk.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Hij werkt snel.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06824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43984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-ing partout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43984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eting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43984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het eten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65008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02168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-heid au lieu de -te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02168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warmheid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de warmte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85800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4. l’article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het vergadering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de vergadering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306824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443984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5. l’orthographe de -baar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43984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betalbaar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443984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betaalbaar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65008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02168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6. le faux ami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lezing (= la lecture)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het lezen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suffixes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53619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3619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11685" y="153619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023165" y="153619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023165" y="153619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14630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het + infinitif · radical · -ing (de) · -er / -aar / -der · -eren → -atie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208483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08483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99260" y="20848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310740" y="208483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10740" y="208483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2011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-heid (qualité) · -te (mesure) · -iteit · het + adj. + 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256032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263347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263347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419968" y="263347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831448" y="263347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31448" y="263347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0" y="25603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-ig · -lijk · -isch · -loos ↔ -vol · -en (matière)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310896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318211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18211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611685" y="31821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2023165" y="318211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23165" y="318211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31089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-baar (on- = contraire) · -end · participe passé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365760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373075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73075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419968" y="373075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1831448" y="373075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831448" y="373075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0" y="3657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+ -en · -eren · be-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420624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85800" y="427939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5800" y="427939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899260" y="427939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2310740" y="427939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310740" y="427939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657600" y="42062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ver- … -en (rendre plus)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475488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82803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82803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899260" y="48280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2310740" y="4828032"/>
            <a:ext cx="1071882" cy="329184"/>
          </a:xfrm>
          <a:prstGeom prst="roundRect">
            <a:avLst>
              <a:gd name="adj" fmla="val 3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10740" y="4828032"/>
            <a:ext cx="1071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ADVERBE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657600" y="47548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= rien ne change : snel = rapide / rapidement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Le </a:t>
            </a:r>
            <a:r>
              <a:rPr lang="en-US" sz="1400" b="1" dirty="0">
                <a:solidFill>
                  <a:schemeClr val="bg1"/>
                </a:solidFill>
              </a:rPr>
              <a:t>suffixe</a:t>
            </a:r>
            <a:r>
              <a:rPr lang="en-US" sz="1400" dirty="0">
                <a:solidFill>
                  <a:schemeClr val="bg1"/>
                </a:solidFill>
              </a:rPr>
              <a:t> décide la catégorie et l’article (</a:t>
            </a:r>
            <a:r>
              <a:rPr lang="en-US" sz="1400" i="1" dirty="0">
                <a:solidFill>
                  <a:schemeClr val="bg1"/>
                </a:solidFill>
              </a:rPr>
              <a:t>-ing, -heid, -te, -tie</a:t>
            </a:r>
            <a:r>
              <a:rPr lang="en-US" sz="1400" dirty="0">
                <a:solidFill>
                  <a:schemeClr val="bg1"/>
                </a:solidFill>
              </a:rPr>
              <a:t> = de) · le </a:t>
            </a:r>
            <a:r>
              <a:rPr lang="en-US" sz="1400" b="1" dirty="0">
                <a:solidFill>
                  <a:schemeClr val="bg1"/>
                </a:solidFill>
              </a:rPr>
              <a:t>préfixe</a:t>
            </a:r>
            <a:r>
              <a:rPr lang="en-US" sz="1400" dirty="0">
                <a:solidFill>
                  <a:schemeClr val="bg1"/>
                </a:solidFill>
              </a:rPr>
              <a:t> change le sens (</a:t>
            </a:r>
            <a:r>
              <a:rPr lang="en-US" sz="1400" i="1" dirty="0">
                <a:solidFill>
                  <a:schemeClr val="bg1"/>
                </a:solidFill>
              </a:rPr>
              <a:t>on-, her-, mis-, ont-</a:t>
            </a:r>
            <a:r>
              <a:rPr lang="en-US" sz="1400" dirty="0">
                <a:solidFill>
                  <a:schemeClr val="bg1"/>
                </a:solidFill>
              </a:rPr>
              <a:t>).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Orthographe : les règles du M4. En cas de doute : le dictionnaire.</a:t>
            </a:r>
            <a:endParaRPr lang="en-US" sz="1400" dirty="0"/>
          </a:p>
        </p:txBody>
      </p:sp>
      <p:pic>
        <p:nvPicPr>
          <p:cNvPr id="5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446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tri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156678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93838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293838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483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93838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Verbe → nom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2293838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764715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901875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901875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521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901875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Heid ou te 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901875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372753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509913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509913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559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509913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Nom → adjectif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5509913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980791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117951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17951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597" y="27706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17951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Drinkbaar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17951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588829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25989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8725989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pandArrows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3634" y="27706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725989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Rendre plus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8725989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10196866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10334026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10334026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achomet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1672" y="27706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10334026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Snel = snel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10334026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548640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685800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85800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pic>
        <p:nvPicPr>
          <p:cNvPr id="51" name="Image 7" descr="Sitemap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446" y="4535424"/>
            <a:ext cx="384048" cy="384048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685800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53" name="Text 42"/>
          <p:cNvSpPr txBox="1"/>
          <p:nvPr/>
        </p:nvSpPr>
        <p:spPr>
          <a:xfrm>
            <a:off x="685800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4" name="Shape 43"/>
          <p:cNvSpPr/>
          <p:nvPr/>
        </p:nvSpPr>
        <p:spPr>
          <a:xfrm>
            <a:off x="2156678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2293838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2293838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pic>
        <p:nvPicPr>
          <p:cNvPr id="57" name="Image 8" descr="PenFanc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51483" y="4535424"/>
            <a:ext cx="384048" cy="384048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2293838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Style écrit</a:t>
            </a:r>
            <a:endParaRPr lang="en-US" sz="1600" dirty="0"/>
          </a:p>
        </p:txBody>
      </p:sp>
      <p:sp>
        <p:nvSpPr>
          <p:cNvPr id="59" name="Text 47"/>
          <p:cNvSpPr txBox="1"/>
          <p:nvPr/>
        </p:nvSpPr>
        <p:spPr>
          <a:xfrm>
            <a:off x="2293838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60" name="Shape 48"/>
          <p:cNvSpPr/>
          <p:nvPr/>
        </p:nvSpPr>
        <p:spPr>
          <a:xfrm>
            <a:off x="3764715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3901875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3901875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pic>
        <p:nvPicPr>
          <p:cNvPr id="63" name="Image 9" descr="Compas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9521" y="4535424"/>
            <a:ext cx="384048" cy="38404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3901875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 ?</a:t>
            </a:r>
            <a:endParaRPr lang="en-US" sz="1600" dirty="0"/>
          </a:p>
        </p:txBody>
      </p:sp>
      <p:sp>
        <p:nvSpPr>
          <p:cNvPr id="65" name="Text 52"/>
          <p:cNvSpPr txBox="1"/>
          <p:nvPr/>
        </p:nvSpPr>
        <p:spPr>
          <a:xfrm>
            <a:off x="3901875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6" name="Shape 53"/>
          <p:cNvSpPr/>
          <p:nvPr/>
        </p:nvSpPr>
        <p:spPr>
          <a:xfrm>
            <a:off x="5372753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5509913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5"/>
          <p:cNvSpPr txBox="1"/>
          <p:nvPr/>
        </p:nvSpPr>
        <p:spPr>
          <a:xfrm>
            <a:off x="5509913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pic>
        <p:nvPicPr>
          <p:cNvPr id="69" name="Image 10" descr="Sear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7559" y="4535424"/>
            <a:ext cx="384048" cy="384048"/>
          </a:xfrm>
          <a:prstGeom prst="rect">
            <a:avLst/>
          </a:prstGeom>
        </p:spPr>
      </p:pic>
      <p:sp>
        <p:nvSpPr>
          <p:cNvPr id="70" name="Text 56"/>
          <p:cNvSpPr txBox="1"/>
          <p:nvPr/>
        </p:nvSpPr>
        <p:spPr>
          <a:xfrm>
            <a:off x="5509913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71" name="Text 57"/>
          <p:cNvSpPr txBox="1"/>
          <p:nvPr/>
        </p:nvSpPr>
        <p:spPr>
          <a:xfrm>
            <a:off x="5509913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72" name="Shape 58"/>
          <p:cNvSpPr/>
          <p:nvPr/>
        </p:nvSpPr>
        <p:spPr>
          <a:xfrm>
            <a:off x="6980791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3" name="Shape 59"/>
          <p:cNvSpPr/>
          <p:nvPr/>
        </p:nvSpPr>
        <p:spPr>
          <a:xfrm>
            <a:off x="7117951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0"/>
          <p:cNvSpPr txBox="1"/>
          <p:nvPr/>
        </p:nvSpPr>
        <p:spPr>
          <a:xfrm>
            <a:off x="7117951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12</a:t>
            </a:r>
            <a:endParaRPr lang="en-US" sz="1600" dirty="0"/>
          </a:p>
        </p:txBody>
      </p:sp>
      <p:pic>
        <p:nvPicPr>
          <p:cNvPr id="75" name="Image 11" descr="Industr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75597" y="4535424"/>
            <a:ext cx="384048" cy="384048"/>
          </a:xfrm>
          <a:prstGeom prst="rect">
            <a:avLst/>
          </a:prstGeom>
        </p:spPr>
      </p:pic>
      <p:sp>
        <p:nvSpPr>
          <p:cNvPr id="76" name="Text 61"/>
          <p:cNvSpPr txBox="1"/>
          <p:nvPr/>
        </p:nvSpPr>
        <p:spPr>
          <a:xfrm>
            <a:off x="7117951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fabrique</a:t>
            </a:r>
            <a:endParaRPr lang="en-US" sz="1600" dirty="0"/>
          </a:p>
        </p:txBody>
      </p:sp>
      <p:sp>
        <p:nvSpPr>
          <p:cNvPr id="77" name="Text 62"/>
          <p:cNvSpPr txBox="1"/>
          <p:nvPr/>
        </p:nvSpPr>
        <p:spPr>
          <a:xfrm>
            <a:off x="7117951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78" name="Shape 63"/>
          <p:cNvSpPr/>
          <p:nvPr/>
        </p:nvSpPr>
        <p:spPr>
          <a:xfrm>
            <a:off x="8588829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8725989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65"/>
          <p:cNvSpPr txBox="1"/>
          <p:nvPr/>
        </p:nvSpPr>
        <p:spPr>
          <a:xfrm>
            <a:off x="8725989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</a:t>
            </a:r>
            <a:endParaRPr lang="en-US" sz="1600" dirty="0"/>
          </a:p>
        </p:txBody>
      </p:sp>
      <p:pic>
        <p:nvPicPr>
          <p:cNvPr id="81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83634" y="4535424"/>
            <a:ext cx="384048" cy="384048"/>
          </a:xfrm>
          <a:prstGeom prst="rect">
            <a:avLst/>
          </a:prstGeom>
        </p:spPr>
      </p:pic>
      <p:sp>
        <p:nvSpPr>
          <p:cNvPr id="82" name="Text 66"/>
          <p:cNvSpPr txBox="1"/>
          <p:nvPr/>
        </p:nvSpPr>
        <p:spPr>
          <a:xfrm>
            <a:off x="8725989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travaux</a:t>
            </a:r>
            <a:endParaRPr lang="en-US" sz="1600" dirty="0"/>
          </a:p>
        </p:txBody>
      </p:sp>
      <p:sp>
        <p:nvSpPr>
          <p:cNvPr id="83" name="Text 67"/>
          <p:cNvSpPr txBox="1"/>
          <p:nvPr/>
        </p:nvSpPr>
        <p:spPr>
          <a:xfrm>
            <a:off x="8725989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84" name="Image 13" descr="man teach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41280" y="914400"/>
            <a:ext cx="1371600" cy="1371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Quelle catégorie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Nom, verbe ou adjectif ? Classez les mots et entourez le suffixe qui vous aide.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548640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548640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 rot="60000">
            <a:off x="27944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60000">
            <a:off x="27944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betaalbaar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 rot="120000">
            <a:off x="5040173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 rot="120000">
            <a:off x="5040173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gezondheid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 rot="-60000">
            <a:off x="7285939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 rot="-60000">
            <a:off x="7285939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zonnig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 rot="60000">
            <a:off x="95317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 rot="60000">
            <a:off x="95317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organiseren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20000">
            <a:off x="548640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 rot="-120000">
            <a:off x="548640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leraar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 rot="60000">
            <a:off x="27944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 rot="60000">
            <a:off x="27944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verbeteren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 rot="120000">
            <a:off x="5040173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 rot="120000">
            <a:off x="5040173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gevaarlijk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 rot="-60000">
            <a:off x="7285939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 rot="-60000">
            <a:off x="7285939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het lezen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 rot="60000">
            <a:off x="95317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60000">
            <a:off x="95317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werkloos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 rot="-120000">
            <a:off x="548640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548640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lengte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 rot="60000">
            <a:off x="27944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27944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vergroten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 rot="120000">
            <a:off x="5040173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120000">
            <a:off x="5040173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technisch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 rot="-60000">
            <a:off x="7285939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-60000">
            <a:off x="7285939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het vertrek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 rot="60000">
            <a:off x="95317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60000">
            <a:off x="95317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fietsen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dash"/>
          </a:ln>
        </p:spPr>
      </p:sp>
      <p:pic>
        <p:nvPicPr>
          <p:cNvPr id="39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15512"/>
            <a:ext cx="502920" cy="50292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1280160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NOM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4306824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pic>
        <p:nvPicPr>
          <p:cNvPr id="42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3715512"/>
            <a:ext cx="502920" cy="50292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038344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VERBE</a:t>
            </a:r>
            <a:endParaRPr lang="en-US" sz="1600" dirty="0"/>
          </a:p>
        </p:txBody>
      </p:sp>
      <p:sp>
        <p:nvSpPr>
          <p:cNvPr id="44" name="Shape 38"/>
          <p:cNvSpPr/>
          <p:nvPr/>
        </p:nvSpPr>
        <p:spPr>
          <a:xfrm>
            <a:off x="8065008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pic>
        <p:nvPicPr>
          <p:cNvPr id="45" name="Image 3" descr="artist 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3715512"/>
            <a:ext cx="502920" cy="50292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796528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ADJECTIF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Quelle catégorie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Nom, verbe ou adjectif ? Classez les mots et entourez le suffixe qui vous aide.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pic>
        <p:nvPicPr>
          <p:cNvPr id="10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NOM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vergadering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gezondheid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leraar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het lezen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lengte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het vertrek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4306824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pic>
        <p:nvPicPr>
          <p:cNvPr id="14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2023872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38344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VERBE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489704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organiseren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verbeteren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vergroten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fietsen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8065008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18" name="Image 3" descr="artist 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23872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796528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ADJECTIF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247888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betaalbaar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zonnig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gevaarlijk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werkloos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technisch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Verbe →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le nom demandé, avec son 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69008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960120" y="2100377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0120" y="2100377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vergaderen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33472" y="1969008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1969008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816962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281696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960120" y="2948330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60120" y="294833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roken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2633472" y="281696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794760" y="281696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664915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3664915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960120" y="379628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60120" y="37962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besturen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633472" y="3664915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794760" y="3664915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48640" y="4512869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0080" y="4512869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960120" y="4644238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60120" y="464423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organiseren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2633472" y="4512869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3794760" y="4512869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48640" y="5360822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40080" y="536082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960120" y="5492191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60120" y="5492191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2633472" y="536082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moment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94760" y="536082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6185916" y="1969008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77356" y="1969008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6597396" y="2100377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597396" y="2100377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verkopen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8270748" y="1969008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personne (f.)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432036" y="1969008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6185916" y="2816962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77356" y="281696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597396" y="2948330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597396" y="294833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betalen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8270748" y="281696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9432036" y="281696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6185916" y="3664915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277356" y="3664915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6597396" y="379628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597396" y="37962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vertrekken</a:t>
            </a:r>
            <a:endParaRPr lang="en-US" sz="1500" dirty="0"/>
          </a:p>
        </p:txBody>
      </p:sp>
      <p:sp>
        <p:nvSpPr>
          <p:cNvPr id="54" name="Text 50"/>
          <p:cNvSpPr txBox="1"/>
          <p:nvPr/>
        </p:nvSpPr>
        <p:spPr>
          <a:xfrm>
            <a:off x="8270748" y="3664915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l’acte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9432036" y="3664915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6185916" y="4512869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277356" y="4512869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</a:t>
            </a:r>
            <a:endParaRPr lang="en-US" sz="1400" dirty="0"/>
          </a:p>
        </p:txBody>
      </p:sp>
      <p:sp>
        <p:nvSpPr>
          <p:cNvPr id="58" name="Shape 54"/>
          <p:cNvSpPr/>
          <p:nvPr/>
        </p:nvSpPr>
        <p:spPr>
          <a:xfrm>
            <a:off x="6597396" y="4644238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597396" y="464423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wandelen</a:t>
            </a:r>
            <a:endParaRPr lang="en-US" sz="1500" dirty="0"/>
          </a:p>
        </p:txBody>
      </p:sp>
      <p:sp>
        <p:nvSpPr>
          <p:cNvPr id="60" name="Text 56"/>
          <p:cNvSpPr txBox="1"/>
          <p:nvPr/>
        </p:nvSpPr>
        <p:spPr>
          <a:xfrm>
            <a:off x="8270748" y="4512869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9432036" y="4512869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6185916" y="5360822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277356" y="536082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6597396" y="5492191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597396" y="5492191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printen</a:t>
            </a:r>
            <a:endParaRPr lang="en-US" sz="1500" dirty="0"/>
          </a:p>
        </p:txBody>
      </p:sp>
      <p:sp>
        <p:nvSpPr>
          <p:cNvPr id="66" name="Text 62"/>
          <p:cNvSpPr txBox="1"/>
          <p:nvPr/>
        </p:nvSpPr>
        <p:spPr>
          <a:xfrm>
            <a:off x="8270748" y="536082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l’appareil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9432036" y="536082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Verbe →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le nom demandé, avec son article.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Pour l’action,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+ infinitif marche toujours : aussi </a:t>
            </a:r>
            <a:r>
              <a:rPr lang="en-US" sz="1300" i="1" dirty="0">
                <a:solidFill>
                  <a:schemeClr val="accent5"/>
                </a:solidFill>
              </a:rPr>
              <a:t>het vergaderen, het organiseren, het betalen, het vertrekken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69008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196900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60120" y="2072945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2072945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vergaderen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196900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94760" y="196900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2762098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276209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60120" y="286603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60120" y="286603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roken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2633472" y="276209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794760" y="276209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roken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3555187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355518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960120" y="365912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0120" y="365912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besturen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2633472" y="355518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794760" y="355518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bestuurder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4348277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0080" y="434827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960120" y="445221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60120" y="445221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organiseren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2633472" y="434827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3794760" y="434827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organisatie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48640" y="5141366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5141366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960120" y="5245303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60120" y="5245303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633472" y="5141366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moment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3794760" y="5141366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begin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6185916" y="1969008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277356" y="196900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Shape 38"/>
          <p:cNvSpPr/>
          <p:nvPr/>
        </p:nvSpPr>
        <p:spPr>
          <a:xfrm>
            <a:off x="6597396" y="2072945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97396" y="2072945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verkopen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8270748" y="196900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personne (f.)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9432036" y="196900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verkoopster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6185916" y="2762098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277356" y="276209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597396" y="286603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597396" y="286603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betalen</a:t>
            </a:r>
            <a:endParaRPr lang="en-US" sz="1500" dirty="0"/>
          </a:p>
        </p:txBody>
      </p:sp>
      <p:sp>
        <p:nvSpPr>
          <p:cNvPr id="50" name="Text 46"/>
          <p:cNvSpPr txBox="1"/>
          <p:nvPr/>
        </p:nvSpPr>
        <p:spPr>
          <a:xfrm>
            <a:off x="8270748" y="276209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9432036" y="276209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6185916" y="3555187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77356" y="355518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597396" y="365912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97396" y="365912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vertrekken</a:t>
            </a:r>
            <a:endParaRPr lang="en-US" sz="1500" dirty="0"/>
          </a:p>
        </p:txBody>
      </p:sp>
      <p:sp>
        <p:nvSpPr>
          <p:cNvPr id="56" name="Text 52"/>
          <p:cNvSpPr txBox="1"/>
          <p:nvPr/>
        </p:nvSpPr>
        <p:spPr>
          <a:xfrm>
            <a:off x="8270748" y="355518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l’acte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9432036" y="355518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vertrek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6185916" y="4348277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277356" y="434827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6597396" y="445221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597396" y="445221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wandelen</a:t>
            </a:r>
            <a:endParaRPr lang="en-US" sz="1500" dirty="0"/>
          </a:p>
        </p:txBody>
      </p:sp>
      <p:sp>
        <p:nvSpPr>
          <p:cNvPr id="62" name="Text 58"/>
          <p:cNvSpPr txBox="1"/>
          <p:nvPr/>
        </p:nvSpPr>
        <p:spPr>
          <a:xfrm>
            <a:off x="8270748" y="434827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9432036" y="434827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wandelaar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6185916" y="5141366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277356" y="5141366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</a:t>
            </a:r>
            <a:endParaRPr lang="en-US" sz="1400" dirty="0"/>
          </a:p>
        </p:txBody>
      </p:sp>
      <p:sp>
        <p:nvSpPr>
          <p:cNvPr id="66" name="Shape 62"/>
          <p:cNvSpPr/>
          <p:nvPr/>
        </p:nvSpPr>
        <p:spPr>
          <a:xfrm>
            <a:off x="6597396" y="5245303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6597396" y="5245303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printen</a:t>
            </a:r>
            <a:endParaRPr lang="en-US" sz="1500" dirty="0"/>
          </a:p>
        </p:txBody>
      </p:sp>
      <p:sp>
        <p:nvSpPr>
          <p:cNvPr id="68" name="Text 64"/>
          <p:cNvSpPr txBox="1"/>
          <p:nvPr/>
        </p:nvSpPr>
        <p:spPr>
          <a:xfrm>
            <a:off x="8270748" y="5141366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l’appareil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9432036" y="5141366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nom. Qualité (</a:t>
            </a:r>
            <a:r>
              <a:rPr lang="en-US" sz="1700" i="1" dirty="0">
                <a:solidFill>
                  <a:schemeClr val="accent5"/>
                </a:solidFill>
              </a:rPr>
              <a:t>-heid</a:t>
            </a:r>
            <a:r>
              <a:rPr lang="en-US" sz="1700" i="1" dirty="0">
                <a:solidFill>
                  <a:schemeClr val="accent5"/>
                </a:solidFill>
              </a:rPr>
              <a:t>) ou mesure, sensation (</a:t>
            </a:r>
            <a:r>
              <a:rPr lang="en-US" sz="1700" i="1" dirty="0">
                <a:solidFill>
                  <a:schemeClr val="accent5"/>
                </a:solidFill>
              </a:rPr>
              <a:t>-te</a:t>
            </a:r>
            <a:r>
              <a:rPr lang="en-US" sz="1700" i="1" dirty="0">
                <a:solidFill>
                  <a:schemeClr val="accent5"/>
                </a:solidFill>
              </a:rPr>
              <a:t>)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ziek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2286000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2834640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31520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2286000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2834640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2286000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2834640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48640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31520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2286000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834640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185916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368796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368796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7923276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8471916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6185916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368796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68796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zeker</a:t>
            </a:r>
            <a:endParaRPr lang="en-US" sz="1600" dirty="0"/>
          </a:p>
        </p:txBody>
      </p:sp>
      <p:sp>
        <p:nvSpPr>
          <p:cNvPr id="41" name="Text 37"/>
          <p:cNvSpPr txBox="1"/>
          <p:nvPr/>
        </p:nvSpPr>
        <p:spPr>
          <a:xfrm>
            <a:off x="7923276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8471916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6185916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368796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368796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46" name="Text 42"/>
          <p:cNvSpPr txBox="1"/>
          <p:nvPr/>
        </p:nvSpPr>
        <p:spPr>
          <a:xfrm>
            <a:off x="7923276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7" name="Text 43"/>
          <p:cNvSpPr txBox="1"/>
          <p:nvPr/>
        </p:nvSpPr>
        <p:spPr>
          <a:xfrm>
            <a:off x="8471916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185916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368796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68796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51" name="Text 47"/>
          <p:cNvSpPr txBox="1"/>
          <p:nvPr/>
        </p:nvSpPr>
        <p:spPr>
          <a:xfrm>
            <a:off x="7923276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8471916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6185916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368796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368796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23276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7" name="Text 53"/>
          <p:cNvSpPr txBox="1"/>
          <p:nvPr/>
        </p:nvSpPr>
        <p:spPr>
          <a:xfrm>
            <a:off x="8471916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nom. Qualité (</a:t>
            </a:r>
            <a:r>
              <a:rPr lang="en-US" sz="1700" i="1" dirty="0">
                <a:solidFill>
                  <a:schemeClr val="accent5"/>
                </a:solidFill>
              </a:rPr>
              <a:t>-heid</a:t>
            </a:r>
            <a:r>
              <a:rPr lang="en-US" sz="1700" i="1" dirty="0">
                <a:solidFill>
                  <a:schemeClr val="accent5"/>
                </a:solidFill>
              </a:rPr>
              <a:t>) ou mesure, sensation (</a:t>
            </a:r>
            <a:r>
              <a:rPr lang="en-US" sz="1700" i="1" dirty="0">
                <a:solidFill>
                  <a:schemeClr val="accent5"/>
                </a:solidFill>
              </a:rPr>
              <a:t>-te</a:t>
            </a:r>
            <a:r>
              <a:rPr lang="en-US" sz="1700" i="1" dirty="0">
                <a:solidFill>
                  <a:schemeClr val="accent5"/>
                </a:solidFill>
              </a:rPr>
              <a:t>)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ziek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286000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ziekte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834640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vrijheid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48640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2286000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2834640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lengte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31520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1520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2286000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834640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mogelijkheid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548640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31520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2286000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834640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warmte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185916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368796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68796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923276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8471916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snelheid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185916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368796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68796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zeker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7923276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8471916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zekerheid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6185916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368796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368796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47" name="Text 43"/>
          <p:cNvSpPr txBox="1"/>
          <p:nvPr/>
        </p:nvSpPr>
        <p:spPr>
          <a:xfrm>
            <a:off x="7923276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8" name="Text 44"/>
          <p:cNvSpPr txBox="1"/>
          <p:nvPr/>
        </p:nvSpPr>
        <p:spPr>
          <a:xfrm>
            <a:off x="8471916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breedte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85916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368796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368796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52" name="Text 48"/>
          <p:cNvSpPr txBox="1"/>
          <p:nvPr/>
        </p:nvSpPr>
        <p:spPr>
          <a:xfrm>
            <a:off x="7923276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8471916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gezondheid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6185916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368796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68796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57" name="Text 53"/>
          <p:cNvSpPr txBox="1"/>
          <p:nvPr/>
        </p:nvSpPr>
        <p:spPr>
          <a:xfrm>
            <a:off x="7923276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8" name="Text 54"/>
          <p:cNvSpPr txBox="1"/>
          <p:nvPr/>
        </p:nvSpPr>
        <p:spPr>
          <a:xfrm>
            <a:off x="8471916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hoogte</a:t>
            </a:r>
            <a:endParaRPr lang="en-US" sz="1800" dirty="0"/>
          </a:p>
        </p:txBody>
      </p:sp>
      <p:sp>
        <p:nvSpPr>
          <p:cNvPr id="59" name="Text 5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-te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lengte, warmte, breedte, hoogte</a:t>
            </a:r>
            <a:r>
              <a:rPr lang="en-US" sz="1300" i="1" dirty="0">
                <a:solidFill>
                  <a:schemeClr val="accent5"/>
                </a:solidFill>
              </a:rPr>
              <a:t> (mesures, sensations) + </a:t>
            </a:r>
            <a:r>
              <a:rPr lang="en-US" sz="1300" i="1" dirty="0">
                <a:solidFill>
                  <a:schemeClr val="accent5"/>
                </a:solidFill>
              </a:rPr>
              <a:t>ziekte</a:t>
            </a:r>
            <a:r>
              <a:rPr lang="en-US" sz="1300" i="1" dirty="0">
                <a:solidFill>
                  <a:schemeClr val="accent5"/>
                </a:solidFill>
              </a:rPr>
              <a:t> (exception).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Nom → 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formé sur le nom. Attention au </a:t>
            </a:r>
            <a:r>
              <a:rPr lang="en-US" sz="1700" i="1" dirty="0">
                <a:solidFill>
                  <a:schemeClr val="accent5"/>
                </a:solidFill>
              </a:rPr>
              <a:t>-e</a:t>
            </a:r>
            <a:r>
              <a:rPr lang="en-US" sz="1700" i="1" dirty="0">
                <a:solidFill>
                  <a:schemeClr val="accent5"/>
                </a:solidFill>
              </a:rPr>
              <a:t> devant le nom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59864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3243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1051560" y="199110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9110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880360" y="193243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vandaag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weer.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2461260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0080" y="243382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" y="249250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249250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2880360" y="243382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straat is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962656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293522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1051560" y="299389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51560" y="299389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880360" y="293522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hebben een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probleem.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464052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436620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051560" y="3495294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9529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hout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2880360" y="3436620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koop een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tafel.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965448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0080" y="3938016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1051560" y="3996690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51560" y="399669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werk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2880360" y="3938016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al een jaar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466844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0080" y="443941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1051560" y="449808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51560" y="449808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2880360" y="443941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receptionist is heel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4968240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40080" y="494080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1051560" y="499948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499948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dag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2880360" y="494080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 vergadering begint om 9 uur.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48640" y="5469636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0080" y="544220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1051560" y="550087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51560" y="550087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waarde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2880360" y="544220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Bedankt! Dat is een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advies.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Nom → 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formé sur le nom. Attention au </a:t>
            </a:r>
            <a:r>
              <a:rPr lang="en-US" sz="1700" i="1" dirty="0">
                <a:solidFill>
                  <a:schemeClr val="accent5"/>
                </a:solidFill>
              </a:rPr>
              <a:t>-e</a:t>
            </a:r>
            <a:r>
              <a:rPr lang="en-US" sz="1700" i="1" dirty="0">
                <a:solidFill>
                  <a:schemeClr val="accent5"/>
                </a:solidFill>
              </a:rPr>
              <a:t> devant le nom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59864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193243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051560" y="199110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9110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880360" y="193243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vandaag </a:t>
            </a:r>
            <a:r>
              <a:rPr lang="en-US" sz="1700" b="1" i="1" dirty="0">
                <a:solidFill>
                  <a:schemeClr val="accent3"/>
                </a:solidFill>
              </a:rPr>
              <a:t>zonnig</a:t>
            </a:r>
            <a:r>
              <a:rPr lang="en-US" sz="1700" i="1" dirty="0">
                <a:solidFill>
                  <a:schemeClr val="tx1"/>
                </a:solidFill>
              </a:rPr>
              <a:t> weer.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461260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243382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1051560" y="249250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49250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43382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straat is </a:t>
            </a:r>
            <a:r>
              <a:rPr lang="en-US" sz="1700" b="1" i="1" dirty="0">
                <a:solidFill>
                  <a:schemeClr val="accent3"/>
                </a:solidFill>
              </a:rPr>
              <a:t>gevaarlijk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962656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93522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1051560" y="299389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51560" y="299389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2880360" y="293522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hebben een </a:t>
            </a:r>
            <a:r>
              <a:rPr lang="en-US" sz="1700" b="1" i="1" dirty="0">
                <a:solidFill>
                  <a:schemeClr val="accent3"/>
                </a:solidFill>
              </a:rPr>
              <a:t>technisch</a:t>
            </a:r>
            <a:r>
              <a:rPr lang="en-US" sz="1700" i="1" dirty="0">
                <a:solidFill>
                  <a:schemeClr val="tx1"/>
                </a:solidFill>
              </a:rPr>
              <a:t> probleem.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48640" y="3464052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" y="3436620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051560" y="3495294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51560" y="349529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hout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2880360" y="3436620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koop een </a:t>
            </a:r>
            <a:r>
              <a:rPr lang="en-US" sz="1700" b="1" i="1" dirty="0">
                <a:solidFill>
                  <a:schemeClr val="accent3"/>
                </a:solidFill>
              </a:rPr>
              <a:t>houten</a:t>
            </a:r>
            <a:r>
              <a:rPr lang="en-US" sz="1700" i="1" dirty="0">
                <a:solidFill>
                  <a:schemeClr val="tx1"/>
                </a:solidFill>
              </a:rPr>
              <a:t> tafel.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3965448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3938016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1051560" y="3996690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51560" y="399669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werk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2880360" y="3938016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al een jaar </a:t>
            </a:r>
            <a:r>
              <a:rPr lang="en-US" sz="1700" b="1" i="1" dirty="0">
                <a:solidFill>
                  <a:schemeClr val="accent3"/>
                </a:solidFill>
              </a:rPr>
              <a:t>werkloos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48640" y="4466844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443941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1051560" y="449808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51560" y="449808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2880360" y="443941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receptionist is heel </a:t>
            </a:r>
            <a:r>
              <a:rPr lang="en-US" sz="1700" b="1" i="1" dirty="0">
                <a:solidFill>
                  <a:schemeClr val="accent3"/>
                </a:solidFill>
              </a:rPr>
              <a:t>vriendelijk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4968240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" y="494080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1051560" y="499948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51560" y="499948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dag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2880360" y="494080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accent3"/>
                </a:solidFill>
              </a:rPr>
              <a:t>dagelijkse</a:t>
            </a:r>
            <a:r>
              <a:rPr lang="en-US" sz="1700" i="1" dirty="0">
                <a:solidFill>
                  <a:schemeClr val="tx1"/>
                </a:solidFill>
              </a:rPr>
              <a:t> vergadering begint om 9 uur.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8640" y="5469636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544220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1051560" y="550087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50087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waarde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2880360" y="544220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Bedankt! Dat is een </a:t>
            </a:r>
            <a:r>
              <a:rPr lang="en-US" sz="1700" b="1" i="1" dirty="0">
                <a:solidFill>
                  <a:schemeClr val="accent3"/>
                </a:solidFill>
              </a:rPr>
              <a:t>waardevol</a:t>
            </a:r>
            <a:r>
              <a:rPr lang="en-US" sz="1700" i="1" dirty="0">
                <a:solidFill>
                  <a:schemeClr val="tx1"/>
                </a:solidFill>
              </a:rPr>
              <a:t> advies.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7 : </a:t>
            </a:r>
            <a:r>
              <a:rPr lang="en-US" sz="1300" i="1" dirty="0">
                <a:solidFill>
                  <a:schemeClr val="accent5"/>
                </a:solidFill>
              </a:rPr>
              <a:t>dagelijks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devant le nom. N° 8 : </a:t>
            </a:r>
            <a:r>
              <a:rPr lang="en-US" sz="1300" i="1" dirty="0">
                <a:solidFill>
                  <a:schemeClr val="accent5"/>
                </a:solidFill>
              </a:rPr>
              <a:t>het advies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après </a:t>
            </a:r>
            <a:r>
              <a:rPr lang="en-US" sz="1300" i="1" dirty="0">
                <a:solidFill>
                  <a:schemeClr val="accent5"/>
                </a:solidFill>
              </a:rPr>
              <a:t>een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C’est …baar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un adjectif en </a:t>
            </a:r>
            <a:r>
              <a:rPr lang="en-US" sz="1700" i="1" dirty="0">
                <a:solidFill>
                  <a:schemeClr val="accent5"/>
                </a:solidFill>
              </a:rPr>
              <a:t>-baar</a:t>
            </a:r>
            <a:r>
              <a:rPr lang="en-US" sz="1700" i="1" dirty="0">
                <a:solidFill>
                  <a:schemeClr val="accent5"/>
                </a:solidFill>
              </a:rPr>
              <a:t> (ou </a:t>
            </a:r>
            <a:r>
              <a:rPr lang="en-US" sz="1700" i="1" dirty="0">
                <a:solidFill>
                  <a:schemeClr val="accent5"/>
                </a:solidFill>
              </a:rPr>
              <a:t>on-…-baar</a:t>
            </a:r>
            <a:r>
              <a:rPr lang="en-US" sz="1700" i="1" dirty="0">
                <a:solidFill>
                  <a:schemeClr val="accent5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otable wa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61032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dit water drinken?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554480" y="2645664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185916" y="1978152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2161032"/>
            <a:ext cx="731520" cy="731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91756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zijn handschrift lezen?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7191756" y="2645664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3391408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money with wi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574288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554480" y="348284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Kunnen we die prijs betalen?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554480" y="4058920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hij is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Shape 13"/>
          <p:cNvSpPr/>
          <p:nvPr/>
        </p:nvSpPr>
        <p:spPr>
          <a:xfrm>
            <a:off x="6185916" y="3391408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oncoming 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574288"/>
            <a:ext cx="731520" cy="7315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191756" y="348284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kantoor met de bus bereiken?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191756" y="4058920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goed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48640" y="4804664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fork and knif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87544"/>
            <a:ext cx="731520" cy="73152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554480" y="489610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die paddenstoelen eten?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1554480" y="5472176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ze zijn niet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6185916" y="4804664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4987544"/>
            <a:ext cx="731520" cy="73152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191756" y="489610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verschil zien?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191756" y="5472176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niet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C’est …baar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un adjectif en </a:t>
            </a:r>
            <a:r>
              <a:rPr lang="en-US" sz="1700" i="1" dirty="0">
                <a:solidFill>
                  <a:schemeClr val="accent5"/>
                </a:solidFill>
              </a:rPr>
              <a:t>-baar</a:t>
            </a:r>
            <a:r>
              <a:rPr lang="en-US" sz="1700" i="1" dirty="0">
                <a:solidFill>
                  <a:schemeClr val="accent5"/>
                </a:solidFill>
              </a:rPr>
              <a:t> (ou </a:t>
            </a:r>
            <a:r>
              <a:rPr lang="en-US" sz="1700" i="1" dirty="0">
                <a:solidFill>
                  <a:schemeClr val="accent5"/>
                </a:solidFill>
              </a:rPr>
              <a:t>on-…-baar</a:t>
            </a:r>
            <a:r>
              <a:rPr lang="en-US" sz="1700" i="1" dirty="0">
                <a:solidFill>
                  <a:schemeClr val="accent5"/>
                </a:solidFill>
              </a:rPr>
              <a:t>).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2 : aussi </a:t>
            </a:r>
            <a:r>
              <a:rPr lang="en-US" sz="1300" i="1" dirty="0">
                <a:solidFill>
                  <a:schemeClr val="accent5"/>
                </a:solidFill>
              </a:rPr>
              <a:t>niet leesbaar</a:t>
            </a:r>
            <a:r>
              <a:rPr lang="en-US" sz="1300" i="1" dirty="0">
                <a:solidFill>
                  <a:schemeClr val="accent5"/>
                </a:solidFill>
              </a:rPr>
              <a:t>. N° 5 : aussi </a:t>
            </a:r>
            <a:r>
              <a:rPr lang="en-US" sz="1300" i="1" dirty="0">
                <a:solidFill>
                  <a:schemeClr val="accent5"/>
                </a:solidFill>
              </a:rPr>
              <a:t>oneetbaar</a:t>
            </a:r>
            <a:r>
              <a:rPr lang="en-US" sz="1300" i="1" dirty="0">
                <a:solidFill>
                  <a:schemeClr val="accent5"/>
                </a:solidFill>
              </a:rPr>
              <a:t>. N° 6 : aussi </a:t>
            </a:r>
            <a:r>
              <a:rPr lang="en-US" sz="1300" i="1" dirty="0">
                <a:solidFill>
                  <a:schemeClr val="accent5"/>
                </a:solidFill>
              </a:rPr>
              <a:t>onzichtbaar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78152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otable wa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61032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dit water drinken?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554480" y="2645664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</a:t>
            </a:r>
            <a:r>
              <a:rPr lang="en-US" sz="1800" b="1" i="1" dirty="0">
                <a:solidFill>
                  <a:schemeClr val="accent3"/>
                </a:solidFill>
              </a:rPr>
              <a:t>drinkbaar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6185916" y="1978152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2161032"/>
            <a:ext cx="731520" cy="7315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191756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zijn handschrift lezen?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191756" y="2645664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</a:t>
            </a:r>
            <a:r>
              <a:rPr lang="en-US" sz="1800" b="1" i="1" dirty="0">
                <a:solidFill>
                  <a:schemeClr val="accent3"/>
                </a:solidFill>
              </a:rPr>
              <a:t>onleesbaar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3299968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money with wi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82848"/>
            <a:ext cx="731520" cy="7315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54480" y="339140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Kunnen we die prijs betalen?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554480" y="3967480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hij is </a:t>
            </a:r>
            <a:r>
              <a:rPr lang="en-US" sz="1800" b="1" i="1" dirty="0">
                <a:solidFill>
                  <a:schemeClr val="accent3"/>
                </a:solidFill>
              </a:rPr>
              <a:t>betaalbaar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Shape 15"/>
          <p:cNvSpPr/>
          <p:nvPr/>
        </p:nvSpPr>
        <p:spPr>
          <a:xfrm>
            <a:off x="6185916" y="3299968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oncoming 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482848"/>
            <a:ext cx="731520" cy="7315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91756" y="339140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kantoor met de bus bereiken?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191756" y="3967480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goed </a:t>
            </a:r>
            <a:r>
              <a:rPr lang="en-US" sz="1800" b="1" i="1" dirty="0">
                <a:solidFill>
                  <a:schemeClr val="accent3"/>
                </a:solidFill>
              </a:rPr>
              <a:t>bereikbaar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Shape 18"/>
          <p:cNvSpPr/>
          <p:nvPr/>
        </p:nvSpPr>
        <p:spPr>
          <a:xfrm>
            <a:off x="548640" y="4621784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fork and knif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04664"/>
            <a:ext cx="731520" cy="7315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554480" y="471322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die paddenstoelen eten?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1554480" y="5289296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ze zijn niet </a:t>
            </a:r>
            <a:r>
              <a:rPr lang="en-US" sz="1800" b="1" i="1" dirty="0">
                <a:solidFill>
                  <a:schemeClr val="accent3"/>
                </a:solidFill>
              </a:rPr>
              <a:t>eetbaar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0" name="Shape 21"/>
          <p:cNvSpPr/>
          <p:nvPr/>
        </p:nvSpPr>
        <p:spPr>
          <a:xfrm>
            <a:off x="6185916" y="4621784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4804664"/>
            <a:ext cx="731520" cy="7315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91756" y="471322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verschil zien?</a:t>
            </a:r>
            <a:endParaRPr lang="en-US" sz="1500" dirty="0"/>
          </a:p>
        </p:txBody>
      </p:sp>
      <p:sp>
        <p:nvSpPr>
          <p:cNvPr id="33" name="Text 23"/>
          <p:cNvSpPr txBox="1"/>
          <p:nvPr/>
        </p:nvSpPr>
        <p:spPr>
          <a:xfrm>
            <a:off x="7191756" y="5289296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niet </a:t>
            </a:r>
            <a:r>
              <a:rPr lang="en-US" sz="1800" b="1" i="1" dirty="0">
                <a:solidFill>
                  <a:schemeClr val="accent3"/>
                </a:solidFill>
              </a:rPr>
              <a:t>zichtbaar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Rendre plus : ver- …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verbe en </a:t>
            </a:r>
            <a:r>
              <a:rPr lang="en-US" sz="1700" i="1" dirty="0">
                <a:solidFill>
                  <a:schemeClr val="accent5"/>
                </a:solidFill>
              </a:rPr>
              <a:t>ver- … -en</a:t>
            </a:r>
            <a:r>
              <a:rPr lang="en-US" sz="1700" i="1" dirty="0">
                <a:solidFill>
                  <a:schemeClr val="accent5"/>
                </a:solidFill>
              </a:rPr>
              <a:t> formé sur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205638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0563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groot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196900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kantoor is te klein.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96900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moeten het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2724912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kort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2011680" y="2637536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tekst is te lang.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989320" y="2637536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 je hem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1520" y="3393440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393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beter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2011680" y="3306064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service is niet goed.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989320" y="3306064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44652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willen hem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1520" y="4061968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40619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lang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2011680" y="3974592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contract eindigt in juni.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5989320" y="3974592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44652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het tot december.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4730496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7304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warm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2011680" y="4643120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is koud in de refter.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5989320" y="4643120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644652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de refter.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1520" y="539902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5399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nieuw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2011680" y="531164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website is oud.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5989320" y="531164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3" name="Text 39"/>
          <p:cNvSpPr txBox="1"/>
          <p:nvPr/>
        </p:nvSpPr>
        <p:spPr>
          <a:xfrm>
            <a:off x="644652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 de website.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Rendre plus : ver- …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verbe en </a:t>
            </a:r>
            <a:r>
              <a:rPr lang="en-US" sz="1700" i="1" dirty="0">
                <a:solidFill>
                  <a:schemeClr val="accent5"/>
                </a:solidFill>
              </a:rPr>
              <a:t>ver- … -en</a:t>
            </a:r>
            <a:r>
              <a:rPr lang="en-US" sz="1700" i="1" dirty="0">
                <a:solidFill>
                  <a:schemeClr val="accent5"/>
                </a:solidFill>
              </a:rPr>
              <a:t> formé sur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205638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0563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groot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011680" y="196900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kantoor is te klein.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196900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moeten het </a:t>
            </a:r>
            <a:r>
              <a:rPr lang="en-US" sz="1700" b="1" i="1" dirty="0">
                <a:solidFill>
                  <a:schemeClr val="accent3"/>
                </a:solidFill>
              </a:rPr>
              <a:t>vergroten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2724912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kort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2011680" y="2637536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tekst is te lang.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989320" y="2637536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 je hem </a:t>
            </a:r>
            <a:r>
              <a:rPr lang="en-US" sz="1700" b="1" i="1" dirty="0">
                <a:solidFill>
                  <a:schemeClr val="accent3"/>
                </a:solidFill>
              </a:rPr>
              <a:t>verkorten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1520" y="3393440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3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beter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011680" y="3306064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service is niet goed.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5989320" y="3306064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44652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willen hem </a:t>
            </a:r>
            <a:r>
              <a:rPr lang="en-US" sz="1700" b="1" i="1" dirty="0">
                <a:solidFill>
                  <a:schemeClr val="accent3"/>
                </a:solidFill>
              </a:rPr>
              <a:t>verbeteren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4061968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1520" y="40619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lang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2011680" y="3974592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contract eindigt in juni.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5989320" y="3974592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44652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verlengen</a:t>
            </a:r>
            <a:r>
              <a:rPr lang="en-US" sz="1700" i="1" dirty="0">
                <a:solidFill>
                  <a:schemeClr val="tx1"/>
                </a:solidFill>
              </a:rPr>
              <a:t> het tot december.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1520" y="4730496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7304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warm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2011680" y="4643120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is koud in de refter.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5989320" y="4643120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644652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verwarmen</a:t>
            </a:r>
            <a:r>
              <a:rPr lang="en-US" sz="1700" i="1" dirty="0">
                <a:solidFill>
                  <a:schemeClr val="tx1"/>
                </a:solidFill>
              </a:rPr>
              <a:t> de refter.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1520" y="539902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1520" y="5399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nieuw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011680" y="531164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website is oud.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5989320" y="531164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644652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vernieuwen</a:t>
            </a:r>
            <a:r>
              <a:rPr lang="en-US" sz="1700" i="1" dirty="0">
                <a:solidFill>
                  <a:schemeClr val="tx1"/>
                </a:solidFill>
              </a:rPr>
              <a:t> de website.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2 : aussi </a:t>
            </a:r>
            <a:r>
              <a:rPr lang="en-US" sz="1300" i="1" dirty="0">
                <a:solidFill>
                  <a:schemeClr val="accent5"/>
                </a:solidFill>
              </a:rPr>
              <a:t>inkorten</a:t>
            </a:r>
            <a:r>
              <a:rPr lang="en-US" sz="1300" i="1" dirty="0">
                <a:solidFill>
                  <a:schemeClr val="accent5"/>
                </a:solidFill>
              </a:rPr>
              <a:t>. N° 4 : la voyelle change (</a:t>
            </a:r>
            <a:r>
              <a:rPr lang="en-US" sz="1300" i="1" dirty="0">
                <a:solidFill>
                  <a:schemeClr val="accent5"/>
                </a:solidFill>
              </a:rPr>
              <a:t>lang → verlengen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 l’adverbe. Rappel : en néerlandais, l’adverbe =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1</a:t>
            </a:r>
            <a:r>
              <a:rPr lang="en-US" sz="1600" i="1" dirty="0">
                <a:solidFill>
                  <a:schemeClr val="tx2"/>
                </a:solidFill>
              </a:rPr>
              <a:t>  « Il travaille rapidement. »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96900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196900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werkt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2</a:t>
            </a:r>
            <a:r>
              <a:rPr lang="en-US" sz="1600" i="1" dirty="0">
                <a:solidFill>
                  <a:schemeClr val="tx2"/>
                </a:solidFill>
              </a:rPr>
              <a:t>  « Elle parle clairement. »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2637536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637536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spreekt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3</a:t>
            </a:r>
            <a:r>
              <a:rPr lang="en-US" sz="1600" i="1" dirty="0">
                <a:solidFill>
                  <a:schemeClr val="tx2"/>
                </a:solidFill>
              </a:rPr>
              <a:t>  « Conduis prudemment ! »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5806440" y="3306064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355080" y="3306064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Rijd </a:t>
            </a:r>
            <a:r>
              <a:rPr lang="en-US" sz="1800" i="1" dirty="0">
                <a:solidFill>
                  <a:schemeClr val="accent5"/>
                </a:solidFill>
              </a:rPr>
              <a:t>…………………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4</a:t>
            </a:r>
            <a:r>
              <a:rPr lang="en-US" sz="1600" i="1" dirty="0">
                <a:solidFill>
                  <a:schemeClr val="tx2"/>
                </a:solidFill>
              </a:rPr>
              <a:t>  « Tu parles bien néerlandais. »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3974592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355080" y="3974592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spreekt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5</a:t>
            </a:r>
            <a:r>
              <a:rPr lang="en-US" sz="1600" i="1" dirty="0">
                <a:solidFill>
                  <a:schemeClr val="tx2"/>
                </a:solidFill>
              </a:rPr>
              <a:t>  « Heureusement, il est là. »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5806440" y="4643120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355080" y="4643120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 is hij er.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6</a:t>
            </a:r>
            <a:r>
              <a:rPr lang="en-US" sz="1600" i="1" dirty="0">
                <a:solidFill>
                  <a:schemeClr val="tx2"/>
                </a:solidFill>
              </a:rPr>
              <a:t>  « Malheureusement, je ne peux pas venir. »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806440" y="531164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355080" y="531164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kan ik niet komen.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 l’adverbe. Rappel : en néerlandais, l’adverbe =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1</a:t>
            </a:r>
            <a:r>
              <a:rPr lang="en-US" sz="1600" i="1" dirty="0">
                <a:solidFill>
                  <a:schemeClr val="tx2"/>
                </a:solidFill>
              </a:rPr>
              <a:t>  « Il travaille rapidement. 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196900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196900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werkt </a:t>
            </a:r>
            <a:r>
              <a:rPr lang="en-US" sz="1800" b="1" i="1" dirty="0">
                <a:solidFill>
                  <a:schemeClr val="accent3"/>
                </a:solidFill>
              </a:rPr>
              <a:t>snel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2</a:t>
            </a:r>
            <a:r>
              <a:rPr lang="en-US" sz="1600" i="1" dirty="0">
                <a:solidFill>
                  <a:schemeClr val="tx2"/>
                </a:solidFill>
              </a:rPr>
              <a:t>  « Elle parle clairement. »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806440" y="2637536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355080" y="2637536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spreekt </a:t>
            </a:r>
            <a:r>
              <a:rPr lang="en-US" sz="1800" b="1" i="1" dirty="0">
                <a:solidFill>
                  <a:schemeClr val="accent3"/>
                </a:solidFill>
              </a:rPr>
              <a:t>duidelijk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3</a:t>
            </a:r>
            <a:r>
              <a:rPr lang="en-US" sz="1600" i="1" dirty="0">
                <a:solidFill>
                  <a:schemeClr val="tx2"/>
                </a:solidFill>
              </a:rPr>
              <a:t>  « Conduis prudemment ! »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806440" y="3306064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355080" y="3306064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Rijd </a:t>
            </a:r>
            <a:r>
              <a:rPr lang="en-US" sz="1800" b="1" i="1" dirty="0">
                <a:solidFill>
                  <a:schemeClr val="accent3"/>
                </a:solidFill>
              </a:rPr>
              <a:t>voorzichtig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4</a:t>
            </a:r>
            <a:r>
              <a:rPr lang="en-US" sz="1600" i="1" dirty="0">
                <a:solidFill>
                  <a:schemeClr val="tx2"/>
                </a:solidFill>
              </a:rPr>
              <a:t>  « Tu parles bien néerlandais. »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3974592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355080" y="3974592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spreekt </a:t>
            </a:r>
            <a:r>
              <a:rPr lang="en-US" sz="1800" b="1" i="1" dirty="0">
                <a:solidFill>
                  <a:schemeClr val="accent3"/>
                </a:solidFill>
              </a:rPr>
              <a:t>goed</a:t>
            </a:r>
            <a:r>
              <a:rPr lang="en-US" sz="18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5</a:t>
            </a:r>
            <a:r>
              <a:rPr lang="en-US" sz="1600" i="1" dirty="0">
                <a:solidFill>
                  <a:schemeClr val="tx2"/>
                </a:solidFill>
              </a:rPr>
              <a:t>  « Heureusement, il est là. »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5806440" y="4643120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6355080" y="4643120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Gelukkig</a:t>
            </a:r>
            <a:r>
              <a:rPr lang="en-US" sz="1800" i="1" dirty="0">
                <a:solidFill>
                  <a:schemeClr val="tx1"/>
                </a:solidFill>
              </a:rPr>
              <a:t> is hij er.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6</a:t>
            </a:r>
            <a:r>
              <a:rPr lang="en-US" sz="1600" i="1" dirty="0">
                <a:solidFill>
                  <a:schemeClr val="tx2"/>
                </a:solidFill>
              </a:rPr>
              <a:t>  « Malheureusement, je ne peux pas venir. »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5806440" y="531164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355080" y="531164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Helaas</a:t>
            </a:r>
            <a:r>
              <a:rPr lang="en-US" sz="1800" i="1" dirty="0">
                <a:solidFill>
                  <a:schemeClr val="tx1"/>
                </a:solidFill>
              </a:rPr>
              <a:t> kan ik niet komen.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6 : aussi </a:t>
            </a:r>
            <a:r>
              <a:rPr lang="en-US" sz="1300" i="1" dirty="0">
                <a:solidFill>
                  <a:schemeClr val="accent5"/>
                </a:solidFill>
              </a:rPr>
              <a:t>Jammer genoeg / Spijtig genoeg (BE)</a:t>
            </a:r>
            <a:r>
              <a:rPr lang="en-US" sz="1300" i="1" dirty="0">
                <a:solidFill>
                  <a:schemeClr val="accent5"/>
                </a:solidFill>
              </a:rPr>
              <a:t>. N° 5 et 6 : inversion après l’adverbe en tête.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familles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chaque famille : l’action, la personne, l’adjectif « qu’on peut… » et son contraire.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VERBE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785262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785262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ACTION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1885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1885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PERSONNE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258507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58507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« QU’ON PEUT… »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49513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9513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CONTRAIRE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179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betalen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785262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858414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21885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095037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258507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31659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49513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56828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lezen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2785262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858414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021885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095037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258507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31659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949513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56828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179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gebruiken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2785262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858414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5021885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095037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7258507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331659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949513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56828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familles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chaque famille : l’action, la personne, l’adjectif « qu’on peut… » et son contraire.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VERBE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785262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785262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ACTION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1885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021885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PERSONNE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258507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58507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« QU’ON PEUT… »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49513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9513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CONTRAIRE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79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betalen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2785262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858414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021885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95037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258507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31659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betaalbaar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949513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56828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onbetaalbaar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2179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lezen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2785262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58414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lezen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021885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095037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lezer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7258507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331659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leesbaar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949513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956828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onleesbaar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2179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gebruiken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2785262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858414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gebruik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021885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5037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gebruiker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7258507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31659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bruikbaar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949513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956828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onbruikbaar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style écrit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Transformez en style nominal (titre, note de service).</a:t>
            </a:r>
            <a:endParaRPr lang="en-US" sz="1700" dirty="0"/>
          </a:p>
        </p:txBody>
      </p:sp>
      <p:pic>
        <p:nvPicPr>
          <p:cNvPr id="8" name="Image 1" descr="news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1365504"/>
            <a:ext cx="640080" cy="6400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196900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196900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prijzen stijgen.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5321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035040" y="196900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72200" y="196900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548640" y="2629916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2629916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Het kantoor opent maandag.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5321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035040" y="2629916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72200" y="2629916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: maandag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48640" y="3290824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3290824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 vergaderen om 10 uur.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55321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035040" y="3290824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172200" y="3290824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 om 10 uur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548640" y="3951732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" y="3951732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trein vertrekt om 8 uur.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5321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035040" y="3951732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72200" y="3951732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: 8 uur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548640" y="4612640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4612640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klanten zijn tevreden.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55321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035040" y="4612640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72200" y="4612640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548640" y="527354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85800" y="527354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moet snel betalen.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55321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7" name="Shape 32"/>
          <p:cNvSpPr/>
          <p:nvPr/>
        </p:nvSpPr>
        <p:spPr>
          <a:xfrm>
            <a:off x="6035040" y="527354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72200" y="527354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style écrit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Transformez en style nominal (titre, note de service).</a:t>
            </a:r>
            <a:endParaRPr lang="en-US" sz="1700" dirty="0"/>
          </a:p>
        </p:txBody>
      </p:sp>
      <p:pic>
        <p:nvPicPr>
          <p:cNvPr id="9" name="Image 1" descr="news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1365504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196900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196900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prijzen stijgen.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5321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035040" y="196900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72200" y="196900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stijging van de prijzen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2629916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2629916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Het kantoor opent maandag.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5321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035040" y="2629916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2629916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opening van het kantoor</a:t>
            </a:r>
            <a:r>
              <a:rPr lang="en-US" sz="1700" i="1" dirty="0">
                <a:solidFill>
                  <a:schemeClr val="tx1"/>
                </a:solidFill>
              </a:rPr>
              <a:t>: maandag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548640" y="3290824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3290824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 vergaderen om 10 uur.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5321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035040" y="3290824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172200" y="3290824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Vergadering</a:t>
            </a:r>
            <a:r>
              <a:rPr lang="en-US" sz="1700" i="1" dirty="0">
                <a:solidFill>
                  <a:schemeClr val="tx1"/>
                </a:solidFill>
              </a:rPr>
              <a:t> om 10 uur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48640" y="3951732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3951732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trein vertrekt om 8 uur.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5321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6035040" y="3951732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172200" y="3951732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vertrek van de trein</a:t>
            </a:r>
            <a:r>
              <a:rPr lang="en-US" sz="1700" i="1" dirty="0">
                <a:solidFill>
                  <a:schemeClr val="tx1"/>
                </a:solidFill>
              </a:rPr>
              <a:t>: 8 uur</a:t>
            </a:r>
            <a:endParaRPr lang="en-US" sz="1700" dirty="0"/>
          </a:p>
        </p:txBody>
      </p:sp>
      <p:sp>
        <p:nvSpPr>
          <p:cNvPr id="30" name="Shape 25"/>
          <p:cNvSpPr/>
          <p:nvPr/>
        </p:nvSpPr>
        <p:spPr>
          <a:xfrm>
            <a:off x="548640" y="4612640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85800" y="4612640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klanten zijn tevreden.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55321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6035040" y="4612640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172200" y="4612640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tevredenheid van de klanten</a:t>
            </a:r>
            <a:endParaRPr lang="en-US" sz="1700" dirty="0"/>
          </a:p>
        </p:txBody>
      </p:sp>
      <p:sp>
        <p:nvSpPr>
          <p:cNvPr id="35" name="Shape 30"/>
          <p:cNvSpPr/>
          <p:nvPr/>
        </p:nvSpPr>
        <p:spPr>
          <a:xfrm>
            <a:off x="548640" y="527354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85800" y="527354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moet snel betalen.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55321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6035040" y="527354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172200" y="527354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Snelle betaling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70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Titres aussi sans article : </a:t>
            </a:r>
            <a:r>
              <a:rPr lang="en-US" sz="1300" i="1" dirty="0">
                <a:solidFill>
                  <a:schemeClr val="accent5"/>
                </a:solidFill>
              </a:rPr>
              <a:t>Stijging van de prijzen · Prijsstijging</a:t>
            </a:r>
            <a:r>
              <a:rPr lang="en-US" sz="1300" i="1" dirty="0">
                <a:solidFill>
                  <a:schemeClr val="accent5"/>
                </a:solidFill>
              </a:rPr>
              <a:t>. N° 4 : </a:t>
            </a:r>
            <a:r>
              <a:rPr lang="en-US" sz="1300" i="1" dirty="0">
                <a:solidFill>
                  <a:schemeClr val="accent5"/>
                </a:solidFill>
              </a:rPr>
              <a:t>het vertrek</a:t>
            </a:r>
            <a:r>
              <a:rPr lang="en-US" sz="1300" i="1" dirty="0">
                <a:solidFill>
                  <a:schemeClr val="accent5"/>
                </a:solidFill>
              </a:rPr>
              <a:t> (radical). N° 5 : aussi </a:t>
            </a:r>
            <a:r>
              <a:rPr lang="en-US" sz="1300" i="1" dirty="0">
                <a:solidFill>
                  <a:schemeClr val="accent5"/>
                </a:solidFill>
              </a:rPr>
              <a:t>de klanttevredenheid</a:t>
            </a:r>
            <a:r>
              <a:rPr lang="en-US" sz="1300" i="1" dirty="0">
                <a:solidFill>
                  <a:schemeClr val="accent5"/>
                </a:solidFill>
              </a:rPr>
              <a:t>. N° 6 : </a:t>
            </a:r>
            <a:r>
              <a:rPr lang="en-US" sz="1300" i="1" dirty="0">
                <a:solidFill>
                  <a:schemeClr val="accent5"/>
                </a:solidFill>
              </a:rPr>
              <a:t>snel</a:t>
            </a:r>
            <a:r>
              <a:rPr lang="en-US" sz="1300" i="1" dirty="0">
                <a:solidFill>
                  <a:schemeClr val="accent5"/>
                </a:solidFill>
              </a:rPr>
              <a:t> → </a:t>
            </a:r>
            <a:r>
              <a:rPr lang="en-US" sz="1300" i="1" dirty="0">
                <a:solidFill>
                  <a:schemeClr val="accent5"/>
                </a:solidFill>
              </a:rPr>
              <a:t>snelle</a:t>
            </a:r>
            <a:r>
              <a:rPr lang="en-US" sz="1300" i="1" dirty="0">
                <a:solidFill>
                  <a:schemeClr val="accent5"/>
                </a:solidFill>
              </a:rPr>
              <a:t> (+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De of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suffixe :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het</a:t>
            </a:r>
            <a:r>
              <a:rPr lang="en-US" sz="1700" i="1" dirty="0">
                <a:solidFill>
                  <a:schemeClr val="accent5"/>
                </a:solidFill>
              </a:rPr>
              <a:t> ? (boussole, diapo 22)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77240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645920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betaling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3355848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84448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4453128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lezen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163056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91656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6" name="Text 12"/>
          <p:cNvSpPr txBox="1"/>
          <p:nvPr/>
        </p:nvSpPr>
        <p:spPr>
          <a:xfrm>
            <a:off x="7260336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vertrek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8970264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98864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10067544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begin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548640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1645920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gezondheid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3355848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584448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4453128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toerisme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6163056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391656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4"/>
          <p:cNvSpPr txBox="1"/>
          <p:nvPr/>
        </p:nvSpPr>
        <p:spPr>
          <a:xfrm>
            <a:off x="7260336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document</a:t>
            </a:r>
            <a:endParaRPr lang="en-US" sz="1450" dirty="0"/>
          </a:p>
        </p:txBody>
      </p:sp>
      <p:sp>
        <p:nvSpPr>
          <p:cNvPr id="29" name="Shape 25"/>
          <p:cNvSpPr/>
          <p:nvPr/>
        </p:nvSpPr>
        <p:spPr>
          <a:xfrm>
            <a:off x="8970264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9198864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1" name="Text 27"/>
          <p:cNvSpPr txBox="1"/>
          <p:nvPr/>
        </p:nvSpPr>
        <p:spPr>
          <a:xfrm>
            <a:off x="10067544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organisatie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8640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777240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1645920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mengsel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3355848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584448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4453128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vriendschap</a:t>
            </a:r>
            <a:endParaRPr lang="en-US" sz="1450" dirty="0"/>
          </a:p>
        </p:txBody>
      </p:sp>
      <p:sp>
        <p:nvSpPr>
          <p:cNvPr id="38" name="Shape 34"/>
          <p:cNvSpPr/>
          <p:nvPr/>
        </p:nvSpPr>
        <p:spPr>
          <a:xfrm>
            <a:off x="6163056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391656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7260336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lidmaatschap</a:t>
            </a:r>
            <a:endParaRPr lang="en-US" sz="1450" dirty="0"/>
          </a:p>
        </p:txBody>
      </p:sp>
      <p:sp>
        <p:nvSpPr>
          <p:cNvPr id="41" name="Shape 37"/>
          <p:cNvSpPr/>
          <p:nvPr/>
        </p:nvSpPr>
        <p:spPr>
          <a:xfrm>
            <a:off x="8970264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198864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43" name="Text 39"/>
          <p:cNvSpPr txBox="1"/>
          <p:nvPr/>
        </p:nvSpPr>
        <p:spPr>
          <a:xfrm>
            <a:off x="10067544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bakkerij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De of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suffixe :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het</a:t>
            </a:r>
            <a:r>
              <a:rPr lang="en-US" sz="1700" i="1" dirty="0">
                <a:solidFill>
                  <a:schemeClr val="accent5"/>
                </a:solidFill>
              </a:rPr>
              <a:t> ? (boussole, diapo 22)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7240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645920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betaling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3355848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584448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84448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453128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lezen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6163056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91656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91656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260336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vertrek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8970264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198864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98864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10067544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begin</a:t>
            </a:r>
            <a:endParaRPr lang="en-US" sz="1450" dirty="0"/>
          </a:p>
        </p:txBody>
      </p:sp>
      <p:sp>
        <p:nvSpPr>
          <p:cNvPr id="25" name="Shape 21"/>
          <p:cNvSpPr/>
          <p:nvPr/>
        </p:nvSpPr>
        <p:spPr>
          <a:xfrm>
            <a:off x="548640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77240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1645920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gezondheid</a:t>
            </a:r>
            <a:endParaRPr lang="en-US" sz="1450" dirty="0"/>
          </a:p>
        </p:txBody>
      </p:sp>
      <p:sp>
        <p:nvSpPr>
          <p:cNvPr id="29" name="Shape 25"/>
          <p:cNvSpPr/>
          <p:nvPr/>
        </p:nvSpPr>
        <p:spPr>
          <a:xfrm>
            <a:off x="3355848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584448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84448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4453128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toerisme</a:t>
            </a:r>
            <a:endParaRPr lang="en-US" sz="1450" dirty="0"/>
          </a:p>
        </p:txBody>
      </p:sp>
      <p:sp>
        <p:nvSpPr>
          <p:cNvPr id="33" name="Shape 29"/>
          <p:cNvSpPr/>
          <p:nvPr/>
        </p:nvSpPr>
        <p:spPr>
          <a:xfrm>
            <a:off x="6163056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6391656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391656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7260336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document</a:t>
            </a:r>
            <a:endParaRPr lang="en-US" sz="1450" dirty="0"/>
          </a:p>
        </p:txBody>
      </p:sp>
      <p:sp>
        <p:nvSpPr>
          <p:cNvPr id="37" name="Shape 33"/>
          <p:cNvSpPr/>
          <p:nvPr/>
        </p:nvSpPr>
        <p:spPr>
          <a:xfrm>
            <a:off x="8970264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198864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198864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10067544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organisatie</a:t>
            </a:r>
            <a:endParaRPr lang="en-US" sz="1450" dirty="0"/>
          </a:p>
        </p:txBody>
      </p:sp>
      <p:sp>
        <p:nvSpPr>
          <p:cNvPr id="41" name="Shape 37"/>
          <p:cNvSpPr/>
          <p:nvPr/>
        </p:nvSpPr>
        <p:spPr>
          <a:xfrm>
            <a:off x="548640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77240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77240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44" name="Text 40"/>
          <p:cNvSpPr txBox="1"/>
          <p:nvPr/>
        </p:nvSpPr>
        <p:spPr>
          <a:xfrm>
            <a:off x="1645920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mengsel</a:t>
            </a:r>
            <a:endParaRPr lang="en-US" sz="1450" dirty="0"/>
          </a:p>
        </p:txBody>
      </p:sp>
      <p:sp>
        <p:nvSpPr>
          <p:cNvPr id="45" name="Shape 41"/>
          <p:cNvSpPr/>
          <p:nvPr/>
        </p:nvSpPr>
        <p:spPr>
          <a:xfrm>
            <a:off x="3355848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3584448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3584448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4453128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vriendschap</a:t>
            </a:r>
            <a:endParaRPr lang="en-US" sz="1450" dirty="0"/>
          </a:p>
        </p:txBody>
      </p:sp>
      <p:sp>
        <p:nvSpPr>
          <p:cNvPr id="49" name="Shape 45"/>
          <p:cNvSpPr/>
          <p:nvPr/>
        </p:nvSpPr>
        <p:spPr>
          <a:xfrm>
            <a:off x="6163056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0" name="Shape 46"/>
          <p:cNvSpPr/>
          <p:nvPr/>
        </p:nvSpPr>
        <p:spPr>
          <a:xfrm>
            <a:off x="6391656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391656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52" name="Text 48"/>
          <p:cNvSpPr txBox="1"/>
          <p:nvPr/>
        </p:nvSpPr>
        <p:spPr>
          <a:xfrm>
            <a:off x="7260336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lidmaatschap</a:t>
            </a:r>
            <a:endParaRPr lang="en-US" sz="1450" dirty="0"/>
          </a:p>
        </p:txBody>
      </p:sp>
      <p:sp>
        <p:nvSpPr>
          <p:cNvPr id="53" name="Shape 49"/>
          <p:cNvSpPr/>
          <p:nvPr/>
        </p:nvSpPr>
        <p:spPr>
          <a:xfrm>
            <a:off x="8970264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9198864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198864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56" name="Text 52"/>
          <p:cNvSpPr txBox="1"/>
          <p:nvPr/>
        </p:nvSpPr>
        <p:spPr>
          <a:xfrm>
            <a:off x="10067544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bakkerij</a:t>
            </a:r>
            <a:endParaRPr lang="en-US" sz="1450" dirty="0"/>
          </a:p>
        </p:txBody>
      </p:sp>
      <p:sp>
        <p:nvSpPr>
          <p:cNvPr id="57" name="Text 5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lidmaatschap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-schap</a:t>
            </a:r>
            <a:r>
              <a:rPr lang="en-US" sz="1300" i="1" dirty="0">
                <a:solidFill>
                  <a:schemeClr val="accent5"/>
                </a:solidFill>
              </a:rPr>
              <a:t> de statut =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. </a:t>
            </a:r>
            <a:r>
              <a:rPr lang="en-US" sz="1300" i="1" dirty="0">
                <a:solidFill>
                  <a:schemeClr val="accent5"/>
                </a:solidFill>
              </a:rPr>
              <a:t>het vertrek, het begin</a:t>
            </a:r>
            <a:r>
              <a:rPr lang="en-US" sz="1300" i="1" dirty="0">
                <a:solidFill>
                  <a:schemeClr val="accent5"/>
                </a:solidFill>
              </a:rPr>
              <a:t> : radical à préfixe.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une note de service. Trouvez les 5 erreurs de dérivation.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· Peeters &amp; Co · Van: Lotte Maes, facility manager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collega’s,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Volgende week is er een belangrijke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r>
              <a:rPr lang="en-US" sz="1700" i="1" dirty="0">
                <a:solidFill>
                  <a:schemeClr val="tx1"/>
                </a:solidFill>
              </a:rPr>
              <a:t> over de </a:t>
            </a:r>
            <a:r>
              <a:rPr lang="en-US" sz="1700" i="1" dirty="0">
                <a:solidFill>
                  <a:schemeClr val="tx1"/>
                </a:solidFill>
              </a:rPr>
              <a:t>organisering</a:t>
            </a:r>
            <a:r>
              <a:rPr lang="en-US" sz="1700" i="1" dirty="0">
                <a:solidFill>
                  <a:schemeClr val="tx1"/>
                </a:solidFill>
              </a:rPr>
              <a:t> van het nieuwe kantoor. Door de </a:t>
            </a:r>
            <a:r>
              <a:rPr lang="en-US" sz="1700" i="1" dirty="0">
                <a:solidFill>
                  <a:schemeClr val="tx1"/>
                </a:solidFill>
              </a:rPr>
              <a:t>warmheid</a:t>
            </a:r>
            <a:r>
              <a:rPr lang="en-US" sz="1700" i="1" dirty="0">
                <a:solidFill>
                  <a:schemeClr val="tx1"/>
                </a:solidFill>
              </a:rPr>
              <a:t> in de zomer zoeken we een </a:t>
            </a:r>
            <a:r>
              <a:rPr lang="en-US" sz="1700" i="1" dirty="0">
                <a:solidFill>
                  <a:schemeClr val="tx1"/>
                </a:solidFill>
              </a:rPr>
              <a:t>betalbare</a:t>
            </a:r>
            <a:r>
              <a:rPr lang="en-US" sz="1700" i="1" dirty="0">
                <a:solidFill>
                  <a:schemeClr val="tx1"/>
                </a:solidFill>
              </a:rPr>
              <a:t> airco. De beschikbaarheid van de zalen staat in de agenda. Antwoord </a:t>
            </a:r>
            <a:r>
              <a:rPr lang="en-US" sz="1700" i="1" dirty="0">
                <a:solidFill>
                  <a:schemeClr val="tx1"/>
                </a:solidFill>
              </a:rPr>
              <a:t>snellijk</a:t>
            </a:r>
            <a:r>
              <a:rPr lang="en-US" sz="1700" i="1" dirty="0">
                <a:solidFill>
                  <a:schemeClr val="tx1"/>
                </a:solidFill>
              </a:rPr>
              <a:t>, a.u.b.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Met vriendelijke groeten,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Lotte</a:t>
            </a:r>
            <a:endParaRPr lang="en-US" sz="17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une note de service. Trouvez les 5 erreurs de dérivation.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· Peeters &amp; Co · Van: Lotte Maes, facility manager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collega’s,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Volgende week is er een belangrijke </a:t>
            </a:r>
            <a:r>
              <a:rPr lang="en-US" sz="1700" i="1" strike="sngStrike" dirty="0">
                <a:solidFill>
                  <a:schemeClr val="accent6"/>
                </a:solidFill>
              </a:rPr>
              <a:t>vergaderen</a:t>
            </a:r>
            <a:r>
              <a:rPr lang="en-US" sz="1700" b="1" i="1" dirty="0">
                <a:solidFill>
                  <a:schemeClr val="accent3"/>
                </a:solidFill>
              </a:rPr>
              <a:t> vergadering</a:t>
            </a:r>
            <a:r>
              <a:rPr lang="en-US" sz="1700" i="1" dirty="0">
                <a:solidFill>
                  <a:schemeClr val="tx1"/>
                </a:solidFill>
              </a:rPr>
              <a:t> over de </a:t>
            </a:r>
            <a:r>
              <a:rPr lang="en-US" sz="1700" i="1" strike="sngStrike" dirty="0">
                <a:solidFill>
                  <a:schemeClr val="accent6"/>
                </a:solidFill>
              </a:rPr>
              <a:t>organisering</a:t>
            </a:r>
            <a:r>
              <a:rPr lang="en-US" sz="1700" b="1" i="1" dirty="0">
                <a:solidFill>
                  <a:schemeClr val="accent3"/>
                </a:solidFill>
              </a:rPr>
              <a:t> organisatie</a:t>
            </a:r>
            <a:r>
              <a:rPr lang="en-US" sz="1700" i="1" dirty="0">
                <a:solidFill>
                  <a:schemeClr val="tx1"/>
                </a:solidFill>
              </a:rPr>
              <a:t> van het nieuwe kantoor. Door de </a:t>
            </a:r>
            <a:r>
              <a:rPr lang="en-US" sz="1700" i="1" strike="sngStrike" dirty="0">
                <a:solidFill>
                  <a:schemeClr val="accent6"/>
                </a:solidFill>
              </a:rPr>
              <a:t>warmheid</a:t>
            </a:r>
            <a:r>
              <a:rPr lang="en-US" sz="1700" b="1" i="1" dirty="0">
                <a:solidFill>
                  <a:schemeClr val="accent3"/>
                </a:solidFill>
              </a:rPr>
              <a:t> warmte</a:t>
            </a:r>
            <a:r>
              <a:rPr lang="en-US" sz="1700" i="1" dirty="0">
                <a:solidFill>
                  <a:schemeClr val="tx1"/>
                </a:solidFill>
              </a:rPr>
              <a:t> in de zomer zoeken we een </a:t>
            </a:r>
            <a:r>
              <a:rPr lang="en-US" sz="1700" i="1" strike="sngStrike" dirty="0">
                <a:solidFill>
                  <a:schemeClr val="accent6"/>
                </a:solidFill>
              </a:rPr>
              <a:t>betalbare</a:t>
            </a:r>
            <a:r>
              <a:rPr lang="en-US" sz="1700" b="1" i="1" dirty="0">
                <a:solidFill>
                  <a:schemeClr val="accent3"/>
                </a:solidFill>
              </a:rPr>
              <a:t> betaalbare</a:t>
            </a:r>
            <a:r>
              <a:rPr lang="en-US" sz="1700" i="1" dirty="0">
                <a:solidFill>
                  <a:schemeClr val="tx1"/>
                </a:solidFill>
              </a:rPr>
              <a:t> airco. De beschikbaarheid van de zalen staat in de agenda. Antwoord </a:t>
            </a:r>
            <a:r>
              <a:rPr lang="en-US" sz="1700" i="1" strike="sngStrike" dirty="0">
                <a:solidFill>
                  <a:schemeClr val="accent6"/>
                </a:solidFill>
              </a:rPr>
              <a:t>snellijk</a:t>
            </a:r>
            <a:r>
              <a:rPr lang="en-US" sz="1700" b="1" i="1" dirty="0">
                <a:solidFill>
                  <a:schemeClr val="accent3"/>
                </a:solidFill>
              </a:rPr>
              <a:t> snel</a:t>
            </a:r>
            <a:r>
              <a:rPr lang="en-US" sz="1700" i="1" dirty="0">
                <a:solidFill>
                  <a:schemeClr val="tx1"/>
                </a:solidFill>
              </a:rPr>
              <a:t>, a.u.b.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Met vriendelijke groeten,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Lotte</a:t>
            </a:r>
            <a:endParaRPr lang="en-US" sz="17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Corrects : </a:t>
            </a:r>
            <a:r>
              <a:rPr lang="en-US" sz="1300" i="1" dirty="0">
                <a:solidFill>
                  <a:schemeClr val="accent5"/>
                </a:solidFill>
              </a:rPr>
              <a:t>de beschikbaarheid</a:t>
            </a:r>
            <a:r>
              <a:rPr lang="en-US" sz="1300" i="1" dirty="0">
                <a:solidFill>
                  <a:schemeClr val="accent5"/>
                </a:solidFill>
              </a:rPr>
              <a:t> (</a:t>
            </a:r>
            <a:r>
              <a:rPr lang="en-US" sz="1300" i="1" dirty="0">
                <a:solidFill>
                  <a:schemeClr val="accent5"/>
                </a:solidFill>
              </a:rPr>
              <a:t>beschikbaar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-heid</a:t>
            </a:r>
            <a:r>
              <a:rPr lang="en-US" sz="1300" i="1" dirty="0">
                <a:solidFill>
                  <a:schemeClr val="accent5"/>
                </a:solidFill>
              </a:rPr>
              <a:t>), </a:t>
            </a:r>
            <a:r>
              <a:rPr lang="en-US" sz="1300" i="1" dirty="0">
                <a:solidFill>
                  <a:schemeClr val="accent5"/>
                </a:solidFill>
              </a:rPr>
              <a:t>vriendelijke</a:t>
            </a:r>
            <a:r>
              <a:rPr lang="en-US" sz="1300" i="1" dirty="0">
                <a:solidFill>
                  <a:schemeClr val="accent5"/>
                </a:solidFill>
              </a:rPr>
              <a:t> (</a:t>
            </a:r>
            <a:r>
              <a:rPr lang="en-US" sz="1300" i="1" dirty="0">
                <a:solidFill>
                  <a:schemeClr val="accent5"/>
                </a:solidFill>
              </a:rPr>
              <a:t>-lijk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12 — La fabrique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37160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équipes : tirez une </a:t>
            </a:r>
            <a:r>
              <a:rPr lang="en-US" sz="1600" b="1" dirty="0">
                <a:solidFill>
                  <a:schemeClr val="tx1"/>
                </a:solidFill>
              </a:rPr>
              <a:t>racine</a:t>
            </a:r>
            <a:r>
              <a:rPr lang="en-US" sz="1600" dirty="0">
                <a:solidFill>
                  <a:schemeClr val="tx1"/>
                </a:solidFill>
              </a:rPr>
              <a:t>, puis fabriquez un maximum de mots avec les </a:t>
            </a:r>
            <a:r>
              <a:rPr lang="en-US" sz="1600" b="1" dirty="0">
                <a:solidFill>
                  <a:schemeClr val="tx1"/>
                </a:solidFill>
              </a:rPr>
              <a:t>cartes-suffixes</a:t>
            </a:r>
            <a:r>
              <a:rPr lang="en-US" sz="1600" dirty="0">
                <a:solidFill>
                  <a:schemeClr val="tx1"/>
                </a:solidFill>
              </a:rPr>
              <a:t> en 2 minutes.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31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tx2"/>
                </a:solidFill>
              </a:rPr>
              <a:t>RACINES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 rot="-180000">
            <a:off x="548640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48640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werk-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 rot="120000">
            <a:off x="1938528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 rot="120000">
            <a:off x="1938528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speel-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 rot="-60000">
            <a:off x="3328416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 rot="-60000">
            <a:off x="3328416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vrij-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 rot="180000">
            <a:off x="4718304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 rot="180000">
            <a:off x="4718304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zon-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 rot="-180000">
            <a:off x="6108192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 rot="-180000">
            <a:off x="6108192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betaal-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 rot="120000">
            <a:off x="7498080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 rot="120000">
            <a:off x="7498080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lees-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 rot="-60000">
            <a:off x="8887968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 rot="-60000">
            <a:off x="8887968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gezond-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 rot="180000">
            <a:off x="10277856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180000">
            <a:off x="10277856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groot-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6E4A9E"/>
                </a:solidFill>
              </a:rPr>
              <a:t>CARTES-SUFFIXES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120000">
            <a:off x="548640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-ing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-120000">
            <a:off x="2404872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2404872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-er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60000">
            <a:off x="4261104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4261104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-heid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6117336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-60000">
            <a:off x="6117336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-te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 rot="120000">
            <a:off x="7973568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120000">
            <a:off x="7973568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-ig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 rot="-120000">
            <a:off x="9829800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-120000">
            <a:off x="9829800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-lijk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60000">
            <a:off x="548640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 rot="60000">
            <a:off x="548640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-baar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 rot="-60000">
            <a:off x="2404872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 rot="-60000">
            <a:off x="2404872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-loos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 rot="120000">
            <a:off x="4261104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 rot="120000">
            <a:off x="4261104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on-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 rot="-120000">
            <a:off x="6117336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 rot="-120000">
            <a:off x="6117336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ver- … -en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 rot="60000">
            <a:off x="7973568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 rot="60000">
            <a:off x="7973568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be-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 rot="-60000">
            <a:off x="9829800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 rot="-60000">
            <a:off x="9829800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 + inf.</a:t>
            </a:r>
            <a:endParaRPr lang="en-US" sz="1600" dirty="0"/>
          </a:p>
        </p:txBody>
      </p:sp>
      <p:sp>
        <p:nvSpPr>
          <p:cNvPr id="50" name="Shape 46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point</a:t>
            </a:r>
            <a:r>
              <a:rPr lang="en-US" sz="1500" dirty="0">
                <a:solidFill>
                  <a:schemeClr val="tx1"/>
                </a:solidFill>
              </a:rPr>
              <a:t> par mot correct · </a:t>
            </a:r>
            <a:r>
              <a:rPr lang="en-US" sz="1500" b="1" dirty="0">
                <a:solidFill>
                  <a:schemeClr val="tx1"/>
                </a:solidFill>
              </a:rPr>
              <a:t>+1</a:t>
            </a:r>
            <a:r>
              <a:rPr lang="en-US" sz="1500" dirty="0">
                <a:solidFill>
                  <a:schemeClr val="tx1"/>
                </a:solidFill>
              </a:rPr>
              <a:t> si l’article est juste · </a:t>
            </a:r>
            <a:r>
              <a:rPr lang="en-US" sz="1500" b="1" dirty="0">
                <a:solidFill>
                  <a:schemeClr val="tx1"/>
                </a:solidFill>
              </a:rPr>
              <a:t>+1</a:t>
            </a:r>
            <a:r>
              <a:rPr lang="en-US" sz="1500" dirty="0">
                <a:solidFill>
                  <a:schemeClr val="tx1"/>
                </a:solidFill>
              </a:rPr>
              <a:t> si l’équipe fait une phrase avec le mot. Exemple : </a:t>
            </a:r>
            <a:r>
              <a:rPr lang="en-US" sz="1500" i="1" dirty="0">
                <a:solidFill>
                  <a:schemeClr val="tx1"/>
                </a:solidFill>
              </a:rPr>
              <a:t>werk → de werker, werkloos, de werkloosheid, bewerken…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13 — Les travaux chez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rénove ses bureaux. A explique les travaux à l’oral ; B écrit l’avis en style nominal.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facility manager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Expliquez les travaux avec des verbes : </a:t>
            </a:r>
            <a:r>
              <a:rPr lang="en-US" sz="1700" i="1" dirty="0">
                <a:solidFill>
                  <a:schemeClr val="tx1"/>
                </a:solidFill>
              </a:rPr>
              <a:t>We vergroten de refter…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assistant·e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Écrivez l’avis avec des noms : </a:t>
            </a:r>
            <a:r>
              <a:rPr lang="en-US" sz="1700" i="1" dirty="0">
                <a:solidFill>
                  <a:schemeClr val="tx1"/>
                </a:solidFill>
              </a:rPr>
              <a:t>Vergroting van de refter…</a:t>
            </a:r>
            <a:r>
              <a:rPr lang="en-US" sz="1700" dirty="0">
                <a:solidFill>
                  <a:schemeClr val="tx1"/>
                </a:solidFill>
              </a:rPr>
              <a:t> Puis A vérifie.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de vergroting · de vernieuwing · de verbetering · de sluiting · de heropening · de verbouwing · tijdelijk · niet beschikbaar · buiten gebruik · bereikbaar · Wegens werken… · Gelieve … te … · Dank voor uw begrip!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DE WERKEN</a:t>
            </a:r>
            <a:endParaRPr lang="en-US" sz="1300" dirty="0"/>
          </a:p>
        </p:txBody>
      </p:sp>
      <p:pic>
        <p:nvPicPr>
          <p:cNvPr id="22" name="Image 0" descr="building constr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194560"/>
            <a:ext cx="411480" cy="41148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vergroten de refter</a:t>
            </a:r>
            <a:endParaRPr lang="en-US" sz="1350" dirty="0"/>
          </a:p>
        </p:txBody>
      </p:sp>
      <p:pic>
        <p:nvPicPr>
          <p:cNvPr id="24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852928"/>
            <a:ext cx="411480" cy="411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759952" y="28072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vernieuwen de computers</a:t>
            </a:r>
            <a:endParaRPr lang="en-US" sz="1350" dirty="0"/>
          </a:p>
        </p:txBody>
      </p:sp>
      <p:pic>
        <p:nvPicPr>
          <p:cNvPr id="26" name="Image 2" descr="building constru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511296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9952" y="34655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verbeteren de verwarming</a:t>
            </a:r>
            <a:endParaRPr lang="en-US" sz="1350" dirty="0"/>
          </a:p>
        </p:txBody>
      </p:sp>
      <p:pic>
        <p:nvPicPr>
          <p:cNvPr id="28" name="Image 3" descr="building constru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69664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59952" y="41239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lift werkt niet tot 15 mei</a:t>
            </a:r>
            <a:endParaRPr lang="en-US" sz="1350" dirty="0"/>
          </a:p>
        </p:txBody>
      </p:sp>
      <p:pic>
        <p:nvPicPr>
          <p:cNvPr id="30" name="Image 4" descr="building construc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8032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9952" y="4782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parking sluit op 3 mei</a:t>
            </a:r>
            <a:endParaRPr lang="en-US" sz="1350" dirty="0"/>
          </a:p>
        </p:txBody>
      </p:sp>
      <p:pic>
        <p:nvPicPr>
          <p:cNvPr id="32" name="Image 5" descr="building construc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48640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openen het kantoor opnieuw op 1 juni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nom de </a:t>
            </a:r>
            <a:r>
              <a:rPr lang="en-US" sz="2000" i="1" dirty="0">
                <a:solidFill>
                  <a:schemeClr val="tx1"/>
                </a:solidFill>
              </a:rPr>
              <a:t>vergaderen</a:t>
            </a:r>
            <a:r>
              <a:rPr lang="en-US" sz="2000" dirty="0">
                <a:solidFill>
                  <a:schemeClr val="tx1"/>
                </a:solidFill>
              </a:rPr>
              <a:t>, avec son article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L’adjectif formé sur </a:t>
            </a:r>
            <a:r>
              <a:rPr lang="en-US" sz="2000" i="1" dirty="0">
                <a:solidFill>
                  <a:schemeClr val="tx1"/>
                </a:solidFill>
              </a:rPr>
              <a:t>het gevaar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</a:t>
            </a:r>
            <a:r>
              <a:rPr lang="en-US" sz="2000" i="1" dirty="0">
                <a:solidFill>
                  <a:schemeClr val="tx1"/>
                </a:solidFill>
              </a:rPr>
              <a:t>Il travaille rapidement.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choisissez trois mots de votre métier et construisez leur famille (5 mots chacun).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Werken, de werking, werkbaar — La dérivation : passer d’une catégorie de mot à l’autre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2026-10-06T11:50:11Z</dcterms:created>
  <dcterms:modified xsi:type="dcterms:W3CDTF">2026-10-06T11:50:11Z</dcterms:modified>
</cp:coreProperties>
</file>